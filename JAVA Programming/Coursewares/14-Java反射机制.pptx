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3"/>
  </p:notesMasterIdLst>
  <p:sldIdLst>
    <p:sldId id="258" r:id="rId3"/>
    <p:sldId id="271" r:id="rId4"/>
    <p:sldId id="270" r:id="rId5"/>
    <p:sldId id="272" r:id="rId6"/>
    <p:sldId id="273" r:id="rId7"/>
    <p:sldId id="274" r:id="rId8"/>
    <p:sldId id="275" r:id="rId9"/>
    <p:sldId id="276" r:id="rId10"/>
    <p:sldId id="277" r:id="rId11"/>
    <p:sldId id="278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13"/>
  </p:normalViewPr>
  <p:slideViewPr>
    <p:cSldViewPr>
      <p:cViewPr varScale="1">
        <p:scale>
          <a:sx n="102" d="100"/>
          <a:sy n="102" d="100"/>
        </p:scale>
        <p:origin x="176" y="52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18277-68DD-2649-9AF6-0FFD4BA638D5}" type="datetimeFigureOut">
              <a:rPr kumimoji="1" lang="zh-CN" altLang="en-US" smtClean="0"/>
              <a:t>2026/3/23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4AF6E-C25D-3C42-BA4A-6BDFC164CA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3832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A4AF6E-C25D-3C42-BA4A-6BDFC164CA7B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3608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FD0093-576E-467B-B962-99E1A744E17E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7A8581-4873-47CA-8339-DD7371799E8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6D08D-254E-4C16-9BDD-2CB403A3435F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B5DAA-F314-4201-A885-F94350C78D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FDD86F-CDAF-474B-9FB2-89F4E1DB95B0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F9244-E492-4E7F-8014-C42AB6E22D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1C718-00B4-4F2E-8B01-D394E45EC67A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F9A6D-C430-4B93-AE78-0A62FBBD8F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C617E-A9B1-47F9-B9A9-87483FDAC8D3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4F1EF-4E26-4C56-9B88-FD593D373B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389AD-0748-4B3C-8811-5DFFA51CED5D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E0F20-CA7C-4D92-81FD-7E1D809D33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FD782-AFAB-420A-8FC3-E90FC8D60F6A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A5DAD-FC26-4B98-B59F-38A407A6EB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A6FA3B-6958-4BA2-91DC-7BEE42D86237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F4D7F-6987-4FBB-8861-DE5388AE82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6B6D4-31F7-491F-A416-E134F3D25755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6BCD3-ACD3-4915-AAF5-E95C433680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82DBD-F4DA-4F3D-8375-2CC882E5C4BD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746474-8646-4F3B-9765-6AA2597643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0C6ED-1572-4AFD-969C-EAD6761B29D4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B6592-189B-4FEE-91FE-2D98CF2508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9144000" cy="10715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5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9A9EEEDC-F40F-4A63-9580-80ADE972C86E}" type="datetimeFigureOut">
              <a:rPr lang="zh-CN" altLang="en-US" smtClean="0"/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5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5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928B7DB1-49F0-485C-87EF-089C7691A1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3"/>
            <a:ext cx="8229600" cy="339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6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644CF135-CD95-44F1-8454-15341B964199}" type="datetimeFigureOut">
              <a:rPr lang="zh-CN" altLang="en-US"/>
              <a:pPr>
                <a:defRPr/>
              </a:pPr>
              <a:t>2026/3/23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6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6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5B4EA391-E530-4487-AF14-F97E23C3A1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-28377" y="-1090976"/>
            <a:ext cx="9144000" cy="4005063"/>
            <a:chOff x="0" y="0"/>
            <a:chExt cx="9144000" cy="4518000"/>
          </a:xfrm>
        </p:grpSpPr>
        <p:sp>
          <p:nvSpPr>
            <p:cNvPr id="14" name="矩形 13"/>
            <p:cNvSpPr/>
            <p:nvPr/>
          </p:nvSpPr>
          <p:spPr>
            <a:xfrm>
              <a:off x="0" y="0"/>
              <a:ext cx="9144000" cy="4355055"/>
            </a:xfrm>
            <a:prstGeom prst="rect">
              <a:avLst/>
            </a:prstGeom>
            <a:solidFill>
              <a:srgbClr val="31BFA7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  <p:sp>
          <p:nvSpPr>
            <p:cNvPr id="15" name="等腰三角形 14"/>
            <p:cNvSpPr/>
            <p:nvPr/>
          </p:nvSpPr>
          <p:spPr>
            <a:xfrm flipV="1">
              <a:off x="4068763" y="4355055"/>
              <a:ext cx="1006475" cy="162945"/>
            </a:xfrm>
            <a:prstGeom prst="triangle">
              <a:avLst/>
            </a:prstGeom>
            <a:solidFill>
              <a:srgbClr val="31BFA7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70200" y="5367867"/>
            <a:ext cx="9003600" cy="0"/>
          </a:xfrm>
          <a:prstGeom prst="line">
            <a:avLst/>
          </a:prstGeom>
          <a:noFill/>
          <a:ln w="22225" cap="flat" cmpd="sng" algn="ctr">
            <a:gradFill>
              <a:gsLst>
                <a:gs pos="0">
                  <a:sysClr val="window" lastClr="FFFFFF">
                    <a:alpha val="0"/>
                  </a:sysClr>
                </a:gs>
                <a:gs pos="33000">
                  <a:srgbClr val="31BFA7"/>
                </a:gs>
                <a:gs pos="67000">
                  <a:srgbClr val="31BFA7"/>
                </a:gs>
                <a:gs pos="100000">
                  <a:sysClr val="window" lastClr="FFFFFF">
                    <a:alpha val="0"/>
                  </a:sysClr>
                </a:gs>
              </a:gsLst>
              <a:lin ang="10800000" scaled="0"/>
            </a:gradFill>
            <a:prstDash val="solid"/>
          </a:ln>
          <a:effectLst/>
        </p:spPr>
      </p:cxnSp>
      <p:sp>
        <p:nvSpPr>
          <p:cNvPr id="17" name="文本框 7"/>
          <p:cNvSpPr txBox="1">
            <a:spLocks noChangeArrowheads="1"/>
          </p:cNvSpPr>
          <p:nvPr/>
        </p:nvSpPr>
        <p:spPr bwMode="auto">
          <a:xfrm>
            <a:off x="482798" y="987575"/>
            <a:ext cx="8121650" cy="6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ts val="4200"/>
              </a:lnSpc>
              <a:defRPr/>
            </a:pPr>
            <a:r>
              <a:rPr lang="en-US" altLang="zh-CN" sz="44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JAVA</a:t>
            </a:r>
            <a:r>
              <a:rPr lang="zh-CN" altLang="en-US" sz="4400" b="1" kern="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反射机制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1371600" y="3147814"/>
            <a:ext cx="6400800" cy="1752600"/>
          </a:xfrm>
        </p:spPr>
        <p:txBody>
          <a:bodyPr/>
          <a:lstStyle/>
          <a:p>
            <a:pPr>
              <a:defRPr/>
            </a:pPr>
            <a:r>
              <a:rPr lang="zh-CN" altLang="en-US" sz="2800" dirty="0"/>
              <a:t>中国人民大学信息学院   孙彩虹</a:t>
            </a:r>
            <a:endParaRPr lang="en-US" altLang="zh-CN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BF2A11-51F5-2A41-B7F2-B9E50EE23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412750"/>
            <a:ext cx="63500" cy="762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AFA2368-6D20-B74D-BFB9-C3DD5AE7D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412750"/>
            <a:ext cx="63500" cy="76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932C246-C62C-8B46-AA0A-73DD50737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412750"/>
            <a:ext cx="63500" cy="762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C5B029D-463E-2A4C-A75F-539EEBA88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412750"/>
            <a:ext cx="635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5ECE4-885D-144F-A274-596154DBA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902"/>
            <a:ext cx="8229600" cy="857250"/>
          </a:xfrm>
        </p:spPr>
        <p:txBody>
          <a:bodyPr/>
          <a:lstStyle/>
          <a:p>
            <a:r>
              <a:rPr kumimoji="1" lang="en-US" altLang="zh-CN" sz="2800" dirty="0"/>
              <a:t>JAVA</a:t>
            </a:r>
            <a:r>
              <a:rPr kumimoji="1" lang="zh-CN" altLang="en-US" sz="2800" dirty="0"/>
              <a:t>反射机制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C0F419-4BF7-3A46-B83B-3C5B89129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1800" dirty="0"/>
              <a:t>Java </a:t>
            </a:r>
            <a:r>
              <a:rPr kumimoji="1" lang="zh-CN" altLang="en-US" sz="1800" dirty="0"/>
              <a:t>反射机制允许程序在运行时动态获取类的结构信息（字段、方法、构造方法等），并可直接操作对象的属性和方法，而无需在编译期确定具体类型。这一特性是 </a:t>
            </a:r>
            <a:r>
              <a:rPr kumimoji="1" lang="en-US" altLang="zh-CN" sz="1800" dirty="0"/>
              <a:t>Spring</a:t>
            </a:r>
            <a:r>
              <a:rPr kumimoji="1" lang="zh-CN" altLang="en-US" sz="1800" dirty="0"/>
              <a:t>、</a:t>
            </a:r>
            <a:r>
              <a:rPr kumimoji="1" lang="en-US" altLang="zh-CN" sz="1800" dirty="0" err="1"/>
              <a:t>MyBatis</a:t>
            </a:r>
            <a:r>
              <a:rPr kumimoji="1" lang="en-US" altLang="zh-CN" sz="1800" dirty="0"/>
              <a:t> </a:t>
            </a:r>
            <a:r>
              <a:rPr kumimoji="1" lang="zh-CN" altLang="en-US" sz="1800" dirty="0"/>
              <a:t>等框架的核心基础。</a:t>
            </a:r>
          </a:p>
          <a:p>
            <a:r>
              <a:rPr kumimoji="1" lang="zh-CN" altLang="en-US" sz="1800" dirty="0"/>
              <a:t>核心类位于 </a:t>
            </a:r>
            <a:r>
              <a:rPr kumimoji="1" lang="en-US" altLang="zh-CN" sz="1800" dirty="0" err="1"/>
              <a:t>java.lang.reflect</a:t>
            </a:r>
            <a:r>
              <a:rPr kumimoji="1" lang="en-US" altLang="zh-CN" sz="1800" dirty="0"/>
              <a:t> </a:t>
            </a:r>
            <a:r>
              <a:rPr kumimoji="1" lang="zh-CN" altLang="en-US" sz="1800" dirty="0"/>
              <a:t>包中：</a:t>
            </a:r>
          </a:p>
          <a:p>
            <a:pPr lvl="1"/>
            <a:r>
              <a:rPr kumimoji="1" lang="en-US" altLang="zh-CN" sz="1400" dirty="0"/>
              <a:t>Class</a:t>
            </a:r>
            <a:r>
              <a:rPr kumimoji="1" lang="zh-CN" altLang="en-US" sz="1400" dirty="0"/>
              <a:t>：反射入口，表示类的字节码对象。</a:t>
            </a:r>
          </a:p>
          <a:p>
            <a:pPr lvl="1"/>
            <a:r>
              <a:rPr kumimoji="1" lang="en-US" altLang="zh-CN" sz="1400" dirty="0"/>
              <a:t>Constructor</a:t>
            </a:r>
            <a:r>
              <a:rPr kumimoji="1" lang="zh-CN" altLang="en-US" sz="1400" dirty="0"/>
              <a:t>：表示构造方法，可创建对象。</a:t>
            </a:r>
          </a:p>
          <a:p>
            <a:pPr lvl="1"/>
            <a:r>
              <a:rPr kumimoji="1" lang="en-US" altLang="zh-CN" sz="1400" dirty="0"/>
              <a:t>Method</a:t>
            </a:r>
            <a:r>
              <a:rPr kumimoji="1" lang="zh-CN" altLang="en-US" sz="1400" dirty="0"/>
              <a:t>：表示方法，可动态调用。</a:t>
            </a:r>
          </a:p>
          <a:p>
            <a:pPr lvl="1"/>
            <a:r>
              <a:rPr kumimoji="1" lang="en-US" altLang="zh-CN" sz="1400" dirty="0"/>
              <a:t>Field</a:t>
            </a:r>
            <a:r>
              <a:rPr kumimoji="1" lang="zh-CN" altLang="en-US" sz="1400" dirty="0"/>
              <a:t>：表示字段，可访问和修改属性。</a:t>
            </a:r>
          </a:p>
          <a:p>
            <a:pPr lvl="1"/>
            <a:r>
              <a:rPr kumimoji="1" lang="en-US" altLang="zh-CN" sz="1400" dirty="0"/>
              <a:t>Modifier</a:t>
            </a:r>
            <a:r>
              <a:rPr kumimoji="1" lang="zh-CN" altLang="en-US" sz="1400" dirty="0"/>
              <a:t>：解析修饰符（</a:t>
            </a:r>
            <a:r>
              <a:rPr kumimoji="1" lang="en-US" altLang="zh-CN" sz="1400" dirty="0"/>
              <a:t>public</a:t>
            </a:r>
            <a:r>
              <a:rPr kumimoji="1" lang="zh-CN" altLang="en-US" sz="1400" dirty="0"/>
              <a:t>、</a:t>
            </a:r>
            <a:r>
              <a:rPr kumimoji="1" lang="en-US" altLang="zh-CN" sz="1400" dirty="0"/>
              <a:t>private</a:t>
            </a:r>
            <a:r>
              <a:rPr kumimoji="1" lang="zh-CN" altLang="en-US" sz="1400" dirty="0"/>
              <a:t>等）。</a:t>
            </a:r>
          </a:p>
        </p:txBody>
      </p:sp>
    </p:spTree>
    <p:extLst>
      <p:ext uri="{BB962C8B-B14F-4D97-AF65-F5344CB8AC3E}">
        <p14:creationId xmlns:p14="http://schemas.microsoft.com/office/powerpoint/2010/main" val="858066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0826B7-08FB-7646-8D61-1083E5186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Class</a:t>
            </a:r>
            <a:r>
              <a:rPr kumimoji="1" lang="zh-CN" altLang="en-US" sz="2800" dirty="0"/>
              <a:t>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2CF8E6-5974-964F-B93E-CB5E3D34A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1800" dirty="0"/>
              <a:t>任何一个类，都会有一个</a:t>
            </a:r>
            <a:r>
              <a:rPr kumimoji="1" lang="en-US" altLang="zh-CN" sz="1800" dirty="0"/>
              <a:t>Class</a:t>
            </a:r>
            <a:r>
              <a:rPr kumimoji="1" lang="zh-CN" altLang="en-US" sz="1800" dirty="0"/>
              <a:t>对象于这个类对应，在这个</a:t>
            </a:r>
            <a:r>
              <a:rPr kumimoji="1" lang="en-US" altLang="zh-CN" sz="1800" dirty="0"/>
              <a:t>Class</a:t>
            </a:r>
            <a:r>
              <a:rPr kumimoji="1" lang="zh-CN" altLang="en-US" sz="1800" dirty="0"/>
              <a:t>对象中，保存着实例化该类时所需要的基本信息</a:t>
            </a:r>
            <a:endParaRPr kumimoji="1" lang="en-US" altLang="zh-CN" sz="1800" dirty="0"/>
          </a:p>
          <a:p>
            <a:r>
              <a:rPr kumimoji="1" lang="zh-CN" altLang="en-US" sz="1800" dirty="0"/>
              <a:t>类加载与 </a:t>
            </a:r>
            <a:r>
              <a:rPr kumimoji="1" lang="en-US" altLang="zh-CN" sz="1800" dirty="0"/>
              <a:t>Class </a:t>
            </a:r>
            <a:r>
              <a:rPr kumimoji="1" lang="zh-CN" altLang="en-US" sz="1800" dirty="0"/>
              <a:t>对象</a:t>
            </a:r>
          </a:p>
          <a:p>
            <a:pPr lvl="1">
              <a:buFont typeface="Wingdings" pitchFamily="2" charset="2"/>
              <a:buChar char="ü"/>
            </a:pPr>
            <a:r>
              <a:rPr kumimoji="1" lang="en-US" altLang="zh-CN" sz="1200" dirty="0"/>
              <a:t>Java </a:t>
            </a:r>
            <a:r>
              <a:rPr kumimoji="1" lang="zh-CN" altLang="en-US" sz="1200" dirty="0"/>
              <a:t>虚拟机（</a:t>
            </a:r>
            <a:r>
              <a:rPr kumimoji="1" lang="en-US" altLang="zh-CN" sz="1200" dirty="0"/>
              <a:t>JVM</a:t>
            </a:r>
            <a:r>
              <a:rPr kumimoji="1" lang="zh-CN" altLang="en-US" sz="1200" dirty="0"/>
              <a:t>）在加载类时，会为每个类生成一个 </a:t>
            </a:r>
            <a:r>
              <a:rPr kumimoji="1" lang="en-US" altLang="zh-CN" sz="1200" dirty="0"/>
              <a:t>Class </a:t>
            </a:r>
            <a:r>
              <a:rPr kumimoji="1" lang="zh-CN" altLang="en-US" sz="1200" dirty="0"/>
              <a:t>对象，该对象包含了类的元数据（如方法、字段、构造器等）。类名</a:t>
            </a:r>
            <a:r>
              <a:rPr kumimoji="1" lang="en-US" altLang="zh-CN" sz="1200" dirty="0"/>
              <a:t>.class </a:t>
            </a:r>
            <a:r>
              <a:rPr kumimoji="1" lang="zh-CN" altLang="en-US" sz="1200" dirty="0"/>
              <a:t>通过访问这些元数据来获取类的 </a:t>
            </a:r>
            <a:r>
              <a:rPr kumimoji="1" lang="en-US" altLang="zh-CN" sz="1200" dirty="0"/>
              <a:t>Class </a:t>
            </a:r>
            <a:r>
              <a:rPr kumimoji="1" lang="zh-CN" altLang="en-US" sz="1200" dirty="0"/>
              <a:t>对象。</a:t>
            </a:r>
            <a:endParaRPr kumimoji="1" lang="zh-CN" altLang="en-US" dirty="0"/>
          </a:p>
          <a:p>
            <a:r>
              <a:rPr kumimoji="1" lang="en-US" altLang="zh-CN" sz="1800" dirty="0"/>
              <a:t>Class </a:t>
            </a:r>
            <a:r>
              <a:rPr kumimoji="1" lang="zh-CN" altLang="en-US" sz="1800" dirty="0"/>
              <a:t>对象的存储</a:t>
            </a:r>
          </a:p>
          <a:p>
            <a:pPr lvl="1">
              <a:buFont typeface="Wingdings" pitchFamily="2" charset="2"/>
              <a:buChar char="ü"/>
            </a:pPr>
            <a:r>
              <a:rPr kumimoji="1" lang="en-US" altLang="zh-CN" sz="1200" dirty="0"/>
              <a:t>Class </a:t>
            </a:r>
            <a:r>
              <a:rPr kumimoji="1" lang="zh-CN" altLang="en-US" sz="1200" dirty="0"/>
              <a:t>对象存储在方法区（</a:t>
            </a:r>
            <a:r>
              <a:rPr kumimoji="1" lang="en-US" altLang="zh-CN" sz="1200" dirty="0"/>
              <a:t>Method Area</a:t>
            </a:r>
            <a:r>
              <a:rPr kumimoji="1" lang="zh-CN" altLang="en-US" sz="1200" dirty="0"/>
              <a:t>）中，每个类只有一个 </a:t>
            </a:r>
            <a:r>
              <a:rPr kumimoji="1" lang="en-US" altLang="zh-CN" sz="1200" dirty="0"/>
              <a:t>Class </a:t>
            </a:r>
            <a:r>
              <a:rPr kumimoji="1" lang="zh-CN" altLang="en-US" sz="1200" dirty="0"/>
              <a:t>对象。类名</a:t>
            </a:r>
            <a:r>
              <a:rPr kumimoji="1" lang="en-US" altLang="zh-CN" sz="1200" dirty="0"/>
              <a:t>.class </a:t>
            </a:r>
            <a:r>
              <a:rPr kumimoji="1" lang="zh-CN" altLang="en-US" sz="1200" dirty="0"/>
              <a:t>实际上是对该对象的引用。</a:t>
            </a:r>
          </a:p>
          <a:p>
            <a:r>
              <a:rPr kumimoji="1" lang="zh-CN" altLang="en-US" sz="1800" dirty="0"/>
              <a:t>编译时与运行时的区别</a:t>
            </a:r>
            <a:endParaRPr kumimoji="1" lang="zh-CN" altLang="en-US" sz="2000" dirty="0"/>
          </a:p>
          <a:p>
            <a:pPr lvl="1">
              <a:buFont typeface="Wingdings" pitchFamily="2" charset="2"/>
              <a:buChar char="ü"/>
            </a:pPr>
            <a:r>
              <a:rPr kumimoji="1" lang="zh-CN" altLang="en-US" sz="1200" dirty="0"/>
              <a:t>类名</a:t>
            </a:r>
            <a:r>
              <a:rPr kumimoji="1" lang="en-US" altLang="zh-CN" sz="1200" dirty="0"/>
              <a:t>.class </a:t>
            </a:r>
            <a:r>
              <a:rPr kumimoji="1" lang="zh-CN" altLang="en-US" sz="1200" dirty="0"/>
              <a:t>在编译时就已经确定，因此它的性能比运行时获取 </a:t>
            </a:r>
            <a:r>
              <a:rPr kumimoji="1" lang="en-US" altLang="zh-CN" sz="1200" dirty="0"/>
              <a:t>Class </a:t>
            </a:r>
            <a:r>
              <a:rPr kumimoji="1" lang="zh-CN" altLang="en-US" sz="1200" dirty="0"/>
              <a:t>对象的方式（如 </a:t>
            </a:r>
            <a:r>
              <a:rPr kumimoji="1" lang="en-US" altLang="zh-CN" sz="1200" dirty="0" err="1"/>
              <a:t>getClass</a:t>
            </a:r>
            <a:r>
              <a:rPr kumimoji="1" lang="en-US" altLang="zh-CN" sz="1200" dirty="0"/>
              <a:t>()</a:t>
            </a:r>
            <a:r>
              <a:rPr kumimoji="1" lang="zh-CN" altLang="en-US" sz="1200" dirty="0"/>
              <a:t>）更高。</a:t>
            </a:r>
          </a:p>
        </p:txBody>
      </p:sp>
    </p:spTree>
    <p:extLst>
      <p:ext uri="{BB962C8B-B14F-4D97-AF65-F5344CB8AC3E}">
        <p14:creationId xmlns:p14="http://schemas.microsoft.com/office/powerpoint/2010/main" val="3549516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D7117-418B-7145-8D7D-BA7DC5CF0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3200" dirty="0"/>
              <a:t>Class</a:t>
            </a:r>
            <a:r>
              <a:rPr kumimoji="1" lang="zh-CN" altLang="en-US" sz="3200" dirty="0"/>
              <a:t>类（获取</a:t>
            </a:r>
            <a:r>
              <a:rPr kumimoji="1" lang="en-US" altLang="zh-CN" sz="3200" dirty="0"/>
              <a:t>Class</a:t>
            </a:r>
            <a:r>
              <a:rPr kumimoji="1" lang="zh-CN" altLang="en-US" sz="3200" dirty="0"/>
              <a:t>对象，反射入口）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C9BFF0-5D29-CC42-84A6-3CD56963C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000" dirty="0"/>
              <a:t>比如说有个类是</a:t>
            </a:r>
            <a:r>
              <a:rPr kumimoji="1" lang="en-US" altLang="zh-CN" sz="2000" dirty="0" err="1"/>
              <a:t>User.class</a:t>
            </a:r>
            <a:r>
              <a:rPr kumimoji="1" lang="zh-CN" altLang="en-US" sz="2000" dirty="0"/>
              <a:t>怎么找到这个</a:t>
            </a:r>
            <a:r>
              <a:rPr kumimoji="1" lang="en-US" altLang="zh-CN" sz="2000" dirty="0"/>
              <a:t>Class</a:t>
            </a:r>
            <a:r>
              <a:rPr kumimoji="1" lang="zh-CN" altLang="en-US" sz="2000" dirty="0"/>
              <a:t>对象</a:t>
            </a:r>
            <a:endParaRPr kumimoji="1" lang="en-US" altLang="zh-CN" sz="2000" dirty="0"/>
          </a:p>
          <a:p>
            <a:pPr lvl="1"/>
            <a:r>
              <a:rPr kumimoji="1" lang="en-US" altLang="zh-CN" sz="1600" dirty="0"/>
              <a:t>Class&lt;?&gt; cls1 = </a:t>
            </a:r>
            <a:r>
              <a:rPr kumimoji="1" lang="en-US" altLang="zh-CN" sz="1600" dirty="0" err="1"/>
              <a:t>User.class</a:t>
            </a:r>
            <a:r>
              <a:rPr kumimoji="1" lang="en-US" altLang="zh-CN" sz="1600" dirty="0"/>
              <a:t>; // </a:t>
            </a:r>
            <a:r>
              <a:rPr kumimoji="1" lang="zh-CN" altLang="en-US" sz="1600" dirty="0"/>
              <a:t>类字面量</a:t>
            </a:r>
          </a:p>
          <a:p>
            <a:pPr lvl="1"/>
            <a:r>
              <a:rPr kumimoji="1" lang="en-US" altLang="zh-CN" sz="1600" dirty="0"/>
              <a:t>Class&lt;?&gt; cls2 = new User().</a:t>
            </a:r>
            <a:r>
              <a:rPr kumimoji="1" lang="en-US" altLang="zh-CN" sz="1600" dirty="0" err="1"/>
              <a:t>getClass</a:t>
            </a:r>
            <a:r>
              <a:rPr kumimoji="1" lang="en-US" altLang="zh-CN" sz="1600" dirty="0"/>
              <a:t>(); // </a:t>
            </a:r>
            <a:r>
              <a:rPr kumimoji="1" lang="zh-CN" altLang="en-US" sz="1600" dirty="0"/>
              <a:t>对象实例</a:t>
            </a:r>
          </a:p>
          <a:p>
            <a:pPr lvl="1"/>
            <a:r>
              <a:rPr kumimoji="1" lang="en-US" altLang="zh-CN" sz="1600" dirty="0"/>
              <a:t>Class&lt;?&gt; cls3 = </a:t>
            </a:r>
            <a:r>
              <a:rPr kumimoji="1" lang="en-US" altLang="zh-CN" sz="1600" dirty="0" err="1"/>
              <a:t>Class.forName</a:t>
            </a:r>
            <a:r>
              <a:rPr kumimoji="1" lang="en-US" altLang="zh-CN" sz="1600" dirty="0"/>
              <a:t>("</a:t>
            </a:r>
            <a:r>
              <a:rPr kumimoji="1" lang="en-US" altLang="zh-CN" sz="1600" dirty="0" err="1"/>
              <a:t>com.example.User</a:t>
            </a:r>
            <a:r>
              <a:rPr kumimoji="1" lang="en-US" altLang="zh-CN" sz="1600" dirty="0"/>
              <a:t>"); // </a:t>
            </a:r>
            <a:r>
              <a:rPr kumimoji="1" lang="zh-CN" altLang="en-US" sz="1600" dirty="0"/>
              <a:t>全类名</a:t>
            </a:r>
            <a:endParaRPr kumimoji="1" lang="en-US" altLang="zh-CN" sz="1600" dirty="0"/>
          </a:p>
          <a:p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70289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B7B5EB-9740-A743-B3C5-303A7D7C6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Constructor</a:t>
            </a:r>
            <a:r>
              <a:rPr kumimoji="1" lang="zh-CN" altLang="en-US" dirty="0"/>
              <a:t>类（创建对象）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97F17F-8B96-7E49-8C50-D146C6EA3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75606"/>
            <a:ext cx="9361040" cy="3394075"/>
          </a:xfrm>
        </p:spPr>
        <p:txBody>
          <a:bodyPr/>
          <a:lstStyle/>
          <a:p>
            <a:pPr algn="l"/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Constructor&lt;?&gt; cons =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cls3.getConstructor(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String.</a:t>
            </a:r>
            <a:r>
              <a:rPr lang="en-US" altLang="zh-CN" sz="2000" b="0" i="0" dirty="0" err="1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sz="2000" b="0" i="0" dirty="0" err="1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2000" b="0" i="0" dirty="0" err="1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Object user =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cons.newInstance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sz="2000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张三</a:t>
            </a:r>
            <a:r>
              <a:rPr lang="en-US" altLang="zh-CN" sz="2000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20);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9821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C795F0-9A3F-1044-95F5-26D22C96D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Field</a:t>
            </a:r>
            <a:r>
              <a:rPr kumimoji="1" lang="zh-CN" altLang="en-US" dirty="0"/>
              <a:t>（访问和修改字段）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5DF098-0CBB-F34E-95DC-A7C565DE6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Field </a:t>
            </a:r>
            <a:r>
              <a:rPr kumimoji="1" lang="en-US" altLang="zh-CN" sz="2000" dirty="0" err="1"/>
              <a:t>ageField</a:t>
            </a:r>
            <a:r>
              <a:rPr kumimoji="1" lang="en-US" altLang="zh-CN" sz="2000" dirty="0"/>
              <a:t> = cls3.getDeclaredField("age");</a:t>
            </a:r>
          </a:p>
          <a:p>
            <a:r>
              <a:rPr kumimoji="1" lang="en-US" altLang="zh-CN" sz="2000" dirty="0" err="1"/>
              <a:t>ageField.setAccessible</a:t>
            </a:r>
            <a:r>
              <a:rPr kumimoji="1" lang="en-US" altLang="zh-CN" sz="2000" dirty="0"/>
              <a:t>(true); // </a:t>
            </a:r>
            <a:r>
              <a:rPr kumimoji="1" lang="zh-CN" altLang="en-US" sz="2000" dirty="0"/>
              <a:t>关闭访问检查</a:t>
            </a:r>
          </a:p>
          <a:p>
            <a:r>
              <a:rPr kumimoji="1" lang="en-US" altLang="zh-CN" sz="2000" dirty="0" err="1"/>
              <a:t>ageField.set</a:t>
            </a:r>
            <a:r>
              <a:rPr kumimoji="1" lang="en-US" altLang="zh-CN" sz="2000" dirty="0"/>
              <a:t>(user, 25);</a:t>
            </a:r>
          </a:p>
          <a:p>
            <a:r>
              <a:rPr kumimoji="1" lang="en-US" altLang="zh-CN" sz="2000" dirty="0" err="1"/>
              <a:t>System.out.println</a:t>
            </a:r>
            <a:r>
              <a:rPr kumimoji="1" lang="en-US" altLang="zh-CN" sz="2000" dirty="0"/>
              <a:t>(</a:t>
            </a:r>
            <a:r>
              <a:rPr kumimoji="1" lang="en-US" altLang="zh-CN" sz="2000" dirty="0" err="1"/>
              <a:t>ageField.get</a:t>
            </a:r>
            <a:r>
              <a:rPr kumimoji="1" lang="en-US" altLang="zh-CN" sz="2000" dirty="0"/>
              <a:t>(user));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6699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E445AE-D124-9241-801F-BCDF5D1C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Method</a:t>
            </a:r>
            <a:r>
              <a:rPr kumimoji="1" lang="zh-CN" altLang="en-US" dirty="0"/>
              <a:t>（调用方法）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9DBBC6-B8CD-3143-A961-ED75C436D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sz="2000" dirty="0"/>
              <a:t>Method greet = cls3.getMethod("greet", </a:t>
            </a:r>
            <a:r>
              <a:rPr kumimoji="1" lang="en-US" altLang="zh-CN" sz="2000" dirty="0" err="1"/>
              <a:t>String.class</a:t>
            </a:r>
            <a:r>
              <a:rPr kumimoji="1" lang="en-US" altLang="zh-CN" sz="2000" dirty="0"/>
              <a:t>);</a:t>
            </a:r>
          </a:p>
          <a:p>
            <a:r>
              <a:rPr kumimoji="1" lang="en-US" altLang="zh-CN" sz="2000" dirty="0" err="1"/>
              <a:t>greet.invoke</a:t>
            </a:r>
            <a:r>
              <a:rPr kumimoji="1" lang="en-US" altLang="zh-CN" sz="2000" dirty="0"/>
              <a:t>(user, "</a:t>
            </a:r>
            <a:r>
              <a:rPr kumimoji="1" lang="zh-CN" altLang="en-US" sz="2000" dirty="0"/>
              <a:t>你好</a:t>
            </a:r>
            <a:r>
              <a:rPr kumimoji="1" lang="en-US" altLang="zh-CN" sz="2000" dirty="0"/>
              <a:t>");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4501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5B5ED-6520-704E-AB3A-31F90FEDA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应用场景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2C2A45-DB6D-F346-8CC6-60931F45E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框架开发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IOC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容器动态创建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Bean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并注入依赖。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动态代理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AOP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增强方法执行。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注解处理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：解析注解并执行逻辑。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序列化</a:t>
            </a:r>
            <a:r>
              <a:rPr lang="en-US" altLang="zh-CN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反序列化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JSON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与对象互转。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5656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9DA82-8758-2140-80E0-48C84D1A1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优缺点和性能优化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5D1074-1D50-974A-9178-25507F561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优点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：灵活、解耦、框架基础。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缺点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：性能开销大、破坏封装、代码可读性差。</a:t>
            </a:r>
          </a:p>
          <a:p>
            <a:pPr algn="l"/>
            <a:r>
              <a:rPr lang="zh-CN" altLang="en-US" sz="2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性能优化</a:t>
            </a:r>
            <a:endParaRPr lang="zh-CN" altLang="en-US" sz="24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缓存 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、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、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Field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对象。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使用 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setAccessible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(true)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减少安全检查。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JDK9+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可用 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MethodHandles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提升性能。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2506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12B71-938D-274C-ADA0-7986F77B5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例子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7AB3EC-3477-C148-86F8-581CB74AA448}"/>
              </a:ext>
            </a:extLst>
          </p:cNvPr>
          <p:cNvSpPr txBox="1"/>
          <p:nvPr/>
        </p:nvSpPr>
        <p:spPr>
          <a:xfrm>
            <a:off x="179512" y="1327076"/>
            <a:ext cx="8964488" cy="3816424"/>
          </a:xfrm>
          <a:prstGeom prst="rect">
            <a:avLst/>
          </a:prstGeom>
          <a:noFill/>
        </p:spPr>
        <p:txBody>
          <a:bodyPr wrap="square" numCol="2" spcCol="360000">
            <a:spAutoFit/>
          </a:bodyPr>
          <a:lstStyle/>
          <a:p>
            <a:pPr algn="l"/>
            <a:r>
              <a:rPr lang="en-US" altLang="zh-CN" sz="1400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java.lang.reflect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.*;</a:t>
            </a:r>
          </a:p>
          <a:p>
            <a:pPr algn="l"/>
            <a:br>
              <a:rPr lang="en-US" altLang="zh-CN" sz="1400" dirty="0"/>
            </a:br>
            <a:r>
              <a:rPr lang="en-US" altLang="zh-CN" sz="1400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public class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ReflectionDemo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algn="l"/>
            <a:r>
              <a:rPr lang="en-US" altLang="zh-CN" sz="1400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public static void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main(String[]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US" altLang="zh-CN" sz="1400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Exception {</a:t>
            </a:r>
          </a:p>
          <a:p>
            <a:pPr algn="l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Class&lt;?&gt;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clazz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</a:t>
            </a:r>
            <a:r>
              <a:rPr lang="en-US" altLang="zh-CN" sz="1400" b="0" i="0" dirty="0" err="1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Constructor&lt;?&gt; constructor =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clazz.getConstructor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String.</a:t>
            </a:r>
            <a:r>
              <a:rPr lang="en-US" altLang="zh-CN" sz="1400" b="0" i="0" dirty="0" err="1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altLang="zh-CN" sz="1400" b="0" i="0" dirty="0" err="1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400" b="0" i="0" dirty="0" err="1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Object person =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constructor.newInstance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30);</a:t>
            </a:r>
          </a:p>
          <a:p>
            <a:pPr algn="l"/>
            <a:br>
              <a:rPr lang="en-US" altLang="zh-CN" sz="1400" dirty="0"/>
            </a:b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Field name =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clazz.getDeclaredField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name.setAccessible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name.set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(person, </a:t>
            </a:r>
            <a:r>
              <a:rPr lang="en-US" altLang="zh-CN" sz="1400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"Doe"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br>
              <a:rPr lang="en-US" altLang="zh-CN" sz="1400" dirty="0"/>
            </a:b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 greet =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clazz.getMethod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1400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"greet"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String.</a:t>
            </a:r>
            <a:r>
              <a:rPr lang="en-US" altLang="zh-CN" sz="1400" b="0" i="0" dirty="0" err="1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greet.invoke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(person, </a:t>
            </a:r>
            <a:r>
              <a:rPr lang="en-US" altLang="zh-CN" sz="1400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"World"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algn="l"/>
            <a:br>
              <a:rPr lang="en-US" altLang="zh-CN" sz="1400" dirty="0"/>
            </a:br>
            <a:r>
              <a:rPr lang="en-US" altLang="zh-CN" sz="1400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 {</a:t>
            </a:r>
          </a:p>
          <a:p>
            <a:pPr algn="l"/>
            <a:r>
              <a:rPr lang="en-US" altLang="zh-CN" sz="1400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String name;</a:t>
            </a:r>
          </a:p>
          <a:p>
            <a:pPr algn="l"/>
            <a:r>
              <a:rPr lang="en-US" altLang="zh-CN" sz="1400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private int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age;</a:t>
            </a:r>
          </a:p>
          <a:p>
            <a:pPr algn="l"/>
            <a:r>
              <a:rPr lang="en-US" altLang="zh-CN" sz="1400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Person(String name, </a:t>
            </a:r>
            <a:r>
              <a:rPr lang="en-US" altLang="zh-CN" sz="1400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age) { </a:t>
            </a:r>
            <a:r>
              <a:rPr lang="en-US" altLang="zh-CN" sz="1400" b="0" i="0" dirty="0" err="1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.name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name; </a:t>
            </a:r>
            <a:r>
              <a:rPr lang="en-US" altLang="zh-CN" sz="1400" b="0" i="0" dirty="0" err="1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.age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age; }</a:t>
            </a:r>
          </a:p>
          <a:p>
            <a:pPr algn="l"/>
            <a:r>
              <a:rPr lang="en-US" altLang="zh-CN" sz="1400" b="0" i="0" dirty="0">
                <a:solidFill>
                  <a:srgbClr val="1B6AC7"/>
                </a:solidFill>
                <a:effectLst/>
                <a:latin typeface="Consolas" panose="020B0609020204030204" pitchFamily="49" charset="0"/>
              </a:rPr>
              <a:t>public void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greet(String msg) { 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System.out.println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(name + </a:t>
            </a:r>
            <a:r>
              <a:rPr lang="en-US" altLang="zh-CN" sz="1400" b="0" i="0" dirty="0">
                <a:solidFill>
                  <a:srgbClr val="7E0B0B"/>
                </a:solidFill>
                <a:effectLst/>
                <a:latin typeface="Consolas" panose="020B0609020204030204" pitchFamily="49" charset="0"/>
              </a:rPr>
              <a:t>" says: "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 msg); }</a:t>
            </a:r>
          </a:p>
          <a:p>
            <a:pPr algn="l"/>
            <a:r>
              <a:rPr lang="en-US" altLang="zh-CN" sz="1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0901547"/>
      </p:ext>
    </p:extLst>
  </p:cSld>
  <p:clrMapOvr>
    <a:masterClrMapping/>
  </p:clrMapOvr>
</p:sld>
</file>

<file path=ppt/theme/theme1.xml><?xml version="1.0" encoding="utf-8"?>
<a:theme xmlns:a="http://schemas.openxmlformats.org/drawingml/2006/main" name="16sucai_201411161035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1BFA7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计算广告应用V2</Template>
  <TotalTime>2634</TotalTime>
  <Words>744</Words>
  <Application>Microsoft Macintosh PowerPoint</Application>
  <PresentationFormat>全屏显示(16:9)</PresentationFormat>
  <Paragraphs>67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微软雅黑</vt:lpstr>
      <vt:lpstr>Arial</vt:lpstr>
      <vt:lpstr>Calibri</vt:lpstr>
      <vt:lpstr>Consolas</vt:lpstr>
      <vt:lpstr>Wingdings</vt:lpstr>
      <vt:lpstr>16sucai_201411161035</vt:lpstr>
      <vt:lpstr>自定义设计方案</vt:lpstr>
      <vt:lpstr>PowerPoint 演示文稿</vt:lpstr>
      <vt:lpstr>JAVA反射机制</vt:lpstr>
      <vt:lpstr>Class类</vt:lpstr>
      <vt:lpstr>Class类（获取Class对象，反射入口）</vt:lpstr>
      <vt:lpstr>Constructor类（创建对象）</vt:lpstr>
      <vt:lpstr>Field（访问和修改字段）</vt:lpstr>
      <vt:lpstr>Method（调用方法）</vt:lpstr>
      <vt:lpstr>应用场景</vt:lpstr>
      <vt:lpstr>优缺点和性能优化</vt:lpstr>
      <vt:lpstr>例子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Microsoft Office User</cp:lastModifiedBy>
  <cp:revision>83</cp:revision>
  <dcterms:created xsi:type="dcterms:W3CDTF">2016-04-19T01:35:35Z</dcterms:created>
  <dcterms:modified xsi:type="dcterms:W3CDTF">2026-03-23T08:29:08Z</dcterms:modified>
</cp:coreProperties>
</file>