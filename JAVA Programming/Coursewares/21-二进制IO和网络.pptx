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73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92" r:id="rId14"/>
    <p:sldId id="293" r:id="rId15"/>
    <p:sldId id="291" r:id="rId16"/>
    <p:sldId id="285" r:id="rId17"/>
    <p:sldId id="286" r:id="rId18"/>
    <p:sldId id="287" r:id="rId19"/>
    <p:sldId id="483" r:id="rId20"/>
    <p:sldId id="460" r:id="rId21"/>
    <p:sldId id="462" r:id="rId22"/>
    <p:sldId id="289" r:id="rId23"/>
    <p:sldId id="476" r:id="rId24"/>
    <p:sldId id="466" r:id="rId25"/>
    <p:sldId id="294" r:id="rId26"/>
    <p:sldId id="295" r:id="rId27"/>
    <p:sldId id="258" r:id="rId28"/>
    <p:sldId id="290" r:id="rId29"/>
    <p:sldId id="296" r:id="rId30"/>
    <p:sldId id="479" r:id="rId31"/>
    <p:sldId id="480" r:id="rId32"/>
    <p:sldId id="481" r:id="rId33"/>
    <p:sldId id="482" r:id="rId34"/>
    <p:sldId id="288" r:id="rId3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88225" autoAdjust="0"/>
  </p:normalViewPr>
  <p:slideViewPr>
    <p:cSldViewPr>
      <p:cViewPr varScale="1">
        <p:scale>
          <a:sx n="87" d="100"/>
          <a:sy n="87" d="100"/>
        </p:scale>
        <p:origin x="182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210D66-00FF-44E4-9019-FB958F20B1DA}" type="datetimeFigureOut">
              <a:rPr lang="zh-CN" altLang="en-US" smtClean="0"/>
              <a:pPr/>
              <a:t>2026/4/28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9C44B0-9533-425B-B6A1-36421544B67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8B775-F5E1-48BB-BEE8-DF0C2AAB3A74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9C44B0-9533-425B-B6A1-36421544B67A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9C44B0-9533-425B-B6A1-36421544B67A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9C44B0-9533-425B-B6A1-36421544B67A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7" name="组合 13"/>
          <p:cNvGrpSpPr/>
          <p:nvPr userDrawn="1"/>
        </p:nvGrpSpPr>
        <p:grpSpPr>
          <a:xfrm>
            <a:off x="5724128" y="6051376"/>
            <a:ext cx="3282280" cy="762000"/>
            <a:chOff x="5724128" y="6051376"/>
            <a:chExt cx="3282280" cy="762000"/>
          </a:xfrm>
        </p:grpSpPr>
        <p:pic>
          <p:nvPicPr>
            <p:cNvPr id="8" name="图片 7" descr="logo2.gif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44408" y="6051376"/>
              <a:ext cx="762000" cy="762000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5724128" y="6536377"/>
              <a:ext cx="255538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MIS, School of Information, RUC</a:t>
              </a:r>
              <a:endPara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2026/4/28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2026/4/28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2026/4/28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2026/4/28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2026/4/28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ml/ViewRemoteFile.bat" TargetMode="External"/><Relationship Id="rId2" Type="http://schemas.openxmlformats.org/officeDocument/2006/relationships/hyperlink" Target="html/ViewRemoteFil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ml/WebBrowser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ml/WebBrowser.bat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ml/TicTacToeClient.bat" TargetMode="External"/><Relationship Id="rId3" Type="http://schemas.openxmlformats.org/officeDocument/2006/relationships/oleObject" Target="../embeddings/oleObject1.bin"/><Relationship Id="rId7" Type="http://schemas.openxmlformats.org/officeDocument/2006/relationships/hyperlink" Target="html/TicTacToeClient.html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hyperlink" Target="html/TicTacToeServer.bat" TargetMode="External"/><Relationship Id="rId5" Type="http://schemas.openxmlformats.org/officeDocument/2006/relationships/hyperlink" Target="html/TicTacToeServer.html" TargetMode="External"/><Relationship Id="rId4" Type="http://schemas.openxmlformats.org/officeDocument/2006/relationships/image" Target="../media/image7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0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ml/DatagramClient.bat" TargetMode="External"/><Relationship Id="rId3" Type="http://schemas.openxmlformats.org/officeDocument/2006/relationships/oleObject" Target="../embeddings/oleObject5.bin"/><Relationship Id="rId7" Type="http://schemas.openxmlformats.org/officeDocument/2006/relationships/hyperlink" Target="html/DatagramServer.bat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hyperlink" Target="html/DatagramClient.html" TargetMode="External"/><Relationship Id="rId5" Type="http://schemas.openxmlformats.org/officeDocument/2006/relationships/hyperlink" Target="html/DatagramServer.html" TargetMode="External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99592" y="2204864"/>
            <a:ext cx="7772400" cy="1470025"/>
          </a:xfrm>
        </p:spPr>
        <p:txBody>
          <a:bodyPr>
            <a:noAutofit/>
          </a:bodyPr>
          <a:lstStyle/>
          <a:p>
            <a:r>
              <a:rPr lang="zh-CN" altLang="en-US" sz="36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二进制输入输出</a:t>
            </a:r>
          </a:p>
        </p:txBody>
      </p:sp>
      <p:grpSp>
        <p:nvGrpSpPr>
          <p:cNvPr id="3" name="组合 13"/>
          <p:cNvGrpSpPr/>
          <p:nvPr/>
        </p:nvGrpSpPr>
        <p:grpSpPr>
          <a:xfrm>
            <a:off x="5724128" y="6051376"/>
            <a:ext cx="3282280" cy="762000"/>
            <a:chOff x="5724128" y="6051376"/>
            <a:chExt cx="3282280" cy="762000"/>
          </a:xfrm>
        </p:grpSpPr>
        <p:pic>
          <p:nvPicPr>
            <p:cNvPr id="4" name="图片 3" descr="logo2.gif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44408" y="6051376"/>
              <a:ext cx="762000" cy="762000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5724128" y="6536377"/>
              <a:ext cx="255538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MIS, School of Information, RUC</a:t>
              </a:r>
              <a:endPara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5E5C25E2-82CF-CF4E-AD27-5C2BE44007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CB9AE71-C125-1B4C-ABAA-8BD4B92E32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FA8E546-E718-314E-8F2E-7DE875C3B1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93E5B0A-EE5E-6148-8BCB-7652C5FA6C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4D2C76F-5F94-5548-9B7F-974C02F458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6D87326-620C-E94E-8215-8B9FCBA511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23528" y="260648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JAVA</a:t>
            </a:r>
            <a:r>
              <a:rPr lang="zh-CN" altLang="en-US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输入输出</a:t>
            </a:r>
          </a:p>
        </p:txBody>
      </p:sp>
      <p:sp>
        <p:nvSpPr>
          <p:cNvPr id="19" name="矩形 18"/>
          <p:cNvSpPr/>
          <p:nvPr/>
        </p:nvSpPr>
        <p:spPr>
          <a:xfrm>
            <a:off x="467544" y="1988840"/>
            <a:ext cx="2448272" cy="31683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程序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</a:t>
            </a:r>
            <a:r>
              <a:rPr lang="zh-CN" altLang="en-US" dirty="0"/>
              <a:t>输入对象由</a:t>
            </a:r>
            <a:endParaRPr lang="en-US" altLang="zh-CN" dirty="0"/>
          </a:p>
          <a:p>
            <a:r>
              <a:rPr lang="en-US" altLang="zh-CN" dirty="0"/>
              <a:t>      </a:t>
            </a:r>
            <a:r>
              <a:rPr lang="zh-CN" altLang="en-US" dirty="0"/>
              <a:t>输入类产生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       输出对象由</a:t>
            </a:r>
            <a:endParaRPr lang="en-US" altLang="zh-CN" dirty="0"/>
          </a:p>
          <a:p>
            <a:r>
              <a:rPr lang="en-US" altLang="zh-CN" dirty="0"/>
              <a:t>       </a:t>
            </a:r>
            <a:r>
              <a:rPr lang="zh-CN" altLang="en-US" dirty="0"/>
              <a:t>输出类产生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23" name="流程图: 直接访问存储器 22"/>
          <p:cNvSpPr/>
          <p:nvPr/>
        </p:nvSpPr>
        <p:spPr>
          <a:xfrm flipH="1">
            <a:off x="3707904" y="2492896"/>
            <a:ext cx="2736304" cy="576064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0101…1001</a:t>
            </a:r>
            <a:endParaRPr lang="zh-CN" altLang="en-US" dirty="0"/>
          </a:p>
        </p:txBody>
      </p:sp>
      <p:sp>
        <p:nvSpPr>
          <p:cNvPr id="24" name="流程图: 磁盘 23"/>
          <p:cNvSpPr/>
          <p:nvPr/>
        </p:nvSpPr>
        <p:spPr>
          <a:xfrm>
            <a:off x="7236296" y="2276872"/>
            <a:ext cx="1259632" cy="936104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文件</a:t>
            </a:r>
          </a:p>
        </p:txBody>
      </p:sp>
      <p:cxnSp>
        <p:nvCxnSpPr>
          <p:cNvPr id="26" name="直接箭头连接符 25"/>
          <p:cNvCxnSpPr/>
          <p:nvPr/>
        </p:nvCxnSpPr>
        <p:spPr>
          <a:xfrm flipH="1">
            <a:off x="2915816" y="2780928"/>
            <a:ext cx="936104" cy="0"/>
          </a:xfrm>
          <a:prstGeom prst="straightConnector1">
            <a:avLst/>
          </a:prstGeom>
          <a:ln w="349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H="1">
            <a:off x="6444208" y="2780928"/>
            <a:ext cx="936104" cy="0"/>
          </a:xfrm>
          <a:prstGeom prst="straightConnector1">
            <a:avLst/>
          </a:prstGeom>
          <a:ln w="349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流程图: 直接访问存储器 27"/>
          <p:cNvSpPr/>
          <p:nvPr/>
        </p:nvSpPr>
        <p:spPr>
          <a:xfrm flipH="1">
            <a:off x="3707904" y="4077072"/>
            <a:ext cx="2808312" cy="576064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11011…1011</a:t>
            </a:r>
            <a:endParaRPr lang="zh-CN" altLang="en-US" dirty="0"/>
          </a:p>
        </p:txBody>
      </p:sp>
      <p:sp>
        <p:nvSpPr>
          <p:cNvPr id="29" name="流程图: 磁盘 28"/>
          <p:cNvSpPr/>
          <p:nvPr/>
        </p:nvSpPr>
        <p:spPr>
          <a:xfrm>
            <a:off x="7236296" y="3861048"/>
            <a:ext cx="1259632" cy="936104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文件</a:t>
            </a:r>
          </a:p>
        </p:txBody>
      </p:sp>
      <p:cxnSp>
        <p:nvCxnSpPr>
          <p:cNvPr id="30" name="直接箭头连接符 29"/>
          <p:cNvCxnSpPr/>
          <p:nvPr/>
        </p:nvCxnSpPr>
        <p:spPr>
          <a:xfrm flipH="1">
            <a:off x="4616712" y="2969656"/>
            <a:ext cx="1440160" cy="0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endCxn id="28" idx="4"/>
          </p:cNvCxnSpPr>
          <p:nvPr/>
        </p:nvCxnSpPr>
        <p:spPr>
          <a:xfrm>
            <a:off x="2915816" y="4365104"/>
            <a:ext cx="792088" cy="0"/>
          </a:xfrm>
          <a:prstGeom prst="straightConnector1">
            <a:avLst/>
          </a:prstGeom>
          <a:ln w="349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>
            <a:off x="6444208" y="4365104"/>
            <a:ext cx="792088" cy="0"/>
          </a:xfrm>
          <a:prstGeom prst="straightConnector1">
            <a:avLst/>
          </a:prstGeom>
          <a:ln w="349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H="1">
            <a:off x="4572000" y="4581128"/>
            <a:ext cx="1440160" cy="0"/>
          </a:xfrm>
          <a:prstGeom prst="straightConnector1">
            <a:avLst/>
          </a:prstGeom>
          <a:ln w="22225">
            <a:solidFill>
              <a:schemeClr val="bg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630941" y="213285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输入流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83341" y="3707740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输出流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文本</a:t>
            </a:r>
            <a:r>
              <a:rPr lang="en-US" altLang="zh-CN" dirty="0"/>
              <a:t>I/O</a:t>
            </a:r>
            <a:r>
              <a:rPr lang="zh-CN" altLang="en-US" dirty="0"/>
              <a:t>与二进制</a:t>
            </a:r>
            <a:r>
              <a:rPr lang="en-US" altLang="zh-CN" dirty="0"/>
              <a:t>I/O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3568" y="2204864"/>
            <a:ext cx="2520280" cy="1584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文本</a:t>
            </a:r>
            <a:r>
              <a:rPr lang="en-US" altLang="zh-CN" dirty="0"/>
              <a:t>I/O</a:t>
            </a:r>
            <a:r>
              <a:rPr lang="zh-CN" altLang="en-US" dirty="0"/>
              <a:t>程序</a:t>
            </a:r>
            <a:endParaRPr lang="en-US" altLang="zh-CN" dirty="0"/>
          </a:p>
          <a:p>
            <a:r>
              <a:rPr lang="zh-CN" altLang="en-US" dirty="0"/>
              <a:t>     字符的统一码</a:t>
            </a:r>
            <a:endParaRPr lang="en-US" altLang="zh-CN" dirty="0"/>
          </a:p>
          <a:p>
            <a:r>
              <a:rPr lang="zh-CN" altLang="en-US" dirty="0"/>
              <a:t>比如“</a:t>
            </a:r>
            <a:r>
              <a:rPr lang="en-US" altLang="zh-CN" dirty="0"/>
              <a:t>199</a:t>
            </a:r>
            <a:r>
              <a:rPr lang="zh-CN" altLang="en-US" dirty="0"/>
              <a:t>”</a:t>
            </a:r>
          </a:p>
        </p:txBody>
      </p:sp>
      <p:sp>
        <p:nvSpPr>
          <p:cNvPr id="5" name="流程图: 磁盘 4"/>
          <p:cNvSpPr/>
          <p:nvPr/>
        </p:nvSpPr>
        <p:spPr>
          <a:xfrm>
            <a:off x="5508104" y="2132856"/>
            <a:ext cx="3240360" cy="18002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字符编码存储在文件中</a:t>
            </a:r>
            <a:endParaRPr lang="en-US" altLang="zh-CN" dirty="0"/>
          </a:p>
          <a:p>
            <a:pPr algn="ctr"/>
            <a:r>
              <a:rPr lang="en-US" altLang="zh-CN" dirty="0"/>
              <a:t>00110001  00111001  00111001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885450" y="3851756"/>
            <a:ext cx="63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0x39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868144" y="3851756"/>
            <a:ext cx="63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0x31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731968" y="3861048"/>
            <a:ext cx="63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0x39</a:t>
            </a:r>
            <a:endParaRPr lang="zh-CN" altLang="en-US" dirty="0"/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6156176" y="3429000"/>
            <a:ext cx="0" cy="432048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7164288" y="3429000"/>
            <a:ext cx="0" cy="432048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V="1">
            <a:off x="8028384" y="3429000"/>
            <a:ext cx="0" cy="432048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2010776" y="3284984"/>
            <a:ext cx="3600400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2483768" y="2996952"/>
            <a:ext cx="1008112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4932040" y="3010600"/>
            <a:ext cx="1008112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679684" y="2843056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编码</a:t>
            </a:r>
            <a:r>
              <a:rPr lang="en-US" altLang="zh-CN" b="1" dirty="0"/>
              <a:t>/</a:t>
            </a:r>
            <a:r>
              <a:rPr lang="zh-CN" altLang="en-US" b="1" dirty="0"/>
              <a:t>解码</a:t>
            </a:r>
          </a:p>
        </p:txBody>
      </p:sp>
      <p:sp>
        <p:nvSpPr>
          <p:cNvPr id="24" name="矩形 23"/>
          <p:cNvSpPr/>
          <p:nvPr/>
        </p:nvSpPr>
        <p:spPr>
          <a:xfrm>
            <a:off x="683568" y="4499828"/>
            <a:ext cx="2520280" cy="1584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二进制</a:t>
            </a:r>
            <a:r>
              <a:rPr lang="en-US" altLang="zh-CN" dirty="0"/>
              <a:t>I/O</a:t>
            </a:r>
            <a:r>
              <a:rPr lang="zh-CN" altLang="en-US" dirty="0"/>
              <a:t>程序</a:t>
            </a:r>
            <a:endParaRPr lang="en-US" altLang="zh-CN" dirty="0"/>
          </a:p>
          <a:p>
            <a:r>
              <a:rPr lang="zh-CN" altLang="en-US" dirty="0"/>
              <a:t>读</a:t>
            </a:r>
            <a:r>
              <a:rPr lang="en-US" altLang="zh-CN" dirty="0"/>
              <a:t>/</a:t>
            </a:r>
            <a:r>
              <a:rPr lang="zh-CN" altLang="en-US" dirty="0"/>
              <a:t>写一个字节</a:t>
            </a:r>
            <a:endParaRPr lang="en-US" altLang="zh-CN" dirty="0"/>
          </a:p>
          <a:p>
            <a:r>
              <a:rPr lang="zh-CN" altLang="en-US" dirty="0"/>
              <a:t>比如</a:t>
            </a:r>
            <a:r>
              <a:rPr lang="en-US" altLang="zh-CN" dirty="0"/>
              <a:t>199</a:t>
            </a:r>
            <a:endParaRPr lang="zh-CN" altLang="en-US" dirty="0"/>
          </a:p>
        </p:txBody>
      </p:sp>
      <p:sp>
        <p:nvSpPr>
          <p:cNvPr id="25" name="流程图: 磁盘 24"/>
          <p:cNvSpPr/>
          <p:nvPr/>
        </p:nvSpPr>
        <p:spPr>
          <a:xfrm>
            <a:off x="4211960" y="4365104"/>
            <a:ext cx="3240360" cy="18002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文件中是同样的字节</a:t>
            </a:r>
            <a:endParaRPr lang="en-US" altLang="zh-CN" dirty="0"/>
          </a:p>
          <a:p>
            <a:pPr algn="ctr"/>
            <a:r>
              <a:rPr lang="en-US" altLang="zh-CN" dirty="0"/>
              <a:t>0110111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89306" y="6084004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0xC7</a:t>
            </a:r>
            <a:endParaRPr lang="zh-CN" altLang="en-US" dirty="0"/>
          </a:p>
        </p:txBody>
      </p:sp>
      <p:cxnSp>
        <p:nvCxnSpPr>
          <p:cNvPr id="30" name="直接箭头连接符 29"/>
          <p:cNvCxnSpPr/>
          <p:nvPr/>
        </p:nvCxnSpPr>
        <p:spPr>
          <a:xfrm flipV="1">
            <a:off x="5868144" y="5661248"/>
            <a:ext cx="0" cy="432048"/>
          </a:xfrm>
          <a:prstGeom prst="straightConnector1">
            <a:avLst/>
          </a:prstGeom>
          <a:ln w="2222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2010776" y="5579948"/>
            <a:ext cx="3065280" cy="9292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2483768" y="5291916"/>
            <a:ext cx="1656184" cy="9292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/>
          <a:lstStyle/>
          <a:p>
            <a:r>
              <a:rPr lang="zh-CN" altLang="en-US" dirty="0"/>
              <a:t>二进制</a:t>
            </a:r>
            <a:r>
              <a:rPr lang="en-US" altLang="zh-CN" dirty="0"/>
              <a:t>I/O</a:t>
            </a:r>
            <a:r>
              <a:rPr lang="zh-CN" altLang="en-US" dirty="0"/>
              <a:t>类</a:t>
            </a:r>
          </a:p>
        </p:txBody>
      </p:sp>
      <p:sp>
        <p:nvSpPr>
          <p:cNvPr id="4" name="矩形 3"/>
          <p:cNvSpPr/>
          <p:nvPr/>
        </p:nvSpPr>
        <p:spPr>
          <a:xfrm>
            <a:off x="35496" y="3284984"/>
            <a:ext cx="108012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Object</a:t>
            </a:r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1907704" y="2101792"/>
            <a:ext cx="144016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InputStream</a:t>
            </a:r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1835696" y="4437112"/>
            <a:ext cx="165618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OutputStream</a:t>
            </a:r>
            <a:endParaRPr lang="zh-CN" altLang="en-US" b="1" dirty="0"/>
          </a:p>
        </p:txBody>
      </p:sp>
      <p:sp>
        <p:nvSpPr>
          <p:cNvPr id="7" name="矩形 6"/>
          <p:cNvSpPr/>
          <p:nvPr/>
        </p:nvSpPr>
        <p:spPr>
          <a:xfrm>
            <a:off x="4211960" y="1412776"/>
            <a:ext cx="194421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FileInputSream</a:t>
            </a:r>
            <a:endParaRPr lang="zh-CN" altLang="en-US" b="1" dirty="0"/>
          </a:p>
        </p:txBody>
      </p:sp>
      <p:sp>
        <p:nvSpPr>
          <p:cNvPr id="8" name="矩形 7"/>
          <p:cNvSpPr/>
          <p:nvPr/>
        </p:nvSpPr>
        <p:spPr>
          <a:xfrm>
            <a:off x="4211960" y="2060848"/>
            <a:ext cx="194421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FilterInputSream</a:t>
            </a:r>
            <a:endParaRPr lang="zh-CN" altLang="en-US" b="1" dirty="0"/>
          </a:p>
        </p:txBody>
      </p:sp>
      <p:sp>
        <p:nvSpPr>
          <p:cNvPr id="9" name="矩形 8"/>
          <p:cNvSpPr/>
          <p:nvPr/>
        </p:nvSpPr>
        <p:spPr>
          <a:xfrm>
            <a:off x="4211960" y="2780928"/>
            <a:ext cx="194421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ObjectInputSream</a:t>
            </a:r>
            <a:endParaRPr lang="zh-CN" altLang="en-US" b="1" dirty="0"/>
          </a:p>
        </p:txBody>
      </p:sp>
      <p:sp>
        <p:nvSpPr>
          <p:cNvPr id="10" name="矩形 9"/>
          <p:cNvSpPr/>
          <p:nvPr/>
        </p:nvSpPr>
        <p:spPr>
          <a:xfrm>
            <a:off x="6948264" y="1708344"/>
            <a:ext cx="219573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DataInputSream</a:t>
            </a:r>
            <a:endParaRPr lang="zh-CN" altLang="en-US" b="1" dirty="0"/>
          </a:p>
        </p:txBody>
      </p:sp>
      <p:sp>
        <p:nvSpPr>
          <p:cNvPr id="11" name="矩形 10"/>
          <p:cNvSpPr/>
          <p:nvPr/>
        </p:nvSpPr>
        <p:spPr>
          <a:xfrm>
            <a:off x="6948264" y="2356416"/>
            <a:ext cx="219573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BufferedInputSream</a:t>
            </a:r>
            <a:endParaRPr lang="zh-CN" altLang="en-US" b="1" dirty="0"/>
          </a:p>
        </p:txBody>
      </p:sp>
      <p:cxnSp>
        <p:nvCxnSpPr>
          <p:cNvPr id="13" name="直接连接符 12"/>
          <p:cNvCxnSpPr>
            <a:stCxn id="7" idx="1"/>
          </p:cNvCxnSpPr>
          <p:nvPr/>
        </p:nvCxnSpPr>
        <p:spPr>
          <a:xfrm flipH="1">
            <a:off x="3635896" y="1628800"/>
            <a:ext cx="57606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3635896" y="1628800"/>
            <a:ext cx="0" cy="136815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endCxn id="9" idx="1"/>
          </p:cNvCxnSpPr>
          <p:nvPr/>
        </p:nvCxnSpPr>
        <p:spPr>
          <a:xfrm>
            <a:off x="3635896" y="2996952"/>
            <a:ext cx="57606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5" idx="3"/>
            <a:endCxn id="8" idx="1"/>
          </p:cNvCxnSpPr>
          <p:nvPr/>
        </p:nvCxnSpPr>
        <p:spPr>
          <a:xfrm flipV="1">
            <a:off x="3347864" y="2276872"/>
            <a:ext cx="864096" cy="4940"/>
          </a:xfrm>
          <a:prstGeom prst="line">
            <a:avLst/>
          </a:prstGeom>
          <a:ln w="28575"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6615520" y="1910720"/>
            <a:ext cx="57606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>
            <a:endCxn id="11" idx="1"/>
          </p:cNvCxnSpPr>
          <p:nvPr/>
        </p:nvCxnSpPr>
        <p:spPr>
          <a:xfrm>
            <a:off x="6615520" y="2572440"/>
            <a:ext cx="33274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6615520" y="1914488"/>
            <a:ext cx="0" cy="64807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H="1">
            <a:off x="6128880" y="2284408"/>
            <a:ext cx="504056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H="1" flipV="1">
            <a:off x="1606024" y="2276872"/>
            <a:ext cx="288032" cy="494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H="1" flipV="1">
            <a:off x="1629552" y="4634548"/>
            <a:ext cx="288032" cy="494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1592376" y="2276872"/>
            <a:ext cx="27296" cy="237626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flipH="1">
            <a:off x="1105736" y="3460064"/>
            <a:ext cx="517704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4211960" y="3744328"/>
            <a:ext cx="206093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FileOutputSream</a:t>
            </a:r>
            <a:endParaRPr lang="zh-CN" altLang="en-US" b="1" dirty="0"/>
          </a:p>
        </p:txBody>
      </p:sp>
      <p:sp>
        <p:nvSpPr>
          <p:cNvPr id="54" name="矩形 53"/>
          <p:cNvSpPr/>
          <p:nvPr/>
        </p:nvSpPr>
        <p:spPr>
          <a:xfrm>
            <a:off x="4211960" y="4392400"/>
            <a:ext cx="206093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FilterOutputSream</a:t>
            </a:r>
            <a:endParaRPr lang="zh-CN" altLang="en-US" b="1" dirty="0"/>
          </a:p>
        </p:txBody>
      </p:sp>
      <p:sp>
        <p:nvSpPr>
          <p:cNvPr id="55" name="矩形 54"/>
          <p:cNvSpPr/>
          <p:nvPr/>
        </p:nvSpPr>
        <p:spPr>
          <a:xfrm>
            <a:off x="4211960" y="5112480"/>
            <a:ext cx="21602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ObjectOutputSream</a:t>
            </a:r>
            <a:endParaRPr lang="zh-CN" altLang="en-US" b="1" dirty="0"/>
          </a:p>
        </p:txBody>
      </p:sp>
      <p:sp>
        <p:nvSpPr>
          <p:cNvPr id="56" name="矩形 55"/>
          <p:cNvSpPr/>
          <p:nvPr/>
        </p:nvSpPr>
        <p:spPr>
          <a:xfrm>
            <a:off x="7064984" y="4039896"/>
            <a:ext cx="194421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DataOutputSream</a:t>
            </a:r>
            <a:endParaRPr lang="zh-CN" altLang="en-US" b="1" dirty="0"/>
          </a:p>
        </p:txBody>
      </p:sp>
      <p:sp>
        <p:nvSpPr>
          <p:cNvPr id="57" name="矩形 56"/>
          <p:cNvSpPr/>
          <p:nvPr/>
        </p:nvSpPr>
        <p:spPr>
          <a:xfrm>
            <a:off x="6831544" y="4687968"/>
            <a:ext cx="2339752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BufferedOutputSream</a:t>
            </a:r>
            <a:endParaRPr lang="zh-CN" altLang="en-US" b="1" dirty="0"/>
          </a:p>
        </p:txBody>
      </p:sp>
      <p:cxnSp>
        <p:nvCxnSpPr>
          <p:cNvPr id="58" name="直接连接符 57"/>
          <p:cNvCxnSpPr>
            <a:stCxn id="53" idx="1"/>
          </p:cNvCxnSpPr>
          <p:nvPr/>
        </p:nvCxnSpPr>
        <p:spPr>
          <a:xfrm flipH="1">
            <a:off x="3752616" y="3960352"/>
            <a:ext cx="45934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3752616" y="3960352"/>
            <a:ext cx="0" cy="136815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endCxn id="55" idx="1"/>
          </p:cNvCxnSpPr>
          <p:nvPr/>
        </p:nvCxnSpPr>
        <p:spPr>
          <a:xfrm>
            <a:off x="3752616" y="5328504"/>
            <a:ext cx="45934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>
            <a:endCxn id="54" idx="1"/>
          </p:cNvCxnSpPr>
          <p:nvPr/>
        </p:nvCxnSpPr>
        <p:spPr>
          <a:xfrm flipV="1">
            <a:off x="3464584" y="4608424"/>
            <a:ext cx="747376" cy="4940"/>
          </a:xfrm>
          <a:prstGeom prst="line">
            <a:avLst/>
          </a:prstGeom>
          <a:ln w="28575"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endCxn id="56" idx="1"/>
          </p:cNvCxnSpPr>
          <p:nvPr/>
        </p:nvCxnSpPr>
        <p:spPr>
          <a:xfrm>
            <a:off x="6732240" y="4242272"/>
            <a:ext cx="332744" cy="136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6732240" y="4903992"/>
            <a:ext cx="8565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6732240" y="4246040"/>
            <a:ext cx="0" cy="64807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 flipH="1">
            <a:off x="6231952" y="4615960"/>
            <a:ext cx="504056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171400"/>
            <a:ext cx="8229600" cy="1143000"/>
          </a:xfrm>
        </p:spPr>
        <p:txBody>
          <a:bodyPr/>
          <a:lstStyle/>
          <a:p>
            <a:r>
              <a:rPr lang="zh-CN" altLang="en-US" dirty="0"/>
              <a:t>文本</a:t>
            </a:r>
            <a:r>
              <a:rPr lang="en-US" altLang="zh-CN" dirty="0"/>
              <a:t>I/O</a:t>
            </a:r>
            <a:r>
              <a:rPr lang="zh-CN" altLang="en-US" dirty="0"/>
              <a:t>类</a:t>
            </a:r>
          </a:p>
        </p:txBody>
      </p:sp>
      <p:pic>
        <p:nvPicPr>
          <p:cNvPr id="5" name="图片 4" descr="23016887_1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55762" y="3231604"/>
            <a:ext cx="5848350" cy="2933700"/>
          </a:xfrm>
          <a:prstGeom prst="rect">
            <a:avLst/>
          </a:prstGeom>
        </p:spPr>
      </p:pic>
      <p:pic>
        <p:nvPicPr>
          <p:cNvPr id="4" name="图片 3" descr="23016887_10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55762" y="764704"/>
            <a:ext cx="5924550" cy="2524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8520" y="1412776"/>
            <a:ext cx="9144000" cy="4525963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FileInputStream</a:t>
            </a:r>
            <a:r>
              <a:rPr lang="zh-CN" altLang="en-US" dirty="0"/>
              <a:t>类和</a:t>
            </a:r>
            <a:r>
              <a:rPr lang="en-US" altLang="zh-CN" dirty="0"/>
              <a:t>FileOutputStream</a:t>
            </a:r>
            <a:r>
              <a:rPr lang="zh-CN" altLang="en-US" dirty="0"/>
              <a:t>类</a:t>
            </a:r>
            <a:endParaRPr lang="en-US" altLang="zh-CN" dirty="0"/>
          </a:p>
          <a:p>
            <a:pPr lvl="1"/>
            <a:r>
              <a:rPr lang="zh-CN" altLang="en-US" dirty="0"/>
              <a:t>例</a:t>
            </a:r>
            <a:r>
              <a:rPr lang="en-US" altLang="zh-CN" dirty="0"/>
              <a:t>TestFileStream.java</a:t>
            </a:r>
          </a:p>
          <a:p>
            <a:r>
              <a:rPr lang="en-US" altLang="zh-CN" dirty="0"/>
              <a:t>DataInputStream</a:t>
            </a:r>
            <a:r>
              <a:rPr lang="zh-CN" altLang="en-US" dirty="0"/>
              <a:t>类和</a:t>
            </a:r>
            <a:r>
              <a:rPr lang="en-US" altLang="zh-CN" dirty="0"/>
              <a:t>DataOutputStream</a:t>
            </a:r>
            <a:r>
              <a:rPr lang="zh-CN" altLang="en-US" dirty="0"/>
              <a:t>类</a:t>
            </a:r>
            <a:endParaRPr lang="en-US" altLang="zh-CN" dirty="0"/>
          </a:p>
          <a:p>
            <a:pPr lvl="1"/>
            <a:r>
              <a:rPr lang="zh-CN" altLang="en-US" dirty="0"/>
              <a:t>接口 </a:t>
            </a:r>
            <a:r>
              <a:rPr lang="en-US" altLang="zh-CN" dirty="0"/>
              <a:t>DataInput, DataOutput</a:t>
            </a:r>
          </a:p>
          <a:p>
            <a:pPr lvl="1"/>
            <a:r>
              <a:rPr lang="zh-CN" altLang="en-US" dirty="0"/>
              <a:t>例</a:t>
            </a:r>
            <a:r>
              <a:rPr lang="en-US" altLang="zh-CN" dirty="0"/>
              <a:t>TestDataStream.java</a:t>
            </a:r>
          </a:p>
          <a:p>
            <a:r>
              <a:rPr lang="en-US" altLang="zh-CN" dirty="0"/>
              <a:t>BufferedInputStream</a:t>
            </a:r>
            <a:r>
              <a:rPr lang="zh-CN" altLang="en-US" dirty="0"/>
              <a:t>类和</a:t>
            </a:r>
            <a:r>
              <a:rPr lang="en-US" altLang="zh-CN" dirty="0"/>
              <a:t>BufferedOutputStream</a:t>
            </a:r>
            <a:r>
              <a:rPr lang="zh-CN" altLang="en-US" dirty="0"/>
              <a:t>类</a:t>
            </a:r>
            <a:endParaRPr lang="en-US" altLang="zh-CN" dirty="0"/>
          </a:p>
          <a:p>
            <a:pPr lvl="1"/>
            <a:r>
              <a:rPr lang="zh-CN" altLang="en-US" dirty="0"/>
              <a:t>实例：</a:t>
            </a:r>
            <a:r>
              <a:rPr lang="en-US" altLang="zh-CN" dirty="0" err="1"/>
              <a:t>copy.java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原书第</a:t>
            </a:r>
            <a:r>
              <a:rPr lang="en-US" altLang="zh-CN" dirty="0"/>
              <a:t>7</a:t>
            </a:r>
            <a:r>
              <a:rPr lang="zh-CN" altLang="en-US" dirty="0"/>
              <a:t>版 </a:t>
            </a:r>
            <a:r>
              <a:rPr lang="en-US" altLang="zh-CN" dirty="0"/>
              <a:t>19</a:t>
            </a:r>
            <a:r>
              <a:rPr lang="zh-CN" altLang="en-US" dirty="0"/>
              <a:t>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对象输入输出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ObjectInputStream</a:t>
            </a:r>
            <a:r>
              <a:rPr lang="zh-CN" altLang="en-US" dirty="0"/>
              <a:t>和</a:t>
            </a:r>
            <a:r>
              <a:rPr lang="en-US" altLang="zh-CN" dirty="0"/>
              <a:t>ObjectOutputStream</a:t>
            </a:r>
          </a:p>
          <a:p>
            <a:pPr lvl="1"/>
            <a:r>
              <a:rPr lang="zh-CN" altLang="en-US" dirty="0"/>
              <a:t>接口</a:t>
            </a:r>
            <a:r>
              <a:rPr lang="en-US" altLang="zh-CN" dirty="0"/>
              <a:t>DataInput,DataOutput</a:t>
            </a:r>
          </a:p>
          <a:p>
            <a:pPr lvl="1"/>
            <a:r>
              <a:rPr lang="zh-CN" altLang="en-US" dirty="0"/>
              <a:t>可代替</a:t>
            </a:r>
            <a:r>
              <a:rPr lang="en-US" altLang="zh-CN" dirty="0"/>
              <a:t>DataInputStream</a:t>
            </a:r>
            <a:r>
              <a:rPr lang="zh-CN" altLang="en-US" dirty="0"/>
              <a:t>和</a:t>
            </a:r>
            <a:r>
              <a:rPr lang="en-US" altLang="zh-CN" dirty="0"/>
              <a:t>DataOutputStream</a:t>
            </a:r>
          </a:p>
          <a:p>
            <a:pPr lvl="1"/>
            <a:r>
              <a:rPr lang="zh-CN" altLang="en-US" dirty="0"/>
              <a:t>例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TestObjectOutputStream.java, TestObjectInputStream.java</a:t>
            </a:r>
          </a:p>
          <a:p>
            <a:pPr lvl="1"/>
            <a:r>
              <a:rPr lang="zh-CN" altLang="en-US" dirty="0"/>
              <a:t>接口</a:t>
            </a:r>
            <a:r>
              <a:rPr lang="en-US" altLang="zh-CN" dirty="0"/>
              <a:t>Serializable</a:t>
            </a:r>
          </a:p>
          <a:p>
            <a:pPr lvl="2"/>
            <a:r>
              <a:rPr lang="zh-CN" altLang="en-US" dirty="0"/>
              <a:t>标记性接口。没有方法，实现</a:t>
            </a:r>
            <a:r>
              <a:rPr lang="en-US" altLang="zh-CN" dirty="0"/>
              <a:t>Serializable</a:t>
            </a:r>
            <a:r>
              <a:rPr lang="zh-CN" altLang="en-US" dirty="0"/>
              <a:t>接口不需要添加代码，要实现这个接口可以启动</a:t>
            </a:r>
            <a:r>
              <a:rPr lang="en-US" altLang="zh-CN" dirty="0"/>
              <a:t>java</a:t>
            </a:r>
            <a:r>
              <a:rPr lang="zh-CN" altLang="en-US" dirty="0"/>
              <a:t>的序列机制，自动执行存储对象和数据的过程。</a:t>
            </a:r>
            <a:endParaRPr lang="en-US" altLang="zh-CN" dirty="0"/>
          </a:p>
          <a:p>
            <a:pPr lvl="1"/>
            <a:r>
              <a:rPr lang="zh-CN" altLang="en-US" dirty="0"/>
              <a:t>例：</a:t>
            </a:r>
            <a:r>
              <a:rPr lang="en-US" altLang="zh-CN" dirty="0"/>
              <a:t>TestObjectStreamForArray.java</a:t>
            </a:r>
          </a:p>
          <a:p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随机读写文件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RandamAccessFile</a:t>
            </a:r>
            <a:r>
              <a:rPr lang="zh-CN" altLang="en-US" dirty="0"/>
              <a:t>类</a:t>
            </a:r>
            <a:endParaRPr lang="en-US" altLang="zh-CN" dirty="0"/>
          </a:p>
          <a:p>
            <a:pPr lvl="1"/>
            <a:r>
              <a:rPr lang="zh-CN" altLang="en-US" dirty="0"/>
              <a:t>实现接口</a:t>
            </a:r>
            <a:r>
              <a:rPr lang="en-US" altLang="zh-CN" dirty="0"/>
              <a:t>DataInput,DataOutput</a:t>
            </a:r>
          </a:p>
          <a:p>
            <a:pPr lvl="1"/>
            <a:r>
              <a:rPr lang="zh-CN" altLang="en-US" dirty="0"/>
              <a:t>例：</a:t>
            </a:r>
            <a:r>
              <a:rPr lang="en-US" altLang="zh-CN" dirty="0"/>
              <a:t>TestRandomAccessFile.java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基于流的通信</a:t>
            </a:r>
            <a:endParaRPr lang="en-US" altLang="zh-CN" dirty="0"/>
          </a:p>
          <a:p>
            <a:pPr lvl="1"/>
            <a:r>
              <a:rPr lang="en-US" altLang="zh-CN" dirty="0"/>
              <a:t>TCP</a:t>
            </a:r>
          </a:p>
          <a:p>
            <a:r>
              <a:rPr lang="zh-CN" altLang="en-US" dirty="0"/>
              <a:t>基于包的通信</a:t>
            </a:r>
            <a:endParaRPr lang="en-US" altLang="zh-CN" dirty="0"/>
          </a:p>
          <a:p>
            <a:pPr lvl="1"/>
            <a:r>
              <a:rPr lang="en-US" altLang="zh-CN" dirty="0"/>
              <a:t>UDP</a:t>
            </a:r>
          </a:p>
          <a:p>
            <a:r>
              <a:rPr lang="zh-CN" altLang="en-US" dirty="0"/>
              <a:t>引入包</a:t>
            </a:r>
            <a:r>
              <a:rPr lang="en-US" altLang="zh-CN" dirty="0"/>
              <a:t>java.net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7504" y="1628800"/>
            <a:ext cx="4176464" cy="35283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服务器 </a:t>
            </a:r>
          </a:p>
        </p:txBody>
      </p:sp>
      <p:sp>
        <p:nvSpPr>
          <p:cNvPr id="5" name="矩形 4"/>
          <p:cNvSpPr/>
          <p:nvPr/>
        </p:nvSpPr>
        <p:spPr>
          <a:xfrm>
            <a:off x="5148064" y="1628800"/>
            <a:ext cx="3888432" cy="34563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79512" y="2276872"/>
            <a:ext cx="3960440" cy="2808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3528" y="176352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服务器主机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544" y="2348880"/>
            <a:ext cx="35283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步骤 </a:t>
            </a:r>
            <a:r>
              <a:rPr lang="en-US" altLang="zh-CN" dirty="0"/>
              <a:t>1</a:t>
            </a:r>
            <a:r>
              <a:rPr lang="zh-CN" altLang="en-US" dirty="0"/>
              <a:t>：使用下面的语句在端口（如</a:t>
            </a:r>
            <a:r>
              <a:rPr lang="en-US" altLang="zh-CN" dirty="0"/>
              <a:t>8000</a:t>
            </a:r>
            <a:r>
              <a:rPr lang="zh-CN" altLang="en-US" dirty="0"/>
              <a:t>）上创建服务器套接字</a:t>
            </a:r>
            <a:r>
              <a:rPr lang="en-US" altLang="zh-CN" dirty="0"/>
              <a:t>  ServerSocket serverSocket=new   ServerSocket(8000);</a:t>
            </a:r>
          </a:p>
          <a:p>
            <a:r>
              <a:rPr lang="zh-CN" altLang="en-US" dirty="0"/>
              <a:t>步骤</a:t>
            </a:r>
            <a:r>
              <a:rPr lang="en-US" altLang="zh-CN" dirty="0"/>
              <a:t>2</a:t>
            </a:r>
            <a:r>
              <a:rPr lang="zh-CN" altLang="en-US" dirty="0"/>
              <a:t>：使用下面的语句创建连接到客户的套接字</a:t>
            </a:r>
            <a:r>
              <a:rPr lang="en-US" altLang="zh-CN" dirty="0"/>
              <a:t>:</a:t>
            </a:r>
          </a:p>
          <a:p>
            <a:endParaRPr lang="en-US" altLang="zh-CN" dirty="0"/>
          </a:p>
          <a:p>
            <a:r>
              <a:rPr lang="en-US" altLang="zh-CN" dirty="0"/>
              <a:t> Socket socket= serverSocket.accept();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249396" y="176352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客户端主机</a:t>
            </a:r>
          </a:p>
        </p:txBody>
      </p:sp>
      <p:sp>
        <p:nvSpPr>
          <p:cNvPr id="10" name="矩形 9"/>
          <p:cNvSpPr/>
          <p:nvPr/>
        </p:nvSpPr>
        <p:spPr>
          <a:xfrm>
            <a:off x="5327576" y="2276872"/>
            <a:ext cx="3564904" cy="26642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64088" y="2636912"/>
            <a:ext cx="3600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步骤</a:t>
            </a:r>
            <a:r>
              <a:rPr lang="en-US" altLang="zh-CN" dirty="0"/>
              <a:t>3</a:t>
            </a:r>
            <a:r>
              <a:rPr lang="zh-CN" altLang="en-US" dirty="0"/>
              <a:t>：客户程序使用下面的语句来连接到服务器：</a:t>
            </a:r>
            <a:endParaRPr lang="en-US" altLang="zh-CN" dirty="0"/>
          </a:p>
          <a:p>
            <a:endParaRPr lang="en-US" altLang="zh-CN" dirty="0"/>
          </a:p>
          <a:p>
            <a:pPr algn="ctr"/>
            <a:r>
              <a:rPr lang="en-US" altLang="zh-CN" dirty="0"/>
              <a:t>Socket socket=new         Socket(ServerHost,8000);</a:t>
            </a:r>
            <a:endParaRPr lang="zh-CN" altLang="en-US" dirty="0"/>
          </a:p>
        </p:txBody>
      </p:sp>
      <p:cxnSp>
        <p:nvCxnSpPr>
          <p:cNvPr id="12" name="曲线连接符 11"/>
          <p:cNvCxnSpPr/>
          <p:nvPr/>
        </p:nvCxnSpPr>
        <p:spPr>
          <a:xfrm flipV="1">
            <a:off x="1547664" y="3573016"/>
            <a:ext cx="4824536" cy="792088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29725" y="3131676"/>
            <a:ext cx="646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网络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5976" y="4005064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I/O</a:t>
            </a:r>
            <a:r>
              <a:rPr lang="zh-CN" altLang="en-US" dirty="0"/>
              <a:t>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1880" y="260648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/>
              <a:t>建立连接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3491880" y="211287"/>
            <a:ext cx="2448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/>
              <a:t>数据传输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6A160FD-E098-0847-BFA4-EE44699BF5E1}"/>
              </a:ext>
            </a:extLst>
          </p:cNvPr>
          <p:cNvGrpSpPr/>
          <p:nvPr/>
        </p:nvGrpSpPr>
        <p:grpSpPr>
          <a:xfrm>
            <a:off x="107504" y="1124744"/>
            <a:ext cx="9036496" cy="5427896"/>
            <a:chOff x="107504" y="1124744"/>
            <a:chExt cx="9036496" cy="5427896"/>
          </a:xfrm>
        </p:grpSpPr>
        <p:sp>
          <p:nvSpPr>
            <p:cNvPr id="4" name="矩形 3"/>
            <p:cNvSpPr/>
            <p:nvPr/>
          </p:nvSpPr>
          <p:spPr>
            <a:xfrm>
              <a:off x="107504" y="1152040"/>
              <a:ext cx="3960440" cy="540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服务器 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5004048" y="1124744"/>
              <a:ext cx="4139952" cy="53285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79512" y="1800112"/>
              <a:ext cx="3816424" cy="45811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3528" y="1286764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服务器主机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67544" y="1872120"/>
              <a:ext cx="3528392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Int port=8000;</a:t>
              </a:r>
            </a:p>
            <a:p>
              <a:r>
                <a:rPr lang="en-US" altLang="zh-CN" dirty="0"/>
                <a:t>DataInputStream in;</a:t>
              </a:r>
            </a:p>
            <a:p>
              <a:r>
                <a:rPr lang="en-US" altLang="zh-CN" dirty="0"/>
                <a:t>DataOutputStream out;</a:t>
              </a:r>
            </a:p>
            <a:p>
              <a:r>
                <a:rPr lang="en-US" altLang="zh-CN" dirty="0"/>
                <a:t>ServerSocket server;</a:t>
              </a:r>
            </a:p>
            <a:p>
              <a:r>
                <a:rPr lang="en-US" altLang="zh-CN" dirty="0"/>
                <a:t>Socket socket;</a:t>
              </a:r>
            </a:p>
            <a:p>
              <a:endParaRPr lang="en-US" altLang="zh-CN" dirty="0"/>
            </a:p>
            <a:p>
              <a:r>
                <a:rPr lang="en-US" altLang="zh-CN" dirty="0"/>
                <a:t>server=new   ServerSocket(port); socket= socket.accept();</a:t>
              </a:r>
            </a:p>
            <a:p>
              <a:r>
                <a:rPr lang="en-US" altLang="zh-CN" dirty="0"/>
                <a:t>in= new DataInputStream(socket.getInputStream());</a:t>
              </a:r>
            </a:p>
            <a:p>
              <a:r>
                <a:rPr lang="en-US" altLang="zh-CN" dirty="0"/>
                <a:t>Out=new DataOutputStream(socket.getOutputStream());</a:t>
              </a:r>
            </a:p>
            <a:p>
              <a:r>
                <a:rPr lang="en-US" altLang="zh-CN" dirty="0"/>
                <a:t>System.out.println(in.readDouble());</a:t>
              </a:r>
            </a:p>
            <a:p>
              <a:r>
                <a:rPr lang="en-US" altLang="zh-CN" dirty="0"/>
                <a:t>out.writeDouble(aNumber);</a:t>
              </a:r>
              <a:endParaRPr lang="zh-CN" alt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249396" y="1259468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客户端主机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5220072" y="1772816"/>
              <a:ext cx="3744416" cy="45365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92080" y="1916832"/>
              <a:ext cx="3600400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Int port =8000;</a:t>
              </a:r>
            </a:p>
            <a:p>
              <a:r>
                <a:rPr lang="en-US" altLang="zh-CN" dirty="0"/>
                <a:t>String host=“loalhost”;</a:t>
              </a:r>
            </a:p>
            <a:p>
              <a:r>
                <a:rPr lang="en-US" altLang="zh-CN" dirty="0"/>
                <a:t>DataInputStream in;</a:t>
              </a:r>
            </a:p>
            <a:p>
              <a:r>
                <a:rPr lang="en-US" altLang="zh-CN" dirty="0"/>
                <a:t>DataOutputStream out;</a:t>
              </a:r>
            </a:p>
            <a:p>
              <a:r>
                <a:rPr lang="en-US" altLang="zh-CN" dirty="0"/>
                <a:t>Socket socket;</a:t>
              </a:r>
            </a:p>
            <a:p>
              <a:endParaRPr lang="en-US" altLang="zh-CN" dirty="0"/>
            </a:p>
            <a:p>
              <a:endParaRPr lang="en-US" altLang="zh-CN" dirty="0"/>
            </a:p>
            <a:p>
              <a:r>
                <a:rPr lang="en-US" altLang="zh-CN" dirty="0"/>
                <a:t>Socket t=new         Socket(host, port);</a:t>
              </a:r>
            </a:p>
            <a:p>
              <a:r>
                <a:rPr lang="en-US" altLang="zh-CN" dirty="0"/>
                <a:t>in= new DataInputStream(socket.getInputStream());</a:t>
              </a:r>
            </a:p>
            <a:p>
              <a:r>
                <a:rPr lang="en-US" altLang="zh-CN" dirty="0"/>
                <a:t>Out= new DataOutputStream(socket.getOutputStream());</a:t>
              </a:r>
            </a:p>
            <a:p>
              <a:r>
                <a:rPr lang="en-US" altLang="zh-CN" dirty="0"/>
                <a:t>out.writeDouble(aNumber);</a:t>
              </a:r>
            </a:p>
            <a:p>
              <a:r>
                <a:rPr lang="en-US" altLang="zh-CN" dirty="0" err="1"/>
                <a:t>System.out.println</a:t>
              </a:r>
              <a:r>
                <a:rPr lang="en-US" altLang="zh-CN" dirty="0"/>
                <a:t>(in.readDouble());</a:t>
              </a:r>
              <a:endParaRPr lang="zh-CN" altLang="en-US" dirty="0"/>
            </a:p>
          </p:txBody>
        </p:sp>
        <p:cxnSp>
          <p:nvCxnSpPr>
            <p:cNvPr id="17" name="直接箭头连接符 16"/>
            <p:cNvCxnSpPr/>
            <p:nvPr/>
          </p:nvCxnSpPr>
          <p:spPr>
            <a:xfrm>
              <a:off x="3563888" y="6237312"/>
              <a:ext cx="165618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 flipH="1">
              <a:off x="3923928" y="5949280"/>
              <a:ext cx="14401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4283968" y="5517232"/>
              <a:ext cx="7152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I/O</a:t>
              </a:r>
              <a:r>
                <a:rPr lang="zh-CN" altLang="en-US" dirty="0"/>
                <a:t>流</a:t>
              </a:r>
            </a:p>
          </p:txBody>
        </p:sp>
        <p:cxnSp>
          <p:nvCxnSpPr>
            <p:cNvPr id="22" name="直接箭头连接符 21"/>
            <p:cNvCxnSpPr/>
            <p:nvPr/>
          </p:nvCxnSpPr>
          <p:spPr>
            <a:xfrm flipH="1">
              <a:off x="2943112" y="4022480"/>
              <a:ext cx="2448272" cy="2729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4211960" y="3707740"/>
              <a:ext cx="6463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连接请求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1"/>
            <a:ext cx="8229600" cy="1656184"/>
          </a:xfrm>
        </p:spPr>
        <p:txBody>
          <a:bodyPr>
            <a:normAutofit/>
          </a:bodyPr>
          <a:lstStyle/>
          <a:p>
            <a:r>
              <a:rPr lang="zh-CN" altLang="en-US" dirty="0"/>
              <a:t>客服端发送数据，服务器生成结果，返回给客户端</a:t>
            </a:r>
            <a:endParaRPr lang="en-US" altLang="zh-CN" dirty="0"/>
          </a:p>
          <a:p>
            <a:pPr lvl="1"/>
            <a:r>
              <a:rPr lang="en-US" altLang="zh-CN" dirty="0"/>
              <a:t>Server.java, Client.java</a:t>
            </a:r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051720" y="3645024"/>
            <a:ext cx="1944216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服务器</a:t>
            </a:r>
          </a:p>
        </p:txBody>
      </p:sp>
      <p:sp>
        <p:nvSpPr>
          <p:cNvPr id="5" name="矩形 4"/>
          <p:cNvSpPr/>
          <p:nvPr/>
        </p:nvSpPr>
        <p:spPr>
          <a:xfrm>
            <a:off x="5220072" y="3645024"/>
            <a:ext cx="1944216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客户端</a:t>
            </a:r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3995936" y="3825044"/>
            <a:ext cx="122413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3995936" y="4077072"/>
            <a:ext cx="122413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83968" y="34290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半径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3968" y="413978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面积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7744" y="328498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计算面积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763688" y="980728"/>
            <a:ext cx="2448272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DataInputStream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763688" y="1628800"/>
            <a:ext cx="2448272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socket.getInputStream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763688" y="2276872"/>
            <a:ext cx="2448272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socket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716016" y="980728"/>
            <a:ext cx="252028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DataOutputStream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716016" y="1628800"/>
            <a:ext cx="252028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socket.getOutputStream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4716016" y="2276872"/>
            <a:ext cx="252028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socket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707904" y="3140968"/>
            <a:ext cx="144016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network</a:t>
            </a:r>
            <a:endParaRPr lang="zh-CN" altLang="en-US" dirty="0"/>
          </a:p>
        </p:txBody>
      </p:sp>
      <p:cxnSp>
        <p:nvCxnSpPr>
          <p:cNvPr id="12" name="直接箭头连接符 11"/>
          <p:cNvCxnSpPr/>
          <p:nvPr/>
        </p:nvCxnSpPr>
        <p:spPr>
          <a:xfrm>
            <a:off x="5868144" y="692696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5868144" y="1340768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5868144" y="1961544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5868144" y="2780928"/>
            <a:ext cx="0" cy="504056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>
            <a:off x="5148064" y="3284984"/>
            <a:ext cx="720080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>
            <a:off x="3059832" y="3284984"/>
            <a:ext cx="720080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V="1">
            <a:off x="2987824" y="2780928"/>
            <a:ext cx="0" cy="504056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4" idx="0"/>
          </p:cNvCxnSpPr>
          <p:nvPr/>
        </p:nvCxnSpPr>
        <p:spPr>
          <a:xfrm flipV="1">
            <a:off x="2987824" y="620688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V="1">
            <a:off x="2987824" y="1412776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V="1">
            <a:off x="2987824" y="1988840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907704" y="332656"/>
            <a:ext cx="78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Server</a:t>
            </a:r>
            <a:endParaRPr lang="zh-CN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699792" y="332656"/>
            <a:ext cx="757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radius</a:t>
            </a:r>
            <a:endParaRPr lang="zh-CN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5580112" y="404664"/>
            <a:ext cx="757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radius</a:t>
            </a:r>
            <a:endParaRPr lang="zh-CN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4782136" y="260648"/>
            <a:ext cx="725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Client</a:t>
            </a:r>
            <a:endParaRPr lang="zh-CN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1619672" y="332656"/>
            <a:ext cx="2808312" cy="2520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4644008" y="332656"/>
            <a:ext cx="2808312" cy="2520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763688" y="4221088"/>
            <a:ext cx="2448272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DataOutputStream</a:t>
            </a:r>
            <a:endParaRPr lang="zh-CN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1763688" y="4869160"/>
            <a:ext cx="2448272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socket.getOutputStream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1763688" y="5517232"/>
            <a:ext cx="2448272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socket</a:t>
            </a:r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4716016" y="4221088"/>
            <a:ext cx="252028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DataInputStream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4716016" y="4869160"/>
            <a:ext cx="252028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socket.getInputStream</a:t>
            </a:r>
            <a:endParaRPr lang="zh-CN" altLang="en-US" dirty="0"/>
          </a:p>
        </p:txBody>
      </p:sp>
      <p:sp>
        <p:nvSpPr>
          <p:cNvPr id="40" name="矩形 39"/>
          <p:cNvSpPr/>
          <p:nvPr/>
        </p:nvSpPr>
        <p:spPr>
          <a:xfrm>
            <a:off x="4716016" y="5517232"/>
            <a:ext cx="252028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socket</a:t>
            </a:r>
            <a:endParaRPr lang="zh-CN" altLang="en-US" dirty="0"/>
          </a:p>
        </p:txBody>
      </p:sp>
      <p:sp>
        <p:nvSpPr>
          <p:cNvPr id="41" name="矩形 40"/>
          <p:cNvSpPr/>
          <p:nvPr/>
        </p:nvSpPr>
        <p:spPr>
          <a:xfrm>
            <a:off x="3707904" y="6381328"/>
            <a:ext cx="144016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network</a:t>
            </a:r>
            <a:endParaRPr lang="zh-CN" altLang="en-US" dirty="0"/>
          </a:p>
        </p:txBody>
      </p:sp>
      <p:cxnSp>
        <p:nvCxnSpPr>
          <p:cNvPr id="42" name="直接箭头连接符 41"/>
          <p:cNvCxnSpPr/>
          <p:nvPr/>
        </p:nvCxnSpPr>
        <p:spPr>
          <a:xfrm>
            <a:off x="2987824" y="3933056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2987824" y="4581128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>
            <a:off x="2987824" y="5201904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2987824" y="6021288"/>
            <a:ext cx="0" cy="504056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H="1">
            <a:off x="5148064" y="6525344"/>
            <a:ext cx="936104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H="1">
            <a:off x="3059832" y="6525344"/>
            <a:ext cx="720080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V="1">
            <a:off x="6012160" y="6021288"/>
            <a:ext cx="0" cy="504056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 flipV="1">
            <a:off x="6012160" y="3861048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flipV="1">
            <a:off x="6012160" y="4653136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 flipV="1">
            <a:off x="6012160" y="5229200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907704" y="3573016"/>
            <a:ext cx="78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Server</a:t>
            </a:r>
            <a:endParaRPr lang="zh-CN" alt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2699792" y="3573016"/>
            <a:ext cx="598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area</a:t>
            </a:r>
            <a:endParaRPr lang="zh-CN" alt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5580112" y="3645024"/>
            <a:ext cx="598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area</a:t>
            </a:r>
            <a:endParaRPr lang="zh-CN" alt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4782136" y="3501008"/>
            <a:ext cx="725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Client</a:t>
            </a:r>
            <a:endParaRPr lang="zh-CN" altLang="en-US" dirty="0"/>
          </a:p>
        </p:txBody>
      </p:sp>
      <p:sp>
        <p:nvSpPr>
          <p:cNvPr id="56" name="矩形 55"/>
          <p:cNvSpPr/>
          <p:nvPr/>
        </p:nvSpPr>
        <p:spPr>
          <a:xfrm>
            <a:off x="1619672" y="3573016"/>
            <a:ext cx="2808312" cy="2520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4644008" y="3573016"/>
            <a:ext cx="2808312" cy="2520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15616" y="1340768"/>
            <a:ext cx="3168352" cy="33843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004048" y="1340768"/>
            <a:ext cx="3168352" cy="33843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87624" y="140348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服务器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229" y="141277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客户端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1880" y="908720"/>
            <a:ext cx="781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socket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779912" y="1340768"/>
            <a:ext cx="28803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</a:p>
          <a:p>
            <a:r>
              <a:rPr lang="en-US" altLang="zh-CN" dirty="0"/>
              <a:t>1</a:t>
            </a:r>
          </a:p>
          <a:p>
            <a:r>
              <a:rPr lang="en-US" altLang="zh-CN" dirty="0"/>
              <a:t>2</a:t>
            </a:r>
          </a:p>
          <a:p>
            <a:r>
              <a:rPr lang="en-US" altLang="zh-CN" dirty="0"/>
              <a:t>.</a:t>
            </a:r>
          </a:p>
          <a:p>
            <a:r>
              <a:rPr lang="en-US" altLang="zh-CN" dirty="0"/>
              <a:t>.</a:t>
            </a:r>
          </a:p>
          <a:p>
            <a:r>
              <a:rPr lang="en-US" altLang="zh-CN" dirty="0"/>
              <a:t>.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.</a:t>
            </a:r>
          </a:p>
          <a:p>
            <a:r>
              <a:rPr lang="en-US" altLang="zh-CN" dirty="0"/>
              <a:t>.</a:t>
            </a:r>
          </a:p>
          <a:p>
            <a:r>
              <a:rPr lang="en-US" altLang="zh-CN" dirty="0"/>
              <a:t>.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11" name="TextBox 10"/>
          <p:cNvSpPr txBox="1"/>
          <p:nvPr/>
        </p:nvSpPr>
        <p:spPr>
          <a:xfrm>
            <a:off x="3487209" y="363573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8000</a:t>
            </a:r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542709" y="3666510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端口号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9973" y="3068960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端口号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8064" y="1340768"/>
            <a:ext cx="28803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</a:p>
          <a:p>
            <a:r>
              <a:rPr lang="en-US" altLang="zh-CN" dirty="0"/>
              <a:t>1</a:t>
            </a:r>
          </a:p>
          <a:p>
            <a:r>
              <a:rPr lang="en-US" altLang="zh-CN" dirty="0"/>
              <a:t>2</a:t>
            </a:r>
          </a:p>
          <a:p>
            <a:r>
              <a:rPr lang="en-US" altLang="zh-CN" dirty="0"/>
              <a:t>.</a:t>
            </a:r>
          </a:p>
          <a:p>
            <a:r>
              <a:rPr lang="en-US" altLang="zh-CN" dirty="0"/>
              <a:t>.</a:t>
            </a:r>
          </a:p>
          <a:p>
            <a:r>
              <a:rPr lang="en-US" altLang="zh-CN" dirty="0"/>
              <a:t>.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.</a:t>
            </a:r>
          </a:p>
          <a:p>
            <a:r>
              <a:rPr lang="en-US" altLang="zh-CN" dirty="0"/>
              <a:t>.</a:t>
            </a:r>
          </a:p>
          <a:p>
            <a:r>
              <a:rPr lang="en-US" altLang="zh-CN" dirty="0"/>
              <a:t>.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15" name="TextBox 14"/>
          <p:cNvSpPr txBox="1"/>
          <p:nvPr/>
        </p:nvSpPr>
        <p:spPr>
          <a:xfrm>
            <a:off x="4927369" y="299695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2047</a:t>
            </a:r>
            <a:endParaRPr lang="zh-CN" altLang="en-US" dirty="0"/>
          </a:p>
        </p:txBody>
      </p:sp>
      <p:cxnSp>
        <p:nvCxnSpPr>
          <p:cNvPr id="17" name="直接箭头连接符 16"/>
          <p:cNvCxnSpPr>
            <a:stCxn id="11" idx="3"/>
            <a:endCxn id="15" idx="1"/>
          </p:cNvCxnSpPr>
          <p:nvPr/>
        </p:nvCxnSpPr>
        <p:spPr>
          <a:xfrm flipV="1">
            <a:off x="4139952" y="3181618"/>
            <a:ext cx="787417" cy="638780"/>
          </a:xfrm>
          <a:prstGeom prst="curvedConnector3">
            <a:avLst>
              <a:gd name="adj1" fmla="val 50000"/>
            </a:avLst>
          </a:prstGeom>
          <a:ln>
            <a:prstDash val="dash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InetAddress</a:t>
            </a:r>
            <a:r>
              <a:rPr lang="zh-CN" altLang="en-US" dirty="0"/>
              <a:t>类</a:t>
            </a:r>
            <a:endParaRPr lang="en-US" altLang="zh-CN" dirty="0"/>
          </a:p>
          <a:p>
            <a:pPr lvl="1"/>
            <a:r>
              <a:rPr lang="zh-CN" altLang="en-US" dirty="0"/>
              <a:t>获取客户端的主机名和</a:t>
            </a:r>
            <a:r>
              <a:rPr lang="en-US" altLang="zh-CN" dirty="0"/>
              <a:t>IP</a:t>
            </a:r>
            <a:r>
              <a:rPr lang="zh-CN" altLang="en-US" dirty="0"/>
              <a:t>地址。</a:t>
            </a:r>
            <a:endParaRPr lang="en-US" altLang="zh-CN" dirty="0"/>
          </a:p>
          <a:p>
            <a:pPr lvl="1"/>
            <a:r>
              <a:rPr lang="zh-CN" altLang="en-US" dirty="0"/>
              <a:t>对</a:t>
            </a:r>
            <a:r>
              <a:rPr lang="en-US" altLang="zh-CN" dirty="0"/>
              <a:t>IP</a:t>
            </a:r>
            <a:r>
              <a:rPr lang="zh-CN" altLang="en-US" dirty="0"/>
              <a:t>地址建模</a:t>
            </a:r>
            <a:endParaRPr lang="en-US" altLang="zh-CN" dirty="0"/>
          </a:p>
          <a:p>
            <a:pPr lvl="1"/>
            <a:r>
              <a:rPr lang="en-US" altLang="zh-CN" dirty="0" err="1"/>
              <a:t>InetAddress</a:t>
            </a:r>
            <a:r>
              <a:rPr lang="en-US" altLang="zh-CN" dirty="0"/>
              <a:t> </a:t>
            </a:r>
            <a:r>
              <a:rPr lang="en-US" altLang="zh-CN" dirty="0" err="1"/>
              <a:t>inetAddress</a:t>
            </a:r>
            <a:r>
              <a:rPr lang="en-US" altLang="zh-CN" dirty="0"/>
              <a:t>=</a:t>
            </a:r>
            <a:r>
              <a:rPr lang="en-US" altLang="zh-CN" dirty="0" err="1"/>
              <a:t>socket.getInetAddress</a:t>
            </a:r>
            <a:r>
              <a:rPr lang="en-US" altLang="zh-CN" dirty="0"/>
              <a:t>();</a:t>
            </a:r>
          </a:p>
          <a:p>
            <a:pPr lvl="1"/>
            <a:r>
              <a:rPr lang="zh-CN" altLang="en-US" dirty="0"/>
              <a:t>还可通过静态方法</a:t>
            </a:r>
            <a:r>
              <a:rPr lang="en-US" altLang="zh-CN" dirty="0" err="1"/>
              <a:t>getByName</a:t>
            </a:r>
            <a:r>
              <a:rPr lang="zh-CN" altLang="en-US" dirty="0"/>
              <a:t>通过主机名或</a:t>
            </a:r>
            <a:r>
              <a:rPr lang="en-US" altLang="zh-CN" dirty="0"/>
              <a:t>IP</a:t>
            </a:r>
            <a:r>
              <a:rPr lang="zh-CN" altLang="en-US" dirty="0"/>
              <a:t>创建一个</a:t>
            </a:r>
            <a:r>
              <a:rPr lang="en-US" altLang="zh-CN" dirty="0" err="1"/>
              <a:t>InetAddress</a:t>
            </a:r>
            <a:r>
              <a:rPr lang="zh-CN" altLang="en-US" dirty="0"/>
              <a:t>的实例</a:t>
            </a:r>
            <a:endParaRPr lang="en-US" altLang="zh-CN" dirty="0"/>
          </a:p>
          <a:p>
            <a:pPr lvl="2"/>
            <a:r>
              <a:rPr lang="en-US" altLang="zh-CN" dirty="0" err="1"/>
              <a:t>InetAddress</a:t>
            </a:r>
            <a:r>
              <a:rPr lang="en-US" altLang="zh-CN" dirty="0"/>
              <a:t> address=</a:t>
            </a:r>
            <a:r>
              <a:rPr lang="en-US" altLang="zh-CN" dirty="0" err="1"/>
              <a:t>InetAddress.getByName</a:t>
            </a:r>
            <a:r>
              <a:rPr lang="en-US" altLang="zh-CN" dirty="0"/>
              <a:t>(“</a:t>
            </a:r>
            <a:r>
              <a:rPr lang="en-US" altLang="zh-CN" dirty="0" err="1"/>
              <a:t>localhost</a:t>
            </a:r>
            <a:r>
              <a:rPr lang="en-US" altLang="zh-CN" dirty="0"/>
              <a:t>”);</a:t>
            </a:r>
          </a:p>
          <a:p>
            <a:pPr lvl="2"/>
            <a:r>
              <a:rPr lang="zh-CN" altLang="en-US" dirty="0"/>
              <a:t>例 </a:t>
            </a:r>
            <a:r>
              <a:rPr lang="en-US" altLang="zh-CN" dirty="0"/>
              <a:t>IdentifyHostNameIP.java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服务多个客户</a:t>
            </a:r>
            <a:endParaRPr lang="en-US" altLang="zh-CN" dirty="0"/>
          </a:p>
          <a:p>
            <a:pPr lvl="1"/>
            <a:r>
              <a:rPr lang="zh-CN" altLang="en-US" dirty="0"/>
              <a:t>多线程</a:t>
            </a:r>
            <a:endParaRPr lang="en-US" altLang="zh-CN" dirty="0"/>
          </a:p>
          <a:p>
            <a:pPr lvl="1"/>
            <a:r>
              <a:rPr lang="en-US" altLang="zh-CN" dirty="0"/>
              <a:t>MultiThreadServer.java</a:t>
            </a:r>
          </a:p>
          <a:p>
            <a:pPr lvl="1">
              <a:buNone/>
            </a:pP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059832" y="3429000"/>
            <a:ext cx="2520280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服务器</a:t>
            </a:r>
            <a:endParaRPr lang="en-US" altLang="zh-CN" dirty="0"/>
          </a:p>
          <a:p>
            <a:pPr algn="ctr"/>
            <a:r>
              <a:rPr lang="zh-CN" altLang="en-US" dirty="0"/>
              <a:t>端口上的服务</a:t>
            </a:r>
            <a:endParaRPr lang="en-US" altLang="zh-CN" dirty="0"/>
          </a:p>
          <a:p>
            <a:pPr algn="ctr"/>
            <a:r>
              <a:rPr lang="zh-CN" altLang="en-US" dirty="0"/>
              <a:t>器套接字</a:t>
            </a:r>
            <a:endParaRPr lang="en-US" altLang="zh-CN" dirty="0"/>
          </a:p>
          <a:p>
            <a:pPr algn="ctr"/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3635896" y="4437112"/>
            <a:ext cx="1296144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3491880" y="4437112"/>
            <a:ext cx="360040" cy="288032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4644008" y="4437112"/>
            <a:ext cx="360040" cy="288032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475656" y="5517232"/>
            <a:ext cx="100811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客户端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6255480" y="5503584"/>
            <a:ext cx="100811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客户端</a:t>
            </a:r>
            <a:r>
              <a:rPr lang="en-US" altLang="zh-CN" dirty="0"/>
              <a:t>n</a:t>
            </a:r>
            <a:endParaRPr lang="zh-CN" altLang="en-US" dirty="0"/>
          </a:p>
        </p:txBody>
      </p:sp>
      <p:cxnSp>
        <p:nvCxnSpPr>
          <p:cNvPr id="12" name="直接箭头连接符 11"/>
          <p:cNvCxnSpPr>
            <a:stCxn id="7" idx="4"/>
            <a:endCxn id="9" idx="0"/>
          </p:cNvCxnSpPr>
          <p:nvPr/>
        </p:nvCxnSpPr>
        <p:spPr>
          <a:xfrm flipH="1">
            <a:off x="1979712" y="4725144"/>
            <a:ext cx="1692188" cy="7920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4788024" y="4725144"/>
            <a:ext cx="1800200" cy="7200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flipH="1">
            <a:off x="4139952" y="5445224"/>
            <a:ext cx="746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cxnSp>
        <p:nvCxnSpPr>
          <p:cNvPr id="17" name="直接箭头连接符 16"/>
          <p:cNvCxnSpPr/>
          <p:nvPr/>
        </p:nvCxnSpPr>
        <p:spPr>
          <a:xfrm flipV="1">
            <a:off x="1835696" y="4577360"/>
            <a:ext cx="1584176" cy="3768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9512" y="435581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客户端套接字</a:t>
            </a:r>
          </a:p>
        </p:txBody>
      </p:sp>
      <p:cxnSp>
        <p:nvCxnSpPr>
          <p:cNvPr id="21" name="直接箭头连接符 20"/>
          <p:cNvCxnSpPr/>
          <p:nvPr/>
        </p:nvCxnSpPr>
        <p:spPr>
          <a:xfrm flipV="1">
            <a:off x="5076056" y="4581128"/>
            <a:ext cx="1584176" cy="3768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32240" y="443711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客户端套接字</a:t>
            </a:r>
          </a:p>
        </p:txBody>
      </p:sp>
      <p:cxnSp>
        <p:nvCxnSpPr>
          <p:cNvPr id="24" name="直接箭头连接符 23"/>
          <p:cNvCxnSpPr>
            <a:endCxn id="7" idx="3"/>
          </p:cNvCxnSpPr>
          <p:nvPr/>
        </p:nvCxnSpPr>
        <p:spPr>
          <a:xfrm flipV="1">
            <a:off x="1691680" y="4682963"/>
            <a:ext cx="1852927" cy="83426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endCxn id="8" idx="5"/>
          </p:cNvCxnSpPr>
          <p:nvPr/>
        </p:nvCxnSpPr>
        <p:spPr>
          <a:xfrm flipH="1" flipV="1">
            <a:off x="4951321" y="4682963"/>
            <a:ext cx="2068951" cy="83426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发送和接受对象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客户端程序从客户端采集学生信息，并将这些信息发给服务器。</a:t>
            </a:r>
            <a:endParaRPr lang="en-US" altLang="zh-CN" dirty="0"/>
          </a:p>
          <a:p>
            <a:r>
              <a:rPr lang="en-US" altLang="zh-CN" dirty="0"/>
              <a:t>Student.java</a:t>
            </a:r>
          </a:p>
          <a:p>
            <a:r>
              <a:rPr lang="en-US" altLang="zh-CN" dirty="0"/>
              <a:t>StudentClient.java</a:t>
            </a:r>
          </a:p>
          <a:p>
            <a:r>
              <a:rPr lang="en-US" altLang="zh-CN" dirty="0"/>
              <a:t>StudentServer.java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/>
              <a:t>Web</a:t>
            </a:r>
            <a:r>
              <a:rPr lang="zh-CN" altLang="en-US" dirty="0"/>
              <a:t>服务器上读取文件（可选）</a:t>
            </a:r>
          </a:p>
        </p:txBody>
      </p:sp>
      <p:sp>
        <p:nvSpPr>
          <p:cNvPr id="4" name="矩形 3"/>
          <p:cNvSpPr/>
          <p:nvPr/>
        </p:nvSpPr>
        <p:spPr>
          <a:xfrm>
            <a:off x="899592" y="1556792"/>
            <a:ext cx="194421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Web</a:t>
            </a:r>
            <a:r>
              <a:rPr lang="zh-CN" altLang="en-US" dirty="0"/>
              <a:t>服务器</a:t>
            </a:r>
          </a:p>
        </p:txBody>
      </p:sp>
      <p:sp>
        <p:nvSpPr>
          <p:cNvPr id="5" name="椭圆 4"/>
          <p:cNvSpPr/>
          <p:nvPr/>
        </p:nvSpPr>
        <p:spPr>
          <a:xfrm>
            <a:off x="3779912" y="1484784"/>
            <a:ext cx="1368152" cy="6480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互联网</a:t>
            </a:r>
          </a:p>
        </p:txBody>
      </p:sp>
      <p:sp>
        <p:nvSpPr>
          <p:cNvPr id="6" name="矩形 5"/>
          <p:cNvSpPr/>
          <p:nvPr/>
        </p:nvSpPr>
        <p:spPr>
          <a:xfrm>
            <a:off x="6084168" y="1525728"/>
            <a:ext cx="244827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独立的应用程序</a:t>
            </a:r>
          </a:p>
        </p:txBody>
      </p:sp>
      <p:sp>
        <p:nvSpPr>
          <p:cNvPr id="7" name="矩形 6"/>
          <p:cNvSpPr/>
          <p:nvPr/>
        </p:nvSpPr>
        <p:spPr>
          <a:xfrm>
            <a:off x="5580112" y="2708920"/>
            <a:ext cx="1440160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Web</a:t>
            </a:r>
            <a:r>
              <a:rPr lang="zh-CN" altLang="en-US" dirty="0"/>
              <a:t>浏览器</a:t>
            </a:r>
          </a:p>
        </p:txBody>
      </p:sp>
      <p:sp>
        <p:nvSpPr>
          <p:cNvPr id="8" name="矩形 7"/>
          <p:cNvSpPr/>
          <p:nvPr/>
        </p:nvSpPr>
        <p:spPr>
          <a:xfrm>
            <a:off x="7164288" y="3573016"/>
            <a:ext cx="1800200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Applet</a:t>
            </a:r>
            <a:r>
              <a:rPr lang="zh-CN" altLang="en-US" dirty="0"/>
              <a:t>读取文件</a:t>
            </a:r>
          </a:p>
        </p:txBody>
      </p:sp>
      <p:sp>
        <p:nvSpPr>
          <p:cNvPr id="9" name="流程图: 磁盘 8"/>
          <p:cNvSpPr/>
          <p:nvPr/>
        </p:nvSpPr>
        <p:spPr>
          <a:xfrm>
            <a:off x="899592" y="2780928"/>
            <a:ext cx="1944216" cy="936104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本地文件</a:t>
            </a:r>
          </a:p>
        </p:txBody>
      </p:sp>
      <p:cxnSp>
        <p:nvCxnSpPr>
          <p:cNvPr id="11" name="直接连接符 10"/>
          <p:cNvCxnSpPr>
            <a:stCxn id="4" idx="2"/>
            <a:endCxn id="9" idx="1"/>
          </p:cNvCxnSpPr>
          <p:nvPr/>
        </p:nvCxnSpPr>
        <p:spPr>
          <a:xfrm>
            <a:off x="1871700" y="2060848"/>
            <a:ext cx="0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4" idx="3"/>
            <a:endCxn id="5" idx="2"/>
          </p:cNvCxnSpPr>
          <p:nvPr/>
        </p:nvCxnSpPr>
        <p:spPr>
          <a:xfrm>
            <a:off x="2843808" y="1808820"/>
            <a:ext cx="9361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5" idx="6"/>
            <a:endCxn id="6" idx="1"/>
          </p:cNvCxnSpPr>
          <p:nvPr/>
        </p:nvCxnSpPr>
        <p:spPr>
          <a:xfrm>
            <a:off x="5148064" y="1808820"/>
            <a:ext cx="936104" cy="49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7" idx="1"/>
          </p:cNvCxnSpPr>
          <p:nvPr/>
        </p:nvCxnSpPr>
        <p:spPr>
          <a:xfrm flipH="1" flipV="1">
            <a:off x="4644008" y="2132856"/>
            <a:ext cx="936104" cy="8280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8" idx="0"/>
            <a:endCxn id="7" idx="3"/>
          </p:cNvCxnSpPr>
          <p:nvPr/>
        </p:nvCxnSpPr>
        <p:spPr>
          <a:xfrm flipH="1" flipV="1">
            <a:off x="7020272" y="2960948"/>
            <a:ext cx="1044116" cy="6120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15616" y="4941168"/>
            <a:ext cx="29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例子： </a:t>
            </a:r>
            <a:r>
              <a:rPr lang="en-US" altLang="zh-CN" dirty="0"/>
              <a:t>ViewRemoteFile.java 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7DADAA16-85CE-9944-9EA4-75769108A8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BF6D88-769B-1247-8AB8-7214A781ACB7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299010" name="Rectangle 2">
            <a:extLst>
              <a:ext uri="{FF2B5EF4-FFF2-40B4-BE49-F238E27FC236}">
                <a16:creationId xmlns:a16="http://schemas.microsoft.com/office/drawing/2014/main" id="{E4DFCF41-922F-AF47-8CFC-A207A31180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The </a:t>
            </a:r>
            <a:r>
              <a:rPr lang="en-US" altLang="zh-CN" u="sng" dirty="0">
                <a:ea typeface="宋体" panose="02010600030101010101" pitchFamily="2" charset="-122"/>
                <a:cs typeface="Times New Roman" panose="02020603050405020304" pitchFamily="18" charset="0"/>
              </a:rPr>
              <a:t>URL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ea typeface="宋体" panose="02010600030101010101" pitchFamily="2" charset="-122"/>
                <a:cs typeface="Times New Roman" panose="02020603050405020304" pitchFamily="18" charset="0"/>
              </a:rPr>
              <a:t>类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99011" name="Rectangle 3">
            <a:extLst>
              <a:ext uri="{FF2B5EF4-FFF2-40B4-BE49-F238E27FC236}">
                <a16:creationId xmlns:a16="http://schemas.microsoft.com/office/drawing/2014/main" id="{E085FFE0-1C14-EF41-BE27-169EC3C3C5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686800" cy="5410200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400">
                <a:ea typeface="宋体" panose="02010600030101010101" pitchFamily="2" charset="-122"/>
                <a:cs typeface="Times New Roman" panose="02020603050405020304" pitchFamily="18" charset="0"/>
              </a:rPr>
              <a:t>Audio and images are stored in files. The </a:t>
            </a:r>
            <a:r>
              <a:rPr lang="en-US" altLang="zh-CN" sz="2400" u="sng">
                <a:ea typeface="宋体" panose="02010600030101010101" pitchFamily="2" charset="-122"/>
                <a:cs typeface="Times New Roman" panose="02020603050405020304" pitchFamily="18" charset="0"/>
              </a:rPr>
              <a:t>java.net.URL</a:t>
            </a:r>
            <a:r>
              <a:rPr lang="en-US" altLang="zh-CN" sz="2400">
                <a:ea typeface="宋体" panose="02010600030101010101" pitchFamily="2" charset="-122"/>
                <a:cs typeface="Times New Roman" panose="02020603050405020304" pitchFamily="18" charset="0"/>
              </a:rPr>
              <a:t> class can be used to identify the files on the Internet. In general, a URL (Uniform Resource Locator) is a pointer to a "resource" on the World Wide Web. A resource can be something as simple as a file or a directory. You can create a URL object using the following constructor: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400"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  <a:cs typeface="Times New Roman" panose="02020603050405020304" pitchFamily="18" charset="0"/>
              </a:rPr>
              <a:t>public URL(String spec) throws MalformedURLException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400"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ea typeface="宋体" panose="02010600030101010101" pitchFamily="2" charset="-122"/>
                <a:cs typeface="Times New Roman" panose="02020603050405020304" pitchFamily="18" charset="0"/>
              </a:rPr>
              <a:t>For example, the following statement creates a URL object for http://www.sun.com:</a:t>
            </a:r>
          </a:p>
          <a:p>
            <a:pPr marL="0" indent="0"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  <a:cs typeface="Times New Roman" panose="02020603050405020304" pitchFamily="18" charset="0"/>
              </a:rPr>
              <a:t>try {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  <a:cs typeface="Times New Roman" panose="02020603050405020304" pitchFamily="18" charset="0"/>
              </a:rPr>
              <a:t>  URL url = new URL("http://www.sun.com");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  <a:cs typeface="Times New Roman" panose="02020603050405020304" pitchFamily="18" charset="0"/>
              </a:rPr>
              <a:t>catch(MalformedURLException ex) {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551027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033D0DFC-AA5E-3143-976F-7C0737DFC2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26D971-E5C0-8341-AE84-F1FD17632F4F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271362" name="Rectangle 2">
            <a:extLst>
              <a:ext uri="{FF2B5EF4-FFF2-40B4-BE49-F238E27FC236}">
                <a16:creationId xmlns:a16="http://schemas.microsoft.com/office/drawing/2014/main" id="{0AED3C1F-26B4-3744-9DF5-073FF6F926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42875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创建一个</a:t>
            </a:r>
            <a:r>
              <a:rPr lang="en-US" altLang="zh-CN" dirty="0">
                <a:ea typeface="宋体" panose="02010600030101010101" pitchFamily="2" charset="-122"/>
              </a:rPr>
              <a:t>URL</a:t>
            </a:r>
            <a:r>
              <a:rPr lang="zh-CN" altLang="en-US" dirty="0">
                <a:ea typeface="宋体" panose="02010600030101010101" pitchFamily="2" charset="-122"/>
              </a:rPr>
              <a:t>实例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71363" name="Rectangle 3">
            <a:extLst>
              <a:ext uri="{FF2B5EF4-FFF2-40B4-BE49-F238E27FC236}">
                <a16:creationId xmlns:a16="http://schemas.microsoft.com/office/drawing/2014/main" id="{2FB66F02-445A-9645-BBFE-93DB2EFF6E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610600" cy="4191000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zh-CN" sz="2400">
                <a:ea typeface="宋体" panose="02010600030101010101" pitchFamily="2" charset="-122"/>
                <a:cs typeface="Courier New" panose="02070309020205020404" pitchFamily="49" charset="0"/>
              </a:rPr>
              <a:t>To retrieve the file, first create a URL object for the file. The java.net.URL. For example, the following statement creates a URL object for http://www.cs.armstrong.edu/liang/index.html.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CN" sz="2400">
                <a:ea typeface="宋体" panose="02010600030101010101" pitchFamily="2" charset="-122"/>
                <a:cs typeface="Courier New" panose="02070309020205020404" pitchFamily="49" charset="0"/>
              </a:rPr>
              <a:t> </a:t>
            </a:r>
          </a:p>
          <a:p>
            <a:pPr lvl="1">
              <a:buFontTx/>
              <a:buNone/>
            </a:pPr>
            <a:r>
              <a:rPr lang="en-US" altLang="zh-CN" sz="2000">
                <a:ea typeface="宋体" panose="02010600030101010101" pitchFamily="2" charset="-122"/>
                <a:cs typeface="Courier New" panose="02070309020205020404" pitchFamily="49" charset="0"/>
              </a:rPr>
              <a:t>URL url = new URL("http://www.cs.armstrong.edu/liang/index.html");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CN" sz="2400">
                <a:ea typeface="宋体" panose="02010600030101010101" pitchFamily="2" charset="-122"/>
                <a:cs typeface="Courier New" panose="02070309020205020404" pitchFamily="49" charset="0"/>
              </a:rPr>
              <a:t> 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CN" sz="2400">
                <a:ea typeface="宋体" panose="02010600030101010101" pitchFamily="2" charset="-122"/>
                <a:cs typeface="Courier New" panose="02070309020205020404" pitchFamily="49" charset="0"/>
              </a:rPr>
              <a:t>You can then use the openStream() method defined in the URL class to open an input stream to the file's URL. 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CN" sz="2400">
                <a:ea typeface="宋体" panose="02010600030101010101" pitchFamily="2" charset="-122"/>
                <a:cs typeface="Courier New" panose="02070309020205020404" pitchFamily="49" charset="0"/>
              </a:rPr>
              <a:t> </a:t>
            </a:r>
          </a:p>
          <a:p>
            <a:pPr lvl="1">
              <a:buFontTx/>
              <a:buNone/>
            </a:pPr>
            <a:r>
              <a:rPr lang="en-US" altLang="zh-CN" sz="2000">
                <a:ea typeface="宋体" panose="02010600030101010101" pitchFamily="2" charset="-122"/>
                <a:cs typeface="Courier New" panose="02070309020205020404" pitchFamily="49" charset="0"/>
              </a:rPr>
              <a:t>InputStream inputStream = url.openStream();</a:t>
            </a:r>
          </a:p>
        </p:txBody>
      </p:sp>
    </p:spTree>
    <p:extLst>
      <p:ext uri="{BB962C8B-B14F-4D97-AF65-F5344CB8AC3E}">
        <p14:creationId xmlns:p14="http://schemas.microsoft.com/office/powerpoint/2010/main" val="3958405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393F15C6-1ACC-7D4F-A018-F440B1E281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FA755C-61E5-4345-BF92-A9D54D4F2805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273410" name="Rectangle 2">
            <a:extLst>
              <a:ext uri="{FF2B5EF4-FFF2-40B4-BE49-F238E27FC236}">
                <a16:creationId xmlns:a16="http://schemas.microsoft.com/office/drawing/2014/main" id="{0336134E-BC55-6A47-8216-450B8D6083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763000" cy="552450"/>
          </a:xfrm>
        </p:spPr>
        <p:txBody>
          <a:bodyPr>
            <a:normAutofit fontScale="90000"/>
          </a:bodyPr>
          <a:lstStyle/>
          <a:p>
            <a:r>
              <a:rPr lang="en-US" altLang="zh-CN" sz="4000">
                <a:ea typeface="宋体" panose="02010600030101010101" pitchFamily="2" charset="-122"/>
              </a:rPr>
              <a:t>Example: Retrieving Remote Files</a:t>
            </a:r>
            <a:endParaRPr lang="en-US" altLang="zh-CN" sz="4000" u="sng">
              <a:solidFill>
                <a:schemeClr val="tx1"/>
              </a:solidFill>
              <a:latin typeface="Book Antiqua" panose="02040602050305030304" pitchFamily="18" charset="0"/>
              <a:ea typeface="宋体" panose="02010600030101010101" pitchFamily="2" charset="-122"/>
            </a:endParaRPr>
          </a:p>
        </p:txBody>
      </p:sp>
      <p:sp>
        <p:nvSpPr>
          <p:cNvPr id="273411" name="Rectangle 3">
            <a:extLst>
              <a:ext uri="{FF2B5EF4-FFF2-40B4-BE49-F238E27FC236}">
                <a16:creationId xmlns:a16="http://schemas.microsoft.com/office/drawing/2014/main" id="{9819FB07-558C-C346-A09D-F47ABFE362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8534400" cy="2514600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zh-CN" sz="2100" dirty="0">
                <a:latin typeface="Book Antiqua" panose="0204060205030503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This example demonstrates how to retrieve a file from a Web server. The program can run as an application or an applet. The user interface includes a text field in which to enter the URL of the filename, a text area in which to show the file, and a button that can be used to submit an action. A label is added at the bottom of the applet to indicate the status, such as </a:t>
            </a:r>
            <a:r>
              <a:rPr lang="en-US" altLang="zh-CN" sz="2100" dirty="0">
                <a:solidFill>
                  <a:srgbClr val="FF0000"/>
                </a:solidFill>
                <a:latin typeface="Book Antiqua" panose="0204060205030503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File loaded successfully </a:t>
            </a:r>
            <a:r>
              <a:rPr lang="en-US" altLang="zh-CN" sz="2100" dirty="0">
                <a:latin typeface="Book Antiqua" panose="0204060205030503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 </a:t>
            </a:r>
            <a:r>
              <a:rPr lang="en-US" altLang="zh-CN" sz="2100" dirty="0">
                <a:solidFill>
                  <a:srgbClr val="FF0000"/>
                </a:solidFill>
                <a:latin typeface="Book Antiqua" panose="0204060205030503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Network connection problem</a:t>
            </a:r>
            <a:r>
              <a:rPr lang="en-US" altLang="zh-CN" sz="2100" dirty="0">
                <a:latin typeface="Book Antiqua" panose="0204060205030503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lang="en-US" altLang="zh-CN" sz="2100" dirty="0">
              <a:latin typeface="Book Antiqua" panose="02040602050305030304" pitchFamily="18" charset="0"/>
              <a:ea typeface="宋体" panose="02010600030101010101" pitchFamily="2" charset="-122"/>
            </a:endParaRPr>
          </a:p>
        </p:txBody>
      </p:sp>
      <p:sp>
        <p:nvSpPr>
          <p:cNvPr id="273412" name="AutoShape 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B4B72BD-2424-7F45-9600-CCBCFF26E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5181600"/>
            <a:ext cx="3276600" cy="533400"/>
          </a:xfrm>
          <a:prstGeom prst="actionButtonBlank">
            <a:avLst/>
          </a:prstGeom>
          <a:solidFill>
            <a:schemeClr val="tx1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solidFill>
                  <a:schemeClr val="accent1"/>
                </a:solidFill>
                <a:latin typeface="Book Antiqua" panose="02040602050305030304" pitchFamily="18" charset="0"/>
                <a:ea typeface="宋体" panose="02010600030101010101" pitchFamily="2" charset="-122"/>
                <a:hlinkClick r:id="rId2" action="ppaction://program"/>
              </a:rPr>
              <a:t>ViewRemoteFile</a:t>
            </a:r>
            <a:endParaRPr lang="en-US" altLang="zh-CN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sp>
        <p:nvSpPr>
          <p:cNvPr id="273414" name="AutoShape 6">
            <a:hlinkClick r:id="rId3" action="ppaction://program" highlightClick="1"/>
            <a:extLst>
              <a:ext uri="{FF2B5EF4-FFF2-40B4-BE49-F238E27FC236}">
                <a16:creationId xmlns:a16="http://schemas.microsoft.com/office/drawing/2014/main" id="{26F19BE3-C27E-C041-8926-0E9DD1D40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5943600"/>
            <a:ext cx="3276600" cy="5334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38A1BA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latin typeface="Book Antiqua" panose="02040602050305030304" pitchFamily="18" charset="0"/>
                <a:ea typeface="宋体" panose="02010600030101010101" pitchFamily="2" charset="-122"/>
              </a:rPr>
              <a:t>Run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73415" name="Rectangle 7">
            <a:extLst>
              <a:ext uri="{FF2B5EF4-FFF2-40B4-BE49-F238E27FC236}">
                <a16:creationId xmlns:a16="http://schemas.microsoft.com/office/drawing/2014/main" id="{53D7C60C-D947-9748-8C79-8306B5B23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648200"/>
            <a:ext cx="57150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endParaRPr lang="zh-CN" altLang="zh-CN" sz="2800">
              <a:latin typeface="Book Antiqua" panose="02040602050305030304" pitchFamily="18" charset="0"/>
            </a:endParaRPr>
          </a:p>
        </p:txBody>
      </p:sp>
      <p:pic>
        <p:nvPicPr>
          <p:cNvPr id="273417" name="Picture 9">
            <a:extLst>
              <a:ext uri="{FF2B5EF4-FFF2-40B4-BE49-F238E27FC236}">
                <a16:creationId xmlns:a16="http://schemas.microsoft.com/office/drawing/2014/main" id="{0CCB9812-BECD-8548-B3BA-D51A5ECB5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581400"/>
            <a:ext cx="4724400" cy="2916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5370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JEditorPane</a:t>
            </a:r>
            <a:r>
              <a:rPr lang="zh-CN" altLang="en-US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GUI</a:t>
            </a:r>
            <a:r>
              <a:rPr lang="zh-CN" altLang="en-US" dirty="0"/>
              <a:t>组件，能够自动显示普通文本文件、</a:t>
            </a:r>
            <a:r>
              <a:rPr lang="en-US" altLang="zh-CN" dirty="0"/>
              <a:t>HTML</a:t>
            </a:r>
            <a:r>
              <a:rPr lang="zh-CN" altLang="en-US" dirty="0"/>
              <a:t>文件和</a:t>
            </a:r>
            <a:r>
              <a:rPr lang="en-US" altLang="zh-CN" dirty="0"/>
              <a:t>RTF</a:t>
            </a:r>
            <a:r>
              <a:rPr lang="zh-CN" altLang="en-US" dirty="0"/>
              <a:t>文件</a:t>
            </a:r>
            <a:endParaRPr lang="en-US" altLang="zh-CN" dirty="0"/>
          </a:p>
          <a:p>
            <a:r>
              <a:rPr lang="zh-CN" altLang="en-US" dirty="0"/>
              <a:t>例子</a:t>
            </a:r>
            <a:r>
              <a:rPr lang="en-US" altLang="zh-CN" dirty="0"/>
              <a:t>WebBrowser.java</a:t>
            </a: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0DC98FDC-E9BD-7740-AD14-CFC806349F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33C25D-7B55-3F41-A436-E4C373B717C0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289794" name="Rectangle 2">
            <a:extLst>
              <a:ext uri="{FF2B5EF4-FFF2-40B4-BE49-F238E27FC236}">
                <a16:creationId xmlns:a16="http://schemas.microsoft.com/office/drawing/2014/main" id="{84A67ACD-0C50-C540-BF4C-0522636D5C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altLang="zh-CN" sz="3600" u="sng">
                <a:ea typeface="宋体" panose="02010600030101010101" pitchFamily="2" charset="-122"/>
                <a:cs typeface="Times New Roman" panose="02020603050405020304" pitchFamily="18" charset="0"/>
              </a:rPr>
              <a:t>JEditorPane</a:t>
            </a:r>
            <a:r>
              <a:rPr lang="en-US" altLang="zh-CN" sz="360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89795" name="Text Box 3">
            <a:extLst>
              <a:ext uri="{FF2B5EF4-FFF2-40B4-BE49-F238E27FC236}">
                <a16:creationId xmlns:a16="http://schemas.microsoft.com/office/drawing/2014/main" id="{1429A706-9A9A-B749-9381-38789F602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066800"/>
            <a:ext cx="8686800" cy="502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cs typeface="Courier New" panose="02070309020205020404" pitchFamily="49" charset="0"/>
              </a:rPr>
              <a:t>Swing provides a GUI component named </a:t>
            </a:r>
            <a:r>
              <a:rPr lang="en-US" altLang="zh-CN" u="sng">
                <a:ea typeface="宋体" panose="02010600030101010101" pitchFamily="2" charset="-122"/>
                <a:cs typeface="Courier New" panose="02070309020205020404" pitchFamily="49" charset="0"/>
              </a:rPr>
              <a:t>javax.swing.JEditorPane</a:t>
            </a:r>
            <a:r>
              <a:rPr lang="en-US" altLang="zh-CN">
                <a:ea typeface="宋体" panose="02010600030101010101" pitchFamily="2" charset="-122"/>
                <a:cs typeface="Courier New" panose="02070309020205020404" pitchFamily="49" charset="0"/>
              </a:rPr>
              <a:t> that can be used to display plain text, HTML, and RTF files automatically. So you don’t have to write code to explicit read data from the files. </a:t>
            </a:r>
            <a:r>
              <a:rPr lang="en-US" altLang="zh-CN" u="sng">
                <a:ea typeface="宋体" panose="02010600030101010101" pitchFamily="2" charset="-122"/>
                <a:cs typeface="Courier New" panose="02070309020205020404" pitchFamily="49" charset="0"/>
              </a:rPr>
              <a:t>JEditorPane</a:t>
            </a:r>
            <a:r>
              <a:rPr lang="en-US" altLang="zh-CN">
                <a:ea typeface="宋体" panose="02010600030101010101" pitchFamily="2" charset="-122"/>
                <a:cs typeface="Courier New" panose="02070309020205020404" pitchFamily="49" charset="0"/>
              </a:rPr>
              <a:t> is a subclass of </a:t>
            </a:r>
            <a:r>
              <a:rPr lang="en-US" altLang="zh-CN" u="sng">
                <a:ea typeface="宋体" panose="02010600030101010101" pitchFamily="2" charset="-122"/>
                <a:cs typeface="Courier New" panose="02070309020205020404" pitchFamily="49" charset="0"/>
              </a:rPr>
              <a:t>JTextComponent</a:t>
            </a:r>
            <a:r>
              <a:rPr lang="en-US" altLang="zh-CN">
                <a:ea typeface="宋体" panose="02010600030101010101" pitchFamily="2" charset="-122"/>
                <a:cs typeface="Courier New" panose="02070309020205020404" pitchFamily="49" charset="0"/>
              </a:rPr>
              <a:t>. Thus it inherits all the behavior and properties of </a:t>
            </a:r>
            <a:r>
              <a:rPr lang="en-US" altLang="zh-CN" u="sng">
                <a:ea typeface="宋体" panose="02010600030101010101" pitchFamily="2" charset="-122"/>
                <a:cs typeface="Courier New" panose="02070309020205020404" pitchFamily="49" charset="0"/>
              </a:rPr>
              <a:t>JTextComponent</a:t>
            </a:r>
            <a:r>
              <a:rPr lang="en-US" altLang="zh-CN">
                <a:ea typeface="宋体" panose="02010600030101010101" pitchFamily="2" charset="-122"/>
                <a:cs typeface="Courier New" panose="02070309020205020404" pitchFamily="49" charset="0"/>
              </a:rPr>
              <a:t>. </a:t>
            </a:r>
          </a:p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cs typeface="Courier New" panose="02070309020205020404" pitchFamily="49" charset="0"/>
              </a:rPr>
              <a:t>To display the content of a file, use the </a:t>
            </a:r>
            <a:r>
              <a:rPr lang="en-US" altLang="zh-CN" u="sng">
                <a:ea typeface="宋体" panose="02010600030101010101" pitchFamily="2" charset="-122"/>
                <a:cs typeface="Courier New" panose="02070309020205020404" pitchFamily="49" charset="0"/>
              </a:rPr>
              <a:t>setPage(URL)</a:t>
            </a:r>
            <a:r>
              <a:rPr lang="en-US" altLang="zh-CN">
                <a:ea typeface="宋体" panose="02010600030101010101" pitchFamily="2" charset="-122"/>
                <a:cs typeface="Courier New" panose="02070309020205020404" pitchFamily="49" charset="0"/>
              </a:rPr>
              <a:t> method as follows:</a:t>
            </a:r>
          </a:p>
          <a:p>
            <a:pPr lvl="1">
              <a:spcBef>
                <a:spcPct val="50000"/>
              </a:spcBef>
            </a:pPr>
            <a:r>
              <a:rPr lang="en-US" altLang="zh-CN" u="sng">
                <a:ea typeface="宋体" panose="02010600030101010101" pitchFamily="2" charset="-122"/>
                <a:cs typeface="Times New Roman" panose="02020603050405020304" pitchFamily="18" charset="0"/>
              </a:rPr>
              <a:t>public void setPage(URL url) throws IOException</a:t>
            </a:r>
          </a:p>
          <a:p>
            <a:pPr>
              <a:spcBef>
                <a:spcPct val="50000"/>
              </a:spcBef>
            </a:pPr>
            <a:r>
              <a:rPr lang="en-US" altLang="zh-CN" u="sng">
                <a:ea typeface="宋体" panose="02010600030101010101" pitchFamily="2" charset="-122"/>
                <a:cs typeface="Courier New" panose="02070309020205020404" pitchFamily="49" charset="0"/>
              </a:rPr>
              <a:t>JEditorPane</a:t>
            </a:r>
            <a:r>
              <a:rPr lang="en-US" altLang="zh-CN">
                <a:ea typeface="宋体" panose="02010600030101010101" pitchFamily="2" charset="-122"/>
                <a:cs typeface="Courier New" panose="02070309020205020404" pitchFamily="49" charset="0"/>
              </a:rPr>
              <a:t> generates </a:t>
            </a:r>
            <a:r>
              <a:rPr lang="en-US" altLang="zh-CN" u="sng">
                <a:ea typeface="宋体" panose="02010600030101010101" pitchFamily="2" charset="-122"/>
                <a:cs typeface="Courier New" panose="02070309020205020404" pitchFamily="49" charset="0"/>
              </a:rPr>
              <a:t>javax.swing.event.HyperlinkEvent</a:t>
            </a:r>
            <a:r>
              <a:rPr lang="en-US" altLang="zh-CN">
                <a:ea typeface="宋体" panose="02010600030101010101" pitchFamily="2" charset="-122"/>
                <a:cs typeface="Courier New" panose="02070309020205020404" pitchFamily="49" charset="0"/>
              </a:rPr>
              <a:t> when a hyperlink in the editor pane is clicked. Through this event, you can get the URL of the hyperlink and display it using the </a:t>
            </a:r>
            <a:r>
              <a:rPr lang="en-US" altLang="zh-CN" u="sng">
                <a:ea typeface="宋体" panose="02010600030101010101" pitchFamily="2" charset="-122"/>
                <a:cs typeface="Courier New" panose="02070309020205020404" pitchFamily="49" charset="0"/>
              </a:rPr>
              <a:t>setPage(url)</a:t>
            </a:r>
            <a:r>
              <a:rPr lang="en-US" altLang="zh-CN">
                <a:ea typeface="宋体" panose="02010600030101010101" pitchFamily="2" charset="-122"/>
                <a:cs typeface="Courier New" panose="02070309020205020404" pitchFamily="49" charset="0"/>
              </a:rPr>
              <a:t> method</a:t>
            </a:r>
            <a:r>
              <a:rPr lang="en-US" altLang="zh-CN">
                <a:ea typeface="宋体" panose="02010600030101010101" pitchFamily="2" charset="-122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502264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31567010-1224-7D47-8F15-2B25E822E8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2F1775A-58D0-794F-9343-8C173F3B1AC2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68768905-6961-974D-9F48-BACA79E4B5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altLang="zh-CN" sz="3600">
                <a:ea typeface="宋体" panose="02010600030101010101" pitchFamily="2" charset="-122"/>
                <a:cs typeface="Times New Roman" panose="02020603050405020304" pitchFamily="18" charset="0"/>
              </a:rPr>
              <a:t>Example: Creating a Web Browser</a:t>
            </a:r>
          </a:p>
        </p:txBody>
      </p:sp>
      <p:sp>
        <p:nvSpPr>
          <p:cNvPr id="279555" name="Text Box 3">
            <a:extLst>
              <a:ext uri="{FF2B5EF4-FFF2-40B4-BE49-F238E27FC236}">
                <a16:creationId xmlns:a16="http://schemas.microsoft.com/office/drawing/2014/main" id="{F43FD266-D360-9F41-A7A0-2FF2B1E4F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143000"/>
            <a:ext cx="8001000" cy="112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>
                <a:ea typeface="宋体" panose="02010600030101010101" pitchFamily="2" charset="-122"/>
              </a:rPr>
              <a:t>Viewing HTML Files Using the JEditorPane.</a:t>
            </a:r>
            <a:r>
              <a:rPr lang="en-US" altLang="zh-CN" sz="4000">
                <a:solidFill>
                  <a:schemeClr val="tx2"/>
                </a:solidFill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>
                <a:latin typeface="Courier New" panose="02070309020205020404" pitchFamily="49" charset="0"/>
                <a:ea typeface="宋体" panose="02010600030101010101" pitchFamily="2" charset="-122"/>
              </a:rPr>
              <a:t>JEditorPane</a:t>
            </a:r>
            <a:r>
              <a:rPr lang="en-US" altLang="zh-CN" sz="2800">
                <a:ea typeface="宋体" panose="02010600030101010101" pitchFamily="2" charset="-122"/>
              </a:rPr>
              <a:t> can be used to display HTML files. </a:t>
            </a:r>
          </a:p>
        </p:txBody>
      </p:sp>
      <p:sp>
        <p:nvSpPr>
          <p:cNvPr id="279556" name="AutoShape 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7B4CEA0B-BA0A-6B4B-9E7B-3D72DEE51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276600"/>
            <a:ext cx="3276600" cy="533400"/>
          </a:xfrm>
          <a:prstGeom prst="actionButtonBlank">
            <a:avLst/>
          </a:prstGeom>
          <a:solidFill>
            <a:schemeClr val="tx1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solidFill>
                  <a:schemeClr val="accent1"/>
                </a:solidFill>
                <a:latin typeface="Book Antiqua" panose="02040602050305030304" pitchFamily="18" charset="0"/>
                <a:ea typeface="宋体" panose="02010600030101010101" pitchFamily="2" charset="-122"/>
                <a:hlinkClick r:id="rId2" action="ppaction://program"/>
              </a:rPr>
              <a:t>WebBrowser</a:t>
            </a:r>
            <a:endParaRPr lang="en-US" altLang="zh-CN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pic>
        <p:nvPicPr>
          <p:cNvPr id="279559" name="Picture 7">
            <a:extLst>
              <a:ext uri="{FF2B5EF4-FFF2-40B4-BE49-F238E27FC236}">
                <a16:creationId xmlns:a16="http://schemas.microsoft.com/office/drawing/2014/main" id="{B9C21675-1F27-3046-8574-913E9C616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895600"/>
            <a:ext cx="4724400" cy="3233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9560" name="AutoShape 8">
            <a:hlinkClick r:id="rId4" action="ppaction://program" highlightClick="1"/>
            <a:extLst>
              <a:ext uri="{FF2B5EF4-FFF2-40B4-BE49-F238E27FC236}">
                <a16:creationId xmlns:a16="http://schemas.microsoft.com/office/drawing/2014/main" id="{B0282194-B40C-6546-983E-245EFBC64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114800"/>
            <a:ext cx="3276600" cy="5334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38A1BA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latin typeface="Book Antiqua" panose="02040602050305030304" pitchFamily="18" charset="0"/>
                <a:ea typeface="宋体" panose="02010600030101010101" pitchFamily="2" charset="-122"/>
              </a:rPr>
              <a:t>Run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55011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1FACF1F2-A748-0F42-A34C-76EAB8A93D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8305800" cy="1066800"/>
          </a:xfrm>
          <a:noFill/>
          <a:ln/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案例</a:t>
            </a:r>
            <a:r>
              <a:rPr lang="en-US" altLang="zh-CN" dirty="0">
                <a:ea typeface="宋体" panose="02010600030101010101" pitchFamily="2" charset="-122"/>
              </a:rPr>
              <a:t>: </a:t>
            </a:r>
            <a:r>
              <a:rPr lang="zh-CN" altLang="en-US" dirty="0">
                <a:ea typeface="宋体" panose="02010600030101010101" pitchFamily="2" charset="-122"/>
              </a:rPr>
              <a:t>分布式</a:t>
            </a:r>
            <a:r>
              <a:rPr lang="en-US" altLang="zh-CN" dirty="0" err="1">
                <a:ea typeface="宋体" panose="02010600030101010101" pitchFamily="2" charset="-122"/>
              </a:rPr>
              <a:t>TicTacToe</a:t>
            </a:r>
            <a:r>
              <a:rPr lang="zh-CN" altLang="en-US" dirty="0">
                <a:ea typeface="宋体" panose="02010600030101010101" pitchFamily="2" charset="-122"/>
              </a:rPr>
              <a:t>游戏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6" name="Object 9">
            <a:extLst>
              <a:ext uri="{FF2B5EF4-FFF2-40B4-BE49-F238E27FC236}">
                <a16:creationId xmlns:a16="http://schemas.microsoft.com/office/drawing/2014/main" id="{39DF13A0-D304-5D4D-95F4-3900771003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1524000"/>
          <a:ext cx="7934325" cy="349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Picture" r:id="rId3" imgW="25717500" imgH="11315700" progId="Word.Picture.8">
                  <p:embed/>
                </p:oleObj>
              </mc:Choice>
              <mc:Fallback>
                <p:oleObj name="Picture" r:id="rId3" imgW="25717500" imgH="11315700" progId="Word.Picture.8">
                  <p:embed/>
                  <p:pic>
                    <p:nvPicPr>
                      <p:cNvPr id="268297" name="Object 9">
                        <a:extLst>
                          <a:ext uri="{FF2B5EF4-FFF2-40B4-BE49-F238E27FC236}">
                            <a16:creationId xmlns:a16="http://schemas.microsoft.com/office/drawing/2014/main" id="{F24A70FD-DDA9-3747-A6E2-DD98F6573F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524000"/>
                        <a:ext cx="7934325" cy="349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AutoShape 1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6C179545-4024-3949-9510-156BC38BC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029200"/>
            <a:ext cx="3276600" cy="533400"/>
          </a:xfrm>
          <a:prstGeom prst="actionButtonBlank">
            <a:avLst/>
          </a:prstGeom>
          <a:solidFill>
            <a:schemeClr val="tx1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Book Antiqua" panose="02040602050305030304" pitchFamily="18" charset="0"/>
                <a:ea typeface="宋体" panose="02010600030101010101" pitchFamily="2" charset="-122"/>
                <a:hlinkClick r:id="rId5" action="ppaction://program"/>
              </a:rPr>
              <a:t>TicTacToeServer</a:t>
            </a:r>
            <a:endParaRPr lang="en-US" altLang="zh-CN" dirty="0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sp>
        <p:nvSpPr>
          <p:cNvPr id="8" name="AutoShape 11">
            <a:hlinkClick r:id="rId6" action="ppaction://program" highlightClick="1"/>
            <a:extLst>
              <a:ext uri="{FF2B5EF4-FFF2-40B4-BE49-F238E27FC236}">
                <a16:creationId xmlns:a16="http://schemas.microsoft.com/office/drawing/2014/main" id="{B64A9119-7828-AA4F-9B39-3B7B66118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5029200"/>
            <a:ext cx="2133600" cy="533400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latin typeface="Book Antiqua" panose="02040602050305030304" pitchFamily="18" charset="0"/>
                <a:ea typeface="宋体" panose="02010600030101010101" pitchFamily="2" charset="-122"/>
              </a:rPr>
              <a:t>Run Server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9" name="AutoShape 1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2CC5963C-8E3D-8D4F-8E47-C9BB8CD1F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867400"/>
            <a:ext cx="3276600" cy="533400"/>
          </a:xfrm>
          <a:prstGeom prst="actionButtonBlank">
            <a:avLst/>
          </a:prstGeom>
          <a:solidFill>
            <a:schemeClr val="tx1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Book Antiqua" panose="02040602050305030304" pitchFamily="18" charset="0"/>
                <a:ea typeface="宋体" panose="02010600030101010101" pitchFamily="2" charset="-122"/>
                <a:hlinkClick r:id="rId7" action="ppaction://program"/>
              </a:rPr>
              <a:t>TicTacToeClient</a:t>
            </a:r>
            <a:endParaRPr lang="en-US" altLang="zh-CN" dirty="0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sp>
        <p:nvSpPr>
          <p:cNvPr id="10" name="AutoShape 14">
            <a:hlinkClick r:id="rId8" action="ppaction://program" highlightClick="1"/>
            <a:extLst>
              <a:ext uri="{FF2B5EF4-FFF2-40B4-BE49-F238E27FC236}">
                <a16:creationId xmlns:a16="http://schemas.microsoft.com/office/drawing/2014/main" id="{63274BBF-F573-AE4F-AD16-FD0C7CB33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5867400"/>
            <a:ext cx="2133600" cy="533400"/>
          </a:xfrm>
          <a:prstGeom prst="actionButtonBlank">
            <a:avLst/>
          </a:prstGeom>
          <a:solidFill>
            <a:schemeClr val="accent1"/>
          </a:solidFill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zh-CN" dirty="0">
                <a:latin typeface="Book Antiqua" panose="02040602050305030304" pitchFamily="18" charset="0"/>
                <a:ea typeface="宋体" panose="02010600030101010101" pitchFamily="2" charset="-122"/>
              </a:rPr>
              <a:t>Run Client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44151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5347129A-076C-B44F-8306-76D021DC86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3509133"/>
              </p:ext>
            </p:extLst>
          </p:nvPr>
        </p:nvGraphicFramePr>
        <p:xfrm>
          <a:off x="1066800" y="764704"/>
          <a:ext cx="7010400" cy="567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Picture" r:id="rId3" imgW="28803600" imgH="23317200" progId="Word.Picture.8">
                  <p:embed/>
                </p:oleObj>
              </mc:Choice>
              <mc:Fallback>
                <p:oleObj name="Picture" r:id="rId3" imgW="28803600" imgH="23317200" progId="Word.Picture.8">
                  <p:embed/>
                  <p:pic>
                    <p:nvPicPr>
                      <p:cNvPr id="281604" name="Object 4">
                        <a:extLst>
                          <a:ext uri="{FF2B5EF4-FFF2-40B4-BE49-F238E27FC236}">
                            <a16:creationId xmlns:a16="http://schemas.microsoft.com/office/drawing/2014/main" id="{35580B2F-6044-8E4F-86DD-59B5154920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764704"/>
                        <a:ext cx="7010400" cy="567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23156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51520" y="72008"/>
            <a:ext cx="2664296" cy="6669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1600" dirty="0"/>
              <a:t>玩家</a:t>
            </a:r>
            <a:r>
              <a:rPr lang="en-US" altLang="zh-CN" sz="1600" dirty="0"/>
              <a:t>1</a:t>
            </a:r>
          </a:p>
          <a:p>
            <a:endParaRPr lang="en-US" altLang="zh-CN" sz="1600" dirty="0"/>
          </a:p>
          <a:p>
            <a:pPr lvl="0"/>
            <a:r>
              <a:rPr lang="en-US" altLang="zh-CN" sz="1600" dirty="0"/>
              <a:t>1.</a:t>
            </a:r>
            <a:r>
              <a:rPr lang="zh-CN" altLang="zh-CN" sz="1600" dirty="0"/>
              <a:t>初始化用户界面</a:t>
            </a:r>
            <a:endParaRPr lang="en-US" altLang="zh-CN" sz="1600" dirty="0"/>
          </a:p>
          <a:p>
            <a:pPr lvl="0"/>
            <a:endParaRPr lang="zh-CN" altLang="zh-CN" sz="1600" dirty="0"/>
          </a:p>
          <a:p>
            <a:pPr lvl="0"/>
            <a:r>
              <a:rPr lang="en-US" altLang="zh-CN" sz="1600" dirty="0"/>
              <a:t>2.</a:t>
            </a:r>
            <a:r>
              <a:rPr lang="zh-CN" altLang="zh-CN" sz="1600" dirty="0"/>
              <a:t>请求连接服务器</a:t>
            </a:r>
            <a:r>
              <a:rPr lang="en-US" altLang="zh-CN" sz="1600" dirty="0"/>
              <a:t>,</a:t>
            </a:r>
            <a:r>
              <a:rPr lang="zh-CN" altLang="zh-CN" sz="1600" dirty="0"/>
              <a:t>并从服务</a:t>
            </a:r>
          </a:p>
          <a:p>
            <a:r>
              <a:rPr lang="zh-CN" altLang="zh-CN" sz="1600" dirty="0"/>
              <a:t>器获知使用哪个标记</a:t>
            </a:r>
          </a:p>
          <a:p>
            <a:r>
              <a:rPr lang="en-US" altLang="zh-CN" sz="1600" dirty="0"/>
              <a:t> </a:t>
            </a:r>
          </a:p>
          <a:p>
            <a:pPr lvl="0"/>
            <a:r>
              <a:rPr lang="en-US" altLang="zh-CN" sz="1600" dirty="0"/>
              <a:t>3.</a:t>
            </a:r>
            <a:r>
              <a:rPr lang="zh-CN" altLang="zh-CN" sz="1600" dirty="0"/>
              <a:t>从服务器获取开始信号</a:t>
            </a:r>
            <a:endParaRPr lang="en-US" altLang="zh-CN" sz="1600" dirty="0"/>
          </a:p>
          <a:p>
            <a:pPr lvl="0"/>
            <a:r>
              <a:rPr lang="en-US" altLang="zh-CN" sz="1600" dirty="0"/>
              <a:t>4.</a:t>
            </a:r>
            <a:r>
              <a:rPr lang="zh-CN" altLang="zh-CN" sz="1600" dirty="0"/>
              <a:t>等待玩家标记一个单元格</a:t>
            </a:r>
            <a:r>
              <a:rPr lang="en-US" altLang="zh-CN" sz="1600" dirty="0"/>
              <a:t>,</a:t>
            </a:r>
            <a:endParaRPr lang="zh-CN" altLang="zh-CN" sz="1600" dirty="0"/>
          </a:p>
          <a:p>
            <a:r>
              <a:rPr lang="zh-CN" altLang="zh-CN" sz="1600" dirty="0"/>
              <a:t>将这个单元格的行列索引给服务</a:t>
            </a:r>
            <a:endParaRPr lang="en-US" altLang="zh-CN" sz="1600" dirty="0"/>
          </a:p>
          <a:p>
            <a:endParaRPr lang="zh-CN" altLang="zh-CN" sz="1600" dirty="0"/>
          </a:p>
          <a:p>
            <a:pPr lvl="0"/>
            <a:r>
              <a:rPr lang="en-US" altLang="zh-CN" sz="1600" dirty="0"/>
              <a:t>5.</a:t>
            </a:r>
            <a:r>
              <a:rPr lang="zh-CN" altLang="zh-CN" sz="1600" dirty="0"/>
              <a:t>从服务器接收状态</a:t>
            </a:r>
            <a:endParaRPr lang="en-US" altLang="zh-CN" sz="1600" dirty="0"/>
          </a:p>
          <a:p>
            <a:pPr lvl="0"/>
            <a:endParaRPr lang="en-US" altLang="zh-CN" sz="1600" dirty="0"/>
          </a:p>
          <a:p>
            <a:pPr lvl="0"/>
            <a:endParaRPr lang="zh-CN" altLang="zh-CN" sz="1600" dirty="0"/>
          </a:p>
          <a:p>
            <a:pPr lvl="0"/>
            <a:r>
              <a:rPr lang="en-US" altLang="zh-CN" sz="1600" dirty="0"/>
              <a:t>6.</a:t>
            </a:r>
            <a:r>
              <a:rPr lang="zh-CN" altLang="zh-CN" sz="1600" dirty="0"/>
              <a:t>如果状态为</a:t>
            </a:r>
            <a:r>
              <a:rPr lang="en-US" altLang="zh-CN" sz="1600" dirty="0"/>
              <a:t>WIN,</a:t>
            </a:r>
            <a:r>
              <a:rPr lang="zh-CN" altLang="zh-CN" sz="1600" dirty="0"/>
              <a:t>显示赢家</a:t>
            </a:r>
            <a:r>
              <a:rPr lang="en-US" altLang="zh-CN" sz="1600" dirty="0"/>
              <a:t>;</a:t>
            </a:r>
            <a:r>
              <a:rPr lang="zh-CN" altLang="zh-CN" sz="1600" dirty="0"/>
              <a:t>如果玩家</a:t>
            </a:r>
            <a:r>
              <a:rPr lang="en-US" altLang="zh-CN" sz="1600" dirty="0"/>
              <a:t>2</a:t>
            </a:r>
            <a:r>
              <a:rPr lang="zh-CN" altLang="zh-CN" sz="1600" dirty="0"/>
              <a:t>获胜</a:t>
            </a:r>
            <a:r>
              <a:rPr lang="en-US" altLang="zh-CN" sz="1600" dirty="0"/>
              <a:t>,</a:t>
            </a:r>
            <a:r>
              <a:rPr lang="zh-CN" altLang="zh-CN" sz="1600" dirty="0"/>
              <a:t>接受玩家</a:t>
            </a:r>
            <a:r>
              <a:rPr lang="en-US" altLang="zh-CN" sz="1600" dirty="0"/>
              <a:t>2</a:t>
            </a:r>
            <a:r>
              <a:rPr lang="zh-CN" altLang="zh-CN" sz="1600" dirty="0"/>
              <a:t>的最后一步移动。打断循环。</a:t>
            </a:r>
          </a:p>
          <a:p>
            <a:r>
              <a:rPr lang="en-US" altLang="zh-CN" sz="1600" dirty="0"/>
              <a:t> </a:t>
            </a:r>
            <a:endParaRPr lang="zh-CN" altLang="zh-CN" sz="1600" dirty="0"/>
          </a:p>
          <a:p>
            <a:r>
              <a:rPr lang="en-US" altLang="zh-CN" sz="1600" dirty="0"/>
              <a:t>7</a:t>
            </a:r>
            <a:r>
              <a:rPr lang="zh-CN" altLang="zh-CN" sz="1600" dirty="0"/>
              <a:t>．如果状态为</a:t>
            </a:r>
            <a:r>
              <a:rPr lang="en-US" altLang="zh-CN" sz="1600" dirty="0"/>
              <a:t>DRAW</a:t>
            </a:r>
            <a:r>
              <a:rPr lang="zh-CN" altLang="zh-CN" sz="1600" dirty="0"/>
              <a:t>，显示游戏结束；打断循环。</a:t>
            </a:r>
          </a:p>
          <a:p>
            <a:r>
              <a:rPr lang="en-US" altLang="zh-CN" sz="1600" dirty="0"/>
              <a:t> </a:t>
            </a:r>
            <a:endParaRPr lang="zh-CN" altLang="zh-CN" sz="1600" dirty="0"/>
          </a:p>
          <a:p>
            <a:r>
              <a:rPr lang="en-US" altLang="zh-CN" sz="1600" dirty="0"/>
              <a:t>8</a:t>
            </a:r>
            <a:r>
              <a:rPr lang="zh-CN" altLang="zh-CN" sz="1600" dirty="0"/>
              <a:t>．如果状态为</a:t>
            </a:r>
            <a:r>
              <a:rPr lang="en-US" altLang="zh-CN" sz="1600" dirty="0"/>
              <a:t>CONTINUE</a:t>
            </a:r>
            <a:r>
              <a:rPr lang="zh-CN" altLang="zh-CN" sz="1600" dirty="0"/>
              <a:t>，获取玩家</a:t>
            </a:r>
            <a:r>
              <a:rPr lang="en-US" altLang="zh-CN" sz="1600" dirty="0"/>
              <a:t>2</a:t>
            </a:r>
            <a:r>
              <a:rPr lang="zh-CN" altLang="zh-CN" sz="1600" dirty="0"/>
              <a:t>选中的行列索引并标记该单元格。</a:t>
            </a:r>
          </a:p>
          <a:p>
            <a:pPr algn="ctr"/>
            <a:endParaRPr lang="zh-CN" altLang="en-US" sz="1600" dirty="0"/>
          </a:p>
        </p:txBody>
      </p:sp>
      <p:sp>
        <p:nvSpPr>
          <p:cNvPr id="5" name="矩形 4"/>
          <p:cNvSpPr/>
          <p:nvPr/>
        </p:nvSpPr>
        <p:spPr>
          <a:xfrm>
            <a:off x="6084168" y="72008"/>
            <a:ext cx="2664296" cy="6669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1600" b="1" dirty="0"/>
              <a:t>玩家</a:t>
            </a:r>
            <a:r>
              <a:rPr lang="en-US" altLang="zh-CN" sz="1600" b="1" dirty="0"/>
              <a:t>2</a:t>
            </a:r>
            <a:endParaRPr lang="zh-CN" altLang="zh-CN" sz="1600" b="1" dirty="0"/>
          </a:p>
          <a:p>
            <a:pPr lvl="0"/>
            <a:r>
              <a:rPr lang="zh-CN" altLang="zh-CN" sz="1600" b="1" dirty="0"/>
              <a:t>初始化用户界面</a:t>
            </a:r>
          </a:p>
          <a:p>
            <a:r>
              <a:rPr lang="en-US" altLang="zh-CN" sz="1600" b="1" dirty="0"/>
              <a:t> </a:t>
            </a:r>
            <a:endParaRPr lang="zh-CN" altLang="zh-CN" sz="1600" b="1" dirty="0"/>
          </a:p>
          <a:p>
            <a:pPr lvl="0"/>
            <a:r>
              <a:rPr lang="zh-CN" altLang="zh-CN" sz="1600" b="1" dirty="0"/>
              <a:t>请求连接服务器，并从服务器获知使用哪个标记</a:t>
            </a:r>
          </a:p>
          <a:p>
            <a:r>
              <a:rPr lang="en-US" altLang="zh-CN" sz="1600" b="1" dirty="0"/>
              <a:t> </a:t>
            </a:r>
            <a:endParaRPr lang="zh-CN" altLang="zh-CN" sz="1600" b="1" dirty="0"/>
          </a:p>
          <a:p>
            <a:pPr lvl="0"/>
            <a:r>
              <a:rPr lang="zh-CN" altLang="zh-CN" sz="1600" b="1" dirty="0"/>
              <a:t>从服务器接受状态</a:t>
            </a:r>
          </a:p>
          <a:p>
            <a:r>
              <a:rPr lang="en-US" altLang="zh-CN" sz="1600" b="1" dirty="0"/>
              <a:t> </a:t>
            </a:r>
            <a:endParaRPr lang="zh-CN" altLang="zh-CN" sz="1600" b="1" dirty="0"/>
          </a:p>
          <a:p>
            <a:pPr lvl="0"/>
            <a:r>
              <a:rPr lang="zh-CN" altLang="zh-CN" sz="1600" b="1" dirty="0"/>
              <a:t>如果状态为</a:t>
            </a:r>
            <a:r>
              <a:rPr lang="en-US" altLang="zh-CN" sz="1600" b="1" dirty="0"/>
              <a:t>WIN</a:t>
            </a:r>
            <a:r>
              <a:rPr lang="zh-CN" altLang="zh-CN" sz="1600" b="1" dirty="0"/>
              <a:t>，显示获胜者。如果玩家</a:t>
            </a:r>
            <a:r>
              <a:rPr lang="en-US" altLang="zh-CN" sz="1600" b="1" dirty="0"/>
              <a:t>1</a:t>
            </a:r>
            <a:r>
              <a:rPr lang="zh-CN" altLang="zh-CN" sz="1600" b="1" dirty="0"/>
              <a:t>获胜，就接收玩家</a:t>
            </a:r>
            <a:r>
              <a:rPr lang="en-US" altLang="zh-CN" sz="1600" b="1" dirty="0"/>
              <a:t>1</a:t>
            </a:r>
            <a:r>
              <a:rPr lang="zh-CN" altLang="zh-CN" sz="1600" b="1" dirty="0"/>
              <a:t>的最后一次移动，然后打断这个循环</a:t>
            </a:r>
          </a:p>
          <a:p>
            <a:r>
              <a:rPr lang="en-US" altLang="zh-CN" sz="1600" b="1" dirty="0"/>
              <a:t> </a:t>
            </a:r>
            <a:endParaRPr lang="zh-CN" altLang="zh-CN" sz="1600" b="1" dirty="0"/>
          </a:p>
          <a:p>
            <a:r>
              <a:rPr lang="en-US" altLang="zh-CN" sz="1600" b="1" dirty="0"/>
              <a:t> </a:t>
            </a:r>
            <a:endParaRPr lang="zh-CN" altLang="zh-CN" sz="1600" b="1" dirty="0"/>
          </a:p>
          <a:p>
            <a:pPr lvl="0"/>
            <a:r>
              <a:rPr lang="zh-CN" altLang="zh-CN" sz="1600" b="1" dirty="0"/>
              <a:t>如果状态为</a:t>
            </a:r>
            <a:r>
              <a:rPr lang="en-US" altLang="zh-CN" sz="1600" b="1" dirty="0"/>
              <a:t>DRAW</a:t>
            </a:r>
            <a:r>
              <a:rPr lang="zh-CN" altLang="zh-CN" sz="1600" b="1" dirty="0"/>
              <a:t>，显示游戏结束，并接收玩家</a:t>
            </a:r>
            <a:r>
              <a:rPr lang="en-US" altLang="zh-CN" sz="1600" b="1" dirty="0"/>
              <a:t>1</a:t>
            </a:r>
            <a:r>
              <a:rPr lang="zh-CN" altLang="zh-CN" sz="1600" b="1" dirty="0"/>
              <a:t>的最后一次移动，然后打断这个循环。、</a:t>
            </a:r>
          </a:p>
          <a:p>
            <a:r>
              <a:rPr lang="en-US" altLang="zh-CN" sz="1600" b="1" dirty="0"/>
              <a:t> </a:t>
            </a:r>
            <a:endParaRPr lang="zh-CN" altLang="zh-CN" sz="1600" b="1" dirty="0"/>
          </a:p>
          <a:p>
            <a:r>
              <a:rPr lang="en-US" altLang="zh-CN" sz="1600" b="1" dirty="0"/>
              <a:t> </a:t>
            </a:r>
            <a:endParaRPr lang="zh-CN" altLang="zh-CN" sz="1600" b="1" dirty="0"/>
          </a:p>
          <a:p>
            <a:pPr lvl="0"/>
            <a:r>
              <a:rPr lang="zh-CN" altLang="zh-CN" sz="1600" b="1" dirty="0"/>
              <a:t>如果状态为</a:t>
            </a:r>
            <a:r>
              <a:rPr lang="en-US" altLang="zh-CN" sz="1600" b="1" dirty="0"/>
              <a:t>CONTINUE</a:t>
            </a:r>
            <a:r>
              <a:rPr lang="zh-CN" altLang="zh-CN" sz="1600" b="1" dirty="0"/>
              <a:t>，就接收玩家</a:t>
            </a:r>
            <a:r>
              <a:rPr lang="en-US" altLang="zh-CN" sz="1600" b="1" dirty="0"/>
              <a:t>1</a:t>
            </a:r>
            <a:r>
              <a:rPr lang="zh-CN" altLang="zh-CN" sz="1600" b="1" dirty="0"/>
              <a:t>的被选中的行列索引，</a:t>
            </a:r>
            <a:r>
              <a:rPr lang="zh-CN" altLang="zh-CN" sz="1600" b="1"/>
              <a:t>并标</a:t>
            </a:r>
            <a:r>
              <a:rPr lang="zh-CN" altLang="en-US" sz="1600" b="1"/>
              <a:t>记</a:t>
            </a:r>
            <a:r>
              <a:rPr lang="zh-CN" altLang="zh-CN" sz="1600" b="1"/>
              <a:t>该</a:t>
            </a:r>
            <a:r>
              <a:rPr lang="zh-CN" altLang="zh-CN" sz="1600" b="1" dirty="0"/>
              <a:t>单元格。</a:t>
            </a:r>
          </a:p>
          <a:p>
            <a:pPr lvl="0"/>
            <a:r>
              <a:rPr lang="zh-CN" altLang="zh-CN" sz="1600" b="1" dirty="0"/>
              <a:t>等待玩家去移动，并将选中的行列索引发送给服务器。</a:t>
            </a:r>
          </a:p>
          <a:p>
            <a:pPr algn="ctr"/>
            <a:endParaRPr lang="zh-CN" altLang="en-US" sz="1600" b="1" dirty="0"/>
          </a:p>
        </p:txBody>
      </p:sp>
      <p:sp>
        <p:nvSpPr>
          <p:cNvPr id="6" name="矩形 5"/>
          <p:cNvSpPr/>
          <p:nvPr/>
        </p:nvSpPr>
        <p:spPr>
          <a:xfrm>
            <a:off x="3059832" y="72008"/>
            <a:ext cx="2880320" cy="6669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1400" dirty="0"/>
              <a:t>服务器 </a:t>
            </a:r>
          </a:p>
          <a:p>
            <a:r>
              <a:rPr lang="en-US" altLang="zh-CN" sz="1400" dirty="0"/>
              <a:t>   </a:t>
            </a:r>
            <a:r>
              <a:rPr lang="zh-CN" altLang="zh-CN" sz="1400" dirty="0"/>
              <a:t>创建服务器套接字</a:t>
            </a:r>
          </a:p>
          <a:p>
            <a:r>
              <a:rPr lang="en-US" altLang="zh-CN" sz="1400" dirty="0"/>
              <a:t>   </a:t>
            </a:r>
            <a:r>
              <a:rPr lang="zh-CN" altLang="zh-CN" sz="1400" dirty="0"/>
              <a:t>接受来自第一个玩家的连接并且通知玩家谁是使用标记</a:t>
            </a:r>
            <a:r>
              <a:rPr lang="en-US" altLang="zh-CN" sz="1400" dirty="0"/>
              <a:t>X</a:t>
            </a:r>
            <a:r>
              <a:rPr lang="zh-CN" altLang="zh-CN" sz="1400" dirty="0"/>
              <a:t>的玩家</a:t>
            </a:r>
            <a:r>
              <a:rPr lang="en-US" altLang="zh-CN" sz="1400" dirty="0"/>
              <a:t>1</a:t>
            </a:r>
            <a:endParaRPr lang="zh-CN" altLang="zh-CN" sz="1400" dirty="0"/>
          </a:p>
          <a:p>
            <a:r>
              <a:rPr lang="en-US" altLang="zh-CN" sz="1400" dirty="0"/>
              <a:t>   </a:t>
            </a:r>
            <a:r>
              <a:rPr lang="zh-CN" altLang="zh-CN" sz="1400" dirty="0"/>
              <a:t>接受来自第二个玩家的</a:t>
            </a:r>
            <a:r>
              <a:rPr lang="zh-CN" altLang="en-US" sz="1400" dirty="0"/>
              <a:t>连接</a:t>
            </a:r>
            <a:r>
              <a:rPr lang="zh-CN" altLang="zh-CN" sz="1400" dirty="0"/>
              <a:t>并且通知</a:t>
            </a:r>
            <a:r>
              <a:rPr lang="zh-CN" altLang="en-US" sz="1400" dirty="0"/>
              <a:t>玩</a:t>
            </a:r>
            <a:r>
              <a:rPr lang="zh-CN" altLang="zh-CN" sz="1400" dirty="0"/>
              <a:t>家</a:t>
            </a:r>
            <a:r>
              <a:rPr lang="en-US" altLang="zh-CN" sz="1400" dirty="0"/>
              <a:t>1</a:t>
            </a:r>
            <a:r>
              <a:rPr lang="zh-CN" altLang="zh-CN" sz="1400" dirty="0"/>
              <a:t>谁是使用标记</a:t>
            </a:r>
            <a:r>
              <a:rPr lang="en-US" altLang="zh-CN" sz="1400" dirty="0"/>
              <a:t>O </a:t>
            </a:r>
            <a:r>
              <a:rPr lang="zh-CN" altLang="zh-CN" sz="1400" dirty="0"/>
              <a:t>的玩家</a:t>
            </a:r>
            <a:r>
              <a:rPr lang="en-US" altLang="zh-CN" sz="1400" dirty="0"/>
              <a:t>2</a:t>
            </a:r>
            <a:endParaRPr lang="zh-CN" altLang="zh-CN" sz="1400" dirty="0"/>
          </a:p>
          <a:p>
            <a:endParaRPr lang="en-US" altLang="zh-CN" sz="1400" dirty="0"/>
          </a:p>
          <a:p>
            <a:r>
              <a:rPr lang="en-US" altLang="zh-CN" sz="1400" dirty="0"/>
              <a:t>   </a:t>
            </a:r>
            <a:r>
              <a:rPr lang="zh-CN" altLang="zh-CN" sz="1400" dirty="0"/>
              <a:t>启动会话线程</a:t>
            </a:r>
          </a:p>
          <a:p>
            <a:pPr lvl="0"/>
            <a:endParaRPr lang="en-US" altLang="zh-CN" sz="1400" dirty="0"/>
          </a:p>
          <a:p>
            <a:pPr lvl="0"/>
            <a:r>
              <a:rPr lang="en-US" altLang="zh-CN" sz="1400" dirty="0"/>
              <a:t>1.</a:t>
            </a:r>
            <a:r>
              <a:rPr lang="zh-CN" altLang="zh-CN" sz="1400" dirty="0"/>
              <a:t>通知玩家</a:t>
            </a:r>
            <a:r>
              <a:rPr lang="en-US" altLang="zh-CN" sz="1400" dirty="0"/>
              <a:t>1</a:t>
            </a:r>
            <a:r>
              <a:rPr lang="zh-CN" altLang="zh-CN" sz="1400" dirty="0"/>
              <a:t>开始</a:t>
            </a:r>
          </a:p>
          <a:p>
            <a:pPr lvl="0"/>
            <a:r>
              <a:rPr lang="en-US" altLang="zh-CN" sz="1400" dirty="0"/>
              <a:t>2.</a:t>
            </a:r>
            <a:r>
              <a:rPr lang="zh-CN" altLang="zh-CN" sz="1400" dirty="0"/>
              <a:t>接收来自玩家</a:t>
            </a:r>
            <a:r>
              <a:rPr lang="en-US" altLang="zh-CN" sz="1400" dirty="0"/>
              <a:t>1</a:t>
            </a:r>
            <a:r>
              <a:rPr lang="zh-CN" altLang="zh-CN" sz="1400" dirty="0"/>
              <a:t>的被选中单元格的行列索引</a:t>
            </a:r>
          </a:p>
          <a:p>
            <a:pPr lvl="0"/>
            <a:r>
              <a:rPr lang="en-US" altLang="zh-CN" sz="1400" dirty="0"/>
              <a:t>3.</a:t>
            </a:r>
            <a:r>
              <a:rPr lang="zh-CN" altLang="zh-CN" sz="1400" dirty="0"/>
              <a:t>确定游戏状态（</a:t>
            </a:r>
            <a:r>
              <a:rPr lang="en-US" altLang="zh-CN" sz="1400" dirty="0"/>
              <a:t>WIN,DRAW,CONTINUE</a:t>
            </a:r>
            <a:r>
              <a:rPr lang="zh-CN" altLang="zh-CN" sz="1400" dirty="0"/>
              <a:t>）。如果玩家</a:t>
            </a:r>
            <a:r>
              <a:rPr lang="en-US" altLang="zh-CN" sz="1400" dirty="0"/>
              <a:t>1</a:t>
            </a:r>
            <a:r>
              <a:rPr lang="zh-CN" altLang="zh-CN" sz="1400" dirty="0"/>
              <a:t>获胜或者平局，就发送状态（</a:t>
            </a:r>
            <a:r>
              <a:rPr lang="en-US" altLang="zh-CN" sz="1400" dirty="0"/>
              <a:t>PLAYER1_WON, DRAW</a:t>
            </a:r>
            <a:r>
              <a:rPr lang="zh-CN" altLang="zh-CN" sz="1400" dirty="0"/>
              <a:t>）给两个玩家，然后发送玩家</a:t>
            </a:r>
            <a:r>
              <a:rPr lang="en-US" altLang="zh-CN" sz="1400" dirty="0"/>
              <a:t>1</a:t>
            </a:r>
            <a:r>
              <a:rPr lang="zh-CN" altLang="zh-CN" sz="1400" dirty="0"/>
              <a:t>的移动给玩家</a:t>
            </a:r>
            <a:r>
              <a:rPr lang="en-US" altLang="zh-CN" sz="1400" dirty="0"/>
              <a:t>2.</a:t>
            </a:r>
            <a:r>
              <a:rPr lang="zh-CN" altLang="zh-CN" sz="1400" dirty="0"/>
              <a:t>提出。</a:t>
            </a:r>
          </a:p>
          <a:p>
            <a:pPr lvl="0"/>
            <a:r>
              <a:rPr lang="en-US" altLang="zh-CN" sz="1400" dirty="0"/>
              <a:t>4. </a:t>
            </a:r>
            <a:r>
              <a:rPr lang="zh-CN" altLang="zh-CN" sz="1400" dirty="0"/>
              <a:t>如果状态为</a:t>
            </a:r>
            <a:r>
              <a:rPr lang="en-US" altLang="zh-CN" sz="1400" dirty="0"/>
              <a:t>CONTINUE,</a:t>
            </a:r>
            <a:r>
              <a:rPr lang="zh-CN" altLang="zh-CN" sz="1400" dirty="0"/>
              <a:t>则通知玩家</a:t>
            </a:r>
            <a:r>
              <a:rPr lang="en-US" altLang="zh-CN" sz="1400" dirty="0"/>
              <a:t>2</a:t>
            </a:r>
            <a:r>
              <a:rPr lang="zh-CN" altLang="zh-CN" sz="1400" dirty="0"/>
              <a:t>进行行动，然后发送玩家</a:t>
            </a:r>
            <a:r>
              <a:rPr lang="en-US" altLang="zh-CN" sz="1400" dirty="0"/>
              <a:t>1</a:t>
            </a:r>
            <a:r>
              <a:rPr lang="zh-CN" altLang="zh-CN" sz="1400" dirty="0"/>
              <a:t>新选中的行列索引给玩家</a:t>
            </a:r>
            <a:r>
              <a:rPr lang="en-US" altLang="zh-CN" sz="1400" dirty="0"/>
              <a:t>2</a:t>
            </a:r>
            <a:endParaRPr lang="zh-CN" altLang="zh-CN" sz="1400" dirty="0"/>
          </a:p>
          <a:p>
            <a:pPr lvl="0"/>
            <a:r>
              <a:rPr lang="en-US" altLang="zh-CN" sz="1400" dirty="0"/>
              <a:t>5.</a:t>
            </a:r>
            <a:r>
              <a:rPr lang="zh-CN" altLang="zh-CN" sz="1400" dirty="0"/>
              <a:t>接收来自玩家</a:t>
            </a:r>
            <a:r>
              <a:rPr lang="en-US" altLang="zh-CN" sz="1400" dirty="0"/>
              <a:t>2</a:t>
            </a:r>
            <a:r>
              <a:rPr lang="zh-CN" altLang="zh-CN" sz="1400" dirty="0"/>
              <a:t>的被选中单元格的行列索引</a:t>
            </a:r>
          </a:p>
          <a:p>
            <a:pPr lvl="0"/>
            <a:r>
              <a:rPr lang="en-US" altLang="zh-CN" sz="1400" dirty="0"/>
              <a:t>6.</a:t>
            </a:r>
            <a:r>
              <a:rPr lang="zh-CN" altLang="zh-CN" sz="1400" dirty="0"/>
              <a:t>如果玩家</a:t>
            </a:r>
            <a:r>
              <a:rPr lang="en-US" altLang="zh-CN" sz="1400" dirty="0"/>
              <a:t>2</a:t>
            </a:r>
            <a:r>
              <a:rPr lang="zh-CN" altLang="zh-CN" sz="1400" dirty="0"/>
              <a:t>获胜，就发送状态（</a:t>
            </a:r>
            <a:r>
              <a:rPr lang="en-US" altLang="zh-CN" sz="1400" dirty="0"/>
              <a:t>PLAYER2_WON</a:t>
            </a:r>
            <a:r>
              <a:rPr lang="zh-CN" altLang="zh-CN" sz="1400" dirty="0"/>
              <a:t>）给两个玩家，然后发送玩家２的移动给玩家１，退出。</a:t>
            </a:r>
          </a:p>
          <a:p>
            <a:pPr lvl="0"/>
            <a:r>
              <a:rPr lang="en-US" altLang="zh-CN" sz="1400" dirty="0"/>
              <a:t>7.</a:t>
            </a:r>
            <a:r>
              <a:rPr lang="zh-CN" altLang="zh-CN" sz="1400" dirty="0"/>
              <a:t>如果状态为</a:t>
            </a:r>
            <a:r>
              <a:rPr lang="en-US" altLang="zh-CN" sz="1400" dirty="0"/>
              <a:t>CONTINUE,</a:t>
            </a:r>
            <a:r>
              <a:rPr lang="zh-CN" altLang="zh-CN" sz="1400" dirty="0"/>
              <a:t>则发送这个状态，然后发送玩家２新选中的行列索引给玩家１</a:t>
            </a:r>
          </a:p>
          <a:p>
            <a:pPr algn="ctr"/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675921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基于包的通信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不可靠的连接</a:t>
            </a:r>
            <a:endParaRPr lang="en-US" altLang="zh-CN" dirty="0"/>
          </a:p>
          <a:p>
            <a:r>
              <a:rPr lang="en-US" altLang="zh-CN" dirty="0"/>
              <a:t>DatagramSocket</a:t>
            </a:r>
            <a:r>
              <a:rPr lang="zh-CN" altLang="en-US" dirty="0"/>
              <a:t>类</a:t>
            </a:r>
            <a:endParaRPr lang="en-US" altLang="zh-CN" dirty="0"/>
          </a:p>
          <a:p>
            <a:r>
              <a:rPr lang="en-US" altLang="zh-CN" dirty="0"/>
              <a:t>DatagramPacket</a:t>
            </a:r>
            <a:r>
              <a:rPr lang="zh-CN" altLang="en-US" dirty="0"/>
              <a:t>类</a:t>
            </a:r>
            <a:endParaRPr lang="en-US" altLang="zh-CN" dirty="0"/>
          </a:p>
          <a:p>
            <a:r>
              <a:rPr lang="zh-CN" altLang="en-US" dirty="0"/>
              <a:t>例子：</a:t>
            </a:r>
            <a:endParaRPr lang="en-US" altLang="zh-CN" dirty="0"/>
          </a:p>
          <a:p>
            <a:pPr lvl="1"/>
            <a:r>
              <a:rPr lang="en-US" altLang="zh-CN" dirty="0" err="1"/>
              <a:t>DatagramClient.java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DatagramServer.java</a:t>
            </a:r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CE81D2-1B00-964E-95B4-19A847E14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DatagramPacket</a:t>
            </a:r>
            <a:r>
              <a:rPr kumimoji="1" lang="zh-CN" altLang="en-US" dirty="0"/>
              <a:t>类</a:t>
            </a:r>
          </a:p>
        </p:txBody>
      </p:sp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AB7E6669-A343-DF4B-BE41-66F92C9060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9048759"/>
              </p:ext>
            </p:extLst>
          </p:nvPr>
        </p:nvGraphicFramePr>
        <p:xfrm>
          <a:off x="304800" y="1700808"/>
          <a:ext cx="8382000" cy="371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图片" r:id="rId3" imgW="27597100" imgH="12230100" progId="Word.Picture.8">
                  <p:embed/>
                </p:oleObj>
              </mc:Choice>
              <mc:Fallback>
                <p:oleObj name="图片" r:id="rId3" imgW="27597100" imgH="12230100" progId="Word.Picture.8">
                  <p:embed/>
                  <p:pic>
                    <p:nvPicPr>
                      <p:cNvPr id="292870" name="Object 6">
                        <a:extLst>
                          <a:ext uri="{FF2B5EF4-FFF2-40B4-BE49-F238E27FC236}">
                            <a16:creationId xmlns:a16="http://schemas.microsoft.com/office/drawing/2014/main" id="{01449F13-B0E2-CC44-BC33-AEFB82739D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700808"/>
                        <a:ext cx="8382000" cy="3713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73887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C4D9EFBC-3D03-234C-9F52-38430015DB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8D81C0-D28E-934E-BD58-54609AEFC195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293890" name="Rectangle 2">
            <a:extLst>
              <a:ext uri="{FF2B5EF4-FFF2-40B4-BE49-F238E27FC236}">
                <a16:creationId xmlns:a16="http://schemas.microsoft.com/office/drawing/2014/main" id="{00770297-CB6F-8441-8847-AB4A9AEE80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686800" cy="5334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zh-CN" sz="4000" dirty="0" err="1">
                <a:ea typeface="宋体" panose="02010600030101010101" pitchFamily="2" charset="-122"/>
                <a:cs typeface="Times New Roman" panose="02020603050405020304" pitchFamily="18" charset="0"/>
              </a:rPr>
              <a:t>DatagramSocket</a:t>
            </a:r>
            <a:r>
              <a:rPr lang="en-US" altLang="zh-CN" sz="4000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4000" dirty="0">
                <a:ea typeface="宋体" panose="02010600030101010101" pitchFamily="2" charset="-122"/>
                <a:cs typeface="Times New Roman" panose="02020603050405020304" pitchFamily="18" charset="0"/>
              </a:rPr>
              <a:t>类</a:t>
            </a:r>
            <a:endParaRPr lang="en-US" altLang="zh-CN" sz="40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3891" name="Rectangle 3">
            <a:extLst>
              <a:ext uri="{FF2B5EF4-FFF2-40B4-BE49-F238E27FC236}">
                <a16:creationId xmlns:a16="http://schemas.microsoft.com/office/drawing/2014/main" id="{7738FA5C-8F86-C742-828E-A8DE61534E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914400"/>
            <a:ext cx="7162800" cy="5334000"/>
          </a:xfrm>
          <a:noFill/>
          <a:ln/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  <a:cs typeface="Courier New" panose="02070309020205020404" pitchFamily="49" charset="0"/>
              </a:rPr>
              <a:t>The </a:t>
            </a:r>
            <a:r>
              <a:rPr lang="en-US" altLang="zh-CN" sz="2000" u="sng" dirty="0" err="1">
                <a:ea typeface="宋体" panose="02010600030101010101" pitchFamily="2" charset="-122"/>
                <a:cs typeface="Courier New" panose="02070309020205020404" pitchFamily="49" charset="0"/>
              </a:rPr>
              <a:t>DatagramSocket</a:t>
            </a:r>
            <a:r>
              <a:rPr lang="en-US" altLang="zh-CN" sz="2000" dirty="0">
                <a:ea typeface="宋体" panose="02010600030101010101" pitchFamily="2" charset="-122"/>
                <a:cs typeface="Courier New" panose="02070309020205020404" pitchFamily="49" charset="0"/>
              </a:rPr>
              <a:t> class represents a socket for sending and receiving datagram packets. A datagram socket is the sending or receiving point for a packet delivery service. Each packet sent or received on a datagram socket is individually addressed and routed. Multiple packets sent from one machine to another may be routed differently, and may arrive in any order. </a:t>
            </a:r>
          </a:p>
          <a:p>
            <a:pPr marL="0" indent="0">
              <a:buFont typeface="Monotype Sorts" pitchFamily="2" charset="2"/>
              <a:buNone/>
            </a:pPr>
            <a:endParaRPr lang="en-US" altLang="zh-CN" sz="2000" dirty="0"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buFont typeface="Monotype Sorts" pitchFamily="2" charset="2"/>
              <a:buNone/>
            </a:pPr>
            <a:endParaRPr lang="en-US" altLang="zh-CN" sz="2000" dirty="0"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buFont typeface="Monotype Sorts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  <a:cs typeface="Courier New" panose="02070309020205020404" pitchFamily="49" charset="0"/>
              </a:rPr>
              <a:t>To create a server </a:t>
            </a:r>
            <a:r>
              <a:rPr lang="en-US" altLang="zh-CN" sz="2000" u="sng" dirty="0" err="1">
                <a:ea typeface="宋体" panose="02010600030101010101" pitchFamily="2" charset="-122"/>
                <a:cs typeface="Courier New" panose="02070309020205020404" pitchFamily="49" charset="0"/>
              </a:rPr>
              <a:t>DatagramSocket</a:t>
            </a:r>
            <a:r>
              <a:rPr lang="en-US" altLang="zh-CN" sz="2000" dirty="0">
                <a:ea typeface="宋体" panose="02010600030101010101" pitchFamily="2" charset="-122"/>
                <a:cs typeface="Courier New" panose="02070309020205020404" pitchFamily="49" charset="0"/>
              </a:rPr>
              <a:t>, use the constructor </a:t>
            </a:r>
            <a:r>
              <a:rPr lang="en-US" altLang="zh-CN" sz="2000" u="sng" dirty="0" err="1">
                <a:ea typeface="宋体" panose="02010600030101010101" pitchFamily="2" charset="-122"/>
                <a:cs typeface="Courier New" panose="02070309020205020404" pitchFamily="49" charset="0"/>
              </a:rPr>
              <a:t>DatagramSocket</a:t>
            </a:r>
            <a:r>
              <a:rPr lang="en-US" altLang="zh-CN" sz="2000" u="sng" dirty="0">
                <a:ea typeface="宋体" panose="02010600030101010101" pitchFamily="2" charset="-122"/>
                <a:cs typeface="Courier New" panose="02070309020205020404" pitchFamily="49" charset="0"/>
              </a:rPr>
              <a:t>(int port)</a:t>
            </a:r>
            <a:r>
              <a:rPr lang="en-US" altLang="zh-CN" sz="2000" dirty="0">
                <a:ea typeface="宋体" panose="02010600030101010101" pitchFamily="2" charset="-122"/>
                <a:cs typeface="Courier New" panose="02070309020205020404" pitchFamily="49" charset="0"/>
              </a:rPr>
              <a:t>, which binds the socket with the specified port on the local host machine.</a:t>
            </a:r>
          </a:p>
          <a:p>
            <a:pPr marL="0" indent="0">
              <a:buFont typeface="Monotype Sorts" pitchFamily="2" charset="2"/>
              <a:buNone/>
            </a:pPr>
            <a:endParaRPr lang="en-US" altLang="zh-CN" sz="20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Monotype Sorts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To create a client </a:t>
            </a:r>
            <a:r>
              <a:rPr lang="en-US" altLang="zh-CN" sz="2000" u="sng" dirty="0" err="1">
                <a:ea typeface="宋体" panose="02010600030101010101" pitchFamily="2" charset="-122"/>
                <a:cs typeface="Courier New" panose="02070309020205020404" pitchFamily="49" charset="0"/>
              </a:rPr>
              <a:t>DatagramSocket</a:t>
            </a: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, use the constructor </a:t>
            </a:r>
            <a:r>
              <a:rPr lang="en-US" altLang="zh-CN" sz="2000" u="sng" dirty="0" err="1">
                <a:ea typeface="宋体" panose="02010600030101010101" pitchFamily="2" charset="-122"/>
                <a:cs typeface="Courier New" panose="02070309020205020404" pitchFamily="49" charset="0"/>
              </a:rPr>
              <a:t>DatagramSocket</a:t>
            </a:r>
            <a:r>
              <a:rPr lang="en-US" altLang="zh-CN" sz="2000" u="sng" dirty="0"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, which binds the socket with any available port on the local host machine.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293892" name="Rectangle 4">
            <a:extLst>
              <a:ext uri="{FF2B5EF4-FFF2-40B4-BE49-F238E27FC236}">
                <a16:creationId xmlns:a16="http://schemas.microsoft.com/office/drawing/2014/main" id="{D1E8841B-8158-4B4C-BFE3-925175970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23812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93893" name="Rectangle 5">
            <a:extLst>
              <a:ext uri="{FF2B5EF4-FFF2-40B4-BE49-F238E27FC236}">
                <a16:creationId xmlns:a16="http://schemas.microsoft.com/office/drawing/2014/main" id="{782293B2-E47E-0B42-B00F-5940B9E8A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713" y="24098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93895" name="Rectangle 7">
            <a:extLst>
              <a:ext uri="{FF2B5EF4-FFF2-40B4-BE49-F238E27FC236}">
                <a16:creationId xmlns:a16="http://schemas.microsoft.com/office/drawing/2014/main" id="{B9D417DE-4EDD-C041-BC32-36CEC6017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990600"/>
            <a:ext cx="17526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solidFill>
                  <a:srgbClr val="FF9900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DatagramSocket</a:t>
            </a:r>
            <a:r>
              <a:rPr lang="en-US" altLang="zh-CN" sz="1800"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1800"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1800"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1800"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1800"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1800"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1800"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1800"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1800"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solidFill>
                  <a:srgbClr val="FF9900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Create a server DatagramSocket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1800">
              <a:solidFill>
                <a:srgbClr val="FF9900"/>
              </a:solidFill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1800">
              <a:solidFill>
                <a:srgbClr val="FF9900"/>
              </a:solidFill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1800">
                <a:solidFill>
                  <a:srgbClr val="FF9900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C</a:t>
            </a:r>
            <a:r>
              <a:rPr lang="en-US" altLang="zh-CN" sz="1800">
                <a:solidFill>
                  <a:srgbClr val="FF99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reate a client </a:t>
            </a:r>
            <a:r>
              <a:rPr lang="en-US" altLang="zh-CN" sz="1800">
                <a:solidFill>
                  <a:srgbClr val="FF9900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DatagramSocket</a:t>
            </a:r>
          </a:p>
        </p:txBody>
      </p:sp>
    </p:spTree>
    <p:extLst>
      <p:ext uri="{BB962C8B-B14F-4D97-AF65-F5344CB8AC3E}">
        <p14:creationId xmlns:p14="http://schemas.microsoft.com/office/powerpoint/2010/main" val="16975818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760C593B-B7D0-6243-AAD5-DD134132F6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F34790-A738-C641-93F2-890EC66E00E4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294914" name="Rectangle 2">
            <a:extLst>
              <a:ext uri="{FF2B5EF4-FFF2-40B4-BE49-F238E27FC236}">
                <a16:creationId xmlns:a16="http://schemas.microsoft.com/office/drawing/2014/main" id="{635B6B55-A2A7-4743-A5F7-1BE6689CEF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686800" cy="990600"/>
          </a:xfrm>
          <a:noFill/>
          <a:ln/>
        </p:spPr>
        <p:txBody>
          <a:bodyPr/>
          <a:lstStyle/>
          <a:p>
            <a:r>
              <a:rPr lang="en-US" altLang="zh-CN" sz="4000">
                <a:ea typeface="宋体" panose="02010600030101010101" pitchFamily="2" charset="-122"/>
                <a:cs typeface="Times New Roman" panose="02020603050405020304" pitchFamily="18" charset="0"/>
              </a:rPr>
              <a:t>Sending and Receiving a DatagramSocket </a:t>
            </a:r>
          </a:p>
        </p:txBody>
      </p:sp>
      <p:sp>
        <p:nvSpPr>
          <p:cNvPr id="294915" name="Rectangle 3">
            <a:extLst>
              <a:ext uri="{FF2B5EF4-FFF2-40B4-BE49-F238E27FC236}">
                <a16:creationId xmlns:a16="http://schemas.microsoft.com/office/drawing/2014/main" id="{CF398621-38CD-344A-A83C-9F65408DCE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1524000"/>
            <a:ext cx="7391400" cy="4876800"/>
          </a:xfrm>
          <a:noFill/>
          <a:ln/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zh-CN" sz="2400">
                <a:ea typeface="宋体" panose="02010600030101010101" pitchFamily="2" charset="-122"/>
                <a:cs typeface="Courier New" panose="02070309020205020404" pitchFamily="49" charset="0"/>
              </a:rPr>
              <a:t>To send data, you need to create a packet, fill in the contents, specify the Internet address and port number for the receiver, and invoke the </a:t>
            </a:r>
            <a:r>
              <a:rPr lang="en-US" altLang="zh-CN" sz="2400" u="sng">
                <a:ea typeface="宋体" panose="02010600030101010101" pitchFamily="2" charset="-122"/>
                <a:cs typeface="Courier New" panose="02070309020205020404" pitchFamily="49" charset="0"/>
              </a:rPr>
              <a:t>send(packet)</a:t>
            </a:r>
            <a:r>
              <a:rPr lang="en-US" altLang="zh-CN" sz="2400">
                <a:ea typeface="宋体" panose="02010600030101010101" pitchFamily="2" charset="-122"/>
                <a:cs typeface="Courier New" panose="02070309020205020404" pitchFamily="49" charset="0"/>
              </a:rPr>
              <a:t> method on a </a:t>
            </a:r>
            <a:r>
              <a:rPr lang="en-US" altLang="zh-CN" sz="2400" u="sng">
                <a:ea typeface="宋体" panose="02010600030101010101" pitchFamily="2" charset="-122"/>
                <a:cs typeface="Courier New" panose="02070309020205020404" pitchFamily="49" charset="0"/>
              </a:rPr>
              <a:t>DatagramSocket</a:t>
            </a:r>
            <a:r>
              <a:rPr lang="en-US" altLang="zh-CN" sz="2400">
                <a:ea typeface="宋体" panose="02010600030101010101" pitchFamily="2" charset="-122"/>
                <a:cs typeface="Courier New" panose="02070309020205020404" pitchFamily="49" charset="0"/>
              </a:rPr>
              <a:t>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Monotype Sorts" pitchFamily="2" charset="2"/>
              <a:buNone/>
            </a:pPr>
            <a:endParaRPr lang="en-US" altLang="zh-CN" sz="2400"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indent="0">
              <a:buFont typeface="Monotype Sorts" pitchFamily="2" charset="2"/>
              <a:buNone/>
            </a:pPr>
            <a:r>
              <a:rPr lang="en-US" altLang="zh-CN" sz="2400">
                <a:ea typeface="宋体" panose="02010600030101010101" pitchFamily="2" charset="-122"/>
                <a:cs typeface="Courier New" panose="02070309020205020404" pitchFamily="49" charset="0"/>
              </a:rPr>
              <a:t>To receive data, create an empty packet and invoke the </a:t>
            </a:r>
            <a:r>
              <a:rPr lang="en-US" altLang="zh-CN" sz="2400" u="sng">
                <a:ea typeface="宋体" panose="02010600030101010101" pitchFamily="2" charset="-122"/>
                <a:cs typeface="Courier New" panose="02070309020205020404" pitchFamily="49" charset="0"/>
              </a:rPr>
              <a:t>receive(packet)</a:t>
            </a:r>
            <a:r>
              <a:rPr lang="en-US" altLang="zh-CN" sz="2400">
                <a:ea typeface="宋体" panose="02010600030101010101" pitchFamily="2" charset="-122"/>
                <a:cs typeface="Courier New" panose="02070309020205020404" pitchFamily="49" charset="0"/>
              </a:rPr>
              <a:t> method on a </a:t>
            </a:r>
            <a:r>
              <a:rPr lang="en-US" altLang="zh-CN" sz="2400" u="sng">
                <a:ea typeface="宋体" panose="02010600030101010101" pitchFamily="2" charset="-122"/>
                <a:cs typeface="Courier New" panose="02070309020205020404" pitchFamily="49" charset="0"/>
              </a:rPr>
              <a:t>DatagramSocket</a:t>
            </a:r>
            <a:r>
              <a:rPr lang="en-US" altLang="zh-CN" sz="2400">
                <a:ea typeface="宋体" panose="02010600030101010101" pitchFamily="2" charset="-122"/>
                <a:cs typeface="Courier New" panose="02070309020205020404" pitchFamily="49" charset="0"/>
              </a:rPr>
              <a:t>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Monotype Sorts" pitchFamily="2" charset="2"/>
              <a:buNone/>
            </a:pP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4916" name="Rectangle 4">
            <a:extLst>
              <a:ext uri="{FF2B5EF4-FFF2-40B4-BE49-F238E27FC236}">
                <a16:creationId xmlns:a16="http://schemas.microsoft.com/office/drawing/2014/main" id="{480435E2-FBAA-DF4E-A4BC-B887DB373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23812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94917" name="Rectangle 5">
            <a:extLst>
              <a:ext uri="{FF2B5EF4-FFF2-40B4-BE49-F238E27FC236}">
                <a16:creationId xmlns:a16="http://schemas.microsoft.com/office/drawing/2014/main" id="{B6B4250E-7A15-A448-A798-FB585EDD4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713" y="24098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94918" name="Rectangle 6">
            <a:extLst>
              <a:ext uri="{FF2B5EF4-FFF2-40B4-BE49-F238E27FC236}">
                <a16:creationId xmlns:a16="http://schemas.microsoft.com/office/drawing/2014/main" id="{FD57818F-A668-AC4E-89F4-BA4641850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0"/>
            <a:ext cx="12954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solidFill>
                  <a:srgbClr val="FF9900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Sending</a:t>
            </a:r>
            <a:r>
              <a:rPr lang="en-US" altLang="zh-CN" sz="2000"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2000"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2000"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2000"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2000"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CN" sz="2000"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000">
                <a:solidFill>
                  <a:srgbClr val="FF9900"/>
                </a:solidFill>
                <a:ea typeface="宋体" panose="02010600030101010101" pitchFamily="2" charset="-122"/>
                <a:cs typeface="Courier New" panose="02070309020205020404" pitchFamily="49" charset="0"/>
              </a:rPr>
              <a:t>Receiving</a:t>
            </a:r>
          </a:p>
        </p:txBody>
      </p:sp>
    </p:spTree>
    <p:extLst>
      <p:ext uri="{BB962C8B-B14F-4D97-AF65-F5344CB8AC3E}">
        <p14:creationId xmlns:p14="http://schemas.microsoft.com/office/powerpoint/2010/main" val="34367734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D1D1502D-7F55-334E-8063-5F04FAA688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BAA303-D341-2A4F-9737-ECD3064BD7CB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295938" name="Rectangle 2">
            <a:extLst>
              <a:ext uri="{FF2B5EF4-FFF2-40B4-BE49-F238E27FC236}">
                <a16:creationId xmlns:a16="http://schemas.microsoft.com/office/drawing/2014/main" id="{3D02BAC1-072F-F34E-9B5C-E05CBDB37F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686800" cy="5334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zh-CN" sz="4000">
                <a:ea typeface="宋体" panose="02010600030101010101" pitchFamily="2" charset="-122"/>
                <a:cs typeface="Times New Roman" panose="02020603050405020304" pitchFamily="18" charset="0"/>
              </a:rPr>
              <a:t>Datagram Programming </a:t>
            </a:r>
          </a:p>
        </p:txBody>
      </p:sp>
      <p:sp>
        <p:nvSpPr>
          <p:cNvPr id="295939" name="Rectangle 3">
            <a:extLst>
              <a:ext uri="{FF2B5EF4-FFF2-40B4-BE49-F238E27FC236}">
                <a16:creationId xmlns:a16="http://schemas.microsoft.com/office/drawing/2014/main" id="{030E42CC-CCD2-3545-84DA-935E379392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763000" cy="1600200"/>
          </a:xfrm>
          <a:noFill/>
          <a:ln/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zh-CN" sz="2400">
                <a:ea typeface="宋体" panose="02010600030101010101" pitchFamily="2" charset="-122"/>
                <a:cs typeface="Courier New" panose="02070309020205020404" pitchFamily="49" charset="0"/>
              </a:rPr>
              <a:t>Datagram programming is different from stream socket programming in the sense that there is no concept of a </a:t>
            </a:r>
            <a:r>
              <a:rPr lang="en-US" altLang="zh-CN" sz="2400" u="sng">
                <a:ea typeface="宋体" panose="02010600030101010101" pitchFamily="2" charset="-122"/>
                <a:cs typeface="Courier New" panose="02070309020205020404" pitchFamily="49" charset="0"/>
              </a:rPr>
              <a:t>ServerSocket</a:t>
            </a:r>
            <a:r>
              <a:rPr lang="en-US" altLang="zh-CN" sz="2400">
                <a:ea typeface="宋体" panose="02010600030101010101" pitchFamily="2" charset="-122"/>
                <a:cs typeface="Courier New" panose="02070309020205020404" pitchFamily="49" charset="0"/>
              </a:rPr>
              <a:t> for datagrams. Both client and server use </a:t>
            </a:r>
            <a:r>
              <a:rPr lang="en-US" altLang="zh-CN" sz="2400" u="sng">
                <a:ea typeface="宋体" panose="02010600030101010101" pitchFamily="2" charset="-122"/>
                <a:cs typeface="Courier New" panose="02070309020205020404" pitchFamily="49" charset="0"/>
              </a:rPr>
              <a:t>DatagramSocket</a:t>
            </a:r>
            <a:r>
              <a:rPr lang="en-US" altLang="zh-CN" sz="2400">
                <a:ea typeface="宋体" panose="02010600030101010101" pitchFamily="2" charset="-122"/>
                <a:cs typeface="Courier New" panose="02070309020205020404" pitchFamily="49" charset="0"/>
              </a:rPr>
              <a:t> to send and receive packets.</a:t>
            </a:r>
            <a:endParaRPr lang="en-US" altLang="zh-CN" sz="28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5941" name="Rectangle 5">
            <a:extLst>
              <a:ext uri="{FF2B5EF4-FFF2-40B4-BE49-F238E27FC236}">
                <a16:creationId xmlns:a16="http://schemas.microsoft.com/office/drawing/2014/main" id="{D5859508-5277-934A-B69E-56BA662F3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1938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295940" name="Object 4">
            <a:extLst>
              <a:ext uri="{FF2B5EF4-FFF2-40B4-BE49-F238E27FC236}">
                <a16:creationId xmlns:a16="http://schemas.microsoft.com/office/drawing/2014/main" id="{1B43F1AA-721B-684B-B839-3D871A68D2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2286000"/>
          <a:ext cx="7315200" cy="424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" r:id="rId3" imgW="30861000" imgH="17856200" progId="Word.Picture.8">
                  <p:embed/>
                </p:oleObj>
              </mc:Choice>
              <mc:Fallback>
                <p:oleObj r:id="rId3" imgW="30861000" imgH="17856200" progId="Word.Picture.8">
                  <p:embed/>
                  <p:pic>
                    <p:nvPicPr>
                      <p:cNvPr id="295940" name="Object 4">
                        <a:extLst>
                          <a:ext uri="{FF2B5EF4-FFF2-40B4-BE49-F238E27FC236}">
                            <a16:creationId xmlns:a16="http://schemas.microsoft.com/office/drawing/2014/main" id="{1B43F1AA-721B-684B-B839-3D871A68D2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286000"/>
                        <a:ext cx="7315200" cy="424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5942" name="Rectangle 6">
            <a:extLst>
              <a:ext uri="{FF2B5EF4-FFF2-40B4-BE49-F238E27FC236}">
                <a16:creationId xmlns:a16="http://schemas.microsoft.com/office/drawing/2014/main" id="{9EFA8A1F-A7BB-444F-8D5E-99DEB3B0F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514600"/>
            <a:ext cx="1371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zh-CN" sz="1800" dirty="0">
                <a:ea typeface="宋体" panose="02010600030101010101" pitchFamily="2" charset="-122"/>
                <a:cs typeface="Courier New" panose="02070309020205020404" pitchFamily="49" charset="0"/>
              </a:rPr>
              <a:t>Designate one a server</a:t>
            </a:r>
            <a:endParaRPr lang="en-US" altLang="zh-CN" sz="20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5943" name="Line 7">
            <a:extLst>
              <a:ext uri="{FF2B5EF4-FFF2-40B4-BE49-F238E27FC236}">
                <a16:creationId xmlns:a16="http://schemas.microsoft.com/office/drawing/2014/main" id="{F3817129-4ED9-4547-A2E5-64E4BA56B2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2743200"/>
            <a:ext cx="5334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0271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4">
            <a:extLst>
              <a:ext uri="{FF2B5EF4-FFF2-40B4-BE49-F238E27FC236}">
                <a16:creationId xmlns:a16="http://schemas.microsoft.com/office/drawing/2014/main" id="{C85E4AF9-44D6-FF41-9298-BD8C27AF1E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25CEE5-5053-8C4F-B1B7-5D9243D993CA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296962" name="Rectangle 2">
            <a:extLst>
              <a:ext uri="{FF2B5EF4-FFF2-40B4-BE49-F238E27FC236}">
                <a16:creationId xmlns:a16="http://schemas.microsoft.com/office/drawing/2014/main" id="{450B61AE-9FF1-DF42-B433-C035C1BC54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686800" cy="609600"/>
          </a:xfrm>
          <a:noFill/>
          <a:ln/>
        </p:spPr>
        <p:txBody>
          <a:bodyPr>
            <a:normAutofit fontScale="90000"/>
          </a:bodyPr>
          <a:lstStyle/>
          <a:p>
            <a:r>
              <a:rPr lang="zh-CN" altLang="en-US" sz="4000" dirty="0">
                <a:ea typeface="宋体" panose="02010600030101010101" pitchFamily="2" charset="-122"/>
              </a:rPr>
              <a:t>例子</a:t>
            </a:r>
            <a:r>
              <a:rPr lang="en-US" altLang="zh-CN" sz="4000" dirty="0">
                <a:ea typeface="宋体" panose="02010600030101010101" pitchFamily="2" charset="-122"/>
              </a:rPr>
              <a:t>: A Client/Server Example</a:t>
            </a:r>
            <a:endParaRPr lang="en-US" altLang="zh-CN" sz="4000" u="sng" dirty="0">
              <a:solidFill>
                <a:schemeClr val="tx1"/>
              </a:solidFill>
              <a:latin typeface="Book Antiqua" panose="02040602050305030304" pitchFamily="18" charset="0"/>
              <a:ea typeface="宋体" panose="02010600030101010101" pitchFamily="2" charset="-122"/>
            </a:endParaRPr>
          </a:p>
        </p:txBody>
      </p:sp>
      <p:sp>
        <p:nvSpPr>
          <p:cNvPr id="296963" name="Rectangle 3">
            <a:extLst>
              <a:ext uri="{FF2B5EF4-FFF2-40B4-BE49-F238E27FC236}">
                <a16:creationId xmlns:a16="http://schemas.microsoft.com/office/drawing/2014/main" id="{EB439CCC-3362-274E-B8B8-248A8E10BC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86800" cy="1828800"/>
          </a:xfrm>
          <a:noFill/>
          <a:ln/>
        </p:spPr>
        <p:txBody>
          <a:bodyPr/>
          <a:lstStyle/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600" dirty="0">
                <a:ea typeface="宋体" panose="02010600030101010101" pitchFamily="2" charset="-122"/>
                <a:cs typeface="Courier New" panose="02070309020205020404" pitchFamily="49" charset="0"/>
              </a:rPr>
              <a:t>A client program and a server program using socket streams. The client sends radius to a server. The server receives the data, uses them to find the area, and then sends the area to the client. Rewrite the program using datagram sockets.</a:t>
            </a:r>
          </a:p>
        </p:txBody>
      </p:sp>
      <p:sp>
        <p:nvSpPr>
          <p:cNvPr id="296966" name="Rectangle 6">
            <a:extLst>
              <a:ext uri="{FF2B5EF4-FFF2-40B4-BE49-F238E27FC236}">
                <a16:creationId xmlns:a16="http://schemas.microsoft.com/office/drawing/2014/main" id="{83F4FA7B-FE9F-5645-92CD-E2E841F96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447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296965" name="Object 5">
            <a:extLst>
              <a:ext uri="{FF2B5EF4-FFF2-40B4-BE49-F238E27FC236}">
                <a16:creationId xmlns:a16="http://schemas.microsoft.com/office/drawing/2014/main" id="{81E819A7-9D2A-FF4E-BAC1-B302A846E7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3728651"/>
              </p:ext>
            </p:extLst>
          </p:nvPr>
        </p:nvGraphicFramePr>
        <p:xfrm>
          <a:off x="251520" y="2996952"/>
          <a:ext cx="5486400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" r:id="rId3" imgW="4406900" imgH="1574800" progId="Paint.Picture">
                  <p:embed/>
                </p:oleObj>
              </mc:Choice>
              <mc:Fallback>
                <p:oleObj r:id="rId3" imgW="4406900" imgH="1574800" progId="Paint.Picture">
                  <p:embed/>
                  <p:pic>
                    <p:nvPicPr>
                      <p:cNvPr id="296965" name="Object 5">
                        <a:extLst>
                          <a:ext uri="{FF2B5EF4-FFF2-40B4-BE49-F238E27FC236}">
                            <a16:creationId xmlns:a16="http://schemas.microsoft.com/office/drawing/2014/main" id="{81E819A7-9D2A-FF4E-BAC1-B302A846E7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2996952"/>
                        <a:ext cx="5486400" cy="1962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67" name="AutoShape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20CB46B-8D10-A841-B51D-C47D7016F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410200"/>
            <a:ext cx="1905000" cy="304800"/>
          </a:xfrm>
          <a:prstGeom prst="actionButtonBlank">
            <a:avLst/>
          </a:prstGeom>
          <a:solidFill>
            <a:schemeClr val="tx1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Book Antiqua" panose="02040602050305030304" pitchFamily="18" charset="0"/>
                <a:ea typeface="宋体" panose="02010600030101010101" pitchFamily="2" charset="-122"/>
                <a:hlinkClick r:id="rId5" action="ppaction://program"/>
              </a:rPr>
              <a:t>Server Code</a:t>
            </a:r>
            <a:endParaRPr lang="en-US" altLang="zh-CN" dirty="0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sp>
        <p:nvSpPr>
          <p:cNvPr id="296968" name="AutoShape 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5B85AD2-213C-184C-8058-3563172F9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5410200"/>
            <a:ext cx="1905000" cy="304800"/>
          </a:xfrm>
          <a:prstGeom prst="actionButtonBlank">
            <a:avLst/>
          </a:prstGeom>
          <a:solidFill>
            <a:schemeClr val="tx1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Book Antiqua" panose="02040602050305030304" pitchFamily="18" charset="0"/>
                <a:ea typeface="宋体" panose="02010600030101010101" pitchFamily="2" charset="-122"/>
                <a:hlinkClick r:id="rId6" action="ppaction://program"/>
              </a:rPr>
              <a:t>Client Code</a:t>
            </a:r>
            <a:endParaRPr lang="en-US" altLang="zh-CN" dirty="0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sp>
        <p:nvSpPr>
          <p:cNvPr id="296969" name="Text Box 9">
            <a:extLst>
              <a:ext uri="{FF2B5EF4-FFF2-40B4-BE49-F238E27FC236}">
                <a16:creationId xmlns:a16="http://schemas.microsoft.com/office/drawing/2014/main" id="{C29E4275-5E32-F248-A9F0-3374687AC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5486400"/>
            <a:ext cx="2362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Note: Start the server, then the client.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96970" name="AutoShape 10">
            <a:hlinkClick r:id="rId7" action="ppaction://program" highlightClick="1"/>
            <a:extLst>
              <a:ext uri="{FF2B5EF4-FFF2-40B4-BE49-F238E27FC236}">
                <a16:creationId xmlns:a16="http://schemas.microsoft.com/office/drawing/2014/main" id="{559BA1C6-AA13-C747-9ED6-EE3DCC645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943600"/>
            <a:ext cx="1981200" cy="3048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38A1BA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latin typeface="Book Antiqua" panose="02040602050305030304" pitchFamily="18" charset="0"/>
                <a:ea typeface="宋体" panose="02010600030101010101" pitchFamily="2" charset="-122"/>
              </a:rPr>
              <a:t>Start Server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96971" name="AutoShape 11">
            <a:hlinkClick r:id="rId8" action="ppaction://program" highlightClick="1"/>
            <a:extLst>
              <a:ext uri="{FF2B5EF4-FFF2-40B4-BE49-F238E27FC236}">
                <a16:creationId xmlns:a16="http://schemas.microsoft.com/office/drawing/2014/main" id="{6DE84F39-ADE9-4640-9821-C43E4931C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5943600"/>
            <a:ext cx="1905000" cy="3048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38A1BA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zh-CN" dirty="0">
                <a:latin typeface="Book Antiqua" panose="02040602050305030304" pitchFamily="18" charset="0"/>
                <a:ea typeface="宋体" panose="02010600030101010101" pitchFamily="2" charset="-122"/>
              </a:rPr>
              <a:t>Start Client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2714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完成拷贝文件。</a:t>
            </a:r>
            <a:endParaRPr lang="en-US" altLang="zh-CN" dirty="0"/>
          </a:p>
          <a:p>
            <a:pPr lvl="1"/>
            <a:r>
              <a:rPr lang="zh-CN" altLang="en-US" dirty="0"/>
              <a:t>完成从客户端上载文件到服务器端功能</a:t>
            </a:r>
            <a:endParaRPr lang="en-US" altLang="zh-CN" dirty="0"/>
          </a:p>
          <a:p>
            <a:pPr lvl="1"/>
            <a:r>
              <a:rPr lang="zh-CN" altLang="en-US" dirty="0"/>
              <a:t>完成服务器端下载文件到客户端功能</a:t>
            </a:r>
            <a:endParaRPr lang="en-US" altLang="zh-CN" dirty="0"/>
          </a:p>
          <a:p>
            <a:pPr lvl="1"/>
            <a:r>
              <a:rPr lang="zh-CN" altLang="en-US" dirty="0"/>
              <a:t>完成拷贝文件的进度条功能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2897</TotalTime>
  <Words>2048</Words>
  <Application>Microsoft Macintosh PowerPoint</Application>
  <PresentationFormat>全屏显示(4:3)</PresentationFormat>
  <Paragraphs>376</Paragraphs>
  <Slides>34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34</vt:i4>
      </vt:variant>
    </vt:vector>
  </HeadingPairs>
  <TitlesOfParts>
    <vt:vector size="46" baseType="lpstr">
      <vt:lpstr>微软雅黑</vt:lpstr>
      <vt:lpstr>Arial</vt:lpstr>
      <vt:lpstr>Book Antiqua</vt:lpstr>
      <vt:lpstr>Calibri</vt:lpstr>
      <vt:lpstr>Courier New</vt:lpstr>
      <vt:lpstr>Monotype Sorts</vt:lpstr>
      <vt:lpstr>Times New Roman</vt:lpstr>
      <vt:lpstr>Office 主题</vt:lpstr>
      <vt:lpstr>Picture</vt:lpstr>
      <vt:lpstr>图片</vt:lpstr>
      <vt:lpstr>Word.Picture.8</vt:lpstr>
      <vt:lpstr>Paint.Picture</vt:lpstr>
      <vt:lpstr>二进制输入输出</vt:lpstr>
      <vt:lpstr>JAVA输入输出</vt:lpstr>
      <vt:lpstr>文本I/O与二进制I/O</vt:lpstr>
      <vt:lpstr>二进制I/O类</vt:lpstr>
      <vt:lpstr>文本I/O类</vt:lpstr>
      <vt:lpstr>举例</vt:lpstr>
      <vt:lpstr>对象输入输出</vt:lpstr>
      <vt:lpstr>随机读写文件</vt:lpstr>
      <vt:lpstr>网络</vt:lpstr>
      <vt:lpstr>PowerPoint 演示文稿</vt:lpstr>
      <vt:lpstr>PowerPoint 演示文稿</vt:lpstr>
      <vt:lpstr>举例</vt:lpstr>
      <vt:lpstr>PowerPoint 演示文稿</vt:lpstr>
      <vt:lpstr>PowerPoint 演示文稿</vt:lpstr>
      <vt:lpstr>举例</vt:lpstr>
      <vt:lpstr>举例2</vt:lpstr>
      <vt:lpstr>发送和接受对象</vt:lpstr>
      <vt:lpstr>从Web服务器上读取文件（可选）</vt:lpstr>
      <vt:lpstr>The URL 类</vt:lpstr>
      <vt:lpstr>创建一个URL实例</vt:lpstr>
      <vt:lpstr>Example: Retrieving Remote Files</vt:lpstr>
      <vt:lpstr>JEditorPane类</vt:lpstr>
      <vt:lpstr>JEditorPane </vt:lpstr>
      <vt:lpstr>Example: Creating a Web Browser</vt:lpstr>
      <vt:lpstr>案例: 分布式TicTacToe游戏</vt:lpstr>
      <vt:lpstr>PowerPoint 演示文稿</vt:lpstr>
      <vt:lpstr>PowerPoint 演示文稿</vt:lpstr>
      <vt:lpstr>基于包的通信</vt:lpstr>
      <vt:lpstr>DatagramPacket类</vt:lpstr>
      <vt:lpstr>DatagramSocket 类</vt:lpstr>
      <vt:lpstr>Sending and Receiving a DatagramSocket </vt:lpstr>
      <vt:lpstr>Datagram Programming </vt:lpstr>
      <vt:lpstr>例子: A Client/Server Example</vt:lpstr>
      <vt:lpstr>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微博平台上基于信息传播路径的影响力度量模型研究</dc:title>
  <dc:creator>Administrator</dc:creator>
  <cp:lastModifiedBy>Microsoft Office User</cp:lastModifiedBy>
  <cp:revision>185</cp:revision>
  <dcterms:created xsi:type="dcterms:W3CDTF">2012-05-10T16:23:06Z</dcterms:created>
  <dcterms:modified xsi:type="dcterms:W3CDTF">2026-04-28T02:11:33Z</dcterms:modified>
</cp:coreProperties>
</file>