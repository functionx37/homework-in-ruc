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0"/>
  </p:notesMasterIdLst>
  <p:sldIdLst>
    <p:sldId id="258" r:id="rId3"/>
    <p:sldId id="395" r:id="rId4"/>
    <p:sldId id="357" r:id="rId5"/>
    <p:sldId id="27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74" r:id="rId35"/>
    <p:sldId id="275" r:id="rId36"/>
    <p:sldId id="276" r:id="rId37"/>
    <p:sldId id="380" r:id="rId38"/>
    <p:sldId id="381" r:id="rId39"/>
    <p:sldId id="382" r:id="rId40"/>
    <p:sldId id="291" r:id="rId41"/>
    <p:sldId id="292" r:id="rId42"/>
    <p:sldId id="383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5" r:id="rId55"/>
    <p:sldId id="306" r:id="rId56"/>
    <p:sldId id="307" r:id="rId57"/>
    <p:sldId id="308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84" r:id="rId66"/>
    <p:sldId id="317" r:id="rId67"/>
    <p:sldId id="318" r:id="rId68"/>
    <p:sldId id="385" r:id="rId69"/>
    <p:sldId id="399" r:id="rId70"/>
    <p:sldId id="400" r:id="rId71"/>
    <p:sldId id="391" r:id="rId72"/>
    <p:sldId id="392" r:id="rId73"/>
    <p:sldId id="396" r:id="rId74"/>
    <p:sldId id="401" r:id="rId75"/>
    <p:sldId id="393" r:id="rId76"/>
    <p:sldId id="394" r:id="rId77"/>
    <p:sldId id="319" r:id="rId78"/>
    <p:sldId id="320" r:id="rId79"/>
    <p:sldId id="402" r:id="rId80"/>
    <p:sldId id="403" r:id="rId81"/>
    <p:sldId id="321" r:id="rId82"/>
    <p:sldId id="322" r:id="rId83"/>
    <p:sldId id="323" r:id="rId84"/>
    <p:sldId id="324" r:id="rId85"/>
    <p:sldId id="325" r:id="rId86"/>
    <p:sldId id="326" r:id="rId87"/>
    <p:sldId id="327" r:id="rId88"/>
    <p:sldId id="328" r:id="rId89"/>
    <p:sldId id="329" r:id="rId90"/>
    <p:sldId id="330" r:id="rId91"/>
    <p:sldId id="331" r:id="rId92"/>
    <p:sldId id="386" r:id="rId93"/>
    <p:sldId id="387" r:id="rId94"/>
    <p:sldId id="397" r:id="rId95"/>
    <p:sldId id="404" r:id="rId96"/>
    <p:sldId id="406" r:id="rId97"/>
    <p:sldId id="388" r:id="rId98"/>
    <p:sldId id="390" r:id="rId99"/>
    <p:sldId id="407" r:id="rId100"/>
    <p:sldId id="408" r:id="rId101"/>
    <p:sldId id="409" r:id="rId102"/>
    <p:sldId id="373" r:id="rId103"/>
    <p:sldId id="374" r:id="rId104"/>
    <p:sldId id="375" r:id="rId105"/>
    <p:sldId id="376" r:id="rId106"/>
    <p:sldId id="377" r:id="rId107"/>
    <p:sldId id="378" r:id="rId108"/>
    <p:sldId id="398" r:id="rId10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88"/>
    <p:restoredTop sz="93750"/>
  </p:normalViewPr>
  <p:slideViewPr>
    <p:cSldViewPr>
      <p:cViewPr>
        <p:scale>
          <a:sx n="137" d="100"/>
          <a:sy n="137" d="100"/>
        </p:scale>
        <p:origin x="800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viewProps" Target="view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18277-68DD-2649-9AF6-0FFD4BA638D5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4AF6E-C25D-3C42-BA4A-6BDFC164CA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383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2D8E18-C836-0542-BEE8-EDB9C1DF51C6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7C7297-AA98-A745-B8F1-F6E6ECBE2C97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DC2504-8A92-2849-B271-7A0A92386564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02D16F-9796-1B49-AB6C-8C0EE4A68828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CAE8E3-58E9-0C41-BE9E-FFA60175CA1B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303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D39F5E-7FEA-5C46-97A2-48D2817A2320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30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3C1CAF-5B78-B74A-981A-FD93E0730D6C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88146D-C21C-384F-94E3-2370158C9E0E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30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2C6E66-6C59-454F-B22B-ABF4F3BF5087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31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D37D8C-60D2-E14D-9680-6F6FEF807731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31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B2984B-E0EB-D140-B375-446556A90F73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34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4EBB40-754C-3349-B1DA-2BBB34CC8B00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05C68E-04A4-6847-8ABE-37F470154A02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31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6A63C0-A634-984F-B1BE-F6FBB5074F7B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8CA317-D57F-214E-88E2-BF0ACE5A5C21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C87103-2FB2-2F45-9115-4E5E278875BE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C994B8-A270-A043-881F-2A5E9D2F61C7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BADF8B-462F-B545-8001-5E8409EDD8D4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34FC4A-D085-FE42-B5B4-A8F772A7D71B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DF77A8-0D59-384A-85D3-9A83F1F44852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C7CEF1-64FE-7449-8B36-684446D10E1D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5861C-2232-6A4E-9564-CB68780CC90D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E0BE8F-4C1A-9646-B4AD-60E68F523DAF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4AF6E-C25D-3C42-BA4A-6BDFC164CA7B}" type="slidenum">
              <a:rPr kumimoji="1" lang="zh-CN" altLang="en-US" smtClean="0"/>
              <a:t>68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8661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71A7B-5890-4747-B910-630656C12609}" type="slidenum">
              <a:rPr lang="en-US" altLang="zh-CN"/>
              <a:pPr/>
              <a:t>76</a:t>
            </a:fld>
            <a:endParaRPr lang="en-US" altLang="zh-CN"/>
          </a:p>
        </p:txBody>
      </p:sp>
      <p:sp>
        <p:nvSpPr>
          <p:cNvPr id="321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E4113C-CD48-C041-950B-1E8920FA397F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32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510AEB-A248-FE4B-977F-578B2A40BB3C}" type="slidenum">
              <a:rPr lang="en-US" altLang="zh-CN"/>
              <a:pPr/>
              <a:t>81</a:t>
            </a:fld>
            <a:endParaRPr lang="en-US" altLang="zh-CN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F0E0B5-3EC0-4A4D-9E9B-77526B21BCE0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746C0-DF82-7F4F-8D50-0A6178F7E43F}" type="slidenum">
              <a:rPr lang="en-US" altLang="zh-CN"/>
              <a:pPr/>
              <a:t>83</a:t>
            </a:fld>
            <a:endParaRPr lang="en-US" altLang="zh-CN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2D18C0-10D7-8447-8CF3-70B7D187087C}" type="slidenum">
              <a:rPr lang="en-US" altLang="zh-CN"/>
              <a:pPr/>
              <a:t>84</a:t>
            </a:fld>
            <a:endParaRPr lang="en-US" altLang="zh-CN"/>
          </a:p>
        </p:txBody>
      </p:sp>
      <p:sp>
        <p:nvSpPr>
          <p:cNvPr id="32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4388A1-58B7-5D44-BA3B-B946795E8A1F}" type="slidenum">
              <a:rPr lang="en-US" altLang="zh-CN"/>
              <a:pPr/>
              <a:t>85</a:t>
            </a:fld>
            <a:endParaRPr lang="en-US" altLang="zh-CN"/>
          </a:p>
        </p:txBody>
      </p:sp>
      <p:sp>
        <p:nvSpPr>
          <p:cNvPr id="37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6C123A-88AF-DD45-BF24-2FED37F175C3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381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A911E-1591-C047-9DF2-F818008E366C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52CEAB-69FC-DB41-A496-5AD742760E74}" type="slidenum">
              <a:rPr lang="en-US" altLang="zh-CN"/>
              <a:pPr/>
              <a:t>88</a:t>
            </a:fld>
            <a:endParaRPr lang="en-US" altLang="zh-CN"/>
          </a:p>
        </p:txBody>
      </p:sp>
      <p:sp>
        <p:nvSpPr>
          <p:cNvPr id="38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FD3BCB-60BF-6344-ADFA-D7FF7BFE5842}" type="slidenum">
              <a:rPr lang="en-US" altLang="zh-CN"/>
              <a:pPr/>
              <a:t>89</a:t>
            </a:fld>
            <a:endParaRPr lang="en-US" altLang="zh-CN"/>
          </a:p>
        </p:txBody>
      </p:sp>
      <p:sp>
        <p:nvSpPr>
          <p:cNvPr id="327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4AF6E-C25D-3C42-BA4A-6BDFC164CA7B}" type="slidenum">
              <a:rPr kumimoji="1" lang="zh-CN" altLang="en-US" smtClean="0"/>
              <a:t>95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9664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D0093-576E-467B-B962-99E1A744E17E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A8581-4873-47CA-8339-DD7371799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D08D-254E-4C16-9BDD-2CB403A3435F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5DAA-F314-4201-A885-F94350C78D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D86F-CDAF-474B-9FB2-89F4E1DB95B0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F9244-E492-4E7F-8014-C42AB6E22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1C718-00B4-4F2E-8B01-D394E45EC67A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9A6D-C430-4B93-AE78-0A62FBBD8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C617E-A9B1-47F9-B9A9-87483FDAC8D3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4F1EF-4E26-4C56-9B88-FD593D373B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9AD-0748-4B3C-8811-5DFFA51CED5D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E0F20-CA7C-4D92-81FD-7E1D809D3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FD782-AFAB-420A-8FC3-E90FC8D60F6A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A5DAD-FC26-4B98-B59F-38A407A6E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8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FA3B-6958-4BA2-91DC-7BEE42D86237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F4D7F-6987-4FBB-8861-DE5388AE82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6B6D4-31F7-491F-A416-E134F3D25755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BCD3-ACD3-4915-AAF5-E95C433680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2DBD-F4DA-4F3D-8375-2CC882E5C4BD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46474-8646-4F3B-9765-6AA2597643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C6ED-1572-4AFD-969C-EAD6761B29D4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6592-189B-4FEE-91FE-2D98CF250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9144000" cy="14287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A9EEEDC-F40F-4A63-9580-80ADE972C86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44CF135-CD95-44F1-8454-15341B964199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B4EA391-E530-4487-AF14-F97E23C3A1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9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1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2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3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4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5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6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7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8.bin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9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0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1.bin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1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3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4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5.bin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6.bin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3804" y="-243408"/>
            <a:ext cx="9144000" cy="4005063"/>
            <a:chOff x="0" y="0"/>
            <a:chExt cx="9144000" cy="4518000"/>
          </a:xfrm>
        </p:grpSpPr>
        <p:sp>
          <p:nvSpPr>
            <p:cNvPr id="14" name="矩形 13"/>
            <p:cNvSpPr/>
            <p:nvPr/>
          </p:nvSpPr>
          <p:spPr>
            <a:xfrm>
              <a:off x="0" y="0"/>
              <a:ext cx="9144000" cy="4355055"/>
            </a:xfrm>
            <a:prstGeom prst="rect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4068763" y="4355055"/>
              <a:ext cx="1006475" cy="162945"/>
            </a:xfrm>
            <a:prstGeom prst="triangle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0200" y="6225117"/>
            <a:ext cx="9003600" cy="0"/>
          </a:xfrm>
          <a:prstGeom prst="line">
            <a:avLst/>
          </a:prstGeom>
          <a:noFill/>
          <a:ln w="22225" cap="flat" cmpd="sng" algn="ctr">
            <a:gradFill>
              <a:gsLst>
                <a:gs pos="0">
                  <a:sysClr val="window" lastClr="FFFFFF">
                    <a:alpha val="0"/>
                  </a:sysClr>
                </a:gs>
                <a:gs pos="33000">
                  <a:srgbClr val="31BFA7"/>
                </a:gs>
                <a:gs pos="67000">
                  <a:srgbClr val="31BFA7"/>
                </a:gs>
                <a:gs pos="100000">
                  <a:sysClr val="window" lastClr="FFFFFF">
                    <a:alpha val="0"/>
                  </a:sysClr>
                </a:gs>
              </a:gsLst>
              <a:lin ang="10800000" scaled="0"/>
            </a:gradFill>
            <a:prstDash val="solid"/>
          </a:ln>
          <a:effectLst/>
        </p:spPr>
      </p:cxnSp>
      <p:sp>
        <p:nvSpPr>
          <p:cNvPr id="17" name="文本框 7"/>
          <p:cNvSpPr txBox="1">
            <a:spLocks noChangeArrowheads="1"/>
          </p:cNvSpPr>
          <p:nvPr/>
        </p:nvSpPr>
        <p:spPr bwMode="auto">
          <a:xfrm>
            <a:off x="482798" y="1844824"/>
            <a:ext cx="8121650" cy="6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Multithreading in JAVA</a:t>
            </a:r>
            <a:endParaRPr lang="zh-CN" altLang="en-US" sz="44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4005064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zh-CN" altLang="en-US" sz="2800"/>
              <a:t>改编</a:t>
            </a:r>
            <a:r>
              <a:rPr lang="zh-CN" altLang="en-US" sz="2800" dirty="0"/>
              <a:t>自</a:t>
            </a:r>
            <a:r>
              <a:rPr lang="en-US" altLang="zh-CN" sz="2800" dirty="0"/>
              <a:t>Daniel Liang: Introduction to programming JAVA</a:t>
            </a:r>
            <a:r>
              <a:rPr lang="zh-CN" altLang="en-US" sz="2800" dirty="0"/>
              <a:t>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EEBB68-8612-F448-9FB7-CC518E006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C712CAA-D2ED-7246-8767-AB3331333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9A81430-C897-894D-A006-BC4B69FED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137064-614A-5C4D-BFAE-28CD63DE8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9C73CD7-29D2-3C43-B139-241526BCB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3CC77EE-01D9-C14C-B8EC-0E2CBA5EF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215DC99-BED1-364A-8B4B-C86B79E26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C5F4B98-AD98-324C-B6C3-91CF8DAE1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EA592DE-F3C6-DA4D-9B66-3A8D5FFCD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F48F5-157F-5142-B9D5-47851664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线程与进程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658FEF-6EFF-6B43-95A8-BD3F021EA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process</a:t>
            </a:r>
            <a:r>
              <a:rPr kumimoji="1" lang="zh-CN" altLang="en-US" dirty="0"/>
              <a:t>）单独分配资源，有独立的内存空间</a:t>
            </a:r>
            <a:endParaRPr kumimoji="1" lang="en-US" altLang="zh-CN" dirty="0"/>
          </a:p>
          <a:p>
            <a:r>
              <a:rPr kumimoji="1" lang="zh-CN" altLang="en-US" dirty="0"/>
              <a:t>线程属于进程内部，共享进程的地址空间和资源，是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调度的最小单位</a:t>
            </a:r>
          </a:p>
        </p:txBody>
      </p:sp>
    </p:spTree>
    <p:extLst>
      <p:ext uri="{BB962C8B-B14F-4D97-AF65-F5344CB8AC3E}">
        <p14:creationId xmlns:p14="http://schemas.microsoft.com/office/powerpoint/2010/main" val="145754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charset="0"/>
                <a:cs typeface="宋体" charset="0"/>
              </a:rPr>
              <a:t>What is a Thread?</a:t>
            </a:r>
            <a:r>
              <a:rPr lang="zh-CN" altLang="en-US" dirty="0">
                <a:latin typeface="Times New Roman" charset="0"/>
                <a:cs typeface="宋体" charset="0"/>
              </a:rPr>
              <a:t>线程</a:t>
            </a:r>
            <a:endParaRPr lang="en-US" altLang="zh-CN" dirty="0">
              <a:latin typeface="Times New Roman" charset="0"/>
              <a:cs typeface="宋体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charset="0"/>
                <a:cs typeface="宋体" charset="0"/>
              </a:rPr>
              <a:t>Think ‘thread of execution’ or ‘thread of control flow’.</a:t>
            </a:r>
          </a:p>
          <a:p>
            <a:pPr eaLnBrk="1" hangingPunct="1"/>
            <a:r>
              <a:rPr lang="en-US" altLang="zh-CN" dirty="0">
                <a:latin typeface="Times New Roman" charset="0"/>
                <a:cs typeface="宋体" charset="0"/>
              </a:rPr>
              <a:t>Java allows a program to have multiple threads running concurrently.</a:t>
            </a:r>
          </a:p>
          <a:p>
            <a:pPr eaLnBrk="1" hangingPunct="1"/>
            <a:r>
              <a:rPr lang="en-US" altLang="zh-CN" dirty="0">
                <a:latin typeface="Times New Roman" charset="0"/>
                <a:cs typeface="宋体" charset="0"/>
              </a:rPr>
              <a:t>What does this mean to us as developers?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</p:spPr>
        <p:txBody>
          <a:bodyPr/>
          <a:lstStyle/>
          <a:p>
            <a:r>
              <a:rPr lang="en-US" altLang="zh-CN"/>
              <a:t>Threads Concept</a:t>
            </a:r>
          </a:p>
        </p:txBody>
      </p:sp>
      <p:sp>
        <p:nvSpPr>
          <p:cNvPr id="247813" name="Text Box 5"/>
          <p:cNvSpPr txBox="1">
            <a:spLocks noChangeArrowheads="1"/>
          </p:cNvSpPr>
          <p:nvPr/>
        </p:nvSpPr>
        <p:spPr bwMode="auto">
          <a:xfrm>
            <a:off x="759768" y="1822480"/>
            <a:ext cx="1676400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dirty="0"/>
              <a:t>Multiple threads on multiple CPUs</a:t>
            </a:r>
          </a:p>
        </p:txBody>
      </p:sp>
      <p:sp>
        <p:nvSpPr>
          <p:cNvPr id="247814" name="Text Box 6"/>
          <p:cNvSpPr txBox="1">
            <a:spLocks noChangeArrowheads="1"/>
          </p:cNvSpPr>
          <p:nvPr/>
        </p:nvSpPr>
        <p:spPr bwMode="auto">
          <a:xfrm>
            <a:off x="683568" y="3879880"/>
            <a:ext cx="1905000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/>
              <a:t>Multiple threads sharing a single CPU</a:t>
            </a:r>
          </a:p>
        </p:txBody>
      </p:sp>
      <p:graphicFrame>
        <p:nvGraphicFramePr>
          <p:cNvPr id="2478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172040"/>
              </p:ext>
            </p:extLst>
          </p:nvPr>
        </p:nvGraphicFramePr>
        <p:xfrm>
          <a:off x="2432993" y="1827243"/>
          <a:ext cx="60229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Picture" r:id="rId3" imgW="6858000" imgH="6400800" progId="Word.Picture.8">
                  <p:embed/>
                </p:oleObj>
              </mc:Choice>
              <mc:Fallback>
                <p:oleObj name="Picture" r:id="rId3" imgW="6858000" imgH="6400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067" t="19858" r="42267" b="61858"/>
                      <a:stretch>
                        <a:fillRect/>
                      </a:stretch>
                    </p:blipFill>
                    <p:spPr bwMode="auto">
                      <a:xfrm>
                        <a:off x="2432993" y="1827243"/>
                        <a:ext cx="6022975" cy="174942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678330"/>
              </p:ext>
            </p:extLst>
          </p:nvPr>
        </p:nvGraphicFramePr>
        <p:xfrm>
          <a:off x="2509193" y="3884643"/>
          <a:ext cx="60229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图片" r:id="rId5" imgW="6858000" imgH="6400800" progId="Word.Picture.8">
                  <p:embed/>
                </p:oleObj>
              </mc:Choice>
              <mc:Fallback>
                <p:oleObj name="图片" r:id="rId5" imgW="6858000" imgH="6400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067" t="19858" r="42267" b="61858"/>
                      <a:stretch>
                        <a:fillRect/>
                      </a:stretch>
                    </p:blipFill>
                    <p:spPr bwMode="auto">
                      <a:xfrm>
                        <a:off x="2509193" y="3884643"/>
                        <a:ext cx="6022975" cy="174942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773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Single-Threaded Development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Many programs written for class so far have been single-threaded.</a:t>
            </a:r>
          </a:p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When you call a method, it only returns once its task is 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Thread ‘Stalling’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What happens when a method needs to wait for something before returning, such as user input or a network connection? </a:t>
            </a:r>
            <a:br>
              <a:rPr lang="en-US" altLang="zh-CN">
                <a:latin typeface="Times New Roman" charset="0"/>
                <a:cs typeface="宋体" charset="0"/>
              </a:rPr>
            </a:br>
            <a:r>
              <a:rPr lang="en-US" altLang="zh-CN">
                <a:latin typeface="Times New Roman" charset="0"/>
                <a:cs typeface="宋体" charset="0"/>
              </a:rPr>
              <a:t>(Recall </a:t>
            </a:r>
            <a:r>
              <a:rPr lang="en-US" altLang="zh-CN" sz="2400">
                <a:latin typeface="Lucida Console" charset="0"/>
                <a:cs typeface="宋体" charset="0"/>
              </a:rPr>
              <a:t>accept()</a:t>
            </a:r>
            <a:r>
              <a:rPr lang="en-US" altLang="zh-CN">
                <a:latin typeface="Times New Roman" charset="0"/>
                <a:cs typeface="宋体" charset="0"/>
              </a:rPr>
              <a:t> from last lecture)</a:t>
            </a:r>
          </a:p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How can we handle other tasks while waiting to accept a new network connection?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Multithreading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Answer: Accept connections in a different thread.</a:t>
            </a:r>
          </a:p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Java allows us to create new threads for handling concurrent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How?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Java provides two ways to create a new thread.</a:t>
            </a:r>
          </a:p>
          <a:p>
            <a:pPr lvl="1" eaLnBrk="1" hangingPunct="1"/>
            <a:r>
              <a:rPr lang="en-US" altLang="zh-CN">
                <a:latin typeface="Times New Roman" charset="0"/>
                <a:cs typeface="宋体" charset="0"/>
              </a:rPr>
              <a:t>Extend the </a:t>
            </a:r>
            <a:r>
              <a:rPr lang="en-US" altLang="zh-CN" sz="2400">
                <a:latin typeface="Lucida Console" charset="0"/>
                <a:cs typeface="宋体" charset="0"/>
              </a:rPr>
              <a:t>Thread</a:t>
            </a:r>
            <a:r>
              <a:rPr lang="en-US" altLang="zh-CN">
                <a:latin typeface="Times New Roman" charset="0"/>
                <a:cs typeface="宋体" charset="0"/>
              </a:rPr>
              <a:t> class</a:t>
            </a:r>
            <a:br>
              <a:rPr lang="en-US" altLang="zh-CN">
                <a:latin typeface="Times New Roman" charset="0"/>
                <a:cs typeface="宋体" charset="0"/>
              </a:rPr>
            </a:br>
            <a:r>
              <a:rPr lang="en-US" altLang="zh-CN">
                <a:latin typeface="Times New Roman" charset="0"/>
                <a:cs typeface="宋体" charset="0"/>
              </a:rPr>
              <a:t>(</a:t>
            </a:r>
            <a:r>
              <a:rPr lang="en-US" altLang="zh-CN" sz="2400">
                <a:latin typeface="Lucida Console" charset="0"/>
                <a:cs typeface="宋体" charset="0"/>
              </a:rPr>
              <a:t>java.lang.Thread</a:t>
            </a:r>
            <a:r>
              <a:rPr lang="en-US" altLang="zh-CN">
                <a:latin typeface="Times New Roman" charset="0"/>
                <a:cs typeface="宋体" charset="0"/>
              </a:rPr>
              <a:t>)</a:t>
            </a:r>
          </a:p>
          <a:p>
            <a:pPr lvl="1" eaLnBrk="1" hangingPunct="1"/>
            <a:r>
              <a:rPr lang="en-US" altLang="zh-CN">
                <a:latin typeface="Times New Roman" charset="0"/>
                <a:cs typeface="宋体" charset="0"/>
              </a:rPr>
              <a:t>Implement the </a:t>
            </a:r>
            <a:r>
              <a:rPr lang="en-US" altLang="zh-CN" sz="2400">
                <a:latin typeface="Lucida Console" charset="0"/>
                <a:cs typeface="宋体" charset="0"/>
              </a:rPr>
              <a:t>Runnable</a:t>
            </a:r>
            <a:r>
              <a:rPr lang="en-US" altLang="zh-CN">
                <a:latin typeface="Times New Roman" charset="0"/>
                <a:cs typeface="宋体" charset="0"/>
              </a:rPr>
              <a:t> interface</a:t>
            </a:r>
            <a:br>
              <a:rPr lang="en-US" altLang="zh-CN">
                <a:latin typeface="Times New Roman" charset="0"/>
                <a:cs typeface="宋体" charset="0"/>
              </a:rPr>
            </a:br>
            <a:r>
              <a:rPr lang="en-US" altLang="zh-CN">
                <a:latin typeface="Times New Roman" charset="0"/>
                <a:cs typeface="宋体" charset="0"/>
              </a:rPr>
              <a:t>(</a:t>
            </a:r>
            <a:r>
              <a:rPr lang="en-US" altLang="zh-CN" sz="2400">
                <a:latin typeface="Lucida Console" charset="0"/>
                <a:cs typeface="宋体" charset="0"/>
              </a:rPr>
              <a:t>java.lang.</a:t>
            </a:r>
            <a:r>
              <a:rPr lang="en-US" altLang="zh-CN" sz="2400" i="1">
                <a:latin typeface="Lucida Console" charset="0"/>
                <a:cs typeface="宋体" charset="0"/>
              </a:rPr>
              <a:t>Runnable</a:t>
            </a:r>
            <a:r>
              <a:rPr lang="en-US" altLang="zh-CN">
                <a:latin typeface="Times New Roman" charset="0"/>
                <a:cs typeface="宋体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Java’s Thread Class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charset="0"/>
                <a:cs typeface="宋体" charset="0"/>
              </a:rPr>
              <a:t>When creating a new thread by extending the </a:t>
            </a:r>
            <a:r>
              <a:rPr lang="en-US" altLang="zh-CN" sz="2400">
                <a:latin typeface="Lucida Console" charset="0"/>
                <a:cs typeface="宋体" charset="0"/>
              </a:rPr>
              <a:t>Thread</a:t>
            </a:r>
            <a:r>
              <a:rPr lang="en-US" altLang="zh-CN">
                <a:latin typeface="Times New Roman" charset="0"/>
                <a:cs typeface="宋体" charset="0"/>
              </a:rPr>
              <a:t> class, you should override the </a:t>
            </a:r>
            <a:r>
              <a:rPr lang="en-US" altLang="zh-CN" sz="2400">
                <a:latin typeface="Lucida Console" charset="0"/>
                <a:cs typeface="宋体" charset="0"/>
              </a:rPr>
              <a:t>run()</a:t>
            </a:r>
            <a:r>
              <a:rPr lang="en-US" altLang="zh-CN">
                <a:latin typeface="Times New Roman" charset="0"/>
                <a:cs typeface="宋体" charset="0"/>
              </a:rPr>
              <a:t> method.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latin typeface="Lucida Console" charset="0"/>
                <a:cs typeface="宋体" charset="0"/>
              </a:rPr>
              <a:t>public class FooThread extends Thread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{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public FooThread()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{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	// Initialize parameters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}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public void run()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{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	// do something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	}</a:t>
            </a:r>
            <a:br>
              <a:rPr lang="en-US" altLang="zh-CN" sz="2000">
                <a:latin typeface="Lucida Console" charset="0"/>
                <a:cs typeface="宋体" charset="0"/>
              </a:rPr>
            </a:br>
            <a:r>
              <a:rPr lang="en-US" altLang="zh-CN" sz="2000">
                <a:latin typeface="Lucida Console" charset="0"/>
                <a:cs typeface="宋体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Now What?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To start a new thread, use the inherited method </a:t>
            </a:r>
            <a:r>
              <a:rPr lang="en-US" altLang="zh-CN" sz="2400">
                <a:latin typeface="Lucida Console" charset="0"/>
                <a:cs typeface="宋体" charset="0"/>
              </a:rPr>
              <a:t>start()</a:t>
            </a:r>
          </a:p>
          <a:p>
            <a:pPr eaLnBrk="1" hangingPunct="1"/>
            <a:r>
              <a:rPr lang="en-US" altLang="zh-CN" sz="2400">
                <a:latin typeface="Lucida Console" charset="0"/>
                <a:cs typeface="宋体" charset="0"/>
              </a:rPr>
              <a:t>FooThread ft = new FooThread();</a:t>
            </a:r>
            <a:br>
              <a:rPr lang="en-US" altLang="zh-CN" sz="2400">
                <a:latin typeface="Lucida Console" charset="0"/>
                <a:cs typeface="宋体" charset="0"/>
              </a:rPr>
            </a:br>
            <a:r>
              <a:rPr lang="en-US" altLang="zh-CN" sz="2400">
                <a:latin typeface="Lucida Console" charset="0"/>
                <a:cs typeface="宋体" charset="0"/>
              </a:rPr>
              <a:t>ft.start();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What happens in </a:t>
            </a:r>
            <a:r>
              <a:rPr lang="en-US" altLang="zh-CN" sz="3600">
                <a:latin typeface="Lucida Console" charset="0"/>
                <a:cs typeface="宋体" charset="0"/>
              </a:rPr>
              <a:t>start()</a:t>
            </a:r>
            <a:r>
              <a:rPr lang="en-US" altLang="zh-CN">
                <a:latin typeface="Times New Roman" charset="0"/>
                <a:cs typeface="宋体" charset="0"/>
              </a:rPr>
              <a:t>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>
                <a:latin typeface="Lucida Console" charset="0"/>
                <a:cs typeface="宋体" charset="0"/>
              </a:rPr>
              <a:t>start()</a:t>
            </a:r>
            <a:r>
              <a:rPr lang="en-US" altLang="zh-CN">
                <a:latin typeface="Times New Roman" charset="0"/>
                <a:cs typeface="宋体" charset="0"/>
              </a:rPr>
              <a:t> is responsible for two things:</a:t>
            </a:r>
          </a:p>
          <a:p>
            <a:pPr lvl="1" eaLnBrk="1" hangingPunct="1"/>
            <a:r>
              <a:rPr lang="en-US" altLang="zh-CN">
                <a:latin typeface="Times New Roman" charset="0"/>
                <a:cs typeface="宋体" charset="0"/>
              </a:rPr>
              <a:t>Instructing the JVM to create a new thread</a:t>
            </a:r>
          </a:p>
          <a:p>
            <a:pPr lvl="1" eaLnBrk="1" hangingPunct="1"/>
            <a:r>
              <a:rPr lang="en-US" altLang="zh-CN">
                <a:latin typeface="Times New Roman" charset="0"/>
                <a:cs typeface="宋体" charset="0"/>
              </a:rPr>
              <a:t>Call your Thread object’s </a:t>
            </a:r>
            <a:r>
              <a:rPr lang="en-US" altLang="zh-CN" sz="2400">
                <a:latin typeface="Lucida Console" charset="0"/>
                <a:cs typeface="宋体" charset="0"/>
              </a:rPr>
              <a:t>run()</a:t>
            </a:r>
            <a:r>
              <a:rPr lang="en-US" altLang="zh-CN">
                <a:latin typeface="Times New Roman" charset="0"/>
                <a:cs typeface="宋体" charset="0"/>
              </a:rPr>
              <a:t> method in the new thread</a:t>
            </a:r>
          </a:p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You might think of </a:t>
            </a:r>
            <a:r>
              <a:rPr lang="en-US" altLang="zh-CN" sz="2400">
                <a:latin typeface="Lucida Console" charset="0"/>
                <a:cs typeface="宋体" charset="0"/>
              </a:rPr>
              <a:t>run()</a:t>
            </a:r>
            <a:r>
              <a:rPr lang="en-US" altLang="zh-CN">
                <a:latin typeface="Times New Roman" charset="0"/>
                <a:cs typeface="宋体" charset="0"/>
              </a:rPr>
              <a:t> as being similar to </a:t>
            </a:r>
            <a:r>
              <a:rPr lang="en-US" altLang="zh-CN" sz="2400">
                <a:latin typeface="Lucida Console" charset="0"/>
                <a:cs typeface="宋体" charset="0"/>
              </a:rPr>
              <a:t>main()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More about </a:t>
            </a:r>
            <a:r>
              <a:rPr lang="en-US" altLang="zh-CN" sz="3600">
                <a:latin typeface="Lucida Console" charset="0"/>
                <a:cs typeface="宋体" charset="0"/>
              </a:rPr>
              <a:t>Thread.run()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Like main(), run() defines a starting point for the JVM.</a:t>
            </a:r>
          </a:p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What happens when the run() method exits?</a:t>
            </a:r>
          </a:p>
          <a:p>
            <a:pPr lvl="1" eaLnBrk="1" hangingPunct="1"/>
            <a:r>
              <a:rPr lang="en-US" altLang="zh-CN">
                <a:latin typeface="Times New Roman" charset="0"/>
                <a:cs typeface="宋体" charset="0"/>
              </a:rPr>
              <a:t>The thread ‘ends’.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Another method - </a:t>
            </a:r>
            <a:r>
              <a:rPr lang="en-US" altLang="zh-CN" sz="3600">
                <a:latin typeface="Lucida Console" charset="0"/>
                <a:cs typeface="宋体" charset="0"/>
              </a:rPr>
              <a:t>Runnable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charset="0"/>
                <a:cs typeface="宋体" charset="0"/>
              </a:rPr>
              <a:t>A thread can also be created by implementing the </a:t>
            </a:r>
            <a:r>
              <a:rPr lang="en-US" altLang="zh-CN" sz="2400">
                <a:latin typeface="Lucida Console" charset="0"/>
                <a:cs typeface="宋体" charset="0"/>
              </a:rPr>
              <a:t>Runnable</a:t>
            </a:r>
            <a:r>
              <a:rPr lang="en-US" altLang="zh-CN" sz="2800">
                <a:latin typeface="Times New Roman" charset="0"/>
                <a:cs typeface="宋体" charset="0"/>
              </a:rPr>
              <a:t> interface instead of extending the </a:t>
            </a:r>
            <a:r>
              <a:rPr lang="en-US" altLang="zh-CN" sz="2400">
                <a:latin typeface="Lucida Console" charset="0"/>
                <a:cs typeface="宋体" charset="0"/>
              </a:rPr>
              <a:t>Thread</a:t>
            </a:r>
            <a:r>
              <a:rPr lang="en-US" altLang="zh-CN" sz="2800">
                <a:latin typeface="Times New Roman" charset="0"/>
                <a:cs typeface="宋体" charset="0"/>
              </a:rPr>
              <a:t> class.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800">
                <a:latin typeface="Lucida Console" charset="0"/>
                <a:cs typeface="宋体" charset="0"/>
              </a:rPr>
              <a:t>public class FooRunnable implements Runnable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{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	public FooRunnable()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	{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	}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	public void run()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	{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		// do something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	}</a:t>
            </a:r>
            <a:br>
              <a:rPr lang="en-US" altLang="zh-CN" sz="1800">
                <a:latin typeface="Lucida Console" charset="0"/>
                <a:cs typeface="宋体" charset="0"/>
              </a:rPr>
            </a:br>
            <a:r>
              <a:rPr lang="en-US" altLang="zh-CN" sz="1800">
                <a:latin typeface="Lucida Console" charset="0"/>
                <a:cs typeface="宋体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Starting a </a:t>
            </a:r>
            <a:r>
              <a:rPr lang="en-US" altLang="zh-CN" sz="3600">
                <a:latin typeface="Lucida Console" charset="0"/>
                <a:cs typeface="宋体" charset="0"/>
              </a:rPr>
              <a:t>Runnable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latin typeface="Times New Roman" charset="0"/>
                <a:cs typeface="宋体" charset="0"/>
              </a:rPr>
              <a:t>Pass an object that implements </a:t>
            </a:r>
            <a:r>
              <a:rPr lang="en-US" altLang="zh-CN" sz="2400">
                <a:latin typeface="Lucida Console" charset="0"/>
                <a:cs typeface="宋体" charset="0"/>
              </a:rPr>
              <a:t>Runnable</a:t>
            </a:r>
            <a:r>
              <a:rPr lang="en-US" altLang="zh-CN" sz="2800">
                <a:latin typeface="Times New Roman" charset="0"/>
                <a:cs typeface="宋体" charset="0"/>
              </a:rPr>
              <a:t> to the constructor of a </a:t>
            </a:r>
            <a:r>
              <a:rPr lang="en-US" altLang="zh-CN" sz="2400">
                <a:latin typeface="Lucida Console" charset="0"/>
                <a:cs typeface="宋体" charset="0"/>
              </a:rPr>
              <a:t>Thread</a:t>
            </a:r>
            <a:r>
              <a:rPr lang="en-US" altLang="zh-CN" sz="2800">
                <a:latin typeface="Times New Roman" charset="0"/>
                <a:cs typeface="宋体" charset="0"/>
              </a:rPr>
              <a:t> object, then start the thread as before.</a:t>
            </a:r>
          </a:p>
          <a:p>
            <a:pPr eaLnBrk="1" hangingPunct="1"/>
            <a:r>
              <a:rPr lang="en-US" altLang="zh-CN" sz="2400">
                <a:latin typeface="Lucida Console" charset="0"/>
                <a:cs typeface="宋体" charset="0"/>
              </a:rPr>
              <a:t>FooRunnable fr = new FooRunnable();</a:t>
            </a:r>
            <a:br>
              <a:rPr lang="en-US" altLang="zh-CN" sz="2400">
                <a:latin typeface="Lucida Console" charset="0"/>
                <a:cs typeface="宋体" charset="0"/>
              </a:rPr>
            </a:br>
            <a:r>
              <a:rPr lang="en-US" altLang="zh-CN" sz="2400">
                <a:latin typeface="Lucida Console" charset="0"/>
                <a:cs typeface="宋体" charset="0"/>
              </a:rPr>
              <a:t>new Thread(fr).start()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Multithreading Pros and Cons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charset="0"/>
                <a:cs typeface="宋体" charset="0"/>
              </a:rPr>
              <a:t>Pro: Multiple threads run concurrently on the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latin typeface="Times New Roman" charset="0"/>
                <a:cs typeface="宋体" charset="0"/>
              </a:rPr>
              <a:t>Multiple tasks can be handled at once.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latin typeface="Times New Roman" charset="0"/>
                <a:cs typeface="宋体" charset="0"/>
              </a:rPr>
              <a:t>Processing can be done in the background so as not to interrupt the user.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charset="0"/>
                <a:cs typeface="宋体" charset="0"/>
              </a:rPr>
              <a:t>Con: Multiple threads run concurrently on the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latin typeface="Times New Roman" charset="0"/>
                <a:cs typeface="宋体" charset="0"/>
              </a:rPr>
              <a:t>No more guarantees as to what has already happened, what objects have been initialized yet,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latin typeface="Times New Roman" charset="0"/>
                <a:cs typeface="宋体" charset="0"/>
              </a:rPr>
              <a:t>Code now has to be ‘thread-safe’ or ‘synchronized’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latin typeface="Times New Roman" charset="0"/>
                <a:cs typeface="宋体" charset="0"/>
              </a:rPr>
              <a:t>Debugging becomes much harder.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Tips for Writing Thread-safe Code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charset="0"/>
                <a:cs typeface="宋体" charset="0"/>
              </a:rPr>
              <a:t>Limit a thread’s access to common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charset="0"/>
                <a:cs typeface="宋体" charset="0"/>
              </a:rPr>
              <a:t>Track changes to instance variables through get/set methods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charset="0"/>
                <a:cs typeface="宋体" charset="0"/>
              </a:rPr>
              <a:t>When two or more threads are accessing a collection, make sure the collection being used is synchronized (i.e. using Vector instead of ArrayList)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How do I stop it??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Methods used to directly stop or suspend threads have been depreciated in the Java API, as they could cause synchronization issues.</a:t>
            </a:r>
          </a:p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The thread’s </a:t>
            </a:r>
            <a:r>
              <a:rPr lang="en-US" altLang="zh-CN" sz="2400">
                <a:latin typeface="Lucida Console" charset="0"/>
                <a:cs typeface="宋体" charset="0"/>
              </a:rPr>
              <a:t>run()</a:t>
            </a:r>
            <a:r>
              <a:rPr lang="en-US" altLang="zh-CN">
                <a:latin typeface="Times New Roman" charset="0"/>
                <a:cs typeface="宋体" charset="0"/>
              </a:rPr>
              <a:t> method must return for the thread to stop.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Interesting Facts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4525433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Times New Roman" charset="0"/>
                <a:cs typeface="宋体" charset="0"/>
              </a:rPr>
              <a:t>In many of your Swing programs, </a:t>
            </a:r>
            <a:r>
              <a:rPr lang="en-US" altLang="zh-CN" sz="2000" dirty="0">
                <a:latin typeface="Lucida Console" charset="0"/>
                <a:cs typeface="宋体" charset="0"/>
              </a:rPr>
              <a:t>main()</a:t>
            </a:r>
            <a:r>
              <a:rPr lang="en-US" altLang="zh-CN" sz="2800" dirty="0">
                <a:latin typeface="Times New Roman" charset="0"/>
                <a:cs typeface="宋体" charset="0"/>
              </a:rPr>
              <a:t> has consisted of creating a new </a:t>
            </a:r>
            <a:r>
              <a:rPr lang="en-US" altLang="zh-CN" sz="2400" dirty="0" err="1">
                <a:latin typeface="Lucida Console" charset="0"/>
                <a:cs typeface="宋体" charset="0"/>
              </a:rPr>
              <a:t>JFrame</a:t>
            </a:r>
            <a:r>
              <a:rPr lang="en-US" altLang="zh-CN" sz="2800" dirty="0">
                <a:latin typeface="Times New Roman" charset="0"/>
                <a:cs typeface="宋体" charset="0"/>
              </a:rPr>
              <a:t> object and calling </a:t>
            </a:r>
            <a:r>
              <a:rPr lang="en-US" altLang="zh-CN" sz="2000" dirty="0">
                <a:latin typeface="Lucida Console" charset="0"/>
                <a:cs typeface="宋体" charset="0"/>
              </a:rPr>
              <a:t>show()</a:t>
            </a:r>
            <a:r>
              <a:rPr lang="en-US" altLang="zh-CN" sz="2800" dirty="0">
                <a:latin typeface="Times New Roman" charset="0"/>
                <a:cs typeface="宋体" charset="0"/>
              </a:rPr>
              <a:t> on it</a:t>
            </a:r>
          </a:p>
          <a:p>
            <a:pPr eaLnBrk="1" hangingPunct="1"/>
            <a:r>
              <a:rPr lang="en-US" altLang="zh-CN" sz="2400" dirty="0">
                <a:latin typeface="Lucida Console" charset="0"/>
                <a:cs typeface="宋体" charset="0"/>
              </a:rPr>
              <a:t>show()</a:t>
            </a:r>
            <a:r>
              <a:rPr lang="en-US" altLang="zh-CN" sz="2800" dirty="0">
                <a:latin typeface="Times New Roman" charset="0"/>
                <a:cs typeface="宋体" charset="0"/>
              </a:rPr>
              <a:t> actually starts a new thread that the GUI runs in and returns immediately – </a:t>
            </a:r>
            <a:r>
              <a:rPr lang="en-US" altLang="zh-CN" sz="2400" dirty="0">
                <a:latin typeface="Lucida Console" charset="0"/>
                <a:cs typeface="宋体" charset="0"/>
              </a:rPr>
              <a:t>main()</a:t>
            </a:r>
            <a:r>
              <a:rPr lang="en-US" altLang="zh-CN" sz="2800" dirty="0">
                <a:latin typeface="Times New Roman" charset="0"/>
                <a:cs typeface="宋体" charset="0"/>
              </a:rPr>
              <a:t> then returns. Why doesn’t your program end when </a:t>
            </a:r>
            <a:r>
              <a:rPr lang="en-US" altLang="zh-CN" sz="2400" dirty="0">
                <a:latin typeface="Lucida Console" charset="0"/>
                <a:cs typeface="宋体" charset="0"/>
              </a:rPr>
              <a:t>main()</a:t>
            </a:r>
            <a:r>
              <a:rPr lang="en-US" altLang="zh-CN" sz="2800" dirty="0">
                <a:latin typeface="Times New Roman" charset="0"/>
                <a:cs typeface="宋体" charset="0"/>
              </a:rPr>
              <a:t> does?</a:t>
            </a:r>
          </a:p>
          <a:p>
            <a:pPr eaLnBrk="1" hangingPunct="1"/>
            <a:r>
              <a:rPr lang="en-US" altLang="zh-CN" sz="2800" dirty="0">
                <a:latin typeface="Times New Roman" charset="0"/>
                <a:cs typeface="宋体" charset="0"/>
              </a:rPr>
              <a:t>Java applications only exit when all of their threads have stopped.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charset="0"/>
                <a:cs typeface="宋体" charset="0"/>
              </a:rPr>
              <a:t>Would you like to know more?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charset="0"/>
                <a:cs typeface="宋体" charset="0"/>
              </a:rPr>
              <a:t>Refer to the Java API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  <a:noFill/>
          <a:ln/>
        </p:spPr>
        <p:txBody>
          <a:bodyPr/>
          <a:lstStyle/>
          <a:p>
            <a:r>
              <a:rPr lang="en-US" altLang="zh-CN"/>
              <a:t>Creating Tasks and Threads</a:t>
            </a:r>
          </a:p>
        </p:txBody>
      </p:sp>
      <p:sp>
        <p:nvSpPr>
          <p:cNvPr id="262149" name="Rectangle 5"/>
          <p:cNvSpPr>
            <a:spLocks noChangeArrowheads="1"/>
          </p:cNvSpPr>
          <p:nvPr/>
        </p:nvSpPr>
        <p:spPr bwMode="auto">
          <a:xfrm>
            <a:off x="1828800" y="2324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2151" name="Rectangle 7"/>
          <p:cNvSpPr>
            <a:spLocks noChangeArrowheads="1"/>
          </p:cNvSpPr>
          <p:nvPr/>
        </p:nvSpPr>
        <p:spPr bwMode="auto">
          <a:xfrm>
            <a:off x="1876425" y="2471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2153" name="Rectangle 9"/>
          <p:cNvSpPr>
            <a:spLocks noChangeArrowheads="1"/>
          </p:cNvSpPr>
          <p:nvPr/>
        </p:nvSpPr>
        <p:spPr bwMode="auto">
          <a:xfrm>
            <a:off x="1914525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2155" name="Rectangle 11"/>
          <p:cNvSpPr>
            <a:spLocks noChangeArrowheads="1"/>
          </p:cNvSpPr>
          <p:nvPr/>
        </p:nvSpPr>
        <p:spPr bwMode="auto">
          <a:xfrm>
            <a:off x="0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2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505848"/>
              </p:ext>
            </p:extLst>
          </p:nvPr>
        </p:nvGraphicFramePr>
        <p:xfrm>
          <a:off x="152400" y="1676400"/>
          <a:ext cx="8686800" cy="325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图片" r:id="rId4" imgW="5093208" imgH="1905000" progId="Word.Picture.8">
                  <p:embed/>
                </p:oleObj>
              </mc:Choice>
              <mc:Fallback>
                <p:oleObj name="图片" r:id="rId4" imgW="5093208" imgH="19050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8686800" cy="3251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8718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7384"/>
            <a:ext cx="7848600" cy="1600200"/>
          </a:xfrm>
        </p:spPr>
        <p:txBody>
          <a:bodyPr/>
          <a:lstStyle/>
          <a:p>
            <a:r>
              <a:rPr lang="en-US" altLang="zh-CN" sz="2800" dirty="0"/>
              <a:t>Using the </a:t>
            </a:r>
            <a:r>
              <a:rPr lang="en-US" altLang="zh-CN" dirty="0">
                <a:latin typeface="Courier New" charset="0"/>
              </a:rPr>
              <a:t>Runnable</a:t>
            </a:r>
            <a:r>
              <a:rPr lang="en-US" altLang="zh-CN" sz="2800" dirty="0"/>
              <a:t> Interface to Create and Launch Threads</a:t>
            </a:r>
            <a:endParaRPr lang="en-US" altLang="zh-CN" sz="2800" dirty="0">
              <a:solidFill>
                <a:schemeClr val="tx1"/>
              </a:solidFill>
              <a:latin typeface="Book Antiqua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Demo</a:t>
            </a:r>
          </a:p>
          <a:p>
            <a:pPr lvl="1"/>
            <a:r>
              <a:rPr kumimoji="1" lang="en-US" altLang="zh-CN" dirty="0" err="1"/>
              <a:t>TaskThreadDemo.java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9834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48600" cy="762000"/>
          </a:xfrm>
        </p:spPr>
        <p:txBody>
          <a:bodyPr/>
          <a:lstStyle/>
          <a:p>
            <a:r>
              <a:rPr lang="en-US" altLang="zh-CN"/>
              <a:t>The Thread Class </a:t>
            </a:r>
            <a:endParaRPr lang="en-US" altLang="zh-CN" b="1">
              <a:latin typeface="Courier" charset="0"/>
            </a:endParaRPr>
          </a:p>
        </p:txBody>
      </p:sp>
      <p:sp>
        <p:nvSpPr>
          <p:cNvPr id="264199" name="Rectangle 7"/>
          <p:cNvSpPr>
            <a:spLocks noChangeArrowheads="1"/>
          </p:cNvSpPr>
          <p:nvPr/>
        </p:nvSpPr>
        <p:spPr bwMode="auto">
          <a:xfrm>
            <a:off x="2000250" y="2214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4201" name="Rectangle 9"/>
          <p:cNvSpPr>
            <a:spLocks noChangeArrowheads="1"/>
          </p:cNvSpPr>
          <p:nvPr/>
        </p:nvSpPr>
        <p:spPr bwMode="auto">
          <a:xfrm>
            <a:off x="2000250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4203" name="Rectangle 11"/>
          <p:cNvSpPr>
            <a:spLocks noChangeArrowheads="1"/>
          </p:cNvSpPr>
          <p:nvPr/>
        </p:nvSpPr>
        <p:spPr bwMode="auto">
          <a:xfrm>
            <a:off x="0" y="2301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42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417700"/>
              </p:ext>
            </p:extLst>
          </p:nvPr>
        </p:nvGraphicFramePr>
        <p:xfrm>
          <a:off x="0" y="1447800"/>
          <a:ext cx="9144000" cy="458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图片" r:id="rId3" imgW="4495800" imgH="2253996" progId="Word.Picture.8">
                  <p:embed/>
                </p:oleObj>
              </mc:Choice>
              <mc:Fallback>
                <p:oleObj name="图片" r:id="rId3" imgW="4495800" imgH="225399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47800"/>
                        <a:ext cx="9144000" cy="45878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5150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762000"/>
          </a:xfrm>
        </p:spPr>
        <p:txBody>
          <a:bodyPr/>
          <a:lstStyle/>
          <a:p>
            <a:r>
              <a:rPr lang="en-US" altLang="zh-CN" sz="4000"/>
              <a:t>The Static yield() Method</a:t>
            </a:r>
            <a:endParaRPr lang="en-US" altLang="zh-CN" sz="4000" b="1">
              <a:latin typeface="Courier" charset="0"/>
            </a:endParaRP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91952"/>
            <a:ext cx="8686800" cy="51054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800" dirty="0" err="1">
                <a:cs typeface="Times New Roman" charset="0"/>
              </a:rPr>
              <a:t>TaskThreadDemo.java</a:t>
            </a:r>
            <a:r>
              <a:rPr lang="en-US" altLang="zh-CN" sz="2800" dirty="0">
                <a:cs typeface="Times New Roman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endParaRPr lang="en-US" altLang="zh-CN" sz="2800" dirty="0">
              <a:cs typeface="Times New Roman" charset="0"/>
            </a:endParaRP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ourier New" charset="0"/>
                <a:cs typeface="Times New Roman" charset="0"/>
              </a:rPr>
              <a:t>public void run() {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ourier New" charset="0"/>
                <a:cs typeface="Times New Roman" charset="0"/>
              </a:rPr>
              <a:t>  for (</a:t>
            </a:r>
            <a:r>
              <a:rPr lang="en-US" altLang="zh-CN" sz="2400" dirty="0" err="1">
                <a:latin typeface="Courier New" charset="0"/>
                <a:cs typeface="Times New Roman" charset="0"/>
              </a:rPr>
              <a:t>int</a:t>
            </a:r>
            <a:r>
              <a:rPr lang="en-US" altLang="zh-CN" sz="2400" dirty="0">
                <a:latin typeface="Courier New" charset="0"/>
                <a:cs typeface="Times New Roman" charset="0"/>
              </a:rPr>
              <a:t> </a:t>
            </a:r>
            <a:r>
              <a:rPr lang="en-US" altLang="zh-CN" sz="24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400" dirty="0">
                <a:latin typeface="Courier New" charset="0"/>
                <a:cs typeface="Times New Roman" charset="0"/>
              </a:rPr>
              <a:t> = 1; </a:t>
            </a:r>
            <a:r>
              <a:rPr lang="en-US" altLang="zh-CN" sz="24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400" dirty="0">
                <a:latin typeface="Courier New" charset="0"/>
                <a:cs typeface="Times New Roman" charset="0"/>
              </a:rPr>
              <a:t> &lt;= </a:t>
            </a:r>
            <a:r>
              <a:rPr lang="en-US" altLang="zh-CN" sz="2400" dirty="0" err="1">
                <a:latin typeface="Courier New" charset="0"/>
                <a:cs typeface="Times New Roman" charset="0"/>
              </a:rPr>
              <a:t>lastNum</a:t>
            </a:r>
            <a:r>
              <a:rPr lang="en-US" altLang="zh-CN" sz="2400" dirty="0">
                <a:latin typeface="Courier New" charset="0"/>
                <a:cs typeface="Times New Roman" charset="0"/>
              </a:rPr>
              <a:t>; </a:t>
            </a:r>
            <a:r>
              <a:rPr lang="en-US" altLang="zh-CN" sz="24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400" dirty="0">
                <a:latin typeface="Courier New" charset="0"/>
                <a:cs typeface="Times New Roman" charset="0"/>
              </a:rPr>
              <a:t>++) {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ourier New" charset="0"/>
                <a:cs typeface="Times New Roman" charset="0"/>
              </a:rPr>
              <a:t>    </a:t>
            </a:r>
            <a:r>
              <a:rPr lang="en-US" altLang="zh-CN" sz="2400" dirty="0" err="1">
                <a:latin typeface="Courier New" charset="0"/>
                <a:cs typeface="Times New Roman" charset="0"/>
              </a:rPr>
              <a:t>System.out.print</a:t>
            </a:r>
            <a:r>
              <a:rPr lang="en-US" altLang="zh-CN" sz="2400" dirty="0">
                <a:latin typeface="Courier New" charset="0"/>
                <a:cs typeface="Times New Roman" charset="0"/>
              </a:rPr>
              <a:t>(" " + </a:t>
            </a:r>
            <a:r>
              <a:rPr lang="en-US" altLang="zh-CN" sz="24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400" dirty="0">
                <a:latin typeface="Courier New" charset="0"/>
                <a:cs typeface="Times New Roman" charset="0"/>
              </a:rPr>
              <a:t>);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Courier New" charset="0"/>
                <a:cs typeface="Times New Roman" charset="0"/>
              </a:rPr>
              <a:t>    </a:t>
            </a:r>
            <a:r>
              <a:rPr lang="en-US" altLang="zh-CN" sz="2400" b="1" dirty="0" err="1">
                <a:solidFill>
                  <a:srgbClr val="FF3300"/>
                </a:solidFill>
                <a:latin typeface="Courier New" charset="0"/>
                <a:cs typeface="Times New Roman" charset="0"/>
              </a:rPr>
              <a:t>Thread.yield</a:t>
            </a:r>
            <a:r>
              <a:rPr lang="en-US" altLang="zh-CN" sz="2400" b="1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();</a:t>
            </a:r>
            <a:endParaRPr lang="en-US" altLang="zh-CN" sz="2400" dirty="0">
              <a:solidFill>
                <a:srgbClr val="FF3300"/>
              </a:solidFill>
              <a:latin typeface="Courier New" charset="0"/>
              <a:cs typeface="Times New Roman" charset="0"/>
            </a:endParaRP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ourier New" charset="0"/>
                <a:cs typeface="Times New Roman" charset="0"/>
              </a:rPr>
              <a:t>  }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ourier New" charset="0"/>
                <a:cs typeface="Times New Roman" charset="0"/>
              </a:rPr>
              <a:t>}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800" dirty="0">
                <a:cs typeface="Times New Roman" charset="0"/>
              </a:rPr>
              <a:t> 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800" dirty="0">
                <a:cs typeface="Times New Roman" charset="0"/>
              </a:rPr>
              <a:t>Every time a number is printed, the print100 thread is yielded. So, the numbers are printed after the characters. 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904B-B2EC-6747-B042-52D4945C0738}" type="slidenum">
              <a:rPr lang="en-US" altLang="zh-CN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6651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762000"/>
          </a:xfrm>
        </p:spPr>
        <p:txBody>
          <a:bodyPr/>
          <a:lstStyle/>
          <a:p>
            <a:r>
              <a:rPr lang="en-US" altLang="zh-CN" dirty="0"/>
              <a:t>The Static sleep(milliseconds) Method</a:t>
            </a:r>
            <a:endParaRPr lang="en-US" altLang="zh-CN" b="1" dirty="0">
              <a:latin typeface="Courier" charset="0"/>
            </a:endParaRP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56792"/>
            <a:ext cx="8763000" cy="53340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endParaRPr lang="en-US" altLang="zh-CN" sz="2400" dirty="0">
              <a:cs typeface="Times New Roman" charset="0"/>
            </a:endParaRP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public void run() {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for (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int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 = 1;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 &lt;=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lastNum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;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++) {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 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System.out.print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(" " +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i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);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  </a:t>
            </a: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try {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      if (</a:t>
            </a:r>
            <a:r>
              <a:rPr lang="en-US" altLang="zh-CN" sz="2000" dirty="0" err="1">
                <a:solidFill>
                  <a:srgbClr val="FF3300"/>
                </a:solidFill>
                <a:latin typeface="Courier New" charset="0"/>
                <a:cs typeface="Times New Roman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 &gt;= 50) </a:t>
            </a:r>
            <a:r>
              <a:rPr lang="en-US" altLang="zh-CN" sz="2000" dirty="0" err="1">
                <a:solidFill>
                  <a:srgbClr val="FF3300"/>
                </a:solidFill>
                <a:latin typeface="Courier New" charset="0"/>
                <a:cs typeface="Times New Roman" charset="0"/>
              </a:rPr>
              <a:t>Thread.sleep</a:t>
            </a: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(1);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    }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    catch (</a:t>
            </a:r>
            <a:r>
              <a:rPr lang="en-US" altLang="zh-CN" sz="2000" dirty="0" err="1">
                <a:solidFill>
                  <a:srgbClr val="FF3300"/>
                </a:solidFill>
                <a:latin typeface="Courier New" charset="0"/>
                <a:cs typeface="Times New Roman" charset="0"/>
              </a:rPr>
              <a:t>InterruptedException</a:t>
            </a: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 ex) {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  <a:latin typeface="Courier New" charset="0"/>
                <a:cs typeface="Times New Roman" charset="0"/>
              </a:rPr>
              <a:t>    }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}</a:t>
            </a:r>
          </a:p>
          <a:p>
            <a:pPr marL="625475" lvl="1" indent="-11271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}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400" dirty="0">
                <a:cs typeface="Times New Roman" charset="0"/>
              </a:rPr>
              <a:t> 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400" dirty="0">
                <a:cs typeface="Times New Roman" charset="0"/>
              </a:rPr>
              <a:t>Every time a number (&gt;= 50) is printed, the </a:t>
            </a:r>
            <a:r>
              <a:rPr lang="en-US" altLang="zh-CN" sz="2400" u="sng" dirty="0">
                <a:cs typeface="Times New Roman" charset="0"/>
              </a:rPr>
              <a:t>print100</a:t>
            </a:r>
            <a:r>
              <a:rPr lang="en-US" altLang="zh-CN" sz="2400" dirty="0">
                <a:cs typeface="Times New Roman" charset="0"/>
              </a:rPr>
              <a:t> thread is put to sleep for 1 millisecond. 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0C61-3FA7-2E47-933C-E8F3124E435C}" type="slidenum">
              <a:rPr lang="en-US" altLang="zh-CN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5594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762000"/>
          </a:xfrm>
        </p:spPr>
        <p:txBody>
          <a:bodyPr/>
          <a:lstStyle/>
          <a:p>
            <a:r>
              <a:rPr lang="en-US" altLang="zh-CN" sz="4000"/>
              <a:t>The join() Method</a:t>
            </a:r>
            <a:endParaRPr lang="en-US" altLang="zh-CN" sz="4000" b="1">
              <a:latin typeface="Courier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65920"/>
            <a:ext cx="8763000" cy="11430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400" dirty="0">
                <a:cs typeface="Times New Roman" charset="0"/>
              </a:rPr>
              <a:t> </a:t>
            </a:r>
            <a:r>
              <a:rPr lang="en-US" altLang="zh-CN" sz="2400" dirty="0" err="1">
                <a:cs typeface="Times New Roman" charset="0"/>
              </a:rPr>
              <a:t>TaskThreadDemo.java</a:t>
            </a:r>
            <a:r>
              <a:rPr lang="en-US" altLang="zh-CN" sz="2400" dirty="0">
                <a:cs typeface="Times New Roman" charset="0"/>
              </a:rPr>
              <a:t>: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B233-2A4B-8646-931C-B53F90FC8887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299012" name="Rectangle 4"/>
          <p:cNvSpPr>
            <a:spLocks noChangeArrowheads="1"/>
          </p:cNvSpPr>
          <p:nvPr/>
        </p:nvSpPr>
        <p:spPr bwMode="auto">
          <a:xfrm>
            <a:off x="228600" y="55626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0"/>
              <a:buNone/>
            </a:pPr>
            <a:endParaRPr lang="en-US" altLang="zh-CN">
              <a:cs typeface="Times New Roman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>
                <a:cs typeface="Times New Roman" charset="0"/>
              </a:rPr>
              <a:t>The numbers after 50 are printed after thread printA is finished. </a:t>
            </a:r>
          </a:p>
        </p:txBody>
      </p:sp>
      <p:sp>
        <p:nvSpPr>
          <p:cNvPr id="299014" name="Rectangle 6"/>
          <p:cNvSpPr>
            <a:spLocks noChangeArrowheads="1"/>
          </p:cNvSpPr>
          <p:nvPr/>
        </p:nvSpPr>
        <p:spPr bwMode="auto">
          <a:xfrm>
            <a:off x="0" y="267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99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678491"/>
              </p:ext>
            </p:extLst>
          </p:nvPr>
        </p:nvGraphicFramePr>
        <p:xfrm>
          <a:off x="228600" y="2286000"/>
          <a:ext cx="8686800" cy="288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6" name="图片" r:id="rId3" imgW="4544568" imgH="1511808" progId="Word.Picture.8">
                  <p:embed/>
                </p:oleObj>
              </mc:Choice>
              <mc:Fallback>
                <p:oleObj name="图片" r:id="rId3" imgW="4544568" imgH="151180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0"/>
                        <a:ext cx="8686800" cy="2889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9132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686800" cy="895350"/>
          </a:xfrm>
          <a:noFill/>
          <a:ln/>
        </p:spPr>
        <p:txBody>
          <a:bodyPr/>
          <a:lstStyle/>
          <a:p>
            <a:r>
              <a:rPr lang="en-US" altLang="zh-CN" dirty="0" err="1"/>
              <a:t>isAlive</a:t>
            </a:r>
            <a:r>
              <a:rPr lang="en-US" altLang="zh-CN" dirty="0"/>
              <a:t>(), interrupt(), and </a:t>
            </a:r>
            <a:r>
              <a:rPr lang="en-US" altLang="zh-CN" dirty="0" err="1"/>
              <a:t>isInterrupted</a:t>
            </a:r>
            <a:r>
              <a:rPr lang="en-US" altLang="zh-CN" dirty="0"/>
              <a:t>()</a:t>
            </a:r>
            <a:endParaRPr lang="en-US" altLang="zh-CN" sz="2800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28800"/>
            <a:ext cx="8610600" cy="51816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 err="1">
                <a:cs typeface="Times New Roman" charset="0"/>
              </a:rPr>
              <a:t>isAlive</a:t>
            </a:r>
            <a:r>
              <a:rPr lang="en-US" altLang="zh-CN" sz="2800" dirty="0">
                <a:cs typeface="Times New Roman" charset="0"/>
              </a:rPr>
              <a:t>() </a:t>
            </a:r>
            <a:r>
              <a:rPr lang="zh-CN" altLang="en-US" sz="2800" dirty="0">
                <a:cs typeface="Times New Roman" charset="0"/>
              </a:rPr>
              <a:t>：</a:t>
            </a:r>
            <a:r>
              <a:rPr lang="en-US" altLang="zh-CN" sz="2800" dirty="0">
                <a:cs typeface="Times New Roman" charset="0"/>
              </a:rPr>
              <a:t>It returns true if a thread is in the Ready, Blocked, or Running state; it returns false if a thread is new and has not started or if it is finished.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endParaRPr lang="en-US" altLang="zh-CN" sz="2800" dirty="0">
              <a:cs typeface="Times New Roman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cs typeface="Times New Roman" charset="0"/>
              </a:rPr>
              <a:t>interrupt()</a:t>
            </a:r>
            <a:r>
              <a:rPr lang="zh-CN" altLang="en-US" sz="2800" dirty="0">
                <a:cs typeface="Times New Roman" charset="0"/>
              </a:rPr>
              <a:t>：</a:t>
            </a:r>
            <a:r>
              <a:rPr lang="en-US" altLang="zh-CN" sz="2800" dirty="0">
                <a:cs typeface="Times New Roman" charset="0"/>
              </a:rPr>
              <a:t> If a thread is currently in the Ready or Running state, its interrupted flag is set; if a thread is currently blocked, it is awakened and enters the Ready state, and an </a:t>
            </a:r>
            <a:r>
              <a:rPr lang="en-US" altLang="zh-CN" sz="2800" dirty="0" err="1">
                <a:cs typeface="Times New Roman" charset="0"/>
              </a:rPr>
              <a:t>java.io.InterruptedException</a:t>
            </a:r>
            <a:r>
              <a:rPr lang="en-US" altLang="zh-CN" sz="2800" dirty="0">
                <a:cs typeface="Times New Roman" charset="0"/>
              </a:rPr>
              <a:t> is thrown.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2800" dirty="0">
              <a:cs typeface="Times New Roman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 err="1">
                <a:cs typeface="Times New Roman" charset="0"/>
              </a:rPr>
              <a:t>isInterrupt</a:t>
            </a:r>
            <a:r>
              <a:rPr lang="en-US" altLang="zh-CN" sz="2800" dirty="0">
                <a:cs typeface="Times New Roman" charset="0"/>
              </a:rPr>
              <a:t>() </a:t>
            </a:r>
            <a:r>
              <a:rPr lang="zh-CN" altLang="en-US" sz="2800" dirty="0">
                <a:cs typeface="Times New Roman" charset="0"/>
              </a:rPr>
              <a:t>：</a:t>
            </a:r>
            <a:r>
              <a:rPr lang="en-US" altLang="zh-CN" sz="2800" dirty="0">
                <a:cs typeface="Times New Roman" charset="0"/>
              </a:rPr>
              <a:t>tests whether the thread is interrupted.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BFF9-4483-594C-8C3D-7A05143EBED6}" type="slidenum">
              <a:rPr lang="en-US" altLang="zh-CN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0212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686800" cy="895350"/>
          </a:xfrm>
          <a:noFill/>
          <a:ln/>
        </p:spPr>
        <p:txBody>
          <a:bodyPr/>
          <a:lstStyle/>
          <a:p>
            <a:endParaRPr lang="en-US" altLang="zh-CN" sz="3200" dirty="0"/>
          </a:p>
        </p:txBody>
      </p:sp>
      <p:sp>
        <p:nvSpPr>
          <p:cNvPr id="301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610600" cy="4800600"/>
          </a:xfrm>
          <a:noFill/>
          <a:ln/>
        </p:spPr>
        <p:txBody>
          <a:bodyPr/>
          <a:lstStyle/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cs typeface="Times New Roman" charset="0"/>
              </a:rPr>
              <a:t>NOTE: The </a:t>
            </a:r>
            <a:r>
              <a:rPr lang="en-US" altLang="zh-CN" sz="2400" u="sng">
                <a:cs typeface="Times New Roman" charset="0"/>
              </a:rPr>
              <a:t>Thread</a:t>
            </a:r>
            <a:r>
              <a:rPr lang="en-US" altLang="zh-CN" sz="2400">
                <a:cs typeface="Times New Roman" charset="0"/>
              </a:rPr>
              <a:t> class also contains the </a:t>
            </a:r>
            <a:r>
              <a:rPr lang="en-US" altLang="zh-CN" sz="2400" u="sng">
                <a:cs typeface="Times New Roman" charset="0"/>
              </a:rPr>
              <a:t>stop()</a:t>
            </a:r>
            <a:r>
              <a:rPr lang="en-US" altLang="zh-CN" sz="2400">
                <a:cs typeface="Times New Roman" charset="0"/>
              </a:rPr>
              <a:t>, </a:t>
            </a:r>
            <a:r>
              <a:rPr lang="en-US" altLang="zh-CN" sz="2400" u="sng">
                <a:cs typeface="Times New Roman" charset="0"/>
              </a:rPr>
              <a:t>suspend()</a:t>
            </a:r>
            <a:r>
              <a:rPr lang="en-US" altLang="zh-CN" sz="2400">
                <a:cs typeface="Times New Roman" charset="0"/>
              </a:rPr>
              <a:t>, and </a:t>
            </a:r>
            <a:r>
              <a:rPr lang="en-US" altLang="zh-CN" sz="2400" u="sng">
                <a:cs typeface="Times New Roman" charset="0"/>
              </a:rPr>
              <a:t>resume()</a:t>
            </a:r>
            <a:r>
              <a:rPr lang="en-US" altLang="zh-CN" sz="2400">
                <a:cs typeface="Times New Roman" charset="0"/>
              </a:rPr>
              <a:t> methods. As of Java 2, these methods are </a:t>
            </a:r>
            <a:r>
              <a:rPr lang="en-US" altLang="zh-CN" sz="2400" i="1">
                <a:cs typeface="Times New Roman" charset="0"/>
              </a:rPr>
              <a:t>deprecated</a:t>
            </a:r>
            <a:r>
              <a:rPr lang="en-US" altLang="zh-CN" sz="2400">
                <a:cs typeface="Times New Roman" charset="0"/>
              </a:rPr>
              <a:t> (or </a:t>
            </a:r>
            <a:r>
              <a:rPr lang="en-US" altLang="zh-CN" sz="2400" i="1">
                <a:cs typeface="Times New Roman" charset="0"/>
              </a:rPr>
              <a:t>outdated</a:t>
            </a:r>
            <a:r>
              <a:rPr lang="en-US" altLang="zh-CN" sz="2400">
                <a:cs typeface="Times New Roman" charset="0"/>
              </a:rPr>
              <a:t>) because they are known to be inherently unsafe. You should assign </a:t>
            </a:r>
            <a:r>
              <a:rPr lang="en-US" altLang="zh-CN" sz="2400" u="sng">
                <a:cs typeface="Times New Roman" charset="0"/>
              </a:rPr>
              <a:t>null</a:t>
            </a:r>
            <a:r>
              <a:rPr lang="en-US" altLang="zh-CN" sz="2400">
                <a:cs typeface="Times New Roman" charset="0"/>
              </a:rPr>
              <a:t> to a </a:t>
            </a:r>
            <a:r>
              <a:rPr lang="en-US" altLang="zh-CN" sz="2400" u="sng">
                <a:cs typeface="Times New Roman" charset="0"/>
              </a:rPr>
              <a:t>Thread</a:t>
            </a:r>
            <a:r>
              <a:rPr lang="en-US" altLang="zh-CN" sz="2400">
                <a:cs typeface="Times New Roman" charset="0"/>
              </a:rPr>
              <a:t> variable to indicate that it is stopped rather than use the </a:t>
            </a:r>
            <a:r>
              <a:rPr lang="en-US" altLang="zh-CN" sz="2400" u="sng">
                <a:cs typeface="Times New Roman" charset="0"/>
              </a:rPr>
              <a:t>stop()</a:t>
            </a:r>
            <a:r>
              <a:rPr lang="en-US" altLang="zh-CN" sz="2400">
                <a:cs typeface="Times New Roman" charset="0"/>
              </a:rPr>
              <a:t> method.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AC1A-F3E9-3C41-977B-4E2E918A29AE}" type="slidenum">
              <a:rPr lang="en-US" altLang="zh-CN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8051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  <a:ln/>
        </p:spPr>
        <p:txBody>
          <a:bodyPr/>
          <a:lstStyle/>
          <a:p>
            <a:r>
              <a:rPr lang="en-US" altLang="zh-CN"/>
              <a:t>Thread Priority</a:t>
            </a:r>
            <a:endParaRPr lang="en-US" altLang="zh-CN" b="1"/>
          </a:p>
        </p:txBody>
      </p:sp>
      <p:sp>
        <p:nvSpPr>
          <p:cNvPr id="267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3505200"/>
          </a:xfrm>
          <a:noFill/>
          <a:ln/>
        </p:spPr>
        <p:txBody>
          <a:bodyPr/>
          <a:lstStyle/>
          <a:p>
            <a:pPr marL="334963" indent="-334963"/>
            <a:r>
              <a:rPr lang="en-US" altLang="zh-CN" sz="2800" dirty="0"/>
              <a:t>Each thread is assigned a default priority of </a:t>
            </a:r>
            <a:r>
              <a:rPr lang="en-US" altLang="zh-CN" sz="2400" dirty="0" err="1">
                <a:latin typeface="Courier New" charset="0"/>
              </a:rPr>
              <a:t>Thread.NORM_PRIORITY</a:t>
            </a:r>
            <a:r>
              <a:rPr lang="en-US" altLang="zh-CN" sz="2800" dirty="0"/>
              <a:t>. You can reset the priority using </a:t>
            </a:r>
            <a:r>
              <a:rPr lang="en-US" altLang="zh-CN" sz="2400" dirty="0" err="1">
                <a:latin typeface="Courier New" charset="0"/>
              </a:rPr>
              <a:t>setPriority</a:t>
            </a:r>
            <a:r>
              <a:rPr lang="en-US" altLang="zh-CN" sz="2400" dirty="0">
                <a:latin typeface="Courier New" charset="0"/>
              </a:rPr>
              <a:t>(</a:t>
            </a:r>
            <a:r>
              <a:rPr lang="en-US" altLang="zh-CN" sz="2400" dirty="0" err="1">
                <a:latin typeface="Courier New" charset="0"/>
              </a:rPr>
              <a:t>int</a:t>
            </a:r>
            <a:r>
              <a:rPr lang="en-US" altLang="zh-CN" sz="2400" dirty="0">
                <a:latin typeface="Courier New" charset="0"/>
              </a:rPr>
              <a:t> priority)</a:t>
            </a:r>
            <a:r>
              <a:rPr lang="en-US" altLang="zh-CN" sz="2800" dirty="0"/>
              <a:t>. </a:t>
            </a:r>
          </a:p>
          <a:p>
            <a:pPr marL="334963" indent="-334963">
              <a:spcBef>
                <a:spcPct val="100000"/>
              </a:spcBef>
            </a:pPr>
            <a:r>
              <a:rPr lang="en-US" altLang="zh-CN" sz="2800" dirty="0"/>
              <a:t>Some constants for priorities include </a:t>
            </a:r>
            <a:r>
              <a:rPr lang="en-US" altLang="zh-CN" sz="2400" dirty="0" err="1">
                <a:latin typeface="Courier New" charset="0"/>
              </a:rPr>
              <a:t>Thread.MIN_PRIORITY</a:t>
            </a:r>
            <a:r>
              <a:rPr lang="en-US" altLang="zh-CN" sz="2800" dirty="0"/>
              <a:t> </a:t>
            </a:r>
            <a:r>
              <a:rPr lang="en-US" altLang="zh-CN" sz="2400" dirty="0" err="1">
                <a:latin typeface="Courier New" charset="0"/>
              </a:rPr>
              <a:t>Thread.MAX_PRIORITY</a:t>
            </a:r>
            <a:r>
              <a:rPr lang="en-US" altLang="zh-CN" sz="2800" dirty="0"/>
              <a:t> </a:t>
            </a:r>
            <a:r>
              <a:rPr lang="en-US" altLang="zh-CN" sz="2400" dirty="0" err="1">
                <a:latin typeface="Courier New" charset="0"/>
              </a:rPr>
              <a:t>Thread.NORM_PRIORITY</a:t>
            </a:r>
            <a:endParaRPr lang="en-US" altLang="zh-CN" sz="2400" dirty="0">
              <a:latin typeface="Book Antiqua" charset="0"/>
            </a:endParaRP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5E08-D80A-4D4E-9ECF-7B208AE61B65}" type="slidenum">
              <a:rPr lang="en-US" altLang="zh-CN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218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2950"/>
          </a:xfrm>
          <a:noFill/>
          <a:ln/>
        </p:spPr>
        <p:txBody>
          <a:bodyPr/>
          <a:lstStyle/>
          <a:p>
            <a:r>
              <a:rPr lang="en-US" altLang="zh-CN" sz="4000" dirty="0"/>
              <a:t>Demo: Flashing Text</a:t>
            </a:r>
            <a:endParaRPr lang="en-US" altLang="zh-CN" sz="4000" b="1" dirty="0"/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0B564-50AB-754E-AA3A-693573DD7784}" type="slidenum">
              <a:rPr lang="en-US" altLang="zh-CN"/>
              <a:pPr/>
              <a:t>29</a:t>
            </a:fld>
            <a:endParaRPr lang="en-US" altLang="zh-CN"/>
          </a:p>
        </p:txBody>
      </p:sp>
      <p:pic>
        <p:nvPicPr>
          <p:cNvPr id="3338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1981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38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24000"/>
            <a:ext cx="19812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38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1828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259632" y="4077072"/>
            <a:ext cx="64107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/>
              <a:t>FlashingText</a:t>
            </a:r>
            <a:r>
              <a:rPr kumimoji="1" lang="en-US" altLang="zh-CN" sz="4000" dirty="0" err="1"/>
              <a:t>.java</a:t>
            </a:r>
            <a:endParaRPr kumimoji="1" lang="en-US" altLang="zh-CN" sz="4000" dirty="0"/>
          </a:p>
          <a:p>
            <a:r>
              <a:rPr kumimoji="1" lang="zh-CN" altLang="en-US" sz="4000" dirty="0"/>
              <a:t>通过线程</a:t>
            </a:r>
            <a:r>
              <a:rPr kumimoji="1" lang="en-US" altLang="zh-CN" sz="4000" dirty="0"/>
              <a:t>sleep</a:t>
            </a:r>
            <a:r>
              <a:rPr kumimoji="1" lang="zh-CN" altLang="en-US" sz="4000" dirty="0"/>
              <a:t>实现动画功能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4130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4000"/>
              <a:t>GUI Event Dispatcher Thread</a:t>
            </a:r>
            <a:endParaRPr lang="en-US" altLang="zh-CN" sz="4000" b="1"/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99456"/>
            <a:ext cx="8458200" cy="2133600"/>
          </a:xfrm>
          <a:noFill/>
          <a:ln/>
        </p:spPr>
        <p:txBody>
          <a:bodyPr/>
          <a:lstStyle/>
          <a:p>
            <a:pPr marL="0" indent="0">
              <a:buFont typeface="Monotype Sorts" charset="0"/>
              <a:buNone/>
            </a:pPr>
            <a:r>
              <a:rPr lang="en-US" altLang="zh-CN" sz="2800" dirty="0"/>
              <a:t>GUI event handling and painting code executes in a single thread, called the </a:t>
            </a:r>
            <a:r>
              <a:rPr lang="en-US" altLang="zh-CN" sz="2800" i="1" dirty="0"/>
              <a:t>event dispatcher thread</a:t>
            </a:r>
            <a:r>
              <a:rPr lang="en-US" altLang="zh-CN" sz="2800" dirty="0"/>
              <a:t>. This ensures that each event handler finishes executing before the next one executes and the painting is not interrupted by events. 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E15D-C814-5240-9E10-ACC329ECAB49}" type="slidenum">
              <a:rPr lang="en-US" altLang="zh-CN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066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  <a:noFill/>
          <a:ln/>
        </p:spPr>
        <p:txBody>
          <a:bodyPr/>
          <a:lstStyle/>
          <a:p>
            <a:r>
              <a:rPr lang="en-US" altLang="zh-CN" dirty="0" err="1"/>
              <a:t>invokeLater</a:t>
            </a:r>
            <a:r>
              <a:rPr lang="en-US" altLang="zh-CN" dirty="0"/>
              <a:t> and </a:t>
            </a:r>
            <a:r>
              <a:rPr lang="en-US" altLang="zh-CN" dirty="0" err="1"/>
              <a:t>invokeAndWait</a:t>
            </a:r>
            <a:endParaRPr lang="en-US" altLang="zh-CN" b="1" dirty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763000" cy="5029200"/>
          </a:xfrm>
          <a:noFill/>
          <a:ln/>
        </p:spPr>
        <p:txBody>
          <a:bodyPr/>
          <a:lstStyle/>
          <a:p>
            <a:pPr marL="0" indent="0">
              <a:buFont typeface="Monotype Sorts" charset="0"/>
              <a:buNone/>
            </a:pPr>
            <a:endParaRPr lang="en-US" altLang="zh-CN" sz="2600" dirty="0"/>
          </a:p>
          <a:p>
            <a:r>
              <a:rPr lang="en-US" altLang="zh-CN" sz="2600" dirty="0"/>
              <a:t> </a:t>
            </a:r>
            <a:r>
              <a:rPr lang="en-US" altLang="zh-CN" sz="2600" u="sng" dirty="0" err="1"/>
              <a:t>invokeLater</a:t>
            </a:r>
            <a:r>
              <a:rPr lang="en-US" altLang="zh-CN" sz="2600" dirty="0"/>
              <a:t> method returns immediately, without waiting for the event dispatcher thread to execute the code.</a:t>
            </a:r>
          </a:p>
          <a:p>
            <a:r>
              <a:rPr lang="en-US" altLang="zh-CN" sz="2600" dirty="0"/>
              <a:t> </a:t>
            </a:r>
            <a:r>
              <a:rPr lang="en-US" altLang="zh-CN" sz="2600" dirty="0">
                <a:ea typeface="SimSun" charset="0"/>
                <a:cs typeface="SimSun" charset="0"/>
              </a:rPr>
              <a:t>The </a:t>
            </a:r>
            <a:r>
              <a:rPr lang="en-US" altLang="zh-CN" sz="2600" u="sng" dirty="0" err="1">
                <a:ea typeface="SimSun" charset="0"/>
                <a:cs typeface="SimSun" charset="0"/>
              </a:rPr>
              <a:t>invokeAndWait</a:t>
            </a:r>
            <a:r>
              <a:rPr lang="en-US" altLang="zh-CN" sz="2600" dirty="0">
                <a:ea typeface="SimSun" charset="0"/>
                <a:cs typeface="SimSun" charset="0"/>
              </a:rPr>
              <a:t> method is just like </a:t>
            </a:r>
            <a:r>
              <a:rPr lang="en-US" altLang="zh-CN" sz="2600" u="sng" dirty="0" err="1">
                <a:ea typeface="SimSun" charset="0"/>
                <a:cs typeface="SimSun" charset="0"/>
              </a:rPr>
              <a:t>invokeLater</a:t>
            </a:r>
            <a:r>
              <a:rPr lang="en-US" altLang="zh-CN" sz="2600" dirty="0">
                <a:ea typeface="SimSun" charset="0"/>
                <a:cs typeface="SimSun" charset="0"/>
              </a:rPr>
              <a:t>, except that </a:t>
            </a:r>
            <a:r>
              <a:rPr lang="en-US" altLang="zh-CN" sz="2600" u="sng" dirty="0" err="1">
                <a:ea typeface="SimSun" charset="0"/>
                <a:cs typeface="SimSun" charset="0"/>
              </a:rPr>
              <a:t>invokeAndWait</a:t>
            </a:r>
            <a:r>
              <a:rPr lang="en-US" altLang="zh-CN" sz="2600" dirty="0">
                <a:ea typeface="SimSun" charset="0"/>
                <a:cs typeface="SimSun" charset="0"/>
              </a:rPr>
              <a:t> doesn't return until the event-dispatching thread has executed the specified code. </a:t>
            </a:r>
            <a:endParaRPr lang="en-US" altLang="zh-CN" sz="2600" dirty="0"/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77CA-1FF7-E649-951C-FFCFE012618B}" type="slidenum">
              <a:rPr lang="en-US" altLang="zh-CN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2472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763000" cy="533400"/>
          </a:xfrm>
          <a:noFill/>
          <a:ln/>
        </p:spPr>
        <p:txBody>
          <a:bodyPr/>
          <a:lstStyle/>
          <a:p>
            <a:r>
              <a:rPr lang="en-US" altLang="zh-CN" sz="3200" dirty="0"/>
              <a:t>Launch Application from Main Method</a:t>
            </a:r>
            <a:endParaRPr lang="en-US" altLang="zh-CN" sz="3200" b="1" dirty="0"/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610600" cy="5486400"/>
          </a:xfrm>
          <a:noFill/>
          <a:ln/>
        </p:spPr>
        <p:txBody>
          <a:bodyPr/>
          <a:lstStyle/>
          <a:p>
            <a:pPr marL="0" indent="0">
              <a:buFont typeface="Monotype Sorts" charset="0"/>
              <a:buNone/>
            </a:pPr>
            <a:endParaRPr lang="en-US" altLang="zh-CN" sz="2700" dirty="0"/>
          </a:p>
          <a:p>
            <a:pPr lvl="1">
              <a:buFontTx/>
              <a:buNone/>
            </a:pPr>
            <a:r>
              <a:rPr lang="en-US" altLang="zh-CN" sz="2000" dirty="0"/>
              <a:t>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{</a:t>
            </a:r>
          </a:p>
          <a:p>
            <a:pPr lvl="1">
              <a:buFontTx/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SwingUtilities.invokeLater</a:t>
            </a:r>
            <a:r>
              <a:rPr lang="en-US" altLang="zh-CN" sz="2000" dirty="0"/>
              <a:t>(new Runnable() {</a:t>
            </a:r>
          </a:p>
          <a:p>
            <a:pPr lvl="1">
              <a:buFontTx/>
              <a:buNone/>
            </a:pPr>
            <a:r>
              <a:rPr lang="en-US" altLang="zh-CN" sz="2000" dirty="0"/>
              <a:t>      public void run() {</a:t>
            </a:r>
          </a:p>
          <a:p>
            <a:pPr lvl="1">
              <a:buFontTx/>
              <a:buNone/>
            </a:pPr>
            <a:r>
              <a:rPr lang="en-US" altLang="zh-CN" sz="1800" dirty="0"/>
              <a:t>         // Place the code for creating a frame and setting it properties</a:t>
            </a:r>
          </a:p>
          <a:p>
            <a:pPr lvl="1">
              <a:buFontTx/>
              <a:buNone/>
            </a:pPr>
            <a:r>
              <a:rPr lang="en-US" altLang="zh-CN" sz="2000" dirty="0"/>
              <a:t>     }</a:t>
            </a:r>
          </a:p>
          <a:p>
            <a:pPr lvl="1">
              <a:buFontTx/>
              <a:buNone/>
            </a:pPr>
            <a:r>
              <a:rPr lang="en-US" altLang="zh-CN" sz="2000" dirty="0"/>
              <a:t>   });</a:t>
            </a:r>
          </a:p>
          <a:p>
            <a:pPr lvl="1">
              <a:buFontTx/>
              <a:buNone/>
            </a:pPr>
            <a:r>
              <a:rPr lang="en-US" altLang="zh-CN" sz="2000" dirty="0"/>
              <a:t>}</a:t>
            </a:r>
          </a:p>
          <a:p>
            <a:pPr lvl="1">
              <a:buFontTx/>
              <a:buNone/>
            </a:pPr>
            <a:endParaRPr lang="en-US" altLang="zh-CN" sz="2000" dirty="0"/>
          </a:p>
          <a:p>
            <a:pPr lvl="1">
              <a:buFontTx/>
              <a:buNone/>
            </a:pPr>
            <a:r>
              <a:rPr lang="en-US" altLang="zh-CN" sz="2000" dirty="0" err="1"/>
              <a:t>SwingUtilities</a:t>
            </a:r>
            <a:r>
              <a:rPr lang="zh-CN" altLang="en-US" sz="2000" dirty="0"/>
              <a:t>：关于</a:t>
            </a:r>
            <a:r>
              <a:rPr lang="en-US" altLang="zh-CN" sz="2000" dirty="0"/>
              <a:t>swing</a:t>
            </a:r>
            <a:r>
              <a:rPr lang="zh-CN" altLang="en-US" sz="2000" dirty="0"/>
              <a:t>的一些实用方法在这个类中</a:t>
            </a:r>
            <a:endParaRPr lang="en-US" altLang="zh-CN" sz="2000" dirty="0"/>
          </a:p>
          <a:p>
            <a:pPr lvl="1">
              <a:buFontTx/>
              <a:buNone/>
            </a:pPr>
            <a:r>
              <a:rPr lang="en-US" altLang="zh-CN" sz="2000" err="1"/>
              <a:t>javax</a:t>
            </a:r>
            <a:r>
              <a:rPr lang="en-US" altLang="zh-CN" sz="2000"/>
              <a:t>.swing</a:t>
            </a:r>
            <a:endParaRPr lang="en-US" altLang="zh-CN" sz="2000" dirty="0"/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C244-F63F-A146-BA5A-08902FA9DA63}" type="slidenum">
              <a:rPr lang="en-US" altLang="zh-CN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936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319D3E4-C79A-3041-8F40-56AE7F58B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Timers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EA89964-8D28-5849-A76C-1B828D5B7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 Timer will internally launch a new thread, but handle most of the work for you.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 Timer will call a method when its interval expires.</a:t>
            </a:r>
          </a:p>
        </p:txBody>
      </p:sp>
    </p:spTree>
    <p:extLst>
      <p:ext uri="{BB962C8B-B14F-4D97-AF65-F5344CB8AC3E}">
        <p14:creationId xmlns:p14="http://schemas.microsoft.com/office/powerpoint/2010/main" val="96261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7DF803F-9D63-8C43-9E42-80689D994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Timer Guidelines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E2996F6-5AED-2546-9796-3ECB1171B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Timers should be performing quick tasks, such as updating simple state.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If a timer is performing a complex operation, its next interval may expire before it finishes, and the timer will become backlogged (bad)</a:t>
            </a:r>
          </a:p>
        </p:txBody>
      </p:sp>
    </p:spTree>
    <p:extLst>
      <p:ext uri="{BB962C8B-B14F-4D97-AF65-F5344CB8AC3E}">
        <p14:creationId xmlns:p14="http://schemas.microsoft.com/office/powerpoint/2010/main" val="4075490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82AF73B-8FCC-724A-B4DF-8F0656901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Common Uses for Timers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507F24B-7390-A148-8E17-49D03F89CF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Timed events or scheduled updates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Delay events for a specified time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732560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99679E3-B909-5E48-8625-9043BC5B0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Creating Timers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1F32AFE-4113-F54F-BB1C-2875EB44B5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Java has two 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Timer</a:t>
            </a:r>
            <a:r>
              <a:rPr lang="en-US" altLang="zh-CN" sz="2800" dirty="0">
                <a:ea typeface="宋体" panose="02010600030101010101" pitchFamily="2" charset="-122"/>
              </a:rPr>
              <a:t> classes – one located in </a:t>
            </a:r>
            <a:r>
              <a:rPr lang="en-US" altLang="zh-CN" sz="2000" dirty="0" err="1">
                <a:latin typeface="Lucida Console" panose="020B0609040504020204" pitchFamily="49" charset="0"/>
                <a:ea typeface="宋体" panose="02010600030101010101" pitchFamily="2" charset="-122"/>
              </a:rPr>
              <a:t>java.util</a:t>
            </a:r>
            <a:r>
              <a:rPr lang="en-US" altLang="zh-CN" sz="2800" dirty="0">
                <a:ea typeface="宋体" panose="02010600030101010101" pitchFamily="2" charset="-122"/>
              </a:rPr>
              <a:t> and one in </a:t>
            </a:r>
            <a:r>
              <a:rPr lang="en-US" altLang="zh-CN" sz="2000" dirty="0" err="1">
                <a:latin typeface="Lucida Console" panose="020B0609040504020204" pitchFamily="49" charset="0"/>
                <a:ea typeface="宋体" panose="02010600030101010101" pitchFamily="2" charset="-122"/>
              </a:rPr>
              <a:t>javax.swing</a:t>
            </a:r>
            <a:r>
              <a:rPr lang="en-US" altLang="zh-CN" sz="2800" dirty="0">
                <a:ea typeface="宋体" panose="02010600030101010101" pitchFamily="2" charset="-122"/>
              </a:rPr>
              <a:t>. We’ll be dealing with the one in the Swing library.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Important timer methods:</a:t>
            </a:r>
          </a:p>
          <a:p>
            <a:pPr eaLnBrk="1" hangingPunct="1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public Timer(int </a:t>
            </a:r>
            <a:r>
              <a:rPr lang="en-US" altLang="zh-CN" sz="1800" dirty="0" err="1">
                <a:latin typeface="Lucida Console" panose="020B0609040504020204" pitchFamily="49" charset="0"/>
                <a:ea typeface="宋体" panose="02010600030101010101" pitchFamily="2" charset="-122"/>
              </a:rPr>
              <a:t>ms_delay</a:t>
            </a:r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, ActionListener al)</a:t>
            </a:r>
          </a:p>
          <a:p>
            <a:pPr eaLnBrk="1" hangingPunct="1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public void start()</a:t>
            </a:r>
          </a:p>
          <a:p>
            <a:pPr eaLnBrk="1" hangingPunct="1"/>
            <a:r>
              <a:rPr lang="en-US" altLang="zh-CN" sz="1800" dirty="0">
                <a:latin typeface="Lucida Console" panose="020B0609040504020204" pitchFamily="49" charset="0"/>
                <a:ea typeface="宋体" panose="02010600030101010101" pitchFamily="2" charset="-122"/>
              </a:rPr>
              <a:t>public void stop()</a:t>
            </a:r>
          </a:p>
        </p:txBody>
      </p:sp>
    </p:spTree>
    <p:extLst>
      <p:ext uri="{BB962C8B-B14F-4D97-AF65-F5344CB8AC3E}">
        <p14:creationId xmlns:p14="http://schemas.microsoft.com/office/powerpoint/2010/main" val="2900401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6C4C526-34FB-5344-A3F5-82D051C48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Wait, an </a:t>
            </a:r>
            <a:r>
              <a:rPr lang="en-US" altLang="zh-CN" sz="3600">
                <a:latin typeface="Lucida Console" panose="020B0609040504020204" pitchFamily="49" charset="0"/>
                <a:ea typeface="宋体" panose="02010600030101010101" pitchFamily="2" charset="-122"/>
              </a:rPr>
              <a:t>ActionListener</a:t>
            </a:r>
            <a:r>
              <a:rPr lang="en-US" altLang="zh-CN"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360CBCC-1374-FE4E-8857-C22B33097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Timers take a delay (in milliseconds) and an 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ActionListener</a:t>
            </a:r>
            <a:r>
              <a:rPr lang="en-US" altLang="zh-CN" sz="2800" dirty="0">
                <a:ea typeface="宋体" panose="02010600030101010101" pitchFamily="2" charset="-122"/>
              </a:rPr>
              <a:t> object in their constructor.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Once a timer has started, it will call the 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ActionListener</a:t>
            </a:r>
            <a:r>
              <a:rPr lang="en-US" altLang="zh-CN" sz="2800" dirty="0">
                <a:ea typeface="宋体" panose="02010600030101010101" pitchFamily="2" charset="-122"/>
              </a:rPr>
              <a:t>’s </a:t>
            </a:r>
            <a:r>
              <a:rPr lang="en-US" altLang="zh-CN" sz="2000" dirty="0" err="1">
                <a:latin typeface="Lucida Console" panose="020B0609040504020204" pitchFamily="49" charset="0"/>
                <a:ea typeface="宋体" panose="02010600030101010101" pitchFamily="2" charset="-122"/>
              </a:rPr>
              <a:t>ActionPerformed</a:t>
            </a:r>
            <a:r>
              <a:rPr lang="en-US" altLang="zh-CN" sz="2000" dirty="0">
                <a:latin typeface="Lucida Console" panose="020B0609040504020204" pitchFamily="49" charset="0"/>
                <a:ea typeface="宋体" panose="02010600030101010101" pitchFamily="2" charset="-122"/>
              </a:rPr>
              <a:t>()</a:t>
            </a:r>
            <a:r>
              <a:rPr lang="en-US" altLang="zh-CN" sz="2800" dirty="0">
                <a:ea typeface="宋体" panose="02010600030101010101" pitchFamily="2" charset="-122"/>
              </a:rPr>
              <a:t> method each time its interval expires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5937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FF9BCE6-8032-304F-BAFC-3C2E45408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Timer Advantages Over Threads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46C5A2F-ECF9-E547-9BC0-B6DAB588F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Simplicity!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The familiar ActionListener interface and internal handling of the thread bookkeeping makes timers much easier to use and maintain than full threads.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What you gain in simplicity, you give up in flexibility.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771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533400"/>
          </a:xfrm>
          <a:noFill/>
          <a:ln/>
        </p:spPr>
        <p:txBody>
          <a:bodyPr/>
          <a:lstStyle/>
          <a:p>
            <a:r>
              <a:rPr lang="en-US" altLang="zh-CN" sz="3600" dirty="0"/>
              <a:t>Case Study: Clock with Audio </a:t>
            </a:r>
            <a:r>
              <a:rPr lang="en-US" altLang="zh-CN" dirty="0"/>
              <a:t> </a:t>
            </a:r>
          </a:p>
        </p:txBody>
      </p:sp>
      <p:pic>
        <p:nvPicPr>
          <p:cNvPr id="3369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668294"/>
            <a:ext cx="1992312" cy="16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69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657181"/>
            <a:ext cx="19812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6903" name="Text Box 7"/>
          <p:cNvSpPr txBox="1">
            <a:spLocks noChangeArrowheads="1"/>
          </p:cNvSpPr>
          <p:nvPr/>
        </p:nvSpPr>
        <p:spPr bwMode="auto">
          <a:xfrm>
            <a:off x="304800" y="3562181"/>
            <a:ext cx="84582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The example creates an applet that displays a running clock and announces the time at one-minute intervals. For example, if the current time is 6:30:00, the applet announces, "six o</a:t>
            </a:r>
            <a:r>
              <a:rPr lang="zh-CN" altLang="en-US" sz="2400" dirty="0">
                <a:latin typeface="Arial"/>
              </a:rPr>
              <a:t>’</a:t>
            </a:r>
            <a:r>
              <a:rPr lang="en-US" altLang="zh-CN" sz="2400" dirty="0"/>
              <a:t>clock thirty minutes a.m." If the current time is 20:20:00, the applet announces, "eight o</a:t>
            </a:r>
            <a:r>
              <a:rPr lang="zh-CN" altLang="en-US" sz="2400" dirty="0">
                <a:latin typeface="Arial"/>
              </a:rPr>
              <a:t>’</a:t>
            </a:r>
            <a:r>
              <a:rPr lang="en-US" altLang="zh-CN" sz="2400" dirty="0"/>
              <a:t>clock twenty minutes p.m." Also add a label to display the digital time.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95736" y="5807005"/>
            <a:ext cx="4078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 err="1"/>
              <a:t>ClockWithAudio.java</a:t>
            </a:r>
            <a:endParaRPr kumimoji="1"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54526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533400"/>
          </a:xfrm>
          <a:noFill/>
          <a:ln/>
        </p:spPr>
        <p:txBody>
          <a:bodyPr/>
          <a:lstStyle/>
          <a:p>
            <a:r>
              <a:rPr lang="en-US" altLang="zh-CN" sz="2800" dirty="0"/>
              <a:t>Demo:</a:t>
            </a:r>
            <a:r>
              <a:rPr lang="zh-CN" altLang="en-US" sz="2800" dirty="0"/>
              <a:t> </a:t>
            </a:r>
            <a:r>
              <a:rPr lang="en-US" altLang="zh-CN" sz="2800" dirty="0"/>
              <a:t>Run Audio on Separate Thread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99592" y="1955109"/>
            <a:ext cx="7620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 err="1"/>
              <a:t>ClockWithAudioOnSeparateThread.java</a:t>
            </a:r>
            <a:endParaRPr kumimoji="1"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570226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5AFC4-0A4D-F347-8E9D-A106AD46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运行线程池的静态类</a:t>
            </a:r>
            <a:r>
              <a:rPr kumimoji="1" lang="en-US" altLang="zh-CN" dirty="0" err="1"/>
              <a:t>Excutors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8E6C90-2055-6F43-AA2B-51E9656A6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060848"/>
            <a:ext cx="5544616" cy="405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76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63352"/>
            <a:ext cx="8534400" cy="533400"/>
          </a:xfrm>
          <a:noFill/>
          <a:ln/>
        </p:spPr>
        <p:txBody>
          <a:bodyPr/>
          <a:lstStyle/>
          <a:p>
            <a:r>
              <a:rPr lang="en-US" altLang="zh-CN" sz="3600" dirty="0"/>
              <a:t>Thread Pools</a:t>
            </a:r>
            <a:endParaRPr lang="en-US" altLang="zh-CN" dirty="0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00B6A-C8EF-1845-BD6F-A992709C665F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339971" name="Text Box 3"/>
          <p:cNvSpPr txBox="1">
            <a:spLocks noChangeArrowheads="1"/>
          </p:cNvSpPr>
          <p:nvPr/>
        </p:nvSpPr>
        <p:spPr bwMode="auto">
          <a:xfrm>
            <a:off x="0" y="1412776"/>
            <a:ext cx="86868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u="sng" dirty="0"/>
              <a:t>Executor</a:t>
            </a:r>
            <a:r>
              <a:rPr lang="en-US" altLang="zh-CN" sz="2400" dirty="0"/>
              <a:t> interface for executing tasks in a thread pool and the </a:t>
            </a:r>
            <a:r>
              <a:rPr lang="en-US" altLang="zh-CN" sz="2400" u="sng" dirty="0" err="1"/>
              <a:t>ExecutorService</a:t>
            </a:r>
            <a:r>
              <a:rPr lang="en-US" altLang="zh-CN" sz="2400" dirty="0"/>
              <a:t> interface for managing and controlling tasks. </a:t>
            </a:r>
            <a:r>
              <a:rPr lang="en-US" altLang="zh-CN" sz="2400" u="sng" dirty="0" err="1"/>
              <a:t>ExecutorService</a:t>
            </a:r>
            <a:r>
              <a:rPr lang="en-US" altLang="zh-CN" sz="2400" dirty="0"/>
              <a:t> is a sub-interface of </a:t>
            </a:r>
            <a:r>
              <a:rPr lang="en-US" altLang="zh-CN" sz="2400" u="sng" dirty="0"/>
              <a:t>Executor</a:t>
            </a:r>
            <a:r>
              <a:rPr lang="en-US" altLang="zh-CN" sz="2400" dirty="0"/>
              <a:t>. </a:t>
            </a:r>
          </a:p>
        </p:txBody>
      </p:sp>
      <p:sp>
        <p:nvSpPr>
          <p:cNvPr id="339975" name="Rectangle 7"/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399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803742"/>
              </p:ext>
            </p:extLst>
          </p:nvPr>
        </p:nvGraphicFramePr>
        <p:xfrm>
          <a:off x="1043608" y="3248049"/>
          <a:ext cx="6324600" cy="298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4" name="图片" r:id="rId3" imgW="4709160" imgH="2218944" progId="Word.Picture.8">
                  <p:embed/>
                </p:oleObj>
              </mc:Choice>
              <mc:Fallback>
                <p:oleObj name="图片" r:id="rId3" imgW="4709160" imgH="2218944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248049"/>
                        <a:ext cx="6324600" cy="29892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3292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533400"/>
          </a:xfrm>
          <a:noFill/>
          <a:ln/>
        </p:spPr>
        <p:txBody>
          <a:bodyPr/>
          <a:lstStyle/>
          <a:p>
            <a:r>
              <a:rPr lang="en-US" altLang="zh-CN" sz="3600"/>
              <a:t>Creating Executors</a:t>
            </a:r>
            <a:endParaRPr lang="en-US" altLang="zh-CN"/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B74F-7CB7-3343-B72F-60BEEDBD23F6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340995" name="Text Box 3"/>
          <p:cNvSpPr txBox="1">
            <a:spLocks noChangeArrowheads="1"/>
          </p:cNvSpPr>
          <p:nvPr/>
        </p:nvSpPr>
        <p:spPr bwMode="auto">
          <a:xfrm>
            <a:off x="228600" y="1454547"/>
            <a:ext cx="868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To create an </a:t>
            </a:r>
            <a:r>
              <a:rPr lang="en-US" altLang="zh-CN" sz="2400" u="sng"/>
              <a:t>Executor</a:t>
            </a:r>
            <a:r>
              <a:rPr lang="en-US" altLang="zh-CN" sz="2400"/>
              <a:t> object, use the static methods in the </a:t>
            </a:r>
            <a:r>
              <a:rPr lang="en-US" altLang="zh-CN" sz="2400" u="sng"/>
              <a:t>Executors</a:t>
            </a:r>
            <a:r>
              <a:rPr lang="en-US" altLang="zh-CN" sz="2400"/>
              <a:t> class. </a:t>
            </a:r>
          </a:p>
        </p:txBody>
      </p:sp>
      <p:graphicFrame>
        <p:nvGraphicFramePr>
          <p:cNvPr id="340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407206"/>
              </p:ext>
            </p:extLst>
          </p:nvPr>
        </p:nvGraphicFramePr>
        <p:xfrm>
          <a:off x="381000" y="2875830"/>
          <a:ext cx="8458200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9" name="图片" r:id="rId3" imgW="4527804" imgH="1100328" progId="Word.Picture.8">
                  <p:embed/>
                </p:oleObj>
              </mc:Choice>
              <mc:Fallback>
                <p:oleObj name="图片" r:id="rId3" imgW="4527804" imgH="110032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875830"/>
                        <a:ext cx="8458200" cy="20653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51720" y="5661248"/>
            <a:ext cx="343415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 err="1"/>
              <a:t>ExecutorDemo.java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77501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514350"/>
          </a:xfrm>
        </p:spPr>
        <p:txBody>
          <a:bodyPr/>
          <a:lstStyle/>
          <a:p>
            <a:r>
              <a:rPr lang="en-US" altLang="zh-CN"/>
              <a:t>Thread Synchronization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9E1E-B7F8-4C45-B2FF-43EB5C78F695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338947" name="Text Box 3"/>
          <p:cNvSpPr txBox="1">
            <a:spLocks noChangeArrowheads="1"/>
          </p:cNvSpPr>
          <p:nvPr/>
        </p:nvSpPr>
        <p:spPr bwMode="auto">
          <a:xfrm>
            <a:off x="304800" y="1676400"/>
            <a:ext cx="84582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/>
              <a:t>A shared resource may be corrupted if it is accessed simultaneously by multiple threads. For example, two unsynchronized threads accessing the same bank account may cause conflict.</a:t>
            </a:r>
            <a:endParaRPr lang="en-US" altLang="zh-CN"/>
          </a:p>
        </p:txBody>
      </p:sp>
      <p:graphicFrame>
        <p:nvGraphicFramePr>
          <p:cNvPr id="338948" name="Object 4"/>
          <p:cNvGraphicFramePr>
            <a:graphicFrameLocks noChangeAspect="1"/>
          </p:cNvGraphicFramePr>
          <p:nvPr/>
        </p:nvGraphicFramePr>
        <p:xfrm>
          <a:off x="381000" y="3810000"/>
          <a:ext cx="87630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2" name="图片" r:id="rId3" imgW="5029200" imgH="1257480" progId="Word.Picture.8">
                  <p:embed/>
                </p:oleObj>
              </mc:Choice>
              <mc:Fallback>
                <p:oleObj name="图片" r:id="rId3" imgW="5029200" imgH="125748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0000"/>
                        <a:ext cx="87630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0550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305800" cy="609600"/>
          </a:xfrm>
        </p:spPr>
        <p:txBody>
          <a:bodyPr/>
          <a:lstStyle/>
          <a:p>
            <a:r>
              <a:rPr lang="en-US" altLang="zh-CN" sz="3200" dirty="0"/>
              <a:t>Example: Showing Resource Conflict</a:t>
            </a:r>
            <a:endParaRPr lang="en-US" altLang="zh-CN" sz="3200" dirty="0">
              <a:solidFill>
                <a:schemeClr val="tx1"/>
              </a:solidFill>
              <a:latin typeface="Book Antiqua" charset="0"/>
            </a:endParaRPr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81F-10AC-8245-9995-DD30F353F140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274444" name="Rectangle 12"/>
          <p:cNvSpPr>
            <a:spLocks noChangeArrowheads="1"/>
          </p:cNvSpPr>
          <p:nvPr/>
        </p:nvSpPr>
        <p:spPr bwMode="auto">
          <a:xfrm>
            <a:off x="2686050" y="2633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27444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93096"/>
            <a:ext cx="377190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4446" name="Rectangle 14"/>
          <p:cNvSpPr>
            <a:spLocks noChangeArrowheads="1"/>
          </p:cNvSpPr>
          <p:nvPr/>
        </p:nvSpPr>
        <p:spPr bwMode="auto">
          <a:xfrm>
            <a:off x="0" y="2770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74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953290"/>
              </p:ext>
            </p:extLst>
          </p:nvPr>
        </p:nvGraphicFramePr>
        <p:xfrm>
          <a:off x="914400" y="1772816"/>
          <a:ext cx="7315200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图片" r:id="rId4" imgW="4975860" imgH="1313688" progId="Word.Picture.8">
                  <p:embed/>
                </p:oleObj>
              </mc:Choice>
              <mc:Fallback>
                <p:oleObj name="图片" r:id="rId4" imgW="4975860" imgH="131368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772816"/>
                        <a:ext cx="7315200" cy="19367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788024" y="4869160"/>
            <a:ext cx="3942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err="1"/>
              <a:t>AccountWithoutSync.java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619992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3136"/>
            <a:ext cx="7772400" cy="609600"/>
          </a:xfrm>
          <a:noFill/>
          <a:ln/>
        </p:spPr>
        <p:txBody>
          <a:bodyPr/>
          <a:lstStyle/>
          <a:p>
            <a:r>
              <a:rPr lang="en-US" altLang="zh-CN" dirty="0"/>
              <a:t>Race Condition</a:t>
            </a:r>
            <a:endParaRPr lang="en-US" altLang="zh-CN" b="1" dirty="0"/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C17D4-F386-6F4A-B879-078C9BA18DFE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259079" name="Rectangle 7"/>
          <p:cNvSpPr>
            <a:spLocks noChangeArrowheads="1"/>
          </p:cNvSpPr>
          <p:nvPr/>
        </p:nvSpPr>
        <p:spPr bwMode="auto">
          <a:xfrm>
            <a:off x="2371725" y="2914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9082" name="Rectangle 10"/>
          <p:cNvSpPr>
            <a:spLocks noChangeArrowheads="1"/>
          </p:cNvSpPr>
          <p:nvPr/>
        </p:nvSpPr>
        <p:spPr bwMode="auto">
          <a:xfrm>
            <a:off x="108520" y="35902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90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440252"/>
              </p:ext>
            </p:extLst>
          </p:nvPr>
        </p:nvGraphicFramePr>
        <p:xfrm>
          <a:off x="413320" y="2352030"/>
          <a:ext cx="7696200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1" name="图片" r:id="rId4" imgW="4404360" imgH="1028700" progId="Word.Picture.8">
                  <p:embed/>
                </p:oleObj>
              </mc:Choice>
              <mc:Fallback>
                <p:oleObj name="图片" r:id="rId4" imgW="4404360" imgH="10287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20" y="2352030"/>
                        <a:ext cx="7696200" cy="179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86200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4000"/>
              <a:t>The </a:t>
            </a:r>
            <a:r>
              <a:rPr lang="en-US" altLang="zh-CN" sz="4000">
                <a:latin typeface="Courier New" charset="0"/>
              </a:rPr>
              <a:t>synchronized</a:t>
            </a:r>
            <a:r>
              <a:rPr lang="en-US" altLang="zh-CN" sz="4000"/>
              <a:t> keyword</a:t>
            </a:r>
            <a:endParaRPr lang="en-US" altLang="zh-CN" sz="4000" b="1"/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758280"/>
            <a:ext cx="8763000" cy="4191000"/>
          </a:xfrm>
          <a:noFill/>
          <a:ln/>
        </p:spPr>
        <p:txBody>
          <a:bodyPr/>
          <a:lstStyle/>
          <a:p>
            <a:pPr marL="0" indent="0">
              <a:buFont typeface="Monotype Sorts" charset="0"/>
              <a:buNone/>
            </a:pPr>
            <a:endParaRPr lang="en-US" altLang="zh-CN" sz="2400" dirty="0"/>
          </a:p>
          <a:p>
            <a:pPr marL="0" indent="0">
              <a:buFont typeface="Monotype Sorts" charset="0"/>
              <a:buNone/>
            </a:pPr>
            <a:r>
              <a:rPr lang="en-US" altLang="zh-CN" sz="2000" dirty="0"/>
              <a:t>public synchronized void deposit(double amount)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B3A1-6C03-3648-856E-508A7B8FD927}" type="slidenum">
              <a:rPr lang="en-US" altLang="zh-CN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17145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81000"/>
            <a:ext cx="8496944" cy="609600"/>
          </a:xfrm>
          <a:noFill/>
          <a:ln/>
        </p:spPr>
        <p:txBody>
          <a:bodyPr/>
          <a:lstStyle/>
          <a:p>
            <a:r>
              <a:rPr lang="en-US" altLang="zh-CN" sz="3200" dirty="0"/>
              <a:t>Synchronizing Instance Methods and Static Methods</a:t>
            </a:r>
            <a:endParaRPr lang="en-US" altLang="zh-CN" sz="3200" b="1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86880"/>
            <a:ext cx="8763000" cy="39624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A synchronized method acquires a lock before it executes. </a:t>
            </a:r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en-US" altLang="zh-CN" sz="2800" dirty="0"/>
              <a:t>an instance method: the lock is on the object for which the method was invoked. </a:t>
            </a:r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en-US" altLang="zh-CN" sz="2800" dirty="0"/>
              <a:t>a static method: the lock is on the class. 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5BE8-FF57-2A49-840E-131A99AB164D}" type="slidenum">
              <a:rPr lang="en-US" altLang="zh-CN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8205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2800" dirty="0"/>
              <a:t>Synchronizing Instance Methods and Static Methods</a:t>
            </a:r>
            <a:endParaRPr lang="en-US" altLang="zh-CN" sz="2800" b="1" dirty="0"/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329A-B0B6-8241-91D9-610FC3111C00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306181" name="Rectangle 5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6183" name="Rectangle 7"/>
          <p:cNvSpPr>
            <a:spLocks noChangeArrowheads="1"/>
          </p:cNvSpPr>
          <p:nvPr/>
        </p:nvSpPr>
        <p:spPr bwMode="auto">
          <a:xfrm>
            <a:off x="0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6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402078"/>
              </p:ext>
            </p:extLst>
          </p:nvPr>
        </p:nvGraphicFramePr>
        <p:xfrm>
          <a:off x="1187624" y="2420888"/>
          <a:ext cx="6096000" cy="333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5" name="图片" r:id="rId4" imgW="4530852" imgH="2476500" progId="Word.Picture.8">
                  <p:embed/>
                </p:oleObj>
              </mc:Choice>
              <mc:Fallback>
                <p:oleObj name="图片" r:id="rId4" imgW="4530852" imgH="24765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420888"/>
                        <a:ext cx="6096000" cy="33353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15616" y="1556792"/>
            <a:ext cx="2978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/>
              <a:t>AccountWithSync.java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10538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>
                <a:latin typeface="Courier" charset="0"/>
                <a:cs typeface="Times New Roman" charset="0"/>
              </a:rPr>
              <a:t> </a:t>
            </a:r>
            <a:r>
              <a:rPr lang="en-US" altLang="zh-CN" sz="3600">
                <a:cs typeface="Times New Roman" charset="0"/>
              </a:rPr>
              <a:t>Synchronizing Statements</a:t>
            </a:r>
            <a:r>
              <a:rPr lang="en-US" altLang="zh-CN" sz="3600"/>
              <a:t> 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31032"/>
            <a:ext cx="8763000" cy="5486400"/>
          </a:xfrm>
          <a:noFill/>
          <a:ln/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400" dirty="0">
                <a:cs typeface="Courier New" charset="0"/>
              </a:rPr>
              <a:t> 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Courier New" charset="0"/>
              </a:rPr>
              <a:t>synchronized (</a:t>
            </a:r>
            <a:r>
              <a:rPr lang="en-US" altLang="zh-CN" sz="2000" dirty="0" err="1">
                <a:latin typeface="Courier New" charset="0"/>
                <a:cs typeface="Courier New" charset="0"/>
              </a:rPr>
              <a:t>expr</a:t>
            </a:r>
            <a:r>
              <a:rPr lang="en-US" altLang="zh-CN" sz="2000" dirty="0">
                <a:latin typeface="Courier New" charset="0"/>
                <a:cs typeface="Courier New" charset="0"/>
              </a:rPr>
              <a:t>) {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Courier New" charset="0"/>
              </a:rPr>
              <a:t>  statements;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Courier New" charset="0"/>
              </a:rPr>
              <a:t>}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400" dirty="0">
                <a:cs typeface="Courier New" charset="0"/>
              </a:rPr>
              <a:t> 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cs typeface="Courier New" charset="0"/>
              </a:rPr>
              <a:t>The expression </a:t>
            </a:r>
            <a:r>
              <a:rPr lang="en-US" altLang="zh-CN" sz="2400" dirty="0" err="1">
                <a:cs typeface="Courier New" charset="0"/>
              </a:rPr>
              <a:t>expr</a:t>
            </a:r>
            <a:r>
              <a:rPr lang="en-US" altLang="zh-CN" sz="2400" dirty="0">
                <a:cs typeface="Courier New" charset="0"/>
              </a:rPr>
              <a:t> must evaluate to an object reference. 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C57B1-6089-7A47-AB0F-53753411F0A6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308228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62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7807" y="404664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 dirty="0">
                <a:latin typeface="Courier" charset="0"/>
                <a:cs typeface="Times New Roman" charset="0"/>
              </a:rPr>
              <a:t> </a:t>
            </a:r>
            <a:r>
              <a:rPr lang="en-US" altLang="zh-CN" sz="2800" dirty="0">
                <a:cs typeface="Times New Roman" charset="0"/>
              </a:rPr>
              <a:t>Synchronizing Statements</a:t>
            </a:r>
            <a:r>
              <a:rPr lang="en-US" altLang="zh-CN" sz="2800" dirty="0"/>
              <a:t> vs. Methods</a:t>
            </a:r>
            <a:endParaRPr lang="en-US" altLang="zh-CN" sz="3600" dirty="0"/>
          </a:p>
        </p:txBody>
      </p:sp>
      <p:sp>
        <p:nvSpPr>
          <p:cNvPr id="3102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35360"/>
            <a:ext cx="8763000" cy="5334000"/>
          </a:xfrm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 sz="2400" dirty="0">
                <a:cs typeface="Times New Roman" charset="0"/>
              </a:rPr>
              <a:t>Any synchronized instance method can be converted into a synchronized statement.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2400" dirty="0">
                <a:latin typeface="Courier New" charset="0"/>
                <a:cs typeface="Times New Roman" charset="0"/>
              </a:rPr>
              <a:t>   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public synchronized void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xMethod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()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// method body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}</a:t>
            </a:r>
            <a:endParaRPr lang="en-US" altLang="zh-CN" sz="2400" dirty="0">
              <a:cs typeface="Times New Roman" charset="0"/>
            </a:endParaRPr>
          </a:p>
          <a:p>
            <a:pPr>
              <a:spcBef>
                <a:spcPct val="0"/>
              </a:spcBef>
            </a:pPr>
            <a:r>
              <a:rPr lang="en-US" altLang="zh-CN" sz="2400" dirty="0">
                <a:cs typeface="Times New Roman" charset="0"/>
              </a:rPr>
              <a:t>This method is equivalent to</a:t>
            </a:r>
          </a:p>
          <a:p>
            <a:pPr marL="0" indent="0">
              <a:spcBef>
                <a:spcPct val="0"/>
              </a:spcBef>
              <a:buFont typeface="Monotype Sorts" charset="0"/>
              <a:buNone/>
            </a:pPr>
            <a:r>
              <a:rPr lang="en-US" altLang="zh-CN" sz="2400" dirty="0">
                <a:latin typeface="Courier New" charset="0"/>
                <a:cs typeface="Times New Roman" charset="0"/>
              </a:rPr>
              <a:t>   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public void </a:t>
            </a:r>
            <a:r>
              <a:rPr lang="en-US" altLang="zh-CN" sz="2000" dirty="0" err="1">
                <a:latin typeface="Courier New" charset="0"/>
                <a:cs typeface="Times New Roman" charset="0"/>
              </a:rPr>
              <a:t>xMethod</a:t>
            </a:r>
            <a:r>
              <a:rPr lang="en-US" altLang="zh-CN" sz="2000" dirty="0">
                <a:latin typeface="Courier New" charset="0"/>
                <a:cs typeface="Times New Roman" charset="0"/>
              </a:rPr>
              <a:t>()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synchronized (this)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  // method body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  }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ourier New" charset="0"/>
                <a:cs typeface="Times New Roman" charset="0"/>
              </a:rPr>
              <a:t>}</a:t>
            </a:r>
            <a:endParaRPr lang="en-US" altLang="zh-CN" sz="2000" dirty="0">
              <a:latin typeface="Courier New" charset="0"/>
              <a:cs typeface="Courier New" charset="0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0215-EEB3-7C4E-8C69-2555C1F846DB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310276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799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515144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 dirty="0">
                <a:latin typeface="Courier" charset="0"/>
                <a:cs typeface="Times New Roman" charset="0"/>
              </a:rPr>
              <a:t> </a:t>
            </a:r>
            <a:r>
              <a:rPr lang="en-US" altLang="zh-CN" sz="3200" dirty="0"/>
              <a:t>Synchronization Using Locks </a:t>
            </a:r>
            <a:endParaRPr lang="en-US" altLang="zh-CN" dirty="0"/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0A1CB-C083-1A40-A627-6383E788607F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312324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2326" name="Rectangle 6"/>
          <p:cNvSpPr>
            <a:spLocks noChangeArrowheads="1"/>
          </p:cNvSpPr>
          <p:nvPr/>
        </p:nvSpPr>
        <p:spPr bwMode="auto">
          <a:xfrm>
            <a:off x="0" y="2449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23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94413"/>
              </p:ext>
            </p:extLst>
          </p:nvPr>
        </p:nvGraphicFramePr>
        <p:xfrm>
          <a:off x="1022176" y="1988840"/>
          <a:ext cx="6934200" cy="288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9" name="图片" r:id="rId4" imgW="4709160" imgH="1952244" progId="Word.Picture.8">
                  <p:embed/>
                </p:oleObj>
              </mc:Choice>
              <mc:Fallback>
                <p:oleObj name="图片" r:id="rId4" imgW="4709160" imgH="1952244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176" y="1988840"/>
                        <a:ext cx="6934200" cy="28844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71446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516005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 dirty="0">
                <a:latin typeface="Courier" charset="0"/>
                <a:cs typeface="Times New Roman" charset="0"/>
              </a:rPr>
              <a:t> </a:t>
            </a:r>
            <a:r>
              <a:rPr lang="en-US" altLang="zh-CN" dirty="0"/>
              <a:t>Example: Using  Locks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73560"/>
            <a:ext cx="8763000" cy="1295400"/>
          </a:xfrm>
          <a:noFill/>
          <a:ln/>
        </p:spPr>
        <p:txBody>
          <a:bodyPr/>
          <a:lstStyle/>
          <a:p>
            <a:pPr marL="0" indent="0">
              <a:lnSpc>
                <a:spcPct val="8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800" dirty="0" err="1"/>
              <a:t>AccountWithSyncUsingLock.java</a:t>
            </a:r>
            <a:endParaRPr lang="en-US" altLang="zh-CN" sz="2800" dirty="0"/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E35C-1837-4243-A8C9-18D4013916E8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4069" name="Rectangle 5"/>
          <p:cNvSpPr>
            <a:spLocks noChangeArrowheads="1"/>
          </p:cNvSpPr>
          <p:nvPr/>
        </p:nvSpPr>
        <p:spPr bwMode="auto">
          <a:xfrm>
            <a:off x="0" y="2449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1559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>
                <a:latin typeface="Courier" charset="0"/>
                <a:cs typeface="Times New Roman" charset="0"/>
              </a:rPr>
              <a:t> </a:t>
            </a:r>
            <a:r>
              <a:rPr lang="en-US" altLang="zh-CN" sz="3600">
                <a:cs typeface="Times New Roman" charset="0"/>
              </a:rPr>
              <a:t>Cooperation Among Threads</a:t>
            </a:r>
            <a:r>
              <a:rPr lang="en-US" altLang="zh-CN" sz="3600"/>
              <a:t> 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BA962-6E4E-264C-B133-53E5FB0086B0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342020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20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2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716818"/>
              </p:ext>
            </p:extLst>
          </p:nvPr>
        </p:nvGraphicFramePr>
        <p:xfrm>
          <a:off x="457200" y="2708920"/>
          <a:ext cx="8077200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3" name="图片" r:id="rId4" imgW="4709160" imgH="993648" progId="Word.Picture.8">
                  <p:embed/>
                </p:oleObj>
              </mc:Choice>
              <mc:Fallback>
                <p:oleObj name="图片" r:id="rId4" imgW="4709160" imgH="99364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08920"/>
                        <a:ext cx="8077200" cy="17129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48345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>
                <a:latin typeface="Courier" charset="0"/>
                <a:cs typeface="Times New Roman" charset="0"/>
              </a:rPr>
              <a:t> </a:t>
            </a:r>
            <a:r>
              <a:rPr lang="en-US" altLang="zh-CN" sz="3600">
                <a:cs typeface="Times New Roman" charset="0"/>
              </a:rPr>
              <a:t>Cooperation Among Threads</a:t>
            </a:r>
            <a:r>
              <a:rPr lang="en-US" altLang="zh-CN" sz="3600"/>
              <a:t> </a:t>
            </a:r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6DF3-096F-6B44-B802-95BF9028ADA6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6422" name="Rectangle 6"/>
          <p:cNvSpPr>
            <a:spLocks noChangeArrowheads="1"/>
          </p:cNvSpPr>
          <p:nvPr/>
        </p:nvSpPr>
        <p:spPr bwMode="auto">
          <a:xfrm>
            <a:off x="1957388" y="2605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6424" name="Rectangle 8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6426" name="Rectangle 10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6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988837"/>
              </p:ext>
            </p:extLst>
          </p:nvPr>
        </p:nvGraphicFramePr>
        <p:xfrm>
          <a:off x="762000" y="2087537"/>
          <a:ext cx="7620000" cy="314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1" name="图片" r:id="rId4" imgW="4294632" imgH="1767840" progId="Word.Picture.8">
                  <p:embed/>
                </p:oleObj>
              </mc:Choice>
              <mc:Fallback>
                <p:oleObj name="图片" r:id="rId4" imgW="4294632" imgH="17678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087537"/>
                        <a:ext cx="7620000" cy="31416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10600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4000" b="1" i="1">
                <a:cs typeface="Times New Roman" charset="0"/>
              </a:rPr>
              <a:t>Example: </a:t>
            </a:r>
            <a:r>
              <a:rPr lang="en-US" altLang="zh-CN" sz="4000">
                <a:cs typeface="Times New Roman" charset="0"/>
              </a:rPr>
              <a:t>Thread Cooperation</a:t>
            </a:r>
            <a:r>
              <a:rPr lang="en-US" altLang="zh-CN"/>
              <a:t> </a:t>
            </a:r>
          </a:p>
        </p:txBody>
      </p:sp>
      <p:sp>
        <p:nvSpPr>
          <p:cNvPr id="276485" name="Rectangle 5"/>
          <p:cNvSpPr>
            <a:spLocks noGrp="1" noChangeArrowheads="1"/>
          </p:cNvSpPr>
          <p:nvPr>
            <p:ph idx="1"/>
          </p:nvPr>
        </p:nvSpPr>
        <p:spPr>
          <a:xfrm>
            <a:off x="251520" y="1700808"/>
            <a:ext cx="8686800" cy="3429000"/>
          </a:xfrm>
        </p:spPr>
        <p:txBody>
          <a:bodyPr/>
          <a:lstStyle/>
          <a:p>
            <a:pPr marL="0" indent="0">
              <a:buFont typeface="Monotype Sorts" charset="0"/>
              <a:buNone/>
            </a:pPr>
            <a:r>
              <a:rPr lang="en-US" altLang="zh-CN" dirty="0" err="1"/>
              <a:t>ThreadCooperation.java</a:t>
            </a:r>
            <a:endParaRPr lang="en-US" altLang="zh-CN" dirty="0"/>
          </a:p>
        </p:txBody>
      </p:sp>
      <p:sp>
        <p:nvSpPr>
          <p:cNvPr id="276489" name="Rectangle 9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8763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>
                <a:latin typeface="Courier" charset="0"/>
                <a:cs typeface="Times New Roman" charset="0"/>
              </a:rPr>
              <a:t> </a:t>
            </a:r>
            <a:r>
              <a:rPr lang="en-US" altLang="zh-CN" sz="3600">
                <a:cs typeface="Times New Roman" charset="0"/>
              </a:rPr>
              <a:t>wait(), notify(), and notifyAll()</a:t>
            </a:r>
            <a:endParaRPr lang="en-US" altLang="zh-CN" sz="3600"/>
          </a:p>
        </p:txBody>
      </p:sp>
      <p:sp>
        <p:nvSpPr>
          <p:cNvPr id="3481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763000" cy="5334000"/>
          </a:xfrm>
          <a:noFill/>
          <a:ln/>
        </p:spPr>
        <p:txBody>
          <a:bodyPr/>
          <a:lstStyle/>
          <a:p>
            <a:pPr marL="0" indent="0">
              <a:spcBef>
                <a:spcPct val="0"/>
              </a:spcBef>
              <a:buFont typeface="Monotype Sorts" charset="0"/>
              <a:buNone/>
            </a:pPr>
            <a:endParaRPr lang="en-US" altLang="zh-CN" sz="2400" dirty="0">
              <a:cs typeface="Courier New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2400" u="sng" dirty="0">
                <a:cs typeface="Times New Roman" charset="0"/>
              </a:rPr>
              <a:t>wait()</a:t>
            </a:r>
            <a:r>
              <a:rPr lang="en-US" altLang="zh-CN" sz="2400" dirty="0">
                <a:cs typeface="Times New Roman" charset="0"/>
              </a:rPr>
              <a:t>, </a:t>
            </a:r>
            <a:r>
              <a:rPr lang="en-US" altLang="zh-CN" sz="2400" u="sng" dirty="0">
                <a:cs typeface="Times New Roman" charset="0"/>
              </a:rPr>
              <a:t>notify()</a:t>
            </a:r>
            <a:r>
              <a:rPr lang="en-US" altLang="zh-CN" sz="2400" dirty="0">
                <a:cs typeface="Times New Roman" charset="0"/>
              </a:rPr>
              <a:t>, and </a:t>
            </a:r>
            <a:r>
              <a:rPr lang="en-US" altLang="zh-CN" sz="2400" u="sng" dirty="0" err="1">
                <a:cs typeface="Times New Roman" charset="0"/>
              </a:rPr>
              <a:t>notifyAll</a:t>
            </a:r>
            <a:r>
              <a:rPr lang="en-US" altLang="zh-CN" sz="2400" u="sng" dirty="0">
                <a:cs typeface="Times New Roman" charset="0"/>
              </a:rPr>
              <a:t>()</a:t>
            </a:r>
            <a:r>
              <a:rPr lang="en-US" altLang="zh-CN" sz="2400" dirty="0">
                <a:cs typeface="Times New Roman" charset="0"/>
              </a:rPr>
              <a:t> </a:t>
            </a:r>
            <a:r>
              <a:rPr lang="zh-CN" altLang="en-US" sz="2400" dirty="0">
                <a:cs typeface="Times New Roman" charset="0"/>
              </a:rPr>
              <a:t>：必须在同步块或者同步方法中调用，否则会发生</a:t>
            </a:r>
            <a:r>
              <a:rPr lang="en-US" altLang="zh-CN" sz="2400" dirty="0" err="1">
                <a:cs typeface="Times New Roman" charset="0"/>
              </a:rPr>
              <a:t>IllegalMonitorStateException</a:t>
            </a:r>
            <a:r>
              <a:rPr lang="en-US" altLang="zh-CN" sz="2400" dirty="0">
                <a:cs typeface="Times New Roman" charset="0"/>
              </a:rPr>
              <a:t> </a:t>
            </a:r>
            <a:r>
              <a:rPr lang="zh-CN" altLang="en-US" sz="2400" dirty="0">
                <a:cs typeface="Times New Roman" charset="0"/>
              </a:rPr>
              <a:t>异常</a:t>
            </a:r>
            <a:endParaRPr lang="en-US" altLang="zh-CN" sz="2400" dirty="0">
              <a:cs typeface="Times New Roman" charset="0"/>
            </a:endParaRPr>
          </a:p>
          <a:p>
            <a:pPr marL="0" indent="0">
              <a:spcBef>
                <a:spcPct val="0"/>
              </a:spcBef>
              <a:buFont typeface="Monotype Sorts" charset="0"/>
              <a:buNone/>
            </a:pPr>
            <a:r>
              <a:rPr lang="en-US" altLang="zh-CN" sz="2400" u="sng" dirty="0">
                <a:cs typeface="Courier New" charset="0"/>
              </a:rPr>
              <a:t>wait()</a:t>
            </a:r>
            <a:r>
              <a:rPr lang="en-US" altLang="zh-CN" sz="2400" dirty="0">
                <a:cs typeface="Courier New" charset="0"/>
              </a:rPr>
              <a:t> </a:t>
            </a:r>
            <a:r>
              <a:rPr lang="zh-CN" altLang="en-US" sz="2400" dirty="0">
                <a:cs typeface="Courier New" charset="0"/>
              </a:rPr>
              <a:t>：线程等待直到条件发生。一旦条件发生，可以利用</a:t>
            </a:r>
            <a:r>
              <a:rPr lang="en-US" altLang="zh-CN" sz="2400" u="sng" dirty="0">
                <a:cs typeface="Courier New" charset="0"/>
              </a:rPr>
              <a:t>notify()</a:t>
            </a:r>
            <a:r>
              <a:rPr lang="en-US" altLang="zh-CN" sz="2400" dirty="0">
                <a:cs typeface="Courier New" charset="0"/>
              </a:rPr>
              <a:t> </a:t>
            </a:r>
            <a:r>
              <a:rPr lang="zh-CN" altLang="en-US" sz="2400" dirty="0">
                <a:cs typeface="Courier New" charset="0"/>
              </a:rPr>
              <a:t>或</a:t>
            </a:r>
            <a:r>
              <a:rPr lang="en-US" altLang="zh-CN" sz="2400" dirty="0">
                <a:cs typeface="Courier New" charset="0"/>
              </a:rPr>
              <a:t> </a:t>
            </a:r>
            <a:r>
              <a:rPr lang="en-US" altLang="zh-CN" sz="2400" u="sng" dirty="0" err="1">
                <a:cs typeface="Courier New" charset="0"/>
              </a:rPr>
              <a:t>notifyAll</a:t>
            </a:r>
            <a:r>
              <a:rPr lang="en-US" altLang="zh-CN" sz="2400" u="sng" dirty="0">
                <a:cs typeface="Courier New" charset="0"/>
              </a:rPr>
              <a:t>()</a:t>
            </a:r>
            <a:r>
              <a:rPr lang="en-US" altLang="zh-CN" sz="2400" dirty="0">
                <a:cs typeface="Courier New" charset="0"/>
              </a:rPr>
              <a:t> </a:t>
            </a:r>
            <a:r>
              <a:rPr lang="zh-CN" altLang="en-US" sz="2400" dirty="0">
                <a:cs typeface="Courier New" charset="0"/>
              </a:rPr>
              <a:t>通知所有等待该线程的方法重新正常执行。</a:t>
            </a:r>
            <a:endParaRPr lang="en-US" altLang="zh-CN" sz="2400" dirty="0">
              <a:cs typeface="Courier New" charset="0"/>
            </a:endParaRPr>
          </a:p>
          <a:p>
            <a:pPr marL="0" indent="0">
              <a:spcBef>
                <a:spcPct val="0"/>
              </a:spcBef>
              <a:buFont typeface="Monotype Sorts" charset="0"/>
              <a:buNone/>
            </a:pPr>
            <a:r>
              <a:rPr lang="zh-CN" altLang="en-US" sz="2400" dirty="0">
                <a:cs typeface="Courier New" charset="0"/>
              </a:rPr>
              <a:t>相当于对象级的</a:t>
            </a:r>
            <a:r>
              <a:rPr lang="en-US" altLang="zh-CN" sz="2400" dirty="0">
                <a:cs typeface="Courier New" charset="0"/>
              </a:rPr>
              <a:t>Condition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8AE64-2AF4-7840-8D07-99CA107EB7CF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0055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09600"/>
          </a:xfrm>
          <a:noFill/>
          <a:ln/>
        </p:spPr>
        <p:txBody>
          <a:bodyPr/>
          <a:lstStyle/>
          <a:p>
            <a:r>
              <a:rPr lang="en-US" altLang="zh-CN" sz="3600" dirty="0">
                <a:latin typeface="Courier" charset="0"/>
                <a:cs typeface="Times New Roman" charset="0"/>
              </a:rPr>
              <a:t> </a:t>
            </a:r>
            <a:r>
              <a:rPr lang="en-US" altLang="zh-CN" sz="3600" dirty="0">
                <a:cs typeface="Times New Roman" charset="0"/>
              </a:rPr>
              <a:t>Example: Using Monitor </a:t>
            </a:r>
            <a:endParaRPr lang="en-US" altLang="zh-CN" sz="3600" dirty="0"/>
          </a:p>
        </p:txBody>
      </p:sp>
      <p:sp>
        <p:nvSpPr>
          <p:cNvPr id="352266" name="Rectangle 10"/>
          <p:cNvSpPr>
            <a:spLocks noGrp="1" noChangeArrowheads="1"/>
          </p:cNvSpPr>
          <p:nvPr>
            <p:ph idx="1"/>
          </p:nvPr>
        </p:nvSpPr>
        <p:spPr>
          <a:xfrm>
            <a:off x="381000" y="4174685"/>
            <a:ext cx="8763000" cy="1859630"/>
          </a:xfrm>
          <a:noFill/>
          <a:ln/>
        </p:spPr>
        <p:txBody>
          <a:bodyPr/>
          <a:lstStyle/>
          <a:p>
            <a:pPr marL="263525" indent="-263525">
              <a:lnSpc>
                <a:spcPct val="8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 wait()</a:t>
            </a:r>
            <a:r>
              <a:rPr lang="zh-CN" altLang="en-US" sz="2400" dirty="0"/>
              <a:t>被调用时，暂停线程同时释放对象上的锁，等待重新获取锁。如果线程获得通知，则自动重新获取锁。</a:t>
            </a:r>
            <a:endParaRPr lang="en-US" altLang="zh-CN" sz="2400" dirty="0"/>
          </a:p>
          <a:p>
            <a:pPr marL="263525" indent="-263525">
              <a:lnSpc>
                <a:spcPct val="80000"/>
              </a:lnSpc>
            </a:pPr>
            <a:r>
              <a:rPr lang="zh-CN" altLang="en-US" sz="2400" u="sng" dirty="0"/>
              <a:t>对象上的</a:t>
            </a:r>
            <a:r>
              <a:rPr lang="en-US" altLang="zh-CN" sz="2400" u="sng" dirty="0"/>
              <a:t>wait()</a:t>
            </a:r>
            <a:r>
              <a:rPr lang="en-US" altLang="zh-CN" sz="2400" dirty="0"/>
              <a:t>, </a:t>
            </a:r>
            <a:r>
              <a:rPr lang="en-US" altLang="zh-CN" sz="2400" u="sng" dirty="0"/>
              <a:t>notify()</a:t>
            </a:r>
            <a:r>
              <a:rPr lang="en-US" altLang="zh-CN" sz="2400" dirty="0"/>
              <a:t>, and </a:t>
            </a:r>
            <a:r>
              <a:rPr lang="en-US" altLang="zh-CN" sz="2400" u="sng" dirty="0" err="1"/>
              <a:t>notifyAll</a:t>
            </a:r>
            <a:r>
              <a:rPr lang="en-US" altLang="zh-CN" sz="2400" u="sng" dirty="0"/>
              <a:t>()</a:t>
            </a:r>
            <a:r>
              <a:rPr lang="en-US" altLang="zh-CN" sz="2400" dirty="0"/>
              <a:t> </a:t>
            </a:r>
            <a:r>
              <a:rPr lang="zh-CN" altLang="en-US" sz="2400" dirty="0"/>
              <a:t>方法类似于一个条件上的</a:t>
            </a:r>
            <a:r>
              <a:rPr lang="en-US" altLang="zh-CN" sz="2400" dirty="0"/>
              <a:t> </a:t>
            </a:r>
            <a:r>
              <a:rPr lang="en-US" altLang="zh-CN" sz="2400" u="sng" dirty="0"/>
              <a:t>await()</a:t>
            </a:r>
            <a:r>
              <a:rPr lang="en-US" altLang="zh-CN" sz="2400" dirty="0"/>
              <a:t>, </a:t>
            </a:r>
            <a:r>
              <a:rPr lang="en-US" altLang="zh-CN" sz="2400" u="sng" dirty="0"/>
              <a:t>signal()</a:t>
            </a:r>
            <a:r>
              <a:rPr lang="en-US" altLang="zh-CN" sz="2400" dirty="0"/>
              <a:t>, and </a:t>
            </a:r>
            <a:r>
              <a:rPr lang="en-US" altLang="zh-CN" sz="2400" u="sng" dirty="0" err="1"/>
              <a:t>signalAll</a:t>
            </a:r>
            <a:r>
              <a:rPr lang="en-US" altLang="zh-CN" sz="2400" u="sng" dirty="0"/>
              <a:t>()</a:t>
            </a:r>
            <a:r>
              <a:rPr lang="en-US" altLang="zh-CN" sz="2400" dirty="0"/>
              <a:t> </a:t>
            </a:r>
            <a:r>
              <a:rPr lang="zh-CN" altLang="en-US" sz="2400" dirty="0"/>
              <a:t>方法</a:t>
            </a:r>
            <a:endParaRPr lang="en-US" altLang="zh-CN" sz="2400" dirty="0"/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C2BC2-EFC6-A549-BE2C-665BF3BD6B09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352260" name="Rectangle 4"/>
          <p:cNvSpPr>
            <a:spLocks noChangeArrowheads="1"/>
          </p:cNvSpPr>
          <p:nvPr/>
        </p:nvSpPr>
        <p:spPr bwMode="auto">
          <a:xfrm>
            <a:off x="2309813" y="2190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22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2265" name="Rectangle 9"/>
          <p:cNvSpPr>
            <a:spLocks noChangeArrowheads="1"/>
          </p:cNvSpPr>
          <p:nvPr/>
        </p:nvSpPr>
        <p:spPr bwMode="auto">
          <a:xfrm>
            <a:off x="0" y="2601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22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287136"/>
              </p:ext>
            </p:extLst>
          </p:nvPr>
        </p:nvGraphicFramePr>
        <p:xfrm>
          <a:off x="228600" y="838200"/>
          <a:ext cx="8610600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2" name="图片" r:id="rId4" imgW="5236464" imgH="1652016" progId="Word.Picture.8">
                  <p:embed/>
                </p:oleObj>
              </mc:Choice>
              <mc:Fallback>
                <p:oleObj name="图片" r:id="rId4" imgW="5236464" imgH="165201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838200"/>
                        <a:ext cx="8610600" cy="27241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6627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3600" dirty="0"/>
              <a:t>Case Study: Producer/Consumer </a:t>
            </a:r>
            <a:r>
              <a:rPr lang="en-US" altLang="zh-CN" dirty="0"/>
              <a:t> </a:t>
            </a:r>
            <a:r>
              <a:rPr lang="en-US" altLang="zh-CN" sz="4000" dirty="0">
                <a:cs typeface="Times New Roman" charset="0"/>
              </a:rPr>
              <a:t> </a:t>
            </a:r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2A51-7697-2C45-BF95-2E61E78A4A2F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354308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4309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4312" name="Rectangle 8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43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94627"/>
              </p:ext>
            </p:extLst>
          </p:nvPr>
        </p:nvGraphicFramePr>
        <p:xfrm>
          <a:off x="914400" y="2348880"/>
          <a:ext cx="69342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1" name="图片" r:id="rId4" imgW="4294632" imgH="1767840" progId="Word.Picture.8">
                  <p:embed/>
                </p:oleObj>
              </mc:Choice>
              <mc:Fallback>
                <p:oleObj name="图片" r:id="rId4" imgW="4294632" imgH="17678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48880"/>
                        <a:ext cx="6934200" cy="28590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37784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3600" dirty="0"/>
              <a:t>Case Study: Producer/Consumer </a:t>
            </a:r>
            <a:r>
              <a:rPr lang="en-US" altLang="zh-CN" sz="4000" dirty="0">
                <a:cs typeface="Times New Roman" charset="0"/>
              </a:rPr>
              <a:t> 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98104"/>
            <a:ext cx="8686800" cy="42672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0"/>
              <a:buNone/>
            </a:pPr>
            <a:r>
              <a:rPr lang="en-US" altLang="zh-CN" sz="2400" dirty="0" err="1"/>
              <a:t>ConsumerProducer.java</a:t>
            </a:r>
            <a:endParaRPr lang="en-US" altLang="zh-CN" sz="2400" dirty="0"/>
          </a:p>
        </p:txBody>
      </p:sp>
      <p:sp>
        <p:nvSpPr>
          <p:cNvPr id="356356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6357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6358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9508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 dirty="0"/>
              <a:t>Blocking Queues </a:t>
            </a:r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63CBF-C4B8-6A4B-A1A1-C11EADC32C53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360452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0453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0454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0455" name="Rectangle 7"/>
          <p:cNvSpPr>
            <a:spLocks noChangeArrowheads="1"/>
          </p:cNvSpPr>
          <p:nvPr/>
        </p:nvSpPr>
        <p:spPr bwMode="auto">
          <a:xfrm>
            <a:off x="0" y="225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04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08086"/>
              </p:ext>
            </p:extLst>
          </p:nvPr>
        </p:nvGraphicFramePr>
        <p:xfrm>
          <a:off x="1331640" y="2348880"/>
          <a:ext cx="5943600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6" name="图片" r:id="rId4" imgW="4094988" imgH="2350008" progId="Word.Picture.8">
                  <p:embed/>
                </p:oleObj>
              </mc:Choice>
              <mc:Fallback>
                <p:oleObj name="图片" r:id="rId4" imgW="4094988" imgH="235000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348880"/>
                        <a:ext cx="5943600" cy="34194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53108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4000"/>
              <a:t>Concrete Blocking Queues</a:t>
            </a:r>
          </a:p>
        </p:txBody>
      </p:sp>
      <p:sp>
        <p:nvSpPr>
          <p:cNvPr id="10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7BB2-D7B7-434C-B5EB-ED1A29561E65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358404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405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406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10" name="Rectangle 10"/>
          <p:cNvSpPr>
            <a:spLocks noChangeArrowheads="1"/>
          </p:cNvSpPr>
          <p:nvPr/>
        </p:nvSpPr>
        <p:spPr bwMode="auto">
          <a:xfrm>
            <a:off x="0" y="2252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12" name="Rectangle 12"/>
          <p:cNvSpPr>
            <a:spLocks noChangeArrowheads="1"/>
          </p:cNvSpPr>
          <p:nvPr/>
        </p:nvSpPr>
        <p:spPr bwMode="auto">
          <a:xfrm>
            <a:off x="0" y="2644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84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600630"/>
              </p:ext>
            </p:extLst>
          </p:nvPr>
        </p:nvGraphicFramePr>
        <p:xfrm>
          <a:off x="533400" y="2492896"/>
          <a:ext cx="7924800" cy="247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4" name="图片" r:id="rId4" imgW="5023104" imgH="1569720" progId="Word.Picture.8">
                  <p:embed/>
                </p:oleObj>
              </mc:Choice>
              <mc:Fallback>
                <p:oleObj name="图片" r:id="rId4" imgW="5023104" imgH="156972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92896"/>
                        <a:ext cx="7924800" cy="24780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2961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95536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3200" dirty="0"/>
              <a:t>Producer/Consumer Using Blocking Queues</a:t>
            </a:r>
            <a:endParaRPr lang="en-US" altLang="zh-CN" dirty="0">
              <a:cs typeface="Times New Roman" charset="0"/>
            </a:endParaRP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-12633" y="2564904"/>
            <a:ext cx="8686800" cy="1371600"/>
          </a:xfrm>
        </p:spPr>
        <p:txBody>
          <a:bodyPr/>
          <a:lstStyle/>
          <a:p>
            <a:pPr algn="ctr"/>
            <a:r>
              <a:rPr lang="en-US" altLang="zh-CN" sz="2400" dirty="0" err="1">
                <a:solidFill>
                  <a:srgbClr val="000000"/>
                </a:solidFill>
                <a:latin typeface="Book Antiqua" charset="0"/>
              </a:rPr>
              <a:t>ConsumerProducerUsingBlockingQueue.java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362500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2501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2502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8162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A5B46-BAB0-314B-8471-2F5330F5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Semaphores (Optional)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28BAD2-1A17-6C4E-AE1B-4E973FF66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可以使用信号量来限制访问一个共享资源的线程数。</a:t>
            </a:r>
            <a:endParaRPr kumimoji="1" lang="en-US" altLang="zh-CN" sz="2400" dirty="0"/>
          </a:p>
          <a:p>
            <a:r>
              <a:rPr kumimoji="1" lang="zh-CN" altLang="en-US" sz="2400" dirty="0"/>
              <a:t>应用场景</a:t>
            </a:r>
          </a:p>
          <a:p>
            <a:pPr lvl="1"/>
            <a:r>
              <a:rPr kumimoji="1" lang="zh-CN" altLang="en-US" sz="2000" dirty="0"/>
              <a:t>限制并发访问数量：例如，限制同时访问数据库的线程数量，以避免数据库压力过大。</a:t>
            </a:r>
            <a:r>
              <a:rPr kumimoji="1" lang="en-US" altLang="zh-CN" sz="2000" dirty="0"/>
              <a:t>	</a:t>
            </a:r>
            <a:endParaRPr kumimoji="1" lang="zh-CN" altLang="en-US" sz="2000" dirty="0"/>
          </a:p>
          <a:p>
            <a:pPr lvl="1"/>
            <a:r>
              <a:rPr kumimoji="1" lang="zh-CN" altLang="en-US" sz="2000" dirty="0"/>
              <a:t>资源池：例如，数据库连接池，每个资源对应一个许可，线程使用资源前需获取许可，使用完后释放许可。</a:t>
            </a:r>
          </a:p>
          <a:p>
            <a:endParaRPr kumimoji="1" lang="zh-CN" altLang="en-US" sz="24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14414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10369"/>
            <a:ext cx="8839200" cy="457200"/>
          </a:xfrm>
          <a:noFill/>
          <a:ln/>
        </p:spPr>
        <p:txBody>
          <a:bodyPr/>
          <a:lstStyle/>
          <a:p>
            <a:r>
              <a:rPr lang="en-US" altLang="zh-CN" dirty="0"/>
              <a:t>Semaphores (Optional) </a:t>
            </a:r>
            <a:r>
              <a:rPr lang="en-US" altLang="zh-CN" sz="4000" dirty="0">
                <a:cs typeface="Times New Roman" charset="0"/>
              </a:rPr>
              <a:t> </a:t>
            </a:r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1542-E641-CC44-8FE7-65F459CCE6C5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364548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4549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4552" name="Rectangle 8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45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948699"/>
              </p:ext>
            </p:extLst>
          </p:nvPr>
        </p:nvGraphicFramePr>
        <p:xfrm>
          <a:off x="1043608" y="2420888"/>
          <a:ext cx="6172200" cy="254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0" name="图片" r:id="rId4" imgW="4290060" imgH="1766316" progId="Word.Picture.8">
                  <p:embed/>
                </p:oleObj>
              </mc:Choice>
              <mc:Fallback>
                <p:oleObj name="图片" r:id="rId4" imgW="4290060" imgH="176631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420888"/>
                        <a:ext cx="6172200" cy="25447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82953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/>
              <a:t>Creating Semaphores</a:t>
            </a:r>
            <a:endParaRPr lang="en-US" altLang="zh-CN" sz="4000">
              <a:cs typeface="Times New Roman" charset="0"/>
            </a:endParaRPr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7DDC-D39C-154D-856B-16F9DF15BCB1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366596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6597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6598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6601" name="Rectangle 9"/>
          <p:cNvSpPr>
            <a:spLocks noChangeArrowheads="1"/>
          </p:cNvSpPr>
          <p:nvPr/>
        </p:nvSpPr>
        <p:spPr bwMode="auto">
          <a:xfrm>
            <a:off x="0" y="2754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66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631238"/>
              </p:ext>
            </p:extLst>
          </p:nvPr>
        </p:nvGraphicFramePr>
        <p:xfrm>
          <a:off x="533400" y="2420888"/>
          <a:ext cx="7848600" cy="233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8" name="图片" r:id="rId4" imgW="4530852" imgH="1348740" progId="Word.Picture.8">
                  <p:embed/>
                </p:oleObj>
              </mc:Choice>
              <mc:Fallback>
                <p:oleObj name="图片" r:id="rId4" imgW="4530852" imgH="13487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20888"/>
                        <a:ext cx="7848600" cy="23399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06672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420BC-52F3-5142-A565-4D5AF1D7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例子：改写前面的</a:t>
            </a:r>
            <a:r>
              <a:rPr kumimoji="1" lang="en-US" altLang="zh-CN" dirty="0"/>
              <a:t>Account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3CFE46-5FB2-5341-A58E-1CFCD9B89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683157"/>
            <a:ext cx="6048672" cy="486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039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4F989-115F-B44D-9B3A-F99206BB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Semaphore</a:t>
            </a:r>
            <a:r>
              <a:rPr kumimoji="1" lang="zh-CN" altLang="en-US" dirty="0"/>
              <a:t>的其他方法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C7A428-5293-DF48-9A9C-F246439A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985"/>
            <a:ext cx="8229600" cy="4525433"/>
          </a:xfrm>
        </p:spPr>
        <p:txBody>
          <a:bodyPr/>
          <a:lstStyle/>
          <a:p>
            <a:r>
              <a:rPr kumimoji="1" lang="en-US" altLang="zh-CN" sz="2000" dirty="0"/>
              <a:t>——</a:t>
            </a:r>
            <a:r>
              <a:rPr kumimoji="1" lang="en-US" altLang="zh-CN" sz="2000" dirty="0" err="1"/>
              <a:t>isFair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：是否公平模式</a:t>
            </a:r>
            <a:r>
              <a:rPr kumimoji="1" lang="en-US" altLang="zh-CN" sz="2000" dirty="0"/>
              <a:t>FIFO</a:t>
            </a:r>
          </a:p>
          <a:p>
            <a:r>
              <a:rPr kumimoji="1" lang="en-US" altLang="zh-CN" sz="2000" dirty="0"/>
              <a:t>——</a:t>
            </a:r>
            <a:r>
              <a:rPr kumimoji="1" lang="en-US" altLang="zh-CN" sz="2000" dirty="0" err="1"/>
              <a:t>availablePermits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：获取当前可用的许可证数量</a:t>
            </a:r>
          </a:p>
          <a:p>
            <a:r>
              <a:rPr kumimoji="1" lang="en-US" altLang="zh-CN" sz="2000" dirty="0"/>
              <a:t>——</a:t>
            </a:r>
            <a:r>
              <a:rPr kumimoji="1" lang="en-US" altLang="zh-CN" sz="2000" dirty="0" err="1"/>
              <a:t>acquierUninterruptibly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：当前线程尝试去阻塞的获取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个许可证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不可中断的</a:t>
            </a:r>
            <a:r>
              <a:rPr kumimoji="1" lang="en-US" altLang="zh-CN" sz="2000" dirty="0"/>
              <a:t>)</a:t>
            </a:r>
            <a:r>
              <a:rPr kumimoji="1" lang="zh-CN" altLang="en-US" sz="2000" dirty="0"/>
              <a:t>，当前线程获取了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个可用的许可证，则会停止等待，继续执行。</a:t>
            </a:r>
          </a:p>
          <a:p>
            <a:r>
              <a:rPr kumimoji="1" lang="en-US" altLang="zh-CN" sz="2000" dirty="0"/>
              <a:t>——</a:t>
            </a:r>
            <a:r>
              <a:rPr kumimoji="1" lang="en-US" altLang="zh-CN" sz="2000" dirty="0" err="1"/>
              <a:t>acquireUninterruptibly</a:t>
            </a:r>
            <a:r>
              <a:rPr kumimoji="1" lang="en-US" altLang="zh-CN" sz="2000" dirty="0"/>
              <a:t>(permits)</a:t>
            </a:r>
            <a:r>
              <a:rPr kumimoji="1" lang="zh-CN" altLang="en-US" sz="2000" dirty="0"/>
              <a:t>：当前线程尝试去阻塞的获取</a:t>
            </a:r>
            <a:r>
              <a:rPr kumimoji="1" lang="en-US" altLang="zh-CN" sz="2000" dirty="0"/>
              <a:t>permits</a:t>
            </a:r>
            <a:r>
              <a:rPr kumimoji="1" lang="zh-CN" altLang="en-US" sz="2000" dirty="0"/>
              <a:t>个许可证。</a:t>
            </a:r>
          </a:p>
          <a:p>
            <a:r>
              <a:rPr kumimoji="1" lang="en-US" altLang="zh-CN" sz="2000" dirty="0"/>
              <a:t>——</a:t>
            </a:r>
            <a:r>
              <a:rPr kumimoji="1" lang="en-US" altLang="zh-CN" sz="2000" dirty="0" err="1"/>
              <a:t>tryAcquire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：</a:t>
            </a:r>
            <a:r>
              <a:rPr kumimoji="1" lang="zh-CN" altLang="en-US" sz="1800" dirty="0"/>
              <a:t>当前线程尝试去获取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个许可证。此过程是非阻塞的，它只是在方法调用时进行一次尝试。如果当前线程获取了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个可用的许可证，则会停止等待，继续执行，并返回</a:t>
            </a:r>
            <a:r>
              <a:rPr kumimoji="1" lang="en-US" altLang="zh-CN" sz="1800" dirty="0"/>
              <a:t>true</a:t>
            </a:r>
            <a:r>
              <a:rPr kumimoji="1" lang="zh-CN" altLang="en-US" sz="1800" dirty="0"/>
              <a:t>。如果当前线程没有获得这个许可证，也会停止等待，继续执行，并返回</a:t>
            </a:r>
            <a:r>
              <a:rPr kumimoji="1" lang="en-US" altLang="zh-CN" sz="1800" dirty="0"/>
              <a:t>false</a:t>
            </a:r>
            <a:r>
              <a:rPr kumimoji="1" lang="zh-CN" altLang="en-US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533265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260A7-E866-5D4E-A04D-18A22EA6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Semaphore</a:t>
            </a:r>
            <a:r>
              <a:rPr kumimoji="1" lang="zh-CN" altLang="en-US" dirty="0"/>
              <a:t>的其他方法（续）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4A084A-4DB9-E446-BF16-07542FD95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18167"/>
            <a:ext cx="8229600" cy="4525433"/>
          </a:xfrm>
        </p:spPr>
        <p:txBody>
          <a:bodyPr/>
          <a:lstStyle/>
          <a:p>
            <a:r>
              <a:rPr kumimoji="1" lang="en-US" altLang="zh-CN" sz="1600" dirty="0"/>
              <a:t>——</a:t>
            </a:r>
            <a:r>
              <a:rPr kumimoji="1" lang="en-US" altLang="zh-CN" sz="1600" dirty="0" err="1"/>
              <a:t>tryAcquire</a:t>
            </a:r>
            <a:r>
              <a:rPr kumimoji="1" lang="en-US" altLang="zh-CN" sz="1600" dirty="0"/>
              <a:t>(permits)</a:t>
            </a:r>
            <a:r>
              <a:rPr kumimoji="1" lang="zh-CN" altLang="en-US" sz="1600" dirty="0"/>
              <a:t> ：当前线程尝试去获取</a:t>
            </a:r>
            <a:r>
              <a:rPr kumimoji="1" lang="en-US" altLang="zh-CN" sz="1600" dirty="0"/>
              <a:t>permits</a:t>
            </a:r>
            <a:r>
              <a:rPr kumimoji="1" lang="zh-CN" altLang="en-US" sz="1600" dirty="0"/>
              <a:t>个许可证。此过程是非阻塞的，它只是在方法调用时进行一次尝试。如果当前线程获取了</a:t>
            </a:r>
            <a:r>
              <a:rPr kumimoji="1" lang="en-US" altLang="zh-CN" sz="1600" dirty="0"/>
              <a:t>permits</a:t>
            </a:r>
            <a:r>
              <a:rPr kumimoji="1" lang="zh-CN" altLang="en-US" sz="1600" dirty="0"/>
              <a:t>个可用的许可证，则会停止等待，继续执行，并返回</a:t>
            </a:r>
            <a:r>
              <a:rPr kumimoji="1" lang="en-US" altLang="zh-CN" sz="1600" dirty="0"/>
              <a:t>true</a:t>
            </a:r>
            <a:r>
              <a:rPr kumimoji="1" lang="zh-CN" altLang="en-US" sz="1600" dirty="0"/>
              <a:t>。如果当前线程没有获得</a:t>
            </a:r>
            <a:r>
              <a:rPr kumimoji="1" lang="en-US" altLang="zh-CN" sz="1600" dirty="0"/>
              <a:t>permits</a:t>
            </a:r>
            <a:r>
              <a:rPr kumimoji="1" lang="zh-CN" altLang="en-US" sz="1600" dirty="0"/>
              <a:t>个许可证，也会停止等待，继续执行，并返回</a:t>
            </a:r>
            <a:r>
              <a:rPr kumimoji="1" lang="en-US" altLang="zh-CN" sz="1600" dirty="0"/>
              <a:t>false</a:t>
            </a:r>
            <a:r>
              <a:rPr kumimoji="1" lang="zh-CN" altLang="en-US" sz="1600" dirty="0"/>
              <a:t>。</a:t>
            </a:r>
          </a:p>
          <a:p>
            <a:r>
              <a:rPr kumimoji="1" lang="en-US" altLang="zh-CN" sz="1600" dirty="0"/>
              <a:t>——</a:t>
            </a:r>
            <a:r>
              <a:rPr kumimoji="1" lang="en-US" altLang="zh-CN" sz="1600" dirty="0" err="1"/>
              <a:t>tryAcquire</a:t>
            </a:r>
            <a:r>
              <a:rPr kumimoji="1" lang="en-US" altLang="zh-CN" sz="1600" dirty="0"/>
              <a:t>(</a:t>
            </a:r>
            <a:r>
              <a:rPr kumimoji="1" lang="en-US" altLang="zh-CN" sz="1600" dirty="0" err="1"/>
              <a:t>timeout,TimeUnit</a:t>
            </a:r>
            <a:r>
              <a:rPr kumimoji="1" lang="en-US" altLang="zh-CN" sz="1600" dirty="0"/>
              <a:t>)</a:t>
            </a:r>
            <a:r>
              <a:rPr kumimoji="1" lang="zh-CN" altLang="en-US" sz="1600" dirty="0"/>
              <a:t>：当前线程在限定时间内，阻塞的尝试去获取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个许可证。此过程是阻塞的，当前线程获取了可用的许可证，则会停止等待，继续执行，并返回</a:t>
            </a:r>
            <a:r>
              <a:rPr kumimoji="1" lang="en-US" altLang="zh-CN" sz="1600" dirty="0"/>
              <a:t>true</a:t>
            </a:r>
            <a:r>
              <a:rPr kumimoji="1" lang="zh-CN" altLang="en-US" sz="1600" dirty="0"/>
              <a:t>。当前线程等待时间</a:t>
            </a:r>
            <a:r>
              <a:rPr kumimoji="1" lang="en-US" altLang="zh-CN" sz="1600" dirty="0"/>
              <a:t>timeout</a:t>
            </a:r>
            <a:r>
              <a:rPr kumimoji="1" lang="zh-CN" altLang="en-US" sz="1600" dirty="0"/>
              <a:t>超时，则会停止等待，继续执行，并返回</a:t>
            </a:r>
            <a:r>
              <a:rPr kumimoji="1" lang="en-US" altLang="zh-CN" sz="1600" dirty="0"/>
              <a:t>false</a:t>
            </a:r>
            <a:r>
              <a:rPr kumimoji="1" lang="zh-CN" altLang="en-US" sz="1600" dirty="0"/>
              <a:t>。当前线程在</a:t>
            </a:r>
            <a:r>
              <a:rPr kumimoji="1" lang="en-US" altLang="zh-CN" sz="1600" dirty="0"/>
              <a:t>timeout</a:t>
            </a:r>
            <a:r>
              <a:rPr kumimoji="1" lang="zh-CN" altLang="en-US" sz="1600" dirty="0"/>
              <a:t>时间内被中断，则会抛出</a:t>
            </a:r>
            <a:r>
              <a:rPr kumimoji="1" lang="en-US" altLang="zh-CN" sz="1600" dirty="0" err="1"/>
              <a:t>InterruptedException</a:t>
            </a:r>
            <a:r>
              <a:rPr kumimoji="1" lang="zh-CN" altLang="en-US" sz="1600" dirty="0"/>
              <a:t>一次，并停止等待，继续执行。</a:t>
            </a:r>
          </a:p>
          <a:p>
            <a:r>
              <a:rPr kumimoji="1" lang="en-US" altLang="zh-CN" sz="1600" dirty="0"/>
              <a:t>——</a:t>
            </a:r>
            <a:r>
              <a:rPr kumimoji="1" lang="en-US" altLang="zh-CN" sz="1600" dirty="0" err="1"/>
              <a:t>tryAcquire</a:t>
            </a:r>
            <a:r>
              <a:rPr kumimoji="1" lang="en-US" altLang="zh-CN" sz="1600" dirty="0"/>
              <a:t>(</a:t>
            </a:r>
            <a:r>
              <a:rPr kumimoji="1" lang="en-US" altLang="zh-CN" sz="1600" dirty="0" err="1"/>
              <a:t>permits,timeout,TimeUnit</a:t>
            </a:r>
            <a:r>
              <a:rPr kumimoji="1" lang="en-US" altLang="zh-CN" sz="1600" dirty="0"/>
              <a:t>)</a:t>
            </a:r>
            <a:endParaRPr kumimoji="1" lang="zh-CN" altLang="en-US" sz="1600" dirty="0"/>
          </a:p>
          <a:p>
            <a:r>
              <a:rPr kumimoji="1" lang="en-US" altLang="zh-CN" sz="1600" dirty="0"/>
              <a:t>——</a:t>
            </a:r>
            <a:r>
              <a:rPr kumimoji="1" lang="en-US" altLang="zh-CN" sz="1600" dirty="0" err="1"/>
              <a:t>drainPermits</a:t>
            </a:r>
            <a:r>
              <a:rPr kumimoji="1" lang="en-US" altLang="zh-CN" sz="1600" dirty="0"/>
              <a:t>()</a:t>
            </a:r>
            <a:r>
              <a:rPr kumimoji="1" lang="zh-CN" altLang="en-US" sz="1600" dirty="0"/>
              <a:t>：当前线程获得剩余的所有可用许可证。</a:t>
            </a:r>
          </a:p>
          <a:p>
            <a:r>
              <a:rPr kumimoji="1" lang="en-US" altLang="zh-CN" sz="1600" dirty="0"/>
              <a:t>——</a:t>
            </a:r>
            <a:r>
              <a:rPr kumimoji="1" lang="en-US" altLang="zh-CN" sz="1600" dirty="0" err="1"/>
              <a:t>hasQueuedThreads</a:t>
            </a:r>
            <a:r>
              <a:rPr kumimoji="1" lang="en-US" altLang="zh-CN" sz="1600" dirty="0"/>
              <a:t>()</a:t>
            </a:r>
            <a:r>
              <a:rPr kumimoji="1" lang="zh-CN" altLang="en-US" sz="1600" dirty="0"/>
              <a:t>：判断当前</a:t>
            </a:r>
            <a:r>
              <a:rPr kumimoji="1" lang="en-US" altLang="zh-CN" sz="1600" dirty="0"/>
              <a:t>Semaphore</a:t>
            </a:r>
            <a:r>
              <a:rPr kumimoji="1" lang="zh-CN" altLang="en-US" sz="1600" dirty="0"/>
              <a:t>对象上是否存在正在等待许可证的线程。</a:t>
            </a:r>
          </a:p>
          <a:p>
            <a:r>
              <a:rPr kumimoji="1" lang="en-US" altLang="zh-CN" sz="1600" dirty="0"/>
              <a:t>——</a:t>
            </a:r>
            <a:r>
              <a:rPr kumimoji="1" lang="en-US" altLang="zh-CN" sz="1600" dirty="0" err="1"/>
              <a:t>getQueueLength</a:t>
            </a:r>
            <a:r>
              <a:rPr kumimoji="1" lang="en-US" altLang="zh-CN" sz="1600" dirty="0"/>
              <a:t>()</a:t>
            </a:r>
            <a:r>
              <a:rPr kumimoji="1" lang="zh-CN" altLang="en-US" sz="1600" dirty="0"/>
              <a:t>：获取当前</a:t>
            </a:r>
            <a:r>
              <a:rPr kumimoji="1" lang="en-US" altLang="zh-CN" sz="1600" dirty="0"/>
              <a:t>Semaphore</a:t>
            </a:r>
            <a:r>
              <a:rPr kumimoji="1" lang="zh-CN" altLang="en-US" sz="1600" dirty="0"/>
              <a:t>对象上是正在等待许可证的线程数量。</a:t>
            </a:r>
          </a:p>
          <a:p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986990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052E07-8791-2E41-BC2E-9C9CAE77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CountDownLatch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0E615E-2627-674D-835F-19A37CA32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300" y="1439840"/>
            <a:ext cx="8229600" cy="4525433"/>
          </a:xfrm>
        </p:spPr>
        <p:txBody>
          <a:bodyPr/>
          <a:lstStyle/>
          <a:p>
            <a:r>
              <a:rPr kumimoji="1" lang="zh-CN" altLang="en-US" sz="2400" dirty="0"/>
              <a:t>倒计时门闩（不可以重置）</a:t>
            </a:r>
            <a:endParaRPr kumimoji="1" lang="en-US" altLang="zh-CN" sz="2400" dirty="0"/>
          </a:p>
          <a:p>
            <a:r>
              <a:rPr kumimoji="1" lang="zh-CN" altLang="en-US" sz="2400" dirty="0"/>
              <a:t>一种同步帮助，它允许一个或多个线程等待其他线程完成一系列操作后再继续执行</a:t>
            </a:r>
            <a:endParaRPr kumimoji="1" lang="en-US" altLang="zh-CN" sz="2400" dirty="0"/>
          </a:p>
          <a:p>
            <a:r>
              <a:rPr kumimoji="1" lang="zh-CN" altLang="en-US" sz="2400" dirty="0"/>
              <a:t>有个计数器。线程调用</a:t>
            </a:r>
            <a:r>
              <a:rPr kumimoji="1" lang="en-US" altLang="zh-CN" sz="2400" dirty="0"/>
              <a:t>countdown()</a:t>
            </a:r>
            <a:r>
              <a:rPr kumimoji="1" lang="zh-CN" altLang="en-US" sz="2400" dirty="0"/>
              <a:t>计数器时计数器减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，调用</a:t>
            </a:r>
            <a:r>
              <a:rPr kumimoji="1" lang="en-US" altLang="zh-CN" sz="2400" dirty="0"/>
              <a:t>await()</a:t>
            </a:r>
            <a:r>
              <a:rPr kumimoji="1" lang="zh-CN" altLang="en-US" sz="2400" dirty="0"/>
              <a:t>线程会阻塞，直到计数器归零。</a:t>
            </a:r>
            <a:endParaRPr kumimoji="1" lang="en-US" altLang="zh-CN" sz="2400" dirty="0"/>
          </a:p>
          <a:p>
            <a:r>
              <a:rPr kumimoji="1" lang="zh-CN" altLang="en-US" sz="2400" dirty="0"/>
              <a:t>使用场景：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主程序等待子程序完成任务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 并行加载资源，全部完成后统一处理</a:t>
            </a:r>
          </a:p>
          <a:p>
            <a:pPr lvl="1"/>
            <a:r>
              <a:rPr kumimoji="1" lang="zh-CN" altLang="en-US" sz="2000" dirty="0"/>
              <a:t> 模拟并发任务启动</a:t>
            </a:r>
          </a:p>
          <a:p>
            <a:pPr lvl="1"/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840228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29411-64CC-474D-A753-D2898B31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CyclicBarrier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29ABD7-2E1C-C247-AD28-66BB5A653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CyclicBarrier</a:t>
            </a:r>
            <a:r>
              <a:rPr lang="zh-CN" altLang="en-US" sz="28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是一个同步器，允许一组线程相互之间等待，直到到达某个公共屏障点 </a:t>
            </a:r>
            <a:r>
              <a:rPr lang="en-US" altLang="zh-CN" sz="28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(common barrier point)</a:t>
            </a:r>
            <a:r>
              <a:rPr lang="zh-CN" altLang="en-US" sz="28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，再继续执行。</a:t>
            </a:r>
            <a:endParaRPr lang="en-US" altLang="zh-CN" sz="2800" b="0" i="0" dirty="0">
              <a:solidFill>
                <a:srgbClr val="222222"/>
              </a:solidFill>
              <a:effectLst/>
              <a:latin typeface="tahoma" panose="020B0604030504040204" pitchFamily="34" charset="0"/>
            </a:endParaRPr>
          </a:p>
          <a:p>
            <a:r>
              <a:rPr kumimoji="1" lang="zh-CN" altLang="en-US" sz="2800" dirty="0">
                <a:solidFill>
                  <a:srgbClr val="222222"/>
                </a:solidFill>
                <a:latin typeface="tahoma" panose="020B0604030504040204" pitchFamily="34" charset="0"/>
              </a:rPr>
              <a:t>使用场景：</a:t>
            </a:r>
            <a:endParaRPr kumimoji="1" lang="en-US" altLang="zh-CN" sz="2800" dirty="0">
              <a:solidFill>
                <a:srgbClr val="222222"/>
              </a:solidFill>
              <a:latin typeface="tahoma" panose="020B0604030504040204" pitchFamily="34" charset="0"/>
            </a:endParaRPr>
          </a:p>
          <a:p>
            <a:pPr lvl="1"/>
            <a:r>
              <a:rPr kumimoji="1" lang="zh-CN" altLang="en-US" sz="2400" dirty="0">
                <a:solidFill>
                  <a:srgbClr val="222222"/>
                </a:solidFill>
                <a:latin typeface="tahoma" panose="020B0604030504040204" pitchFamily="34" charset="0"/>
              </a:rPr>
              <a:t>分阶段任务</a:t>
            </a:r>
            <a:endParaRPr kumimoji="1" lang="en-US" altLang="zh-CN" sz="2400" dirty="0">
              <a:solidFill>
                <a:srgbClr val="222222"/>
              </a:solidFill>
              <a:latin typeface="tahoma" panose="020B0604030504040204" pitchFamily="34" charset="0"/>
            </a:endParaRPr>
          </a:p>
          <a:p>
            <a:pPr lvl="1"/>
            <a:r>
              <a:rPr kumimoji="1" lang="zh-CN" altLang="en-US" sz="2400" dirty="0">
                <a:solidFill>
                  <a:srgbClr val="222222"/>
                </a:solidFill>
                <a:latin typeface="tahoma" panose="020B0604030504040204" pitchFamily="34" charset="0"/>
              </a:rPr>
              <a:t>重复同步</a:t>
            </a:r>
            <a:endParaRPr kumimoji="1" lang="en-US" altLang="zh-CN" sz="2400" dirty="0">
              <a:solidFill>
                <a:srgbClr val="222222"/>
              </a:solidFill>
              <a:latin typeface="tahoma" panose="020B0604030504040204" pitchFamily="34" charset="0"/>
            </a:endParaRPr>
          </a:p>
          <a:p>
            <a:pPr lvl="1"/>
            <a:r>
              <a:rPr kumimoji="1" lang="zh-CN" altLang="en-US" sz="2400" dirty="0">
                <a:solidFill>
                  <a:srgbClr val="222222"/>
                </a:solidFill>
                <a:latin typeface="tahoma" panose="020B0604030504040204" pitchFamily="34" charset="0"/>
              </a:rPr>
              <a:t>模拟并发测试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94486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在这里插入图片描述">
            <a:extLst>
              <a:ext uri="{FF2B5EF4-FFF2-40B4-BE49-F238E27FC236}">
                <a16:creationId xmlns:a16="http://schemas.microsoft.com/office/drawing/2014/main" id="{9BCFD0C1-67FD-0A42-8A3A-2082AE511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6621645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1DBF4396-638B-2B45-B4BF-B68E54A2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</p:spPr>
        <p:txBody>
          <a:bodyPr/>
          <a:lstStyle/>
          <a:p>
            <a:r>
              <a:rPr kumimoji="1" lang="en-US" altLang="zh-CN" dirty="0" err="1"/>
              <a:t>CyclicBarrier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AB1E1C-9B2B-E74A-B2A8-A13B2AB13444}"/>
              </a:ext>
            </a:extLst>
          </p:cNvPr>
          <p:cNvSpPr txBox="1"/>
          <p:nvPr/>
        </p:nvSpPr>
        <p:spPr>
          <a:xfrm>
            <a:off x="1907704" y="611926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/>
              <a:t>大家都到齐了，才能一起走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323387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6D9C5-D8B1-E64C-9069-AC6A1AE4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 err="1"/>
              <a:t>CyclicBarrier</a:t>
            </a:r>
            <a:r>
              <a:rPr kumimoji="1" lang="zh-CN" altLang="en-US" sz="3600" dirty="0"/>
              <a:t>核心方法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80DAB-B119-C347-8D21-3D7B32197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 err="1"/>
              <a:t>CyclicBarrier</a:t>
            </a:r>
            <a:r>
              <a:rPr kumimoji="1" lang="en-US" altLang="zh-CN" sz="2400" dirty="0"/>
              <a:t>(int parties)</a:t>
            </a:r>
          </a:p>
          <a:p>
            <a:r>
              <a:rPr kumimoji="1" lang="en-US" altLang="zh-CN" sz="2400" dirty="0" err="1"/>
              <a:t>CyclicBarrier</a:t>
            </a:r>
            <a:r>
              <a:rPr kumimoji="1" lang="en-US" altLang="zh-CN" sz="2400" dirty="0"/>
              <a:t>(int parties, Runnable </a:t>
            </a:r>
            <a:r>
              <a:rPr kumimoji="1" lang="en-US" altLang="zh-CN" sz="2400" dirty="0" err="1"/>
              <a:t>barrierCommand</a:t>
            </a:r>
            <a:r>
              <a:rPr kumimoji="1" lang="en-US" altLang="zh-CN" sz="2400" dirty="0"/>
              <a:t>)</a:t>
            </a:r>
          </a:p>
          <a:p>
            <a:r>
              <a:rPr kumimoji="1" lang="en-US" altLang="zh-CN" sz="2400" dirty="0"/>
              <a:t>await()</a:t>
            </a:r>
          </a:p>
          <a:p>
            <a:r>
              <a:rPr kumimoji="1" lang="en-US" altLang="zh-CN" sz="2400" dirty="0"/>
              <a:t>parties</a:t>
            </a:r>
            <a:r>
              <a:rPr kumimoji="1" lang="zh-CN" altLang="en-US" sz="2400" dirty="0"/>
              <a:t>：需要等待的线程数量</a:t>
            </a:r>
          </a:p>
          <a:p>
            <a:r>
              <a:rPr kumimoji="1" lang="en-US" altLang="zh-CN" sz="2400" dirty="0" err="1"/>
              <a:t>barrierCommand</a:t>
            </a:r>
            <a:r>
              <a:rPr kumimoji="1" lang="zh-CN" altLang="en-US" sz="2400" dirty="0"/>
              <a:t>：所有线程到达后，优先执行的任务</a:t>
            </a:r>
          </a:p>
          <a:p>
            <a:r>
              <a:rPr kumimoji="1" lang="en-US" altLang="zh-CN" sz="2400" dirty="0"/>
              <a:t>await()</a:t>
            </a:r>
            <a:r>
              <a:rPr kumimoji="1" lang="zh-CN" altLang="en-US" sz="2400" dirty="0"/>
              <a:t>：线程到达屏障，阻塞等待</a:t>
            </a:r>
            <a:endParaRPr kumimoji="1" lang="en-US" altLang="zh-CN" sz="2400" dirty="0"/>
          </a:p>
          <a:p>
            <a:r>
              <a:rPr kumimoji="1" lang="zh-CN" altLang="en-US" sz="2400" dirty="0"/>
              <a:t>可以重置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20922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34D9B-9B4E-4C4B-854A-EDFF1D66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8C788-1409-9248-88B3-993A46344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E51759-A1E2-F34D-A1A1-A9ED75737133}"/>
              </a:ext>
            </a:extLst>
          </p:cNvPr>
          <p:cNvSpPr txBox="1"/>
          <p:nvPr/>
        </p:nvSpPr>
        <p:spPr>
          <a:xfrm>
            <a:off x="427283" y="188640"/>
            <a:ext cx="8229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public class CyclicBarrierDemo {</a:t>
            </a:r>
          </a:p>
          <a:p>
            <a:r>
              <a:rPr lang="zh-CN" altLang="en-US" dirty="0"/>
              <a:t>    static CyclicBarrier c = new CyclicBarrier(2);</a:t>
            </a:r>
          </a:p>
          <a:p>
            <a:r>
              <a:rPr lang="zh-CN" altLang="en-US" dirty="0"/>
              <a:t>    public static void main(String[] args) {</a:t>
            </a:r>
          </a:p>
          <a:p>
            <a:r>
              <a:rPr lang="zh-CN" altLang="en-US" dirty="0"/>
              <a:t>            new Thread(new Runnable() {</a:t>
            </a:r>
          </a:p>
          <a:p>
            <a:r>
              <a:rPr lang="zh-CN" altLang="en-US" dirty="0"/>
              <a:t>                @Override</a:t>
            </a:r>
          </a:p>
          <a:p>
            <a:r>
              <a:rPr lang="zh-CN" altLang="en-US" dirty="0"/>
              <a:t>                public void run() {</a:t>
            </a:r>
          </a:p>
          <a:p>
            <a:r>
              <a:rPr lang="zh-CN" altLang="en-US" dirty="0"/>
              <a:t>                    try {</a:t>
            </a:r>
          </a:p>
          <a:p>
            <a:r>
              <a:rPr lang="zh-CN" altLang="en-US" dirty="0"/>
              <a:t>                        c.await();</a:t>
            </a:r>
          </a:p>
          <a:p>
            <a:r>
              <a:rPr lang="zh-CN" altLang="en-US" dirty="0"/>
              <a:t>                    } catch (InterruptedException | BrokenBarrierException e) {</a:t>
            </a:r>
          </a:p>
          <a:p>
            <a:r>
              <a:rPr lang="zh-CN" altLang="en-US" dirty="0"/>
              <a:t>                        e.printStackTrace();</a:t>
            </a:r>
          </a:p>
          <a:p>
            <a:r>
              <a:rPr lang="zh-CN" altLang="en-US" dirty="0"/>
              <a:t>                    }</a:t>
            </a:r>
          </a:p>
          <a:p>
            <a:r>
              <a:rPr lang="zh-CN" altLang="en-US" dirty="0"/>
              <a:t>                    //在子线程输出1</a:t>
            </a:r>
          </a:p>
          <a:p>
            <a:r>
              <a:rPr lang="zh-CN" altLang="en-US" dirty="0"/>
              <a:t>                    System.out.println("1");</a:t>
            </a:r>
          </a:p>
          <a:p>
            <a:r>
              <a:rPr lang="zh-CN" altLang="en-US" dirty="0"/>
              <a:t>                }</a:t>
            </a:r>
          </a:p>
          <a:p>
            <a:r>
              <a:rPr lang="zh-CN" altLang="en-US" dirty="0"/>
              <a:t>            }).start();</a:t>
            </a:r>
          </a:p>
          <a:p>
            <a:r>
              <a:rPr lang="zh-CN" altLang="en-US" dirty="0"/>
              <a:t>        try {</a:t>
            </a:r>
          </a:p>
          <a:p>
            <a:r>
              <a:rPr lang="zh-CN" altLang="en-US" dirty="0"/>
              <a:t>            c.await();</a:t>
            </a:r>
          </a:p>
          <a:p>
            <a:r>
              <a:rPr lang="zh-CN" altLang="en-US" dirty="0"/>
              <a:t>            //在主线程输出2</a:t>
            </a:r>
          </a:p>
          <a:p>
            <a:r>
              <a:rPr lang="zh-CN" altLang="en-US" dirty="0"/>
              <a:t>            System.out.println("2");</a:t>
            </a:r>
          </a:p>
          <a:p>
            <a:r>
              <a:rPr lang="zh-CN" altLang="en-US" dirty="0"/>
              <a:t>        } catch (InterruptedException | BrokenBarrierException e) {</a:t>
            </a:r>
          </a:p>
          <a:p>
            <a:r>
              <a:rPr lang="zh-CN" altLang="en-US" dirty="0"/>
              <a:t>            e.printStackTrace();</a:t>
            </a:r>
          </a:p>
          <a:p>
            <a:r>
              <a:rPr lang="zh-CN" altLang="en-US" dirty="0"/>
              <a:t>        }</a:t>
            </a:r>
          </a:p>
          <a:p>
            <a:r>
              <a:rPr lang="zh-CN" altLang="en-US" dirty="0"/>
              <a:t>    }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70847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B2A84-C7E6-0C43-BDBC-3FDCBDA9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488ED-8DC1-074B-8F9C-28506A673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0F5F27-32D3-F743-A360-AAE0A7B67991}"/>
              </a:ext>
            </a:extLst>
          </p:cNvPr>
          <p:cNvSpPr txBox="1"/>
          <p:nvPr/>
        </p:nvSpPr>
        <p:spPr>
          <a:xfrm>
            <a:off x="0" y="0"/>
            <a:ext cx="896448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public class CyclicBarrierDemo {</a:t>
            </a:r>
          </a:p>
          <a:p>
            <a:r>
              <a:rPr lang="zh-CN" altLang="en-US" sz="1600" dirty="0"/>
              <a:t>    //实例化CyclicBarrier，并指定回调函数</a:t>
            </a:r>
          </a:p>
          <a:p>
            <a:r>
              <a:rPr lang="zh-CN" altLang="en-US" sz="1600" dirty="0"/>
              <a:t>    static CyclicBarrier c = new CyclicBarrier(2,new TestRunable());</a:t>
            </a:r>
          </a:p>
          <a:p>
            <a:r>
              <a:rPr lang="zh-CN" altLang="en-US" sz="1600" dirty="0"/>
              <a:t>    public static void main(String[] args) {</a:t>
            </a:r>
          </a:p>
          <a:p>
            <a:r>
              <a:rPr lang="zh-CN" altLang="en-US" sz="1600" dirty="0"/>
              <a:t>            new Thread(new Runnable() {</a:t>
            </a:r>
          </a:p>
          <a:p>
            <a:r>
              <a:rPr lang="zh-CN" altLang="en-US" sz="1600" dirty="0"/>
              <a:t>                @Override</a:t>
            </a:r>
          </a:p>
          <a:p>
            <a:r>
              <a:rPr lang="zh-CN" altLang="en-US" sz="1600" dirty="0"/>
              <a:t>                public void run() {</a:t>
            </a:r>
          </a:p>
          <a:p>
            <a:r>
              <a:rPr lang="zh-CN" altLang="en-US" sz="1600" dirty="0"/>
              <a:t>                    try {</a:t>
            </a:r>
          </a:p>
          <a:p>
            <a:r>
              <a:rPr lang="zh-CN" altLang="en-US" sz="1600" dirty="0"/>
              <a:t>                        c.await();</a:t>
            </a:r>
          </a:p>
          <a:p>
            <a:r>
              <a:rPr lang="zh-CN" altLang="en-US" sz="1600" dirty="0"/>
              <a:t>                    } catch (InterruptedException | BrokenBarrierException e) {</a:t>
            </a:r>
          </a:p>
          <a:p>
            <a:r>
              <a:rPr lang="zh-CN" altLang="en-US" sz="1600" dirty="0"/>
              <a:t>                        e.printStackTrace();</a:t>
            </a:r>
          </a:p>
          <a:p>
            <a:r>
              <a:rPr lang="zh-CN" altLang="en-US" sz="1600" dirty="0"/>
              <a:t>                    }</a:t>
            </a:r>
          </a:p>
          <a:p>
            <a:r>
              <a:rPr lang="zh-CN" altLang="en-US" sz="1600" dirty="0"/>
              <a:t>                    System.out.println("1");</a:t>
            </a:r>
          </a:p>
          <a:p>
            <a:r>
              <a:rPr lang="zh-CN" altLang="en-US" sz="1600" dirty="0"/>
              <a:t>                }</a:t>
            </a:r>
          </a:p>
          <a:p>
            <a:r>
              <a:rPr lang="zh-CN" altLang="en-US" sz="1600" dirty="0"/>
              <a:t>            }).start();</a:t>
            </a:r>
          </a:p>
          <a:p>
            <a:r>
              <a:rPr lang="zh-CN" altLang="en-US" sz="1600" dirty="0"/>
              <a:t>        try {</a:t>
            </a:r>
          </a:p>
          <a:p>
            <a:r>
              <a:rPr lang="zh-CN" altLang="en-US" sz="1600" dirty="0"/>
              <a:t>            c.await();</a:t>
            </a:r>
          </a:p>
          <a:p>
            <a:r>
              <a:rPr lang="zh-CN" altLang="en-US" sz="1600" dirty="0"/>
              <a:t>            System.out.println("2");</a:t>
            </a:r>
          </a:p>
          <a:p>
            <a:r>
              <a:rPr lang="zh-CN" altLang="en-US" sz="1600" dirty="0"/>
              <a:t>        } catch (InterruptedException | BrokenBarrierException e) {</a:t>
            </a:r>
          </a:p>
          <a:p>
            <a:r>
              <a:rPr lang="zh-CN" altLang="en-US" sz="1600" dirty="0"/>
              <a:t>            e.printStackTrace();</a:t>
            </a:r>
          </a:p>
          <a:p>
            <a:r>
              <a:rPr lang="zh-CN" altLang="en-US" sz="1600" dirty="0"/>
              <a:t>        }</a:t>
            </a:r>
          </a:p>
          <a:p>
            <a:r>
              <a:rPr lang="zh-CN" altLang="en-US" sz="1600" dirty="0"/>
              <a:t>    }</a:t>
            </a:r>
          </a:p>
          <a:p>
            <a:r>
              <a:rPr lang="zh-CN" altLang="en-US" sz="1600" dirty="0"/>
              <a:t>    static class TestRunable implements Runnable{</a:t>
            </a:r>
          </a:p>
          <a:p>
            <a:r>
              <a:rPr lang="zh-CN" altLang="en-US" sz="1600" dirty="0"/>
              <a:t>        @Override</a:t>
            </a:r>
          </a:p>
          <a:p>
            <a:r>
              <a:rPr lang="zh-CN" altLang="en-US" sz="1600" dirty="0"/>
              <a:t>        public void run() {</a:t>
            </a:r>
          </a:p>
          <a:p>
            <a:r>
              <a:rPr lang="zh-CN" altLang="en-US" sz="1600" dirty="0"/>
              <a:t>            System.out.println("3");</a:t>
            </a:r>
          </a:p>
          <a:p>
            <a:r>
              <a:rPr lang="zh-CN" altLang="en-US" sz="1600" dirty="0"/>
              <a:t>        }</a:t>
            </a:r>
          </a:p>
          <a:p>
            <a:r>
              <a:rPr lang="zh-CN" altLang="en-US" sz="1600" dirty="0"/>
              <a:t>    }</a:t>
            </a:r>
          </a:p>
          <a:p>
            <a:r>
              <a:rPr lang="zh-CN" altLang="en-US" sz="1600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62721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4000">
                <a:cs typeface="Times New Roman" charset="0"/>
              </a:rPr>
              <a:t>Deadlock 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585-052C-E44B-9EC1-DDCA8E027FB2}" type="slidenum">
              <a:rPr lang="en-US" altLang="zh-CN"/>
              <a:pPr/>
              <a:t>76</a:t>
            </a:fld>
            <a:endParaRPr lang="en-US" altLang="zh-CN"/>
          </a:p>
        </p:txBody>
      </p:sp>
      <p:sp>
        <p:nvSpPr>
          <p:cNvPr id="320518" name="Rectangle 6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0521" name="Rectangle 9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20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287882"/>
              </p:ext>
            </p:extLst>
          </p:nvPr>
        </p:nvGraphicFramePr>
        <p:xfrm>
          <a:off x="1371600" y="2348880"/>
          <a:ext cx="6324600" cy="32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6" name="图片" r:id="rId4" imgW="3762756" imgH="1900428" progId="Word.Picture.8">
                  <p:embed/>
                </p:oleObj>
              </mc:Choice>
              <mc:Fallback>
                <p:oleObj name="图片" r:id="rId4" imgW="3762756" imgH="190042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348880"/>
                        <a:ext cx="6324600" cy="32019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15429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4000" dirty="0">
                <a:cs typeface="Times New Roman" charset="0"/>
              </a:rPr>
              <a:t>Preventing Deadlock</a:t>
            </a:r>
            <a:r>
              <a:rPr lang="en-US" altLang="zh-CN" sz="4000" dirty="0">
                <a:latin typeface="Courier" charset="0"/>
                <a:cs typeface="Times New Roman" charset="0"/>
              </a:rPr>
              <a:t> 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916832"/>
            <a:ext cx="8610600" cy="30480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en-US" altLang="zh-CN" sz="2800" dirty="0">
                <a:cs typeface="Courier New" charset="0"/>
              </a:rPr>
              <a:t>Deadlock can be easily avoided by using a simple technique known as resource ordering.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endParaRPr lang="en-US" altLang="zh-CN" sz="2800" dirty="0">
              <a:cs typeface="Courier New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zh-CN" altLang="en-US" sz="2800" dirty="0">
                <a:cs typeface="Courier New" charset="0"/>
              </a:rPr>
              <a:t>资源排序技术：</a:t>
            </a:r>
            <a:endParaRPr lang="en-US" altLang="zh-CN" sz="2800" dirty="0">
              <a:cs typeface="Courier New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zh-CN" altLang="en-US" sz="2800" dirty="0">
                <a:cs typeface="Courier New" charset="0"/>
              </a:rPr>
              <a:t>例如：给要加锁的对象进行排序，必须按照顺序进行加锁。</a:t>
            </a:r>
            <a:endParaRPr lang="en-US" altLang="zh-CN" sz="2800" dirty="0">
              <a:cs typeface="Courier New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endParaRPr lang="en-US" altLang="zh-CN" sz="2800" dirty="0">
              <a:cs typeface="Courier New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charset="0"/>
              <a:buNone/>
            </a:pPr>
            <a:r>
              <a:rPr lang="zh-CN" altLang="en-US" sz="2800">
                <a:cs typeface="Courier New" charset="0"/>
              </a:rPr>
              <a:t>资源重排通过为系统中的资源分配一个全局固定的编号顺序，要求线程按递增（或递减）顺序申请资源，从而破坏死锁的循环等待条件，达到预防死锁的目的。</a:t>
            </a:r>
            <a:endParaRPr lang="en-US" altLang="zh-CN" sz="2800" dirty="0">
              <a:cs typeface="Courier New" charset="0"/>
            </a:endParaRPr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9DB3-4F1D-274C-9178-7AE00EB29D8B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322564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7201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C736A-AFD3-F244-A6CD-EC23962D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死锁的例子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17711-93B7-9242-B121-3E593637B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dirty="0"/>
              <a:t>void transfer(Account from, Account to, int amount) {</a:t>
            </a:r>
          </a:p>
          <a:p>
            <a:pPr marL="0" indent="0">
              <a:buNone/>
            </a:pPr>
            <a:r>
              <a:rPr kumimoji="1" lang="en-US" altLang="zh-CN" sz="2000" dirty="0"/>
              <a:t>    synchronized (from) {</a:t>
            </a:r>
          </a:p>
          <a:p>
            <a:pPr marL="0" indent="0">
              <a:buNone/>
            </a:pPr>
            <a:r>
              <a:rPr kumimoji="1" lang="en-US" altLang="zh-CN" sz="2000" dirty="0"/>
              <a:t>        synchronized (to) {</a:t>
            </a:r>
          </a:p>
          <a:p>
            <a:pPr marL="0" indent="0">
              <a:buNone/>
            </a:pPr>
            <a:r>
              <a:rPr kumimoji="1" lang="en-US" altLang="zh-CN" sz="2000" dirty="0"/>
              <a:t>            </a:t>
            </a:r>
            <a:r>
              <a:rPr kumimoji="1" lang="en-US" altLang="zh-CN" sz="2000" dirty="0" err="1"/>
              <a:t>from.debit</a:t>
            </a:r>
            <a:r>
              <a:rPr kumimoji="1" lang="en-US" altLang="zh-CN" sz="2000" dirty="0"/>
              <a:t>(amount);</a:t>
            </a:r>
          </a:p>
          <a:p>
            <a:pPr marL="0" indent="0">
              <a:buNone/>
            </a:pPr>
            <a:r>
              <a:rPr kumimoji="1" lang="en-US" altLang="zh-CN" sz="2000" dirty="0"/>
              <a:t>            </a:t>
            </a:r>
            <a:r>
              <a:rPr kumimoji="1" lang="en-US" altLang="zh-CN" sz="2000" dirty="0" err="1"/>
              <a:t>to.credit</a:t>
            </a:r>
            <a:r>
              <a:rPr kumimoji="1" lang="en-US" altLang="zh-CN" sz="2000" dirty="0"/>
              <a:t>(amount);</a:t>
            </a:r>
          </a:p>
          <a:p>
            <a:pPr marL="0" indent="0">
              <a:buNone/>
            </a:pPr>
            <a:r>
              <a:rPr kumimoji="1" lang="en-US" altLang="zh-CN" sz="2000" dirty="0"/>
              <a:t>        }</a:t>
            </a:r>
          </a:p>
          <a:p>
            <a:pPr marL="0" indent="0">
              <a:buNone/>
            </a:pPr>
            <a:r>
              <a:rPr kumimoji="1" lang="en-US" altLang="zh-CN" sz="2000" dirty="0"/>
              <a:t>    }</a:t>
            </a:r>
          </a:p>
          <a:p>
            <a:pPr marL="0" indent="0">
              <a:buNone/>
            </a:pPr>
            <a:r>
              <a:rPr kumimoji="1" lang="en-US" altLang="zh-CN" sz="2000" dirty="0"/>
              <a:t>}</a:t>
            </a:r>
          </a:p>
          <a:p>
            <a:pPr marL="0" indent="0">
              <a:buNone/>
            </a:pPr>
            <a:r>
              <a:rPr kumimoji="1" lang="zh-CN" altLang="en-US" sz="2000" dirty="0"/>
              <a:t>如果</a:t>
            </a:r>
            <a:r>
              <a:rPr kumimoji="1" lang="en-US" altLang="zh-CN" sz="2000" dirty="0"/>
              <a:t>A-&gt;B  B-&gt;A </a:t>
            </a:r>
            <a:r>
              <a:rPr kumimoji="1" lang="zh-CN" altLang="en-US" sz="2000" dirty="0"/>
              <a:t>同时发生会死锁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14253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F297F-BD4A-5E4C-9FAB-735694D6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资源重排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01646-CC4B-054C-8E5F-52557A8C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dirty="0"/>
              <a:t>void transfer(Account from, Account to, int amount) {</a:t>
            </a:r>
          </a:p>
          <a:p>
            <a:pPr marL="0" indent="0">
              <a:buNone/>
            </a:pPr>
            <a:r>
              <a:rPr kumimoji="1" lang="en-US" altLang="zh-CN" sz="2000" dirty="0"/>
              <a:t>    Account first = </a:t>
            </a:r>
            <a:r>
              <a:rPr kumimoji="1" lang="en-US" altLang="zh-CN" sz="2000" dirty="0" err="1"/>
              <a:t>from.getId</a:t>
            </a:r>
            <a:r>
              <a:rPr kumimoji="1" lang="en-US" altLang="zh-CN" sz="2000" dirty="0"/>
              <a:t>() &lt; </a:t>
            </a:r>
            <a:r>
              <a:rPr kumimoji="1" lang="en-US" altLang="zh-CN" sz="2000" dirty="0" err="1"/>
              <a:t>to.getId</a:t>
            </a:r>
            <a:r>
              <a:rPr kumimoji="1" lang="en-US" altLang="zh-CN" sz="2000" dirty="0"/>
              <a:t>() ? from : to;</a:t>
            </a:r>
          </a:p>
          <a:p>
            <a:pPr marL="0" indent="0">
              <a:buNone/>
            </a:pPr>
            <a:r>
              <a:rPr kumimoji="1" lang="en-US" altLang="zh-CN" sz="2000" dirty="0"/>
              <a:t>    Account second = </a:t>
            </a:r>
            <a:r>
              <a:rPr kumimoji="1" lang="en-US" altLang="zh-CN" sz="2000" dirty="0" err="1"/>
              <a:t>from.getId</a:t>
            </a:r>
            <a:r>
              <a:rPr kumimoji="1" lang="en-US" altLang="zh-CN" sz="2000" dirty="0"/>
              <a:t>() &lt; </a:t>
            </a:r>
            <a:r>
              <a:rPr kumimoji="1" lang="en-US" altLang="zh-CN" sz="2000" dirty="0" err="1"/>
              <a:t>to.getId</a:t>
            </a:r>
            <a:r>
              <a:rPr kumimoji="1" lang="en-US" altLang="zh-CN" sz="2000" dirty="0"/>
              <a:t>() ? to : from;</a:t>
            </a:r>
          </a:p>
          <a:p>
            <a:pPr marL="0" indent="0">
              <a:buNone/>
            </a:pPr>
            <a:r>
              <a:rPr kumimoji="1" lang="en-US" altLang="zh-CN" sz="2000" dirty="0"/>
              <a:t>    synchronized (first) {</a:t>
            </a:r>
          </a:p>
          <a:p>
            <a:pPr marL="0" indent="0">
              <a:buNone/>
            </a:pPr>
            <a:r>
              <a:rPr kumimoji="1" lang="en-US" altLang="zh-CN" sz="2000" dirty="0"/>
              <a:t>        synchronized (second) {</a:t>
            </a:r>
          </a:p>
          <a:p>
            <a:pPr marL="0" indent="0">
              <a:buNone/>
            </a:pPr>
            <a:r>
              <a:rPr kumimoji="1" lang="en-US" altLang="zh-CN" sz="2000" dirty="0"/>
              <a:t>            </a:t>
            </a:r>
            <a:r>
              <a:rPr kumimoji="1" lang="en-US" altLang="zh-CN" sz="2000" dirty="0" err="1"/>
              <a:t>from.debit</a:t>
            </a:r>
            <a:r>
              <a:rPr kumimoji="1" lang="en-US" altLang="zh-CN" sz="2000" dirty="0"/>
              <a:t>(amount);</a:t>
            </a:r>
          </a:p>
          <a:p>
            <a:pPr marL="0" indent="0">
              <a:buNone/>
            </a:pPr>
            <a:r>
              <a:rPr kumimoji="1" lang="en-US" altLang="zh-CN" sz="2000" dirty="0"/>
              <a:t>            </a:t>
            </a:r>
            <a:r>
              <a:rPr kumimoji="1" lang="en-US" altLang="zh-CN" sz="2000" dirty="0" err="1"/>
              <a:t>to.credit</a:t>
            </a:r>
            <a:r>
              <a:rPr kumimoji="1" lang="en-US" altLang="zh-CN" sz="2000" dirty="0"/>
              <a:t>(amount);</a:t>
            </a:r>
          </a:p>
          <a:p>
            <a:pPr marL="0" indent="0">
              <a:buNone/>
            </a:pPr>
            <a:r>
              <a:rPr kumimoji="1" lang="en-US" altLang="zh-CN" sz="2000" dirty="0"/>
              <a:t>        }</a:t>
            </a:r>
          </a:p>
          <a:p>
            <a:pPr marL="0" indent="0">
              <a:buNone/>
            </a:pPr>
            <a:r>
              <a:rPr kumimoji="1" lang="en-US" altLang="zh-CN" sz="2000" dirty="0"/>
              <a:t>    }</a:t>
            </a:r>
          </a:p>
          <a:p>
            <a:pPr marL="0" indent="0">
              <a:buNone/>
            </a:pPr>
            <a:r>
              <a:rPr kumimoji="1" lang="en-US" altLang="zh-CN" sz="2000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90038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09600"/>
          </a:xfrm>
          <a:noFill/>
          <a:ln/>
        </p:spPr>
        <p:txBody>
          <a:bodyPr/>
          <a:lstStyle/>
          <a:p>
            <a:r>
              <a:rPr lang="en-US" altLang="zh-CN"/>
              <a:t>Thread States</a:t>
            </a:r>
            <a:endParaRPr lang="en-US" altLang="zh-CN" b="1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69EE6-D424-F749-B75C-926650CDFD00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268293" name="Rectangle 5"/>
          <p:cNvSpPr>
            <a:spLocks noChangeArrowheads="1"/>
          </p:cNvSpPr>
          <p:nvPr/>
        </p:nvSpPr>
        <p:spPr bwMode="auto">
          <a:xfrm>
            <a:off x="1914525" y="2428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68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559663"/>
              </p:ext>
            </p:extLst>
          </p:nvPr>
        </p:nvGraphicFramePr>
        <p:xfrm>
          <a:off x="228600" y="2708920"/>
          <a:ext cx="8763000" cy="329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2" name="图片" r:id="rId3" imgW="5315712" imgH="2001012" progId="Word.Picture.8">
                  <p:embed/>
                </p:oleObj>
              </mc:Choice>
              <mc:Fallback>
                <p:oleObj name="图片" r:id="rId3" imgW="5315712" imgH="2001012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708920"/>
                        <a:ext cx="8763000" cy="32972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4" name="Text Box 6"/>
          <p:cNvSpPr txBox="1">
            <a:spLocks noChangeArrowheads="1"/>
          </p:cNvSpPr>
          <p:nvPr/>
        </p:nvSpPr>
        <p:spPr bwMode="auto">
          <a:xfrm>
            <a:off x="251520" y="1628800"/>
            <a:ext cx="87129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cs typeface="Times New Roman" charset="0"/>
              </a:rPr>
              <a:t>A thread can be in one of five states: New, Ready, Running, Blocked, or Finished.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6365411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457200"/>
          </a:xfrm>
          <a:noFill/>
          <a:ln/>
        </p:spPr>
        <p:txBody>
          <a:bodyPr/>
          <a:lstStyle/>
          <a:p>
            <a:r>
              <a:rPr lang="en-US" altLang="zh-CN"/>
              <a:t>Synchronized Collections 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77888"/>
            <a:ext cx="8763000" cy="2743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dirty="0"/>
              <a:t>The classes in the Java Collections Framework are not thread-safe.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i="1" dirty="0"/>
              <a:t>synchronization wrappers</a:t>
            </a:r>
            <a:r>
              <a:rPr lang="en-US" altLang="zh-CN" sz="2800" dirty="0"/>
              <a:t>:</a:t>
            </a:r>
          </a:p>
          <a:p>
            <a:pPr>
              <a:lnSpc>
                <a:spcPct val="80000"/>
              </a:lnSpc>
            </a:pPr>
            <a:r>
              <a:rPr lang="en-US" altLang="zh-CN" sz="2800" dirty="0"/>
              <a:t>The </a:t>
            </a:r>
            <a:r>
              <a:rPr lang="en-US" altLang="zh-CN" sz="2800" u="sng" dirty="0"/>
              <a:t>Collections</a:t>
            </a:r>
            <a:r>
              <a:rPr lang="en-US" altLang="zh-CN" sz="2800" dirty="0"/>
              <a:t> class provides six static methods for wrapping a collection into a synchronized version</a:t>
            </a:r>
          </a:p>
        </p:txBody>
      </p:sp>
      <p:sp>
        <p:nvSpPr>
          <p:cNvPr id="10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2A1B-0AEE-734F-966A-75A2F15C8CF3}" type="slidenum">
              <a:rPr lang="en-US" altLang="zh-CN"/>
              <a:pPr/>
              <a:t>81</a:t>
            </a:fld>
            <a:endParaRPr lang="en-US" altLang="zh-CN"/>
          </a:p>
        </p:txBody>
      </p:sp>
      <p:sp>
        <p:nvSpPr>
          <p:cNvPr id="370693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0694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0695" name="Rectangle 7"/>
          <p:cNvSpPr>
            <a:spLocks noChangeArrowheads="1"/>
          </p:cNvSpPr>
          <p:nvPr/>
        </p:nvSpPr>
        <p:spPr bwMode="auto">
          <a:xfrm>
            <a:off x="0" y="2754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0698" name="Rectangle 10"/>
          <p:cNvSpPr>
            <a:spLocks noChangeArrowheads="1"/>
          </p:cNvSpPr>
          <p:nvPr/>
        </p:nvSpPr>
        <p:spPr bwMode="auto">
          <a:xfrm>
            <a:off x="0" y="2716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0697" name="Object 9"/>
          <p:cNvGraphicFramePr>
            <a:graphicFrameLocks noChangeAspect="1"/>
          </p:cNvGraphicFramePr>
          <p:nvPr/>
        </p:nvGraphicFramePr>
        <p:xfrm>
          <a:off x="381000" y="3962400"/>
          <a:ext cx="8229600" cy="247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6" name="图片" r:id="rId4" imgW="4744212" imgH="1420368" progId="Word.Picture.8">
                  <p:embed/>
                </p:oleObj>
              </mc:Choice>
              <mc:Fallback>
                <p:oleObj name="图片" r:id="rId4" imgW="4744212" imgH="142036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62400"/>
                        <a:ext cx="8229600" cy="24749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00184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95998" y="496094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4000" dirty="0"/>
              <a:t>Vector, Stack, and </a:t>
            </a:r>
            <a:r>
              <a:rPr lang="en-US" altLang="zh-CN" sz="4000" dirty="0" err="1"/>
              <a:t>Hashtable</a:t>
            </a:r>
            <a:r>
              <a:rPr lang="en-US" altLang="zh-CN" dirty="0"/>
              <a:t> 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98984"/>
            <a:ext cx="8686800" cy="5486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300" u="sng" dirty="0" err="1"/>
              <a:t>synchronizedCollection</a:t>
            </a:r>
            <a:r>
              <a:rPr lang="en-US" altLang="zh-CN" sz="2300" u="sng" dirty="0"/>
              <a:t>(Collection c)</a:t>
            </a:r>
            <a:r>
              <a:rPr lang="en-US" altLang="zh-CN" sz="2300" dirty="0"/>
              <a:t> returns a new </a:t>
            </a:r>
            <a:r>
              <a:rPr lang="en-US" altLang="zh-CN" sz="2300" u="sng" dirty="0"/>
              <a:t>Collection</a:t>
            </a:r>
            <a:r>
              <a:rPr lang="en-US" altLang="zh-CN" sz="2300" dirty="0"/>
              <a:t> object, in which all the methods that access and update the original collection </a:t>
            </a:r>
            <a:r>
              <a:rPr lang="en-US" altLang="zh-CN" sz="2300" u="sng" dirty="0"/>
              <a:t>c</a:t>
            </a:r>
            <a:r>
              <a:rPr lang="en-US" altLang="zh-CN" sz="2300" dirty="0"/>
              <a:t> are synchronized. </a:t>
            </a:r>
          </a:p>
          <a:p>
            <a:pPr marL="0" indent="0">
              <a:lnSpc>
                <a:spcPct val="80000"/>
              </a:lnSpc>
              <a:buFont typeface="Monotype Sorts" charset="0"/>
              <a:buNone/>
            </a:pPr>
            <a:r>
              <a:rPr lang="en-US" altLang="zh-CN" sz="2300" dirty="0"/>
              <a:t>For example, the </a:t>
            </a:r>
            <a:r>
              <a:rPr lang="en-US" altLang="zh-CN" sz="2300" u="sng" dirty="0"/>
              <a:t>add</a:t>
            </a:r>
            <a:r>
              <a:rPr lang="en-US" altLang="zh-CN" sz="2300" dirty="0"/>
              <a:t> method is implemented like this:</a:t>
            </a:r>
            <a:endParaRPr lang="en-US" altLang="zh-CN" sz="2300" u="sng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100" u="sng" dirty="0"/>
              <a:t>public </a:t>
            </a:r>
            <a:r>
              <a:rPr lang="en-US" altLang="zh-CN" sz="2100" u="sng" dirty="0" err="1"/>
              <a:t>boolean</a:t>
            </a:r>
            <a:r>
              <a:rPr lang="en-US" altLang="zh-CN" sz="2100" u="sng" dirty="0"/>
              <a:t> add(E o)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100" u="sng" dirty="0"/>
              <a:t>  synchronized (this) { return </a:t>
            </a:r>
            <a:r>
              <a:rPr lang="en-US" altLang="zh-CN" sz="2100" u="sng" dirty="0" err="1"/>
              <a:t>c.add</a:t>
            </a:r>
            <a:r>
              <a:rPr lang="en-US" altLang="zh-CN" sz="2100" u="sng" dirty="0"/>
              <a:t>(o); 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100" u="sng" dirty="0"/>
              <a:t>}</a:t>
            </a:r>
          </a:p>
          <a:p>
            <a:pPr marL="0" indent="0">
              <a:lnSpc>
                <a:spcPct val="80000"/>
              </a:lnSpc>
              <a:buFont typeface="Monotype Sorts" charset="0"/>
              <a:buNone/>
            </a:pPr>
            <a:endParaRPr lang="en-US" altLang="zh-CN" sz="2300" dirty="0"/>
          </a:p>
          <a:p>
            <a:pPr marL="0" indent="0">
              <a:lnSpc>
                <a:spcPct val="80000"/>
              </a:lnSpc>
              <a:buFont typeface="Monotype Sorts" charset="0"/>
              <a:buNone/>
            </a:pPr>
            <a:r>
              <a:rPr lang="en-US" altLang="zh-CN" sz="2300" dirty="0"/>
              <a:t>The synchronized collections can be safely accessed and modified by multiple threads concurrently. </a:t>
            </a:r>
          </a:p>
          <a:p>
            <a:pPr marL="0" indent="0">
              <a:lnSpc>
                <a:spcPct val="80000"/>
              </a:lnSpc>
              <a:buFont typeface="Monotype Sorts" charset="0"/>
              <a:buNone/>
            </a:pPr>
            <a:endParaRPr lang="en-US" altLang="zh-CN" sz="2300" dirty="0"/>
          </a:p>
          <a:p>
            <a:pPr>
              <a:lnSpc>
                <a:spcPct val="80000"/>
              </a:lnSpc>
            </a:pPr>
            <a:r>
              <a:rPr lang="en-US" altLang="zh-CN" sz="2300" dirty="0"/>
              <a:t>The methods in </a:t>
            </a:r>
            <a:r>
              <a:rPr lang="en-US" altLang="zh-CN" sz="2300" u="sng" dirty="0" err="1"/>
              <a:t>java.util.Vector</a:t>
            </a:r>
            <a:r>
              <a:rPr lang="en-US" altLang="zh-CN" sz="2300" dirty="0"/>
              <a:t>, </a:t>
            </a:r>
            <a:r>
              <a:rPr lang="en-US" altLang="zh-CN" sz="2300" u="sng" dirty="0" err="1"/>
              <a:t>java.util.Stack</a:t>
            </a:r>
            <a:r>
              <a:rPr lang="en-US" altLang="zh-CN" sz="2300" dirty="0"/>
              <a:t>, and </a:t>
            </a:r>
            <a:r>
              <a:rPr lang="en-US" altLang="zh-CN" sz="2300" u="sng" dirty="0" err="1"/>
              <a:t>Hashtable</a:t>
            </a:r>
            <a:r>
              <a:rPr lang="en-US" altLang="zh-CN" sz="2300" dirty="0"/>
              <a:t> are already synchronized. </a:t>
            </a:r>
          </a:p>
          <a:p>
            <a:pPr>
              <a:lnSpc>
                <a:spcPct val="80000"/>
              </a:lnSpc>
            </a:pPr>
            <a:r>
              <a:rPr lang="en-US" altLang="zh-CN" sz="2300" dirty="0"/>
              <a:t>you should use </a:t>
            </a:r>
            <a:r>
              <a:rPr lang="en-US" altLang="zh-CN" sz="2300" u="sng" dirty="0" err="1"/>
              <a:t>java.util.ArrayList</a:t>
            </a:r>
            <a:r>
              <a:rPr lang="en-US" altLang="zh-CN" sz="2300" dirty="0"/>
              <a:t> to replace </a:t>
            </a:r>
            <a:r>
              <a:rPr lang="en-US" altLang="zh-CN" sz="2300" u="sng" dirty="0"/>
              <a:t>Vector</a:t>
            </a:r>
            <a:r>
              <a:rPr lang="en-US" altLang="zh-CN" sz="2300" dirty="0"/>
              <a:t>, </a:t>
            </a:r>
            <a:r>
              <a:rPr lang="en-US" altLang="zh-CN" sz="2300" u="sng" dirty="0" err="1"/>
              <a:t>java.util.LinkedList</a:t>
            </a:r>
            <a:r>
              <a:rPr lang="en-US" altLang="zh-CN" sz="2300" dirty="0"/>
              <a:t> to replace </a:t>
            </a:r>
            <a:r>
              <a:rPr lang="en-US" altLang="zh-CN" sz="2300" u="sng" dirty="0"/>
              <a:t>Stack</a:t>
            </a:r>
            <a:r>
              <a:rPr lang="en-US" altLang="zh-CN" sz="2300" dirty="0"/>
              <a:t>, and </a:t>
            </a:r>
            <a:r>
              <a:rPr lang="en-US" altLang="zh-CN" sz="2300" u="sng" dirty="0" err="1"/>
              <a:t>java.util.Map</a:t>
            </a:r>
            <a:r>
              <a:rPr lang="en-US" altLang="zh-CN" sz="2300" dirty="0"/>
              <a:t> to replace </a:t>
            </a:r>
            <a:r>
              <a:rPr lang="en-US" altLang="zh-CN" sz="2300" u="sng" dirty="0" err="1"/>
              <a:t>Hashtable</a:t>
            </a:r>
            <a:r>
              <a:rPr lang="en-US" altLang="zh-CN" sz="2300" dirty="0"/>
              <a:t>. If synchronization is needed, use a synchronization wrapper. </a:t>
            </a:r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4141-EBB2-3946-B092-90B07706E7F2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372740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2742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2743" name="Rectangle 7"/>
          <p:cNvSpPr>
            <a:spLocks noChangeArrowheads="1"/>
          </p:cNvSpPr>
          <p:nvPr/>
        </p:nvSpPr>
        <p:spPr bwMode="auto">
          <a:xfrm>
            <a:off x="0" y="2754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2744" name="Rectangle 8"/>
          <p:cNvSpPr>
            <a:spLocks noChangeArrowheads="1"/>
          </p:cNvSpPr>
          <p:nvPr/>
        </p:nvSpPr>
        <p:spPr bwMode="auto">
          <a:xfrm>
            <a:off x="0" y="2716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135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51520"/>
            <a:ext cx="8839200" cy="457200"/>
          </a:xfrm>
          <a:noFill/>
          <a:ln/>
        </p:spPr>
        <p:txBody>
          <a:bodyPr/>
          <a:lstStyle/>
          <a:p>
            <a:r>
              <a:rPr lang="en-US" altLang="zh-CN" sz="4000" dirty="0"/>
              <a:t>Fail-Fast</a:t>
            </a:r>
            <a:r>
              <a:rPr lang="en-US" altLang="zh-CN" dirty="0"/>
              <a:t> </a:t>
            </a:r>
            <a:r>
              <a:rPr lang="zh-CN" altLang="en-US" dirty="0"/>
              <a:t>：遍历时要注意</a:t>
            </a:r>
            <a:endParaRPr lang="en-US" altLang="zh-CN" dirty="0"/>
          </a:p>
        </p:txBody>
      </p:sp>
      <p:sp>
        <p:nvSpPr>
          <p:cNvPr id="3747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70992"/>
            <a:ext cx="8686800" cy="54864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Monotype Sorts" charset="0"/>
              <a:buNone/>
            </a:pPr>
            <a:r>
              <a:rPr lang="en-US" altLang="zh-CN" sz="2000" dirty="0"/>
              <a:t>The synchronization wrapper classes are thread-safe, but the iterator is </a:t>
            </a:r>
            <a:r>
              <a:rPr lang="en-US" altLang="zh-CN" sz="2000" i="1" dirty="0"/>
              <a:t>fail-fast</a:t>
            </a:r>
            <a:r>
              <a:rPr lang="en-US" altLang="zh-CN" sz="2000" dirty="0"/>
              <a:t>. This means that if you are using an iterator to traverse a collection while the underlying collection is being modified by another thread, then the iterator will immediately fail by throwing </a:t>
            </a:r>
            <a:r>
              <a:rPr lang="en-US" altLang="zh-CN" sz="2000" u="sng" dirty="0" err="1"/>
              <a:t>java.util.ConcurrentModificationException</a:t>
            </a:r>
            <a:r>
              <a:rPr lang="en-US" altLang="zh-CN" sz="2000" dirty="0"/>
              <a:t>, which is a subclass of </a:t>
            </a:r>
            <a:r>
              <a:rPr lang="en-US" altLang="zh-CN" sz="2000" u="sng" dirty="0" err="1"/>
              <a:t>RuntimeException</a:t>
            </a:r>
            <a:r>
              <a:rPr lang="en-US" altLang="zh-CN" sz="2000" dirty="0"/>
              <a:t>. To avoid this error, you need to create a synchronized collection object and acquire a lock on the object when traversing it. For example, suppose you want to traverse a set, you have to write the code like this:</a:t>
            </a:r>
          </a:p>
          <a:p>
            <a:pPr marL="0" indent="0">
              <a:lnSpc>
                <a:spcPct val="80000"/>
              </a:lnSpc>
              <a:buFont typeface="Monotype Sorts" charset="0"/>
              <a:buNone/>
            </a:pPr>
            <a:endParaRPr lang="en-US" altLang="zh-CN" sz="2000" u="sng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800" u="sng" dirty="0"/>
              <a:t>Set </a:t>
            </a:r>
            <a:r>
              <a:rPr lang="en-US" altLang="zh-CN" sz="1800" u="sng" dirty="0" err="1"/>
              <a:t>hashSet</a:t>
            </a:r>
            <a:r>
              <a:rPr lang="en-US" altLang="zh-CN" sz="1800" u="sng" dirty="0"/>
              <a:t> = </a:t>
            </a:r>
            <a:r>
              <a:rPr lang="en-US" altLang="zh-CN" sz="1800" u="sng" dirty="0" err="1"/>
              <a:t>Collections.synchronizedSet</a:t>
            </a:r>
            <a:r>
              <a:rPr lang="en-US" altLang="zh-CN" sz="1800" u="sng" dirty="0"/>
              <a:t>(new </a:t>
            </a:r>
            <a:r>
              <a:rPr lang="en-US" altLang="zh-CN" sz="1800" u="sng" dirty="0" err="1"/>
              <a:t>HashSet</a:t>
            </a:r>
            <a:r>
              <a:rPr lang="en-US" altLang="zh-CN" sz="1800" u="sng" dirty="0"/>
              <a:t>());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800" u="sng" dirty="0"/>
              <a:t>synchronized (</a:t>
            </a:r>
            <a:r>
              <a:rPr lang="en-US" altLang="zh-CN" sz="1800" u="sng" dirty="0" err="1"/>
              <a:t>hashSet</a:t>
            </a:r>
            <a:r>
              <a:rPr lang="en-US" altLang="zh-CN" sz="1800" u="sng" dirty="0"/>
              <a:t>) { // Must synchronize it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800" u="sng" dirty="0"/>
              <a:t>  Iterator iterator = </a:t>
            </a:r>
            <a:r>
              <a:rPr lang="en-US" altLang="zh-CN" sz="1800" u="sng" dirty="0" err="1"/>
              <a:t>hashSet.iterator</a:t>
            </a:r>
            <a:r>
              <a:rPr lang="en-US" altLang="zh-CN" sz="1800" u="sng" dirty="0"/>
              <a:t>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800" u="sng" dirty="0"/>
              <a:t>  while (</a:t>
            </a:r>
            <a:r>
              <a:rPr lang="en-US" altLang="zh-CN" sz="1800" u="sng" dirty="0" err="1"/>
              <a:t>iterator.hasNext</a:t>
            </a:r>
            <a:r>
              <a:rPr lang="en-US" altLang="zh-CN" sz="1800" u="sng" dirty="0"/>
              <a:t>())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800" u="sng" dirty="0"/>
              <a:t>    </a:t>
            </a:r>
            <a:r>
              <a:rPr lang="en-US" altLang="zh-CN" sz="1800" u="sng" dirty="0" err="1"/>
              <a:t>System.out.println</a:t>
            </a:r>
            <a:r>
              <a:rPr lang="en-US" altLang="zh-CN" sz="1800" u="sng" dirty="0"/>
              <a:t>(</a:t>
            </a:r>
            <a:r>
              <a:rPr lang="en-US" altLang="zh-CN" sz="1800" u="sng" dirty="0" err="1"/>
              <a:t>iterator.next</a:t>
            </a:r>
            <a:r>
              <a:rPr lang="en-US" altLang="zh-CN" sz="1800" u="sng" dirty="0"/>
              <a:t>());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800" u="sng" dirty="0"/>
              <a:t>  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1800" u="sng" dirty="0"/>
              <a:t>}</a:t>
            </a:r>
            <a:endParaRPr lang="en-US" altLang="zh-CN" sz="2000" dirty="0"/>
          </a:p>
          <a:p>
            <a:pPr marL="0" indent="0">
              <a:lnSpc>
                <a:spcPct val="80000"/>
              </a:lnSpc>
              <a:buFont typeface="Monotype Sorts" charset="0"/>
              <a:buNone/>
            </a:pPr>
            <a:r>
              <a:rPr lang="en-US" altLang="zh-CN" sz="2000" dirty="0"/>
              <a:t>Failure to do so may result in nondeterministic behavior, such as </a:t>
            </a:r>
            <a:r>
              <a:rPr lang="en-US" altLang="zh-CN" sz="2000" u="sng" dirty="0" err="1"/>
              <a:t>ConcurrentModificationException</a:t>
            </a:r>
            <a:r>
              <a:rPr lang="en-US" altLang="zh-CN" sz="2000" dirty="0"/>
              <a:t>.</a:t>
            </a:r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5C543-B029-6D44-A5BE-997F4E248086}" type="slidenum">
              <a:rPr lang="en-US" altLang="zh-CN"/>
              <a:pPr/>
              <a:t>83</a:t>
            </a:fld>
            <a:endParaRPr lang="en-US" altLang="zh-CN" dirty="0"/>
          </a:p>
        </p:txBody>
      </p:sp>
      <p:sp>
        <p:nvSpPr>
          <p:cNvPr id="374788" name="Rectangle 4"/>
          <p:cNvSpPr>
            <a:spLocks noChangeArrowheads="1"/>
          </p:cNvSpPr>
          <p:nvPr/>
        </p:nvSpPr>
        <p:spPr bwMode="auto">
          <a:xfrm>
            <a:off x="230505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4789" name="Rectangle 5"/>
          <p:cNvSpPr>
            <a:spLocks noChangeArrowheads="1"/>
          </p:cNvSpPr>
          <p:nvPr/>
        </p:nvSpPr>
        <p:spPr bwMode="auto">
          <a:xfrm>
            <a:off x="2690813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4790" name="Rectangle 6"/>
          <p:cNvSpPr>
            <a:spLocks noChangeArrowheads="1"/>
          </p:cNvSpPr>
          <p:nvPr/>
        </p:nvSpPr>
        <p:spPr bwMode="auto">
          <a:xfrm>
            <a:off x="0" y="254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4791" name="Rectangle 7"/>
          <p:cNvSpPr>
            <a:spLocks noChangeArrowheads="1"/>
          </p:cNvSpPr>
          <p:nvPr/>
        </p:nvSpPr>
        <p:spPr bwMode="auto">
          <a:xfrm>
            <a:off x="0" y="2754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4792" name="Rectangle 8"/>
          <p:cNvSpPr>
            <a:spLocks noChangeArrowheads="1"/>
          </p:cNvSpPr>
          <p:nvPr/>
        </p:nvSpPr>
        <p:spPr bwMode="auto">
          <a:xfrm>
            <a:off x="0" y="2716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6545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533400"/>
          </a:xfrm>
          <a:noFill/>
          <a:ln/>
        </p:spPr>
        <p:txBody>
          <a:bodyPr/>
          <a:lstStyle/>
          <a:p>
            <a:r>
              <a:rPr lang="en-US" altLang="zh-CN" u="sng" dirty="0" err="1"/>
              <a:t>SwingWorker</a:t>
            </a:r>
            <a:r>
              <a:rPr lang="en-US" altLang="zh-CN" dirty="0"/>
              <a:t> </a:t>
            </a:r>
            <a:r>
              <a:rPr lang="zh-CN" altLang="en-US" dirty="0"/>
              <a:t>：一个有用的类</a:t>
            </a:r>
            <a:endParaRPr lang="en-US" altLang="zh-CN" dirty="0"/>
          </a:p>
        </p:txBody>
      </p:sp>
      <p:sp>
        <p:nvSpPr>
          <p:cNvPr id="324612" name="Rectangle 4"/>
          <p:cNvSpPr>
            <a:spLocks noGrp="1" noChangeArrowheads="1"/>
          </p:cNvSpPr>
          <p:nvPr>
            <p:ph idx="1"/>
          </p:nvPr>
        </p:nvSpPr>
        <p:spPr>
          <a:xfrm>
            <a:off x="228600" y="1661120"/>
            <a:ext cx="8763000" cy="4648200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Monotype Sorts" charset="0"/>
              <a:buNone/>
            </a:pPr>
            <a:r>
              <a:rPr lang="en-US" altLang="zh-CN" sz="2400" dirty="0"/>
              <a:t>Java 6 introduced </a:t>
            </a:r>
            <a:r>
              <a:rPr lang="en-US" altLang="zh-CN" sz="2400" u="sng" dirty="0" err="1"/>
              <a:t>SwingWorker</a:t>
            </a:r>
            <a:r>
              <a:rPr lang="en-US" altLang="zh-CN" sz="2400" dirty="0"/>
              <a:t>. </a:t>
            </a:r>
            <a:r>
              <a:rPr lang="en-US" altLang="zh-CN" sz="2400" u="sng" dirty="0" err="1"/>
              <a:t>SwingWorker</a:t>
            </a:r>
            <a:r>
              <a:rPr lang="en-US" altLang="zh-CN" sz="2400" dirty="0"/>
              <a:t> is an abstract class that implements </a:t>
            </a:r>
            <a:r>
              <a:rPr lang="en-US" altLang="zh-CN" sz="2400" u="sng" dirty="0"/>
              <a:t>Runnable</a:t>
            </a:r>
            <a:r>
              <a:rPr lang="en-US" altLang="zh-CN" sz="2400" dirty="0"/>
              <a:t>. You can define a task class that extends </a:t>
            </a:r>
            <a:r>
              <a:rPr lang="en-US" altLang="zh-CN" sz="2400" u="sng" dirty="0" err="1"/>
              <a:t>SwingWorker</a:t>
            </a:r>
            <a:r>
              <a:rPr lang="en-US" altLang="zh-CN" sz="2400" dirty="0"/>
              <a:t>, run the time-consuming task in the task, and update the GUI using the results produced from the task. 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87F1D-4DFA-AD4D-968E-905CE94560A7}" type="slidenum">
              <a:rPr lang="en-US" altLang="zh-CN"/>
              <a:pPr/>
              <a:t>84</a:t>
            </a:fld>
            <a:endParaRPr lang="en-US" altLang="zh-CN"/>
          </a:p>
        </p:txBody>
      </p:sp>
      <p:sp>
        <p:nvSpPr>
          <p:cNvPr id="324614" name="Rectangle 6"/>
          <p:cNvSpPr>
            <a:spLocks noChangeArrowheads="1"/>
          </p:cNvSpPr>
          <p:nvPr/>
        </p:nvSpPr>
        <p:spPr bwMode="auto">
          <a:xfrm>
            <a:off x="2447925" y="3057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3249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533400"/>
          </a:xfrm>
          <a:noFill/>
          <a:ln/>
        </p:spPr>
        <p:txBody>
          <a:bodyPr/>
          <a:lstStyle/>
          <a:p>
            <a:r>
              <a:rPr lang="en-US" altLang="zh-CN" u="sng"/>
              <a:t>SwingWorker</a:t>
            </a:r>
            <a:r>
              <a:rPr lang="en-US" altLang="zh-CN"/>
              <a:t> 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FEBB6-F122-E748-9D26-92B329C6C5D1}" type="slidenum">
              <a:rPr lang="en-US" altLang="zh-CN"/>
              <a:pPr/>
              <a:t>85</a:t>
            </a:fld>
            <a:endParaRPr lang="en-US" altLang="zh-CN"/>
          </a:p>
        </p:txBody>
      </p:sp>
      <p:sp>
        <p:nvSpPr>
          <p:cNvPr id="378884" name="Rectangle 4"/>
          <p:cNvSpPr>
            <a:spLocks noChangeArrowheads="1"/>
          </p:cNvSpPr>
          <p:nvPr/>
        </p:nvSpPr>
        <p:spPr bwMode="auto">
          <a:xfrm>
            <a:off x="2447925" y="3057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888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88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882808"/>
              </p:ext>
            </p:extLst>
          </p:nvPr>
        </p:nvGraphicFramePr>
        <p:xfrm>
          <a:off x="304800" y="1471885"/>
          <a:ext cx="7696200" cy="519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8" name="图片" r:id="rId4" imgW="4703064" imgH="3163824" progId="Word.Picture.8">
                  <p:embed/>
                </p:oleObj>
              </mc:Choice>
              <mc:Fallback>
                <p:oleObj name="图片" r:id="rId4" imgW="4703064" imgH="3163824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71885"/>
                        <a:ext cx="7696200" cy="51974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30793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533400"/>
          </a:xfrm>
          <a:noFill/>
          <a:ln/>
        </p:spPr>
        <p:txBody>
          <a:bodyPr/>
          <a:lstStyle/>
          <a:p>
            <a:r>
              <a:rPr lang="en-US" altLang="zh-CN" u="sng"/>
              <a:t>SwingWorker</a:t>
            </a:r>
            <a:r>
              <a:rPr lang="en-US" altLang="zh-CN"/>
              <a:t> Demo</a:t>
            </a:r>
          </a:p>
        </p:txBody>
      </p:sp>
      <p:pic>
        <p:nvPicPr>
          <p:cNvPr id="38093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524000"/>
            <a:ext cx="6000750" cy="11811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D324D-A10C-8546-845B-61DDFEF6AD11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380931" name="Rectangle 3"/>
          <p:cNvSpPr>
            <a:spLocks noChangeArrowheads="1"/>
          </p:cNvSpPr>
          <p:nvPr/>
        </p:nvSpPr>
        <p:spPr bwMode="auto">
          <a:xfrm>
            <a:off x="2447925" y="3057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809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79712" y="4221088"/>
            <a:ext cx="420900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 err="1"/>
              <a:t>SwingWorkerDemo.java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958058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5334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TIP</a:t>
            </a:r>
            <a:r>
              <a:rPr lang="en-US" altLang="zh-CN"/>
              <a:t> 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763000" cy="46482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Monotype Sorts" charset="0"/>
              <a:buNone/>
            </a:pPr>
            <a:endParaRPr lang="en-US" altLang="zh-CN" sz="4400" dirty="0"/>
          </a:p>
          <a:p>
            <a:pPr marL="457200" indent="-457200">
              <a:lnSpc>
                <a:spcPct val="90000"/>
              </a:lnSpc>
              <a:buFont typeface="Monotype Sorts" charset="0"/>
              <a:buNone/>
            </a:pPr>
            <a:r>
              <a:rPr lang="en-US" altLang="zh-CN" sz="3600" dirty="0"/>
              <a:t>Two things to remember when writing Swing GUI programs,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CN" sz="3600" dirty="0"/>
              <a:t>Time-consuming tasks should be run in </a:t>
            </a:r>
            <a:r>
              <a:rPr lang="en-US" altLang="zh-CN" sz="3600" u="sng" dirty="0" err="1"/>
              <a:t>SwingWorker</a:t>
            </a:r>
            <a:r>
              <a:rPr lang="en-US" altLang="zh-CN" sz="3600" dirty="0"/>
              <a:t>.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CN" sz="3600" dirty="0"/>
              <a:t>Swing components should be accessed from the event dispatch thread only.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40D7-82FF-1D41-B170-33DC971FAEDA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2447925" y="3057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5192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5334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JProgressBar</a:t>
            </a:r>
            <a:r>
              <a:rPr lang="en-US" altLang="zh-CN"/>
              <a:t> </a:t>
            </a:r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FBE-CEF5-A443-8E97-C98CE5699724}" type="slidenum">
              <a:rPr lang="en-US" altLang="zh-CN"/>
              <a:pPr/>
              <a:t>88</a:t>
            </a:fld>
            <a:endParaRPr lang="en-US" altLang="zh-CN"/>
          </a:p>
        </p:txBody>
      </p:sp>
      <p:sp>
        <p:nvSpPr>
          <p:cNvPr id="382980" name="Rectangle 4"/>
          <p:cNvSpPr>
            <a:spLocks noChangeArrowheads="1"/>
          </p:cNvSpPr>
          <p:nvPr/>
        </p:nvSpPr>
        <p:spPr bwMode="auto">
          <a:xfrm>
            <a:off x="2447925" y="3057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829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404215"/>
              </p:ext>
            </p:extLst>
          </p:nvPr>
        </p:nvGraphicFramePr>
        <p:xfrm>
          <a:off x="1114425" y="2562225"/>
          <a:ext cx="55657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02" name="图片" r:id="rId4" imgW="4254500" imgH="749300" progId="Word.Picture.8">
                  <p:embed/>
                </p:oleObj>
              </mc:Choice>
              <mc:Fallback>
                <p:oleObj name="图片" r:id="rId4" imgW="4254500" imgH="7493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2562225"/>
                        <a:ext cx="5565775" cy="9794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54556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  <a:noFill/>
          <a:ln/>
        </p:spPr>
        <p:txBody>
          <a:bodyPr/>
          <a:lstStyle/>
          <a:p>
            <a:r>
              <a:rPr lang="en-US" altLang="zh-CN" sz="4000">
                <a:cs typeface="Times New Roman" charset="0"/>
              </a:rPr>
              <a:t>JProgressBar Methods</a:t>
            </a:r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4CD1A-31DC-5446-9040-B5D24CC42685}" type="slidenum">
              <a:rPr lang="en-US" altLang="zh-CN"/>
              <a:pPr/>
              <a:t>89</a:t>
            </a:fld>
            <a:endParaRPr lang="en-US" altLang="zh-CN"/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2095500" y="1652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26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31747"/>
              </p:ext>
            </p:extLst>
          </p:nvPr>
        </p:nvGraphicFramePr>
        <p:xfrm>
          <a:off x="685800" y="1128538"/>
          <a:ext cx="7924800" cy="568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50" name="图片" r:id="rId4" imgW="4954524" imgH="3546348" progId="Word.Picture.8">
                  <p:embed/>
                </p:oleObj>
              </mc:Choice>
              <mc:Fallback>
                <p:oleObj name="图片" r:id="rId4" imgW="4954524" imgH="354634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28538"/>
                        <a:ext cx="7924800" cy="56848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03922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91600" cy="6096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Example:  </a:t>
            </a:r>
            <a:r>
              <a:rPr lang="en-US" altLang="zh-CN" u="sng">
                <a:cs typeface="Times New Roman" charset="0"/>
              </a:rPr>
              <a:t>JProgressBar</a:t>
            </a:r>
            <a:r>
              <a:rPr lang="en-US" altLang="zh-CN">
                <a:cs typeface="Times New Roman" charset="0"/>
              </a:rPr>
              <a:t> Demo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idx="1"/>
          </p:nvPr>
        </p:nvSpPr>
        <p:spPr>
          <a:xfrm>
            <a:off x="342528" y="1766664"/>
            <a:ext cx="3581400" cy="4038600"/>
          </a:xfrm>
          <a:noFill/>
          <a:ln/>
        </p:spPr>
        <p:txBody>
          <a:bodyPr/>
          <a:lstStyle/>
          <a:p>
            <a:pPr marL="0" indent="0">
              <a:buFont typeface="Monotype Sorts" charset="0"/>
              <a:buNone/>
            </a:pPr>
            <a:r>
              <a:rPr lang="en-US" altLang="zh-CN" sz="2000"/>
              <a:t>Objective: </a:t>
            </a:r>
            <a:r>
              <a:rPr lang="en-US" altLang="zh-CN" sz="2000">
                <a:cs typeface="Times New Roman" charset="0"/>
              </a:rPr>
              <a:t>Write a GUI application that lets you copy files. A progress bar is used to show the progress of the copying operation.</a:t>
            </a:r>
          </a:p>
        </p:txBody>
      </p:sp>
      <p:sp>
        <p:nvSpPr>
          <p:cNvPr id="10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8C767-308D-3744-BE0A-3A4F9E729F44}" type="slidenum">
              <a:rPr lang="en-US" altLang="zh-CN"/>
              <a:pPr/>
              <a:t>90</a:t>
            </a:fld>
            <a:endParaRPr lang="en-US" altLang="zh-CN"/>
          </a:p>
        </p:txBody>
      </p:sp>
      <p:sp>
        <p:nvSpPr>
          <p:cNvPr id="328708" name="Rectangle 4"/>
          <p:cNvSpPr>
            <a:spLocks noChangeArrowheads="1"/>
          </p:cNvSpPr>
          <p:nvPr/>
        </p:nvSpPr>
        <p:spPr bwMode="auto">
          <a:xfrm>
            <a:off x="3151188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8709" name="Rectangle 5"/>
          <p:cNvSpPr>
            <a:spLocks noChangeArrowheads="1"/>
          </p:cNvSpPr>
          <p:nvPr/>
        </p:nvSpPr>
        <p:spPr bwMode="auto">
          <a:xfrm>
            <a:off x="3063875" y="2468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8712" name="Rectangle 8"/>
          <p:cNvSpPr>
            <a:spLocks noChangeArrowheads="1"/>
          </p:cNvSpPr>
          <p:nvPr/>
        </p:nvSpPr>
        <p:spPr bwMode="auto">
          <a:xfrm>
            <a:off x="27717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3287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002532"/>
            <a:ext cx="36004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347864" y="5373216"/>
            <a:ext cx="29320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dirty="0" err="1"/>
              <a:t>CopyFile.java</a:t>
            </a:r>
            <a:endParaRPr kumimoji="1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8407666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91472-BC98-8647-88C5-0CFEFEEC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并行编程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60A27B-BB08-8D46-950E-6F5BB36EE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Fork/Join</a:t>
            </a:r>
            <a:r>
              <a:rPr kumimoji="1" lang="zh-CN" altLang="en-US" dirty="0"/>
              <a:t>框架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lvl="1"/>
            <a:r>
              <a:rPr kumimoji="1" lang="zh-CN" altLang="en-US" dirty="0"/>
              <a:t>一个分解（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）可以视为运行在一个线程上的独立任务。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3958F9-B7A2-A94C-BEEB-E05DE39B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19" y="2492896"/>
            <a:ext cx="6240361" cy="247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973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A21E0-6C06-9245-A589-42921576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865"/>
            <a:ext cx="8229600" cy="1143000"/>
          </a:xfrm>
        </p:spPr>
        <p:txBody>
          <a:bodyPr/>
          <a:lstStyle/>
          <a:p>
            <a:r>
              <a:rPr kumimoji="1" lang="en-US" altLang="zh-CN" dirty="0" err="1"/>
              <a:t>ForkJoinTask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ForkJoinPool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655BBD-3AFE-6F48-8587-4F6B4CC63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796" y="1811445"/>
            <a:ext cx="4273335" cy="31798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99086DD-2E44-DC46-8E95-6E62945F2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5002962"/>
            <a:ext cx="4578846" cy="1694173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AA6367F-6D4E-3C4F-AEF2-8C44F5652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2"/>
            <a:ext cx="3250704" cy="4525433"/>
          </a:xfrm>
        </p:spPr>
        <p:txBody>
          <a:bodyPr/>
          <a:lstStyle/>
          <a:p>
            <a:r>
              <a:rPr kumimoji="1" lang="en-US" altLang="zh-CN" sz="2800" dirty="0" err="1"/>
              <a:t>ForkJoinTask</a:t>
            </a:r>
            <a:r>
              <a:rPr kumimoji="1" lang="zh-CN" altLang="en-US" sz="2400" dirty="0"/>
              <a:t>定义一个任务，抽象类</a:t>
            </a:r>
            <a:endParaRPr kumimoji="1" lang="en-US" altLang="zh-CN" sz="2400" dirty="0"/>
          </a:p>
          <a:p>
            <a:r>
              <a:rPr kumimoji="1" lang="zh-CN" altLang="en-US" sz="2400" dirty="0"/>
              <a:t>在一个</a:t>
            </a:r>
            <a:r>
              <a:rPr kumimoji="1" lang="en-US" altLang="zh-CN" sz="2400" dirty="0" err="1"/>
              <a:t>ForkJoinPool</a:t>
            </a:r>
            <a:r>
              <a:rPr kumimoji="1" lang="zh-CN" altLang="en-US" sz="2400" dirty="0"/>
              <a:t>的实例中执行一个任务</a:t>
            </a:r>
            <a:endParaRPr kumimoji="1"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2652690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C0E3E-6ED3-0B4F-9403-19728B24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中的可变长参数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9641B-C0C5-6143-8880-632EABD7F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800" dirty="0"/>
              <a:t>public void </a:t>
            </a:r>
            <a:r>
              <a:rPr kumimoji="1" lang="en-US" altLang="zh-CN" sz="2800" dirty="0" err="1"/>
              <a:t>printNumbers</a:t>
            </a:r>
            <a:r>
              <a:rPr kumimoji="1" lang="en-US" altLang="zh-CN" sz="2800" dirty="0"/>
              <a:t>(int …numbers){</a:t>
            </a:r>
          </a:p>
          <a:p>
            <a:pPr marL="0" indent="0">
              <a:buNone/>
            </a:pPr>
            <a:r>
              <a:rPr kumimoji="1" lang="en-US" altLang="zh-CN" sz="2800" dirty="0"/>
              <a:t>     for(int </a:t>
            </a:r>
            <a:r>
              <a:rPr kumimoji="1" lang="en-US" altLang="zh-CN" sz="2800" dirty="0" err="1"/>
              <a:t>num:numbers</a:t>
            </a:r>
            <a:r>
              <a:rPr kumimoji="1" lang="en-US" altLang="zh-CN" sz="2800" dirty="0"/>
              <a:t>){</a:t>
            </a:r>
          </a:p>
          <a:p>
            <a:pPr marL="0" indent="0">
              <a:buNone/>
            </a:pPr>
            <a:r>
              <a:rPr kumimoji="1" lang="en-US" altLang="zh-CN" sz="2800" dirty="0"/>
              <a:t>	</a:t>
            </a:r>
            <a:r>
              <a:rPr kumimoji="1" lang="en-US" altLang="zh-CN" sz="2800" dirty="0" err="1"/>
              <a:t>System.out.println</a:t>
            </a:r>
            <a:r>
              <a:rPr kumimoji="1" lang="en-US" altLang="zh-CN" sz="2800" dirty="0"/>
              <a:t>(num)};</a:t>
            </a:r>
          </a:p>
          <a:p>
            <a:pPr marL="0" indent="0">
              <a:buNone/>
            </a:pPr>
            <a:r>
              <a:rPr kumimoji="1" lang="en-US" altLang="zh-CN" sz="2800" dirty="0"/>
              <a:t>}</a:t>
            </a:r>
          </a:p>
          <a:p>
            <a:r>
              <a:rPr kumimoji="1" lang="zh-CN" altLang="en-US" sz="2800" dirty="0"/>
              <a:t>可变长参数类似于数组</a:t>
            </a:r>
            <a:endParaRPr kumimoji="1" lang="en-US" altLang="zh-CN" sz="2800" dirty="0"/>
          </a:p>
          <a:p>
            <a:r>
              <a:rPr kumimoji="1" lang="zh-CN" altLang="en-US" sz="2800" dirty="0"/>
              <a:t>必须是参数表的最后一个参数才能用可变长参数</a:t>
            </a:r>
          </a:p>
        </p:txBody>
      </p:sp>
    </p:spTree>
    <p:extLst>
      <p:ext uri="{BB962C8B-B14F-4D97-AF65-F5344CB8AC3E}">
        <p14:creationId xmlns:p14="http://schemas.microsoft.com/office/powerpoint/2010/main" val="1443915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EF3A5-FBD5-804E-876B-CF857ABB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相关的接口和类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B8559-F2B2-134C-8D07-8890CDB8E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Future</a:t>
            </a:r>
            <a:r>
              <a:rPr kumimoji="1" lang="zh-CN" altLang="en-US" sz="2400" dirty="0"/>
              <a:t>：异步计算结果的占位符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以前主线程提交任务后，无法知道任务什么时候完成，想要结果，只能阻塞等待线程结束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异步执行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可以用</a:t>
            </a:r>
            <a:r>
              <a:rPr kumimoji="1" lang="en-US" altLang="zh-CN" sz="2000" dirty="0"/>
              <a:t>get()</a:t>
            </a:r>
            <a:r>
              <a:rPr kumimoji="1" lang="zh-CN" altLang="en-US" sz="2000" dirty="0"/>
              <a:t>查看结果，阻塞直到任务完成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带超时的</a:t>
            </a:r>
            <a:r>
              <a:rPr kumimoji="1" lang="en-US" altLang="zh-CN" sz="2000" dirty="0"/>
              <a:t>get</a:t>
            </a:r>
          </a:p>
          <a:p>
            <a:pPr lvl="1"/>
            <a:r>
              <a:rPr kumimoji="1" lang="zh-CN" altLang="en-US" sz="2000" dirty="0"/>
              <a:t>判断任务状态 </a:t>
            </a:r>
            <a:r>
              <a:rPr kumimoji="1" lang="en-US" altLang="zh-CN" sz="2000" dirty="0" err="1"/>
              <a:t>isDone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， </a:t>
            </a:r>
            <a:r>
              <a:rPr kumimoji="1" lang="en-US" altLang="zh-CN" sz="2000" dirty="0" err="1"/>
              <a:t>isCancelled</a:t>
            </a:r>
            <a:r>
              <a:rPr kumimoji="1" lang="en-US" altLang="zh-CN" sz="2000" dirty="0"/>
              <a:t>()</a:t>
            </a:r>
          </a:p>
          <a:p>
            <a:r>
              <a:rPr kumimoji="1" lang="en-US" altLang="zh-CN" sz="2400" dirty="0" err="1"/>
              <a:t>ForkJoinTask</a:t>
            </a:r>
            <a:r>
              <a:rPr kumimoji="1" lang="zh-CN" altLang="en-US" sz="2400" dirty="0"/>
              <a:t>实现了</a:t>
            </a:r>
            <a:r>
              <a:rPr kumimoji="1" lang="en-US" altLang="zh-CN" sz="2400" dirty="0"/>
              <a:t>Future</a:t>
            </a:r>
            <a:r>
              <a:rPr kumimoji="1" lang="zh-CN" altLang="en-US" sz="2400" dirty="0"/>
              <a:t>接口</a:t>
            </a:r>
            <a:endParaRPr kumimoji="1" lang="en-US" altLang="zh-CN" sz="2400" dirty="0"/>
          </a:p>
          <a:p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550223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EF3A5-FBD5-804E-876B-CF857ABB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相关的接口和类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B8559-F2B2-134C-8D07-8890CDB8E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 err="1"/>
              <a:t>ForkJoinTask</a:t>
            </a:r>
            <a:r>
              <a:rPr kumimoji="1" lang="zh-CN" altLang="en-US" sz="2400" dirty="0"/>
              <a:t>三个子类</a:t>
            </a:r>
            <a:endParaRPr kumimoji="1" lang="en-US" altLang="zh-CN" sz="2400" dirty="0"/>
          </a:p>
          <a:p>
            <a:pPr lvl="1"/>
            <a:r>
              <a:rPr kumimoji="1" lang="en-US" altLang="zh-CN" sz="2000" dirty="0" err="1"/>
              <a:t>RecursiveAction</a:t>
            </a:r>
            <a:endParaRPr kumimoji="1" lang="en-US" altLang="zh-CN" sz="2000" dirty="0"/>
          </a:p>
          <a:p>
            <a:pPr lvl="1"/>
            <a:r>
              <a:rPr kumimoji="1" lang="en-US" altLang="zh-CN" sz="2000" dirty="0" err="1"/>
              <a:t>RecursiveTask</a:t>
            </a:r>
            <a:r>
              <a:rPr kumimoji="1" lang="en-US" altLang="zh-CN" sz="2000" dirty="0"/>
              <a:t>&lt;V&gt;</a:t>
            </a:r>
          </a:p>
          <a:p>
            <a:pPr lvl="1"/>
            <a:r>
              <a:rPr kumimoji="1" lang="en-US" altLang="zh-CN" sz="2000" dirty="0" err="1"/>
              <a:t>CountedCompleter</a:t>
            </a:r>
            <a:r>
              <a:rPr kumimoji="1" lang="en-US" altLang="zh-CN" sz="2000" dirty="0"/>
              <a:t>&lt;T&gt;</a:t>
            </a:r>
          </a:p>
          <a:p>
            <a:r>
              <a:rPr kumimoji="1" lang="en-US" altLang="zh-CN" sz="2400" dirty="0" err="1"/>
              <a:t>ForkJoinPool</a:t>
            </a:r>
            <a:r>
              <a:rPr kumimoji="1" lang="zh-CN" altLang="en-US" sz="2400" dirty="0"/>
              <a:t>实现</a:t>
            </a:r>
            <a:r>
              <a:rPr kumimoji="1" lang="en-US" altLang="zh-CN" sz="2400" dirty="0" err="1"/>
              <a:t>ExecutorService</a:t>
            </a:r>
            <a:br>
              <a:rPr kumimoji="1" lang="en-US" altLang="zh-CN" sz="2400" dirty="0"/>
            </a:b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37192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6254C-645D-3247-A14C-D76C13F5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举例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2074F3-38EC-AE4F-8850-B5967015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16832"/>
            <a:ext cx="4148855" cy="28803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840FE0E-4D31-9D4D-9219-F82A1986C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443" y="1659896"/>
            <a:ext cx="4118858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229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01BB8F-7977-924C-ACC5-51577069A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4525433"/>
          </a:xfrm>
        </p:spPr>
        <p:txBody>
          <a:bodyPr numCol="2"/>
          <a:lstStyle/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public class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MergeSort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/** The method for sorting the numbers */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public static void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mergeSort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(int[] list)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if (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list.length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&gt; 1)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// Merge sort the first half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int[]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firstHalf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= new int[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list.length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/ 2];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System.arraycopy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(list, 0,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firstHalf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, 0,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list.length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/ 2);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mergeSort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(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firstHalf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);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// Merge sort the second half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int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=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list.length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-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list.length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/ 2;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int[]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= new int[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];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System.arraycopy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(list,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list.length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/ 2,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 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, 0,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);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mergeSort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(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);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// Merge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firstHalf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with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</a:t>
            </a:r>
            <a:endParaRPr kumimoji="1" lang="en-US" altLang="zh-CN" sz="1200" dirty="0">
              <a:latin typeface="+mj-lt"/>
              <a:ea typeface="KaiTi" panose="02010609060101010101" pitchFamily="49" charset="-122"/>
            </a:endParaRP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int[] temp = merge(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firstHalf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,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secondHalf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);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System.arraycopy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(temp, 0, list, 0, </a:t>
            </a:r>
            <a:r>
              <a:rPr kumimoji="1" lang="en-US" altLang="zh-CN" sz="1200" dirty="0" err="1">
                <a:latin typeface="+mj-lt"/>
                <a:ea typeface="KaiTi" panose="02010609060101010101" pitchFamily="49" charset="-122"/>
              </a:rPr>
              <a:t>temp.length</a:t>
            </a: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);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}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private static int[] merge(int[] list1, int[] list2)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int[] temp = new int[list1.length + list2.length];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int current1 = 0; // Index in list1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int current2 = 0; // Index in list2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int current3 = 0; // Index in temp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while (current1 &lt; list1.length &amp;&amp; current2 &lt; list2.length)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if (list1[current1] &lt; list2[current2])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  temp[current3++] = list1[current1++];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} else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  temp[current3++] = list2[current2++];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}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}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while (current1 &lt; list1.length)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temp[current3++] = list1[current1++];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}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while (current2 &lt; list2.length) {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  temp[current3++] = list2[current2++];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}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  return temp;</a:t>
            </a:r>
          </a:p>
          <a:p>
            <a:pPr marL="0" indent="0">
              <a:buNone/>
            </a:pPr>
            <a:r>
              <a:rPr kumimoji="1" lang="en-US" altLang="zh-CN" sz="1200" dirty="0">
                <a:latin typeface="+mj-lt"/>
                <a:ea typeface="KaiTi" panose="02010609060101010101" pitchFamily="49" charset="-122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1200">
                <a:latin typeface="+mj-lt"/>
                <a:ea typeface="KaiTi" panose="02010609060101010101" pitchFamily="49" charset="-122"/>
              </a:rPr>
              <a:t>}</a:t>
            </a:r>
            <a:endParaRPr kumimoji="1" lang="zh-CN" altLang="en-US" dirty="0">
              <a:latin typeface="+mj-lt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284828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568FE-02FA-C649-9D3D-F882B132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Future</a:t>
            </a:r>
            <a:r>
              <a:rPr kumimoji="1" lang="zh-CN" altLang="en-US" dirty="0"/>
              <a:t>接口的弱点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F7875-470D-6F4D-ACC9-F37A4DF6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get()</a:t>
            </a:r>
            <a:r>
              <a:rPr kumimoji="1" lang="zh-CN" altLang="en-US" sz="2400" dirty="0"/>
              <a:t>必须等待</a:t>
            </a:r>
            <a:endParaRPr kumimoji="1" lang="en-US" altLang="zh-CN" sz="2400" dirty="0"/>
          </a:p>
          <a:p>
            <a:r>
              <a:rPr lang="zh-CN" altLang="en-US" sz="2400" dirty="0"/>
              <a:t>只能在 </a:t>
            </a:r>
            <a:r>
              <a:rPr lang="en-US" altLang="zh-CN" sz="2400" dirty="0"/>
              <a:t>get()</a:t>
            </a:r>
            <a:r>
              <a:rPr lang="zh-CN" altLang="en-US" sz="2400" dirty="0"/>
              <a:t>时捕获</a:t>
            </a:r>
            <a:r>
              <a:rPr kumimoji="1" lang="zh-CN" altLang="en-US" sz="2400" dirty="0"/>
              <a:t>异常</a:t>
            </a:r>
            <a:endParaRPr kumimoji="1" lang="en-US" altLang="zh-CN" sz="2400" dirty="0"/>
          </a:p>
          <a:p>
            <a:r>
              <a:rPr kumimoji="1" lang="zh-CN" altLang="en-US" sz="2400" dirty="0"/>
              <a:t>不能外部设置结果</a:t>
            </a:r>
            <a:endParaRPr kumimoji="1" lang="en-US" altLang="zh-CN" sz="2400" dirty="0"/>
          </a:p>
          <a:p>
            <a:r>
              <a:rPr kumimoji="1" lang="zh-CN" altLang="en-US" sz="2400" dirty="0"/>
              <a:t>不支持链式处理</a:t>
            </a:r>
            <a:endParaRPr kumimoji="1" lang="en-US" altLang="zh-CN" sz="2400" dirty="0"/>
          </a:p>
          <a:p>
            <a:r>
              <a:rPr kumimoji="1" lang="en-US" altLang="zh-CN" sz="2400" dirty="0"/>
              <a:t>Java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8</a:t>
            </a:r>
            <a:r>
              <a:rPr kumimoji="1" lang="zh-CN" altLang="en-US" sz="2400" dirty="0"/>
              <a:t>以后给出了</a:t>
            </a:r>
            <a:r>
              <a:rPr kumimoji="1" lang="en-US" altLang="zh-CN" sz="2400" dirty="0" err="1"/>
              <a:t>CompletableFuture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1220878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34212-5DA3-EF4D-BBFD-496037B2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问题解决逻辑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532363-720B-EA4F-9B0F-E270CD187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60" y="2276872"/>
            <a:ext cx="7751079" cy="162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1472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0C21A-6117-D546-8870-705D4FC8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D8275B-5445-A242-8D5C-1E9A78CFF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ABF257-E56A-A340-AAC8-94053B318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224" y="-27384"/>
            <a:ext cx="4427642" cy="52544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1223CA-E01B-D84F-88C6-B04D289B3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316" y="5229200"/>
            <a:ext cx="3910844" cy="167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468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Appendix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Static block </a:t>
            </a:r>
            <a:r>
              <a:rPr kumimoji="1" lang="zh-CN" altLang="en-US" dirty="0"/>
              <a:t>静态块</a:t>
            </a:r>
            <a:endParaRPr kumimoji="1" lang="en-US" altLang="zh-CN" dirty="0"/>
          </a:p>
          <a:p>
            <a:r>
              <a:rPr kumimoji="1" lang="en-US" altLang="zh-CN" dirty="0"/>
              <a:t>Initializing block </a:t>
            </a:r>
            <a:r>
              <a:rPr kumimoji="1" lang="zh-CN" altLang="en-US" dirty="0"/>
              <a:t>初始化块</a:t>
            </a:r>
            <a:endParaRPr kumimoji="1" lang="en-US" altLang="zh-CN" dirty="0"/>
          </a:p>
          <a:p>
            <a:r>
              <a:rPr kumimoji="1" lang="en-US" altLang="zh-CN" dirty="0"/>
              <a:t>Synchronized block  </a:t>
            </a:r>
            <a:r>
              <a:rPr kumimoji="1" lang="zh-CN" altLang="en-US" dirty="0"/>
              <a:t>同步块</a:t>
            </a:r>
            <a:endParaRPr kumimoji="1" lang="en-US" altLang="zh-CN" dirty="0"/>
          </a:p>
          <a:p>
            <a:r>
              <a:rPr kumimoji="1" lang="en-US" altLang="zh-CN" dirty="0"/>
              <a:t>Ordinary block </a:t>
            </a:r>
            <a:r>
              <a:rPr kumimoji="1" lang="zh-CN" altLang="en-US" dirty="0"/>
              <a:t>普通块</a:t>
            </a:r>
            <a:endParaRPr kumimoji="1" lang="en-US" altLang="zh-CN" dirty="0"/>
          </a:p>
          <a:p>
            <a:r>
              <a:rPr kumimoji="1" lang="zh-CN" altLang="en-US" dirty="0"/>
              <a:t>可变长参数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538962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Static block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静态块</a:t>
            </a:r>
            <a:endParaRPr kumimoji="1" lang="en-US" altLang="zh-CN" dirty="0"/>
          </a:p>
          <a:p>
            <a:r>
              <a:rPr kumimoji="1" lang="zh-CN" altLang="en-US" dirty="0"/>
              <a:t>写在类里</a:t>
            </a:r>
            <a:r>
              <a:rPr kumimoji="1" lang="en-US" altLang="zh-CN" dirty="0"/>
              <a:t>static{}</a:t>
            </a:r>
          </a:p>
          <a:p>
            <a:r>
              <a:rPr kumimoji="1" lang="zh-CN" altLang="en-US" dirty="0"/>
              <a:t>一个类只在装载时运行一次，用于初始化一些类相关的方法。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2719637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Initializing block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初始化块</a:t>
            </a:r>
            <a:endParaRPr kumimoji="1" lang="en-US" altLang="zh-CN" dirty="0"/>
          </a:p>
          <a:p>
            <a:r>
              <a:rPr kumimoji="1" lang="zh-CN" altLang="en-US" dirty="0"/>
              <a:t>写在构造方法前面</a:t>
            </a:r>
            <a:endParaRPr kumimoji="1" lang="en-US" altLang="zh-CN" dirty="0"/>
          </a:p>
          <a:p>
            <a:r>
              <a:rPr kumimoji="1" lang="zh-CN" altLang="en-US" dirty="0"/>
              <a:t>每次生成对象时调用一次</a:t>
            </a:r>
            <a:endParaRPr kumimoji="1" lang="en-US" altLang="zh-CN" dirty="0"/>
          </a:p>
          <a:p>
            <a:r>
              <a:rPr kumimoji="1" lang="zh-CN" altLang="en-US" dirty="0"/>
              <a:t>主要用法是将构造方法中共同部分放到构造块中统一运行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40211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Synchronized block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同步块</a:t>
            </a:r>
            <a:endParaRPr kumimoji="1" lang="en-US" altLang="zh-CN" dirty="0"/>
          </a:p>
          <a:p>
            <a:r>
              <a:rPr kumimoji="1" lang="zh-CN" altLang="en-US" dirty="0"/>
              <a:t>加锁</a:t>
            </a:r>
            <a:r>
              <a:rPr kumimoji="1" lang="en-US" altLang="zh-CN" dirty="0"/>
              <a:t> </a:t>
            </a:r>
            <a:r>
              <a:rPr kumimoji="1" lang="zh-CN" altLang="en-US" dirty="0"/>
              <a:t>用于并发操作</a:t>
            </a:r>
            <a:endParaRPr kumimoji="1" lang="en-US" altLang="zh-CN" dirty="0"/>
          </a:p>
          <a:p>
            <a:r>
              <a:rPr kumimoji="1" lang="zh-CN" altLang="en-US" dirty="0"/>
              <a:t>例子前面已讲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471030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Ordinary block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普通程序块</a:t>
            </a:r>
          </a:p>
        </p:txBody>
      </p:sp>
    </p:spTree>
    <p:extLst>
      <p:ext uri="{BB962C8B-B14F-4D97-AF65-F5344CB8AC3E}">
        <p14:creationId xmlns:p14="http://schemas.microsoft.com/office/powerpoint/2010/main" val="179378978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-27384"/>
            <a:ext cx="8229600" cy="452543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400" b="1" dirty="0"/>
              <a:t>public</a:t>
            </a:r>
            <a:r>
              <a:rPr lang="en-US" altLang="zh-CN" sz="1400" dirty="0"/>
              <a:t> </a:t>
            </a:r>
            <a:r>
              <a:rPr lang="en-US" altLang="zh-CN" sz="1400" b="1" dirty="0"/>
              <a:t>class</a:t>
            </a:r>
            <a:r>
              <a:rPr lang="en-US" altLang="zh-CN" sz="1400" dirty="0"/>
              <a:t> Line {  </a:t>
            </a:r>
          </a:p>
          <a:p>
            <a:pPr marL="0" indent="0"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/>
              <a:t>static</a:t>
            </a:r>
            <a:r>
              <a:rPr lang="en-US" altLang="zh-CN" sz="1400" dirty="0"/>
              <a:t> {  </a:t>
            </a:r>
          </a:p>
          <a:p>
            <a:pPr marL="0" indent="0">
              <a:buNone/>
            </a:pPr>
            <a:r>
              <a:rPr lang="en-US" altLang="zh-CN" sz="1400" dirty="0"/>
              <a:t>        </a:t>
            </a:r>
            <a:r>
              <a:rPr lang="en-US" altLang="zh-CN" sz="1400" dirty="0" err="1"/>
              <a:t>System.out.println</a:t>
            </a:r>
            <a:r>
              <a:rPr lang="en-US" altLang="zh-CN" sz="1400" dirty="0"/>
              <a:t>("</a:t>
            </a:r>
            <a:r>
              <a:rPr lang="zh-CN" altLang="en-US" sz="1400" dirty="0"/>
              <a:t>静态代码块执行：</a:t>
            </a:r>
            <a:r>
              <a:rPr lang="en-US" altLang="zh-CN" sz="1400" dirty="0"/>
              <a:t>loading line");  </a:t>
            </a:r>
          </a:p>
          <a:p>
            <a:pPr marL="0" indent="0">
              <a:buNone/>
            </a:pPr>
            <a:r>
              <a:rPr lang="en-US" altLang="zh-CN" sz="1400" dirty="0"/>
              <a:t>    }  </a:t>
            </a:r>
          </a:p>
          <a:p>
            <a:pPr marL="0" indent="0"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/>
              <a:t>public</a:t>
            </a:r>
            <a:r>
              <a:rPr lang="en-US" altLang="zh-CN" sz="1400" dirty="0"/>
              <a:t> </a:t>
            </a:r>
            <a:r>
              <a:rPr lang="en-US" altLang="zh-CN" sz="1400" b="1" dirty="0"/>
              <a:t>static</a:t>
            </a:r>
            <a:r>
              <a:rPr lang="en-US" altLang="zh-CN" sz="1400" dirty="0"/>
              <a:t> String s = </a:t>
            </a:r>
            <a:r>
              <a:rPr lang="en-US" altLang="zh-CN" sz="1400" dirty="0" err="1"/>
              <a:t>getString</a:t>
            </a:r>
            <a:r>
              <a:rPr lang="en-US" altLang="zh-CN" sz="1400" dirty="0"/>
              <a:t>();  </a:t>
            </a:r>
          </a:p>
          <a:p>
            <a:pPr marL="0" indent="0">
              <a:buNone/>
            </a:pPr>
            <a:r>
              <a:rPr lang="en-US" altLang="zh-CN" sz="1400" dirty="0"/>
              <a:t>    </a:t>
            </a:r>
            <a:r>
              <a:rPr lang="en-US" altLang="zh-CN" sz="1400" b="1" dirty="0"/>
              <a:t>private</a:t>
            </a:r>
            <a:r>
              <a:rPr lang="en-US" altLang="zh-CN" sz="1400" dirty="0"/>
              <a:t> </a:t>
            </a:r>
            <a:r>
              <a:rPr lang="en-US" altLang="zh-CN" sz="1400" b="1" dirty="0"/>
              <a:t>static</a:t>
            </a:r>
            <a:r>
              <a:rPr lang="en-US" altLang="zh-CN" sz="1400" dirty="0"/>
              <a:t> String </a:t>
            </a:r>
            <a:r>
              <a:rPr lang="en-US" altLang="zh-CN" sz="1400" dirty="0" err="1"/>
              <a:t>getString</a:t>
            </a:r>
            <a:r>
              <a:rPr lang="en-US" altLang="zh-CN" sz="1400" dirty="0"/>
              <a:t>() {  </a:t>
            </a:r>
          </a:p>
          <a:p>
            <a:pPr marL="0" indent="0">
              <a:buNone/>
            </a:pPr>
            <a:r>
              <a:rPr lang="en-US" altLang="zh-CN" sz="1400" dirty="0"/>
              <a:t>        </a:t>
            </a:r>
            <a:r>
              <a:rPr lang="en-US" altLang="zh-CN" sz="1400" dirty="0" err="1"/>
              <a:t>System.out.println</a:t>
            </a:r>
            <a:r>
              <a:rPr lang="en-US" altLang="zh-CN" sz="1400" dirty="0"/>
              <a:t>("</a:t>
            </a:r>
            <a:r>
              <a:rPr lang="zh-CN" altLang="en-US" sz="1400" dirty="0"/>
              <a:t>给静态变量赋值的静态方法执行：</a:t>
            </a:r>
            <a:r>
              <a:rPr lang="en-US" altLang="zh-CN" sz="1400" dirty="0"/>
              <a:t>loading line");  </a:t>
            </a:r>
          </a:p>
          <a:p>
            <a:pPr marL="0" indent="0">
              <a:buNone/>
            </a:pPr>
            <a:r>
              <a:rPr lang="is-IS" altLang="zh-CN" sz="1400" dirty="0"/>
              <a:t>        </a:t>
            </a:r>
            <a:r>
              <a:rPr lang="is-IS" altLang="zh-CN" sz="1400" b="1" dirty="0"/>
              <a:t>return</a:t>
            </a:r>
            <a:r>
              <a:rPr lang="is-IS" altLang="zh-CN" sz="1400" dirty="0"/>
              <a:t> "ss";  </a:t>
            </a:r>
          </a:p>
          <a:p>
            <a:pPr marL="0" indent="0">
              <a:buNone/>
            </a:pPr>
            <a:r>
              <a:rPr lang="is-IS" altLang="zh-CN" sz="1400" dirty="0"/>
              <a:t>    }  </a:t>
            </a:r>
          </a:p>
          <a:p>
            <a:pPr marL="0" indent="0">
              <a:buNone/>
            </a:pPr>
            <a:r>
              <a:rPr lang="fi-FI" altLang="zh-CN" sz="1400" dirty="0"/>
              <a:t>    </a:t>
            </a:r>
            <a:r>
              <a:rPr lang="fi-FI" altLang="zh-CN" sz="1400" b="1" dirty="0" err="1"/>
              <a:t>public</a:t>
            </a:r>
            <a:r>
              <a:rPr lang="fi-FI" altLang="zh-CN" sz="1400" dirty="0"/>
              <a:t> </a:t>
            </a:r>
            <a:r>
              <a:rPr lang="fi-FI" altLang="zh-CN" sz="1400" b="1" dirty="0" err="1"/>
              <a:t>static</a:t>
            </a:r>
            <a:r>
              <a:rPr lang="fi-FI" altLang="zh-CN" sz="1400" dirty="0"/>
              <a:t> </a:t>
            </a:r>
            <a:r>
              <a:rPr lang="fi-FI" altLang="zh-CN" sz="1400" b="1" dirty="0" err="1"/>
              <a:t>void</a:t>
            </a:r>
            <a:r>
              <a:rPr lang="fi-FI" altLang="zh-CN" sz="1400" dirty="0"/>
              <a:t> </a:t>
            </a:r>
            <a:r>
              <a:rPr lang="fi-FI" altLang="zh-CN" sz="1400" dirty="0" err="1"/>
              <a:t>test</a:t>
            </a:r>
            <a:r>
              <a:rPr lang="fi-FI" altLang="zh-CN" sz="1400" dirty="0"/>
              <a:t>() {  </a:t>
            </a:r>
          </a:p>
          <a:p>
            <a:pPr marL="0" indent="0">
              <a:buNone/>
            </a:pPr>
            <a:r>
              <a:rPr lang="fi-FI" altLang="zh-CN" sz="1400" dirty="0"/>
              <a:t>        </a:t>
            </a:r>
            <a:r>
              <a:rPr lang="fi-FI" altLang="zh-CN" sz="1400" dirty="0" err="1"/>
              <a:t>System.out.println</a:t>
            </a:r>
            <a:r>
              <a:rPr lang="fi-FI" altLang="zh-CN" sz="1400" dirty="0"/>
              <a:t>("</a:t>
            </a:r>
            <a:r>
              <a:rPr lang="zh-CN" altLang="fi-FI" sz="1400" dirty="0"/>
              <a:t>普通静态方法执行：</a:t>
            </a:r>
            <a:r>
              <a:rPr lang="fi-FI" altLang="zh-CN" sz="1400" dirty="0" err="1"/>
              <a:t>loading</a:t>
            </a:r>
            <a:r>
              <a:rPr lang="fi-FI" altLang="zh-CN" sz="1400" dirty="0"/>
              <a:t> </a:t>
            </a:r>
            <a:r>
              <a:rPr lang="fi-FI" altLang="zh-CN" sz="1400" dirty="0" err="1"/>
              <a:t>line</a:t>
            </a:r>
            <a:r>
              <a:rPr lang="fi-FI" altLang="zh-CN" sz="1400" dirty="0"/>
              <a:t>");  </a:t>
            </a:r>
          </a:p>
          <a:p>
            <a:pPr marL="0" indent="0">
              <a:buNone/>
            </a:pPr>
            <a:r>
              <a:rPr lang="fi-FI" altLang="zh-CN" sz="1400" dirty="0"/>
              <a:t>    }  </a:t>
            </a:r>
          </a:p>
          <a:p>
            <a:pPr marL="0" indent="0">
              <a:buNone/>
            </a:pPr>
            <a:r>
              <a:rPr lang="fi-FI" altLang="zh-CN" sz="1400" dirty="0"/>
              <a:t>    </a:t>
            </a:r>
            <a:r>
              <a:rPr lang="fi-FI" altLang="zh-CN" sz="1400" b="1" dirty="0" err="1"/>
              <a:t>public</a:t>
            </a:r>
            <a:r>
              <a:rPr lang="fi-FI" altLang="zh-CN" sz="1400" dirty="0"/>
              <a:t> Line() {  </a:t>
            </a:r>
          </a:p>
          <a:p>
            <a:pPr marL="0" indent="0">
              <a:buNone/>
            </a:pPr>
            <a:r>
              <a:rPr lang="fi-FI" altLang="zh-CN" sz="1400" dirty="0"/>
              <a:t>        </a:t>
            </a:r>
            <a:r>
              <a:rPr lang="fi-FI" altLang="zh-CN" sz="1400" dirty="0" err="1"/>
              <a:t>System.out.println</a:t>
            </a:r>
            <a:r>
              <a:rPr lang="fi-FI" altLang="zh-CN" sz="1400" dirty="0"/>
              <a:t>("</a:t>
            </a:r>
            <a:r>
              <a:rPr lang="zh-CN" altLang="fi-FI" sz="1400" dirty="0"/>
              <a:t>构造方法执行：</a:t>
            </a:r>
            <a:r>
              <a:rPr lang="fi-FI" altLang="zh-CN" sz="1400" dirty="0" err="1"/>
              <a:t>loading</a:t>
            </a:r>
            <a:r>
              <a:rPr lang="fi-FI" altLang="zh-CN" sz="1400" dirty="0"/>
              <a:t> </a:t>
            </a:r>
            <a:r>
              <a:rPr lang="fi-FI" altLang="zh-CN" sz="1400" dirty="0" err="1"/>
              <a:t>line</a:t>
            </a:r>
            <a:r>
              <a:rPr lang="fi-FI" altLang="zh-CN" sz="1400" dirty="0"/>
              <a:t>");  </a:t>
            </a:r>
          </a:p>
          <a:p>
            <a:pPr marL="0" indent="0">
              <a:buNone/>
            </a:pPr>
            <a:r>
              <a:rPr lang="fi-FI" altLang="zh-CN" sz="1400" dirty="0"/>
              <a:t>    }   </a:t>
            </a:r>
          </a:p>
          <a:p>
            <a:pPr marL="0" indent="0">
              <a:buNone/>
            </a:pPr>
            <a:r>
              <a:rPr lang="fi-FI" altLang="zh-CN" sz="1400" dirty="0"/>
              <a:t>    {  </a:t>
            </a:r>
          </a:p>
          <a:p>
            <a:pPr marL="0" indent="0">
              <a:buNone/>
            </a:pPr>
            <a:r>
              <a:rPr lang="zh-TW" altLang="en-US" sz="1400" dirty="0"/>
              <a:t>        </a:t>
            </a:r>
            <a:r>
              <a:rPr lang="en-US" altLang="zh-TW" sz="1400" dirty="0" err="1"/>
              <a:t>System.out.println</a:t>
            </a:r>
            <a:r>
              <a:rPr lang="en-US" altLang="zh-TW" sz="1400" dirty="0"/>
              <a:t>("</a:t>
            </a:r>
            <a:r>
              <a:rPr lang="zh-TW" altLang="en-US" sz="1400" dirty="0"/>
              <a:t>构造代码块执行</a:t>
            </a:r>
            <a:r>
              <a:rPr lang="en-US" altLang="zh-TW" sz="1400" dirty="0"/>
              <a:t>");  </a:t>
            </a:r>
          </a:p>
          <a:p>
            <a:pPr marL="0" indent="0">
              <a:buNone/>
            </a:pPr>
            <a:r>
              <a:rPr lang="en-US" altLang="zh-CN" sz="1400" dirty="0"/>
              <a:t>    }  </a:t>
            </a:r>
          </a:p>
          <a:p>
            <a:pPr marL="0" indent="0">
              <a:buNone/>
            </a:pPr>
            <a:r>
              <a:rPr lang="en-US" altLang="zh-CN" sz="1400" dirty="0"/>
              <a:t>}  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1743156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F07B8-ABA4-584F-A7AA-6FF652B9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F6838-2057-B44C-8CC6-1967F2D88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Executor</a:t>
            </a:r>
            <a:r>
              <a:rPr kumimoji="1" lang="zh-CN" altLang="en-US" dirty="0"/>
              <a:t>接口来执行线程池中的任务</a:t>
            </a:r>
            <a:endParaRPr kumimoji="1" lang="en-US" altLang="zh-CN" dirty="0"/>
          </a:p>
          <a:p>
            <a:r>
              <a:rPr kumimoji="1" lang="en-US" altLang="zh-CN" dirty="0" err="1"/>
              <a:t>ExecutorService</a:t>
            </a:r>
            <a:r>
              <a:rPr kumimoji="1" lang="zh-CN" altLang="en-US" dirty="0"/>
              <a:t>接口来管理和控制任务</a:t>
            </a:r>
            <a:endParaRPr kumimoji="1" lang="en-US" altLang="zh-CN" dirty="0"/>
          </a:p>
          <a:p>
            <a:r>
              <a:rPr kumimoji="1" lang="en-US" altLang="zh-CN" dirty="0" err="1"/>
              <a:t>Excutors</a:t>
            </a:r>
            <a:r>
              <a:rPr kumimoji="1" lang="zh-CN" altLang="en-US" dirty="0"/>
              <a:t>类中静态方法：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1415235"/>
      </p:ext>
    </p:extLst>
  </p:cSld>
  <p:clrMapOvr>
    <a:masterClrMapping/>
  </p:clrMapOvr>
</p:sld>
</file>

<file path=ppt/theme/theme1.xml><?xml version="1.0" encoding="utf-8"?>
<a:theme xmlns:a="http://schemas.openxmlformats.org/drawingml/2006/main" name="16sucai_201411161035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BFA7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计算广告应用V2</Template>
  <TotalTime>8840</TotalTime>
  <Words>4747</Words>
  <Application>Microsoft Macintosh PowerPoint</Application>
  <PresentationFormat>全屏显示(4:3)</PresentationFormat>
  <Paragraphs>594</Paragraphs>
  <Slides>107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107</vt:i4>
      </vt:variant>
    </vt:vector>
  </HeadingPairs>
  <TitlesOfParts>
    <vt:vector size="121" baseType="lpstr">
      <vt:lpstr>微软雅黑</vt:lpstr>
      <vt:lpstr>Arial</vt:lpstr>
      <vt:lpstr>Book Antiqua</vt:lpstr>
      <vt:lpstr>Calibri</vt:lpstr>
      <vt:lpstr>Courier</vt:lpstr>
      <vt:lpstr>Courier New</vt:lpstr>
      <vt:lpstr>Lucida Console</vt:lpstr>
      <vt:lpstr>Monotype Sorts</vt:lpstr>
      <vt:lpstr>tahoma</vt:lpstr>
      <vt:lpstr>Times New Roman</vt:lpstr>
      <vt:lpstr>16sucai_201411161035</vt:lpstr>
      <vt:lpstr>自定义设计方案</vt:lpstr>
      <vt:lpstr>Picture</vt:lpstr>
      <vt:lpstr>图片</vt:lpstr>
      <vt:lpstr>PowerPoint 演示文稿</vt:lpstr>
      <vt:lpstr>线程与进程</vt:lpstr>
      <vt:lpstr>What is a Thread?线程</vt:lpstr>
      <vt:lpstr>Threads Concept</vt:lpstr>
      <vt:lpstr>Single-Threaded Development</vt:lpstr>
      <vt:lpstr>Thread ‘Stalling’</vt:lpstr>
      <vt:lpstr>Multithreading</vt:lpstr>
      <vt:lpstr>How?</vt:lpstr>
      <vt:lpstr>Java’s Thread Class</vt:lpstr>
      <vt:lpstr>Now What?</vt:lpstr>
      <vt:lpstr>What happens in start()?</vt:lpstr>
      <vt:lpstr>More about Thread.run()</vt:lpstr>
      <vt:lpstr>Another method - Runnable</vt:lpstr>
      <vt:lpstr>Starting a Runnable</vt:lpstr>
      <vt:lpstr>Multithreading Pros and Cons</vt:lpstr>
      <vt:lpstr>Tips for Writing Thread-safe Code</vt:lpstr>
      <vt:lpstr>How do I stop it??</vt:lpstr>
      <vt:lpstr>Interesting Facts</vt:lpstr>
      <vt:lpstr>Would you like to know more?</vt:lpstr>
      <vt:lpstr>Creating Tasks and Threads</vt:lpstr>
      <vt:lpstr>Using the Runnable Interface to Create and Launch Threads</vt:lpstr>
      <vt:lpstr>The Thread Class </vt:lpstr>
      <vt:lpstr>The Static yield() Method</vt:lpstr>
      <vt:lpstr>The Static sleep(milliseconds) Method</vt:lpstr>
      <vt:lpstr>The join() Method</vt:lpstr>
      <vt:lpstr>isAlive(), interrupt(), and isInterrupted()</vt:lpstr>
      <vt:lpstr>PowerPoint 演示文稿</vt:lpstr>
      <vt:lpstr>Thread Priority</vt:lpstr>
      <vt:lpstr>Demo: Flashing Text</vt:lpstr>
      <vt:lpstr>GUI Event Dispatcher Thread</vt:lpstr>
      <vt:lpstr>invokeLater and invokeAndWait</vt:lpstr>
      <vt:lpstr>Launch Application from Main Method</vt:lpstr>
      <vt:lpstr>Timers</vt:lpstr>
      <vt:lpstr>Timer Guidelines</vt:lpstr>
      <vt:lpstr>Common Uses for Timers</vt:lpstr>
      <vt:lpstr>Creating Timers</vt:lpstr>
      <vt:lpstr>Wait, an ActionListener?</vt:lpstr>
      <vt:lpstr>Timer Advantages Over Threads</vt:lpstr>
      <vt:lpstr>Case Study: Clock with Audio  </vt:lpstr>
      <vt:lpstr>Demo: Run Audio on Separate Thread</vt:lpstr>
      <vt:lpstr>运行线程池的静态类Excutors</vt:lpstr>
      <vt:lpstr>Thread Pools</vt:lpstr>
      <vt:lpstr>Creating Executors</vt:lpstr>
      <vt:lpstr>Thread Synchronization</vt:lpstr>
      <vt:lpstr>Example: Showing Resource Conflict</vt:lpstr>
      <vt:lpstr>Race Condition</vt:lpstr>
      <vt:lpstr>The synchronized keyword</vt:lpstr>
      <vt:lpstr>Synchronizing Instance Methods and Static Methods</vt:lpstr>
      <vt:lpstr>Synchronizing Instance Methods and Static Methods</vt:lpstr>
      <vt:lpstr> Synchronizing Statements </vt:lpstr>
      <vt:lpstr> Synchronizing Statements vs. Methods</vt:lpstr>
      <vt:lpstr> Synchronization Using Locks </vt:lpstr>
      <vt:lpstr> Example: Using  Locks</vt:lpstr>
      <vt:lpstr> Cooperation Among Threads </vt:lpstr>
      <vt:lpstr> Cooperation Among Threads </vt:lpstr>
      <vt:lpstr>Example: Thread Cooperation </vt:lpstr>
      <vt:lpstr> wait(), notify(), and notifyAll()</vt:lpstr>
      <vt:lpstr> Example: Using Monitor </vt:lpstr>
      <vt:lpstr>Case Study: Producer/Consumer   </vt:lpstr>
      <vt:lpstr>Case Study: Producer/Consumer  </vt:lpstr>
      <vt:lpstr>Blocking Queues </vt:lpstr>
      <vt:lpstr>Concrete Blocking Queues</vt:lpstr>
      <vt:lpstr>Producer/Consumer Using Blocking Queues</vt:lpstr>
      <vt:lpstr>Semaphores (Optional) </vt:lpstr>
      <vt:lpstr>Semaphores (Optional)  </vt:lpstr>
      <vt:lpstr>Creating Semaphores</vt:lpstr>
      <vt:lpstr>例子：改写前面的Account</vt:lpstr>
      <vt:lpstr>Semaphore的其他方法</vt:lpstr>
      <vt:lpstr>Semaphore的其他方法（续）</vt:lpstr>
      <vt:lpstr>CountDownLatch</vt:lpstr>
      <vt:lpstr>CyclicBarrier</vt:lpstr>
      <vt:lpstr>CyclicBarrier</vt:lpstr>
      <vt:lpstr>CyclicBarrier核心方法</vt:lpstr>
      <vt:lpstr>PowerPoint 演示文稿</vt:lpstr>
      <vt:lpstr>PowerPoint 演示文稿</vt:lpstr>
      <vt:lpstr>Deadlock </vt:lpstr>
      <vt:lpstr>Preventing Deadlock </vt:lpstr>
      <vt:lpstr>死锁的例子</vt:lpstr>
      <vt:lpstr>资源重排</vt:lpstr>
      <vt:lpstr>Thread States</vt:lpstr>
      <vt:lpstr>Synchronized Collections </vt:lpstr>
      <vt:lpstr>Vector, Stack, and Hashtable </vt:lpstr>
      <vt:lpstr>Fail-Fast ：遍历时要注意</vt:lpstr>
      <vt:lpstr>SwingWorker ：一个有用的类</vt:lpstr>
      <vt:lpstr>SwingWorker </vt:lpstr>
      <vt:lpstr>SwingWorker Demo</vt:lpstr>
      <vt:lpstr>TIP </vt:lpstr>
      <vt:lpstr>JProgressBar </vt:lpstr>
      <vt:lpstr>JProgressBar Methods</vt:lpstr>
      <vt:lpstr>Example:  JProgressBar Demo</vt:lpstr>
      <vt:lpstr>并行编程</vt:lpstr>
      <vt:lpstr>ForkJoinTask和ForkJoinPool</vt:lpstr>
      <vt:lpstr>JAVA中的可变长参数</vt:lpstr>
      <vt:lpstr>相关的接口和类</vt:lpstr>
      <vt:lpstr>相关的接口和类</vt:lpstr>
      <vt:lpstr>举例</vt:lpstr>
      <vt:lpstr>PowerPoint 演示文稿</vt:lpstr>
      <vt:lpstr>Future接口的弱点</vt:lpstr>
      <vt:lpstr>问题解决逻辑</vt:lpstr>
      <vt:lpstr>PowerPoint 演示文稿</vt:lpstr>
      <vt:lpstr>Appendix</vt:lpstr>
      <vt:lpstr>Static block</vt:lpstr>
      <vt:lpstr>Initializing block</vt:lpstr>
      <vt:lpstr>Synchronized block</vt:lpstr>
      <vt:lpstr>Ordinary block</vt:lpstr>
      <vt:lpstr>PowerPoint 演示文稿</vt:lpstr>
      <vt:lpstr>线程池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 Office User</cp:lastModifiedBy>
  <cp:revision>79</cp:revision>
  <dcterms:created xsi:type="dcterms:W3CDTF">2016-04-19T01:35:35Z</dcterms:created>
  <dcterms:modified xsi:type="dcterms:W3CDTF">2026-05-12T02:27:17Z</dcterms:modified>
</cp:coreProperties>
</file>