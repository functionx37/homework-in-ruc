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4" r:id="rId7"/>
    <p:sldId id="265" r:id="rId8"/>
    <p:sldId id="262" r:id="rId9"/>
    <p:sldId id="261" r:id="rId10"/>
    <p:sldId id="263" r:id="rId11"/>
    <p:sldId id="266" r:id="rId12"/>
    <p:sldId id="267" r:id="rId13"/>
    <p:sldId id="268" r:id="rId14"/>
    <p:sldId id="269" r:id="rId15"/>
  </p:sldIdLst>
  <p:sldSz cx="9144000" cy="6858000" type="screen4x3"/>
  <p:notesSz cx="6858000" cy="9144000"/>
  <p:defaultText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94692"/>
  </p:normalViewPr>
  <p:slideViewPr>
    <p:cSldViewPr snapToGrid="0" snapToObjects="1">
      <p:cViewPr varScale="1">
        <p:scale>
          <a:sx n="94" d="100"/>
          <a:sy n="94" d="100"/>
        </p:scale>
        <p:origin x="1624" y="20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kumimoji="1"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zh-CN" altLang="en-US"/>
              <a:t>单击此处编辑母版副标题样式</a:t>
            </a:r>
          </a:p>
        </p:txBody>
      </p:sp>
      <p:sp>
        <p:nvSpPr>
          <p:cNvPr id="4" name="日期占位符 3"/>
          <p:cNvSpPr>
            <a:spLocks noGrp="1"/>
          </p:cNvSpPr>
          <p:nvPr>
            <p:ph type="dt" sz="half" idx="10"/>
          </p:nvPr>
        </p:nvSpPr>
        <p:spPr/>
        <p:txBody>
          <a:bodyPr/>
          <a:lstStyle/>
          <a:p>
            <a:fld id="{181CF358-73D1-AE43-B2E1-A60176752723}" type="datetimeFigureOut">
              <a:rPr kumimoji="1" lang="zh-CN" altLang="en-US" smtClean="0"/>
              <a:t>2024/3/5</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F6FB2C22-8E0C-3C40-A544-B188E32CED77}" type="slidenum">
              <a:rPr kumimoji="1" lang="zh-CN" altLang="en-US" smtClean="0"/>
              <a:t>‹#›</a:t>
            </a:fld>
            <a:endParaRPr kumimoji="1" lang="zh-CN" altLang="en-US"/>
          </a:p>
        </p:txBody>
      </p:sp>
    </p:spTree>
    <p:extLst>
      <p:ext uri="{BB962C8B-B14F-4D97-AF65-F5344CB8AC3E}">
        <p14:creationId xmlns:p14="http://schemas.microsoft.com/office/powerpoint/2010/main" val="2234515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181CF358-73D1-AE43-B2E1-A60176752723}" type="datetimeFigureOut">
              <a:rPr kumimoji="1" lang="zh-CN" altLang="en-US" smtClean="0"/>
              <a:t>2024/3/5</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F6FB2C22-8E0C-3C40-A544-B188E32CED77}" type="slidenum">
              <a:rPr kumimoji="1" lang="zh-CN" altLang="en-US" smtClean="0"/>
              <a:t>‹#›</a:t>
            </a:fld>
            <a:endParaRPr kumimoji="1" lang="zh-CN" altLang="en-US"/>
          </a:p>
        </p:txBody>
      </p:sp>
    </p:spTree>
    <p:extLst>
      <p:ext uri="{BB962C8B-B14F-4D97-AF65-F5344CB8AC3E}">
        <p14:creationId xmlns:p14="http://schemas.microsoft.com/office/powerpoint/2010/main" val="17097006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kumimoji="1"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zh-CN" altLang="en-US"/>
              <a:t>单击此处编辑母版文本样式</a:t>
            </a:r>
          </a:p>
        </p:txBody>
      </p:sp>
      <p:sp>
        <p:nvSpPr>
          <p:cNvPr id="4" name="日期占位符 3"/>
          <p:cNvSpPr>
            <a:spLocks noGrp="1"/>
          </p:cNvSpPr>
          <p:nvPr>
            <p:ph type="dt" sz="half" idx="10"/>
          </p:nvPr>
        </p:nvSpPr>
        <p:spPr/>
        <p:txBody>
          <a:bodyPr/>
          <a:lstStyle/>
          <a:p>
            <a:fld id="{181CF358-73D1-AE43-B2E1-A60176752723}" type="datetimeFigureOut">
              <a:rPr kumimoji="1" lang="zh-CN" altLang="en-US" smtClean="0"/>
              <a:t>2024/3/5</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F6FB2C22-8E0C-3C40-A544-B188E32CED77}" type="slidenum">
              <a:rPr kumimoji="1" lang="zh-CN" altLang="en-US" smtClean="0"/>
              <a:t>‹#›</a:t>
            </a:fld>
            <a:endParaRPr kumimoji="1" lang="zh-CN" altLang="en-US"/>
          </a:p>
        </p:txBody>
      </p:sp>
    </p:spTree>
    <p:extLst>
      <p:ext uri="{BB962C8B-B14F-4D97-AF65-F5344CB8AC3E}">
        <p14:creationId xmlns:p14="http://schemas.microsoft.com/office/powerpoint/2010/main" val="3700297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p:cNvSpPr>
            <a:spLocks noGrp="1"/>
          </p:cNvSpPr>
          <p:nvPr>
            <p:ph type="dt" sz="half" idx="10"/>
          </p:nvPr>
        </p:nvSpPr>
        <p:spPr/>
        <p:txBody>
          <a:bodyPr/>
          <a:lstStyle/>
          <a:p>
            <a:fld id="{181CF358-73D1-AE43-B2E1-A60176752723}" type="datetimeFigureOut">
              <a:rPr kumimoji="1" lang="zh-CN" altLang="en-US" smtClean="0"/>
              <a:t>2024/3/5</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F6FB2C22-8E0C-3C40-A544-B188E32CED77}" type="slidenum">
              <a:rPr kumimoji="1" lang="zh-CN" altLang="en-US" smtClean="0"/>
              <a:t>‹#›</a:t>
            </a:fld>
            <a:endParaRPr kumimoji="1" lang="zh-CN" altLang="en-US"/>
          </a:p>
        </p:txBody>
      </p:sp>
    </p:spTree>
    <p:extLst>
      <p:ext uri="{BB962C8B-B14F-4D97-AF65-F5344CB8AC3E}">
        <p14:creationId xmlns:p14="http://schemas.microsoft.com/office/powerpoint/2010/main" val="3603547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kumimoji="1"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p:cNvSpPr>
            <a:spLocks noGrp="1"/>
          </p:cNvSpPr>
          <p:nvPr>
            <p:ph type="dt" sz="half" idx="10"/>
          </p:nvPr>
        </p:nvSpPr>
        <p:spPr/>
        <p:txBody>
          <a:bodyPr/>
          <a:lstStyle/>
          <a:p>
            <a:fld id="{181CF358-73D1-AE43-B2E1-A60176752723}" type="datetimeFigureOut">
              <a:rPr kumimoji="1" lang="zh-CN" altLang="en-US" smtClean="0"/>
              <a:t>2024/3/5</a:t>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幻灯片编号占位符 8"/>
          <p:cNvSpPr>
            <a:spLocks noGrp="1"/>
          </p:cNvSpPr>
          <p:nvPr>
            <p:ph type="sldNum" sz="quarter" idx="12"/>
          </p:nvPr>
        </p:nvSpPr>
        <p:spPr/>
        <p:txBody>
          <a:bodyPr/>
          <a:lstStyle/>
          <a:p>
            <a:fld id="{F6FB2C22-8E0C-3C40-A544-B188E32CED77}" type="slidenum">
              <a:rPr kumimoji="1" lang="zh-CN" altLang="en-US" smtClean="0"/>
              <a:t>‹#›</a:t>
            </a:fld>
            <a:endParaRPr kumimoji="1" lang="zh-CN" altLang="en-US"/>
          </a:p>
        </p:txBody>
      </p:sp>
    </p:spTree>
    <p:extLst>
      <p:ext uri="{BB962C8B-B14F-4D97-AF65-F5344CB8AC3E}">
        <p14:creationId xmlns:p14="http://schemas.microsoft.com/office/powerpoint/2010/main" val="15355257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fld id="{181CF358-73D1-AE43-B2E1-A60176752723}" type="datetimeFigureOut">
              <a:rPr kumimoji="1" lang="zh-CN" altLang="en-US" smtClean="0"/>
              <a:t>2024/3/5</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幻灯片编号占位符 4"/>
          <p:cNvSpPr>
            <a:spLocks noGrp="1"/>
          </p:cNvSpPr>
          <p:nvPr>
            <p:ph type="sldNum" sz="quarter" idx="12"/>
          </p:nvPr>
        </p:nvSpPr>
        <p:spPr/>
        <p:txBody>
          <a:bodyPr/>
          <a:lstStyle/>
          <a:p>
            <a:fld id="{F6FB2C22-8E0C-3C40-A544-B188E32CED77}" type="slidenum">
              <a:rPr kumimoji="1" lang="zh-CN" altLang="en-US" smtClean="0"/>
              <a:t>‹#›</a:t>
            </a:fld>
            <a:endParaRPr kumimoji="1" lang="zh-CN" altLang="en-US"/>
          </a:p>
        </p:txBody>
      </p:sp>
    </p:spTree>
    <p:extLst>
      <p:ext uri="{BB962C8B-B14F-4D97-AF65-F5344CB8AC3E}">
        <p14:creationId xmlns:p14="http://schemas.microsoft.com/office/powerpoint/2010/main" val="2258245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81CF358-73D1-AE43-B2E1-A60176752723}" type="datetimeFigureOut">
              <a:rPr kumimoji="1" lang="zh-CN" altLang="en-US" smtClean="0"/>
              <a:t>2024/3/5</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幻灯片编号占位符 3"/>
          <p:cNvSpPr>
            <a:spLocks noGrp="1"/>
          </p:cNvSpPr>
          <p:nvPr>
            <p:ph type="sldNum" sz="quarter" idx="12"/>
          </p:nvPr>
        </p:nvSpPr>
        <p:spPr/>
        <p:txBody>
          <a:bodyPr/>
          <a:lstStyle/>
          <a:p>
            <a:fld id="{F6FB2C22-8E0C-3C40-A544-B188E32CED77}" type="slidenum">
              <a:rPr kumimoji="1" lang="zh-CN" altLang="en-US" smtClean="0"/>
              <a:t>‹#›</a:t>
            </a:fld>
            <a:endParaRPr kumimoji="1" lang="zh-CN" altLang="en-US"/>
          </a:p>
        </p:txBody>
      </p:sp>
    </p:spTree>
    <p:extLst>
      <p:ext uri="{BB962C8B-B14F-4D97-AF65-F5344CB8AC3E}">
        <p14:creationId xmlns:p14="http://schemas.microsoft.com/office/powerpoint/2010/main" val="3454010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kumimoji="1"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181CF358-73D1-AE43-B2E1-A60176752723}" type="datetimeFigureOut">
              <a:rPr kumimoji="1" lang="zh-CN" altLang="en-US" smtClean="0"/>
              <a:t>2024/3/5</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F6FB2C22-8E0C-3C40-A544-B188E32CED77}" type="slidenum">
              <a:rPr kumimoji="1" lang="zh-CN" altLang="en-US" smtClean="0"/>
              <a:t>‹#›</a:t>
            </a:fld>
            <a:endParaRPr kumimoji="1" lang="zh-CN" altLang="en-US"/>
          </a:p>
        </p:txBody>
      </p:sp>
    </p:spTree>
    <p:extLst>
      <p:ext uri="{BB962C8B-B14F-4D97-AF65-F5344CB8AC3E}">
        <p14:creationId xmlns:p14="http://schemas.microsoft.com/office/powerpoint/2010/main" val="28818082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kumimoji="1"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181CF358-73D1-AE43-B2E1-A60176752723}" type="datetimeFigureOut">
              <a:rPr kumimoji="1" lang="zh-CN" altLang="en-US" smtClean="0"/>
              <a:t>2024/3/5</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F6FB2C22-8E0C-3C40-A544-B188E32CED77}" type="slidenum">
              <a:rPr kumimoji="1" lang="zh-CN" altLang="en-US" smtClean="0"/>
              <a:t>‹#›</a:t>
            </a:fld>
            <a:endParaRPr kumimoji="1" lang="zh-CN" altLang="en-US"/>
          </a:p>
        </p:txBody>
      </p:sp>
    </p:spTree>
    <p:extLst>
      <p:ext uri="{BB962C8B-B14F-4D97-AF65-F5344CB8AC3E}">
        <p14:creationId xmlns:p14="http://schemas.microsoft.com/office/powerpoint/2010/main" val="19352432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本占位符 2"/>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181CF358-73D1-AE43-B2E1-A60176752723}" type="datetimeFigureOut">
              <a:rPr kumimoji="1" lang="zh-CN" altLang="en-US" smtClean="0"/>
              <a:t>2024/3/5</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F6FB2C22-8E0C-3C40-A544-B188E32CED77}" type="slidenum">
              <a:rPr kumimoji="1" lang="zh-CN" altLang="en-US" smtClean="0"/>
              <a:t>‹#›</a:t>
            </a:fld>
            <a:endParaRPr kumimoji="1" lang="zh-CN" altLang="en-US"/>
          </a:p>
        </p:txBody>
      </p:sp>
    </p:spTree>
    <p:extLst>
      <p:ext uri="{BB962C8B-B14F-4D97-AF65-F5344CB8AC3E}">
        <p14:creationId xmlns:p14="http://schemas.microsoft.com/office/powerpoint/2010/main" val="6322285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kumimoji="1" lang="zh-CN" altLang="en-US"/>
              <a:t>单击此处编辑母版标题样式</a:t>
            </a:r>
          </a:p>
        </p:txBody>
      </p:sp>
      <p:sp>
        <p:nvSpPr>
          <p:cNvPr id="3" name="竖排文本占位符 2"/>
          <p:cNvSpPr>
            <a:spLocks noGrp="1"/>
          </p:cNvSpPr>
          <p:nvPr>
            <p:ph type="body" orient="vert" idx="1"/>
          </p:nvPr>
        </p:nvSpPr>
        <p:spPr>
          <a:xfrm>
            <a:off x="457200" y="274638"/>
            <a:ext cx="6019800" cy="5851525"/>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181CF358-73D1-AE43-B2E1-A60176752723}" type="datetimeFigureOut">
              <a:rPr kumimoji="1" lang="zh-CN" altLang="en-US" smtClean="0"/>
              <a:t>2024/3/5</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F6FB2C22-8E0C-3C40-A544-B188E32CED77}" type="slidenum">
              <a:rPr kumimoji="1" lang="zh-CN" altLang="en-US" smtClean="0"/>
              <a:t>‹#›</a:t>
            </a:fld>
            <a:endParaRPr kumimoji="1" lang="zh-CN" altLang="en-US"/>
          </a:p>
        </p:txBody>
      </p:sp>
    </p:spTree>
    <p:extLst>
      <p:ext uri="{BB962C8B-B14F-4D97-AF65-F5344CB8AC3E}">
        <p14:creationId xmlns:p14="http://schemas.microsoft.com/office/powerpoint/2010/main" val="34228153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1CF358-73D1-AE43-B2E1-A60176752723}" type="datetimeFigureOut">
              <a:rPr kumimoji="1" lang="zh-CN" altLang="en-US" smtClean="0"/>
              <a:t>2024/3/5</a:t>
            </a:fld>
            <a:endParaRPr kumimoji="1"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幻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FB2C22-8E0C-3C40-A544-B188E32CED77}" type="slidenum">
              <a:rPr kumimoji="1" lang="zh-CN" altLang="en-US" smtClean="0"/>
              <a:t>‹#›</a:t>
            </a:fld>
            <a:endParaRPr kumimoji="1" lang="zh-CN" altLang="en-US"/>
          </a:p>
        </p:txBody>
      </p:sp>
    </p:spTree>
    <p:extLst>
      <p:ext uri="{BB962C8B-B14F-4D97-AF65-F5344CB8AC3E}">
        <p14:creationId xmlns:p14="http://schemas.microsoft.com/office/powerpoint/2010/main" val="5427322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kumimoji="1" lang="en-US" altLang="zh-CN" dirty="0"/>
              <a:t>JAVA</a:t>
            </a:r>
            <a:r>
              <a:rPr kumimoji="1" lang="zh-CN" altLang="en-US" dirty="0"/>
              <a:t>内存分配简单示意</a:t>
            </a:r>
          </a:p>
        </p:txBody>
      </p:sp>
      <p:sp>
        <p:nvSpPr>
          <p:cNvPr id="3" name="副标题 2"/>
          <p:cNvSpPr>
            <a:spLocks noGrp="1"/>
          </p:cNvSpPr>
          <p:nvPr>
            <p:ph type="subTitle" idx="1"/>
          </p:nvPr>
        </p:nvSpPr>
        <p:spPr/>
        <p:txBody>
          <a:bodyPr/>
          <a:lstStyle/>
          <a:p>
            <a:r>
              <a:rPr kumimoji="1" lang="zh-CN" altLang="en-US"/>
              <a:t>仅供参考</a:t>
            </a:r>
          </a:p>
        </p:txBody>
      </p:sp>
      <p:pic>
        <p:nvPicPr>
          <p:cNvPr id="5" name="图片 4">
            <a:extLst>
              <a:ext uri="{FF2B5EF4-FFF2-40B4-BE49-F238E27FC236}">
                <a16:creationId xmlns:a16="http://schemas.microsoft.com/office/drawing/2014/main" id="{B6B3F62A-EC84-CE48-94D2-7E6492493761}"/>
              </a:ext>
            </a:extLst>
          </p:cNvPr>
          <p:cNvPicPr>
            <a:picLocks noChangeAspect="1"/>
          </p:cNvPicPr>
          <p:nvPr/>
        </p:nvPicPr>
        <p:blipFill>
          <a:blip r:embed="rId2"/>
          <a:stretch>
            <a:fillRect/>
          </a:stretch>
        </p:blipFill>
        <p:spPr>
          <a:xfrm>
            <a:off x="1270000" y="1270000"/>
            <a:ext cx="63500" cy="76200"/>
          </a:xfrm>
          <a:prstGeom prst="rect">
            <a:avLst/>
          </a:prstGeom>
        </p:spPr>
      </p:pic>
      <p:pic>
        <p:nvPicPr>
          <p:cNvPr id="6" name="图片 5">
            <a:extLst>
              <a:ext uri="{FF2B5EF4-FFF2-40B4-BE49-F238E27FC236}">
                <a16:creationId xmlns:a16="http://schemas.microsoft.com/office/drawing/2014/main" id="{92521E4D-758C-A745-8F1E-BF06903811D6}"/>
              </a:ext>
            </a:extLst>
          </p:cNvPr>
          <p:cNvPicPr>
            <a:picLocks noChangeAspect="1"/>
          </p:cNvPicPr>
          <p:nvPr/>
        </p:nvPicPr>
        <p:blipFill>
          <a:blip r:embed="rId2"/>
          <a:stretch>
            <a:fillRect/>
          </a:stretch>
        </p:blipFill>
        <p:spPr>
          <a:xfrm>
            <a:off x="1270000" y="1270000"/>
            <a:ext cx="63500" cy="76200"/>
          </a:xfrm>
          <a:prstGeom prst="rect">
            <a:avLst/>
          </a:prstGeom>
        </p:spPr>
      </p:pic>
      <p:pic>
        <p:nvPicPr>
          <p:cNvPr id="7" name="图片 6">
            <a:extLst>
              <a:ext uri="{FF2B5EF4-FFF2-40B4-BE49-F238E27FC236}">
                <a16:creationId xmlns:a16="http://schemas.microsoft.com/office/drawing/2014/main" id="{842CE15E-56D0-8749-B9E3-FB7FDA26588B}"/>
              </a:ext>
            </a:extLst>
          </p:cNvPr>
          <p:cNvPicPr>
            <a:picLocks noChangeAspect="1"/>
          </p:cNvPicPr>
          <p:nvPr/>
        </p:nvPicPr>
        <p:blipFill>
          <a:blip r:embed="rId2"/>
          <a:stretch>
            <a:fillRect/>
          </a:stretch>
        </p:blipFill>
        <p:spPr>
          <a:xfrm>
            <a:off x="1270000" y="1270000"/>
            <a:ext cx="63500" cy="76200"/>
          </a:xfrm>
          <a:prstGeom prst="rect">
            <a:avLst/>
          </a:prstGeom>
        </p:spPr>
      </p:pic>
    </p:spTree>
    <p:extLst>
      <p:ext uri="{BB962C8B-B14F-4D97-AF65-F5344CB8AC3E}">
        <p14:creationId xmlns:p14="http://schemas.microsoft.com/office/powerpoint/2010/main" val="34750140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JVM </a:t>
            </a:r>
            <a:r>
              <a:rPr kumimoji="1" lang="zh-CN" altLang="en-US" dirty="0"/>
              <a:t>内存分配原理</a:t>
            </a:r>
          </a:p>
        </p:txBody>
      </p:sp>
      <p:sp>
        <p:nvSpPr>
          <p:cNvPr id="3" name="内容占位符 2"/>
          <p:cNvSpPr>
            <a:spLocks noGrp="1"/>
          </p:cNvSpPr>
          <p:nvPr>
            <p:ph idx="1"/>
          </p:nvPr>
        </p:nvSpPr>
        <p:spPr/>
        <p:txBody>
          <a:bodyPr>
            <a:normAutofit fontScale="92500" lnSpcReduction="10000"/>
          </a:bodyPr>
          <a:lstStyle/>
          <a:p>
            <a:r>
              <a:rPr kumimoji="1" lang="zh-CN" altLang="en-US" dirty="0"/>
              <a:t>寄存器：</a:t>
            </a:r>
            <a:r>
              <a:rPr kumimoji="1" lang="en-US" altLang="zh-CN" dirty="0"/>
              <a:t>JVM</a:t>
            </a:r>
            <a:r>
              <a:rPr kumimoji="1" lang="zh-CN" altLang="en-US" dirty="0"/>
              <a:t>内部虚拟寄存器，速度快</a:t>
            </a:r>
            <a:endParaRPr kumimoji="1" lang="en-US" altLang="zh-CN" dirty="0"/>
          </a:p>
          <a:p>
            <a:r>
              <a:rPr kumimoji="1" lang="zh-CN" altLang="en-US" dirty="0"/>
              <a:t>栈：保存局部变量的值</a:t>
            </a:r>
            <a:endParaRPr kumimoji="1" lang="en-US" altLang="zh-CN" dirty="0"/>
          </a:p>
          <a:p>
            <a:pPr lvl="1"/>
            <a:r>
              <a:rPr kumimoji="1" lang="zh-CN" altLang="en-US" dirty="0"/>
              <a:t>基本数据类型的值</a:t>
            </a:r>
            <a:endParaRPr kumimoji="1" lang="en-US" altLang="zh-CN" dirty="0"/>
          </a:p>
          <a:p>
            <a:pPr lvl="1"/>
            <a:r>
              <a:rPr kumimoji="1" lang="zh-CN" altLang="en-US" dirty="0"/>
              <a:t>保存类的实例，堆区对象的引用</a:t>
            </a:r>
            <a:endParaRPr kumimoji="1" lang="en-US" altLang="zh-CN" dirty="0"/>
          </a:p>
          <a:p>
            <a:r>
              <a:rPr kumimoji="1" lang="zh-CN" altLang="en-US" dirty="0"/>
              <a:t>堆：存放动态产生的数据</a:t>
            </a:r>
            <a:endParaRPr kumimoji="1" lang="en-US" altLang="zh-CN" dirty="0"/>
          </a:p>
          <a:p>
            <a:r>
              <a:rPr kumimoji="1" lang="zh-CN" altLang="en-US" dirty="0"/>
              <a:t>常量池：</a:t>
            </a:r>
            <a:r>
              <a:rPr kumimoji="1" lang="en-US" altLang="zh-CN" dirty="0"/>
              <a:t>JVM</a:t>
            </a:r>
            <a:r>
              <a:rPr kumimoji="1" lang="zh-CN" altLang="en-US" dirty="0"/>
              <a:t>为每个加载的类维护一个常量池存放在堆中</a:t>
            </a:r>
            <a:endParaRPr kumimoji="1" lang="en-US" altLang="zh-CN" dirty="0"/>
          </a:p>
          <a:p>
            <a:r>
              <a:rPr kumimoji="1" lang="zh-CN" altLang="en-US" dirty="0"/>
              <a:t>代码段：源代码</a:t>
            </a:r>
            <a:endParaRPr kumimoji="1" lang="en-US" altLang="zh-CN" dirty="0"/>
          </a:p>
          <a:p>
            <a:r>
              <a:rPr kumimoji="1" lang="zh-CN" altLang="en-US" dirty="0"/>
              <a:t>数据段：静态</a:t>
            </a:r>
          </a:p>
        </p:txBody>
      </p:sp>
    </p:spTree>
    <p:extLst>
      <p:ext uri="{BB962C8B-B14F-4D97-AF65-F5344CB8AC3E}">
        <p14:creationId xmlns:p14="http://schemas.microsoft.com/office/powerpoint/2010/main" val="31048344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77800" y="0"/>
            <a:ext cx="8784274" cy="6858000"/>
          </a:xfrm>
          <a:prstGeom prst="rect">
            <a:avLst/>
          </a:prstGeom>
        </p:spPr>
      </p:pic>
    </p:spTree>
    <p:extLst>
      <p:ext uri="{BB962C8B-B14F-4D97-AF65-F5344CB8AC3E}">
        <p14:creationId xmlns:p14="http://schemas.microsoft.com/office/powerpoint/2010/main" val="973431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549400" y="1651000"/>
            <a:ext cx="6045200" cy="3556000"/>
          </a:xfrm>
          <a:prstGeom prst="rect">
            <a:avLst/>
          </a:prstGeom>
        </p:spPr>
      </p:pic>
    </p:spTree>
    <p:extLst>
      <p:ext uri="{BB962C8B-B14F-4D97-AF65-F5344CB8AC3E}">
        <p14:creationId xmlns:p14="http://schemas.microsoft.com/office/powerpoint/2010/main" val="24331895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kumimoji="1" lang="en-US" altLang="zh-CN" dirty="0"/>
            </a:br>
            <a:endParaRPr kumimoji="1" lang="zh-CN" altLang="en-US" dirty="0"/>
          </a:p>
        </p:txBody>
      </p:sp>
      <p:pic>
        <p:nvPicPr>
          <p:cNvPr id="4" name="内容占位符 3"/>
          <p:cNvPicPr>
            <a:picLocks noGrp="1" noChangeAspect="1"/>
          </p:cNvPicPr>
          <p:nvPr>
            <p:ph idx="1"/>
          </p:nvPr>
        </p:nvPicPr>
        <p:blipFill>
          <a:blip r:embed="rId2"/>
          <a:srcRect t="10281" b="10281"/>
          <a:stretch>
            <a:fillRect/>
          </a:stretch>
        </p:blipFill>
        <p:spPr/>
      </p:pic>
    </p:spTree>
    <p:extLst>
      <p:ext uri="{BB962C8B-B14F-4D97-AF65-F5344CB8AC3E}">
        <p14:creationId xmlns:p14="http://schemas.microsoft.com/office/powerpoint/2010/main" val="4206751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800100" y="1104900"/>
            <a:ext cx="7543800" cy="4635500"/>
          </a:xfrm>
          <a:prstGeom prst="rect">
            <a:avLst/>
          </a:prstGeom>
        </p:spPr>
      </p:pic>
    </p:spTree>
    <p:extLst>
      <p:ext uri="{BB962C8B-B14F-4D97-AF65-F5344CB8AC3E}">
        <p14:creationId xmlns:p14="http://schemas.microsoft.com/office/powerpoint/2010/main" val="18154822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14300" y="990600"/>
            <a:ext cx="8915400" cy="4864100"/>
          </a:xfrm>
          <a:prstGeom prst="rect">
            <a:avLst/>
          </a:prstGeom>
        </p:spPr>
      </p:pic>
    </p:spTree>
    <p:extLst>
      <p:ext uri="{BB962C8B-B14F-4D97-AF65-F5344CB8AC3E}">
        <p14:creationId xmlns:p14="http://schemas.microsoft.com/office/powerpoint/2010/main" val="13363196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384300" y="1587500"/>
            <a:ext cx="6375400" cy="3670300"/>
          </a:xfrm>
          <a:prstGeom prst="rect">
            <a:avLst/>
          </a:prstGeom>
        </p:spPr>
      </p:pic>
    </p:spTree>
    <p:extLst>
      <p:ext uri="{BB962C8B-B14F-4D97-AF65-F5344CB8AC3E}">
        <p14:creationId xmlns:p14="http://schemas.microsoft.com/office/powerpoint/2010/main" val="11567582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0" y="556402"/>
            <a:ext cx="9144000" cy="4207858"/>
          </a:xfrm>
          <a:prstGeom prst="rect">
            <a:avLst/>
          </a:prstGeom>
        </p:spPr>
      </p:pic>
    </p:spTree>
    <p:extLst>
      <p:ext uri="{BB962C8B-B14F-4D97-AF65-F5344CB8AC3E}">
        <p14:creationId xmlns:p14="http://schemas.microsoft.com/office/powerpoint/2010/main" val="2197802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pic>
        <p:nvPicPr>
          <p:cNvPr id="4" name="内容占位符 3"/>
          <p:cNvPicPr>
            <a:picLocks noGrp="1" noChangeAspect="1"/>
          </p:cNvPicPr>
          <p:nvPr>
            <p:ph idx="1"/>
          </p:nvPr>
        </p:nvPicPr>
        <p:blipFill>
          <a:blip r:embed="rId2"/>
          <a:srcRect t="5558" b="5558"/>
          <a:stretch>
            <a:fillRect/>
          </a:stretch>
        </p:blipFill>
        <p:spPr/>
      </p:pic>
    </p:spTree>
    <p:extLst>
      <p:ext uri="{BB962C8B-B14F-4D97-AF65-F5344CB8AC3E}">
        <p14:creationId xmlns:p14="http://schemas.microsoft.com/office/powerpoint/2010/main" val="464566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447A11-5BFA-9D40-9495-2DF8E63B4B9B}"/>
              </a:ext>
            </a:extLst>
          </p:cNvPr>
          <p:cNvSpPr>
            <a:spLocks noGrp="1"/>
          </p:cNvSpPr>
          <p:nvPr>
            <p:ph type="title"/>
          </p:nvPr>
        </p:nvSpPr>
        <p:spPr/>
        <p:txBody>
          <a:bodyPr/>
          <a:lstStyle/>
          <a:p>
            <a:r>
              <a:rPr kumimoji="1" lang="en-US" altLang="zh-CN" dirty="0"/>
              <a:t>JAVA</a:t>
            </a:r>
            <a:r>
              <a:rPr kumimoji="1" lang="zh-CN" altLang="en-US" dirty="0"/>
              <a:t>对象初始化执行顺序</a:t>
            </a:r>
          </a:p>
        </p:txBody>
      </p:sp>
      <p:sp>
        <p:nvSpPr>
          <p:cNvPr id="3" name="内容占位符 2">
            <a:extLst>
              <a:ext uri="{FF2B5EF4-FFF2-40B4-BE49-F238E27FC236}">
                <a16:creationId xmlns:a16="http://schemas.microsoft.com/office/drawing/2014/main" id="{3921FAA5-C2EE-AF41-881F-F7762305A090}"/>
              </a:ext>
            </a:extLst>
          </p:cNvPr>
          <p:cNvSpPr>
            <a:spLocks noGrp="1"/>
          </p:cNvSpPr>
          <p:nvPr>
            <p:ph idx="1"/>
          </p:nvPr>
        </p:nvSpPr>
        <p:spPr/>
        <p:txBody>
          <a:bodyPr/>
          <a:lstStyle/>
          <a:p>
            <a:r>
              <a:rPr lang="zh-CN" altLang="en-US" b="1"/>
              <a:t>静态</a:t>
            </a:r>
            <a:r>
              <a:rPr lang="zh-CN" altLang="en-US" b="1" dirty="0"/>
              <a:t>语句块</a:t>
            </a:r>
            <a:r>
              <a:rPr lang="en-US" altLang="zh-CN" b="1" dirty="0"/>
              <a:t>&gt;</a:t>
            </a:r>
            <a:r>
              <a:rPr lang="zh-CN" altLang="en-US" b="1" dirty="0"/>
              <a:t>静态变量初始化</a:t>
            </a:r>
            <a:r>
              <a:rPr lang="en-US" altLang="zh-CN" b="1" dirty="0"/>
              <a:t>&gt;</a:t>
            </a:r>
            <a:r>
              <a:rPr lang="zh-CN" altLang="en-US" b="1" dirty="0"/>
              <a:t>实例语句块</a:t>
            </a:r>
            <a:r>
              <a:rPr lang="en-US" altLang="zh-CN" b="1" dirty="0"/>
              <a:t>/</a:t>
            </a:r>
            <a:r>
              <a:rPr lang="zh-CN" altLang="en-US" b="1" dirty="0"/>
              <a:t>成员变量初始化</a:t>
            </a:r>
            <a:r>
              <a:rPr lang="en-US" altLang="zh-CN" b="1" dirty="0"/>
              <a:t>&gt;</a:t>
            </a:r>
            <a:r>
              <a:rPr lang="zh-CN" altLang="en-US" b="1" dirty="0"/>
              <a:t>构造方法，实例语句块与成员变量初始化的相对执行顺序取决于定义的先后顺序。</a:t>
            </a:r>
            <a:endParaRPr kumimoji="1" lang="zh-CN" altLang="en-US" dirty="0"/>
          </a:p>
        </p:txBody>
      </p:sp>
    </p:spTree>
    <p:extLst>
      <p:ext uri="{BB962C8B-B14F-4D97-AF65-F5344CB8AC3E}">
        <p14:creationId xmlns:p14="http://schemas.microsoft.com/office/powerpoint/2010/main" val="14679541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375806-248F-5B4C-BFF3-3B1A485D3528}"/>
              </a:ext>
            </a:extLst>
          </p:cNvPr>
          <p:cNvSpPr>
            <a:spLocks noGrp="1"/>
          </p:cNvSpPr>
          <p:nvPr>
            <p:ph type="title"/>
          </p:nvPr>
        </p:nvSpPr>
        <p:spPr/>
        <p:txBody>
          <a:bodyPr/>
          <a:lstStyle/>
          <a:p>
            <a:r>
              <a:rPr kumimoji="1" lang="zh-CN" altLang="en-US" dirty="0"/>
              <a:t>对象加载顺序</a:t>
            </a:r>
          </a:p>
        </p:txBody>
      </p:sp>
      <p:sp>
        <p:nvSpPr>
          <p:cNvPr id="3" name="内容占位符 2">
            <a:extLst>
              <a:ext uri="{FF2B5EF4-FFF2-40B4-BE49-F238E27FC236}">
                <a16:creationId xmlns:a16="http://schemas.microsoft.com/office/drawing/2014/main" id="{5C2A6C42-85B2-004A-AFC7-C491428BCB8D}"/>
              </a:ext>
            </a:extLst>
          </p:cNvPr>
          <p:cNvSpPr>
            <a:spLocks noGrp="1"/>
          </p:cNvSpPr>
          <p:nvPr>
            <p:ph idx="1"/>
          </p:nvPr>
        </p:nvSpPr>
        <p:spPr/>
        <p:txBody>
          <a:bodyPr>
            <a:normAutofit fontScale="92500"/>
          </a:bodyPr>
          <a:lstStyle/>
          <a:p>
            <a:r>
              <a:rPr lang="en-US" altLang="zh-CN" sz="2400" dirty="0"/>
              <a:t>Java </a:t>
            </a:r>
            <a:r>
              <a:rPr lang="zh-CN" altLang="zh-CN" sz="2400" dirty="0"/>
              <a:t>解释器就会去找类的路径，定位已经编译好的</a:t>
            </a:r>
            <a:r>
              <a:rPr lang="en-US" altLang="zh-CN" sz="2400" dirty="0"/>
              <a:t> </a:t>
            </a:r>
            <a:r>
              <a:rPr lang="en-US" altLang="zh-CN" sz="2400" dirty="0" err="1"/>
              <a:t>XX.class</a:t>
            </a:r>
            <a:r>
              <a:rPr lang="en-US" altLang="zh-CN" sz="2400" dirty="0"/>
              <a:t> </a:t>
            </a:r>
            <a:r>
              <a:rPr lang="zh-CN" altLang="zh-CN" sz="2400" dirty="0"/>
              <a:t>文件</a:t>
            </a:r>
            <a:endParaRPr lang="en-US" altLang="zh-CN" sz="2400" dirty="0"/>
          </a:p>
          <a:p>
            <a:r>
              <a:rPr kumimoji="1" lang="zh-CN" altLang="en-US" sz="2400" dirty="0"/>
              <a:t> </a:t>
            </a:r>
            <a:r>
              <a:rPr kumimoji="1" lang="en-US" altLang="zh-CN" sz="2400" dirty="0" err="1"/>
              <a:t>jvm</a:t>
            </a:r>
            <a:r>
              <a:rPr kumimoji="1" lang="en-US" altLang="zh-CN" sz="2400" dirty="0"/>
              <a:t> </a:t>
            </a:r>
            <a:r>
              <a:rPr kumimoji="1" lang="zh-CN" altLang="en-US" sz="2400" dirty="0"/>
              <a:t>就会载入 </a:t>
            </a:r>
            <a:r>
              <a:rPr kumimoji="1" lang="en-US" altLang="zh-CN" sz="2400" dirty="0" err="1"/>
              <a:t>XX.class</a:t>
            </a:r>
            <a:r>
              <a:rPr kumimoji="1" lang="zh-CN" altLang="en-US" sz="2400" dirty="0"/>
              <a:t>，生成一个 </a:t>
            </a:r>
            <a:r>
              <a:rPr kumimoji="1" lang="en-US" altLang="zh-CN" sz="2400" dirty="0"/>
              <a:t>class </a:t>
            </a:r>
            <a:r>
              <a:rPr kumimoji="1" lang="zh-CN" altLang="en-US" sz="2400" dirty="0"/>
              <a:t>对象。</a:t>
            </a:r>
            <a:r>
              <a:rPr kumimoji="1" lang="zh-CN" altLang="en-US" sz="2400" dirty="0">
                <a:solidFill>
                  <a:srgbClr val="FF0000"/>
                </a:solidFill>
              </a:rPr>
              <a:t>有静态的方法或者变量，静态初始化动作都会被执行</a:t>
            </a:r>
            <a:r>
              <a:rPr kumimoji="1" lang="zh-CN" altLang="en-US" sz="2400" dirty="0"/>
              <a:t>。这些资源都会放在 </a:t>
            </a:r>
            <a:r>
              <a:rPr kumimoji="1" lang="en-US" altLang="zh-CN" sz="2400" dirty="0" err="1"/>
              <a:t>jvm</a:t>
            </a:r>
            <a:r>
              <a:rPr kumimoji="1" lang="en-US" altLang="zh-CN" sz="2400" dirty="0"/>
              <a:t> </a:t>
            </a:r>
            <a:r>
              <a:rPr kumimoji="1" lang="zh-CN" altLang="en-US" sz="2400" dirty="0"/>
              <a:t>的方法区。方法区又叫静态区，跟堆一样，被所有的线程共享。 </a:t>
            </a:r>
            <a:r>
              <a:rPr kumimoji="1" lang="zh-CN" altLang="en-US" sz="2400" dirty="0">
                <a:solidFill>
                  <a:srgbClr val="FF0000"/>
                </a:solidFill>
              </a:rPr>
              <a:t>方法区中包含的都是在整个程序中永远唯一的元素，包含所有的 </a:t>
            </a:r>
            <a:r>
              <a:rPr kumimoji="1" lang="en-US" altLang="zh-CN" sz="2400" dirty="0">
                <a:solidFill>
                  <a:srgbClr val="FF0000"/>
                </a:solidFill>
              </a:rPr>
              <a:t>class </a:t>
            </a:r>
            <a:r>
              <a:rPr kumimoji="1" lang="zh-CN" altLang="en-US" sz="2400" dirty="0">
                <a:solidFill>
                  <a:srgbClr val="FF0000"/>
                </a:solidFill>
              </a:rPr>
              <a:t>和 </a:t>
            </a:r>
            <a:r>
              <a:rPr kumimoji="1" lang="en-US" altLang="zh-CN" sz="2400" dirty="0">
                <a:solidFill>
                  <a:srgbClr val="FF0000"/>
                </a:solidFill>
              </a:rPr>
              <a:t>static </a:t>
            </a:r>
            <a:r>
              <a:rPr kumimoji="1" lang="zh-CN" altLang="en-US" sz="2400" dirty="0">
                <a:solidFill>
                  <a:srgbClr val="FF0000"/>
                </a:solidFill>
              </a:rPr>
              <a:t>变量。</a:t>
            </a:r>
            <a:endParaRPr kumimoji="1" lang="en-US" altLang="zh-CN" sz="2400" dirty="0">
              <a:solidFill>
                <a:srgbClr val="FF0000"/>
              </a:solidFill>
            </a:endParaRPr>
          </a:p>
          <a:p>
            <a:r>
              <a:rPr kumimoji="1" lang="zh-CN" altLang="en-US" sz="2400" dirty="0"/>
              <a:t>在堆上为 </a:t>
            </a:r>
            <a:r>
              <a:rPr kumimoji="1" lang="en-US" altLang="zh-CN" sz="2400" dirty="0"/>
              <a:t>XX </a:t>
            </a:r>
            <a:r>
              <a:rPr kumimoji="1" lang="zh-CN" altLang="en-US" sz="2400" dirty="0"/>
              <a:t>对象分配足够的存储空间，所有属性和方法都被设置成默认值</a:t>
            </a:r>
            <a:r>
              <a:rPr kumimoji="1" lang="en-US" altLang="zh-CN" sz="2400" dirty="0"/>
              <a:t>(</a:t>
            </a:r>
            <a:r>
              <a:rPr kumimoji="1" lang="zh-CN" altLang="en-US" sz="2400" dirty="0"/>
              <a:t>数字为 </a:t>
            </a:r>
            <a:r>
              <a:rPr kumimoji="1" lang="en-US" altLang="zh-CN" sz="2400" dirty="0"/>
              <a:t>0</a:t>
            </a:r>
            <a:r>
              <a:rPr kumimoji="1" lang="zh-CN" altLang="en-US" sz="2400" dirty="0"/>
              <a:t>，字符为 </a:t>
            </a:r>
            <a:r>
              <a:rPr kumimoji="1" lang="en-US" altLang="zh-CN" sz="2400" dirty="0"/>
              <a:t>null</a:t>
            </a:r>
            <a:r>
              <a:rPr kumimoji="1" lang="zh-CN" altLang="en-US" sz="2400" dirty="0"/>
              <a:t>，布尔为 </a:t>
            </a:r>
            <a:r>
              <a:rPr kumimoji="1" lang="en-US" altLang="zh-CN" sz="2400" dirty="0"/>
              <a:t>false</a:t>
            </a:r>
            <a:r>
              <a:rPr kumimoji="1" lang="zh-CN" altLang="en-US" sz="2400" dirty="0"/>
              <a:t>，而所有引用被设置成 </a:t>
            </a:r>
            <a:r>
              <a:rPr kumimoji="1" lang="en-US" altLang="zh-CN" sz="2400" dirty="0"/>
              <a:t>null</a:t>
            </a:r>
            <a:r>
              <a:rPr kumimoji="1" lang="zh-CN" altLang="en-US" sz="2400" dirty="0"/>
              <a:t>）</a:t>
            </a:r>
            <a:endParaRPr kumimoji="1" lang="en-US" altLang="zh-CN" sz="2400" dirty="0"/>
          </a:p>
          <a:p>
            <a:r>
              <a:rPr kumimoji="1" lang="zh-CN" altLang="en-US" sz="2400" dirty="0"/>
              <a:t>执行构造方法检查是否有父类，如果有父类会先调用父类的构造方法，若没有父类，执行默认值字段的赋值即方法的初始化动作，执行构造方法。</a:t>
            </a:r>
          </a:p>
          <a:p>
            <a:endParaRPr kumimoji="1" lang="zh-CN" altLang="en-US" sz="2400" dirty="0"/>
          </a:p>
          <a:p>
            <a:endParaRPr kumimoji="1" lang="zh-CN" altLang="en-US" sz="2400" dirty="0"/>
          </a:p>
          <a:p>
            <a:endParaRPr kumimoji="1" lang="zh-CN" altLang="en-US" sz="2400" dirty="0"/>
          </a:p>
          <a:p>
            <a:endParaRPr kumimoji="1" lang="zh-CN" altLang="en-US" sz="2400" dirty="0"/>
          </a:p>
        </p:txBody>
      </p:sp>
    </p:spTree>
    <p:extLst>
      <p:ext uri="{BB962C8B-B14F-4D97-AF65-F5344CB8AC3E}">
        <p14:creationId xmlns:p14="http://schemas.microsoft.com/office/powerpoint/2010/main" val="38528131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087485-1A3F-7D4B-99A3-E832DAAF8281}"/>
              </a:ext>
            </a:extLst>
          </p:cNvPr>
          <p:cNvSpPr>
            <a:spLocks noGrp="1"/>
          </p:cNvSpPr>
          <p:nvPr>
            <p:ph type="title"/>
          </p:nvPr>
        </p:nvSpPr>
        <p:spPr/>
        <p:txBody>
          <a:bodyPr/>
          <a:lstStyle/>
          <a:p>
            <a:r>
              <a:rPr kumimoji="1" lang="zh-CN" altLang="en-US" dirty="0"/>
              <a:t>有超类的初始化顺序</a:t>
            </a:r>
          </a:p>
        </p:txBody>
      </p:sp>
      <p:sp>
        <p:nvSpPr>
          <p:cNvPr id="3" name="内容占位符 2">
            <a:extLst>
              <a:ext uri="{FF2B5EF4-FFF2-40B4-BE49-F238E27FC236}">
                <a16:creationId xmlns:a16="http://schemas.microsoft.com/office/drawing/2014/main" id="{01C50F99-C929-F04E-8760-3D2FA178C25C}"/>
              </a:ext>
            </a:extLst>
          </p:cNvPr>
          <p:cNvSpPr>
            <a:spLocks noGrp="1"/>
          </p:cNvSpPr>
          <p:nvPr>
            <p:ph idx="1"/>
          </p:nvPr>
        </p:nvSpPr>
        <p:spPr/>
        <p:txBody>
          <a:bodyPr>
            <a:normAutofit fontScale="25000" lnSpcReduction="20000"/>
          </a:bodyPr>
          <a:lstStyle/>
          <a:p>
            <a:pPr marL="0" indent="0">
              <a:buNone/>
            </a:pPr>
            <a:r>
              <a:rPr kumimoji="1" lang="zh-CN" altLang="en-US" sz="8000" dirty="0"/>
              <a:t>执行第一步，找出 </a:t>
            </a:r>
            <a:r>
              <a:rPr kumimoji="1" lang="en-US" altLang="zh-CN" sz="8000" dirty="0" err="1"/>
              <a:t>XX.class</a:t>
            </a:r>
            <a:r>
              <a:rPr kumimoji="1" lang="en-US" altLang="zh-CN" sz="8000" dirty="0"/>
              <a:t> </a:t>
            </a:r>
            <a:r>
              <a:rPr kumimoji="1" lang="zh-CN" altLang="en-US" sz="8000" dirty="0"/>
              <a:t>文件，接着在加载过程中发现他有一个基类</a:t>
            </a:r>
            <a:r>
              <a:rPr kumimoji="1" lang="en-US" altLang="zh-CN" sz="8000" dirty="0"/>
              <a:t>X(</a:t>
            </a:r>
            <a:r>
              <a:rPr kumimoji="1" lang="zh-CN" altLang="en-US" sz="8000" dirty="0"/>
              <a:t>通过 </a:t>
            </a:r>
            <a:r>
              <a:rPr kumimoji="1" lang="en-US" altLang="zh-CN" sz="8000" dirty="0"/>
              <a:t>extends </a:t>
            </a:r>
            <a:r>
              <a:rPr kumimoji="1" lang="zh-CN" altLang="en-US" sz="8000" dirty="0"/>
              <a:t>关键字 </a:t>
            </a:r>
            <a:r>
              <a:rPr kumimoji="1" lang="en-US" altLang="zh-CN" sz="8000" dirty="0"/>
              <a:t>)</a:t>
            </a:r>
            <a:r>
              <a:rPr kumimoji="1" lang="zh-CN" altLang="en-US" sz="8000" dirty="0"/>
              <a:t>，于是先加载 </a:t>
            </a:r>
            <a:r>
              <a:rPr kumimoji="1" lang="en-US" altLang="zh-CN" sz="8000" dirty="0"/>
              <a:t>X</a:t>
            </a:r>
            <a:r>
              <a:rPr kumimoji="1" lang="zh-CN" altLang="en-US" sz="8000" dirty="0"/>
              <a:t>类，加载其静态变量和方法，加载结束之后再加载子类 </a:t>
            </a:r>
            <a:r>
              <a:rPr kumimoji="1" lang="en-US" altLang="zh-CN" sz="8000" dirty="0"/>
              <a:t>XX</a:t>
            </a:r>
            <a:r>
              <a:rPr kumimoji="1" lang="zh-CN" altLang="en-US" sz="8000" dirty="0"/>
              <a:t>的静态变量和方法。 </a:t>
            </a:r>
          </a:p>
          <a:p>
            <a:endParaRPr kumimoji="1" lang="zh-CN" altLang="en-US" sz="8000" dirty="0"/>
          </a:p>
          <a:p>
            <a:pPr marL="0" indent="0">
              <a:buNone/>
            </a:pPr>
            <a:r>
              <a:rPr kumimoji="1" lang="zh-CN" altLang="en-US" sz="8000" dirty="0"/>
              <a:t>如果 </a:t>
            </a:r>
            <a:r>
              <a:rPr kumimoji="1" lang="en-US" altLang="zh-CN" sz="8000" dirty="0"/>
              <a:t>X </a:t>
            </a:r>
            <a:r>
              <a:rPr kumimoji="1" lang="zh-CN" altLang="en-US" sz="8000" dirty="0"/>
              <a:t>类还有父类就以此类推，最终的基类叫做根基类。</a:t>
            </a:r>
          </a:p>
          <a:p>
            <a:endParaRPr kumimoji="1" lang="zh-CN" altLang="en-US" sz="8000" dirty="0"/>
          </a:p>
          <a:p>
            <a:pPr marL="0" indent="0">
              <a:buNone/>
            </a:pPr>
            <a:r>
              <a:rPr kumimoji="1" lang="zh-CN" altLang="en-US" sz="8000" dirty="0"/>
              <a:t>注意：因为子类的 </a:t>
            </a:r>
            <a:r>
              <a:rPr kumimoji="1" lang="en-US" altLang="zh-CN" sz="8000" dirty="0"/>
              <a:t>static </a:t>
            </a:r>
            <a:r>
              <a:rPr kumimoji="1" lang="zh-CN" altLang="en-US" sz="8000" dirty="0"/>
              <a:t>初始化可能会依赖于父类的静态资源，所以要先加载父类的静态资源。</a:t>
            </a:r>
          </a:p>
          <a:p>
            <a:pPr marL="0" indent="0">
              <a:buNone/>
            </a:pPr>
            <a:r>
              <a:rPr kumimoji="1" lang="zh-CN" altLang="en-US" sz="8000" dirty="0"/>
              <a:t>接着要 </a:t>
            </a:r>
            <a:r>
              <a:rPr kumimoji="1" lang="en-US" altLang="zh-CN" sz="8000" dirty="0"/>
              <a:t>new XX </a:t>
            </a:r>
            <a:r>
              <a:rPr kumimoji="1" lang="zh-CN" altLang="en-US" sz="8000" dirty="0"/>
              <a:t>对象，先为 </a:t>
            </a:r>
            <a:r>
              <a:rPr kumimoji="1" lang="en-US" altLang="zh-CN" sz="8000" dirty="0"/>
              <a:t>XX </a:t>
            </a:r>
            <a:r>
              <a:rPr kumimoji="1" lang="zh-CN" altLang="en-US" sz="8000" dirty="0"/>
              <a:t>对象分配存储空间 </a:t>
            </a:r>
            <a:r>
              <a:rPr kumimoji="1" lang="en-US" altLang="zh-CN" sz="8000" dirty="0"/>
              <a:t>-&gt; </a:t>
            </a:r>
            <a:r>
              <a:rPr kumimoji="1" lang="zh-CN" altLang="en-US" sz="8000" dirty="0"/>
              <a:t>到 </a:t>
            </a:r>
            <a:r>
              <a:rPr kumimoji="1" lang="en-US" altLang="zh-CN" sz="8000" dirty="0"/>
              <a:t>XX </a:t>
            </a:r>
            <a:r>
              <a:rPr kumimoji="1" lang="zh-CN" altLang="en-US" sz="8000" dirty="0"/>
              <a:t>的构造方法 </a:t>
            </a:r>
            <a:r>
              <a:rPr kumimoji="1" lang="en-US" altLang="zh-CN" sz="8000" dirty="0"/>
              <a:t>-&gt; </a:t>
            </a:r>
            <a:r>
              <a:rPr kumimoji="1" lang="zh-CN" altLang="en-US" sz="8000" dirty="0"/>
              <a:t>创建默认的属性。这里其构造方法里面的第一行有个隐含的 </a:t>
            </a:r>
            <a:r>
              <a:rPr kumimoji="1" lang="en-US" altLang="zh-CN" sz="8000" dirty="0"/>
              <a:t>super()</a:t>
            </a:r>
            <a:r>
              <a:rPr kumimoji="1" lang="zh-CN" altLang="en-US" sz="8000" dirty="0"/>
              <a:t>，即父类构造方法，所以这时会跳转到父类 </a:t>
            </a:r>
            <a:r>
              <a:rPr kumimoji="1" lang="en-US" altLang="zh-CN" sz="8000" dirty="0"/>
              <a:t>X </a:t>
            </a:r>
            <a:r>
              <a:rPr kumimoji="1" lang="zh-CN" altLang="en-US" sz="8000" dirty="0"/>
              <a:t>的构造方法。</a:t>
            </a:r>
          </a:p>
          <a:p>
            <a:endParaRPr kumimoji="1" lang="en-US" altLang="zh-CN" sz="8000" dirty="0"/>
          </a:p>
          <a:p>
            <a:endParaRPr kumimoji="1" lang="zh-CN" altLang="en-US" sz="8000" dirty="0"/>
          </a:p>
        </p:txBody>
      </p:sp>
    </p:spTree>
    <p:extLst>
      <p:ext uri="{BB962C8B-B14F-4D97-AF65-F5344CB8AC3E}">
        <p14:creationId xmlns:p14="http://schemas.microsoft.com/office/powerpoint/2010/main" val="12918672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88D1A17-1947-AC45-BE6A-E7BA0B041D93}"/>
              </a:ext>
            </a:extLst>
          </p:cNvPr>
          <p:cNvSpPr>
            <a:spLocks noGrp="1"/>
          </p:cNvSpPr>
          <p:nvPr>
            <p:ph idx="1"/>
          </p:nvPr>
        </p:nvSpPr>
        <p:spPr/>
        <p:txBody>
          <a:bodyPr>
            <a:normAutofit fontScale="47500" lnSpcReduction="20000"/>
          </a:bodyPr>
          <a:lstStyle/>
          <a:p>
            <a:pPr marL="0" indent="0">
              <a:buNone/>
            </a:pPr>
            <a:endParaRPr kumimoji="1" lang="en-US" altLang="zh-CN" dirty="0"/>
          </a:p>
          <a:p>
            <a:pPr marL="0" indent="0">
              <a:buNone/>
            </a:pPr>
            <a:r>
              <a:rPr kumimoji="1" lang="en-US" altLang="zh-CN" dirty="0"/>
              <a:t>XX () { </a:t>
            </a:r>
          </a:p>
          <a:p>
            <a:endParaRPr kumimoji="1" lang="en-US" altLang="zh-CN" dirty="0"/>
          </a:p>
          <a:p>
            <a:pPr marL="0" indent="0">
              <a:buNone/>
            </a:pPr>
            <a:r>
              <a:rPr kumimoji="1" lang="en-US" altLang="zh-CN" dirty="0"/>
              <a:t>    //</a:t>
            </a:r>
            <a:r>
              <a:rPr kumimoji="1" lang="zh-CN" altLang="en-US" dirty="0"/>
              <a:t>创建默认的属性和方法 </a:t>
            </a:r>
          </a:p>
          <a:p>
            <a:endParaRPr kumimoji="1" lang="zh-CN" altLang="en-US" dirty="0"/>
          </a:p>
          <a:p>
            <a:pPr marL="0" indent="0">
              <a:buNone/>
            </a:pPr>
            <a:r>
              <a:rPr kumimoji="1" lang="zh-CN" altLang="en-US" dirty="0"/>
              <a:t>    </a:t>
            </a:r>
            <a:r>
              <a:rPr kumimoji="1" lang="en-US" altLang="zh-CN" dirty="0"/>
              <a:t>//</a:t>
            </a:r>
            <a:r>
              <a:rPr kumimoji="1" lang="zh-CN" altLang="en-US" dirty="0"/>
              <a:t>调用父类的构造函数</a:t>
            </a:r>
            <a:r>
              <a:rPr kumimoji="1" lang="en-US" altLang="zh-CN" dirty="0"/>
              <a:t>super()</a:t>
            </a:r>
            <a:r>
              <a:rPr kumimoji="1" lang="zh-CN" altLang="en-US" dirty="0"/>
              <a:t>（可显式写出） </a:t>
            </a:r>
          </a:p>
          <a:p>
            <a:endParaRPr kumimoji="1" lang="zh-CN" altLang="en-US" dirty="0"/>
          </a:p>
          <a:p>
            <a:pPr marL="0" indent="0">
              <a:buNone/>
            </a:pPr>
            <a:r>
              <a:rPr kumimoji="1" lang="zh-CN" altLang="en-US" dirty="0"/>
              <a:t>    </a:t>
            </a:r>
            <a:r>
              <a:rPr kumimoji="1" lang="en-US" altLang="zh-CN" dirty="0"/>
              <a:t>//</a:t>
            </a:r>
            <a:r>
              <a:rPr kumimoji="1" lang="zh-CN" altLang="en-US" dirty="0"/>
              <a:t>对默认属性和方法分别进行赋值和初始化 </a:t>
            </a:r>
          </a:p>
          <a:p>
            <a:endParaRPr kumimoji="1" lang="zh-CN" altLang="en-US" dirty="0"/>
          </a:p>
          <a:p>
            <a:pPr marL="0" indent="0">
              <a:buNone/>
            </a:pPr>
            <a:r>
              <a:rPr kumimoji="1" lang="en-US" altLang="zh-CN" dirty="0"/>
              <a:t>}</a:t>
            </a:r>
          </a:p>
          <a:p>
            <a:endParaRPr kumimoji="1" lang="en-US" altLang="zh-CN" dirty="0"/>
          </a:p>
          <a:p>
            <a:pPr marL="0" indent="0">
              <a:buNone/>
            </a:pPr>
            <a:r>
              <a:rPr kumimoji="1" lang="zh-CN" altLang="en-US" dirty="0"/>
              <a:t>注意：父类 执行构造方法前也是分配存储空间 </a:t>
            </a:r>
            <a:r>
              <a:rPr kumimoji="1" lang="en-US" altLang="zh-CN" dirty="0"/>
              <a:t>-&gt; </a:t>
            </a:r>
            <a:r>
              <a:rPr kumimoji="1" lang="zh-CN" altLang="en-US" dirty="0"/>
              <a:t>到其构造方法 </a:t>
            </a:r>
            <a:r>
              <a:rPr kumimoji="1" lang="en-US" altLang="zh-CN" dirty="0"/>
              <a:t>-&gt; </a:t>
            </a:r>
            <a:r>
              <a:rPr kumimoji="1" lang="zh-CN" altLang="en-US" dirty="0"/>
              <a:t>创建默认的属性 </a:t>
            </a:r>
            <a:r>
              <a:rPr kumimoji="1" lang="en-US" altLang="zh-CN" dirty="0"/>
              <a:t>-&gt; </a:t>
            </a:r>
            <a:r>
              <a:rPr kumimoji="1" lang="zh-CN" altLang="en-US" dirty="0"/>
              <a:t>发现已经没有父类了，这个时候就给它的默认的属性赋值和方法的初始化。</a:t>
            </a:r>
          </a:p>
          <a:p>
            <a:endParaRPr kumimoji="1" lang="zh-CN" altLang="en-US" dirty="0"/>
          </a:p>
          <a:p>
            <a:pPr marL="0" indent="0">
              <a:buNone/>
            </a:pPr>
            <a:r>
              <a:rPr kumimoji="1" lang="zh-CN" altLang="en-US" dirty="0"/>
              <a:t>接着执行构造方法余下的部分，结束后跳转到子类 的构造方法。</a:t>
            </a:r>
          </a:p>
          <a:p>
            <a:endParaRPr kumimoji="1" lang="zh-CN" altLang="en-US" dirty="0"/>
          </a:p>
          <a:p>
            <a:pPr marL="0" indent="0">
              <a:buNone/>
            </a:pPr>
            <a:r>
              <a:rPr kumimoji="1" lang="zh-CN" altLang="en-US" dirty="0"/>
              <a:t>子类 对默认属性和方法分别进行赋值和初始化，接着完成构造方法接下来的部分。</a:t>
            </a:r>
          </a:p>
          <a:p>
            <a:endParaRPr kumimoji="1" lang="zh-CN" altLang="en-US" dirty="0"/>
          </a:p>
        </p:txBody>
      </p:sp>
    </p:spTree>
    <p:extLst>
      <p:ext uri="{BB962C8B-B14F-4D97-AF65-F5344CB8AC3E}">
        <p14:creationId xmlns:p14="http://schemas.microsoft.com/office/powerpoint/2010/main" val="1814218664"/>
      </p:ext>
    </p:extLst>
  </p:cSld>
  <p:clrMapOvr>
    <a:masterClrMapping/>
  </p:clrMapOvr>
</p:sld>
</file>

<file path=ppt/theme/theme1.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316</TotalTime>
  <Words>605</Words>
  <Application>Microsoft Macintosh PowerPoint</Application>
  <PresentationFormat>全屏显示(4:3)</PresentationFormat>
  <Paragraphs>44</Paragraphs>
  <Slides>14</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14</vt:i4>
      </vt:variant>
    </vt:vector>
  </HeadingPairs>
  <TitlesOfParts>
    <vt:vector size="17" baseType="lpstr">
      <vt:lpstr>Arial</vt:lpstr>
      <vt:lpstr>Calibri</vt:lpstr>
      <vt:lpstr>Office 主题</vt:lpstr>
      <vt:lpstr>JAVA内存分配简单示意</vt:lpstr>
      <vt:lpstr>JVM 内存分配原理</vt:lpstr>
      <vt:lpstr>PowerPoint 演示文稿</vt:lpstr>
      <vt:lpstr>PowerPoint 演示文稿</vt:lpstr>
      <vt:lpstr> </vt:lpstr>
      <vt:lpstr>PowerPoint 演示文稿</vt:lpstr>
      <vt:lpstr>PowerPoint 演示文稿</vt:lpstr>
      <vt:lpstr>PowerPoint 演示文稿</vt:lpstr>
      <vt:lpstr>PowerPoint 演示文稿</vt:lpstr>
      <vt:lpstr>PowerPoint 演示文稿</vt:lpstr>
      <vt:lpstr>JAVA对象初始化执行顺序</vt:lpstr>
      <vt:lpstr>对象加载顺序</vt:lpstr>
      <vt:lpstr>有超类的初始化顺序</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dc:title>
  <dc:creator>sunrainbow sun</dc:creator>
  <cp:lastModifiedBy>Microsoft Office User</cp:lastModifiedBy>
  <cp:revision>18</cp:revision>
  <dcterms:created xsi:type="dcterms:W3CDTF">2017-03-10T04:22:30Z</dcterms:created>
  <dcterms:modified xsi:type="dcterms:W3CDTF">2024-03-05T06:38:07Z</dcterms:modified>
</cp:coreProperties>
</file>