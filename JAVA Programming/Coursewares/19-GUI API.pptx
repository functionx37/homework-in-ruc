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2" r:id="rId2"/>
  </p:sldMasterIdLst>
  <p:sldIdLst>
    <p:sldId id="258" r:id="rId3"/>
    <p:sldId id="256" r:id="rId4"/>
    <p:sldId id="277" r:id="rId5"/>
    <p:sldId id="278" r:id="rId6"/>
    <p:sldId id="279" r:id="rId7"/>
    <p:sldId id="265" r:id="rId8"/>
    <p:sldId id="259" r:id="rId9"/>
    <p:sldId id="261" r:id="rId10"/>
    <p:sldId id="274" r:id="rId11"/>
    <p:sldId id="264" r:id="rId12"/>
    <p:sldId id="262" r:id="rId13"/>
    <p:sldId id="263" r:id="rId14"/>
    <p:sldId id="280" r:id="rId15"/>
    <p:sldId id="281" r:id="rId16"/>
    <p:sldId id="282" r:id="rId17"/>
    <p:sldId id="260" r:id="rId18"/>
    <p:sldId id="283" r:id="rId19"/>
    <p:sldId id="284" r:id="rId20"/>
    <p:sldId id="267" r:id="rId21"/>
    <p:sldId id="286" r:id="rId22"/>
    <p:sldId id="287" r:id="rId23"/>
    <p:sldId id="266" r:id="rId24"/>
    <p:sldId id="268" r:id="rId25"/>
    <p:sldId id="271" r:id="rId26"/>
    <p:sldId id="269" r:id="rId27"/>
    <p:sldId id="270" r:id="rId28"/>
    <p:sldId id="288" r:id="rId29"/>
    <p:sldId id="289" r:id="rId30"/>
    <p:sldId id="290" r:id="rId31"/>
    <p:sldId id="291" r:id="rId32"/>
    <p:sldId id="292" r:id="rId33"/>
    <p:sldId id="273" r:id="rId34"/>
    <p:sldId id="293" r:id="rId35"/>
    <p:sldId id="275" r:id="rId36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8"/>
    <p:restoredTop sz="94683"/>
  </p:normalViewPr>
  <p:slideViewPr>
    <p:cSldViewPr>
      <p:cViewPr varScale="1">
        <p:scale>
          <a:sx n="94" d="100"/>
          <a:sy n="94" d="100"/>
        </p:scale>
        <p:origin x="1624" y="1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theme" Target="theme/theme1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8" Type="http://schemas.openxmlformats.org/officeDocument/2006/relationships/slide" Target="slides/slide6.xml"/><Relationship Id="rId3" Type="http://schemas.openxmlformats.org/officeDocument/2006/relationships/slide" Target="slides/slid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8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A9EEEDC-F40F-4A63-9580-80ADE972C86E}" type="datetimeFigureOut">
              <a:rPr lang="zh-CN" altLang="en-US" smtClean="0"/>
              <a:t>2024/4/2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28B7DB1-49F0-485C-87EF-089C7691A19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600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A9EEEDC-F40F-4A63-9580-80ADE972C86E}" type="datetimeFigureOut">
              <a:rPr lang="zh-CN" altLang="en-US" smtClean="0"/>
              <a:t>2024/4/2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28B7DB1-49F0-485C-87EF-089C7691A19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1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A9EEEDC-F40F-4A63-9580-80ADE972C86E}" type="datetimeFigureOut">
              <a:rPr lang="zh-CN" altLang="en-US" smtClean="0"/>
              <a:t>2024/4/2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28B7DB1-49F0-485C-87EF-089C7691A19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A9EEEDC-F40F-4A63-9580-80ADE972C86E}" type="datetimeFigureOut">
              <a:rPr lang="zh-CN" altLang="en-US" smtClean="0"/>
              <a:t>2024/4/2</a:t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28B7DB1-49F0-485C-87EF-089C7691A19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9" y="1535113"/>
            <a:ext cx="4041775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9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A9EEEDC-F40F-4A63-9580-80ADE972C86E}" type="datetimeFigureOut">
              <a:rPr lang="zh-CN" altLang="en-US" smtClean="0"/>
              <a:t>2024/4/2</a:t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28B7DB1-49F0-485C-87EF-089C7691A19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A9EEEDC-F40F-4A63-9580-80ADE972C86E}" type="datetimeFigureOut">
              <a:rPr lang="zh-CN" altLang="en-US" smtClean="0"/>
              <a:t>2024/4/2</a:t>
            </a:fld>
            <a:endParaRPr lang="zh-CN" altLang="en-US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28B7DB1-49F0-485C-87EF-089C7691A19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A9EEEDC-F40F-4A63-9580-80ADE972C86E}" type="datetimeFigureOut">
              <a:rPr lang="zh-CN" altLang="en-US" smtClean="0"/>
              <a:t>2024/4/2</a:t>
            </a:fld>
            <a:endParaRPr lang="zh-CN" altLang="en-US"/>
          </a:p>
        </p:txBody>
      </p:sp>
      <p:sp>
        <p:nvSpPr>
          <p:cNvPr id="3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28B7DB1-49F0-485C-87EF-089C7691A19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4" y="273049"/>
            <a:ext cx="3008313" cy="11620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3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4" y="1435103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A9EEEDC-F40F-4A63-9580-80ADE972C86E}" type="datetimeFigureOut">
              <a:rPr lang="zh-CN" altLang="en-US" smtClean="0"/>
              <a:t>2024/4/2</a:t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28B7DB1-49F0-485C-87EF-089C7691A19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9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9"/>
            <a:ext cx="5486400" cy="8048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A9EEEDC-F40F-4A63-9580-80ADE972C86E}" type="datetimeFigureOut">
              <a:rPr lang="zh-CN" altLang="en-US" smtClean="0"/>
              <a:t>2024/4/2</a:t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28B7DB1-49F0-485C-87EF-089C7691A19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A9EEEDC-F40F-4A63-9580-80ADE972C86E}" type="datetimeFigureOut">
              <a:rPr lang="zh-CN" altLang="en-US" smtClean="0"/>
              <a:t>2024/4/2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28B7DB1-49F0-485C-87EF-089C7691A19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40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40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A9EEEDC-F40F-4A63-9580-80ADE972C86E}" type="datetimeFigureOut">
              <a:rPr lang="zh-CN" altLang="en-US" smtClean="0"/>
              <a:t>2024/4/2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28B7DB1-49F0-485C-87EF-089C7691A19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30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CFD0093-576E-467B-B962-99E1A744E17E}" type="datetimeFigureOut">
              <a:rPr lang="zh-CN" altLang="en-US"/>
              <a:pPr>
                <a:defRPr/>
              </a:pPr>
              <a:t>2024/4/2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A7A8581-4873-47CA-8339-DD7371799E86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5C6D08D-254E-4C16-9BDD-2CB403A3435F}" type="datetimeFigureOut">
              <a:rPr lang="zh-CN" altLang="en-US"/>
              <a:pPr>
                <a:defRPr/>
              </a:pPr>
              <a:t>2024/4/2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B6B5DAA-F314-4201-A885-F94350C78DF5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1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BFDD86F-CDAF-474B-9FB2-89F4E1DB95B0}" type="datetimeFigureOut">
              <a:rPr lang="zh-CN" altLang="en-US"/>
              <a:pPr>
                <a:defRPr/>
              </a:pPr>
              <a:t>2024/4/2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25F9244-E492-4E7F-8014-C42AB6E22D38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8D1C718-00B4-4F2E-8B01-D394E45EC67A}" type="datetimeFigureOut">
              <a:rPr lang="zh-CN" altLang="en-US"/>
              <a:pPr>
                <a:defRPr/>
              </a:pPr>
              <a:t>2024/4/2</a:t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6F9A6D-C430-4B93-AE78-0A62FBBD8FC9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33" y="1535113"/>
            <a:ext cx="4041775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33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08C617E-A9B1-47F9-B9A9-87483FDAC8D3}" type="datetimeFigureOut">
              <a:rPr lang="zh-CN" altLang="en-US"/>
              <a:pPr>
                <a:defRPr/>
              </a:pPr>
              <a:t>2024/4/2</a:t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EE4F1EF-4E26-4C56-9B88-FD593D373B84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B7389AD-0748-4B3C-8811-5DFFA51CED5D}" type="datetimeFigureOut">
              <a:rPr lang="zh-CN" altLang="en-US"/>
              <a:pPr>
                <a:defRPr/>
              </a:pPr>
              <a:t>2024/4/2</a:t>
            </a:fld>
            <a:endParaRPr lang="zh-CN" altLang="en-US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ACE0F20-CA7C-4D92-81FD-7E1D809D33F5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4FD782-AFAB-420A-8FC3-E90FC8D60F6A}" type="datetimeFigureOut">
              <a:rPr lang="zh-CN" altLang="en-US"/>
              <a:pPr>
                <a:defRPr/>
              </a:pPr>
              <a:t>2024/4/2</a:t>
            </a:fld>
            <a:endParaRPr lang="zh-CN" altLang="en-US"/>
          </a:p>
        </p:txBody>
      </p:sp>
      <p:sp>
        <p:nvSpPr>
          <p:cNvPr id="3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F1A5DAD-FC26-4B98-B59F-38A407A6EB14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8" y="273049"/>
            <a:ext cx="3008313" cy="11620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6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8" y="1435104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5A6FA3B-6958-4BA2-91DC-7BEE42D86237}" type="datetimeFigureOut">
              <a:rPr lang="zh-CN" altLang="en-US"/>
              <a:pPr>
                <a:defRPr/>
              </a:pPr>
              <a:t>2024/4/2</a:t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42F4D7F-6987-4FBB-8861-DE5388AE82F8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9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42"/>
            <a:ext cx="5486400" cy="8048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CE6B6D4-31F7-491F-A416-E134F3D25755}" type="datetimeFigureOut">
              <a:rPr lang="zh-CN" altLang="en-US"/>
              <a:pPr>
                <a:defRPr/>
              </a:pPr>
              <a:t>2024/4/2</a:t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B56BCD3-ACD3-4915-AAF5-E95C43368087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ED82DBD-F4DA-4F3D-8375-2CC882E5C4BD}" type="datetimeFigureOut">
              <a:rPr lang="zh-CN" altLang="en-US"/>
              <a:pPr>
                <a:defRPr/>
              </a:pPr>
              <a:t>2024/4/2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9746474-8646-4F3B-9765-6AA2597643E0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40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40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F30C6ED-1572-4AFD-969C-EAD6761B29D4}" type="datetimeFigureOut">
              <a:rPr lang="zh-CN" altLang="en-US"/>
              <a:pPr>
                <a:defRPr/>
              </a:pPr>
              <a:t>2024/4/2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E4B6592-189B-4FEE-91FE-2D98CF2508D9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0" y="2"/>
            <a:ext cx="9144000" cy="142875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24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051" name="标题占位符 1"/>
          <p:cNvSpPr>
            <a:spLocks noGrp="1"/>
          </p:cNvSpPr>
          <p:nvPr>
            <p:ph type="title"/>
          </p:nvPr>
        </p:nvSpPr>
        <p:spPr bwMode="auto">
          <a:xfrm>
            <a:off x="457200" y="275167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2052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457200" y="1600202"/>
            <a:ext cx="8229600" cy="45254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3"/>
            <a:ext cx="21336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fld id="{9A9EEEDC-F40F-4A63-9580-80ADE972C86E}" type="datetimeFigureOut">
              <a:rPr lang="zh-CN" altLang="en-US" smtClean="0"/>
              <a:t>2024/4/2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3"/>
            <a:ext cx="28956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3"/>
            <a:ext cx="21336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fld id="{928B7DB1-49F0-485C-87EF-089C7691A19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fontAlgn="base" hangingPunct="1">
        <a:spcBef>
          <a:spcPct val="0"/>
        </a:spcBef>
        <a:spcAft>
          <a:spcPct val="0"/>
        </a:spcAft>
        <a:defRPr sz="2400" b="1" kern="1200">
          <a:solidFill>
            <a:schemeClr val="bg1"/>
          </a:solidFill>
          <a:latin typeface="微软雅黑" pitchFamily="34" charset="-122"/>
          <a:ea typeface="微软雅黑" pitchFamily="34" charset="-122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bg1"/>
          </a:solidFill>
          <a:latin typeface="微软雅黑" pitchFamily="34" charset="-122"/>
          <a:ea typeface="微软雅黑" pitchFamily="34" charset="-122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bg1"/>
          </a:solidFill>
          <a:latin typeface="微软雅黑" pitchFamily="34" charset="-122"/>
          <a:ea typeface="微软雅黑" pitchFamily="34" charset="-122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bg1"/>
          </a:solidFill>
          <a:latin typeface="微软雅黑" pitchFamily="34" charset="-122"/>
          <a:ea typeface="微软雅黑" pitchFamily="34" charset="-122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bg1"/>
          </a:solidFill>
          <a:latin typeface="微软雅黑" pitchFamily="34" charset="-122"/>
          <a:ea typeface="微软雅黑" pitchFamily="34" charset="-122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9pPr>
    </p:titleStyle>
    <p:bodyStyle>
      <a:lvl1pPr marL="342900" indent="-342900" algn="l" rtl="0" eaLnBrk="1" fontAlgn="base" hangingPunct="1">
        <a:lnSpc>
          <a:spcPct val="150000"/>
        </a:lnSpc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微软雅黑" pitchFamily="34" charset="-122"/>
          <a:ea typeface="微软雅黑" pitchFamily="34" charset="-122"/>
          <a:cs typeface="+mn-cs"/>
        </a:defRPr>
      </a:lvl1pPr>
      <a:lvl2pPr marL="742950" indent="-285750" algn="l" rtl="0" eaLnBrk="1" fontAlgn="base" hangingPunct="1">
        <a:lnSpc>
          <a:spcPct val="150000"/>
        </a:lnSpc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微软雅黑" pitchFamily="34" charset="-122"/>
          <a:ea typeface="微软雅黑" pitchFamily="34" charset="-122"/>
          <a:cs typeface="+mn-cs"/>
        </a:defRPr>
      </a:lvl2pPr>
      <a:lvl3pPr marL="1143000" indent="-228600" algn="l" rtl="0" eaLnBrk="1" fontAlgn="base" hangingPunct="1">
        <a:lnSpc>
          <a:spcPct val="150000"/>
        </a:lnSpc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微软雅黑" pitchFamily="34" charset="-122"/>
          <a:ea typeface="微软雅黑" pitchFamily="34" charset="-122"/>
          <a:cs typeface="+mn-cs"/>
        </a:defRPr>
      </a:lvl3pPr>
      <a:lvl4pPr marL="1600200" indent="-228600" algn="l" rtl="0" eaLnBrk="1" fontAlgn="base" hangingPunct="1">
        <a:lnSpc>
          <a:spcPct val="150000"/>
        </a:lnSpc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微软雅黑" pitchFamily="34" charset="-122"/>
          <a:ea typeface="微软雅黑" pitchFamily="34" charset="-122"/>
          <a:cs typeface="+mn-cs"/>
        </a:defRPr>
      </a:lvl4pPr>
      <a:lvl5pPr marL="2057400" indent="-228600" algn="l" rtl="0" eaLnBrk="1" fontAlgn="base" hangingPunct="1">
        <a:lnSpc>
          <a:spcPct val="150000"/>
        </a:lnSpc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微软雅黑" pitchFamily="34" charset="-122"/>
          <a:ea typeface="微软雅黑" pitchFamily="34" charset="-122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/>
          </p:cNvSpPr>
          <p:nvPr>
            <p:ph type="title"/>
          </p:nvPr>
        </p:nvSpPr>
        <p:spPr bwMode="auto">
          <a:xfrm>
            <a:off x="457200" y="275167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457200" y="1600204"/>
            <a:ext cx="8229600" cy="45254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4"/>
            <a:ext cx="21336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itchFamily="34" charset="0"/>
                <a:ea typeface="宋体" pitchFamily="2" charset="-122"/>
              </a:defRPr>
            </a:lvl1pPr>
          </a:lstStyle>
          <a:p>
            <a:pPr>
              <a:defRPr/>
            </a:pPr>
            <a:fld id="{644CF135-CD95-44F1-8454-15341B964199}" type="datetimeFigureOut">
              <a:rPr lang="zh-CN" altLang="en-US"/>
              <a:pPr>
                <a:defRPr/>
              </a:pPr>
              <a:t>2024/4/2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4"/>
            <a:ext cx="28956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pitchFamily="34" charset="0"/>
                <a:ea typeface="宋体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4"/>
            <a:ext cx="21336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pitchFamily="34" charset="0"/>
                <a:ea typeface="宋体" pitchFamily="2" charset="-122"/>
              </a:defRPr>
            </a:lvl1pPr>
          </a:lstStyle>
          <a:p>
            <a:pPr>
              <a:defRPr/>
            </a:pPr>
            <a:fld id="{5B4EA391-E530-4487-AF14-F97E23C3A138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>
            <a:grpSpLocks/>
          </p:cNvGrpSpPr>
          <p:nvPr/>
        </p:nvGrpSpPr>
        <p:grpSpPr bwMode="auto">
          <a:xfrm>
            <a:off x="0" y="1"/>
            <a:ext cx="9144000" cy="4519084"/>
            <a:chOff x="0" y="0"/>
            <a:chExt cx="9144000" cy="4518000"/>
          </a:xfrm>
        </p:grpSpPr>
        <p:sp>
          <p:nvSpPr>
            <p:cNvPr id="14" name="矩形 13"/>
            <p:cNvSpPr/>
            <p:nvPr/>
          </p:nvSpPr>
          <p:spPr>
            <a:xfrm>
              <a:off x="0" y="0"/>
              <a:ext cx="9144000" cy="4355055"/>
            </a:xfrm>
            <a:prstGeom prst="rect">
              <a:avLst/>
            </a:prstGeom>
            <a:solidFill>
              <a:srgbClr val="31BFA7"/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kern="0">
                <a:solidFill>
                  <a:sysClr val="window" lastClr="FFFFFF"/>
                </a:solidFill>
                <a:latin typeface="Calibri"/>
                <a:ea typeface="宋体"/>
              </a:endParaRPr>
            </a:p>
          </p:txBody>
        </p:sp>
        <p:sp>
          <p:nvSpPr>
            <p:cNvPr id="15" name="等腰三角形 14"/>
            <p:cNvSpPr/>
            <p:nvPr/>
          </p:nvSpPr>
          <p:spPr>
            <a:xfrm flipV="1">
              <a:off x="4068763" y="4355055"/>
              <a:ext cx="1006475" cy="162945"/>
            </a:xfrm>
            <a:prstGeom prst="triangle">
              <a:avLst/>
            </a:prstGeom>
            <a:solidFill>
              <a:srgbClr val="31BFA7"/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kern="0">
                <a:solidFill>
                  <a:sysClr val="window" lastClr="FFFFFF"/>
                </a:solidFill>
                <a:latin typeface="Calibri"/>
                <a:ea typeface="宋体"/>
              </a:endParaRPr>
            </a:p>
          </p:txBody>
        </p:sp>
      </p:grpSp>
      <p:cxnSp>
        <p:nvCxnSpPr>
          <p:cNvPr id="16" name="直接连接符 15"/>
          <p:cNvCxnSpPr/>
          <p:nvPr/>
        </p:nvCxnSpPr>
        <p:spPr>
          <a:xfrm>
            <a:off x="70200" y="6225117"/>
            <a:ext cx="9003600" cy="0"/>
          </a:xfrm>
          <a:prstGeom prst="line">
            <a:avLst/>
          </a:prstGeom>
          <a:noFill/>
          <a:ln w="22225" cap="flat" cmpd="sng" algn="ctr">
            <a:gradFill>
              <a:gsLst>
                <a:gs pos="0">
                  <a:sysClr val="window" lastClr="FFFFFF">
                    <a:alpha val="0"/>
                  </a:sysClr>
                </a:gs>
                <a:gs pos="33000">
                  <a:srgbClr val="31BFA7"/>
                </a:gs>
                <a:gs pos="67000">
                  <a:srgbClr val="31BFA7"/>
                </a:gs>
                <a:gs pos="100000">
                  <a:sysClr val="window" lastClr="FFFFFF">
                    <a:alpha val="0"/>
                  </a:sysClr>
                </a:gs>
              </a:gsLst>
              <a:lin ang="10800000" scaled="0"/>
            </a:gradFill>
            <a:prstDash val="solid"/>
          </a:ln>
          <a:effectLst/>
        </p:spPr>
      </p:cxnSp>
      <p:sp>
        <p:nvSpPr>
          <p:cNvPr id="17" name="文本框 7"/>
          <p:cNvSpPr txBox="1">
            <a:spLocks noChangeArrowheads="1"/>
          </p:cNvSpPr>
          <p:nvPr/>
        </p:nvSpPr>
        <p:spPr bwMode="auto">
          <a:xfrm>
            <a:off x="450850" y="2762251"/>
            <a:ext cx="8121650" cy="6309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fontAlgn="auto">
              <a:lnSpc>
                <a:spcPts val="42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4400" b="1" kern="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图形用户界面程序设计入门</a:t>
            </a:r>
          </a:p>
        </p:txBody>
      </p:sp>
      <p:sp>
        <p:nvSpPr>
          <p:cNvPr id="8" name="副标题 7"/>
          <p:cNvSpPr>
            <a:spLocks noGrp="1"/>
          </p:cNvSpPr>
          <p:nvPr>
            <p:ph type="subTitle" idx="1"/>
          </p:nvPr>
        </p:nvSpPr>
        <p:spPr>
          <a:xfrm>
            <a:off x="1371600" y="4845051"/>
            <a:ext cx="6400800" cy="1752600"/>
          </a:xfrm>
        </p:spPr>
        <p:txBody>
          <a:bodyPr/>
          <a:lstStyle/>
          <a:p>
            <a:pPr>
              <a:defRPr/>
            </a:pPr>
            <a:r>
              <a:rPr lang="zh-CN" altLang="en-US" sz="2800" dirty="0"/>
              <a:t>中国人民大学信息学院   孙彩虹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8B87D698-4636-6848-B516-65A2EB738116}"/>
              </a:ext>
            </a:extLst>
          </p:cNvPr>
          <p:cNvGrpSpPr/>
          <p:nvPr/>
        </p:nvGrpSpPr>
        <p:grpSpPr>
          <a:xfrm>
            <a:off x="431540" y="1313384"/>
            <a:ext cx="8761866" cy="5544616"/>
            <a:chOff x="35496" y="1052736"/>
            <a:chExt cx="9447578" cy="6048672"/>
          </a:xfrm>
        </p:grpSpPr>
        <p:sp>
          <p:nvSpPr>
            <p:cNvPr id="4" name="矩形 3"/>
            <p:cNvSpPr/>
            <p:nvPr/>
          </p:nvSpPr>
          <p:spPr>
            <a:xfrm>
              <a:off x="35496" y="3212976"/>
              <a:ext cx="936104" cy="36004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dirty="0"/>
                <a:t>Object</a:t>
              </a:r>
              <a:endParaRPr lang="zh-CN" altLang="en-US" sz="1600" dirty="0"/>
            </a:p>
          </p:txBody>
        </p:sp>
        <p:sp>
          <p:nvSpPr>
            <p:cNvPr id="6" name="矩形 5"/>
            <p:cNvSpPr/>
            <p:nvPr/>
          </p:nvSpPr>
          <p:spPr>
            <a:xfrm>
              <a:off x="1619672" y="1412776"/>
              <a:ext cx="1296144" cy="36004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dirty="0"/>
                <a:t>Dimension</a:t>
              </a:r>
              <a:endParaRPr lang="zh-CN" altLang="en-US" sz="1600" dirty="0"/>
            </a:p>
          </p:txBody>
        </p:sp>
        <p:sp>
          <p:nvSpPr>
            <p:cNvPr id="7" name="矩形 6"/>
            <p:cNvSpPr/>
            <p:nvPr/>
          </p:nvSpPr>
          <p:spPr>
            <a:xfrm>
              <a:off x="1619672" y="2132856"/>
              <a:ext cx="936104" cy="36004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dirty="0"/>
                <a:t>Font</a:t>
              </a:r>
              <a:endParaRPr lang="zh-CN" altLang="en-US" sz="1600" dirty="0"/>
            </a:p>
          </p:txBody>
        </p:sp>
        <p:sp>
          <p:nvSpPr>
            <p:cNvPr id="8" name="矩形 7"/>
            <p:cNvSpPr/>
            <p:nvPr/>
          </p:nvSpPr>
          <p:spPr>
            <a:xfrm>
              <a:off x="1619672" y="2780928"/>
              <a:ext cx="1512168" cy="36004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dirty="0" err="1"/>
                <a:t>FontMetrics</a:t>
              </a:r>
              <a:endParaRPr lang="zh-CN" altLang="en-US" sz="1600" dirty="0"/>
            </a:p>
          </p:txBody>
        </p:sp>
        <p:sp>
          <p:nvSpPr>
            <p:cNvPr id="9" name="矩形 8"/>
            <p:cNvSpPr/>
            <p:nvPr/>
          </p:nvSpPr>
          <p:spPr>
            <a:xfrm>
              <a:off x="1619672" y="3429000"/>
              <a:ext cx="936104" cy="36004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dirty="0"/>
                <a:t>Color</a:t>
              </a:r>
              <a:endParaRPr lang="zh-CN" altLang="en-US" sz="1600" dirty="0"/>
            </a:p>
          </p:txBody>
        </p:sp>
        <p:sp>
          <p:nvSpPr>
            <p:cNvPr id="10" name="矩形 9"/>
            <p:cNvSpPr/>
            <p:nvPr/>
          </p:nvSpPr>
          <p:spPr>
            <a:xfrm>
              <a:off x="1619672" y="4077072"/>
              <a:ext cx="1152128" cy="36004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dirty="0"/>
                <a:t>Graphics</a:t>
              </a:r>
              <a:endParaRPr lang="zh-CN" altLang="en-US" sz="1600" dirty="0"/>
            </a:p>
          </p:txBody>
        </p:sp>
        <p:sp>
          <p:nvSpPr>
            <p:cNvPr id="11" name="矩形 10"/>
            <p:cNvSpPr/>
            <p:nvPr/>
          </p:nvSpPr>
          <p:spPr>
            <a:xfrm>
              <a:off x="1619672" y="4725144"/>
              <a:ext cx="1440160" cy="36004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dirty="0"/>
                <a:t>Component</a:t>
              </a:r>
              <a:endParaRPr lang="zh-CN" altLang="en-US" sz="1600" dirty="0"/>
            </a:p>
          </p:txBody>
        </p:sp>
        <p:sp>
          <p:nvSpPr>
            <p:cNvPr id="12" name="矩形 11"/>
            <p:cNvSpPr/>
            <p:nvPr/>
          </p:nvSpPr>
          <p:spPr>
            <a:xfrm>
              <a:off x="3419872" y="4797152"/>
              <a:ext cx="1152128" cy="36004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dirty="0"/>
                <a:t>Container</a:t>
              </a:r>
              <a:endParaRPr lang="zh-CN" altLang="en-US" sz="1600" dirty="0"/>
            </a:p>
          </p:txBody>
        </p:sp>
        <p:sp>
          <p:nvSpPr>
            <p:cNvPr id="13" name="矩形 12"/>
            <p:cNvSpPr/>
            <p:nvPr/>
          </p:nvSpPr>
          <p:spPr>
            <a:xfrm>
              <a:off x="3275856" y="1412776"/>
              <a:ext cx="1728192" cy="36004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dirty="0" err="1"/>
                <a:t>LayoutManager</a:t>
              </a:r>
              <a:endParaRPr lang="zh-CN" altLang="en-US" sz="1600" dirty="0"/>
            </a:p>
          </p:txBody>
        </p:sp>
        <p:sp>
          <p:nvSpPr>
            <p:cNvPr id="14" name="矩形 13"/>
            <p:cNvSpPr/>
            <p:nvPr/>
          </p:nvSpPr>
          <p:spPr>
            <a:xfrm>
              <a:off x="5004048" y="3573016"/>
              <a:ext cx="936104" cy="36004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dirty="0"/>
                <a:t>Panel</a:t>
              </a:r>
              <a:endParaRPr lang="zh-CN" altLang="en-US" sz="1600" dirty="0"/>
            </a:p>
          </p:txBody>
        </p:sp>
        <p:sp>
          <p:nvSpPr>
            <p:cNvPr id="15" name="矩形 14"/>
            <p:cNvSpPr/>
            <p:nvPr/>
          </p:nvSpPr>
          <p:spPr>
            <a:xfrm>
              <a:off x="4932040" y="4797152"/>
              <a:ext cx="1008112" cy="36004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dirty="0"/>
                <a:t>Window</a:t>
              </a:r>
              <a:endParaRPr lang="zh-CN" altLang="en-US" sz="1600" dirty="0"/>
            </a:p>
          </p:txBody>
        </p:sp>
        <p:sp>
          <p:nvSpPr>
            <p:cNvPr id="16" name="矩形 15"/>
            <p:cNvSpPr/>
            <p:nvPr/>
          </p:nvSpPr>
          <p:spPr>
            <a:xfrm>
              <a:off x="4932040" y="6525344"/>
              <a:ext cx="1440160" cy="36004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dirty="0" err="1"/>
                <a:t>JComponent</a:t>
              </a:r>
              <a:endParaRPr lang="zh-CN" altLang="en-US" sz="1600" dirty="0"/>
            </a:p>
          </p:txBody>
        </p:sp>
        <p:sp>
          <p:nvSpPr>
            <p:cNvPr id="17" name="矩形 16"/>
            <p:cNvSpPr/>
            <p:nvPr/>
          </p:nvSpPr>
          <p:spPr>
            <a:xfrm>
              <a:off x="6300192" y="3573016"/>
              <a:ext cx="936104" cy="36004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dirty="0"/>
                <a:t>Applet</a:t>
              </a:r>
              <a:endParaRPr lang="zh-CN" altLang="en-US" sz="1600" dirty="0"/>
            </a:p>
          </p:txBody>
        </p:sp>
        <p:sp>
          <p:nvSpPr>
            <p:cNvPr id="18" name="矩形 17"/>
            <p:cNvSpPr/>
            <p:nvPr/>
          </p:nvSpPr>
          <p:spPr>
            <a:xfrm>
              <a:off x="6300192" y="4768008"/>
              <a:ext cx="936104" cy="36004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dirty="0"/>
                <a:t>Frame</a:t>
              </a:r>
              <a:endParaRPr lang="zh-CN" altLang="en-US" sz="1600" dirty="0"/>
            </a:p>
          </p:txBody>
        </p:sp>
        <p:sp>
          <p:nvSpPr>
            <p:cNvPr id="19" name="矩形 18"/>
            <p:cNvSpPr/>
            <p:nvPr/>
          </p:nvSpPr>
          <p:spPr>
            <a:xfrm>
              <a:off x="7884368" y="5517232"/>
              <a:ext cx="936104" cy="36004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dirty="0" err="1"/>
                <a:t>JDialog</a:t>
              </a:r>
              <a:endParaRPr lang="zh-CN" altLang="en-US" sz="1600" dirty="0"/>
            </a:p>
          </p:txBody>
        </p:sp>
        <p:sp>
          <p:nvSpPr>
            <p:cNvPr id="20" name="矩形 19"/>
            <p:cNvSpPr/>
            <p:nvPr/>
          </p:nvSpPr>
          <p:spPr>
            <a:xfrm>
              <a:off x="7884368" y="3573016"/>
              <a:ext cx="936104" cy="36004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dirty="0" err="1"/>
                <a:t>JApplet</a:t>
              </a:r>
              <a:endParaRPr lang="zh-CN" altLang="en-US" sz="1600" dirty="0"/>
            </a:p>
          </p:txBody>
        </p:sp>
        <p:sp>
          <p:nvSpPr>
            <p:cNvPr id="21" name="矩形 20"/>
            <p:cNvSpPr/>
            <p:nvPr/>
          </p:nvSpPr>
          <p:spPr>
            <a:xfrm>
              <a:off x="7884368" y="4782296"/>
              <a:ext cx="936104" cy="36004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dirty="0" err="1"/>
                <a:t>JFrame</a:t>
              </a:r>
              <a:endParaRPr lang="zh-CN" altLang="en-US" sz="1600" dirty="0"/>
            </a:p>
          </p:txBody>
        </p:sp>
        <p:sp>
          <p:nvSpPr>
            <p:cNvPr id="22" name="矩形 21"/>
            <p:cNvSpPr/>
            <p:nvPr/>
          </p:nvSpPr>
          <p:spPr>
            <a:xfrm>
              <a:off x="6300192" y="5445224"/>
              <a:ext cx="936104" cy="36004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dirty="0"/>
                <a:t>Dialog</a:t>
              </a:r>
              <a:endParaRPr lang="zh-CN" altLang="en-US" sz="1600" dirty="0"/>
            </a:p>
          </p:txBody>
        </p:sp>
        <p:cxnSp>
          <p:nvCxnSpPr>
            <p:cNvPr id="26" name="直接连接符 25"/>
            <p:cNvCxnSpPr/>
            <p:nvPr/>
          </p:nvCxnSpPr>
          <p:spPr>
            <a:xfrm>
              <a:off x="1331640" y="1628800"/>
              <a:ext cx="0" cy="324036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直接连接符 35"/>
            <p:cNvCxnSpPr/>
            <p:nvPr/>
          </p:nvCxnSpPr>
          <p:spPr>
            <a:xfrm>
              <a:off x="1331640" y="1628800"/>
              <a:ext cx="288032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直接连接符 38"/>
            <p:cNvCxnSpPr/>
            <p:nvPr/>
          </p:nvCxnSpPr>
          <p:spPr>
            <a:xfrm>
              <a:off x="1331640" y="2348880"/>
              <a:ext cx="288032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直接连接符 39"/>
            <p:cNvCxnSpPr/>
            <p:nvPr/>
          </p:nvCxnSpPr>
          <p:spPr>
            <a:xfrm>
              <a:off x="1331640" y="2968376"/>
              <a:ext cx="288032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直接连接符 40"/>
            <p:cNvCxnSpPr/>
            <p:nvPr/>
          </p:nvCxnSpPr>
          <p:spPr>
            <a:xfrm>
              <a:off x="1331640" y="3630168"/>
              <a:ext cx="288032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直接连接符 41"/>
            <p:cNvCxnSpPr/>
            <p:nvPr/>
          </p:nvCxnSpPr>
          <p:spPr>
            <a:xfrm>
              <a:off x="1331640" y="4293096"/>
              <a:ext cx="288032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直接连接符 42"/>
            <p:cNvCxnSpPr/>
            <p:nvPr/>
          </p:nvCxnSpPr>
          <p:spPr>
            <a:xfrm>
              <a:off x="1331640" y="4869160"/>
              <a:ext cx="288032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1" name="等腰三角形 60"/>
            <p:cNvSpPr/>
            <p:nvPr/>
          </p:nvSpPr>
          <p:spPr>
            <a:xfrm rot="-5400000">
              <a:off x="899592" y="3284984"/>
              <a:ext cx="288032" cy="144016"/>
            </a:xfrm>
            <a:prstGeom prst="triangl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/>
            </a:p>
          </p:txBody>
        </p:sp>
        <p:cxnSp>
          <p:nvCxnSpPr>
            <p:cNvPr id="63" name="直接连接符 62"/>
            <p:cNvCxnSpPr>
              <a:stCxn id="61" idx="3"/>
            </p:cNvCxnSpPr>
            <p:nvPr/>
          </p:nvCxnSpPr>
          <p:spPr>
            <a:xfrm>
              <a:off x="1115616" y="3356992"/>
              <a:ext cx="21602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4" name="等腰三角形 63"/>
            <p:cNvSpPr/>
            <p:nvPr/>
          </p:nvSpPr>
          <p:spPr>
            <a:xfrm rot="-5400000">
              <a:off x="2987824" y="4869160"/>
              <a:ext cx="288032" cy="144016"/>
            </a:xfrm>
            <a:prstGeom prst="triangl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/>
            </a:p>
          </p:txBody>
        </p:sp>
        <p:cxnSp>
          <p:nvCxnSpPr>
            <p:cNvPr id="65" name="直接连接符 64"/>
            <p:cNvCxnSpPr>
              <a:stCxn id="64" idx="3"/>
            </p:cNvCxnSpPr>
            <p:nvPr/>
          </p:nvCxnSpPr>
          <p:spPr>
            <a:xfrm>
              <a:off x="3203848" y="4941168"/>
              <a:ext cx="21602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6" name="等腰三角形 65"/>
            <p:cNvSpPr/>
            <p:nvPr/>
          </p:nvSpPr>
          <p:spPr>
            <a:xfrm rot="-5400000">
              <a:off x="4499992" y="4869160"/>
              <a:ext cx="288032" cy="144016"/>
            </a:xfrm>
            <a:prstGeom prst="triangl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/>
            </a:p>
          </p:txBody>
        </p:sp>
        <p:cxnSp>
          <p:nvCxnSpPr>
            <p:cNvPr id="67" name="直接连接符 66"/>
            <p:cNvCxnSpPr>
              <a:stCxn id="66" idx="3"/>
            </p:cNvCxnSpPr>
            <p:nvPr/>
          </p:nvCxnSpPr>
          <p:spPr>
            <a:xfrm>
              <a:off x="4716016" y="4941168"/>
              <a:ext cx="21602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8" name="等腰三角形 67"/>
            <p:cNvSpPr/>
            <p:nvPr/>
          </p:nvSpPr>
          <p:spPr>
            <a:xfrm rot="-5400000">
              <a:off x="5868144" y="3717032"/>
              <a:ext cx="288032" cy="144016"/>
            </a:xfrm>
            <a:prstGeom prst="triangl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/>
            </a:p>
          </p:txBody>
        </p:sp>
        <p:cxnSp>
          <p:nvCxnSpPr>
            <p:cNvPr id="69" name="直接连接符 68"/>
            <p:cNvCxnSpPr>
              <a:stCxn id="68" idx="3"/>
            </p:cNvCxnSpPr>
            <p:nvPr/>
          </p:nvCxnSpPr>
          <p:spPr>
            <a:xfrm>
              <a:off x="6084168" y="3789040"/>
              <a:ext cx="21602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0" name="等腰三角形 69"/>
            <p:cNvSpPr/>
            <p:nvPr/>
          </p:nvSpPr>
          <p:spPr>
            <a:xfrm rot="-5400000">
              <a:off x="5868144" y="4869160"/>
              <a:ext cx="288032" cy="144016"/>
            </a:xfrm>
            <a:prstGeom prst="triangl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/>
            </a:p>
          </p:txBody>
        </p:sp>
        <p:cxnSp>
          <p:nvCxnSpPr>
            <p:cNvPr id="71" name="直接连接符 70"/>
            <p:cNvCxnSpPr>
              <a:stCxn id="70" idx="3"/>
            </p:cNvCxnSpPr>
            <p:nvPr/>
          </p:nvCxnSpPr>
          <p:spPr>
            <a:xfrm>
              <a:off x="6084168" y="4941168"/>
              <a:ext cx="21602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2" name="等腰三角形 71"/>
            <p:cNvSpPr/>
            <p:nvPr/>
          </p:nvSpPr>
          <p:spPr>
            <a:xfrm rot="-5400000">
              <a:off x="7207720" y="3717032"/>
              <a:ext cx="288032" cy="144016"/>
            </a:xfrm>
            <a:prstGeom prst="triangl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/>
            </a:p>
          </p:txBody>
        </p:sp>
        <p:cxnSp>
          <p:nvCxnSpPr>
            <p:cNvPr id="73" name="直接连接符 72"/>
            <p:cNvCxnSpPr/>
            <p:nvPr/>
          </p:nvCxnSpPr>
          <p:spPr>
            <a:xfrm>
              <a:off x="7423744" y="3789040"/>
              <a:ext cx="432048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5" name="等腰三角形 74"/>
            <p:cNvSpPr/>
            <p:nvPr/>
          </p:nvSpPr>
          <p:spPr>
            <a:xfrm rot="-5400000">
              <a:off x="7164288" y="4869160"/>
              <a:ext cx="288032" cy="144016"/>
            </a:xfrm>
            <a:prstGeom prst="triangl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/>
            </a:p>
          </p:txBody>
        </p:sp>
        <p:cxnSp>
          <p:nvCxnSpPr>
            <p:cNvPr id="76" name="直接连接符 75"/>
            <p:cNvCxnSpPr/>
            <p:nvPr/>
          </p:nvCxnSpPr>
          <p:spPr>
            <a:xfrm>
              <a:off x="7380312" y="4941168"/>
              <a:ext cx="432048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7" name="等腰三角形 76"/>
            <p:cNvSpPr/>
            <p:nvPr/>
          </p:nvSpPr>
          <p:spPr>
            <a:xfrm rot="-5400000">
              <a:off x="7164288" y="5589240"/>
              <a:ext cx="288032" cy="144016"/>
            </a:xfrm>
            <a:prstGeom prst="triangl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/>
            </a:p>
          </p:txBody>
        </p:sp>
        <p:cxnSp>
          <p:nvCxnSpPr>
            <p:cNvPr id="78" name="直接连接符 77"/>
            <p:cNvCxnSpPr/>
            <p:nvPr/>
          </p:nvCxnSpPr>
          <p:spPr>
            <a:xfrm>
              <a:off x="7380312" y="5661248"/>
              <a:ext cx="432048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9" name="流程图: 决策 78"/>
            <p:cNvSpPr/>
            <p:nvPr/>
          </p:nvSpPr>
          <p:spPr>
            <a:xfrm>
              <a:off x="3822776" y="4581128"/>
              <a:ext cx="288032" cy="216024"/>
            </a:xfrm>
            <a:prstGeom prst="flowChartDecision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/>
            </a:p>
          </p:txBody>
        </p:sp>
        <p:sp>
          <p:nvSpPr>
            <p:cNvPr id="80" name="流程图: 决策 79"/>
            <p:cNvSpPr/>
            <p:nvPr/>
          </p:nvSpPr>
          <p:spPr>
            <a:xfrm>
              <a:off x="3860304" y="5157192"/>
              <a:ext cx="288032" cy="216024"/>
            </a:xfrm>
            <a:prstGeom prst="flowChartDecision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/>
            </a:p>
          </p:txBody>
        </p:sp>
        <p:cxnSp>
          <p:nvCxnSpPr>
            <p:cNvPr id="82" name="肘形连接符 81"/>
            <p:cNvCxnSpPr>
              <a:stCxn id="11" idx="2"/>
              <a:endCxn id="80" idx="2"/>
            </p:cNvCxnSpPr>
            <p:nvPr/>
          </p:nvCxnSpPr>
          <p:spPr>
            <a:xfrm rot="16200000" flipH="1">
              <a:off x="3028020" y="4396916"/>
              <a:ext cx="288032" cy="1664568"/>
            </a:xfrm>
            <a:prstGeom prst="bentConnector3">
              <a:avLst>
                <a:gd name="adj1" fmla="val 179366"/>
              </a:avLst>
            </a:prstGeom>
            <a:ln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直接连接符 83"/>
            <p:cNvCxnSpPr>
              <a:stCxn id="79" idx="0"/>
            </p:cNvCxnSpPr>
            <p:nvPr/>
          </p:nvCxnSpPr>
          <p:spPr>
            <a:xfrm flipV="1">
              <a:off x="3966792" y="1700808"/>
              <a:ext cx="29144" cy="288032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6" name="TextBox 85"/>
            <p:cNvSpPr txBox="1"/>
            <p:nvPr/>
          </p:nvSpPr>
          <p:spPr>
            <a:xfrm>
              <a:off x="2123728" y="5085184"/>
              <a:ext cx="30973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600" dirty="0"/>
                <a:t>*</a:t>
              </a:r>
              <a:endParaRPr lang="zh-CN" altLang="en-US" sz="1600" dirty="0"/>
            </a:p>
          </p:txBody>
        </p:sp>
        <p:sp>
          <p:nvSpPr>
            <p:cNvPr id="87" name="TextBox 86"/>
            <p:cNvSpPr txBox="1"/>
            <p:nvPr/>
          </p:nvSpPr>
          <p:spPr>
            <a:xfrm>
              <a:off x="3695854" y="1772816"/>
              <a:ext cx="31146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600" dirty="0"/>
                <a:t>1</a:t>
              </a:r>
              <a:endParaRPr lang="zh-CN" altLang="en-US" sz="1600" dirty="0"/>
            </a:p>
          </p:txBody>
        </p:sp>
        <p:sp>
          <p:nvSpPr>
            <p:cNvPr id="88" name="矩形 87"/>
            <p:cNvSpPr/>
            <p:nvPr/>
          </p:nvSpPr>
          <p:spPr>
            <a:xfrm>
              <a:off x="1187624" y="1052736"/>
              <a:ext cx="6336704" cy="4896544"/>
            </a:xfrm>
            <a:prstGeom prst="rect">
              <a:avLst/>
            </a:prstGeom>
            <a:noFill/>
            <a:ln w="6350"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/>
            </a:p>
          </p:txBody>
        </p:sp>
        <p:cxnSp>
          <p:nvCxnSpPr>
            <p:cNvPr id="90" name="直接连接符 89"/>
            <p:cNvCxnSpPr/>
            <p:nvPr/>
          </p:nvCxnSpPr>
          <p:spPr>
            <a:xfrm>
              <a:off x="4644008" y="6381328"/>
              <a:ext cx="0" cy="720080"/>
            </a:xfrm>
            <a:prstGeom prst="line">
              <a:avLst/>
            </a:prstGeom>
            <a:ln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直接连接符 91"/>
            <p:cNvCxnSpPr/>
            <p:nvPr/>
          </p:nvCxnSpPr>
          <p:spPr>
            <a:xfrm>
              <a:off x="4644008" y="6381328"/>
              <a:ext cx="3096344" cy="0"/>
            </a:xfrm>
            <a:prstGeom prst="line">
              <a:avLst/>
            </a:prstGeom>
            <a:ln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直接连接符 93"/>
            <p:cNvCxnSpPr/>
            <p:nvPr/>
          </p:nvCxnSpPr>
          <p:spPr>
            <a:xfrm>
              <a:off x="7740352" y="3284984"/>
              <a:ext cx="0" cy="3096344"/>
            </a:xfrm>
            <a:prstGeom prst="line">
              <a:avLst/>
            </a:prstGeom>
            <a:ln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直接连接符 96"/>
            <p:cNvCxnSpPr/>
            <p:nvPr/>
          </p:nvCxnSpPr>
          <p:spPr>
            <a:xfrm>
              <a:off x="7740352" y="3284984"/>
              <a:ext cx="1224136" cy="0"/>
            </a:xfrm>
            <a:prstGeom prst="line">
              <a:avLst/>
            </a:prstGeom>
            <a:ln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直接连接符 98"/>
            <p:cNvCxnSpPr/>
            <p:nvPr/>
          </p:nvCxnSpPr>
          <p:spPr>
            <a:xfrm>
              <a:off x="8964488" y="3284984"/>
              <a:ext cx="0" cy="3816424"/>
            </a:xfrm>
            <a:prstGeom prst="line">
              <a:avLst/>
            </a:prstGeom>
            <a:ln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直接连接符 100"/>
            <p:cNvCxnSpPr/>
            <p:nvPr/>
          </p:nvCxnSpPr>
          <p:spPr>
            <a:xfrm>
              <a:off x="4644008" y="7101408"/>
              <a:ext cx="432048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直接连接符 103"/>
            <p:cNvCxnSpPr/>
            <p:nvPr/>
          </p:nvCxnSpPr>
          <p:spPr>
            <a:xfrm>
              <a:off x="4788024" y="3717032"/>
              <a:ext cx="0" cy="302433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直接连接符 107"/>
            <p:cNvCxnSpPr/>
            <p:nvPr/>
          </p:nvCxnSpPr>
          <p:spPr>
            <a:xfrm>
              <a:off x="4788024" y="3717032"/>
              <a:ext cx="21602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直接连接符 108"/>
            <p:cNvCxnSpPr/>
            <p:nvPr/>
          </p:nvCxnSpPr>
          <p:spPr>
            <a:xfrm>
              <a:off x="4788024" y="6741368"/>
              <a:ext cx="21602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0" name="TextBox 109"/>
            <p:cNvSpPr txBox="1"/>
            <p:nvPr/>
          </p:nvSpPr>
          <p:spPr>
            <a:xfrm>
              <a:off x="4716016" y="2492896"/>
              <a:ext cx="188987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600" dirty="0"/>
                <a:t>包</a:t>
              </a:r>
              <a:r>
                <a:rPr lang="en-US" altLang="zh-CN" sz="1600" dirty="0"/>
                <a:t>java.awt</a:t>
              </a:r>
              <a:r>
                <a:rPr lang="zh-CN" altLang="en-US" sz="1600" dirty="0"/>
                <a:t>中的类</a:t>
              </a:r>
            </a:p>
          </p:txBody>
        </p:sp>
        <p:sp>
          <p:nvSpPr>
            <p:cNvPr id="111" name="TextBox 110"/>
            <p:cNvSpPr txBox="1"/>
            <p:nvPr/>
          </p:nvSpPr>
          <p:spPr>
            <a:xfrm>
              <a:off x="6372200" y="6542117"/>
              <a:ext cx="311087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600" dirty="0"/>
                <a:t>包</a:t>
              </a:r>
              <a:r>
                <a:rPr lang="en-US" altLang="zh-CN" sz="1600" dirty="0" err="1"/>
                <a:t>javax.swing</a:t>
              </a:r>
              <a:r>
                <a:rPr lang="zh-CN" altLang="en-US" sz="1600" dirty="0"/>
                <a:t>中的组件</a:t>
              </a:r>
              <a:r>
                <a:rPr lang="en-US" altLang="zh-CN" sz="1600" dirty="0"/>
                <a:t>(</a:t>
              </a:r>
              <a:r>
                <a:rPr lang="zh-CN" altLang="en-US" sz="1600" dirty="0"/>
                <a:t>接下页</a:t>
              </a:r>
              <a:r>
                <a:rPr lang="en-US" altLang="zh-CN" sz="1600" dirty="0"/>
                <a:t>)</a:t>
              </a:r>
              <a:endParaRPr lang="zh-CN" altLang="en-US" sz="1600" dirty="0"/>
            </a:p>
          </p:txBody>
        </p:sp>
        <p:sp>
          <p:nvSpPr>
            <p:cNvPr id="112" name="矩形 111"/>
            <p:cNvSpPr/>
            <p:nvPr/>
          </p:nvSpPr>
          <p:spPr>
            <a:xfrm>
              <a:off x="7783216" y="3501008"/>
              <a:ext cx="1080120" cy="2520280"/>
            </a:xfrm>
            <a:prstGeom prst="rect">
              <a:avLst/>
            </a:prstGeom>
            <a:noFill/>
            <a:ln w="6350"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/>
            </a:p>
          </p:txBody>
        </p:sp>
        <p:sp>
          <p:nvSpPr>
            <p:cNvPr id="113" name="矩形 112"/>
            <p:cNvSpPr/>
            <p:nvPr/>
          </p:nvSpPr>
          <p:spPr>
            <a:xfrm>
              <a:off x="7884368" y="4149080"/>
              <a:ext cx="936104" cy="36004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dirty="0" err="1"/>
                <a:t>JPanel</a:t>
              </a:r>
              <a:endParaRPr lang="zh-CN" altLang="en-US" sz="1600" dirty="0"/>
            </a:p>
          </p:txBody>
        </p:sp>
        <p:cxnSp>
          <p:nvCxnSpPr>
            <p:cNvPr id="117" name="直接连接符 116"/>
            <p:cNvCxnSpPr/>
            <p:nvPr/>
          </p:nvCxnSpPr>
          <p:spPr>
            <a:xfrm>
              <a:off x="6228184" y="3789040"/>
              <a:ext cx="0" cy="576064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直接连接符 118"/>
            <p:cNvCxnSpPr/>
            <p:nvPr/>
          </p:nvCxnSpPr>
          <p:spPr>
            <a:xfrm>
              <a:off x="6243040" y="4363968"/>
              <a:ext cx="1728192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1061204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://img6.ph.126.net/cJuSS-bGbz3IBqk0HebmsA==/1577667244481001876.gif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95400" y="430113"/>
            <a:ext cx="6219825" cy="559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6600370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Swing GUI</a:t>
            </a:r>
            <a:r>
              <a:rPr lang="zh-CN" altLang="en-US" dirty="0"/>
              <a:t>组件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zh-CN" altLang="en-US" dirty="0"/>
              <a:t>是应用类、继承性和接口的绝佳范例</a:t>
            </a:r>
            <a:endParaRPr lang="en-US" altLang="zh-CN" dirty="0"/>
          </a:p>
          <a:p>
            <a:r>
              <a:rPr lang="zh-CN" altLang="en-US" dirty="0"/>
              <a:t>组件</a:t>
            </a:r>
            <a:endParaRPr lang="en-US" altLang="zh-CN" dirty="0"/>
          </a:p>
          <a:p>
            <a:pPr lvl="1"/>
            <a:r>
              <a:rPr lang="en-US" altLang="zh-CN" dirty="0" err="1"/>
              <a:t>Jcomponent</a:t>
            </a:r>
            <a:r>
              <a:rPr lang="en-US" altLang="zh-CN" dirty="0"/>
              <a:t> </a:t>
            </a:r>
            <a:r>
              <a:rPr lang="zh-CN" altLang="en-US" dirty="0"/>
              <a:t>抽象类</a:t>
            </a:r>
            <a:endParaRPr lang="en-US" altLang="zh-CN" dirty="0"/>
          </a:p>
          <a:p>
            <a:pPr lvl="1"/>
            <a:r>
              <a:rPr lang="zh-CN" altLang="en-US" dirty="0"/>
              <a:t>用户界面</a:t>
            </a:r>
            <a:endParaRPr lang="en-US" altLang="zh-CN" dirty="0"/>
          </a:p>
          <a:p>
            <a:r>
              <a:rPr lang="zh-CN" altLang="en-US" dirty="0"/>
              <a:t>容器类</a:t>
            </a:r>
            <a:endParaRPr lang="en-US" altLang="zh-CN" dirty="0"/>
          </a:p>
          <a:p>
            <a:pPr lvl="1"/>
            <a:r>
              <a:rPr lang="zh-CN" altLang="en-US" dirty="0"/>
              <a:t>盛装其他</a:t>
            </a:r>
            <a:r>
              <a:rPr lang="en-US" altLang="zh-CN" dirty="0"/>
              <a:t>GUI</a:t>
            </a:r>
            <a:r>
              <a:rPr lang="zh-CN" altLang="en-US" dirty="0"/>
              <a:t>组件</a:t>
            </a:r>
            <a:endParaRPr lang="en-US" altLang="zh-CN" dirty="0"/>
          </a:p>
          <a:p>
            <a:pPr lvl="1"/>
            <a:r>
              <a:rPr lang="en-US" altLang="zh-CN" dirty="0" err="1"/>
              <a:t>Jpanel</a:t>
            </a:r>
            <a:r>
              <a:rPr lang="zh-CN" altLang="en-US" dirty="0"/>
              <a:t>不可见，可嵌套。可看作是画布</a:t>
            </a:r>
            <a:endParaRPr lang="en-US" altLang="zh-CN" dirty="0"/>
          </a:p>
          <a:p>
            <a:r>
              <a:rPr lang="en-US" altLang="zh-CN" dirty="0"/>
              <a:t>GUI</a:t>
            </a:r>
            <a:r>
              <a:rPr lang="zh-CN" altLang="en-US" dirty="0"/>
              <a:t>辅助类</a:t>
            </a:r>
            <a:endParaRPr lang="en-US" altLang="zh-CN" dirty="0"/>
          </a:p>
          <a:p>
            <a:pPr lvl="1"/>
            <a:r>
              <a:rPr lang="zh-CN" altLang="en-US" dirty="0"/>
              <a:t>用来描述</a:t>
            </a:r>
            <a:r>
              <a:rPr lang="en-US" altLang="zh-CN" dirty="0"/>
              <a:t>GUI</a:t>
            </a:r>
            <a:r>
              <a:rPr lang="zh-CN" altLang="en-US" dirty="0"/>
              <a:t>组件的属性，例如图形环境、颜色、字体及大小等。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039566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GUI</a:t>
            </a:r>
            <a:r>
              <a:rPr lang="zh-CN" altLang="en-US" dirty="0"/>
              <a:t>辅助类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布局管理器的属性</a:t>
            </a:r>
            <a:endParaRPr lang="en-US" altLang="zh-CN" dirty="0"/>
          </a:p>
          <a:p>
            <a:r>
              <a:rPr lang="en-US" altLang="zh-CN" dirty="0"/>
              <a:t>Color</a:t>
            </a:r>
            <a:r>
              <a:rPr lang="zh-CN" altLang="en-US" dirty="0"/>
              <a:t>类</a:t>
            </a:r>
            <a:endParaRPr lang="en-US" altLang="zh-CN" dirty="0"/>
          </a:p>
          <a:p>
            <a:r>
              <a:rPr lang="en-US" altLang="zh-CN" dirty="0"/>
              <a:t>Font</a:t>
            </a:r>
            <a:r>
              <a:rPr lang="zh-CN" altLang="en-US" dirty="0"/>
              <a:t>类</a:t>
            </a:r>
            <a:endParaRPr lang="en-US" altLang="zh-CN" dirty="0"/>
          </a:p>
          <a:p>
            <a:r>
              <a:rPr lang="en-US" altLang="zh-CN" dirty="0"/>
              <a:t>Swing GUI</a:t>
            </a:r>
            <a:r>
              <a:rPr lang="zh-CN" altLang="en-US" dirty="0"/>
              <a:t>组件的一般特性</a:t>
            </a:r>
            <a:endParaRPr lang="en-US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5347369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3528" y="1556792"/>
            <a:ext cx="7879557" cy="48352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容器类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err="1"/>
              <a:t>JFrame</a:t>
            </a:r>
            <a:r>
              <a:rPr lang="zh-CN" altLang="en-US" dirty="0"/>
              <a:t>不能包含在另一窗口的窗口</a:t>
            </a:r>
            <a:endParaRPr lang="en-US" altLang="zh-CN" dirty="0"/>
          </a:p>
          <a:p>
            <a:r>
              <a:rPr lang="en-US" altLang="zh-CN" dirty="0" err="1"/>
              <a:t>JDialog</a:t>
            </a:r>
            <a:r>
              <a:rPr lang="zh-CN" altLang="en-US" dirty="0"/>
              <a:t>弹出式窗口或消息框</a:t>
            </a:r>
            <a:endParaRPr lang="en-US" altLang="zh-CN" dirty="0"/>
          </a:p>
          <a:p>
            <a:r>
              <a:rPr lang="en-US" altLang="zh-CN" dirty="0" err="1"/>
              <a:t>JApplet</a:t>
            </a:r>
            <a:r>
              <a:rPr lang="zh-CN" altLang="en-US" dirty="0"/>
              <a:t>是</a:t>
            </a:r>
            <a:r>
              <a:rPr lang="en-US" altLang="zh-CN" dirty="0"/>
              <a:t>Applet</a:t>
            </a:r>
            <a:r>
              <a:rPr lang="zh-CN" altLang="en-US" dirty="0"/>
              <a:t>的子类</a:t>
            </a:r>
            <a:endParaRPr lang="en-US" altLang="zh-CN" dirty="0"/>
          </a:p>
          <a:p>
            <a:r>
              <a:rPr lang="en-US" altLang="zh-CN" dirty="0" err="1"/>
              <a:t>JPanel</a:t>
            </a:r>
            <a:r>
              <a:rPr lang="zh-CN" altLang="en-US" dirty="0"/>
              <a:t>是一个存放用户组件的不可见容器。面板可以嵌套。可以把面板放在包含面板的容器中。也可以用作画布来画图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GUI </a:t>
            </a:r>
            <a:r>
              <a:rPr lang="zh-CN" altLang="en-US" dirty="0"/>
              <a:t>辅助类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Graphics</a:t>
            </a:r>
          </a:p>
          <a:p>
            <a:r>
              <a:rPr lang="en-US" altLang="zh-CN" dirty="0"/>
              <a:t>Colors</a:t>
            </a:r>
          </a:p>
          <a:p>
            <a:r>
              <a:rPr lang="en-US" altLang="zh-CN" dirty="0"/>
              <a:t>Font</a:t>
            </a:r>
          </a:p>
          <a:p>
            <a:r>
              <a:rPr lang="en-US" altLang="zh-CN" dirty="0" err="1"/>
              <a:t>FontMetrics</a:t>
            </a:r>
            <a:endParaRPr lang="en-US" altLang="zh-CN" dirty="0"/>
          </a:p>
          <a:p>
            <a:r>
              <a:rPr lang="en-US" altLang="zh-CN" dirty="0"/>
              <a:t>Dimension</a:t>
            </a:r>
          </a:p>
          <a:p>
            <a:r>
              <a:rPr lang="en-US" altLang="zh-CN" dirty="0" err="1"/>
              <a:t>LayoutManager</a:t>
            </a:r>
            <a:endParaRPr lang="zh-CN" alt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 err="1"/>
              <a:t>JComponent</a:t>
            </a:r>
            <a:r>
              <a:rPr kumimoji="1" lang="zh-CN" altLang="en-US" dirty="0"/>
              <a:t>和它的子类</a:t>
            </a:r>
          </a:p>
        </p:txBody>
      </p:sp>
      <p:sp>
        <p:nvSpPr>
          <p:cNvPr id="4" name="矩形 3"/>
          <p:cNvSpPr/>
          <p:nvPr/>
        </p:nvSpPr>
        <p:spPr>
          <a:xfrm>
            <a:off x="72008" y="3356992"/>
            <a:ext cx="1187624" cy="43204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400" b="1" dirty="0" err="1">
                <a:solidFill>
                  <a:srgbClr val="000000"/>
                </a:solidFill>
              </a:rPr>
              <a:t>JComponent</a:t>
            </a:r>
            <a:endParaRPr kumimoji="1" lang="zh-CN" altLang="en-US" sz="1400" b="1" dirty="0">
              <a:solidFill>
                <a:srgbClr val="000000"/>
              </a:solidFill>
            </a:endParaRPr>
          </a:p>
        </p:txBody>
      </p:sp>
      <p:sp>
        <p:nvSpPr>
          <p:cNvPr id="7" name="矩形 6"/>
          <p:cNvSpPr/>
          <p:nvPr/>
        </p:nvSpPr>
        <p:spPr>
          <a:xfrm>
            <a:off x="5292080" y="3933056"/>
            <a:ext cx="1440160" cy="28803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400" b="1" dirty="0" err="1">
                <a:solidFill>
                  <a:srgbClr val="000000"/>
                </a:solidFill>
              </a:rPr>
              <a:t>JPasswordField</a:t>
            </a:r>
            <a:endParaRPr kumimoji="1" lang="zh-CN" altLang="en-US" sz="1400" b="1" dirty="0">
              <a:solidFill>
                <a:srgbClr val="000000"/>
              </a:solidFill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1835696" y="2060848"/>
            <a:ext cx="1368152" cy="43204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400" b="1" dirty="0" err="1">
                <a:solidFill>
                  <a:srgbClr val="000000"/>
                </a:solidFill>
              </a:rPr>
              <a:t>AbstractButtion</a:t>
            </a:r>
            <a:endParaRPr kumimoji="1" lang="zh-CN" altLang="en-US" sz="1400" b="1" dirty="0">
              <a:solidFill>
                <a:srgbClr val="000000"/>
              </a:solidFill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1835696" y="3789040"/>
            <a:ext cx="1440160" cy="43204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400" b="1" dirty="0" err="1">
                <a:solidFill>
                  <a:srgbClr val="000000"/>
                </a:solidFill>
              </a:rPr>
              <a:t>JTextComponent</a:t>
            </a:r>
            <a:endParaRPr kumimoji="1" lang="zh-CN" altLang="en-US" sz="1400" b="1" dirty="0">
              <a:solidFill>
                <a:srgbClr val="000000"/>
              </a:solidFill>
            </a:endParaRPr>
          </a:p>
        </p:txBody>
      </p:sp>
      <p:cxnSp>
        <p:nvCxnSpPr>
          <p:cNvPr id="19" name="肘形连接符 18"/>
          <p:cNvCxnSpPr>
            <a:stCxn id="14" idx="1"/>
          </p:cNvCxnSpPr>
          <p:nvPr/>
        </p:nvCxnSpPr>
        <p:spPr>
          <a:xfrm rot="10800000" flipV="1">
            <a:off x="1835696" y="2276872"/>
            <a:ext cx="12700" cy="2880320"/>
          </a:xfrm>
          <a:prstGeom prst="bentConnector3">
            <a:avLst>
              <a:gd name="adj1" fmla="val 180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直线连接符 21"/>
          <p:cNvCxnSpPr/>
          <p:nvPr/>
        </p:nvCxnSpPr>
        <p:spPr>
          <a:xfrm>
            <a:off x="1619672" y="4005064"/>
            <a:ext cx="216024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直线连接符 39"/>
          <p:cNvCxnSpPr/>
          <p:nvPr/>
        </p:nvCxnSpPr>
        <p:spPr>
          <a:xfrm>
            <a:off x="1259632" y="3573016"/>
            <a:ext cx="36004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矩形 41"/>
          <p:cNvSpPr/>
          <p:nvPr/>
        </p:nvSpPr>
        <p:spPr>
          <a:xfrm>
            <a:off x="3707904" y="4365104"/>
            <a:ext cx="936104" cy="43204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400" b="1" dirty="0" err="1">
                <a:solidFill>
                  <a:srgbClr val="000000"/>
                </a:solidFill>
              </a:rPr>
              <a:t>JTextArea</a:t>
            </a:r>
            <a:endParaRPr kumimoji="1" lang="zh-CN" altLang="en-US" sz="1400" b="1" dirty="0">
              <a:solidFill>
                <a:srgbClr val="000000"/>
              </a:solidFill>
            </a:endParaRPr>
          </a:p>
        </p:txBody>
      </p:sp>
      <p:sp>
        <p:nvSpPr>
          <p:cNvPr id="43" name="矩形 42"/>
          <p:cNvSpPr/>
          <p:nvPr/>
        </p:nvSpPr>
        <p:spPr>
          <a:xfrm>
            <a:off x="3707904" y="3356992"/>
            <a:ext cx="936104" cy="43204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400" b="1" dirty="0" err="1">
                <a:solidFill>
                  <a:srgbClr val="000000"/>
                </a:solidFill>
              </a:rPr>
              <a:t>JEditPane</a:t>
            </a:r>
            <a:endParaRPr kumimoji="1" lang="zh-CN" altLang="en-US" sz="1400" b="1" dirty="0">
              <a:solidFill>
                <a:srgbClr val="000000"/>
              </a:solidFill>
            </a:endParaRPr>
          </a:p>
        </p:txBody>
      </p:sp>
      <p:sp>
        <p:nvSpPr>
          <p:cNvPr id="44" name="矩形 43"/>
          <p:cNvSpPr/>
          <p:nvPr/>
        </p:nvSpPr>
        <p:spPr>
          <a:xfrm>
            <a:off x="3707904" y="3861048"/>
            <a:ext cx="936104" cy="43204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400" b="1" dirty="0" err="1">
                <a:solidFill>
                  <a:srgbClr val="000000"/>
                </a:solidFill>
              </a:rPr>
              <a:t>JTextField</a:t>
            </a:r>
            <a:endParaRPr kumimoji="1" lang="zh-CN" altLang="en-US" sz="1400" b="1" dirty="0">
              <a:solidFill>
                <a:srgbClr val="000000"/>
              </a:solidFill>
            </a:endParaRPr>
          </a:p>
        </p:txBody>
      </p:sp>
      <p:sp>
        <p:nvSpPr>
          <p:cNvPr id="47" name="矩形 46"/>
          <p:cNvSpPr/>
          <p:nvPr/>
        </p:nvSpPr>
        <p:spPr>
          <a:xfrm>
            <a:off x="3563888" y="2708920"/>
            <a:ext cx="1224136" cy="43204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400" b="1" dirty="0" err="1">
                <a:solidFill>
                  <a:srgbClr val="000000"/>
                </a:solidFill>
              </a:rPr>
              <a:t>JToggleButton</a:t>
            </a:r>
            <a:endParaRPr kumimoji="1" lang="zh-CN" altLang="en-US" sz="1400" b="1" dirty="0">
              <a:solidFill>
                <a:srgbClr val="000000"/>
              </a:solidFill>
            </a:endParaRPr>
          </a:p>
        </p:txBody>
      </p:sp>
      <p:sp>
        <p:nvSpPr>
          <p:cNvPr id="48" name="矩形 47"/>
          <p:cNvSpPr/>
          <p:nvPr/>
        </p:nvSpPr>
        <p:spPr>
          <a:xfrm>
            <a:off x="3563888" y="1628800"/>
            <a:ext cx="1080120" cy="43204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400" b="1" dirty="0" err="1">
                <a:solidFill>
                  <a:srgbClr val="000000"/>
                </a:solidFill>
              </a:rPr>
              <a:t>JMenuItem</a:t>
            </a:r>
            <a:endParaRPr kumimoji="1" lang="zh-CN" altLang="en-US" sz="1400" b="1" dirty="0">
              <a:solidFill>
                <a:srgbClr val="000000"/>
              </a:solidFill>
            </a:endParaRPr>
          </a:p>
        </p:txBody>
      </p:sp>
      <p:sp>
        <p:nvSpPr>
          <p:cNvPr id="49" name="矩形 48"/>
          <p:cNvSpPr/>
          <p:nvPr/>
        </p:nvSpPr>
        <p:spPr>
          <a:xfrm>
            <a:off x="3635896" y="2204864"/>
            <a:ext cx="936104" cy="43204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400" b="1" dirty="0" err="1">
                <a:solidFill>
                  <a:srgbClr val="000000"/>
                </a:solidFill>
              </a:rPr>
              <a:t>JButton</a:t>
            </a:r>
            <a:endParaRPr kumimoji="1" lang="zh-CN" altLang="en-US" sz="1400" b="1" dirty="0">
              <a:solidFill>
                <a:srgbClr val="000000"/>
              </a:solidFill>
            </a:endParaRPr>
          </a:p>
        </p:txBody>
      </p:sp>
      <p:sp>
        <p:nvSpPr>
          <p:cNvPr id="50" name="矩形 49"/>
          <p:cNvSpPr/>
          <p:nvPr/>
        </p:nvSpPr>
        <p:spPr>
          <a:xfrm>
            <a:off x="5364088" y="2276872"/>
            <a:ext cx="2016224" cy="28803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400" b="1" dirty="0" err="1">
                <a:solidFill>
                  <a:srgbClr val="000000"/>
                </a:solidFill>
              </a:rPr>
              <a:t>JRadioButtonMenuItem</a:t>
            </a:r>
            <a:endParaRPr kumimoji="1" lang="zh-CN" altLang="en-US" sz="1400" b="1" dirty="0">
              <a:solidFill>
                <a:srgbClr val="000000"/>
              </a:solidFill>
            </a:endParaRPr>
          </a:p>
        </p:txBody>
      </p:sp>
      <p:sp>
        <p:nvSpPr>
          <p:cNvPr id="51" name="矩形 50"/>
          <p:cNvSpPr/>
          <p:nvPr/>
        </p:nvSpPr>
        <p:spPr>
          <a:xfrm>
            <a:off x="5364088" y="1484784"/>
            <a:ext cx="1728192" cy="28803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400" dirty="0" err="1"/>
              <a:t>JCheckBoxMenuItem</a:t>
            </a:r>
            <a:endParaRPr kumimoji="1" lang="zh-CN" altLang="en-US" sz="1400" dirty="0"/>
          </a:p>
        </p:txBody>
      </p:sp>
      <p:sp>
        <p:nvSpPr>
          <p:cNvPr id="52" name="矩形 51"/>
          <p:cNvSpPr/>
          <p:nvPr/>
        </p:nvSpPr>
        <p:spPr>
          <a:xfrm>
            <a:off x="5364088" y="1916832"/>
            <a:ext cx="936104" cy="28803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400" b="1" dirty="0" err="1">
                <a:solidFill>
                  <a:srgbClr val="000000"/>
                </a:solidFill>
              </a:rPr>
              <a:t>Jmenu</a:t>
            </a:r>
            <a:r>
              <a:rPr kumimoji="1" lang="en-US" altLang="zh-CN" sz="1400" b="1" dirty="0">
                <a:solidFill>
                  <a:srgbClr val="000000"/>
                </a:solidFill>
              </a:rPr>
              <a:t> </a:t>
            </a:r>
            <a:endParaRPr kumimoji="1" lang="zh-CN" altLang="en-US" sz="1400" b="1" dirty="0">
              <a:solidFill>
                <a:srgbClr val="000000"/>
              </a:solidFill>
            </a:endParaRPr>
          </a:p>
        </p:txBody>
      </p:sp>
      <p:cxnSp>
        <p:nvCxnSpPr>
          <p:cNvPr id="54" name="肘形连接符 53"/>
          <p:cNvCxnSpPr>
            <a:stCxn id="51" idx="1"/>
            <a:endCxn id="50" idx="1"/>
          </p:cNvCxnSpPr>
          <p:nvPr/>
        </p:nvCxnSpPr>
        <p:spPr>
          <a:xfrm rot="10800000" flipV="1">
            <a:off x="5364088" y="1628800"/>
            <a:ext cx="12700" cy="792088"/>
          </a:xfrm>
          <a:prstGeom prst="bentConnector3">
            <a:avLst>
              <a:gd name="adj1" fmla="val 180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直线连接符 55"/>
          <p:cNvCxnSpPr>
            <a:stCxn id="48" idx="3"/>
          </p:cNvCxnSpPr>
          <p:nvPr/>
        </p:nvCxnSpPr>
        <p:spPr>
          <a:xfrm>
            <a:off x="4644008" y="1844824"/>
            <a:ext cx="50405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直线连接符 57"/>
          <p:cNvCxnSpPr>
            <a:endCxn id="52" idx="1"/>
          </p:cNvCxnSpPr>
          <p:nvPr/>
        </p:nvCxnSpPr>
        <p:spPr>
          <a:xfrm>
            <a:off x="5148064" y="2060848"/>
            <a:ext cx="216024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矩形 58"/>
          <p:cNvSpPr/>
          <p:nvPr/>
        </p:nvSpPr>
        <p:spPr>
          <a:xfrm>
            <a:off x="5292080" y="2708920"/>
            <a:ext cx="1080120" cy="28803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400" b="1" dirty="0" err="1">
                <a:solidFill>
                  <a:srgbClr val="000000"/>
                </a:solidFill>
              </a:rPr>
              <a:t>JCheckBox</a:t>
            </a:r>
            <a:endParaRPr kumimoji="1" lang="zh-CN" altLang="en-US" sz="1400" b="1" dirty="0">
              <a:solidFill>
                <a:srgbClr val="000000"/>
              </a:solidFill>
            </a:endParaRPr>
          </a:p>
        </p:txBody>
      </p:sp>
      <p:sp>
        <p:nvSpPr>
          <p:cNvPr id="60" name="矩形 59"/>
          <p:cNvSpPr/>
          <p:nvPr/>
        </p:nvSpPr>
        <p:spPr>
          <a:xfrm>
            <a:off x="5292080" y="3140968"/>
            <a:ext cx="1296144" cy="28803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400" b="1" dirty="0" err="1">
                <a:solidFill>
                  <a:srgbClr val="000000"/>
                </a:solidFill>
              </a:rPr>
              <a:t>JRadioButton</a:t>
            </a:r>
            <a:endParaRPr kumimoji="1" lang="zh-CN" altLang="en-US" sz="1400" b="1" dirty="0">
              <a:solidFill>
                <a:srgbClr val="000000"/>
              </a:solidFill>
            </a:endParaRPr>
          </a:p>
        </p:txBody>
      </p:sp>
      <p:cxnSp>
        <p:nvCxnSpPr>
          <p:cNvPr id="63" name="直线连接符 62"/>
          <p:cNvCxnSpPr>
            <a:stCxn id="44" idx="3"/>
            <a:endCxn id="7" idx="1"/>
          </p:cNvCxnSpPr>
          <p:nvPr/>
        </p:nvCxnSpPr>
        <p:spPr>
          <a:xfrm>
            <a:off x="4644008" y="4077072"/>
            <a:ext cx="64807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肘形连接符 66"/>
          <p:cNvCxnSpPr>
            <a:stCxn id="59" idx="1"/>
            <a:endCxn id="60" idx="1"/>
          </p:cNvCxnSpPr>
          <p:nvPr/>
        </p:nvCxnSpPr>
        <p:spPr>
          <a:xfrm rot="10800000" flipV="1">
            <a:off x="5292080" y="2852936"/>
            <a:ext cx="12700" cy="432048"/>
          </a:xfrm>
          <a:prstGeom prst="bentConnector3">
            <a:avLst>
              <a:gd name="adj1" fmla="val 180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直线连接符 68"/>
          <p:cNvCxnSpPr>
            <a:stCxn id="47" idx="3"/>
          </p:cNvCxnSpPr>
          <p:nvPr/>
        </p:nvCxnSpPr>
        <p:spPr>
          <a:xfrm>
            <a:off x="4788024" y="2924944"/>
            <a:ext cx="28803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肘形连接符 70"/>
          <p:cNvCxnSpPr>
            <a:stCxn id="48" idx="1"/>
            <a:endCxn id="47" idx="1"/>
          </p:cNvCxnSpPr>
          <p:nvPr/>
        </p:nvCxnSpPr>
        <p:spPr>
          <a:xfrm rot="10800000" flipV="1">
            <a:off x="3563888" y="1844824"/>
            <a:ext cx="12700" cy="1080120"/>
          </a:xfrm>
          <a:prstGeom prst="bentConnector3">
            <a:avLst>
              <a:gd name="adj1" fmla="val 180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直线连接符 72"/>
          <p:cNvCxnSpPr>
            <a:endCxn id="49" idx="1"/>
          </p:cNvCxnSpPr>
          <p:nvPr/>
        </p:nvCxnSpPr>
        <p:spPr>
          <a:xfrm>
            <a:off x="3347864" y="2420888"/>
            <a:ext cx="28803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直线连接符 74"/>
          <p:cNvCxnSpPr>
            <a:stCxn id="14" idx="3"/>
          </p:cNvCxnSpPr>
          <p:nvPr/>
        </p:nvCxnSpPr>
        <p:spPr>
          <a:xfrm>
            <a:off x="3203848" y="2276872"/>
            <a:ext cx="14401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肘形连接符 76"/>
          <p:cNvCxnSpPr>
            <a:stCxn id="43" idx="1"/>
            <a:endCxn id="42" idx="1"/>
          </p:cNvCxnSpPr>
          <p:nvPr/>
        </p:nvCxnSpPr>
        <p:spPr>
          <a:xfrm rot="10800000" flipV="1">
            <a:off x="3707904" y="3573016"/>
            <a:ext cx="12700" cy="1008112"/>
          </a:xfrm>
          <a:prstGeom prst="bentConnector3">
            <a:avLst>
              <a:gd name="adj1" fmla="val 180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直线连接符 78"/>
          <p:cNvCxnSpPr>
            <a:endCxn id="44" idx="1"/>
          </p:cNvCxnSpPr>
          <p:nvPr/>
        </p:nvCxnSpPr>
        <p:spPr>
          <a:xfrm>
            <a:off x="3491880" y="4077072"/>
            <a:ext cx="216024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直线连接符 80"/>
          <p:cNvCxnSpPr>
            <a:stCxn id="17" idx="3"/>
          </p:cNvCxnSpPr>
          <p:nvPr/>
        </p:nvCxnSpPr>
        <p:spPr>
          <a:xfrm>
            <a:off x="3275856" y="4005064"/>
            <a:ext cx="216024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矩形 81"/>
          <p:cNvSpPr/>
          <p:nvPr/>
        </p:nvSpPr>
        <p:spPr>
          <a:xfrm>
            <a:off x="1835696" y="4869160"/>
            <a:ext cx="7056784" cy="187220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b="1">
              <a:solidFill>
                <a:srgbClr val="000000"/>
              </a:solidFill>
            </a:endParaRPr>
          </a:p>
        </p:txBody>
      </p:sp>
      <p:sp>
        <p:nvSpPr>
          <p:cNvPr id="93" name="矩形 92"/>
          <p:cNvSpPr/>
          <p:nvPr/>
        </p:nvSpPr>
        <p:spPr>
          <a:xfrm>
            <a:off x="3419872" y="4941168"/>
            <a:ext cx="1080120" cy="28803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400" b="1" dirty="0" err="1">
                <a:solidFill>
                  <a:srgbClr val="000000"/>
                </a:solidFill>
              </a:rPr>
              <a:t>JComboBox</a:t>
            </a:r>
            <a:endParaRPr kumimoji="1" lang="zh-CN" altLang="en-US" sz="1400" b="1" dirty="0">
              <a:solidFill>
                <a:srgbClr val="000000"/>
              </a:solidFill>
            </a:endParaRPr>
          </a:p>
        </p:txBody>
      </p:sp>
      <p:sp>
        <p:nvSpPr>
          <p:cNvPr id="94" name="矩形 93"/>
          <p:cNvSpPr/>
          <p:nvPr/>
        </p:nvSpPr>
        <p:spPr>
          <a:xfrm>
            <a:off x="3419872" y="5301208"/>
            <a:ext cx="936104" cy="28803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400" b="1" dirty="0" err="1">
                <a:solidFill>
                  <a:srgbClr val="000000"/>
                </a:solidFill>
              </a:rPr>
              <a:t>JPanel</a:t>
            </a:r>
            <a:endParaRPr kumimoji="1" lang="zh-CN" altLang="en-US" sz="1400" b="1" dirty="0">
              <a:solidFill>
                <a:srgbClr val="000000"/>
              </a:solidFill>
            </a:endParaRPr>
          </a:p>
        </p:txBody>
      </p:sp>
      <p:sp>
        <p:nvSpPr>
          <p:cNvPr id="95" name="矩形 94"/>
          <p:cNvSpPr/>
          <p:nvPr/>
        </p:nvSpPr>
        <p:spPr>
          <a:xfrm>
            <a:off x="3419872" y="5661248"/>
            <a:ext cx="1152128" cy="28803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400" b="1" dirty="0" err="1">
                <a:solidFill>
                  <a:srgbClr val="000000"/>
                </a:solidFill>
              </a:rPr>
              <a:t>JOptionPane</a:t>
            </a:r>
            <a:endParaRPr kumimoji="1" lang="zh-CN" altLang="en-US" sz="1400" b="1" dirty="0">
              <a:solidFill>
                <a:srgbClr val="000000"/>
              </a:solidFill>
            </a:endParaRPr>
          </a:p>
        </p:txBody>
      </p:sp>
      <p:sp>
        <p:nvSpPr>
          <p:cNvPr id="96" name="矩形 95"/>
          <p:cNvSpPr/>
          <p:nvPr/>
        </p:nvSpPr>
        <p:spPr>
          <a:xfrm>
            <a:off x="3419872" y="6021288"/>
            <a:ext cx="936104" cy="28803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400" b="1" dirty="0" err="1">
                <a:solidFill>
                  <a:srgbClr val="000000"/>
                </a:solidFill>
              </a:rPr>
              <a:t>JScrollBar</a:t>
            </a:r>
            <a:endParaRPr kumimoji="1" lang="zh-CN" altLang="en-US" sz="1400" b="1" dirty="0">
              <a:solidFill>
                <a:srgbClr val="000000"/>
              </a:solidFill>
            </a:endParaRPr>
          </a:p>
        </p:txBody>
      </p:sp>
      <p:sp>
        <p:nvSpPr>
          <p:cNvPr id="97" name="矩形 96"/>
          <p:cNvSpPr/>
          <p:nvPr/>
        </p:nvSpPr>
        <p:spPr>
          <a:xfrm>
            <a:off x="3419872" y="6381328"/>
            <a:ext cx="1224136" cy="28803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400" b="1" dirty="0" err="1">
                <a:solidFill>
                  <a:srgbClr val="000000"/>
                </a:solidFill>
              </a:rPr>
              <a:t>JTabbedPane</a:t>
            </a:r>
            <a:endParaRPr kumimoji="1" lang="zh-CN" altLang="en-US" sz="1400" b="1" dirty="0">
              <a:solidFill>
                <a:srgbClr val="000000"/>
              </a:solidFill>
            </a:endParaRPr>
          </a:p>
        </p:txBody>
      </p:sp>
      <p:sp>
        <p:nvSpPr>
          <p:cNvPr id="98" name="矩形 97"/>
          <p:cNvSpPr/>
          <p:nvPr/>
        </p:nvSpPr>
        <p:spPr>
          <a:xfrm>
            <a:off x="2051720" y="4941168"/>
            <a:ext cx="936104" cy="28803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400" b="1" dirty="0" err="1">
                <a:solidFill>
                  <a:srgbClr val="000000"/>
                </a:solidFill>
              </a:rPr>
              <a:t>JLabel</a:t>
            </a:r>
            <a:endParaRPr kumimoji="1" lang="zh-CN" altLang="en-US" sz="1400" b="1" dirty="0">
              <a:solidFill>
                <a:srgbClr val="000000"/>
              </a:solidFill>
            </a:endParaRPr>
          </a:p>
        </p:txBody>
      </p:sp>
      <p:sp>
        <p:nvSpPr>
          <p:cNvPr id="99" name="矩形 98"/>
          <p:cNvSpPr/>
          <p:nvPr/>
        </p:nvSpPr>
        <p:spPr>
          <a:xfrm>
            <a:off x="2051720" y="5301208"/>
            <a:ext cx="936104" cy="28803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400" b="1" dirty="0" err="1">
                <a:solidFill>
                  <a:srgbClr val="000000"/>
                </a:solidFill>
              </a:rPr>
              <a:t>JList</a:t>
            </a:r>
            <a:endParaRPr kumimoji="1" lang="zh-CN" altLang="en-US" sz="1400" b="1" dirty="0">
              <a:solidFill>
                <a:srgbClr val="000000"/>
              </a:solidFill>
            </a:endParaRPr>
          </a:p>
        </p:txBody>
      </p:sp>
      <p:sp>
        <p:nvSpPr>
          <p:cNvPr id="100" name="矩形 99"/>
          <p:cNvSpPr/>
          <p:nvPr/>
        </p:nvSpPr>
        <p:spPr>
          <a:xfrm>
            <a:off x="2051720" y="5661248"/>
            <a:ext cx="936104" cy="28803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400" b="1" dirty="0" err="1">
                <a:solidFill>
                  <a:srgbClr val="000000"/>
                </a:solidFill>
              </a:rPr>
              <a:t>JTree</a:t>
            </a:r>
            <a:endParaRPr kumimoji="1" lang="zh-CN" altLang="en-US" sz="1400" b="1" dirty="0">
              <a:solidFill>
                <a:srgbClr val="000000"/>
              </a:solidFill>
            </a:endParaRPr>
          </a:p>
        </p:txBody>
      </p:sp>
      <p:sp>
        <p:nvSpPr>
          <p:cNvPr id="101" name="矩形 100"/>
          <p:cNvSpPr/>
          <p:nvPr/>
        </p:nvSpPr>
        <p:spPr>
          <a:xfrm>
            <a:off x="2051720" y="6021288"/>
            <a:ext cx="936104" cy="28803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400" b="1" dirty="0" err="1">
                <a:solidFill>
                  <a:srgbClr val="000000"/>
                </a:solidFill>
              </a:rPr>
              <a:t>JTable</a:t>
            </a:r>
            <a:endParaRPr kumimoji="1" lang="zh-CN" altLang="en-US" sz="1400" b="1" dirty="0">
              <a:solidFill>
                <a:srgbClr val="000000"/>
              </a:solidFill>
            </a:endParaRPr>
          </a:p>
        </p:txBody>
      </p:sp>
      <p:sp>
        <p:nvSpPr>
          <p:cNvPr id="102" name="矩形 101"/>
          <p:cNvSpPr/>
          <p:nvPr/>
        </p:nvSpPr>
        <p:spPr>
          <a:xfrm>
            <a:off x="2051720" y="6381328"/>
            <a:ext cx="936104" cy="28803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400" b="1" dirty="0" err="1">
                <a:solidFill>
                  <a:srgbClr val="000000"/>
                </a:solidFill>
              </a:rPr>
              <a:t>JSlider</a:t>
            </a:r>
            <a:endParaRPr kumimoji="1" lang="zh-CN" altLang="en-US" sz="1400" b="1" dirty="0">
              <a:solidFill>
                <a:srgbClr val="000000"/>
              </a:solidFill>
            </a:endParaRPr>
          </a:p>
        </p:txBody>
      </p:sp>
      <p:sp>
        <p:nvSpPr>
          <p:cNvPr id="103" name="矩形 102"/>
          <p:cNvSpPr/>
          <p:nvPr/>
        </p:nvSpPr>
        <p:spPr>
          <a:xfrm>
            <a:off x="4860032" y="4941168"/>
            <a:ext cx="936104" cy="28803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400" b="1" dirty="0" err="1">
                <a:solidFill>
                  <a:srgbClr val="000000"/>
                </a:solidFill>
              </a:rPr>
              <a:t>JSplitPane</a:t>
            </a:r>
            <a:endParaRPr kumimoji="1" lang="zh-CN" altLang="en-US" sz="1400" b="1" dirty="0">
              <a:solidFill>
                <a:srgbClr val="000000"/>
              </a:solidFill>
            </a:endParaRPr>
          </a:p>
        </p:txBody>
      </p:sp>
      <p:sp>
        <p:nvSpPr>
          <p:cNvPr id="104" name="矩形 103"/>
          <p:cNvSpPr/>
          <p:nvPr/>
        </p:nvSpPr>
        <p:spPr>
          <a:xfrm>
            <a:off x="4716016" y="5301208"/>
            <a:ext cx="1296144" cy="28803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400" b="1" dirty="0" err="1">
                <a:solidFill>
                  <a:srgbClr val="000000"/>
                </a:solidFill>
              </a:rPr>
              <a:t>JLayeredPane</a:t>
            </a:r>
            <a:endParaRPr kumimoji="1" lang="zh-CN" altLang="en-US" sz="1400" b="1" dirty="0">
              <a:solidFill>
                <a:srgbClr val="000000"/>
              </a:solidFill>
            </a:endParaRPr>
          </a:p>
        </p:txBody>
      </p:sp>
      <p:sp>
        <p:nvSpPr>
          <p:cNvPr id="105" name="矩形 104"/>
          <p:cNvSpPr/>
          <p:nvPr/>
        </p:nvSpPr>
        <p:spPr>
          <a:xfrm>
            <a:off x="4860032" y="5661248"/>
            <a:ext cx="1080120" cy="21602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400" b="1" dirty="0" err="1">
                <a:solidFill>
                  <a:srgbClr val="000000"/>
                </a:solidFill>
              </a:rPr>
              <a:t>JSeperator</a:t>
            </a:r>
            <a:endParaRPr kumimoji="1" lang="zh-CN" altLang="en-US" sz="1400" b="1" dirty="0">
              <a:solidFill>
                <a:srgbClr val="000000"/>
              </a:solidFill>
            </a:endParaRPr>
          </a:p>
        </p:txBody>
      </p:sp>
      <p:sp>
        <p:nvSpPr>
          <p:cNvPr id="106" name="矩形 105"/>
          <p:cNvSpPr/>
          <p:nvPr/>
        </p:nvSpPr>
        <p:spPr>
          <a:xfrm>
            <a:off x="4860032" y="6021288"/>
            <a:ext cx="1080120" cy="28803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400" b="1" dirty="0" err="1">
                <a:solidFill>
                  <a:srgbClr val="000000"/>
                </a:solidFill>
              </a:rPr>
              <a:t>JScrollPane</a:t>
            </a:r>
            <a:endParaRPr kumimoji="1" lang="zh-CN" altLang="en-US" sz="1400" b="1" dirty="0">
              <a:solidFill>
                <a:srgbClr val="000000"/>
              </a:solidFill>
            </a:endParaRPr>
          </a:p>
        </p:txBody>
      </p:sp>
      <p:sp>
        <p:nvSpPr>
          <p:cNvPr id="107" name="矩形 106"/>
          <p:cNvSpPr/>
          <p:nvPr/>
        </p:nvSpPr>
        <p:spPr>
          <a:xfrm>
            <a:off x="4860032" y="6381328"/>
            <a:ext cx="1008112" cy="28803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400" b="1" dirty="0" err="1">
                <a:solidFill>
                  <a:srgbClr val="000000"/>
                </a:solidFill>
              </a:rPr>
              <a:t>JRootPane</a:t>
            </a:r>
            <a:endParaRPr kumimoji="1" lang="zh-CN" altLang="en-US" sz="1400" b="1" dirty="0">
              <a:solidFill>
                <a:srgbClr val="000000"/>
              </a:solidFill>
            </a:endParaRPr>
          </a:p>
        </p:txBody>
      </p:sp>
      <p:sp>
        <p:nvSpPr>
          <p:cNvPr id="108" name="矩形 107"/>
          <p:cNvSpPr/>
          <p:nvPr/>
        </p:nvSpPr>
        <p:spPr>
          <a:xfrm>
            <a:off x="6156176" y="4941168"/>
            <a:ext cx="936104" cy="28803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400" b="1" dirty="0" err="1">
                <a:solidFill>
                  <a:srgbClr val="000000"/>
                </a:solidFill>
              </a:rPr>
              <a:t>JToolBar</a:t>
            </a:r>
            <a:endParaRPr kumimoji="1" lang="zh-CN" altLang="en-US" sz="1400" b="1" dirty="0">
              <a:solidFill>
                <a:srgbClr val="000000"/>
              </a:solidFill>
            </a:endParaRPr>
          </a:p>
        </p:txBody>
      </p:sp>
      <p:sp>
        <p:nvSpPr>
          <p:cNvPr id="109" name="矩形 108"/>
          <p:cNvSpPr/>
          <p:nvPr/>
        </p:nvSpPr>
        <p:spPr>
          <a:xfrm>
            <a:off x="6156176" y="5301208"/>
            <a:ext cx="936104" cy="28803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400" b="1" dirty="0" err="1">
                <a:solidFill>
                  <a:srgbClr val="000000"/>
                </a:solidFill>
              </a:rPr>
              <a:t>JMenuBar</a:t>
            </a:r>
            <a:endParaRPr kumimoji="1" lang="zh-CN" altLang="en-US" sz="1400" b="1" dirty="0">
              <a:solidFill>
                <a:srgbClr val="000000"/>
              </a:solidFill>
            </a:endParaRPr>
          </a:p>
        </p:txBody>
      </p:sp>
      <p:sp>
        <p:nvSpPr>
          <p:cNvPr id="110" name="矩形 109"/>
          <p:cNvSpPr/>
          <p:nvPr/>
        </p:nvSpPr>
        <p:spPr>
          <a:xfrm>
            <a:off x="6156176" y="5661248"/>
            <a:ext cx="1152128" cy="28803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400" b="1" dirty="0" err="1">
                <a:solidFill>
                  <a:srgbClr val="000000"/>
                </a:solidFill>
              </a:rPr>
              <a:t>JPopupMenu</a:t>
            </a:r>
            <a:endParaRPr kumimoji="1" lang="zh-CN" altLang="en-US" sz="1400" b="1" dirty="0">
              <a:solidFill>
                <a:srgbClr val="000000"/>
              </a:solidFill>
            </a:endParaRPr>
          </a:p>
        </p:txBody>
      </p:sp>
      <p:sp>
        <p:nvSpPr>
          <p:cNvPr id="111" name="矩形 110"/>
          <p:cNvSpPr/>
          <p:nvPr/>
        </p:nvSpPr>
        <p:spPr>
          <a:xfrm>
            <a:off x="6156176" y="6021288"/>
            <a:ext cx="1152128" cy="28803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400" b="1" dirty="0" err="1">
                <a:solidFill>
                  <a:srgbClr val="000000"/>
                </a:solidFill>
              </a:rPr>
              <a:t>JFileChooser</a:t>
            </a:r>
            <a:endParaRPr kumimoji="1" lang="zh-CN" altLang="en-US" sz="1400" b="1" dirty="0">
              <a:solidFill>
                <a:srgbClr val="000000"/>
              </a:solidFill>
            </a:endParaRPr>
          </a:p>
        </p:txBody>
      </p:sp>
      <p:sp>
        <p:nvSpPr>
          <p:cNvPr id="112" name="矩形 111"/>
          <p:cNvSpPr/>
          <p:nvPr/>
        </p:nvSpPr>
        <p:spPr>
          <a:xfrm>
            <a:off x="6156176" y="6381328"/>
            <a:ext cx="936104" cy="28803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400" b="1" dirty="0" err="1">
                <a:solidFill>
                  <a:srgbClr val="000000"/>
                </a:solidFill>
              </a:rPr>
              <a:t>JToolTip</a:t>
            </a:r>
            <a:endParaRPr kumimoji="1" lang="zh-CN" altLang="en-US" sz="1400" b="1" dirty="0">
              <a:solidFill>
                <a:srgbClr val="000000"/>
              </a:solidFill>
            </a:endParaRPr>
          </a:p>
        </p:txBody>
      </p:sp>
      <p:sp>
        <p:nvSpPr>
          <p:cNvPr id="113" name="矩形 112"/>
          <p:cNvSpPr/>
          <p:nvPr/>
        </p:nvSpPr>
        <p:spPr>
          <a:xfrm>
            <a:off x="7452320" y="4941168"/>
            <a:ext cx="1224136" cy="28803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400" b="1" dirty="0" err="1">
                <a:solidFill>
                  <a:srgbClr val="000000"/>
                </a:solidFill>
              </a:rPr>
              <a:t>JTableHeader</a:t>
            </a:r>
            <a:endParaRPr kumimoji="1" lang="zh-CN" altLang="en-US" sz="1400" b="1" dirty="0">
              <a:solidFill>
                <a:srgbClr val="000000"/>
              </a:solidFill>
            </a:endParaRPr>
          </a:p>
        </p:txBody>
      </p:sp>
      <p:sp>
        <p:nvSpPr>
          <p:cNvPr id="114" name="矩形 113"/>
          <p:cNvSpPr/>
          <p:nvPr/>
        </p:nvSpPr>
        <p:spPr>
          <a:xfrm>
            <a:off x="7452320" y="5301208"/>
            <a:ext cx="1296144" cy="28803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400" b="1" dirty="0" err="1">
                <a:solidFill>
                  <a:srgbClr val="000000"/>
                </a:solidFill>
              </a:rPr>
              <a:t>JInternalFrame</a:t>
            </a:r>
            <a:endParaRPr kumimoji="1" lang="zh-CN" altLang="en-US" sz="1400" b="1" dirty="0">
              <a:solidFill>
                <a:srgbClr val="000000"/>
              </a:solidFill>
            </a:endParaRPr>
          </a:p>
        </p:txBody>
      </p:sp>
      <p:sp>
        <p:nvSpPr>
          <p:cNvPr id="115" name="矩形 114"/>
          <p:cNvSpPr/>
          <p:nvPr/>
        </p:nvSpPr>
        <p:spPr>
          <a:xfrm>
            <a:off x="7452320" y="5661248"/>
            <a:ext cx="1224136" cy="28803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400" b="1" dirty="0" err="1">
                <a:solidFill>
                  <a:srgbClr val="000000"/>
                </a:solidFill>
              </a:rPr>
              <a:t>JProgressBar</a:t>
            </a:r>
            <a:endParaRPr kumimoji="1" lang="zh-CN" altLang="en-US" sz="1400" b="1" dirty="0">
              <a:solidFill>
                <a:srgbClr val="000000"/>
              </a:solidFill>
            </a:endParaRPr>
          </a:p>
        </p:txBody>
      </p:sp>
      <p:sp>
        <p:nvSpPr>
          <p:cNvPr id="116" name="矩形 115"/>
          <p:cNvSpPr/>
          <p:nvPr/>
        </p:nvSpPr>
        <p:spPr>
          <a:xfrm>
            <a:off x="7452320" y="6021288"/>
            <a:ext cx="936104" cy="28803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400" b="1" dirty="0" err="1">
                <a:solidFill>
                  <a:srgbClr val="000000"/>
                </a:solidFill>
              </a:rPr>
              <a:t>JSpinner</a:t>
            </a:r>
            <a:endParaRPr kumimoji="1" lang="zh-CN" altLang="en-US" sz="1400" b="1" dirty="0">
              <a:solidFill>
                <a:srgbClr val="000000"/>
              </a:solidFill>
            </a:endParaRPr>
          </a:p>
        </p:txBody>
      </p:sp>
      <p:sp>
        <p:nvSpPr>
          <p:cNvPr id="117" name="矩形 116"/>
          <p:cNvSpPr/>
          <p:nvPr/>
        </p:nvSpPr>
        <p:spPr>
          <a:xfrm>
            <a:off x="7452320" y="6381328"/>
            <a:ext cx="1296144" cy="28803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400" b="1" dirty="0" err="1">
                <a:solidFill>
                  <a:srgbClr val="000000"/>
                </a:solidFill>
              </a:rPr>
              <a:t>JColorChooser</a:t>
            </a:r>
            <a:endParaRPr kumimoji="1" lang="zh-CN" altLang="en-US" sz="1400" b="1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06315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49509" y="332656"/>
            <a:ext cx="8442971" cy="57945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Demo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布局管理器</a:t>
            </a:r>
            <a:endParaRPr lang="en-US" altLang="zh-CN" dirty="0"/>
          </a:p>
          <a:p>
            <a:pPr lvl="1"/>
            <a:r>
              <a:rPr lang="zh-CN" altLang="en-US" dirty="0"/>
              <a:t>第</a:t>
            </a:r>
            <a:r>
              <a:rPr lang="en-US" altLang="zh-CN" dirty="0"/>
              <a:t>7</a:t>
            </a:r>
            <a:r>
              <a:rPr lang="zh-CN" altLang="en-US" dirty="0"/>
              <a:t>版</a:t>
            </a:r>
            <a:r>
              <a:rPr lang="en-US" altLang="zh-CN" dirty="0"/>
              <a:t>13</a:t>
            </a:r>
            <a:r>
              <a:rPr lang="zh-CN" altLang="en-US" dirty="0"/>
              <a:t>章</a:t>
            </a:r>
            <a:endParaRPr lang="en-US" altLang="zh-CN" dirty="0"/>
          </a:p>
          <a:p>
            <a:pPr lvl="1"/>
            <a:r>
              <a:rPr lang="zh-CN" altLang="en-US" dirty="0"/>
              <a:t>每个布局管理器有些属性可以动态改变</a:t>
            </a:r>
            <a:endParaRPr lang="en-US" altLang="zh-CN" dirty="0"/>
          </a:p>
          <a:p>
            <a:pPr lvl="1"/>
            <a:r>
              <a:rPr lang="en-US" altLang="zh-CN" dirty="0" err="1"/>
              <a:t>setLayout</a:t>
            </a:r>
            <a:r>
              <a:rPr lang="en-US" altLang="zh-CN" dirty="0"/>
              <a:t>, validate </a:t>
            </a:r>
            <a:r>
              <a:rPr lang="en-US" altLang="zh-CN" dirty="0" err="1"/>
              <a:t>doLayout</a:t>
            </a:r>
            <a:endParaRPr lang="zh-CN" alt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图形示例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第</a:t>
            </a:r>
            <a:r>
              <a:rPr lang="en-US" altLang="zh-CN" dirty="0"/>
              <a:t>7</a:t>
            </a:r>
            <a:r>
              <a:rPr lang="zh-CN" altLang="en-US" dirty="0"/>
              <a:t>版第</a:t>
            </a:r>
            <a:r>
              <a:rPr lang="en-US" altLang="zh-CN" dirty="0"/>
              <a:t>14</a:t>
            </a:r>
            <a:r>
              <a:rPr lang="zh-CN" altLang="en-US" dirty="0"/>
              <a:t>章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2051720" y="116632"/>
            <a:ext cx="4752528" cy="295232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" name="矩形 4"/>
          <p:cNvSpPr/>
          <p:nvPr/>
        </p:nvSpPr>
        <p:spPr>
          <a:xfrm>
            <a:off x="2051720" y="116632"/>
            <a:ext cx="4752528" cy="2880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err="1"/>
              <a:t>java.awt.Component</a:t>
            </a:r>
            <a:endParaRPr lang="zh-CN" altLang="en-US" dirty="0"/>
          </a:p>
        </p:txBody>
      </p:sp>
      <p:sp>
        <p:nvSpPr>
          <p:cNvPr id="6" name="矩形 5"/>
          <p:cNvSpPr/>
          <p:nvPr/>
        </p:nvSpPr>
        <p:spPr>
          <a:xfrm>
            <a:off x="2051720" y="404664"/>
            <a:ext cx="4752528" cy="158417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TextBox 6"/>
          <p:cNvSpPr txBox="1"/>
          <p:nvPr/>
        </p:nvSpPr>
        <p:spPr>
          <a:xfrm>
            <a:off x="2123728" y="404664"/>
            <a:ext cx="3408112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-</a:t>
            </a:r>
            <a:r>
              <a:rPr lang="en-US" altLang="zh-CN" dirty="0" err="1"/>
              <a:t>font:java.awt.Font</a:t>
            </a:r>
            <a:endParaRPr lang="en-US" altLang="zh-CN" dirty="0"/>
          </a:p>
          <a:p>
            <a:r>
              <a:rPr lang="en-US" altLang="zh-CN" dirty="0"/>
              <a:t>-</a:t>
            </a:r>
            <a:r>
              <a:rPr lang="en-US" altLang="zh-CN" dirty="0" err="1"/>
              <a:t>background:java.awt.Color</a:t>
            </a:r>
            <a:endParaRPr lang="en-US" altLang="zh-CN" dirty="0"/>
          </a:p>
          <a:p>
            <a:r>
              <a:rPr lang="en-US" altLang="zh-CN" dirty="0"/>
              <a:t>-</a:t>
            </a:r>
            <a:r>
              <a:rPr lang="en-US" altLang="zh-CN" dirty="0" err="1"/>
              <a:t>foreground:java.awt.Color</a:t>
            </a:r>
            <a:endParaRPr lang="en-US" altLang="zh-CN" dirty="0"/>
          </a:p>
          <a:p>
            <a:r>
              <a:rPr lang="en-US" altLang="zh-CN" dirty="0"/>
              <a:t>-</a:t>
            </a:r>
            <a:r>
              <a:rPr lang="en-US" altLang="zh-CN" dirty="0" err="1"/>
              <a:t>preferredSize:java.awt.Dimension</a:t>
            </a:r>
            <a:endParaRPr lang="en-US" altLang="zh-CN" dirty="0"/>
          </a:p>
          <a:p>
            <a:r>
              <a:rPr lang="en-US" altLang="zh-CN" dirty="0"/>
              <a:t>-</a:t>
            </a:r>
            <a:r>
              <a:rPr lang="en-US" altLang="zh-CN" dirty="0" err="1"/>
              <a:t>visible:boolean</a:t>
            </a:r>
            <a:endParaRPr lang="zh-CN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2195736" y="1916264"/>
            <a:ext cx="1669688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+</a:t>
            </a:r>
            <a:r>
              <a:rPr lang="en-US" altLang="zh-CN" dirty="0" err="1"/>
              <a:t>getWidth</a:t>
            </a:r>
            <a:r>
              <a:rPr lang="en-US" altLang="zh-CN" dirty="0"/>
              <a:t>():</a:t>
            </a:r>
            <a:r>
              <a:rPr lang="en-US" altLang="zh-CN" dirty="0" err="1"/>
              <a:t>int</a:t>
            </a:r>
            <a:endParaRPr lang="en-US" altLang="zh-CN" dirty="0"/>
          </a:p>
          <a:p>
            <a:r>
              <a:rPr lang="en-US" altLang="zh-CN" dirty="0"/>
              <a:t>+</a:t>
            </a:r>
            <a:r>
              <a:rPr lang="en-US" altLang="zh-CN" dirty="0" err="1"/>
              <a:t>getHeight</a:t>
            </a:r>
            <a:r>
              <a:rPr lang="en-US" altLang="zh-CN" dirty="0"/>
              <a:t>():</a:t>
            </a:r>
            <a:r>
              <a:rPr lang="en-US" altLang="zh-CN" dirty="0" err="1"/>
              <a:t>int</a:t>
            </a:r>
            <a:endParaRPr lang="en-US" altLang="zh-CN" dirty="0"/>
          </a:p>
          <a:p>
            <a:r>
              <a:rPr lang="en-US" altLang="zh-CN" dirty="0"/>
              <a:t>+</a:t>
            </a:r>
            <a:r>
              <a:rPr lang="en-US" altLang="zh-CN" dirty="0" err="1"/>
              <a:t>getX</a:t>
            </a:r>
            <a:r>
              <a:rPr lang="en-US" altLang="zh-CN" dirty="0"/>
              <a:t>(): </a:t>
            </a:r>
            <a:r>
              <a:rPr lang="en-US" altLang="zh-CN" dirty="0" err="1"/>
              <a:t>int</a:t>
            </a:r>
            <a:endParaRPr lang="en-US" altLang="zh-CN" dirty="0"/>
          </a:p>
          <a:p>
            <a:r>
              <a:rPr lang="en-US" altLang="zh-CN" dirty="0"/>
              <a:t>+</a:t>
            </a:r>
            <a:r>
              <a:rPr lang="en-US" altLang="zh-CN" dirty="0" err="1"/>
              <a:t>getY</a:t>
            </a:r>
            <a:r>
              <a:rPr lang="en-US" altLang="zh-CN" dirty="0"/>
              <a:t>(): </a:t>
            </a:r>
            <a:r>
              <a:rPr lang="en-US" altLang="zh-CN" dirty="0" err="1"/>
              <a:t>int</a:t>
            </a:r>
            <a:endParaRPr lang="zh-CN" altLang="en-US" dirty="0"/>
          </a:p>
        </p:txBody>
      </p:sp>
      <p:sp>
        <p:nvSpPr>
          <p:cNvPr id="9" name="矩形 8"/>
          <p:cNvSpPr/>
          <p:nvPr/>
        </p:nvSpPr>
        <p:spPr>
          <a:xfrm>
            <a:off x="2051720" y="3237351"/>
            <a:ext cx="4752528" cy="206385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0" name="矩形 9"/>
          <p:cNvSpPr/>
          <p:nvPr/>
        </p:nvSpPr>
        <p:spPr>
          <a:xfrm>
            <a:off x="2051720" y="3237351"/>
            <a:ext cx="4752528" cy="2880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err="1"/>
              <a:t>java.awt.Container</a:t>
            </a:r>
            <a:endParaRPr lang="zh-CN" alt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2123728" y="3525383"/>
            <a:ext cx="4589205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+add(</a:t>
            </a:r>
            <a:r>
              <a:rPr lang="en-US" altLang="zh-CN" dirty="0" err="1"/>
              <a:t>comp:Component</a:t>
            </a:r>
            <a:r>
              <a:rPr lang="en-US" altLang="zh-CN" dirty="0"/>
              <a:t>): Component</a:t>
            </a:r>
          </a:p>
          <a:p>
            <a:r>
              <a:rPr lang="en-US" altLang="zh-CN" dirty="0"/>
              <a:t>+add(</a:t>
            </a:r>
            <a:r>
              <a:rPr lang="en-US" altLang="zh-CN" dirty="0" err="1"/>
              <a:t>comp:Component,index:int</a:t>
            </a:r>
            <a:r>
              <a:rPr lang="en-US" altLang="zh-CN" dirty="0"/>
              <a:t>): Component</a:t>
            </a:r>
          </a:p>
          <a:p>
            <a:r>
              <a:rPr lang="en-US" altLang="zh-CN" dirty="0"/>
              <a:t>+remove(</a:t>
            </a:r>
            <a:r>
              <a:rPr lang="en-US" altLang="zh-CN" dirty="0" err="1"/>
              <a:t>comp:Component</a:t>
            </a:r>
            <a:r>
              <a:rPr lang="en-US" altLang="zh-CN" dirty="0"/>
              <a:t>): void</a:t>
            </a:r>
          </a:p>
          <a:p>
            <a:r>
              <a:rPr lang="en-US" altLang="zh-CN" dirty="0"/>
              <a:t>+</a:t>
            </a:r>
            <a:r>
              <a:rPr lang="en-US" altLang="zh-CN" dirty="0" err="1"/>
              <a:t>getLayout</a:t>
            </a:r>
            <a:r>
              <a:rPr lang="en-US" altLang="zh-CN" dirty="0"/>
              <a:t>():</a:t>
            </a:r>
            <a:r>
              <a:rPr lang="en-US" altLang="zh-CN" dirty="0" err="1"/>
              <a:t>LayoutManager</a:t>
            </a:r>
            <a:endParaRPr lang="en-US" altLang="zh-CN" dirty="0"/>
          </a:p>
          <a:p>
            <a:r>
              <a:rPr lang="en-US" altLang="zh-CN" dirty="0"/>
              <a:t>+</a:t>
            </a:r>
            <a:r>
              <a:rPr lang="en-US" altLang="zh-CN" dirty="0" err="1"/>
              <a:t>setLayout</a:t>
            </a:r>
            <a:r>
              <a:rPr lang="en-US" altLang="zh-CN" dirty="0"/>
              <a:t>(l:LayoutManager):void</a:t>
            </a:r>
          </a:p>
          <a:p>
            <a:r>
              <a:rPr lang="en-US" altLang="zh-CN" dirty="0"/>
              <a:t>+</a:t>
            </a:r>
            <a:r>
              <a:rPr lang="en-US" altLang="zh-CN" dirty="0" err="1"/>
              <a:t>paintComponents</a:t>
            </a:r>
            <a:r>
              <a:rPr lang="en-US" altLang="zh-CN" dirty="0"/>
              <a:t>(g: Graphics): void</a:t>
            </a:r>
            <a:endParaRPr lang="zh-CN" altLang="en-US" dirty="0"/>
          </a:p>
        </p:txBody>
      </p:sp>
      <p:sp>
        <p:nvSpPr>
          <p:cNvPr id="14" name="矩形 13"/>
          <p:cNvSpPr/>
          <p:nvPr/>
        </p:nvSpPr>
        <p:spPr>
          <a:xfrm>
            <a:off x="2051720" y="5469599"/>
            <a:ext cx="4752528" cy="98373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5" name="矩形 14"/>
          <p:cNvSpPr/>
          <p:nvPr/>
        </p:nvSpPr>
        <p:spPr>
          <a:xfrm>
            <a:off x="2051720" y="5469599"/>
            <a:ext cx="4752528" cy="2880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err="1"/>
              <a:t>javax.awt.Swing.JComponent</a:t>
            </a:r>
            <a:endParaRPr lang="zh-CN" altLang="en-US" dirty="0"/>
          </a:p>
        </p:txBody>
      </p:sp>
      <p:sp>
        <p:nvSpPr>
          <p:cNvPr id="16" name="TextBox 15"/>
          <p:cNvSpPr txBox="1"/>
          <p:nvPr/>
        </p:nvSpPr>
        <p:spPr>
          <a:xfrm>
            <a:off x="2123728" y="5757631"/>
            <a:ext cx="349018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-</a:t>
            </a:r>
            <a:r>
              <a:rPr lang="en-US" altLang="zh-CN" dirty="0" err="1"/>
              <a:t>toolTipText:String</a:t>
            </a:r>
            <a:endParaRPr lang="en-US" altLang="zh-CN" dirty="0"/>
          </a:p>
          <a:p>
            <a:r>
              <a:rPr lang="en-US" altLang="zh-CN" dirty="0"/>
              <a:t>+border: </a:t>
            </a:r>
            <a:r>
              <a:rPr lang="en-US" altLang="zh-CN" dirty="0" err="1"/>
              <a:t>javax.swing.border.Border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909729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图形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Graphics</a:t>
            </a:r>
            <a:r>
              <a:rPr lang="zh-CN" altLang="en-US" dirty="0"/>
              <a:t>类</a:t>
            </a:r>
          </a:p>
        </p:txBody>
      </p:sp>
    </p:spTree>
    <p:extLst>
      <p:ext uri="{BB962C8B-B14F-4D97-AF65-F5344CB8AC3E}">
        <p14:creationId xmlns:p14="http://schemas.microsoft.com/office/powerpoint/2010/main" val="28349362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4"/>
          <p:cNvSpPr>
            <a:spLocks noGrp="1" noChangeArrowheads="1"/>
          </p:cNvSpPr>
          <p:nvPr>
            <p:ph type="title"/>
          </p:nvPr>
        </p:nvSpPr>
        <p:spPr>
          <a:xfrm>
            <a:off x="900113" y="260350"/>
            <a:ext cx="7772400" cy="792163"/>
          </a:xfrm>
        </p:spPr>
        <p:txBody>
          <a:bodyPr/>
          <a:lstStyle/>
          <a:p>
            <a:r>
              <a:rPr lang="zh-CN" altLang="en-US" sz="3400"/>
              <a:t>事件处理机制</a:t>
            </a:r>
            <a:r>
              <a:rPr lang="en-US" altLang="zh-CN" sz="3400"/>
              <a:t>---</a:t>
            </a:r>
            <a:r>
              <a:rPr lang="zh-CN" altLang="en-US" sz="3400"/>
              <a:t>委托事件处理</a:t>
            </a:r>
          </a:p>
        </p:txBody>
      </p:sp>
      <p:sp>
        <p:nvSpPr>
          <p:cNvPr id="7" name="Rectangle 5"/>
          <p:cNvSpPr>
            <a:spLocks noChangeArrowheads="1"/>
          </p:cNvSpPr>
          <p:nvPr/>
        </p:nvSpPr>
        <p:spPr bwMode="auto">
          <a:xfrm>
            <a:off x="755650" y="5516563"/>
            <a:ext cx="1944688" cy="10795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kumimoji="1" lang="zh-CN" altLang="en-US" sz="2400">
                <a:latin typeface="Times New Roman" charset="0"/>
              </a:rPr>
              <a:t>图形界面程序</a:t>
            </a:r>
            <a:endParaRPr kumimoji="1" lang="en-US" altLang="zh-CN" sz="2400">
              <a:latin typeface="Times New Roman" charset="0"/>
            </a:endParaRPr>
          </a:p>
          <a:p>
            <a:pPr algn="ctr"/>
            <a:r>
              <a:rPr kumimoji="1" lang="zh-CN" altLang="en-US" sz="2000">
                <a:latin typeface="Times New Roman" charset="0"/>
              </a:rPr>
              <a:t>（一个类）</a:t>
            </a:r>
          </a:p>
        </p:txBody>
      </p:sp>
      <p:sp>
        <p:nvSpPr>
          <p:cNvPr id="8" name="Rectangle 6"/>
          <p:cNvSpPr>
            <a:spLocks noChangeArrowheads="1"/>
          </p:cNvSpPr>
          <p:nvPr/>
        </p:nvSpPr>
        <p:spPr bwMode="auto">
          <a:xfrm>
            <a:off x="7164388" y="3502025"/>
            <a:ext cx="1512887" cy="1728788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kumimoji="1" lang="zh-CN" altLang="en-US" sz="2400">
                <a:latin typeface="Times New Roman" charset="0"/>
              </a:rPr>
              <a:t>监听器类</a:t>
            </a:r>
            <a:endParaRPr kumimoji="1" lang="en-US" altLang="zh-CN" sz="2400">
              <a:latin typeface="Times New Roman" charset="0"/>
            </a:endParaRPr>
          </a:p>
          <a:p>
            <a:pPr algn="ctr"/>
            <a:r>
              <a:rPr kumimoji="1" lang="zh-CN" altLang="en-US">
                <a:latin typeface="Times New Roman" charset="0"/>
              </a:rPr>
              <a:t>（含事件处理器）</a:t>
            </a:r>
          </a:p>
        </p:txBody>
      </p:sp>
      <p:sp>
        <p:nvSpPr>
          <p:cNvPr id="9" name="Oval 7"/>
          <p:cNvSpPr>
            <a:spLocks noChangeArrowheads="1"/>
          </p:cNvSpPr>
          <p:nvPr/>
        </p:nvSpPr>
        <p:spPr bwMode="auto">
          <a:xfrm>
            <a:off x="4572000" y="4005263"/>
            <a:ext cx="1800225" cy="936625"/>
          </a:xfrm>
          <a:prstGeom prst="ellipse">
            <a:avLst/>
          </a:prstGeom>
          <a:solidFill>
            <a:srgbClr val="FFFF66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kumimoji="1" lang="zh-CN" altLang="en-US">
                <a:latin typeface="Times New Roman" charset="0"/>
              </a:rPr>
              <a:t>监听器对象</a:t>
            </a:r>
            <a:endParaRPr kumimoji="1" lang="en-US" altLang="zh-CN">
              <a:latin typeface="Times New Roman" charset="0"/>
            </a:endParaRPr>
          </a:p>
          <a:p>
            <a:pPr algn="ctr"/>
            <a:r>
              <a:rPr kumimoji="1" lang="zh-CN" altLang="en-US" sz="1600">
                <a:latin typeface="Times New Roman" charset="0"/>
              </a:rPr>
              <a:t>（含事件处理器）</a:t>
            </a:r>
          </a:p>
        </p:txBody>
      </p:sp>
      <p:sp>
        <p:nvSpPr>
          <p:cNvPr id="10" name="AutoShape 8"/>
          <p:cNvSpPr>
            <a:spLocks noChangeArrowheads="1"/>
          </p:cNvSpPr>
          <p:nvPr/>
        </p:nvSpPr>
        <p:spPr bwMode="auto">
          <a:xfrm>
            <a:off x="6445250" y="4078288"/>
            <a:ext cx="719138" cy="647700"/>
          </a:xfrm>
          <a:prstGeom prst="leftArrow">
            <a:avLst>
              <a:gd name="adj1" fmla="val 50000"/>
              <a:gd name="adj2" fmla="val 27757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kumimoji="1" lang="zh-CN" altLang="en-US" sz="1600">
                <a:latin typeface="Times New Roman" charset="0"/>
              </a:rPr>
              <a:t>实例化</a:t>
            </a:r>
          </a:p>
        </p:txBody>
      </p:sp>
      <p:sp>
        <p:nvSpPr>
          <p:cNvPr id="11" name="AutoShape 9"/>
          <p:cNvSpPr>
            <a:spLocks noChangeArrowheads="1"/>
          </p:cNvSpPr>
          <p:nvPr/>
        </p:nvSpPr>
        <p:spPr bwMode="auto">
          <a:xfrm>
            <a:off x="2916238" y="4076700"/>
            <a:ext cx="1584325" cy="647700"/>
          </a:xfrm>
          <a:prstGeom prst="leftArrow">
            <a:avLst>
              <a:gd name="adj1" fmla="val 50000"/>
              <a:gd name="adj2" fmla="val 61152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kumimoji="1" lang="zh-CN" altLang="en-US">
                <a:latin typeface="Times New Roman" charset="0"/>
              </a:rPr>
              <a:t>注册</a:t>
            </a:r>
          </a:p>
        </p:txBody>
      </p:sp>
      <p:sp>
        <p:nvSpPr>
          <p:cNvPr id="12" name="AutoShape 10"/>
          <p:cNvSpPr>
            <a:spLocks noChangeArrowheads="1"/>
          </p:cNvSpPr>
          <p:nvPr/>
        </p:nvSpPr>
        <p:spPr bwMode="auto">
          <a:xfrm>
            <a:off x="1116013" y="1989138"/>
            <a:ext cx="792162" cy="1873250"/>
          </a:xfrm>
          <a:prstGeom prst="downArrow">
            <a:avLst>
              <a:gd name="adj1" fmla="val 50000"/>
              <a:gd name="adj2" fmla="val 59118"/>
            </a:avLst>
          </a:prstGeom>
          <a:solidFill>
            <a:srgbClr val="FF33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kumimoji="1" lang="zh-CN" altLang="en-US" sz="2400">
                <a:solidFill>
                  <a:schemeClr val="bg1"/>
                </a:solidFill>
                <a:latin typeface="Times New Roman" charset="0"/>
              </a:rPr>
              <a:t>外</a:t>
            </a:r>
            <a:endParaRPr kumimoji="1" lang="en-US" altLang="zh-CN" sz="2400">
              <a:solidFill>
                <a:schemeClr val="bg1"/>
              </a:solidFill>
              <a:latin typeface="Times New Roman" charset="0"/>
            </a:endParaRPr>
          </a:p>
          <a:p>
            <a:pPr algn="ctr"/>
            <a:r>
              <a:rPr kumimoji="1" lang="zh-CN" altLang="en-US" sz="2400">
                <a:solidFill>
                  <a:schemeClr val="bg1"/>
                </a:solidFill>
                <a:latin typeface="Times New Roman" charset="0"/>
              </a:rPr>
              <a:t>部</a:t>
            </a:r>
            <a:endParaRPr kumimoji="1" lang="en-US" altLang="zh-CN" sz="2400">
              <a:solidFill>
                <a:schemeClr val="bg1"/>
              </a:solidFill>
              <a:latin typeface="Times New Roman" charset="0"/>
            </a:endParaRPr>
          </a:p>
          <a:p>
            <a:pPr algn="ctr"/>
            <a:r>
              <a:rPr kumimoji="1" lang="zh-CN" altLang="en-US" sz="2400">
                <a:solidFill>
                  <a:schemeClr val="bg1"/>
                </a:solidFill>
                <a:latin typeface="Times New Roman" charset="0"/>
              </a:rPr>
              <a:t>动</a:t>
            </a:r>
            <a:endParaRPr kumimoji="1" lang="en-US" altLang="zh-CN" sz="2400">
              <a:solidFill>
                <a:schemeClr val="bg1"/>
              </a:solidFill>
              <a:latin typeface="Times New Roman" charset="0"/>
            </a:endParaRPr>
          </a:p>
          <a:p>
            <a:pPr algn="ctr"/>
            <a:r>
              <a:rPr kumimoji="1" lang="zh-CN" altLang="en-US" sz="2400">
                <a:solidFill>
                  <a:schemeClr val="bg1"/>
                </a:solidFill>
                <a:latin typeface="Times New Roman" charset="0"/>
              </a:rPr>
              <a:t>作</a:t>
            </a:r>
          </a:p>
        </p:txBody>
      </p:sp>
      <p:sp>
        <p:nvSpPr>
          <p:cNvPr id="13" name="AutoShape 11"/>
          <p:cNvSpPr>
            <a:spLocks noChangeArrowheads="1"/>
          </p:cNvSpPr>
          <p:nvPr/>
        </p:nvSpPr>
        <p:spPr bwMode="auto">
          <a:xfrm rot="5400000">
            <a:off x="4428331" y="3069432"/>
            <a:ext cx="1008063" cy="863600"/>
          </a:xfrm>
          <a:custGeom>
            <a:avLst/>
            <a:gdLst>
              <a:gd name="G0" fmla="+- 15126 0 0"/>
              <a:gd name="G1" fmla="+- 2912 0 0"/>
              <a:gd name="G2" fmla="+- 12158 0 2912"/>
              <a:gd name="G3" fmla="+- G2 0 2912"/>
              <a:gd name="G4" fmla="*/ G3 32768 32059"/>
              <a:gd name="G5" fmla="*/ G4 1 2"/>
              <a:gd name="G6" fmla="+- 21600 0 15126"/>
              <a:gd name="G7" fmla="*/ G6 2912 6079"/>
              <a:gd name="G8" fmla="+- G7 15126 0"/>
              <a:gd name="T0" fmla="*/ 15126 w 21600"/>
              <a:gd name="T1" fmla="*/ 0 h 21600"/>
              <a:gd name="T2" fmla="*/ 15126 w 21600"/>
              <a:gd name="T3" fmla="*/ 12158 h 21600"/>
              <a:gd name="T4" fmla="*/ 3237 w 21600"/>
              <a:gd name="T5" fmla="*/ 21600 h 21600"/>
              <a:gd name="T6" fmla="*/ 21600 w 21600"/>
              <a:gd name="T7" fmla="*/ 6079 h 21600"/>
              <a:gd name="T8" fmla="*/ 17694720 60000 65536"/>
              <a:gd name="T9" fmla="*/ 5898240 60000 65536"/>
              <a:gd name="T10" fmla="*/ 5898240 60000 65536"/>
              <a:gd name="T11" fmla="*/ 0 60000 65536"/>
              <a:gd name="T12" fmla="*/ 12427 w 21600"/>
              <a:gd name="T13" fmla="*/ G1 h 21600"/>
              <a:gd name="T14" fmla="*/ G8 w 21600"/>
              <a:gd name="T15" fmla="*/ G2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21600" y="6079"/>
                </a:moveTo>
                <a:lnTo>
                  <a:pt x="15126" y="0"/>
                </a:lnTo>
                <a:lnTo>
                  <a:pt x="15126" y="2912"/>
                </a:lnTo>
                <a:lnTo>
                  <a:pt x="12427" y="2912"/>
                </a:lnTo>
                <a:cubicBezTo>
                  <a:pt x="5564" y="2912"/>
                  <a:pt x="0" y="7052"/>
                  <a:pt x="0" y="12158"/>
                </a:cubicBezTo>
                <a:lnTo>
                  <a:pt x="0" y="21600"/>
                </a:lnTo>
                <a:lnTo>
                  <a:pt x="6474" y="21600"/>
                </a:lnTo>
                <a:lnTo>
                  <a:pt x="6474" y="12158"/>
                </a:lnTo>
                <a:cubicBezTo>
                  <a:pt x="6474" y="10550"/>
                  <a:pt x="9139" y="9246"/>
                  <a:pt x="12427" y="9246"/>
                </a:cubicBezTo>
                <a:lnTo>
                  <a:pt x="15126" y="9246"/>
                </a:lnTo>
                <a:lnTo>
                  <a:pt x="15126" y="12158"/>
                </a:lnTo>
                <a:close/>
              </a:path>
            </a:pathLst>
          </a:cu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/>
            <a:endParaRPr kumimoji="1" lang="zh-CN" altLang="en-US" sz="2400">
              <a:latin typeface="Times New Roman" charset="0"/>
            </a:endParaRPr>
          </a:p>
        </p:txBody>
      </p:sp>
      <p:sp>
        <p:nvSpPr>
          <p:cNvPr id="14" name="Oval 12"/>
          <p:cNvSpPr>
            <a:spLocks noChangeArrowheads="1"/>
          </p:cNvSpPr>
          <p:nvPr/>
        </p:nvSpPr>
        <p:spPr bwMode="auto">
          <a:xfrm>
            <a:off x="3348038" y="2709863"/>
            <a:ext cx="1152525" cy="792162"/>
          </a:xfrm>
          <a:prstGeom prst="ellipse">
            <a:avLst/>
          </a:prstGeom>
          <a:solidFill>
            <a:srgbClr val="FFFF66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kumimoji="1" lang="zh-CN" altLang="en-US" sz="2000">
                <a:latin typeface="Times New Roman" charset="0"/>
              </a:rPr>
              <a:t>事件</a:t>
            </a:r>
            <a:endParaRPr kumimoji="1" lang="en-US" altLang="zh-CN" sz="2000">
              <a:latin typeface="Times New Roman" charset="0"/>
            </a:endParaRPr>
          </a:p>
          <a:p>
            <a:pPr algn="ctr"/>
            <a:r>
              <a:rPr kumimoji="1" lang="zh-CN" altLang="en-US" sz="2000">
                <a:latin typeface="Times New Roman" charset="0"/>
              </a:rPr>
              <a:t>对象</a:t>
            </a:r>
          </a:p>
        </p:txBody>
      </p:sp>
      <p:sp>
        <p:nvSpPr>
          <p:cNvPr id="15" name="AutoShape 13"/>
          <p:cNvSpPr>
            <a:spLocks noChangeArrowheads="1"/>
          </p:cNvSpPr>
          <p:nvPr/>
        </p:nvSpPr>
        <p:spPr bwMode="auto">
          <a:xfrm>
            <a:off x="2339975" y="2924175"/>
            <a:ext cx="1008063" cy="936625"/>
          </a:xfrm>
          <a:custGeom>
            <a:avLst/>
            <a:gdLst>
              <a:gd name="G0" fmla="+- 15126 0 0"/>
              <a:gd name="G1" fmla="+- 2912 0 0"/>
              <a:gd name="G2" fmla="+- 12158 0 2912"/>
              <a:gd name="G3" fmla="+- G2 0 2912"/>
              <a:gd name="G4" fmla="*/ G3 32768 32059"/>
              <a:gd name="G5" fmla="*/ G4 1 2"/>
              <a:gd name="G6" fmla="+- 21600 0 15126"/>
              <a:gd name="G7" fmla="*/ G6 2912 6079"/>
              <a:gd name="G8" fmla="+- G7 15126 0"/>
              <a:gd name="T0" fmla="*/ 15126 w 21600"/>
              <a:gd name="T1" fmla="*/ 0 h 21600"/>
              <a:gd name="T2" fmla="*/ 15126 w 21600"/>
              <a:gd name="T3" fmla="*/ 12158 h 21600"/>
              <a:gd name="T4" fmla="*/ 3237 w 21600"/>
              <a:gd name="T5" fmla="*/ 21600 h 21600"/>
              <a:gd name="T6" fmla="*/ 21600 w 21600"/>
              <a:gd name="T7" fmla="*/ 6079 h 21600"/>
              <a:gd name="T8" fmla="*/ 17694720 60000 65536"/>
              <a:gd name="T9" fmla="*/ 5898240 60000 65536"/>
              <a:gd name="T10" fmla="*/ 5898240 60000 65536"/>
              <a:gd name="T11" fmla="*/ 0 60000 65536"/>
              <a:gd name="T12" fmla="*/ 12427 w 21600"/>
              <a:gd name="T13" fmla="*/ G1 h 21600"/>
              <a:gd name="T14" fmla="*/ G8 w 21600"/>
              <a:gd name="T15" fmla="*/ G2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21600" y="6079"/>
                </a:moveTo>
                <a:lnTo>
                  <a:pt x="15126" y="0"/>
                </a:lnTo>
                <a:lnTo>
                  <a:pt x="15126" y="2912"/>
                </a:lnTo>
                <a:lnTo>
                  <a:pt x="12427" y="2912"/>
                </a:lnTo>
                <a:cubicBezTo>
                  <a:pt x="5564" y="2912"/>
                  <a:pt x="0" y="7052"/>
                  <a:pt x="0" y="12158"/>
                </a:cubicBezTo>
                <a:lnTo>
                  <a:pt x="0" y="21600"/>
                </a:lnTo>
                <a:lnTo>
                  <a:pt x="6474" y="21600"/>
                </a:lnTo>
                <a:lnTo>
                  <a:pt x="6474" y="12158"/>
                </a:lnTo>
                <a:cubicBezTo>
                  <a:pt x="6474" y="10550"/>
                  <a:pt x="9139" y="9246"/>
                  <a:pt x="12427" y="9246"/>
                </a:cubicBezTo>
                <a:lnTo>
                  <a:pt x="15126" y="9246"/>
                </a:lnTo>
                <a:lnTo>
                  <a:pt x="15126" y="12158"/>
                </a:lnTo>
                <a:close/>
              </a:path>
            </a:pathLst>
          </a:cu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kumimoji="1" lang="zh-CN" altLang="en-US" sz="2400">
              <a:latin typeface="Times New Roman" charset="0"/>
            </a:endParaRPr>
          </a:p>
        </p:txBody>
      </p:sp>
      <p:sp>
        <p:nvSpPr>
          <p:cNvPr id="16" name="AutoShape 14"/>
          <p:cNvSpPr>
            <a:spLocks noChangeArrowheads="1"/>
          </p:cNvSpPr>
          <p:nvPr/>
        </p:nvSpPr>
        <p:spPr bwMode="auto">
          <a:xfrm>
            <a:off x="2197100" y="1341438"/>
            <a:ext cx="1582738" cy="1152525"/>
          </a:xfrm>
          <a:prstGeom prst="wedgeRectCallout">
            <a:avLst>
              <a:gd name="adj1" fmla="val -26227"/>
              <a:gd name="adj2" fmla="val 115838"/>
            </a:avLst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r>
              <a:rPr kumimoji="1" lang="zh-CN" altLang="en-US" sz="2400">
                <a:latin typeface="Times New Roman" charset="0"/>
              </a:rPr>
              <a:t>产生并传递事件对象</a:t>
            </a:r>
          </a:p>
        </p:txBody>
      </p:sp>
      <p:sp>
        <p:nvSpPr>
          <p:cNvPr id="17" name="AutoShape 15"/>
          <p:cNvSpPr>
            <a:spLocks noChangeArrowheads="1"/>
          </p:cNvSpPr>
          <p:nvPr/>
        </p:nvSpPr>
        <p:spPr bwMode="auto">
          <a:xfrm>
            <a:off x="4645025" y="1341438"/>
            <a:ext cx="2952750" cy="1152525"/>
          </a:xfrm>
          <a:prstGeom prst="wedgeRectCallout">
            <a:avLst>
              <a:gd name="adj1" fmla="val -37259"/>
              <a:gd name="adj2" fmla="val 115838"/>
            </a:avLst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r>
              <a:rPr kumimoji="1" lang="zh-CN" altLang="en-US" sz="2400">
                <a:latin typeface="Times New Roman" charset="0"/>
              </a:rPr>
              <a:t>接收事件对象，激活事件处理器，实现预定功能</a:t>
            </a:r>
          </a:p>
        </p:txBody>
      </p:sp>
      <p:sp>
        <p:nvSpPr>
          <p:cNvPr id="18" name="Oval 16"/>
          <p:cNvSpPr>
            <a:spLocks noChangeArrowheads="1"/>
          </p:cNvSpPr>
          <p:nvPr/>
        </p:nvSpPr>
        <p:spPr bwMode="auto">
          <a:xfrm>
            <a:off x="684213" y="3933825"/>
            <a:ext cx="2087562" cy="1008063"/>
          </a:xfrm>
          <a:prstGeom prst="ellipse">
            <a:avLst/>
          </a:prstGeom>
          <a:solidFill>
            <a:srgbClr val="FFFF66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zh-CN" altLang="en-US" sz="2400">
                <a:latin typeface="Times New Roman" charset="0"/>
              </a:rPr>
              <a:t>事件源</a:t>
            </a:r>
            <a:endParaRPr lang="en-US" altLang="zh-CN" sz="2400">
              <a:latin typeface="Times New Roman" charset="0"/>
            </a:endParaRPr>
          </a:p>
          <a:p>
            <a:pPr algn="ctr"/>
            <a:r>
              <a:rPr kumimoji="1" lang="zh-CN" altLang="en-US">
                <a:latin typeface="Times New Roman" charset="0"/>
              </a:rPr>
              <a:t>（例如一个按钮）</a:t>
            </a:r>
          </a:p>
        </p:txBody>
      </p:sp>
      <p:sp>
        <p:nvSpPr>
          <p:cNvPr id="19" name="AutoShape 17"/>
          <p:cNvSpPr>
            <a:spLocks noChangeArrowheads="1"/>
          </p:cNvSpPr>
          <p:nvPr/>
        </p:nvSpPr>
        <p:spPr bwMode="auto">
          <a:xfrm>
            <a:off x="1258888" y="4941888"/>
            <a:ext cx="1009650" cy="503237"/>
          </a:xfrm>
          <a:prstGeom prst="upArrow">
            <a:avLst>
              <a:gd name="adj1" fmla="val 50000"/>
              <a:gd name="adj2" fmla="val 25000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kumimoji="1" lang="zh-CN" altLang="en-US" sz="2000">
                <a:latin typeface="Times New Roman" charset="0"/>
              </a:rPr>
              <a:t>含有</a:t>
            </a:r>
          </a:p>
        </p:txBody>
      </p:sp>
    </p:spTree>
    <p:extLst>
      <p:ext uri="{BB962C8B-B14F-4D97-AF65-F5344CB8AC3E}">
        <p14:creationId xmlns:p14="http://schemas.microsoft.com/office/powerpoint/2010/main" val="24230601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8" presetClass="entr" presetSubtype="0" ac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80000">
                                          <p:val>
                                            <p:fltVal val="90"/>
                                          </p:val>
                                        </p:tav>
                                        <p:tav tm="8000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1"/>
                                          </p:val>
                                        </p:tav>
                                        <p:tav tm="50000">
                                          <p:val>
                                            <p:fltVal val="0.9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43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事件监听机制流程图</a:t>
            </a:r>
          </a:p>
        </p:txBody>
      </p:sp>
      <p:sp>
        <p:nvSpPr>
          <p:cNvPr id="4" name="AutoShape 3"/>
          <p:cNvSpPr>
            <a:spLocks noChangeArrowheads="1"/>
          </p:cNvSpPr>
          <p:nvPr/>
        </p:nvSpPr>
        <p:spPr bwMode="auto">
          <a:xfrm>
            <a:off x="395288" y="4365625"/>
            <a:ext cx="2016125" cy="792163"/>
          </a:xfrm>
          <a:prstGeom prst="roundRect">
            <a:avLst>
              <a:gd name="adj" fmla="val 16667"/>
            </a:avLst>
          </a:prstGeom>
          <a:noFill/>
          <a:ln w="9525" cmpd="sng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tx1"/>
              </a:buClr>
              <a:buSzPct val="70000"/>
              <a:buFont typeface="Wingdings" pitchFamily="2" charset="2"/>
              <a:buNone/>
            </a:pPr>
            <a:r>
              <a:rPr lang="zh-CN"/>
              <a:t>事件源</a:t>
            </a:r>
            <a:r>
              <a:rPr lang="zh-CN" altLang="zh-CN"/>
              <a:t>(</a:t>
            </a:r>
            <a:r>
              <a:rPr lang="zh-CN"/>
              <a:t>组件</a:t>
            </a:r>
            <a:r>
              <a:rPr lang="zh-CN" altLang="zh-CN"/>
              <a:t>)</a:t>
            </a:r>
          </a:p>
        </p:txBody>
      </p:sp>
      <p:sp>
        <p:nvSpPr>
          <p:cNvPr id="5" name="AutoShape 4"/>
          <p:cNvSpPr>
            <a:spLocks noChangeArrowheads="1"/>
          </p:cNvSpPr>
          <p:nvPr/>
        </p:nvSpPr>
        <p:spPr bwMode="auto">
          <a:xfrm>
            <a:off x="6011863" y="4941888"/>
            <a:ext cx="2806700" cy="1296987"/>
          </a:xfrm>
          <a:prstGeom prst="roundRect">
            <a:avLst>
              <a:gd name="adj" fmla="val 16667"/>
            </a:avLst>
          </a:prstGeom>
          <a:noFill/>
          <a:ln w="9525" cmpd="sng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tx1"/>
              </a:buClr>
              <a:buSzPct val="70000"/>
              <a:buFont typeface="Wingdings" pitchFamily="2" charset="2"/>
              <a:buNone/>
            </a:pPr>
            <a:r>
              <a:rPr lang="zh-CN"/>
              <a:t>监听器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tx1"/>
              </a:buClr>
              <a:buSzPct val="70000"/>
              <a:buFont typeface="Wingdings" pitchFamily="2" charset="2"/>
              <a:buNone/>
            </a:pPr>
            <a:r>
              <a:rPr lang="zh-CN"/>
              <a:t>监听引发事件的动作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tx1"/>
              </a:buClr>
              <a:buSzPct val="70000"/>
              <a:buFont typeface="Wingdings" pitchFamily="2" charset="2"/>
              <a:buNone/>
            </a:pPr>
            <a:r>
              <a:rPr lang="zh-CN" altLang="zh-CN"/>
              <a:t>(</a:t>
            </a:r>
            <a:r>
              <a:rPr lang="zh-CN"/>
              <a:t>事件处理方式</a:t>
            </a:r>
            <a:r>
              <a:rPr lang="zh-CN" altLang="zh-CN"/>
              <a:t>)</a:t>
            </a:r>
          </a:p>
        </p:txBody>
      </p:sp>
      <p:cxnSp>
        <p:nvCxnSpPr>
          <p:cNvPr id="6" name="AutoShape 5"/>
          <p:cNvCxnSpPr>
            <a:cxnSpLocks noChangeShapeType="1"/>
            <a:stCxn id="4" idx="2"/>
          </p:cNvCxnSpPr>
          <p:nvPr/>
        </p:nvCxnSpPr>
        <p:spPr bwMode="auto">
          <a:xfrm rot="16200000" flipH="1">
            <a:off x="3348038" y="3213100"/>
            <a:ext cx="719137" cy="4608513"/>
          </a:xfrm>
          <a:prstGeom prst="bentConnector2">
            <a:avLst/>
          </a:prstGeom>
          <a:noFill/>
          <a:ln w="9525" cmpd="sng">
            <a:solidFill>
              <a:schemeClr val="tx1"/>
            </a:solidFill>
            <a:miter lim="800000"/>
            <a:headEnd type="triangle" w="med" len="med"/>
            <a:tailEnd/>
          </a:ln>
          <a:effectLst/>
        </p:spPr>
      </p:cxnSp>
      <p:sp>
        <p:nvSpPr>
          <p:cNvPr id="7" name="Text Box 6"/>
          <p:cNvSpPr txBox="1">
            <a:spLocks noChangeArrowheads="1"/>
          </p:cNvSpPr>
          <p:nvPr/>
        </p:nvSpPr>
        <p:spPr bwMode="auto">
          <a:xfrm>
            <a:off x="1979613" y="5876925"/>
            <a:ext cx="3095625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342900" indent="-342900">
              <a:lnSpc>
                <a:spcPct val="90000"/>
              </a:lnSpc>
              <a:spcBef>
                <a:spcPct val="50000"/>
              </a:spcBef>
              <a:buClr>
                <a:schemeClr val="tx1"/>
              </a:buClr>
              <a:buSzPct val="70000"/>
              <a:buFont typeface="Wingdings" pitchFamily="2" charset="2"/>
              <a:buNone/>
            </a:pPr>
            <a:r>
              <a:rPr lang="zh-CN" altLang="zh-CN"/>
              <a:t>1  </a:t>
            </a:r>
            <a:r>
              <a:rPr lang="zh-CN"/>
              <a:t>将监听器注册到事件源</a:t>
            </a:r>
          </a:p>
        </p:txBody>
      </p:sp>
      <p:sp>
        <p:nvSpPr>
          <p:cNvPr id="8" name="Oval 7"/>
          <p:cNvSpPr>
            <a:spLocks noChangeArrowheads="1"/>
          </p:cNvSpPr>
          <p:nvPr/>
        </p:nvSpPr>
        <p:spPr bwMode="auto">
          <a:xfrm>
            <a:off x="684213" y="2060575"/>
            <a:ext cx="1800225" cy="790575"/>
          </a:xfrm>
          <a:prstGeom prst="ellipse">
            <a:avLst/>
          </a:prstGeom>
          <a:noFill/>
          <a:ln w="9525" cmpd="sng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tx1"/>
              </a:buClr>
              <a:buSzPct val="70000"/>
              <a:buFont typeface="Wingdings" pitchFamily="2" charset="2"/>
              <a:buNone/>
            </a:pPr>
            <a:r>
              <a:rPr lang="zh-CN" dirty="0"/>
              <a:t>外部动作</a:t>
            </a:r>
          </a:p>
        </p:txBody>
      </p:sp>
      <p:sp>
        <p:nvSpPr>
          <p:cNvPr id="9" name="Line 8"/>
          <p:cNvSpPr>
            <a:spLocks noChangeShapeType="1"/>
          </p:cNvSpPr>
          <p:nvPr/>
        </p:nvSpPr>
        <p:spPr bwMode="auto">
          <a:xfrm>
            <a:off x="1547813" y="2924175"/>
            <a:ext cx="0" cy="1441450"/>
          </a:xfrm>
          <a:prstGeom prst="line">
            <a:avLst/>
          </a:prstGeom>
          <a:noFill/>
          <a:ln w="9525" cmpd="sng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0" name="Text Box 9"/>
          <p:cNvSpPr txBox="1">
            <a:spLocks noChangeArrowheads="1"/>
          </p:cNvSpPr>
          <p:nvPr/>
        </p:nvSpPr>
        <p:spPr bwMode="auto">
          <a:xfrm>
            <a:off x="1547813" y="2924175"/>
            <a:ext cx="3024187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342900" indent="-342900" algn="l">
              <a:lnSpc>
                <a:spcPct val="90000"/>
              </a:lnSpc>
              <a:spcBef>
                <a:spcPct val="50000"/>
              </a:spcBef>
              <a:buClr>
                <a:schemeClr val="tx1"/>
              </a:buClr>
              <a:buSzPct val="70000"/>
              <a:buFont typeface="Wingdings" pitchFamily="2" charset="2"/>
              <a:buNone/>
            </a:pPr>
            <a:r>
              <a:rPr lang="zh-CN" altLang="zh-CN"/>
              <a:t>2  </a:t>
            </a:r>
            <a:r>
              <a:rPr lang="zh-CN"/>
              <a:t>有监听器所监听的动作作于事件源上</a:t>
            </a:r>
          </a:p>
        </p:txBody>
      </p:sp>
      <p:grpSp>
        <p:nvGrpSpPr>
          <p:cNvPr id="11" name="Group 10"/>
          <p:cNvGrpSpPr>
            <a:grpSpLocks/>
          </p:cNvGrpSpPr>
          <p:nvPr/>
        </p:nvGrpSpPr>
        <p:grpSpPr bwMode="auto">
          <a:xfrm>
            <a:off x="2124075" y="4221163"/>
            <a:ext cx="2232025" cy="144462"/>
            <a:chOff x="0" y="0"/>
            <a:chExt cx="952" cy="318"/>
          </a:xfrm>
        </p:grpSpPr>
        <p:sp>
          <p:nvSpPr>
            <p:cNvPr id="12" name="Line 11"/>
            <p:cNvSpPr>
              <a:spLocks noChangeShapeType="1"/>
            </p:cNvSpPr>
            <p:nvPr/>
          </p:nvSpPr>
          <p:spPr bwMode="auto">
            <a:xfrm flipV="1">
              <a:off x="0" y="0"/>
              <a:ext cx="0" cy="318"/>
            </a:xfrm>
            <a:prstGeom prst="line">
              <a:avLst/>
            </a:prstGeom>
            <a:noFill/>
            <a:ln w="9525" cmpd="sng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" name="Line 12"/>
            <p:cNvSpPr>
              <a:spLocks noChangeShapeType="1"/>
            </p:cNvSpPr>
            <p:nvPr/>
          </p:nvSpPr>
          <p:spPr bwMode="auto">
            <a:xfrm>
              <a:off x="0" y="0"/>
              <a:ext cx="952" cy="0"/>
            </a:xfrm>
            <a:prstGeom prst="line">
              <a:avLst/>
            </a:prstGeom>
            <a:noFill/>
            <a:ln w="9525" cmpd="sng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4" name="AutoShape 13"/>
          <p:cNvSpPr>
            <a:spLocks noChangeArrowheads="1"/>
          </p:cNvSpPr>
          <p:nvPr/>
        </p:nvSpPr>
        <p:spPr bwMode="auto">
          <a:xfrm>
            <a:off x="4356100" y="4005263"/>
            <a:ext cx="1728788" cy="576262"/>
          </a:xfrm>
          <a:prstGeom prst="roundRect">
            <a:avLst>
              <a:gd name="adj" fmla="val 16667"/>
            </a:avLst>
          </a:prstGeom>
          <a:noFill/>
          <a:ln w="9525" cmpd="sng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tx1"/>
              </a:buClr>
              <a:buSzPct val="70000"/>
              <a:buFont typeface="Wingdings" pitchFamily="2" charset="2"/>
              <a:buNone/>
            </a:pPr>
            <a:r>
              <a:rPr lang="zh-CN"/>
              <a:t>事件对象</a:t>
            </a:r>
          </a:p>
        </p:txBody>
      </p:sp>
      <p:grpSp>
        <p:nvGrpSpPr>
          <p:cNvPr id="15" name="Group 14"/>
          <p:cNvGrpSpPr>
            <a:grpSpLocks/>
          </p:cNvGrpSpPr>
          <p:nvPr/>
        </p:nvGrpSpPr>
        <p:grpSpPr bwMode="auto">
          <a:xfrm>
            <a:off x="6084888" y="4221163"/>
            <a:ext cx="1800225" cy="792162"/>
            <a:chOff x="0" y="0"/>
            <a:chExt cx="1179" cy="408"/>
          </a:xfrm>
        </p:grpSpPr>
        <p:sp>
          <p:nvSpPr>
            <p:cNvPr id="16" name="Line 15"/>
            <p:cNvSpPr>
              <a:spLocks noChangeShapeType="1"/>
            </p:cNvSpPr>
            <p:nvPr/>
          </p:nvSpPr>
          <p:spPr bwMode="auto">
            <a:xfrm>
              <a:off x="1179" y="0"/>
              <a:ext cx="0" cy="408"/>
            </a:xfrm>
            <a:prstGeom prst="line">
              <a:avLst/>
            </a:prstGeom>
            <a:noFill/>
            <a:ln w="9525" cmpd="sng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" name="Line 16"/>
            <p:cNvSpPr>
              <a:spLocks noChangeShapeType="1"/>
            </p:cNvSpPr>
            <p:nvPr/>
          </p:nvSpPr>
          <p:spPr bwMode="auto">
            <a:xfrm>
              <a:off x="0" y="0"/>
              <a:ext cx="1179" cy="0"/>
            </a:xfrm>
            <a:prstGeom prst="line">
              <a:avLst/>
            </a:prstGeom>
            <a:noFill/>
            <a:ln w="9525" cmpd="sng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8" name="Text Box 17"/>
          <p:cNvSpPr txBox="1">
            <a:spLocks noChangeArrowheads="1"/>
          </p:cNvSpPr>
          <p:nvPr/>
        </p:nvSpPr>
        <p:spPr bwMode="auto">
          <a:xfrm>
            <a:off x="2339975" y="4292600"/>
            <a:ext cx="2016125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342900" indent="-342900">
              <a:lnSpc>
                <a:spcPct val="90000"/>
              </a:lnSpc>
              <a:spcBef>
                <a:spcPct val="50000"/>
              </a:spcBef>
              <a:buClr>
                <a:schemeClr val="tx1"/>
              </a:buClr>
              <a:buSzPct val="70000"/>
              <a:buFont typeface="Wingdings" pitchFamily="2" charset="2"/>
              <a:buNone/>
            </a:pPr>
            <a:r>
              <a:rPr lang="zh-CN" altLang="zh-CN"/>
              <a:t>3 </a:t>
            </a:r>
            <a:r>
              <a:rPr lang="zh-CN"/>
              <a:t>产生事件对象</a:t>
            </a:r>
          </a:p>
        </p:txBody>
      </p:sp>
      <p:sp>
        <p:nvSpPr>
          <p:cNvPr id="19" name="Text Box 18"/>
          <p:cNvSpPr txBox="1">
            <a:spLocks noChangeArrowheads="1"/>
          </p:cNvSpPr>
          <p:nvPr/>
        </p:nvSpPr>
        <p:spPr bwMode="auto">
          <a:xfrm>
            <a:off x="6156325" y="3500438"/>
            <a:ext cx="230505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342900" indent="-342900">
              <a:lnSpc>
                <a:spcPct val="90000"/>
              </a:lnSpc>
              <a:spcBef>
                <a:spcPct val="50000"/>
              </a:spcBef>
              <a:buClr>
                <a:schemeClr val="tx1"/>
              </a:buClr>
              <a:buSzPct val="70000"/>
              <a:buFont typeface="Wingdings" pitchFamily="2" charset="2"/>
              <a:buNone/>
            </a:pPr>
            <a:r>
              <a:rPr lang="zh-CN" altLang="zh-CN"/>
              <a:t>4 </a:t>
            </a:r>
            <a:r>
              <a:rPr lang="zh-CN"/>
              <a:t>将事件对象传给事件处理方式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900113" y="260350"/>
            <a:ext cx="7772400" cy="792163"/>
          </a:xfrm>
        </p:spPr>
        <p:txBody>
          <a:bodyPr/>
          <a:lstStyle/>
          <a:p>
            <a:r>
              <a:rPr lang="zh-CN" altLang="en-US"/>
              <a:t>事件处理实例：关闭窗口</a:t>
            </a:r>
          </a:p>
        </p:txBody>
      </p:sp>
      <p:sp>
        <p:nvSpPr>
          <p:cNvPr id="6" name="Rectangle 3"/>
          <p:cNvSpPr>
            <a:spLocks noChangeArrowheads="1"/>
          </p:cNvSpPr>
          <p:nvPr/>
        </p:nvSpPr>
        <p:spPr bwMode="auto">
          <a:xfrm>
            <a:off x="466725" y="5516563"/>
            <a:ext cx="1944688" cy="10795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kumimoji="1" lang="zh-CN" altLang="en-US" sz="2400">
                <a:latin typeface="Times New Roman" charset="0"/>
              </a:rPr>
              <a:t>图形界面程序</a:t>
            </a:r>
            <a:endParaRPr kumimoji="1" lang="en-US" altLang="zh-CN" sz="2400">
              <a:latin typeface="Times New Roman" charset="0"/>
            </a:endParaRPr>
          </a:p>
          <a:p>
            <a:pPr algn="ctr"/>
            <a:r>
              <a:rPr kumimoji="1" lang="zh-CN" altLang="en-US" sz="2000">
                <a:latin typeface="Times New Roman" charset="0"/>
              </a:rPr>
              <a:t>（</a:t>
            </a:r>
            <a:r>
              <a:rPr kumimoji="1" lang="en-US" altLang="zh-CN" sz="2000">
                <a:latin typeface="Times New Roman" charset="0"/>
              </a:rPr>
              <a:t>TestFrame</a:t>
            </a:r>
            <a:r>
              <a:rPr kumimoji="1" lang="zh-CN" altLang="en-US" sz="2000">
                <a:latin typeface="Times New Roman" charset="0"/>
              </a:rPr>
              <a:t>）</a:t>
            </a:r>
          </a:p>
        </p:txBody>
      </p:sp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6731000" y="3502025"/>
            <a:ext cx="2124075" cy="1728788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kumimoji="1" lang="zh-CN" altLang="en-US" sz="2000">
                <a:latin typeface="Times New Roman" charset="0"/>
              </a:rPr>
              <a:t>窗口监听器类</a:t>
            </a:r>
            <a:endParaRPr kumimoji="1" lang="en-US" altLang="zh-CN" sz="2000">
              <a:latin typeface="Times New Roman" charset="0"/>
            </a:endParaRPr>
          </a:p>
          <a:p>
            <a:pPr algn="ctr"/>
            <a:r>
              <a:rPr kumimoji="1" lang="en-US" altLang="zh-CN" sz="2000">
                <a:latin typeface="Times New Roman" charset="0"/>
              </a:rPr>
              <a:t>MyWindowListener</a:t>
            </a:r>
          </a:p>
          <a:p>
            <a:pPr algn="ctr"/>
            <a:r>
              <a:rPr kumimoji="1" lang="zh-CN" altLang="en-US">
                <a:latin typeface="Times New Roman" charset="0"/>
              </a:rPr>
              <a:t>（含关闭窗口</a:t>
            </a:r>
            <a:endParaRPr kumimoji="1" lang="en-US" altLang="zh-CN">
              <a:latin typeface="Times New Roman" charset="0"/>
            </a:endParaRPr>
          </a:p>
          <a:p>
            <a:pPr algn="ctr"/>
            <a:r>
              <a:rPr kumimoji="1" lang="zh-CN" altLang="en-US">
                <a:latin typeface="Times New Roman" charset="0"/>
              </a:rPr>
              <a:t>事件处理器）</a:t>
            </a:r>
          </a:p>
        </p:txBody>
      </p:sp>
      <p:sp>
        <p:nvSpPr>
          <p:cNvPr id="8" name="Oval 5"/>
          <p:cNvSpPr>
            <a:spLocks noChangeArrowheads="1"/>
          </p:cNvSpPr>
          <p:nvPr/>
        </p:nvSpPr>
        <p:spPr bwMode="auto">
          <a:xfrm>
            <a:off x="4138613" y="3789363"/>
            <a:ext cx="1800225" cy="1223962"/>
          </a:xfrm>
          <a:prstGeom prst="ellipse">
            <a:avLst/>
          </a:prstGeom>
          <a:solidFill>
            <a:srgbClr val="FFFF66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kumimoji="1" lang="zh-CN" altLang="en-US">
                <a:latin typeface="Times New Roman" charset="0"/>
              </a:rPr>
              <a:t>窗口监听器对象</a:t>
            </a:r>
            <a:endParaRPr kumimoji="1" lang="en-US" altLang="zh-CN">
              <a:latin typeface="Times New Roman" charset="0"/>
            </a:endParaRPr>
          </a:p>
          <a:p>
            <a:pPr algn="ctr"/>
            <a:r>
              <a:rPr kumimoji="1" lang="zh-CN" altLang="en-US" sz="1600">
                <a:latin typeface="Times New Roman" charset="0"/>
              </a:rPr>
              <a:t>（含关闭窗口</a:t>
            </a:r>
            <a:endParaRPr kumimoji="1" lang="en-US" altLang="zh-CN" sz="1600">
              <a:latin typeface="Times New Roman" charset="0"/>
            </a:endParaRPr>
          </a:p>
          <a:p>
            <a:pPr algn="ctr"/>
            <a:r>
              <a:rPr kumimoji="1" lang="zh-CN" altLang="en-US" sz="1600">
                <a:latin typeface="Times New Roman" charset="0"/>
              </a:rPr>
              <a:t>事件处理器）</a:t>
            </a:r>
          </a:p>
        </p:txBody>
      </p:sp>
      <p:sp>
        <p:nvSpPr>
          <p:cNvPr id="9" name="AutoShape 6"/>
          <p:cNvSpPr>
            <a:spLocks noChangeArrowheads="1"/>
          </p:cNvSpPr>
          <p:nvPr/>
        </p:nvSpPr>
        <p:spPr bwMode="auto">
          <a:xfrm>
            <a:off x="5938838" y="4078288"/>
            <a:ext cx="719137" cy="647700"/>
          </a:xfrm>
          <a:prstGeom prst="leftArrow">
            <a:avLst>
              <a:gd name="adj1" fmla="val 50000"/>
              <a:gd name="adj2" fmla="val 27757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kumimoji="1" lang="zh-CN" altLang="en-US" sz="1600">
                <a:latin typeface="Times New Roman" charset="0"/>
              </a:rPr>
              <a:t>实例化</a:t>
            </a:r>
          </a:p>
        </p:txBody>
      </p:sp>
      <p:sp>
        <p:nvSpPr>
          <p:cNvPr id="10" name="AutoShape 7"/>
          <p:cNvSpPr>
            <a:spLocks noChangeArrowheads="1"/>
          </p:cNvSpPr>
          <p:nvPr/>
        </p:nvSpPr>
        <p:spPr bwMode="auto">
          <a:xfrm>
            <a:off x="2482850" y="4076700"/>
            <a:ext cx="1584325" cy="647700"/>
          </a:xfrm>
          <a:prstGeom prst="leftArrow">
            <a:avLst>
              <a:gd name="adj1" fmla="val 50000"/>
              <a:gd name="adj2" fmla="val 61152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kumimoji="1" lang="zh-CN" altLang="en-US">
                <a:latin typeface="Times New Roman" charset="0"/>
              </a:rPr>
              <a:t>注册</a:t>
            </a:r>
          </a:p>
        </p:txBody>
      </p:sp>
      <p:sp>
        <p:nvSpPr>
          <p:cNvPr id="11" name="AutoShape 8"/>
          <p:cNvSpPr>
            <a:spLocks noChangeArrowheads="1"/>
          </p:cNvSpPr>
          <p:nvPr/>
        </p:nvSpPr>
        <p:spPr bwMode="auto">
          <a:xfrm>
            <a:off x="827088" y="1989138"/>
            <a:ext cx="792162" cy="1873250"/>
          </a:xfrm>
          <a:prstGeom prst="downArrow">
            <a:avLst>
              <a:gd name="adj1" fmla="val 50000"/>
              <a:gd name="adj2" fmla="val 59118"/>
            </a:avLst>
          </a:prstGeom>
          <a:solidFill>
            <a:srgbClr val="FF33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kumimoji="1" lang="zh-CN" altLang="en-US">
                <a:solidFill>
                  <a:schemeClr val="bg1"/>
                </a:solidFill>
                <a:latin typeface="Times New Roman" charset="0"/>
              </a:rPr>
              <a:t>单</a:t>
            </a:r>
            <a:endParaRPr kumimoji="1" lang="en-US" altLang="zh-CN">
              <a:solidFill>
                <a:schemeClr val="bg1"/>
              </a:solidFill>
              <a:latin typeface="Times New Roman" charset="0"/>
            </a:endParaRPr>
          </a:p>
          <a:p>
            <a:pPr algn="ctr"/>
            <a:r>
              <a:rPr kumimoji="1" lang="zh-CN" altLang="en-US">
                <a:solidFill>
                  <a:schemeClr val="bg1"/>
                </a:solidFill>
                <a:latin typeface="Times New Roman" charset="0"/>
              </a:rPr>
              <a:t>击</a:t>
            </a:r>
            <a:endParaRPr kumimoji="1" lang="en-US" altLang="zh-CN">
              <a:solidFill>
                <a:schemeClr val="bg1"/>
              </a:solidFill>
              <a:latin typeface="Times New Roman" charset="0"/>
            </a:endParaRPr>
          </a:p>
          <a:p>
            <a:pPr algn="ctr"/>
            <a:r>
              <a:rPr kumimoji="1" lang="zh-CN" altLang="en-US">
                <a:solidFill>
                  <a:schemeClr val="bg1"/>
                </a:solidFill>
                <a:latin typeface="Times New Roman" charset="0"/>
              </a:rPr>
              <a:t>关</a:t>
            </a:r>
            <a:endParaRPr kumimoji="1" lang="en-US" altLang="zh-CN">
              <a:solidFill>
                <a:schemeClr val="bg1"/>
              </a:solidFill>
              <a:latin typeface="Times New Roman" charset="0"/>
            </a:endParaRPr>
          </a:p>
          <a:p>
            <a:pPr algn="ctr"/>
            <a:r>
              <a:rPr kumimoji="1" lang="zh-CN" altLang="en-US">
                <a:solidFill>
                  <a:schemeClr val="bg1"/>
                </a:solidFill>
                <a:latin typeface="Times New Roman" charset="0"/>
              </a:rPr>
              <a:t>闭</a:t>
            </a:r>
            <a:endParaRPr kumimoji="1" lang="en-US" altLang="zh-CN">
              <a:solidFill>
                <a:schemeClr val="bg1"/>
              </a:solidFill>
              <a:latin typeface="Times New Roman" charset="0"/>
            </a:endParaRPr>
          </a:p>
          <a:p>
            <a:pPr algn="ctr"/>
            <a:r>
              <a:rPr kumimoji="1" lang="zh-CN" altLang="en-US">
                <a:solidFill>
                  <a:schemeClr val="bg1"/>
                </a:solidFill>
                <a:latin typeface="Times New Roman" charset="0"/>
              </a:rPr>
              <a:t>按</a:t>
            </a:r>
            <a:endParaRPr kumimoji="1" lang="en-US" altLang="zh-CN">
              <a:solidFill>
                <a:schemeClr val="bg1"/>
              </a:solidFill>
              <a:latin typeface="Times New Roman" charset="0"/>
            </a:endParaRPr>
          </a:p>
          <a:p>
            <a:pPr algn="ctr"/>
            <a:r>
              <a:rPr kumimoji="1" lang="zh-CN" altLang="en-US">
                <a:solidFill>
                  <a:schemeClr val="bg1"/>
                </a:solidFill>
                <a:latin typeface="Times New Roman" charset="0"/>
              </a:rPr>
              <a:t>钮</a:t>
            </a:r>
          </a:p>
        </p:txBody>
      </p:sp>
      <p:sp>
        <p:nvSpPr>
          <p:cNvPr id="12" name="AutoShape 9"/>
          <p:cNvSpPr>
            <a:spLocks noChangeArrowheads="1"/>
          </p:cNvSpPr>
          <p:nvPr/>
        </p:nvSpPr>
        <p:spPr bwMode="auto">
          <a:xfrm rot="5400000">
            <a:off x="4139406" y="3069432"/>
            <a:ext cx="1008063" cy="863600"/>
          </a:xfrm>
          <a:custGeom>
            <a:avLst/>
            <a:gdLst>
              <a:gd name="G0" fmla="+- 15126 0 0"/>
              <a:gd name="G1" fmla="+- 2912 0 0"/>
              <a:gd name="G2" fmla="+- 12158 0 2912"/>
              <a:gd name="G3" fmla="+- G2 0 2912"/>
              <a:gd name="G4" fmla="*/ G3 32768 32059"/>
              <a:gd name="G5" fmla="*/ G4 1 2"/>
              <a:gd name="G6" fmla="+- 21600 0 15126"/>
              <a:gd name="G7" fmla="*/ G6 2912 6079"/>
              <a:gd name="G8" fmla="+- G7 15126 0"/>
              <a:gd name="T0" fmla="*/ 15126 w 21600"/>
              <a:gd name="T1" fmla="*/ 0 h 21600"/>
              <a:gd name="T2" fmla="*/ 15126 w 21600"/>
              <a:gd name="T3" fmla="*/ 12158 h 21600"/>
              <a:gd name="T4" fmla="*/ 3237 w 21600"/>
              <a:gd name="T5" fmla="*/ 21600 h 21600"/>
              <a:gd name="T6" fmla="*/ 21600 w 21600"/>
              <a:gd name="T7" fmla="*/ 6079 h 21600"/>
              <a:gd name="T8" fmla="*/ 17694720 60000 65536"/>
              <a:gd name="T9" fmla="*/ 5898240 60000 65536"/>
              <a:gd name="T10" fmla="*/ 5898240 60000 65536"/>
              <a:gd name="T11" fmla="*/ 0 60000 65536"/>
              <a:gd name="T12" fmla="*/ 12427 w 21600"/>
              <a:gd name="T13" fmla="*/ G1 h 21600"/>
              <a:gd name="T14" fmla="*/ G8 w 21600"/>
              <a:gd name="T15" fmla="*/ G2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21600" y="6079"/>
                </a:moveTo>
                <a:lnTo>
                  <a:pt x="15126" y="0"/>
                </a:lnTo>
                <a:lnTo>
                  <a:pt x="15126" y="2912"/>
                </a:lnTo>
                <a:lnTo>
                  <a:pt x="12427" y="2912"/>
                </a:lnTo>
                <a:cubicBezTo>
                  <a:pt x="5564" y="2912"/>
                  <a:pt x="0" y="7052"/>
                  <a:pt x="0" y="12158"/>
                </a:cubicBezTo>
                <a:lnTo>
                  <a:pt x="0" y="21600"/>
                </a:lnTo>
                <a:lnTo>
                  <a:pt x="6474" y="21600"/>
                </a:lnTo>
                <a:lnTo>
                  <a:pt x="6474" y="12158"/>
                </a:lnTo>
                <a:cubicBezTo>
                  <a:pt x="6474" y="10550"/>
                  <a:pt x="9139" y="9246"/>
                  <a:pt x="12427" y="9246"/>
                </a:cubicBezTo>
                <a:lnTo>
                  <a:pt x="15126" y="9246"/>
                </a:lnTo>
                <a:lnTo>
                  <a:pt x="15126" y="12158"/>
                </a:lnTo>
                <a:close/>
              </a:path>
            </a:pathLst>
          </a:cu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/>
            <a:endParaRPr kumimoji="1" lang="zh-CN" altLang="en-US" sz="2400">
              <a:latin typeface="Times New Roman" charset="0"/>
            </a:endParaRPr>
          </a:p>
        </p:txBody>
      </p:sp>
      <p:sp>
        <p:nvSpPr>
          <p:cNvPr id="13" name="Oval 10"/>
          <p:cNvSpPr>
            <a:spLocks noChangeArrowheads="1"/>
          </p:cNvSpPr>
          <p:nvPr/>
        </p:nvSpPr>
        <p:spPr bwMode="auto">
          <a:xfrm>
            <a:off x="3059113" y="2709863"/>
            <a:ext cx="1152525" cy="1006475"/>
          </a:xfrm>
          <a:prstGeom prst="ellipse">
            <a:avLst/>
          </a:prstGeom>
          <a:solidFill>
            <a:srgbClr val="FFFF66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kumimoji="1" lang="zh-CN" altLang="en-US" sz="2000" dirty="0">
                <a:latin typeface="Times New Roman" charset="0"/>
              </a:rPr>
              <a:t>事件</a:t>
            </a:r>
            <a:endParaRPr kumimoji="1" lang="en-US" altLang="zh-CN" sz="2000" dirty="0">
              <a:latin typeface="Times New Roman" charset="0"/>
            </a:endParaRPr>
          </a:p>
          <a:p>
            <a:pPr algn="ctr"/>
            <a:r>
              <a:rPr kumimoji="1" lang="zh-CN" altLang="en-US" sz="2000" dirty="0">
                <a:latin typeface="Times New Roman" charset="0"/>
              </a:rPr>
              <a:t>对象</a:t>
            </a:r>
            <a:endParaRPr kumimoji="1" lang="en-US" altLang="zh-CN" sz="2000" dirty="0">
              <a:latin typeface="Times New Roman" charset="0"/>
            </a:endParaRPr>
          </a:p>
          <a:p>
            <a:pPr algn="ctr"/>
            <a:r>
              <a:rPr kumimoji="1" lang="en-US" altLang="zh-CN" sz="2000" dirty="0">
                <a:latin typeface="Times New Roman" charset="0"/>
              </a:rPr>
              <a:t> e</a:t>
            </a:r>
          </a:p>
        </p:txBody>
      </p:sp>
      <p:sp>
        <p:nvSpPr>
          <p:cNvPr id="14" name="AutoShape 11"/>
          <p:cNvSpPr>
            <a:spLocks noChangeArrowheads="1"/>
          </p:cNvSpPr>
          <p:nvPr/>
        </p:nvSpPr>
        <p:spPr bwMode="auto">
          <a:xfrm>
            <a:off x="2051050" y="2924175"/>
            <a:ext cx="1008063" cy="936625"/>
          </a:xfrm>
          <a:custGeom>
            <a:avLst/>
            <a:gdLst>
              <a:gd name="G0" fmla="+- 15126 0 0"/>
              <a:gd name="G1" fmla="+- 2912 0 0"/>
              <a:gd name="G2" fmla="+- 12158 0 2912"/>
              <a:gd name="G3" fmla="+- G2 0 2912"/>
              <a:gd name="G4" fmla="*/ G3 32768 32059"/>
              <a:gd name="G5" fmla="*/ G4 1 2"/>
              <a:gd name="G6" fmla="+- 21600 0 15126"/>
              <a:gd name="G7" fmla="*/ G6 2912 6079"/>
              <a:gd name="G8" fmla="+- G7 15126 0"/>
              <a:gd name="T0" fmla="*/ 15126 w 21600"/>
              <a:gd name="T1" fmla="*/ 0 h 21600"/>
              <a:gd name="T2" fmla="*/ 15126 w 21600"/>
              <a:gd name="T3" fmla="*/ 12158 h 21600"/>
              <a:gd name="T4" fmla="*/ 3237 w 21600"/>
              <a:gd name="T5" fmla="*/ 21600 h 21600"/>
              <a:gd name="T6" fmla="*/ 21600 w 21600"/>
              <a:gd name="T7" fmla="*/ 6079 h 21600"/>
              <a:gd name="T8" fmla="*/ 17694720 60000 65536"/>
              <a:gd name="T9" fmla="*/ 5898240 60000 65536"/>
              <a:gd name="T10" fmla="*/ 5898240 60000 65536"/>
              <a:gd name="T11" fmla="*/ 0 60000 65536"/>
              <a:gd name="T12" fmla="*/ 12427 w 21600"/>
              <a:gd name="T13" fmla="*/ G1 h 21600"/>
              <a:gd name="T14" fmla="*/ G8 w 21600"/>
              <a:gd name="T15" fmla="*/ G2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21600" y="6079"/>
                </a:moveTo>
                <a:lnTo>
                  <a:pt x="15126" y="0"/>
                </a:lnTo>
                <a:lnTo>
                  <a:pt x="15126" y="2912"/>
                </a:lnTo>
                <a:lnTo>
                  <a:pt x="12427" y="2912"/>
                </a:lnTo>
                <a:cubicBezTo>
                  <a:pt x="5564" y="2912"/>
                  <a:pt x="0" y="7052"/>
                  <a:pt x="0" y="12158"/>
                </a:cubicBezTo>
                <a:lnTo>
                  <a:pt x="0" y="21600"/>
                </a:lnTo>
                <a:lnTo>
                  <a:pt x="6474" y="21600"/>
                </a:lnTo>
                <a:lnTo>
                  <a:pt x="6474" y="12158"/>
                </a:lnTo>
                <a:cubicBezTo>
                  <a:pt x="6474" y="10550"/>
                  <a:pt x="9139" y="9246"/>
                  <a:pt x="12427" y="9246"/>
                </a:cubicBezTo>
                <a:lnTo>
                  <a:pt x="15126" y="9246"/>
                </a:lnTo>
                <a:lnTo>
                  <a:pt x="15126" y="12158"/>
                </a:lnTo>
                <a:close/>
              </a:path>
            </a:pathLst>
          </a:cu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kumimoji="1" lang="zh-CN" altLang="en-US" sz="2400">
              <a:latin typeface="Times New Roman" charset="0"/>
            </a:endParaRPr>
          </a:p>
        </p:txBody>
      </p:sp>
      <p:sp>
        <p:nvSpPr>
          <p:cNvPr id="15" name="AutoShape 12"/>
          <p:cNvSpPr>
            <a:spLocks noChangeArrowheads="1"/>
          </p:cNvSpPr>
          <p:nvPr/>
        </p:nvSpPr>
        <p:spPr bwMode="auto">
          <a:xfrm>
            <a:off x="1908175" y="1341438"/>
            <a:ext cx="1582738" cy="1152525"/>
          </a:xfrm>
          <a:prstGeom prst="wedgeRectCallout">
            <a:avLst>
              <a:gd name="adj1" fmla="val -21616"/>
              <a:gd name="adj2" fmla="val 115838"/>
            </a:avLst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r>
              <a:rPr kumimoji="1" lang="zh-CN" altLang="en-US">
                <a:latin typeface="Times New Roman" charset="0"/>
              </a:rPr>
              <a:t>产生并传递窗口事件对象</a:t>
            </a:r>
            <a:endParaRPr kumimoji="1" lang="en-US" altLang="zh-CN">
              <a:latin typeface="Times New Roman" charset="0"/>
            </a:endParaRPr>
          </a:p>
          <a:p>
            <a:r>
              <a:rPr kumimoji="1" lang="en-US" altLang="zh-CN">
                <a:latin typeface="Times New Roman" charset="0"/>
              </a:rPr>
              <a:t>WindowEvent</a:t>
            </a:r>
          </a:p>
          <a:p>
            <a:pPr algn="ctr"/>
            <a:r>
              <a:rPr kumimoji="1" lang="en-US" altLang="zh-CN">
                <a:latin typeface="Times New Roman" charset="0"/>
              </a:rPr>
              <a:t>e</a:t>
            </a:r>
          </a:p>
        </p:txBody>
      </p:sp>
      <p:sp>
        <p:nvSpPr>
          <p:cNvPr id="16" name="AutoShape 13"/>
          <p:cNvSpPr>
            <a:spLocks noChangeArrowheads="1"/>
          </p:cNvSpPr>
          <p:nvPr/>
        </p:nvSpPr>
        <p:spPr bwMode="auto">
          <a:xfrm>
            <a:off x="4356100" y="1341438"/>
            <a:ext cx="2952750" cy="1152525"/>
          </a:xfrm>
          <a:prstGeom prst="wedgeRectCallout">
            <a:avLst>
              <a:gd name="adj1" fmla="val -16505"/>
              <a:gd name="adj2" fmla="val 179477"/>
            </a:avLst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r>
              <a:rPr kumimoji="1" lang="zh-CN" altLang="en-US">
                <a:latin typeface="Times New Roman" charset="0"/>
              </a:rPr>
              <a:t>接收事件对象</a:t>
            </a:r>
            <a:r>
              <a:rPr kumimoji="1" lang="en-US" altLang="zh-CN">
                <a:latin typeface="Times New Roman" charset="0"/>
              </a:rPr>
              <a:t>e</a:t>
            </a:r>
            <a:r>
              <a:rPr kumimoji="1" lang="zh-CN" altLang="en-US">
                <a:latin typeface="Times New Roman" charset="0"/>
              </a:rPr>
              <a:t>，激活事件处理器，实现关闭窗口功能。</a:t>
            </a:r>
          </a:p>
        </p:txBody>
      </p:sp>
      <p:sp>
        <p:nvSpPr>
          <p:cNvPr id="17" name="Oval 14"/>
          <p:cNvSpPr>
            <a:spLocks noChangeArrowheads="1"/>
          </p:cNvSpPr>
          <p:nvPr/>
        </p:nvSpPr>
        <p:spPr bwMode="auto">
          <a:xfrm>
            <a:off x="395288" y="3933825"/>
            <a:ext cx="2087562" cy="1008063"/>
          </a:xfrm>
          <a:prstGeom prst="ellipse">
            <a:avLst/>
          </a:prstGeom>
          <a:solidFill>
            <a:srgbClr val="FFFF66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zh-CN" altLang="en-US" sz="2000" dirty="0">
                <a:latin typeface="Times New Roman" charset="0"/>
              </a:rPr>
              <a:t>事件源</a:t>
            </a:r>
            <a:endParaRPr lang="en-US" altLang="zh-CN" sz="2000" dirty="0">
              <a:latin typeface="Times New Roman" charset="0"/>
            </a:endParaRPr>
          </a:p>
          <a:p>
            <a:pPr algn="ctr"/>
            <a:r>
              <a:rPr lang="zh-CN" altLang="en-US" sz="1600" dirty="0">
                <a:latin typeface="Times New Roman" charset="0"/>
              </a:rPr>
              <a:t>窗口对象</a:t>
            </a:r>
            <a:r>
              <a:rPr lang="en-US" altLang="zh-CN" sz="1600" dirty="0">
                <a:latin typeface="Times New Roman" charset="0"/>
              </a:rPr>
              <a:t>frame</a:t>
            </a:r>
            <a:endParaRPr kumimoji="1" lang="en-US" altLang="zh-CN" sz="1600" dirty="0">
              <a:latin typeface="Times New Roman" charset="0"/>
            </a:endParaRPr>
          </a:p>
        </p:txBody>
      </p:sp>
      <p:sp>
        <p:nvSpPr>
          <p:cNvPr id="18" name="AutoShape 15"/>
          <p:cNvSpPr>
            <a:spLocks noChangeArrowheads="1"/>
          </p:cNvSpPr>
          <p:nvPr/>
        </p:nvSpPr>
        <p:spPr bwMode="auto">
          <a:xfrm>
            <a:off x="969963" y="4941888"/>
            <a:ext cx="1009650" cy="503237"/>
          </a:xfrm>
          <a:prstGeom prst="upArrow">
            <a:avLst>
              <a:gd name="adj1" fmla="val 50000"/>
              <a:gd name="adj2" fmla="val 25000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kumimoji="1" lang="zh-CN" altLang="en-US" sz="2000">
                <a:latin typeface="Times New Roman" charset="0"/>
              </a:rPr>
              <a:t>含有</a:t>
            </a:r>
          </a:p>
        </p:txBody>
      </p:sp>
    </p:spTree>
    <p:extLst>
      <p:ext uri="{BB962C8B-B14F-4D97-AF65-F5344CB8AC3E}">
        <p14:creationId xmlns:p14="http://schemas.microsoft.com/office/powerpoint/2010/main" val="8172505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8" presetClass="entr" presetSubtype="0" ac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80000">
                                          <p:val>
                                            <p:fltVal val="90"/>
                                          </p:val>
                                        </p:tav>
                                        <p:tav tm="8000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1"/>
                                          </p:val>
                                        </p:tav>
                                        <p:tav tm="50000">
                                          <p:val>
                                            <p:fltVal val="0.9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43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574675" y="304800"/>
            <a:ext cx="8001000" cy="1216025"/>
          </a:xfrm>
        </p:spPr>
        <p:txBody>
          <a:bodyPr/>
          <a:lstStyle/>
          <a:p>
            <a:r>
              <a:rPr lang="zh-CN" altLang="en-US"/>
              <a:t>再论事件处理机制</a:t>
            </a: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>
          <a:xfrm>
            <a:off x="468313" y="1752600"/>
            <a:ext cx="8207375" cy="4267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</a:pPr>
            <a:r>
              <a:rPr lang="zh-CN" altLang="en-US" sz="2100"/>
              <a:t>事件、事件监听器接口、事件监听器类</a:t>
            </a:r>
            <a:r>
              <a:rPr lang="en-US" altLang="zh-CN" sz="2100"/>
              <a:t>:</a:t>
            </a:r>
          </a:p>
          <a:p>
            <a:pPr lvl="1">
              <a:lnSpc>
                <a:spcPct val="90000"/>
              </a:lnSpc>
            </a:pPr>
            <a:r>
              <a:rPr lang="zh-CN" altLang="en-US" sz="2000"/>
              <a:t>每一类事件有一个相应的事件监听器接口，该接口定义了接收和处理事件的抽象方法。实现该接口的类，就是监听器类。其对象可作为监听器对象向相应的组件注册。</a:t>
            </a:r>
            <a:endParaRPr lang="en-US" altLang="zh-CN" sz="2000"/>
          </a:p>
          <a:p>
            <a:pPr lvl="1">
              <a:lnSpc>
                <a:spcPct val="90000"/>
              </a:lnSpc>
            </a:pPr>
            <a:r>
              <a:rPr lang="zh-CN" altLang="en-US" sz="2000"/>
              <a:t>事件的类名通常为：</a:t>
            </a:r>
            <a:r>
              <a:rPr lang="en-US" altLang="zh-CN" sz="2000"/>
              <a:t>XxxEvent</a:t>
            </a:r>
          </a:p>
          <a:p>
            <a:pPr lvl="1">
              <a:lnSpc>
                <a:spcPct val="90000"/>
              </a:lnSpc>
            </a:pPr>
            <a:r>
              <a:rPr lang="zh-CN" altLang="en-US" sz="2000"/>
              <a:t>对应的事件监听器接口名通常为：</a:t>
            </a:r>
            <a:r>
              <a:rPr lang="en-US" altLang="zh-CN" sz="2000"/>
              <a:t>XxxListener</a:t>
            </a:r>
          </a:p>
          <a:p>
            <a:pPr lvl="1">
              <a:lnSpc>
                <a:spcPct val="90000"/>
              </a:lnSpc>
            </a:pPr>
            <a:r>
              <a:rPr lang="zh-CN" altLang="en-US" sz="2000"/>
              <a:t>一个监听器接口定义了一种以上的抽象事件处理方法（事件处理器）。</a:t>
            </a:r>
            <a:endParaRPr lang="en-US" altLang="zh-CN" sz="2000"/>
          </a:p>
          <a:p>
            <a:pPr lvl="1">
              <a:lnSpc>
                <a:spcPct val="90000"/>
              </a:lnSpc>
            </a:pPr>
            <a:r>
              <a:rPr lang="zh-CN" altLang="en-US" sz="2000"/>
              <a:t>事件监听器类实现事件监听器接口，其类名可以由我们自己取。事件监听器类需要我们自己编写。</a:t>
            </a:r>
            <a:endParaRPr lang="en-US" altLang="zh-CN" sz="2000"/>
          </a:p>
          <a:p>
            <a:pPr>
              <a:lnSpc>
                <a:spcPct val="90000"/>
              </a:lnSpc>
            </a:pPr>
            <a:endParaRPr lang="en-US" altLang="zh-CN" sz="2100"/>
          </a:p>
          <a:p>
            <a:pPr>
              <a:lnSpc>
                <a:spcPct val="90000"/>
              </a:lnSpc>
            </a:pPr>
            <a:r>
              <a:rPr lang="zh-CN" altLang="en-US" sz="2100"/>
              <a:t>一个组件可以注册一个或多个监听器对象，事件对象只向已注册的监听器对象报告事件的发生。</a:t>
            </a:r>
          </a:p>
        </p:txBody>
      </p:sp>
    </p:spTree>
    <p:extLst>
      <p:ext uri="{BB962C8B-B14F-4D97-AF65-F5344CB8AC3E}">
        <p14:creationId xmlns:p14="http://schemas.microsoft.com/office/powerpoint/2010/main" val="18006133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事件类的层次关系</a:t>
            </a:r>
          </a:p>
        </p:txBody>
      </p:sp>
      <p:sp>
        <p:nvSpPr>
          <p:cNvPr id="4" name="矩形 3"/>
          <p:cNvSpPr/>
          <p:nvPr/>
        </p:nvSpPr>
        <p:spPr>
          <a:xfrm>
            <a:off x="323528" y="2924944"/>
            <a:ext cx="1080120" cy="43204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400" dirty="0" err="1"/>
              <a:t>EventObject</a:t>
            </a:r>
            <a:endParaRPr kumimoji="1" lang="zh-CN" altLang="en-US" sz="1400" dirty="0"/>
          </a:p>
        </p:txBody>
      </p:sp>
      <p:cxnSp>
        <p:nvCxnSpPr>
          <p:cNvPr id="6" name="直线连接符 5"/>
          <p:cNvCxnSpPr>
            <a:stCxn id="4" idx="3"/>
          </p:cNvCxnSpPr>
          <p:nvPr/>
        </p:nvCxnSpPr>
        <p:spPr>
          <a:xfrm>
            <a:off x="1403648" y="3140968"/>
            <a:ext cx="64807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矩形 6"/>
          <p:cNvSpPr/>
          <p:nvPr/>
        </p:nvSpPr>
        <p:spPr>
          <a:xfrm>
            <a:off x="1979712" y="2924944"/>
            <a:ext cx="1080120" cy="43204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400" dirty="0" err="1"/>
              <a:t>AWTEvent</a:t>
            </a:r>
            <a:endParaRPr kumimoji="1" lang="zh-CN" altLang="en-US" sz="1400" dirty="0"/>
          </a:p>
        </p:txBody>
      </p:sp>
      <p:sp>
        <p:nvSpPr>
          <p:cNvPr id="9" name="矩形 8"/>
          <p:cNvSpPr/>
          <p:nvPr/>
        </p:nvSpPr>
        <p:spPr>
          <a:xfrm>
            <a:off x="2051720" y="4797152"/>
            <a:ext cx="1584176" cy="43204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400" dirty="0" err="1"/>
              <a:t>ListSelectionEvent</a:t>
            </a:r>
            <a:endParaRPr kumimoji="1" lang="zh-CN" altLang="en-US" sz="1400" dirty="0"/>
          </a:p>
        </p:txBody>
      </p:sp>
      <p:cxnSp>
        <p:nvCxnSpPr>
          <p:cNvPr id="12" name="肘形连接符 11"/>
          <p:cNvCxnSpPr>
            <a:endCxn id="9" idx="1"/>
          </p:cNvCxnSpPr>
          <p:nvPr/>
        </p:nvCxnSpPr>
        <p:spPr>
          <a:xfrm rot="16200000" flipH="1">
            <a:off x="899592" y="3861048"/>
            <a:ext cx="1872208" cy="432048"/>
          </a:xfrm>
          <a:prstGeom prst="bentConnector2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矩形 13"/>
          <p:cNvSpPr/>
          <p:nvPr/>
        </p:nvSpPr>
        <p:spPr>
          <a:xfrm>
            <a:off x="3635896" y="1628800"/>
            <a:ext cx="1080120" cy="43204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400" dirty="0" err="1"/>
              <a:t>ActionEvent</a:t>
            </a:r>
            <a:endParaRPr kumimoji="1" lang="zh-CN" altLang="en-US" sz="1400" dirty="0"/>
          </a:p>
        </p:txBody>
      </p:sp>
      <p:sp>
        <p:nvSpPr>
          <p:cNvPr id="15" name="矩形 14"/>
          <p:cNvSpPr/>
          <p:nvPr/>
        </p:nvSpPr>
        <p:spPr>
          <a:xfrm>
            <a:off x="3635896" y="2276872"/>
            <a:ext cx="1080120" cy="43204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400" dirty="0" err="1"/>
              <a:t>AdjustmentEvent</a:t>
            </a:r>
            <a:endParaRPr kumimoji="1" lang="zh-CN" altLang="en-US" sz="1400" dirty="0"/>
          </a:p>
        </p:txBody>
      </p:sp>
      <p:sp>
        <p:nvSpPr>
          <p:cNvPr id="16" name="矩形 15"/>
          <p:cNvSpPr/>
          <p:nvPr/>
        </p:nvSpPr>
        <p:spPr>
          <a:xfrm>
            <a:off x="3635896" y="2852936"/>
            <a:ext cx="1080120" cy="43204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400" dirty="0" err="1"/>
              <a:t>ComponentEvent</a:t>
            </a:r>
            <a:endParaRPr kumimoji="1" lang="zh-CN" altLang="en-US" sz="1400" dirty="0"/>
          </a:p>
        </p:txBody>
      </p:sp>
      <p:sp>
        <p:nvSpPr>
          <p:cNvPr id="17" name="矩形 16"/>
          <p:cNvSpPr/>
          <p:nvPr/>
        </p:nvSpPr>
        <p:spPr>
          <a:xfrm>
            <a:off x="3635896" y="3501008"/>
            <a:ext cx="1080120" cy="43204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400" dirty="0" err="1"/>
              <a:t>ItemEvent</a:t>
            </a:r>
            <a:endParaRPr kumimoji="1" lang="zh-CN" altLang="en-US" sz="1400" dirty="0"/>
          </a:p>
        </p:txBody>
      </p:sp>
      <p:sp>
        <p:nvSpPr>
          <p:cNvPr id="18" name="矩形 17"/>
          <p:cNvSpPr/>
          <p:nvPr/>
        </p:nvSpPr>
        <p:spPr>
          <a:xfrm>
            <a:off x="3635896" y="4077072"/>
            <a:ext cx="1080120" cy="43204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400" dirty="0" err="1"/>
              <a:t>TextEvent</a:t>
            </a:r>
            <a:endParaRPr kumimoji="1" lang="zh-CN" altLang="en-US" sz="1400" dirty="0"/>
          </a:p>
        </p:txBody>
      </p:sp>
      <p:sp>
        <p:nvSpPr>
          <p:cNvPr id="19" name="矩形 18"/>
          <p:cNvSpPr/>
          <p:nvPr/>
        </p:nvSpPr>
        <p:spPr>
          <a:xfrm>
            <a:off x="5148064" y="4077072"/>
            <a:ext cx="1296144" cy="43204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400" dirty="0" err="1"/>
              <a:t>WindowEvent</a:t>
            </a:r>
            <a:endParaRPr kumimoji="1" lang="zh-CN" altLang="en-US" sz="1400" dirty="0"/>
          </a:p>
        </p:txBody>
      </p:sp>
      <p:sp>
        <p:nvSpPr>
          <p:cNvPr id="20" name="矩形 19"/>
          <p:cNvSpPr/>
          <p:nvPr/>
        </p:nvSpPr>
        <p:spPr>
          <a:xfrm>
            <a:off x="5148064" y="1700808"/>
            <a:ext cx="1440160" cy="43204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400" dirty="0" err="1"/>
              <a:t>ContainerEvent</a:t>
            </a:r>
            <a:endParaRPr kumimoji="1" lang="zh-CN" altLang="en-US" sz="1400" dirty="0"/>
          </a:p>
        </p:txBody>
      </p:sp>
      <p:sp>
        <p:nvSpPr>
          <p:cNvPr id="21" name="矩形 20"/>
          <p:cNvSpPr/>
          <p:nvPr/>
        </p:nvSpPr>
        <p:spPr>
          <a:xfrm>
            <a:off x="5148064" y="2276872"/>
            <a:ext cx="1080120" cy="43204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400" dirty="0" err="1"/>
              <a:t>FocusEvent</a:t>
            </a:r>
            <a:endParaRPr kumimoji="1" lang="zh-CN" altLang="en-US" sz="1400" dirty="0"/>
          </a:p>
        </p:txBody>
      </p:sp>
      <p:sp>
        <p:nvSpPr>
          <p:cNvPr id="22" name="矩形 21"/>
          <p:cNvSpPr/>
          <p:nvPr/>
        </p:nvSpPr>
        <p:spPr>
          <a:xfrm>
            <a:off x="5148064" y="2924944"/>
            <a:ext cx="1080120" cy="43204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400" dirty="0" err="1"/>
              <a:t>InputEvent</a:t>
            </a:r>
            <a:endParaRPr kumimoji="1" lang="zh-CN" altLang="en-US" sz="1400" dirty="0"/>
          </a:p>
        </p:txBody>
      </p:sp>
      <p:sp>
        <p:nvSpPr>
          <p:cNvPr id="23" name="矩形 22"/>
          <p:cNvSpPr/>
          <p:nvPr/>
        </p:nvSpPr>
        <p:spPr>
          <a:xfrm>
            <a:off x="5148064" y="3501008"/>
            <a:ext cx="1080120" cy="43204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400" dirty="0" err="1"/>
              <a:t>PaintEvent</a:t>
            </a:r>
            <a:endParaRPr kumimoji="1" lang="zh-CN" altLang="en-US" sz="1400" dirty="0"/>
          </a:p>
        </p:txBody>
      </p:sp>
      <p:sp>
        <p:nvSpPr>
          <p:cNvPr id="24" name="矩形 23"/>
          <p:cNvSpPr/>
          <p:nvPr/>
        </p:nvSpPr>
        <p:spPr>
          <a:xfrm>
            <a:off x="6948264" y="2420888"/>
            <a:ext cx="1152128" cy="43204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400" dirty="0" err="1"/>
              <a:t>MouseEvent</a:t>
            </a:r>
            <a:endParaRPr kumimoji="1" lang="zh-CN" altLang="en-US" sz="1400" dirty="0"/>
          </a:p>
        </p:txBody>
      </p:sp>
      <p:sp>
        <p:nvSpPr>
          <p:cNvPr id="25" name="矩形 24"/>
          <p:cNvSpPr/>
          <p:nvPr/>
        </p:nvSpPr>
        <p:spPr>
          <a:xfrm>
            <a:off x="6948264" y="3645024"/>
            <a:ext cx="1080120" cy="43204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400" dirty="0" err="1"/>
              <a:t>KeyEvent</a:t>
            </a:r>
            <a:endParaRPr kumimoji="1" lang="zh-CN" altLang="en-US" sz="1400" dirty="0"/>
          </a:p>
        </p:txBody>
      </p:sp>
      <p:cxnSp>
        <p:nvCxnSpPr>
          <p:cNvPr id="27" name="肘形连接符 26"/>
          <p:cNvCxnSpPr>
            <a:stCxn id="14" idx="1"/>
            <a:endCxn id="18" idx="1"/>
          </p:cNvCxnSpPr>
          <p:nvPr/>
        </p:nvCxnSpPr>
        <p:spPr>
          <a:xfrm rot="10800000" flipV="1">
            <a:off x="3635896" y="1844824"/>
            <a:ext cx="12700" cy="2448272"/>
          </a:xfrm>
          <a:prstGeom prst="bentConnector3">
            <a:avLst>
              <a:gd name="adj1" fmla="val 180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直线连接符 28"/>
          <p:cNvCxnSpPr>
            <a:endCxn id="15" idx="1"/>
          </p:cNvCxnSpPr>
          <p:nvPr/>
        </p:nvCxnSpPr>
        <p:spPr>
          <a:xfrm>
            <a:off x="3419872" y="2492896"/>
            <a:ext cx="216024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直线连接符 29"/>
          <p:cNvCxnSpPr/>
          <p:nvPr/>
        </p:nvCxnSpPr>
        <p:spPr>
          <a:xfrm>
            <a:off x="3419872" y="3068960"/>
            <a:ext cx="216024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直线连接符 30"/>
          <p:cNvCxnSpPr/>
          <p:nvPr/>
        </p:nvCxnSpPr>
        <p:spPr>
          <a:xfrm>
            <a:off x="3419872" y="3717032"/>
            <a:ext cx="216024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肘形连接符 31"/>
          <p:cNvCxnSpPr/>
          <p:nvPr/>
        </p:nvCxnSpPr>
        <p:spPr>
          <a:xfrm rot="10800000" flipV="1">
            <a:off x="5135364" y="1916832"/>
            <a:ext cx="12700" cy="2448272"/>
          </a:xfrm>
          <a:prstGeom prst="bentConnector3">
            <a:avLst>
              <a:gd name="adj1" fmla="val 180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直线连接符 32"/>
          <p:cNvCxnSpPr/>
          <p:nvPr/>
        </p:nvCxnSpPr>
        <p:spPr>
          <a:xfrm>
            <a:off x="4919340" y="2564904"/>
            <a:ext cx="216024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直线连接符 33"/>
          <p:cNvCxnSpPr/>
          <p:nvPr/>
        </p:nvCxnSpPr>
        <p:spPr>
          <a:xfrm>
            <a:off x="4919340" y="3140968"/>
            <a:ext cx="216024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直线连接符 34"/>
          <p:cNvCxnSpPr/>
          <p:nvPr/>
        </p:nvCxnSpPr>
        <p:spPr>
          <a:xfrm>
            <a:off x="4919340" y="3789040"/>
            <a:ext cx="216024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左箭头 35"/>
          <p:cNvSpPr/>
          <p:nvPr/>
        </p:nvSpPr>
        <p:spPr>
          <a:xfrm>
            <a:off x="3059832" y="3068960"/>
            <a:ext cx="360040" cy="72008"/>
          </a:xfrm>
          <a:prstGeom prst="lef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8" name="左箭头 37"/>
          <p:cNvSpPr/>
          <p:nvPr/>
        </p:nvSpPr>
        <p:spPr>
          <a:xfrm>
            <a:off x="4716016" y="2996952"/>
            <a:ext cx="216024" cy="144016"/>
          </a:xfrm>
          <a:prstGeom prst="lef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40" name="肘形连接符 39"/>
          <p:cNvCxnSpPr>
            <a:stCxn id="24" idx="1"/>
            <a:endCxn id="25" idx="1"/>
          </p:cNvCxnSpPr>
          <p:nvPr/>
        </p:nvCxnSpPr>
        <p:spPr>
          <a:xfrm rot="10800000" flipV="1">
            <a:off x="6948264" y="2636912"/>
            <a:ext cx="12700" cy="1224136"/>
          </a:xfrm>
          <a:prstGeom prst="bentConnector3">
            <a:avLst>
              <a:gd name="adj1" fmla="val 180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左箭头 40"/>
          <p:cNvSpPr/>
          <p:nvPr/>
        </p:nvSpPr>
        <p:spPr>
          <a:xfrm>
            <a:off x="6228184" y="3068960"/>
            <a:ext cx="504056" cy="144016"/>
          </a:xfrm>
          <a:prstGeom prst="lef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4565552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12768" y="1412776"/>
            <a:ext cx="8607704" cy="3224033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3635896" y="1484784"/>
            <a:ext cx="720080" cy="216024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>
              <a:ln>
                <a:solidFill>
                  <a:srgbClr val="000000"/>
                </a:solidFill>
              </a:ln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2911889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323528" y="1052736"/>
            <a:ext cx="7870590" cy="5328592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3419872" y="1052736"/>
            <a:ext cx="720080" cy="216024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n>
                <a:solidFill>
                  <a:srgbClr val="000000"/>
                </a:solidFill>
              </a:ln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9032701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用户行为、源对象和事件类型</a:t>
            </a: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21516367"/>
              </p:ext>
            </p:extLst>
          </p:nvPr>
        </p:nvGraphicFramePr>
        <p:xfrm>
          <a:off x="467544" y="1340768"/>
          <a:ext cx="7992888" cy="54852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65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12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1373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1516">
                <a:tc>
                  <a:txBody>
                    <a:bodyPr/>
                    <a:lstStyle/>
                    <a:p>
                      <a:r>
                        <a:rPr lang="zh-CN" altLang="en-US" dirty="0"/>
                        <a:t>用户行为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源对象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触发的事件类型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1299">
                <a:tc>
                  <a:txBody>
                    <a:bodyPr/>
                    <a:lstStyle/>
                    <a:p>
                      <a:r>
                        <a:rPr lang="zh-CN" altLang="en-US" sz="1400" dirty="0"/>
                        <a:t>点击按钮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err="1"/>
                        <a:t>JButton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err="1"/>
                        <a:t>ActionEvent</a:t>
                      </a:r>
                      <a:endParaRPr lang="zh-CN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1299">
                <a:tc>
                  <a:txBody>
                    <a:bodyPr/>
                    <a:lstStyle/>
                    <a:p>
                      <a:r>
                        <a:rPr lang="zh-CN" altLang="en-US" sz="1400" dirty="0"/>
                        <a:t>再文本域按下回车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err="1"/>
                        <a:t>JTextField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err="1"/>
                        <a:t>ActionEvent</a:t>
                      </a:r>
                      <a:endParaRPr lang="zh-CN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1299">
                <a:tc>
                  <a:txBody>
                    <a:bodyPr/>
                    <a:lstStyle/>
                    <a:p>
                      <a:r>
                        <a:rPr lang="zh-CN" altLang="en-US" sz="1400" dirty="0"/>
                        <a:t>选定一个新项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err="1"/>
                        <a:t>JComboBox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err="1"/>
                        <a:t>ItemEvent,ActionEvent</a:t>
                      </a:r>
                      <a:endParaRPr lang="zh-CN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1299">
                <a:tc>
                  <a:txBody>
                    <a:bodyPr/>
                    <a:lstStyle/>
                    <a:p>
                      <a:r>
                        <a:rPr lang="zh-CN" altLang="en-US" sz="1400" dirty="0"/>
                        <a:t>选定（多）项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err="1"/>
                        <a:t>JList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err="1"/>
                        <a:t>ListSelectionEvent</a:t>
                      </a:r>
                      <a:endParaRPr lang="zh-CN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1299">
                <a:tc>
                  <a:txBody>
                    <a:bodyPr/>
                    <a:lstStyle/>
                    <a:p>
                      <a:r>
                        <a:rPr lang="zh-CN" altLang="en-US" sz="1400" dirty="0"/>
                        <a:t>点击复选框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err="1"/>
                        <a:t>JCheckBox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err="1"/>
                        <a:t>ItemEvent,ActionEvent</a:t>
                      </a:r>
                      <a:endParaRPr lang="zh-CN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1299">
                <a:tc>
                  <a:txBody>
                    <a:bodyPr/>
                    <a:lstStyle/>
                    <a:p>
                      <a:r>
                        <a:rPr lang="zh-CN" altLang="en-US" sz="1400" dirty="0"/>
                        <a:t>点击单选按钮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err="1"/>
                        <a:t>JRadioButton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err="1"/>
                        <a:t>ItemEvent,ActionEvent</a:t>
                      </a:r>
                      <a:endParaRPr lang="zh-CN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1299">
                <a:tc>
                  <a:txBody>
                    <a:bodyPr/>
                    <a:lstStyle/>
                    <a:p>
                      <a:r>
                        <a:rPr lang="zh-CN" altLang="en-US" sz="1400" dirty="0"/>
                        <a:t>选定菜单项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err="1"/>
                        <a:t>JMenuItem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err="1"/>
                        <a:t>ActionEvent</a:t>
                      </a:r>
                      <a:endParaRPr lang="zh-CN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1299">
                <a:tc>
                  <a:txBody>
                    <a:bodyPr/>
                    <a:lstStyle/>
                    <a:p>
                      <a:r>
                        <a:rPr lang="zh-CN" altLang="en-US" sz="1400" dirty="0"/>
                        <a:t>移动滚动条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err="1"/>
                        <a:t>JScrollBar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err="1"/>
                        <a:t>AdjustmentEvent</a:t>
                      </a:r>
                      <a:endParaRPr lang="zh-CN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41299">
                <a:tc>
                  <a:txBody>
                    <a:bodyPr/>
                    <a:lstStyle/>
                    <a:p>
                      <a:r>
                        <a:rPr lang="zh-CN" altLang="en-US" sz="1400" dirty="0"/>
                        <a:t>窗口打开、关闭、图标化（最小化）或关闭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/>
                        <a:t>Window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err="1"/>
                        <a:t>WindowEvent</a:t>
                      </a:r>
                      <a:endParaRPr lang="zh-CN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41299">
                <a:tc>
                  <a:txBody>
                    <a:bodyPr/>
                    <a:lstStyle/>
                    <a:p>
                      <a:r>
                        <a:rPr lang="zh-CN" altLang="en-US" sz="1400" dirty="0"/>
                        <a:t>从容器中添加或删除组件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/>
                        <a:t>Container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err="1"/>
                        <a:t>ContainerEvent</a:t>
                      </a:r>
                      <a:endParaRPr lang="zh-CN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41299">
                <a:tc>
                  <a:txBody>
                    <a:bodyPr/>
                    <a:lstStyle/>
                    <a:p>
                      <a:r>
                        <a:rPr lang="zh-CN" altLang="en-US" sz="1400" dirty="0"/>
                        <a:t>组建移动、改变大小、隐藏或显示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/>
                        <a:t>Component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err="1"/>
                        <a:t>ComponentEvent</a:t>
                      </a:r>
                      <a:endParaRPr lang="zh-CN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41299">
                <a:tc>
                  <a:txBody>
                    <a:bodyPr/>
                    <a:lstStyle/>
                    <a:p>
                      <a:r>
                        <a:rPr lang="zh-CN" altLang="en-US" sz="1400" dirty="0"/>
                        <a:t>组件获得或失去焦点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/>
                        <a:t>Component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err="1"/>
                        <a:t>FocusEvent</a:t>
                      </a:r>
                      <a:endParaRPr lang="zh-CN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41299">
                <a:tc>
                  <a:txBody>
                    <a:bodyPr/>
                    <a:lstStyle/>
                    <a:p>
                      <a:r>
                        <a:rPr lang="zh-CN" altLang="en-US" sz="1400" dirty="0"/>
                        <a:t>释放或按下键盘上的键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/>
                        <a:t>Component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err="1"/>
                        <a:t>KeyEvent</a:t>
                      </a:r>
                      <a:endParaRPr lang="zh-CN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41299">
                <a:tc>
                  <a:txBody>
                    <a:bodyPr/>
                    <a:lstStyle/>
                    <a:p>
                      <a:r>
                        <a:rPr lang="zh-CN" altLang="en-US" sz="1400" dirty="0"/>
                        <a:t>按下、释放、点击、移入或移出鼠标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/>
                        <a:t>Component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err="1"/>
                        <a:t>MouseEvent</a:t>
                      </a:r>
                      <a:endParaRPr lang="zh-CN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41299">
                <a:tc>
                  <a:txBody>
                    <a:bodyPr/>
                    <a:lstStyle/>
                    <a:p>
                      <a:r>
                        <a:rPr lang="zh-CN" altLang="en-US" sz="1400" dirty="0"/>
                        <a:t>移动或拖动鼠标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/>
                        <a:t>Component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err="1"/>
                        <a:t>MouseEvent</a:t>
                      </a:r>
                      <a:endParaRPr lang="zh-CN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1786117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事件、事件监听器和监听器方法</a:t>
            </a: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47022493"/>
              </p:ext>
            </p:extLst>
          </p:nvPr>
        </p:nvGraphicFramePr>
        <p:xfrm>
          <a:off x="0" y="1412776"/>
          <a:ext cx="9036496" cy="471308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56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0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60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3966">
                <a:tc>
                  <a:txBody>
                    <a:bodyPr/>
                    <a:lstStyle/>
                    <a:p>
                      <a:r>
                        <a:rPr lang="zh-CN" altLang="en-US" dirty="0"/>
                        <a:t>事件类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监听器接口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监听器方法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3532">
                <a:tc>
                  <a:txBody>
                    <a:bodyPr/>
                    <a:lstStyle/>
                    <a:p>
                      <a:r>
                        <a:rPr lang="en-US" altLang="zh-CN" sz="1400" dirty="0" err="1"/>
                        <a:t>ActionEvent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err="1"/>
                        <a:t>ActionListener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err="1"/>
                        <a:t>actionPerformed</a:t>
                      </a:r>
                      <a:r>
                        <a:rPr lang="en-US" altLang="zh-CN" sz="1400" dirty="0"/>
                        <a:t>(</a:t>
                      </a:r>
                      <a:r>
                        <a:rPr lang="en-US" altLang="zh-CN" sz="1400" dirty="0" err="1"/>
                        <a:t>ActionEvent</a:t>
                      </a:r>
                      <a:r>
                        <a:rPr lang="en-US" altLang="zh-CN" sz="1400" dirty="0"/>
                        <a:t>)</a:t>
                      </a:r>
                      <a:endParaRPr lang="zh-CN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3532">
                <a:tc>
                  <a:txBody>
                    <a:bodyPr/>
                    <a:lstStyle/>
                    <a:p>
                      <a:r>
                        <a:rPr lang="en-US" altLang="zh-CN" sz="1400" dirty="0" err="1"/>
                        <a:t>ItemEvent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err="1"/>
                        <a:t>ItemListener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err="1"/>
                        <a:t>itemStateChanged</a:t>
                      </a:r>
                      <a:r>
                        <a:rPr lang="en-US" altLang="zh-CN" sz="1400" dirty="0"/>
                        <a:t>(</a:t>
                      </a:r>
                      <a:r>
                        <a:rPr lang="en-US" altLang="zh-CN" sz="1400" dirty="0" err="1"/>
                        <a:t>ItemEvent</a:t>
                      </a:r>
                      <a:r>
                        <a:rPr lang="en-US" altLang="zh-CN" sz="1400" dirty="0"/>
                        <a:t>)</a:t>
                      </a:r>
                      <a:endParaRPr lang="zh-CN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3967">
                <a:tc rowSpan="2">
                  <a:txBody>
                    <a:bodyPr/>
                    <a:lstStyle/>
                    <a:p>
                      <a:r>
                        <a:rPr lang="en-US" altLang="zh-CN" sz="1400" dirty="0" err="1"/>
                        <a:t>MouseEvent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err="1"/>
                        <a:t>MouseListener</a:t>
                      </a:r>
                      <a:endParaRPr lang="en-US" altLang="zh-C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 err="1"/>
                        <a:t>MousePressed</a:t>
                      </a:r>
                      <a:r>
                        <a:rPr lang="en-US" altLang="zh-CN" sz="1400" dirty="0"/>
                        <a:t>(</a:t>
                      </a:r>
                      <a:r>
                        <a:rPr lang="en-US" altLang="zh-CN" sz="1400" dirty="0" err="1"/>
                        <a:t>MouseEvent</a:t>
                      </a:r>
                      <a:r>
                        <a:rPr lang="en-US" altLang="zh-CN" sz="1400" dirty="0"/>
                        <a:t>); </a:t>
                      </a:r>
                      <a:r>
                        <a:rPr lang="en-US" altLang="zh-CN" sz="1400" dirty="0" err="1"/>
                        <a:t>MouseReleased</a:t>
                      </a:r>
                      <a:r>
                        <a:rPr lang="en-US" altLang="zh-CN" sz="1400" dirty="0"/>
                        <a:t>(</a:t>
                      </a:r>
                      <a:r>
                        <a:rPr lang="en-US" altLang="zh-CN" sz="1400" dirty="0" err="1"/>
                        <a:t>MouseEvent</a:t>
                      </a:r>
                      <a:r>
                        <a:rPr lang="en-US" altLang="zh-CN" sz="1400" dirty="0"/>
                        <a:t>);</a:t>
                      </a:r>
                      <a:endParaRPr lang="zh-CN" altLang="en-US" sz="1400" dirty="0"/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 err="1"/>
                        <a:t>MouseEntered</a:t>
                      </a:r>
                      <a:r>
                        <a:rPr lang="en-US" altLang="zh-CN" sz="1400" dirty="0"/>
                        <a:t>(</a:t>
                      </a:r>
                      <a:r>
                        <a:rPr lang="en-US" altLang="zh-CN" sz="1400" dirty="0" err="1"/>
                        <a:t>MouseEvent</a:t>
                      </a:r>
                      <a:r>
                        <a:rPr lang="en-US" altLang="zh-CN" sz="1400" dirty="0"/>
                        <a:t>);</a:t>
                      </a:r>
                      <a:r>
                        <a:rPr lang="en-US" altLang="zh-CN" sz="1400" dirty="0" err="1"/>
                        <a:t>MouseExited</a:t>
                      </a:r>
                      <a:r>
                        <a:rPr lang="en-US" altLang="zh-CN" sz="1400" dirty="0"/>
                        <a:t>(</a:t>
                      </a:r>
                      <a:r>
                        <a:rPr lang="en-US" altLang="zh-CN" sz="1400" dirty="0" err="1"/>
                        <a:t>MouseEvent</a:t>
                      </a:r>
                      <a:r>
                        <a:rPr lang="en-US" altLang="zh-CN" sz="1400" dirty="0"/>
                        <a:t>);</a:t>
                      </a:r>
                      <a:endParaRPr lang="zh-CN" altLang="en-US" sz="1400" dirty="0"/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 err="1"/>
                        <a:t>MouseClicked</a:t>
                      </a:r>
                      <a:r>
                        <a:rPr lang="en-US" altLang="zh-CN" sz="1400" dirty="0"/>
                        <a:t>(</a:t>
                      </a:r>
                      <a:r>
                        <a:rPr lang="en-US" altLang="zh-CN" sz="1400" dirty="0" err="1"/>
                        <a:t>MouseEvent</a:t>
                      </a:r>
                      <a:r>
                        <a:rPr lang="en-US" altLang="zh-CN" sz="1400" dirty="0"/>
                        <a:t>);</a:t>
                      </a:r>
                      <a:endParaRPr lang="zh-CN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3967">
                <a:tc vMerge="1"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 err="1"/>
                        <a:t>MouseMotionListener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 err="1"/>
                        <a:t>MouseDragged</a:t>
                      </a:r>
                      <a:r>
                        <a:rPr lang="en-US" altLang="zh-CN" sz="1400" dirty="0"/>
                        <a:t>(</a:t>
                      </a:r>
                      <a:r>
                        <a:rPr lang="en-US" altLang="zh-CN" sz="1400" dirty="0" err="1"/>
                        <a:t>MouseEvent</a:t>
                      </a:r>
                      <a:r>
                        <a:rPr lang="en-US" altLang="zh-CN" sz="1400" dirty="0"/>
                        <a:t>); </a:t>
                      </a:r>
                      <a:r>
                        <a:rPr lang="en-US" altLang="zh-CN" sz="1400" dirty="0" err="1"/>
                        <a:t>MouseMoved</a:t>
                      </a:r>
                      <a:r>
                        <a:rPr lang="en-US" altLang="zh-CN" sz="1400" dirty="0"/>
                        <a:t>(</a:t>
                      </a:r>
                      <a:r>
                        <a:rPr lang="en-US" altLang="zh-CN" sz="1400" dirty="0" err="1"/>
                        <a:t>MouseEvent</a:t>
                      </a:r>
                      <a:r>
                        <a:rPr lang="en-US" altLang="zh-CN" sz="1400" dirty="0"/>
                        <a:t>);</a:t>
                      </a:r>
                      <a:endParaRPr lang="zh-CN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3532">
                <a:tc>
                  <a:txBody>
                    <a:bodyPr/>
                    <a:lstStyle/>
                    <a:p>
                      <a:r>
                        <a:rPr lang="en-US" altLang="zh-CN" sz="1400" dirty="0" err="1"/>
                        <a:t>KeyEvent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err="1"/>
                        <a:t>KeyListener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 err="1"/>
                        <a:t>KeyPressed</a:t>
                      </a:r>
                      <a:r>
                        <a:rPr lang="en-US" altLang="zh-CN" sz="1400" dirty="0"/>
                        <a:t>(</a:t>
                      </a:r>
                      <a:r>
                        <a:rPr lang="en-US" altLang="zh-CN" sz="1400" dirty="0" err="1"/>
                        <a:t>KeyEvent</a:t>
                      </a:r>
                      <a:r>
                        <a:rPr lang="en-US" altLang="zh-CN" sz="1400" dirty="0"/>
                        <a:t>); </a:t>
                      </a:r>
                      <a:r>
                        <a:rPr lang="en-US" altLang="zh-CN" sz="1400" dirty="0" err="1"/>
                        <a:t>KeyReleased</a:t>
                      </a:r>
                      <a:r>
                        <a:rPr lang="en-US" altLang="zh-CN" sz="1400" dirty="0"/>
                        <a:t>(</a:t>
                      </a:r>
                      <a:r>
                        <a:rPr lang="en-US" altLang="zh-CN" sz="1400" dirty="0" err="1"/>
                        <a:t>KeyEvent</a:t>
                      </a:r>
                      <a:r>
                        <a:rPr lang="en-US" altLang="zh-CN" sz="1400" dirty="0"/>
                        <a:t>); </a:t>
                      </a:r>
                      <a:r>
                        <a:rPr lang="en-US" altLang="zh-CN" sz="1400" dirty="0" err="1"/>
                        <a:t>KeyTyped</a:t>
                      </a:r>
                      <a:r>
                        <a:rPr lang="en-US" altLang="zh-CN" sz="1400" dirty="0"/>
                        <a:t>(</a:t>
                      </a:r>
                      <a:r>
                        <a:rPr lang="en-US" altLang="zh-CN" sz="1400" dirty="0" err="1"/>
                        <a:t>KeyEvent</a:t>
                      </a:r>
                      <a:r>
                        <a:rPr lang="en-US" altLang="zh-CN" sz="1400" dirty="0"/>
                        <a:t>);</a:t>
                      </a:r>
                      <a:endParaRPr lang="zh-CN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3532">
                <a:tc>
                  <a:txBody>
                    <a:bodyPr/>
                    <a:lstStyle/>
                    <a:p>
                      <a:r>
                        <a:rPr lang="en-US" altLang="zh-CN" sz="1400" dirty="0" err="1"/>
                        <a:t>WindowEvent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err="1"/>
                        <a:t>WindowListener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 err="1"/>
                        <a:t>WindowClosing</a:t>
                      </a:r>
                      <a:r>
                        <a:rPr lang="en-US" altLang="zh-CN" sz="1400" dirty="0"/>
                        <a:t>(</a:t>
                      </a:r>
                      <a:r>
                        <a:rPr lang="en-US" altLang="zh-CN" sz="1400" dirty="0" err="1"/>
                        <a:t>WindowEvent</a:t>
                      </a:r>
                      <a:r>
                        <a:rPr lang="en-US" altLang="zh-CN" sz="1400" dirty="0"/>
                        <a:t>); </a:t>
                      </a:r>
                      <a:r>
                        <a:rPr lang="en-US" altLang="zh-CN" sz="1400" dirty="0" err="1"/>
                        <a:t>WindowOpened</a:t>
                      </a:r>
                      <a:r>
                        <a:rPr lang="en-US" altLang="zh-CN" sz="1400" dirty="0"/>
                        <a:t>(</a:t>
                      </a:r>
                      <a:r>
                        <a:rPr lang="en-US" altLang="zh-CN" sz="1400" dirty="0" err="1"/>
                        <a:t>WindowEvent</a:t>
                      </a:r>
                      <a:r>
                        <a:rPr lang="en-US" altLang="zh-CN" sz="1400" dirty="0"/>
                        <a:t>);</a:t>
                      </a:r>
                      <a:endParaRPr lang="zh-CN" altLang="en-US" sz="1400" dirty="0"/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 err="1"/>
                        <a:t>WindowIconified</a:t>
                      </a:r>
                      <a:r>
                        <a:rPr lang="en-US" altLang="zh-CN" sz="1400" dirty="0"/>
                        <a:t>(</a:t>
                      </a:r>
                      <a:r>
                        <a:rPr lang="en-US" altLang="zh-CN" sz="1400" dirty="0" err="1"/>
                        <a:t>WindowEvent</a:t>
                      </a:r>
                      <a:r>
                        <a:rPr lang="en-US" altLang="zh-CN" sz="1400" dirty="0"/>
                        <a:t>); </a:t>
                      </a:r>
                      <a:r>
                        <a:rPr lang="en-US" altLang="zh-CN" sz="1400" dirty="0" err="1"/>
                        <a:t>WindowDeiconified</a:t>
                      </a:r>
                      <a:r>
                        <a:rPr lang="en-US" altLang="zh-CN" sz="1400" dirty="0"/>
                        <a:t>(</a:t>
                      </a:r>
                      <a:r>
                        <a:rPr lang="en-US" altLang="zh-CN" sz="1400" dirty="0" err="1"/>
                        <a:t>WindowEvent</a:t>
                      </a:r>
                      <a:r>
                        <a:rPr lang="en-US" altLang="zh-CN" sz="1400" dirty="0"/>
                        <a:t>);</a:t>
                      </a:r>
                      <a:endParaRPr lang="zh-CN" altLang="en-US" sz="1400" dirty="0"/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 err="1"/>
                        <a:t>WindowClosed</a:t>
                      </a:r>
                      <a:r>
                        <a:rPr lang="en-US" altLang="zh-CN" sz="1400" dirty="0"/>
                        <a:t>(</a:t>
                      </a:r>
                      <a:r>
                        <a:rPr lang="en-US" altLang="zh-CN" sz="1400" dirty="0" err="1"/>
                        <a:t>WindowEvent</a:t>
                      </a:r>
                      <a:r>
                        <a:rPr lang="en-US" altLang="zh-CN" sz="1400" dirty="0"/>
                        <a:t>); </a:t>
                      </a:r>
                      <a:r>
                        <a:rPr lang="en-US" altLang="zh-CN" sz="1400" dirty="0" err="1"/>
                        <a:t>WindowActivated</a:t>
                      </a:r>
                      <a:r>
                        <a:rPr lang="en-US" altLang="zh-CN" sz="1400" dirty="0"/>
                        <a:t>(</a:t>
                      </a:r>
                      <a:r>
                        <a:rPr lang="en-US" altLang="zh-CN" sz="1400" dirty="0" err="1"/>
                        <a:t>WindowEvent</a:t>
                      </a:r>
                      <a:r>
                        <a:rPr lang="en-US" altLang="zh-CN" sz="1400" dirty="0"/>
                        <a:t>);</a:t>
                      </a:r>
                      <a:endParaRPr lang="zh-CN" altLang="en-US" sz="1400" dirty="0"/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 err="1"/>
                        <a:t>WindowDeactiviated</a:t>
                      </a:r>
                      <a:r>
                        <a:rPr lang="en-US" altLang="zh-CN" sz="1400" dirty="0"/>
                        <a:t>(</a:t>
                      </a:r>
                      <a:r>
                        <a:rPr lang="en-US" altLang="zh-CN" sz="1400" dirty="0" err="1"/>
                        <a:t>WindowEvent</a:t>
                      </a:r>
                      <a:r>
                        <a:rPr lang="en-US" altLang="zh-CN" sz="1400" dirty="0"/>
                        <a:t>);</a:t>
                      </a:r>
                      <a:endParaRPr lang="zh-CN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3532">
                <a:tc>
                  <a:txBody>
                    <a:bodyPr/>
                    <a:lstStyle/>
                    <a:p>
                      <a:r>
                        <a:rPr lang="en-US" altLang="zh-CN" sz="1400" dirty="0" err="1"/>
                        <a:t>ContainerEvent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err="1"/>
                        <a:t>ContainerListener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 err="1"/>
                        <a:t>ComponentAdded</a:t>
                      </a:r>
                      <a:r>
                        <a:rPr lang="en-US" altLang="zh-CN" sz="1400" dirty="0"/>
                        <a:t>(</a:t>
                      </a:r>
                      <a:r>
                        <a:rPr lang="en-US" altLang="zh-CN" sz="1400" dirty="0" err="1"/>
                        <a:t>ContainerEvent</a:t>
                      </a:r>
                      <a:r>
                        <a:rPr lang="en-US" altLang="zh-CN" sz="1400" dirty="0"/>
                        <a:t>); </a:t>
                      </a:r>
                      <a:r>
                        <a:rPr lang="en-US" altLang="zh-CN" sz="1400" dirty="0" err="1"/>
                        <a:t>ComponentRemoved</a:t>
                      </a:r>
                      <a:r>
                        <a:rPr lang="en-US" altLang="zh-CN" sz="1400" dirty="0"/>
                        <a:t>(</a:t>
                      </a:r>
                      <a:r>
                        <a:rPr lang="en-US" altLang="zh-CN" sz="1400" dirty="0" err="1"/>
                        <a:t>ContainerEvent</a:t>
                      </a:r>
                      <a:r>
                        <a:rPr lang="en-US" altLang="zh-CN" sz="1400" dirty="0"/>
                        <a:t>);</a:t>
                      </a:r>
                      <a:endParaRPr lang="zh-CN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3532">
                <a:tc>
                  <a:txBody>
                    <a:bodyPr/>
                    <a:lstStyle/>
                    <a:p>
                      <a:r>
                        <a:rPr lang="en-US" altLang="zh-CN" sz="1400" dirty="0" err="1"/>
                        <a:t>ComponentEvent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err="1"/>
                        <a:t>ComponentListener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 err="1"/>
                        <a:t>ComponentMoved</a:t>
                      </a:r>
                      <a:r>
                        <a:rPr lang="en-US" altLang="zh-CN" sz="1400" dirty="0"/>
                        <a:t>(</a:t>
                      </a:r>
                      <a:r>
                        <a:rPr lang="en-US" altLang="zh-CN" sz="1400" dirty="0" err="1"/>
                        <a:t>ContainerEvent</a:t>
                      </a:r>
                      <a:r>
                        <a:rPr lang="en-US" altLang="zh-CN" sz="1400" dirty="0"/>
                        <a:t>); </a:t>
                      </a:r>
                      <a:r>
                        <a:rPr lang="en-US" altLang="zh-CN" sz="1400" dirty="0" err="1"/>
                        <a:t>ComponentHidden</a:t>
                      </a:r>
                      <a:r>
                        <a:rPr lang="en-US" altLang="zh-CN" sz="1400" dirty="0"/>
                        <a:t>(</a:t>
                      </a:r>
                      <a:r>
                        <a:rPr lang="en-US" altLang="zh-CN" sz="1400" dirty="0" err="1"/>
                        <a:t>ContainerEvent</a:t>
                      </a:r>
                      <a:r>
                        <a:rPr lang="en-US" altLang="zh-CN" sz="1400" dirty="0"/>
                        <a:t>);</a:t>
                      </a:r>
                      <a:endParaRPr lang="zh-CN" altLang="en-US" sz="1400" dirty="0"/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 err="1"/>
                        <a:t>ComponentResized</a:t>
                      </a:r>
                      <a:r>
                        <a:rPr lang="en-US" altLang="zh-CN" sz="1400" dirty="0"/>
                        <a:t>(</a:t>
                      </a:r>
                      <a:r>
                        <a:rPr lang="en-US" altLang="zh-CN" sz="1400" dirty="0" err="1"/>
                        <a:t>ContainerEvent</a:t>
                      </a:r>
                      <a:r>
                        <a:rPr lang="en-US" altLang="zh-CN" sz="1400" dirty="0"/>
                        <a:t>); </a:t>
                      </a:r>
                      <a:r>
                        <a:rPr lang="en-US" altLang="zh-CN" sz="1400" dirty="0" err="1"/>
                        <a:t>ComponentShown</a:t>
                      </a:r>
                      <a:r>
                        <a:rPr lang="en-US" altLang="zh-CN" sz="1400" dirty="0"/>
                        <a:t>(</a:t>
                      </a:r>
                      <a:r>
                        <a:rPr lang="en-US" altLang="zh-CN" sz="1400" dirty="0" err="1"/>
                        <a:t>ContainerEvent</a:t>
                      </a:r>
                      <a:r>
                        <a:rPr lang="en-US" altLang="zh-CN" sz="1400" dirty="0"/>
                        <a:t>);</a:t>
                      </a:r>
                      <a:endParaRPr lang="zh-CN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03532">
                <a:tc>
                  <a:txBody>
                    <a:bodyPr/>
                    <a:lstStyle/>
                    <a:p>
                      <a:r>
                        <a:rPr lang="en-US" altLang="zh-CN" sz="1400" dirty="0" err="1"/>
                        <a:t>FocusEvent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err="1"/>
                        <a:t>FocusListener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err="1"/>
                        <a:t>focusGained</a:t>
                      </a:r>
                      <a:r>
                        <a:rPr lang="en-US" altLang="zh-CN" sz="1400" dirty="0"/>
                        <a:t>(</a:t>
                      </a:r>
                      <a:r>
                        <a:rPr lang="en-US" altLang="zh-CN" sz="1400" dirty="0" err="1"/>
                        <a:t>FocusEvent</a:t>
                      </a:r>
                      <a:r>
                        <a:rPr lang="en-US" altLang="zh-CN" sz="1400" dirty="0"/>
                        <a:t>);</a:t>
                      </a:r>
                      <a:r>
                        <a:rPr lang="en-US" altLang="zh-CN" sz="1400" dirty="0" err="1"/>
                        <a:t>focusLost</a:t>
                      </a:r>
                      <a:r>
                        <a:rPr lang="en-US" altLang="zh-CN" sz="1400" dirty="0"/>
                        <a:t>(</a:t>
                      </a:r>
                      <a:r>
                        <a:rPr lang="en-US" altLang="zh-CN" sz="1400" dirty="0" err="1"/>
                        <a:t>FocusEvent</a:t>
                      </a:r>
                      <a:r>
                        <a:rPr lang="en-US" altLang="zh-CN" sz="1400" dirty="0"/>
                        <a:t>)</a:t>
                      </a:r>
                      <a:endParaRPr lang="zh-CN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03532">
                <a:tc>
                  <a:txBody>
                    <a:bodyPr/>
                    <a:lstStyle/>
                    <a:p>
                      <a:r>
                        <a:rPr lang="en-US" altLang="zh-CN" sz="1400" dirty="0" err="1"/>
                        <a:t>AdjustmentEvent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err="1"/>
                        <a:t>AdjustmentListener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err="1"/>
                        <a:t>adjustmentValueChanged</a:t>
                      </a:r>
                      <a:r>
                        <a:rPr lang="en-US" altLang="zh-CN" sz="1400" dirty="0"/>
                        <a:t>(</a:t>
                      </a:r>
                      <a:r>
                        <a:rPr lang="en-US" altLang="zh-CN" sz="1400" dirty="0" err="1"/>
                        <a:t>AdjustmentEvent</a:t>
                      </a:r>
                      <a:r>
                        <a:rPr lang="en-US" altLang="zh-CN" sz="1400" dirty="0"/>
                        <a:t>)</a:t>
                      </a:r>
                      <a:endParaRPr lang="zh-CN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8567546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事件的监听、注册和处理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sz="2800" dirty="0"/>
              <a:t>监听器对象的类必须是相应的事件监听器接口的实例，以确保监听器有处理该事件的正确方法</a:t>
            </a:r>
            <a:endParaRPr kumimoji="1" lang="en-US" altLang="zh-CN" sz="2800" dirty="0"/>
          </a:p>
          <a:p>
            <a:r>
              <a:rPr kumimoji="1" lang="zh-CN" altLang="en-US" sz="2800" dirty="0"/>
              <a:t>监听器对象必须由源对象注册</a:t>
            </a:r>
            <a:endParaRPr kumimoji="1" lang="en-US" altLang="zh-CN" sz="2800" dirty="0"/>
          </a:p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59128365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方便适配器</a:t>
            </a: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65177152"/>
              </p:ext>
            </p:extLst>
          </p:nvPr>
        </p:nvGraphicFramePr>
        <p:xfrm>
          <a:off x="1331640" y="1758424"/>
          <a:ext cx="6096000" cy="296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zh-CN" altLang="en-US" dirty="0"/>
                        <a:t>适配器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接口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 err="1"/>
                        <a:t>WindowAdapter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err="1"/>
                        <a:t>WindowListener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 err="1"/>
                        <a:t>MouseAdapter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err="1"/>
                        <a:t>MouseListener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 err="1"/>
                        <a:t>MouseMotionAdapter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err="1"/>
                        <a:t>MouseMotionListener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 err="1"/>
                        <a:t>KeyAdapter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err="1"/>
                        <a:t>KeyListener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 err="1"/>
                        <a:t>ContainerAdapter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err="1"/>
                        <a:t>ContainerListener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 err="1"/>
                        <a:t>ComponentAdapter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err="1"/>
                        <a:t>ComponentListener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 err="1"/>
                        <a:t>FocusAdapter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err="1"/>
                        <a:t>FocusListener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5219611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键盘事件之键常量</a:t>
            </a: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7961531"/>
              </p:ext>
            </p:extLst>
          </p:nvPr>
        </p:nvGraphicFramePr>
        <p:xfrm>
          <a:off x="323528" y="1628800"/>
          <a:ext cx="4032448" cy="4079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62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62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zh-CN" altLang="en-US" dirty="0"/>
                        <a:t>常量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描述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VK_HOME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Home</a:t>
                      </a:r>
                      <a:r>
                        <a:rPr lang="zh-CN" altLang="en-US" dirty="0"/>
                        <a:t>键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VK_END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End</a:t>
                      </a:r>
                      <a:r>
                        <a:rPr lang="zh-CN" altLang="en-US" dirty="0"/>
                        <a:t>键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VK_PGUP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Page Up</a:t>
                      </a:r>
                      <a:r>
                        <a:rPr lang="zh-CN" altLang="en-US" dirty="0"/>
                        <a:t>键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VK_PGDN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Page Down</a:t>
                      </a:r>
                      <a:r>
                        <a:rPr lang="zh-CN" altLang="en-US" dirty="0"/>
                        <a:t>键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VK_UP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上箭头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VK_DOWN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下箭头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VK_LEFT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左箭头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VK_RIGHT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右箭头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VK_ESCAPE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Esc</a:t>
                      </a:r>
                      <a:r>
                        <a:rPr lang="zh-CN" altLang="en-US" dirty="0"/>
                        <a:t>键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VK_TAB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Tab</a:t>
                      </a:r>
                      <a:r>
                        <a:rPr lang="zh-CN" altLang="en-US" dirty="0"/>
                        <a:t>键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03720574"/>
              </p:ext>
            </p:extLst>
          </p:nvPr>
        </p:nvGraphicFramePr>
        <p:xfrm>
          <a:off x="4644008" y="1628800"/>
          <a:ext cx="4032448" cy="4079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62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62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zh-CN" altLang="en-US" dirty="0"/>
                        <a:t>常量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描述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VK_CONTROL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Ctrl</a:t>
                      </a:r>
                      <a:r>
                        <a:rPr lang="zh-CN" altLang="en-US" dirty="0"/>
                        <a:t>键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VK_SHIFT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Shift</a:t>
                      </a:r>
                      <a:r>
                        <a:rPr lang="zh-CN" altLang="en-US" dirty="0"/>
                        <a:t>键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VK_BACK_SPACE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退格键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VK_CAPS_LOCK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大写字母锁定键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VK_NUM_LOCK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数字键盘锁定键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VK_ENTER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回车键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VK_UNDEFINED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VK_F1</a:t>
                      </a:r>
                      <a:r>
                        <a:rPr lang="zh-CN" altLang="en-US" dirty="0"/>
                        <a:t>到</a:t>
                      </a:r>
                      <a:r>
                        <a:rPr lang="en-US" altLang="zh-CN" dirty="0"/>
                        <a:t>VK_F12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功能键</a:t>
                      </a:r>
                      <a:r>
                        <a:rPr lang="en-US" altLang="zh-CN" dirty="0"/>
                        <a:t>F1</a:t>
                      </a:r>
                      <a:r>
                        <a:rPr lang="zh-CN" altLang="en-US" dirty="0"/>
                        <a:t>到</a:t>
                      </a:r>
                      <a:r>
                        <a:rPr lang="en-US" altLang="zh-CN" dirty="0"/>
                        <a:t>F2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VK_0</a:t>
                      </a:r>
                      <a:r>
                        <a:rPr lang="zh-CN" altLang="en-US" dirty="0"/>
                        <a:t>到</a:t>
                      </a:r>
                      <a:r>
                        <a:rPr lang="en-US" altLang="zh-CN" dirty="0"/>
                        <a:t>VK_9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数字键</a:t>
                      </a:r>
                      <a:r>
                        <a:rPr lang="en-US" altLang="zh-CN" dirty="0"/>
                        <a:t>0</a:t>
                      </a:r>
                      <a:r>
                        <a:rPr lang="zh-CN" altLang="en-US" dirty="0"/>
                        <a:t>到</a:t>
                      </a:r>
                      <a:r>
                        <a:rPr lang="en-US" altLang="zh-CN" dirty="0"/>
                        <a:t>9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VK_A</a:t>
                      </a:r>
                      <a:r>
                        <a:rPr lang="zh-CN" altLang="en-US" dirty="0"/>
                        <a:t>到</a:t>
                      </a:r>
                      <a:r>
                        <a:rPr lang="en-US" altLang="zh-CN" dirty="0"/>
                        <a:t>VK_Z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字母键</a:t>
                      </a:r>
                      <a:r>
                        <a:rPr lang="en-US" altLang="zh-CN" dirty="0"/>
                        <a:t>A</a:t>
                      </a:r>
                      <a:r>
                        <a:rPr lang="zh-CN" altLang="en-US" dirty="0"/>
                        <a:t>到</a:t>
                      </a:r>
                      <a:r>
                        <a:rPr lang="en-US" altLang="zh-CN" dirty="0"/>
                        <a:t>Z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6582857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Group 1234"/>
          <p:cNvGraphicFramePr>
            <a:graphicFrameLocks noGrp="1"/>
          </p:cNvGraphicFramePr>
          <p:nvPr/>
        </p:nvGraphicFramePr>
        <p:xfrm>
          <a:off x="468313" y="1397000"/>
          <a:ext cx="8367712" cy="4801680"/>
        </p:xfrm>
        <a:graphic>
          <a:graphicData uri="http://schemas.openxmlformats.org/drawingml/2006/table">
            <a:tbl>
              <a:tblPr/>
              <a:tblGrid>
                <a:gridCol w="1511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287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796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479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810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charset="0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  <a:cs typeface="Times New Roman" charset="0"/>
                        </a:rPr>
                        <a:t>事件</a:t>
                      </a:r>
                      <a:endParaRPr kumimoji="0" lang="zh-CN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charset="0"/>
                        <a:ea typeface="宋体" charset="0"/>
                        <a:cs typeface="宋体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9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charset="0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  <a:cs typeface="Times New Roman" charset="0"/>
                        </a:rPr>
                        <a:t>监听器接口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  <a:cs typeface="Times New Roman" charset="0"/>
                        </a:rPr>
                        <a:t> 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charset="0"/>
                        <a:ea typeface="宋体" charset="0"/>
                        <a:cs typeface="宋体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9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charset="0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  <a:cs typeface="Times New Roman" charset="0"/>
                        </a:rPr>
                        <a:t>监听器适配器类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9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charset="0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  <a:cs typeface="Times New Roman" charset="0"/>
                        </a:rPr>
                        <a:t>事件处理方法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9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94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charset="0"/>
                        <a:buNone/>
                        <a:tabLst/>
                      </a:pPr>
                      <a:r>
                        <a:rPr kumimoji="0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charset="0"/>
                          <a:ea typeface="黑体" charset="0"/>
                          <a:cs typeface="黑体" charset="0"/>
                        </a:rPr>
                        <a:t>ActionEvent</a:t>
                      </a:r>
                      <a:r>
                        <a:rPr kumimoji="0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  <a:cs typeface="宋体" charset="0"/>
                        </a:rPr>
                        <a:t> </a:t>
                      </a:r>
                      <a:endParaRPr kumimoji="0" lang="en-US" altLang="zh-CN" sz="1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charset="0"/>
                        <a:ea typeface="宋体" charset="0"/>
                        <a:cs typeface="宋体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charset="0"/>
                        <a:buNone/>
                        <a:tabLst/>
                      </a:pPr>
                      <a:r>
                        <a:rPr kumimoji="0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charset="0"/>
                          <a:ea typeface="黑体" charset="0"/>
                          <a:cs typeface="黑体" charset="0"/>
                        </a:rPr>
                        <a:t>ActionListener</a:t>
                      </a:r>
                      <a:r>
                        <a:rPr kumimoji="0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  <a:cs typeface="宋体" charset="0"/>
                        </a:rPr>
                        <a:t> </a:t>
                      </a:r>
                      <a:endParaRPr kumimoji="0" lang="en-US" altLang="zh-CN" sz="1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charset="0"/>
                        <a:ea typeface="宋体" charset="0"/>
                        <a:cs typeface="宋体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charset="0"/>
                        <a:buNone/>
                        <a:tabLst/>
                      </a:pPr>
                      <a:r>
                        <a:rPr kumimoji="0" lang="zh-CN" altLang="en-US" sz="17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  <a:cs typeface="宋体" charset="0"/>
                        </a:rPr>
                        <a:t>无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charset="0"/>
                        <a:buNone/>
                        <a:tabLst/>
                      </a:pPr>
                      <a:r>
                        <a:rPr kumimoji="0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charset="0"/>
                          <a:ea typeface="黑体" charset="0"/>
                          <a:cs typeface="黑体" charset="0"/>
                        </a:rPr>
                        <a:t>actionPerformed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10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charset="0"/>
                        <a:buNone/>
                        <a:tabLst/>
                      </a:pPr>
                      <a:r>
                        <a:rPr kumimoji="0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charset="0"/>
                          <a:ea typeface="黑体" charset="0"/>
                          <a:cs typeface="黑体" charset="0"/>
                        </a:rPr>
                        <a:t>AdjustmentEvent</a:t>
                      </a:r>
                      <a:endParaRPr kumimoji="0" lang="en-US" altLang="zh-CN" sz="2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宋体" charset="0"/>
                        <a:cs typeface="宋体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charset="0"/>
                        <a:buNone/>
                        <a:tabLst/>
                      </a:pPr>
                      <a:r>
                        <a:rPr kumimoji="0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charset="0"/>
                          <a:ea typeface="黑体" charset="0"/>
                          <a:cs typeface="黑体" charset="0"/>
                        </a:rPr>
                        <a:t>AdjustmentListener</a:t>
                      </a:r>
                      <a:r>
                        <a:rPr kumimoji="0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  <a:cs typeface="宋体" charset="0"/>
                        </a:rPr>
                        <a:t> </a:t>
                      </a:r>
                      <a:endParaRPr kumimoji="0" lang="en-US" altLang="zh-CN" sz="2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宋体" charset="0"/>
                        <a:cs typeface="宋体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charset="0"/>
                        <a:buNone/>
                        <a:tabLst/>
                      </a:pPr>
                      <a:r>
                        <a:rPr kumimoji="0" lang="zh-CN" altLang="en-US" sz="17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  <a:cs typeface="宋体" charset="0"/>
                        </a:rPr>
                        <a:t>无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charset="0"/>
                        <a:buNone/>
                        <a:tabLst/>
                      </a:pPr>
                      <a:r>
                        <a:rPr kumimoji="0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charset="0"/>
                          <a:ea typeface="黑体" charset="0"/>
                          <a:cs typeface="黑体" charset="0"/>
                        </a:rPr>
                        <a:t>adjustmentValueChanged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10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charset="0"/>
                        <a:buNone/>
                        <a:tabLst/>
                      </a:pPr>
                      <a:r>
                        <a:rPr kumimoji="0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charset="0"/>
                          <a:ea typeface="黑体" charset="0"/>
                          <a:cs typeface="黑体" charset="0"/>
                        </a:rPr>
                        <a:t>ComponentEvent</a:t>
                      </a:r>
                      <a:r>
                        <a:rPr kumimoji="0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  <a:cs typeface="Times New Roman" charset="0"/>
                        </a:rPr>
                        <a:t> </a:t>
                      </a:r>
                    </a:p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charset="0"/>
                        <a:buNone/>
                        <a:tabLst/>
                      </a:pPr>
                      <a:endParaRPr kumimoji="0" lang="en-US" altLang="zh-CN" sz="1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宋体" charset="0"/>
                        <a:cs typeface="Times New Roman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charset="0"/>
                        <a:buNone/>
                        <a:tabLst/>
                      </a:pPr>
                      <a:endParaRPr kumimoji="0" lang="zh-CN" altLang="en-US" sz="1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charset="0"/>
                        <a:ea typeface="宋体" charset="0"/>
                        <a:cs typeface="宋体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charset="0"/>
                        <a:buNone/>
                        <a:tabLst/>
                      </a:pPr>
                      <a:r>
                        <a:rPr kumimoji="0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charset="0"/>
                          <a:ea typeface="黑体" charset="0"/>
                          <a:cs typeface="黑体" charset="0"/>
                        </a:rPr>
                        <a:t>ComponentListener</a:t>
                      </a:r>
                      <a:r>
                        <a:rPr kumimoji="0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  <a:cs typeface="Times New Roman" charset="0"/>
                        </a:rPr>
                        <a:t> </a:t>
                      </a:r>
                    </a:p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charset="0"/>
                        <a:buNone/>
                        <a:tabLst/>
                      </a:pPr>
                      <a:endParaRPr kumimoji="0" lang="en-US" altLang="zh-CN" sz="1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宋体" charset="0"/>
                        <a:cs typeface="Times New Roman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charset="0"/>
                        <a:buNone/>
                        <a:tabLst/>
                      </a:pPr>
                      <a:endParaRPr kumimoji="0" lang="zh-CN" altLang="en-US" sz="1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charset="0"/>
                        <a:ea typeface="宋体" charset="0"/>
                        <a:cs typeface="宋体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charset="0"/>
                        <a:buNone/>
                        <a:tabLst/>
                      </a:pPr>
                      <a:r>
                        <a:rPr kumimoji="0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charset="0"/>
                          <a:ea typeface="黑体" charset="0"/>
                          <a:cs typeface="黑体" charset="0"/>
                        </a:rPr>
                        <a:t>ComponentAdapter</a:t>
                      </a:r>
                      <a:r>
                        <a:rPr kumimoji="0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  <a:cs typeface="Times New Roman" charset="0"/>
                        </a:rPr>
                        <a:t> 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charset="0"/>
                        <a:buNone/>
                        <a:tabLst/>
                      </a:pPr>
                      <a:endParaRPr kumimoji="0" lang="zh-CN" altLang="en-US" sz="2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charset="0"/>
                        <a:ea typeface="宋体" charset="0"/>
                        <a:cs typeface="宋体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charset="0"/>
                        <a:buNone/>
                        <a:tabLst/>
                      </a:pPr>
                      <a:r>
                        <a:rPr kumimoji="0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charset="0"/>
                          <a:ea typeface="黑体" charset="0"/>
                          <a:cs typeface="黑体" charset="0"/>
                        </a:rPr>
                        <a:t>componentHidden </a:t>
                      </a:r>
                      <a:br>
                        <a:rPr kumimoji="0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黑体" charset="0"/>
                          <a:cs typeface="黑体" charset="0"/>
                        </a:rPr>
                      </a:br>
                      <a:r>
                        <a:rPr kumimoji="0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charset="0"/>
                          <a:ea typeface="黑体" charset="0"/>
                          <a:cs typeface="黑体" charset="0"/>
                        </a:rPr>
                        <a:t>componentMoved </a:t>
                      </a:r>
                      <a:br>
                        <a:rPr kumimoji="0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黑体" charset="0"/>
                          <a:cs typeface="黑体" charset="0"/>
                        </a:rPr>
                      </a:br>
                      <a:r>
                        <a:rPr kumimoji="0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charset="0"/>
                          <a:ea typeface="黑体" charset="0"/>
                          <a:cs typeface="黑体" charset="0"/>
                        </a:rPr>
                        <a:t>componentResized </a:t>
                      </a:r>
                      <a:br>
                        <a:rPr kumimoji="0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黑体" charset="0"/>
                          <a:cs typeface="黑体" charset="0"/>
                        </a:rPr>
                      </a:br>
                      <a:r>
                        <a:rPr kumimoji="0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charset="0"/>
                          <a:ea typeface="黑体" charset="0"/>
                          <a:cs typeface="黑体" charset="0"/>
                        </a:rPr>
                        <a:t>componentShown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10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charset="0"/>
                        <a:buNone/>
                        <a:tabLst/>
                      </a:pPr>
                      <a:r>
                        <a:rPr kumimoji="0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charset="0"/>
                          <a:ea typeface="黑体" charset="0"/>
                          <a:cs typeface="黑体" charset="0"/>
                        </a:rPr>
                        <a:t>ContainerEvent</a:t>
                      </a:r>
                      <a:r>
                        <a:rPr kumimoji="0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  <a:cs typeface="Times New Roman" charset="0"/>
                        </a:rPr>
                        <a:t> 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charset="0"/>
                        <a:buNone/>
                        <a:tabLst/>
                      </a:pPr>
                      <a:r>
                        <a:rPr kumimoji="0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charset="0"/>
                          <a:ea typeface="黑体" charset="0"/>
                          <a:cs typeface="黑体" charset="0"/>
                        </a:rPr>
                        <a:t>ContainerListener</a:t>
                      </a:r>
                      <a:r>
                        <a:rPr kumimoji="0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  <a:cs typeface="Times New Roman" charset="0"/>
                        </a:rPr>
                        <a:t>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charset="0"/>
                        <a:buNone/>
                        <a:tabLst/>
                      </a:pPr>
                      <a:r>
                        <a:rPr kumimoji="0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charset="0"/>
                          <a:ea typeface="黑体" charset="0"/>
                          <a:cs typeface="黑体" charset="0"/>
                        </a:rPr>
                        <a:t>ContainerAdapter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charset="0"/>
                        <a:buNone/>
                        <a:tabLst/>
                      </a:pPr>
                      <a:r>
                        <a:rPr kumimoji="0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charset="0"/>
                          <a:ea typeface="黑体" charset="0"/>
                          <a:cs typeface="黑体" charset="0"/>
                        </a:rPr>
                        <a:t>componentAdded</a:t>
                      </a:r>
                      <a:r>
                        <a:rPr kumimoji="0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  <a:cs typeface="Times New Roman" charset="0"/>
                        </a:rPr>
                        <a:t> </a:t>
                      </a:r>
                      <a:br>
                        <a:rPr kumimoji="0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  <a:cs typeface="Times New Roman" charset="0"/>
                        </a:rPr>
                      </a:br>
                      <a:r>
                        <a:rPr kumimoji="0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charset="0"/>
                          <a:ea typeface="黑体" charset="0"/>
                          <a:cs typeface="黑体" charset="0"/>
                        </a:rPr>
                        <a:t>componentRemoved</a:t>
                      </a:r>
                      <a:r>
                        <a:rPr kumimoji="0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  <a:cs typeface="Times New Roman" charset="0"/>
                        </a:rPr>
                        <a:t> </a:t>
                      </a:r>
                      <a:endParaRPr kumimoji="0" lang="en-US" altLang="zh-CN" sz="2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charset="0"/>
                        <a:ea typeface="宋体" charset="0"/>
                        <a:cs typeface="宋体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94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charset="0"/>
                        <a:buNone/>
                        <a:tabLst/>
                      </a:pPr>
                      <a:r>
                        <a:rPr kumimoji="0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charset="0"/>
                          <a:ea typeface="黑体" charset="0"/>
                          <a:cs typeface="黑体" charset="0"/>
                        </a:rPr>
                        <a:t>FocusEvent</a:t>
                      </a:r>
                      <a:r>
                        <a:rPr kumimoji="0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  <a:cs typeface="Times New Roman" charset="0"/>
                        </a:rPr>
                        <a:t> </a:t>
                      </a:r>
                      <a:endParaRPr kumimoji="0" lang="en-US" altLang="zh-CN" sz="2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charset="0"/>
                        <a:ea typeface="宋体" charset="0"/>
                        <a:cs typeface="宋体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charset="0"/>
                        <a:buNone/>
                        <a:tabLst/>
                      </a:pPr>
                      <a:r>
                        <a:rPr kumimoji="0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charset="0"/>
                          <a:ea typeface="黑体" charset="0"/>
                          <a:cs typeface="黑体" charset="0"/>
                        </a:rPr>
                        <a:t>FocusListener</a:t>
                      </a:r>
                      <a:r>
                        <a:rPr kumimoji="0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  <a:cs typeface="Times New Roman" charset="0"/>
                        </a:rPr>
                        <a:t> </a:t>
                      </a:r>
                      <a:endParaRPr kumimoji="0" lang="en-US" altLang="zh-CN" sz="2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charset="0"/>
                        <a:ea typeface="宋体" charset="0"/>
                        <a:cs typeface="宋体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charset="0"/>
                        <a:buNone/>
                        <a:tabLst/>
                      </a:pPr>
                      <a:r>
                        <a:rPr kumimoji="0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charset="0"/>
                          <a:ea typeface="黑体" charset="0"/>
                          <a:cs typeface="黑体" charset="0"/>
                        </a:rPr>
                        <a:t>FocusAdapter</a:t>
                      </a:r>
                      <a:r>
                        <a:rPr kumimoji="0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  <a:cs typeface="Times New Roman" charset="0"/>
                        </a:rPr>
                        <a:t> </a:t>
                      </a:r>
                      <a:endParaRPr kumimoji="0" lang="en-US" altLang="zh-CN" sz="2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charset="0"/>
                        <a:ea typeface="宋体" charset="0"/>
                        <a:cs typeface="宋体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charset="0"/>
                        <a:buNone/>
                        <a:tabLst/>
                      </a:pPr>
                      <a:r>
                        <a:rPr kumimoji="0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charset="0"/>
                          <a:ea typeface="黑体" charset="0"/>
                          <a:cs typeface="黑体" charset="0"/>
                        </a:rPr>
                        <a:t>focusGained</a:t>
                      </a:r>
                      <a:r>
                        <a:rPr kumimoji="0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  <a:cs typeface="Times New Roman" charset="0"/>
                        </a:rPr>
                        <a:t> </a:t>
                      </a:r>
                      <a:br>
                        <a:rPr kumimoji="0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  <a:cs typeface="Times New Roman" charset="0"/>
                        </a:rPr>
                      </a:br>
                      <a:r>
                        <a:rPr kumimoji="0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charset="0"/>
                          <a:ea typeface="黑体" charset="0"/>
                          <a:cs typeface="黑体" charset="0"/>
                        </a:rPr>
                        <a:t>focusLost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810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charset="0"/>
                        <a:buNone/>
                        <a:tabLst/>
                      </a:pPr>
                      <a:r>
                        <a:rPr kumimoji="0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charset="0"/>
                          <a:ea typeface="黑体" charset="0"/>
                          <a:cs typeface="黑体" charset="0"/>
                        </a:rPr>
                        <a:t>ItemEvent</a:t>
                      </a:r>
                      <a:r>
                        <a:rPr kumimoji="0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  <a:cs typeface="Times New Roman" charset="0"/>
                        </a:rPr>
                        <a:t> </a:t>
                      </a:r>
                      <a:endParaRPr kumimoji="0" lang="en-US" altLang="zh-CN" sz="1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charset="0"/>
                        <a:ea typeface="宋体" charset="0"/>
                        <a:cs typeface="宋体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charset="0"/>
                        <a:buNone/>
                        <a:tabLst/>
                      </a:pPr>
                      <a:r>
                        <a:rPr kumimoji="0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charset="0"/>
                          <a:ea typeface="黑体" charset="0"/>
                          <a:cs typeface="黑体" charset="0"/>
                        </a:rPr>
                        <a:t>ItemListener</a:t>
                      </a:r>
                      <a:r>
                        <a:rPr kumimoji="0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  <a:cs typeface="Times New Roman" charset="0"/>
                        </a:rPr>
                        <a:t> </a:t>
                      </a:r>
                      <a:endParaRPr kumimoji="0" lang="en-US" altLang="zh-CN" sz="1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charset="0"/>
                        <a:ea typeface="宋体" charset="0"/>
                        <a:cs typeface="宋体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charset="0"/>
                        <a:buNone/>
                        <a:tabLst/>
                      </a:pPr>
                      <a:r>
                        <a:rPr kumimoji="0" lang="zh-CN" altLang="en-US" sz="17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  <a:cs typeface="宋体" charset="0"/>
                        </a:rPr>
                        <a:t>无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charset="0"/>
                        <a:buNone/>
                        <a:tabLst/>
                      </a:pPr>
                      <a:r>
                        <a:rPr kumimoji="0" lang="en-US" altLang="zh-CN" sz="17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charset="0"/>
                          <a:ea typeface="黑体" charset="0"/>
                          <a:cs typeface="黑体" charset="0"/>
                        </a:rPr>
                        <a:t>itemStateChanged</a:t>
                      </a:r>
                      <a:r>
                        <a:rPr kumimoji="0" lang="en-US" altLang="zh-CN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  <a:cs typeface="Times New Roman" charset="0"/>
                        </a:rPr>
                        <a:t> </a:t>
                      </a:r>
                      <a:endParaRPr kumimoji="0" lang="en-US" altLang="zh-CN" sz="2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charset="0"/>
                        <a:ea typeface="宋体" charset="0"/>
                        <a:cs typeface="宋体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 Box 1026"/>
          <p:cNvSpPr txBox="1">
            <a:spLocks noChangeArrowheads="1"/>
          </p:cNvSpPr>
          <p:nvPr/>
        </p:nvSpPr>
        <p:spPr bwMode="auto">
          <a:xfrm>
            <a:off x="611188" y="545306"/>
            <a:ext cx="7920037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kumimoji="1" lang="zh-CN" altLang="en-US" sz="2800" b="1" dirty="0">
                <a:solidFill>
                  <a:srgbClr val="FF0000"/>
                </a:solidFill>
                <a:latin typeface="Times New Roman" charset="0"/>
              </a:rPr>
              <a:t>事件、接口、适配器与事件处理方法对应表</a:t>
            </a:r>
          </a:p>
        </p:txBody>
      </p:sp>
    </p:spTree>
    <p:extLst>
      <p:ext uri="{BB962C8B-B14F-4D97-AF65-F5344CB8AC3E}">
        <p14:creationId xmlns:p14="http://schemas.microsoft.com/office/powerpoint/2010/main" val="35560556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Group 127"/>
          <p:cNvGraphicFramePr>
            <a:graphicFrameLocks noGrp="1"/>
          </p:cNvGraphicFramePr>
          <p:nvPr/>
        </p:nvGraphicFramePr>
        <p:xfrm>
          <a:off x="587375" y="1268413"/>
          <a:ext cx="8305800" cy="4989195"/>
        </p:xfrm>
        <a:graphic>
          <a:graphicData uri="http://schemas.openxmlformats.org/drawingml/2006/table">
            <a:tbl>
              <a:tblPr/>
              <a:tblGrid>
                <a:gridCol w="14541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57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257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68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810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charset="0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  <a:cs typeface="Times New Roman" charset="0"/>
                        </a:rPr>
                        <a:t>事件</a:t>
                      </a:r>
                      <a:endParaRPr kumimoji="0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charset="0"/>
                        <a:ea typeface="宋体" charset="0"/>
                        <a:cs typeface="宋体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9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charset="0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  <a:cs typeface="Times New Roman" charset="0"/>
                        </a:rPr>
                        <a:t>监听器接口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  <a:cs typeface="Times New Roman" charset="0"/>
                        </a:rPr>
                        <a:t> 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charset="0"/>
                        <a:ea typeface="宋体" charset="0"/>
                        <a:cs typeface="宋体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9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charset="0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  <a:cs typeface="Times New Roman" charset="0"/>
                        </a:rPr>
                        <a:t>监听器适配器类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9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charset="0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  <a:cs typeface="Times New Roman" charset="0"/>
                        </a:rPr>
                        <a:t>事件处理方法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9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94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charset="0"/>
                        <a:buNone/>
                        <a:tabLst/>
                      </a:pPr>
                      <a:r>
                        <a:rPr kumimoji="0" lang="en-US" altLang="zh-CN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charset="0"/>
                          <a:ea typeface="宋体" charset="0"/>
                          <a:cs typeface="宋体" charset="0"/>
                        </a:rPr>
                        <a:t>KeyEvent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charset="0"/>
                        <a:buNone/>
                        <a:tabLst/>
                      </a:pPr>
                      <a:r>
                        <a:rPr kumimoji="0" lang="en-US" altLang="zh-CN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charset="0"/>
                          <a:ea typeface="黑体" charset="0"/>
                          <a:cs typeface="黑体" charset="0"/>
                        </a:rPr>
                        <a:t>KeyListener</a:t>
                      </a:r>
                      <a:r>
                        <a:rPr kumimoji="0" lang="en-US" altLang="zh-CN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  <a:cs typeface="Times New Roman" charset="0"/>
                        </a:rPr>
                        <a:t> </a:t>
                      </a:r>
                      <a:endParaRPr kumimoji="0" lang="en-US" altLang="zh-CN" sz="13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charset="0"/>
                        <a:ea typeface="宋体" charset="0"/>
                        <a:cs typeface="宋体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charset="0"/>
                        <a:buNone/>
                        <a:tabLst/>
                      </a:pPr>
                      <a:r>
                        <a:rPr kumimoji="0" lang="en-US" altLang="zh-CN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charset="0"/>
                          <a:ea typeface="黑体" charset="0"/>
                          <a:cs typeface="黑体" charset="0"/>
                        </a:rPr>
                        <a:t>                  KeyAdapter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charset="0"/>
                        <a:buNone/>
                        <a:tabLst/>
                      </a:pPr>
                      <a:r>
                        <a:rPr kumimoji="0" lang="en-US" altLang="zh-CN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charset="0"/>
                          <a:ea typeface="黑体" charset="0"/>
                          <a:cs typeface="黑体" charset="0"/>
                        </a:rPr>
                        <a:t>keyPressed</a:t>
                      </a:r>
                      <a:r>
                        <a:rPr kumimoji="0" lang="en-US" altLang="zh-CN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  <a:cs typeface="Times New Roman" charset="0"/>
                        </a:rPr>
                        <a:t> </a:t>
                      </a:r>
                      <a:br>
                        <a:rPr kumimoji="0" lang="en-US" altLang="zh-CN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  <a:cs typeface="Times New Roman" charset="0"/>
                        </a:rPr>
                      </a:br>
                      <a:r>
                        <a:rPr kumimoji="0" lang="en-US" altLang="zh-CN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charset="0"/>
                          <a:ea typeface="黑体" charset="0"/>
                          <a:cs typeface="黑体" charset="0"/>
                        </a:rPr>
                        <a:t>keyReleased</a:t>
                      </a:r>
                      <a:r>
                        <a:rPr kumimoji="0" lang="en-US" altLang="zh-CN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  <a:cs typeface="Times New Roman" charset="0"/>
                        </a:rPr>
                        <a:t> </a:t>
                      </a:r>
                      <a:br>
                        <a:rPr kumimoji="0" lang="en-US" altLang="zh-CN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  <a:cs typeface="Times New Roman" charset="0"/>
                        </a:rPr>
                      </a:br>
                      <a:r>
                        <a:rPr kumimoji="0" lang="en-US" altLang="zh-CN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charset="0"/>
                          <a:ea typeface="黑体" charset="0"/>
                          <a:cs typeface="黑体" charset="0"/>
                        </a:rPr>
                        <a:t>keyTyped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10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charset="0"/>
                        <a:buNone/>
                        <a:tabLst/>
                      </a:pPr>
                      <a:r>
                        <a:rPr kumimoji="0" lang="en-US" altLang="zh-CN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  <a:cs typeface="宋体" charset="0"/>
                        </a:rPr>
                        <a:t>MouseEvent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charset="0"/>
                        <a:buNone/>
                        <a:tabLst/>
                      </a:pPr>
                      <a:r>
                        <a:rPr kumimoji="0" lang="en-US" altLang="zh-CN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charset="0"/>
                          <a:ea typeface="黑体" charset="0"/>
                          <a:cs typeface="黑体" charset="0"/>
                        </a:rPr>
                        <a:t>MouseListener</a:t>
                      </a:r>
                      <a:r>
                        <a:rPr kumimoji="0" lang="en-US" altLang="zh-CN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  <a:cs typeface="宋体" charset="0"/>
                        </a:rPr>
                        <a:t> 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charset="0"/>
                        <a:buNone/>
                        <a:tabLst/>
                      </a:pPr>
                      <a:r>
                        <a:rPr kumimoji="0" lang="en-US" altLang="zh-CN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charset="0"/>
                          <a:ea typeface="黑体" charset="0"/>
                          <a:cs typeface="黑体" charset="0"/>
                        </a:rPr>
                        <a:t>MouseAdapter</a:t>
                      </a:r>
                      <a:r>
                        <a:rPr kumimoji="0" lang="en-US" altLang="zh-CN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  <a:cs typeface="宋体" charset="0"/>
                        </a:rPr>
                        <a:t> </a:t>
                      </a:r>
                      <a:endParaRPr kumimoji="0" lang="en-US" altLang="zh-CN" sz="13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宋体" charset="0"/>
                        <a:cs typeface="宋体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charset="0"/>
                        <a:buNone/>
                        <a:tabLst/>
                      </a:pPr>
                      <a:r>
                        <a:rPr kumimoji="0" lang="en-US" altLang="zh-CN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charset="0"/>
                          <a:ea typeface="黑体" charset="0"/>
                          <a:cs typeface="黑体" charset="0"/>
                        </a:rPr>
                        <a:t>mouseClicked</a:t>
                      </a:r>
                      <a:r>
                        <a:rPr kumimoji="0" lang="en-US" altLang="zh-CN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  <a:cs typeface="宋体" charset="0"/>
                        </a:rPr>
                        <a:t> </a:t>
                      </a:r>
                      <a:br>
                        <a:rPr kumimoji="0" lang="en-US" altLang="zh-CN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  <a:cs typeface="宋体" charset="0"/>
                        </a:rPr>
                      </a:br>
                      <a:r>
                        <a:rPr kumimoji="0" lang="en-US" altLang="zh-CN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charset="0"/>
                          <a:ea typeface="黑体" charset="0"/>
                          <a:cs typeface="黑体" charset="0"/>
                        </a:rPr>
                        <a:t>mouseEntered</a:t>
                      </a:r>
                      <a:r>
                        <a:rPr kumimoji="0" lang="en-US" altLang="zh-CN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  <a:cs typeface="宋体" charset="0"/>
                        </a:rPr>
                        <a:t> </a:t>
                      </a:r>
                      <a:br>
                        <a:rPr kumimoji="0" lang="en-US" altLang="zh-CN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  <a:cs typeface="宋体" charset="0"/>
                        </a:rPr>
                      </a:br>
                      <a:r>
                        <a:rPr kumimoji="0" lang="en-US" altLang="zh-CN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charset="0"/>
                          <a:ea typeface="黑体" charset="0"/>
                          <a:cs typeface="黑体" charset="0"/>
                        </a:rPr>
                        <a:t>mouseExited</a:t>
                      </a:r>
                      <a:r>
                        <a:rPr kumimoji="0" lang="en-US" altLang="zh-CN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  <a:cs typeface="宋体" charset="0"/>
                        </a:rPr>
                        <a:t> </a:t>
                      </a:r>
                      <a:br>
                        <a:rPr kumimoji="0" lang="en-US" altLang="zh-CN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  <a:cs typeface="宋体" charset="0"/>
                        </a:rPr>
                      </a:br>
                      <a:r>
                        <a:rPr kumimoji="0" lang="en-US" altLang="zh-CN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charset="0"/>
                          <a:ea typeface="黑体" charset="0"/>
                          <a:cs typeface="黑体" charset="0"/>
                        </a:rPr>
                        <a:t>mousePressed</a:t>
                      </a:r>
                      <a:r>
                        <a:rPr kumimoji="0" lang="en-US" altLang="zh-CN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  <a:cs typeface="宋体" charset="0"/>
                        </a:rPr>
                        <a:t> </a:t>
                      </a:r>
                      <a:br>
                        <a:rPr kumimoji="0" lang="en-US" altLang="zh-CN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  <a:cs typeface="宋体" charset="0"/>
                        </a:rPr>
                      </a:br>
                      <a:r>
                        <a:rPr kumimoji="0" lang="en-US" altLang="zh-CN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charset="0"/>
                          <a:ea typeface="黑体" charset="0"/>
                          <a:cs typeface="黑体" charset="0"/>
                        </a:rPr>
                        <a:t>mouseReleased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10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charset="0"/>
                        <a:buNone/>
                        <a:tabLst/>
                      </a:pPr>
                      <a:r>
                        <a:rPr kumimoji="0" lang="en-US" altLang="zh-CN" sz="13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charset="0"/>
                          <a:ea typeface="宋体" charset="0"/>
                          <a:cs typeface="宋体" charset="0"/>
                        </a:rPr>
                        <a:t>MouseMotionEvent</a:t>
                      </a:r>
                      <a:endParaRPr kumimoji="0" lang="en-US" altLang="zh-CN" sz="13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charset="0"/>
                        <a:ea typeface="宋体" charset="0"/>
                        <a:cs typeface="宋体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charset="0"/>
                        <a:buNone/>
                        <a:tabLst/>
                      </a:pPr>
                      <a:r>
                        <a:rPr kumimoji="0" lang="en-US" altLang="zh-CN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charset="0"/>
                          <a:ea typeface="黑体" charset="0"/>
                          <a:cs typeface="黑体" charset="0"/>
                        </a:rPr>
                        <a:t>MouseMotionListener</a:t>
                      </a:r>
                      <a:endParaRPr kumimoji="0" lang="en-US" altLang="zh-CN" sz="13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charset="0"/>
                        <a:ea typeface="宋体" charset="0"/>
                        <a:cs typeface="宋体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charset="0"/>
                        <a:buNone/>
                        <a:tabLst/>
                      </a:pPr>
                      <a:r>
                        <a:rPr kumimoji="0" lang="en-US" altLang="zh-CN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charset="0"/>
                          <a:ea typeface="黑体" charset="0"/>
                          <a:cs typeface="黑体" charset="0"/>
                        </a:rPr>
                        <a:t>             MouseMotionAdapter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charset="0"/>
                        <a:buNone/>
                        <a:tabLst/>
                      </a:pPr>
                      <a:r>
                        <a:rPr kumimoji="0" lang="en-US" altLang="zh-CN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charset="0"/>
                          <a:ea typeface="黑体" charset="0"/>
                          <a:cs typeface="黑体" charset="0"/>
                        </a:rPr>
                        <a:t>mouseDragged</a:t>
                      </a:r>
                      <a:r>
                        <a:rPr kumimoji="0" lang="en-US" altLang="zh-CN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  <a:cs typeface="Times New Roman" charset="0"/>
                        </a:rPr>
                        <a:t> </a:t>
                      </a:r>
                      <a:br>
                        <a:rPr kumimoji="0" lang="en-US" altLang="zh-CN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  <a:cs typeface="Times New Roman" charset="0"/>
                        </a:rPr>
                      </a:br>
                      <a:r>
                        <a:rPr kumimoji="0" lang="en-US" altLang="zh-CN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charset="0"/>
                          <a:ea typeface="黑体" charset="0"/>
                          <a:cs typeface="黑体" charset="0"/>
                        </a:rPr>
                        <a:t>mouseMoved</a:t>
                      </a:r>
                      <a:r>
                        <a:rPr kumimoji="0" lang="en-US" altLang="zh-CN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  <a:cs typeface="Times New Roman" charset="0"/>
                        </a:rPr>
                        <a:t> </a:t>
                      </a:r>
                      <a:endParaRPr kumimoji="0" lang="en-US" altLang="zh-CN" sz="13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Unicode MS" charset="0"/>
                        <a:ea typeface="黑体" charset="0"/>
                        <a:cs typeface="黑体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10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charset="0"/>
                        <a:buNone/>
                        <a:tabLst/>
                      </a:pPr>
                      <a:r>
                        <a:rPr kumimoji="0" lang="en-US" altLang="zh-CN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  <a:cs typeface="Times New Roman" charset="0"/>
                        </a:rPr>
                        <a:t>TextEvent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charset="0"/>
                        <a:buNone/>
                        <a:tabLst/>
                      </a:pPr>
                      <a:r>
                        <a:rPr kumimoji="0" lang="en-US" altLang="zh-CN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charset="0"/>
                          <a:ea typeface="黑体" charset="0"/>
                          <a:cs typeface="黑体" charset="0"/>
                        </a:rPr>
                        <a:t>TextListener</a:t>
                      </a:r>
                      <a:r>
                        <a:rPr kumimoji="0" lang="en-US" altLang="zh-CN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  <a:cs typeface="宋体" charset="0"/>
                        </a:rPr>
                        <a:t> </a:t>
                      </a:r>
                      <a:endParaRPr kumimoji="0" lang="en-US" altLang="zh-CN" sz="13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宋体" charset="0"/>
                        <a:cs typeface="Times New Roman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charset="0"/>
                        <a:buNone/>
                        <a:tabLst/>
                      </a:pPr>
                      <a:r>
                        <a:rPr kumimoji="0" lang="zh-CN" altLang="en-US" sz="13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  <a:cs typeface="宋体" charset="0"/>
                        </a:rPr>
                        <a:t>无</a:t>
                      </a:r>
                      <a:endParaRPr kumimoji="0" lang="zh-CN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Unicode MS" charset="0"/>
                        <a:ea typeface="黑体" charset="0"/>
                        <a:cs typeface="黑体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charset="0"/>
                        <a:buNone/>
                        <a:tabLst/>
                      </a:pPr>
                      <a:r>
                        <a:rPr kumimoji="0" lang="en-US" altLang="zh-CN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charset="0"/>
                          <a:ea typeface="黑体" charset="0"/>
                          <a:cs typeface="黑体" charset="0"/>
                        </a:rPr>
                        <a:t>textValueChanged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94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charset="0"/>
                        <a:buNone/>
                        <a:tabLst/>
                      </a:pPr>
                      <a:r>
                        <a:rPr kumimoji="0" lang="en-US" altLang="zh-CN" sz="13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charset="0"/>
                          <a:ea typeface="宋体" charset="0"/>
                          <a:cs typeface="宋体" charset="0"/>
                        </a:rPr>
                        <a:t>WindowEvent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charset="0"/>
                        <a:buNone/>
                        <a:tabLst/>
                      </a:pPr>
                      <a:r>
                        <a:rPr kumimoji="0" lang="en-US" altLang="zh-CN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charset="0"/>
                          <a:ea typeface="黑体" charset="0"/>
                          <a:cs typeface="黑体" charset="0"/>
                        </a:rPr>
                        <a:t>WindowListener</a:t>
                      </a:r>
                      <a:r>
                        <a:rPr kumimoji="0" lang="en-US" altLang="zh-CN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  <a:cs typeface="Times New Roman" charset="0"/>
                        </a:rPr>
                        <a:t> </a:t>
                      </a:r>
                      <a:endParaRPr kumimoji="0" lang="en-US" altLang="zh-CN" sz="13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charset="0"/>
                        <a:ea typeface="宋体" charset="0"/>
                        <a:cs typeface="宋体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charset="0"/>
                        <a:buNone/>
                        <a:tabLst/>
                      </a:pPr>
                      <a:r>
                        <a:rPr kumimoji="0" lang="en-US" altLang="zh-CN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charset="0"/>
                          <a:ea typeface="黑体" charset="0"/>
                          <a:cs typeface="黑体" charset="0"/>
                        </a:rPr>
                        <a:t>WindowAdapter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charset="0"/>
                        <a:buNone/>
                        <a:tabLst/>
                      </a:pPr>
                      <a:r>
                        <a:rPr kumimoji="0" lang="en-US" altLang="zh-CN" sz="13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charset="0"/>
                          <a:ea typeface="黑体" charset="0"/>
                          <a:cs typeface="黑体" charset="0"/>
                        </a:rPr>
                        <a:t>windowActivated</a:t>
                      </a:r>
                      <a:r>
                        <a:rPr kumimoji="0" lang="en-US" altLang="zh-CN" sz="13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  <a:cs typeface="Times New Roman" charset="0"/>
                        </a:rPr>
                        <a:t> </a:t>
                      </a:r>
                      <a:br>
                        <a:rPr kumimoji="0" lang="en-US" altLang="zh-CN" sz="13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  <a:cs typeface="Times New Roman" charset="0"/>
                        </a:rPr>
                      </a:br>
                      <a:r>
                        <a:rPr kumimoji="0" lang="en-US" altLang="zh-CN" sz="13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charset="0"/>
                          <a:ea typeface="黑体" charset="0"/>
                          <a:cs typeface="黑体" charset="0"/>
                        </a:rPr>
                        <a:t>windowClosed</a:t>
                      </a:r>
                      <a:r>
                        <a:rPr kumimoji="0" lang="en-US" altLang="zh-CN" sz="13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  <a:cs typeface="Times New Roman" charset="0"/>
                        </a:rPr>
                        <a:t> </a:t>
                      </a:r>
                      <a:br>
                        <a:rPr kumimoji="0" lang="en-US" altLang="zh-CN" sz="13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  <a:cs typeface="Times New Roman" charset="0"/>
                        </a:rPr>
                      </a:br>
                      <a:r>
                        <a:rPr kumimoji="0" lang="en-US" altLang="zh-CN" sz="13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charset="0"/>
                          <a:ea typeface="黑体" charset="0"/>
                          <a:cs typeface="黑体" charset="0"/>
                        </a:rPr>
                        <a:t>windowClosing</a:t>
                      </a:r>
                      <a:r>
                        <a:rPr kumimoji="0" lang="en-US" altLang="zh-CN" sz="13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  <a:cs typeface="Times New Roman" charset="0"/>
                        </a:rPr>
                        <a:t> </a:t>
                      </a:r>
                      <a:br>
                        <a:rPr kumimoji="0" lang="en-US" altLang="zh-CN" sz="13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  <a:cs typeface="Times New Roman" charset="0"/>
                        </a:rPr>
                      </a:br>
                      <a:r>
                        <a:rPr kumimoji="0" lang="en-US" altLang="zh-CN" sz="13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charset="0"/>
                          <a:ea typeface="黑体" charset="0"/>
                          <a:cs typeface="黑体" charset="0"/>
                        </a:rPr>
                        <a:t>windowDeactivated</a:t>
                      </a:r>
                      <a:r>
                        <a:rPr kumimoji="0" lang="en-US" altLang="zh-CN" sz="13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  <a:cs typeface="Times New Roman" charset="0"/>
                        </a:rPr>
                        <a:t> </a:t>
                      </a:r>
                      <a:br>
                        <a:rPr kumimoji="0" lang="en-US" altLang="zh-CN" sz="13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  <a:cs typeface="Times New Roman" charset="0"/>
                        </a:rPr>
                      </a:br>
                      <a:r>
                        <a:rPr kumimoji="0" lang="en-US" altLang="zh-CN" sz="13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charset="0"/>
                          <a:ea typeface="黑体" charset="0"/>
                          <a:cs typeface="黑体" charset="0"/>
                        </a:rPr>
                        <a:t>windowDeiconified</a:t>
                      </a:r>
                      <a:r>
                        <a:rPr kumimoji="0" lang="en-US" altLang="zh-CN" sz="13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  <a:cs typeface="Times New Roman" charset="0"/>
                        </a:rPr>
                        <a:t> </a:t>
                      </a:r>
                      <a:br>
                        <a:rPr kumimoji="0" lang="en-US" altLang="zh-CN" sz="13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  <a:cs typeface="Times New Roman" charset="0"/>
                        </a:rPr>
                      </a:br>
                      <a:r>
                        <a:rPr kumimoji="0" lang="en-US" altLang="zh-CN" sz="13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charset="0"/>
                          <a:ea typeface="黑体" charset="0"/>
                          <a:cs typeface="黑体" charset="0"/>
                        </a:rPr>
                        <a:t>windowIconified</a:t>
                      </a:r>
                      <a:r>
                        <a:rPr kumimoji="0" lang="en-US" altLang="zh-CN" sz="13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  <a:cs typeface="Times New Roman" charset="0"/>
                        </a:rPr>
                        <a:t> </a:t>
                      </a:r>
                      <a:br>
                        <a:rPr kumimoji="0" lang="en-US" altLang="zh-CN" sz="13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  <a:cs typeface="Times New Roman" charset="0"/>
                        </a:rPr>
                      </a:br>
                      <a:r>
                        <a:rPr kumimoji="0" lang="en-US" altLang="zh-CN" sz="13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charset="0"/>
                          <a:ea typeface="黑体" charset="0"/>
                          <a:cs typeface="黑体" charset="0"/>
                        </a:rPr>
                        <a:t>windowOpened</a:t>
                      </a:r>
                      <a:endParaRPr kumimoji="0" lang="en-US" altLang="zh-CN" sz="13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Unicode MS" charset="0"/>
                        <a:ea typeface="黑体" charset="0"/>
                        <a:cs typeface="黑体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1" name="Text Box 1026"/>
          <p:cNvSpPr txBox="1">
            <a:spLocks noChangeArrowheads="1"/>
          </p:cNvSpPr>
          <p:nvPr/>
        </p:nvSpPr>
        <p:spPr bwMode="auto">
          <a:xfrm>
            <a:off x="611188" y="476250"/>
            <a:ext cx="7920037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kumimoji="1" lang="zh-CN" altLang="en-US" sz="2800" b="1" dirty="0">
                <a:solidFill>
                  <a:srgbClr val="FF0000"/>
                </a:solidFill>
                <a:latin typeface="Times New Roman" charset="0"/>
              </a:rPr>
              <a:t>事件、接口、适配器与事件处理方法对应表</a:t>
            </a:r>
          </a:p>
        </p:txBody>
      </p:sp>
    </p:spTree>
    <p:extLst>
      <p:ext uri="{BB962C8B-B14F-4D97-AF65-F5344CB8AC3E}">
        <p14:creationId xmlns:p14="http://schemas.microsoft.com/office/powerpoint/2010/main" val="100808302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350868" y="1700808"/>
            <a:ext cx="7965548" cy="2909292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2627784" y="1700808"/>
            <a:ext cx="720080" cy="216024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n>
                <a:solidFill>
                  <a:srgbClr val="000000"/>
                </a:solidFill>
              </a:ln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2798964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467544" y="1536700"/>
            <a:ext cx="8244174" cy="4340572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2843808" y="1556792"/>
            <a:ext cx="720080" cy="216024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n>
                <a:solidFill>
                  <a:srgbClr val="000000"/>
                </a:solidFill>
              </a:ln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9996507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内部类（</a:t>
            </a:r>
            <a:r>
              <a:rPr kumimoji="1" lang="en-US" altLang="zh-CN" dirty="0"/>
              <a:t>Inner Class</a:t>
            </a:r>
            <a:r>
              <a:rPr kumimoji="1" lang="zh-CN" altLang="en-US" dirty="0"/>
              <a:t>）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zh-CN" sz="2800" dirty="0"/>
              <a:t>内部类也称为嵌套类</a:t>
            </a:r>
            <a:r>
              <a:rPr lang="en-US" altLang="zh-CN" sz="2800" dirty="0"/>
              <a:t>(Nested Class)</a:t>
            </a:r>
            <a:r>
              <a:rPr lang="zh-CN" altLang="zh-CN" sz="2800" dirty="0"/>
              <a:t>，是指被定义于其他类体中的类，其他类则称为</a:t>
            </a:r>
            <a:r>
              <a:rPr lang="en-US" altLang="zh-CN" sz="2800" dirty="0"/>
              <a:t>`</a:t>
            </a:r>
            <a:r>
              <a:rPr lang="zh-CN" altLang="zh-CN" sz="2800" dirty="0"/>
              <a:t>内部类的封装类。</a:t>
            </a:r>
          </a:p>
          <a:p>
            <a:r>
              <a:rPr lang="zh-CN" altLang="zh-CN" sz="2800" dirty="0"/>
              <a:t>内部类分为静态内部类和非静态内部类两种。用</a:t>
            </a:r>
            <a:r>
              <a:rPr lang="en-US" altLang="zh-CN" sz="2800" dirty="0"/>
              <a:t>static</a:t>
            </a:r>
            <a:r>
              <a:rPr lang="zh-CN" altLang="zh-CN" sz="2800" dirty="0"/>
              <a:t>修饰符声明的内部类为静态内部类。</a:t>
            </a:r>
          </a:p>
        </p:txBody>
      </p:sp>
    </p:spTree>
    <p:extLst>
      <p:ext uri="{BB962C8B-B14F-4D97-AF65-F5344CB8AC3E}">
        <p14:creationId xmlns:p14="http://schemas.microsoft.com/office/powerpoint/2010/main" val="64678154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内部类的特征（</a:t>
            </a:r>
            <a:r>
              <a:rPr kumimoji="1" lang="en-US" altLang="zh-CN" dirty="0"/>
              <a:t>1</a:t>
            </a:r>
            <a:r>
              <a:rPr kumimoji="1" lang="zh-CN" altLang="en-US" dirty="0"/>
              <a:t>）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51520" y="1340768"/>
            <a:ext cx="8424936" cy="5040560"/>
          </a:xfrm>
        </p:spPr>
        <p:txBody>
          <a:bodyPr>
            <a:normAutofit fontScale="47500" lnSpcReduction="20000"/>
          </a:bodyPr>
          <a:lstStyle/>
          <a:p>
            <a:pPr marL="0" indent="0">
              <a:buNone/>
            </a:pPr>
            <a:endParaRPr lang="zh-CN" altLang="zh-CN" dirty="0"/>
          </a:p>
          <a:p>
            <a:pPr marL="0" indent="0">
              <a:buNone/>
            </a:pPr>
            <a:r>
              <a:rPr lang="zh-CN" altLang="zh-CN" sz="5100" dirty="0"/>
              <a:t>① 内部类的类名不能与其封装类的类名相同。</a:t>
            </a:r>
          </a:p>
          <a:p>
            <a:pPr marL="0" indent="0">
              <a:buNone/>
            </a:pPr>
            <a:r>
              <a:rPr lang="zh-CN" altLang="zh-CN" sz="5100" dirty="0"/>
              <a:t>② 内部类可以不加任何限制地访问其封装类的所有成员要素</a:t>
            </a:r>
            <a:r>
              <a:rPr lang="en-US" altLang="zh-CN" sz="5100" dirty="0"/>
              <a:t>(</a:t>
            </a:r>
            <a:r>
              <a:rPr lang="zh-CN" altLang="zh-CN" sz="5100" dirty="0"/>
              <a:t>包括</a:t>
            </a:r>
            <a:r>
              <a:rPr lang="en-US" altLang="zh-CN" sz="5100" dirty="0"/>
              <a:t>private</a:t>
            </a:r>
            <a:r>
              <a:rPr lang="zh-CN" altLang="zh-CN" sz="5100" dirty="0"/>
              <a:t>类型的成员、静态成员及实例成员</a:t>
            </a:r>
            <a:r>
              <a:rPr lang="en-US" altLang="zh-CN" sz="5100" dirty="0"/>
              <a:t>)</a:t>
            </a:r>
            <a:r>
              <a:rPr lang="zh-CN" altLang="zh-CN" sz="5100" dirty="0"/>
              <a:t>。</a:t>
            </a:r>
          </a:p>
          <a:p>
            <a:pPr marL="0" indent="0">
              <a:buNone/>
            </a:pPr>
            <a:r>
              <a:rPr lang="zh-CN" altLang="zh-CN" sz="5100" dirty="0"/>
              <a:t>③ 非静态内部类不能在自己类体中定义</a:t>
            </a:r>
            <a:r>
              <a:rPr lang="en-US" altLang="zh-CN" sz="5100" dirty="0"/>
              <a:t>static</a:t>
            </a:r>
            <a:r>
              <a:rPr lang="zh-CN" altLang="zh-CN" sz="5100" dirty="0"/>
              <a:t>成员。</a:t>
            </a:r>
          </a:p>
          <a:p>
            <a:pPr marL="0" indent="0">
              <a:buNone/>
            </a:pPr>
            <a:r>
              <a:rPr lang="zh-CN" altLang="zh-CN" sz="5100" dirty="0"/>
              <a:t>④ 静态内部类可以定义自己的</a:t>
            </a:r>
            <a:r>
              <a:rPr lang="en-US" altLang="zh-CN" sz="5100" dirty="0"/>
              <a:t>static</a:t>
            </a:r>
            <a:r>
              <a:rPr lang="zh-CN" altLang="zh-CN" sz="5100" dirty="0"/>
              <a:t>成员，但不能直接访问其封装类的实例变量或实例方法，只能直接访问其封装类的静态成员；但可以通过定义对象来引用其封装类的实例成员。</a:t>
            </a:r>
            <a:endParaRPr lang="en-US" altLang="zh-CN" sz="5100" dirty="0"/>
          </a:p>
          <a:p>
            <a:endParaRPr kumimoji="1" lang="zh-CN" altLang="en-US" sz="5100" dirty="0"/>
          </a:p>
        </p:txBody>
      </p:sp>
    </p:spTree>
    <p:extLst>
      <p:ext uri="{BB962C8B-B14F-4D97-AF65-F5344CB8AC3E}">
        <p14:creationId xmlns:p14="http://schemas.microsoft.com/office/powerpoint/2010/main" val="5731886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内部类的特征（</a:t>
            </a:r>
            <a:r>
              <a:rPr kumimoji="1" lang="en-US" altLang="zh-CN" dirty="0"/>
              <a:t>2</a:t>
            </a:r>
            <a:r>
              <a:rPr kumimoji="1" lang="zh-CN" altLang="en-US" dirty="0"/>
              <a:t>）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zh-CN" altLang="zh-CN" dirty="0"/>
              <a:t>⑤ 可以用</a:t>
            </a:r>
            <a:r>
              <a:rPr lang="en-US" altLang="zh-CN" dirty="0"/>
              <a:t>abstract</a:t>
            </a:r>
            <a:r>
              <a:rPr lang="zh-CN" altLang="zh-CN" dirty="0"/>
              <a:t>关键字将内部类定义为抽象类，也可以用</a:t>
            </a:r>
            <a:r>
              <a:rPr lang="en-US" altLang="zh-CN" dirty="0"/>
              <a:t>protected</a:t>
            </a:r>
            <a:r>
              <a:rPr lang="zh-CN" altLang="zh-CN" dirty="0"/>
              <a:t>或</a:t>
            </a:r>
            <a:r>
              <a:rPr lang="en-US" altLang="zh-CN" dirty="0"/>
              <a:t>private</a:t>
            </a:r>
            <a:r>
              <a:rPr lang="zh-CN" altLang="zh-CN" dirty="0"/>
              <a:t>访问修饰符修饰内部类。</a:t>
            </a:r>
            <a:endParaRPr lang="en-US" altLang="zh-CN" dirty="0"/>
          </a:p>
          <a:p>
            <a:pPr marL="0" indent="0">
              <a:buNone/>
            </a:pPr>
            <a:r>
              <a:rPr lang="zh-CN" altLang="zh-CN" dirty="0"/>
              <a:t>⑹ 内部类不能在其封装类的静态方法</a:t>
            </a:r>
            <a:r>
              <a:rPr lang="en-US" altLang="zh-CN" dirty="0"/>
              <a:t>(</a:t>
            </a:r>
            <a:r>
              <a:rPr lang="zh-CN" altLang="zh-CN" dirty="0"/>
              <a:t>如</a:t>
            </a:r>
            <a:r>
              <a:rPr lang="en-US" altLang="zh-CN" dirty="0"/>
              <a:t>main</a:t>
            </a:r>
            <a:r>
              <a:rPr lang="zh-CN" altLang="zh-CN" dirty="0"/>
              <a:t>方法</a:t>
            </a:r>
            <a:r>
              <a:rPr lang="en-US" altLang="zh-CN" dirty="0"/>
              <a:t>)</a:t>
            </a:r>
            <a:r>
              <a:rPr lang="zh-CN" altLang="zh-CN" dirty="0"/>
              <a:t>中使用。</a:t>
            </a:r>
            <a:endParaRPr lang="en-US" altLang="zh-CN" dirty="0"/>
          </a:p>
          <a:p>
            <a:pPr marL="0" indent="0">
              <a:buNone/>
            </a:pPr>
            <a:r>
              <a:rPr lang="zh-CN" altLang="zh-CN" dirty="0"/>
              <a:t>⑺ 内部类不仅可以定义在其他类中，还可以定义在方法体中，甚至可以定义在语句块中。例如在一个成员方法中定义一个内部类，或者在</a:t>
            </a:r>
            <a:r>
              <a:rPr lang="en-US" altLang="zh-CN" dirty="0"/>
              <a:t>switch</a:t>
            </a:r>
            <a:r>
              <a:rPr lang="zh-CN" altLang="zh-CN" dirty="0"/>
              <a:t>语句块中定义一个内部类，或在一个循环结构中定义一个内部类，都是允许的。不过这样的内部类使用的限制更为严格。</a:t>
            </a:r>
            <a:r>
              <a:rPr lang="en-US" altLang="zh-CN" dirty="0"/>
              <a:t> </a:t>
            </a:r>
            <a:endParaRPr lang="zh-CN" altLang="zh-CN" dirty="0"/>
          </a:p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45285016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260648"/>
            <a:ext cx="8147248" cy="6597352"/>
          </a:xfrm>
        </p:spPr>
        <p:txBody>
          <a:bodyPr>
            <a:normAutofit fontScale="32500" lnSpcReduction="20000"/>
          </a:bodyPr>
          <a:lstStyle/>
          <a:p>
            <a:pPr marL="0" indent="0">
              <a:buNone/>
            </a:pPr>
            <a:r>
              <a:rPr lang="en-US" altLang="zh-CN" b="1" dirty="0"/>
              <a:t>import </a:t>
            </a:r>
            <a:r>
              <a:rPr lang="en-US" altLang="zh-CN" b="1" dirty="0" err="1"/>
              <a:t>java.awt</a:t>
            </a:r>
            <a:r>
              <a:rPr lang="en-US" altLang="zh-CN" b="1" dirty="0"/>
              <a:t>.*;</a:t>
            </a:r>
            <a:endParaRPr lang="zh-CN" altLang="zh-CN" dirty="0"/>
          </a:p>
          <a:p>
            <a:pPr marL="0" indent="0">
              <a:buNone/>
            </a:pPr>
            <a:r>
              <a:rPr lang="en-US" altLang="zh-CN" b="1" dirty="0"/>
              <a:t>import </a:t>
            </a:r>
            <a:r>
              <a:rPr lang="en-US" altLang="zh-CN" b="1" dirty="0" err="1"/>
              <a:t>java.awt.event</a:t>
            </a:r>
            <a:r>
              <a:rPr lang="en-US" altLang="zh-CN" b="1" dirty="0"/>
              <a:t>.*;</a:t>
            </a:r>
            <a:endParaRPr lang="zh-CN" altLang="zh-CN" dirty="0"/>
          </a:p>
          <a:p>
            <a:pPr marL="0" indent="0">
              <a:buNone/>
            </a:pPr>
            <a:r>
              <a:rPr lang="en-US" altLang="zh-CN" b="1" dirty="0"/>
              <a:t>public class Test8_4 extends Frame implements </a:t>
            </a:r>
            <a:r>
              <a:rPr lang="en-US" altLang="zh-CN" b="1" dirty="0" err="1"/>
              <a:t>ActionListener</a:t>
            </a:r>
            <a:endParaRPr lang="zh-CN" altLang="zh-CN" dirty="0"/>
          </a:p>
          <a:p>
            <a:pPr marL="0" indent="0">
              <a:buNone/>
            </a:pPr>
            <a:r>
              <a:rPr lang="en-US" altLang="zh-CN" b="1" dirty="0"/>
              <a:t>{ static Test8_4 </a:t>
            </a:r>
            <a:r>
              <a:rPr lang="en-US" altLang="zh-CN" b="1" dirty="0" err="1"/>
              <a:t>frm</a:t>
            </a:r>
            <a:r>
              <a:rPr lang="en-US" altLang="zh-CN" b="1" dirty="0"/>
              <a:t>=new Test8_4(); </a:t>
            </a:r>
            <a:endParaRPr lang="zh-CN" altLang="zh-CN" dirty="0"/>
          </a:p>
          <a:p>
            <a:pPr marL="0" indent="0">
              <a:buNone/>
            </a:pPr>
            <a:r>
              <a:rPr lang="en-US" altLang="zh-CN" b="1" dirty="0"/>
              <a:t>static Button btn1=new Button("Yellow");       </a:t>
            </a:r>
            <a:r>
              <a:rPr lang="zh-CN" altLang="zh-CN" b="1" dirty="0"/>
              <a:t>定义本图形用户界面要用的组件</a:t>
            </a:r>
            <a:endParaRPr lang="zh-CN" altLang="zh-CN" dirty="0"/>
          </a:p>
          <a:p>
            <a:pPr marL="0" indent="0">
              <a:buNone/>
            </a:pPr>
            <a:r>
              <a:rPr lang="en-US" altLang="zh-CN" b="1" dirty="0"/>
              <a:t>   static Button btn2=new Button("Green");</a:t>
            </a:r>
            <a:endParaRPr lang="zh-CN" altLang="zh-CN" dirty="0"/>
          </a:p>
          <a:p>
            <a:pPr marL="0" indent="0">
              <a:buNone/>
            </a:pPr>
            <a:r>
              <a:rPr lang="en-US" altLang="zh-CN" b="1" dirty="0"/>
              <a:t>    static Button btn3=new Button("Exit");   </a:t>
            </a:r>
            <a:endParaRPr lang="zh-CN" altLang="zh-CN" dirty="0"/>
          </a:p>
          <a:p>
            <a:pPr marL="0" indent="0">
              <a:buNone/>
            </a:pPr>
            <a:r>
              <a:rPr lang="en-US" altLang="zh-CN" b="1" dirty="0"/>
              <a:t>    public static void main(String </a:t>
            </a:r>
            <a:r>
              <a:rPr lang="en-US" altLang="zh-CN" b="1" dirty="0" err="1"/>
              <a:t>args</a:t>
            </a:r>
            <a:r>
              <a:rPr lang="en-US" altLang="zh-CN" b="1" dirty="0"/>
              <a:t>[])</a:t>
            </a:r>
            <a:endParaRPr lang="zh-CN" altLang="zh-CN" dirty="0"/>
          </a:p>
          <a:p>
            <a:pPr marL="0" indent="0">
              <a:buNone/>
            </a:pPr>
            <a:r>
              <a:rPr lang="en-US" altLang="zh-CN" b="1" dirty="0"/>
              <a:t>   { btn1.addActionListener(</a:t>
            </a:r>
            <a:r>
              <a:rPr lang="en-US" altLang="zh-CN" b="1" dirty="0" err="1"/>
              <a:t>frm</a:t>
            </a:r>
            <a:r>
              <a:rPr lang="en-US" altLang="zh-CN" b="1" dirty="0"/>
              <a:t>); // </a:t>
            </a:r>
            <a:r>
              <a:rPr lang="zh-CN" altLang="zh-CN" b="1" dirty="0"/>
              <a:t>委托容器类对象</a:t>
            </a:r>
            <a:r>
              <a:rPr lang="en-US" altLang="zh-CN" b="1" dirty="0" err="1"/>
              <a:t>frm</a:t>
            </a:r>
            <a:r>
              <a:rPr lang="zh-CN" altLang="zh-CN" b="1" dirty="0"/>
              <a:t>监听</a:t>
            </a:r>
            <a:r>
              <a:rPr lang="en-US" altLang="zh-CN" b="1" dirty="0"/>
              <a:t>btn1</a:t>
            </a:r>
            <a:r>
              <a:rPr lang="zh-CN" altLang="zh-CN" b="1" dirty="0"/>
              <a:t>发出的事件</a:t>
            </a:r>
            <a:r>
              <a:rPr lang="en-US" altLang="zh-CN" b="1" dirty="0"/>
              <a:t>       </a:t>
            </a:r>
            <a:endParaRPr lang="zh-CN" altLang="zh-CN" dirty="0"/>
          </a:p>
          <a:p>
            <a:pPr marL="0" indent="0">
              <a:buNone/>
            </a:pPr>
            <a:r>
              <a:rPr lang="en-US" altLang="zh-CN" b="1" dirty="0"/>
              <a:t>btn2.addActionListener(</a:t>
            </a:r>
            <a:r>
              <a:rPr lang="en-US" altLang="zh-CN" b="1" dirty="0" err="1"/>
              <a:t>frm</a:t>
            </a:r>
            <a:r>
              <a:rPr lang="en-US" altLang="zh-CN" b="1" dirty="0"/>
              <a:t>);    // </a:t>
            </a:r>
            <a:r>
              <a:rPr lang="zh-CN" altLang="zh-CN" b="1" dirty="0"/>
              <a:t>把事件监听器</a:t>
            </a:r>
            <a:r>
              <a:rPr lang="en-US" altLang="zh-CN" b="1" dirty="0" err="1"/>
              <a:t>frm</a:t>
            </a:r>
            <a:r>
              <a:rPr lang="zh-CN" altLang="zh-CN" b="1" dirty="0"/>
              <a:t>向</a:t>
            </a:r>
            <a:r>
              <a:rPr lang="en-US" altLang="zh-CN" b="1" dirty="0"/>
              <a:t>btn2</a:t>
            </a:r>
            <a:r>
              <a:rPr lang="zh-CN" altLang="zh-CN" b="1" dirty="0"/>
              <a:t>注册</a:t>
            </a:r>
            <a:r>
              <a:rPr lang="en-US" altLang="zh-CN" b="1" dirty="0"/>
              <a:t>      </a:t>
            </a:r>
            <a:r>
              <a:rPr lang="zh-CN" altLang="zh-CN" b="1" dirty="0"/>
              <a:t>办理委托，注册监听</a:t>
            </a:r>
            <a:endParaRPr lang="zh-CN" altLang="zh-CN" dirty="0"/>
          </a:p>
          <a:p>
            <a:pPr marL="0" indent="0">
              <a:buNone/>
            </a:pPr>
            <a:r>
              <a:rPr lang="en-US" altLang="zh-CN" b="1" dirty="0"/>
              <a:t>     btn3.addActionListener(</a:t>
            </a:r>
            <a:r>
              <a:rPr lang="en-US" altLang="zh-CN" b="1" dirty="0" err="1"/>
              <a:t>frm</a:t>
            </a:r>
            <a:r>
              <a:rPr lang="en-US" altLang="zh-CN" b="1" dirty="0"/>
              <a:t>);    // </a:t>
            </a:r>
            <a:r>
              <a:rPr lang="zh-CN" altLang="zh-CN" b="1" dirty="0"/>
              <a:t>把事件监听器</a:t>
            </a:r>
            <a:r>
              <a:rPr lang="en-US" altLang="zh-CN" b="1" dirty="0" err="1"/>
              <a:t>frm</a:t>
            </a:r>
            <a:r>
              <a:rPr lang="zh-CN" altLang="zh-CN" b="1" dirty="0"/>
              <a:t>向</a:t>
            </a:r>
            <a:r>
              <a:rPr lang="en-US" altLang="zh-CN" b="1" dirty="0"/>
              <a:t>btn3</a:t>
            </a:r>
            <a:r>
              <a:rPr lang="zh-CN" altLang="zh-CN" b="1" dirty="0"/>
              <a:t>注册</a:t>
            </a:r>
            <a:endParaRPr lang="zh-CN" altLang="zh-CN" dirty="0"/>
          </a:p>
          <a:p>
            <a:pPr marL="0" indent="0">
              <a:buNone/>
            </a:pPr>
            <a:r>
              <a:rPr lang="en-US" altLang="zh-CN" b="1" dirty="0"/>
              <a:t>     </a:t>
            </a:r>
            <a:r>
              <a:rPr lang="en-US" altLang="zh-CN" b="1" dirty="0" err="1"/>
              <a:t>frm.setTitle</a:t>
            </a:r>
            <a:r>
              <a:rPr lang="en-US" altLang="zh-CN" b="1" dirty="0"/>
              <a:t>("Action Event"); </a:t>
            </a:r>
            <a:endParaRPr lang="zh-CN" altLang="zh-CN" dirty="0"/>
          </a:p>
          <a:p>
            <a:pPr marL="0" indent="0">
              <a:buNone/>
            </a:pPr>
            <a:r>
              <a:rPr lang="en-US" altLang="zh-CN" b="1" dirty="0"/>
              <a:t>      </a:t>
            </a:r>
            <a:r>
              <a:rPr lang="en-US" altLang="zh-CN" b="1" dirty="0" err="1"/>
              <a:t>frm.setLayout</a:t>
            </a:r>
            <a:r>
              <a:rPr lang="en-US" altLang="zh-CN" b="1" dirty="0"/>
              <a:t>(new </a:t>
            </a:r>
            <a:r>
              <a:rPr lang="en-US" altLang="zh-CN" b="1" dirty="0" err="1"/>
              <a:t>FlowLayout</a:t>
            </a:r>
            <a:r>
              <a:rPr lang="en-US" altLang="zh-CN" b="1" dirty="0"/>
              <a:t>(</a:t>
            </a:r>
            <a:r>
              <a:rPr lang="en-US" altLang="zh-CN" b="1" dirty="0" err="1"/>
              <a:t>FlowLayout.CENTER</a:t>
            </a:r>
            <a:r>
              <a:rPr lang="en-US" altLang="zh-CN" b="1" dirty="0"/>
              <a:t>));</a:t>
            </a:r>
            <a:endParaRPr lang="zh-CN" altLang="zh-CN" dirty="0"/>
          </a:p>
          <a:p>
            <a:pPr marL="0" indent="0">
              <a:buNone/>
            </a:pPr>
            <a:r>
              <a:rPr lang="en-US" altLang="zh-CN" b="1" dirty="0"/>
              <a:t>      </a:t>
            </a:r>
            <a:r>
              <a:rPr lang="en-US" altLang="zh-CN" b="1" dirty="0" err="1"/>
              <a:t>frm.setSize</a:t>
            </a:r>
            <a:r>
              <a:rPr lang="en-US" altLang="zh-CN" b="1" dirty="0"/>
              <a:t>(200,150);</a:t>
            </a:r>
            <a:endParaRPr lang="zh-CN" altLang="zh-CN" dirty="0"/>
          </a:p>
          <a:p>
            <a:pPr marL="0" indent="0">
              <a:buNone/>
            </a:pPr>
            <a:r>
              <a:rPr lang="en-US" altLang="zh-CN" b="1" dirty="0"/>
              <a:t>       </a:t>
            </a:r>
            <a:r>
              <a:rPr lang="en-US" altLang="zh-CN" b="1" dirty="0" err="1"/>
              <a:t>frm.add</a:t>
            </a:r>
            <a:r>
              <a:rPr lang="en-US" altLang="zh-CN" b="1" dirty="0"/>
              <a:t>(btn1); </a:t>
            </a:r>
            <a:r>
              <a:rPr lang="en-US" altLang="zh-CN" b="1" dirty="0" err="1"/>
              <a:t>frm.add</a:t>
            </a:r>
            <a:r>
              <a:rPr lang="en-US" altLang="zh-CN" b="1" dirty="0"/>
              <a:t>(btn2); </a:t>
            </a:r>
            <a:r>
              <a:rPr lang="en-US" altLang="zh-CN" b="1" dirty="0" err="1"/>
              <a:t>frm.add</a:t>
            </a:r>
            <a:r>
              <a:rPr lang="en-US" altLang="zh-CN" b="1" dirty="0"/>
              <a:t>(btn3);</a:t>
            </a:r>
            <a:endParaRPr lang="zh-CN" altLang="zh-CN" dirty="0"/>
          </a:p>
          <a:p>
            <a:pPr marL="0" indent="0">
              <a:buNone/>
            </a:pPr>
            <a:r>
              <a:rPr lang="en-US" altLang="zh-CN" b="1" dirty="0"/>
              <a:t>       </a:t>
            </a:r>
            <a:r>
              <a:rPr lang="en-US" altLang="zh-CN" b="1" dirty="0" err="1"/>
              <a:t>frm.setVisible</a:t>
            </a:r>
            <a:r>
              <a:rPr lang="en-US" altLang="zh-CN" b="1" dirty="0"/>
              <a:t>(true);</a:t>
            </a:r>
            <a:endParaRPr lang="zh-CN" altLang="zh-CN" dirty="0"/>
          </a:p>
          <a:p>
            <a:pPr marL="0" indent="0">
              <a:buNone/>
            </a:pPr>
            <a:r>
              <a:rPr lang="en-US" altLang="zh-CN" b="1" dirty="0"/>
              <a:t>    }</a:t>
            </a:r>
            <a:endParaRPr lang="zh-CN" altLang="zh-CN" dirty="0"/>
          </a:p>
          <a:p>
            <a:pPr marL="0" indent="0">
              <a:buNone/>
            </a:pPr>
            <a:r>
              <a:rPr lang="en-US" altLang="zh-CN" b="1" dirty="0"/>
              <a:t>     public void </a:t>
            </a:r>
            <a:r>
              <a:rPr lang="en-US" altLang="zh-CN" b="1" dirty="0" err="1"/>
              <a:t>actionPerformed</a:t>
            </a:r>
            <a:r>
              <a:rPr lang="en-US" altLang="zh-CN" b="1" dirty="0"/>
              <a:t>(</a:t>
            </a:r>
            <a:r>
              <a:rPr lang="en-US" altLang="zh-CN" b="1" dirty="0" err="1"/>
              <a:t>ActionEvent</a:t>
            </a:r>
            <a:r>
              <a:rPr lang="en-US" altLang="zh-CN" b="1" dirty="0"/>
              <a:t> e)     //</a:t>
            </a:r>
            <a:r>
              <a:rPr lang="zh-CN" altLang="zh-CN" b="1" dirty="0"/>
              <a:t>实现接口</a:t>
            </a:r>
            <a:r>
              <a:rPr lang="en-US" altLang="zh-CN" b="1" dirty="0" err="1"/>
              <a:t>ActionListener</a:t>
            </a:r>
            <a:r>
              <a:rPr lang="zh-CN" altLang="zh-CN" b="1" dirty="0"/>
              <a:t>的抽象方法</a:t>
            </a:r>
            <a:endParaRPr lang="zh-CN" altLang="zh-CN" dirty="0"/>
          </a:p>
          <a:p>
            <a:pPr marL="0" indent="0">
              <a:buNone/>
            </a:pPr>
            <a:r>
              <a:rPr lang="en-US" altLang="zh-CN" b="1" dirty="0"/>
              <a:t>    { Button </a:t>
            </a:r>
            <a:r>
              <a:rPr lang="en-US" altLang="zh-CN" b="1" dirty="0" err="1"/>
              <a:t>btn</a:t>
            </a:r>
            <a:r>
              <a:rPr lang="en-US" altLang="zh-CN" b="1" dirty="0"/>
              <a:t>=(Button) </a:t>
            </a:r>
            <a:r>
              <a:rPr lang="en-US" altLang="zh-CN" b="1" dirty="0" err="1"/>
              <a:t>e.getSource</a:t>
            </a:r>
            <a:r>
              <a:rPr lang="en-US" altLang="zh-CN" b="1" dirty="0"/>
              <a:t>();   // </a:t>
            </a:r>
            <a:r>
              <a:rPr lang="zh-CN" altLang="zh-CN" b="1" dirty="0"/>
              <a:t>取得事件源</a:t>
            </a:r>
            <a:endParaRPr lang="zh-CN" altLang="zh-CN" dirty="0"/>
          </a:p>
          <a:p>
            <a:pPr marL="0" indent="0">
              <a:buNone/>
            </a:pPr>
            <a:r>
              <a:rPr lang="en-US" altLang="zh-CN" b="1" dirty="0"/>
              <a:t>    if(</a:t>
            </a:r>
            <a:r>
              <a:rPr lang="en-US" altLang="zh-CN" b="1" dirty="0" err="1"/>
              <a:t>btn</a:t>
            </a:r>
            <a:r>
              <a:rPr lang="en-US" altLang="zh-CN" b="1" dirty="0"/>
              <a:t>==btn1)                         // </a:t>
            </a:r>
            <a:r>
              <a:rPr lang="zh-CN" altLang="zh-CN" b="1" dirty="0"/>
              <a:t>如果是按下</a:t>
            </a:r>
            <a:r>
              <a:rPr lang="en-US" altLang="zh-CN" b="1" dirty="0"/>
              <a:t>btn1</a:t>
            </a:r>
            <a:r>
              <a:rPr lang="zh-CN" altLang="zh-CN" b="1" dirty="0"/>
              <a:t>按钮</a:t>
            </a:r>
            <a:r>
              <a:rPr lang="en-US" altLang="zh-CN" b="1" dirty="0"/>
              <a:t>       </a:t>
            </a:r>
            <a:endParaRPr lang="zh-CN" altLang="zh-CN" dirty="0"/>
          </a:p>
          <a:p>
            <a:pPr marL="0" indent="0">
              <a:buNone/>
            </a:pPr>
            <a:r>
              <a:rPr lang="en-US" altLang="zh-CN" b="1" dirty="0"/>
              <a:t>     </a:t>
            </a:r>
            <a:r>
              <a:rPr lang="en-US" altLang="zh-CN" b="1" dirty="0" err="1"/>
              <a:t>frm.setBackground</a:t>
            </a:r>
            <a:r>
              <a:rPr lang="en-US" altLang="zh-CN" b="1" dirty="0"/>
              <a:t>(</a:t>
            </a:r>
            <a:r>
              <a:rPr lang="en-US" altLang="zh-CN" b="1" dirty="0" err="1"/>
              <a:t>Color.yellow</a:t>
            </a:r>
            <a:r>
              <a:rPr lang="en-US" altLang="zh-CN" b="1" dirty="0"/>
              <a:t>);                                </a:t>
            </a:r>
            <a:r>
              <a:rPr lang="zh-CN" altLang="zh-CN" b="1" dirty="0"/>
              <a:t>根据题目要求编写语句，</a:t>
            </a:r>
            <a:endParaRPr lang="zh-CN" altLang="zh-CN" dirty="0"/>
          </a:p>
          <a:p>
            <a:pPr marL="0" indent="0">
              <a:buNone/>
            </a:pPr>
            <a:r>
              <a:rPr lang="en-US" altLang="zh-CN" b="1" dirty="0"/>
              <a:t>      else if(</a:t>
            </a:r>
            <a:r>
              <a:rPr lang="en-US" altLang="zh-CN" b="1" dirty="0" err="1"/>
              <a:t>btn</a:t>
            </a:r>
            <a:r>
              <a:rPr lang="en-US" altLang="zh-CN" b="1" dirty="0"/>
              <a:t>==btn2)                   // </a:t>
            </a:r>
            <a:r>
              <a:rPr lang="zh-CN" altLang="zh-CN" b="1" dirty="0"/>
              <a:t>如果是按下</a:t>
            </a:r>
            <a:r>
              <a:rPr lang="en-US" altLang="zh-CN" b="1" dirty="0"/>
              <a:t>btn2</a:t>
            </a:r>
            <a:r>
              <a:rPr lang="zh-CN" altLang="zh-CN" b="1" dirty="0"/>
              <a:t>按钮</a:t>
            </a:r>
            <a:r>
              <a:rPr lang="en-US" altLang="zh-CN" b="1" dirty="0"/>
              <a:t>       </a:t>
            </a:r>
            <a:r>
              <a:rPr lang="zh-CN" altLang="zh-CN" b="1" dirty="0"/>
              <a:t>处理事件</a:t>
            </a:r>
            <a:endParaRPr lang="zh-CN" altLang="zh-CN" dirty="0"/>
          </a:p>
          <a:p>
            <a:pPr marL="0" indent="0">
              <a:buNone/>
            </a:pPr>
            <a:r>
              <a:rPr lang="en-US" altLang="zh-CN" b="1" dirty="0"/>
              <a:t>        </a:t>
            </a:r>
            <a:r>
              <a:rPr lang="en-US" altLang="zh-CN" b="1" dirty="0" err="1"/>
              <a:t>frm.setBackground</a:t>
            </a:r>
            <a:r>
              <a:rPr lang="en-US" altLang="zh-CN" b="1" dirty="0"/>
              <a:t>(</a:t>
            </a:r>
            <a:r>
              <a:rPr lang="en-US" altLang="zh-CN" b="1" dirty="0" err="1"/>
              <a:t>Color.green</a:t>
            </a:r>
            <a:r>
              <a:rPr lang="en-US" altLang="zh-CN" b="1" dirty="0"/>
              <a:t>);</a:t>
            </a:r>
            <a:endParaRPr lang="zh-CN" altLang="zh-CN" dirty="0"/>
          </a:p>
          <a:p>
            <a:pPr marL="0" indent="0">
              <a:buNone/>
            </a:pPr>
            <a:r>
              <a:rPr lang="en-US" altLang="zh-CN" b="1" dirty="0"/>
              <a:t>      else                                  // </a:t>
            </a:r>
            <a:r>
              <a:rPr lang="zh-CN" altLang="zh-CN" b="1" dirty="0"/>
              <a:t>如果是按下</a:t>
            </a:r>
            <a:r>
              <a:rPr lang="en-US" altLang="zh-CN" b="1" dirty="0"/>
              <a:t>btn3</a:t>
            </a:r>
            <a:r>
              <a:rPr lang="zh-CN" altLang="zh-CN" b="1" dirty="0"/>
              <a:t>按钮</a:t>
            </a:r>
            <a:endParaRPr lang="zh-CN" altLang="zh-CN" dirty="0"/>
          </a:p>
          <a:p>
            <a:pPr marL="0" indent="0">
              <a:buNone/>
            </a:pPr>
            <a:r>
              <a:rPr lang="en-US" altLang="zh-CN" b="1" dirty="0"/>
              <a:t>         </a:t>
            </a:r>
            <a:r>
              <a:rPr lang="en-US" altLang="zh-CN" b="1" dirty="0" err="1"/>
              <a:t>System.exit</a:t>
            </a:r>
            <a:r>
              <a:rPr lang="en-US" altLang="zh-CN" b="1" dirty="0"/>
              <a:t>(0);</a:t>
            </a:r>
            <a:endParaRPr lang="zh-CN" altLang="zh-CN" dirty="0"/>
          </a:p>
          <a:p>
            <a:pPr marL="0" indent="0">
              <a:buNone/>
            </a:pPr>
            <a:r>
              <a:rPr lang="en-US" altLang="zh-CN" b="1" dirty="0"/>
              <a:t>    }</a:t>
            </a:r>
            <a:endParaRPr lang="zh-CN" altLang="zh-CN" dirty="0"/>
          </a:p>
          <a:p>
            <a:pPr marL="0" indent="0">
              <a:buNone/>
            </a:pPr>
            <a:r>
              <a:rPr lang="en-US" altLang="zh-CN" b="1" dirty="0"/>
              <a:t>  }</a:t>
            </a:r>
            <a:endParaRPr lang="zh-CN" altLang="zh-CN" dirty="0"/>
          </a:p>
          <a:p>
            <a:pPr marL="0" indent="0">
              <a:buNone/>
            </a:pP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70276822"/>
      </p:ext>
    </p:extLst>
  </p:cSld>
  <p:clrMapOvr>
    <a:masterClrMapping/>
  </p:clrMapOvr>
</p:sld>
</file>

<file path=ppt/theme/theme1.xml><?xml version="1.0" encoding="utf-8"?>
<a:theme xmlns:a="http://schemas.openxmlformats.org/drawingml/2006/main" name="16sucai_201411161035">
  <a:themeElements>
    <a:clrScheme name="自定义 4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31BFA7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计算广告应用V2</Template>
  <TotalTime>200</TotalTime>
  <Words>2015</Words>
  <Application>Microsoft Macintosh PowerPoint</Application>
  <PresentationFormat>全屏显示(4:3)</PresentationFormat>
  <Paragraphs>453</Paragraphs>
  <Slides>34</Slides>
  <Notes>0</Notes>
  <HiddenSlides>2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34</vt:i4>
      </vt:variant>
    </vt:vector>
  </HeadingPairs>
  <TitlesOfParts>
    <vt:vector size="43" baseType="lpstr">
      <vt:lpstr>微软雅黑</vt:lpstr>
      <vt:lpstr>Arial Unicode MS</vt:lpstr>
      <vt:lpstr>Arial</vt:lpstr>
      <vt:lpstr>Calibri</vt:lpstr>
      <vt:lpstr>Times New Roman</vt:lpstr>
      <vt:lpstr>Verdana</vt:lpstr>
      <vt:lpstr>Wingdings</vt:lpstr>
      <vt:lpstr>16sucai_201411161035</vt:lpstr>
      <vt:lpstr>自定义设计方案</vt:lpstr>
      <vt:lpstr>PowerPoint 演示文稿</vt:lpstr>
      <vt:lpstr>PowerPoint 演示文稿</vt:lpstr>
      <vt:lpstr>PowerPoint 演示文稿</vt:lpstr>
      <vt:lpstr>Swing GUI组件</vt:lpstr>
      <vt:lpstr>GUI辅助类</vt:lpstr>
      <vt:lpstr>PowerPoint 演示文稿</vt:lpstr>
      <vt:lpstr>容器类</vt:lpstr>
      <vt:lpstr>GUI 辅助类</vt:lpstr>
      <vt:lpstr>JComponent和它的子类</vt:lpstr>
      <vt:lpstr>PowerPoint 演示文稿</vt:lpstr>
      <vt:lpstr>Demo</vt:lpstr>
      <vt:lpstr>图形示例</vt:lpstr>
      <vt:lpstr>PowerPoint 演示文稿</vt:lpstr>
      <vt:lpstr>图形</vt:lpstr>
      <vt:lpstr>事件处理机制---委托事件处理</vt:lpstr>
      <vt:lpstr>事件监听机制流程图</vt:lpstr>
      <vt:lpstr>事件处理实例：关闭窗口</vt:lpstr>
      <vt:lpstr>再论事件处理机制</vt:lpstr>
      <vt:lpstr>事件类的层次关系</vt:lpstr>
      <vt:lpstr>PowerPoint 演示文稿</vt:lpstr>
      <vt:lpstr>PowerPoint 演示文稿</vt:lpstr>
      <vt:lpstr>用户行为、源对象和事件类型</vt:lpstr>
      <vt:lpstr>事件、事件监听器和监听器方法</vt:lpstr>
      <vt:lpstr>事件的监听、注册和处理</vt:lpstr>
      <vt:lpstr>方便适配器</vt:lpstr>
      <vt:lpstr>键盘事件之键常量</vt:lpstr>
      <vt:lpstr>PowerPoint 演示文稿</vt:lpstr>
      <vt:lpstr>PowerPoint 演示文稿</vt:lpstr>
      <vt:lpstr>PowerPoint 演示文稿</vt:lpstr>
      <vt:lpstr>PowerPoint 演示文稿</vt:lpstr>
      <vt:lpstr>内部类（Inner Class）</vt:lpstr>
      <vt:lpstr>内部类的特征（1）</vt:lpstr>
      <vt:lpstr>内部类的特征（2）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Administrator</dc:creator>
  <cp:lastModifiedBy>Microsoft Office User</cp:lastModifiedBy>
  <cp:revision>20</cp:revision>
  <dcterms:created xsi:type="dcterms:W3CDTF">2016-04-19T01:35:35Z</dcterms:created>
  <dcterms:modified xsi:type="dcterms:W3CDTF">2024-04-02T03:18:18Z</dcterms:modified>
</cp:coreProperties>
</file>