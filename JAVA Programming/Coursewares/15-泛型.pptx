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5"/>
  </p:notesMasterIdLst>
  <p:sldIdLst>
    <p:sldId id="258" r:id="rId3"/>
    <p:sldId id="259" r:id="rId4"/>
    <p:sldId id="260" r:id="rId5"/>
    <p:sldId id="261" r:id="rId6"/>
    <p:sldId id="262" r:id="rId7"/>
    <p:sldId id="263" r:id="rId8"/>
    <p:sldId id="264" r:id="rId9"/>
    <p:sldId id="269" r:id="rId10"/>
    <p:sldId id="265" r:id="rId11"/>
    <p:sldId id="268" r:id="rId12"/>
    <p:sldId id="266" r:id="rId13"/>
    <p:sldId id="267" r:id="rId14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3236"/>
  </p:normalViewPr>
  <p:slideViewPr>
    <p:cSldViewPr>
      <p:cViewPr varScale="1">
        <p:scale>
          <a:sx n="124" d="100"/>
          <a:sy n="124" d="100"/>
        </p:scale>
        <p:origin x="744" y="16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18277-68DD-2649-9AF6-0FFD4BA638D5}" type="datetimeFigureOut">
              <a:rPr kumimoji="1" lang="zh-CN" altLang="en-US" smtClean="0"/>
              <a:t>2026/3/23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A4AF6E-C25D-3C42-BA4A-6BDFC164CA7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3832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9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92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9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7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5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D0093-576E-467B-B962-99E1A744E17E}" type="datetimeFigureOut">
              <a:rPr lang="zh-CN" altLang="en-US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7A8581-4873-47CA-8339-DD7371799E8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C6D08D-254E-4C16-9BDD-2CB403A3435F}" type="datetimeFigureOut">
              <a:rPr lang="zh-CN" altLang="en-US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6B5DAA-F314-4201-A885-F94350C78D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FDD86F-CDAF-474B-9FB2-89F4E1DB95B0}" type="datetimeFigureOut">
              <a:rPr lang="zh-CN" altLang="en-US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F9244-E492-4E7F-8014-C42AB6E22D3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D1C718-00B4-4F2E-8B01-D394E45EC67A}" type="datetimeFigureOut">
              <a:rPr lang="zh-CN" altLang="en-US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6F9A6D-C430-4B93-AE78-0A62FBBD8FC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8C617E-A9B1-47F9-B9A9-87483FDAC8D3}" type="datetimeFigureOut">
              <a:rPr lang="zh-CN" altLang="en-US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E4F1EF-4E26-4C56-9B88-FD593D373B8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7389AD-0748-4B3C-8811-5DFFA51CED5D}" type="datetimeFigureOut">
              <a:rPr lang="zh-CN" altLang="en-US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CE0F20-CA7C-4D92-81FD-7E1D809D33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4FD782-AFAB-420A-8FC3-E90FC8D60F6A}" type="datetimeFigureOut">
              <a:rPr lang="zh-CN" altLang="en-US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1A5DAD-FC26-4B98-B59F-38A407A6EB1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1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94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13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A6FA3B-6958-4BA2-91DC-7BEE42D86237}" type="datetimeFigureOut">
              <a:rPr lang="zh-CN" altLang="en-US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2F4D7F-6987-4FBB-8861-DE5388AE82F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9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E6B6D4-31F7-491F-A416-E134F3D25755}" type="datetimeFigureOut">
              <a:rPr lang="zh-CN" altLang="en-US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56BCD3-ACD3-4915-AAF5-E95C4336808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82DBD-F4DA-4F3D-8375-2CC882E5C4BD}" type="datetimeFigureOut">
              <a:rPr lang="zh-CN" altLang="en-US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746474-8646-4F3B-9765-6AA2597643E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30C6ED-1572-4AFD-969C-EAD6761B29D4}" type="datetimeFigureOut">
              <a:rPr lang="zh-CN" altLang="en-US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4B6592-189B-4FEE-91FE-2D98CF2508D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4"/>
            <a:ext cx="9144000" cy="10715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51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2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9A9EEEDC-F40F-4A63-9580-80ADE972C86E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882" indent="-342882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13" indent="-285737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2942" indent="-228589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120" indent="-228589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298" indent="-228589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474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200155"/>
            <a:ext cx="8229600" cy="339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8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644CF135-CD95-44F1-8454-15341B964199}" type="datetimeFigureOut">
              <a:rPr lang="zh-CN" altLang="en-US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8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8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5B4EA391-E530-4487-AF14-F97E23C3A13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-28377" y="-1090976"/>
            <a:ext cx="9144000" cy="4005063"/>
            <a:chOff x="0" y="0"/>
            <a:chExt cx="9144000" cy="4518000"/>
          </a:xfrm>
        </p:grpSpPr>
        <p:sp>
          <p:nvSpPr>
            <p:cNvPr id="14" name="矩形 13"/>
            <p:cNvSpPr/>
            <p:nvPr/>
          </p:nvSpPr>
          <p:spPr>
            <a:xfrm>
              <a:off x="0" y="0"/>
              <a:ext cx="9144000" cy="4355055"/>
            </a:xfrm>
            <a:prstGeom prst="rect">
              <a:avLst/>
            </a:prstGeom>
            <a:solidFill>
              <a:srgbClr val="31BFA7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  <p:sp>
          <p:nvSpPr>
            <p:cNvPr id="15" name="等腰三角形 14"/>
            <p:cNvSpPr/>
            <p:nvPr/>
          </p:nvSpPr>
          <p:spPr>
            <a:xfrm flipV="1">
              <a:off x="4068763" y="4355055"/>
              <a:ext cx="1006475" cy="162945"/>
            </a:xfrm>
            <a:prstGeom prst="triangle">
              <a:avLst/>
            </a:prstGeom>
            <a:solidFill>
              <a:srgbClr val="31BFA7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70200" y="5367867"/>
            <a:ext cx="9003600" cy="0"/>
          </a:xfrm>
          <a:prstGeom prst="line">
            <a:avLst/>
          </a:prstGeom>
          <a:noFill/>
          <a:ln w="22225" cap="flat" cmpd="sng" algn="ctr">
            <a:gradFill>
              <a:gsLst>
                <a:gs pos="0">
                  <a:sysClr val="window" lastClr="FFFFFF">
                    <a:alpha val="0"/>
                  </a:sysClr>
                </a:gs>
                <a:gs pos="33000">
                  <a:srgbClr val="31BFA7"/>
                </a:gs>
                <a:gs pos="67000">
                  <a:srgbClr val="31BFA7"/>
                </a:gs>
                <a:gs pos="100000">
                  <a:sysClr val="window" lastClr="FFFFFF">
                    <a:alpha val="0"/>
                  </a:sysClr>
                </a:gs>
              </a:gsLst>
              <a:lin ang="10800000" scaled="0"/>
            </a:gradFill>
            <a:prstDash val="solid"/>
          </a:ln>
          <a:effectLst/>
        </p:spPr>
      </p:cxnSp>
      <p:sp>
        <p:nvSpPr>
          <p:cNvPr id="17" name="文本框 7"/>
          <p:cNvSpPr txBox="1">
            <a:spLocks noChangeArrowheads="1"/>
          </p:cNvSpPr>
          <p:nvPr/>
        </p:nvSpPr>
        <p:spPr bwMode="auto">
          <a:xfrm>
            <a:off x="482798" y="987574"/>
            <a:ext cx="8121651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ts val="4200"/>
              </a:lnSpc>
              <a:defRPr/>
            </a:pPr>
            <a:r>
              <a:rPr lang="zh-CN" altLang="en-US" sz="4400" b="1" kern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泛型</a:t>
            </a:r>
          </a:p>
        </p:txBody>
      </p:sp>
      <p:sp>
        <p:nvSpPr>
          <p:cNvPr id="8" name="副标题 7"/>
          <p:cNvSpPr>
            <a:spLocks noGrp="1"/>
          </p:cNvSpPr>
          <p:nvPr>
            <p:ph type="subTitle" idx="1"/>
          </p:nvPr>
        </p:nvSpPr>
        <p:spPr>
          <a:xfrm>
            <a:off x="1371600" y="3147814"/>
            <a:ext cx="6400800" cy="1752600"/>
          </a:xfrm>
        </p:spPr>
        <p:txBody>
          <a:bodyPr/>
          <a:lstStyle/>
          <a:p>
            <a:pPr>
              <a:defRPr/>
            </a:pPr>
            <a:r>
              <a:rPr lang="zh-CN" altLang="en-US" sz="2800" dirty="0"/>
              <a:t>中国人民大学信息学院   孙彩虹</a:t>
            </a:r>
            <a:endParaRPr lang="en-US" altLang="zh-CN" sz="28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6BF2A11-51F5-2A41-B7F2-B9E50EE23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2" y="412750"/>
            <a:ext cx="63500" cy="762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AFA2368-6D20-B74D-BFB9-C3DD5AE7D1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2" y="412750"/>
            <a:ext cx="63500" cy="762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932C246-C62C-8B46-AA0A-73DD50737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2" y="412750"/>
            <a:ext cx="63500" cy="762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C5B029D-463E-2A4C-A75F-539EEBA887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2" y="412750"/>
            <a:ext cx="635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D16222-BFBD-3A4D-8A87-0C6C6C454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195486"/>
            <a:ext cx="8229600" cy="857250"/>
          </a:xfrm>
        </p:spPr>
        <p:txBody>
          <a:bodyPr/>
          <a:lstStyle/>
          <a:p>
            <a:r>
              <a:rPr kumimoji="1" lang="zh-CN" altLang="en-US" dirty="0"/>
              <a:t>泛型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90B880-54AB-154C-BF12-B99D41FD5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4"/>
            <a:ext cx="8686800" cy="3394075"/>
          </a:xfrm>
        </p:spPr>
        <p:txBody>
          <a:bodyPr/>
          <a:lstStyle/>
          <a:p>
            <a:r>
              <a:rPr kumimoji="1" lang="en-US" altLang="zh-CN" sz="2400" dirty="0"/>
              <a:t>Generic</a:t>
            </a:r>
            <a:r>
              <a:rPr kumimoji="1" lang="zh-CN" altLang="en-US" sz="2400" dirty="0"/>
              <a:t> 指参数化类型的能力</a:t>
            </a:r>
            <a:endParaRPr kumimoji="1" lang="en-US" altLang="zh-CN" sz="2400" dirty="0"/>
          </a:p>
          <a:p>
            <a:r>
              <a:rPr kumimoji="1" lang="zh-CN" altLang="en-US" sz="2400" dirty="0"/>
              <a:t>可以定义带泛型的类型的类或方法，随后编译器会用具体的类型来替换它</a:t>
            </a:r>
            <a:endParaRPr kumimoji="1" lang="en-US" altLang="zh-CN" sz="2400" dirty="0"/>
          </a:p>
          <a:p>
            <a:r>
              <a:rPr kumimoji="1" lang="zh-CN" altLang="en-US" sz="2400" dirty="0"/>
              <a:t>主要优点：能够在编译时而不是运行时检测出错误。</a:t>
            </a:r>
            <a:endParaRPr kumimoji="1" lang="en-US" altLang="zh-CN" sz="2400" dirty="0"/>
          </a:p>
          <a:p>
            <a:r>
              <a:rPr kumimoji="1" lang="zh-CN" altLang="en-US" sz="2400" dirty="0"/>
              <a:t>提高软件的可靠性和可读性</a:t>
            </a:r>
            <a:endParaRPr kumimoji="1"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104550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30C0E0-715E-0548-AFBB-D75745684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5" y="175945"/>
            <a:ext cx="8229600" cy="857250"/>
          </a:xfrm>
        </p:spPr>
        <p:txBody>
          <a:bodyPr/>
          <a:lstStyle/>
          <a:p>
            <a:r>
              <a:rPr kumimoji="1" lang="zh-CN" altLang="en-US" dirty="0"/>
              <a:t>动机和优点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4DAA3C-2A0E-3F41-9A14-318844F84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5" y="1203598"/>
            <a:ext cx="3672406" cy="3024336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1800" dirty="0"/>
              <a:t>package </a:t>
            </a:r>
            <a:r>
              <a:rPr kumimoji="1" lang="en-US" altLang="zh-CN" sz="1800" dirty="0" err="1"/>
              <a:t>java.lang</a:t>
            </a:r>
            <a:r>
              <a:rPr kumimoji="1" lang="en-US" altLang="zh-CN" sz="1800" dirty="0"/>
              <a:t>;</a:t>
            </a:r>
          </a:p>
          <a:p>
            <a:pPr marL="0" indent="0">
              <a:buNone/>
            </a:pPr>
            <a:r>
              <a:rPr kumimoji="1" lang="en-US" altLang="zh-CN" sz="1800" dirty="0"/>
              <a:t>public interface Comparable{</a:t>
            </a:r>
          </a:p>
          <a:p>
            <a:pPr marL="0" indent="0">
              <a:buNone/>
            </a:pPr>
            <a:r>
              <a:rPr kumimoji="1" lang="en-US" altLang="zh-CN" sz="1800" dirty="0"/>
              <a:t>  public </a:t>
            </a:r>
            <a:r>
              <a:rPr kumimoji="1" lang="en-US" altLang="zh-CN" sz="1800" dirty="0" err="1"/>
              <a:t>int</a:t>
            </a:r>
            <a:r>
              <a:rPr kumimoji="1" lang="en-US" altLang="zh-CN" sz="1800" dirty="0"/>
              <a:t> </a:t>
            </a:r>
            <a:r>
              <a:rPr kumimoji="1" lang="en-US" altLang="zh-CN" sz="1800" dirty="0" err="1"/>
              <a:t>compareTo</a:t>
            </a:r>
            <a:r>
              <a:rPr kumimoji="1" lang="en-US" altLang="zh-CN" sz="1800" dirty="0"/>
              <a:t>(Object o)</a:t>
            </a:r>
          </a:p>
          <a:p>
            <a:pPr marL="0" indent="0">
              <a:buNone/>
            </a:pPr>
            <a:r>
              <a:rPr kumimoji="1" lang="en-US" altLang="zh-CN" sz="1800" dirty="0"/>
              <a:t>} </a:t>
            </a:r>
          </a:p>
          <a:p>
            <a:pPr marL="0" indent="0">
              <a:buNone/>
            </a:pPr>
            <a:r>
              <a:rPr kumimoji="1" lang="en-US" altLang="zh-CN" sz="1800" dirty="0"/>
              <a:t>Comparable c =new Date();</a:t>
            </a:r>
          </a:p>
          <a:p>
            <a:pPr marL="0" indent="0">
              <a:buNone/>
            </a:pPr>
            <a:r>
              <a:rPr kumimoji="1" lang="en-US" altLang="zh-CN" sz="1800" dirty="0" err="1"/>
              <a:t>System.out.println</a:t>
            </a:r>
            <a:r>
              <a:rPr kumimoji="1" lang="en-US" altLang="zh-CN" sz="1800" dirty="0"/>
              <a:t>(</a:t>
            </a:r>
            <a:r>
              <a:rPr kumimoji="1" lang="en-US" altLang="zh-CN" sz="1800" dirty="0" err="1"/>
              <a:t>c.CompareTo</a:t>
            </a:r>
            <a:r>
              <a:rPr kumimoji="1" lang="en-US" altLang="zh-CN" sz="1800" dirty="0"/>
              <a:t>(“Red”));</a:t>
            </a:r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E1E314E-6F91-2740-B346-451425A98DF4}"/>
              </a:ext>
            </a:extLst>
          </p:cNvPr>
          <p:cNvSpPr txBox="1">
            <a:spLocks/>
          </p:cNvSpPr>
          <p:nvPr/>
        </p:nvSpPr>
        <p:spPr bwMode="auto">
          <a:xfrm>
            <a:off x="4572000" y="1090898"/>
            <a:ext cx="4267866" cy="3851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1143000" indent="-2286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600200" indent="-2286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2057400" indent="-2286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sz="1800" dirty="0"/>
              <a:t>package </a:t>
            </a:r>
            <a:r>
              <a:rPr kumimoji="1" lang="en-US" altLang="zh-CN" sz="1800" dirty="0" err="1"/>
              <a:t>java.lang</a:t>
            </a:r>
            <a:r>
              <a:rPr kumimoji="1" lang="en-US" altLang="zh-CN" sz="1800" dirty="0"/>
              <a:t>;</a:t>
            </a:r>
          </a:p>
          <a:p>
            <a:pPr marL="0" indent="0">
              <a:buNone/>
            </a:pPr>
            <a:r>
              <a:rPr kumimoji="1" lang="en-US" altLang="zh-CN" sz="1800" dirty="0"/>
              <a:t>public interface Comparable&lt;T&gt;{</a:t>
            </a:r>
          </a:p>
          <a:p>
            <a:pPr marL="0" indent="0">
              <a:buNone/>
            </a:pPr>
            <a:r>
              <a:rPr kumimoji="1" lang="en-US" altLang="zh-CN" sz="1800" dirty="0"/>
              <a:t>  public </a:t>
            </a:r>
            <a:r>
              <a:rPr kumimoji="1" lang="en-US" altLang="zh-CN" sz="1800" dirty="0" err="1"/>
              <a:t>int</a:t>
            </a:r>
            <a:r>
              <a:rPr kumimoji="1" lang="en-US" altLang="zh-CN" sz="1800" dirty="0"/>
              <a:t> </a:t>
            </a:r>
            <a:r>
              <a:rPr kumimoji="1" lang="en-US" altLang="zh-CN" sz="1800" dirty="0" err="1"/>
              <a:t>compareTo</a:t>
            </a:r>
            <a:r>
              <a:rPr kumimoji="1" lang="en-US" altLang="zh-CN" sz="1800" dirty="0"/>
              <a:t>(T o)</a:t>
            </a:r>
          </a:p>
          <a:p>
            <a:pPr marL="0" indent="0">
              <a:buNone/>
            </a:pPr>
            <a:r>
              <a:rPr kumimoji="1" lang="en-US" altLang="zh-CN" sz="1800" dirty="0"/>
              <a:t>} </a:t>
            </a:r>
          </a:p>
          <a:p>
            <a:pPr marL="0" indent="0">
              <a:buNone/>
            </a:pPr>
            <a:r>
              <a:rPr kumimoji="1" lang="en-US" altLang="zh-CN" sz="1800" dirty="0"/>
              <a:t>Comparable &lt;Date&gt;c =new Date();</a:t>
            </a:r>
          </a:p>
          <a:p>
            <a:pPr marL="0" indent="0">
              <a:buNone/>
            </a:pPr>
            <a:r>
              <a:rPr kumimoji="1" lang="en-US" altLang="zh-CN" sz="1800" dirty="0" err="1"/>
              <a:t>System.out.println</a:t>
            </a:r>
            <a:r>
              <a:rPr kumimoji="1" lang="en-US" altLang="zh-CN" sz="1800" dirty="0"/>
              <a:t>(</a:t>
            </a:r>
            <a:r>
              <a:rPr kumimoji="1" lang="en-US" altLang="zh-CN" sz="1800" dirty="0" err="1"/>
              <a:t>c.CompareTo</a:t>
            </a:r>
            <a:r>
              <a:rPr kumimoji="1" lang="en-US" altLang="zh-CN" sz="1800" dirty="0"/>
              <a:t>(“Red”));</a:t>
            </a:r>
          </a:p>
          <a:p>
            <a:pPr marL="0" indent="0">
              <a:buNone/>
            </a:pPr>
            <a:endParaRPr kumimoji="1" lang="en-US" altLang="zh-CN" sz="1800" dirty="0"/>
          </a:p>
          <a:p>
            <a:pPr marL="0" indent="0">
              <a:buNone/>
            </a:pPr>
            <a:endParaRPr kumimoji="1" lang="zh-CN" altLang="en-US" dirty="0"/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CFC9A72A-0321-0043-9157-1E4D9ECB4EA2}"/>
              </a:ext>
            </a:extLst>
          </p:cNvPr>
          <p:cNvCxnSpPr/>
          <p:nvPr/>
        </p:nvCxnSpPr>
        <p:spPr>
          <a:xfrm>
            <a:off x="4355976" y="635000"/>
            <a:ext cx="0" cy="54398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8955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DE923B-AACF-1745-BD07-C47ADC678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195486"/>
            <a:ext cx="8229600" cy="857250"/>
          </a:xfrm>
        </p:spPr>
        <p:txBody>
          <a:bodyPr/>
          <a:lstStyle/>
          <a:p>
            <a:r>
              <a:rPr kumimoji="1" lang="zh-CN" altLang="en-US" dirty="0"/>
              <a:t>泛型的要求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7D36FE-3854-DF4D-95E1-F04246612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203598"/>
            <a:ext cx="8229600" cy="4525433"/>
          </a:xfrm>
        </p:spPr>
        <p:txBody>
          <a:bodyPr/>
          <a:lstStyle/>
          <a:p>
            <a:r>
              <a:rPr kumimoji="1" lang="zh-CN" altLang="en-US" sz="2400" dirty="0"/>
              <a:t>泛型类型必须是引用类型，不能用基本类型来替换泛型类型</a:t>
            </a:r>
            <a:endParaRPr kumimoji="1" lang="en-US" altLang="zh-CN" sz="2400" dirty="0"/>
          </a:p>
          <a:p>
            <a:r>
              <a:rPr kumimoji="1" lang="zh-CN" altLang="en-US" sz="2400" dirty="0"/>
              <a:t>自动装箱（</a:t>
            </a:r>
            <a:r>
              <a:rPr kumimoji="1" lang="en-US" altLang="zh-CN" sz="2400" dirty="0"/>
              <a:t>autoboxing</a:t>
            </a:r>
            <a:r>
              <a:rPr kumimoji="1" lang="zh-CN" altLang="en-US" sz="2400" dirty="0"/>
              <a:t>）</a:t>
            </a:r>
            <a:endParaRPr kumimoji="1" lang="en-US" altLang="zh-CN" sz="2400" dirty="0"/>
          </a:p>
          <a:p>
            <a:pPr lvl="1"/>
            <a:r>
              <a:rPr kumimoji="1" lang="en-US" altLang="zh-CN" sz="2000" dirty="0" err="1"/>
              <a:t>ArrayList</a:t>
            </a:r>
            <a:r>
              <a:rPr kumimoji="1" lang="en-US" altLang="zh-CN" sz="2000" dirty="0"/>
              <a:t>&lt;Double&gt; list=new </a:t>
            </a:r>
            <a:r>
              <a:rPr kumimoji="1" lang="en-US" altLang="zh-CN" sz="2000" dirty="0" err="1"/>
              <a:t>ArrayList</a:t>
            </a:r>
            <a:r>
              <a:rPr kumimoji="1" lang="en-US" altLang="zh-CN" sz="2000" dirty="0"/>
              <a:t>&lt;&gt;();</a:t>
            </a:r>
          </a:p>
          <a:p>
            <a:pPr lvl="1"/>
            <a:r>
              <a:rPr kumimoji="1" lang="en-US" altLang="zh-CN" sz="2000" dirty="0" err="1"/>
              <a:t>list.add</a:t>
            </a:r>
            <a:r>
              <a:rPr kumimoji="1" lang="en-US" altLang="zh-CN" sz="2000" dirty="0"/>
              <a:t>(5.5);</a:t>
            </a:r>
          </a:p>
          <a:p>
            <a:pPr lvl="1"/>
            <a:r>
              <a:rPr kumimoji="1" lang="en-US" altLang="zh-CN" sz="2000" dirty="0"/>
              <a:t>Double </a:t>
            </a:r>
            <a:r>
              <a:rPr kumimoji="1" lang="en-US" altLang="zh-CN" sz="2000" dirty="0" err="1"/>
              <a:t>doubleObj</a:t>
            </a:r>
            <a:r>
              <a:rPr kumimoji="1" lang="en-US" altLang="zh-CN" sz="2000" dirty="0"/>
              <a:t>=</a:t>
            </a:r>
            <a:r>
              <a:rPr kumimoji="1" lang="en-US" altLang="zh-CN" sz="2000" dirty="0" err="1"/>
              <a:t>list.get</a:t>
            </a:r>
            <a:r>
              <a:rPr kumimoji="1" lang="en-US" altLang="zh-CN" sz="2000" dirty="0"/>
              <a:t>(0)</a:t>
            </a:r>
            <a:r>
              <a:rPr kumimoji="1" lang="zh-CN" altLang="en-US" sz="2000" dirty="0"/>
              <a:t>；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double </a:t>
            </a:r>
            <a:r>
              <a:rPr kumimoji="1" lang="en-US" altLang="zh-CN" sz="2000" dirty="0" err="1"/>
              <a:t>doubleval</a:t>
            </a:r>
            <a:r>
              <a:rPr kumimoji="1" lang="en-US" altLang="zh-CN" sz="2000" dirty="0"/>
              <a:t> =</a:t>
            </a:r>
            <a:r>
              <a:rPr kumimoji="1" lang="en-US" altLang="zh-CN" sz="2000" dirty="0" err="1"/>
              <a:t>list.get</a:t>
            </a:r>
            <a:r>
              <a:rPr kumimoji="1" lang="en-US" altLang="zh-CN" sz="2000" dirty="0"/>
              <a:t>(1);</a:t>
            </a:r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243959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63619E-31C1-8749-BA70-FF3332B28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定义泛型类和接口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9F1DB6-1A9F-0844-82DC-01D02DB26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400" dirty="0"/>
              <a:t>程序清单 </a:t>
            </a:r>
            <a:r>
              <a:rPr kumimoji="1" lang="en-US" altLang="zh-CN" sz="2400" dirty="0" err="1"/>
              <a:t>GenericStack.java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定义泛型类和接口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当使用类来创建对象，或者使用类或接口来声明变量时，必须指定具体的类型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泛型类可以有多个参数</a:t>
            </a:r>
            <a:r>
              <a:rPr kumimoji="1" lang="en-US" altLang="zh-CN" sz="2000" dirty="0"/>
              <a:t>&lt;E1,E2,E3&gt;</a:t>
            </a:r>
          </a:p>
          <a:p>
            <a:r>
              <a:rPr kumimoji="1" lang="zh-CN" altLang="en-US" sz="2400" dirty="0"/>
              <a:t>泛型能够提高软件的可靠性和可读性</a:t>
            </a:r>
            <a:endParaRPr kumimoji="1" lang="en-US" altLang="zh-CN" sz="2400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0201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0B216D-ABB7-2048-BB09-882FC01BF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泛型方法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32FA23-64C1-774D-989A-1EA1E5426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203598"/>
            <a:ext cx="8229600" cy="4525433"/>
          </a:xfrm>
        </p:spPr>
        <p:txBody>
          <a:bodyPr/>
          <a:lstStyle/>
          <a:p>
            <a:r>
              <a:rPr kumimoji="1" lang="zh-CN" altLang="en-US" sz="2400" dirty="0"/>
              <a:t>程序清单见 </a:t>
            </a:r>
            <a:r>
              <a:rPr kumimoji="1" lang="en-US" altLang="zh-CN" sz="2400" dirty="0" err="1"/>
              <a:t>GenericMethodDemo.java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注意一下如何调用：将实际类型放在尖括号内作为方法名的前缀。或者简单调用，自动发现</a:t>
            </a:r>
            <a:endParaRPr kumimoji="1" lang="en-US" altLang="zh-CN" sz="2000" dirty="0"/>
          </a:p>
          <a:p>
            <a:r>
              <a:rPr kumimoji="1" lang="zh-CN" altLang="en-US" sz="2400" dirty="0"/>
              <a:t>可以将泛型指定为另外一种类型的子类型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受限的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&lt;E extends </a:t>
            </a:r>
            <a:r>
              <a:rPr kumimoji="1" lang="en-US" altLang="zh-CN" sz="2000" dirty="0" err="1"/>
              <a:t>GeometricObject</a:t>
            </a:r>
            <a:r>
              <a:rPr kumimoji="1" lang="en-US" altLang="zh-CN" sz="2000" dirty="0"/>
              <a:t>&gt;</a:t>
            </a:r>
          </a:p>
          <a:p>
            <a:pPr lvl="1"/>
            <a:r>
              <a:rPr kumimoji="1" lang="en-US" altLang="zh-CN" sz="2000" dirty="0" err="1"/>
              <a:t>BoundedTypeDemo.java</a:t>
            </a:r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38530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AC4DF5-819B-A24A-A3DF-337C85CB6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泛型方法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ABC7BC-2ADD-AA4B-84A6-B20714A20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400" dirty="0"/>
              <a:t>定义一个类为泛型类型，需要将泛型类型放在类名之后，例如，</a:t>
            </a:r>
            <a:r>
              <a:rPr kumimoji="1" lang="en-US" altLang="zh-CN" sz="2400" dirty="0" err="1"/>
              <a:t>GenericStack</a:t>
            </a:r>
            <a:r>
              <a:rPr kumimoji="1" lang="en-US" altLang="zh-CN" sz="2400" dirty="0"/>
              <a:t>&lt;E&gt;</a:t>
            </a:r>
            <a:r>
              <a:rPr kumimoji="1" lang="zh-CN" altLang="en-US" sz="2400" dirty="0"/>
              <a:t>。</a:t>
            </a:r>
            <a:endParaRPr kumimoji="1" lang="en-US" altLang="zh-CN" sz="2400" dirty="0"/>
          </a:p>
          <a:p>
            <a:r>
              <a:rPr kumimoji="1" lang="zh-CN" altLang="en-US" sz="2400" dirty="0"/>
              <a:t>定义一个方法为泛型类型，要将泛型类型放在方法返回类型之前，例如，</a:t>
            </a:r>
            <a:r>
              <a:rPr kumimoji="1" lang="en-US" altLang="zh-CN" sz="2400" dirty="0"/>
              <a:t>&lt;E&gt; void max(E o1, E o2)</a:t>
            </a:r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37700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7920F5-4D1D-A044-8D45-F336F0371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195486"/>
            <a:ext cx="8229600" cy="857250"/>
          </a:xfrm>
        </p:spPr>
        <p:txBody>
          <a:bodyPr/>
          <a:lstStyle/>
          <a:p>
            <a:r>
              <a:rPr kumimoji="1" lang="zh-CN" altLang="en-US" dirty="0"/>
              <a:t>例子：对一个对象数组进行排序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4CB3B9-CF4E-A34A-849D-E80CB8900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/>
              <a:t>GenericSortNew.java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64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D6AEC1-BB6D-CA4A-8CF3-CEAF7D3B5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195486"/>
            <a:ext cx="8229600" cy="857250"/>
          </a:xfrm>
        </p:spPr>
        <p:txBody>
          <a:bodyPr/>
          <a:lstStyle/>
          <a:p>
            <a:r>
              <a:rPr kumimoji="1" lang="zh-CN" altLang="en-US" dirty="0"/>
              <a:t>通配泛型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D8779E-A4A6-D342-A179-285D7695C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360" y="1275606"/>
            <a:ext cx="8435280" cy="4525433"/>
          </a:xfrm>
        </p:spPr>
        <p:txBody>
          <a:bodyPr/>
          <a:lstStyle/>
          <a:p>
            <a:r>
              <a:rPr kumimoji="1" lang="en-US" altLang="zh-CN" sz="2000" dirty="0"/>
              <a:t>Integer</a:t>
            </a:r>
            <a:r>
              <a:rPr kumimoji="1" lang="zh-CN" altLang="en-US" sz="2000" dirty="0"/>
              <a:t>是</a:t>
            </a:r>
            <a:r>
              <a:rPr kumimoji="1" lang="en-US" altLang="zh-CN" sz="2000" dirty="0"/>
              <a:t>Number</a:t>
            </a:r>
            <a:r>
              <a:rPr kumimoji="1" lang="zh-CN" altLang="en-US" sz="2000" dirty="0"/>
              <a:t>的子类型</a:t>
            </a:r>
            <a:endParaRPr kumimoji="1" lang="en-US" altLang="zh-CN" sz="2000" dirty="0"/>
          </a:p>
          <a:p>
            <a:r>
              <a:rPr kumimoji="1" lang="en-US" altLang="zh-CN" sz="2000" dirty="0" err="1"/>
              <a:t>GenericStack</a:t>
            </a:r>
            <a:r>
              <a:rPr kumimoji="1" lang="en-US" altLang="zh-CN" sz="2000" dirty="0"/>
              <a:t>&lt;Integer&gt; </a:t>
            </a:r>
            <a:r>
              <a:rPr kumimoji="1" lang="zh-CN" altLang="en-US" sz="2000" dirty="0"/>
              <a:t>不是</a:t>
            </a:r>
            <a:r>
              <a:rPr kumimoji="1" lang="en-US" altLang="zh-CN" sz="2000" dirty="0" err="1"/>
              <a:t>GenericStack</a:t>
            </a:r>
            <a:r>
              <a:rPr kumimoji="1" lang="en-US" altLang="zh-CN" sz="2000" dirty="0"/>
              <a:t>&lt;Number&gt;</a:t>
            </a:r>
          </a:p>
          <a:p>
            <a:r>
              <a:rPr kumimoji="1" lang="zh-CN" altLang="en-US" sz="2000" dirty="0"/>
              <a:t>如何解决？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？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？ </a:t>
            </a:r>
            <a:r>
              <a:rPr kumimoji="1" lang="en-US" altLang="zh-CN" sz="1800" dirty="0"/>
              <a:t>extends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T</a:t>
            </a:r>
          </a:p>
          <a:p>
            <a:pPr lvl="1"/>
            <a:r>
              <a:rPr kumimoji="1" lang="zh-CN" altLang="en-US" sz="1800" dirty="0"/>
              <a:t>？ </a:t>
            </a:r>
            <a:r>
              <a:rPr kumimoji="1" lang="en-US" altLang="zh-CN" sz="1800" dirty="0"/>
              <a:t>super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T</a:t>
            </a:r>
          </a:p>
          <a:p>
            <a:pPr lvl="1"/>
            <a:r>
              <a:rPr kumimoji="1" lang="en-US" altLang="zh-CN" sz="1800" dirty="0"/>
              <a:t>WildCardDemo1.java-3.java</a:t>
            </a:r>
          </a:p>
          <a:p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58877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802EDD-3AD3-FE4A-9931-28FE6B709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？通配符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DD2585-4967-1B45-BEAE-D52963837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Aft>
                <a:spcPts val="0"/>
              </a:spcAft>
            </a:pPr>
            <a:r>
              <a:rPr lang="en-US" altLang="zh-CN" sz="2400" kern="100" dirty="0" err="1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ArrayList</a:t>
            </a:r>
            <a:r>
              <a:rPr lang="en-US" altLang="zh-CN" sz="2400" kern="100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&lt;Number&gt;   </a:t>
            </a:r>
            <a:r>
              <a:rPr lang="en-US" altLang="zh-CN" sz="2400" kern="100" dirty="0" err="1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ArrayList</a:t>
            </a:r>
            <a:r>
              <a:rPr lang="en-US" altLang="zh-CN" sz="2400" kern="100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&lt;Integer&gt;</a:t>
            </a:r>
            <a:endParaRPr lang="zh-CN" altLang="zh-CN" sz="2400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400" kern="100" dirty="0" err="1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ArrayList</a:t>
            </a:r>
            <a:r>
              <a:rPr lang="en-US" altLang="zh-CN" sz="2400" kern="100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&lt;? extends Number&gt;</a:t>
            </a:r>
            <a:endParaRPr lang="zh-CN" altLang="zh-CN" sz="2400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400" kern="100" dirty="0" err="1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ArrayList</a:t>
            </a:r>
            <a:r>
              <a:rPr lang="en-US" altLang="zh-CN" sz="2400" kern="100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&lt;? super Integer&gt;</a:t>
            </a:r>
            <a:endParaRPr lang="zh-CN" altLang="zh-CN" sz="2400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400" kern="100" dirty="0" err="1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ArrayList</a:t>
            </a:r>
            <a:r>
              <a:rPr lang="en-US" altLang="zh-CN" sz="2400" kern="100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&lt;?&gt;</a:t>
            </a:r>
            <a:endParaRPr lang="zh-CN" altLang="zh-CN" sz="2400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15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645A5D-B01F-D54C-8F88-FEEBB3D7A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195486"/>
            <a:ext cx="8229600" cy="857250"/>
          </a:xfrm>
        </p:spPr>
        <p:txBody>
          <a:bodyPr/>
          <a:lstStyle/>
          <a:p>
            <a:r>
              <a:rPr kumimoji="1" lang="zh-CN" altLang="en-US" dirty="0"/>
              <a:t>消除泛型和对泛型的限制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3E5328-01F0-A045-B8EF-1A73FBAFC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31590"/>
            <a:ext cx="8229600" cy="4525433"/>
          </a:xfrm>
        </p:spPr>
        <p:txBody>
          <a:bodyPr/>
          <a:lstStyle/>
          <a:p>
            <a:r>
              <a:rPr kumimoji="1" lang="zh-CN" altLang="en-US" sz="2400" dirty="0"/>
              <a:t>编译器使用泛型类型信息来编译代码，随后会消除它，将它替换成运行时使用的等价代码</a:t>
            </a:r>
            <a:endParaRPr kumimoji="1" lang="en-US" altLang="zh-CN" sz="2400" dirty="0"/>
          </a:p>
          <a:p>
            <a:r>
              <a:rPr kumimoji="1" lang="zh-CN" altLang="en-US" sz="2400" dirty="0"/>
              <a:t>限制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不能</a:t>
            </a:r>
            <a:r>
              <a:rPr kumimoji="1" lang="en-US" altLang="zh-CN" sz="2000" dirty="0"/>
              <a:t>new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E()</a:t>
            </a:r>
          </a:p>
          <a:p>
            <a:pPr lvl="1"/>
            <a:r>
              <a:rPr kumimoji="1" lang="zh-CN" altLang="en-US" sz="2000" dirty="0"/>
              <a:t>不能使用</a:t>
            </a:r>
            <a:r>
              <a:rPr kumimoji="1" lang="en-US" altLang="zh-CN" sz="2000" dirty="0"/>
              <a:t>new E[]</a:t>
            </a:r>
          </a:p>
          <a:p>
            <a:pPr lvl="1"/>
            <a:r>
              <a:rPr kumimoji="1" lang="zh-CN" altLang="en-US" sz="2000" dirty="0"/>
              <a:t>在静态环境下不允许类的参数是泛型类型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异常类不能是泛型的</a:t>
            </a:r>
          </a:p>
        </p:txBody>
      </p:sp>
    </p:spTree>
    <p:extLst>
      <p:ext uri="{BB962C8B-B14F-4D97-AF65-F5344CB8AC3E}">
        <p14:creationId xmlns:p14="http://schemas.microsoft.com/office/powerpoint/2010/main" val="1361275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A35243-4CD3-8241-A4A8-23761B5D6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95486"/>
            <a:ext cx="8229600" cy="857250"/>
          </a:xfrm>
        </p:spPr>
        <p:txBody>
          <a:bodyPr/>
          <a:lstStyle/>
          <a:p>
            <a:r>
              <a:rPr kumimoji="1" lang="zh-CN" altLang="en-US" dirty="0"/>
              <a:t>实例学习： 泛型矩阵类（可选）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797B56-26CD-4843-8F8E-9C65DC5FA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800" dirty="0"/>
              <a:t>程序清单：</a:t>
            </a:r>
            <a:endParaRPr kumimoji="1" lang="en-US" altLang="zh-CN" sz="2800" dirty="0"/>
          </a:p>
          <a:p>
            <a:pPr marL="742931" lvl="1" indent="-342900">
              <a:buFont typeface="Wingdings" pitchFamily="2" charset="2"/>
              <a:buChar char="ü"/>
            </a:pPr>
            <a:r>
              <a:rPr kumimoji="1" lang="en-US" altLang="zh-CN" sz="2400" dirty="0" err="1"/>
              <a:t>GenericMatrix.java</a:t>
            </a:r>
            <a:endParaRPr kumimoji="1" lang="en-US" altLang="zh-CN" sz="2400" dirty="0"/>
          </a:p>
          <a:p>
            <a:pPr marL="742931" lvl="1" indent="-342900">
              <a:buFont typeface="Wingdings" pitchFamily="2" charset="2"/>
              <a:buChar char="ü"/>
            </a:pPr>
            <a:r>
              <a:rPr kumimoji="1" lang="en-US" altLang="zh-CN" sz="2400" dirty="0" err="1"/>
              <a:t>IntegerMatrix.java</a:t>
            </a:r>
            <a:endParaRPr kumimoji="1" lang="en-US" altLang="zh-CN" sz="2400" dirty="0"/>
          </a:p>
          <a:p>
            <a:pPr marL="742931" lvl="1" indent="-342900">
              <a:buFont typeface="Wingdings" pitchFamily="2" charset="2"/>
              <a:buChar char="ü"/>
            </a:pPr>
            <a:r>
              <a:rPr kumimoji="1" lang="en-US" altLang="zh-CN" sz="2400" dirty="0" err="1"/>
              <a:t>RationalMatrix.java</a:t>
            </a:r>
            <a:endParaRPr kumimoji="1"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80046877"/>
      </p:ext>
    </p:extLst>
  </p:cSld>
  <p:clrMapOvr>
    <a:masterClrMapping/>
  </p:clrMapOvr>
</p:sld>
</file>

<file path=ppt/theme/theme1.xml><?xml version="1.0" encoding="utf-8"?>
<a:theme xmlns:a="http://schemas.openxmlformats.org/drawingml/2006/main" name="16sucai_201411161035">
  <a:themeElements>
    <a:clrScheme name="自定义 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1BFA7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计算广告应用V2</Template>
  <TotalTime>2601</TotalTime>
  <Words>551</Words>
  <Application>Microsoft Macintosh PowerPoint</Application>
  <PresentationFormat>全屏显示(16:9)</PresentationFormat>
  <Paragraphs>70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DengXian</vt:lpstr>
      <vt:lpstr>微软雅黑</vt:lpstr>
      <vt:lpstr>Arial</vt:lpstr>
      <vt:lpstr>Calibri</vt:lpstr>
      <vt:lpstr>Wingdings</vt:lpstr>
      <vt:lpstr>16sucai_201411161035</vt:lpstr>
      <vt:lpstr>自定义设计方案</vt:lpstr>
      <vt:lpstr>PowerPoint 演示文稿</vt:lpstr>
      <vt:lpstr>泛型</vt:lpstr>
      <vt:lpstr>动机和优点</vt:lpstr>
      <vt:lpstr>泛型的要求</vt:lpstr>
      <vt:lpstr>定义泛型类和接口</vt:lpstr>
      <vt:lpstr>泛型方法</vt:lpstr>
      <vt:lpstr>泛型方法</vt:lpstr>
      <vt:lpstr>例子：对一个对象数组进行排序</vt:lpstr>
      <vt:lpstr>通配泛型</vt:lpstr>
      <vt:lpstr>？通配符</vt:lpstr>
      <vt:lpstr>消除泛型和对泛型的限制</vt:lpstr>
      <vt:lpstr>实例学习： 泛型矩阵类（可选）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Microsoft Office User</cp:lastModifiedBy>
  <cp:revision>72</cp:revision>
  <dcterms:created xsi:type="dcterms:W3CDTF">2016-04-19T01:35:35Z</dcterms:created>
  <dcterms:modified xsi:type="dcterms:W3CDTF">2026-03-23T08:37:48Z</dcterms:modified>
</cp:coreProperties>
</file>