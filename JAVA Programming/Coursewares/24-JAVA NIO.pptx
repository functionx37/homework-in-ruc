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8"/>
  </p:notesMasterIdLst>
  <p:sldIdLst>
    <p:sldId id="258" r:id="rId3"/>
    <p:sldId id="259" r:id="rId4"/>
    <p:sldId id="270" r:id="rId5"/>
    <p:sldId id="271" r:id="rId6"/>
    <p:sldId id="275" r:id="rId7"/>
    <p:sldId id="272" r:id="rId8"/>
    <p:sldId id="273" r:id="rId9"/>
    <p:sldId id="274" r:id="rId10"/>
    <p:sldId id="278" r:id="rId11"/>
    <p:sldId id="280" r:id="rId12"/>
    <p:sldId id="281" r:id="rId13"/>
    <p:sldId id="283" r:id="rId14"/>
    <p:sldId id="276" r:id="rId15"/>
    <p:sldId id="282" r:id="rId16"/>
    <p:sldId id="277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3236"/>
  </p:normalViewPr>
  <p:slideViewPr>
    <p:cSldViewPr>
      <p:cViewPr varScale="1">
        <p:scale>
          <a:sx n="92" d="100"/>
          <a:sy n="92" d="100"/>
        </p:scale>
        <p:origin x="16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18277-68DD-2649-9AF6-0FFD4BA638D5}" type="datetimeFigureOut">
              <a:rPr kumimoji="1" lang="zh-CN" altLang="en-US" smtClean="0"/>
              <a:t>2026/5/19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4AF6E-C25D-3C42-BA4A-6BDFC164CA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3832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4AF6E-C25D-3C42-BA4A-6BDFC164CA7B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6072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4AF6E-C25D-3C42-BA4A-6BDFC164CA7B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39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4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4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D0093-576E-467B-B962-99E1A744E17E}" type="datetimeFigureOut">
              <a:rPr lang="zh-CN" altLang="en-US"/>
              <a:pPr>
                <a:defRPr/>
              </a:pPr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A8581-4873-47CA-8339-DD7371799E8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6D08D-254E-4C16-9BDD-2CB403A3435F}" type="datetimeFigureOut">
              <a:rPr lang="zh-CN" altLang="en-US"/>
              <a:pPr>
                <a:defRPr/>
              </a:pPr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B5DAA-F314-4201-A885-F94350C78D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DD86F-CDAF-474B-9FB2-89F4E1DB95B0}" type="datetimeFigureOut">
              <a:rPr lang="zh-CN" altLang="en-US"/>
              <a:pPr>
                <a:defRPr/>
              </a:pPr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F9244-E492-4E7F-8014-C42AB6E22D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D1C718-00B4-4F2E-8B01-D394E45EC67A}" type="datetimeFigureOut">
              <a:rPr lang="zh-CN" altLang="en-US"/>
              <a:pPr>
                <a:defRPr/>
              </a:pPr>
              <a:t>2026/5/19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F9A6D-C430-4B93-AE78-0A62FBBD8F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3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C617E-A9B1-47F9-B9A9-87483FDAC8D3}" type="datetimeFigureOut">
              <a:rPr lang="zh-CN" altLang="en-US"/>
              <a:pPr>
                <a:defRPr/>
              </a:pPr>
              <a:t>2026/5/19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4F1EF-4E26-4C56-9B88-FD593D373B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389AD-0748-4B3C-8811-5DFFA51CED5D}" type="datetimeFigureOut">
              <a:rPr lang="zh-CN" altLang="en-US"/>
              <a:pPr>
                <a:defRPr/>
              </a:pPr>
              <a:t>2026/5/19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E0F20-CA7C-4D92-81FD-7E1D809D33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FD782-AFAB-420A-8FC3-E90FC8D60F6A}" type="datetimeFigureOut">
              <a:rPr lang="zh-CN" altLang="en-US"/>
              <a:pPr>
                <a:defRPr/>
              </a:pPr>
              <a:t>2026/5/19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A5DAD-FC26-4B98-B59F-38A407A6EB1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8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8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6FA3B-6958-4BA2-91DC-7BEE42D86237}" type="datetimeFigureOut">
              <a:rPr lang="zh-CN" altLang="en-US"/>
              <a:pPr>
                <a:defRPr/>
              </a:pPr>
              <a:t>2026/5/19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F4D7F-6987-4FBB-8861-DE5388AE82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42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6B6D4-31F7-491F-A416-E134F3D25755}" type="datetimeFigureOut">
              <a:rPr lang="zh-CN" altLang="en-US"/>
              <a:pPr>
                <a:defRPr/>
              </a:pPr>
              <a:t>2026/5/19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6BCD3-ACD3-4915-AAF5-E95C433680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82DBD-F4DA-4F3D-8375-2CC882E5C4BD}" type="datetimeFigureOut">
              <a:rPr lang="zh-CN" altLang="en-US"/>
              <a:pPr>
                <a:defRPr/>
              </a:pPr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46474-8646-4F3B-9765-6AA2597643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30C6ED-1572-4AFD-969C-EAD6761B29D4}" type="datetimeFigureOut">
              <a:rPr lang="zh-CN" altLang="en-US"/>
              <a:pPr>
                <a:defRPr/>
              </a:pPr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B6592-189B-4FEE-91FE-2D98CF2508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9144000" cy="14287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5167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9A9EEEDC-F40F-4A63-9580-80ADE972C86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5167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4"/>
            <a:ext cx="8229600" cy="452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644CF135-CD95-44F1-8454-15341B964199}" type="datetimeFigureOut">
              <a:rPr lang="zh-CN" altLang="en-US"/>
              <a:pPr>
                <a:defRPr/>
              </a:pPr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5B4EA391-E530-4487-AF14-F97E23C3A1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-28377" y="-233726"/>
            <a:ext cx="9144000" cy="4005063"/>
            <a:chOff x="0" y="0"/>
            <a:chExt cx="9144000" cy="4518000"/>
          </a:xfrm>
        </p:grpSpPr>
        <p:sp>
          <p:nvSpPr>
            <p:cNvPr id="14" name="矩形 13"/>
            <p:cNvSpPr/>
            <p:nvPr/>
          </p:nvSpPr>
          <p:spPr>
            <a:xfrm>
              <a:off x="0" y="0"/>
              <a:ext cx="9144000" cy="4355055"/>
            </a:xfrm>
            <a:prstGeom prst="rect">
              <a:avLst/>
            </a:prstGeom>
            <a:solidFill>
              <a:srgbClr val="31BFA7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  <p:sp>
          <p:nvSpPr>
            <p:cNvPr id="15" name="等腰三角形 14"/>
            <p:cNvSpPr/>
            <p:nvPr/>
          </p:nvSpPr>
          <p:spPr>
            <a:xfrm flipV="1">
              <a:off x="4068763" y="4355055"/>
              <a:ext cx="1006475" cy="162945"/>
            </a:xfrm>
            <a:prstGeom prst="triangle">
              <a:avLst/>
            </a:prstGeom>
            <a:solidFill>
              <a:srgbClr val="31BFA7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70200" y="6225117"/>
            <a:ext cx="9003600" cy="0"/>
          </a:xfrm>
          <a:prstGeom prst="line">
            <a:avLst/>
          </a:prstGeom>
          <a:noFill/>
          <a:ln w="22225" cap="flat" cmpd="sng" algn="ctr">
            <a:gradFill>
              <a:gsLst>
                <a:gs pos="0">
                  <a:sysClr val="window" lastClr="FFFFFF">
                    <a:alpha val="0"/>
                  </a:sysClr>
                </a:gs>
                <a:gs pos="33000">
                  <a:srgbClr val="31BFA7"/>
                </a:gs>
                <a:gs pos="67000">
                  <a:srgbClr val="31BFA7"/>
                </a:gs>
                <a:gs pos="100000">
                  <a:sysClr val="window" lastClr="FFFFFF">
                    <a:alpha val="0"/>
                  </a:sysClr>
                </a:gs>
              </a:gsLst>
              <a:lin ang="10800000" scaled="0"/>
            </a:gradFill>
            <a:prstDash val="solid"/>
          </a:ln>
          <a:effectLst/>
        </p:spPr>
      </p:cxnSp>
      <p:sp>
        <p:nvSpPr>
          <p:cNvPr id="17" name="文本框 7"/>
          <p:cNvSpPr txBox="1">
            <a:spLocks noChangeArrowheads="1"/>
          </p:cNvSpPr>
          <p:nvPr/>
        </p:nvSpPr>
        <p:spPr bwMode="auto">
          <a:xfrm>
            <a:off x="482798" y="1844824"/>
            <a:ext cx="8121650" cy="6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auto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sz="4400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400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NIO</a:t>
            </a:r>
            <a:endParaRPr lang="zh-CN" altLang="en-US" sz="4400" b="1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>
          <a:xfrm>
            <a:off x="1371600" y="4005064"/>
            <a:ext cx="6400800" cy="1752600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中国人民大学信息学院   孙彩虹</a:t>
            </a:r>
            <a:endParaRPr lang="en-US" altLang="zh-CN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BF2A11-51F5-2A41-B7F2-B9E50EE23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AFA2368-6D20-B74D-BFB9-C3DD5AE7D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932C246-C62C-8B46-AA0A-73DD50737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C5B029D-463E-2A4C-A75F-539EEBA88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16222-BFBD-3A4D-8A87-0C6C6C454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NIO</a:t>
            </a:r>
            <a:r>
              <a:rPr kumimoji="1" lang="zh-CN" altLang="en-US" dirty="0"/>
              <a:t>与</a:t>
            </a:r>
            <a:r>
              <a:rPr kumimoji="1" lang="en-US" altLang="zh-CN" dirty="0"/>
              <a:t>IO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90B880-54AB-154C-BF12-B99D41FD5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高效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NIO</a:t>
            </a:r>
            <a:r>
              <a:rPr kumimoji="1" lang="zh-CN" altLang="en-US" dirty="0"/>
              <a:t>缓冲区和面向通道的数据流用于</a:t>
            </a:r>
            <a:r>
              <a:rPr kumimoji="1" lang="en-US" altLang="zh-CN" dirty="0"/>
              <a:t>I / O</a:t>
            </a:r>
            <a:r>
              <a:rPr kumimoji="1" lang="zh-CN" altLang="en-US" dirty="0"/>
              <a:t>操作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NIO</a:t>
            </a:r>
            <a:r>
              <a:rPr kumimoji="1" lang="zh-CN" altLang="en-US" dirty="0"/>
              <a:t>使用操作系统执行传统的</a:t>
            </a:r>
            <a:r>
              <a:rPr kumimoji="1" lang="en-US" altLang="zh-CN" dirty="0"/>
              <a:t>I / O</a:t>
            </a:r>
            <a:r>
              <a:rPr kumimoji="1" lang="zh-CN" altLang="en-US" dirty="0"/>
              <a:t>任务</a:t>
            </a:r>
          </a:p>
          <a:p>
            <a:pPr lvl="1"/>
            <a:r>
              <a:rPr kumimoji="1" lang="en-US" altLang="zh-CN" dirty="0"/>
              <a:t>IO</a:t>
            </a:r>
            <a:r>
              <a:rPr kumimoji="1" lang="zh-CN" altLang="en-US" dirty="0"/>
              <a:t>使用流线数据流，即一次处理一个字节，并依赖于将数据对象转换为字节，反之亦然。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NIO</a:t>
            </a:r>
            <a:r>
              <a:rPr kumimoji="1" lang="zh-CN" altLang="en-US" dirty="0"/>
              <a:t>处理数据块是字节块。</a:t>
            </a:r>
          </a:p>
          <a:p>
            <a:pPr marL="0" indent="0">
              <a:buNone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04550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FDD68-0D94-9E43-9533-52B4E95E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NIO</a:t>
            </a:r>
            <a:r>
              <a:rPr kumimoji="1" lang="zh-CN" altLang="en-US" dirty="0"/>
              <a:t>与</a:t>
            </a:r>
            <a:r>
              <a:rPr kumimoji="1" lang="en-US" altLang="zh-CN" dirty="0"/>
              <a:t>IO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CB68D8-7D72-694F-9505-62ED6EA2B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/>
              <a:t>在</a:t>
            </a:r>
            <a:r>
              <a:rPr kumimoji="1" lang="en-US" altLang="zh-CN" sz="2400" dirty="0"/>
              <a:t>java IO</a:t>
            </a:r>
            <a:r>
              <a:rPr kumimoji="1" lang="zh-CN" altLang="en-US" sz="2400" dirty="0"/>
              <a:t>中，流对象是单向的，而在</a:t>
            </a:r>
            <a:r>
              <a:rPr kumimoji="1" lang="en-US" altLang="zh-CN" sz="2400" dirty="0"/>
              <a:t>NIO</a:t>
            </a:r>
            <a:r>
              <a:rPr kumimoji="1" lang="zh-CN" altLang="en-US" sz="2400" dirty="0"/>
              <a:t>中，通道是双向的，这意味着通道可用于读取和写入数据。</a:t>
            </a:r>
          </a:p>
          <a:p>
            <a:r>
              <a:rPr kumimoji="1" lang="en-US" altLang="zh-CN" sz="2400" dirty="0"/>
              <a:t>IO </a:t>
            </a:r>
            <a:r>
              <a:rPr kumimoji="1" lang="zh-CN" altLang="en-US" sz="2400" dirty="0"/>
              <a:t>中的简化数据流不允许在数据中来回移动。如果情况需要在从流中读取的数据中来回移动，则需要先将其缓存在缓冲区中。在</a:t>
            </a:r>
            <a:r>
              <a:rPr kumimoji="1" lang="en-US" altLang="zh-CN" sz="2400" dirty="0"/>
              <a:t>NIO</a:t>
            </a:r>
            <a:r>
              <a:rPr kumimoji="1" lang="zh-CN" altLang="en-US" sz="2400" dirty="0"/>
              <a:t>的情况下，它允许在不需要缓存的情况下来回访问数据。</a:t>
            </a:r>
          </a:p>
          <a:p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34817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C348E-CA4A-0E4E-A8D6-1B8CF1837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NIO</a:t>
            </a:r>
            <a:r>
              <a:rPr kumimoji="1" lang="zh-CN" altLang="en-US" dirty="0"/>
              <a:t>与</a:t>
            </a:r>
            <a:r>
              <a:rPr kumimoji="1" lang="en-US" altLang="zh-CN" dirty="0"/>
              <a:t>IO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188B06-2AB7-BB42-BE41-C46B9B28E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712" y="1772816"/>
            <a:ext cx="8229600" cy="4525433"/>
          </a:xfrm>
        </p:spPr>
        <p:txBody>
          <a:bodyPr/>
          <a:lstStyle/>
          <a:p>
            <a:r>
              <a:rPr kumimoji="1" lang="en-US" altLang="zh-CN" sz="2000" dirty="0"/>
              <a:t>NIO API</a:t>
            </a:r>
            <a:r>
              <a:rPr kumimoji="1" lang="zh-CN" altLang="en-US" sz="2000" dirty="0"/>
              <a:t>还支持多线程，以便可以异步读取和写入数据，例如在执行</a:t>
            </a:r>
            <a:r>
              <a:rPr kumimoji="1" lang="en-US" altLang="zh-CN" sz="2000" dirty="0"/>
              <a:t>IO</a:t>
            </a:r>
            <a:r>
              <a:rPr kumimoji="1" lang="zh-CN" altLang="en-US" sz="2000" dirty="0"/>
              <a:t>操作时不会阻塞当前线程的方式。这再次使它比传统的</a:t>
            </a:r>
            <a:r>
              <a:rPr kumimoji="1" lang="en-US" altLang="zh-CN" sz="2000" dirty="0"/>
              <a:t>Java IO API</a:t>
            </a:r>
            <a:r>
              <a:rPr kumimoji="1" lang="zh-CN" altLang="en-US" sz="2000" dirty="0"/>
              <a:t>更有效。</a:t>
            </a:r>
          </a:p>
          <a:p>
            <a:r>
              <a:rPr kumimoji="1" lang="en-US" altLang="zh-CN" sz="2000" dirty="0"/>
              <a:t>NIO</a:t>
            </a:r>
            <a:r>
              <a:rPr kumimoji="1" lang="zh-CN" altLang="en-US" sz="2000" dirty="0"/>
              <a:t>中的多线程使它成为非阻塞，这意味着仅当数据可用时才请求线程读取或写入，否则线程可以在平均时间内用于其他任务。但是在传统的</a:t>
            </a:r>
            <a:r>
              <a:rPr kumimoji="1" lang="en-US" altLang="zh-CN" sz="2000" dirty="0"/>
              <a:t>java IO</a:t>
            </a:r>
            <a:r>
              <a:rPr kumimoji="1" lang="zh-CN" altLang="en-US" sz="2000" dirty="0"/>
              <a:t>的情况下，这是不可能的，因为它不支持多线程，这使得它成为阻塞。</a:t>
            </a:r>
          </a:p>
          <a:p>
            <a:r>
              <a:rPr kumimoji="1" lang="en-US" altLang="zh-CN" sz="2000" dirty="0"/>
              <a:t>NIO</a:t>
            </a:r>
            <a:r>
              <a:rPr kumimoji="1" lang="zh-CN" altLang="en-US" sz="2000" dirty="0"/>
              <a:t>允许仅使用单个线程管理多个通道，但代价是解析数据可能比在</a:t>
            </a:r>
            <a:r>
              <a:rPr kumimoji="1" lang="en-US" altLang="zh-CN" sz="2000" dirty="0"/>
              <a:t>java IO</a:t>
            </a:r>
            <a:r>
              <a:rPr kumimoji="1" lang="zh-CN" altLang="en-US" sz="2000" dirty="0"/>
              <a:t>的情况下从阻塞流读取数据要复杂一些</a:t>
            </a:r>
          </a:p>
        </p:txBody>
      </p:sp>
    </p:spTree>
    <p:extLst>
      <p:ext uri="{BB962C8B-B14F-4D97-AF65-F5344CB8AC3E}">
        <p14:creationId xmlns:p14="http://schemas.microsoft.com/office/powerpoint/2010/main" val="4273542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3F76D9-B8DC-C445-9830-236ADF10E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NIO</a:t>
            </a:r>
            <a:r>
              <a:rPr kumimoji="1" lang="zh-CN" altLang="en-US" dirty="0"/>
              <a:t>的四个核心组件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B052A1-9BD5-BA49-99BD-BCED093D2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缓冲区</a:t>
            </a:r>
            <a:endParaRPr kumimoji="1" lang="en-US" altLang="zh-CN" dirty="0"/>
          </a:p>
          <a:p>
            <a:r>
              <a:rPr kumimoji="1" lang="zh-CN" altLang="en-US" dirty="0"/>
              <a:t>通道</a:t>
            </a:r>
            <a:endParaRPr kumimoji="1" lang="en-US" altLang="zh-CN" dirty="0"/>
          </a:p>
          <a:p>
            <a:r>
              <a:rPr kumimoji="1" lang="zh-CN" altLang="en-US" dirty="0"/>
              <a:t>选择器</a:t>
            </a:r>
            <a:endParaRPr kumimoji="1" lang="en-US" altLang="zh-CN" dirty="0"/>
          </a:p>
          <a:p>
            <a:r>
              <a:rPr kumimoji="1" lang="zh-CN" altLang="en-US" dirty="0"/>
              <a:t>字符集</a:t>
            </a:r>
          </a:p>
        </p:txBody>
      </p:sp>
    </p:spTree>
    <p:extLst>
      <p:ext uri="{BB962C8B-B14F-4D97-AF65-F5344CB8AC3E}">
        <p14:creationId xmlns:p14="http://schemas.microsoft.com/office/powerpoint/2010/main" val="1287788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40506F-DAC6-6449-A67F-6CD254943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EF7E3F-694E-9D48-ADEA-B6189F01F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2688"/>
            <a:ext cx="9144000" cy="449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9033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005A4-6C50-6040-94E7-36A135E8B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889135E-89D5-A440-B700-91AE4661A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00100"/>
            <a:ext cx="91440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682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D1FC44D-F879-6549-85AD-3E95818C5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559" y="-388"/>
            <a:ext cx="9144000" cy="438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0F19BB5-D05B-EC42-8ED3-DDFA39DED564}"/>
              </a:ext>
            </a:extLst>
          </p:cNvPr>
          <p:cNvSpPr txBox="1"/>
          <p:nvPr/>
        </p:nvSpPr>
        <p:spPr>
          <a:xfrm>
            <a:off x="323527" y="4149080"/>
            <a:ext cx="87849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altLang="zh-CN" b="0" i="0" dirty="0" err="1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FileChannel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类：本地文件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IO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通道，用于读取、写入、映射和操作文件的通道。</a:t>
            </a:r>
          </a:p>
          <a:p>
            <a:pPr algn="l">
              <a:buFont typeface="+mj-lt"/>
              <a:buAutoNum type="arabicPeriod"/>
            </a:pPr>
            <a:r>
              <a:rPr lang="en-US" altLang="zh-CN" b="0" i="0" dirty="0" err="1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SocketChannel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类：网络套接字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IO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通道，</a:t>
            </a:r>
            <a:r>
              <a:rPr lang="en-US" altLang="zh-CN" b="0" i="0" dirty="0">
                <a:solidFill>
                  <a:srgbClr val="0052D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TCP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协议，针对面向流的连接套接字的可选择通道（一般用在客户端）。</a:t>
            </a:r>
          </a:p>
          <a:p>
            <a:pPr algn="l">
              <a:buFont typeface="+mj-lt"/>
              <a:buAutoNum type="arabicPeriod"/>
            </a:pPr>
            <a:r>
              <a:rPr lang="en-US" altLang="zh-CN" b="0" i="0" dirty="0" err="1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ServerSocketChannel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类：网络通信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IO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操作，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TCP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协议，针对面向流的监听套接字的可选择通道（一般用于服务端）。</a:t>
            </a:r>
          </a:p>
          <a:p>
            <a:pPr algn="l">
              <a:buFont typeface="+mj-lt"/>
              <a:buAutoNum type="arabicPeriod"/>
            </a:pPr>
            <a:r>
              <a:rPr lang="en-US" altLang="zh-CN" b="0" i="0" dirty="0" err="1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DatagramChannel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类：针对面向数据报套接字的可选择通道，能够发送和接受</a:t>
            </a:r>
            <a:r>
              <a:rPr lang="en-US" altLang="zh-CN" b="0" i="0" dirty="0">
                <a:solidFill>
                  <a:srgbClr val="0052D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UDP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数据包的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Channel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UDP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协议，由于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UDP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是一种无连接的网络协议，只能发送和接受数据包。</a:t>
            </a:r>
          </a:p>
        </p:txBody>
      </p:sp>
    </p:spTree>
    <p:extLst>
      <p:ext uri="{BB962C8B-B14F-4D97-AF65-F5344CB8AC3E}">
        <p14:creationId xmlns:p14="http://schemas.microsoft.com/office/powerpoint/2010/main" val="3285741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14561-73C7-CC40-91AB-C15CE471A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ServerSocketChannel</a:t>
            </a:r>
            <a:r>
              <a:rPr kumimoji="1" lang="zh-CN" altLang="en-US" dirty="0"/>
              <a:t>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8A97E9-867D-3F49-BFCE-2E97D3667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000" dirty="0"/>
              <a:t>用来在 非阻塞模式下监听 </a:t>
            </a:r>
            <a:r>
              <a:rPr kumimoji="1" lang="en-US" altLang="zh-CN" sz="2000" dirty="0"/>
              <a:t>TCP </a:t>
            </a:r>
            <a:r>
              <a:rPr kumimoji="1" lang="zh-CN" altLang="en-US" sz="2000" dirty="0"/>
              <a:t>连接，通常配合 </a:t>
            </a:r>
            <a:r>
              <a:rPr kumimoji="1" lang="en-US" altLang="zh-CN" sz="2000" dirty="0"/>
              <a:t>Selector​ </a:t>
            </a:r>
            <a:r>
              <a:rPr kumimoji="1" lang="zh-CN" altLang="en-US" sz="2000" dirty="0"/>
              <a:t>实现高性能网络服务器。</a:t>
            </a:r>
            <a:endParaRPr kumimoji="1" lang="en-US" altLang="zh-CN" sz="2000" dirty="0"/>
          </a:p>
          <a:p>
            <a:r>
              <a:rPr kumimoji="1" lang="zh-CN" altLang="en-US" sz="2000" dirty="0"/>
              <a:t>主要方法</a:t>
            </a:r>
            <a:endParaRPr kumimoji="1" lang="en-US" altLang="zh-CN" sz="2000" dirty="0"/>
          </a:p>
          <a:p>
            <a:pPr lvl="1"/>
            <a:r>
              <a:rPr kumimoji="1" lang="en-US" altLang="zh-CN" sz="1600" dirty="0"/>
              <a:t>open():</a:t>
            </a:r>
            <a:r>
              <a:rPr kumimoji="1" lang="zh-CN" altLang="en-US" sz="1600" dirty="0"/>
              <a:t>打开通道</a:t>
            </a:r>
          </a:p>
          <a:p>
            <a:pPr lvl="1"/>
            <a:r>
              <a:rPr kumimoji="1" lang="en-US" altLang="zh-CN" sz="1600" dirty="0"/>
              <a:t>bind(</a:t>
            </a:r>
            <a:r>
              <a:rPr kumimoji="1" lang="en-US" altLang="zh-CN" sz="1600" dirty="0" err="1"/>
              <a:t>SocketAddress</a:t>
            </a:r>
            <a:r>
              <a:rPr kumimoji="1" lang="en-US" altLang="zh-CN" sz="1600" dirty="0"/>
              <a:t>):</a:t>
            </a:r>
            <a:r>
              <a:rPr kumimoji="1" lang="zh-CN" altLang="en-US" sz="1600" dirty="0"/>
              <a:t>绑定端口</a:t>
            </a:r>
          </a:p>
          <a:p>
            <a:pPr lvl="1"/>
            <a:r>
              <a:rPr kumimoji="1" lang="en-US" altLang="zh-CN" sz="1600" dirty="0" err="1"/>
              <a:t>configureBlocking</a:t>
            </a:r>
            <a:r>
              <a:rPr kumimoji="1" lang="en-US" altLang="zh-CN" sz="1600" dirty="0"/>
              <a:t>(false):</a:t>
            </a:r>
            <a:r>
              <a:rPr kumimoji="1" lang="zh-CN" altLang="en-US" sz="1600" dirty="0"/>
              <a:t>设为非阻塞</a:t>
            </a:r>
          </a:p>
          <a:p>
            <a:pPr lvl="1"/>
            <a:r>
              <a:rPr kumimoji="1" lang="en-US" altLang="zh-CN" sz="1600" dirty="0"/>
              <a:t>accept():</a:t>
            </a:r>
            <a:r>
              <a:rPr kumimoji="1" lang="zh-CN" altLang="en-US" sz="1600" dirty="0"/>
              <a:t>接收连接</a:t>
            </a:r>
          </a:p>
          <a:p>
            <a:pPr lvl="1"/>
            <a:r>
              <a:rPr kumimoji="1" lang="en-US" altLang="zh-CN" sz="1600" dirty="0"/>
              <a:t>socket():</a:t>
            </a:r>
            <a:r>
              <a:rPr kumimoji="1" lang="zh-CN" altLang="en-US" sz="1600" dirty="0"/>
              <a:t>获取底层 </a:t>
            </a:r>
            <a:r>
              <a:rPr kumimoji="1" lang="en-US" altLang="zh-CN" sz="1600" dirty="0" err="1"/>
              <a:t>ServerSocket</a:t>
            </a:r>
            <a:endParaRPr kumimoji="1" lang="en-US" altLang="zh-CN" sz="1600" dirty="0"/>
          </a:p>
          <a:p>
            <a:pPr lvl="1"/>
            <a:r>
              <a:rPr kumimoji="1" lang="en-US" altLang="zh-CN" sz="1600" dirty="0"/>
              <a:t>register(selector, ops):</a:t>
            </a:r>
            <a:r>
              <a:rPr kumimoji="1" lang="zh-CN" altLang="en-US" sz="1600" dirty="0"/>
              <a:t>注册监听事件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4374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14561-73C7-CC40-91AB-C15CE471A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SocketChannel</a:t>
            </a:r>
            <a:r>
              <a:rPr kumimoji="1" lang="zh-CN" altLang="en-US" dirty="0"/>
              <a:t>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8A97E9-867D-3F49-BFCE-2E97D3667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Java NIO​ </a:t>
            </a:r>
            <a:r>
              <a:rPr kumimoji="1" lang="zh-CN" altLang="en-US" sz="2000" dirty="0"/>
              <a:t>中用于 </a:t>
            </a:r>
            <a:r>
              <a:rPr kumimoji="1" lang="en-US" altLang="zh-CN" sz="2000" dirty="0"/>
              <a:t>TCP </a:t>
            </a:r>
            <a:r>
              <a:rPr kumimoji="1" lang="zh-CN" altLang="en-US" sz="2000" dirty="0"/>
              <a:t>网络通信​ 的核心类，负责数据的读写。它通常与 </a:t>
            </a:r>
            <a:r>
              <a:rPr kumimoji="1" lang="en-US" altLang="zh-CN" sz="2000" dirty="0" err="1"/>
              <a:t>ServerSocketChannel</a:t>
            </a:r>
            <a:r>
              <a:rPr kumimoji="1" lang="zh-CN" altLang="en-US" sz="2000" dirty="0"/>
              <a:t>搭配使用，是实现高性能网络应用的基础。主要方法</a:t>
            </a:r>
            <a:endParaRPr kumimoji="1" lang="en-US" altLang="zh-CN" sz="2000" dirty="0"/>
          </a:p>
          <a:p>
            <a:pPr lvl="1"/>
            <a:r>
              <a:rPr kumimoji="1" lang="en-US" altLang="zh-CN" sz="1600" dirty="0"/>
              <a:t>open()</a:t>
            </a:r>
            <a:r>
              <a:rPr kumimoji="1" lang="zh-CN" altLang="en-US" sz="1600" dirty="0"/>
              <a:t>：打开通道</a:t>
            </a:r>
          </a:p>
          <a:p>
            <a:pPr lvl="1"/>
            <a:r>
              <a:rPr kumimoji="1" lang="en-US" altLang="zh-CN" sz="1600" dirty="0"/>
              <a:t>connect()</a:t>
            </a:r>
            <a:r>
              <a:rPr kumimoji="1" lang="zh-CN" altLang="en-US" sz="1600" dirty="0"/>
              <a:t>：发起连接</a:t>
            </a:r>
          </a:p>
          <a:p>
            <a:pPr lvl="1"/>
            <a:r>
              <a:rPr kumimoji="1" lang="en-US" altLang="zh-CN" sz="1600" dirty="0" err="1"/>
              <a:t>finishConnect</a:t>
            </a:r>
            <a:r>
              <a:rPr kumimoji="1" lang="en-US" altLang="zh-CN" sz="1600" dirty="0"/>
              <a:t>()</a:t>
            </a:r>
            <a:r>
              <a:rPr kumimoji="1" lang="zh-CN" altLang="en-US" sz="1600" dirty="0"/>
              <a:t>：完成非阻塞连接</a:t>
            </a:r>
          </a:p>
          <a:p>
            <a:pPr lvl="1"/>
            <a:r>
              <a:rPr kumimoji="1" lang="en-US" altLang="zh-CN" sz="1600" dirty="0"/>
              <a:t>read(</a:t>
            </a:r>
            <a:r>
              <a:rPr kumimoji="1" lang="en-US" altLang="zh-CN" sz="1600" dirty="0" err="1"/>
              <a:t>ByteBuffer</a:t>
            </a:r>
            <a:r>
              <a:rPr kumimoji="1" lang="en-US" altLang="zh-CN" sz="1600" dirty="0"/>
              <a:t>)</a:t>
            </a:r>
            <a:r>
              <a:rPr kumimoji="1" lang="zh-CN" altLang="en-US" sz="1600" dirty="0"/>
              <a:t>：读取数据</a:t>
            </a:r>
          </a:p>
          <a:p>
            <a:pPr lvl="1"/>
            <a:r>
              <a:rPr kumimoji="1" lang="en-US" altLang="zh-CN" sz="1600" dirty="0"/>
              <a:t>write(</a:t>
            </a:r>
            <a:r>
              <a:rPr kumimoji="1" lang="en-US" altLang="zh-CN" sz="1600" dirty="0" err="1"/>
              <a:t>ByteBuffer</a:t>
            </a:r>
            <a:r>
              <a:rPr kumimoji="1" lang="en-US" altLang="zh-CN" sz="1600" dirty="0"/>
              <a:t>)</a:t>
            </a:r>
            <a:r>
              <a:rPr kumimoji="1" lang="zh-CN" altLang="en-US" sz="1600" dirty="0"/>
              <a:t>：写入数据</a:t>
            </a:r>
          </a:p>
          <a:p>
            <a:pPr lvl="1"/>
            <a:r>
              <a:rPr kumimoji="1" lang="en-US" altLang="zh-CN" sz="1600" dirty="0" err="1"/>
              <a:t>configureBlocking</a:t>
            </a:r>
            <a:r>
              <a:rPr kumimoji="1" lang="en-US" altLang="zh-CN" sz="1600" dirty="0"/>
              <a:t>(false)</a:t>
            </a:r>
            <a:r>
              <a:rPr kumimoji="1" lang="zh-CN" altLang="en-US" sz="1600" dirty="0"/>
              <a:t>：设置非阻塞</a:t>
            </a:r>
          </a:p>
          <a:p>
            <a:pPr lvl="1"/>
            <a:r>
              <a:rPr kumimoji="1" lang="en-US" altLang="zh-CN" sz="1600" dirty="0"/>
              <a:t>close()</a:t>
            </a:r>
            <a:r>
              <a:rPr kumimoji="1" lang="zh-CN" altLang="en-US" sz="1600" dirty="0"/>
              <a:t>：关闭连接</a:t>
            </a:r>
          </a:p>
          <a:p>
            <a:pPr lvl="1"/>
            <a:r>
              <a:rPr kumimoji="1" lang="en-US" altLang="zh-CN" sz="1600" dirty="0" err="1"/>
              <a:t>isConnected</a:t>
            </a:r>
            <a:r>
              <a:rPr kumimoji="1" lang="en-US" altLang="zh-CN" sz="1600" dirty="0"/>
              <a:t>()</a:t>
            </a:r>
            <a:r>
              <a:rPr kumimoji="1" lang="zh-CN" altLang="en-US" sz="1600" dirty="0"/>
              <a:t>：是否已连接</a:t>
            </a:r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963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A924CF-6328-D84D-AB15-EB94B2A52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主要应用场景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E2C345-04D6-134F-88AE-CA9E8509F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2"/>
            <a:ext cx="8507288" cy="4525433"/>
          </a:xfrm>
        </p:spPr>
        <p:txBody>
          <a:bodyPr/>
          <a:lstStyle/>
          <a:p>
            <a:r>
              <a:rPr kumimoji="1" lang="zh-CN" altLang="en-US" dirty="0"/>
              <a:t>高并发 </a:t>
            </a:r>
            <a:r>
              <a:rPr kumimoji="1" lang="en-US" altLang="zh-CN" dirty="0"/>
              <a:t>TCP </a:t>
            </a:r>
            <a:r>
              <a:rPr kumimoji="1" lang="zh-CN" altLang="en-US" dirty="0"/>
              <a:t>服务</a:t>
            </a:r>
          </a:p>
          <a:p>
            <a:r>
              <a:rPr kumimoji="1" lang="zh-CN" altLang="en-US" dirty="0"/>
              <a:t> 即时通信</a:t>
            </a:r>
          </a:p>
          <a:p>
            <a:r>
              <a:rPr kumimoji="1" lang="zh-CN" altLang="en-US" dirty="0"/>
              <a:t> </a:t>
            </a:r>
            <a:r>
              <a:rPr kumimoji="1" lang="en-US" altLang="zh-CN" dirty="0"/>
              <a:t>RPC / </a:t>
            </a:r>
            <a:r>
              <a:rPr kumimoji="1" lang="zh-CN" altLang="en-US" dirty="0"/>
              <a:t>微服务</a:t>
            </a:r>
          </a:p>
          <a:p>
            <a:r>
              <a:rPr kumimoji="1" lang="zh-CN" altLang="en-US" dirty="0"/>
              <a:t> 自定义协议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NO</a:t>
            </a:r>
            <a:r>
              <a:rPr kumimoji="1" lang="zh-CN" altLang="en-US" dirty="0"/>
              <a:t>： 简单 </a:t>
            </a:r>
            <a:r>
              <a:rPr kumimoji="1" lang="en-US" altLang="zh-CN" dirty="0"/>
              <a:t>HTTP </a:t>
            </a:r>
            <a:r>
              <a:rPr kumimoji="1" lang="zh-CN" altLang="en-US" dirty="0"/>
              <a:t>请求（直接用 </a:t>
            </a:r>
            <a:r>
              <a:rPr kumimoji="1" lang="en-US" altLang="zh-CN" dirty="0" err="1"/>
              <a:t>HttpClient</a:t>
            </a:r>
            <a:r>
              <a:rPr kumimoji="1"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618597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48420-4860-A74B-A1B4-04B5E279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FileChannel</a:t>
            </a:r>
            <a:r>
              <a:rPr kumimoji="1" lang="zh-CN" altLang="en-US" dirty="0"/>
              <a:t>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CDE167-D29E-BD4F-89D5-FD4FC53B3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2"/>
            <a:ext cx="8579296" cy="4525433"/>
          </a:xfrm>
        </p:spPr>
        <p:txBody>
          <a:bodyPr/>
          <a:lstStyle/>
          <a:p>
            <a:r>
              <a:rPr lang="zh-CN" altLang="en-US" sz="28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是</a:t>
            </a:r>
            <a:r>
              <a:rPr lang="en-US" altLang="zh-CN" sz="2800" b="0" i="0" dirty="0" err="1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FileInputStream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/</a:t>
            </a:r>
            <a:r>
              <a:rPr lang="en-US" altLang="zh-CN" sz="2800" b="0" i="0" dirty="0" err="1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FileOutputStream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的升级版</a:t>
            </a:r>
            <a:endParaRPr lang="en-US" altLang="zh-CN" sz="2800" b="0" i="0" dirty="0">
              <a:solidFill>
                <a:srgbClr val="333333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marL="0" indent="0">
              <a:buNone/>
            </a:pPr>
            <a:endParaRPr kumimoji="1" lang="en-US" altLang="zh-CN" sz="2400" dirty="0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marL="0" indent="0">
              <a:buNone/>
            </a:pPr>
            <a:r>
              <a:rPr kumimoji="1" lang="en-US" altLang="zh-CN" sz="2400" dirty="0" err="1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RandomAccessFile</a:t>
            </a:r>
            <a:r>
              <a:rPr kumimoji="1" lang="en-US" altLang="zh-CN" sz="24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file = new </a:t>
            </a:r>
            <a:r>
              <a:rPr kumimoji="1" lang="en-US" altLang="zh-CN" sz="2400" dirty="0" err="1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RandomAccessFile</a:t>
            </a:r>
            <a:r>
              <a:rPr kumimoji="1" lang="en-US" altLang="zh-CN" sz="24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("</a:t>
            </a:r>
            <a:r>
              <a:rPr kumimoji="1" lang="en-US" altLang="zh-CN" sz="2400" dirty="0" err="1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a.txt</a:t>
            </a:r>
            <a:r>
              <a:rPr kumimoji="1" lang="en-US" altLang="zh-CN" sz="24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", "</a:t>
            </a:r>
            <a:r>
              <a:rPr kumimoji="1" lang="en-US" altLang="zh-CN" sz="2400" dirty="0" err="1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rw</a:t>
            </a:r>
            <a:r>
              <a:rPr kumimoji="1" lang="en-US" altLang="zh-CN" sz="24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");</a:t>
            </a:r>
          </a:p>
          <a:p>
            <a:pPr marL="0" indent="0">
              <a:buNone/>
            </a:pPr>
            <a:r>
              <a:rPr kumimoji="1" lang="en-US" altLang="zh-CN" sz="2400" dirty="0" err="1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FileChannel</a:t>
            </a:r>
            <a:r>
              <a:rPr kumimoji="1" lang="en-US" altLang="zh-CN" sz="24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channel = </a:t>
            </a:r>
            <a:r>
              <a:rPr kumimoji="1" lang="en-US" altLang="zh-CN" sz="2400" dirty="0" err="1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file.getChannel</a:t>
            </a:r>
            <a:r>
              <a:rPr kumimoji="1" lang="en-US" altLang="zh-CN" sz="24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();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23607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5FC7ECDC-0BCC-4440-B987-3E580B433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343" y="-387424"/>
            <a:ext cx="9144000" cy="462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3795E3F-8000-3140-A82E-E3E8988BD4E3}"/>
              </a:ext>
            </a:extLst>
          </p:cNvPr>
          <p:cNvSpPr txBox="1"/>
          <p:nvPr/>
        </p:nvSpPr>
        <p:spPr>
          <a:xfrm>
            <a:off x="15343" y="3933056"/>
            <a:ext cx="9144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1" i="0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选择器使用步骤</a:t>
            </a:r>
          </a:p>
          <a:p>
            <a:pPr algn="l">
              <a:buFont typeface="+mj-lt"/>
              <a:buAutoNum type="arabicPeriod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创建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selector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通过调用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Selector.open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()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方法创建一个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Selector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向选择器注册通道 注册之前，先设置通道为非阻塞的，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channel.configureBlocking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(false);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然后再调用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SelectableChannel.register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(Selector 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sel,int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 ops)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方法将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channel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注册到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Selector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中；其中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ops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的参数作用是设置选择器对通道的监听事件，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ops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参数的事件类型有四种（可以通过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SelectionKey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的四个常量表示）： </a:t>
            </a:r>
            <a:endParaRPr lang="en-US" altLang="zh-CN" sz="1600" b="0" i="0" dirty="0">
              <a:solidFill>
                <a:srgbClr val="333333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/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（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1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）读取操作：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SelectionKey.OP_READ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,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数值为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1. </a:t>
            </a:r>
          </a:p>
          <a:p>
            <a:pPr algn="l"/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（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2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）写入操作：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SelectionKey.OP_WRITE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,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数值为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4. </a:t>
            </a:r>
          </a:p>
          <a:p>
            <a:pPr algn="l"/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（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3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）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socket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连接操作：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SelectionKey.OP_CONNECT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,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数值为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8. </a:t>
            </a:r>
          </a:p>
          <a:p>
            <a:pPr algn="l"/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（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4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）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socket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接受操作：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SelectionKey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 .OP_ACCEPT,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数值为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16. </a:t>
            </a:r>
          </a:p>
          <a:p>
            <a:pPr algn="l"/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若注册时不止监听一个事件，可以使用“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|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位或”操作符连接。</a:t>
            </a:r>
          </a:p>
        </p:txBody>
      </p:sp>
    </p:spTree>
    <p:extLst>
      <p:ext uri="{BB962C8B-B14F-4D97-AF65-F5344CB8AC3E}">
        <p14:creationId xmlns:p14="http://schemas.microsoft.com/office/powerpoint/2010/main" val="2262536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9573CA-7B0D-594F-9E57-FFFC5186C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ByteBuffer</a:t>
            </a:r>
            <a:r>
              <a:rPr kumimoji="1" lang="zh-CN" altLang="en-US" dirty="0"/>
              <a:t>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E21122-6213-9B44-B0B5-68D959DBE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/>
              <a:t>是 </a:t>
            </a:r>
            <a:r>
              <a:rPr kumimoji="1" lang="en-US" altLang="zh-CN" sz="2400" dirty="0"/>
              <a:t>Java NIO </a:t>
            </a:r>
            <a:r>
              <a:rPr kumimoji="1" lang="zh-CN" altLang="en-US" sz="2400" dirty="0"/>
              <a:t>的核心缓冲区类，几乎所有 </a:t>
            </a:r>
            <a:r>
              <a:rPr kumimoji="1" lang="en-US" altLang="zh-CN" sz="2400" dirty="0"/>
              <a:t>Channel</a:t>
            </a:r>
            <a:r>
              <a:rPr kumimoji="1" lang="zh-CN" altLang="en-US" sz="2400" dirty="0"/>
              <a:t>（如 </a:t>
            </a:r>
            <a:r>
              <a:rPr kumimoji="1" lang="en-US" altLang="zh-CN" sz="2400" dirty="0" err="1"/>
              <a:t>SocketChannel</a:t>
            </a:r>
            <a:r>
              <a:rPr kumimoji="1" lang="zh-CN" altLang="en-US" sz="2400" dirty="0"/>
              <a:t>、</a:t>
            </a:r>
            <a:r>
              <a:rPr kumimoji="1" lang="en-US" altLang="zh-CN" sz="2400" dirty="0" err="1"/>
              <a:t>ServerSocketChannel</a:t>
            </a:r>
            <a:r>
              <a:rPr kumimoji="1" lang="zh-CN" altLang="en-US" sz="2400" dirty="0"/>
              <a:t>）的读写操作都必须通过它完成。</a:t>
            </a:r>
          </a:p>
        </p:txBody>
      </p:sp>
    </p:spTree>
    <p:extLst>
      <p:ext uri="{BB962C8B-B14F-4D97-AF65-F5344CB8AC3E}">
        <p14:creationId xmlns:p14="http://schemas.microsoft.com/office/powerpoint/2010/main" val="1705809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AF1452-12BF-EA49-899D-D17940B6B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5ED252-B7DE-504C-BC26-DBF53D5AF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Nioserver.java</a:t>
            </a:r>
            <a:endParaRPr kumimoji="1" lang="en-US" altLang="zh-CN" dirty="0"/>
          </a:p>
          <a:p>
            <a:r>
              <a:rPr kumimoji="1" lang="en-US" altLang="zh-CN" dirty="0" err="1"/>
              <a:t>SocketChannelClient.java</a:t>
            </a:r>
            <a:endParaRPr kumimoji="1" lang="en-US" altLang="zh-CN" dirty="0"/>
          </a:p>
          <a:p>
            <a:r>
              <a:rPr kumimoji="1" lang="en-US" altLang="zh-CN" dirty="0" err="1"/>
              <a:t>SocketChannelServer.java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3728915"/>
      </p:ext>
    </p:extLst>
  </p:cSld>
  <p:clrMapOvr>
    <a:masterClrMapping/>
  </p:clrMapOvr>
</p:sld>
</file>

<file path=ppt/theme/theme1.xml><?xml version="1.0" encoding="utf-8"?>
<a:theme xmlns:a="http://schemas.openxmlformats.org/drawingml/2006/main" name="16sucai_201411161035">
  <a:themeElements>
    <a:clrScheme name="自定义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1BFA7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计算广告应用V2</Template>
  <TotalTime>8019</TotalTime>
  <Words>875</Words>
  <Application>Microsoft Macintosh PowerPoint</Application>
  <PresentationFormat>全屏显示(4:3)</PresentationFormat>
  <Paragraphs>70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微软雅黑</vt:lpstr>
      <vt:lpstr>PingFang SC</vt:lpstr>
      <vt:lpstr>PingFang SC</vt:lpstr>
      <vt:lpstr>Arial</vt:lpstr>
      <vt:lpstr>Calibri</vt:lpstr>
      <vt:lpstr>16sucai_201411161035</vt:lpstr>
      <vt:lpstr>自定义设计方案</vt:lpstr>
      <vt:lpstr>PowerPoint 演示文稿</vt:lpstr>
      <vt:lpstr>NIO与IO</vt:lpstr>
      <vt:lpstr>NIO与IO</vt:lpstr>
      <vt:lpstr>NIO与IO</vt:lpstr>
      <vt:lpstr>NIO的四个核心组件</vt:lpstr>
      <vt:lpstr>PowerPoint 演示文稿</vt:lpstr>
      <vt:lpstr>PowerPoint 演示文稿</vt:lpstr>
      <vt:lpstr>PowerPoint 演示文稿</vt:lpstr>
      <vt:lpstr>ServerSocketChannel类</vt:lpstr>
      <vt:lpstr>SocketChannel类</vt:lpstr>
      <vt:lpstr>主要应用场景</vt:lpstr>
      <vt:lpstr>FileChannel类</vt:lpstr>
      <vt:lpstr>PowerPoint 演示文稿</vt:lpstr>
      <vt:lpstr>ByteBuffer类</vt:lpstr>
      <vt:lpstr>示例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Microsoft Office User</cp:lastModifiedBy>
  <cp:revision>79</cp:revision>
  <dcterms:created xsi:type="dcterms:W3CDTF">2016-04-19T01:35:35Z</dcterms:created>
  <dcterms:modified xsi:type="dcterms:W3CDTF">2026-05-18T23:58:17Z</dcterms:modified>
</cp:coreProperties>
</file>