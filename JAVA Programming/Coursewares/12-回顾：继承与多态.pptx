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89"/>
  </p:notesMasterIdLst>
  <p:sldIdLst>
    <p:sldId id="256" r:id="rId2"/>
    <p:sldId id="274" r:id="rId3"/>
    <p:sldId id="275" r:id="rId4"/>
    <p:sldId id="284" r:id="rId5"/>
    <p:sldId id="285" r:id="rId6"/>
    <p:sldId id="286" r:id="rId7"/>
    <p:sldId id="287" r:id="rId8"/>
    <p:sldId id="288" r:id="rId9"/>
    <p:sldId id="289" r:id="rId10"/>
    <p:sldId id="290" r:id="rId11"/>
    <p:sldId id="291" r:id="rId12"/>
    <p:sldId id="292" r:id="rId13"/>
    <p:sldId id="293" r:id="rId14"/>
    <p:sldId id="296" r:id="rId15"/>
    <p:sldId id="297" r:id="rId16"/>
    <p:sldId id="298" r:id="rId17"/>
    <p:sldId id="299" r:id="rId18"/>
    <p:sldId id="300" r:id="rId19"/>
    <p:sldId id="301" r:id="rId20"/>
    <p:sldId id="302" r:id="rId21"/>
    <p:sldId id="303" r:id="rId22"/>
    <p:sldId id="304" r:id="rId23"/>
    <p:sldId id="305" r:id="rId24"/>
    <p:sldId id="306" r:id="rId25"/>
    <p:sldId id="307" r:id="rId26"/>
    <p:sldId id="308" r:id="rId27"/>
    <p:sldId id="309" r:id="rId28"/>
    <p:sldId id="310" r:id="rId29"/>
    <p:sldId id="311" r:id="rId30"/>
    <p:sldId id="312" r:id="rId31"/>
    <p:sldId id="313" r:id="rId32"/>
    <p:sldId id="314" r:id="rId33"/>
    <p:sldId id="315" r:id="rId34"/>
    <p:sldId id="316" r:id="rId35"/>
    <p:sldId id="317" r:id="rId36"/>
    <p:sldId id="318" r:id="rId37"/>
    <p:sldId id="319" r:id="rId38"/>
    <p:sldId id="320" r:id="rId39"/>
    <p:sldId id="321" r:id="rId40"/>
    <p:sldId id="322" r:id="rId41"/>
    <p:sldId id="323" r:id="rId42"/>
    <p:sldId id="324" r:id="rId43"/>
    <p:sldId id="325" r:id="rId44"/>
    <p:sldId id="326" r:id="rId45"/>
    <p:sldId id="327" r:id="rId46"/>
    <p:sldId id="328" r:id="rId47"/>
    <p:sldId id="338" r:id="rId48"/>
    <p:sldId id="339" r:id="rId49"/>
    <p:sldId id="340" r:id="rId50"/>
    <p:sldId id="341" r:id="rId51"/>
    <p:sldId id="342" r:id="rId52"/>
    <p:sldId id="343" r:id="rId53"/>
    <p:sldId id="344" r:id="rId54"/>
    <p:sldId id="345" r:id="rId55"/>
    <p:sldId id="346" r:id="rId56"/>
    <p:sldId id="347" r:id="rId57"/>
    <p:sldId id="348" r:id="rId58"/>
    <p:sldId id="349" r:id="rId59"/>
    <p:sldId id="350" r:id="rId60"/>
    <p:sldId id="351" r:id="rId61"/>
    <p:sldId id="352" r:id="rId62"/>
    <p:sldId id="353" r:id="rId63"/>
    <p:sldId id="354" r:id="rId64"/>
    <p:sldId id="355" r:id="rId65"/>
    <p:sldId id="356" r:id="rId66"/>
    <p:sldId id="357" r:id="rId67"/>
    <p:sldId id="358" r:id="rId68"/>
    <p:sldId id="359" r:id="rId69"/>
    <p:sldId id="360" r:id="rId70"/>
    <p:sldId id="362" r:id="rId71"/>
    <p:sldId id="363" r:id="rId72"/>
    <p:sldId id="364" r:id="rId73"/>
    <p:sldId id="365" r:id="rId74"/>
    <p:sldId id="366" r:id="rId75"/>
    <p:sldId id="367" r:id="rId76"/>
    <p:sldId id="368" r:id="rId77"/>
    <p:sldId id="369" r:id="rId78"/>
    <p:sldId id="370" r:id="rId79"/>
    <p:sldId id="371" r:id="rId80"/>
    <p:sldId id="372" r:id="rId81"/>
    <p:sldId id="373" r:id="rId82"/>
    <p:sldId id="374" r:id="rId83"/>
    <p:sldId id="375" r:id="rId84"/>
    <p:sldId id="376" r:id="rId85"/>
    <p:sldId id="377" r:id="rId86"/>
    <p:sldId id="378" r:id="rId87"/>
    <p:sldId id="379" r:id="rId88"/>
  </p:sldIdLst>
  <p:sldSz cx="9144000" cy="6858000" type="screen4x3"/>
  <p:notesSz cx="6858000" cy="9144000"/>
  <p:defaultTextStyle>
    <a:defPPr>
      <a:defRPr lang="zh-CN"/>
    </a:defPPr>
    <a:lvl1pPr algn="l" rtl="0" fontAlgn="base">
      <a:spcBef>
        <a:spcPct val="0"/>
      </a:spcBef>
      <a:spcAft>
        <a:spcPct val="0"/>
      </a:spcAft>
      <a:defRPr kern="1200">
        <a:solidFill>
          <a:schemeClr val="tx1"/>
        </a:solidFill>
        <a:latin typeface="Arial" pitchFamily="34" charset="0"/>
        <a:ea typeface="宋体" pitchFamily="2" charset="-122"/>
        <a:cs typeface="+mn-cs"/>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59" autoAdjust="0"/>
    <p:restoredTop sz="82449" autoAdjust="0"/>
  </p:normalViewPr>
  <p:slideViewPr>
    <p:cSldViewPr>
      <p:cViewPr varScale="1">
        <p:scale>
          <a:sx n="81" d="100"/>
          <a:sy n="81" d="100"/>
        </p:scale>
        <p:origin x="2008" y="184"/>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notesViewPr>
    <p:cSldViewPr>
      <p:cViewPr varScale="1">
        <p:scale>
          <a:sx n="51" d="100"/>
          <a:sy n="51" d="100"/>
        </p:scale>
        <p:origin x="-2946" y="-8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notesMaster" Target="notesMasters/notesMaster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presProps" Target="pres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heme" Target="theme/theme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0.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1.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8.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9.png"/></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0.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850D8F4-169E-46CC-9F03-17F1079E60F6}" type="datetimeFigureOut">
              <a:rPr lang="zh-CN" altLang="en-US" smtClean="0"/>
              <a:pPr/>
              <a:t>2024/3/12</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A47B1BE-4E4F-42CB-9640-E122103DDA98}"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AA47B1BE-4E4F-42CB-9640-E122103DDA98}" type="slidenum">
              <a:rPr lang="zh-CN" altLang="en-US" smtClean="0"/>
              <a:pPr/>
              <a:t>1</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标题幻灯片">
    <p:spTree>
      <p:nvGrpSpPr>
        <p:cNvPr id="1" name=""/>
        <p:cNvGrpSpPr/>
        <p:nvPr/>
      </p:nvGrpSpPr>
      <p:grpSpPr>
        <a:xfrm>
          <a:off x="0" y="0"/>
          <a:ext cx="0" cy="0"/>
          <a:chOff x="0" y="0"/>
          <a:chExt cx="0" cy="0"/>
        </a:xfrm>
      </p:grpSpPr>
      <p:pic>
        <p:nvPicPr>
          <p:cNvPr id="4" name="Picture 1"/>
          <p:cNvPicPr>
            <a:picLocks noChangeAspect="1" noChangeArrowheads="1"/>
          </p:cNvPicPr>
          <p:nvPr/>
        </p:nvPicPr>
        <p:blipFill>
          <a:blip r:embed="rId2" cstate="print"/>
          <a:srcRect/>
          <a:stretch>
            <a:fillRect/>
          </a:stretch>
        </p:blipFill>
        <p:spPr bwMode="auto">
          <a:xfrm>
            <a:off x="6750050" y="6473825"/>
            <a:ext cx="2393950" cy="393700"/>
          </a:xfrm>
          <a:prstGeom prst="rect">
            <a:avLst/>
          </a:prstGeom>
          <a:noFill/>
          <a:ln w="9525">
            <a:noFill/>
            <a:miter lim="800000"/>
            <a:headEnd/>
            <a:tailEnd/>
          </a:ln>
        </p:spPr>
      </p:pic>
      <p:sp>
        <p:nvSpPr>
          <p:cNvPr id="5" name="Rectangle 12" descr="bg"/>
          <p:cNvSpPr>
            <a:spLocks noChangeArrowheads="1"/>
          </p:cNvSpPr>
          <p:nvPr/>
        </p:nvSpPr>
        <p:spPr bwMode="auto">
          <a:xfrm>
            <a:off x="0" y="6477000"/>
            <a:ext cx="6751638" cy="392113"/>
          </a:xfrm>
          <a:prstGeom prst="rect">
            <a:avLst/>
          </a:prstGeom>
          <a:blipFill dpi="0" rotWithShape="1">
            <a:blip r:embed="rId3" cstate="print"/>
            <a:srcRect/>
            <a:stretch>
              <a:fillRect/>
            </a:stretch>
          </a:blipFill>
          <a:ln w="9525">
            <a:noFill/>
            <a:miter lim="800000"/>
            <a:headEnd/>
            <a:tailEnd/>
          </a:ln>
          <a:effectLst/>
        </p:spPr>
        <p:txBody>
          <a:bodyPr wrap="none" anchor="ctr"/>
          <a:lstStyle/>
          <a:p>
            <a:pPr fontAlgn="auto">
              <a:spcBef>
                <a:spcPts val="0"/>
              </a:spcBef>
              <a:spcAft>
                <a:spcPts val="0"/>
              </a:spcAft>
              <a:defRPr/>
            </a:pPr>
            <a:endParaRPr lang="zh-CN" altLang="en-US">
              <a:latin typeface="+mn-lt"/>
              <a:ea typeface="+mn-ea"/>
            </a:endParaRPr>
          </a:p>
        </p:txBody>
      </p:sp>
      <p:sp>
        <p:nvSpPr>
          <p:cNvPr id="6" name="Rectangle 11"/>
          <p:cNvSpPr>
            <a:spLocks noChangeArrowheads="1"/>
          </p:cNvSpPr>
          <p:nvPr/>
        </p:nvSpPr>
        <p:spPr bwMode="auto">
          <a:xfrm>
            <a:off x="357188" y="0"/>
            <a:ext cx="8786812" cy="392113"/>
          </a:xfrm>
          <a:prstGeom prst="rect">
            <a:avLst/>
          </a:prstGeom>
          <a:gradFill flip="none" rotWithShape="1">
            <a:gsLst>
              <a:gs pos="0">
                <a:srgbClr val="9E0000"/>
              </a:gs>
              <a:gs pos="100000">
                <a:schemeClr val="accent2"/>
              </a:gs>
            </a:gsLst>
            <a:lin ang="2700000" scaled="1"/>
            <a:tileRect/>
          </a:gradFill>
          <a:ln w="9525">
            <a:noFill/>
            <a:miter lim="800000"/>
            <a:headEnd/>
            <a:tailEnd/>
          </a:ln>
          <a:effectLst/>
        </p:spPr>
        <p:txBody>
          <a:bodyPr wrap="none" anchor="ctr"/>
          <a:lstStyle/>
          <a:p>
            <a:pPr fontAlgn="auto">
              <a:spcBef>
                <a:spcPts val="0"/>
              </a:spcBef>
              <a:spcAft>
                <a:spcPts val="0"/>
              </a:spcAft>
              <a:defRPr/>
            </a:pPr>
            <a:endParaRPr lang="zh-CN" altLang="en-US">
              <a:latin typeface="+mn-lt"/>
              <a:ea typeface="+mn-ea"/>
            </a:endParaRPr>
          </a:p>
        </p:txBody>
      </p:sp>
      <p:pic>
        <p:nvPicPr>
          <p:cNvPr id="7" name="Picture 5"/>
          <p:cNvPicPr>
            <a:picLocks noChangeAspect="1" noChangeArrowheads="1"/>
          </p:cNvPicPr>
          <p:nvPr/>
        </p:nvPicPr>
        <p:blipFill>
          <a:blip r:embed="rId4" cstate="print"/>
          <a:srcRect/>
          <a:stretch>
            <a:fillRect/>
          </a:stretch>
        </p:blipFill>
        <p:spPr bwMode="auto">
          <a:xfrm>
            <a:off x="0" y="0"/>
            <a:ext cx="434975" cy="392113"/>
          </a:xfrm>
          <a:prstGeom prst="rect">
            <a:avLst/>
          </a:prstGeom>
          <a:noFill/>
          <a:ln w="9525">
            <a:noFill/>
            <a:miter lim="800000"/>
            <a:headEnd/>
            <a:tailEnd/>
          </a:ln>
        </p:spPr>
      </p:pic>
      <p:sp>
        <p:nvSpPr>
          <p:cNvPr id="8" name="TextBox 7"/>
          <p:cNvSpPr txBox="1"/>
          <p:nvPr/>
        </p:nvSpPr>
        <p:spPr>
          <a:xfrm>
            <a:off x="0" y="6488113"/>
            <a:ext cx="2571750" cy="369887"/>
          </a:xfrm>
          <a:prstGeom prst="rect">
            <a:avLst/>
          </a:prstGeom>
          <a:noFill/>
        </p:spPr>
        <p:txBody>
          <a:bodyPr>
            <a:spAutoFit/>
          </a:bodyPr>
          <a:lstStyle/>
          <a:p>
            <a:pPr fontAlgn="auto">
              <a:spcBef>
                <a:spcPts val="0"/>
              </a:spcBef>
              <a:spcAft>
                <a:spcPts val="0"/>
              </a:spcAft>
              <a:defRPr/>
            </a:pPr>
            <a:r>
              <a:rPr lang="en-GB" altLang="zh-CN" dirty="0">
                <a:solidFill>
                  <a:schemeClr val="accent1">
                    <a:lumMod val="60000"/>
                    <a:lumOff val="40000"/>
                  </a:schemeClr>
                </a:solidFill>
                <a:latin typeface="Harlow Solid Italic" pitchFamily="82" charset="0"/>
                <a:ea typeface="+mn-ea"/>
              </a:rPr>
              <a:t> </a:t>
            </a:r>
            <a:r>
              <a:rPr lang="en-GB" altLang="zh-CN" sz="1400" dirty="0">
                <a:solidFill>
                  <a:schemeClr val="accent1">
                    <a:lumMod val="60000"/>
                    <a:lumOff val="40000"/>
                  </a:schemeClr>
                </a:solidFill>
                <a:latin typeface="Harlow Solid Italic" pitchFamily="82" charset="0"/>
                <a:ea typeface="+mn-ea"/>
              </a:rPr>
              <a:t>Intelligence makes life better </a:t>
            </a:r>
            <a:endParaRPr lang="zh-CN" altLang="en-US" sz="1400" dirty="0">
              <a:solidFill>
                <a:schemeClr val="accent1">
                  <a:lumMod val="60000"/>
                  <a:lumOff val="40000"/>
                </a:schemeClr>
              </a:solidFill>
              <a:latin typeface="Harlow Solid Italic" pitchFamily="82" charset="0"/>
              <a:ea typeface="+mn-ea"/>
            </a:endParaRPr>
          </a:p>
        </p:txBody>
      </p:sp>
      <p:cxnSp>
        <p:nvCxnSpPr>
          <p:cNvPr id="9" name="直接连接符 8"/>
          <p:cNvCxnSpPr/>
          <p:nvPr/>
        </p:nvCxnSpPr>
        <p:spPr>
          <a:xfrm>
            <a:off x="642938" y="2928938"/>
            <a:ext cx="7786687" cy="1587"/>
          </a:xfrm>
          <a:prstGeom prst="line">
            <a:avLst/>
          </a:prstGeom>
          <a:ln w="53975" cap="rnd" cmpd="sng">
            <a:solidFill>
              <a:schemeClr val="accent6"/>
            </a:solidFill>
          </a:ln>
          <a:effectLst/>
        </p:spPr>
        <p:style>
          <a:lnRef idx="1">
            <a:schemeClr val="accent1"/>
          </a:lnRef>
          <a:fillRef idx="0">
            <a:schemeClr val="accent1"/>
          </a:fillRef>
          <a:effectRef idx="0">
            <a:schemeClr val="accent1"/>
          </a:effectRef>
          <a:fontRef idx="minor">
            <a:schemeClr val="tx1"/>
          </a:fontRef>
        </p:style>
      </p:cxnSp>
      <p:sp>
        <p:nvSpPr>
          <p:cNvPr id="5122" name="Rectangle 2"/>
          <p:cNvSpPr>
            <a:spLocks noGrp="1" noChangeArrowheads="1"/>
          </p:cNvSpPr>
          <p:nvPr>
            <p:ph type="ctrTitle"/>
          </p:nvPr>
        </p:nvSpPr>
        <p:spPr>
          <a:xfrm>
            <a:off x="642910" y="1500174"/>
            <a:ext cx="7772400" cy="1371600"/>
          </a:xfrm>
        </p:spPr>
        <p:txBody>
          <a:bodyPr/>
          <a:lstStyle>
            <a:lvl1pPr>
              <a:defRPr sz="4000"/>
            </a:lvl1pPr>
          </a:lstStyle>
          <a:p>
            <a:r>
              <a:rPr lang="zh-CN" altLang="en-US"/>
              <a:t>单击此处编辑母版标题样式</a:t>
            </a:r>
            <a:endParaRPr lang="zh-CN" altLang="en-US" dirty="0"/>
          </a:p>
        </p:txBody>
      </p:sp>
      <p:sp>
        <p:nvSpPr>
          <p:cNvPr id="19" name="副标题 2"/>
          <p:cNvSpPr>
            <a:spLocks noGrp="1"/>
          </p:cNvSpPr>
          <p:nvPr>
            <p:ph type="subTitle" idx="1"/>
          </p:nvPr>
        </p:nvSpPr>
        <p:spPr>
          <a:xfrm>
            <a:off x="1371600" y="3571876"/>
            <a:ext cx="6400800" cy="1214446"/>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566738" y="1752600"/>
            <a:ext cx="39243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3438" y="1752600"/>
            <a:ext cx="39243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jpeg"/><Relationship Id="rId3" Type="http://schemas.openxmlformats.org/officeDocument/2006/relationships/slideLayout" Target="../slideLayouts/slideLayout3.xml"/><Relationship Id="rId7"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3.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pattFill prst="ltHorz">
          <a:fgClr>
            <a:schemeClr val="bg2"/>
          </a:fgClr>
          <a:bgClr>
            <a:schemeClr val="bg1"/>
          </a:bgClr>
        </a:patt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571500" y="500063"/>
            <a:ext cx="8001000" cy="85725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zh-CN" altLang="en-US"/>
              <a:t>单击此处编辑母版标题样式</a:t>
            </a:r>
          </a:p>
        </p:txBody>
      </p:sp>
      <p:sp>
        <p:nvSpPr>
          <p:cNvPr id="1027" name="Rectangle 3"/>
          <p:cNvSpPr>
            <a:spLocks noGrp="1" noChangeArrowheads="1"/>
          </p:cNvSpPr>
          <p:nvPr>
            <p:ph type="body" idx="1"/>
          </p:nvPr>
        </p:nvSpPr>
        <p:spPr bwMode="auto">
          <a:xfrm>
            <a:off x="566738" y="1571625"/>
            <a:ext cx="8001000" cy="49291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102" name="Rectangle 6"/>
          <p:cNvSpPr>
            <a:spLocks noGrp="1" noChangeArrowheads="1"/>
          </p:cNvSpPr>
          <p:nvPr>
            <p:ph type="dt" sz="half" idx="2"/>
          </p:nvPr>
        </p:nvSpPr>
        <p:spPr bwMode="auto">
          <a:xfrm>
            <a:off x="609600" y="6245225"/>
            <a:ext cx="19812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fontAlgn="auto">
              <a:spcBef>
                <a:spcPts val="0"/>
              </a:spcBef>
              <a:spcAft>
                <a:spcPts val="0"/>
              </a:spcAft>
              <a:defRPr sz="1200">
                <a:latin typeface="+mn-lt"/>
                <a:ea typeface="+mn-ea"/>
              </a:defRPr>
            </a:lvl1pPr>
          </a:lstStyle>
          <a:p>
            <a:pPr>
              <a:defRPr/>
            </a:pPr>
            <a:fld id="{8439A2E4-F019-41E3-9662-5837BADB909B}" type="datetimeFigureOut">
              <a:rPr lang="zh-CN" altLang="en-US"/>
              <a:pPr>
                <a:defRPr/>
              </a:pPr>
              <a:t>2024/3/12</a:t>
            </a:fld>
            <a:endParaRPr lang="zh-CN" altLang="en-US"/>
          </a:p>
        </p:txBody>
      </p:sp>
      <p:sp>
        <p:nvSpPr>
          <p:cNvPr id="4103" name="Rectangle 7"/>
          <p:cNvSpPr>
            <a:spLocks noGrp="1" noChangeArrowheads="1"/>
          </p:cNvSpPr>
          <p:nvPr>
            <p:ph type="ftr" sz="quarter" idx="3"/>
          </p:nvPr>
        </p:nvSpPr>
        <p:spPr bwMode="auto">
          <a:xfrm>
            <a:off x="3132138" y="6237288"/>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fontAlgn="auto">
              <a:spcBef>
                <a:spcPts val="0"/>
              </a:spcBef>
              <a:spcAft>
                <a:spcPts val="0"/>
              </a:spcAft>
              <a:defRPr sz="1200">
                <a:latin typeface="+mn-lt"/>
                <a:ea typeface="+mn-ea"/>
              </a:defRPr>
            </a:lvl1pPr>
          </a:lstStyle>
          <a:p>
            <a:pPr>
              <a:defRPr/>
            </a:pPr>
            <a:endParaRPr lang="zh-CN" altLang="en-US"/>
          </a:p>
        </p:txBody>
      </p:sp>
      <p:sp>
        <p:nvSpPr>
          <p:cNvPr id="4104" name="Rectangle 8"/>
          <p:cNvSpPr>
            <a:spLocks noGrp="1" noChangeArrowheads="1"/>
          </p:cNvSpPr>
          <p:nvPr>
            <p:ph type="sldNum" sz="quarter" idx="4"/>
          </p:nvPr>
        </p:nvSpPr>
        <p:spPr bwMode="auto">
          <a:xfrm>
            <a:off x="6553200" y="6245225"/>
            <a:ext cx="19812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fontAlgn="auto">
              <a:spcBef>
                <a:spcPts val="0"/>
              </a:spcBef>
              <a:spcAft>
                <a:spcPts val="0"/>
              </a:spcAft>
              <a:defRPr sz="1200">
                <a:latin typeface="+mn-lt"/>
                <a:ea typeface="+mn-ea"/>
              </a:defRPr>
            </a:lvl1pPr>
          </a:lstStyle>
          <a:p>
            <a:pPr>
              <a:defRPr/>
            </a:pPr>
            <a:fld id="{6E99A300-58E7-42BB-B291-5BD9A07B69C0}" type="slidenum">
              <a:rPr lang="zh-CN" altLang="en-US"/>
              <a:pPr>
                <a:defRPr/>
              </a:pPr>
              <a:t>‹#›</a:t>
            </a:fld>
            <a:endParaRPr lang="zh-CN" altLang="en-US"/>
          </a:p>
        </p:txBody>
      </p:sp>
      <p:pic>
        <p:nvPicPr>
          <p:cNvPr id="1031" name="Picture 1"/>
          <p:cNvPicPr>
            <a:picLocks noChangeAspect="1" noChangeArrowheads="1"/>
          </p:cNvPicPr>
          <p:nvPr/>
        </p:nvPicPr>
        <p:blipFill>
          <a:blip r:embed="rId7" cstate="print"/>
          <a:srcRect/>
          <a:stretch>
            <a:fillRect/>
          </a:stretch>
        </p:blipFill>
        <p:spPr bwMode="auto">
          <a:xfrm>
            <a:off x="6750050" y="6473825"/>
            <a:ext cx="2393950" cy="393700"/>
          </a:xfrm>
          <a:prstGeom prst="rect">
            <a:avLst/>
          </a:prstGeom>
          <a:noFill/>
          <a:ln w="9525">
            <a:noFill/>
            <a:miter lim="800000"/>
            <a:headEnd/>
            <a:tailEnd/>
          </a:ln>
        </p:spPr>
      </p:pic>
      <p:sp>
        <p:nvSpPr>
          <p:cNvPr id="4107" name="Rectangle 11"/>
          <p:cNvSpPr>
            <a:spLocks noChangeArrowheads="1"/>
          </p:cNvSpPr>
          <p:nvPr/>
        </p:nvSpPr>
        <p:spPr bwMode="auto">
          <a:xfrm>
            <a:off x="357188" y="0"/>
            <a:ext cx="8786812" cy="392113"/>
          </a:xfrm>
          <a:prstGeom prst="rect">
            <a:avLst/>
          </a:prstGeom>
          <a:gradFill flip="none" rotWithShape="1">
            <a:gsLst>
              <a:gs pos="0">
                <a:srgbClr val="9E0000"/>
              </a:gs>
              <a:gs pos="100000">
                <a:schemeClr val="accent2"/>
              </a:gs>
            </a:gsLst>
            <a:lin ang="2700000" scaled="1"/>
            <a:tileRect/>
          </a:gradFill>
          <a:ln w="9525">
            <a:noFill/>
            <a:miter lim="800000"/>
            <a:headEnd/>
            <a:tailEnd/>
          </a:ln>
          <a:effectLst/>
        </p:spPr>
        <p:txBody>
          <a:bodyPr wrap="none" anchor="ctr"/>
          <a:lstStyle/>
          <a:p>
            <a:pPr fontAlgn="auto">
              <a:spcBef>
                <a:spcPts val="0"/>
              </a:spcBef>
              <a:spcAft>
                <a:spcPts val="0"/>
              </a:spcAft>
              <a:defRPr/>
            </a:pPr>
            <a:endParaRPr lang="zh-CN" altLang="en-US">
              <a:latin typeface="+mn-lt"/>
              <a:ea typeface="+mn-ea"/>
            </a:endParaRPr>
          </a:p>
        </p:txBody>
      </p:sp>
      <p:sp>
        <p:nvSpPr>
          <p:cNvPr id="4108" name="Rectangle 12" descr="bg"/>
          <p:cNvSpPr>
            <a:spLocks noChangeArrowheads="1"/>
          </p:cNvSpPr>
          <p:nvPr/>
        </p:nvSpPr>
        <p:spPr bwMode="auto">
          <a:xfrm>
            <a:off x="0" y="6477000"/>
            <a:ext cx="6751638" cy="392113"/>
          </a:xfrm>
          <a:prstGeom prst="rect">
            <a:avLst/>
          </a:prstGeom>
          <a:blipFill dpi="0" rotWithShape="1">
            <a:blip r:embed="rId8" cstate="print"/>
            <a:srcRect/>
            <a:stretch>
              <a:fillRect/>
            </a:stretch>
          </a:blipFill>
          <a:ln w="9525">
            <a:noFill/>
            <a:miter lim="800000"/>
            <a:headEnd/>
            <a:tailEnd/>
          </a:ln>
          <a:effectLst/>
        </p:spPr>
        <p:txBody>
          <a:bodyPr wrap="none" anchor="ctr"/>
          <a:lstStyle/>
          <a:p>
            <a:pPr fontAlgn="auto">
              <a:spcBef>
                <a:spcPts val="0"/>
              </a:spcBef>
              <a:spcAft>
                <a:spcPts val="0"/>
              </a:spcAft>
              <a:defRPr/>
            </a:pPr>
            <a:endParaRPr lang="zh-CN" altLang="en-US">
              <a:latin typeface="+mn-lt"/>
              <a:ea typeface="+mn-ea"/>
            </a:endParaRPr>
          </a:p>
        </p:txBody>
      </p:sp>
      <p:pic>
        <p:nvPicPr>
          <p:cNvPr id="1034" name="Picture 5"/>
          <p:cNvPicPr>
            <a:picLocks noChangeAspect="1" noChangeArrowheads="1"/>
          </p:cNvPicPr>
          <p:nvPr/>
        </p:nvPicPr>
        <p:blipFill>
          <a:blip r:embed="rId9" cstate="print"/>
          <a:srcRect/>
          <a:stretch>
            <a:fillRect/>
          </a:stretch>
        </p:blipFill>
        <p:spPr bwMode="auto">
          <a:xfrm>
            <a:off x="0" y="0"/>
            <a:ext cx="434975" cy="392113"/>
          </a:xfrm>
          <a:prstGeom prst="rect">
            <a:avLst/>
          </a:prstGeom>
          <a:noFill/>
          <a:ln w="9525">
            <a:noFill/>
            <a:miter lim="800000"/>
            <a:headEnd/>
            <a:tailEnd/>
          </a:ln>
        </p:spPr>
      </p:pic>
      <p:sp>
        <p:nvSpPr>
          <p:cNvPr id="12" name="TextBox 11"/>
          <p:cNvSpPr txBox="1"/>
          <p:nvPr/>
        </p:nvSpPr>
        <p:spPr>
          <a:xfrm>
            <a:off x="0" y="6488113"/>
            <a:ext cx="2571750" cy="369887"/>
          </a:xfrm>
          <a:prstGeom prst="rect">
            <a:avLst/>
          </a:prstGeom>
          <a:noFill/>
        </p:spPr>
        <p:txBody>
          <a:bodyPr>
            <a:spAutoFit/>
          </a:bodyPr>
          <a:lstStyle/>
          <a:p>
            <a:pPr fontAlgn="auto">
              <a:spcBef>
                <a:spcPts val="0"/>
              </a:spcBef>
              <a:spcAft>
                <a:spcPts val="0"/>
              </a:spcAft>
              <a:defRPr/>
            </a:pPr>
            <a:r>
              <a:rPr lang="en-GB" altLang="zh-CN" dirty="0">
                <a:solidFill>
                  <a:schemeClr val="accent1">
                    <a:lumMod val="60000"/>
                    <a:lumOff val="40000"/>
                  </a:schemeClr>
                </a:solidFill>
                <a:latin typeface="Harlow Solid Italic" pitchFamily="82" charset="0"/>
                <a:ea typeface="+mn-ea"/>
              </a:rPr>
              <a:t> </a:t>
            </a:r>
            <a:r>
              <a:rPr lang="en-GB" altLang="zh-CN" sz="1400" dirty="0">
                <a:solidFill>
                  <a:schemeClr val="accent1">
                    <a:lumMod val="60000"/>
                    <a:lumOff val="40000"/>
                  </a:schemeClr>
                </a:solidFill>
                <a:latin typeface="Harlow Solid Italic" pitchFamily="82" charset="0"/>
                <a:ea typeface="+mn-ea"/>
              </a:rPr>
              <a:t>Intelligence makes life better </a:t>
            </a:r>
            <a:endParaRPr lang="zh-CN" altLang="en-US" sz="1400" dirty="0">
              <a:solidFill>
                <a:schemeClr val="accent1">
                  <a:lumMod val="60000"/>
                  <a:lumOff val="40000"/>
                </a:schemeClr>
              </a:solidFill>
              <a:latin typeface="Harlow Solid Italic" pitchFamily="82" charset="0"/>
              <a:ea typeface="+mn-ea"/>
            </a:endParaRPr>
          </a:p>
        </p:txBody>
      </p:sp>
      <p:cxnSp>
        <p:nvCxnSpPr>
          <p:cNvPr id="13" name="直接连接符 12"/>
          <p:cNvCxnSpPr/>
          <p:nvPr/>
        </p:nvCxnSpPr>
        <p:spPr>
          <a:xfrm>
            <a:off x="571500" y="1428750"/>
            <a:ext cx="8001000" cy="1588"/>
          </a:xfrm>
          <a:prstGeom prst="line">
            <a:avLst/>
          </a:prstGeom>
          <a:ln w="53975" cap="rnd" cmpd="sng">
            <a:solidFill>
              <a:schemeClr val="accent6"/>
            </a:solidFill>
          </a:ln>
          <a:effectLst/>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Lst>
  <p:txStyles>
    <p:titleStyle>
      <a:lvl1pPr algn="l" rtl="0" eaLnBrk="1" fontAlgn="base" hangingPunct="1">
        <a:spcBef>
          <a:spcPct val="0"/>
        </a:spcBef>
        <a:spcAft>
          <a:spcPct val="0"/>
        </a:spcAft>
        <a:defRPr sz="3600">
          <a:solidFill>
            <a:schemeClr val="tx2"/>
          </a:solidFill>
          <a:latin typeface="+mj-lt"/>
          <a:ea typeface="+mj-ea"/>
          <a:cs typeface="+mj-cs"/>
        </a:defRPr>
      </a:lvl1pPr>
      <a:lvl2pPr algn="l" rtl="0" eaLnBrk="1" fontAlgn="base" hangingPunct="1">
        <a:spcBef>
          <a:spcPct val="0"/>
        </a:spcBef>
        <a:spcAft>
          <a:spcPct val="0"/>
        </a:spcAft>
        <a:defRPr sz="3600">
          <a:solidFill>
            <a:schemeClr val="tx2"/>
          </a:solidFill>
          <a:latin typeface="Franklin Gothic Medium" pitchFamily="34" charset="0"/>
          <a:ea typeface="隶书" pitchFamily="49" charset="-122"/>
        </a:defRPr>
      </a:lvl2pPr>
      <a:lvl3pPr algn="l" rtl="0" eaLnBrk="1" fontAlgn="base" hangingPunct="1">
        <a:spcBef>
          <a:spcPct val="0"/>
        </a:spcBef>
        <a:spcAft>
          <a:spcPct val="0"/>
        </a:spcAft>
        <a:defRPr sz="3600">
          <a:solidFill>
            <a:schemeClr val="tx2"/>
          </a:solidFill>
          <a:latin typeface="Franklin Gothic Medium" pitchFamily="34" charset="0"/>
          <a:ea typeface="隶书" pitchFamily="49" charset="-122"/>
        </a:defRPr>
      </a:lvl3pPr>
      <a:lvl4pPr algn="l" rtl="0" eaLnBrk="1" fontAlgn="base" hangingPunct="1">
        <a:spcBef>
          <a:spcPct val="0"/>
        </a:spcBef>
        <a:spcAft>
          <a:spcPct val="0"/>
        </a:spcAft>
        <a:defRPr sz="3600">
          <a:solidFill>
            <a:schemeClr val="tx2"/>
          </a:solidFill>
          <a:latin typeface="Franklin Gothic Medium" pitchFamily="34" charset="0"/>
          <a:ea typeface="隶书" pitchFamily="49" charset="-122"/>
        </a:defRPr>
      </a:lvl4pPr>
      <a:lvl5pPr algn="l" rtl="0" eaLnBrk="1" fontAlgn="base" hangingPunct="1">
        <a:spcBef>
          <a:spcPct val="0"/>
        </a:spcBef>
        <a:spcAft>
          <a:spcPct val="0"/>
        </a:spcAft>
        <a:defRPr sz="3600">
          <a:solidFill>
            <a:schemeClr val="tx2"/>
          </a:solidFill>
          <a:latin typeface="Franklin Gothic Medium" pitchFamily="34" charset="0"/>
          <a:ea typeface="隶书" pitchFamily="49" charset="-122"/>
        </a:defRPr>
      </a:lvl5pPr>
      <a:lvl6pPr marL="457200" algn="l" rtl="0" eaLnBrk="1" fontAlgn="base" hangingPunct="1">
        <a:spcBef>
          <a:spcPct val="0"/>
        </a:spcBef>
        <a:spcAft>
          <a:spcPct val="0"/>
        </a:spcAft>
        <a:defRPr sz="3800">
          <a:solidFill>
            <a:schemeClr val="tx2"/>
          </a:solidFill>
          <a:latin typeface="Verdana" pitchFamily="34" charset="0"/>
          <a:ea typeface="宋体" pitchFamily="2" charset="-122"/>
        </a:defRPr>
      </a:lvl6pPr>
      <a:lvl7pPr marL="914400" algn="l" rtl="0" eaLnBrk="1" fontAlgn="base" hangingPunct="1">
        <a:spcBef>
          <a:spcPct val="0"/>
        </a:spcBef>
        <a:spcAft>
          <a:spcPct val="0"/>
        </a:spcAft>
        <a:defRPr sz="3800">
          <a:solidFill>
            <a:schemeClr val="tx2"/>
          </a:solidFill>
          <a:latin typeface="Verdana" pitchFamily="34" charset="0"/>
          <a:ea typeface="宋体" pitchFamily="2" charset="-122"/>
        </a:defRPr>
      </a:lvl7pPr>
      <a:lvl8pPr marL="1371600" algn="l" rtl="0" eaLnBrk="1" fontAlgn="base" hangingPunct="1">
        <a:spcBef>
          <a:spcPct val="0"/>
        </a:spcBef>
        <a:spcAft>
          <a:spcPct val="0"/>
        </a:spcAft>
        <a:defRPr sz="3800">
          <a:solidFill>
            <a:schemeClr val="tx2"/>
          </a:solidFill>
          <a:latin typeface="Verdana" pitchFamily="34" charset="0"/>
          <a:ea typeface="宋体" pitchFamily="2" charset="-122"/>
        </a:defRPr>
      </a:lvl8pPr>
      <a:lvl9pPr marL="1828800" algn="l" rtl="0" eaLnBrk="1" fontAlgn="base" hangingPunct="1">
        <a:spcBef>
          <a:spcPct val="0"/>
        </a:spcBef>
        <a:spcAft>
          <a:spcPct val="0"/>
        </a:spcAft>
        <a:defRPr sz="3800">
          <a:solidFill>
            <a:schemeClr val="tx2"/>
          </a:solidFill>
          <a:latin typeface="Verdana" pitchFamily="34" charset="0"/>
          <a:ea typeface="宋体" pitchFamily="2" charset="-122"/>
        </a:defRPr>
      </a:lvl9pPr>
    </p:titleStyle>
    <p:bodyStyle>
      <a:lvl1pPr marL="469900" indent="-469900" algn="l" rtl="0" eaLnBrk="1" fontAlgn="base" hangingPunct="1">
        <a:spcBef>
          <a:spcPts val="600"/>
        </a:spcBef>
        <a:spcAft>
          <a:spcPts val="1200"/>
        </a:spcAft>
        <a:buClr>
          <a:srgbClr val="004D86"/>
        </a:buClr>
        <a:buSzPct val="100000"/>
        <a:buFont typeface="Wingdings" pitchFamily="2" charset="2"/>
        <a:buChar char="p"/>
        <a:defRPr sz="3000">
          <a:solidFill>
            <a:schemeClr val="tx1"/>
          </a:solidFill>
          <a:latin typeface="+mn-lt"/>
          <a:ea typeface="+mn-ea"/>
          <a:cs typeface="+mn-cs"/>
        </a:defRPr>
      </a:lvl1pPr>
      <a:lvl2pPr marL="908050" indent="-436563" algn="l" rtl="0" eaLnBrk="1" fontAlgn="base" hangingPunct="1">
        <a:spcBef>
          <a:spcPts val="600"/>
        </a:spcBef>
        <a:spcAft>
          <a:spcPts val="1200"/>
        </a:spcAft>
        <a:buClr>
          <a:srgbClr val="004D86"/>
        </a:buClr>
        <a:buSzPct val="100000"/>
        <a:buFont typeface="Wingdings" pitchFamily="2" charset="2"/>
        <a:buChar char="n"/>
        <a:defRPr sz="2600">
          <a:solidFill>
            <a:schemeClr val="tx1"/>
          </a:solidFill>
          <a:latin typeface="+mn-lt"/>
          <a:ea typeface="+mn-ea"/>
        </a:defRPr>
      </a:lvl2pPr>
      <a:lvl3pPr marL="1304925" indent="-395288" algn="l" rtl="0" eaLnBrk="1" fontAlgn="base" hangingPunct="1">
        <a:spcBef>
          <a:spcPts val="600"/>
        </a:spcBef>
        <a:spcAft>
          <a:spcPts val="1200"/>
        </a:spcAft>
        <a:buClr>
          <a:srgbClr val="004D86"/>
        </a:buClr>
        <a:buSzPct val="100000"/>
        <a:buFont typeface="Wingdings" pitchFamily="2" charset="2"/>
        <a:buChar char="p"/>
        <a:defRPr sz="2300">
          <a:solidFill>
            <a:schemeClr val="tx1"/>
          </a:solidFill>
          <a:latin typeface="+mn-lt"/>
          <a:ea typeface="+mn-ea"/>
        </a:defRPr>
      </a:lvl3pPr>
      <a:lvl4pPr marL="1693863" indent="-387350" algn="l" rtl="0" eaLnBrk="1" fontAlgn="base" hangingPunct="1">
        <a:spcBef>
          <a:spcPts val="600"/>
        </a:spcBef>
        <a:spcAft>
          <a:spcPts val="1200"/>
        </a:spcAft>
        <a:buClr>
          <a:srgbClr val="004D86"/>
        </a:buClr>
        <a:buSzPct val="100000"/>
        <a:buFont typeface="Wingdings" pitchFamily="2" charset="2"/>
        <a:buChar char="n"/>
        <a:defRPr sz="2000">
          <a:solidFill>
            <a:schemeClr val="tx1"/>
          </a:solidFill>
          <a:latin typeface="+mn-lt"/>
          <a:ea typeface="+mn-ea"/>
        </a:defRPr>
      </a:lvl4pPr>
      <a:lvl5pPr marL="2152650" indent="-457200" algn="l" rtl="0" eaLnBrk="1" fontAlgn="base" hangingPunct="1">
        <a:spcBef>
          <a:spcPts val="600"/>
        </a:spcBef>
        <a:spcAft>
          <a:spcPts val="1200"/>
        </a:spcAft>
        <a:buClr>
          <a:srgbClr val="004D86"/>
        </a:buClr>
        <a:buSzPct val="100000"/>
        <a:buFont typeface="Wingdings" pitchFamily="2" charset="2"/>
        <a:buChar char="p"/>
        <a:defRPr sz="2000">
          <a:solidFill>
            <a:schemeClr val="tx1"/>
          </a:solidFill>
          <a:latin typeface="+mn-lt"/>
          <a:ea typeface="+mn-ea"/>
        </a:defRPr>
      </a:lvl5pPr>
      <a:lvl6pPr marL="2551113" indent="-398463" algn="l" rtl="0" eaLnBrk="1" fontAlgn="base" hangingPunct="1">
        <a:spcBef>
          <a:spcPct val="25000"/>
        </a:spcBef>
        <a:spcAft>
          <a:spcPct val="0"/>
        </a:spcAft>
        <a:buClr>
          <a:schemeClr val="accent2"/>
        </a:buClr>
        <a:buFont typeface="Wingdings" pitchFamily="2" charset="2"/>
        <a:buChar char="§"/>
        <a:defRPr sz="2000">
          <a:solidFill>
            <a:schemeClr val="tx1"/>
          </a:solidFill>
          <a:latin typeface="+mn-lt"/>
          <a:ea typeface="+mn-ea"/>
        </a:defRPr>
      </a:lvl6pPr>
      <a:lvl7pPr marL="3008313" indent="-398463" algn="l" rtl="0" eaLnBrk="1" fontAlgn="base" hangingPunct="1">
        <a:spcBef>
          <a:spcPct val="25000"/>
        </a:spcBef>
        <a:spcAft>
          <a:spcPct val="0"/>
        </a:spcAft>
        <a:buClr>
          <a:schemeClr val="accent2"/>
        </a:buClr>
        <a:buFont typeface="Wingdings" pitchFamily="2" charset="2"/>
        <a:buChar char="§"/>
        <a:defRPr sz="2000">
          <a:solidFill>
            <a:schemeClr val="tx1"/>
          </a:solidFill>
          <a:latin typeface="+mn-lt"/>
          <a:ea typeface="+mn-ea"/>
        </a:defRPr>
      </a:lvl7pPr>
      <a:lvl8pPr marL="3465513" indent="-398463" algn="l" rtl="0" eaLnBrk="1" fontAlgn="base" hangingPunct="1">
        <a:spcBef>
          <a:spcPct val="25000"/>
        </a:spcBef>
        <a:spcAft>
          <a:spcPct val="0"/>
        </a:spcAft>
        <a:buClr>
          <a:schemeClr val="accent2"/>
        </a:buClr>
        <a:buFont typeface="Wingdings" pitchFamily="2" charset="2"/>
        <a:buChar char="§"/>
        <a:defRPr sz="2000">
          <a:solidFill>
            <a:schemeClr val="tx1"/>
          </a:solidFill>
          <a:latin typeface="+mn-lt"/>
          <a:ea typeface="+mn-ea"/>
        </a:defRPr>
      </a:lvl8pPr>
      <a:lvl9pPr marL="3922713" indent="-398463" algn="l" rtl="0" eaLnBrk="1" fontAlgn="base" hangingPunct="1">
        <a:spcBef>
          <a:spcPct val="25000"/>
        </a:spcBef>
        <a:spcAft>
          <a:spcPct val="0"/>
        </a:spcAft>
        <a:buClr>
          <a:schemeClr val="accent2"/>
        </a:buClr>
        <a:buFont typeface="Wingdings"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10.png"/></Relationships>
</file>

<file path=ppt/slides/_rels/slide4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11.png"/></Relationships>
</file>

<file path=ppt/slides/_rels/slide4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hyperlink" Target="chapter4/Manager.java" TargetMode="External"/><Relationship Id="rId2" Type="http://schemas.openxmlformats.org/officeDocument/2006/relationships/hyperlink" Target="chapter4/inheritance.java" TargetMode="Externa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18.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19.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5.vml"/><Relationship Id="rId4"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标题 1"/>
          <p:cNvSpPr>
            <a:spLocks noGrp="1"/>
          </p:cNvSpPr>
          <p:nvPr>
            <p:ph type="ctrTitle"/>
          </p:nvPr>
        </p:nvSpPr>
        <p:spPr>
          <a:xfrm>
            <a:off x="468313" y="1484313"/>
            <a:ext cx="8064500" cy="1371600"/>
          </a:xfrm>
        </p:spPr>
        <p:txBody>
          <a:bodyPr/>
          <a:lstStyle/>
          <a:p>
            <a:pPr algn="ctr" eaLnBrk="1" hangingPunct="1"/>
            <a:r>
              <a:rPr lang="zh-CN" altLang="en-US" sz="6600"/>
              <a:t>继承</a:t>
            </a:r>
            <a:r>
              <a:rPr lang="zh-CN" altLang="en-US" sz="6600" dirty="0"/>
              <a:t>与多态</a:t>
            </a:r>
          </a:p>
        </p:txBody>
      </p:sp>
      <p:sp>
        <p:nvSpPr>
          <p:cNvPr id="4" name="副标题 3"/>
          <p:cNvSpPr>
            <a:spLocks noGrp="1"/>
          </p:cNvSpPr>
          <p:nvPr>
            <p:ph type="subTitle" idx="1"/>
          </p:nvPr>
        </p:nvSpPr>
        <p:spPr/>
        <p:txBody>
          <a:bodyPr/>
          <a:lstStyle/>
          <a:p>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3" name="内容占位符 2"/>
          <p:cNvSpPr>
            <a:spLocks noGrp="1"/>
          </p:cNvSpPr>
          <p:nvPr>
            <p:ph idx="1"/>
          </p:nvPr>
        </p:nvSpPr>
        <p:spPr>
          <a:xfrm>
            <a:off x="539552" y="1628800"/>
            <a:ext cx="8001000" cy="4929188"/>
          </a:xfrm>
        </p:spPr>
        <p:txBody>
          <a:bodyPr/>
          <a:lstStyle/>
          <a:p>
            <a:r>
              <a:rPr lang="zh-CN" altLang="en-US" b="1" dirty="0"/>
              <a:t>复习</a:t>
            </a:r>
            <a:endParaRPr lang="en-US" altLang="zh-CN" b="1" dirty="0"/>
          </a:p>
          <a:p>
            <a:pPr lvl="1"/>
            <a:r>
              <a:rPr lang="zh-CN" altLang="en-US" b="1" dirty="0"/>
              <a:t>对象的生命周期</a:t>
            </a:r>
          </a:p>
          <a:p>
            <a:pPr lvl="1"/>
            <a:r>
              <a:rPr lang="zh-CN" altLang="en-US" dirty="0"/>
              <a:t>包的创建和使用</a:t>
            </a:r>
          </a:p>
          <a:p>
            <a:pPr lvl="1"/>
            <a:r>
              <a:rPr lang="zh-CN" altLang="en-US" dirty="0"/>
              <a:t>类成员的访问控制 </a:t>
            </a:r>
          </a:p>
          <a:p>
            <a:pPr lvl="1"/>
            <a:r>
              <a:rPr lang="zh-CN" altLang="en-US" dirty="0"/>
              <a:t>类成员与实例成员 </a:t>
            </a:r>
            <a:r>
              <a:rPr lang="en-US" altLang="zh-CN" dirty="0"/>
              <a:t> </a:t>
            </a:r>
          </a:p>
          <a:p>
            <a:r>
              <a:rPr lang="zh-CN" altLang="en-US" dirty="0"/>
              <a:t>继承</a:t>
            </a:r>
            <a:endParaRPr lang="en-US" altLang="zh-CN" dirty="0"/>
          </a:p>
          <a:p>
            <a:r>
              <a:rPr lang="zh-CN" altLang="en-US" dirty="0"/>
              <a:t>多态</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对象的生命周期</a:t>
            </a:r>
          </a:p>
        </p:txBody>
      </p:sp>
      <p:sp>
        <p:nvSpPr>
          <p:cNvPr id="3" name="内容占位符 2"/>
          <p:cNvSpPr>
            <a:spLocks noGrp="1"/>
          </p:cNvSpPr>
          <p:nvPr>
            <p:ph idx="1"/>
          </p:nvPr>
        </p:nvSpPr>
        <p:spPr/>
        <p:txBody>
          <a:bodyPr/>
          <a:lstStyle/>
          <a:p>
            <a:pPr marL="609600" indent="-609600">
              <a:buFont typeface="Wingdings" pitchFamily="2" charset="2"/>
              <a:buAutoNum type="arabicPeriod"/>
            </a:pPr>
            <a:r>
              <a:rPr lang="zh-CN" altLang="en-US" sz="3200" b="1" dirty="0">
                <a:solidFill>
                  <a:srgbClr val="000000"/>
                </a:solidFill>
              </a:rPr>
              <a:t>创建对象</a:t>
            </a:r>
            <a:r>
              <a:rPr lang="zh-CN" altLang="en-US" sz="3200" dirty="0">
                <a:solidFill>
                  <a:srgbClr val="000000"/>
                </a:solidFill>
              </a:rPr>
              <a:t> </a:t>
            </a:r>
          </a:p>
          <a:p>
            <a:pPr marL="609600" indent="-609600">
              <a:buFont typeface="Wingdings" pitchFamily="2" charset="2"/>
              <a:buAutoNum type="arabicPeriod"/>
            </a:pPr>
            <a:r>
              <a:rPr lang="zh-CN" altLang="en-US" sz="3200" b="1" dirty="0">
                <a:solidFill>
                  <a:srgbClr val="000000"/>
                </a:solidFill>
              </a:rPr>
              <a:t>对象的使用</a:t>
            </a:r>
            <a:r>
              <a:rPr lang="zh-CN" altLang="en-US" sz="3200" dirty="0">
                <a:solidFill>
                  <a:srgbClr val="000000"/>
                </a:solidFill>
              </a:rPr>
              <a:t> </a:t>
            </a:r>
          </a:p>
          <a:p>
            <a:pPr marL="609600" indent="-609600">
              <a:buFont typeface="Wingdings" pitchFamily="2" charset="2"/>
              <a:buAutoNum type="arabicPeriod"/>
            </a:pPr>
            <a:r>
              <a:rPr lang="zh-CN" altLang="en-US" sz="3200" b="1" dirty="0">
                <a:solidFill>
                  <a:srgbClr val="000000"/>
                </a:solidFill>
              </a:rPr>
              <a:t>清除对象</a:t>
            </a:r>
            <a:r>
              <a:rPr lang="zh-CN" altLang="en-US" dirty="0">
                <a:solidFill>
                  <a:srgbClr val="000000"/>
                </a:solidFill>
              </a:rPr>
              <a:t> </a:t>
            </a:r>
            <a:endParaRPr lang="zh-CN"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灯片编号占位符 5"/>
          <p:cNvSpPr>
            <a:spLocks noGrp="1"/>
          </p:cNvSpPr>
          <p:nvPr>
            <p:ph type="sldNum" sz="quarter" idx="4294967295"/>
          </p:nvPr>
        </p:nvSpPr>
        <p:spPr>
          <a:xfrm>
            <a:off x="6589713" y="6376988"/>
            <a:ext cx="2193925" cy="457200"/>
          </a:xfrm>
          <a:prstGeom prst="rect">
            <a:avLst/>
          </a:prstGeom>
          <a:noFill/>
        </p:spPr>
        <p:txBody>
          <a:bodyPr/>
          <a:lstStyle/>
          <a:p>
            <a:fld id="{0909DCB4-E58A-470B-A6C2-5F02422E1BB1}" type="slidenum">
              <a:rPr lang="en-US" altLang="zh-CN"/>
              <a:pPr/>
              <a:t>4</a:t>
            </a:fld>
            <a:endParaRPr lang="en-US" altLang="zh-CN"/>
          </a:p>
        </p:txBody>
      </p:sp>
      <p:sp>
        <p:nvSpPr>
          <p:cNvPr id="15363" name="Rectangle 2"/>
          <p:cNvSpPr>
            <a:spLocks noGrp="1" noChangeArrowheads="1"/>
          </p:cNvSpPr>
          <p:nvPr>
            <p:ph type="title"/>
          </p:nvPr>
        </p:nvSpPr>
        <p:spPr/>
        <p:txBody>
          <a:bodyPr/>
          <a:lstStyle/>
          <a:p>
            <a:pPr eaLnBrk="1" hangingPunct="1"/>
            <a:r>
              <a:rPr lang="zh-CN" altLang="en-US" b="1" dirty="0">
                <a:solidFill>
                  <a:srgbClr val="000000"/>
                </a:solidFill>
              </a:rPr>
              <a:t>对象的生命周期</a:t>
            </a:r>
          </a:p>
        </p:txBody>
      </p:sp>
      <p:sp>
        <p:nvSpPr>
          <p:cNvPr id="15364" name="Rectangle 3"/>
          <p:cNvSpPr>
            <a:spLocks noGrp="1" noChangeArrowheads="1"/>
          </p:cNvSpPr>
          <p:nvPr>
            <p:ph type="body" idx="1"/>
          </p:nvPr>
        </p:nvSpPr>
        <p:spPr>
          <a:xfrm>
            <a:off x="395536" y="1700808"/>
            <a:ext cx="8458200" cy="3881438"/>
          </a:xfrm>
        </p:spPr>
        <p:txBody>
          <a:bodyPr/>
          <a:lstStyle/>
          <a:p>
            <a:pPr marL="609600" indent="-609600" eaLnBrk="1" hangingPunct="1">
              <a:lnSpc>
                <a:spcPct val="90000"/>
              </a:lnSpc>
              <a:buFont typeface="Wingdings" pitchFamily="2" charset="2"/>
              <a:buAutoNum type="arabicPeriod"/>
            </a:pPr>
            <a:r>
              <a:rPr lang="zh-CN" altLang="en-US" b="1" dirty="0">
                <a:solidFill>
                  <a:schemeClr val="folHlink"/>
                </a:solidFill>
              </a:rPr>
              <a:t>创建对象</a:t>
            </a:r>
            <a:r>
              <a:rPr lang="zh-CN" altLang="en-US" dirty="0">
                <a:solidFill>
                  <a:srgbClr val="000000"/>
                </a:solidFill>
              </a:rPr>
              <a:t> </a:t>
            </a:r>
          </a:p>
          <a:p>
            <a:pPr marL="609600" indent="-609600" eaLnBrk="1" hangingPunct="1">
              <a:lnSpc>
                <a:spcPct val="90000"/>
              </a:lnSpc>
              <a:buFont typeface="Wingdings" pitchFamily="2" charset="2"/>
              <a:buNone/>
            </a:pPr>
            <a:r>
              <a:rPr lang="zh-CN" altLang="en-US" sz="2400" dirty="0">
                <a:solidFill>
                  <a:srgbClr val="000000"/>
                </a:solidFill>
              </a:rPr>
              <a:t>	</a:t>
            </a:r>
            <a:r>
              <a:rPr lang="zh-CN" altLang="en-US" sz="2800" dirty="0">
                <a:solidFill>
                  <a:srgbClr val="000000"/>
                </a:solidFill>
              </a:rPr>
              <a:t>通过创建一个对象可创建类的一个实例</a:t>
            </a:r>
            <a:r>
              <a:rPr lang="en-US" altLang="zh-CN" sz="2800" dirty="0">
                <a:solidFill>
                  <a:srgbClr val="000000"/>
                </a:solidFill>
              </a:rPr>
              <a:t>, </a:t>
            </a:r>
            <a:r>
              <a:rPr lang="zh-CN" altLang="en-US" sz="2800" dirty="0">
                <a:solidFill>
                  <a:srgbClr val="000000"/>
                </a:solidFill>
              </a:rPr>
              <a:t>也称实例化此类。</a:t>
            </a:r>
            <a:endParaRPr lang="zh-CN" altLang="en-US" sz="2800" dirty="0"/>
          </a:p>
          <a:p>
            <a:pPr marL="609600" indent="-609600" eaLnBrk="1" hangingPunct="1">
              <a:lnSpc>
                <a:spcPct val="90000"/>
              </a:lnSpc>
              <a:buFont typeface="Wingdings" pitchFamily="2" charset="2"/>
              <a:buNone/>
            </a:pPr>
            <a:r>
              <a:rPr lang="zh-CN" altLang="en-US" sz="2800" dirty="0">
                <a:solidFill>
                  <a:srgbClr val="000000"/>
                </a:solidFill>
              </a:rPr>
              <a:t>	例</a:t>
            </a:r>
            <a:r>
              <a:rPr lang="en-US" altLang="zh-CN" sz="2800" dirty="0">
                <a:solidFill>
                  <a:srgbClr val="000000"/>
                </a:solidFill>
              </a:rPr>
              <a:t>Rectangle rect = new Rectangle();</a:t>
            </a:r>
          </a:p>
          <a:p>
            <a:pPr marL="609600" indent="-609600" eaLnBrk="1" hangingPunct="1">
              <a:lnSpc>
                <a:spcPct val="90000"/>
              </a:lnSpc>
              <a:buFont typeface="Wingdings" pitchFamily="2" charset="2"/>
              <a:buNone/>
            </a:pPr>
            <a:r>
              <a:rPr lang="zh-CN" altLang="en-US" sz="2800" dirty="0">
                <a:solidFill>
                  <a:srgbClr val="000000"/>
                </a:solidFill>
              </a:rPr>
              <a:t>创建一个对象包括三部分：</a:t>
            </a:r>
            <a:endParaRPr lang="zh-CN" altLang="en-US" sz="2800" dirty="0"/>
          </a:p>
          <a:p>
            <a:pPr marL="990600" lvl="1" indent="-533400" eaLnBrk="1" hangingPunct="1">
              <a:lnSpc>
                <a:spcPct val="90000"/>
              </a:lnSpc>
            </a:pPr>
            <a:r>
              <a:rPr lang="zh-CN" altLang="en-US" sz="2400" dirty="0">
                <a:solidFill>
                  <a:srgbClr val="000000"/>
                </a:solidFill>
              </a:rPr>
              <a:t>      声明部分</a:t>
            </a:r>
            <a:r>
              <a:rPr lang="zh-CN" altLang="en-US" sz="2400" dirty="0"/>
              <a:t> </a:t>
            </a:r>
          </a:p>
          <a:p>
            <a:pPr marL="990600" lvl="1" indent="-533400" eaLnBrk="1" hangingPunct="1">
              <a:lnSpc>
                <a:spcPct val="90000"/>
              </a:lnSpc>
            </a:pPr>
            <a:r>
              <a:rPr lang="zh-CN" altLang="en-US" sz="2400" dirty="0">
                <a:solidFill>
                  <a:srgbClr val="000000"/>
                </a:solidFill>
              </a:rPr>
              <a:t>      实例化部分</a:t>
            </a:r>
            <a:r>
              <a:rPr lang="zh-CN" altLang="en-US" sz="2400" dirty="0"/>
              <a:t> </a:t>
            </a:r>
          </a:p>
          <a:p>
            <a:pPr marL="990600" lvl="1" indent="-533400" eaLnBrk="1" hangingPunct="1">
              <a:lnSpc>
                <a:spcPct val="90000"/>
              </a:lnSpc>
            </a:pPr>
            <a:r>
              <a:rPr lang="zh-CN" altLang="en-US" sz="2400" dirty="0">
                <a:solidFill>
                  <a:srgbClr val="000000"/>
                </a:solidFill>
              </a:rPr>
              <a:t>      初始化部分</a:t>
            </a:r>
            <a:endParaRPr lang="zh-CN" altLang="en-US" sz="2400" dirty="0"/>
          </a:p>
          <a:p>
            <a:pPr marL="609600" indent="-609600" eaLnBrk="1" hangingPunct="1">
              <a:lnSpc>
                <a:spcPct val="90000"/>
              </a:lnSpc>
              <a:buFont typeface="Wingdings" pitchFamily="2" charset="2"/>
              <a:buNone/>
            </a:pPr>
            <a:endParaRPr lang="en-US" altLang="zh-CN" sz="2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8" name="Rectangle 3"/>
          <p:cNvSpPr>
            <a:spLocks noGrp="1" noChangeArrowheads="1"/>
          </p:cNvSpPr>
          <p:nvPr>
            <p:ph type="body" idx="1"/>
          </p:nvPr>
        </p:nvSpPr>
        <p:spPr>
          <a:xfrm>
            <a:off x="457200" y="1556792"/>
            <a:ext cx="8686800" cy="3881438"/>
          </a:xfrm>
        </p:spPr>
        <p:txBody>
          <a:bodyPr/>
          <a:lstStyle/>
          <a:p>
            <a:pPr marL="609600" indent="-609600" eaLnBrk="1" hangingPunct="1">
              <a:lnSpc>
                <a:spcPct val="90000"/>
              </a:lnSpc>
            </a:pPr>
            <a:r>
              <a:rPr lang="zh-CN" altLang="en-US" b="1" dirty="0">
                <a:solidFill>
                  <a:schemeClr val="folHlink"/>
                </a:solidFill>
              </a:rPr>
              <a:t>声明对象</a:t>
            </a:r>
            <a:r>
              <a:rPr lang="zh-CN" altLang="en-US" dirty="0">
                <a:solidFill>
                  <a:schemeClr val="folHlink"/>
                </a:solidFill>
              </a:rPr>
              <a:t> </a:t>
            </a:r>
          </a:p>
          <a:p>
            <a:pPr marL="609600" indent="-609600" eaLnBrk="1" hangingPunct="1">
              <a:lnSpc>
                <a:spcPct val="90000"/>
              </a:lnSpc>
              <a:buFont typeface="Wingdings" pitchFamily="2" charset="2"/>
              <a:buNone/>
            </a:pPr>
            <a:r>
              <a:rPr lang="zh-CN" altLang="en-US" sz="2400" dirty="0">
                <a:solidFill>
                  <a:srgbClr val="000000"/>
                </a:solidFill>
              </a:rPr>
              <a:t>	声明对象的名字和类型，用类名来说明对象的类型。</a:t>
            </a:r>
            <a:endParaRPr lang="zh-CN" altLang="en-US" sz="2400" dirty="0"/>
          </a:p>
          <a:p>
            <a:pPr marL="609600" indent="-609600">
              <a:lnSpc>
                <a:spcPct val="90000"/>
              </a:lnSpc>
              <a:buNone/>
            </a:pPr>
            <a:r>
              <a:rPr lang="zh-CN" altLang="en-US" sz="2400" dirty="0">
                <a:solidFill>
                  <a:srgbClr val="000000"/>
                </a:solidFill>
              </a:rPr>
              <a:t>格式：</a:t>
            </a:r>
            <a:r>
              <a:rPr lang="en-US" altLang="zh-CN" sz="2400" dirty="0">
                <a:solidFill>
                  <a:srgbClr val="000000"/>
                </a:solidFill>
              </a:rPr>
              <a:t>type name    </a:t>
            </a:r>
            <a:r>
              <a:rPr lang="zh-CN" altLang="en-US" sz="2400" dirty="0">
                <a:solidFill>
                  <a:srgbClr val="000000"/>
                </a:solidFill>
              </a:rPr>
              <a:t>例</a:t>
            </a:r>
            <a:r>
              <a:rPr lang="en-US" altLang="zh-CN" sz="2400" dirty="0">
                <a:solidFill>
                  <a:srgbClr val="000000"/>
                </a:solidFill>
              </a:rPr>
              <a:t>: Rectangle rect;</a:t>
            </a:r>
          </a:p>
          <a:p>
            <a:pPr marL="609600" indent="-609600" eaLnBrk="1" hangingPunct="1">
              <a:lnSpc>
                <a:spcPct val="90000"/>
              </a:lnSpc>
              <a:buFont typeface="Wingdings" pitchFamily="2" charset="2"/>
              <a:buNone/>
            </a:pPr>
            <a:r>
              <a:rPr lang="zh-CN" altLang="en-US" sz="2400" dirty="0">
                <a:solidFill>
                  <a:srgbClr val="000000"/>
                </a:solidFill>
              </a:rPr>
              <a:t>说明：</a:t>
            </a:r>
            <a:endParaRPr lang="zh-CN" altLang="en-US" sz="2400" dirty="0"/>
          </a:p>
          <a:p>
            <a:pPr marL="609600" indent="-609600" eaLnBrk="1" hangingPunct="1">
              <a:lnSpc>
                <a:spcPct val="90000"/>
              </a:lnSpc>
            </a:pPr>
            <a:r>
              <a:rPr lang="zh-CN" altLang="en-US" sz="2400" dirty="0">
                <a:solidFill>
                  <a:srgbClr val="000000"/>
                </a:solidFill>
              </a:rPr>
              <a:t>声明对象的规则与变量声明规则相同，但对象变量是引用类型；</a:t>
            </a:r>
            <a:r>
              <a:rPr lang="zh-CN" altLang="en-US" sz="2400" dirty="0"/>
              <a:t> </a:t>
            </a:r>
          </a:p>
          <a:p>
            <a:pPr marL="609600" indent="-609600" eaLnBrk="1" hangingPunct="1">
              <a:lnSpc>
                <a:spcPct val="90000"/>
              </a:lnSpc>
            </a:pPr>
            <a:r>
              <a:rPr lang="zh-CN" altLang="en-US" sz="2400" dirty="0">
                <a:solidFill>
                  <a:srgbClr val="000000"/>
                </a:solidFill>
              </a:rPr>
              <a:t>在</a:t>
            </a:r>
            <a:r>
              <a:rPr lang="en-US" altLang="zh-CN" sz="2400" dirty="0">
                <a:solidFill>
                  <a:srgbClr val="000000"/>
                </a:solidFill>
              </a:rPr>
              <a:t>java</a:t>
            </a:r>
            <a:r>
              <a:rPr lang="zh-CN" altLang="en-US" sz="2400" dirty="0">
                <a:solidFill>
                  <a:srgbClr val="000000"/>
                </a:solidFill>
              </a:rPr>
              <a:t>里类和接口都可以作为数据类型来使用；</a:t>
            </a:r>
            <a:r>
              <a:rPr lang="zh-CN" altLang="en-US" sz="2400" dirty="0"/>
              <a:t> </a:t>
            </a:r>
          </a:p>
          <a:p>
            <a:pPr marL="609600" indent="-609600" eaLnBrk="1" hangingPunct="1">
              <a:lnSpc>
                <a:spcPct val="90000"/>
              </a:lnSpc>
            </a:pPr>
            <a:r>
              <a:rPr lang="zh-CN" altLang="en-US" sz="2400" dirty="0">
                <a:solidFill>
                  <a:srgbClr val="000000"/>
                </a:solidFill>
              </a:rPr>
              <a:t>对象声明通知编译器</a:t>
            </a:r>
            <a:r>
              <a:rPr lang="en-US" altLang="zh-CN" sz="2400" dirty="0">
                <a:solidFill>
                  <a:srgbClr val="000000"/>
                </a:solidFill>
              </a:rPr>
              <a:t>name</a:t>
            </a:r>
            <a:r>
              <a:rPr lang="zh-CN" altLang="en-US" sz="2400" dirty="0">
                <a:solidFill>
                  <a:srgbClr val="000000"/>
                </a:solidFill>
              </a:rPr>
              <a:t>将用来引用</a:t>
            </a:r>
            <a:r>
              <a:rPr lang="en-US" altLang="zh-CN" sz="2400" dirty="0">
                <a:solidFill>
                  <a:srgbClr val="000000"/>
                </a:solidFill>
              </a:rPr>
              <a:t>type</a:t>
            </a:r>
            <a:r>
              <a:rPr lang="zh-CN" altLang="en-US" sz="2400" dirty="0">
                <a:solidFill>
                  <a:srgbClr val="000000"/>
                </a:solidFill>
              </a:rPr>
              <a:t>类型的变量</a:t>
            </a:r>
            <a:r>
              <a:rPr lang="zh-CN" altLang="en-US" sz="2400" dirty="0"/>
              <a:t> </a:t>
            </a:r>
          </a:p>
          <a:p>
            <a:pPr marL="609600" indent="-609600" eaLnBrk="1" hangingPunct="1">
              <a:lnSpc>
                <a:spcPct val="90000"/>
              </a:lnSpc>
            </a:pPr>
            <a:r>
              <a:rPr lang="zh-CN" altLang="en-US" sz="2400" dirty="0">
                <a:solidFill>
                  <a:srgbClr val="000000"/>
                </a:solidFill>
              </a:rPr>
              <a:t>对象声明并不创建新的对象。</a:t>
            </a:r>
            <a:r>
              <a:rPr lang="zh-CN" altLang="en-US" sz="2400" dirty="0"/>
              <a:t> </a:t>
            </a:r>
          </a:p>
        </p:txBody>
      </p:sp>
      <p:sp>
        <p:nvSpPr>
          <p:cNvPr id="6" name="标题 5"/>
          <p:cNvSpPr>
            <a:spLocks noGrp="1"/>
          </p:cNvSpPr>
          <p:nvPr>
            <p:ph type="title"/>
          </p:nvPr>
        </p:nvSpPr>
        <p:spPr/>
        <p:txBody>
          <a:bodyPr/>
          <a:lstStyle/>
          <a:p>
            <a:r>
              <a:rPr lang="zh-CN" altLang="en-US" dirty="0"/>
              <a:t>创建对象</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灯片编号占位符 5"/>
          <p:cNvSpPr>
            <a:spLocks noGrp="1"/>
          </p:cNvSpPr>
          <p:nvPr>
            <p:ph type="sldNum" sz="quarter" idx="4294967295"/>
          </p:nvPr>
        </p:nvSpPr>
        <p:spPr>
          <a:xfrm>
            <a:off x="6589713" y="6376988"/>
            <a:ext cx="2193925" cy="457200"/>
          </a:xfrm>
          <a:prstGeom prst="rect">
            <a:avLst/>
          </a:prstGeom>
          <a:noFill/>
        </p:spPr>
        <p:txBody>
          <a:bodyPr/>
          <a:lstStyle/>
          <a:p>
            <a:fld id="{90DE481A-BC81-498F-9D74-36A788A18ED7}" type="slidenum">
              <a:rPr lang="en-US" altLang="zh-CN"/>
              <a:pPr/>
              <a:t>6</a:t>
            </a:fld>
            <a:endParaRPr lang="en-US" altLang="zh-CN"/>
          </a:p>
        </p:txBody>
      </p:sp>
      <p:sp>
        <p:nvSpPr>
          <p:cNvPr id="17412" name="Rectangle 3"/>
          <p:cNvSpPr>
            <a:spLocks noGrp="1" noChangeArrowheads="1"/>
          </p:cNvSpPr>
          <p:nvPr>
            <p:ph type="body" idx="1"/>
          </p:nvPr>
        </p:nvSpPr>
        <p:spPr>
          <a:xfrm>
            <a:off x="457200" y="1700808"/>
            <a:ext cx="8686800" cy="3881438"/>
          </a:xfrm>
        </p:spPr>
        <p:txBody>
          <a:bodyPr/>
          <a:lstStyle/>
          <a:p>
            <a:pPr marL="609600" indent="-609600" eaLnBrk="1" hangingPunct="1"/>
            <a:r>
              <a:rPr lang="zh-CN" altLang="en-US" b="1" dirty="0">
                <a:solidFill>
                  <a:schemeClr val="folHlink"/>
                </a:solidFill>
              </a:rPr>
              <a:t>实例化对象</a:t>
            </a:r>
            <a:r>
              <a:rPr lang="zh-CN" altLang="en-US" sz="3600" b="1" dirty="0">
                <a:solidFill>
                  <a:schemeClr val="folHlink"/>
                </a:solidFill>
              </a:rPr>
              <a:t> </a:t>
            </a:r>
          </a:p>
          <a:p>
            <a:pPr marL="609600" indent="-609600" eaLnBrk="1" hangingPunct="1">
              <a:buFont typeface="Wingdings" pitchFamily="2" charset="2"/>
              <a:buNone/>
            </a:pPr>
            <a:r>
              <a:rPr lang="zh-CN" altLang="en-US" sz="2800" dirty="0">
                <a:solidFill>
                  <a:srgbClr val="000000"/>
                </a:solidFill>
              </a:rPr>
              <a:t>	</a:t>
            </a:r>
            <a:r>
              <a:rPr lang="zh-CN" altLang="en-US" sz="2400" dirty="0">
                <a:solidFill>
                  <a:srgbClr val="000000"/>
                </a:solidFill>
              </a:rPr>
              <a:t>操作符</a:t>
            </a:r>
            <a:r>
              <a:rPr lang="en-US" altLang="zh-CN" sz="2400" dirty="0">
                <a:solidFill>
                  <a:srgbClr val="000000"/>
                </a:solidFill>
              </a:rPr>
              <a:t>new</a:t>
            </a:r>
            <a:r>
              <a:rPr lang="zh-CN" altLang="en-US" sz="2400" dirty="0">
                <a:solidFill>
                  <a:srgbClr val="000000"/>
                </a:solidFill>
              </a:rPr>
              <a:t>通过为新对象分配存储空间来实例化类</a:t>
            </a:r>
            <a:endParaRPr lang="zh-CN" altLang="en-US" sz="2400" dirty="0"/>
          </a:p>
          <a:p>
            <a:pPr marL="609600" indent="-609600" eaLnBrk="1" hangingPunct="1">
              <a:buFont typeface="Wingdings" pitchFamily="2" charset="2"/>
              <a:buNone/>
            </a:pPr>
            <a:r>
              <a:rPr lang="zh-CN" altLang="en-US" sz="2400" dirty="0">
                <a:solidFill>
                  <a:srgbClr val="000000"/>
                </a:solidFill>
              </a:rPr>
              <a:t>	格式： </a:t>
            </a:r>
            <a:r>
              <a:rPr lang="en-US" altLang="zh-CN" sz="2400" dirty="0">
                <a:solidFill>
                  <a:srgbClr val="000000"/>
                </a:solidFill>
              </a:rPr>
              <a:t>new     </a:t>
            </a:r>
            <a:r>
              <a:rPr lang="zh-CN" altLang="en-US" sz="2400" dirty="0">
                <a:solidFill>
                  <a:srgbClr val="000000"/>
                </a:solidFill>
              </a:rPr>
              <a:t>类的构造方法</a:t>
            </a:r>
            <a:endParaRPr lang="zh-CN" altLang="en-US" sz="2400" dirty="0"/>
          </a:p>
          <a:p>
            <a:pPr marL="609600" indent="-609600" eaLnBrk="1" hangingPunct="1">
              <a:buFont typeface="Wingdings" pitchFamily="2" charset="2"/>
              <a:buNone/>
            </a:pPr>
            <a:r>
              <a:rPr lang="zh-CN" altLang="en-US" sz="2400" dirty="0">
                <a:solidFill>
                  <a:srgbClr val="000000"/>
                </a:solidFill>
              </a:rPr>
              <a:t>	例</a:t>
            </a:r>
            <a:endParaRPr lang="zh-CN" altLang="en-US" sz="2400" dirty="0"/>
          </a:p>
          <a:p>
            <a:pPr marL="609600" indent="-609600" eaLnBrk="1" hangingPunct="1">
              <a:buFont typeface="Wingdings" pitchFamily="2" charset="2"/>
              <a:buNone/>
            </a:pPr>
            <a:r>
              <a:rPr lang="zh-CN" altLang="en-US" sz="2400" dirty="0">
                <a:solidFill>
                  <a:srgbClr val="000000"/>
                </a:solidFill>
              </a:rPr>
              <a:t>	</a:t>
            </a:r>
            <a:r>
              <a:rPr lang="en-US" altLang="zh-CN" sz="2400" dirty="0">
                <a:solidFill>
                  <a:srgbClr val="000000"/>
                </a:solidFill>
              </a:rPr>
              <a:t>new Rectangle(100, 200);</a:t>
            </a:r>
            <a:endParaRPr lang="en-US" altLang="zh-CN" sz="2400" dirty="0"/>
          </a:p>
          <a:p>
            <a:pPr marL="609600" indent="-609600" eaLnBrk="1" hangingPunct="1">
              <a:buFont typeface="Wingdings" pitchFamily="2" charset="2"/>
              <a:buNone/>
            </a:pPr>
            <a:r>
              <a:rPr lang="en-US" altLang="zh-CN" sz="2400" dirty="0">
                <a:solidFill>
                  <a:srgbClr val="000000"/>
                </a:solidFill>
              </a:rPr>
              <a:t>	Rectangle rect = new Rectangle(100, 200);</a:t>
            </a:r>
          </a:p>
        </p:txBody>
      </p:sp>
      <p:sp>
        <p:nvSpPr>
          <p:cNvPr id="6" name="标题 5"/>
          <p:cNvSpPr>
            <a:spLocks noGrp="1"/>
          </p:cNvSpPr>
          <p:nvPr>
            <p:ph type="title"/>
          </p:nvPr>
        </p:nvSpPr>
        <p:spPr/>
        <p:txBody>
          <a:bodyPr/>
          <a:lstStyle/>
          <a:p>
            <a:r>
              <a:rPr lang="zh-CN" altLang="en-US" dirty="0"/>
              <a:t>创建对象</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6" name="Rectangle 3"/>
          <p:cNvSpPr>
            <a:spLocks noGrp="1" noChangeArrowheads="1"/>
          </p:cNvSpPr>
          <p:nvPr>
            <p:ph type="body" idx="1"/>
          </p:nvPr>
        </p:nvSpPr>
        <p:spPr>
          <a:xfrm>
            <a:off x="457200" y="1491778"/>
            <a:ext cx="8686800" cy="3881438"/>
          </a:xfrm>
        </p:spPr>
        <p:txBody>
          <a:bodyPr/>
          <a:lstStyle/>
          <a:p>
            <a:pPr marL="609600" indent="-609600" eaLnBrk="1" hangingPunct="1">
              <a:lnSpc>
                <a:spcPct val="90000"/>
              </a:lnSpc>
            </a:pPr>
            <a:r>
              <a:rPr lang="zh-CN" altLang="en-US" b="1" dirty="0">
                <a:solidFill>
                  <a:schemeClr val="folHlink"/>
                </a:solidFill>
              </a:rPr>
              <a:t>初始化对象</a:t>
            </a:r>
          </a:p>
          <a:p>
            <a:pPr marL="609600" indent="-609600" eaLnBrk="1" hangingPunct="1">
              <a:lnSpc>
                <a:spcPct val="90000"/>
              </a:lnSpc>
              <a:buFont typeface="Wingdings" pitchFamily="2" charset="2"/>
              <a:buNone/>
            </a:pPr>
            <a:r>
              <a:rPr lang="zh-CN" altLang="en-US" sz="2400" dirty="0">
                <a:solidFill>
                  <a:srgbClr val="000000"/>
                </a:solidFill>
              </a:rPr>
              <a:t>	每个类都至少有一个构造函数，当创建对象时调用指定的构造函数来初始化对象</a:t>
            </a:r>
            <a:endParaRPr lang="zh-CN" altLang="en-US" sz="2400" dirty="0"/>
          </a:p>
          <a:p>
            <a:pPr marL="609600" indent="-609600" eaLnBrk="1" hangingPunct="1">
              <a:lnSpc>
                <a:spcPct val="90000"/>
              </a:lnSpc>
              <a:buFont typeface="Wingdings" pitchFamily="2" charset="2"/>
              <a:buNone/>
            </a:pPr>
            <a:r>
              <a:rPr lang="zh-CN" altLang="en-US" sz="2400" dirty="0">
                <a:solidFill>
                  <a:srgbClr val="000000"/>
                </a:solidFill>
              </a:rPr>
              <a:t>例</a:t>
            </a:r>
            <a:endParaRPr lang="zh-CN" altLang="en-US" sz="2400" dirty="0"/>
          </a:p>
          <a:p>
            <a:pPr marL="609600" indent="-609600" eaLnBrk="1" hangingPunct="1">
              <a:lnSpc>
                <a:spcPct val="90000"/>
              </a:lnSpc>
              <a:buFont typeface="Wingdings" pitchFamily="2" charset="2"/>
              <a:buNone/>
            </a:pPr>
            <a:r>
              <a:rPr lang="en-US" altLang="zh-CN" sz="2400" dirty="0">
                <a:solidFill>
                  <a:srgbClr val="000000"/>
                </a:solidFill>
              </a:rPr>
              <a:t>Rectangle rect = new Rectangle();</a:t>
            </a:r>
            <a:endParaRPr lang="en-US" altLang="zh-CN" sz="2400" dirty="0"/>
          </a:p>
          <a:p>
            <a:pPr marL="609600" indent="-609600" eaLnBrk="1" hangingPunct="1">
              <a:lnSpc>
                <a:spcPct val="90000"/>
              </a:lnSpc>
              <a:buFont typeface="Wingdings" pitchFamily="2" charset="2"/>
              <a:buNone/>
            </a:pPr>
            <a:r>
              <a:rPr lang="en-US" altLang="zh-CN" sz="2400" dirty="0">
                <a:solidFill>
                  <a:srgbClr val="000000"/>
                </a:solidFill>
              </a:rPr>
              <a:t>Rectangle rect = new Rectangle(100, 200);</a:t>
            </a:r>
            <a:endParaRPr lang="en-US" altLang="zh-CN" sz="2400" dirty="0"/>
          </a:p>
          <a:p>
            <a:pPr marL="609600" indent="-609600" eaLnBrk="1" hangingPunct="1">
              <a:lnSpc>
                <a:spcPct val="90000"/>
              </a:lnSpc>
              <a:buFont typeface="Wingdings" pitchFamily="2" charset="2"/>
              <a:buNone/>
            </a:pPr>
            <a:r>
              <a:rPr lang="en-US" altLang="zh-CN" sz="2400" dirty="0">
                <a:solidFill>
                  <a:srgbClr val="000000"/>
                </a:solidFill>
              </a:rPr>
              <a:t>Rectangle rect = new Rectangle(new Point(44,78));</a:t>
            </a:r>
            <a:endParaRPr lang="en-US" altLang="zh-CN" sz="2400" dirty="0"/>
          </a:p>
          <a:p>
            <a:pPr marL="609600" indent="-609600" eaLnBrk="1" hangingPunct="1">
              <a:lnSpc>
                <a:spcPct val="90000"/>
              </a:lnSpc>
              <a:buFont typeface="Wingdings" pitchFamily="2" charset="2"/>
              <a:buNone/>
            </a:pPr>
            <a:r>
              <a:rPr lang="zh-CN" altLang="en-US" sz="2400" dirty="0">
                <a:solidFill>
                  <a:srgbClr val="000000"/>
                </a:solidFill>
              </a:rPr>
              <a:t>注：在定义类时如未定义构造函数系统，</a:t>
            </a:r>
            <a:r>
              <a:rPr lang="en-US" altLang="zh-CN" sz="2400" dirty="0">
                <a:solidFill>
                  <a:srgbClr val="000000"/>
                </a:solidFill>
              </a:rPr>
              <a:t>java</a:t>
            </a:r>
            <a:r>
              <a:rPr lang="zh-CN" altLang="en-US" sz="2400" dirty="0">
                <a:solidFill>
                  <a:srgbClr val="000000"/>
                </a:solidFill>
              </a:rPr>
              <a:t>会自动构造一个没有参数的构造函数。</a:t>
            </a:r>
            <a:endParaRPr lang="zh-CN" altLang="en-US" sz="2400" dirty="0"/>
          </a:p>
          <a:p>
            <a:pPr marL="609600" indent="-609600" eaLnBrk="1" hangingPunct="1">
              <a:lnSpc>
                <a:spcPct val="90000"/>
              </a:lnSpc>
              <a:buFont typeface="Wingdings" pitchFamily="2" charset="2"/>
              <a:buNone/>
            </a:pPr>
            <a:r>
              <a:rPr lang="zh-CN" altLang="en-US" sz="2400" b="1" dirty="0">
                <a:solidFill>
                  <a:srgbClr val="000000"/>
                </a:solidFill>
              </a:rPr>
              <a:t>　</a:t>
            </a:r>
          </a:p>
        </p:txBody>
      </p:sp>
      <p:sp>
        <p:nvSpPr>
          <p:cNvPr id="6" name="标题 5"/>
          <p:cNvSpPr>
            <a:spLocks noGrp="1"/>
          </p:cNvSpPr>
          <p:nvPr>
            <p:ph type="title"/>
          </p:nvPr>
        </p:nvSpPr>
        <p:spPr/>
        <p:txBody>
          <a:bodyPr/>
          <a:lstStyle/>
          <a:p>
            <a:r>
              <a:rPr lang="zh-CN" altLang="en-US" dirty="0"/>
              <a:t>创建对象</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灯片编号占位符 5"/>
          <p:cNvSpPr>
            <a:spLocks noGrp="1"/>
          </p:cNvSpPr>
          <p:nvPr>
            <p:ph type="sldNum" sz="quarter" idx="4294967295"/>
          </p:nvPr>
        </p:nvSpPr>
        <p:spPr>
          <a:xfrm>
            <a:off x="6589713" y="6376988"/>
            <a:ext cx="2193925" cy="457200"/>
          </a:xfrm>
          <a:prstGeom prst="rect">
            <a:avLst/>
          </a:prstGeom>
          <a:noFill/>
        </p:spPr>
        <p:txBody>
          <a:bodyPr/>
          <a:lstStyle/>
          <a:p>
            <a:fld id="{3C6F722E-A7D4-4621-8656-BAF556A5AC67}" type="slidenum">
              <a:rPr lang="en-US" altLang="zh-CN"/>
              <a:pPr/>
              <a:t>8</a:t>
            </a:fld>
            <a:endParaRPr lang="en-US" altLang="zh-CN"/>
          </a:p>
        </p:txBody>
      </p:sp>
      <p:sp>
        <p:nvSpPr>
          <p:cNvPr id="19460" name="Rectangle 3"/>
          <p:cNvSpPr>
            <a:spLocks noGrp="1" noChangeArrowheads="1"/>
          </p:cNvSpPr>
          <p:nvPr>
            <p:ph type="body" idx="1"/>
          </p:nvPr>
        </p:nvSpPr>
        <p:spPr>
          <a:xfrm>
            <a:off x="457200" y="1556792"/>
            <a:ext cx="8686800" cy="3881438"/>
          </a:xfrm>
        </p:spPr>
        <p:txBody>
          <a:bodyPr/>
          <a:lstStyle/>
          <a:p>
            <a:pPr marL="609600" indent="-609600" eaLnBrk="1" hangingPunct="1">
              <a:lnSpc>
                <a:spcPct val="90000"/>
              </a:lnSpc>
              <a:buFont typeface="Wingdings" pitchFamily="2" charset="2"/>
              <a:buNone/>
            </a:pPr>
            <a:r>
              <a:rPr lang="zh-CN" altLang="en-US" dirty="0">
                <a:solidFill>
                  <a:srgbClr val="000000"/>
                </a:solidFill>
              </a:rPr>
              <a:t>使用对象包括：</a:t>
            </a:r>
            <a:endParaRPr lang="zh-CN" altLang="en-US" dirty="0">
              <a:solidFill>
                <a:schemeClr val="folHlink"/>
              </a:solidFill>
            </a:endParaRPr>
          </a:p>
          <a:p>
            <a:pPr marL="609600" indent="-609600" eaLnBrk="1" hangingPunct="1">
              <a:lnSpc>
                <a:spcPct val="90000"/>
              </a:lnSpc>
            </a:pPr>
            <a:r>
              <a:rPr lang="zh-CN" altLang="en-US" sz="2800" dirty="0">
                <a:solidFill>
                  <a:srgbClr val="000000"/>
                </a:solidFill>
              </a:rPr>
              <a:t>从对象中获得信息</a:t>
            </a:r>
            <a:r>
              <a:rPr lang="zh-CN" altLang="en-US" sz="2800" dirty="0">
                <a:solidFill>
                  <a:schemeClr val="folHlink"/>
                </a:solidFill>
              </a:rPr>
              <a:t> </a:t>
            </a:r>
          </a:p>
          <a:p>
            <a:pPr marL="609600" indent="-609600" eaLnBrk="1" hangingPunct="1">
              <a:lnSpc>
                <a:spcPct val="90000"/>
              </a:lnSpc>
            </a:pPr>
            <a:r>
              <a:rPr lang="zh-CN" altLang="en-US" sz="2800" dirty="0">
                <a:solidFill>
                  <a:srgbClr val="000000"/>
                </a:solidFill>
              </a:rPr>
              <a:t>改变对象的状态</a:t>
            </a:r>
            <a:r>
              <a:rPr lang="zh-CN" altLang="en-US" sz="2800" dirty="0">
                <a:solidFill>
                  <a:schemeClr val="folHlink"/>
                </a:solidFill>
              </a:rPr>
              <a:t> </a:t>
            </a:r>
          </a:p>
          <a:p>
            <a:pPr marL="609600" indent="-609600" eaLnBrk="1" hangingPunct="1">
              <a:lnSpc>
                <a:spcPct val="90000"/>
              </a:lnSpc>
            </a:pPr>
            <a:r>
              <a:rPr lang="zh-CN" altLang="en-US" sz="2800" dirty="0">
                <a:solidFill>
                  <a:srgbClr val="000000"/>
                </a:solidFill>
              </a:rPr>
              <a:t>使对象执行某些操作</a:t>
            </a:r>
            <a:r>
              <a:rPr lang="zh-CN" altLang="en-US" sz="2800" dirty="0">
                <a:solidFill>
                  <a:schemeClr val="folHlink"/>
                </a:solidFill>
              </a:rPr>
              <a:t> </a:t>
            </a:r>
          </a:p>
          <a:p>
            <a:pPr marL="609600" indent="-609600" eaLnBrk="1" hangingPunct="1">
              <a:lnSpc>
                <a:spcPct val="90000"/>
              </a:lnSpc>
              <a:buFont typeface="Wingdings" pitchFamily="2" charset="2"/>
              <a:buNone/>
            </a:pPr>
            <a:r>
              <a:rPr lang="zh-CN" altLang="en-US" dirty="0">
                <a:solidFill>
                  <a:srgbClr val="000000"/>
                </a:solidFill>
              </a:rPr>
              <a:t>实现途径</a:t>
            </a:r>
            <a:r>
              <a:rPr lang="en-US" altLang="zh-CN" dirty="0">
                <a:solidFill>
                  <a:srgbClr val="000000"/>
                </a:solidFill>
              </a:rPr>
              <a:t>:</a:t>
            </a:r>
            <a:endParaRPr lang="en-US" altLang="zh-CN" dirty="0">
              <a:solidFill>
                <a:schemeClr val="folHlink"/>
              </a:solidFill>
            </a:endParaRPr>
          </a:p>
          <a:p>
            <a:pPr marL="609600" indent="-609600" eaLnBrk="1" hangingPunct="1">
              <a:lnSpc>
                <a:spcPct val="90000"/>
              </a:lnSpc>
            </a:pPr>
            <a:r>
              <a:rPr lang="zh-CN" altLang="en-US" sz="2800" dirty="0">
                <a:solidFill>
                  <a:srgbClr val="000000"/>
                </a:solidFill>
              </a:rPr>
              <a:t>引用对象的变量</a:t>
            </a:r>
            <a:r>
              <a:rPr lang="zh-CN" altLang="en-US" sz="2800" dirty="0">
                <a:solidFill>
                  <a:schemeClr val="folHlink"/>
                </a:solidFill>
              </a:rPr>
              <a:t> </a:t>
            </a:r>
          </a:p>
          <a:p>
            <a:pPr marL="609600" indent="-609600" eaLnBrk="1" hangingPunct="1">
              <a:lnSpc>
                <a:spcPct val="90000"/>
              </a:lnSpc>
            </a:pPr>
            <a:r>
              <a:rPr lang="zh-CN" altLang="en-US" sz="2800" dirty="0">
                <a:solidFill>
                  <a:srgbClr val="000000"/>
                </a:solidFill>
              </a:rPr>
              <a:t>调用对象的方法 </a:t>
            </a:r>
            <a:endParaRPr lang="zh-CN" altLang="en-US" sz="2800" dirty="0">
              <a:solidFill>
                <a:schemeClr val="folHlink"/>
              </a:solidFill>
            </a:endParaRPr>
          </a:p>
          <a:p>
            <a:pPr marL="609600" indent="-609600" eaLnBrk="1" hangingPunct="1">
              <a:lnSpc>
                <a:spcPct val="90000"/>
              </a:lnSpc>
              <a:buFont typeface="Wingdings" pitchFamily="2" charset="2"/>
              <a:buNone/>
            </a:pPr>
            <a:r>
              <a:rPr lang="zh-CN" altLang="en-US" b="1" dirty="0">
                <a:solidFill>
                  <a:srgbClr val="000000"/>
                </a:solidFill>
              </a:rPr>
              <a:t>　</a:t>
            </a:r>
          </a:p>
        </p:txBody>
      </p:sp>
      <p:sp>
        <p:nvSpPr>
          <p:cNvPr id="6" name="标题 5"/>
          <p:cNvSpPr>
            <a:spLocks noGrp="1"/>
          </p:cNvSpPr>
          <p:nvPr>
            <p:ph type="title"/>
          </p:nvPr>
        </p:nvSpPr>
        <p:spPr/>
        <p:txBody>
          <a:bodyPr/>
          <a:lstStyle/>
          <a:p>
            <a:r>
              <a:rPr lang="en-US" altLang="zh-CN" dirty="0"/>
              <a:t>2. </a:t>
            </a:r>
            <a:r>
              <a:rPr lang="zh-CN" altLang="en-US" dirty="0"/>
              <a:t>对象的使用</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4" name="Rectangle 3"/>
          <p:cNvSpPr>
            <a:spLocks noGrp="1" noChangeArrowheads="1"/>
          </p:cNvSpPr>
          <p:nvPr>
            <p:ph type="body" idx="1"/>
          </p:nvPr>
        </p:nvSpPr>
        <p:spPr>
          <a:xfrm>
            <a:off x="395536" y="1628800"/>
            <a:ext cx="8686800" cy="3881438"/>
          </a:xfrm>
        </p:spPr>
        <p:txBody>
          <a:bodyPr/>
          <a:lstStyle/>
          <a:p>
            <a:pPr marL="609600" indent="-609600" eaLnBrk="1" hangingPunct="1">
              <a:lnSpc>
                <a:spcPct val="90000"/>
              </a:lnSpc>
            </a:pPr>
            <a:r>
              <a:rPr lang="zh-CN" altLang="en-US" b="1" dirty="0">
                <a:solidFill>
                  <a:schemeClr val="folHlink"/>
                </a:solidFill>
              </a:rPr>
              <a:t>引用对象的变量 </a:t>
            </a:r>
          </a:p>
          <a:p>
            <a:pPr marL="609600" indent="-609600" eaLnBrk="1" hangingPunct="1">
              <a:lnSpc>
                <a:spcPct val="90000"/>
              </a:lnSpc>
              <a:buFont typeface="Wingdings" pitchFamily="2" charset="2"/>
              <a:buNone/>
            </a:pPr>
            <a:r>
              <a:rPr lang="zh-CN" altLang="en-US" sz="2400" dirty="0">
                <a:solidFill>
                  <a:srgbClr val="000000"/>
                </a:solidFill>
              </a:rPr>
              <a:t>	</a:t>
            </a:r>
            <a:r>
              <a:rPr lang="zh-CN" altLang="en-US" sz="2400" b="1" dirty="0">
                <a:solidFill>
                  <a:srgbClr val="000000"/>
                </a:solidFill>
              </a:rPr>
              <a:t>引用对象变量的格式</a:t>
            </a:r>
            <a:r>
              <a:rPr lang="en-US" altLang="zh-CN" sz="2400" b="1" dirty="0">
                <a:solidFill>
                  <a:srgbClr val="000000"/>
                </a:solidFill>
              </a:rPr>
              <a:t>:</a:t>
            </a:r>
            <a:endParaRPr lang="en-US" altLang="zh-CN" sz="2400" dirty="0"/>
          </a:p>
          <a:p>
            <a:pPr marL="609600" indent="-609600" eaLnBrk="1" hangingPunct="1">
              <a:lnSpc>
                <a:spcPct val="90000"/>
              </a:lnSpc>
              <a:buFont typeface="Wingdings" pitchFamily="2" charset="2"/>
              <a:buNone/>
            </a:pPr>
            <a:r>
              <a:rPr lang="en-US" altLang="zh-CN" sz="2400" dirty="0">
                <a:solidFill>
                  <a:srgbClr val="000000"/>
                </a:solidFill>
              </a:rPr>
              <a:t>			</a:t>
            </a:r>
            <a:r>
              <a:rPr lang="zh-CN" altLang="en-US" sz="2400" dirty="0">
                <a:solidFill>
                  <a:srgbClr val="000000"/>
                </a:solidFill>
              </a:rPr>
              <a:t>对象引用</a:t>
            </a:r>
            <a:r>
              <a:rPr lang="en-US" altLang="zh-CN" sz="2400" dirty="0">
                <a:solidFill>
                  <a:srgbClr val="000000"/>
                </a:solidFill>
              </a:rPr>
              <a:t>.</a:t>
            </a:r>
            <a:r>
              <a:rPr lang="zh-CN" altLang="en-US" sz="2400" dirty="0">
                <a:solidFill>
                  <a:srgbClr val="000000"/>
                </a:solidFill>
              </a:rPr>
              <a:t>对象的变量</a:t>
            </a:r>
            <a:endParaRPr lang="zh-CN" altLang="en-US" sz="2400" dirty="0"/>
          </a:p>
          <a:p>
            <a:pPr marL="609600" indent="-609600" eaLnBrk="1" hangingPunct="1">
              <a:lnSpc>
                <a:spcPct val="90000"/>
              </a:lnSpc>
              <a:buFont typeface="Wingdings" pitchFamily="2" charset="2"/>
              <a:buNone/>
            </a:pPr>
            <a:r>
              <a:rPr lang="zh-CN" altLang="en-US" sz="2400" dirty="0">
                <a:solidFill>
                  <a:srgbClr val="000000"/>
                </a:solidFill>
              </a:rPr>
              <a:t>例：</a:t>
            </a:r>
            <a:r>
              <a:rPr lang="en-US" altLang="zh-CN" sz="2400" dirty="0">
                <a:solidFill>
                  <a:srgbClr val="000000"/>
                </a:solidFill>
              </a:rPr>
              <a:t>rect.origin = new Point(15, 37); </a:t>
            </a:r>
          </a:p>
          <a:p>
            <a:pPr marL="609600" indent="-609600" eaLnBrk="1" hangingPunct="1">
              <a:lnSpc>
                <a:spcPct val="90000"/>
              </a:lnSpc>
              <a:buFont typeface="Wingdings" pitchFamily="2" charset="2"/>
              <a:buNone/>
            </a:pPr>
            <a:r>
              <a:rPr lang="en-US" altLang="zh-CN" sz="2400" dirty="0">
                <a:solidFill>
                  <a:srgbClr val="000000"/>
                </a:solidFill>
              </a:rPr>
              <a:t>area = rect.height * rect.width;</a:t>
            </a:r>
            <a:endParaRPr lang="en-US" altLang="zh-CN" sz="2400" dirty="0"/>
          </a:p>
          <a:p>
            <a:pPr marL="609600" indent="-609600" eaLnBrk="1" hangingPunct="1">
              <a:lnSpc>
                <a:spcPct val="90000"/>
              </a:lnSpc>
              <a:buFont typeface="Wingdings" pitchFamily="2" charset="2"/>
              <a:buNone/>
            </a:pPr>
            <a:r>
              <a:rPr lang="en-US" altLang="zh-CN" sz="2400" dirty="0">
                <a:solidFill>
                  <a:srgbClr val="000000"/>
                </a:solidFill>
              </a:rPr>
              <a:t>height = new Rectangle().height; </a:t>
            </a:r>
          </a:p>
          <a:p>
            <a:pPr marL="609600" indent="-609600" eaLnBrk="1" hangingPunct="1">
              <a:lnSpc>
                <a:spcPct val="90000"/>
              </a:lnSpc>
              <a:buFont typeface="Wingdings" pitchFamily="2" charset="2"/>
              <a:buNone/>
            </a:pPr>
            <a:r>
              <a:rPr lang="zh-CN" altLang="en-US" sz="2400" dirty="0">
                <a:solidFill>
                  <a:schemeClr val="folHlink"/>
                </a:solidFill>
              </a:rPr>
              <a:t>说明</a:t>
            </a:r>
            <a:r>
              <a:rPr lang="en-US" altLang="zh-CN" sz="2400" dirty="0">
                <a:solidFill>
                  <a:schemeClr val="folHlink"/>
                </a:solidFill>
              </a:rPr>
              <a:t>:</a:t>
            </a:r>
            <a:r>
              <a:rPr lang="en-US" altLang="zh-CN" sz="2400" dirty="0">
                <a:solidFill>
                  <a:srgbClr val="000000"/>
                </a:solidFill>
              </a:rPr>
              <a:t>  </a:t>
            </a:r>
            <a:r>
              <a:rPr lang="zh-CN" altLang="en-US" sz="2400" dirty="0">
                <a:solidFill>
                  <a:srgbClr val="000000"/>
                </a:solidFill>
              </a:rPr>
              <a:t>可以像使用其它变量一样来使用对象的变量。</a:t>
            </a:r>
            <a:r>
              <a:rPr lang="zh-CN" altLang="en-US" sz="2400" dirty="0"/>
              <a:t> </a:t>
            </a:r>
          </a:p>
          <a:p>
            <a:pPr marL="609600" indent="-609600" eaLnBrk="1" hangingPunct="1">
              <a:lnSpc>
                <a:spcPct val="90000"/>
              </a:lnSpc>
              <a:buFont typeface="Wingdings" pitchFamily="2" charset="2"/>
              <a:buNone/>
            </a:pPr>
            <a:r>
              <a:rPr lang="zh-CN" altLang="en-US" sz="2400" dirty="0">
                <a:solidFill>
                  <a:srgbClr val="000000"/>
                </a:solidFill>
              </a:rPr>
              <a:t>	例如：	</a:t>
            </a:r>
            <a:r>
              <a:rPr lang="en-US" altLang="zh-CN" sz="2400" dirty="0">
                <a:solidFill>
                  <a:srgbClr val="000000"/>
                </a:solidFill>
              </a:rPr>
              <a:t>area = rect1.height *rect1.width</a:t>
            </a:r>
            <a:endParaRPr lang="en-US" altLang="zh-CN" sz="2400" dirty="0"/>
          </a:p>
          <a:p>
            <a:pPr marL="609600" indent="-609600" eaLnBrk="1" hangingPunct="1">
              <a:lnSpc>
                <a:spcPct val="90000"/>
              </a:lnSpc>
              <a:buFont typeface="Wingdings" pitchFamily="2" charset="2"/>
              <a:buNone/>
            </a:pPr>
            <a:r>
              <a:rPr lang="zh-CN" altLang="en-US" sz="2400" b="1" dirty="0">
                <a:solidFill>
                  <a:srgbClr val="000000"/>
                </a:solidFill>
              </a:rPr>
              <a:t>　</a:t>
            </a:r>
          </a:p>
        </p:txBody>
      </p:sp>
      <p:sp>
        <p:nvSpPr>
          <p:cNvPr id="6" name="标题 5"/>
          <p:cNvSpPr>
            <a:spLocks noGrp="1"/>
          </p:cNvSpPr>
          <p:nvPr>
            <p:ph type="title"/>
          </p:nvPr>
        </p:nvSpPr>
        <p:spPr/>
        <p:txBody>
          <a:bodyPr/>
          <a:lstStyle/>
          <a:p>
            <a:r>
              <a:rPr lang="zh-CN" altLang="en-US" b="1" dirty="0">
                <a:solidFill>
                  <a:srgbClr val="000000"/>
                </a:solidFill>
              </a:rPr>
              <a:t> </a:t>
            </a:r>
            <a:r>
              <a:rPr lang="en-US" altLang="zh-CN" b="1" dirty="0">
                <a:solidFill>
                  <a:srgbClr val="000000"/>
                </a:solidFill>
              </a:rPr>
              <a:t>2.</a:t>
            </a:r>
            <a:r>
              <a:rPr lang="zh-CN" altLang="en-US" b="1" dirty="0"/>
              <a:t>对象的使用</a:t>
            </a:r>
            <a:endParaRPr lang="zh-CN" alt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8" name="Rectangle 3"/>
          <p:cNvSpPr>
            <a:spLocks noGrp="1" noChangeArrowheads="1"/>
          </p:cNvSpPr>
          <p:nvPr>
            <p:ph type="body" idx="1"/>
          </p:nvPr>
        </p:nvSpPr>
        <p:spPr>
          <a:xfrm>
            <a:off x="179512" y="1484784"/>
            <a:ext cx="8686800" cy="3881438"/>
          </a:xfrm>
        </p:spPr>
        <p:txBody>
          <a:bodyPr/>
          <a:lstStyle/>
          <a:p>
            <a:pPr marL="609600" indent="-609600" eaLnBrk="1" hangingPunct="1">
              <a:lnSpc>
                <a:spcPct val="90000"/>
              </a:lnSpc>
            </a:pPr>
            <a:r>
              <a:rPr lang="zh-CN" altLang="en-US" b="1" dirty="0">
                <a:solidFill>
                  <a:schemeClr val="folHlink"/>
                </a:solidFill>
              </a:rPr>
              <a:t>调用对象的方法 </a:t>
            </a:r>
          </a:p>
          <a:p>
            <a:pPr marL="609600" indent="-609600" eaLnBrk="1" hangingPunct="1">
              <a:lnSpc>
                <a:spcPct val="90000"/>
              </a:lnSpc>
              <a:buFont typeface="Wingdings" pitchFamily="2" charset="2"/>
              <a:buNone/>
            </a:pPr>
            <a:r>
              <a:rPr lang="zh-CN" altLang="en-US" sz="2400" dirty="0">
                <a:solidFill>
                  <a:srgbClr val="000000"/>
                </a:solidFill>
              </a:rPr>
              <a:t>格式：  对象引用</a:t>
            </a:r>
            <a:r>
              <a:rPr lang="en-US" altLang="zh-CN" sz="2400" dirty="0">
                <a:solidFill>
                  <a:srgbClr val="000000"/>
                </a:solidFill>
              </a:rPr>
              <a:t>.</a:t>
            </a:r>
            <a:r>
              <a:rPr lang="zh-CN" altLang="en-US" sz="2400" dirty="0">
                <a:solidFill>
                  <a:srgbClr val="000000"/>
                </a:solidFill>
              </a:rPr>
              <a:t>对象方法名</a:t>
            </a:r>
            <a:r>
              <a:rPr lang="en-US" altLang="zh-CN" sz="2400" dirty="0">
                <a:solidFill>
                  <a:srgbClr val="000000"/>
                </a:solidFill>
              </a:rPr>
              <a:t>();</a:t>
            </a:r>
            <a:endParaRPr lang="en-US" altLang="zh-CN" sz="2400" dirty="0"/>
          </a:p>
          <a:p>
            <a:pPr marL="609600" indent="-609600" eaLnBrk="1" hangingPunct="1">
              <a:lnSpc>
                <a:spcPct val="90000"/>
              </a:lnSpc>
              <a:buFont typeface="Wingdings" pitchFamily="2" charset="2"/>
              <a:buNone/>
            </a:pPr>
            <a:r>
              <a:rPr lang="en-US" altLang="zh-CN" sz="2400" dirty="0">
                <a:solidFill>
                  <a:srgbClr val="000000"/>
                </a:solidFill>
              </a:rPr>
              <a:t>        </a:t>
            </a:r>
            <a:r>
              <a:rPr lang="zh-CN" altLang="en-US" sz="2400" dirty="0">
                <a:solidFill>
                  <a:srgbClr val="000000"/>
                </a:solidFill>
              </a:rPr>
              <a:t>或  对象引用</a:t>
            </a:r>
            <a:r>
              <a:rPr lang="en-US" altLang="zh-CN" sz="2400" dirty="0">
                <a:solidFill>
                  <a:srgbClr val="000000"/>
                </a:solidFill>
              </a:rPr>
              <a:t>.</a:t>
            </a:r>
            <a:r>
              <a:rPr lang="zh-CN" altLang="en-US" sz="2400" dirty="0">
                <a:solidFill>
                  <a:srgbClr val="000000"/>
                </a:solidFill>
              </a:rPr>
              <a:t>对象方法名</a:t>
            </a:r>
            <a:r>
              <a:rPr lang="en-US" altLang="zh-CN" sz="2400" dirty="0">
                <a:solidFill>
                  <a:srgbClr val="000000"/>
                </a:solidFill>
              </a:rPr>
              <a:t>(</a:t>
            </a:r>
            <a:r>
              <a:rPr lang="zh-CN" altLang="en-US" sz="2400" dirty="0">
                <a:solidFill>
                  <a:srgbClr val="000000"/>
                </a:solidFill>
              </a:rPr>
              <a:t>参数表</a:t>
            </a:r>
            <a:r>
              <a:rPr lang="en-US" altLang="zh-CN" sz="2400" dirty="0">
                <a:solidFill>
                  <a:srgbClr val="000000"/>
                </a:solidFill>
              </a:rPr>
              <a:t>);</a:t>
            </a:r>
            <a:endParaRPr lang="en-US" altLang="zh-CN" sz="2400" dirty="0"/>
          </a:p>
          <a:p>
            <a:pPr marL="609600" indent="-609600" eaLnBrk="1" hangingPunct="1">
              <a:lnSpc>
                <a:spcPct val="90000"/>
              </a:lnSpc>
              <a:buFont typeface="Wingdings" pitchFamily="2" charset="2"/>
              <a:buNone/>
            </a:pPr>
            <a:r>
              <a:rPr lang="zh-CN" altLang="en-US" sz="2400" dirty="0">
                <a:solidFill>
                  <a:srgbClr val="000000"/>
                </a:solidFill>
              </a:rPr>
              <a:t>例：</a:t>
            </a:r>
            <a:r>
              <a:rPr lang="en-US" altLang="zh-CN" sz="2400" dirty="0">
                <a:solidFill>
                  <a:srgbClr val="000000"/>
                </a:solidFill>
              </a:rPr>
              <a:t>rect.move(15, 37);</a:t>
            </a:r>
            <a:endParaRPr lang="en-US" altLang="zh-CN" sz="2400" dirty="0"/>
          </a:p>
          <a:p>
            <a:pPr marL="609600" indent="-609600" eaLnBrk="1" hangingPunct="1">
              <a:lnSpc>
                <a:spcPct val="90000"/>
              </a:lnSpc>
              <a:buFont typeface="Wingdings" pitchFamily="2" charset="2"/>
              <a:buNone/>
            </a:pPr>
            <a:r>
              <a:rPr lang="en-US" altLang="zh-CN" sz="2400" dirty="0">
                <a:solidFill>
                  <a:srgbClr val="000000"/>
                </a:solidFill>
              </a:rPr>
              <a:t>new Rectangle(100, 50).area()</a:t>
            </a:r>
          </a:p>
          <a:p>
            <a:pPr marL="609600" indent="-609600" eaLnBrk="1" hangingPunct="1">
              <a:lnSpc>
                <a:spcPct val="90000"/>
              </a:lnSpc>
              <a:buFont typeface="Wingdings" pitchFamily="2" charset="2"/>
              <a:buNone/>
            </a:pPr>
            <a:r>
              <a:rPr lang="zh-CN" altLang="en-US" sz="2400" dirty="0">
                <a:solidFill>
                  <a:schemeClr val="folHlink"/>
                </a:solidFill>
              </a:rPr>
              <a:t>说明</a:t>
            </a:r>
            <a:r>
              <a:rPr lang="en-US" altLang="zh-CN" sz="2400" dirty="0">
                <a:solidFill>
                  <a:schemeClr val="folHlink"/>
                </a:solidFill>
              </a:rPr>
              <a:t>:</a:t>
            </a:r>
          </a:p>
          <a:p>
            <a:pPr marL="609600" indent="-609600" eaLnBrk="1" hangingPunct="1">
              <a:lnSpc>
                <a:spcPct val="90000"/>
              </a:lnSpc>
            </a:pPr>
            <a:r>
              <a:rPr lang="zh-CN" altLang="en-US" sz="2400" dirty="0">
                <a:solidFill>
                  <a:srgbClr val="000000"/>
                </a:solidFill>
              </a:rPr>
              <a:t>对于返回值的方法</a:t>
            </a:r>
            <a:r>
              <a:rPr lang="en-US" altLang="zh-CN" sz="2400" dirty="0">
                <a:solidFill>
                  <a:srgbClr val="000000"/>
                </a:solidFill>
              </a:rPr>
              <a:t>,</a:t>
            </a:r>
            <a:r>
              <a:rPr lang="zh-CN" altLang="en-US" sz="2400" dirty="0">
                <a:solidFill>
                  <a:srgbClr val="000000"/>
                </a:solidFill>
              </a:rPr>
              <a:t>方法调用可以用于表达式中</a:t>
            </a:r>
            <a:r>
              <a:rPr lang="zh-CN" altLang="en-US" sz="2400" dirty="0"/>
              <a:t> </a:t>
            </a:r>
          </a:p>
          <a:p>
            <a:pPr marL="609600" indent="-609600" eaLnBrk="1" hangingPunct="1">
              <a:lnSpc>
                <a:spcPct val="90000"/>
              </a:lnSpc>
            </a:pPr>
            <a:r>
              <a:rPr lang="zh-CN" altLang="en-US" sz="2400" dirty="0">
                <a:solidFill>
                  <a:srgbClr val="000000"/>
                </a:solidFill>
              </a:rPr>
              <a:t>调用一个对象的方法即是向该对象发送一个消息</a:t>
            </a:r>
            <a:r>
              <a:rPr lang="en-US" altLang="zh-CN" sz="2400" dirty="0">
                <a:solidFill>
                  <a:srgbClr val="000000"/>
                </a:solidFill>
              </a:rPr>
              <a:t>.</a:t>
            </a:r>
            <a:r>
              <a:rPr lang="en-US" altLang="zh-CN" sz="2400" dirty="0"/>
              <a:t> </a:t>
            </a:r>
          </a:p>
          <a:p>
            <a:pPr marL="609600" indent="-609600" eaLnBrk="1" hangingPunct="1">
              <a:lnSpc>
                <a:spcPct val="90000"/>
              </a:lnSpc>
              <a:buFont typeface="Wingdings" pitchFamily="2" charset="2"/>
              <a:buNone/>
            </a:pPr>
            <a:r>
              <a:rPr lang="en-US" altLang="zh-CN" sz="2400" dirty="0"/>
              <a:t> </a:t>
            </a:r>
          </a:p>
        </p:txBody>
      </p:sp>
      <p:sp>
        <p:nvSpPr>
          <p:cNvPr id="6" name="标题 5"/>
          <p:cNvSpPr>
            <a:spLocks noGrp="1"/>
          </p:cNvSpPr>
          <p:nvPr>
            <p:ph type="title"/>
          </p:nvPr>
        </p:nvSpPr>
        <p:spPr/>
        <p:txBody>
          <a:bodyPr/>
          <a:lstStyle/>
          <a:p>
            <a:r>
              <a:rPr lang="en-US" altLang="zh-CN" b="1" dirty="0"/>
              <a:t>2. </a:t>
            </a:r>
            <a:r>
              <a:rPr lang="zh-CN" altLang="en-US" b="1" dirty="0"/>
              <a:t>对象的使用</a:t>
            </a:r>
            <a:endParaRPr lang="zh-CN" alt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2" name="Rectangle 3"/>
          <p:cNvSpPr>
            <a:spLocks noGrp="1" noChangeArrowheads="1"/>
          </p:cNvSpPr>
          <p:nvPr>
            <p:ph type="body" idx="1"/>
          </p:nvPr>
        </p:nvSpPr>
        <p:spPr>
          <a:xfrm>
            <a:off x="457200" y="1419770"/>
            <a:ext cx="8686800" cy="3881438"/>
          </a:xfrm>
        </p:spPr>
        <p:txBody>
          <a:bodyPr/>
          <a:lstStyle/>
          <a:p>
            <a:pPr marL="609600" indent="-609600" eaLnBrk="1" hangingPunct="1">
              <a:buFont typeface="Wingdings" pitchFamily="2" charset="2"/>
              <a:buNone/>
            </a:pPr>
            <a:r>
              <a:rPr lang="en-US" altLang="zh-CN" sz="2400" dirty="0">
                <a:solidFill>
                  <a:srgbClr val="000000"/>
                </a:solidFill>
              </a:rPr>
              <a:t>java</a:t>
            </a:r>
            <a:r>
              <a:rPr lang="zh-CN" altLang="en-US" sz="2400" dirty="0">
                <a:solidFill>
                  <a:srgbClr val="000000"/>
                </a:solidFill>
              </a:rPr>
              <a:t>运行使系统有一个垃圾回收进程负责清除不再使用的对象。</a:t>
            </a:r>
            <a:endParaRPr lang="zh-CN" altLang="en-US" sz="2400" dirty="0">
              <a:solidFill>
                <a:schemeClr val="folHlink"/>
              </a:solidFill>
            </a:endParaRPr>
          </a:p>
          <a:p>
            <a:pPr marL="609600" indent="-609600" eaLnBrk="1" hangingPunct="1"/>
            <a:r>
              <a:rPr lang="zh-CN" altLang="en-US" sz="2400" b="1" dirty="0">
                <a:solidFill>
                  <a:srgbClr val="000000"/>
                </a:solidFill>
              </a:rPr>
              <a:t>垃圾回收器</a:t>
            </a:r>
            <a:endParaRPr lang="zh-CN" altLang="en-US" sz="2400" b="1" dirty="0">
              <a:solidFill>
                <a:schemeClr val="folHlink"/>
              </a:solidFill>
            </a:endParaRPr>
          </a:p>
          <a:p>
            <a:pPr marL="609600" indent="-609600" eaLnBrk="1" hangingPunct="1">
              <a:buFont typeface="Wingdings" pitchFamily="2" charset="2"/>
              <a:buNone/>
            </a:pPr>
            <a:r>
              <a:rPr lang="zh-CN" altLang="en-US" sz="2400" dirty="0">
                <a:solidFill>
                  <a:srgbClr val="000000"/>
                </a:solidFill>
              </a:rPr>
              <a:t>	垃圾回收器定期扫描内存，对于被应用的对象加上标记，按可能的路径扫描结束后清除未加标记的对象。</a:t>
            </a:r>
            <a:endParaRPr lang="zh-CN" altLang="en-US" sz="2400" dirty="0">
              <a:solidFill>
                <a:schemeClr val="folHlink"/>
              </a:solidFill>
            </a:endParaRPr>
          </a:p>
          <a:p>
            <a:pPr marL="609600" indent="-609600" eaLnBrk="1" hangingPunct="1"/>
            <a:r>
              <a:rPr lang="zh-CN" altLang="en-US" sz="2400" dirty="0">
                <a:solidFill>
                  <a:srgbClr val="000000"/>
                </a:solidFill>
              </a:rPr>
              <a:t> 被回收的对象是：</a:t>
            </a:r>
          </a:p>
          <a:p>
            <a:pPr marL="990600" lvl="1" indent="-533400" eaLnBrk="1" hangingPunct="1">
              <a:buFont typeface="Wingdings" pitchFamily="2" charset="2"/>
              <a:buNone/>
            </a:pPr>
            <a:r>
              <a:rPr lang="zh-CN" altLang="en-US" sz="2400" dirty="0">
                <a:solidFill>
                  <a:srgbClr val="000000"/>
                </a:solidFill>
              </a:rPr>
              <a:t>不再被任何引用变量引用的对象</a:t>
            </a:r>
          </a:p>
          <a:p>
            <a:pPr marL="990600" lvl="1" indent="-533400" eaLnBrk="1" hangingPunct="1"/>
            <a:r>
              <a:rPr lang="zh-CN" altLang="en-US" sz="2400" dirty="0">
                <a:solidFill>
                  <a:srgbClr val="000000"/>
                </a:solidFill>
              </a:rPr>
              <a:t>引用变量自动放弃</a:t>
            </a:r>
          </a:p>
          <a:p>
            <a:pPr marL="990600" lvl="1" indent="-533400" eaLnBrk="1" hangingPunct="1"/>
            <a:r>
              <a:rPr lang="zh-CN" altLang="en-US" sz="2400" dirty="0">
                <a:solidFill>
                  <a:srgbClr val="000000"/>
                </a:solidFill>
              </a:rPr>
              <a:t>人为地将引用变量置为</a:t>
            </a:r>
            <a:r>
              <a:rPr lang="en-US" altLang="zh-CN" sz="2400" dirty="0">
                <a:solidFill>
                  <a:srgbClr val="000000"/>
                </a:solidFill>
              </a:rPr>
              <a:t>null</a:t>
            </a:r>
          </a:p>
          <a:p>
            <a:pPr marL="609600" indent="-609600" eaLnBrk="1" hangingPunct="1">
              <a:buFont typeface="Wingdings" pitchFamily="2" charset="2"/>
              <a:buNone/>
            </a:pPr>
            <a:endParaRPr lang="en-US" altLang="zh-CN" sz="2400" dirty="0">
              <a:solidFill>
                <a:srgbClr val="000000"/>
              </a:solidFill>
            </a:endParaRPr>
          </a:p>
          <a:p>
            <a:pPr marL="609600" indent="-609600" eaLnBrk="1" hangingPunct="1"/>
            <a:endParaRPr lang="en-US" altLang="zh-CN" sz="2400" dirty="0">
              <a:solidFill>
                <a:srgbClr val="000000"/>
              </a:solidFill>
            </a:endParaRPr>
          </a:p>
          <a:p>
            <a:pPr marL="990600" lvl="1" indent="-533400" eaLnBrk="1" hangingPunct="1"/>
            <a:endParaRPr lang="en-US" altLang="zh-CN" sz="2400" dirty="0">
              <a:solidFill>
                <a:srgbClr val="000000"/>
              </a:solidFill>
            </a:endParaRPr>
          </a:p>
        </p:txBody>
      </p:sp>
      <p:sp>
        <p:nvSpPr>
          <p:cNvPr id="6" name="标题 5"/>
          <p:cNvSpPr>
            <a:spLocks noGrp="1"/>
          </p:cNvSpPr>
          <p:nvPr>
            <p:ph type="title"/>
          </p:nvPr>
        </p:nvSpPr>
        <p:spPr/>
        <p:txBody>
          <a:bodyPr/>
          <a:lstStyle/>
          <a:p>
            <a:r>
              <a:rPr lang="en-US" altLang="zh-CN" b="1" dirty="0"/>
              <a:t>3.  </a:t>
            </a:r>
            <a:r>
              <a:rPr lang="zh-CN" altLang="en-US" b="1" dirty="0"/>
              <a:t>清除对象</a:t>
            </a:r>
            <a:endParaRPr lang="zh-CN" alt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3"/>
          <p:cNvSpPr>
            <a:spLocks noGrp="1" noChangeArrowheads="1"/>
          </p:cNvSpPr>
          <p:nvPr>
            <p:ph type="body" idx="1"/>
          </p:nvPr>
        </p:nvSpPr>
        <p:spPr>
          <a:xfrm>
            <a:off x="457200" y="2057400"/>
            <a:ext cx="8686800" cy="3881438"/>
          </a:xfrm>
        </p:spPr>
        <p:txBody>
          <a:bodyPr/>
          <a:lstStyle/>
          <a:p>
            <a:pPr marL="609600" indent="-609600" eaLnBrk="1" hangingPunct="1"/>
            <a:r>
              <a:rPr lang="zh-CN" altLang="en-US" sz="2800" b="1" dirty="0">
                <a:solidFill>
                  <a:srgbClr val="000000"/>
                </a:solidFill>
              </a:rPr>
              <a:t>垃圾回收器</a:t>
            </a:r>
            <a:endParaRPr lang="zh-CN" altLang="en-US" sz="2800" b="1" dirty="0">
              <a:solidFill>
                <a:schemeClr val="folHlink"/>
              </a:solidFill>
            </a:endParaRPr>
          </a:p>
          <a:p>
            <a:pPr marL="609600" indent="-609600" eaLnBrk="1" hangingPunct="1">
              <a:buFont typeface="Wingdings" pitchFamily="2" charset="2"/>
              <a:buNone/>
            </a:pPr>
            <a:r>
              <a:rPr lang="zh-CN" altLang="en-US" sz="2800" dirty="0">
                <a:solidFill>
                  <a:srgbClr val="000000"/>
                </a:solidFill>
              </a:rPr>
              <a:t>	当系统的内存用尽或程序中调用</a:t>
            </a:r>
            <a:r>
              <a:rPr lang="en-US" altLang="zh-CN" sz="2800" dirty="0">
                <a:solidFill>
                  <a:srgbClr val="000000"/>
                </a:solidFill>
                <a:cs typeface="Times New Roman" pitchFamily="18" charset="0"/>
              </a:rPr>
              <a:t>System.gc()</a:t>
            </a:r>
            <a:r>
              <a:rPr lang="zh-CN" altLang="en-US" sz="2800" dirty="0">
                <a:solidFill>
                  <a:srgbClr val="000000"/>
                </a:solidFill>
              </a:rPr>
              <a:t>要求进行垃圾收集时，垃圾收集线程与系统同步运行。否则垃圾收集器在系统空闲时异步地执行。</a:t>
            </a:r>
          </a:p>
          <a:p>
            <a:pPr marL="609600" indent="-609600" eaLnBrk="1" hangingPunct="1">
              <a:buFont typeface="Wingdings" pitchFamily="2" charset="2"/>
              <a:buNone/>
            </a:pPr>
            <a:endParaRPr lang="zh-CN" altLang="en-US" sz="2800" dirty="0">
              <a:solidFill>
                <a:srgbClr val="000000"/>
              </a:solidFill>
            </a:endParaRPr>
          </a:p>
          <a:p>
            <a:pPr marL="609600" indent="-609600" eaLnBrk="1" hangingPunct="1"/>
            <a:endParaRPr lang="zh-CN" altLang="en-US" sz="2800" dirty="0">
              <a:solidFill>
                <a:srgbClr val="000000"/>
              </a:solidFill>
            </a:endParaRPr>
          </a:p>
          <a:p>
            <a:pPr marL="990600" lvl="1" indent="-533400" eaLnBrk="1" hangingPunct="1"/>
            <a:endParaRPr lang="en-US" altLang="zh-CN" dirty="0">
              <a:solidFill>
                <a:srgbClr val="000000"/>
              </a:solidFill>
            </a:endParaRPr>
          </a:p>
        </p:txBody>
      </p:sp>
      <p:sp>
        <p:nvSpPr>
          <p:cNvPr id="6" name="标题 5"/>
          <p:cNvSpPr>
            <a:spLocks noGrp="1"/>
          </p:cNvSpPr>
          <p:nvPr>
            <p:ph type="title"/>
          </p:nvPr>
        </p:nvSpPr>
        <p:spPr/>
        <p:txBody>
          <a:bodyPr/>
          <a:lstStyle/>
          <a:p>
            <a:r>
              <a:rPr lang="en-US" altLang="zh-CN" dirty="0"/>
              <a:t>3.</a:t>
            </a:r>
            <a:r>
              <a:rPr lang="zh-CN" altLang="en-US" dirty="0"/>
              <a:t>清除对象</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0" name="Rectangle 3"/>
          <p:cNvSpPr>
            <a:spLocks noGrp="1" noChangeArrowheads="1"/>
          </p:cNvSpPr>
          <p:nvPr>
            <p:ph type="body" idx="1"/>
          </p:nvPr>
        </p:nvSpPr>
        <p:spPr>
          <a:xfrm>
            <a:off x="251520" y="1556792"/>
            <a:ext cx="8686800" cy="3881438"/>
          </a:xfrm>
        </p:spPr>
        <p:txBody>
          <a:bodyPr/>
          <a:lstStyle/>
          <a:p>
            <a:pPr marL="609600" indent="-609600" eaLnBrk="1" hangingPunct="1">
              <a:lnSpc>
                <a:spcPct val="90000"/>
              </a:lnSpc>
            </a:pPr>
            <a:r>
              <a:rPr lang="en-US" altLang="zh-CN" sz="2400" b="1" dirty="0">
                <a:solidFill>
                  <a:srgbClr val="000000"/>
                </a:solidFill>
              </a:rPr>
              <a:t>finialize</a:t>
            </a:r>
            <a:r>
              <a:rPr lang="zh-CN" altLang="en-US" sz="2400" b="1" dirty="0">
                <a:solidFill>
                  <a:srgbClr val="000000"/>
                </a:solidFill>
              </a:rPr>
              <a:t>（）方法</a:t>
            </a:r>
            <a:endParaRPr lang="zh-CN" altLang="en-US" sz="2400" b="1" dirty="0">
              <a:solidFill>
                <a:schemeClr val="folHlink"/>
              </a:solidFill>
            </a:endParaRPr>
          </a:p>
          <a:p>
            <a:pPr marL="609600" indent="-609600" eaLnBrk="1" hangingPunct="1">
              <a:lnSpc>
                <a:spcPct val="90000"/>
              </a:lnSpc>
              <a:buFont typeface="Wingdings" pitchFamily="2" charset="2"/>
              <a:buNone/>
            </a:pPr>
            <a:r>
              <a:rPr lang="zh-CN" altLang="en-US" sz="2400" dirty="0">
                <a:solidFill>
                  <a:srgbClr val="000000"/>
                </a:solidFill>
              </a:rPr>
              <a:t>	在一个对象被垃圾回收器回收之前，</a:t>
            </a:r>
            <a:r>
              <a:rPr lang="en-US" altLang="zh-CN" sz="2400" dirty="0">
                <a:solidFill>
                  <a:srgbClr val="000000"/>
                </a:solidFill>
              </a:rPr>
              <a:t>java</a:t>
            </a:r>
            <a:r>
              <a:rPr lang="zh-CN" altLang="en-US" sz="2400" dirty="0">
                <a:solidFill>
                  <a:srgbClr val="000000"/>
                </a:solidFill>
              </a:rPr>
              <a:t>解释器会自动调用对象的</a:t>
            </a:r>
            <a:r>
              <a:rPr lang="en-US" altLang="zh-CN" sz="2400" dirty="0">
                <a:solidFill>
                  <a:srgbClr val="000000"/>
                </a:solidFill>
              </a:rPr>
              <a:t>finalize</a:t>
            </a:r>
            <a:r>
              <a:rPr lang="zh-CN" altLang="en-US" sz="2400" dirty="0">
                <a:solidFill>
                  <a:srgbClr val="000000"/>
                </a:solidFill>
              </a:rPr>
              <a:t>（）方法。通常在该方法内包括了释放系统资源的代码段。</a:t>
            </a:r>
          </a:p>
          <a:p>
            <a:pPr marL="609600" indent="-609600" eaLnBrk="1" hangingPunct="1">
              <a:lnSpc>
                <a:spcPct val="90000"/>
              </a:lnSpc>
              <a:buFont typeface="Wingdings" pitchFamily="2" charset="2"/>
              <a:buNone/>
            </a:pPr>
            <a:r>
              <a:rPr lang="zh-CN" altLang="en-US" sz="2400" dirty="0">
                <a:solidFill>
                  <a:schemeClr val="folHlink"/>
                </a:solidFill>
                <a:cs typeface="Times New Roman" pitchFamily="18" charset="0"/>
              </a:rPr>
              <a:t>	</a:t>
            </a:r>
            <a:r>
              <a:rPr lang="en-US" altLang="zh-CN" sz="2400" dirty="0">
                <a:cs typeface="Times New Roman" pitchFamily="18" charset="0"/>
              </a:rPr>
              <a:t>finalize( )</a:t>
            </a:r>
            <a:r>
              <a:rPr lang="zh-CN" altLang="en-US" sz="2400" dirty="0">
                <a:cs typeface="Times New Roman" pitchFamily="18" charset="0"/>
              </a:rPr>
              <a:t>方法在类</a:t>
            </a:r>
            <a:r>
              <a:rPr lang="en-US" altLang="zh-CN" sz="2400" dirty="0">
                <a:cs typeface="Times New Roman" pitchFamily="18" charset="0"/>
              </a:rPr>
              <a:t>java.lang.Object</a:t>
            </a:r>
            <a:r>
              <a:rPr lang="zh-CN" altLang="en-US" sz="2400" dirty="0">
                <a:cs typeface="Times New Roman" pitchFamily="18" charset="0"/>
              </a:rPr>
              <a:t>中实现</a:t>
            </a:r>
          </a:p>
          <a:p>
            <a:pPr marL="609600" indent="-609600" eaLnBrk="1" hangingPunct="1">
              <a:lnSpc>
                <a:spcPct val="90000"/>
              </a:lnSpc>
              <a:buFont typeface="Wingdings" pitchFamily="2" charset="2"/>
              <a:buNone/>
            </a:pPr>
            <a:r>
              <a:rPr lang="zh-CN" altLang="en-US" sz="2400" dirty="0"/>
              <a:t>如：</a:t>
            </a:r>
          </a:p>
          <a:p>
            <a:pPr marL="609600" indent="-609600" eaLnBrk="1" hangingPunct="1">
              <a:lnSpc>
                <a:spcPct val="90000"/>
              </a:lnSpc>
              <a:buFont typeface="Wingdings" pitchFamily="2" charset="2"/>
              <a:buNone/>
            </a:pPr>
            <a:r>
              <a:rPr lang="en-US" altLang="zh-CN" sz="2400" dirty="0">
                <a:cs typeface="Times New Roman" pitchFamily="18" charset="0"/>
              </a:rPr>
              <a:t>protected void finalize ( ) throws throwable{</a:t>
            </a:r>
          </a:p>
          <a:p>
            <a:pPr marL="609600" indent="-609600" eaLnBrk="1" hangingPunct="1">
              <a:lnSpc>
                <a:spcPct val="90000"/>
              </a:lnSpc>
              <a:buFont typeface="Wingdings" pitchFamily="2" charset="2"/>
              <a:buNone/>
            </a:pPr>
            <a:r>
              <a:rPr lang="en-US" altLang="zh-CN" sz="2400" dirty="0"/>
              <a:t>	……</a:t>
            </a:r>
            <a:r>
              <a:rPr lang="en-US" altLang="zh-CN" sz="2400" dirty="0">
                <a:cs typeface="Times New Roman" pitchFamily="18" charset="0"/>
              </a:rPr>
              <a:t> // clean up code for this class</a:t>
            </a:r>
          </a:p>
          <a:p>
            <a:pPr marL="609600" indent="-609600" eaLnBrk="1" hangingPunct="1">
              <a:lnSpc>
                <a:spcPct val="90000"/>
              </a:lnSpc>
              <a:buFont typeface="Wingdings" pitchFamily="2" charset="2"/>
              <a:buNone/>
            </a:pPr>
            <a:r>
              <a:rPr lang="en-US" altLang="zh-CN" sz="2400" dirty="0">
                <a:cs typeface="Times New Roman" pitchFamily="18" charset="0"/>
              </a:rPr>
              <a:t>	super. finalize( );  //</a:t>
            </a:r>
            <a:r>
              <a:rPr lang="zh-CN" altLang="en-US" sz="2400" dirty="0">
                <a:cs typeface="Times New Roman" pitchFamily="18" charset="0"/>
              </a:rPr>
              <a:t>清除对象使用的所有资源，包括由于继				</a:t>
            </a:r>
            <a:r>
              <a:rPr lang="en-US" altLang="zh-CN" sz="2400" dirty="0">
                <a:cs typeface="Times New Roman" pitchFamily="18" charset="0"/>
              </a:rPr>
              <a:t>//</a:t>
            </a:r>
            <a:r>
              <a:rPr lang="zh-CN" altLang="en-US" sz="2400" dirty="0">
                <a:cs typeface="Times New Roman" pitchFamily="18" charset="0"/>
              </a:rPr>
              <a:t>承关系而获得的资源 </a:t>
            </a:r>
          </a:p>
          <a:p>
            <a:pPr marL="609600" indent="-609600" eaLnBrk="1" hangingPunct="1">
              <a:lnSpc>
                <a:spcPct val="90000"/>
              </a:lnSpc>
              <a:buFont typeface="Wingdings" pitchFamily="2" charset="2"/>
              <a:buNone/>
            </a:pPr>
            <a:endParaRPr lang="zh-CN" altLang="en-US" sz="2400" dirty="0">
              <a:cs typeface="Times New Roman" pitchFamily="18" charset="0"/>
            </a:endParaRPr>
          </a:p>
          <a:p>
            <a:pPr marL="609600" indent="-609600" eaLnBrk="1" hangingPunct="1">
              <a:lnSpc>
                <a:spcPct val="90000"/>
              </a:lnSpc>
              <a:buFont typeface="Wingdings" pitchFamily="2" charset="2"/>
              <a:buNone/>
            </a:pPr>
            <a:r>
              <a:rPr lang="en-US" altLang="zh-CN" sz="2400" dirty="0">
                <a:solidFill>
                  <a:schemeClr val="folHlink"/>
                </a:solidFill>
                <a:cs typeface="Times New Roman" pitchFamily="18" charset="0"/>
              </a:rPr>
              <a:t>}</a:t>
            </a:r>
          </a:p>
          <a:p>
            <a:pPr marL="609600" indent="-609600" eaLnBrk="1" hangingPunct="1">
              <a:lnSpc>
                <a:spcPct val="90000"/>
              </a:lnSpc>
              <a:buFont typeface="Wingdings" pitchFamily="2" charset="2"/>
              <a:buNone/>
            </a:pPr>
            <a:r>
              <a:rPr lang="zh-CN" altLang="en-US" sz="2400" b="1" dirty="0">
                <a:solidFill>
                  <a:srgbClr val="000000"/>
                </a:solidFill>
              </a:rPr>
              <a:t>　</a:t>
            </a:r>
          </a:p>
        </p:txBody>
      </p:sp>
      <p:sp>
        <p:nvSpPr>
          <p:cNvPr id="6" name="标题 5"/>
          <p:cNvSpPr>
            <a:spLocks noGrp="1"/>
          </p:cNvSpPr>
          <p:nvPr>
            <p:ph type="title"/>
          </p:nvPr>
        </p:nvSpPr>
        <p:spPr/>
        <p:txBody>
          <a:bodyPr/>
          <a:lstStyle/>
          <a:p>
            <a:r>
              <a:rPr lang="en-US" altLang="zh-CN" b="1" dirty="0"/>
              <a:t>3.  </a:t>
            </a:r>
            <a:r>
              <a:rPr lang="zh-CN" altLang="en-US" b="1" dirty="0"/>
              <a:t>清除对象</a:t>
            </a:r>
            <a:endParaRPr lang="zh-CN" alt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2" name="Rectangle 3"/>
          <p:cNvSpPr>
            <a:spLocks noGrp="1" noChangeArrowheads="1"/>
          </p:cNvSpPr>
          <p:nvPr>
            <p:ph type="body" idx="1"/>
          </p:nvPr>
        </p:nvSpPr>
        <p:spPr>
          <a:xfrm>
            <a:off x="457200" y="1700808"/>
            <a:ext cx="8686800" cy="3881438"/>
          </a:xfrm>
        </p:spPr>
        <p:txBody>
          <a:bodyPr/>
          <a:lstStyle/>
          <a:p>
            <a:pPr marL="609600" indent="-609600" eaLnBrk="1" hangingPunct="1">
              <a:buFont typeface="Wingdings" pitchFamily="2" charset="2"/>
              <a:buNone/>
            </a:pPr>
            <a:r>
              <a:rPr lang="en-US" altLang="zh-CN" sz="2800" dirty="0">
                <a:solidFill>
                  <a:srgbClr val="000000"/>
                </a:solidFill>
              </a:rPr>
              <a:t>   </a:t>
            </a:r>
            <a:r>
              <a:rPr lang="en-US" altLang="zh-CN" sz="2400" dirty="0">
                <a:solidFill>
                  <a:srgbClr val="000000"/>
                </a:solidFill>
              </a:rPr>
              <a:t> </a:t>
            </a:r>
            <a:r>
              <a:rPr lang="zh-CN" altLang="en-US" sz="2400" dirty="0">
                <a:solidFill>
                  <a:srgbClr val="000000"/>
                </a:solidFill>
              </a:rPr>
              <a:t>在类的声明里，说明了类的名字及其它属性。下图说明了类声明中包含的各部分</a:t>
            </a:r>
            <a:r>
              <a:rPr lang="en-US" altLang="zh-CN" sz="2400" dirty="0">
                <a:solidFill>
                  <a:srgbClr val="000000"/>
                </a:solidFill>
              </a:rPr>
              <a:t>:</a:t>
            </a:r>
          </a:p>
          <a:p>
            <a:pPr marL="609600" indent="-609600" algn="ctr" eaLnBrk="1" hangingPunct="1">
              <a:buFont typeface="Wingdings" pitchFamily="2" charset="2"/>
              <a:buNone/>
            </a:pPr>
            <a:r>
              <a:rPr lang="en-US" altLang="zh-CN" sz="2800" dirty="0">
                <a:solidFill>
                  <a:srgbClr val="000000"/>
                </a:solidFill>
              </a:rPr>
              <a:t> </a:t>
            </a:r>
          </a:p>
          <a:p>
            <a:pPr marL="609600" indent="-609600" eaLnBrk="1" hangingPunct="1">
              <a:buFont typeface="Wingdings" pitchFamily="2" charset="2"/>
              <a:buNone/>
            </a:pPr>
            <a:endParaRPr lang="en-US" altLang="zh-CN" sz="2800" dirty="0">
              <a:solidFill>
                <a:srgbClr val="000000"/>
              </a:solidFill>
            </a:endParaRPr>
          </a:p>
        </p:txBody>
      </p:sp>
      <p:pic>
        <p:nvPicPr>
          <p:cNvPr id="27654" name="Picture 8" descr="Image8"/>
          <p:cNvPicPr>
            <a:picLocks noChangeAspect="1" noChangeArrowheads="1"/>
          </p:cNvPicPr>
          <p:nvPr/>
        </p:nvPicPr>
        <p:blipFill>
          <a:blip r:embed="rId2" cstate="print"/>
          <a:srcRect/>
          <a:stretch>
            <a:fillRect/>
          </a:stretch>
        </p:blipFill>
        <p:spPr bwMode="auto">
          <a:xfrm>
            <a:off x="838200" y="2636912"/>
            <a:ext cx="8305800" cy="3429000"/>
          </a:xfrm>
          <a:prstGeom prst="rect">
            <a:avLst/>
          </a:prstGeom>
          <a:noFill/>
          <a:ln w="9525">
            <a:noFill/>
            <a:miter lim="800000"/>
            <a:headEnd/>
            <a:tailEnd/>
          </a:ln>
        </p:spPr>
      </p:pic>
      <p:sp>
        <p:nvSpPr>
          <p:cNvPr id="7" name="标题 6"/>
          <p:cNvSpPr>
            <a:spLocks noGrp="1"/>
          </p:cNvSpPr>
          <p:nvPr>
            <p:ph type="title"/>
          </p:nvPr>
        </p:nvSpPr>
        <p:spPr/>
        <p:txBody>
          <a:bodyPr/>
          <a:lstStyle/>
          <a:p>
            <a:r>
              <a:rPr lang="zh-CN" altLang="en-US" b="1" dirty="0">
                <a:solidFill>
                  <a:srgbClr val="000000"/>
                </a:solidFill>
              </a:rPr>
              <a:t> </a:t>
            </a:r>
            <a:r>
              <a:rPr lang="zh-CN" altLang="en-US" b="1" dirty="0">
                <a:solidFill>
                  <a:srgbClr val="0033CC"/>
                </a:solidFill>
              </a:rPr>
              <a:t>类声明</a:t>
            </a:r>
            <a:r>
              <a:rPr lang="zh-CN" altLang="en-US" dirty="0">
                <a:solidFill>
                  <a:srgbClr val="000000"/>
                </a:solidFill>
              </a:rPr>
              <a:t> </a:t>
            </a:r>
            <a:endParaRPr lang="zh-CN" alt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灯片编号占位符 5"/>
          <p:cNvSpPr>
            <a:spLocks noGrp="1"/>
          </p:cNvSpPr>
          <p:nvPr>
            <p:ph type="sldNum" sz="quarter" idx="4294967295"/>
          </p:nvPr>
        </p:nvSpPr>
        <p:spPr>
          <a:xfrm>
            <a:off x="6589713" y="6376988"/>
            <a:ext cx="2193925" cy="457200"/>
          </a:xfrm>
          <a:prstGeom prst="rect">
            <a:avLst/>
          </a:prstGeom>
          <a:noFill/>
        </p:spPr>
        <p:txBody>
          <a:bodyPr/>
          <a:lstStyle/>
          <a:p>
            <a:fld id="{402900EC-3A7F-4DEE-BE73-B459DBBF325D}" type="slidenum">
              <a:rPr lang="en-US" altLang="zh-CN"/>
              <a:pPr/>
              <a:t>15</a:t>
            </a:fld>
            <a:endParaRPr lang="en-US" altLang="zh-CN"/>
          </a:p>
        </p:txBody>
      </p:sp>
      <p:sp>
        <p:nvSpPr>
          <p:cNvPr id="28676" name="Rectangle 3"/>
          <p:cNvSpPr>
            <a:spLocks noGrp="1" noChangeArrowheads="1"/>
          </p:cNvSpPr>
          <p:nvPr>
            <p:ph type="body" idx="1"/>
          </p:nvPr>
        </p:nvSpPr>
        <p:spPr>
          <a:xfrm>
            <a:off x="457200" y="2057400"/>
            <a:ext cx="8305800" cy="3881438"/>
          </a:xfrm>
        </p:spPr>
        <p:txBody>
          <a:bodyPr/>
          <a:lstStyle/>
          <a:p>
            <a:pPr marL="609600" indent="-609600" eaLnBrk="1" hangingPunct="1">
              <a:buFont typeface="Wingdings" pitchFamily="2" charset="2"/>
              <a:buNone/>
            </a:pPr>
            <a:r>
              <a:rPr lang="zh-CN" altLang="en-US" sz="2800" b="1">
                <a:solidFill>
                  <a:schemeClr val="folHlink"/>
                </a:solidFill>
              </a:rPr>
              <a:t>说明：</a:t>
            </a:r>
            <a:r>
              <a:rPr lang="zh-CN" altLang="en-US" sz="2800">
                <a:solidFill>
                  <a:srgbClr val="000000"/>
                </a:solidFill>
              </a:rPr>
              <a:t>   </a:t>
            </a:r>
          </a:p>
          <a:p>
            <a:pPr marL="609600" indent="-609600" eaLnBrk="1" hangingPunct="1">
              <a:buFont typeface="Wingdings" pitchFamily="2" charset="2"/>
              <a:buNone/>
            </a:pPr>
            <a:r>
              <a:rPr lang="zh-CN" altLang="en-US" sz="2400">
                <a:solidFill>
                  <a:srgbClr val="000000"/>
                </a:solidFill>
              </a:rPr>
              <a:t>	在类声明中</a:t>
            </a:r>
            <a:r>
              <a:rPr lang="en-US" altLang="zh-CN" sz="2400">
                <a:solidFill>
                  <a:srgbClr val="000000"/>
                </a:solidFill>
              </a:rPr>
              <a:t>, public</a:t>
            </a:r>
            <a:r>
              <a:rPr lang="zh-CN" altLang="en-US" sz="2400">
                <a:solidFill>
                  <a:srgbClr val="000000"/>
                </a:solidFill>
              </a:rPr>
              <a:t>、</a:t>
            </a:r>
            <a:r>
              <a:rPr lang="en-US" altLang="zh-CN" sz="2400">
                <a:solidFill>
                  <a:srgbClr val="000000"/>
                </a:solidFill>
              </a:rPr>
              <a:t>abstract</a:t>
            </a:r>
            <a:r>
              <a:rPr lang="zh-CN" altLang="en-US" sz="2400">
                <a:solidFill>
                  <a:srgbClr val="000000"/>
                </a:solidFill>
              </a:rPr>
              <a:t>、</a:t>
            </a:r>
            <a:r>
              <a:rPr lang="en-US" altLang="zh-CN" sz="2400">
                <a:solidFill>
                  <a:srgbClr val="000000"/>
                </a:solidFill>
              </a:rPr>
              <a:t>final</a:t>
            </a:r>
            <a:r>
              <a:rPr lang="zh-CN" altLang="en-US" sz="2400">
                <a:solidFill>
                  <a:srgbClr val="000000"/>
                </a:solidFill>
              </a:rPr>
              <a:t>为类的修饰符，是可选的，</a:t>
            </a:r>
            <a:r>
              <a:rPr lang="zh-CN" altLang="en-US" sz="2400" b="1"/>
              <a:t>缺省时说明所定义的类是非</a:t>
            </a:r>
            <a:r>
              <a:rPr lang="en-US" altLang="zh-CN" sz="2400" b="1"/>
              <a:t>public</a:t>
            </a:r>
            <a:r>
              <a:rPr lang="zh-CN" altLang="en-US" sz="2400" b="1"/>
              <a:t>、非</a:t>
            </a:r>
            <a:r>
              <a:rPr lang="en-US" altLang="zh-CN" sz="2400" b="1"/>
              <a:t>abstract</a:t>
            </a:r>
            <a:r>
              <a:rPr lang="zh-CN" altLang="en-US" sz="2400" b="1"/>
              <a:t>、非</a:t>
            </a:r>
            <a:r>
              <a:rPr lang="en-US" altLang="zh-CN" sz="2400" b="1"/>
              <a:t>final</a:t>
            </a:r>
            <a:r>
              <a:rPr lang="zh-CN" altLang="en-US" sz="2400" b="1"/>
              <a:t>的类</a:t>
            </a:r>
            <a:r>
              <a:rPr lang="zh-CN" altLang="en-US" sz="2400">
                <a:solidFill>
                  <a:srgbClr val="000000"/>
                </a:solidFill>
              </a:rPr>
              <a:t>。</a:t>
            </a:r>
            <a:endParaRPr lang="zh-CN" altLang="en-US" sz="2800">
              <a:solidFill>
                <a:srgbClr val="000000"/>
              </a:solidFill>
            </a:endParaRPr>
          </a:p>
          <a:p>
            <a:pPr marL="609600" indent="-609600" eaLnBrk="1" hangingPunct="1">
              <a:buFont typeface="Wingdings" pitchFamily="2" charset="2"/>
              <a:buNone/>
            </a:pPr>
            <a:endParaRPr lang="en-US" altLang="zh-CN" sz="2800">
              <a:solidFill>
                <a:srgbClr val="000000"/>
              </a:solidFill>
            </a:endParaRPr>
          </a:p>
        </p:txBody>
      </p:sp>
      <p:sp>
        <p:nvSpPr>
          <p:cNvPr id="6" name="标题 5"/>
          <p:cNvSpPr>
            <a:spLocks noGrp="1"/>
          </p:cNvSpPr>
          <p:nvPr>
            <p:ph type="title"/>
          </p:nvPr>
        </p:nvSpPr>
        <p:spPr/>
        <p:txBody>
          <a:bodyPr/>
          <a:lstStyle/>
          <a:p>
            <a:r>
              <a:rPr lang="zh-CN" altLang="en-US" b="1" dirty="0">
                <a:solidFill>
                  <a:srgbClr val="0033CC"/>
                </a:solidFill>
              </a:rPr>
              <a:t>类声明</a:t>
            </a:r>
            <a:endParaRPr lang="zh-CN" alt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灯片编号占位符 5"/>
          <p:cNvSpPr>
            <a:spLocks noGrp="1"/>
          </p:cNvSpPr>
          <p:nvPr>
            <p:ph type="sldNum" sz="quarter" idx="4294967295"/>
          </p:nvPr>
        </p:nvSpPr>
        <p:spPr>
          <a:xfrm>
            <a:off x="6626547" y="6236420"/>
            <a:ext cx="2193925" cy="457200"/>
          </a:xfrm>
          <a:prstGeom prst="rect">
            <a:avLst/>
          </a:prstGeom>
          <a:noFill/>
        </p:spPr>
        <p:txBody>
          <a:bodyPr/>
          <a:lstStyle/>
          <a:p>
            <a:fld id="{E15A2E79-B1A6-45D8-8E75-83A5E19420D7}" type="slidenum">
              <a:rPr lang="en-US" altLang="zh-CN"/>
              <a:pPr/>
              <a:t>16</a:t>
            </a:fld>
            <a:endParaRPr lang="en-US" altLang="zh-CN"/>
          </a:p>
        </p:txBody>
      </p:sp>
      <p:sp>
        <p:nvSpPr>
          <p:cNvPr id="29700" name="Rectangle 3"/>
          <p:cNvSpPr>
            <a:spLocks noGrp="1" noChangeArrowheads="1"/>
          </p:cNvSpPr>
          <p:nvPr>
            <p:ph type="body" idx="1"/>
          </p:nvPr>
        </p:nvSpPr>
        <p:spPr>
          <a:xfrm>
            <a:off x="494034" y="1916832"/>
            <a:ext cx="7848600" cy="3881438"/>
          </a:xfrm>
        </p:spPr>
        <p:txBody>
          <a:bodyPr/>
          <a:lstStyle/>
          <a:p>
            <a:pPr marL="609600" indent="-609600" eaLnBrk="1" hangingPunct="1">
              <a:buFont typeface="Wingdings" pitchFamily="2" charset="2"/>
              <a:buNone/>
            </a:pPr>
            <a:r>
              <a:rPr lang="zh-CN" altLang="en-US" sz="2800" dirty="0">
                <a:solidFill>
                  <a:srgbClr val="000000"/>
                </a:solidFill>
              </a:rPr>
              <a:t>类体为该类的对象提供了在生存期内需要的所有代码。包括以下几部分：</a:t>
            </a:r>
          </a:p>
          <a:p>
            <a:pPr marL="609600" indent="-609600" eaLnBrk="1" hangingPunct="1">
              <a:buFont typeface="Wingdings" pitchFamily="2" charset="2"/>
              <a:buAutoNum type="arabicPeriod"/>
            </a:pPr>
            <a:r>
              <a:rPr lang="zh-CN" altLang="en-US" sz="2800" dirty="0">
                <a:solidFill>
                  <a:srgbClr val="000000"/>
                </a:solidFill>
              </a:rPr>
              <a:t>构造方法</a:t>
            </a:r>
            <a:r>
              <a:rPr lang="en-US" altLang="zh-CN" sz="2800" dirty="0">
                <a:solidFill>
                  <a:srgbClr val="000000"/>
                </a:solidFill>
              </a:rPr>
              <a:t>( constructor )</a:t>
            </a:r>
          </a:p>
          <a:p>
            <a:pPr marL="609600" indent="-609600" eaLnBrk="1" hangingPunct="1">
              <a:buFont typeface="Wingdings" pitchFamily="2" charset="2"/>
              <a:buAutoNum type="arabicPeriod"/>
            </a:pPr>
            <a:r>
              <a:rPr lang="zh-CN" altLang="en-US" sz="2800" dirty="0">
                <a:solidFill>
                  <a:srgbClr val="000000"/>
                </a:solidFill>
              </a:rPr>
              <a:t>成员变量</a:t>
            </a:r>
            <a:r>
              <a:rPr lang="en-US" altLang="zh-CN" sz="2800" dirty="0">
                <a:solidFill>
                  <a:srgbClr val="000000"/>
                </a:solidFill>
              </a:rPr>
              <a:t>( member variable )</a:t>
            </a:r>
            <a:r>
              <a:rPr lang="zh-CN" altLang="en-US" sz="2800" dirty="0">
                <a:solidFill>
                  <a:srgbClr val="000000"/>
                </a:solidFill>
              </a:rPr>
              <a:t>的声明</a:t>
            </a:r>
          </a:p>
          <a:p>
            <a:pPr marL="609600" indent="-609600" eaLnBrk="1" hangingPunct="1">
              <a:buFont typeface="Wingdings" pitchFamily="2" charset="2"/>
              <a:buAutoNum type="arabicPeriod"/>
            </a:pPr>
            <a:r>
              <a:rPr lang="zh-CN" altLang="en-US" sz="2800" dirty="0">
                <a:solidFill>
                  <a:srgbClr val="000000"/>
                </a:solidFill>
              </a:rPr>
              <a:t>方法</a:t>
            </a:r>
            <a:r>
              <a:rPr lang="en-US" altLang="zh-CN" sz="2800" dirty="0">
                <a:solidFill>
                  <a:srgbClr val="000000"/>
                </a:solidFill>
              </a:rPr>
              <a:t>(Method</a:t>
            </a:r>
            <a:r>
              <a:rPr lang="en-US" altLang="zh-CN" sz="2800" b="1" dirty="0">
                <a:solidFill>
                  <a:srgbClr val="000000"/>
                </a:solidFill>
              </a:rPr>
              <a:t>)</a:t>
            </a:r>
            <a:r>
              <a:rPr lang="zh-CN" altLang="en-US" sz="2800" dirty="0">
                <a:solidFill>
                  <a:srgbClr val="000000"/>
                </a:solidFill>
              </a:rPr>
              <a:t>的实现 </a:t>
            </a:r>
          </a:p>
          <a:p>
            <a:pPr marL="609600" indent="-609600" eaLnBrk="1" hangingPunct="1">
              <a:buFont typeface="Wingdings" pitchFamily="2" charset="2"/>
              <a:buNone/>
            </a:pPr>
            <a:endParaRPr lang="en-US" altLang="zh-CN" sz="2800" dirty="0">
              <a:solidFill>
                <a:srgbClr val="000000"/>
              </a:solidFill>
            </a:endParaRPr>
          </a:p>
        </p:txBody>
      </p:sp>
      <p:sp>
        <p:nvSpPr>
          <p:cNvPr id="6" name="标题 5"/>
          <p:cNvSpPr>
            <a:spLocks noGrp="1"/>
          </p:cNvSpPr>
          <p:nvPr>
            <p:ph type="title"/>
          </p:nvPr>
        </p:nvSpPr>
        <p:spPr/>
        <p:txBody>
          <a:bodyPr/>
          <a:lstStyle/>
          <a:p>
            <a:r>
              <a:rPr lang="zh-CN" altLang="en-US" b="1" dirty="0">
                <a:solidFill>
                  <a:srgbClr val="000000"/>
                </a:solidFill>
              </a:rPr>
              <a:t> </a:t>
            </a:r>
            <a:r>
              <a:rPr lang="zh-CN" altLang="en-US" b="1" dirty="0">
                <a:solidFill>
                  <a:srgbClr val="0033CC"/>
                </a:solidFill>
              </a:rPr>
              <a:t>类体</a:t>
            </a:r>
            <a:r>
              <a:rPr lang="zh-CN" altLang="en-US" dirty="0">
                <a:solidFill>
                  <a:srgbClr val="000000"/>
                </a:solidFill>
              </a:rPr>
              <a:t> </a:t>
            </a:r>
            <a:endParaRPr lang="zh-CN" alt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4" name="Rectangle 3"/>
          <p:cNvSpPr>
            <a:spLocks noGrp="1" noChangeArrowheads="1"/>
          </p:cNvSpPr>
          <p:nvPr>
            <p:ph type="body" idx="1"/>
          </p:nvPr>
        </p:nvSpPr>
        <p:spPr>
          <a:xfrm>
            <a:off x="228600" y="1772816"/>
            <a:ext cx="8229600" cy="3881438"/>
          </a:xfrm>
        </p:spPr>
        <p:txBody>
          <a:bodyPr/>
          <a:lstStyle/>
          <a:p>
            <a:pPr marL="609600" indent="-609600" eaLnBrk="1" hangingPunct="1">
              <a:buFont typeface="Wingdings" pitchFamily="2" charset="2"/>
              <a:buNone/>
            </a:pPr>
            <a:r>
              <a:rPr lang="en-US" altLang="zh-CN" sz="2800" b="1" dirty="0">
                <a:solidFill>
                  <a:schemeClr val="folHlink"/>
                </a:solidFill>
              </a:rPr>
              <a:t>1. </a:t>
            </a:r>
            <a:r>
              <a:rPr lang="en-US" altLang="zh-CN" sz="2400" b="1" dirty="0">
                <a:solidFill>
                  <a:schemeClr val="folHlink"/>
                </a:solidFill>
              </a:rPr>
              <a:t> </a:t>
            </a:r>
            <a:r>
              <a:rPr lang="zh-CN" altLang="en-US" sz="2800" b="1" dirty="0">
                <a:solidFill>
                  <a:schemeClr val="folHlink"/>
                </a:solidFill>
              </a:rPr>
              <a:t>构造方法</a:t>
            </a:r>
          </a:p>
          <a:p>
            <a:pPr marL="609600" indent="-609600" eaLnBrk="1" hangingPunct="1"/>
            <a:r>
              <a:rPr lang="zh-CN" altLang="en-US" sz="2800" b="1" dirty="0">
                <a:solidFill>
                  <a:srgbClr val="000000"/>
                </a:solidFill>
              </a:rPr>
              <a:t>定义</a:t>
            </a:r>
            <a:r>
              <a:rPr lang="zh-CN" altLang="en-US" sz="2800" dirty="0">
                <a:solidFill>
                  <a:srgbClr val="000000"/>
                </a:solidFill>
              </a:rPr>
              <a:t>：类中用来初始化新建的对象的方法	称构造方法。</a:t>
            </a:r>
          </a:p>
          <a:p>
            <a:pPr marL="609600" indent="-609600" eaLnBrk="1" hangingPunct="1"/>
            <a:r>
              <a:rPr lang="zh-CN" altLang="en-US" sz="2800" b="1" dirty="0">
                <a:solidFill>
                  <a:srgbClr val="000000"/>
                </a:solidFill>
              </a:rPr>
              <a:t> 特点</a:t>
            </a:r>
            <a:r>
              <a:rPr lang="zh-CN" altLang="en-US" sz="2800" dirty="0">
                <a:solidFill>
                  <a:srgbClr val="000000"/>
                </a:solidFill>
              </a:rPr>
              <a:t>：</a:t>
            </a:r>
          </a:p>
          <a:p>
            <a:pPr marL="990600" lvl="1" indent="-533400" eaLnBrk="1" hangingPunct="1"/>
            <a:r>
              <a:rPr lang="zh-CN" altLang="en-US" sz="2400" dirty="0">
                <a:solidFill>
                  <a:srgbClr val="000000"/>
                </a:solidFill>
              </a:rPr>
              <a:t>无返回类型，</a:t>
            </a:r>
          </a:p>
          <a:p>
            <a:pPr marL="990600" lvl="1" indent="-533400" eaLnBrk="1" hangingPunct="1"/>
            <a:r>
              <a:rPr lang="zh-CN" altLang="en-US" sz="2400" dirty="0">
                <a:solidFill>
                  <a:srgbClr val="000000"/>
                </a:solidFill>
              </a:rPr>
              <a:t>方法名与类名相同</a:t>
            </a:r>
          </a:p>
          <a:p>
            <a:pPr marL="990600" lvl="1" indent="-533400" eaLnBrk="1" hangingPunct="1">
              <a:buFont typeface="Wingdings" pitchFamily="2" charset="2"/>
              <a:buNone/>
            </a:pPr>
            <a:endParaRPr lang="zh-CN" altLang="en-US" sz="2400" dirty="0">
              <a:solidFill>
                <a:srgbClr val="000000"/>
              </a:solidFill>
            </a:endParaRPr>
          </a:p>
          <a:p>
            <a:pPr marL="990600" lvl="1" indent="-533400" eaLnBrk="1" hangingPunct="1"/>
            <a:endParaRPr lang="zh-CN" altLang="en-US" sz="2400" dirty="0">
              <a:solidFill>
                <a:srgbClr val="000000"/>
              </a:solidFill>
            </a:endParaRPr>
          </a:p>
          <a:p>
            <a:pPr marL="609600" indent="-609600" eaLnBrk="1" hangingPunct="1">
              <a:buFont typeface="Wingdings" pitchFamily="2" charset="2"/>
              <a:buNone/>
            </a:pPr>
            <a:endParaRPr lang="en-US" altLang="zh-CN" sz="2400" dirty="0">
              <a:solidFill>
                <a:srgbClr val="000000"/>
              </a:solidFill>
            </a:endParaRPr>
          </a:p>
        </p:txBody>
      </p:sp>
      <p:sp>
        <p:nvSpPr>
          <p:cNvPr id="6" name="标题 5"/>
          <p:cNvSpPr>
            <a:spLocks noGrp="1"/>
          </p:cNvSpPr>
          <p:nvPr>
            <p:ph type="title"/>
          </p:nvPr>
        </p:nvSpPr>
        <p:spPr/>
        <p:txBody>
          <a:bodyPr/>
          <a:lstStyle/>
          <a:p>
            <a:r>
              <a:rPr lang="zh-CN" altLang="en-US" b="1" dirty="0">
                <a:solidFill>
                  <a:srgbClr val="0033CC"/>
                </a:solidFill>
              </a:rPr>
              <a:t>类体</a:t>
            </a:r>
            <a:endParaRPr lang="zh-CN" alt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8" name="Rectangle 3"/>
          <p:cNvSpPr>
            <a:spLocks noGrp="1" noChangeArrowheads="1"/>
          </p:cNvSpPr>
          <p:nvPr>
            <p:ph type="body" idx="1"/>
          </p:nvPr>
        </p:nvSpPr>
        <p:spPr>
          <a:xfrm>
            <a:off x="251520" y="1772816"/>
            <a:ext cx="8229600" cy="3881438"/>
          </a:xfrm>
        </p:spPr>
        <p:txBody>
          <a:bodyPr/>
          <a:lstStyle/>
          <a:p>
            <a:pPr marL="609600" indent="-609600" eaLnBrk="1" hangingPunct="1">
              <a:lnSpc>
                <a:spcPct val="90000"/>
              </a:lnSpc>
              <a:buFont typeface="Wingdings" pitchFamily="2" charset="2"/>
              <a:buNone/>
            </a:pPr>
            <a:r>
              <a:rPr lang="en-US" altLang="zh-CN" sz="2800" b="1" dirty="0">
                <a:solidFill>
                  <a:schemeClr val="folHlink"/>
                </a:solidFill>
              </a:rPr>
              <a:t>1.  </a:t>
            </a:r>
            <a:r>
              <a:rPr lang="zh-CN" altLang="en-US" sz="2800" b="1" dirty="0">
                <a:solidFill>
                  <a:schemeClr val="folHlink"/>
                </a:solidFill>
              </a:rPr>
              <a:t>构造方法</a:t>
            </a:r>
          </a:p>
          <a:p>
            <a:pPr marL="609600" indent="-609600" eaLnBrk="1" hangingPunct="1">
              <a:lnSpc>
                <a:spcPct val="90000"/>
              </a:lnSpc>
              <a:buFont typeface="Wingdings" pitchFamily="2" charset="2"/>
              <a:buNone/>
            </a:pPr>
            <a:r>
              <a:rPr lang="zh-CN" altLang="en-US" sz="2800" dirty="0">
                <a:solidFill>
                  <a:srgbClr val="000000"/>
                </a:solidFill>
              </a:rPr>
              <a:t>构造方法可被重载。 例如：</a:t>
            </a:r>
          </a:p>
          <a:p>
            <a:pPr marL="609600" indent="-609600" eaLnBrk="1" hangingPunct="1">
              <a:lnSpc>
                <a:spcPct val="70000"/>
              </a:lnSpc>
              <a:buFont typeface="Wingdings" pitchFamily="2" charset="2"/>
              <a:buNone/>
            </a:pPr>
            <a:r>
              <a:rPr lang="zh-CN" altLang="en-US" sz="2400" dirty="0">
                <a:solidFill>
                  <a:srgbClr val="000000"/>
                </a:solidFill>
                <a:latin typeface="Courier"/>
              </a:rPr>
              <a:t>	</a:t>
            </a:r>
            <a:r>
              <a:rPr lang="en-US" altLang="zh-CN" sz="2600" dirty="0">
                <a:solidFill>
                  <a:srgbClr val="000000"/>
                </a:solidFill>
                <a:latin typeface="Courier"/>
              </a:rPr>
              <a:t>public class Thing {</a:t>
            </a:r>
          </a:p>
          <a:p>
            <a:pPr marL="609600" indent="-609600" eaLnBrk="1" hangingPunct="1">
              <a:lnSpc>
                <a:spcPct val="70000"/>
              </a:lnSpc>
              <a:buFont typeface="Wingdings" pitchFamily="2" charset="2"/>
              <a:buNone/>
            </a:pPr>
            <a:r>
              <a:rPr lang="en-US" altLang="zh-CN" sz="2600" dirty="0">
                <a:solidFill>
                  <a:srgbClr val="000000"/>
                </a:solidFill>
                <a:latin typeface="Courier"/>
              </a:rPr>
              <a:t>		private int x;</a:t>
            </a:r>
          </a:p>
          <a:p>
            <a:pPr marL="609600" indent="-609600" eaLnBrk="1" hangingPunct="1">
              <a:lnSpc>
                <a:spcPct val="70000"/>
              </a:lnSpc>
              <a:buFont typeface="Wingdings" pitchFamily="2" charset="2"/>
              <a:buNone/>
            </a:pPr>
            <a:r>
              <a:rPr lang="en-US" altLang="zh-CN" sz="2600" dirty="0">
                <a:solidFill>
                  <a:srgbClr val="000000"/>
                </a:solidFill>
                <a:latin typeface="Courier"/>
              </a:rPr>
              <a:t>		public Thing() {</a:t>
            </a:r>
          </a:p>
          <a:p>
            <a:pPr marL="609600" indent="-609600" eaLnBrk="1" hangingPunct="1">
              <a:lnSpc>
                <a:spcPct val="70000"/>
              </a:lnSpc>
              <a:buFont typeface="Wingdings" pitchFamily="2" charset="2"/>
              <a:buNone/>
            </a:pPr>
            <a:r>
              <a:rPr lang="en-US" altLang="zh-CN" sz="2600" dirty="0">
                <a:solidFill>
                  <a:srgbClr val="000000"/>
                </a:solidFill>
                <a:latin typeface="Courier"/>
              </a:rPr>
              <a:t>			x = 47;}</a:t>
            </a:r>
          </a:p>
          <a:p>
            <a:pPr marL="609600" indent="-609600" eaLnBrk="1" hangingPunct="1">
              <a:lnSpc>
                <a:spcPct val="70000"/>
              </a:lnSpc>
              <a:buFont typeface="Wingdings" pitchFamily="2" charset="2"/>
              <a:buNone/>
            </a:pPr>
            <a:r>
              <a:rPr lang="en-US" altLang="zh-CN" sz="2600" dirty="0">
                <a:solidFill>
                  <a:srgbClr val="000000"/>
                </a:solidFill>
                <a:latin typeface="Courier"/>
              </a:rPr>
              <a:t>		public Thing( int new_ x) {</a:t>
            </a:r>
          </a:p>
          <a:p>
            <a:pPr marL="609600" indent="-609600" eaLnBrk="1" hangingPunct="1">
              <a:lnSpc>
                <a:spcPct val="70000"/>
              </a:lnSpc>
              <a:buFont typeface="Wingdings" pitchFamily="2" charset="2"/>
              <a:buNone/>
            </a:pPr>
            <a:r>
              <a:rPr lang="en-US" altLang="zh-CN" sz="2600" dirty="0">
                <a:solidFill>
                  <a:srgbClr val="000000"/>
                </a:solidFill>
                <a:latin typeface="Courier"/>
              </a:rPr>
              <a:t>			x = new_ x;	}</a:t>
            </a:r>
          </a:p>
          <a:p>
            <a:pPr marL="609600" indent="-609600" eaLnBrk="1" hangingPunct="1">
              <a:lnSpc>
                <a:spcPct val="90000"/>
              </a:lnSpc>
              <a:buFont typeface="Wingdings" pitchFamily="2" charset="2"/>
              <a:buNone/>
            </a:pPr>
            <a:r>
              <a:rPr lang="en-US" altLang="zh-CN" sz="2600" dirty="0">
                <a:solidFill>
                  <a:srgbClr val="000000"/>
                </a:solidFill>
                <a:latin typeface="Courier"/>
              </a:rPr>
              <a:t>	}</a:t>
            </a:r>
          </a:p>
          <a:p>
            <a:pPr marL="609600" indent="-609600" eaLnBrk="1" hangingPunct="1">
              <a:lnSpc>
                <a:spcPct val="90000"/>
              </a:lnSpc>
              <a:buFont typeface="Wingdings" pitchFamily="2" charset="2"/>
              <a:buNone/>
            </a:pPr>
            <a:endParaRPr lang="en-US" altLang="zh-CN" sz="2600" dirty="0">
              <a:solidFill>
                <a:srgbClr val="000000"/>
              </a:solidFill>
            </a:endParaRPr>
          </a:p>
          <a:p>
            <a:pPr marL="990600" lvl="1" indent="-533400" eaLnBrk="1" hangingPunct="1">
              <a:lnSpc>
                <a:spcPct val="90000"/>
              </a:lnSpc>
              <a:buFont typeface="Wingdings" pitchFamily="2" charset="2"/>
              <a:buNone/>
            </a:pPr>
            <a:endParaRPr lang="en-US" altLang="zh-CN" sz="2000" dirty="0">
              <a:solidFill>
                <a:srgbClr val="000000"/>
              </a:solidFill>
            </a:endParaRPr>
          </a:p>
          <a:p>
            <a:pPr marL="990600" lvl="1" indent="-533400" eaLnBrk="1" hangingPunct="1">
              <a:lnSpc>
                <a:spcPct val="90000"/>
              </a:lnSpc>
            </a:pPr>
            <a:endParaRPr lang="en-US" altLang="zh-CN" sz="2000" dirty="0">
              <a:solidFill>
                <a:srgbClr val="000000"/>
              </a:solidFill>
            </a:endParaRPr>
          </a:p>
          <a:p>
            <a:pPr marL="609600" indent="-609600" eaLnBrk="1" hangingPunct="1">
              <a:lnSpc>
                <a:spcPct val="90000"/>
              </a:lnSpc>
              <a:buFont typeface="Wingdings" pitchFamily="2" charset="2"/>
              <a:buNone/>
            </a:pPr>
            <a:endParaRPr lang="en-US" altLang="zh-CN" sz="2000" dirty="0">
              <a:solidFill>
                <a:srgbClr val="000000"/>
              </a:solidFill>
            </a:endParaRPr>
          </a:p>
        </p:txBody>
      </p:sp>
      <p:sp>
        <p:nvSpPr>
          <p:cNvPr id="6" name="标题 5"/>
          <p:cNvSpPr>
            <a:spLocks noGrp="1"/>
          </p:cNvSpPr>
          <p:nvPr>
            <p:ph type="title"/>
          </p:nvPr>
        </p:nvSpPr>
        <p:spPr/>
        <p:txBody>
          <a:bodyPr/>
          <a:lstStyle/>
          <a:p>
            <a:r>
              <a:rPr lang="zh-CN" altLang="en-US" dirty="0"/>
              <a:t>类体</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2" name="Rectangle 3"/>
          <p:cNvSpPr>
            <a:spLocks noGrp="1" noChangeArrowheads="1"/>
          </p:cNvSpPr>
          <p:nvPr>
            <p:ph type="body" idx="1"/>
          </p:nvPr>
        </p:nvSpPr>
        <p:spPr>
          <a:xfrm>
            <a:off x="609600" y="1373088"/>
            <a:ext cx="8229600" cy="4648200"/>
          </a:xfrm>
        </p:spPr>
        <p:txBody>
          <a:bodyPr/>
          <a:lstStyle/>
          <a:p>
            <a:pPr marL="609600" indent="-609600" eaLnBrk="1" hangingPunct="1">
              <a:buFont typeface="Wingdings" pitchFamily="2" charset="2"/>
              <a:buNone/>
            </a:pPr>
            <a:r>
              <a:rPr lang="en-US" altLang="zh-CN" sz="2800" b="1" dirty="0">
                <a:solidFill>
                  <a:schemeClr val="folHlink"/>
                </a:solidFill>
              </a:rPr>
              <a:t>1.  </a:t>
            </a:r>
            <a:r>
              <a:rPr lang="zh-CN" altLang="en-US" sz="2800" b="1" dirty="0">
                <a:solidFill>
                  <a:schemeClr val="folHlink"/>
                </a:solidFill>
              </a:rPr>
              <a:t>构造方法</a:t>
            </a:r>
          </a:p>
          <a:p>
            <a:pPr marL="609600" indent="-609600" eaLnBrk="1" hangingPunct="1"/>
            <a:r>
              <a:rPr lang="zh-CN" altLang="en-US" sz="2400" dirty="0">
                <a:solidFill>
                  <a:srgbClr val="000000"/>
                </a:solidFill>
              </a:rPr>
              <a:t>其中变量和方法称为类的成员（成员变量和成员方法），而构造方法不是类的成员。</a:t>
            </a:r>
          </a:p>
          <a:p>
            <a:pPr marL="609600" indent="-609600" eaLnBrk="1" hangingPunct="1"/>
            <a:r>
              <a:rPr lang="zh-CN" altLang="en-US" sz="2400" dirty="0">
                <a:solidFill>
                  <a:srgbClr val="000000"/>
                </a:solidFill>
              </a:rPr>
              <a:t>每个类中至少有一个构造方法。</a:t>
            </a:r>
          </a:p>
          <a:p>
            <a:pPr marL="609600" indent="-609600" eaLnBrk="1" hangingPunct="1"/>
            <a:r>
              <a:rPr lang="zh-CN" altLang="en-US" sz="2400" dirty="0">
                <a:solidFill>
                  <a:srgbClr val="000000"/>
                </a:solidFill>
              </a:rPr>
              <a:t>定义类时如未定义构造方法，运行时系统会为该类自动定义缺省的构造方法。</a:t>
            </a:r>
          </a:p>
          <a:p>
            <a:pPr marL="990600" lvl="1" indent="-533400" eaLnBrk="1" hangingPunct="1"/>
            <a:r>
              <a:rPr lang="zh-CN" altLang="en-US" sz="2400" dirty="0">
                <a:solidFill>
                  <a:srgbClr val="000000"/>
                </a:solidFill>
              </a:rPr>
              <a:t>没有任何参数 </a:t>
            </a:r>
          </a:p>
          <a:p>
            <a:pPr marL="990600" lvl="1" indent="-533400" eaLnBrk="1" hangingPunct="1"/>
            <a:r>
              <a:rPr lang="zh-CN" altLang="en-US" sz="2400" dirty="0">
                <a:solidFill>
                  <a:srgbClr val="000000"/>
                </a:solidFill>
              </a:rPr>
              <a:t>没有</a:t>
            </a:r>
            <a:r>
              <a:rPr lang="en-US" altLang="zh-CN" sz="2400" dirty="0">
                <a:solidFill>
                  <a:srgbClr val="000000"/>
                </a:solidFill>
              </a:rPr>
              <a:t>body</a:t>
            </a:r>
          </a:p>
          <a:p>
            <a:pPr marL="990600" lvl="1" indent="-533400" eaLnBrk="1" hangingPunct="1"/>
            <a:r>
              <a:rPr lang="zh-CN" altLang="en-US" sz="2400" dirty="0">
                <a:solidFill>
                  <a:srgbClr val="000000"/>
                </a:solidFill>
              </a:rPr>
              <a:t>不做任何事情</a:t>
            </a:r>
          </a:p>
          <a:p>
            <a:pPr marL="609600" indent="-609600" eaLnBrk="1" hangingPunct="1">
              <a:buFont typeface="Wingdings" pitchFamily="2" charset="2"/>
              <a:buNone/>
            </a:pPr>
            <a:endParaRPr lang="zh-CN" altLang="en-US" sz="2400" dirty="0">
              <a:solidFill>
                <a:srgbClr val="000000"/>
              </a:solidFill>
            </a:endParaRPr>
          </a:p>
          <a:p>
            <a:pPr marL="609600" indent="-609600" eaLnBrk="1" hangingPunct="1"/>
            <a:endParaRPr lang="zh-CN" altLang="en-US" sz="2400" dirty="0">
              <a:solidFill>
                <a:srgbClr val="000000"/>
              </a:solidFill>
            </a:endParaRPr>
          </a:p>
          <a:p>
            <a:pPr marL="609600" indent="-609600" eaLnBrk="1" hangingPunct="1"/>
            <a:endParaRPr lang="zh-CN" altLang="en-US" sz="2800" dirty="0">
              <a:solidFill>
                <a:srgbClr val="000000"/>
              </a:solidFill>
            </a:endParaRPr>
          </a:p>
          <a:p>
            <a:pPr marL="609600" indent="-609600" eaLnBrk="1" hangingPunct="1">
              <a:buFont typeface="Wingdings" pitchFamily="2" charset="2"/>
              <a:buNone/>
            </a:pPr>
            <a:endParaRPr lang="zh-CN" altLang="en-US" sz="2800" dirty="0">
              <a:solidFill>
                <a:srgbClr val="000000"/>
              </a:solidFill>
            </a:endParaRPr>
          </a:p>
          <a:p>
            <a:pPr marL="990600" lvl="1" indent="-533400" eaLnBrk="1" hangingPunct="1">
              <a:buFont typeface="Wingdings" pitchFamily="2" charset="2"/>
              <a:buNone/>
            </a:pPr>
            <a:endParaRPr lang="zh-CN" altLang="en-US" sz="2400" dirty="0">
              <a:solidFill>
                <a:srgbClr val="000000"/>
              </a:solidFill>
            </a:endParaRPr>
          </a:p>
          <a:p>
            <a:pPr marL="990600" lvl="1" indent="-533400" eaLnBrk="1" hangingPunct="1"/>
            <a:endParaRPr lang="zh-CN" altLang="en-US" sz="2400" dirty="0">
              <a:solidFill>
                <a:srgbClr val="000000"/>
              </a:solidFill>
            </a:endParaRPr>
          </a:p>
          <a:p>
            <a:pPr marL="609600" indent="-609600" eaLnBrk="1" hangingPunct="1">
              <a:buFont typeface="Wingdings" pitchFamily="2" charset="2"/>
              <a:buNone/>
            </a:pPr>
            <a:endParaRPr lang="en-US" altLang="zh-CN" sz="2400" dirty="0">
              <a:solidFill>
                <a:srgbClr val="000000"/>
              </a:solidFill>
            </a:endParaRPr>
          </a:p>
        </p:txBody>
      </p:sp>
      <p:sp>
        <p:nvSpPr>
          <p:cNvPr id="6" name="标题 5"/>
          <p:cNvSpPr>
            <a:spLocks noGrp="1"/>
          </p:cNvSpPr>
          <p:nvPr>
            <p:ph type="title"/>
          </p:nvPr>
        </p:nvSpPr>
        <p:spPr/>
        <p:txBody>
          <a:bodyPr/>
          <a:lstStyle/>
          <a:p>
            <a:r>
              <a:rPr lang="zh-CN" altLang="en-US" b="1" dirty="0">
                <a:solidFill>
                  <a:srgbClr val="0033CC"/>
                </a:solidFill>
              </a:rPr>
              <a:t>类体</a:t>
            </a:r>
            <a:endParaRPr lang="zh-CN" alt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6" name="Rectangle 3"/>
          <p:cNvSpPr>
            <a:spLocks noGrp="1" noChangeArrowheads="1"/>
          </p:cNvSpPr>
          <p:nvPr>
            <p:ph type="body" idx="1"/>
          </p:nvPr>
        </p:nvSpPr>
        <p:spPr>
          <a:xfrm>
            <a:off x="609600" y="1484784"/>
            <a:ext cx="8229600" cy="3881438"/>
          </a:xfrm>
        </p:spPr>
        <p:txBody>
          <a:bodyPr/>
          <a:lstStyle/>
          <a:p>
            <a:pPr marL="609600" indent="-609600" eaLnBrk="1" hangingPunct="1">
              <a:buFont typeface="Wingdings" pitchFamily="2" charset="2"/>
              <a:buNone/>
            </a:pPr>
            <a:r>
              <a:rPr lang="en-US" altLang="zh-CN" sz="2800" b="1" dirty="0">
                <a:solidFill>
                  <a:schemeClr val="folHlink"/>
                </a:solidFill>
              </a:rPr>
              <a:t>1.  </a:t>
            </a:r>
            <a:r>
              <a:rPr lang="zh-CN" altLang="en-US" sz="2800" b="1" dirty="0">
                <a:solidFill>
                  <a:schemeClr val="folHlink"/>
                </a:solidFill>
              </a:rPr>
              <a:t>构造方法</a:t>
            </a:r>
          </a:p>
          <a:p>
            <a:pPr marL="609600" indent="-609600" eaLnBrk="1" hangingPunct="1">
              <a:buFont typeface="Wingdings" pitchFamily="2" charset="2"/>
              <a:buNone/>
            </a:pPr>
            <a:r>
              <a:rPr lang="zh-CN" altLang="en-US" sz="2800" b="1" dirty="0">
                <a:solidFill>
                  <a:srgbClr val="000000"/>
                </a:solidFill>
              </a:rPr>
              <a:t>说明： </a:t>
            </a:r>
            <a:r>
              <a:rPr lang="en-US" altLang="zh-CN" sz="2800" b="1" dirty="0">
                <a:solidFill>
                  <a:srgbClr val="000000"/>
                </a:solidFill>
              </a:rPr>
              <a:t>&lt;</a:t>
            </a:r>
            <a:r>
              <a:rPr lang="zh-CN" altLang="en-US" sz="2800" b="1" dirty="0">
                <a:solidFill>
                  <a:srgbClr val="000000"/>
                </a:solidFill>
              </a:rPr>
              <a:t>续</a:t>
            </a:r>
            <a:r>
              <a:rPr lang="en-US" altLang="zh-CN" sz="2800" b="1" dirty="0">
                <a:solidFill>
                  <a:srgbClr val="000000"/>
                </a:solidFill>
              </a:rPr>
              <a:t>&gt;</a:t>
            </a:r>
          </a:p>
          <a:p>
            <a:pPr marL="609600" indent="-609600" eaLnBrk="1" hangingPunct="1"/>
            <a:r>
              <a:rPr lang="zh-CN" altLang="en-US" sz="2800" dirty="0">
                <a:solidFill>
                  <a:srgbClr val="000000"/>
                </a:solidFill>
              </a:rPr>
              <a:t>构造方法只能由</a:t>
            </a:r>
            <a:r>
              <a:rPr lang="en-US" altLang="zh-CN" sz="2800" dirty="0">
                <a:solidFill>
                  <a:srgbClr val="000000"/>
                </a:solidFill>
                <a:cs typeface="Times New Roman" pitchFamily="18" charset="0"/>
              </a:rPr>
              <a:t>new</a:t>
            </a:r>
            <a:r>
              <a:rPr lang="zh-CN" altLang="en-US" sz="2800" dirty="0">
                <a:solidFill>
                  <a:srgbClr val="000000"/>
                </a:solidFill>
              </a:rPr>
              <a:t>运算符调用</a:t>
            </a:r>
          </a:p>
          <a:p>
            <a:pPr marL="609600" indent="-609600" eaLnBrk="1" hangingPunct="1"/>
            <a:r>
              <a:rPr lang="zh-CN" altLang="en-US" sz="2800" dirty="0">
                <a:solidFill>
                  <a:srgbClr val="000000"/>
                </a:solidFill>
              </a:rPr>
              <a:t>构造方法同样也有访问权限的限制 </a:t>
            </a:r>
          </a:p>
          <a:p>
            <a:pPr marL="990600" lvl="1" indent="-533400" eaLnBrk="1" hangingPunct="1"/>
            <a:r>
              <a:rPr lang="en-US" altLang="zh-CN" sz="2400" dirty="0">
                <a:solidFill>
                  <a:srgbClr val="000000"/>
                </a:solidFill>
              </a:rPr>
              <a:t>public</a:t>
            </a:r>
          </a:p>
          <a:p>
            <a:pPr marL="990600" lvl="1" indent="-533400" eaLnBrk="1" hangingPunct="1"/>
            <a:r>
              <a:rPr lang="en-US" altLang="zh-CN" sz="2400" dirty="0">
                <a:solidFill>
                  <a:srgbClr val="000000"/>
                </a:solidFill>
              </a:rPr>
              <a:t>protected</a:t>
            </a:r>
          </a:p>
          <a:p>
            <a:pPr marL="990600" lvl="1" indent="-533400" eaLnBrk="1" hangingPunct="1"/>
            <a:r>
              <a:rPr lang="en-US" altLang="zh-CN" sz="2400" dirty="0">
                <a:solidFill>
                  <a:srgbClr val="000000"/>
                </a:solidFill>
              </a:rPr>
              <a:t>Private</a:t>
            </a:r>
          </a:p>
          <a:p>
            <a:pPr marL="609600" indent="-609600" eaLnBrk="1" hangingPunct="1">
              <a:buFont typeface="Wingdings" pitchFamily="2" charset="2"/>
              <a:buNone/>
            </a:pPr>
            <a:endParaRPr lang="en-US" altLang="zh-CN" sz="2800" dirty="0">
              <a:solidFill>
                <a:srgbClr val="000000"/>
              </a:solidFill>
            </a:endParaRPr>
          </a:p>
          <a:p>
            <a:pPr marL="990600" lvl="1" indent="-533400" eaLnBrk="1" hangingPunct="1">
              <a:buFont typeface="Wingdings" pitchFamily="2" charset="2"/>
              <a:buNone/>
            </a:pPr>
            <a:endParaRPr lang="en-US" altLang="zh-CN" sz="2400" dirty="0">
              <a:solidFill>
                <a:srgbClr val="000000"/>
              </a:solidFill>
            </a:endParaRPr>
          </a:p>
          <a:p>
            <a:pPr marL="990600" lvl="1" indent="-533400" eaLnBrk="1" hangingPunct="1"/>
            <a:endParaRPr lang="en-US" altLang="zh-CN" sz="2400" dirty="0">
              <a:solidFill>
                <a:srgbClr val="000000"/>
              </a:solidFill>
            </a:endParaRPr>
          </a:p>
          <a:p>
            <a:pPr marL="609600" indent="-609600" eaLnBrk="1" hangingPunct="1">
              <a:buFont typeface="Wingdings" pitchFamily="2" charset="2"/>
              <a:buNone/>
            </a:pPr>
            <a:endParaRPr lang="en-US" altLang="zh-CN" sz="2400" dirty="0">
              <a:solidFill>
                <a:srgbClr val="000000"/>
              </a:solidFill>
            </a:endParaRPr>
          </a:p>
        </p:txBody>
      </p:sp>
      <p:sp>
        <p:nvSpPr>
          <p:cNvPr id="6" name="标题 5"/>
          <p:cNvSpPr>
            <a:spLocks noGrp="1"/>
          </p:cNvSpPr>
          <p:nvPr>
            <p:ph type="title"/>
          </p:nvPr>
        </p:nvSpPr>
        <p:spPr/>
        <p:txBody>
          <a:bodyPr/>
          <a:lstStyle/>
          <a:p>
            <a:r>
              <a:rPr lang="zh-CN" altLang="en-US" b="1" dirty="0">
                <a:solidFill>
                  <a:srgbClr val="0033CC"/>
                </a:solidFill>
              </a:rPr>
              <a:t>类体</a:t>
            </a:r>
            <a:r>
              <a:rPr lang="zh-CN" altLang="en-US" dirty="0">
                <a:solidFill>
                  <a:srgbClr val="000000"/>
                </a:solidFill>
              </a:rPr>
              <a:t> </a:t>
            </a:r>
            <a:endParaRPr lang="zh-CN" alt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3"/>
          <p:cNvSpPr>
            <a:spLocks noGrp="1" noChangeArrowheads="1"/>
          </p:cNvSpPr>
          <p:nvPr>
            <p:ph type="body" idx="1"/>
          </p:nvPr>
        </p:nvSpPr>
        <p:spPr>
          <a:xfrm>
            <a:off x="467544" y="1628800"/>
            <a:ext cx="8305800" cy="3881438"/>
          </a:xfrm>
        </p:spPr>
        <p:txBody>
          <a:bodyPr/>
          <a:lstStyle/>
          <a:p>
            <a:pPr marL="609600" indent="-609600" eaLnBrk="1" hangingPunct="1">
              <a:lnSpc>
                <a:spcPct val="90000"/>
              </a:lnSpc>
              <a:buFont typeface="Wingdings" pitchFamily="2" charset="2"/>
              <a:buNone/>
            </a:pPr>
            <a:r>
              <a:rPr lang="en-US" altLang="zh-CN" sz="2800" b="1" dirty="0">
                <a:solidFill>
                  <a:schemeClr val="folHlink"/>
                </a:solidFill>
              </a:rPr>
              <a:t>2.  </a:t>
            </a:r>
            <a:r>
              <a:rPr lang="zh-CN" altLang="en-US" sz="2800" b="1" dirty="0">
                <a:solidFill>
                  <a:schemeClr val="folHlink"/>
                </a:solidFill>
              </a:rPr>
              <a:t>成员变量的声明</a:t>
            </a:r>
          </a:p>
          <a:p>
            <a:pPr marL="609600" indent="-609600" eaLnBrk="1" hangingPunct="1">
              <a:lnSpc>
                <a:spcPct val="90000"/>
              </a:lnSpc>
              <a:buFont typeface="Wingdings" pitchFamily="2" charset="2"/>
              <a:buNone/>
            </a:pPr>
            <a:r>
              <a:rPr lang="zh-CN" altLang="en-US" sz="2800" b="1" dirty="0">
                <a:solidFill>
                  <a:schemeClr val="folHlink"/>
                </a:solidFill>
              </a:rPr>
              <a:t>     </a:t>
            </a:r>
            <a:r>
              <a:rPr lang="zh-CN" altLang="en-US" sz="2800" b="1" dirty="0"/>
              <a:t>成员变量在类体中声明，但在构造方法和方法之外</a:t>
            </a:r>
            <a:r>
              <a:rPr lang="zh-CN" altLang="en-US" sz="2800" dirty="0">
                <a:solidFill>
                  <a:srgbClr val="000000"/>
                </a:solidFill>
              </a:rPr>
              <a:t> 。</a:t>
            </a:r>
          </a:p>
          <a:p>
            <a:pPr marL="609600" indent="-609600" eaLnBrk="1" hangingPunct="1">
              <a:lnSpc>
                <a:spcPct val="90000"/>
              </a:lnSpc>
              <a:buFont typeface="Wingdings" pitchFamily="2" charset="2"/>
              <a:buNone/>
            </a:pPr>
            <a:r>
              <a:rPr lang="en-US" altLang="zh-CN" sz="2800" dirty="0">
                <a:solidFill>
                  <a:srgbClr val="000000"/>
                </a:solidFill>
              </a:rPr>
              <a:t>classDeclaration {</a:t>
            </a:r>
          </a:p>
          <a:p>
            <a:pPr marL="609600" indent="-609600" eaLnBrk="1" hangingPunct="1">
              <a:lnSpc>
                <a:spcPct val="90000"/>
              </a:lnSpc>
              <a:buFont typeface="Wingdings" pitchFamily="2" charset="2"/>
              <a:buNone/>
            </a:pPr>
            <a:r>
              <a:rPr lang="en-US" altLang="zh-CN" sz="2800" dirty="0">
                <a:solidFill>
                  <a:srgbClr val="000000"/>
                </a:solidFill>
              </a:rPr>
              <a:t>	member variable declarations</a:t>
            </a:r>
          </a:p>
          <a:p>
            <a:pPr marL="609600" indent="-609600" eaLnBrk="1" hangingPunct="1">
              <a:lnSpc>
                <a:spcPct val="90000"/>
              </a:lnSpc>
              <a:buFont typeface="Wingdings" pitchFamily="2" charset="2"/>
              <a:buNone/>
            </a:pPr>
            <a:r>
              <a:rPr lang="en-US" altLang="zh-CN" sz="2800" dirty="0">
                <a:solidFill>
                  <a:srgbClr val="000000"/>
                </a:solidFill>
              </a:rPr>
              <a:t>	constructor declarations</a:t>
            </a:r>
          </a:p>
          <a:p>
            <a:pPr marL="609600" indent="-609600" eaLnBrk="1" hangingPunct="1">
              <a:lnSpc>
                <a:spcPct val="90000"/>
              </a:lnSpc>
              <a:buFont typeface="Wingdings" pitchFamily="2" charset="2"/>
              <a:buNone/>
            </a:pPr>
            <a:r>
              <a:rPr lang="en-US" altLang="zh-CN" sz="2800" dirty="0">
                <a:solidFill>
                  <a:srgbClr val="000000"/>
                </a:solidFill>
              </a:rPr>
              <a:t>	method declarations</a:t>
            </a:r>
          </a:p>
          <a:p>
            <a:pPr marL="609600" indent="-609600" eaLnBrk="1" hangingPunct="1">
              <a:lnSpc>
                <a:spcPct val="90000"/>
              </a:lnSpc>
              <a:buFont typeface="Wingdings" pitchFamily="2" charset="2"/>
              <a:buNone/>
            </a:pPr>
            <a:r>
              <a:rPr lang="en-US" altLang="zh-CN" sz="2800" dirty="0">
                <a:solidFill>
                  <a:srgbClr val="000000"/>
                </a:solidFill>
              </a:rPr>
              <a:t>}</a:t>
            </a:r>
          </a:p>
          <a:p>
            <a:pPr marL="609600" indent="-609600" eaLnBrk="1" hangingPunct="1">
              <a:lnSpc>
                <a:spcPct val="90000"/>
              </a:lnSpc>
              <a:buFont typeface="Wingdings" pitchFamily="2" charset="2"/>
              <a:buNone/>
            </a:pPr>
            <a:endParaRPr lang="en-US" altLang="zh-CN" sz="2800" dirty="0">
              <a:solidFill>
                <a:srgbClr val="000000"/>
              </a:solidFill>
            </a:endParaRPr>
          </a:p>
          <a:p>
            <a:pPr marL="609600" indent="-609600" eaLnBrk="1" hangingPunct="1">
              <a:lnSpc>
                <a:spcPct val="90000"/>
              </a:lnSpc>
              <a:buFont typeface="Wingdings" pitchFamily="2" charset="2"/>
              <a:buNone/>
            </a:pPr>
            <a:endParaRPr lang="en-US" altLang="zh-CN" sz="2800" dirty="0">
              <a:solidFill>
                <a:srgbClr val="000000"/>
              </a:solidFill>
            </a:endParaRPr>
          </a:p>
        </p:txBody>
      </p:sp>
      <p:sp>
        <p:nvSpPr>
          <p:cNvPr id="6" name="标题 5"/>
          <p:cNvSpPr>
            <a:spLocks noGrp="1"/>
          </p:cNvSpPr>
          <p:nvPr>
            <p:ph type="title"/>
          </p:nvPr>
        </p:nvSpPr>
        <p:spPr/>
        <p:txBody>
          <a:bodyPr/>
          <a:lstStyle/>
          <a:p>
            <a:r>
              <a:rPr lang="zh-CN" altLang="en-US" b="1" dirty="0">
                <a:solidFill>
                  <a:srgbClr val="0033CC"/>
                </a:solidFill>
              </a:rPr>
              <a:t>类体</a:t>
            </a:r>
            <a:r>
              <a:rPr lang="zh-CN" altLang="en-US" dirty="0">
                <a:solidFill>
                  <a:srgbClr val="000000"/>
                </a:solidFill>
              </a:rPr>
              <a:t> </a:t>
            </a:r>
            <a:endParaRPr lang="zh-CN" alt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4" name="Rectangle 3"/>
          <p:cNvSpPr>
            <a:spLocks noGrp="1" noChangeArrowheads="1"/>
          </p:cNvSpPr>
          <p:nvPr>
            <p:ph type="body" idx="1"/>
          </p:nvPr>
        </p:nvSpPr>
        <p:spPr>
          <a:xfrm>
            <a:off x="323528" y="1700808"/>
            <a:ext cx="8305800" cy="3881438"/>
          </a:xfrm>
        </p:spPr>
        <p:txBody>
          <a:bodyPr/>
          <a:lstStyle/>
          <a:p>
            <a:pPr marL="609600" indent="-609600" eaLnBrk="1" hangingPunct="1">
              <a:buFont typeface="Wingdings" pitchFamily="2" charset="2"/>
              <a:buNone/>
            </a:pPr>
            <a:r>
              <a:rPr lang="en-US" altLang="zh-CN" sz="2800" b="1">
                <a:solidFill>
                  <a:schemeClr val="folHlink"/>
                </a:solidFill>
              </a:rPr>
              <a:t>2.  </a:t>
            </a:r>
            <a:r>
              <a:rPr lang="zh-CN" altLang="en-US" sz="2800" b="1">
                <a:solidFill>
                  <a:schemeClr val="folHlink"/>
                </a:solidFill>
              </a:rPr>
              <a:t>成员变量的声明</a:t>
            </a:r>
          </a:p>
          <a:p>
            <a:pPr marL="609600" indent="-609600" eaLnBrk="1" hangingPunct="1">
              <a:buFont typeface="Wingdings" pitchFamily="2" charset="2"/>
              <a:buNone/>
            </a:pPr>
            <a:r>
              <a:rPr lang="zh-CN" altLang="en-US" sz="2800" b="1">
                <a:solidFill>
                  <a:schemeClr val="folHlink"/>
                </a:solidFill>
              </a:rPr>
              <a:t>     </a:t>
            </a:r>
            <a:r>
              <a:rPr lang="zh-CN" altLang="en-US" sz="2800" b="1"/>
              <a:t>声明格式：</a:t>
            </a:r>
            <a:endParaRPr lang="zh-CN" altLang="en-US" sz="2800">
              <a:solidFill>
                <a:srgbClr val="000000"/>
              </a:solidFill>
            </a:endParaRPr>
          </a:p>
          <a:p>
            <a:pPr marL="609600" indent="-609600" eaLnBrk="1" hangingPunct="1">
              <a:buFont typeface="Wingdings" pitchFamily="2" charset="2"/>
              <a:buNone/>
            </a:pPr>
            <a:endParaRPr lang="zh-CN" altLang="en-US" sz="2800">
              <a:solidFill>
                <a:srgbClr val="000000"/>
              </a:solidFill>
            </a:endParaRPr>
          </a:p>
          <a:p>
            <a:pPr marL="609600" indent="-609600" eaLnBrk="1" hangingPunct="1">
              <a:buFont typeface="Wingdings" pitchFamily="2" charset="2"/>
              <a:buNone/>
            </a:pPr>
            <a:endParaRPr lang="en-US" altLang="zh-CN" sz="2800">
              <a:solidFill>
                <a:srgbClr val="000000"/>
              </a:solidFill>
            </a:endParaRPr>
          </a:p>
        </p:txBody>
      </p:sp>
      <p:pic>
        <p:nvPicPr>
          <p:cNvPr id="35846" name="Picture 6" descr="15type"/>
          <p:cNvPicPr>
            <a:picLocks noChangeAspect="1" noChangeArrowheads="1"/>
          </p:cNvPicPr>
          <p:nvPr/>
        </p:nvPicPr>
        <p:blipFill>
          <a:blip r:embed="rId2" cstate="print"/>
          <a:srcRect/>
          <a:stretch>
            <a:fillRect/>
          </a:stretch>
        </p:blipFill>
        <p:spPr bwMode="auto">
          <a:xfrm>
            <a:off x="838200" y="2924944"/>
            <a:ext cx="7848600" cy="2590800"/>
          </a:xfrm>
          <a:prstGeom prst="rect">
            <a:avLst/>
          </a:prstGeom>
          <a:noFill/>
          <a:ln w="9525">
            <a:noFill/>
            <a:miter lim="800000"/>
            <a:headEnd/>
            <a:tailEnd/>
          </a:ln>
        </p:spPr>
      </p:pic>
      <p:sp>
        <p:nvSpPr>
          <p:cNvPr id="7" name="标题 6"/>
          <p:cNvSpPr>
            <a:spLocks noGrp="1"/>
          </p:cNvSpPr>
          <p:nvPr>
            <p:ph type="title"/>
          </p:nvPr>
        </p:nvSpPr>
        <p:spPr/>
        <p:txBody>
          <a:bodyPr/>
          <a:lstStyle/>
          <a:p>
            <a:r>
              <a:rPr lang="zh-CN" altLang="en-US" dirty="0"/>
              <a:t>类体</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8" name="Rectangle 3"/>
          <p:cNvSpPr>
            <a:spLocks noGrp="1" noChangeArrowheads="1"/>
          </p:cNvSpPr>
          <p:nvPr>
            <p:ph type="body" idx="1"/>
          </p:nvPr>
        </p:nvSpPr>
        <p:spPr>
          <a:xfrm>
            <a:off x="457200" y="1556792"/>
            <a:ext cx="8686800" cy="4800600"/>
          </a:xfrm>
        </p:spPr>
        <p:txBody>
          <a:bodyPr/>
          <a:lstStyle/>
          <a:p>
            <a:pPr marL="609600" indent="-609600" eaLnBrk="1" hangingPunct="1">
              <a:buFont typeface="Wingdings" pitchFamily="2" charset="2"/>
              <a:buNone/>
            </a:pPr>
            <a:r>
              <a:rPr lang="en-US" altLang="zh-CN" sz="2800" b="1" dirty="0">
                <a:solidFill>
                  <a:schemeClr val="folHlink"/>
                </a:solidFill>
              </a:rPr>
              <a:t>2.  </a:t>
            </a:r>
            <a:r>
              <a:rPr lang="zh-CN" altLang="en-US" sz="2800" b="1" dirty="0">
                <a:solidFill>
                  <a:schemeClr val="folHlink"/>
                </a:solidFill>
              </a:rPr>
              <a:t>成员变量的声明</a:t>
            </a:r>
          </a:p>
          <a:p>
            <a:pPr marL="609600" indent="-609600" eaLnBrk="1" hangingPunct="1">
              <a:buFont typeface="Wingdings" pitchFamily="2" charset="2"/>
              <a:buNone/>
            </a:pPr>
            <a:r>
              <a:rPr lang="zh-CN" altLang="en-US" sz="2800" b="1" dirty="0">
                <a:solidFill>
                  <a:schemeClr val="folHlink"/>
                </a:solidFill>
              </a:rPr>
              <a:t> </a:t>
            </a:r>
            <a:r>
              <a:rPr lang="zh-CN" altLang="en-US" sz="2800" b="1" dirty="0"/>
              <a:t>说明：</a:t>
            </a:r>
          </a:p>
          <a:p>
            <a:pPr marL="609600" indent="-609600" eaLnBrk="1" hangingPunct="1"/>
            <a:r>
              <a:rPr lang="en-US" altLang="zh-CN" sz="2400" dirty="0">
                <a:solidFill>
                  <a:srgbClr val="000000"/>
                </a:solidFill>
              </a:rPr>
              <a:t>accessLevel: </a:t>
            </a:r>
            <a:r>
              <a:rPr lang="zh-CN" altLang="en-US" sz="2400" dirty="0">
                <a:solidFill>
                  <a:srgbClr val="000000"/>
                </a:solidFill>
              </a:rPr>
              <a:t>对成员变量的访问控制，有四级访问控制：</a:t>
            </a:r>
            <a:r>
              <a:rPr lang="en-US" altLang="zh-CN" sz="2400" dirty="0">
                <a:solidFill>
                  <a:srgbClr val="000000"/>
                </a:solidFill>
              </a:rPr>
              <a:t>public, protected, package, private</a:t>
            </a:r>
            <a:r>
              <a:rPr lang="zh-CN" altLang="en-US" sz="2400" dirty="0">
                <a:solidFill>
                  <a:srgbClr val="000000"/>
                </a:solidFill>
              </a:rPr>
              <a:t>。缺省时为</a:t>
            </a:r>
            <a:r>
              <a:rPr lang="en-US" altLang="zh-CN" sz="2400" dirty="0">
                <a:solidFill>
                  <a:srgbClr val="000000"/>
                </a:solidFill>
              </a:rPr>
              <a:t>package</a:t>
            </a:r>
            <a:r>
              <a:rPr lang="zh-CN" altLang="en-US" sz="2400" dirty="0">
                <a:solidFill>
                  <a:srgbClr val="000000"/>
                </a:solidFill>
              </a:rPr>
              <a:t>。</a:t>
            </a:r>
          </a:p>
          <a:p>
            <a:pPr marL="609600" indent="-609600" eaLnBrk="1" hangingPunct="1"/>
            <a:r>
              <a:rPr lang="en-US" altLang="zh-CN" sz="2400" dirty="0">
                <a:solidFill>
                  <a:srgbClr val="000000"/>
                </a:solidFill>
              </a:rPr>
              <a:t>static: </a:t>
            </a:r>
            <a:r>
              <a:rPr lang="zh-CN" altLang="en-US" sz="2400" dirty="0">
                <a:solidFill>
                  <a:srgbClr val="000000"/>
                </a:solidFill>
              </a:rPr>
              <a:t>说明该变量为类变量，缺省时为实例变量。</a:t>
            </a:r>
            <a:endParaRPr lang="zh-CN" altLang="en-US" sz="2400" dirty="0"/>
          </a:p>
          <a:p>
            <a:pPr marL="609600" indent="-609600" eaLnBrk="1" hangingPunct="1"/>
            <a:r>
              <a:rPr lang="en-US" altLang="zh-CN" sz="2400" dirty="0">
                <a:solidFill>
                  <a:srgbClr val="000000"/>
                </a:solidFill>
              </a:rPr>
              <a:t>final: </a:t>
            </a:r>
            <a:r>
              <a:rPr lang="zh-CN" altLang="en-US" sz="2400" dirty="0">
                <a:solidFill>
                  <a:srgbClr val="000000"/>
                </a:solidFill>
              </a:rPr>
              <a:t>指明该变量的值不能被改变，既该变量为</a:t>
            </a:r>
            <a:r>
              <a:rPr lang="zh-CN" altLang="en-US" sz="2400" b="1" dirty="0">
                <a:solidFill>
                  <a:srgbClr val="000000"/>
                </a:solidFill>
              </a:rPr>
              <a:t>常量</a:t>
            </a:r>
            <a:r>
              <a:rPr lang="zh-CN" altLang="en-US" sz="2400" dirty="0">
                <a:solidFill>
                  <a:srgbClr val="000000"/>
                </a:solidFill>
              </a:rPr>
              <a:t>。</a:t>
            </a:r>
            <a:endParaRPr lang="zh-CN" altLang="en-US" sz="2400" dirty="0"/>
          </a:p>
          <a:p>
            <a:pPr marL="609600" indent="-609600" eaLnBrk="1" hangingPunct="1">
              <a:buFont typeface="Wingdings" pitchFamily="2" charset="2"/>
              <a:buNone/>
            </a:pPr>
            <a:r>
              <a:rPr lang="zh-CN" altLang="en-US" sz="2400" dirty="0">
                <a:solidFill>
                  <a:srgbClr val="000000"/>
                </a:solidFill>
              </a:rPr>
              <a:t>	</a:t>
            </a:r>
            <a:r>
              <a:rPr lang="zh-CN" altLang="en-US" sz="2400" b="1" dirty="0">
                <a:solidFill>
                  <a:srgbClr val="000000"/>
                </a:solidFill>
              </a:rPr>
              <a:t>例 </a:t>
            </a:r>
            <a:r>
              <a:rPr lang="en-US" altLang="zh-CN" sz="2400" b="1" dirty="0">
                <a:solidFill>
                  <a:srgbClr val="000000"/>
                </a:solidFill>
              </a:rPr>
              <a:t>final double AVOGADRO = 6.023e23;</a:t>
            </a:r>
            <a:endParaRPr lang="en-US" altLang="zh-CN" sz="2400" b="1" dirty="0"/>
          </a:p>
          <a:p>
            <a:pPr marL="609600" indent="-609600" eaLnBrk="1" hangingPunct="1">
              <a:buFont typeface="Wingdings" pitchFamily="2" charset="2"/>
              <a:buNone/>
            </a:pPr>
            <a:endParaRPr lang="en-US" altLang="zh-CN" sz="2400" dirty="0"/>
          </a:p>
          <a:p>
            <a:pPr marL="609600" indent="-609600" eaLnBrk="1" hangingPunct="1"/>
            <a:endParaRPr lang="en-US" altLang="zh-CN" sz="2400" dirty="0"/>
          </a:p>
          <a:p>
            <a:pPr marL="609600" indent="-609600" eaLnBrk="1" hangingPunct="1">
              <a:buFont typeface="Wingdings" pitchFamily="2" charset="2"/>
              <a:buNone/>
            </a:pPr>
            <a:endParaRPr lang="en-US" altLang="zh-CN" sz="2400" dirty="0">
              <a:solidFill>
                <a:srgbClr val="000000"/>
              </a:solidFill>
            </a:endParaRPr>
          </a:p>
          <a:p>
            <a:pPr marL="609600" indent="-609600" eaLnBrk="1" hangingPunct="1">
              <a:buFont typeface="Wingdings" pitchFamily="2" charset="2"/>
              <a:buNone/>
            </a:pPr>
            <a:endParaRPr lang="en-US" altLang="zh-CN" sz="2800" dirty="0">
              <a:solidFill>
                <a:srgbClr val="000000"/>
              </a:solidFill>
            </a:endParaRPr>
          </a:p>
        </p:txBody>
      </p:sp>
      <p:sp>
        <p:nvSpPr>
          <p:cNvPr id="6" name="标题 5"/>
          <p:cNvSpPr>
            <a:spLocks noGrp="1"/>
          </p:cNvSpPr>
          <p:nvPr>
            <p:ph type="title"/>
          </p:nvPr>
        </p:nvSpPr>
        <p:spPr/>
        <p:txBody>
          <a:bodyPr/>
          <a:lstStyle/>
          <a:p>
            <a:r>
              <a:rPr lang="zh-CN" altLang="en-US" b="1" dirty="0">
                <a:solidFill>
                  <a:srgbClr val="000000"/>
                </a:solidFill>
              </a:rPr>
              <a:t> </a:t>
            </a:r>
            <a:r>
              <a:rPr lang="zh-CN" altLang="en-US" b="1" dirty="0">
                <a:solidFill>
                  <a:srgbClr val="0033CC"/>
                </a:solidFill>
              </a:rPr>
              <a:t>类体</a:t>
            </a:r>
            <a:r>
              <a:rPr lang="zh-CN" altLang="en-US" dirty="0">
                <a:solidFill>
                  <a:srgbClr val="000000"/>
                </a:solidFill>
              </a:rPr>
              <a:t> </a:t>
            </a:r>
            <a:endParaRPr lang="zh-CN" alt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2" name="Rectangle 3"/>
          <p:cNvSpPr>
            <a:spLocks noGrp="1" noChangeArrowheads="1"/>
          </p:cNvSpPr>
          <p:nvPr>
            <p:ph type="body" idx="1"/>
          </p:nvPr>
        </p:nvSpPr>
        <p:spPr>
          <a:xfrm>
            <a:off x="457200" y="1700808"/>
            <a:ext cx="8686800" cy="4800600"/>
          </a:xfrm>
        </p:spPr>
        <p:txBody>
          <a:bodyPr/>
          <a:lstStyle/>
          <a:p>
            <a:pPr marL="609600" indent="-609600" eaLnBrk="1" hangingPunct="1">
              <a:buFont typeface="Wingdings" pitchFamily="2" charset="2"/>
              <a:buNone/>
            </a:pPr>
            <a:r>
              <a:rPr lang="en-US" altLang="zh-CN" sz="2800" b="1" dirty="0">
                <a:solidFill>
                  <a:schemeClr val="folHlink"/>
                </a:solidFill>
              </a:rPr>
              <a:t>2.  </a:t>
            </a:r>
            <a:r>
              <a:rPr lang="zh-CN" altLang="en-US" sz="2800" b="1" dirty="0">
                <a:solidFill>
                  <a:schemeClr val="folHlink"/>
                </a:solidFill>
              </a:rPr>
              <a:t>成员变量的声明</a:t>
            </a:r>
          </a:p>
          <a:p>
            <a:pPr marL="609600" indent="-609600" eaLnBrk="1" hangingPunct="1">
              <a:buFont typeface="Wingdings" pitchFamily="2" charset="2"/>
              <a:buNone/>
            </a:pPr>
            <a:r>
              <a:rPr lang="zh-CN" altLang="en-US" sz="2800" b="1" dirty="0">
                <a:solidFill>
                  <a:schemeClr val="folHlink"/>
                </a:solidFill>
              </a:rPr>
              <a:t> </a:t>
            </a:r>
            <a:r>
              <a:rPr lang="zh-CN" altLang="en-US" sz="2800" b="1" dirty="0"/>
              <a:t>说明：</a:t>
            </a:r>
            <a:r>
              <a:rPr lang="en-US" altLang="zh-CN" sz="2800" b="1" dirty="0"/>
              <a:t>&lt;</a:t>
            </a:r>
            <a:r>
              <a:rPr lang="zh-CN" altLang="en-US" sz="2800" b="1" dirty="0"/>
              <a:t>续</a:t>
            </a:r>
            <a:r>
              <a:rPr lang="en-US" altLang="zh-CN" sz="2800" b="1" dirty="0"/>
              <a:t>&gt;</a:t>
            </a:r>
          </a:p>
          <a:p>
            <a:pPr marL="609600" indent="-609600" eaLnBrk="1" hangingPunct="1"/>
            <a:r>
              <a:rPr lang="en-US" altLang="zh-CN" sz="2400" dirty="0">
                <a:solidFill>
                  <a:srgbClr val="000000"/>
                </a:solidFill>
              </a:rPr>
              <a:t>type: </a:t>
            </a:r>
            <a:r>
              <a:rPr lang="zh-CN" altLang="en-US" sz="2400" dirty="0">
                <a:solidFill>
                  <a:srgbClr val="000000"/>
                </a:solidFill>
              </a:rPr>
              <a:t>用于说明成员变量的类型。可以是</a:t>
            </a:r>
            <a:r>
              <a:rPr lang="zh-CN" altLang="en-US" sz="2400" b="1" dirty="0">
                <a:solidFill>
                  <a:srgbClr val="000000"/>
                </a:solidFill>
              </a:rPr>
              <a:t>基本数据类型</a:t>
            </a:r>
            <a:r>
              <a:rPr lang="zh-CN" altLang="en-US" sz="2400" dirty="0">
                <a:solidFill>
                  <a:srgbClr val="000000"/>
                </a:solidFill>
              </a:rPr>
              <a:t>，如</a:t>
            </a:r>
            <a:r>
              <a:rPr lang="en-US" altLang="zh-CN" sz="2400" dirty="0">
                <a:solidFill>
                  <a:srgbClr val="000000"/>
                </a:solidFill>
              </a:rPr>
              <a:t>int,float,boolean </a:t>
            </a:r>
            <a:r>
              <a:rPr lang="zh-CN" altLang="en-US" sz="2400" dirty="0">
                <a:solidFill>
                  <a:srgbClr val="000000"/>
                </a:solidFill>
              </a:rPr>
              <a:t>等，也可以是</a:t>
            </a:r>
            <a:r>
              <a:rPr lang="zh-CN" altLang="en-US" sz="2400" b="1" dirty="0">
                <a:solidFill>
                  <a:srgbClr val="000000"/>
                </a:solidFill>
              </a:rPr>
              <a:t>引用类型</a:t>
            </a:r>
            <a:r>
              <a:rPr lang="zh-CN" altLang="en-US" sz="2400" dirty="0">
                <a:solidFill>
                  <a:srgbClr val="000000"/>
                </a:solidFill>
              </a:rPr>
              <a:t>，如数组名，类或接口名。</a:t>
            </a:r>
          </a:p>
          <a:p>
            <a:pPr marL="609600" indent="-609600" eaLnBrk="1" hangingPunct="1"/>
            <a:endParaRPr lang="zh-CN" altLang="en-US" sz="2400" dirty="0">
              <a:solidFill>
                <a:srgbClr val="000000"/>
              </a:solidFill>
            </a:endParaRPr>
          </a:p>
          <a:p>
            <a:pPr marL="609600" indent="-609600" eaLnBrk="1" hangingPunct="1"/>
            <a:r>
              <a:rPr lang="zh-CN" altLang="en-US" sz="2400" dirty="0">
                <a:solidFill>
                  <a:srgbClr val="000000"/>
                </a:solidFill>
              </a:rPr>
              <a:t>在同一个类中不允许有同名的成员变量，但允许成员变量名和方法名相同。</a:t>
            </a:r>
            <a:endParaRPr lang="zh-CN" altLang="en-US" sz="2400" dirty="0"/>
          </a:p>
          <a:p>
            <a:pPr marL="609600" indent="-609600" eaLnBrk="1" hangingPunct="1"/>
            <a:endParaRPr lang="zh-CN" altLang="en-US" sz="2400" dirty="0"/>
          </a:p>
          <a:p>
            <a:pPr marL="609600" indent="-609600" eaLnBrk="1" hangingPunct="1"/>
            <a:endParaRPr lang="zh-CN" altLang="en-US" sz="2400" dirty="0"/>
          </a:p>
          <a:p>
            <a:pPr marL="609600" indent="-609600" eaLnBrk="1" hangingPunct="1">
              <a:buFont typeface="Wingdings" pitchFamily="2" charset="2"/>
              <a:buNone/>
            </a:pPr>
            <a:endParaRPr lang="zh-CN" altLang="en-US" sz="2400" dirty="0">
              <a:solidFill>
                <a:srgbClr val="000000"/>
              </a:solidFill>
            </a:endParaRPr>
          </a:p>
          <a:p>
            <a:pPr marL="609600" indent="-609600" eaLnBrk="1" hangingPunct="1">
              <a:buFont typeface="Wingdings" pitchFamily="2" charset="2"/>
              <a:buNone/>
            </a:pPr>
            <a:endParaRPr lang="en-US" altLang="zh-CN" sz="2800" dirty="0">
              <a:solidFill>
                <a:srgbClr val="000000"/>
              </a:solidFill>
            </a:endParaRPr>
          </a:p>
        </p:txBody>
      </p:sp>
      <p:sp>
        <p:nvSpPr>
          <p:cNvPr id="6" name="标题 5"/>
          <p:cNvSpPr>
            <a:spLocks noGrp="1"/>
          </p:cNvSpPr>
          <p:nvPr>
            <p:ph type="title"/>
          </p:nvPr>
        </p:nvSpPr>
        <p:spPr/>
        <p:txBody>
          <a:bodyPr/>
          <a:lstStyle/>
          <a:p>
            <a:r>
              <a:rPr lang="zh-CN" altLang="en-US" b="1" dirty="0">
                <a:solidFill>
                  <a:srgbClr val="0033CC"/>
                </a:solidFill>
              </a:rPr>
              <a:t>类体</a:t>
            </a:r>
            <a:endParaRPr lang="zh-CN" alt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6" name="Rectangle 3"/>
          <p:cNvSpPr>
            <a:spLocks noGrp="1" noChangeArrowheads="1"/>
          </p:cNvSpPr>
          <p:nvPr>
            <p:ph type="body" idx="1"/>
          </p:nvPr>
        </p:nvSpPr>
        <p:spPr>
          <a:xfrm>
            <a:off x="457200" y="476672"/>
            <a:ext cx="8686800" cy="4800600"/>
          </a:xfrm>
        </p:spPr>
        <p:txBody>
          <a:bodyPr/>
          <a:lstStyle/>
          <a:p>
            <a:pPr marL="609600" indent="-609600" eaLnBrk="1" hangingPunct="1">
              <a:buFont typeface="Wingdings" pitchFamily="2" charset="2"/>
              <a:buNone/>
            </a:pPr>
            <a:r>
              <a:rPr lang="en-US" altLang="zh-CN" sz="2800" b="1" dirty="0">
                <a:solidFill>
                  <a:schemeClr val="folHlink"/>
                </a:solidFill>
              </a:rPr>
              <a:t>2.  </a:t>
            </a:r>
            <a:r>
              <a:rPr lang="zh-CN" altLang="en-US" sz="2800" b="1" dirty="0">
                <a:solidFill>
                  <a:schemeClr val="folHlink"/>
                </a:solidFill>
              </a:rPr>
              <a:t>成员变量的声明</a:t>
            </a:r>
          </a:p>
          <a:p>
            <a:pPr marL="609600" indent="-609600" eaLnBrk="1" hangingPunct="1">
              <a:buFont typeface="Wingdings" pitchFamily="2" charset="2"/>
              <a:buNone/>
            </a:pPr>
            <a:r>
              <a:rPr lang="zh-CN" altLang="en-US" sz="2800" b="1" dirty="0">
                <a:solidFill>
                  <a:schemeClr val="folHlink"/>
                </a:solidFill>
              </a:rPr>
              <a:t> </a:t>
            </a:r>
            <a:r>
              <a:rPr lang="zh-CN" altLang="en-US" sz="2800" b="1" dirty="0"/>
              <a:t>例子：</a:t>
            </a:r>
          </a:p>
          <a:p>
            <a:pPr marL="609600" indent="-609600" eaLnBrk="1" hangingPunct="1">
              <a:buFont typeface="Wingdings" pitchFamily="2" charset="2"/>
              <a:buNone/>
            </a:pPr>
            <a:r>
              <a:rPr lang="en-US" altLang="zh-CN" sz="2400" dirty="0">
                <a:solidFill>
                  <a:srgbClr val="000000"/>
                </a:solidFill>
                <a:latin typeface="宋体" pitchFamily="2" charset="-122"/>
              </a:rPr>
              <a:t>public class SliderDemo {</a:t>
            </a:r>
          </a:p>
          <a:p>
            <a:pPr marL="609600" indent="-609600" eaLnBrk="1" hangingPunct="1">
              <a:buFont typeface="Wingdings" pitchFamily="2" charset="2"/>
              <a:buNone/>
            </a:pPr>
            <a:r>
              <a:rPr lang="en-US" altLang="zh-CN" sz="2400" dirty="0">
                <a:solidFill>
                  <a:srgbClr val="000000"/>
                </a:solidFill>
                <a:latin typeface="宋体" pitchFamily="2" charset="-122"/>
              </a:rPr>
              <a:t>	public static final int FPS_INIT = 15; </a:t>
            </a:r>
          </a:p>
          <a:p>
            <a:pPr marL="609600" indent="-609600" eaLnBrk="1" hangingPunct="1">
              <a:buFont typeface="Wingdings" pitchFamily="2" charset="2"/>
              <a:buNone/>
            </a:pPr>
            <a:r>
              <a:rPr lang="en-US" altLang="zh-CN" sz="2400" dirty="0">
                <a:solidFill>
                  <a:srgbClr val="000000"/>
                </a:solidFill>
                <a:latin typeface="宋体" pitchFamily="2" charset="-122"/>
              </a:rPr>
              <a:t>	private int frameNumber = 0;</a:t>
            </a:r>
          </a:p>
          <a:p>
            <a:pPr marL="609600" indent="-609600" eaLnBrk="1" hangingPunct="1">
              <a:buFont typeface="Wingdings" pitchFamily="2" charset="2"/>
              <a:buNone/>
            </a:pPr>
            <a:r>
              <a:rPr lang="en-US" altLang="zh-CN" sz="2400" dirty="0">
                <a:solidFill>
                  <a:srgbClr val="000000"/>
                </a:solidFill>
                <a:latin typeface="宋体" pitchFamily="2" charset="-122"/>
              </a:rPr>
              <a:t>    protected int delay;</a:t>
            </a:r>
          </a:p>
          <a:p>
            <a:pPr marL="609600" indent="-609600" eaLnBrk="1" hangingPunct="1">
              <a:buFont typeface="Wingdings" pitchFamily="2" charset="2"/>
              <a:buNone/>
            </a:pPr>
            <a:r>
              <a:rPr lang="en-US" altLang="zh-CN" sz="2400" dirty="0">
                <a:solidFill>
                  <a:srgbClr val="000000"/>
                </a:solidFill>
                <a:latin typeface="宋体" pitchFamily="2" charset="-122"/>
              </a:rPr>
              <a:t>	boolean frozen = false</a:t>
            </a:r>
          </a:p>
          <a:p>
            <a:pPr marL="609600" indent="-609600" eaLnBrk="1" hangingPunct="1">
              <a:buFont typeface="Wingdings" pitchFamily="2" charset="2"/>
              <a:buNone/>
            </a:pPr>
            <a:r>
              <a:rPr lang="en-US" altLang="zh-CN" sz="2400" dirty="0">
                <a:solidFill>
                  <a:srgbClr val="000000"/>
                </a:solidFill>
                <a:latin typeface="宋体" pitchFamily="2" charset="-122"/>
              </a:rPr>
              <a:t>    Timer timer;</a:t>
            </a:r>
          </a:p>
          <a:p>
            <a:pPr marL="609600" indent="-609600" eaLnBrk="1" hangingPunct="1">
              <a:buFont typeface="Wingdings" pitchFamily="2" charset="2"/>
              <a:buNone/>
            </a:pPr>
            <a:r>
              <a:rPr lang="en-US" altLang="zh-CN" sz="2400" dirty="0">
                <a:solidFill>
                  <a:srgbClr val="000000"/>
                </a:solidFill>
                <a:latin typeface="Courier"/>
              </a:rPr>
              <a:t>	</a:t>
            </a:r>
            <a:r>
              <a:rPr lang="en-US" altLang="zh-CN" sz="2400" dirty="0">
                <a:solidFill>
                  <a:srgbClr val="000000"/>
                </a:solidFill>
                <a:latin typeface="宋体" pitchFamily="2" charset="-122"/>
              </a:rPr>
              <a:t>private</a:t>
            </a:r>
            <a:r>
              <a:rPr lang="en-US" altLang="zh-CN" sz="2400" dirty="0">
                <a:solidFill>
                  <a:srgbClr val="000000"/>
                </a:solidFill>
                <a:latin typeface="Courier"/>
              </a:rPr>
              <a:t> String name = "Fred Flintstone";</a:t>
            </a:r>
          </a:p>
          <a:p>
            <a:pPr marL="609600" indent="-609600" eaLnBrk="1" hangingPunct="1">
              <a:buFont typeface="Wingdings" pitchFamily="2" charset="2"/>
              <a:buNone/>
            </a:pPr>
            <a:r>
              <a:rPr lang="en-US" altLang="zh-CN" sz="2400" dirty="0">
                <a:solidFill>
                  <a:srgbClr val="000000"/>
                </a:solidFill>
                <a:latin typeface="Courier"/>
              </a:rPr>
              <a:t>}</a:t>
            </a:r>
          </a:p>
        </p:txBody>
      </p:sp>
      <p:sp>
        <p:nvSpPr>
          <p:cNvPr id="7" name="标题 6"/>
          <p:cNvSpPr>
            <a:spLocks noGrp="1"/>
          </p:cNvSpPr>
          <p:nvPr>
            <p:ph type="title"/>
          </p:nvPr>
        </p:nvSpPr>
        <p:spPr>
          <a:xfrm>
            <a:off x="571500" y="548680"/>
            <a:ext cx="8001000" cy="857250"/>
          </a:xfrm>
        </p:spPr>
        <p:txBody>
          <a:bodyPr/>
          <a:lstStyle/>
          <a:p>
            <a:endParaRPr lang="zh-CN" alt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灯片编号占位符 5"/>
          <p:cNvSpPr>
            <a:spLocks noGrp="1"/>
          </p:cNvSpPr>
          <p:nvPr>
            <p:ph type="sldNum" sz="quarter" idx="4294967295"/>
          </p:nvPr>
        </p:nvSpPr>
        <p:spPr>
          <a:xfrm>
            <a:off x="6589713" y="6376988"/>
            <a:ext cx="2193925" cy="457200"/>
          </a:xfrm>
          <a:prstGeom prst="rect">
            <a:avLst/>
          </a:prstGeom>
          <a:noFill/>
        </p:spPr>
        <p:txBody>
          <a:bodyPr/>
          <a:lstStyle/>
          <a:p>
            <a:fld id="{D114830C-2187-49BF-8090-2D82F32F2B05}" type="slidenum">
              <a:rPr lang="en-US" altLang="zh-CN"/>
              <a:pPr/>
              <a:t>26</a:t>
            </a:fld>
            <a:endParaRPr lang="en-US" altLang="zh-CN"/>
          </a:p>
        </p:txBody>
      </p:sp>
      <p:sp>
        <p:nvSpPr>
          <p:cNvPr id="39940" name="Rectangle 3"/>
          <p:cNvSpPr>
            <a:spLocks noGrp="1" noChangeArrowheads="1"/>
          </p:cNvSpPr>
          <p:nvPr>
            <p:ph type="body" idx="1"/>
          </p:nvPr>
        </p:nvSpPr>
        <p:spPr>
          <a:xfrm>
            <a:off x="457200" y="1700808"/>
            <a:ext cx="7848600" cy="3881438"/>
          </a:xfrm>
        </p:spPr>
        <p:txBody>
          <a:bodyPr/>
          <a:lstStyle/>
          <a:p>
            <a:pPr marL="609600" indent="-609600" eaLnBrk="1" hangingPunct="1">
              <a:buFont typeface="Wingdings" pitchFamily="2" charset="2"/>
              <a:buNone/>
            </a:pPr>
            <a:r>
              <a:rPr lang="en-US" altLang="zh-CN" sz="2800" b="1" dirty="0">
                <a:solidFill>
                  <a:schemeClr val="folHlink"/>
                </a:solidFill>
              </a:rPr>
              <a:t>3. </a:t>
            </a:r>
            <a:r>
              <a:rPr lang="zh-CN" altLang="en-US" sz="2800" b="1" dirty="0">
                <a:solidFill>
                  <a:schemeClr val="folHlink"/>
                </a:solidFill>
              </a:rPr>
              <a:t>方法的实现 </a:t>
            </a:r>
          </a:p>
          <a:p>
            <a:pPr marL="609600" indent="-609600" eaLnBrk="1" hangingPunct="1">
              <a:buFont typeface="Wingdings" pitchFamily="2" charset="2"/>
              <a:buNone/>
            </a:pPr>
            <a:r>
              <a:rPr lang="zh-CN" altLang="en-US" sz="2400" dirty="0">
                <a:solidFill>
                  <a:srgbClr val="000000"/>
                </a:solidFill>
              </a:rPr>
              <a:t>	与类相似，方法的声明也包括两部分：方法声明和方法体：如下图所示</a:t>
            </a:r>
            <a:r>
              <a:rPr lang="en-US" altLang="zh-CN" sz="2400" dirty="0">
                <a:solidFill>
                  <a:srgbClr val="000000"/>
                </a:solidFill>
              </a:rPr>
              <a:t>:</a:t>
            </a:r>
            <a:endParaRPr lang="en-US" altLang="zh-CN" sz="2400" dirty="0">
              <a:solidFill>
                <a:schemeClr val="folHlink"/>
              </a:solidFill>
            </a:endParaRPr>
          </a:p>
          <a:p>
            <a:pPr marL="609600" indent="-609600" eaLnBrk="1" hangingPunct="1">
              <a:buFont typeface="Wingdings" pitchFamily="2" charset="2"/>
              <a:buNone/>
            </a:pPr>
            <a:endParaRPr lang="en-US" altLang="zh-CN" sz="2400" dirty="0">
              <a:solidFill>
                <a:schemeClr val="folHlink"/>
              </a:solidFill>
            </a:endParaRPr>
          </a:p>
          <a:p>
            <a:pPr marL="609600" indent="-609600" eaLnBrk="1" hangingPunct="1">
              <a:buFont typeface="Wingdings" pitchFamily="2" charset="2"/>
              <a:buNone/>
            </a:pPr>
            <a:endParaRPr lang="en-US" altLang="zh-CN" sz="2800" dirty="0">
              <a:solidFill>
                <a:srgbClr val="000000"/>
              </a:solidFill>
            </a:endParaRPr>
          </a:p>
        </p:txBody>
      </p:sp>
      <p:pic>
        <p:nvPicPr>
          <p:cNvPr id="39942" name="Picture 6" descr="Image10"/>
          <p:cNvPicPr>
            <a:picLocks noChangeAspect="1" noChangeArrowheads="1"/>
          </p:cNvPicPr>
          <p:nvPr/>
        </p:nvPicPr>
        <p:blipFill>
          <a:blip r:embed="rId2" cstate="print"/>
          <a:srcRect/>
          <a:stretch>
            <a:fillRect/>
          </a:stretch>
        </p:blipFill>
        <p:spPr bwMode="auto">
          <a:xfrm>
            <a:off x="1318592" y="3356992"/>
            <a:ext cx="6781800" cy="2438400"/>
          </a:xfrm>
          <a:prstGeom prst="rect">
            <a:avLst/>
          </a:prstGeom>
          <a:noFill/>
          <a:ln w="9525">
            <a:noFill/>
            <a:miter lim="800000"/>
            <a:headEnd/>
            <a:tailEnd/>
          </a:ln>
        </p:spPr>
      </p:pic>
      <p:sp>
        <p:nvSpPr>
          <p:cNvPr id="7" name="标题 6"/>
          <p:cNvSpPr>
            <a:spLocks noGrp="1"/>
          </p:cNvSpPr>
          <p:nvPr>
            <p:ph type="title"/>
          </p:nvPr>
        </p:nvSpPr>
        <p:spPr/>
        <p:txBody>
          <a:bodyPr/>
          <a:lstStyle/>
          <a:p>
            <a:r>
              <a:rPr lang="zh-CN" altLang="en-US" b="1" dirty="0">
                <a:solidFill>
                  <a:srgbClr val="0033CC"/>
                </a:solidFill>
              </a:rPr>
              <a:t>类体</a:t>
            </a:r>
            <a:endParaRPr lang="zh-CN" alt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4" name="Rectangle 3"/>
          <p:cNvSpPr>
            <a:spLocks noGrp="1" noChangeArrowheads="1"/>
          </p:cNvSpPr>
          <p:nvPr>
            <p:ph type="body" idx="1"/>
          </p:nvPr>
        </p:nvSpPr>
        <p:spPr>
          <a:xfrm>
            <a:off x="457200" y="1419770"/>
            <a:ext cx="7848600" cy="3881438"/>
          </a:xfrm>
        </p:spPr>
        <p:txBody>
          <a:bodyPr/>
          <a:lstStyle/>
          <a:p>
            <a:pPr marL="609600" indent="-609600" eaLnBrk="1" hangingPunct="1">
              <a:buFont typeface="Wingdings" pitchFamily="2" charset="2"/>
              <a:buNone/>
            </a:pPr>
            <a:r>
              <a:rPr lang="en-US" altLang="zh-CN" sz="2800" b="1" dirty="0">
                <a:solidFill>
                  <a:schemeClr val="folHlink"/>
                </a:solidFill>
              </a:rPr>
              <a:t>3. </a:t>
            </a:r>
            <a:r>
              <a:rPr lang="zh-CN" altLang="en-US" sz="2800" b="1" dirty="0">
                <a:solidFill>
                  <a:schemeClr val="folHlink"/>
                </a:solidFill>
              </a:rPr>
              <a:t>方法的实现 </a:t>
            </a:r>
          </a:p>
          <a:p>
            <a:pPr marL="609600" indent="-609600" eaLnBrk="1" hangingPunct="1"/>
            <a:r>
              <a:rPr lang="zh-CN" altLang="en-US" sz="2800" b="1" dirty="0">
                <a:solidFill>
                  <a:srgbClr val="0033CC"/>
                </a:solidFill>
              </a:rPr>
              <a:t>方法声明</a:t>
            </a:r>
            <a:r>
              <a:rPr lang="en-US" altLang="zh-CN" sz="2800" b="1" dirty="0">
                <a:solidFill>
                  <a:srgbClr val="0033CC"/>
                </a:solidFill>
              </a:rPr>
              <a:t>:</a:t>
            </a:r>
          </a:p>
          <a:p>
            <a:pPr marL="609600" indent="-609600" eaLnBrk="1" hangingPunct="1">
              <a:buFont typeface="Wingdings" pitchFamily="2" charset="2"/>
              <a:buNone/>
            </a:pPr>
            <a:r>
              <a:rPr lang="en-US" altLang="zh-CN" sz="2400" b="1" dirty="0">
                <a:solidFill>
                  <a:srgbClr val="000000"/>
                </a:solidFill>
              </a:rPr>
              <a:t>	</a:t>
            </a:r>
            <a:r>
              <a:rPr lang="zh-CN" altLang="en-US" sz="2400" b="1" dirty="0">
                <a:solidFill>
                  <a:srgbClr val="000000"/>
                </a:solidFill>
              </a:rPr>
              <a:t>定义方法的属性，如访问控制级，返回值的类型，方法名字，参数等</a:t>
            </a:r>
            <a:r>
              <a:rPr lang="zh-CN" altLang="en-US" sz="2400" b="1" dirty="0">
                <a:solidFill>
                  <a:srgbClr val="0033CC"/>
                </a:solidFill>
              </a:rPr>
              <a:t> </a:t>
            </a:r>
          </a:p>
          <a:p>
            <a:pPr marL="609600" indent="-609600" eaLnBrk="1" hangingPunct="1">
              <a:buFont typeface="Wingdings" pitchFamily="2" charset="2"/>
              <a:buNone/>
            </a:pPr>
            <a:endParaRPr lang="en-US" altLang="zh-CN" sz="2400" b="1" dirty="0">
              <a:solidFill>
                <a:srgbClr val="0033CC"/>
              </a:solidFill>
            </a:endParaRPr>
          </a:p>
        </p:txBody>
      </p:sp>
      <p:pic>
        <p:nvPicPr>
          <p:cNvPr id="40966" name="Picture 6" descr="Image11"/>
          <p:cNvPicPr>
            <a:picLocks noChangeAspect="1" noChangeArrowheads="1"/>
          </p:cNvPicPr>
          <p:nvPr/>
        </p:nvPicPr>
        <p:blipFill>
          <a:blip r:embed="rId2" cstate="print"/>
          <a:srcRect/>
          <a:stretch>
            <a:fillRect/>
          </a:stretch>
        </p:blipFill>
        <p:spPr bwMode="auto">
          <a:xfrm>
            <a:off x="914400" y="3562350"/>
            <a:ext cx="7239000" cy="2838450"/>
          </a:xfrm>
          <a:prstGeom prst="rect">
            <a:avLst/>
          </a:prstGeom>
          <a:noFill/>
          <a:ln w="9525">
            <a:noFill/>
            <a:miter lim="800000"/>
            <a:headEnd/>
            <a:tailEnd/>
          </a:ln>
        </p:spPr>
      </p:pic>
      <p:sp>
        <p:nvSpPr>
          <p:cNvPr id="7" name="标题 6"/>
          <p:cNvSpPr>
            <a:spLocks noGrp="1"/>
          </p:cNvSpPr>
          <p:nvPr>
            <p:ph type="title"/>
          </p:nvPr>
        </p:nvSpPr>
        <p:spPr/>
        <p:txBody>
          <a:bodyPr/>
          <a:lstStyle/>
          <a:p>
            <a:r>
              <a:rPr lang="zh-CN" altLang="en-US" b="1" dirty="0">
                <a:solidFill>
                  <a:srgbClr val="0033CC"/>
                </a:solidFill>
              </a:rPr>
              <a:t>类体</a:t>
            </a:r>
            <a:endParaRPr lang="zh-CN" alt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8" name="Rectangle 3"/>
          <p:cNvSpPr>
            <a:spLocks noGrp="1" noChangeArrowheads="1"/>
          </p:cNvSpPr>
          <p:nvPr>
            <p:ph type="body" idx="1"/>
          </p:nvPr>
        </p:nvSpPr>
        <p:spPr>
          <a:xfrm>
            <a:off x="457200" y="1484784"/>
            <a:ext cx="7848600" cy="3881438"/>
          </a:xfrm>
        </p:spPr>
        <p:txBody>
          <a:bodyPr/>
          <a:lstStyle/>
          <a:p>
            <a:pPr marL="609600" indent="-609600" eaLnBrk="1" hangingPunct="1">
              <a:buFont typeface="Wingdings" pitchFamily="2" charset="2"/>
              <a:buNone/>
            </a:pPr>
            <a:r>
              <a:rPr lang="en-US" altLang="zh-CN" sz="2800" b="1" dirty="0">
                <a:solidFill>
                  <a:schemeClr val="folHlink"/>
                </a:solidFill>
              </a:rPr>
              <a:t>3. </a:t>
            </a:r>
            <a:r>
              <a:rPr lang="zh-CN" altLang="en-US" sz="2800" b="1" dirty="0">
                <a:solidFill>
                  <a:schemeClr val="folHlink"/>
                </a:solidFill>
              </a:rPr>
              <a:t>方法的实现 </a:t>
            </a:r>
          </a:p>
          <a:p>
            <a:pPr marL="609600" indent="-609600" eaLnBrk="1" hangingPunct="1"/>
            <a:r>
              <a:rPr lang="zh-CN" altLang="en-US" sz="2800" b="1" dirty="0">
                <a:solidFill>
                  <a:srgbClr val="0033CC"/>
                </a:solidFill>
              </a:rPr>
              <a:t>返回值：</a:t>
            </a:r>
            <a:r>
              <a:rPr lang="zh-CN" altLang="en-US" sz="2800" dirty="0">
                <a:solidFill>
                  <a:srgbClr val="000000"/>
                </a:solidFill>
              </a:rPr>
              <a:t>返回值的数据类型必须和声明中的返回类型一致，或者完全相同，或者是它的一个子类 。</a:t>
            </a:r>
          </a:p>
          <a:p>
            <a:pPr marL="990600" lvl="1" indent="-533400" eaLnBrk="1" hangingPunct="1">
              <a:buFont typeface="Wingdings" pitchFamily="2" charset="2"/>
              <a:buNone/>
            </a:pPr>
            <a:r>
              <a:rPr lang="zh-CN" altLang="en-US" sz="2400" dirty="0">
                <a:solidFill>
                  <a:srgbClr val="000000"/>
                </a:solidFill>
              </a:rPr>
              <a:t>	当一个方法不需要返回值时，返回类型为</a:t>
            </a:r>
            <a:r>
              <a:rPr lang="en-US" altLang="zh-CN" sz="2400" dirty="0">
                <a:solidFill>
                  <a:srgbClr val="000000"/>
                </a:solidFill>
              </a:rPr>
              <a:t>void</a:t>
            </a:r>
            <a:r>
              <a:rPr lang="zh-CN" altLang="en-US" sz="2400" dirty="0">
                <a:solidFill>
                  <a:srgbClr val="000000"/>
                </a:solidFill>
              </a:rPr>
              <a:t>。</a:t>
            </a:r>
          </a:p>
          <a:p>
            <a:pPr marL="609600" indent="-609600" eaLnBrk="1" hangingPunct="1">
              <a:buFont typeface="Wingdings" pitchFamily="2" charset="2"/>
              <a:buNone/>
            </a:pPr>
            <a:endParaRPr lang="en-US" altLang="zh-CN" sz="2400" dirty="0">
              <a:solidFill>
                <a:srgbClr val="000000"/>
              </a:solidFill>
            </a:endParaRPr>
          </a:p>
        </p:txBody>
      </p:sp>
      <p:pic>
        <p:nvPicPr>
          <p:cNvPr id="41990" name="Picture 6" descr="19object"/>
          <p:cNvPicPr>
            <a:picLocks noChangeAspect="1" noChangeArrowheads="1"/>
          </p:cNvPicPr>
          <p:nvPr/>
        </p:nvPicPr>
        <p:blipFill>
          <a:blip r:embed="rId2" cstate="print"/>
          <a:srcRect/>
          <a:stretch>
            <a:fillRect/>
          </a:stretch>
        </p:blipFill>
        <p:spPr bwMode="auto">
          <a:xfrm>
            <a:off x="1143000" y="4437112"/>
            <a:ext cx="2590800" cy="1760538"/>
          </a:xfrm>
          <a:prstGeom prst="rect">
            <a:avLst/>
          </a:prstGeom>
          <a:noFill/>
          <a:ln w="9525">
            <a:noFill/>
            <a:miter lim="800000"/>
            <a:headEnd/>
            <a:tailEnd/>
          </a:ln>
        </p:spPr>
      </p:pic>
      <p:sp>
        <p:nvSpPr>
          <p:cNvPr id="41991" name="Text Box 8"/>
          <p:cNvSpPr txBox="1">
            <a:spLocks noChangeArrowheads="1"/>
          </p:cNvSpPr>
          <p:nvPr/>
        </p:nvSpPr>
        <p:spPr bwMode="auto">
          <a:xfrm>
            <a:off x="4267200" y="4724400"/>
            <a:ext cx="4572000" cy="1552575"/>
          </a:xfrm>
          <a:prstGeom prst="rect">
            <a:avLst/>
          </a:prstGeom>
          <a:noFill/>
          <a:ln w="9525">
            <a:noFill/>
            <a:miter lim="800000"/>
            <a:headEnd/>
            <a:tailEnd/>
          </a:ln>
        </p:spPr>
        <p:txBody>
          <a:bodyPr>
            <a:spAutoFit/>
          </a:bodyPr>
          <a:lstStyle/>
          <a:p>
            <a:pPr>
              <a:spcBef>
                <a:spcPct val="50000"/>
              </a:spcBef>
            </a:pPr>
            <a:r>
              <a:rPr lang="en-US" altLang="zh-CN">
                <a:latin typeface="Arial Unicode MS" pitchFamily="34" charset="-122"/>
              </a:rPr>
              <a:t>public Number returnANumber() { </a:t>
            </a:r>
          </a:p>
          <a:p>
            <a:pPr>
              <a:spcBef>
                <a:spcPct val="50000"/>
              </a:spcBef>
            </a:pPr>
            <a:r>
              <a:rPr lang="en-US" altLang="zh-CN">
                <a:latin typeface="Arial Unicode MS" pitchFamily="34" charset="-122"/>
              </a:rPr>
              <a:t>. . . </a:t>
            </a:r>
          </a:p>
          <a:p>
            <a:pPr>
              <a:spcBef>
                <a:spcPct val="50000"/>
              </a:spcBef>
            </a:pPr>
            <a:r>
              <a:rPr lang="en-US" altLang="zh-CN">
                <a:latin typeface="Arial Unicode MS" pitchFamily="34" charset="-122"/>
              </a:rPr>
              <a:t>} </a:t>
            </a:r>
          </a:p>
        </p:txBody>
      </p:sp>
      <p:sp>
        <p:nvSpPr>
          <p:cNvPr id="8" name="标题 7"/>
          <p:cNvSpPr>
            <a:spLocks noGrp="1"/>
          </p:cNvSpPr>
          <p:nvPr>
            <p:ph type="title"/>
          </p:nvPr>
        </p:nvSpPr>
        <p:spPr/>
        <p:txBody>
          <a:bodyPr/>
          <a:lstStyle/>
          <a:p>
            <a:r>
              <a:rPr lang="zh-CN" altLang="en-US" b="1" dirty="0">
                <a:solidFill>
                  <a:srgbClr val="0033CC"/>
                </a:solidFill>
              </a:rPr>
              <a:t>类体</a:t>
            </a:r>
            <a:endParaRPr lang="zh-CN" alt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2" name="Rectangle 3"/>
          <p:cNvSpPr>
            <a:spLocks noGrp="1" noChangeArrowheads="1"/>
          </p:cNvSpPr>
          <p:nvPr>
            <p:ph type="body" idx="1"/>
          </p:nvPr>
        </p:nvSpPr>
        <p:spPr>
          <a:xfrm>
            <a:off x="395536" y="1436712"/>
            <a:ext cx="8001000" cy="4800600"/>
          </a:xfrm>
        </p:spPr>
        <p:txBody>
          <a:bodyPr/>
          <a:lstStyle/>
          <a:p>
            <a:pPr marL="609600" indent="-609600" eaLnBrk="1" hangingPunct="1">
              <a:buFont typeface="Wingdings" pitchFamily="2" charset="2"/>
              <a:buNone/>
            </a:pPr>
            <a:r>
              <a:rPr lang="en-US" altLang="zh-CN" sz="2800" b="1" dirty="0">
                <a:solidFill>
                  <a:schemeClr val="folHlink"/>
                </a:solidFill>
              </a:rPr>
              <a:t>3. </a:t>
            </a:r>
            <a:r>
              <a:rPr lang="zh-CN" altLang="en-US" sz="2800" b="1" dirty="0">
                <a:solidFill>
                  <a:schemeClr val="folHlink"/>
                </a:solidFill>
              </a:rPr>
              <a:t>方法的实现 </a:t>
            </a:r>
          </a:p>
          <a:p>
            <a:pPr marL="609600" indent="-609600" eaLnBrk="1" hangingPunct="1"/>
            <a:r>
              <a:rPr lang="zh-CN" altLang="en-US" sz="2800" b="1" dirty="0">
                <a:solidFill>
                  <a:srgbClr val="0033CC"/>
                </a:solidFill>
              </a:rPr>
              <a:t>参数传递</a:t>
            </a:r>
            <a:r>
              <a:rPr lang="en-US" altLang="zh-CN" sz="2800" b="1" dirty="0">
                <a:solidFill>
                  <a:srgbClr val="0033CC"/>
                </a:solidFill>
              </a:rPr>
              <a:t>:</a:t>
            </a:r>
          </a:p>
          <a:p>
            <a:pPr marL="609600" indent="-609600" eaLnBrk="1" hangingPunct="1">
              <a:buFont typeface="Wingdings" pitchFamily="2" charset="2"/>
              <a:buNone/>
            </a:pPr>
            <a:r>
              <a:rPr lang="en-US" altLang="zh-CN" sz="2400" dirty="0">
                <a:solidFill>
                  <a:srgbClr val="000000"/>
                </a:solidFill>
              </a:rPr>
              <a:t>   </a:t>
            </a:r>
            <a:r>
              <a:rPr lang="en-US" altLang="zh-CN" sz="2400" b="1" dirty="0">
                <a:solidFill>
                  <a:srgbClr val="000000"/>
                </a:solidFill>
              </a:rPr>
              <a:t>1</a:t>
            </a:r>
            <a:r>
              <a:rPr lang="zh-CN" altLang="en-US" sz="2400" b="1" dirty="0">
                <a:solidFill>
                  <a:srgbClr val="000000"/>
                </a:solidFill>
              </a:rPr>
              <a:t>）参数的类型</a:t>
            </a:r>
            <a:r>
              <a:rPr lang="zh-CN" altLang="en-US" sz="2400" dirty="0">
                <a:solidFill>
                  <a:srgbClr val="000000"/>
                </a:solidFill>
              </a:rPr>
              <a:t>可以是：</a:t>
            </a:r>
          </a:p>
          <a:p>
            <a:pPr marL="990600" lvl="1" indent="-533400" eaLnBrk="1" hangingPunct="1"/>
            <a:r>
              <a:rPr lang="zh-CN" altLang="en-US" sz="2400" b="1" dirty="0">
                <a:solidFill>
                  <a:srgbClr val="000000"/>
                </a:solidFill>
              </a:rPr>
              <a:t>简单数据类型</a:t>
            </a:r>
            <a:r>
              <a:rPr lang="zh-CN" altLang="en-US" sz="2400" dirty="0">
                <a:solidFill>
                  <a:srgbClr val="000000"/>
                </a:solidFill>
              </a:rPr>
              <a:t>：值传送。方法接收参数的值，但并不能改变这些参数的值 </a:t>
            </a:r>
          </a:p>
          <a:p>
            <a:pPr marL="990600" lvl="1" indent="-533400" eaLnBrk="1" hangingPunct="1">
              <a:buFont typeface="Wingdings" pitchFamily="2" charset="2"/>
              <a:buNone/>
            </a:pPr>
            <a:endParaRPr lang="zh-CN" altLang="en-US" sz="2400" dirty="0">
              <a:solidFill>
                <a:srgbClr val="000000"/>
              </a:solidFill>
            </a:endParaRPr>
          </a:p>
          <a:p>
            <a:pPr marL="990600" lvl="1" indent="-533400" eaLnBrk="1" hangingPunct="1"/>
            <a:r>
              <a:rPr lang="zh-CN" altLang="en-US" sz="2400" b="1" dirty="0">
                <a:solidFill>
                  <a:srgbClr val="000000"/>
                </a:solidFill>
              </a:rPr>
              <a:t>引用数据类型</a:t>
            </a:r>
            <a:r>
              <a:rPr lang="zh-CN" altLang="en-US" sz="2400" dirty="0">
                <a:solidFill>
                  <a:srgbClr val="000000"/>
                </a:solidFill>
              </a:rPr>
              <a:t>（数组类型、类或接口）：</a:t>
            </a:r>
          </a:p>
          <a:p>
            <a:pPr marL="990600" lvl="1" indent="-533400" eaLnBrk="1" hangingPunct="1">
              <a:buFont typeface="Wingdings" pitchFamily="2" charset="2"/>
              <a:buNone/>
            </a:pPr>
            <a:r>
              <a:rPr lang="zh-CN" altLang="en-US" sz="2400" dirty="0">
                <a:solidFill>
                  <a:srgbClr val="000000"/>
                </a:solidFill>
              </a:rPr>
              <a:t>	地址传递。传递给方法的是数据在内存中的地址，</a:t>
            </a:r>
          </a:p>
          <a:p>
            <a:pPr marL="609600" indent="-609600" eaLnBrk="1" hangingPunct="1">
              <a:buFont typeface="Wingdings" pitchFamily="2" charset="2"/>
              <a:buNone/>
            </a:pPr>
            <a:r>
              <a:rPr lang="zh-CN" altLang="en-US" sz="2400" dirty="0">
                <a:solidFill>
                  <a:srgbClr val="000000"/>
                </a:solidFill>
              </a:rPr>
              <a:t>		</a:t>
            </a:r>
            <a:endParaRPr lang="en-US" altLang="zh-CN" sz="2400" b="1" dirty="0">
              <a:solidFill>
                <a:srgbClr val="000000"/>
              </a:solidFill>
            </a:endParaRPr>
          </a:p>
        </p:txBody>
      </p:sp>
      <p:sp>
        <p:nvSpPr>
          <p:cNvPr id="6" name="标题 5"/>
          <p:cNvSpPr>
            <a:spLocks noGrp="1"/>
          </p:cNvSpPr>
          <p:nvPr>
            <p:ph type="title"/>
          </p:nvPr>
        </p:nvSpPr>
        <p:spPr/>
        <p:txBody>
          <a:bodyPr/>
          <a:lstStyle/>
          <a:p>
            <a:r>
              <a:rPr lang="zh-CN" altLang="en-US" b="1" dirty="0">
                <a:solidFill>
                  <a:srgbClr val="0033CC"/>
                </a:solidFill>
              </a:rPr>
              <a:t>类体</a:t>
            </a:r>
            <a:endParaRPr lang="zh-CN" alt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6" name="Rectangle 3"/>
          <p:cNvSpPr>
            <a:spLocks noGrp="1" noChangeArrowheads="1"/>
          </p:cNvSpPr>
          <p:nvPr>
            <p:ph type="body" idx="1"/>
          </p:nvPr>
        </p:nvSpPr>
        <p:spPr>
          <a:xfrm>
            <a:off x="459432" y="1484784"/>
            <a:ext cx="8001000" cy="4800600"/>
          </a:xfrm>
        </p:spPr>
        <p:txBody>
          <a:bodyPr/>
          <a:lstStyle/>
          <a:p>
            <a:pPr marL="609600" indent="-609600" eaLnBrk="1" hangingPunct="1">
              <a:lnSpc>
                <a:spcPct val="90000"/>
              </a:lnSpc>
            </a:pPr>
            <a:r>
              <a:rPr lang="zh-CN" altLang="en-US" sz="2800" b="1" dirty="0">
                <a:solidFill>
                  <a:srgbClr val="0033CC"/>
                </a:solidFill>
              </a:rPr>
              <a:t>参数传递</a:t>
            </a:r>
            <a:r>
              <a:rPr lang="en-US" altLang="zh-CN" sz="2800" b="1" dirty="0">
                <a:solidFill>
                  <a:srgbClr val="0033CC"/>
                </a:solidFill>
              </a:rPr>
              <a:t>:</a:t>
            </a:r>
          </a:p>
          <a:p>
            <a:pPr marL="609600" indent="-609600" eaLnBrk="1" hangingPunct="1">
              <a:lnSpc>
                <a:spcPct val="90000"/>
              </a:lnSpc>
              <a:buFont typeface="Wingdings" pitchFamily="2" charset="2"/>
              <a:buNone/>
            </a:pPr>
            <a:r>
              <a:rPr lang="en-US" altLang="zh-CN" sz="2400" dirty="0">
                <a:solidFill>
                  <a:srgbClr val="000000"/>
                </a:solidFill>
              </a:rPr>
              <a:t>   </a:t>
            </a:r>
            <a:r>
              <a:rPr lang="en-US" altLang="zh-CN" sz="2400" b="1" dirty="0">
                <a:solidFill>
                  <a:srgbClr val="000000"/>
                </a:solidFill>
              </a:rPr>
              <a:t>2</a:t>
            </a:r>
            <a:r>
              <a:rPr lang="zh-CN" altLang="en-US" sz="2400" b="1" dirty="0">
                <a:solidFill>
                  <a:srgbClr val="000000"/>
                </a:solidFill>
              </a:rPr>
              <a:t>）参数的命名：</a:t>
            </a:r>
          </a:p>
          <a:p>
            <a:pPr marL="609600" indent="-609600" eaLnBrk="1" hangingPunct="1">
              <a:lnSpc>
                <a:spcPct val="90000"/>
              </a:lnSpc>
              <a:buFont typeface="Wingdings" pitchFamily="2" charset="2"/>
              <a:buNone/>
            </a:pPr>
            <a:r>
              <a:rPr lang="zh-CN" altLang="en-US" sz="2400" dirty="0">
                <a:solidFill>
                  <a:srgbClr val="000000"/>
                </a:solidFill>
              </a:rPr>
              <a:t>参数名字可以与类的成员变量 相同，但参数名会隐藏成员。变量为了区别参数与类的成员变量，我们必须使用</a:t>
            </a:r>
            <a:r>
              <a:rPr lang="en-US" altLang="zh-CN" sz="2400" b="1" dirty="0">
                <a:solidFill>
                  <a:srgbClr val="000000"/>
                </a:solidFill>
                <a:cs typeface="Times New Roman" pitchFamily="18" charset="0"/>
              </a:rPr>
              <a:t>this</a:t>
            </a:r>
          </a:p>
          <a:p>
            <a:pPr marL="609600" indent="-609600" eaLnBrk="1" hangingPunct="1">
              <a:lnSpc>
                <a:spcPct val="90000"/>
              </a:lnSpc>
              <a:buFont typeface="Wingdings" pitchFamily="2" charset="2"/>
              <a:buNone/>
            </a:pPr>
            <a:r>
              <a:rPr lang="en-US" altLang="zh-CN" sz="2400" dirty="0">
                <a:solidFill>
                  <a:srgbClr val="000000"/>
                </a:solidFill>
                <a:latin typeface="Arial Unicode MS" pitchFamily="34" charset="-122"/>
              </a:rPr>
              <a:t>class Circle {</a:t>
            </a:r>
          </a:p>
          <a:p>
            <a:pPr marL="609600" indent="-609600" eaLnBrk="1" hangingPunct="1">
              <a:lnSpc>
                <a:spcPct val="90000"/>
              </a:lnSpc>
              <a:buFont typeface="Wingdings" pitchFamily="2" charset="2"/>
              <a:buNone/>
            </a:pPr>
            <a:r>
              <a:rPr lang="en-US" altLang="zh-CN" sz="2400" dirty="0">
                <a:solidFill>
                  <a:srgbClr val="000000"/>
                </a:solidFill>
                <a:latin typeface="Arial Unicode MS" pitchFamily="34" charset="-122"/>
              </a:rPr>
              <a:t>	int x, y, radius; </a:t>
            </a:r>
          </a:p>
          <a:p>
            <a:pPr marL="609600" indent="-609600" eaLnBrk="1" hangingPunct="1">
              <a:lnSpc>
                <a:spcPct val="90000"/>
              </a:lnSpc>
              <a:buFont typeface="Wingdings" pitchFamily="2" charset="2"/>
              <a:buNone/>
            </a:pPr>
            <a:r>
              <a:rPr lang="en-US" altLang="zh-CN" sz="2400" dirty="0">
                <a:solidFill>
                  <a:srgbClr val="000000"/>
                </a:solidFill>
                <a:latin typeface="Arial Unicode MS" pitchFamily="34" charset="-122"/>
              </a:rPr>
              <a:t>	public Circle(int x, int y, int radius) { </a:t>
            </a:r>
          </a:p>
          <a:p>
            <a:pPr marL="609600" indent="-609600" eaLnBrk="1" hangingPunct="1">
              <a:lnSpc>
                <a:spcPct val="90000"/>
              </a:lnSpc>
              <a:buFont typeface="Wingdings" pitchFamily="2" charset="2"/>
              <a:buNone/>
            </a:pPr>
            <a:r>
              <a:rPr lang="en-US" altLang="zh-CN" sz="2400" dirty="0">
                <a:solidFill>
                  <a:srgbClr val="000000"/>
                </a:solidFill>
                <a:latin typeface="Arial Unicode MS" pitchFamily="34" charset="-122"/>
              </a:rPr>
              <a:t>		</a:t>
            </a:r>
            <a:r>
              <a:rPr lang="en-US" altLang="zh-CN" sz="2400" b="1" dirty="0">
                <a:solidFill>
                  <a:srgbClr val="000000"/>
                </a:solidFill>
                <a:latin typeface="Arial Unicode MS" pitchFamily="34" charset="-122"/>
              </a:rPr>
              <a:t>this.</a:t>
            </a:r>
            <a:r>
              <a:rPr lang="en-US" altLang="zh-CN" sz="2400" dirty="0">
                <a:solidFill>
                  <a:srgbClr val="000000"/>
                </a:solidFill>
                <a:latin typeface="Arial Unicode MS" pitchFamily="34" charset="-122"/>
              </a:rPr>
              <a:t>x = x; </a:t>
            </a:r>
            <a:r>
              <a:rPr lang="en-US" altLang="zh-CN" sz="2400" b="1" dirty="0">
                <a:solidFill>
                  <a:srgbClr val="000000"/>
                </a:solidFill>
                <a:latin typeface="Arial Unicode MS" pitchFamily="34" charset="-122"/>
              </a:rPr>
              <a:t>this.</a:t>
            </a:r>
            <a:r>
              <a:rPr lang="en-US" altLang="zh-CN" sz="2400" dirty="0">
                <a:solidFill>
                  <a:srgbClr val="000000"/>
                </a:solidFill>
                <a:latin typeface="Arial Unicode MS" pitchFamily="34" charset="-122"/>
              </a:rPr>
              <a:t>y = y; </a:t>
            </a:r>
            <a:r>
              <a:rPr lang="en-US" altLang="zh-CN" sz="2400" b="1" dirty="0">
                <a:solidFill>
                  <a:srgbClr val="000000"/>
                </a:solidFill>
                <a:latin typeface="Arial Unicode MS" pitchFamily="34" charset="-122"/>
              </a:rPr>
              <a:t>this.</a:t>
            </a:r>
            <a:r>
              <a:rPr lang="en-US" altLang="zh-CN" sz="2400" dirty="0">
                <a:solidFill>
                  <a:srgbClr val="000000"/>
                </a:solidFill>
                <a:latin typeface="Arial Unicode MS" pitchFamily="34" charset="-122"/>
              </a:rPr>
              <a:t>radius = radius; </a:t>
            </a:r>
          </a:p>
          <a:p>
            <a:pPr marL="609600" indent="-609600" eaLnBrk="1" hangingPunct="1">
              <a:lnSpc>
                <a:spcPct val="90000"/>
              </a:lnSpc>
              <a:buFont typeface="Wingdings" pitchFamily="2" charset="2"/>
              <a:buNone/>
            </a:pPr>
            <a:r>
              <a:rPr lang="en-US" altLang="zh-CN" sz="2400" dirty="0">
                <a:solidFill>
                  <a:srgbClr val="000000"/>
                </a:solidFill>
                <a:latin typeface="Arial Unicode MS" pitchFamily="34" charset="-122"/>
              </a:rPr>
              <a:t>} } </a:t>
            </a:r>
            <a:endParaRPr lang="en-US" altLang="zh-CN" sz="2400" dirty="0">
              <a:solidFill>
                <a:srgbClr val="000000"/>
              </a:solidFill>
            </a:endParaRPr>
          </a:p>
          <a:p>
            <a:pPr marL="609600" indent="-609600" eaLnBrk="1" hangingPunct="1">
              <a:lnSpc>
                <a:spcPct val="90000"/>
              </a:lnSpc>
              <a:buFont typeface="Wingdings" pitchFamily="2" charset="2"/>
              <a:buNone/>
            </a:pPr>
            <a:endParaRPr lang="en-US" altLang="zh-CN" sz="2400" dirty="0">
              <a:solidFill>
                <a:srgbClr val="000000"/>
              </a:solidFill>
            </a:endParaRPr>
          </a:p>
          <a:p>
            <a:pPr marL="609600" indent="-609600" eaLnBrk="1" hangingPunct="1">
              <a:lnSpc>
                <a:spcPct val="90000"/>
              </a:lnSpc>
              <a:buFont typeface="Wingdings" pitchFamily="2" charset="2"/>
              <a:buNone/>
            </a:pPr>
            <a:endParaRPr lang="en-US" altLang="zh-CN" sz="2400" dirty="0">
              <a:solidFill>
                <a:srgbClr val="000000"/>
              </a:solidFill>
            </a:endParaRPr>
          </a:p>
        </p:txBody>
      </p:sp>
      <p:sp>
        <p:nvSpPr>
          <p:cNvPr id="6" name="标题 5"/>
          <p:cNvSpPr>
            <a:spLocks noGrp="1"/>
          </p:cNvSpPr>
          <p:nvPr>
            <p:ph type="title"/>
          </p:nvPr>
        </p:nvSpPr>
        <p:spPr/>
        <p:txBody>
          <a:bodyPr/>
          <a:lstStyle/>
          <a:p>
            <a:r>
              <a:rPr lang="zh-CN" altLang="en-US" b="1" dirty="0">
                <a:solidFill>
                  <a:srgbClr val="0033CC"/>
                </a:solidFill>
              </a:rPr>
              <a:t>类体</a:t>
            </a:r>
            <a:r>
              <a:rPr lang="en-US" altLang="zh-CN" b="1" dirty="0">
                <a:solidFill>
                  <a:srgbClr val="0033CC"/>
                </a:solidFill>
              </a:rPr>
              <a:t>:</a:t>
            </a:r>
            <a:r>
              <a:rPr lang="en-US" altLang="zh-CN" b="1" dirty="0">
                <a:solidFill>
                  <a:schemeClr val="folHlink"/>
                </a:solidFill>
              </a:rPr>
              <a:t> </a:t>
            </a:r>
            <a:r>
              <a:rPr lang="zh-CN" altLang="en-US" b="1" dirty="0">
                <a:solidFill>
                  <a:schemeClr val="folHlink"/>
                </a:solidFill>
              </a:rPr>
              <a:t>方法的实现 </a:t>
            </a:r>
            <a:endParaRPr lang="zh-CN" alt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60" name="Rectangle 3"/>
          <p:cNvSpPr>
            <a:spLocks noGrp="1" noChangeArrowheads="1"/>
          </p:cNvSpPr>
          <p:nvPr>
            <p:ph type="body" idx="1"/>
          </p:nvPr>
        </p:nvSpPr>
        <p:spPr>
          <a:xfrm>
            <a:off x="457200" y="1449288"/>
            <a:ext cx="8077200" cy="4572000"/>
          </a:xfrm>
        </p:spPr>
        <p:txBody>
          <a:bodyPr/>
          <a:lstStyle/>
          <a:p>
            <a:pPr marL="609600" indent="-609600" eaLnBrk="1" hangingPunct="1">
              <a:buFont typeface="Wingdings" pitchFamily="2" charset="2"/>
              <a:buNone/>
            </a:pPr>
            <a:r>
              <a:rPr lang="en-US" altLang="zh-CN" sz="2800" b="1" dirty="0">
                <a:solidFill>
                  <a:schemeClr val="folHlink"/>
                </a:solidFill>
              </a:rPr>
              <a:t>3. </a:t>
            </a:r>
            <a:r>
              <a:rPr lang="zh-CN" altLang="en-US" sz="2800" b="1" dirty="0">
                <a:solidFill>
                  <a:schemeClr val="folHlink"/>
                </a:solidFill>
              </a:rPr>
              <a:t>方法的实现 </a:t>
            </a:r>
          </a:p>
          <a:p>
            <a:pPr marL="609600" indent="-609600" eaLnBrk="1" hangingPunct="1"/>
            <a:r>
              <a:rPr lang="zh-CN" altLang="en-US" sz="2800" b="1" dirty="0">
                <a:solidFill>
                  <a:srgbClr val="0033CC"/>
                </a:solidFill>
              </a:rPr>
              <a:t>方法体</a:t>
            </a:r>
            <a:r>
              <a:rPr lang="en-US" altLang="zh-CN" sz="2800" b="1" dirty="0">
                <a:solidFill>
                  <a:srgbClr val="0033CC"/>
                </a:solidFill>
              </a:rPr>
              <a:t>:</a:t>
            </a:r>
          </a:p>
          <a:p>
            <a:pPr marL="609600" indent="-609600" eaLnBrk="1" hangingPunct="1">
              <a:buFont typeface="Wingdings" pitchFamily="2" charset="2"/>
              <a:buNone/>
            </a:pPr>
            <a:r>
              <a:rPr lang="en-US" altLang="zh-CN" sz="2400" dirty="0">
                <a:solidFill>
                  <a:srgbClr val="000000"/>
                </a:solidFill>
              </a:rPr>
              <a:t>	</a:t>
            </a:r>
            <a:r>
              <a:rPr lang="zh-CN" altLang="en-US" sz="2400" b="1" dirty="0">
                <a:solidFill>
                  <a:srgbClr val="000000"/>
                </a:solidFill>
              </a:rPr>
              <a:t>定义：</a:t>
            </a:r>
            <a:r>
              <a:rPr lang="zh-CN" altLang="en-US" sz="2400" dirty="0">
                <a:solidFill>
                  <a:srgbClr val="000000"/>
                </a:solidFill>
              </a:rPr>
              <a:t>方法的实现部分，包括局部变量的声明和所有合法的</a:t>
            </a:r>
            <a:r>
              <a:rPr lang="en-US" altLang="zh-CN" sz="2400" dirty="0">
                <a:solidFill>
                  <a:srgbClr val="000000"/>
                </a:solidFill>
              </a:rPr>
              <a:t>java</a:t>
            </a:r>
            <a:r>
              <a:rPr lang="zh-CN" altLang="en-US" sz="2400" dirty="0">
                <a:solidFill>
                  <a:srgbClr val="000000"/>
                </a:solidFill>
              </a:rPr>
              <a:t>语句。</a:t>
            </a:r>
          </a:p>
          <a:p>
            <a:pPr marL="609600" indent="-609600" eaLnBrk="1" hangingPunct="1">
              <a:buFont typeface="Wingdings" pitchFamily="2" charset="2"/>
              <a:buNone/>
            </a:pPr>
            <a:r>
              <a:rPr lang="zh-CN" altLang="en-US" sz="2400" dirty="0">
                <a:solidFill>
                  <a:srgbClr val="000000"/>
                </a:solidFill>
              </a:rPr>
              <a:t>	</a:t>
            </a:r>
            <a:r>
              <a:rPr lang="zh-CN" altLang="en-US" sz="2400" b="1" dirty="0">
                <a:solidFill>
                  <a:srgbClr val="000000"/>
                </a:solidFill>
              </a:rPr>
              <a:t>局部变量：</a:t>
            </a:r>
            <a:r>
              <a:rPr lang="zh-CN" altLang="en-US" sz="2400" dirty="0">
                <a:solidFill>
                  <a:srgbClr val="000000"/>
                </a:solidFill>
              </a:rPr>
              <a:t>在方法体内定义的变量称局部变量，局部变量的作用域限于方法内。如果局部变量的名字和类的成员变量的名字相同，则类的成员变量被隐藏</a:t>
            </a:r>
          </a:p>
          <a:p>
            <a:pPr marL="609600" indent="-609600" eaLnBrk="1" hangingPunct="1">
              <a:buFont typeface="Wingdings" pitchFamily="2" charset="2"/>
              <a:buNone/>
            </a:pPr>
            <a:r>
              <a:rPr lang="zh-CN" altLang="en-US" sz="2400" dirty="0">
                <a:solidFill>
                  <a:srgbClr val="000000"/>
                </a:solidFill>
              </a:rPr>
              <a:t>	可以使用</a:t>
            </a:r>
            <a:r>
              <a:rPr lang="en-US" altLang="zh-CN" sz="2400" dirty="0">
                <a:solidFill>
                  <a:srgbClr val="000000"/>
                </a:solidFill>
              </a:rPr>
              <a:t>this </a:t>
            </a:r>
            <a:r>
              <a:rPr lang="zh-CN" altLang="en-US" sz="2400" dirty="0">
                <a:solidFill>
                  <a:srgbClr val="000000"/>
                </a:solidFill>
              </a:rPr>
              <a:t>调用当前类的成员变量。</a:t>
            </a:r>
          </a:p>
          <a:p>
            <a:pPr marL="609600" indent="-609600" eaLnBrk="1" hangingPunct="1">
              <a:buFont typeface="Wingdings" pitchFamily="2" charset="2"/>
              <a:buNone/>
            </a:pPr>
            <a:endParaRPr lang="zh-CN" altLang="en-US" sz="2400" dirty="0">
              <a:solidFill>
                <a:srgbClr val="000000"/>
              </a:solidFill>
            </a:endParaRPr>
          </a:p>
          <a:p>
            <a:pPr marL="609600" indent="-609600" eaLnBrk="1" hangingPunct="1">
              <a:buFont typeface="Wingdings" pitchFamily="2" charset="2"/>
              <a:buNone/>
            </a:pPr>
            <a:endParaRPr lang="en-US" altLang="zh-CN" sz="2400" dirty="0">
              <a:solidFill>
                <a:srgbClr val="000000"/>
              </a:solidFill>
            </a:endParaRPr>
          </a:p>
        </p:txBody>
      </p:sp>
      <p:sp>
        <p:nvSpPr>
          <p:cNvPr id="6" name="标题 5"/>
          <p:cNvSpPr>
            <a:spLocks noGrp="1"/>
          </p:cNvSpPr>
          <p:nvPr>
            <p:ph type="title"/>
          </p:nvPr>
        </p:nvSpPr>
        <p:spPr/>
        <p:txBody>
          <a:bodyPr/>
          <a:lstStyle/>
          <a:p>
            <a:r>
              <a:rPr lang="zh-CN" altLang="en-US" b="1" dirty="0">
                <a:solidFill>
                  <a:srgbClr val="0033CC"/>
                </a:solidFill>
              </a:rPr>
              <a:t>类体</a:t>
            </a:r>
            <a:endParaRPr lang="zh-CN" alt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4" name="Rectangle 3"/>
          <p:cNvSpPr>
            <a:spLocks noGrp="1" noChangeArrowheads="1"/>
          </p:cNvSpPr>
          <p:nvPr>
            <p:ph type="body" idx="1"/>
          </p:nvPr>
        </p:nvSpPr>
        <p:spPr>
          <a:xfrm>
            <a:off x="395536" y="1628800"/>
            <a:ext cx="8001000" cy="4800600"/>
          </a:xfrm>
        </p:spPr>
        <p:txBody>
          <a:bodyPr/>
          <a:lstStyle/>
          <a:p>
            <a:pPr marL="609600" indent="-609600" eaLnBrk="1" hangingPunct="1">
              <a:lnSpc>
                <a:spcPct val="90000"/>
              </a:lnSpc>
              <a:buFont typeface="Wingdings" pitchFamily="2" charset="2"/>
              <a:buNone/>
            </a:pPr>
            <a:r>
              <a:rPr lang="en-US" altLang="zh-CN" sz="2800" b="1" dirty="0">
                <a:solidFill>
                  <a:schemeClr val="folHlink"/>
                </a:solidFill>
              </a:rPr>
              <a:t>3. </a:t>
            </a:r>
            <a:r>
              <a:rPr lang="zh-CN" altLang="en-US" sz="2800" b="1" dirty="0">
                <a:solidFill>
                  <a:schemeClr val="folHlink"/>
                </a:solidFill>
              </a:rPr>
              <a:t>方法的实现</a:t>
            </a:r>
            <a:r>
              <a:rPr lang="zh-CN" altLang="en-US" sz="2400" b="1" dirty="0">
                <a:solidFill>
                  <a:schemeClr val="folHlink"/>
                </a:solidFill>
              </a:rPr>
              <a:t> </a:t>
            </a:r>
          </a:p>
          <a:p>
            <a:pPr marL="1047750" lvl="1" indent="-609600">
              <a:lnSpc>
                <a:spcPct val="90000"/>
              </a:lnSpc>
              <a:buNone/>
            </a:pPr>
            <a:r>
              <a:rPr lang="en-US" altLang="zh-CN" sz="1800" dirty="0">
                <a:cs typeface="Times New Roman" pitchFamily="18" charset="0"/>
              </a:rPr>
              <a:t>class Variable{</a:t>
            </a:r>
          </a:p>
          <a:p>
            <a:pPr marL="1047750" lvl="1" indent="-609600">
              <a:lnSpc>
                <a:spcPct val="90000"/>
              </a:lnSpc>
              <a:buNone/>
            </a:pPr>
            <a:r>
              <a:rPr lang="en-US" altLang="zh-CN" sz="1800" dirty="0">
                <a:cs typeface="Times New Roman" pitchFamily="18" charset="0"/>
              </a:rPr>
              <a:t>    int x=0,y=0,z=0; //class member variables</a:t>
            </a:r>
          </a:p>
          <a:p>
            <a:pPr marL="1047750" lvl="1" indent="-609600">
              <a:lnSpc>
                <a:spcPct val="90000"/>
              </a:lnSpc>
              <a:buNone/>
            </a:pPr>
            <a:r>
              <a:rPr lang="en-US" altLang="zh-CN" sz="1800" dirty="0">
                <a:cs typeface="Times New Roman" pitchFamily="18" charset="0"/>
              </a:rPr>
              <a:t>   void init( int x, int y ){</a:t>
            </a:r>
          </a:p>
          <a:p>
            <a:pPr marL="1047750" lvl="1" indent="-609600">
              <a:lnSpc>
                <a:spcPct val="90000"/>
              </a:lnSpc>
              <a:buNone/>
            </a:pPr>
            <a:r>
              <a:rPr lang="en-US" altLang="zh-CN" sz="1800" dirty="0">
                <a:cs typeface="Times New Roman" pitchFamily="18" charset="0"/>
              </a:rPr>
              <a:t>      this.x = x;</a:t>
            </a:r>
          </a:p>
          <a:p>
            <a:pPr marL="1047750" lvl="1" indent="-609600">
              <a:lnSpc>
                <a:spcPct val="90000"/>
              </a:lnSpc>
              <a:buNone/>
            </a:pPr>
            <a:r>
              <a:rPr lang="en-US" altLang="zh-CN" sz="1800" dirty="0">
                <a:cs typeface="Times New Roman" pitchFamily="18" charset="0"/>
              </a:rPr>
              <a:t>      this.y =y;</a:t>
            </a:r>
          </a:p>
          <a:p>
            <a:pPr marL="1047750" lvl="1" indent="-609600">
              <a:lnSpc>
                <a:spcPct val="90000"/>
              </a:lnSpc>
              <a:buNone/>
            </a:pPr>
            <a:r>
              <a:rPr lang="en-US" altLang="zh-CN" sz="1800" dirty="0">
                <a:cs typeface="Times New Roman" pitchFamily="18" charset="0"/>
              </a:rPr>
              <a:t>      int z=5; //local variable</a:t>
            </a:r>
          </a:p>
          <a:p>
            <a:pPr marL="1047750" lvl="1" indent="-609600">
              <a:lnSpc>
                <a:spcPct val="90000"/>
              </a:lnSpc>
              <a:buNone/>
            </a:pPr>
            <a:r>
              <a:rPr lang="en-US" altLang="zh-CN" sz="1800" dirty="0">
                <a:cs typeface="Times New Roman" pitchFamily="18" charset="0"/>
              </a:rPr>
              <a:t>       System.out.println("**** in init ****");</a:t>
            </a:r>
          </a:p>
          <a:p>
            <a:pPr marL="1047750" lvl="1" indent="-609600">
              <a:lnSpc>
                <a:spcPct val="90000"/>
              </a:lnSpc>
              <a:buNone/>
            </a:pPr>
            <a:r>
              <a:rPr lang="en-US" altLang="zh-CN" sz="1800" dirty="0">
                <a:cs typeface="Times New Roman" pitchFamily="18" charset="0"/>
              </a:rPr>
              <a:t>      System.out.println("x = "+x+" y = "+y+" z = "+z);</a:t>
            </a:r>
          </a:p>
          <a:p>
            <a:pPr marL="1047750" lvl="1" indent="-609600">
              <a:lnSpc>
                <a:spcPct val="90000"/>
              </a:lnSpc>
              <a:buNone/>
            </a:pPr>
            <a:r>
              <a:rPr lang="en-US" altLang="zh-CN" sz="1800" dirty="0">
                <a:cs typeface="Times New Roman" pitchFamily="18" charset="0"/>
              </a:rPr>
              <a:t>   }}</a:t>
            </a:r>
            <a:endParaRPr lang="en-US" altLang="zh-CN" sz="2400" dirty="0">
              <a:cs typeface="Times New Roman" pitchFamily="18" charset="0"/>
            </a:endParaRPr>
          </a:p>
          <a:p>
            <a:pPr marL="609600" indent="-609600" eaLnBrk="1" hangingPunct="1">
              <a:lnSpc>
                <a:spcPct val="90000"/>
              </a:lnSpc>
            </a:pPr>
            <a:endParaRPr lang="en-US" altLang="zh-CN" sz="2400" dirty="0"/>
          </a:p>
          <a:p>
            <a:pPr marL="609600" indent="-609600" eaLnBrk="1" hangingPunct="1">
              <a:lnSpc>
                <a:spcPct val="90000"/>
              </a:lnSpc>
              <a:buFont typeface="Wingdings" pitchFamily="2" charset="2"/>
              <a:buNone/>
            </a:pPr>
            <a:endParaRPr lang="en-US" altLang="zh-CN" sz="2000" dirty="0">
              <a:solidFill>
                <a:srgbClr val="000000"/>
              </a:solidFill>
            </a:endParaRPr>
          </a:p>
          <a:p>
            <a:pPr marL="609600" indent="-609600" eaLnBrk="1" hangingPunct="1">
              <a:lnSpc>
                <a:spcPct val="90000"/>
              </a:lnSpc>
              <a:buFont typeface="Wingdings" pitchFamily="2" charset="2"/>
              <a:buNone/>
            </a:pPr>
            <a:endParaRPr lang="en-US" altLang="zh-CN" sz="2000" dirty="0">
              <a:solidFill>
                <a:srgbClr val="000000"/>
              </a:solidFill>
            </a:endParaRPr>
          </a:p>
        </p:txBody>
      </p:sp>
      <p:sp>
        <p:nvSpPr>
          <p:cNvPr id="6" name="标题 5"/>
          <p:cNvSpPr>
            <a:spLocks noGrp="1"/>
          </p:cNvSpPr>
          <p:nvPr>
            <p:ph type="title"/>
          </p:nvPr>
        </p:nvSpPr>
        <p:spPr/>
        <p:txBody>
          <a:bodyPr/>
          <a:lstStyle/>
          <a:p>
            <a:r>
              <a:rPr lang="zh-CN" altLang="en-US" b="1" dirty="0">
                <a:solidFill>
                  <a:srgbClr val="0033CC"/>
                </a:solidFill>
              </a:rPr>
              <a:t>类体</a:t>
            </a:r>
            <a:endParaRPr lang="zh-CN" alt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9" name="Rectangle 4"/>
          <p:cNvSpPr>
            <a:spLocks noChangeArrowheads="1"/>
          </p:cNvSpPr>
          <p:nvPr/>
        </p:nvSpPr>
        <p:spPr bwMode="auto">
          <a:xfrm>
            <a:off x="0" y="1905000"/>
            <a:ext cx="9144000" cy="0"/>
          </a:xfrm>
          <a:prstGeom prst="rect">
            <a:avLst/>
          </a:prstGeom>
          <a:noFill/>
          <a:ln w="9525">
            <a:noFill/>
            <a:miter lim="800000"/>
            <a:headEnd/>
            <a:tailEnd/>
          </a:ln>
        </p:spPr>
        <p:txBody>
          <a:bodyPr>
            <a:spAutoFit/>
          </a:bodyPr>
          <a:lstStyle/>
          <a:p>
            <a:endParaRPr lang="zh-CN" altLang="en-US"/>
          </a:p>
        </p:txBody>
      </p:sp>
      <p:sp>
        <p:nvSpPr>
          <p:cNvPr id="47110" name="Rectangle 5"/>
          <p:cNvSpPr>
            <a:spLocks noGrp="1" noChangeArrowheads="1"/>
          </p:cNvSpPr>
          <p:nvPr>
            <p:ph type="body" idx="1"/>
          </p:nvPr>
        </p:nvSpPr>
        <p:spPr>
          <a:xfrm>
            <a:off x="683568" y="2132856"/>
            <a:ext cx="7958138" cy="3881438"/>
          </a:xfrm>
        </p:spPr>
        <p:txBody>
          <a:bodyPr/>
          <a:lstStyle/>
          <a:p>
            <a:pPr marL="609600" indent="-609600" eaLnBrk="1" hangingPunct="1">
              <a:buFont typeface="Wingdings" pitchFamily="2" charset="2"/>
              <a:buNone/>
            </a:pPr>
            <a:r>
              <a:rPr lang="zh-CN" altLang="en-US" sz="2800" b="1" dirty="0">
                <a:solidFill>
                  <a:srgbClr val="000000"/>
                </a:solidFill>
              </a:rPr>
              <a:t>定义</a:t>
            </a:r>
            <a:r>
              <a:rPr lang="en-US" altLang="zh-CN" sz="2800" b="1" dirty="0">
                <a:solidFill>
                  <a:srgbClr val="000000"/>
                </a:solidFill>
              </a:rPr>
              <a:t>: </a:t>
            </a:r>
          </a:p>
          <a:p>
            <a:pPr marL="609600" indent="-609600" eaLnBrk="1" hangingPunct="1">
              <a:buFont typeface="Wingdings" pitchFamily="2" charset="2"/>
              <a:buNone/>
            </a:pPr>
            <a:r>
              <a:rPr lang="en-US" altLang="zh-CN" sz="2800" b="1" dirty="0">
                <a:solidFill>
                  <a:srgbClr val="000000"/>
                </a:solidFill>
              </a:rPr>
              <a:t>	</a:t>
            </a:r>
            <a:r>
              <a:rPr lang="zh-CN" altLang="en-US" sz="2800" dirty="0">
                <a:solidFill>
                  <a:srgbClr val="000000"/>
                </a:solidFill>
              </a:rPr>
              <a:t>包是一组相关的类或接口的集合</a:t>
            </a:r>
            <a:r>
              <a:rPr lang="en-US" altLang="zh-CN" sz="2800" dirty="0">
                <a:solidFill>
                  <a:srgbClr val="000000"/>
                </a:solidFill>
              </a:rPr>
              <a:t>, </a:t>
            </a:r>
            <a:r>
              <a:rPr lang="zh-CN" altLang="en-US" sz="2800" dirty="0">
                <a:solidFill>
                  <a:srgbClr val="000000"/>
                </a:solidFill>
              </a:rPr>
              <a:t>它提供了访问保护和名字空间管理。</a:t>
            </a:r>
            <a:r>
              <a:rPr lang="en-US" altLang="zh-CN" sz="2800" dirty="0">
                <a:solidFill>
                  <a:srgbClr val="000000"/>
                </a:solidFill>
              </a:rPr>
              <a:t>Java</a:t>
            </a:r>
            <a:r>
              <a:rPr lang="zh-CN" altLang="en-US" sz="2800" dirty="0">
                <a:solidFill>
                  <a:srgbClr val="000000"/>
                </a:solidFill>
              </a:rPr>
              <a:t>编译器使用文件系统目录来保存包。</a:t>
            </a:r>
          </a:p>
          <a:p>
            <a:pPr marL="609600" indent="-609600" eaLnBrk="1" hangingPunct="1">
              <a:lnSpc>
                <a:spcPct val="50000"/>
              </a:lnSpc>
              <a:buFont typeface="Wingdings" pitchFamily="2" charset="2"/>
              <a:buNone/>
            </a:pPr>
            <a:endParaRPr lang="zh-CN" altLang="en-US" sz="2400" dirty="0">
              <a:solidFill>
                <a:srgbClr val="000000"/>
              </a:solidFill>
            </a:endParaRPr>
          </a:p>
          <a:p>
            <a:pPr marL="609600" indent="-609600" eaLnBrk="1" hangingPunct="1">
              <a:buFont typeface="Wingdings" pitchFamily="2" charset="2"/>
              <a:buNone/>
            </a:pPr>
            <a:endParaRPr lang="zh-CN" altLang="en-US" sz="2400" dirty="0">
              <a:solidFill>
                <a:srgbClr val="000000"/>
              </a:solidFill>
            </a:endParaRPr>
          </a:p>
          <a:p>
            <a:pPr marL="609600" indent="-609600" eaLnBrk="1" hangingPunct="1">
              <a:buFont typeface="Wingdings" pitchFamily="2" charset="2"/>
              <a:buNone/>
            </a:pPr>
            <a:endParaRPr lang="en-US" altLang="zh-CN" sz="2400" b="1" dirty="0">
              <a:solidFill>
                <a:srgbClr val="000000"/>
              </a:solidFill>
            </a:endParaRPr>
          </a:p>
        </p:txBody>
      </p:sp>
      <p:sp>
        <p:nvSpPr>
          <p:cNvPr id="7" name="标题 6"/>
          <p:cNvSpPr>
            <a:spLocks noGrp="1"/>
          </p:cNvSpPr>
          <p:nvPr>
            <p:ph type="title"/>
          </p:nvPr>
        </p:nvSpPr>
        <p:spPr/>
        <p:txBody>
          <a:bodyPr/>
          <a:lstStyle/>
          <a:p>
            <a:r>
              <a:rPr lang="zh-CN" altLang="en-US" b="1" dirty="0">
                <a:solidFill>
                  <a:schemeClr val="hlink"/>
                </a:solidFill>
                <a:latin typeface="宋体" pitchFamily="2" charset="-122"/>
              </a:rPr>
              <a:t>包的创建和使用</a:t>
            </a:r>
            <a:endParaRPr lang="zh-CN" alt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3" name="Rectangle 4"/>
          <p:cNvSpPr>
            <a:spLocks noChangeArrowheads="1"/>
          </p:cNvSpPr>
          <p:nvPr/>
        </p:nvSpPr>
        <p:spPr bwMode="auto">
          <a:xfrm>
            <a:off x="0" y="1905000"/>
            <a:ext cx="9144000" cy="0"/>
          </a:xfrm>
          <a:prstGeom prst="rect">
            <a:avLst/>
          </a:prstGeom>
          <a:noFill/>
          <a:ln w="9525">
            <a:noFill/>
            <a:miter lim="800000"/>
            <a:headEnd/>
            <a:tailEnd/>
          </a:ln>
        </p:spPr>
        <p:txBody>
          <a:bodyPr>
            <a:spAutoFit/>
          </a:bodyPr>
          <a:lstStyle/>
          <a:p>
            <a:endParaRPr lang="zh-CN" altLang="en-US"/>
          </a:p>
        </p:txBody>
      </p:sp>
      <p:sp>
        <p:nvSpPr>
          <p:cNvPr id="48134" name="Rectangle 5"/>
          <p:cNvSpPr>
            <a:spLocks noGrp="1" noChangeArrowheads="1"/>
          </p:cNvSpPr>
          <p:nvPr>
            <p:ph type="body" idx="1"/>
          </p:nvPr>
        </p:nvSpPr>
        <p:spPr>
          <a:xfrm>
            <a:off x="467544" y="1628800"/>
            <a:ext cx="7958138" cy="4414838"/>
          </a:xfrm>
        </p:spPr>
        <p:txBody>
          <a:bodyPr/>
          <a:lstStyle/>
          <a:p>
            <a:pPr marL="609600" indent="-609600" eaLnBrk="1" hangingPunct="1">
              <a:lnSpc>
                <a:spcPct val="90000"/>
              </a:lnSpc>
            </a:pPr>
            <a:r>
              <a:rPr lang="zh-CN" altLang="en-US" sz="2400" dirty="0">
                <a:solidFill>
                  <a:srgbClr val="000000"/>
                </a:solidFill>
                <a:latin typeface="宋体" pitchFamily="2" charset="-122"/>
              </a:rPr>
              <a:t>程序员能很容易确定同一包中的类是相互关联的。</a:t>
            </a:r>
          </a:p>
          <a:p>
            <a:pPr marL="609600" indent="-609600" eaLnBrk="1" hangingPunct="1">
              <a:lnSpc>
                <a:spcPct val="90000"/>
              </a:lnSpc>
              <a:buFont typeface="Wingdings" pitchFamily="2" charset="2"/>
              <a:buNone/>
            </a:pPr>
            <a:r>
              <a:rPr lang="zh-CN" altLang="en-US" sz="2400" dirty="0">
                <a:solidFill>
                  <a:srgbClr val="000000"/>
                </a:solidFill>
                <a:latin typeface="宋体" pitchFamily="2" charset="-122"/>
              </a:rPr>
              <a:t> </a:t>
            </a:r>
          </a:p>
          <a:p>
            <a:pPr marL="609600" indent="-609600" eaLnBrk="1" hangingPunct="1">
              <a:lnSpc>
                <a:spcPct val="90000"/>
              </a:lnSpc>
            </a:pPr>
            <a:r>
              <a:rPr lang="zh-CN" altLang="en-US" sz="2400" dirty="0">
                <a:solidFill>
                  <a:srgbClr val="000000"/>
                </a:solidFill>
                <a:latin typeface="宋体" pitchFamily="2" charset="-122"/>
              </a:rPr>
              <a:t>程序员能很方便地了解到在哪里可以找到能完成特定功能的类 </a:t>
            </a:r>
          </a:p>
          <a:p>
            <a:pPr marL="609600" indent="-609600" eaLnBrk="1" hangingPunct="1">
              <a:lnSpc>
                <a:spcPct val="90000"/>
              </a:lnSpc>
            </a:pPr>
            <a:endParaRPr lang="zh-CN" altLang="en-US" sz="2400" dirty="0">
              <a:solidFill>
                <a:srgbClr val="000000"/>
              </a:solidFill>
              <a:latin typeface="宋体" pitchFamily="2" charset="-122"/>
            </a:endParaRPr>
          </a:p>
          <a:p>
            <a:pPr marL="609600" indent="-609600" eaLnBrk="1" hangingPunct="1">
              <a:lnSpc>
                <a:spcPct val="90000"/>
              </a:lnSpc>
            </a:pPr>
            <a:r>
              <a:rPr lang="zh-CN" altLang="en-US" sz="2400" dirty="0">
                <a:solidFill>
                  <a:srgbClr val="000000"/>
                </a:solidFill>
                <a:latin typeface="宋体" pitchFamily="2" charset="-122"/>
              </a:rPr>
              <a:t>由于每个包都创建了一个名字空间，个人创建的类名不会和其它包中的类名名发生冲突 </a:t>
            </a:r>
          </a:p>
          <a:p>
            <a:pPr marL="609600" indent="-609600" eaLnBrk="1" hangingPunct="1">
              <a:lnSpc>
                <a:spcPct val="90000"/>
              </a:lnSpc>
            </a:pPr>
            <a:endParaRPr lang="zh-CN" altLang="en-US" sz="2400" dirty="0">
              <a:solidFill>
                <a:srgbClr val="000000"/>
              </a:solidFill>
              <a:latin typeface="宋体" pitchFamily="2" charset="-122"/>
            </a:endParaRPr>
          </a:p>
          <a:p>
            <a:pPr marL="609600" indent="-609600" eaLnBrk="1" hangingPunct="1">
              <a:lnSpc>
                <a:spcPct val="90000"/>
              </a:lnSpc>
            </a:pPr>
            <a:r>
              <a:rPr lang="zh-CN" altLang="en-US" sz="2400" dirty="0">
                <a:solidFill>
                  <a:srgbClr val="000000"/>
                </a:solidFill>
                <a:latin typeface="宋体" pitchFamily="2" charset="-122"/>
              </a:rPr>
              <a:t>可以使同一包中的类彼此不加限制地访问，而同时对其它包中的类提供访问控制。</a:t>
            </a:r>
            <a:endParaRPr lang="zh-CN" altLang="en-US" sz="2800" b="1" dirty="0">
              <a:solidFill>
                <a:srgbClr val="000000"/>
              </a:solidFill>
            </a:endParaRPr>
          </a:p>
        </p:txBody>
      </p:sp>
      <p:sp>
        <p:nvSpPr>
          <p:cNvPr id="7" name="标题 6"/>
          <p:cNvSpPr>
            <a:spLocks noGrp="1"/>
          </p:cNvSpPr>
          <p:nvPr>
            <p:ph type="title"/>
          </p:nvPr>
        </p:nvSpPr>
        <p:spPr/>
        <p:txBody>
          <a:bodyPr/>
          <a:lstStyle/>
          <a:p>
            <a:r>
              <a:rPr lang="zh-CN" altLang="en-US" dirty="0"/>
              <a:t>使用包的好处</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7" name="Rectangle 4"/>
          <p:cNvSpPr>
            <a:spLocks noChangeArrowheads="1"/>
          </p:cNvSpPr>
          <p:nvPr/>
        </p:nvSpPr>
        <p:spPr bwMode="auto">
          <a:xfrm>
            <a:off x="0" y="1905000"/>
            <a:ext cx="9144000" cy="0"/>
          </a:xfrm>
          <a:prstGeom prst="rect">
            <a:avLst/>
          </a:prstGeom>
          <a:noFill/>
          <a:ln w="9525">
            <a:noFill/>
            <a:miter lim="800000"/>
            <a:headEnd/>
            <a:tailEnd/>
          </a:ln>
        </p:spPr>
        <p:txBody>
          <a:bodyPr>
            <a:spAutoFit/>
          </a:bodyPr>
          <a:lstStyle/>
          <a:p>
            <a:endParaRPr lang="zh-CN" altLang="en-US"/>
          </a:p>
        </p:txBody>
      </p:sp>
      <p:sp>
        <p:nvSpPr>
          <p:cNvPr id="49158" name="Rectangle 5"/>
          <p:cNvSpPr>
            <a:spLocks noGrp="1" noChangeArrowheads="1"/>
          </p:cNvSpPr>
          <p:nvPr>
            <p:ph type="body" idx="1"/>
          </p:nvPr>
        </p:nvSpPr>
        <p:spPr>
          <a:xfrm>
            <a:off x="609600" y="1981200"/>
            <a:ext cx="8077200" cy="4572000"/>
          </a:xfrm>
        </p:spPr>
        <p:txBody>
          <a:bodyPr/>
          <a:lstStyle/>
          <a:p>
            <a:pPr marL="609600" indent="-609600" eaLnBrk="1" hangingPunct="1">
              <a:lnSpc>
                <a:spcPct val="90000"/>
              </a:lnSpc>
              <a:buFont typeface="Wingdings" pitchFamily="2" charset="2"/>
              <a:buNone/>
            </a:pPr>
            <a:r>
              <a:rPr lang="zh-CN" altLang="en-US" sz="2400" b="1" dirty="0">
                <a:solidFill>
                  <a:srgbClr val="000000"/>
                </a:solidFill>
                <a:latin typeface="宋体" pitchFamily="2" charset="-122"/>
              </a:rPr>
              <a:t>格式：</a:t>
            </a:r>
            <a:r>
              <a:rPr lang="en-US" altLang="zh-CN" sz="2400" dirty="0">
                <a:solidFill>
                  <a:srgbClr val="000000"/>
                </a:solidFill>
                <a:latin typeface="宋体" pitchFamily="2" charset="-122"/>
              </a:rPr>
              <a:t>package pkg1[.pkg2[.pkg3]]</a:t>
            </a:r>
            <a:r>
              <a:rPr lang="zh-CN" altLang="en-US" sz="2400" dirty="0">
                <a:solidFill>
                  <a:srgbClr val="000000"/>
                </a:solidFill>
                <a:latin typeface="宋体" pitchFamily="2" charset="-122"/>
              </a:rPr>
              <a:t>；</a:t>
            </a:r>
          </a:p>
          <a:p>
            <a:pPr marL="609600" indent="-609600" eaLnBrk="1" hangingPunct="1">
              <a:lnSpc>
                <a:spcPct val="90000"/>
              </a:lnSpc>
              <a:buFont typeface="Wingdings" pitchFamily="2" charset="2"/>
              <a:buNone/>
            </a:pPr>
            <a:r>
              <a:rPr lang="en-US" altLang="zh-CN" sz="2400" dirty="0">
                <a:solidFill>
                  <a:srgbClr val="000000"/>
                </a:solidFill>
                <a:latin typeface="宋体" pitchFamily="2" charset="-122"/>
              </a:rPr>
              <a:t>package</a:t>
            </a:r>
            <a:r>
              <a:rPr lang="zh-CN" altLang="en-US" sz="2400" dirty="0">
                <a:solidFill>
                  <a:srgbClr val="000000"/>
                </a:solidFill>
                <a:latin typeface="宋体" pitchFamily="2" charset="-122"/>
              </a:rPr>
              <a:t>语句必须放在原文件的开始处。</a:t>
            </a:r>
          </a:p>
          <a:p>
            <a:pPr marL="609600" indent="-609600" eaLnBrk="1" hangingPunct="1">
              <a:lnSpc>
                <a:spcPct val="90000"/>
              </a:lnSpc>
              <a:buFont typeface="Wingdings" pitchFamily="2" charset="2"/>
              <a:buNone/>
            </a:pPr>
            <a:r>
              <a:rPr lang="zh-CN" altLang="en-US" sz="2400" dirty="0">
                <a:solidFill>
                  <a:srgbClr val="000000"/>
                </a:solidFill>
                <a:latin typeface="宋体" pitchFamily="2" charset="-122"/>
              </a:rPr>
              <a:t>例如： </a:t>
            </a:r>
            <a:r>
              <a:rPr lang="en-US" altLang="zh-CN" sz="2400" dirty="0">
                <a:solidFill>
                  <a:srgbClr val="000000"/>
                </a:solidFill>
                <a:latin typeface="宋体" pitchFamily="2" charset="-122"/>
              </a:rPr>
              <a:t>java.net  java.io  java.util  java.lang </a:t>
            </a:r>
          </a:p>
          <a:p>
            <a:pPr marL="609600" indent="-609600" eaLnBrk="1" hangingPunct="1">
              <a:lnSpc>
                <a:spcPct val="90000"/>
              </a:lnSpc>
              <a:buFont typeface="Wingdings" pitchFamily="2" charset="2"/>
              <a:buNone/>
            </a:pPr>
            <a:r>
              <a:rPr lang="en-US" altLang="zh-CN" sz="2400" dirty="0">
                <a:solidFill>
                  <a:srgbClr val="000000"/>
                </a:solidFill>
                <a:latin typeface="宋体" pitchFamily="2" charset="-122"/>
              </a:rPr>
              <a:t>		 java.applet   javax.swing</a:t>
            </a:r>
          </a:p>
          <a:p>
            <a:pPr marL="609600" indent="-609600" eaLnBrk="1" hangingPunct="1">
              <a:lnSpc>
                <a:spcPct val="90000"/>
              </a:lnSpc>
              <a:buFont typeface="Wingdings" pitchFamily="2" charset="2"/>
              <a:buNone/>
            </a:pPr>
            <a:r>
              <a:rPr lang="en-US" altLang="zh-CN" sz="2400" dirty="0">
                <a:solidFill>
                  <a:srgbClr val="000000"/>
                </a:solidFill>
                <a:latin typeface="宋体" pitchFamily="2" charset="-122"/>
              </a:rPr>
              <a:t>package graphics;</a:t>
            </a:r>
          </a:p>
          <a:p>
            <a:pPr marL="609600" indent="-609600" eaLnBrk="1" hangingPunct="1">
              <a:lnSpc>
                <a:spcPct val="90000"/>
              </a:lnSpc>
              <a:buFont typeface="Wingdings" pitchFamily="2" charset="2"/>
              <a:buNone/>
            </a:pPr>
            <a:r>
              <a:rPr lang="en-US" altLang="zh-CN" sz="2400" dirty="0">
                <a:solidFill>
                  <a:srgbClr val="000000"/>
                </a:solidFill>
                <a:latin typeface="宋体" pitchFamily="2" charset="-122"/>
              </a:rPr>
              <a:t>public class Circle  {</a:t>
            </a:r>
          </a:p>
          <a:p>
            <a:pPr marL="609600" indent="-609600" eaLnBrk="1" hangingPunct="1">
              <a:lnSpc>
                <a:spcPct val="90000"/>
              </a:lnSpc>
              <a:buFont typeface="Wingdings" pitchFamily="2" charset="2"/>
              <a:buNone/>
            </a:pPr>
            <a:r>
              <a:rPr lang="en-US" altLang="zh-CN" sz="2400" dirty="0">
                <a:solidFill>
                  <a:srgbClr val="000000"/>
                </a:solidFill>
                <a:latin typeface="宋体" pitchFamily="2" charset="-122"/>
              </a:rPr>
              <a:t>. . .</a:t>
            </a:r>
          </a:p>
          <a:p>
            <a:pPr marL="609600" indent="-609600" eaLnBrk="1" hangingPunct="1">
              <a:lnSpc>
                <a:spcPct val="90000"/>
              </a:lnSpc>
              <a:buFont typeface="Wingdings" pitchFamily="2" charset="2"/>
              <a:buNone/>
            </a:pPr>
            <a:r>
              <a:rPr lang="en-US" altLang="zh-CN" sz="2400" dirty="0">
                <a:solidFill>
                  <a:srgbClr val="000000"/>
                </a:solidFill>
                <a:latin typeface="宋体" pitchFamily="2" charset="-122"/>
              </a:rPr>
              <a:t>}</a:t>
            </a:r>
          </a:p>
          <a:p>
            <a:pPr marL="609600" indent="-609600" eaLnBrk="1" hangingPunct="1">
              <a:lnSpc>
                <a:spcPct val="90000"/>
              </a:lnSpc>
              <a:buFont typeface="Wingdings" pitchFamily="2" charset="2"/>
              <a:buNone/>
            </a:pPr>
            <a:r>
              <a:rPr lang="zh-CN" altLang="en-US" sz="2400" dirty="0">
                <a:solidFill>
                  <a:srgbClr val="000000"/>
                </a:solidFill>
                <a:latin typeface="宋体" pitchFamily="2" charset="-122"/>
              </a:rPr>
              <a:t>　</a:t>
            </a:r>
          </a:p>
          <a:p>
            <a:pPr marL="609600" indent="-609600" eaLnBrk="1" hangingPunct="1">
              <a:lnSpc>
                <a:spcPct val="90000"/>
              </a:lnSpc>
              <a:buFont typeface="Wingdings" pitchFamily="2" charset="2"/>
              <a:buNone/>
            </a:pPr>
            <a:endParaRPr lang="zh-CN" altLang="en-US" sz="2400" dirty="0">
              <a:solidFill>
                <a:srgbClr val="000000"/>
              </a:solidFill>
              <a:latin typeface="宋体" pitchFamily="2" charset="-122"/>
            </a:endParaRPr>
          </a:p>
          <a:p>
            <a:pPr marL="609600" indent="-609600" eaLnBrk="1" hangingPunct="1">
              <a:lnSpc>
                <a:spcPct val="90000"/>
              </a:lnSpc>
              <a:buFont typeface="Wingdings" pitchFamily="2" charset="2"/>
              <a:buNone/>
            </a:pPr>
            <a:endParaRPr lang="en-US" altLang="zh-CN" sz="2400" b="1" dirty="0">
              <a:solidFill>
                <a:srgbClr val="000000"/>
              </a:solidFill>
              <a:latin typeface="宋体" pitchFamily="2" charset="-122"/>
            </a:endParaRPr>
          </a:p>
        </p:txBody>
      </p:sp>
      <p:sp>
        <p:nvSpPr>
          <p:cNvPr id="7" name="标题 6"/>
          <p:cNvSpPr>
            <a:spLocks noGrp="1"/>
          </p:cNvSpPr>
          <p:nvPr>
            <p:ph type="title"/>
          </p:nvPr>
        </p:nvSpPr>
        <p:spPr/>
        <p:txBody>
          <a:bodyPr/>
          <a:lstStyle/>
          <a:p>
            <a:r>
              <a:rPr lang="zh-CN" altLang="en-US" b="1" dirty="0">
                <a:solidFill>
                  <a:schemeClr val="hlink"/>
                </a:solidFill>
                <a:latin typeface="宋体" pitchFamily="2" charset="-122"/>
              </a:rPr>
              <a:t>创建包</a:t>
            </a:r>
            <a:endParaRPr lang="zh-CN" alt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81" name="Rectangle 4"/>
          <p:cNvSpPr>
            <a:spLocks noChangeArrowheads="1"/>
          </p:cNvSpPr>
          <p:nvPr/>
        </p:nvSpPr>
        <p:spPr bwMode="auto">
          <a:xfrm>
            <a:off x="0" y="1905000"/>
            <a:ext cx="9144000" cy="0"/>
          </a:xfrm>
          <a:prstGeom prst="rect">
            <a:avLst/>
          </a:prstGeom>
          <a:noFill/>
          <a:ln w="9525">
            <a:noFill/>
            <a:miter lim="800000"/>
            <a:headEnd/>
            <a:tailEnd/>
          </a:ln>
        </p:spPr>
        <p:txBody>
          <a:bodyPr>
            <a:spAutoFit/>
          </a:bodyPr>
          <a:lstStyle/>
          <a:p>
            <a:endParaRPr lang="zh-CN" altLang="en-US"/>
          </a:p>
        </p:txBody>
      </p:sp>
      <p:sp>
        <p:nvSpPr>
          <p:cNvPr id="50182" name="Rectangle 5"/>
          <p:cNvSpPr>
            <a:spLocks noGrp="1" noChangeArrowheads="1"/>
          </p:cNvSpPr>
          <p:nvPr>
            <p:ph type="body" idx="1"/>
          </p:nvPr>
        </p:nvSpPr>
        <p:spPr>
          <a:xfrm>
            <a:off x="467544" y="1484784"/>
            <a:ext cx="8153400" cy="4876800"/>
          </a:xfrm>
        </p:spPr>
        <p:txBody>
          <a:bodyPr/>
          <a:lstStyle/>
          <a:p>
            <a:pPr marL="609600" indent="-609600" eaLnBrk="1" hangingPunct="1">
              <a:buFont typeface="Wingdings" pitchFamily="2" charset="2"/>
              <a:buNone/>
            </a:pPr>
            <a:r>
              <a:rPr lang="zh-CN" altLang="en-US" sz="2800" b="1" dirty="0">
                <a:solidFill>
                  <a:schemeClr val="folHlink"/>
                </a:solidFill>
                <a:latin typeface="宋体" pitchFamily="2" charset="-122"/>
              </a:rPr>
              <a:t>说明：</a:t>
            </a:r>
            <a:endParaRPr lang="zh-CN" altLang="en-US" sz="2800" dirty="0">
              <a:solidFill>
                <a:schemeClr val="folHlink"/>
              </a:solidFill>
              <a:latin typeface="宋体" pitchFamily="2" charset="-122"/>
            </a:endParaRPr>
          </a:p>
          <a:p>
            <a:pPr marL="609600" indent="-609600" eaLnBrk="1" hangingPunct="1"/>
            <a:r>
              <a:rPr lang="en-US" altLang="zh-CN" sz="2400" dirty="0">
                <a:solidFill>
                  <a:srgbClr val="000000"/>
                </a:solidFill>
                <a:latin typeface="宋体" pitchFamily="2" charset="-122"/>
              </a:rPr>
              <a:t>package</a:t>
            </a:r>
            <a:r>
              <a:rPr lang="zh-CN" altLang="en-US" sz="2400" dirty="0">
                <a:solidFill>
                  <a:srgbClr val="000000"/>
                </a:solidFill>
                <a:latin typeface="宋体" pitchFamily="2" charset="-122"/>
              </a:rPr>
              <a:t>的作用域是整个源文件 </a:t>
            </a:r>
          </a:p>
          <a:p>
            <a:pPr marL="609600" indent="-609600" eaLnBrk="1" hangingPunct="1"/>
            <a:r>
              <a:rPr lang="zh-CN" altLang="en-US" sz="2400" dirty="0">
                <a:solidFill>
                  <a:srgbClr val="000000"/>
                </a:solidFill>
                <a:latin typeface="宋体" pitchFamily="2" charset="-122"/>
              </a:rPr>
              <a:t>如果在同一个源文件中定义了多个类，最多仅可以有一个类用</a:t>
            </a:r>
            <a:r>
              <a:rPr lang="en-US" altLang="zh-CN" sz="2400" dirty="0">
                <a:solidFill>
                  <a:srgbClr val="000000"/>
                </a:solidFill>
                <a:latin typeface="宋体" pitchFamily="2" charset="-122"/>
              </a:rPr>
              <a:t>public</a:t>
            </a:r>
            <a:r>
              <a:rPr lang="zh-CN" altLang="en-US" sz="2400" dirty="0">
                <a:solidFill>
                  <a:srgbClr val="000000"/>
                </a:solidFill>
                <a:latin typeface="宋体" pitchFamily="2" charset="-122"/>
              </a:rPr>
              <a:t>修饰，且源文件名必须与该类名相同 </a:t>
            </a:r>
          </a:p>
          <a:p>
            <a:pPr marL="609600" indent="-609600" eaLnBrk="1" hangingPunct="1"/>
            <a:r>
              <a:rPr lang="zh-CN" altLang="en-US" sz="2400" dirty="0">
                <a:solidFill>
                  <a:srgbClr val="000000"/>
                </a:solidFill>
                <a:latin typeface="宋体" pitchFamily="2" charset="-122"/>
              </a:rPr>
              <a:t>当未使用</a:t>
            </a:r>
            <a:r>
              <a:rPr lang="en-US" altLang="zh-CN" sz="2400" dirty="0">
                <a:solidFill>
                  <a:srgbClr val="000000"/>
                </a:solidFill>
                <a:latin typeface="宋体" pitchFamily="2" charset="-122"/>
              </a:rPr>
              <a:t>package</a:t>
            </a:r>
            <a:r>
              <a:rPr lang="zh-CN" altLang="en-US" sz="2400" dirty="0">
                <a:solidFill>
                  <a:srgbClr val="000000"/>
                </a:solidFill>
                <a:latin typeface="宋体" pitchFamily="2" charset="-122"/>
              </a:rPr>
              <a:t>语句时</a:t>
            </a:r>
            <a:r>
              <a:rPr lang="en-US" altLang="zh-CN" sz="2400" dirty="0">
                <a:solidFill>
                  <a:srgbClr val="000000"/>
                </a:solidFill>
                <a:latin typeface="宋体" pitchFamily="2" charset="-122"/>
              </a:rPr>
              <a:t>, </a:t>
            </a:r>
            <a:r>
              <a:rPr lang="zh-CN" altLang="en-US" sz="2400" dirty="0">
                <a:solidFill>
                  <a:srgbClr val="000000"/>
                </a:solidFill>
                <a:latin typeface="宋体" pitchFamily="2" charset="-122"/>
              </a:rPr>
              <a:t>类和接口放在无名缺省包里 </a:t>
            </a:r>
          </a:p>
          <a:p>
            <a:pPr marL="609600" indent="-609600" eaLnBrk="1" hangingPunct="1"/>
            <a:r>
              <a:rPr lang="zh-CN" altLang="en-US" sz="2400" dirty="0">
                <a:solidFill>
                  <a:srgbClr val="000000"/>
                </a:solidFill>
                <a:latin typeface="宋体" pitchFamily="2" charset="-122"/>
              </a:rPr>
              <a:t>包的命名习惯</a:t>
            </a:r>
            <a:r>
              <a:rPr lang="en-US" altLang="zh-CN" sz="2400" dirty="0">
                <a:solidFill>
                  <a:srgbClr val="000000"/>
                </a:solidFill>
                <a:latin typeface="宋体" pitchFamily="2" charset="-122"/>
              </a:rPr>
              <a:t>:</a:t>
            </a:r>
            <a:r>
              <a:rPr lang="zh-CN" altLang="en-US" sz="2400" dirty="0">
                <a:solidFill>
                  <a:srgbClr val="000000"/>
                </a:solidFill>
                <a:latin typeface="宋体" pitchFamily="2" charset="-122"/>
              </a:rPr>
              <a:t>将</a:t>
            </a:r>
            <a:r>
              <a:rPr lang="en-US" altLang="zh-CN" sz="2400" dirty="0">
                <a:solidFill>
                  <a:srgbClr val="000000"/>
                </a:solidFill>
                <a:latin typeface="宋体" pitchFamily="2" charset="-122"/>
              </a:rPr>
              <a:t>Internet</a:t>
            </a:r>
            <a:r>
              <a:rPr lang="zh-CN" altLang="en-US" sz="2400" dirty="0">
                <a:solidFill>
                  <a:srgbClr val="000000"/>
                </a:solidFill>
                <a:latin typeface="宋体" pitchFamily="2" charset="-122"/>
              </a:rPr>
              <a:t>域名作为包名 </a:t>
            </a:r>
          </a:p>
          <a:p>
            <a:pPr marL="609600" indent="-609600" eaLnBrk="1" hangingPunct="1">
              <a:buFont typeface="Wingdings" pitchFamily="2" charset="2"/>
              <a:buNone/>
            </a:pPr>
            <a:r>
              <a:rPr lang="zh-CN" altLang="en-US" sz="2400" dirty="0">
                <a:solidFill>
                  <a:srgbClr val="000000"/>
                </a:solidFill>
                <a:latin typeface="宋体" pitchFamily="2" charset="-122"/>
              </a:rPr>
              <a:t>　 例如：</a:t>
            </a:r>
            <a:r>
              <a:rPr lang="en-US" altLang="zh-CN" sz="2400" dirty="0">
                <a:solidFill>
                  <a:srgbClr val="000000"/>
                </a:solidFill>
                <a:latin typeface="Arial Unicode MS" pitchFamily="34" charset="-122"/>
              </a:rPr>
              <a:t>com.company.region.package</a:t>
            </a:r>
            <a:r>
              <a:rPr lang="en-US" altLang="zh-CN" sz="2400" dirty="0">
                <a:solidFill>
                  <a:srgbClr val="000000"/>
                </a:solidFill>
                <a:latin typeface="宋体" pitchFamily="2" charset="-122"/>
              </a:rPr>
              <a:t>. </a:t>
            </a:r>
          </a:p>
          <a:p>
            <a:pPr marL="609600" indent="-609600" eaLnBrk="1" hangingPunct="1">
              <a:buFont typeface="Wingdings" pitchFamily="2" charset="2"/>
              <a:buNone/>
            </a:pPr>
            <a:endParaRPr lang="en-US" altLang="zh-CN" sz="2400" b="1" dirty="0">
              <a:solidFill>
                <a:srgbClr val="000000"/>
              </a:solidFill>
              <a:latin typeface="宋体" pitchFamily="2" charset="-122"/>
            </a:endParaRPr>
          </a:p>
        </p:txBody>
      </p:sp>
      <p:sp>
        <p:nvSpPr>
          <p:cNvPr id="7" name="标题 6"/>
          <p:cNvSpPr>
            <a:spLocks noGrp="1"/>
          </p:cNvSpPr>
          <p:nvPr>
            <p:ph type="title"/>
          </p:nvPr>
        </p:nvSpPr>
        <p:spPr/>
        <p:txBody>
          <a:bodyPr/>
          <a:lstStyle/>
          <a:p>
            <a:r>
              <a:rPr lang="zh-CN" altLang="en-US" b="1" dirty="0">
                <a:solidFill>
                  <a:srgbClr val="000000"/>
                </a:solidFill>
              </a:rPr>
              <a:t>创建包</a:t>
            </a:r>
            <a:endParaRPr lang="zh-CN" alt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5" name="Rectangle 4"/>
          <p:cNvSpPr>
            <a:spLocks noChangeArrowheads="1"/>
          </p:cNvSpPr>
          <p:nvPr/>
        </p:nvSpPr>
        <p:spPr bwMode="auto">
          <a:xfrm>
            <a:off x="0" y="1905000"/>
            <a:ext cx="9144000" cy="0"/>
          </a:xfrm>
          <a:prstGeom prst="rect">
            <a:avLst/>
          </a:prstGeom>
          <a:noFill/>
          <a:ln w="9525">
            <a:noFill/>
            <a:miter lim="800000"/>
            <a:headEnd/>
            <a:tailEnd/>
          </a:ln>
        </p:spPr>
        <p:txBody>
          <a:bodyPr>
            <a:spAutoFit/>
          </a:bodyPr>
          <a:lstStyle/>
          <a:p>
            <a:endParaRPr lang="zh-CN" altLang="en-US"/>
          </a:p>
        </p:txBody>
      </p:sp>
      <p:sp>
        <p:nvSpPr>
          <p:cNvPr id="51206" name="Rectangle 5"/>
          <p:cNvSpPr>
            <a:spLocks noGrp="1" noChangeArrowheads="1"/>
          </p:cNvSpPr>
          <p:nvPr>
            <p:ph type="body" idx="1"/>
          </p:nvPr>
        </p:nvSpPr>
        <p:spPr>
          <a:xfrm>
            <a:off x="683568" y="1628800"/>
            <a:ext cx="7958138" cy="3881438"/>
          </a:xfrm>
        </p:spPr>
        <p:txBody>
          <a:bodyPr/>
          <a:lstStyle/>
          <a:p>
            <a:pPr marL="609600" indent="-609600" eaLnBrk="1" hangingPunct="1">
              <a:buFont typeface="Wingdings" pitchFamily="2" charset="2"/>
              <a:buNone/>
            </a:pPr>
            <a:r>
              <a:rPr lang="zh-CN" altLang="en-US" sz="2400" dirty="0">
                <a:solidFill>
                  <a:srgbClr val="000000"/>
                </a:solidFill>
              </a:rPr>
              <a:t>包中的所有类中只有</a:t>
            </a:r>
            <a:r>
              <a:rPr lang="en-US" altLang="zh-CN" sz="2400" dirty="0">
                <a:solidFill>
                  <a:srgbClr val="000000"/>
                </a:solidFill>
              </a:rPr>
              <a:t>public</a:t>
            </a:r>
            <a:r>
              <a:rPr lang="zh-CN" altLang="en-US" sz="2400" dirty="0">
                <a:solidFill>
                  <a:srgbClr val="000000"/>
                </a:solidFill>
              </a:rPr>
              <a:t>类能被包外部的类访问。</a:t>
            </a:r>
          </a:p>
          <a:p>
            <a:pPr marL="609600" indent="-609600" eaLnBrk="1" hangingPunct="1">
              <a:buFont typeface="Wingdings" pitchFamily="2" charset="2"/>
              <a:buNone/>
            </a:pPr>
            <a:endParaRPr lang="zh-CN" altLang="en-US" sz="800" dirty="0">
              <a:solidFill>
                <a:srgbClr val="000000"/>
              </a:solidFill>
            </a:endParaRPr>
          </a:p>
          <a:p>
            <a:pPr marL="609600" indent="-609600" eaLnBrk="1" hangingPunct="1">
              <a:buFont typeface="Wingdings" pitchFamily="2" charset="2"/>
              <a:buNone/>
            </a:pPr>
            <a:r>
              <a:rPr lang="zh-CN" altLang="en-US" sz="2400" dirty="0">
                <a:solidFill>
                  <a:srgbClr val="000000"/>
                </a:solidFill>
              </a:rPr>
              <a:t>有</a:t>
            </a:r>
            <a:r>
              <a:rPr lang="zh-CN" altLang="en-US" sz="2400" b="1" dirty="0">
                <a:solidFill>
                  <a:srgbClr val="000000"/>
                </a:solidFill>
              </a:rPr>
              <a:t>三种方法</a:t>
            </a:r>
            <a:r>
              <a:rPr lang="zh-CN" altLang="en-US" sz="2400" dirty="0">
                <a:solidFill>
                  <a:srgbClr val="000000"/>
                </a:solidFill>
              </a:rPr>
              <a:t>访问包中的类：</a:t>
            </a:r>
          </a:p>
          <a:p>
            <a:pPr marL="609600" indent="-609600" eaLnBrk="1" hangingPunct="1">
              <a:buFont typeface="Wingdings" pitchFamily="2" charset="2"/>
              <a:buNone/>
            </a:pPr>
            <a:r>
              <a:rPr lang="en-US" altLang="zh-CN" sz="2400" b="1" dirty="0">
                <a:solidFill>
                  <a:srgbClr val="000000"/>
                </a:solidFill>
              </a:rPr>
              <a:t>1) </a:t>
            </a:r>
            <a:r>
              <a:rPr lang="zh-CN" altLang="en-US" sz="2400" b="1" dirty="0">
                <a:solidFill>
                  <a:srgbClr val="000000"/>
                </a:solidFill>
              </a:rPr>
              <a:t>使用长名字引用包中的公共成员 即在类名前注明包名</a:t>
            </a:r>
          </a:p>
          <a:p>
            <a:pPr marL="609600" indent="-609600" eaLnBrk="1" hangingPunct="1">
              <a:buFont typeface="Wingdings" pitchFamily="2" charset="2"/>
              <a:buNone/>
            </a:pPr>
            <a:r>
              <a:rPr lang="zh-CN" altLang="en-US" sz="2400" dirty="0">
                <a:solidFill>
                  <a:srgbClr val="000000"/>
                </a:solidFill>
              </a:rPr>
              <a:t>例</a:t>
            </a:r>
          </a:p>
          <a:p>
            <a:pPr marL="609600" indent="-609600" eaLnBrk="1" hangingPunct="1">
              <a:buFont typeface="Wingdings" pitchFamily="2" charset="2"/>
              <a:buNone/>
            </a:pPr>
            <a:r>
              <a:rPr lang="en-US" altLang="zh-CN" sz="2400" dirty="0">
                <a:solidFill>
                  <a:srgbClr val="000000"/>
                </a:solidFill>
              </a:rPr>
              <a:t>graphics.Rectangle</a:t>
            </a:r>
          </a:p>
          <a:p>
            <a:pPr marL="609600" indent="-609600" eaLnBrk="1" hangingPunct="1">
              <a:buFont typeface="Wingdings" pitchFamily="2" charset="2"/>
              <a:buNone/>
            </a:pPr>
            <a:r>
              <a:rPr lang="en-US" altLang="zh-CN" sz="2400" dirty="0">
                <a:solidFill>
                  <a:srgbClr val="000000"/>
                </a:solidFill>
              </a:rPr>
              <a:t>graphics.Rectangle myRect = new graphics.Rectangle();</a:t>
            </a:r>
          </a:p>
          <a:p>
            <a:pPr marL="609600" indent="-609600" eaLnBrk="1" hangingPunct="1">
              <a:buFont typeface="Wingdings" pitchFamily="2" charset="2"/>
              <a:buNone/>
            </a:pPr>
            <a:endParaRPr lang="en-US" altLang="zh-CN" sz="2400" dirty="0">
              <a:solidFill>
                <a:srgbClr val="000000"/>
              </a:solidFill>
            </a:endParaRPr>
          </a:p>
        </p:txBody>
      </p:sp>
      <p:sp>
        <p:nvSpPr>
          <p:cNvPr id="7" name="标题 6"/>
          <p:cNvSpPr>
            <a:spLocks noGrp="1"/>
          </p:cNvSpPr>
          <p:nvPr>
            <p:ph type="title"/>
          </p:nvPr>
        </p:nvSpPr>
        <p:spPr/>
        <p:txBody>
          <a:bodyPr/>
          <a:lstStyle/>
          <a:p>
            <a:r>
              <a:rPr lang="zh-CN" altLang="en-US" b="1" dirty="0">
                <a:solidFill>
                  <a:srgbClr val="000000"/>
                </a:solidFill>
              </a:rPr>
              <a:t>包的使用</a:t>
            </a:r>
            <a:endParaRPr lang="zh-CN" alt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9" name="Rectangle 4"/>
          <p:cNvSpPr>
            <a:spLocks noChangeArrowheads="1"/>
          </p:cNvSpPr>
          <p:nvPr/>
        </p:nvSpPr>
        <p:spPr bwMode="auto">
          <a:xfrm>
            <a:off x="0" y="1905000"/>
            <a:ext cx="9144000" cy="0"/>
          </a:xfrm>
          <a:prstGeom prst="rect">
            <a:avLst/>
          </a:prstGeom>
          <a:noFill/>
          <a:ln w="9525">
            <a:noFill/>
            <a:miter lim="800000"/>
            <a:headEnd/>
            <a:tailEnd/>
          </a:ln>
        </p:spPr>
        <p:txBody>
          <a:bodyPr>
            <a:spAutoFit/>
          </a:bodyPr>
          <a:lstStyle/>
          <a:p>
            <a:endParaRPr lang="zh-CN" altLang="en-US"/>
          </a:p>
        </p:txBody>
      </p:sp>
      <p:sp>
        <p:nvSpPr>
          <p:cNvPr id="52230" name="Rectangle 5"/>
          <p:cNvSpPr>
            <a:spLocks noGrp="1" noChangeArrowheads="1"/>
          </p:cNvSpPr>
          <p:nvPr>
            <p:ph type="body" idx="1"/>
          </p:nvPr>
        </p:nvSpPr>
        <p:spPr>
          <a:xfrm>
            <a:off x="539552" y="1700808"/>
            <a:ext cx="7958138" cy="3881438"/>
          </a:xfrm>
        </p:spPr>
        <p:txBody>
          <a:bodyPr/>
          <a:lstStyle/>
          <a:p>
            <a:pPr marL="609600" indent="-609600" eaLnBrk="1" hangingPunct="1">
              <a:lnSpc>
                <a:spcPct val="90000"/>
              </a:lnSpc>
              <a:buFont typeface="Wingdings" pitchFamily="2" charset="2"/>
              <a:buAutoNum type="arabicParenR" startAt="2"/>
            </a:pPr>
            <a:r>
              <a:rPr lang="zh-CN" altLang="en-US" sz="2400" b="1" dirty="0">
                <a:solidFill>
                  <a:srgbClr val="000000"/>
                </a:solidFill>
              </a:rPr>
              <a:t>引进包的公共成员</a:t>
            </a:r>
            <a:r>
              <a:rPr lang="zh-CN" altLang="en-US" sz="2400" dirty="0">
                <a:solidFill>
                  <a:srgbClr val="000000"/>
                </a:solidFill>
              </a:rPr>
              <a:t> </a:t>
            </a:r>
          </a:p>
          <a:p>
            <a:pPr marL="609600" indent="-609600" eaLnBrk="1" hangingPunct="1">
              <a:lnSpc>
                <a:spcPct val="90000"/>
              </a:lnSpc>
              <a:buFont typeface="Wingdings" pitchFamily="2" charset="2"/>
              <a:buNone/>
            </a:pPr>
            <a:r>
              <a:rPr lang="zh-CN" altLang="en-US" sz="2400" dirty="0">
                <a:solidFill>
                  <a:srgbClr val="000000"/>
                </a:solidFill>
              </a:rPr>
              <a:t>        在文件的开始处使用</a:t>
            </a:r>
            <a:r>
              <a:rPr lang="en-US" altLang="zh-CN" sz="2400" b="1" dirty="0">
                <a:solidFill>
                  <a:srgbClr val="000000"/>
                </a:solidFill>
              </a:rPr>
              <a:t>import</a:t>
            </a:r>
            <a:r>
              <a:rPr lang="zh-CN" altLang="en-US" sz="2400" dirty="0">
                <a:solidFill>
                  <a:srgbClr val="000000"/>
                </a:solidFill>
              </a:rPr>
              <a:t>语句将指定的成员引进到当前文件中</a:t>
            </a:r>
            <a:r>
              <a:rPr lang="en-US" altLang="zh-CN" sz="2400" dirty="0">
                <a:solidFill>
                  <a:srgbClr val="000000"/>
                </a:solidFill>
              </a:rPr>
              <a:t>.</a:t>
            </a:r>
          </a:p>
          <a:p>
            <a:pPr marL="609600" indent="-609600" eaLnBrk="1" hangingPunct="1">
              <a:lnSpc>
                <a:spcPct val="90000"/>
              </a:lnSpc>
              <a:buFont typeface="Wingdings" pitchFamily="2" charset="2"/>
              <a:buNone/>
            </a:pPr>
            <a:r>
              <a:rPr lang="zh-CN" altLang="en-US" sz="2400" dirty="0">
                <a:solidFill>
                  <a:srgbClr val="000000"/>
                </a:solidFill>
              </a:rPr>
              <a:t>格式：</a:t>
            </a:r>
          </a:p>
          <a:p>
            <a:pPr marL="609600" indent="-609600" eaLnBrk="1" hangingPunct="1">
              <a:lnSpc>
                <a:spcPct val="90000"/>
              </a:lnSpc>
              <a:buFont typeface="Wingdings" pitchFamily="2" charset="2"/>
              <a:buNone/>
            </a:pPr>
            <a:r>
              <a:rPr lang="en-US" altLang="zh-CN" sz="2400" dirty="0">
                <a:solidFill>
                  <a:srgbClr val="000000"/>
                </a:solidFill>
              </a:rPr>
              <a:t>import pkg1[.pkg2].</a:t>
            </a:r>
            <a:r>
              <a:rPr lang="zh-CN" altLang="en-US" sz="2400" dirty="0">
                <a:solidFill>
                  <a:srgbClr val="000000"/>
                </a:solidFill>
              </a:rPr>
              <a:t>类名</a:t>
            </a:r>
          </a:p>
          <a:p>
            <a:pPr marL="609600" indent="-609600" eaLnBrk="1" hangingPunct="1">
              <a:lnSpc>
                <a:spcPct val="90000"/>
              </a:lnSpc>
              <a:buFont typeface="Wingdings" pitchFamily="2" charset="2"/>
              <a:buNone/>
            </a:pPr>
            <a:r>
              <a:rPr lang="zh-CN" altLang="en-US" sz="2400" dirty="0">
                <a:solidFill>
                  <a:srgbClr val="000000"/>
                </a:solidFill>
              </a:rPr>
              <a:t>例</a:t>
            </a:r>
          </a:p>
          <a:p>
            <a:pPr marL="609600" indent="-609600" eaLnBrk="1" hangingPunct="1">
              <a:lnSpc>
                <a:spcPct val="90000"/>
              </a:lnSpc>
              <a:buFont typeface="Wingdings" pitchFamily="2" charset="2"/>
              <a:buNone/>
            </a:pPr>
            <a:r>
              <a:rPr lang="en-US" altLang="zh-CN" sz="2400" dirty="0">
                <a:solidFill>
                  <a:srgbClr val="000000"/>
                </a:solidFill>
              </a:rPr>
              <a:t>import graphics.Circle;</a:t>
            </a:r>
          </a:p>
          <a:p>
            <a:pPr marL="609600" indent="-609600" eaLnBrk="1" hangingPunct="1">
              <a:lnSpc>
                <a:spcPct val="90000"/>
              </a:lnSpc>
              <a:buFont typeface="Wingdings" pitchFamily="2" charset="2"/>
              <a:buNone/>
            </a:pPr>
            <a:r>
              <a:rPr lang="en-US" altLang="zh-CN" sz="2400" dirty="0">
                <a:solidFill>
                  <a:srgbClr val="000000"/>
                </a:solidFill>
              </a:rPr>
              <a:t>Circle myCircle = new Circle();</a:t>
            </a:r>
          </a:p>
        </p:txBody>
      </p:sp>
      <p:sp>
        <p:nvSpPr>
          <p:cNvPr id="7" name="标题 6"/>
          <p:cNvSpPr>
            <a:spLocks noGrp="1"/>
          </p:cNvSpPr>
          <p:nvPr>
            <p:ph type="title"/>
          </p:nvPr>
        </p:nvSpPr>
        <p:spPr/>
        <p:txBody>
          <a:bodyPr/>
          <a:lstStyle/>
          <a:p>
            <a:r>
              <a:rPr lang="zh-CN" altLang="en-US" dirty="0"/>
              <a:t>包的使用</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3" name="Rectangle 4"/>
          <p:cNvSpPr>
            <a:spLocks noChangeArrowheads="1"/>
          </p:cNvSpPr>
          <p:nvPr/>
        </p:nvSpPr>
        <p:spPr bwMode="auto">
          <a:xfrm>
            <a:off x="0" y="1905000"/>
            <a:ext cx="9144000" cy="0"/>
          </a:xfrm>
          <a:prstGeom prst="rect">
            <a:avLst/>
          </a:prstGeom>
          <a:noFill/>
          <a:ln w="9525">
            <a:noFill/>
            <a:miter lim="800000"/>
            <a:headEnd/>
            <a:tailEnd/>
          </a:ln>
        </p:spPr>
        <p:txBody>
          <a:bodyPr>
            <a:spAutoFit/>
          </a:bodyPr>
          <a:lstStyle/>
          <a:p>
            <a:endParaRPr lang="zh-CN" altLang="en-US"/>
          </a:p>
        </p:txBody>
      </p:sp>
      <p:sp>
        <p:nvSpPr>
          <p:cNvPr id="53254" name="Rectangle 5"/>
          <p:cNvSpPr>
            <a:spLocks noGrp="1" noChangeArrowheads="1"/>
          </p:cNvSpPr>
          <p:nvPr>
            <p:ph type="body" idx="1"/>
          </p:nvPr>
        </p:nvSpPr>
        <p:spPr>
          <a:xfrm>
            <a:off x="539552" y="1556792"/>
            <a:ext cx="7958138" cy="3881438"/>
          </a:xfrm>
        </p:spPr>
        <p:txBody>
          <a:bodyPr/>
          <a:lstStyle/>
          <a:p>
            <a:pPr marL="609600" indent="-609600" eaLnBrk="1" hangingPunct="1">
              <a:lnSpc>
                <a:spcPct val="90000"/>
              </a:lnSpc>
              <a:buFont typeface="Wingdings" pitchFamily="2" charset="2"/>
              <a:buNone/>
            </a:pPr>
            <a:r>
              <a:rPr lang="en-US" altLang="zh-CN" sz="2400" b="1" dirty="0"/>
              <a:t>3)    </a:t>
            </a:r>
            <a:r>
              <a:rPr lang="zh-CN" altLang="en-US" sz="2400" b="1" dirty="0"/>
              <a:t>引进整个包</a:t>
            </a:r>
            <a:r>
              <a:rPr lang="zh-CN" altLang="en-US" sz="2400" b="1" dirty="0">
                <a:solidFill>
                  <a:srgbClr val="000000"/>
                </a:solidFill>
              </a:rPr>
              <a:t> </a:t>
            </a:r>
          </a:p>
          <a:p>
            <a:pPr marL="609600" indent="-609600" eaLnBrk="1" hangingPunct="1">
              <a:lnSpc>
                <a:spcPct val="90000"/>
              </a:lnSpc>
              <a:buFont typeface="Wingdings" pitchFamily="2" charset="2"/>
              <a:buNone/>
            </a:pPr>
            <a:r>
              <a:rPr lang="zh-CN" altLang="en-US" sz="2400" dirty="0">
                <a:solidFill>
                  <a:srgbClr val="000000"/>
                </a:solidFill>
              </a:rPr>
              <a:t>使用</a:t>
            </a:r>
            <a:r>
              <a:rPr lang="en-US" altLang="zh-CN" sz="2400" dirty="0">
                <a:solidFill>
                  <a:srgbClr val="000000"/>
                </a:solidFill>
              </a:rPr>
              <a:t>import</a:t>
            </a:r>
            <a:r>
              <a:rPr lang="zh-CN" altLang="en-US" sz="2400" dirty="0">
                <a:solidFill>
                  <a:srgbClr val="000000"/>
                </a:solidFill>
              </a:rPr>
              <a:t>语句引进包中的所有类和接口</a:t>
            </a:r>
          </a:p>
          <a:p>
            <a:pPr marL="609600" indent="-609600" eaLnBrk="1" hangingPunct="1">
              <a:lnSpc>
                <a:spcPct val="90000"/>
              </a:lnSpc>
              <a:buFont typeface="Wingdings" pitchFamily="2" charset="2"/>
              <a:buNone/>
            </a:pPr>
            <a:r>
              <a:rPr lang="zh-CN" altLang="en-US" sz="2400" dirty="0">
                <a:solidFill>
                  <a:srgbClr val="000000"/>
                </a:solidFill>
              </a:rPr>
              <a:t>格式</a:t>
            </a:r>
            <a:r>
              <a:rPr lang="en-US" altLang="zh-CN" sz="2400" dirty="0">
                <a:solidFill>
                  <a:srgbClr val="000000"/>
                </a:solidFill>
              </a:rPr>
              <a:t>:</a:t>
            </a:r>
          </a:p>
          <a:p>
            <a:pPr marL="609600" indent="-609600" eaLnBrk="1" hangingPunct="1">
              <a:lnSpc>
                <a:spcPct val="90000"/>
              </a:lnSpc>
              <a:buFont typeface="Wingdings" pitchFamily="2" charset="2"/>
              <a:buNone/>
            </a:pPr>
            <a:r>
              <a:rPr lang="en-US" altLang="zh-CN" sz="2400" dirty="0">
                <a:solidFill>
                  <a:srgbClr val="000000"/>
                </a:solidFill>
              </a:rPr>
              <a:t>import pkg1[.pkg2].*</a:t>
            </a:r>
          </a:p>
          <a:p>
            <a:pPr marL="609600" indent="-609600" eaLnBrk="1" hangingPunct="1">
              <a:lnSpc>
                <a:spcPct val="90000"/>
              </a:lnSpc>
              <a:buFont typeface="Wingdings" pitchFamily="2" charset="2"/>
              <a:buNone/>
            </a:pPr>
            <a:r>
              <a:rPr lang="zh-CN" altLang="en-US" sz="2400" dirty="0">
                <a:solidFill>
                  <a:srgbClr val="000000"/>
                </a:solidFill>
              </a:rPr>
              <a:t>例</a:t>
            </a:r>
          </a:p>
          <a:p>
            <a:pPr marL="609600" indent="-609600" eaLnBrk="1" hangingPunct="1">
              <a:lnSpc>
                <a:spcPct val="90000"/>
              </a:lnSpc>
              <a:buFont typeface="Wingdings" pitchFamily="2" charset="2"/>
              <a:buNone/>
            </a:pPr>
            <a:r>
              <a:rPr lang="en-US" altLang="zh-CN" sz="2400" dirty="0">
                <a:solidFill>
                  <a:srgbClr val="000000"/>
                </a:solidFill>
              </a:rPr>
              <a:t>import graphics.*;</a:t>
            </a:r>
          </a:p>
          <a:p>
            <a:pPr marL="609600" indent="-609600" eaLnBrk="1" hangingPunct="1">
              <a:lnSpc>
                <a:spcPct val="90000"/>
              </a:lnSpc>
              <a:buFont typeface="Wingdings" pitchFamily="2" charset="2"/>
              <a:buNone/>
            </a:pPr>
            <a:r>
              <a:rPr lang="zh-CN" altLang="en-US" sz="2400" dirty="0">
                <a:solidFill>
                  <a:srgbClr val="000000"/>
                </a:solidFill>
              </a:rPr>
              <a:t>现在可以使用短名字来引用类</a:t>
            </a:r>
            <a:r>
              <a:rPr lang="en-US" altLang="zh-CN" sz="2400" dirty="0">
                <a:solidFill>
                  <a:srgbClr val="000000"/>
                </a:solidFill>
              </a:rPr>
              <a:t>graphics</a:t>
            </a:r>
            <a:r>
              <a:rPr lang="zh-CN" altLang="en-US" sz="2400" dirty="0">
                <a:solidFill>
                  <a:srgbClr val="000000"/>
                </a:solidFill>
              </a:rPr>
              <a:t>包中的所有类</a:t>
            </a:r>
            <a:r>
              <a:rPr lang="en-US" altLang="zh-CN" sz="2400" dirty="0">
                <a:solidFill>
                  <a:srgbClr val="000000"/>
                </a:solidFill>
              </a:rPr>
              <a:t>. </a:t>
            </a:r>
          </a:p>
          <a:p>
            <a:pPr marL="609600" indent="-609600" eaLnBrk="1" hangingPunct="1">
              <a:lnSpc>
                <a:spcPct val="90000"/>
              </a:lnSpc>
              <a:buFont typeface="Wingdings" pitchFamily="2" charset="2"/>
              <a:buNone/>
            </a:pPr>
            <a:r>
              <a:rPr lang="en-US" altLang="zh-CN" sz="2400" dirty="0">
                <a:solidFill>
                  <a:srgbClr val="000000"/>
                </a:solidFill>
              </a:rPr>
              <a:t>Circle myCircle = new Circle();</a:t>
            </a:r>
          </a:p>
          <a:p>
            <a:pPr marL="609600" indent="-609600" eaLnBrk="1" hangingPunct="1">
              <a:lnSpc>
                <a:spcPct val="90000"/>
              </a:lnSpc>
              <a:buFont typeface="Wingdings" pitchFamily="2" charset="2"/>
              <a:buNone/>
            </a:pPr>
            <a:r>
              <a:rPr lang="en-US" altLang="zh-CN" sz="2400" dirty="0">
                <a:solidFill>
                  <a:srgbClr val="000000"/>
                </a:solidFill>
              </a:rPr>
              <a:t>Rectangle myRectangle = new Rectangle();</a:t>
            </a:r>
          </a:p>
        </p:txBody>
      </p:sp>
      <p:sp>
        <p:nvSpPr>
          <p:cNvPr id="7" name="标题 6"/>
          <p:cNvSpPr>
            <a:spLocks noGrp="1"/>
          </p:cNvSpPr>
          <p:nvPr>
            <p:ph type="title"/>
          </p:nvPr>
        </p:nvSpPr>
        <p:spPr/>
        <p:txBody>
          <a:bodyPr/>
          <a:lstStyle/>
          <a:p>
            <a:r>
              <a:rPr lang="zh-CN" altLang="en-US" b="1" dirty="0">
                <a:solidFill>
                  <a:srgbClr val="000000"/>
                </a:solidFill>
              </a:rPr>
              <a:t>包的使用</a:t>
            </a:r>
            <a:endParaRPr lang="zh-CN" alt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7" name="Rectangle 4"/>
          <p:cNvSpPr>
            <a:spLocks noChangeArrowheads="1"/>
          </p:cNvSpPr>
          <p:nvPr/>
        </p:nvSpPr>
        <p:spPr bwMode="auto">
          <a:xfrm>
            <a:off x="0" y="1905000"/>
            <a:ext cx="9144000" cy="0"/>
          </a:xfrm>
          <a:prstGeom prst="rect">
            <a:avLst/>
          </a:prstGeom>
          <a:noFill/>
          <a:ln w="9525">
            <a:noFill/>
            <a:miter lim="800000"/>
            <a:headEnd/>
            <a:tailEnd/>
          </a:ln>
        </p:spPr>
        <p:txBody>
          <a:bodyPr>
            <a:spAutoFit/>
          </a:bodyPr>
          <a:lstStyle/>
          <a:p>
            <a:endParaRPr lang="zh-CN" altLang="en-US"/>
          </a:p>
        </p:txBody>
      </p:sp>
      <p:sp>
        <p:nvSpPr>
          <p:cNvPr id="54278" name="Rectangle 5"/>
          <p:cNvSpPr>
            <a:spLocks noGrp="1" noChangeArrowheads="1"/>
          </p:cNvSpPr>
          <p:nvPr>
            <p:ph type="body" idx="1"/>
          </p:nvPr>
        </p:nvSpPr>
        <p:spPr>
          <a:xfrm>
            <a:off x="574302" y="1628800"/>
            <a:ext cx="7958138" cy="3881438"/>
          </a:xfrm>
        </p:spPr>
        <p:txBody>
          <a:bodyPr/>
          <a:lstStyle/>
          <a:p>
            <a:pPr marL="609600" indent="-609600" eaLnBrk="1" hangingPunct="1">
              <a:buFont typeface="Wingdings" pitchFamily="2" charset="2"/>
              <a:buNone/>
            </a:pPr>
            <a:r>
              <a:rPr lang="en-US" altLang="zh-CN" sz="2800" b="1" dirty="0">
                <a:solidFill>
                  <a:srgbClr val="000000"/>
                </a:solidFill>
              </a:rPr>
              <a:t>3. </a:t>
            </a:r>
            <a:r>
              <a:rPr lang="zh-CN" altLang="en-US" sz="2800" b="1" dirty="0">
                <a:solidFill>
                  <a:srgbClr val="000000"/>
                </a:solidFill>
              </a:rPr>
              <a:t>源文件和类文件的管理 </a:t>
            </a:r>
          </a:p>
          <a:p>
            <a:pPr marL="609600" indent="-609600" eaLnBrk="1" hangingPunct="1">
              <a:buFont typeface="Wingdings" pitchFamily="2" charset="2"/>
              <a:buNone/>
            </a:pPr>
            <a:r>
              <a:rPr lang="zh-CN" altLang="en-US" sz="2800" b="1" dirty="0">
                <a:solidFill>
                  <a:schemeClr val="folHlink"/>
                </a:solidFill>
              </a:rPr>
              <a:t>        </a:t>
            </a:r>
            <a:r>
              <a:rPr lang="en-US" altLang="zh-CN" sz="2400" dirty="0">
                <a:solidFill>
                  <a:srgbClr val="000000"/>
                </a:solidFill>
                <a:latin typeface="宋体" pitchFamily="2" charset="-122"/>
              </a:rPr>
              <a:t>JDK</a:t>
            </a:r>
            <a:r>
              <a:rPr lang="zh-CN" altLang="en-US" sz="2400" dirty="0">
                <a:solidFill>
                  <a:srgbClr val="000000"/>
                </a:solidFill>
                <a:latin typeface="宋体" pitchFamily="2" charset="-122"/>
              </a:rPr>
              <a:t>利用文件系统的层次结构来管理源文件和类文件。源文件和类文件所在的目录名应与其中的类所在的包名对应，编译器和解释器按此机制来查找类。如：</a:t>
            </a:r>
            <a:endParaRPr lang="zh-CN" altLang="en-US" sz="2400" dirty="0">
              <a:solidFill>
                <a:schemeClr val="folHlink"/>
              </a:solidFill>
              <a:latin typeface="宋体" pitchFamily="2" charset="-122"/>
            </a:endParaRPr>
          </a:p>
          <a:p>
            <a:pPr marL="609600" indent="-609600" algn="ctr" eaLnBrk="1" hangingPunct="1">
              <a:buFont typeface="Wingdings" pitchFamily="2" charset="2"/>
              <a:buNone/>
            </a:pPr>
            <a:r>
              <a:rPr lang="zh-CN" altLang="en-US" sz="2800" b="1" dirty="0">
                <a:solidFill>
                  <a:srgbClr val="000000"/>
                </a:solidFill>
              </a:rPr>
              <a:t> </a:t>
            </a:r>
            <a:endParaRPr lang="zh-CN" altLang="en-US" sz="2800" b="1" dirty="0">
              <a:solidFill>
                <a:schemeClr val="folHlink"/>
              </a:solidFill>
            </a:endParaRPr>
          </a:p>
          <a:p>
            <a:pPr marL="609600" indent="-609600" algn="ctr" eaLnBrk="1" hangingPunct="1">
              <a:buFont typeface="Wingdings" pitchFamily="2" charset="2"/>
              <a:buNone/>
            </a:pPr>
            <a:endParaRPr lang="zh-CN" altLang="en-US" sz="2800" dirty="0">
              <a:solidFill>
                <a:schemeClr val="folHlink"/>
              </a:solidFill>
            </a:endParaRPr>
          </a:p>
          <a:p>
            <a:pPr marL="609600" indent="-609600" eaLnBrk="1" hangingPunct="1">
              <a:buFont typeface="Wingdings" pitchFamily="2" charset="2"/>
              <a:buNone/>
            </a:pPr>
            <a:endParaRPr lang="en-US" altLang="zh-CN" sz="2800" b="1" dirty="0">
              <a:solidFill>
                <a:schemeClr val="folHlink"/>
              </a:solidFill>
            </a:endParaRPr>
          </a:p>
        </p:txBody>
      </p:sp>
      <p:pic>
        <p:nvPicPr>
          <p:cNvPr id="54279" name="Picture 7" descr="Image15"/>
          <p:cNvPicPr>
            <a:picLocks noChangeAspect="1" noChangeArrowheads="1"/>
          </p:cNvPicPr>
          <p:nvPr/>
        </p:nvPicPr>
        <p:blipFill>
          <a:blip r:embed="rId2" cstate="print"/>
          <a:srcRect/>
          <a:stretch>
            <a:fillRect/>
          </a:stretch>
        </p:blipFill>
        <p:spPr bwMode="auto">
          <a:xfrm>
            <a:off x="1371600" y="4191000"/>
            <a:ext cx="6858000" cy="1828800"/>
          </a:xfrm>
          <a:prstGeom prst="rect">
            <a:avLst/>
          </a:prstGeom>
          <a:noFill/>
          <a:ln w="9525">
            <a:noFill/>
            <a:miter lim="800000"/>
            <a:headEnd/>
            <a:tailEnd/>
          </a:ln>
        </p:spPr>
      </p:pic>
      <p:sp>
        <p:nvSpPr>
          <p:cNvPr id="8" name="标题 7"/>
          <p:cNvSpPr>
            <a:spLocks noGrp="1"/>
          </p:cNvSpPr>
          <p:nvPr>
            <p:ph type="title"/>
          </p:nvPr>
        </p:nvSpPr>
        <p:spPr/>
        <p:txBody>
          <a:bodyPr/>
          <a:lstStyle/>
          <a:p>
            <a:r>
              <a:rPr lang="zh-CN" altLang="en-US" dirty="0"/>
              <a:t>包的使用</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0" name="Rectangle 4"/>
          <p:cNvSpPr>
            <a:spLocks noChangeArrowheads="1"/>
          </p:cNvSpPr>
          <p:nvPr/>
        </p:nvSpPr>
        <p:spPr bwMode="auto">
          <a:xfrm>
            <a:off x="0" y="1905000"/>
            <a:ext cx="9144000" cy="0"/>
          </a:xfrm>
          <a:prstGeom prst="rect">
            <a:avLst/>
          </a:prstGeom>
          <a:noFill/>
          <a:ln w="9525">
            <a:noFill/>
            <a:miter lim="800000"/>
            <a:headEnd/>
            <a:tailEnd/>
          </a:ln>
        </p:spPr>
        <p:txBody>
          <a:bodyPr>
            <a:spAutoFit/>
          </a:bodyPr>
          <a:lstStyle/>
          <a:p>
            <a:endParaRPr lang="zh-CN" altLang="en-US"/>
          </a:p>
        </p:txBody>
      </p:sp>
      <p:sp>
        <p:nvSpPr>
          <p:cNvPr id="1031" name="Rectangle 5"/>
          <p:cNvSpPr>
            <a:spLocks noGrp="1" noChangeArrowheads="1"/>
          </p:cNvSpPr>
          <p:nvPr>
            <p:ph type="body" idx="1"/>
          </p:nvPr>
        </p:nvSpPr>
        <p:spPr>
          <a:xfrm>
            <a:off x="755576" y="1700808"/>
            <a:ext cx="7958138" cy="3881438"/>
          </a:xfrm>
        </p:spPr>
        <p:txBody>
          <a:bodyPr/>
          <a:lstStyle/>
          <a:p>
            <a:pPr marL="609600" indent="-609600" eaLnBrk="1" hangingPunct="1">
              <a:buFont typeface="Wingdings" pitchFamily="2" charset="2"/>
              <a:buNone/>
            </a:pPr>
            <a:r>
              <a:rPr lang="en-US" altLang="zh-CN" sz="2800" b="1" dirty="0">
                <a:solidFill>
                  <a:srgbClr val="000000"/>
                </a:solidFill>
              </a:rPr>
              <a:t>3. </a:t>
            </a:r>
            <a:r>
              <a:rPr lang="zh-CN" altLang="en-US" sz="2800" b="1" dirty="0">
                <a:solidFill>
                  <a:srgbClr val="000000"/>
                </a:solidFill>
              </a:rPr>
              <a:t>源文件和类文件的管理 </a:t>
            </a:r>
          </a:p>
          <a:p>
            <a:pPr marL="609600" indent="-609600" eaLnBrk="1" hangingPunct="1">
              <a:buFont typeface="Wingdings" pitchFamily="2" charset="2"/>
              <a:buNone/>
            </a:pPr>
            <a:r>
              <a:rPr lang="zh-CN" altLang="en-US" sz="2800" b="1" dirty="0">
                <a:solidFill>
                  <a:schemeClr val="folHlink"/>
                </a:solidFill>
              </a:rPr>
              <a:t>        </a:t>
            </a:r>
            <a:endParaRPr lang="zh-CN" altLang="en-US" sz="2400" dirty="0">
              <a:solidFill>
                <a:schemeClr val="folHlink"/>
              </a:solidFill>
              <a:latin typeface="宋体" pitchFamily="2" charset="-122"/>
            </a:endParaRPr>
          </a:p>
          <a:p>
            <a:pPr marL="609600" indent="-609600" algn="ctr" eaLnBrk="1" hangingPunct="1">
              <a:buFont typeface="Wingdings" pitchFamily="2" charset="2"/>
              <a:buNone/>
            </a:pPr>
            <a:r>
              <a:rPr lang="zh-CN" altLang="en-US" sz="2800" b="1" dirty="0">
                <a:solidFill>
                  <a:srgbClr val="000000"/>
                </a:solidFill>
              </a:rPr>
              <a:t> </a:t>
            </a:r>
            <a:endParaRPr lang="zh-CN" altLang="en-US" sz="2800" b="1" dirty="0">
              <a:solidFill>
                <a:schemeClr val="folHlink"/>
              </a:solidFill>
            </a:endParaRPr>
          </a:p>
          <a:p>
            <a:pPr marL="609600" indent="-609600" algn="ctr" eaLnBrk="1" hangingPunct="1">
              <a:buFont typeface="Wingdings" pitchFamily="2" charset="2"/>
              <a:buNone/>
            </a:pPr>
            <a:endParaRPr lang="zh-CN" altLang="en-US" sz="2800" dirty="0">
              <a:solidFill>
                <a:schemeClr val="folHlink"/>
              </a:solidFill>
            </a:endParaRPr>
          </a:p>
          <a:p>
            <a:pPr marL="609600" indent="-609600" eaLnBrk="1" hangingPunct="1">
              <a:buFont typeface="Wingdings" pitchFamily="2" charset="2"/>
              <a:buNone/>
            </a:pPr>
            <a:endParaRPr lang="en-US" altLang="zh-CN" sz="2800" b="1" dirty="0">
              <a:solidFill>
                <a:schemeClr val="folHlink"/>
              </a:solidFill>
            </a:endParaRPr>
          </a:p>
        </p:txBody>
      </p:sp>
      <p:graphicFrame>
        <p:nvGraphicFramePr>
          <p:cNvPr id="1026" name="Object 11"/>
          <p:cNvGraphicFramePr>
            <a:graphicFrameLocks noChangeAspect="1"/>
          </p:cNvGraphicFramePr>
          <p:nvPr/>
        </p:nvGraphicFramePr>
        <p:xfrm>
          <a:off x="1187624" y="2459136"/>
          <a:ext cx="7543800" cy="2986088"/>
        </p:xfrm>
        <a:graphic>
          <a:graphicData uri="http://schemas.openxmlformats.org/presentationml/2006/ole">
            <mc:AlternateContent xmlns:mc="http://schemas.openxmlformats.org/markup-compatibility/2006">
              <mc:Choice xmlns:v="urn:schemas-microsoft-com:vml" Requires="v">
                <p:oleObj spid="_x0000_s2051" name="位图图像" r:id="rId3" imgW="4571429" imgH="1809524" progId="PBrush">
                  <p:embed/>
                </p:oleObj>
              </mc:Choice>
              <mc:Fallback>
                <p:oleObj name="位图图像" r:id="rId3" imgW="4571429" imgH="1809524" progId="PBrush">
                  <p:embed/>
                  <p:pic>
                    <p:nvPicPr>
                      <p:cNvPr id="0" name="Object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87624" y="2459136"/>
                        <a:ext cx="7543800" cy="2986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 name="标题 7"/>
          <p:cNvSpPr>
            <a:spLocks noGrp="1"/>
          </p:cNvSpPr>
          <p:nvPr>
            <p:ph type="title"/>
          </p:nvPr>
        </p:nvSpPr>
        <p:spPr/>
        <p:txBody>
          <a:bodyPr/>
          <a:lstStyle/>
          <a:p>
            <a:r>
              <a:rPr lang="zh-CN" altLang="en-US" dirty="0"/>
              <a:t>包的使用</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灯片编号占位符 5"/>
          <p:cNvSpPr>
            <a:spLocks noGrp="1"/>
          </p:cNvSpPr>
          <p:nvPr>
            <p:ph type="sldNum" sz="quarter" idx="4294967295"/>
          </p:nvPr>
        </p:nvSpPr>
        <p:spPr>
          <a:xfrm>
            <a:off x="6589713" y="6376988"/>
            <a:ext cx="2193925" cy="457200"/>
          </a:xfrm>
          <a:prstGeom prst="rect">
            <a:avLst/>
          </a:prstGeom>
          <a:noFill/>
        </p:spPr>
        <p:txBody>
          <a:bodyPr/>
          <a:lstStyle/>
          <a:p>
            <a:fld id="{BC8A6660-BCDC-429C-B607-803E6F460B5A}" type="slidenum">
              <a:rPr lang="en-US" altLang="zh-CN"/>
              <a:pPr/>
              <a:t>42</a:t>
            </a:fld>
            <a:endParaRPr lang="en-US" altLang="zh-CN"/>
          </a:p>
        </p:txBody>
      </p:sp>
      <p:sp>
        <p:nvSpPr>
          <p:cNvPr id="2054" name="Rectangle 4"/>
          <p:cNvSpPr>
            <a:spLocks noChangeArrowheads="1"/>
          </p:cNvSpPr>
          <p:nvPr/>
        </p:nvSpPr>
        <p:spPr bwMode="auto">
          <a:xfrm>
            <a:off x="0" y="1905000"/>
            <a:ext cx="9144000" cy="0"/>
          </a:xfrm>
          <a:prstGeom prst="rect">
            <a:avLst/>
          </a:prstGeom>
          <a:noFill/>
          <a:ln w="9525">
            <a:noFill/>
            <a:miter lim="800000"/>
            <a:headEnd/>
            <a:tailEnd/>
          </a:ln>
        </p:spPr>
        <p:txBody>
          <a:bodyPr>
            <a:spAutoFit/>
          </a:bodyPr>
          <a:lstStyle/>
          <a:p>
            <a:endParaRPr lang="zh-CN" altLang="en-US"/>
          </a:p>
        </p:txBody>
      </p:sp>
      <p:sp>
        <p:nvSpPr>
          <p:cNvPr id="2055" name="Rectangle 5"/>
          <p:cNvSpPr>
            <a:spLocks noGrp="1" noChangeArrowheads="1"/>
          </p:cNvSpPr>
          <p:nvPr>
            <p:ph type="body" idx="1"/>
          </p:nvPr>
        </p:nvSpPr>
        <p:spPr>
          <a:xfrm>
            <a:off x="539552" y="1628800"/>
            <a:ext cx="7958138" cy="3881438"/>
          </a:xfrm>
        </p:spPr>
        <p:txBody>
          <a:bodyPr/>
          <a:lstStyle/>
          <a:p>
            <a:pPr marL="609600" indent="-609600" eaLnBrk="1" hangingPunct="1">
              <a:buFont typeface="Wingdings" pitchFamily="2" charset="2"/>
              <a:buNone/>
            </a:pPr>
            <a:r>
              <a:rPr lang="en-US" altLang="zh-CN" sz="2800" b="1" dirty="0">
                <a:solidFill>
                  <a:srgbClr val="000000"/>
                </a:solidFill>
              </a:rPr>
              <a:t>3. </a:t>
            </a:r>
            <a:r>
              <a:rPr lang="zh-CN" altLang="en-US" sz="2800" b="1" dirty="0">
                <a:solidFill>
                  <a:srgbClr val="000000"/>
                </a:solidFill>
              </a:rPr>
              <a:t>源文件和类文件的管理 </a:t>
            </a:r>
          </a:p>
          <a:p>
            <a:pPr marL="609600" indent="-609600" eaLnBrk="1" hangingPunct="1">
              <a:buFont typeface="Wingdings" pitchFamily="2" charset="2"/>
              <a:buNone/>
            </a:pPr>
            <a:r>
              <a:rPr lang="zh-CN" altLang="en-US" sz="2800" dirty="0">
                <a:solidFill>
                  <a:srgbClr val="000000"/>
                </a:solidFill>
              </a:rPr>
              <a:t>	当源文件中有多个类定义时，编译后将产生多个类文件。</a:t>
            </a:r>
            <a:r>
              <a:rPr lang="zh-CN" altLang="en-US" sz="2800" dirty="0">
                <a:solidFill>
                  <a:schemeClr val="folHlink"/>
                </a:solidFill>
              </a:rPr>
              <a:t> </a:t>
            </a:r>
          </a:p>
          <a:p>
            <a:pPr marL="609600" indent="-609600" eaLnBrk="1" hangingPunct="1">
              <a:buFont typeface="Wingdings" pitchFamily="2" charset="2"/>
              <a:buNone/>
            </a:pPr>
            <a:endParaRPr lang="zh-CN" altLang="en-US" sz="2400" dirty="0">
              <a:solidFill>
                <a:schemeClr val="folHlink"/>
              </a:solidFill>
              <a:latin typeface="宋体" pitchFamily="2" charset="-122"/>
            </a:endParaRPr>
          </a:p>
          <a:p>
            <a:pPr marL="609600" indent="-609600" algn="ctr" eaLnBrk="1" hangingPunct="1">
              <a:buFont typeface="Wingdings" pitchFamily="2" charset="2"/>
              <a:buNone/>
            </a:pPr>
            <a:r>
              <a:rPr lang="zh-CN" altLang="en-US" sz="2800" b="1" dirty="0">
                <a:solidFill>
                  <a:srgbClr val="000000"/>
                </a:solidFill>
              </a:rPr>
              <a:t> </a:t>
            </a:r>
            <a:endParaRPr lang="zh-CN" altLang="en-US" sz="2800" b="1" dirty="0">
              <a:solidFill>
                <a:schemeClr val="folHlink"/>
              </a:solidFill>
            </a:endParaRPr>
          </a:p>
          <a:p>
            <a:pPr marL="609600" indent="-609600" algn="ctr" eaLnBrk="1" hangingPunct="1">
              <a:buFont typeface="Wingdings" pitchFamily="2" charset="2"/>
              <a:buNone/>
            </a:pPr>
            <a:endParaRPr lang="zh-CN" altLang="en-US" sz="2800" dirty="0">
              <a:solidFill>
                <a:schemeClr val="folHlink"/>
              </a:solidFill>
            </a:endParaRPr>
          </a:p>
          <a:p>
            <a:pPr marL="609600" indent="-609600" eaLnBrk="1" hangingPunct="1">
              <a:buFont typeface="Wingdings" pitchFamily="2" charset="2"/>
              <a:buNone/>
            </a:pPr>
            <a:endParaRPr lang="en-US" altLang="zh-CN" sz="2800" b="1" dirty="0">
              <a:solidFill>
                <a:schemeClr val="folHlink"/>
              </a:solidFill>
            </a:endParaRPr>
          </a:p>
        </p:txBody>
      </p:sp>
      <p:graphicFrame>
        <p:nvGraphicFramePr>
          <p:cNvPr id="2050" name="Object 10"/>
          <p:cNvGraphicFramePr>
            <a:graphicFrameLocks noChangeAspect="1"/>
          </p:cNvGraphicFramePr>
          <p:nvPr/>
        </p:nvGraphicFramePr>
        <p:xfrm>
          <a:off x="914400" y="3581400"/>
          <a:ext cx="7391400" cy="2706688"/>
        </p:xfrm>
        <a:graphic>
          <a:graphicData uri="http://schemas.openxmlformats.org/presentationml/2006/ole">
            <mc:AlternateContent xmlns:mc="http://schemas.openxmlformats.org/markup-compatibility/2006">
              <mc:Choice xmlns:v="urn:schemas-microsoft-com:vml" Requires="v">
                <p:oleObj spid="_x0000_s3075" name="位图图像" r:id="rId3" imgW="4915586" imgH="1800476" progId="PBrush">
                  <p:embed/>
                </p:oleObj>
              </mc:Choice>
              <mc:Fallback>
                <p:oleObj name="位图图像" r:id="rId3" imgW="4915586" imgH="1800476" progId="PBrush">
                  <p:embed/>
                  <p:pic>
                    <p:nvPicPr>
                      <p:cNvPr id="0"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4400" y="3581400"/>
                        <a:ext cx="7391400" cy="2706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 name="标题 7"/>
          <p:cNvSpPr>
            <a:spLocks noGrp="1"/>
          </p:cNvSpPr>
          <p:nvPr>
            <p:ph type="title"/>
          </p:nvPr>
        </p:nvSpPr>
        <p:spPr/>
        <p:txBody>
          <a:bodyPr/>
          <a:lstStyle/>
          <a:p>
            <a:r>
              <a:rPr lang="zh-CN" altLang="en-US" dirty="0"/>
              <a:t>包的使用</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01" name="Rectangle 4"/>
          <p:cNvSpPr>
            <a:spLocks noChangeArrowheads="1"/>
          </p:cNvSpPr>
          <p:nvPr/>
        </p:nvSpPr>
        <p:spPr bwMode="auto">
          <a:xfrm>
            <a:off x="0" y="1905000"/>
            <a:ext cx="9144000" cy="0"/>
          </a:xfrm>
          <a:prstGeom prst="rect">
            <a:avLst/>
          </a:prstGeom>
          <a:noFill/>
          <a:ln w="9525">
            <a:noFill/>
            <a:miter lim="800000"/>
            <a:headEnd/>
            <a:tailEnd/>
          </a:ln>
        </p:spPr>
        <p:txBody>
          <a:bodyPr>
            <a:spAutoFit/>
          </a:bodyPr>
          <a:lstStyle/>
          <a:p>
            <a:endParaRPr lang="zh-CN" altLang="en-US"/>
          </a:p>
        </p:txBody>
      </p:sp>
      <p:sp>
        <p:nvSpPr>
          <p:cNvPr id="55302" name="Rectangle 5"/>
          <p:cNvSpPr>
            <a:spLocks noGrp="1" noChangeArrowheads="1"/>
          </p:cNvSpPr>
          <p:nvPr>
            <p:ph type="body" idx="1"/>
          </p:nvPr>
        </p:nvSpPr>
        <p:spPr>
          <a:xfrm>
            <a:off x="539552" y="1484784"/>
            <a:ext cx="7958138" cy="3881438"/>
          </a:xfrm>
        </p:spPr>
        <p:txBody>
          <a:bodyPr/>
          <a:lstStyle/>
          <a:p>
            <a:pPr marL="609600" indent="-609600" eaLnBrk="1" hangingPunct="1">
              <a:buFont typeface="Wingdings" pitchFamily="2" charset="2"/>
              <a:buNone/>
            </a:pPr>
            <a:r>
              <a:rPr lang="en-US" altLang="zh-CN" sz="2800" b="1" dirty="0">
                <a:solidFill>
                  <a:srgbClr val="000000"/>
                </a:solidFill>
              </a:rPr>
              <a:t>3. </a:t>
            </a:r>
            <a:r>
              <a:rPr lang="zh-CN" altLang="en-US" sz="2800" b="1" dirty="0">
                <a:solidFill>
                  <a:srgbClr val="000000"/>
                </a:solidFill>
              </a:rPr>
              <a:t>源文件和类文件的管理 </a:t>
            </a:r>
          </a:p>
          <a:p>
            <a:pPr marL="609600" indent="-609600" eaLnBrk="1" hangingPunct="1">
              <a:buFont typeface="Wingdings" pitchFamily="2" charset="2"/>
              <a:buNone/>
            </a:pPr>
            <a:r>
              <a:rPr lang="zh-CN" altLang="en-US" sz="2800" dirty="0">
                <a:solidFill>
                  <a:srgbClr val="000000"/>
                </a:solidFill>
              </a:rPr>
              <a:t>	</a:t>
            </a:r>
            <a:r>
              <a:rPr lang="zh-CN" altLang="en-US" sz="2400" dirty="0">
                <a:solidFill>
                  <a:srgbClr val="000000"/>
                </a:solidFill>
              </a:rPr>
              <a:t>虽然类文件所在的目录序列必须与包名对应，但不一定与源文件在相同的目录中。</a:t>
            </a:r>
            <a:endParaRPr lang="zh-CN" altLang="en-US" sz="2400" dirty="0">
              <a:solidFill>
                <a:schemeClr val="folHlink"/>
              </a:solidFill>
            </a:endParaRPr>
          </a:p>
          <a:p>
            <a:pPr marL="609600" indent="-609600" eaLnBrk="1" hangingPunct="1">
              <a:buFont typeface="Wingdings" pitchFamily="2" charset="2"/>
              <a:buNone/>
            </a:pPr>
            <a:endParaRPr lang="zh-CN" altLang="en-US" sz="2400" dirty="0">
              <a:solidFill>
                <a:schemeClr val="folHlink"/>
              </a:solidFill>
              <a:latin typeface="宋体" pitchFamily="2" charset="-122"/>
            </a:endParaRPr>
          </a:p>
          <a:p>
            <a:pPr marL="609600" indent="-609600" algn="ctr" eaLnBrk="1" hangingPunct="1">
              <a:buFont typeface="Wingdings" pitchFamily="2" charset="2"/>
              <a:buNone/>
            </a:pPr>
            <a:r>
              <a:rPr lang="zh-CN" altLang="en-US" sz="2800" b="1" dirty="0">
                <a:solidFill>
                  <a:srgbClr val="000000"/>
                </a:solidFill>
              </a:rPr>
              <a:t> </a:t>
            </a:r>
            <a:endParaRPr lang="zh-CN" altLang="en-US" sz="2800" b="1" dirty="0">
              <a:solidFill>
                <a:schemeClr val="folHlink"/>
              </a:solidFill>
            </a:endParaRPr>
          </a:p>
          <a:p>
            <a:pPr marL="609600" indent="-609600" algn="ctr" eaLnBrk="1" hangingPunct="1">
              <a:buFont typeface="Wingdings" pitchFamily="2" charset="2"/>
              <a:buNone/>
            </a:pPr>
            <a:endParaRPr lang="zh-CN" altLang="en-US" sz="2800" dirty="0">
              <a:solidFill>
                <a:schemeClr val="folHlink"/>
              </a:solidFill>
            </a:endParaRPr>
          </a:p>
          <a:p>
            <a:pPr marL="609600" indent="-609600" eaLnBrk="1" hangingPunct="1">
              <a:buFont typeface="Wingdings" pitchFamily="2" charset="2"/>
              <a:buNone/>
            </a:pPr>
            <a:endParaRPr lang="en-US" altLang="zh-CN" sz="2800" b="1" dirty="0">
              <a:solidFill>
                <a:schemeClr val="folHlink"/>
              </a:solidFill>
            </a:endParaRPr>
          </a:p>
        </p:txBody>
      </p:sp>
      <p:pic>
        <p:nvPicPr>
          <p:cNvPr id="55303" name="Picture 9" descr="28classes"/>
          <p:cNvPicPr>
            <a:picLocks noChangeAspect="1" noChangeArrowheads="1"/>
          </p:cNvPicPr>
          <p:nvPr/>
        </p:nvPicPr>
        <p:blipFill>
          <a:blip r:embed="rId2" cstate="print"/>
          <a:srcRect/>
          <a:stretch>
            <a:fillRect/>
          </a:stretch>
        </p:blipFill>
        <p:spPr bwMode="auto">
          <a:xfrm>
            <a:off x="1551384" y="3068960"/>
            <a:ext cx="5105400" cy="2909888"/>
          </a:xfrm>
          <a:prstGeom prst="rect">
            <a:avLst/>
          </a:prstGeom>
          <a:noFill/>
          <a:ln w="9525">
            <a:noFill/>
            <a:miter lim="800000"/>
            <a:headEnd/>
            <a:tailEnd/>
          </a:ln>
        </p:spPr>
      </p:pic>
      <p:sp>
        <p:nvSpPr>
          <p:cNvPr id="55304" name="Text Box 10"/>
          <p:cNvSpPr txBox="1">
            <a:spLocks noChangeArrowheads="1"/>
          </p:cNvSpPr>
          <p:nvPr/>
        </p:nvSpPr>
        <p:spPr bwMode="auto">
          <a:xfrm>
            <a:off x="1856184" y="5964560"/>
            <a:ext cx="6172200" cy="457200"/>
          </a:xfrm>
          <a:prstGeom prst="rect">
            <a:avLst/>
          </a:prstGeom>
          <a:noFill/>
          <a:ln w="9525">
            <a:noFill/>
            <a:miter lim="800000"/>
            <a:headEnd/>
            <a:tailEnd/>
          </a:ln>
        </p:spPr>
        <p:txBody>
          <a:bodyPr>
            <a:spAutoFit/>
          </a:bodyPr>
          <a:lstStyle/>
          <a:p>
            <a:pPr>
              <a:spcBef>
                <a:spcPct val="50000"/>
              </a:spcBef>
            </a:pPr>
            <a:r>
              <a:rPr lang="en-US" altLang="zh-CN"/>
              <a:t>javac –d d:\classes  Rectangle.java</a:t>
            </a:r>
          </a:p>
        </p:txBody>
      </p:sp>
      <p:sp>
        <p:nvSpPr>
          <p:cNvPr id="9" name="标题 8"/>
          <p:cNvSpPr>
            <a:spLocks noGrp="1"/>
          </p:cNvSpPr>
          <p:nvPr>
            <p:ph type="title"/>
          </p:nvPr>
        </p:nvSpPr>
        <p:spPr/>
        <p:txBody>
          <a:bodyPr/>
          <a:lstStyle/>
          <a:p>
            <a:r>
              <a:rPr lang="zh-CN" altLang="en-US" dirty="0"/>
              <a:t>包的使用</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5" name="Rectangle 4"/>
          <p:cNvSpPr>
            <a:spLocks noChangeArrowheads="1"/>
          </p:cNvSpPr>
          <p:nvPr/>
        </p:nvSpPr>
        <p:spPr bwMode="auto">
          <a:xfrm>
            <a:off x="0" y="1905000"/>
            <a:ext cx="9144000" cy="0"/>
          </a:xfrm>
          <a:prstGeom prst="rect">
            <a:avLst/>
          </a:prstGeom>
          <a:noFill/>
          <a:ln w="9525">
            <a:noFill/>
            <a:miter lim="800000"/>
            <a:headEnd/>
            <a:tailEnd/>
          </a:ln>
        </p:spPr>
        <p:txBody>
          <a:bodyPr>
            <a:spAutoFit/>
          </a:bodyPr>
          <a:lstStyle/>
          <a:p>
            <a:endParaRPr lang="zh-CN" altLang="en-US"/>
          </a:p>
        </p:txBody>
      </p:sp>
      <p:sp>
        <p:nvSpPr>
          <p:cNvPr id="56326" name="Rectangle 5"/>
          <p:cNvSpPr>
            <a:spLocks noGrp="1" noChangeArrowheads="1"/>
          </p:cNvSpPr>
          <p:nvPr>
            <p:ph type="body" idx="1"/>
          </p:nvPr>
        </p:nvSpPr>
        <p:spPr>
          <a:xfrm>
            <a:off x="683568" y="1556792"/>
            <a:ext cx="7958138" cy="3881438"/>
          </a:xfrm>
        </p:spPr>
        <p:txBody>
          <a:bodyPr/>
          <a:lstStyle/>
          <a:p>
            <a:pPr marL="609600" indent="-609600" eaLnBrk="1" hangingPunct="1">
              <a:buFont typeface="Wingdings" pitchFamily="2" charset="2"/>
              <a:buNone/>
            </a:pPr>
            <a:r>
              <a:rPr lang="en-US" altLang="zh-CN" sz="2400" b="1" dirty="0">
                <a:solidFill>
                  <a:srgbClr val="000000"/>
                </a:solidFill>
              </a:rPr>
              <a:t>3. </a:t>
            </a:r>
            <a:r>
              <a:rPr lang="zh-CN" altLang="en-US" sz="2400" b="1" dirty="0">
                <a:solidFill>
                  <a:srgbClr val="000000"/>
                </a:solidFill>
              </a:rPr>
              <a:t>源文件和类文件的管理 </a:t>
            </a:r>
          </a:p>
          <a:p>
            <a:pPr marL="609600" indent="-609600" eaLnBrk="1" hangingPunct="1">
              <a:buFont typeface="Wingdings" pitchFamily="2" charset="2"/>
              <a:buNone/>
            </a:pPr>
            <a:r>
              <a:rPr lang="zh-CN" altLang="en-US" sz="2400" b="1" dirty="0"/>
              <a:t>说明：	</a:t>
            </a:r>
          </a:p>
          <a:p>
            <a:pPr marL="609600" indent="-609600" eaLnBrk="1" hangingPunct="1"/>
            <a:r>
              <a:rPr lang="zh-CN" altLang="en-US" sz="2400" dirty="0"/>
              <a:t>包对应于文件系统的目录管理方式可以帮助编译器和解释器找到程序中的类和接口存放的地方。</a:t>
            </a:r>
          </a:p>
          <a:p>
            <a:pPr marL="609600" indent="-609600" eaLnBrk="1" hangingPunct="1">
              <a:buFont typeface="Wingdings" pitchFamily="2" charset="2"/>
              <a:buNone/>
            </a:pPr>
            <a:endParaRPr lang="zh-CN" altLang="en-US" sz="2400" dirty="0">
              <a:latin typeface="宋体" pitchFamily="2" charset="-122"/>
            </a:endParaRPr>
          </a:p>
          <a:p>
            <a:pPr marL="609600" indent="-609600" eaLnBrk="1" hangingPunct="1"/>
            <a:r>
              <a:rPr lang="en-US" altLang="zh-CN" sz="2400" dirty="0">
                <a:cs typeface="Times New Roman" pitchFamily="18" charset="0"/>
              </a:rPr>
              <a:t>CLASSPATH</a:t>
            </a:r>
            <a:r>
              <a:rPr lang="zh-CN" altLang="en-US" sz="2400" dirty="0"/>
              <a:t>指出用户的</a:t>
            </a:r>
            <a:r>
              <a:rPr lang="zh-CN" altLang="en-US" sz="2400" dirty="0">
                <a:latin typeface="宋体" pitchFamily="2" charset="-122"/>
              </a:rPr>
              <a:t>类库所在目录</a:t>
            </a:r>
            <a:r>
              <a:rPr lang="en-US" altLang="zh-CN" sz="2400" dirty="0">
                <a:latin typeface="宋体" pitchFamily="2" charset="-122"/>
              </a:rPr>
              <a:t>,</a:t>
            </a:r>
            <a:r>
              <a:rPr lang="zh-CN" altLang="en-US" sz="2400" dirty="0">
                <a:latin typeface="宋体" pitchFamily="2" charset="-122"/>
              </a:rPr>
              <a:t>在类路径</a:t>
            </a:r>
            <a:r>
              <a:rPr lang="en-US" altLang="zh-CN" sz="2400" dirty="0">
                <a:latin typeface="宋体" pitchFamily="2" charset="-122"/>
              </a:rPr>
              <a:t>(</a:t>
            </a:r>
            <a:r>
              <a:rPr lang="en-US" altLang="zh-CN" sz="2400" dirty="0">
                <a:cs typeface="Times New Roman" pitchFamily="18" charset="0"/>
              </a:rPr>
              <a:t>CLASSPATH</a:t>
            </a:r>
            <a:r>
              <a:rPr lang="en-US" altLang="zh-CN" sz="2400" dirty="0">
                <a:latin typeface="宋体" pitchFamily="2" charset="-122"/>
              </a:rPr>
              <a:t>)</a:t>
            </a:r>
            <a:r>
              <a:rPr lang="zh-CN" altLang="en-US" sz="2400" dirty="0">
                <a:latin typeface="宋体" pitchFamily="2" charset="-122"/>
              </a:rPr>
              <a:t>中只需指出包路径之上的顶层路径</a:t>
            </a:r>
          </a:p>
          <a:p>
            <a:pPr marL="609600" indent="-609600" eaLnBrk="1" hangingPunct="1">
              <a:buFont typeface="Wingdings" pitchFamily="2" charset="2"/>
              <a:buNone/>
            </a:pPr>
            <a:r>
              <a:rPr lang="zh-CN" altLang="en-US" sz="2400" dirty="0">
                <a:cs typeface="Times New Roman" pitchFamily="18" charset="0"/>
              </a:rPr>
              <a:t>	</a:t>
            </a:r>
            <a:r>
              <a:rPr lang="en-US" altLang="zh-CN" sz="2400" dirty="0">
                <a:cs typeface="Times New Roman" pitchFamily="18" charset="0"/>
              </a:rPr>
              <a:t>CLASSPATH= . ; d</a:t>
            </a:r>
            <a:r>
              <a:rPr lang="en-US" altLang="zh-CN" sz="2400" dirty="0"/>
              <a:t>:\classes</a:t>
            </a:r>
            <a:endParaRPr lang="en-US" altLang="zh-CN" sz="2400" dirty="0">
              <a:latin typeface="宋体" pitchFamily="2" charset="-122"/>
            </a:endParaRPr>
          </a:p>
          <a:p>
            <a:pPr marL="609600" indent="-609600" algn="ctr" eaLnBrk="1" hangingPunct="1">
              <a:buFont typeface="Wingdings" pitchFamily="2" charset="2"/>
              <a:buNone/>
            </a:pPr>
            <a:r>
              <a:rPr lang="en-US" altLang="zh-CN" sz="2400" b="1" dirty="0">
                <a:solidFill>
                  <a:srgbClr val="000000"/>
                </a:solidFill>
              </a:rPr>
              <a:t> </a:t>
            </a:r>
            <a:endParaRPr lang="en-US" altLang="zh-CN" sz="2400" b="1" dirty="0">
              <a:solidFill>
                <a:schemeClr val="folHlink"/>
              </a:solidFill>
            </a:endParaRPr>
          </a:p>
          <a:p>
            <a:pPr marL="609600" indent="-609600" algn="ctr" eaLnBrk="1" hangingPunct="1">
              <a:buFont typeface="Wingdings" pitchFamily="2" charset="2"/>
              <a:buNone/>
            </a:pPr>
            <a:endParaRPr lang="en-US" altLang="zh-CN" sz="2400" dirty="0">
              <a:solidFill>
                <a:schemeClr val="folHlink"/>
              </a:solidFill>
            </a:endParaRPr>
          </a:p>
          <a:p>
            <a:pPr marL="609600" indent="-609600" eaLnBrk="1" hangingPunct="1">
              <a:buFont typeface="Wingdings" pitchFamily="2" charset="2"/>
              <a:buNone/>
            </a:pPr>
            <a:endParaRPr lang="en-US" altLang="zh-CN" sz="2400" b="1" dirty="0">
              <a:solidFill>
                <a:schemeClr val="folHlink"/>
              </a:solidFill>
            </a:endParaRPr>
          </a:p>
        </p:txBody>
      </p:sp>
      <p:sp>
        <p:nvSpPr>
          <p:cNvPr id="7" name="标题 6"/>
          <p:cNvSpPr>
            <a:spLocks noGrp="1"/>
          </p:cNvSpPr>
          <p:nvPr>
            <p:ph type="title"/>
          </p:nvPr>
        </p:nvSpPr>
        <p:spPr/>
        <p:txBody>
          <a:bodyPr/>
          <a:lstStyle/>
          <a:p>
            <a:r>
              <a:rPr lang="zh-CN" altLang="en-US" dirty="0"/>
              <a:t>包的使用</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9" name="Rectangle 4"/>
          <p:cNvSpPr>
            <a:spLocks noChangeArrowheads="1"/>
          </p:cNvSpPr>
          <p:nvPr/>
        </p:nvSpPr>
        <p:spPr bwMode="auto">
          <a:xfrm>
            <a:off x="0" y="1905000"/>
            <a:ext cx="9144000" cy="0"/>
          </a:xfrm>
          <a:prstGeom prst="rect">
            <a:avLst/>
          </a:prstGeom>
          <a:noFill/>
          <a:ln w="9525">
            <a:noFill/>
            <a:miter lim="800000"/>
            <a:headEnd/>
            <a:tailEnd/>
          </a:ln>
        </p:spPr>
        <p:txBody>
          <a:bodyPr>
            <a:spAutoFit/>
          </a:bodyPr>
          <a:lstStyle/>
          <a:p>
            <a:endParaRPr lang="zh-CN" altLang="en-US"/>
          </a:p>
        </p:txBody>
      </p:sp>
      <p:sp>
        <p:nvSpPr>
          <p:cNvPr id="57350" name="Rectangle 5"/>
          <p:cNvSpPr>
            <a:spLocks noGrp="1" noChangeArrowheads="1"/>
          </p:cNvSpPr>
          <p:nvPr>
            <p:ph type="body" idx="1"/>
          </p:nvPr>
        </p:nvSpPr>
        <p:spPr>
          <a:xfrm>
            <a:off x="304800" y="1700808"/>
            <a:ext cx="9144000" cy="3881438"/>
          </a:xfrm>
        </p:spPr>
        <p:txBody>
          <a:bodyPr/>
          <a:lstStyle/>
          <a:p>
            <a:pPr marL="609600" indent="-609600" eaLnBrk="1" hangingPunct="1">
              <a:lnSpc>
                <a:spcPct val="90000"/>
              </a:lnSpc>
              <a:buFont typeface="Wingdings" pitchFamily="2" charset="2"/>
              <a:buNone/>
            </a:pPr>
            <a:r>
              <a:rPr lang="en-US" altLang="zh-CN" sz="2800" b="1" dirty="0">
                <a:solidFill>
                  <a:srgbClr val="000000"/>
                </a:solidFill>
              </a:rPr>
              <a:t>3. </a:t>
            </a:r>
            <a:r>
              <a:rPr lang="zh-CN" altLang="en-US" sz="2800" b="1" dirty="0">
                <a:solidFill>
                  <a:srgbClr val="000000"/>
                </a:solidFill>
              </a:rPr>
              <a:t>源文件和类文件的管理 </a:t>
            </a:r>
          </a:p>
          <a:p>
            <a:pPr marL="609600" indent="-609600" eaLnBrk="1" hangingPunct="1">
              <a:lnSpc>
                <a:spcPct val="90000"/>
              </a:lnSpc>
              <a:buFont typeface="Wingdings" pitchFamily="2" charset="2"/>
              <a:buNone/>
            </a:pPr>
            <a:r>
              <a:rPr lang="zh-CN" altLang="en-US" sz="2800" b="1" dirty="0">
                <a:solidFill>
                  <a:srgbClr val="000000"/>
                </a:solidFill>
              </a:rPr>
              <a:t>设置类路径的方法</a:t>
            </a:r>
            <a:endParaRPr lang="zh-CN" altLang="en-US" sz="2800" b="1" dirty="0"/>
          </a:p>
          <a:p>
            <a:pPr marL="609600" indent="-609600" eaLnBrk="1" hangingPunct="1">
              <a:lnSpc>
                <a:spcPct val="90000"/>
              </a:lnSpc>
            </a:pPr>
            <a:r>
              <a:rPr lang="zh-CN" altLang="en-US" sz="2400" dirty="0">
                <a:solidFill>
                  <a:srgbClr val="000000"/>
                </a:solidFill>
                <a:latin typeface="宋体" pitchFamily="2" charset="-122"/>
              </a:rPr>
              <a:t>设置环境变量</a:t>
            </a:r>
            <a:r>
              <a:rPr lang="en-US" altLang="zh-CN" sz="2400" dirty="0">
                <a:solidFill>
                  <a:srgbClr val="000000"/>
                </a:solidFill>
                <a:latin typeface="宋体" pitchFamily="2" charset="-122"/>
              </a:rPr>
              <a:t>CLASSPATH</a:t>
            </a:r>
            <a:r>
              <a:rPr lang="zh-CN" altLang="en-US" sz="2400" dirty="0">
                <a:solidFill>
                  <a:srgbClr val="000000"/>
                </a:solidFill>
                <a:latin typeface="宋体" pitchFamily="2" charset="-122"/>
              </a:rPr>
              <a:t>（不推荐）</a:t>
            </a:r>
            <a:r>
              <a:rPr lang="zh-CN" altLang="en-US" sz="2400" dirty="0">
                <a:latin typeface="宋体" pitchFamily="2" charset="-122"/>
              </a:rPr>
              <a:t> </a:t>
            </a:r>
          </a:p>
          <a:p>
            <a:pPr marL="609600" indent="-609600" eaLnBrk="1" hangingPunct="1">
              <a:lnSpc>
                <a:spcPct val="90000"/>
              </a:lnSpc>
              <a:buFont typeface="Wingdings" pitchFamily="2" charset="2"/>
              <a:buNone/>
            </a:pPr>
            <a:r>
              <a:rPr lang="en-US" altLang="zh-CN" sz="2400" dirty="0">
                <a:latin typeface="宋体" pitchFamily="2" charset="-122"/>
              </a:rPr>
              <a:t>set classpath=.;d:\classes</a:t>
            </a:r>
          </a:p>
          <a:p>
            <a:pPr marL="609600" indent="-609600" eaLnBrk="1" hangingPunct="1">
              <a:lnSpc>
                <a:spcPct val="90000"/>
              </a:lnSpc>
              <a:buFont typeface="Wingdings" pitchFamily="2" charset="2"/>
              <a:buNone/>
            </a:pPr>
            <a:r>
              <a:rPr lang="zh-CN" altLang="en-US" sz="2400" dirty="0">
                <a:solidFill>
                  <a:srgbClr val="000000"/>
                </a:solidFill>
                <a:latin typeface="宋体" pitchFamily="2" charset="-122"/>
              </a:rPr>
              <a:t>在调用编译器或解释器时使用</a:t>
            </a:r>
            <a:r>
              <a:rPr lang="en-US" altLang="zh-CN" sz="2400" dirty="0">
                <a:solidFill>
                  <a:srgbClr val="000000"/>
                </a:solidFill>
                <a:latin typeface="宋体" pitchFamily="2" charset="-122"/>
              </a:rPr>
              <a:t>-classpath</a:t>
            </a:r>
            <a:r>
              <a:rPr lang="zh-CN" altLang="en-US" sz="2400" dirty="0">
                <a:solidFill>
                  <a:srgbClr val="000000"/>
                </a:solidFill>
                <a:latin typeface="宋体" pitchFamily="2" charset="-122"/>
              </a:rPr>
              <a:t>选项</a:t>
            </a:r>
            <a:r>
              <a:rPr lang="zh-CN" altLang="en-US" sz="2400" dirty="0">
                <a:latin typeface="宋体" pitchFamily="2" charset="-122"/>
              </a:rPr>
              <a:t> </a:t>
            </a:r>
          </a:p>
          <a:p>
            <a:pPr marL="609600" indent="-609600" eaLnBrk="1" hangingPunct="1">
              <a:lnSpc>
                <a:spcPct val="90000"/>
              </a:lnSpc>
              <a:buFont typeface="Wingdings" pitchFamily="2" charset="2"/>
              <a:buNone/>
            </a:pPr>
            <a:r>
              <a:rPr lang="zh-CN" altLang="en-US" sz="2400" dirty="0">
                <a:solidFill>
                  <a:srgbClr val="000000"/>
                </a:solidFill>
                <a:latin typeface="宋体" pitchFamily="2" charset="-122"/>
              </a:rPr>
              <a:t>例 </a:t>
            </a:r>
          </a:p>
          <a:p>
            <a:pPr marL="609600" indent="-609600" eaLnBrk="1" hangingPunct="1">
              <a:lnSpc>
                <a:spcPct val="90000"/>
              </a:lnSpc>
              <a:buFont typeface="Wingdings" pitchFamily="2" charset="2"/>
              <a:buNone/>
            </a:pPr>
            <a:r>
              <a:rPr lang="en-US" altLang="zh-CN" sz="2400" dirty="0">
                <a:solidFill>
                  <a:srgbClr val="000000"/>
                </a:solidFill>
                <a:latin typeface="宋体" pitchFamily="2" charset="-122"/>
              </a:rPr>
              <a:t>java -classpath d:\classes com.taranis.grathpics.Test </a:t>
            </a:r>
            <a:endParaRPr lang="en-US" altLang="zh-CN" sz="2400" dirty="0">
              <a:latin typeface="宋体" pitchFamily="2" charset="-122"/>
            </a:endParaRPr>
          </a:p>
          <a:p>
            <a:pPr marL="609600" indent="-609600" eaLnBrk="1" hangingPunct="1">
              <a:lnSpc>
                <a:spcPct val="90000"/>
              </a:lnSpc>
              <a:buFont typeface="Wingdings" pitchFamily="2" charset="2"/>
              <a:buNone/>
            </a:pPr>
            <a:r>
              <a:rPr lang="en-US" altLang="zh-CN" sz="2400" b="1" dirty="0">
                <a:solidFill>
                  <a:srgbClr val="000000"/>
                </a:solidFill>
              </a:rPr>
              <a:t> </a:t>
            </a:r>
            <a:endParaRPr lang="en-US" altLang="zh-CN" sz="2800" b="1" dirty="0">
              <a:solidFill>
                <a:schemeClr val="folHlink"/>
              </a:solidFill>
            </a:endParaRPr>
          </a:p>
        </p:txBody>
      </p:sp>
      <p:sp>
        <p:nvSpPr>
          <p:cNvPr id="7" name="标题 6"/>
          <p:cNvSpPr>
            <a:spLocks noGrp="1"/>
          </p:cNvSpPr>
          <p:nvPr>
            <p:ph type="title"/>
          </p:nvPr>
        </p:nvSpPr>
        <p:spPr/>
        <p:txBody>
          <a:bodyPr/>
          <a:lstStyle/>
          <a:p>
            <a:r>
              <a:rPr lang="zh-CN" altLang="en-US" dirty="0"/>
              <a:t>包的使用</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2" name="Rectangle 3"/>
          <p:cNvSpPr>
            <a:spLocks noGrp="1" noChangeArrowheads="1"/>
          </p:cNvSpPr>
          <p:nvPr>
            <p:ph type="body" idx="1"/>
          </p:nvPr>
        </p:nvSpPr>
        <p:spPr>
          <a:xfrm>
            <a:off x="457200" y="1484784"/>
            <a:ext cx="8229600" cy="1828800"/>
          </a:xfrm>
        </p:spPr>
        <p:txBody>
          <a:bodyPr/>
          <a:lstStyle/>
          <a:p>
            <a:pPr marL="609600" indent="-609600" eaLnBrk="1" hangingPunct="1">
              <a:buFont typeface="Wingdings" pitchFamily="2" charset="2"/>
              <a:buNone/>
            </a:pPr>
            <a:r>
              <a:rPr lang="zh-CN" altLang="en-US" sz="2400" dirty="0">
                <a:solidFill>
                  <a:srgbClr val="000000"/>
                </a:solidFill>
              </a:rPr>
              <a:t>在</a:t>
            </a:r>
            <a:r>
              <a:rPr lang="en-US" altLang="zh-CN" sz="2400" dirty="0">
                <a:solidFill>
                  <a:srgbClr val="000000"/>
                </a:solidFill>
              </a:rPr>
              <a:t>java</a:t>
            </a:r>
            <a:r>
              <a:rPr lang="zh-CN" altLang="en-US" sz="2400" dirty="0">
                <a:solidFill>
                  <a:srgbClr val="000000"/>
                </a:solidFill>
              </a:rPr>
              <a:t>语言中对类的成员有四种级别的访问控制：</a:t>
            </a:r>
            <a:r>
              <a:rPr lang="en-US" altLang="zh-CN" sz="2400" dirty="0">
                <a:solidFill>
                  <a:srgbClr val="000000"/>
                </a:solidFill>
              </a:rPr>
              <a:t>private, protected, public, package. </a:t>
            </a:r>
            <a:r>
              <a:rPr lang="zh-CN" altLang="en-US" sz="2400" dirty="0">
                <a:solidFill>
                  <a:srgbClr val="000000"/>
                </a:solidFill>
              </a:rPr>
              <a:t>如定义类时未指定访问控制说明符，则其访问控制级别为</a:t>
            </a:r>
            <a:r>
              <a:rPr lang="en-US" altLang="zh-CN" sz="2400" dirty="0">
                <a:solidFill>
                  <a:srgbClr val="000000"/>
                </a:solidFill>
              </a:rPr>
              <a:t>package</a:t>
            </a:r>
            <a:r>
              <a:rPr lang="zh-CN" altLang="en-US" sz="2400" dirty="0">
                <a:solidFill>
                  <a:srgbClr val="000000"/>
                </a:solidFill>
              </a:rPr>
              <a:t>，也称</a:t>
            </a:r>
            <a:r>
              <a:rPr lang="en-US" altLang="zh-CN" sz="2400" dirty="0">
                <a:solidFill>
                  <a:srgbClr val="000000"/>
                </a:solidFill>
              </a:rPr>
              <a:t>default</a:t>
            </a:r>
            <a:r>
              <a:rPr lang="zh-CN" altLang="en-US" sz="2400" dirty="0">
                <a:solidFill>
                  <a:srgbClr val="000000"/>
                </a:solidFill>
              </a:rPr>
              <a:t>。</a:t>
            </a:r>
          </a:p>
          <a:p>
            <a:pPr marL="609600" indent="-609600" eaLnBrk="1" hangingPunct="1">
              <a:buFont typeface="Wingdings" pitchFamily="2" charset="2"/>
              <a:buNone/>
            </a:pPr>
            <a:endParaRPr lang="zh-CN" altLang="en-US" sz="2400" dirty="0">
              <a:solidFill>
                <a:srgbClr val="000000"/>
              </a:solidFill>
            </a:endParaRPr>
          </a:p>
          <a:p>
            <a:pPr marL="609600" indent="-609600" eaLnBrk="1" hangingPunct="1">
              <a:buFont typeface="Wingdings" pitchFamily="2" charset="2"/>
              <a:buNone/>
            </a:pPr>
            <a:endParaRPr lang="en-US" altLang="zh-CN" sz="2400" dirty="0">
              <a:solidFill>
                <a:srgbClr val="000000"/>
              </a:solidFill>
            </a:endParaRPr>
          </a:p>
        </p:txBody>
      </p:sp>
      <p:sp>
        <p:nvSpPr>
          <p:cNvPr id="58374" name="Rectangle 5"/>
          <p:cNvSpPr>
            <a:spLocks noChangeArrowheads="1"/>
          </p:cNvSpPr>
          <p:nvPr/>
        </p:nvSpPr>
        <p:spPr bwMode="auto">
          <a:xfrm>
            <a:off x="0" y="1556792"/>
            <a:ext cx="9144000" cy="0"/>
          </a:xfrm>
          <a:prstGeom prst="rect">
            <a:avLst/>
          </a:prstGeom>
          <a:noFill/>
          <a:ln w="9525">
            <a:noFill/>
            <a:miter lim="800000"/>
            <a:headEnd/>
            <a:tailEnd/>
          </a:ln>
        </p:spPr>
        <p:txBody>
          <a:bodyPr>
            <a:spAutoFit/>
          </a:bodyPr>
          <a:lstStyle/>
          <a:p>
            <a:endParaRPr lang="zh-CN" altLang="en-US"/>
          </a:p>
        </p:txBody>
      </p:sp>
      <p:sp>
        <p:nvSpPr>
          <p:cNvPr id="82" name="标题 81"/>
          <p:cNvSpPr>
            <a:spLocks noGrp="1"/>
          </p:cNvSpPr>
          <p:nvPr>
            <p:ph type="title"/>
          </p:nvPr>
        </p:nvSpPr>
        <p:spPr/>
        <p:txBody>
          <a:bodyPr/>
          <a:lstStyle/>
          <a:p>
            <a:r>
              <a:rPr lang="zh-CN" altLang="en-US" b="1" dirty="0"/>
              <a:t>类成员的访问控制</a:t>
            </a:r>
            <a:endParaRPr lang="zh-CN" altLang="en-US" dirty="0"/>
          </a:p>
        </p:txBody>
      </p:sp>
      <p:graphicFrame>
        <p:nvGraphicFramePr>
          <p:cNvPr id="80" name="Group 54"/>
          <p:cNvGraphicFramePr>
            <a:graphicFrameLocks noGrp="1"/>
          </p:cNvGraphicFramePr>
          <p:nvPr/>
        </p:nvGraphicFramePr>
        <p:xfrm>
          <a:off x="683568" y="2643336"/>
          <a:ext cx="8001000" cy="3810000"/>
        </p:xfrm>
        <a:graphic>
          <a:graphicData uri="http://schemas.openxmlformats.org/drawingml/2006/table">
            <a:tbl>
              <a:tblPr/>
              <a:tblGrid>
                <a:gridCol w="1900238">
                  <a:extLst>
                    <a:ext uri="{9D8B030D-6E8A-4147-A177-3AD203B41FA5}">
                      <a16:colId xmlns:a16="http://schemas.microsoft.com/office/drawing/2014/main" val="20000"/>
                    </a:ext>
                  </a:extLst>
                </a:gridCol>
                <a:gridCol w="6100762">
                  <a:extLst>
                    <a:ext uri="{9D8B030D-6E8A-4147-A177-3AD203B41FA5}">
                      <a16:colId xmlns:a16="http://schemas.microsoft.com/office/drawing/2014/main" val="20001"/>
                    </a:ext>
                  </a:extLst>
                </a:gridCol>
              </a:tblGrid>
              <a:tr h="396240">
                <a:tc>
                  <a:txBody>
                    <a:bodyPr/>
                    <a:lstStyle/>
                    <a:p>
                      <a:pPr marL="0" marR="0" lvl="0" indent="0" algn="l" defTabSz="914400" rtl="0" eaLnBrk="1" fontAlgn="base" latinLnBrk="0" hangingPunct="1">
                        <a:lnSpc>
                          <a:spcPct val="100000"/>
                        </a:lnSpc>
                        <a:spcBef>
                          <a:spcPct val="60000"/>
                        </a:spcBef>
                        <a:spcAft>
                          <a:spcPct val="0"/>
                        </a:spcAft>
                        <a:buClr>
                          <a:schemeClr val="tx1"/>
                        </a:buClr>
                        <a:buSzTx/>
                        <a:buFontTx/>
                        <a:buNone/>
                        <a:tabLst/>
                      </a:pPr>
                      <a:r>
                        <a:rPr kumimoji="0" lang="en-US" altLang="zh-CN" sz="2000" b="0" i="0" u="none" strike="noStrike" cap="none" normalizeH="0" baseline="0" dirty="0">
                          <a:ln>
                            <a:noFill/>
                          </a:ln>
                          <a:solidFill>
                            <a:schemeClr val="accent2"/>
                          </a:solidFill>
                          <a:effectLst/>
                          <a:latin typeface="Arial" charset="0"/>
                          <a:ea typeface="宋体" charset="-122"/>
                        </a:rPr>
                        <a:t>Keyword</a:t>
                      </a:r>
                    </a:p>
                  </a:txBody>
                  <a:tcPr horzOverflow="overflow">
                    <a:lnL w="12700" cap="flat" cmpd="sng" algn="ctr">
                      <a:solidFill>
                        <a:schemeClr val="accent2"/>
                      </a:solidFill>
                      <a:prstDash val="solid"/>
                      <a:miter lim="800000"/>
                      <a:headEnd type="none" w="med" len="med"/>
                      <a:tailEnd type="none" w="med" len="med"/>
                    </a:lnL>
                    <a:lnR w="12700" cap="flat" cmpd="sng" algn="ctr">
                      <a:solidFill>
                        <a:schemeClr val="accent2"/>
                      </a:solidFill>
                      <a:prstDash val="solid"/>
                      <a:miter lim="800000"/>
                      <a:headEnd type="none" w="med" len="med"/>
                      <a:tailEnd type="none" w="med" len="med"/>
                    </a:lnR>
                    <a:lnT w="12700" cap="flat" cmpd="sng" algn="ctr">
                      <a:solidFill>
                        <a:schemeClr val="accent2"/>
                      </a:solidFill>
                      <a:prstDash val="solid"/>
                      <a:miter lim="800000"/>
                      <a:headEnd type="none" w="med" len="med"/>
                      <a:tailEnd type="none" w="med" len="med"/>
                    </a:lnT>
                    <a:lnB w="12700" cap="flat" cmpd="sng" algn="ctr">
                      <a:solidFill>
                        <a:schemeClr val="accent2"/>
                      </a:solidFill>
                      <a:prstDash val="solid"/>
                      <a:miter lim="800000"/>
                      <a:headEnd type="none" w="med" len="med"/>
                      <a:tailEnd type="none" w="med" len="med"/>
                    </a:lnB>
                    <a:lnTlToBr>
                      <a:noFill/>
                    </a:lnTlToBr>
                    <a:lnBlToTr>
                      <a:noFill/>
                    </a:lnBlToTr>
                    <a:solidFill>
                      <a:srgbClr val="FFCC99"/>
                    </a:solidFill>
                  </a:tcPr>
                </a:tc>
                <a:tc>
                  <a:txBody>
                    <a:bodyPr/>
                    <a:lstStyle/>
                    <a:p>
                      <a:pPr marL="0" marR="0" lvl="0" indent="0" algn="ctr" defTabSz="914400" rtl="0" eaLnBrk="1" fontAlgn="base" latinLnBrk="0" hangingPunct="1">
                        <a:lnSpc>
                          <a:spcPct val="100000"/>
                        </a:lnSpc>
                        <a:spcBef>
                          <a:spcPct val="60000"/>
                        </a:spcBef>
                        <a:spcAft>
                          <a:spcPct val="0"/>
                        </a:spcAft>
                        <a:buClr>
                          <a:schemeClr val="tx1"/>
                        </a:buClr>
                        <a:buSzTx/>
                        <a:buFontTx/>
                        <a:buNone/>
                        <a:tabLst/>
                      </a:pPr>
                      <a:r>
                        <a:rPr kumimoji="0" lang="en-US" altLang="zh-CN" sz="2000" b="0" i="0" u="none" strike="noStrike" cap="none" normalizeH="0" baseline="0">
                          <a:ln>
                            <a:noFill/>
                          </a:ln>
                          <a:solidFill>
                            <a:schemeClr val="accent2"/>
                          </a:solidFill>
                          <a:effectLst/>
                          <a:latin typeface="Arial" charset="0"/>
                          <a:ea typeface="宋体" charset="-122"/>
                        </a:rPr>
                        <a:t>Access</a:t>
                      </a:r>
                    </a:p>
                  </a:txBody>
                  <a:tcPr horzOverflow="overflow">
                    <a:lnL w="12700" cap="flat" cmpd="sng" algn="ctr">
                      <a:solidFill>
                        <a:schemeClr val="accent2"/>
                      </a:solidFill>
                      <a:prstDash val="solid"/>
                      <a:miter lim="800000"/>
                      <a:headEnd type="none" w="med" len="med"/>
                      <a:tailEnd type="none" w="med" len="med"/>
                    </a:lnL>
                    <a:lnR w="12700" cap="flat" cmpd="sng" algn="ctr">
                      <a:solidFill>
                        <a:schemeClr val="accent2"/>
                      </a:solidFill>
                      <a:prstDash val="solid"/>
                      <a:miter lim="800000"/>
                      <a:headEnd type="none" w="med" len="med"/>
                      <a:tailEnd type="none" w="med" len="med"/>
                    </a:lnR>
                    <a:lnT w="12700" cap="flat" cmpd="sng" algn="ctr">
                      <a:solidFill>
                        <a:schemeClr val="accent2"/>
                      </a:solidFill>
                      <a:prstDash val="solid"/>
                      <a:miter lim="800000"/>
                      <a:headEnd type="none" w="med" len="med"/>
                      <a:tailEnd type="none" w="med" len="med"/>
                    </a:lnT>
                    <a:lnB w="12700" cap="flat" cmpd="sng" algn="ctr">
                      <a:solidFill>
                        <a:schemeClr val="accent2"/>
                      </a:solidFill>
                      <a:prstDash val="solid"/>
                      <a:miter lim="800000"/>
                      <a:headEnd type="none" w="med" len="med"/>
                      <a:tailEnd type="none" w="med" len="med"/>
                    </a:lnB>
                    <a:lnTlToBr>
                      <a:noFill/>
                    </a:lnTlToBr>
                    <a:lnBlToTr>
                      <a:noFill/>
                    </a:lnBlToTr>
                    <a:solidFill>
                      <a:srgbClr val="FFCC99"/>
                    </a:solidFill>
                  </a:tcPr>
                </a:tc>
                <a:extLst>
                  <a:ext uri="{0D108BD9-81ED-4DB2-BD59-A6C34878D82A}">
                    <a16:rowId xmlns:a16="http://schemas.microsoft.com/office/drawing/2014/main" val="10000"/>
                  </a:ext>
                </a:extLst>
              </a:tr>
              <a:tr h="147638">
                <a:tc>
                  <a:txBody>
                    <a:bodyPr/>
                    <a:lstStyle/>
                    <a:p>
                      <a:pPr marL="0" marR="0" lvl="0" indent="0" algn="l" defTabSz="914400" rtl="0" eaLnBrk="1" fontAlgn="base" latinLnBrk="0" hangingPunct="1">
                        <a:lnSpc>
                          <a:spcPct val="100000"/>
                        </a:lnSpc>
                        <a:spcBef>
                          <a:spcPct val="60000"/>
                        </a:spcBef>
                        <a:spcAft>
                          <a:spcPct val="0"/>
                        </a:spcAft>
                        <a:buClr>
                          <a:schemeClr val="tx1"/>
                        </a:buClr>
                        <a:buSzTx/>
                        <a:buFontTx/>
                        <a:buNone/>
                        <a:tabLst/>
                      </a:pPr>
                      <a:r>
                        <a:rPr kumimoji="0" lang="en-US" altLang="zh-CN" sz="2000" b="0" i="0" u="none" strike="noStrike" cap="none" normalizeH="0" baseline="0">
                          <a:ln>
                            <a:noFill/>
                          </a:ln>
                          <a:solidFill>
                            <a:schemeClr val="accent2"/>
                          </a:solidFill>
                          <a:effectLst/>
                          <a:latin typeface="Arial" charset="0"/>
                          <a:ea typeface="宋体" charset="-122"/>
                        </a:rPr>
                        <a:t>public</a:t>
                      </a:r>
                    </a:p>
                  </a:txBody>
                  <a:tcPr horzOverflow="overflow">
                    <a:lnL w="12700" cap="flat" cmpd="sng" algn="ctr">
                      <a:solidFill>
                        <a:schemeClr val="accent2"/>
                      </a:solidFill>
                      <a:prstDash val="solid"/>
                      <a:miter lim="800000"/>
                      <a:headEnd type="none" w="med" len="med"/>
                      <a:tailEnd type="none" w="med" len="med"/>
                    </a:lnL>
                    <a:lnR w="12700" cap="flat" cmpd="sng" algn="ctr">
                      <a:solidFill>
                        <a:schemeClr val="accent2"/>
                      </a:solidFill>
                      <a:prstDash val="solid"/>
                      <a:miter lim="800000"/>
                      <a:headEnd type="none" w="med" len="med"/>
                      <a:tailEnd type="none" w="med" len="med"/>
                    </a:lnR>
                    <a:lnT w="12700" cap="flat" cmpd="sng" algn="ctr">
                      <a:solidFill>
                        <a:schemeClr val="accent2"/>
                      </a:solidFill>
                      <a:prstDash val="solid"/>
                      <a:miter lim="800000"/>
                      <a:headEnd type="none" w="med" len="med"/>
                      <a:tailEnd type="none" w="med" len="med"/>
                    </a:lnT>
                    <a:lnB w="12700" cap="flat" cmpd="sng" algn="ctr">
                      <a:solidFill>
                        <a:schemeClr val="accent2"/>
                      </a:solidFill>
                      <a:prstDash val="solid"/>
                      <a:miter lim="800000"/>
                      <a:headEnd type="none" w="med" len="med"/>
                      <a:tailEnd type="none" w="med" len="med"/>
                    </a:lnB>
                    <a:lnTlToBr>
                      <a:noFill/>
                    </a:lnTlToBr>
                    <a:lnBlToTr>
                      <a:noFill/>
                    </a:lnBlToTr>
                    <a:solidFill>
                      <a:schemeClr val="bg2"/>
                    </a:solidFill>
                  </a:tcPr>
                </a:tc>
                <a:tc>
                  <a:txBody>
                    <a:bodyPr/>
                    <a:lstStyle/>
                    <a:p>
                      <a:pPr marL="0" marR="0" lvl="0" indent="0" algn="l" defTabSz="914400" rtl="0" eaLnBrk="1" fontAlgn="base" latinLnBrk="0" hangingPunct="1">
                        <a:lnSpc>
                          <a:spcPct val="100000"/>
                        </a:lnSpc>
                        <a:spcBef>
                          <a:spcPct val="60000"/>
                        </a:spcBef>
                        <a:spcAft>
                          <a:spcPct val="0"/>
                        </a:spcAft>
                        <a:buClr>
                          <a:schemeClr val="tx1"/>
                        </a:buClr>
                        <a:buSzTx/>
                        <a:buFontTx/>
                        <a:buNone/>
                        <a:tabLst/>
                      </a:pPr>
                      <a:r>
                        <a:rPr kumimoji="0" lang="en-US" altLang="zh-CN" sz="2000" b="0" i="0" u="none" strike="noStrike" cap="none" normalizeH="0" baseline="0">
                          <a:ln>
                            <a:noFill/>
                          </a:ln>
                          <a:solidFill>
                            <a:schemeClr val="accent2"/>
                          </a:solidFill>
                          <a:effectLst/>
                          <a:latin typeface="Arial" charset="0"/>
                          <a:ea typeface="宋体" charset="-122"/>
                        </a:rPr>
                        <a:t>Access to field or method is unrestricted and may be accessed from anywhere in the program. (Most Accessible)</a:t>
                      </a:r>
                    </a:p>
                  </a:txBody>
                  <a:tcPr horzOverflow="overflow">
                    <a:lnL w="12700" cap="flat" cmpd="sng" algn="ctr">
                      <a:solidFill>
                        <a:schemeClr val="accent2"/>
                      </a:solidFill>
                      <a:prstDash val="solid"/>
                      <a:miter lim="800000"/>
                      <a:headEnd type="none" w="med" len="med"/>
                      <a:tailEnd type="none" w="med" len="med"/>
                    </a:lnL>
                    <a:lnR w="12700" cap="flat" cmpd="sng" algn="ctr">
                      <a:solidFill>
                        <a:schemeClr val="accent2"/>
                      </a:solidFill>
                      <a:prstDash val="solid"/>
                      <a:miter lim="800000"/>
                      <a:headEnd type="none" w="med" len="med"/>
                      <a:tailEnd type="none" w="med" len="med"/>
                    </a:lnR>
                    <a:lnT w="12700" cap="flat" cmpd="sng" algn="ctr">
                      <a:solidFill>
                        <a:schemeClr val="accent2"/>
                      </a:solidFill>
                      <a:prstDash val="solid"/>
                      <a:miter lim="800000"/>
                      <a:headEnd type="none" w="med" len="med"/>
                      <a:tailEnd type="none" w="med" len="med"/>
                    </a:lnT>
                    <a:lnB w="12700" cap="flat" cmpd="sng" algn="ctr">
                      <a:solidFill>
                        <a:schemeClr val="accent2"/>
                      </a:solidFill>
                      <a:prstDash val="solid"/>
                      <a:miter lim="800000"/>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1"/>
                  </a:ext>
                </a:extLst>
              </a:tr>
              <a:tr h="146050">
                <a:tc>
                  <a:txBody>
                    <a:bodyPr/>
                    <a:lstStyle/>
                    <a:p>
                      <a:pPr marL="0" marR="0" lvl="0" indent="0" algn="l" defTabSz="914400" rtl="0" eaLnBrk="1" fontAlgn="base" latinLnBrk="0" hangingPunct="1">
                        <a:lnSpc>
                          <a:spcPct val="100000"/>
                        </a:lnSpc>
                        <a:spcBef>
                          <a:spcPct val="60000"/>
                        </a:spcBef>
                        <a:spcAft>
                          <a:spcPct val="0"/>
                        </a:spcAft>
                        <a:buClr>
                          <a:schemeClr val="tx1"/>
                        </a:buClr>
                        <a:buSzTx/>
                        <a:buFontTx/>
                        <a:buNone/>
                        <a:tabLst/>
                      </a:pPr>
                      <a:r>
                        <a:rPr kumimoji="0" lang="en-US" altLang="zh-CN" sz="2000" b="0" i="0" u="none" strike="noStrike" cap="none" normalizeH="0" baseline="0">
                          <a:ln>
                            <a:noFill/>
                          </a:ln>
                          <a:solidFill>
                            <a:schemeClr val="accent2"/>
                          </a:solidFill>
                          <a:effectLst/>
                          <a:latin typeface="Arial" charset="0"/>
                          <a:ea typeface="宋体" charset="-122"/>
                        </a:rPr>
                        <a:t>default (friendly)</a:t>
                      </a:r>
                    </a:p>
                  </a:txBody>
                  <a:tcPr horzOverflow="overflow">
                    <a:lnL w="12700" cap="flat" cmpd="sng" algn="ctr">
                      <a:solidFill>
                        <a:schemeClr val="accent2"/>
                      </a:solidFill>
                      <a:prstDash val="solid"/>
                      <a:miter lim="800000"/>
                      <a:headEnd type="none" w="med" len="med"/>
                      <a:tailEnd type="none" w="med" len="med"/>
                    </a:lnL>
                    <a:lnR w="12700" cap="flat" cmpd="sng" algn="ctr">
                      <a:solidFill>
                        <a:schemeClr val="accent2"/>
                      </a:solidFill>
                      <a:prstDash val="solid"/>
                      <a:miter lim="800000"/>
                      <a:headEnd type="none" w="med" len="med"/>
                      <a:tailEnd type="none" w="med" len="med"/>
                    </a:lnR>
                    <a:lnT w="12700" cap="flat" cmpd="sng" algn="ctr">
                      <a:solidFill>
                        <a:schemeClr val="accent2"/>
                      </a:solidFill>
                      <a:prstDash val="solid"/>
                      <a:miter lim="800000"/>
                      <a:headEnd type="none" w="med" len="med"/>
                      <a:tailEnd type="none" w="med" len="med"/>
                    </a:lnT>
                    <a:lnB w="12700" cap="flat" cmpd="sng" algn="ctr">
                      <a:solidFill>
                        <a:schemeClr val="accent2"/>
                      </a:solidFill>
                      <a:prstDash val="solid"/>
                      <a:miter lim="800000"/>
                      <a:headEnd type="none" w="med" len="med"/>
                      <a:tailEnd type="none" w="med" len="med"/>
                    </a:lnB>
                    <a:lnTlToBr>
                      <a:noFill/>
                    </a:lnTlToBr>
                    <a:lnBlToTr>
                      <a:noFill/>
                    </a:lnBlToTr>
                    <a:solidFill>
                      <a:schemeClr val="bg2"/>
                    </a:solidFill>
                  </a:tcPr>
                </a:tc>
                <a:tc>
                  <a:txBody>
                    <a:bodyPr/>
                    <a:lstStyle/>
                    <a:p>
                      <a:pPr marL="0" marR="0" lvl="0" indent="0" algn="l" defTabSz="914400" rtl="0" eaLnBrk="1" fontAlgn="base" latinLnBrk="0" hangingPunct="1">
                        <a:lnSpc>
                          <a:spcPct val="100000"/>
                        </a:lnSpc>
                        <a:spcBef>
                          <a:spcPct val="60000"/>
                        </a:spcBef>
                        <a:spcAft>
                          <a:spcPct val="0"/>
                        </a:spcAft>
                        <a:buClr>
                          <a:schemeClr val="tx1"/>
                        </a:buClr>
                        <a:buSzTx/>
                        <a:buFontTx/>
                        <a:buNone/>
                        <a:tabLst/>
                      </a:pPr>
                      <a:r>
                        <a:rPr kumimoji="0" lang="en-US" altLang="zh-CN" sz="2000" b="0" i="0" u="none" strike="noStrike" cap="none" normalizeH="0" baseline="0" dirty="0">
                          <a:ln>
                            <a:noFill/>
                          </a:ln>
                          <a:solidFill>
                            <a:schemeClr val="accent2"/>
                          </a:solidFill>
                          <a:effectLst/>
                          <a:latin typeface="Arial" charset="0"/>
                          <a:ea typeface="宋体" charset="-122"/>
                          <a:cs typeface="Times New Roman" pitchFamily="18" charset="0"/>
                        </a:rPr>
                        <a:t>Access to field or method is only allowed within any class in the </a:t>
                      </a:r>
                      <a:r>
                        <a:rPr kumimoji="0" lang="en-US" altLang="zh-CN" sz="2000" b="0" i="1" u="none" strike="noStrike" cap="none" normalizeH="0" baseline="0" dirty="0">
                          <a:ln>
                            <a:noFill/>
                          </a:ln>
                          <a:solidFill>
                            <a:schemeClr val="accent2"/>
                          </a:solidFill>
                          <a:effectLst/>
                          <a:latin typeface="Arial" charset="0"/>
                          <a:ea typeface="宋体" charset="-122"/>
                          <a:cs typeface="Times New Roman" pitchFamily="18" charset="0"/>
                        </a:rPr>
                        <a:t>same</a:t>
                      </a:r>
                      <a:r>
                        <a:rPr kumimoji="0" lang="en-US" altLang="zh-CN" sz="2000" b="0" i="0" u="none" strike="noStrike" cap="none" normalizeH="0" baseline="0" dirty="0">
                          <a:ln>
                            <a:noFill/>
                          </a:ln>
                          <a:solidFill>
                            <a:schemeClr val="accent2"/>
                          </a:solidFill>
                          <a:effectLst/>
                          <a:latin typeface="Arial" charset="0"/>
                          <a:ea typeface="宋体" charset="-122"/>
                          <a:cs typeface="Times New Roman" pitchFamily="18" charset="0"/>
                        </a:rPr>
                        <a:t> </a:t>
                      </a:r>
                      <a:r>
                        <a:rPr kumimoji="0" lang="en-US" altLang="zh-CN" sz="2000" b="0" i="1" u="none" strike="noStrike" cap="none" normalizeH="0" baseline="0" dirty="0">
                          <a:ln>
                            <a:noFill/>
                          </a:ln>
                          <a:solidFill>
                            <a:schemeClr val="accent2"/>
                          </a:solidFill>
                          <a:effectLst/>
                          <a:latin typeface="Arial" charset="0"/>
                          <a:ea typeface="宋体" charset="-122"/>
                          <a:cs typeface="Times New Roman" pitchFamily="18" charset="0"/>
                        </a:rPr>
                        <a:t>package</a:t>
                      </a:r>
                      <a:r>
                        <a:rPr kumimoji="0" lang="en-US" altLang="zh-CN" sz="2000" b="0" i="0" u="none" strike="noStrike" cap="none" normalizeH="0" baseline="0" dirty="0">
                          <a:ln>
                            <a:noFill/>
                          </a:ln>
                          <a:solidFill>
                            <a:schemeClr val="accent2"/>
                          </a:solidFill>
                          <a:effectLst/>
                          <a:latin typeface="Arial" charset="0"/>
                          <a:ea typeface="宋体" charset="-122"/>
                          <a:cs typeface="Times New Roman" pitchFamily="18" charset="0"/>
                        </a:rPr>
                        <a:t>.</a:t>
                      </a:r>
                    </a:p>
                  </a:txBody>
                  <a:tcPr horzOverflow="overflow">
                    <a:lnL w="12700" cap="flat" cmpd="sng" algn="ctr">
                      <a:solidFill>
                        <a:schemeClr val="accent2"/>
                      </a:solidFill>
                      <a:prstDash val="solid"/>
                      <a:miter lim="800000"/>
                      <a:headEnd type="none" w="med" len="med"/>
                      <a:tailEnd type="none" w="med" len="med"/>
                    </a:lnL>
                    <a:lnR w="12700" cap="flat" cmpd="sng" algn="ctr">
                      <a:solidFill>
                        <a:schemeClr val="accent2"/>
                      </a:solidFill>
                      <a:prstDash val="solid"/>
                      <a:miter lim="800000"/>
                      <a:headEnd type="none" w="med" len="med"/>
                      <a:tailEnd type="none" w="med" len="med"/>
                    </a:lnR>
                    <a:lnT w="12700" cap="flat" cmpd="sng" algn="ctr">
                      <a:solidFill>
                        <a:schemeClr val="accent2"/>
                      </a:solidFill>
                      <a:prstDash val="solid"/>
                      <a:miter lim="800000"/>
                      <a:headEnd type="none" w="med" len="med"/>
                      <a:tailEnd type="none" w="med" len="med"/>
                    </a:lnT>
                    <a:lnB w="12700" cap="flat" cmpd="sng" algn="ctr">
                      <a:solidFill>
                        <a:schemeClr val="accent2"/>
                      </a:solidFill>
                      <a:prstDash val="solid"/>
                      <a:miter lim="800000"/>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2"/>
                  </a:ext>
                </a:extLst>
              </a:tr>
              <a:tr h="147638">
                <a:tc>
                  <a:txBody>
                    <a:bodyPr/>
                    <a:lstStyle/>
                    <a:p>
                      <a:pPr marL="0" marR="0" lvl="0" indent="0" algn="l" defTabSz="914400" rtl="0" eaLnBrk="1" fontAlgn="base" latinLnBrk="0" hangingPunct="1">
                        <a:lnSpc>
                          <a:spcPct val="100000"/>
                        </a:lnSpc>
                        <a:spcBef>
                          <a:spcPct val="60000"/>
                        </a:spcBef>
                        <a:spcAft>
                          <a:spcPct val="0"/>
                        </a:spcAft>
                        <a:buClr>
                          <a:schemeClr val="tx1"/>
                        </a:buClr>
                        <a:buSzTx/>
                        <a:buFontTx/>
                        <a:buNone/>
                        <a:tabLst/>
                      </a:pPr>
                      <a:r>
                        <a:rPr kumimoji="0" lang="en-US" altLang="zh-CN" sz="2000" b="0" i="0" u="none" strike="noStrike" cap="none" normalizeH="0" baseline="0">
                          <a:ln>
                            <a:noFill/>
                          </a:ln>
                          <a:solidFill>
                            <a:schemeClr val="accent2"/>
                          </a:solidFill>
                          <a:effectLst/>
                          <a:latin typeface="Arial" charset="0"/>
                          <a:ea typeface="宋体" charset="-122"/>
                        </a:rPr>
                        <a:t>protected</a:t>
                      </a:r>
                    </a:p>
                  </a:txBody>
                  <a:tcPr horzOverflow="overflow">
                    <a:lnL w="12700" cap="flat" cmpd="sng" algn="ctr">
                      <a:solidFill>
                        <a:schemeClr val="accent2"/>
                      </a:solidFill>
                      <a:prstDash val="solid"/>
                      <a:miter lim="800000"/>
                      <a:headEnd type="none" w="med" len="med"/>
                      <a:tailEnd type="none" w="med" len="med"/>
                    </a:lnL>
                    <a:lnR w="12700" cap="flat" cmpd="sng" algn="ctr">
                      <a:solidFill>
                        <a:schemeClr val="accent2"/>
                      </a:solidFill>
                      <a:prstDash val="solid"/>
                      <a:miter lim="800000"/>
                      <a:headEnd type="none" w="med" len="med"/>
                      <a:tailEnd type="none" w="med" len="med"/>
                    </a:lnR>
                    <a:lnT w="12700" cap="flat" cmpd="sng" algn="ctr">
                      <a:solidFill>
                        <a:schemeClr val="accent2"/>
                      </a:solidFill>
                      <a:prstDash val="solid"/>
                      <a:miter lim="800000"/>
                      <a:headEnd type="none" w="med" len="med"/>
                      <a:tailEnd type="none" w="med" len="med"/>
                    </a:lnT>
                    <a:lnB w="12700" cap="flat" cmpd="sng" algn="ctr">
                      <a:solidFill>
                        <a:schemeClr val="accent2"/>
                      </a:solidFill>
                      <a:prstDash val="solid"/>
                      <a:miter lim="800000"/>
                      <a:headEnd type="none" w="med" len="med"/>
                      <a:tailEnd type="none" w="med" len="med"/>
                    </a:lnB>
                    <a:lnTlToBr>
                      <a:noFill/>
                    </a:lnTlToBr>
                    <a:lnBlToTr>
                      <a:noFill/>
                    </a:lnBlToTr>
                    <a:solidFill>
                      <a:schemeClr val="bg2"/>
                    </a:solidFill>
                  </a:tcPr>
                </a:tc>
                <a:tc>
                  <a:txBody>
                    <a:bodyPr/>
                    <a:lstStyle/>
                    <a:p>
                      <a:pPr marL="0" marR="0" lvl="0" indent="0" algn="l" defTabSz="914400" rtl="0" eaLnBrk="1" fontAlgn="base" latinLnBrk="0" hangingPunct="1">
                        <a:lnSpc>
                          <a:spcPct val="100000"/>
                        </a:lnSpc>
                        <a:spcBef>
                          <a:spcPct val="60000"/>
                        </a:spcBef>
                        <a:spcAft>
                          <a:spcPct val="0"/>
                        </a:spcAft>
                        <a:buClr>
                          <a:schemeClr val="tx1"/>
                        </a:buClr>
                        <a:buSzTx/>
                        <a:buFontTx/>
                        <a:buNone/>
                        <a:tabLst/>
                      </a:pPr>
                      <a:r>
                        <a:rPr kumimoji="0" lang="en-US" altLang="zh-CN" sz="2000" b="0" i="0" u="none" strike="noStrike" cap="none" normalizeH="0" baseline="0">
                          <a:ln>
                            <a:noFill/>
                          </a:ln>
                          <a:solidFill>
                            <a:schemeClr val="accent2"/>
                          </a:solidFill>
                          <a:effectLst/>
                          <a:latin typeface="Arial" charset="0"/>
                          <a:ea typeface="宋体" charset="-122"/>
                        </a:rPr>
                        <a:t>Access to field or method is allowed from within any class in the same package, and also from within any class that inherits directly or indirectly from the class.</a:t>
                      </a:r>
                    </a:p>
                  </a:txBody>
                  <a:tcPr horzOverflow="overflow">
                    <a:lnL w="12700" cap="flat" cmpd="sng" algn="ctr">
                      <a:solidFill>
                        <a:schemeClr val="accent2"/>
                      </a:solidFill>
                      <a:prstDash val="solid"/>
                      <a:miter lim="800000"/>
                      <a:headEnd type="none" w="med" len="med"/>
                      <a:tailEnd type="none" w="med" len="med"/>
                    </a:lnL>
                    <a:lnR w="12700" cap="flat" cmpd="sng" algn="ctr">
                      <a:solidFill>
                        <a:schemeClr val="accent2"/>
                      </a:solidFill>
                      <a:prstDash val="solid"/>
                      <a:miter lim="800000"/>
                      <a:headEnd type="none" w="med" len="med"/>
                      <a:tailEnd type="none" w="med" len="med"/>
                    </a:lnR>
                    <a:lnT w="12700" cap="flat" cmpd="sng" algn="ctr">
                      <a:solidFill>
                        <a:schemeClr val="accent2"/>
                      </a:solidFill>
                      <a:prstDash val="solid"/>
                      <a:miter lim="800000"/>
                      <a:headEnd type="none" w="med" len="med"/>
                      <a:tailEnd type="none" w="med" len="med"/>
                    </a:lnT>
                    <a:lnB w="12700" cap="flat" cmpd="sng" algn="ctr">
                      <a:solidFill>
                        <a:schemeClr val="accent2"/>
                      </a:solidFill>
                      <a:prstDash val="solid"/>
                      <a:miter lim="800000"/>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3"/>
                  </a:ext>
                </a:extLst>
              </a:tr>
              <a:tr h="147638">
                <a:tc>
                  <a:txBody>
                    <a:bodyPr/>
                    <a:lstStyle/>
                    <a:p>
                      <a:pPr marL="0" marR="0" lvl="0" indent="0" algn="l" defTabSz="914400" rtl="0" eaLnBrk="1" fontAlgn="base" latinLnBrk="0" hangingPunct="1">
                        <a:lnSpc>
                          <a:spcPct val="100000"/>
                        </a:lnSpc>
                        <a:spcBef>
                          <a:spcPct val="60000"/>
                        </a:spcBef>
                        <a:spcAft>
                          <a:spcPct val="0"/>
                        </a:spcAft>
                        <a:buClr>
                          <a:schemeClr val="tx1"/>
                        </a:buClr>
                        <a:buSzTx/>
                        <a:buFontTx/>
                        <a:buNone/>
                        <a:tabLst/>
                      </a:pPr>
                      <a:r>
                        <a:rPr kumimoji="0" lang="en-US" altLang="zh-CN" sz="2000" b="0" i="0" u="none" strike="noStrike" cap="none" normalizeH="0" baseline="0">
                          <a:ln>
                            <a:noFill/>
                          </a:ln>
                          <a:solidFill>
                            <a:schemeClr val="accent2"/>
                          </a:solidFill>
                          <a:effectLst/>
                          <a:latin typeface="Arial" charset="0"/>
                          <a:ea typeface="宋体" charset="-122"/>
                        </a:rPr>
                        <a:t>private</a:t>
                      </a:r>
                    </a:p>
                  </a:txBody>
                  <a:tcPr horzOverflow="overflow">
                    <a:lnL w="12700" cap="flat" cmpd="sng" algn="ctr">
                      <a:solidFill>
                        <a:schemeClr val="accent2"/>
                      </a:solidFill>
                      <a:prstDash val="solid"/>
                      <a:miter lim="800000"/>
                      <a:headEnd type="none" w="med" len="med"/>
                      <a:tailEnd type="none" w="med" len="med"/>
                    </a:lnL>
                    <a:lnR w="12700" cap="flat" cmpd="sng" algn="ctr">
                      <a:solidFill>
                        <a:schemeClr val="accent2"/>
                      </a:solidFill>
                      <a:prstDash val="solid"/>
                      <a:miter lim="800000"/>
                      <a:headEnd type="none" w="med" len="med"/>
                      <a:tailEnd type="none" w="med" len="med"/>
                    </a:lnR>
                    <a:lnT w="12700" cap="flat" cmpd="sng" algn="ctr">
                      <a:solidFill>
                        <a:schemeClr val="accent2"/>
                      </a:solidFill>
                      <a:prstDash val="solid"/>
                      <a:miter lim="800000"/>
                      <a:headEnd type="none" w="med" len="med"/>
                      <a:tailEnd type="none" w="med" len="med"/>
                    </a:lnT>
                    <a:lnB w="12700" cap="flat" cmpd="sng" algn="ctr">
                      <a:solidFill>
                        <a:schemeClr val="accent2"/>
                      </a:solidFill>
                      <a:prstDash val="solid"/>
                      <a:miter lim="800000"/>
                      <a:headEnd type="none" w="med" len="med"/>
                      <a:tailEnd type="none" w="med" len="med"/>
                    </a:lnB>
                    <a:lnTlToBr>
                      <a:noFill/>
                    </a:lnTlToBr>
                    <a:lnBlToTr>
                      <a:noFill/>
                    </a:lnBlToTr>
                    <a:solidFill>
                      <a:schemeClr val="bg2"/>
                    </a:solidFill>
                  </a:tcPr>
                </a:tc>
                <a:tc>
                  <a:txBody>
                    <a:bodyPr/>
                    <a:lstStyle/>
                    <a:p>
                      <a:pPr marL="0" marR="0" lvl="0" indent="0" algn="l" defTabSz="914400" rtl="0" eaLnBrk="1" fontAlgn="base" latinLnBrk="0" hangingPunct="1">
                        <a:lnSpc>
                          <a:spcPct val="100000"/>
                        </a:lnSpc>
                        <a:spcBef>
                          <a:spcPct val="60000"/>
                        </a:spcBef>
                        <a:spcAft>
                          <a:spcPct val="0"/>
                        </a:spcAft>
                        <a:buClr>
                          <a:schemeClr val="tx1"/>
                        </a:buClr>
                        <a:buSzTx/>
                        <a:buFontTx/>
                        <a:buNone/>
                        <a:tabLst/>
                      </a:pPr>
                      <a:r>
                        <a:rPr kumimoji="0" lang="en-US" altLang="zh-CN" sz="2000" b="0" i="0" u="none" strike="noStrike" cap="none" normalizeH="0" baseline="0" dirty="0">
                          <a:ln>
                            <a:noFill/>
                          </a:ln>
                          <a:solidFill>
                            <a:schemeClr val="accent2"/>
                          </a:solidFill>
                          <a:effectLst/>
                          <a:latin typeface="Arial" charset="0"/>
                          <a:ea typeface="宋体" charset="-122"/>
                          <a:cs typeface="Times New Roman" pitchFamily="18" charset="0"/>
                        </a:rPr>
                        <a:t>Access to field or method is only allowed from within the same class. (Least Accessible) </a:t>
                      </a:r>
                    </a:p>
                  </a:txBody>
                  <a:tcPr horzOverflow="overflow">
                    <a:lnL w="12700" cap="flat" cmpd="sng" algn="ctr">
                      <a:solidFill>
                        <a:schemeClr val="accent2"/>
                      </a:solidFill>
                      <a:prstDash val="solid"/>
                      <a:miter lim="800000"/>
                      <a:headEnd type="none" w="med" len="med"/>
                      <a:tailEnd type="none" w="med" len="med"/>
                    </a:lnL>
                    <a:lnR w="12700" cap="flat" cmpd="sng" algn="ctr">
                      <a:solidFill>
                        <a:schemeClr val="accent2"/>
                      </a:solidFill>
                      <a:prstDash val="solid"/>
                      <a:miter lim="800000"/>
                      <a:headEnd type="none" w="med" len="med"/>
                      <a:tailEnd type="none" w="med" len="med"/>
                    </a:lnR>
                    <a:lnT w="12700" cap="flat" cmpd="sng" algn="ctr">
                      <a:solidFill>
                        <a:schemeClr val="accent2"/>
                      </a:solidFill>
                      <a:prstDash val="solid"/>
                      <a:miter lim="800000"/>
                      <a:headEnd type="none" w="med" len="med"/>
                      <a:tailEnd type="none" w="med" len="med"/>
                    </a:lnT>
                    <a:lnB w="12700" cap="flat" cmpd="sng" algn="ctr">
                      <a:solidFill>
                        <a:schemeClr val="accent2"/>
                      </a:solidFill>
                      <a:prstDash val="solid"/>
                      <a:miter lim="800000"/>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4"/>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0"/>
                                  </p:stCondLst>
                                  <p:childTnLst>
                                    <p:set>
                                      <p:cBhvr>
                                        <p:cTn id="6" dur="1" fill="hold">
                                          <p:stCondLst>
                                            <p:cond delay="0"/>
                                          </p:stCondLst>
                                        </p:cTn>
                                        <p:tgtEl>
                                          <p:spTgt spid="80"/>
                                        </p:tgtEl>
                                        <p:attrNameLst>
                                          <p:attrName>style.visibility</p:attrName>
                                        </p:attrNameLst>
                                      </p:cBhvr>
                                      <p:to>
                                        <p:strVal val="visible"/>
                                      </p:to>
                                    </p:set>
                                    <p:animEffect transition="in" filter="fade">
                                      <p:cBhvr>
                                        <p:cTn id="7" dur="1000"/>
                                        <p:tgtEl>
                                          <p:spTgt spid="80"/>
                                        </p:tgtEl>
                                      </p:cBhvr>
                                    </p:animEffect>
                                    <p:anim calcmode="lin" valueType="num">
                                      <p:cBhvr>
                                        <p:cTn id="8" dur="1000" fill="hold"/>
                                        <p:tgtEl>
                                          <p:spTgt spid="80"/>
                                        </p:tgtEl>
                                        <p:attrNameLst>
                                          <p:attrName>ppt_x</p:attrName>
                                        </p:attrNameLst>
                                      </p:cBhvr>
                                      <p:tavLst>
                                        <p:tav tm="0">
                                          <p:val>
                                            <p:strVal val="#ppt_x"/>
                                          </p:val>
                                        </p:tav>
                                        <p:tav tm="100000">
                                          <p:val>
                                            <p:strVal val="#ppt_x"/>
                                          </p:val>
                                        </p:tav>
                                      </p:tavLst>
                                    </p:anim>
                                    <p:anim calcmode="lin" valueType="num">
                                      <p:cBhvr>
                                        <p:cTn id="9" dur="1000" fill="hold"/>
                                        <p:tgtEl>
                                          <p:spTgt spid="8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灯片编号占位符 5"/>
          <p:cNvSpPr>
            <a:spLocks noGrp="1"/>
          </p:cNvSpPr>
          <p:nvPr>
            <p:ph type="sldNum" sz="quarter" idx="4294967295"/>
          </p:nvPr>
        </p:nvSpPr>
        <p:spPr>
          <a:xfrm>
            <a:off x="6589713" y="6376988"/>
            <a:ext cx="2193925" cy="457200"/>
          </a:xfrm>
          <a:prstGeom prst="rect">
            <a:avLst/>
          </a:prstGeom>
          <a:noFill/>
        </p:spPr>
        <p:txBody>
          <a:bodyPr/>
          <a:lstStyle/>
          <a:p>
            <a:fld id="{C7BD89F1-B483-4D95-9DB6-A837724691D9}" type="slidenum">
              <a:rPr lang="en-US" altLang="zh-CN"/>
              <a:pPr/>
              <a:t>47</a:t>
            </a:fld>
            <a:endParaRPr lang="en-US" altLang="zh-CN"/>
          </a:p>
        </p:txBody>
      </p:sp>
      <p:sp>
        <p:nvSpPr>
          <p:cNvPr id="68613" name="Rectangle 4"/>
          <p:cNvSpPr>
            <a:spLocks noChangeArrowheads="1"/>
          </p:cNvSpPr>
          <p:nvPr/>
        </p:nvSpPr>
        <p:spPr bwMode="auto">
          <a:xfrm>
            <a:off x="0" y="1905000"/>
            <a:ext cx="9144000" cy="0"/>
          </a:xfrm>
          <a:prstGeom prst="rect">
            <a:avLst/>
          </a:prstGeom>
          <a:noFill/>
          <a:ln w="9525">
            <a:noFill/>
            <a:miter lim="800000"/>
            <a:headEnd/>
            <a:tailEnd/>
          </a:ln>
        </p:spPr>
        <p:txBody>
          <a:bodyPr>
            <a:spAutoFit/>
          </a:bodyPr>
          <a:lstStyle/>
          <a:p>
            <a:endParaRPr lang="zh-CN" altLang="en-US"/>
          </a:p>
        </p:txBody>
      </p:sp>
      <p:sp>
        <p:nvSpPr>
          <p:cNvPr id="68614" name="Rectangle 5"/>
          <p:cNvSpPr>
            <a:spLocks noGrp="1" noChangeArrowheads="1"/>
          </p:cNvSpPr>
          <p:nvPr>
            <p:ph type="body" idx="1"/>
          </p:nvPr>
        </p:nvSpPr>
        <p:spPr>
          <a:xfrm>
            <a:off x="971600" y="1916832"/>
            <a:ext cx="5715000" cy="3881438"/>
          </a:xfrm>
        </p:spPr>
        <p:txBody>
          <a:bodyPr/>
          <a:lstStyle/>
          <a:p>
            <a:pPr marL="609600" indent="-609600" eaLnBrk="1" hangingPunct="1">
              <a:buFont typeface="Wingdings" pitchFamily="2" charset="2"/>
              <a:buAutoNum type="arabicPlain"/>
            </a:pPr>
            <a:r>
              <a:rPr lang="zh-CN" altLang="en-US" sz="2800" b="1" dirty="0">
                <a:solidFill>
                  <a:srgbClr val="000000"/>
                </a:solidFill>
              </a:rPr>
              <a:t>理解继承</a:t>
            </a:r>
          </a:p>
          <a:p>
            <a:pPr marL="609600" indent="-609600" eaLnBrk="1" hangingPunct="1">
              <a:buFont typeface="Wingdings" pitchFamily="2" charset="2"/>
              <a:buAutoNum type="arabicPlain"/>
            </a:pPr>
            <a:r>
              <a:rPr lang="zh-CN" altLang="en-US" sz="2800" b="1" dirty="0">
                <a:solidFill>
                  <a:srgbClr val="000000"/>
                </a:solidFill>
              </a:rPr>
              <a:t>类 </a:t>
            </a:r>
            <a:r>
              <a:rPr lang="en-US" altLang="zh-CN" sz="2800" b="1" dirty="0">
                <a:solidFill>
                  <a:srgbClr val="000000"/>
                </a:solidFill>
                <a:cs typeface="Times New Roman" pitchFamily="18" charset="0"/>
              </a:rPr>
              <a:t>jave.lang.Object</a:t>
            </a:r>
          </a:p>
          <a:p>
            <a:pPr marL="609600" indent="-609600">
              <a:buFont typeface="Wingdings" pitchFamily="2" charset="2"/>
              <a:buAutoNum type="arabicPlain"/>
            </a:pPr>
            <a:r>
              <a:rPr lang="en-US" altLang="zh-CN" sz="2800" b="1" dirty="0">
                <a:solidFill>
                  <a:srgbClr val="000000"/>
                </a:solidFill>
                <a:cs typeface="Times New Roman" pitchFamily="18" charset="0"/>
              </a:rPr>
              <a:t> final</a:t>
            </a:r>
            <a:r>
              <a:rPr lang="zh-CN" altLang="en-US" sz="2800" b="1" dirty="0">
                <a:solidFill>
                  <a:srgbClr val="000000"/>
                </a:solidFill>
                <a:cs typeface="Times New Roman" pitchFamily="18" charset="0"/>
              </a:rPr>
              <a:t>类和方法</a:t>
            </a:r>
          </a:p>
          <a:p>
            <a:pPr marL="609600" indent="-609600">
              <a:buFont typeface="Wingdings" pitchFamily="2" charset="2"/>
              <a:buAutoNum type="arabicPlain"/>
            </a:pPr>
            <a:r>
              <a:rPr lang="en-US" altLang="zh-CN" sz="2800" b="1" dirty="0">
                <a:solidFill>
                  <a:srgbClr val="000000"/>
                </a:solidFill>
                <a:cs typeface="Times New Roman" pitchFamily="18" charset="0"/>
              </a:rPr>
              <a:t>abstract</a:t>
            </a:r>
            <a:r>
              <a:rPr lang="zh-CN" altLang="en-US" sz="2800" b="1" dirty="0">
                <a:solidFill>
                  <a:srgbClr val="000000"/>
                </a:solidFill>
                <a:cs typeface="Times New Roman" pitchFamily="18" charset="0"/>
              </a:rPr>
              <a:t>类和方法</a:t>
            </a:r>
            <a:endParaRPr lang="en-US" altLang="zh-CN" sz="2800" b="1" dirty="0">
              <a:solidFill>
                <a:srgbClr val="000000"/>
              </a:solidFill>
              <a:cs typeface="Times New Roman" pitchFamily="18" charset="0"/>
            </a:endParaRPr>
          </a:p>
          <a:p>
            <a:pPr marL="609600" indent="-609600" eaLnBrk="1" hangingPunct="1">
              <a:buFont typeface="Wingdings" pitchFamily="2" charset="2"/>
              <a:buNone/>
            </a:pPr>
            <a:endParaRPr lang="en-US" altLang="zh-CN" sz="2800" b="1" dirty="0">
              <a:solidFill>
                <a:srgbClr val="000000"/>
              </a:solidFill>
            </a:endParaRPr>
          </a:p>
        </p:txBody>
      </p:sp>
      <p:sp>
        <p:nvSpPr>
          <p:cNvPr id="7" name="标题 6"/>
          <p:cNvSpPr>
            <a:spLocks noGrp="1"/>
          </p:cNvSpPr>
          <p:nvPr>
            <p:ph type="title"/>
          </p:nvPr>
        </p:nvSpPr>
        <p:spPr/>
        <p:txBody>
          <a:bodyPr/>
          <a:lstStyle/>
          <a:p>
            <a:r>
              <a:rPr lang="zh-CN" altLang="en-US" b="1" dirty="0"/>
              <a:t>继 承</a:t>
            </a:r>
            <a:endParaRPr lang="zh-CN" alt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6" name="Rectangle 3"/>
          <p:cNvSpPr>
            <a:spLocks noGrp="1" noChangeArrowheads="1"/>
          </p:cNvSpPr>
          <p:nvPr>
            <p:ph type="body" idx="1"/>
          </p:nvPr>
        </p:nvSpPr>
        <p:spPr>
          <a:xfrm>
            <a:off x="755576" y="1988840"/>
            <a:ext cx="7958137" cy="3881438"/>
          </a:xfrm>
        </p:spPr>
        <p:txBody>
          <a:bodyPr/>
          <a:lstStyle/>
          <a:p>
            <a:pPr marL="609600" indent="-609600" eaLnBrk="1" hangingPunct="1">
              <a:lnSpc>
                <a:spcPct val="90000"/>
              </a:lnSpc>
              <a:buFont typeface="Wingdings" pitchFamily="2" charset="2"/>
              <a:buAutoNum type="arabicPeriod"/>
            </a:pPr>
            <a:r>
              <a:rPr lang="zh-CN" altLang="en-US" sz="2800" b="1" dirty="0">
                <a:solidFill>
                  <a:srgbClr val="000000"/>
                </a:solidFill>
                <a:latin typeface="BIEGHZ+Palatino-Roman"/>
              </a:rPr>
              <a:t>父类、子类和继承</a:t>
            </a:r>
          </a:p>
          <a:p>
            <a:pPr marL="609600" indent="-609600" eaLnBrk="1" hangingPunct="1">
              <a:lnSpc>
                <a:spcPct val="90000"/>
              </a:lnSpc>
              <a:buFont typeface="Wingdings" pitchFamily="2" charset="2"/>
              <a:buAutoNum type="arabicPeriod"/>
            </a:pPr>
            <a:r>
              <a:rPr lang="zh-CN" altLang="en-US" sz="2800" b="1" dirty="0">
                <a:solidFill>
                  <a:srgbClr val="000000"/>
                </a:solidFill>
              </a:rPr>
              <a:t>成员变量的隐藏和方法的重写</a:t>
            </a:r>
          </a:p>
          <a:p>
            <a:pPr marL="609600" indent="-609600" eaLnBrk="1" hangingPunct="1">
              <a:lnSpc>
                <a:spcPct val="90000"/>
              </a:lnSpc>
              <a:buFont typeface="Wingdings" pitchFamily="2" charset="2"/>
              <a:buAutoNum type="arabicPeriod"/>
            </a:pPr>
            <a:r>
              <a:rPr lang="en-US" altLang="zh-CN" sz="2800" b="1" dirty="0">
                <a:solidFill>
                  <a:srgbClr val="000000"/>
                </a:solidFill>
                <a:cs typeface="Times New Roman" pitchFamily="18" charset="0"/>
              </a:rPr>
              <a:t>super</a:t>
            </a:r>
            <a:r>
              <a:rPr lang="zh-CN" altLang="en-US" sz="2800" b="1" dirty="0">
                <a:solidFill>
                  <a:srgbClr val="000000"/>
                </a:solidFill>
              </a:rPr>
              <a:t>关键字</a:t>
            </a:r>
          </a:p>
          <a:p>
            <a:pPr marL="609600" indent="-609600" eaLnBrk="1" hangingPunct="1">
              <a:lnSpc>
                <a:spcPct val="90000"/>
              </a:lnSpc>
              <a:buFont typeface="Wingdings" pitchFamily="2" charset="2"/>
              <a:buAutoNum type="arabicPeriod"/>
            </a:pPr>
            <a:r>
              <a:rPr lang="zh-CN" altLang="en-US" sz="2800" b="1" dirty="0">
                <a:solidFill>
                  <a:srgbClr val="000000"/>
                </a:solidFill>
              </a:rPr>
              <a:t>方法的重载</a:t>
            </a:r>
          </a:p>
          <a:p>
            <a:pPr marL="609600" indent="-609600" eaLnBrk="1" hangingPunct="1">
              <a:lnSpc>
                <a:spcPct val="90000"/>
              </a:lnSpc>
              <a:buFont typeface="Wingdings" pitchFamily="2" charset="2"/>
              <a:buAutoNum type="arabicPeriod"/>
            </a:pPr>
            <a:r>
              <a:rPr lang="zh-CN" altLang="en-US" sz="2800" b="1" dirty="0">
                <a:solidFill>
                  <a:srgbClr val="000000"/>
                </a:solidFill>
                <a:cs typeface="Times New Roman" pitchFamily="18" charset="0"/>
              </a:rPr>
              <a:t>运行时多态</a:t>
            </a:r>
          </a:p>
          <a:p>
            <a:pPr marL="609600" indent="-609600" eaLnBrk="1" hangingPunct="1">
              <a:lnSpc>
                <a:spcPct val="90000"/>
              </a:lnSpc>
              <a:buFont typeface="Wingdings" pitchFamily="2" charset="2"/>
              <a:buAutoNum type="arabicPeriod"/>
            </a:pPr>
            <a:r>
              <a:rPr lang="en-US" altLang="zh-CN" sz="2800" b="1" dirty="0">
                <a:solidFill>
                  <a:srgbClr val="000000"/>
                </a:solidFill>
                <a:latin typeface="Courier"/>
              </a:rPr>
              <a:t>instanceof </a:t>
            </a:r>
            <a:r>
              <a:rPr lang="zh-CN" altLang="en-US" sz="2800" b="1" dirty="0">
                <a:solidFill>
                  <a:srgbClr val="000000"/>
                </a:solidFill>
                <a:latin typeface="Courier"/>
              </a:rPr>
              <a:t>操作符</a:t>
            </a:r>
          </a:p>
          <a:p>
            <a:pPr marL="609600" indent="-609600" eaLnBrk="1" hangingPunct="1">
              <a:buFont typeface="Wingdings" pitchFamily="2" charset="2"/>
              <a:buNone/>
            </a:pPr>
            <a:endParaRPr lang="en-US" altLang="zh-CN" sz="2800" b="1" dirty="0"/>
          </a:p>
        </p:txBody>
      </p:sp>
      <p:sp>
        <p:nvSpPr>
          <p:cNvPr id="6" name="标题 5"/>
          <p:cNvSpPr>
            <a:spLocks noGrp="1"/>
          </p:cNvSpPr>
          <p:nvPr>
            <p:ph type="title"/>
          </p:nvPr>
        </p:nvSpPr>
        <p:spPr/>
        <p:txBody>
          <a:bodyPr/>
          <a:lstStyle/>
          <a:p>
            <a:r>
              <a:rPr lang="zh-CN" altLang="en-US" b="1" dirty="0">
                <a:solidFill>
                  <a:srgbClr val="0033CC"/>
                </a:solidFill>
              </a:rPr>
              <a:t>理解继承</a:t>
            </a:r>
            <a:endParaRPr lang="zh-CN" altLang="en-US"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60" name="Rectangle 3"/>
          <p:cNvSpPr>
            <a:spLocks noGrp="1" noChangeArrowheads="1"/>
          </p:cNvSpPr>
          <p:nvPr>
            <p:ph type="body" idx="1"/>
          </p:nvPr>
        </p:nvSpPr>
        <p:spPr>
          <a:xfrm>
            <a:off x="762000" y="2057400"/>
            <a:ext cx="8001000" cy="4800600"/>
          </a:xfrm>
        </p:spPr>
        <p:txBody>
          <a:bodyPr/>
          <a:lstStyle/>
          <a:p>
            <a:pPr marL="609600" indent="-609600" eaLnBrk="1" hangingPunct="1">
              <a:buFont typeface="Wingdings" pitchFamily="2" charset="2"/>
              <a:buNone/>
            </a:pPr>
            <a:endParaRPr lang="en-US" altLang="zh-CN" sz="2400">
              <a:solidFill>
                <a:srgbClr val="000000"/>
              </a:solidFill>
            </a:endParaRPr>
          </a:p>
          <a:p>
            <a:pPr marL="609600" indent="-609600" eaLnBrk="1" hangingPunct="1">
              <a:buFont typeface="Wingdings" pitchFamily="2" charset="2"/>
              <a:buNone/>
            </a:pPr>
            <a:endParaRPr lang="en-US" altLang="zh-CN" sz="2400">
              <a:solidFill>
                <a:srgbClr val="000000"/>
              </a:solidFill>
            </a:endParaRPr>
          </a:p>
        </p:txBody>
      </p:sp>
      <p:sp>
        <p:nvSpPr>
          <p:cNvPr id="70662" name="Rectangle 6"/>
          <p:cNvSpPr>
            <a:spLocks noChangeArrowheads="1"/>
          </p:cNvSpPr>
          <p:nvPr/>
        </p:nvSpPr>
        <p:spPr bwMode="auto">
          <a:xfrm>
            <a:off x="457200" y="1700808"/>
            <a:ext cx="7848600" cy="3881438"/>
          </a:xfrm>
          <a:prstGeom prst="rect">
            <a:avLst/>
          </a:prstGeom>
          <a:noFill/>
          <a:ln w="9525">
            <a:noFill/>
            <a:miter lim="800000"/>
            <a:headEnd/>
            <a:tailEnd/>
          </a:ln>
        </p:spPr>
        <p:txBody>
          <a:bodyPr/>
          <a:lstStyle/>
          <a:p>
            <a:pPr marL="609600" indent="-609600">
              <a:lnSpc>
                <a:spcPct val="90000"/>
              </a:lnSpc>
              <a:spcBef>
                <a:spcPct val="20000"/>
              </a:spcBef>
              <a:buClr>
                <a:schemeClr val="accent2"/>
              </a:buClr>
            </a:pPr>
            <a:r>
              <a:rPr lang="zh-CN" altLang="en-US" sz="2800" b="1" dirty="0">
                <a:latin typeface="BIEGHZ+Palatino-Roman"/>
              </a:rPr>
              <a:t>例子：</a:t>
            </a:r>
          </a:p>
          <a:p>
            <a:pPr marL="609600" indent="-609600">
              <a:lnSpc>
                <a:spcPct val="90000"/>
              </a:lnSpc>
              <a:spcBef>
                <a:spcPct val="20000"/>
              </a:spcBef>
              <a:buClr>
                <a:schemeClr val="accent2"/>
              </a:buClr>
              <a:buFont typeface="Wingdings" pitchFamily="2" charset="2"/>
              <a:buNone/>
            </a:pPr>
            <a:endParaRPr lang="en-US" altLang="zh-CN" dirty="0">
              <a:latin typeface="BIEGHZ+Palatino-Roman"/>
            </a:endParaRPr>
          </a:p>
        </p:txBody>
      </p:sp>
      <p:pic>
        <p:nvPicPr>
          <p:cNvPr id="70663" name="Picture 8"/>
          <p:cNvPicPr>
            <a:picLocks noChangeAspect="1" noChangeArrowheads="1"/>
          </p:cNvPicPr>
          <p:nvPr/>
        </p:nvPicPr>
        <p:blipFill>
          <a:blip r:embed="rId2" cstate="print"/>
          <a:srcRect/>
          <a:stretch>
            <a:fillRect/>
          </a:stretch>
        </p:blipFill>
        <p:spPr bwMode="auto">
          <a:xfrm>
            <a:off x="1835696" y="2132856"/>
            <a:ext cx="5410200" cy="2193925"/>
          </a:xfrm>
          <a:prstGeom prst="rect">
            <a:avLst/>
          </a:prstGeom>
          <a:noFill/>
          <a:ln w="9525">
            <a:noFill/>
            <a:miter lim="800000"/>
            <a:headEnd/>
            <a:tailEnd/>
          </a:ln>
        </p:spPr>
      </p:pic>
      <p:pic>
        <p:nvPicPr>
          <p:cNvPr id="70664" name="Picture 9"/>
          <p:cNvPicPr>
            <a:picLocks noChangeAspect="1" noChangeArrowheads="1"/>
          </p:cNvPicPr>
          <p:nvPr/>
        </p:nvPicPr>
        <p:blipFill>
          <a:blip r:embed="rId3" cstate="print"/>
          <a:srcRect/>
          <a:stretch>
            <a:fillRect/>
          </a:stretch>
        </p:blipFill>
        <p:spPr bwMode="auto">
          <a:xfrm>
            <a:off x="1835696" y="4723656"/>
            <a:ext cx="5410200" cy="1143000"/>
          </a:xfrm>
          <a:prstGeom prst="rect">
            <a:avLst/>
          </a:prstGeom>
          <a:noFill/>
          <a:ln w="9525">
            <a:noFill/>
            <a:miter lim="800000"/>
            <a:headEnd/>
            <a:tailEnd/>
          </a:ln>
        </p:spPr>
      </p:pic>
      <p:sp>
        <p:nvSpPr>
          <p:cNvPr id="9" name="标题 8"/>
          <p:cNvSpPr>
            <a:spLocks noGrp="1"/>
          </p:cNvSpPr>
          <p:nvPr>
            <p:ph type="title"/>
          </p:nvPr>
        </p:nvSpPr>
        <p:spPr/>
        <p:txBody>
          <a:bodyPr/>
          <a:lstStyle/>
          <a:p>
            <a:r>
              <a:rPr lang="zh-CN" altLang="en-US" b="1" dirty="0">
                <a:solidFill>
                  <a:schemeClr val="folHlink"/>
                </a:solidFill>
                <a:latin typeface="BIEGHZ+Palatino-Roman"/>
              </a:rPr>
              <a:t>父类、子类和继承</a:t>
            </a:r>
            <a:endParaRPr lang="zh-CN" alt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5" name="Rectangle 5"/>
          <p:cNvSpPr>
            <a:spLocks noChangeArrowheads="1"/>
          </p:cNvSpPr>
          <p:nvPr/>
        </p:nvSpPr>
        <p:spPr bwMode="auto">
          <a:xfrm>
            <a:off x="457200" y="2057400"/>
            <a:ext cx="7848600" cy="3881438"/>
          </a:xfrm>
          <a:prstGeom prst="rect">
            <a:avLst/>
          </a:prstGeom>
          <a:noFill/>
          <a:ln w="9525">
            <a:noFill/>
            <a:miter lim="800000"/>
            <a:headEnd/>
            <a:tailEnd/>
          </a:ln>
        </p:spPr>
        <p:txBody>
          <a:bodyPr/>
          <a:lstStyle/>
          <a:p>
            <a:pPr marL="609600" indent="-609600">
              <a:lnSpc>
                <a:spcPct val="90000"/>
              </a:lnSpc>
              <a:spcBef>
                <a:spcPct val="20000"/>
              </a:spcBef>
              <a:buClr>
                <a:schemeClr val="accent2"/>
              </a:buClr>
              <a:buFont typeface="Wingdings" pitchFamily="2" charset="2"/>
              <a:buNone/>
            </a:pPr>
            <a:endParaRPr lang="en-US" altLang="zh-CN" sz="2800">
              <a:latin typeface="宋体" pitchFamily="2" charset="-122"/>
            </a:endParaRPr>
          </a:p>
          <a:p>
            <a:pPr marL="609600" indent="-609600">
              <a:lnSpc>
                <a:spcPct val="90000"/>
              </a:lnSpc>
              <a:spcBef>
                <a:spcPct val="20000"/>
              </a:spcBef>
              <a:buClr>
                <a:schemeClr val="accent2"/>
              </a:buClr>
              <a:buFont typeface="Wingdings" pitchFamily="2" charset="2"/>
              <a:buNone/>
            </a:pPr>
            <a:endParaRPr lang="en-US" altLang="zh-CN" sz="2800" b="1">
              <a:latin typeface="BIEGHZ+Palatino-Roman"/>
            </a:endParaRPr>
          </a:p>
          <a:p>
            <a:pPr marL="609600" indent="-609600">
              <a:lnSpc>
                <a:spcPct val="90000"/>
              </a:lnSpc>
              <a:spcBef>
                <a:spcPct val="20000"/>
              </a:spcBef>
              <a:buClr>
                <a:schemeClr val="accent2"/>
              </a:buClr>
              <a:buFont typeface="Wingdings" pitchFamily="2" charset="2"/>
              <a:buNone/>
            </a:pPr>
            <a:endParaRPr lang="en-US" altLang="zh-CN">
              <a:latin typeface="BIEGHZ+Palatino-Roman"/>
            </a:endParaRPr>
          </a:p>
        </p:txBody>
      </p:sp>
      <p:sp>
        <p:nvSpPr>
          <p:cNvPr id="71686" name="Rectangle 8"/>
          <p:cNvSpPr>
            <a:spLocks noGrp="1" noChangeArrowheads="1"/>
          </p:cNvSpPr>
          <p:nvPr>
            <p:ph type="body" idx="1"/>
          </p:nvPr>
        </p:nvSpPr>
        <p:spPr/>
        <p:txBody>
          <a:bodyPr/>
          <a:lstStyle/>
          <a:p>
            <a:pPr marL="609600" indent="-609600" eaLnBrk="1" hangingPunct="1">
              <a:lnSpc>
                <a:spcPct val="90000"/>
              </a:lnSpc>
              <a:buNone/>
            </a:pPr>
            <a:r>
              <a:rPr lang="zh-CN" altLang="en-US" sz="2800" b="1" dirty="0">
                <a:latin typeface="BIEGHZ+Palatino-Roman"/>
              </a:rPr>
              <a:t>定义：</a:t>
            </a:r>
          </a:p>
          <a:p>
            <a:pPr marL="609600" indent="-609600" eaLnBrk="1" hangingPunct="1">
              <a:lnSpc>
                <a:spcPct val="90000"/>
              </a:lnSpc>
              <a:buFont typeface="Wingdings" pitchFamily="2" charset="2"/>
              <a:buNone/>
            </a:pPr>
            <a:r>
              <a:rPr lang="zh-CN" altLang="en-US" sz="2800" dirty="0">
                <a:latin typeface="BIEGHZ+Palatino-Roman"/>
              </a:rPr>
              <a:t>    	</a:t>
            </a:r>
            <a:r>
              <a:rPr lang="zh-CN" altLang="en-US" sz="2800" b="1" dirty="0">
                <a:latin typeface="BIEGHZ+Palatino-Roman"/>
              </a:rPr>
              <a:t>子类</a:t>
            </a:r>
            <a:r>
              <a:rPr lang="zh-CN" altLang="en-US" sz="2800" dirty="0">
                <a:latin typeface="BIEGHZ+Palatino-Roman"/>
              </a:rPr>
              <a:t>：</a:t>
            </a:r>
            <a:r>
              <a:rPr lang="zh-CN" altLang="en-US" sz="2800" dirty="0">
                <a:latin typeface="宋体" pitchFamily="2" charset="-122"/>
              </a:rPr>
              <a:t>继承而得到的类为子类 。子类继承父类的状态和行为，同时也可以修改父类的状态或重写父类的行为，并添加新的状态和行为 </a:t>
            </a:r>
          </a:p>
          <a:p>
            <a:pPr marL="609600" indent="-609600" eaLnBrk="1" hangingPunct="1">
              <a:lnSpc>
                <a:spcPct val="90000"/>
              </a:lnSpc>
              <a:buFont typeface="Wingdings" pitchFamily="2" charset="2"/>
              <a:buNone/>
            </a:pPr>
            <a:r>
              <a:rPr lang="zh-CN" altLang="en-US" sz="2800" dirty="0">
                <a:latin typeface="BIEGHZ+Palatino-Roman"/>
              </a:rPr>
              <a:t>     </a:t>
            </a:r>
          </a:p>
          <a:p>
            <a:pPr marL="609600" indent="-609600" eaLnBrk="1" hangingPunct="1">
              <a:lnSpc>
                <a:spcPct val="90000"/>
              </a:lnSpc>
              <a:buFont typeface="Wingdings" pitchFamily="2" charset="2"/>
              <a:buNone/>
            </a:pPr>
            <a:r>
              <a:rPr lang="zh-CN" altLang="en-US" sz="2800" dirty="0">
                <a:latin typeface="BIEGHZ+Palatino-Roman"/>
              </a:rPr>
              <a:t>	</a:t>
            </a:r>
            <a:r>
              <a:rPr lang="zh-CN" altLang="en-US" sz="2800" b="1" dirty="0">
                <a:latin typeface="BIEGHZ+Palatino-Roman"/>
              </a:rPr>
              <a:t>父类</a:t>
            </a:r>
            <a:r>
              <a:rPr lang="zh-CN" altLang="en-US" sz="2800" dirty="0">
                <a:latin typeface="BIEGHZ+Palatino-Roman"/>
              </a:rPr>
              <a:t>：</a:t>
            </a:r>
            <a:r>
              <a:rPr lang="zh-CN" altLang="en-US" sz="2800" dirty="0">
                <a:latin typeface="宋体" pitchFamily="2" charset="-122"/>
              </a:rPr>
              <a:t>被继承的类为父类，父类包括所有直接或间接被继承的类 </a:t>
            </a:r>
          </a:p>
          <a:p>
            <a:pPr marL="609600" indent="-609600" eaLnBrk="1" hangingPunct="1"/>
            <a:endParaRPr lang="en-US" altLang="zh-CN" dirty="0"/>
          </a:p>
        </p:txBody>
      </p:sp>
      <p:sp>
        <p:nvSpPr>
          <p:cNvPr id="7" name="标题 6"/>
          <p:cNvSpPr>
            <a:spLocks noGrp="1"/>
          </p:cNvSpPr>
          <p:nvPr>
            <p:ph type="title"/>
          </p:nvPr>
        </p:nvSpPr>
        <p:spPr/>
        <p:txBody>
          <a:bodyPr/>
          <a:lstStyle/>
          <a:p>
            <a:r>
              <a:rPr lang="zh-CN" altLang="en-US" b="1" dirty="0">
                <a:solidFill>
                  <a:schemeClr val="folHlink"/>
                </a:solidFill>
                <a:latin typeface="BIEGHZ+Palatino-Roman"/>
              </a:rPr>
              <a:t>父类、子类和继承</a:t>
            </a:r>
            <a:endParaRPr lang="zh-CN" alt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8" name="Rectangle 3"/>
          <p:cNvSpPr>
            <a:spLocks noGrp="1" noChangeArrowheads="1"/>
          </p:cNvSpPr>
          <p:nvPr>
            <p:ph type="body" idx="1"/>
          </p:nvPr>
        </p:nvSpPr>
        <p:spPr>
          <a:xfrm>
            <a:off x="838200" y="2209800"/>
            <a:ext cx="7958138" cy="3881438"/>
          </a:xfrm>
        </p:spPr>
        <p:txBody>
          <a:bodyPr/>
          <a:lstStyle/>
          <a:p>
            <a:pPr marL="609600" indent="-609600" eaLnBrk="1" hangingPunct="1">
              <a:lnSpc>
                <a:spcPct val="90000"/>
              </a:lnSpc>
              <a:buNone/>
            </a:pPr>
            <a:r>
              <a:rPr lang="en-US" altLang="zh-CN" sz="2800" dirty="0">
                <a:latin typeface="BIEGHZ+Palatino-Roman"/>
              </a:rPr>
              <a:t>Java</a:t>
            </a:r>
            <a:r>
              <a:rPr lang="zh-CN" altLang="en-US" sz="2800" dirty="0">
                <a:latin typeface="BIEGHZ+Palatino-Roman"/>
              </a:rPr>
              <a:t>语言是单继承机制 ，不支持多重继承</a:t>
            </a:r>
          </a:p>
          <a:p>
            <a:pPr marL="990600" lvl="1" indent="-533400" eaLnBrk="1" hangingPunct="1">
              <a:lnSpc>
                <a:spcPct val="90000"/>
              </a:lnSpc>
            </a:pPr>
            <a:r>
              <a:rPr lang="zh-CN" altLang="en-US" sz="2600" dirty="0">
                <a:latin typeface="BIEGHZ+Palatino-Roman"/>
              </a:rPr>
              <a:t>单继承是代码更加可靠。</a:t>
            </a:r>
          </a:p>
          <a:p>
            <a:pPr marL="990600" lvl="1" indent="-533400" eaLnBrk="1" hangingPunct="1">
              <a:lnSpc>
                <a:spcPct val="90000"/>
              </a:lnSpc>
            </a:pPr>
            <a:r>
              <a:rPr lang="zh-CN" altLang="en-US" sz="2600" dirty="0">
                <a:latin typeface="BIEGHZ+Palatino-Roman"/>
              </a:rPr>
              <a:t>接口可以提供多继承功能。</a:t>
            </a:r>
          </a:p>
          <a:p>
            <a:pPr marL="609600" indent="-609600" eaLnBrk="1" hangingPunct="1">
              <a:lnSpc>
                <a:spcPct val="90000"/>
              </a:lnSpc>
              <a:buFont typeface="Wingdings" pitchFamily="2" charset="2"/>
              <a:buNone/>
            </a:pPr>
            <a:r>
              <a:rPr lang="zh-CN" altLang="en-US" sz="2800" dirty="0">
                <a:latin typeface="BIEGHZ+Palatino-Roman"/>
              </a:rPr>
              <a:t> </a:t>
            </a:r>
          </a:p>
          <a:p>
            <a:pPr marL="990600" lvl="1" indent="-533400" eaLnBrk="1" hangingPunct="1">
              <a:lnSpc>
                <a:spcPct val="90000"/>
              </a:lnSpc>
              <a:buSzTx/>
              <a:buFont typeface="Wingdings" pitchFamily="2" charset="2"/>
              <a:buNone/>
            </a:pPr>
            <a:endParaRPr lang="zh-CN" altLang="en-US" dirty="0">
              <a:latin typeface="BIEGHZ+Palatino-Roman"/>
            </a:endParaRPr>
          </a:p>
          <a:p>
            <a:pPr marL="990600" lvl="1" indent="-533400" eaLnBrk="1" hangingPunct="1">
              <a:lnSpc>
                <a:spcPct val="90000"/>
              </a:lnSpc>
              <a:buSzTx/>
              <a:buFont typeface="Wingdings" pitchFamily="2" charset="2"/>
              <a:buChar char="w"/>
            </a:pPr>
            <a:endParaRPr lang="zh-CN" altLang="en-US" dirty="0">
              <a:latin typeface="BIEGHZ+Palatino-Roman"/>
            </a:endParaRPr>
          </a:p>
          <a:p>
            <a:pPr marL="609600" indent="-609600" eaLnBrk="1" hangingPunct="1"/>
            <a:endParaRPr lang="en-US" altLang="zh-CN" dirty="0"/>
          </a:p>
        </p:txBody>
      </p:sp>
      <p:sp>
        <p:nvSpPr>
          <p:cNvPr id="6" name="标题 5"/>
          <p:cNvSpPr>
            <a:spLocks noGrp="1"/>
          </p:cNvSpPr>
          <p:nvPr>
            <p:ph type="title"/>
          </p:nvPr>
        </p:nvSpPr>
        <p:spPr/>
        <p:txBody>
          <a:bodyPr/>
          <a:lstStyle/>
          <a:p>
            <a:r>
              <a:rPr lang="zh-CN" altLang="en-US" b="1" dirty="0">
                <a:solidFill>
                  <a:schemeClr val="folHlink"/>
                </a:solidFill>
                <a:latin typeface="BIEGHZ+Palatino-Roman"/>
              </a:rPr>
              <a:t>父类、子类和继承</a:t>
            </a:r>
            <a:endParaRPr lang="zh-CN" alt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2" name="Rectangle 3"/>
          <p:cNvSpPr>
            <a:spLocks noGrp="1" noChangeArrowheads="1"/>
          </p:cNvSpPr>
          <p:nvPr>
            <p:ph type="body" idx="1"/>
          </p:nvPr>
        </p:nvSpPr>
        <p:spPr>
          <a:xfrm>
            <a:off x="611560" y="1196752"/>
            <a:ext cx="8001000" cy="4800600"/>
          </a:xfrm>
        </p:spPr>
        <p:txBody>
          <a:bodyPr/>
          <a:lstStyle/>
          <a:p>
            <a:pPr marL="609600" indent="-609600" eaLnBrk="1" hangingPunct="1">
              <a:buFont typeface="Wingdings" pitchFamily="2" charset="2"/>
              <a:buNone/>
            </a:pPr>
            <a:endParaRPr lang="en-US" altLang="zh-CN" sz="2400">
              <a:solidFill>
                <a:srgbClr val="000000"/>
              </a:solidFill>
            </a:endParaRPr>
          </a:p>
          <a:p>
            <a:pPr marL="609600" indent="-609600" eaLnBrk="1" hangingPunct="1">
              <a:buFont typeface="Wingdings" pitchFamily="2" charset="2"/>
              <a:buNone/>
            </a:pPr>
            <a:endParaRPr lang="en-US" altLang="zh-CN" sz="2400">
              <a:solidFill>
                <a:srgbClr val="000000"/>
              </a:solidFill>
            </a:endParaRPr>
          </a:p>
        </p:txBody>
      </p:sp>
      <p:sp>
        <p:nvSpPr>
          <p:cNvPr id="73734" name="Text Box 9"/>
          <p:cNvSpPr txBox="1">
            <a:spLocks noChangeArrowheads="1"/>
          </p:cNvSpPr>
          <p:nvPr/>
        </p:nvSpPr>
        <p:spPr bwMode="auto">
          <a:xfrm>
            <a:off x="2973760" y="1796827"/>
            <a:ext cx="1600200" cy="466725"/>
          </a:xfrm>
          <a:prstGeom prst="rect">
            <a:avLst/>
          </a:prstGeom>
          <a:noFill/>
          <a:ln w="9525">
            <a:solidFill>
              <a:schemeClr val="tx1"/>
            </a:solidFill>
            <a:miter lim="800000"/>
            <a:headEnd/>
            <a:tailEnd/>
          </a:ln>
        </p:spPr>
        <p:txBody>
          <a:bodyPr>
            <a:spAutoFit/>
          </a:bodyPr>
          <a:lstStyle/>
          <a:p>
            <a:pPr>
              <a:spcBef>
                <a:spcPct val="50000"/>
              </a:spcBef>
            </a:pPr>
            <a:r>
              <a:rPr lang="en-US" altLang="zh-CN"/>
              <a:t> </a:t>
            </a:r>
            <a:r>
              <a:rPr lang="zh-CN" altLang="en-US" b="1"/>
              <a:t>交通工具</a:t>
            </a:r>
          </a:p>
        </p:txBody>
      </p:sp>
      <p:sp>
        <p:nvSpPr>
          <p:cNvPr id="73735" name="Line 10"/>
          <p:cNvSpPr>
            <a:spLocks noChangeShapeType="1"/>
          </p:cNvSpPr>
          <p:nvPr/>
        </p:nvSpPr>
        <p:spPr bwMode="auto">
          <a:xfrm>
            <a:off x="3659560" y="2292127"/>
            <a:ext cx="0" cy="457200"/>
          </a:xfrm>
          <a:prstGeom prst="line">
            <a:avLst/>
          </a:prstGeom>
          <a:noFill/>
          <a:ln w="9525">
            <a:solidFill>
              <a:schemeClr val="tx1"/>
            </a:solidFill>
            <a:round/>
            <a:headEnd/>
            <a:tailEnd/>
          </a:ln>
        </p:spPr>
        <p:txBody>
          <a:bodyPr wrap="none"/>
          <a:lstStyle/>
          <a:p>
            <a:endParaRPr lang="zh-CN" altLang="en-US"/>
          </a:p>
        </p:txBody>
      </p:sp>
      <p:sp>
        <p:nvSpPr>
          <p:cNvPr id="73736" name="Text Box 11"/>
          <p:cNvSpPr txBox="1">
            <a:spLocks noChangeArrowheads="1"/>
          </p:cNvSpPr>
          <p:nvPr/>
        </p:nvSpPr>
        <p:spPr bwMode="auto">
          <a:xfrm>
            <a:off x="2973760" y="2749327"/>
            <a:ext cx="1600200" cy="466725"/>
          </a:xfrm>
          <a:prstGeom prst="rect">
            <a:avLst/>
          </a:prstGeom>
          <a:noFill/>
          <a:ln w="9525">
            <a:solidFill>
              <a:schemeClr val="tx1"/>
            </a:solidFill>
            <a:miter lim="800000"/>
            <a:headEnd/>
            <a:tailEnd/>
          </a:ln>
        </p:spPr>
        <p:txBody>
          <a:bodyPr>
            <a:spAutoFit/>
          </a:bodyPr>
          <a:lstStyle/>
          <a:p>
            <a:pPr>
              <a:spcBef>
                <a:spcPct val="50000"/>
              </a:spcBef>
            </a:pPr>
            <a:r>
              <a:rPr lang="en-US" altLang="zh-CN"/>
              <a:t>    </a:t>
            </a:r>
            <a:r>
              <a:rPr lang="zh-CN" altLang="en-US" b="1"/>
              <a:t>汽车</a:t>
            </a:r>
          </a:p>
        </p:txBody>
      </p:sp>
      <p:sp>
        <p:nvSpPr>
          <p:cNvPr id="73737" name="Line 12"/>
          <p:cNvSpPr>
            <a:spLocks noChangeShapeType="1"/>
          </p:cNvSpPr>
          <p:nvPr/>
        </p:nvSpPr>
        <p:spPr bwMode="auto">
          <a:xfrm>
            <a:off x="3659560" y="3244627"/>
            <a:ext cx="0" cy="457200"/>
          </a:xfrm>
          <a:prstGeom prst="line">
            <a:avLst/>
          </a:prstGeom>
          <a:noFill/>
          <a:ln w="9525">
            <a:solidFill>
              <a:schemeClr val="tx1"/>
            </a:solidFill>
            <a:round/>
            <a:headEnd/>
            <a:tailEnd/>
          </a:ln>
        </p:spPr>
        <p:txBody>
          <a:bodyPr wrap="none"/>
          <a:lstStyle/>
          <a:p>
            <a:endParaRPr lang="zh-CN" altLang="en-US"/>
          </a:p>
        </p:txBody>
      </p:sp>
      <p:sp>
        <p:nvSpPr>
          <p:cNvPr id="73738" name="Text Box 13"/>
          <p:cNvSpPr txBox="1">
            <a:spLocks noChangeArrowheads="1"/>
          </p:cNvSpPr>
          <p:nvPr/>
        </p:nvSpPr>
        <p:spPr bwMode="auto">
          <a:xfrm>
            <a:off x="763960" y="4006627"/>
            <a:ext cx="1600200" cy="466725"/>
          </a:xfrm>
          <a:prstGeom prst="rect">
            <a:avLst/>
          </a:prstGeom>
          <a:noFill/>
          <a:ln w="9525">
            <a:solidFill>
              <a:schemeClr val="tx1"/>
            </a:solidFill>
            <a:miter lim="800000"/>
            <a:headEnd/>
            <a:tailEnd/>
          </a:ln>
        </p:spPr>
        <p:txBody>
          <a:bodyPr>
            <a:spAutoFit/>
          </a:bodyPr>
          <a:lstStyle/>
          <a:p>
            <a:pPr>
              <a:spcBef>
                <a:spcPct val="50000"/>
              </a:spcBef>
            </a:pPr>
            <a:r>
              <a:rPr lang="en-US" altLang="zh-CN" b="1"/>
              <a:t>   </a:t>
            </a:r>
            <a:r>
              <a:rPr lang="zh-CN" altLang="en-US" b="1"/>
              <a:t>卡车</a:t>
            </a:r>
          </a:p>
        </p:txBody>
      </p:sp>
      <p:sp>
        <p:nvSpPr>
          <p:cNvPr id="73739" name="Text Box 14"/>
          <p:cNvSpPr txBox="1">
            <a:spLocks noChangeArrowheads="1"/>
          </p:cNvSpPr>
          <p:nvPr/>
        </p:nvSpPr>
        <p:spPr bwMode="auto">
          <a:xfrm>
            <a:off x="2973760" y="4006627"/>
            <a:ext cx="1600200" cy="466725"/>
          </a:xfrm>
          <a:prstGeom prst="rect">
            <a:avLst/>
          </a:prstGeom>
          <a:noFill/>
          <a:ln w="9525">
            <a:solidFill>
              <a:schemeClr val="tx1"/>
            </a:solidFill>
            <a:miter lim="800000"/>
            <a:headEnd/>
            <a:tailEnd/>
          </a:ln>
        </p:spPr>
        <p:txBody>
          <a:bodyPr>
            <a:spAutoFit/>
          </a:bodyPr>
          <a:lstStyle/>
          <a:p>
            <a:pPr>
              <a:spcBef>
                <a:spcPct val="50000"/>
              </a:spcBef>
            </a:pPr>
            <a:r>
              <a:rPr lang="zh-CN" altLang="en-US" b="1"/>
              <a:t>旅行车</a:t>
            </a:r>
          </a:p>
        </p:txBody>
      </p:sp>
      <p:sp>
        <p:nvSpPr>
          <p:cNvPr id="73740" name="Text Box 15"/>
          <p:cNvSpPr txBox="1">
            <a:spLocks noChangeArrowheads="1"/>
          </p:cNvSpPr>
          <p:nvPr/>
        </p:nvSpPr>
        <p:spPr bwMode="auto">
          <a:xfrm>
            <a:off x="5183560" y="4006627"/>
            <a:ext cx="1600200" cy="466725"/>
          </a:xfrm>
          <a:prstGeom prst="rect">
            <a:avLst/>
          </a:prstGeom>
          <a:noFill/>
          <a:ln w="9525">
            <a:solidFill>
              <a:schemeClr val="tx1"/>
            </a:solidFill>
            <a:miter lim="800000"/>
            <a:headEnd/>
            <a:tailEnd/>
          </a:ln>
        </p:spPr>
        <p:txBody>
          <a:bodyPr>
            <a:spAutoFit/>
          </a:bodyPr>
          <a:lstStyle/>
          <a:p>
            <a:pPr>
              <a:spcBef>
                <a:spcPct val="50000"/>
              </a:spcBef>
            </a:pPr>
            <a:r>
              <a:rPr lang="en-US" altLang="zh-CN" b="1"/>
              <a:t>  </a:t>
            </a:r>
            <a:r>
              <a:rPr lang="zh-CN" altLang="en-US" b="1"/>
              <a:t>小汽车</a:t>
            </a:r>
          </a:p>
        </p:txBody>
      </p:sp>
      <p:sp>
        <p:nvSpPr>
          <p:cNvPr id="73741" name="Line 16"/>
          <p:cNvSpPr>
            <a:spLocks noChangeShapeType="1"/>
          </p:cNvSpPr>
          <p:nvPr/>
        </p:nvSpPr>
        <p:spPr bwMode="auto">
          <a:xfrm>
            <a:off x="1373560" y="3701827"/>
            <a:ext cx="4572000" cy="0"/>
          </a:xfrm>
          <a:prstGeom prst="line">
            <a:avLst/>
          </a:prstGeom>
          <a:noFill/>
          <a:ln w="9525">
            <a:solidFill>
              <a:schemeClr val="tx1"/>
            </a:solidFill>
            <a:round/>
            <a:headEnd/>
            <a:tailEnd/>
          </a:ln>
        </p:spPr>
        <p:txBody>
          <a:bodyPr wrap="none"/>
          <a:lstStyle/>
          <a:p>
            <a:endParaRPr lang="zh-CN" altLang="en-US"/>
          </a:p>
        </p:txBody>
      </p:sp>
      <p:sp>
        <p:nvSpPr>
          <p:cNvPr id="73742" name="Line 17"/>
          <p:cNvSpPr>
            <a:spLocks noChangeShapeType="1"/>
          </p:cNvSpPr>
          <p:nvPr/>
        </p:nvSpPr>
        <p:spPr bwMode="auto">
          <a:xfrm>
            <a:off x="1373560" y="3720877"/>
            <a:ext cx="0" cy="304800"/>
          </a:xfrm>
          <a:prstGeom prst="line">
            <a:avLst/>
          </a:prstGeom>
          <a:noFill/>
          <a:ln w="9525">
            <a:solidFill>
              <a:schemeClr val="tx1"/>
            </a:solidFill>
            <a:round/>
            <a:headEnd/>
            <a:tailEnd/>
          </a:ln>
        </p:spPr>
        <p:txBody>
          <a:bodyPr wrap="none"/>
          <a:lstStyle/>
          <a:p>
            <a:endParaRPr lang="zh-CN" altLang="en-US"/>
          </a:p>
        </p:txBody>
      </p:sp>
      <p:sp>
        <p:nvSpPr>
          <p:cNvPr id="73743" name="Line 18"/>
          <p:cNvSpPr>
            <a:spLocks noChangeShapeType="1"/>
          </p:cNvSpPr>
          <p:nvPr/>
        </p:nvSpPr>
        <p:spPr bwMode="auto">
          <a:xfrm>
            <a:off x="5926510" y="3701827"/>
            <a:ext cx="0" cy="304800"/>
          </a:xfrm>
          <a:prstGeom prst="line">
            <a:avLst/>
          </a:prstGeom>
          <a:noFill/>
          <a:ln w="9525">
            <a:solidFill>
              <a:schemeClr val="tx1"/>
            </a:solidFill>
            <a:round/>
            <a:headEnd/>
            <a:tailEnd/>
          </a:ln>
        </p:spPr>
        <p:txBody>
          <a:bodyPr wrap="none"/>
          <a:lstStyle/>
          <a:p>
            <a:endParaRPr lang="zh-CN" altLang="en-US"/>
          </a:p>
        </p:txBody>
      </p:sp>
      <p:sp>
        <p:nvSpPr>
          <p:cNvPr id="73744" name="Line 19"/>
          <p:cNvSpPr>
            <a:spLocks noChangeShapeType="1"/>
          </p:cNvSpPr>
          <p:nvPr/>
        </p:nvSpPr>
        <p:spPr bwMode="auto">
          <a:xfrm>
            <a:off x="3659560" y="3701827"/>
            <a:ext cx="0" cy="304800"/>
          </a:xfrm>
          <a:prstGeom prst="line">
            <a:avLst/>
          </a:prstGeom>
          <a:noFill/>
          <a:ln w="9525">
            <a:solidFill>
              <a:schemeClr val="tx1"/>
            </a:solidFill>
            <a:round/>
            <a:headEnd/>
            <a:tailEnd/>
          </a:ln>
        </p:spPr>
        <p:txBody>
          <a:bodyPr wrap="none"/>
          <a:lstStyle/>
          <a:p>
            <a:endParaRPr lang="zh-CN" altLang="en-US"/>
          </a:p>
        </p:txBody>
      </p:sp>
      <p:sp>
        <p:nvSpPr>
          <p:cNvPr id="73745" name="Line 20"/>
          <p:cNvSpPr>
            <a:spLocks noChangeShapeType="1"/>
          </p:cNvSpPr>
          <p:nvPr/>
        </p:nvSpPr>
        <p:spPr bwMode="auto">
          <a:xfrm>
            <a:off x="5716960" y="4540027"/>
            <a:ext cx="0" cy="457200"/>
          </a:xfrm>
          <a:prstGeom prst="line">
            <a:avLst/>
          </a:prstGeom>
          <a:noFill/>
          <a:ln w="9525">
            <a:solidFill>
              <a:schemeClr val="tx1"/>
            </a:solidFill>
            <a:round/>
            <a:headEnd/>
            <a:tailEnd/>
          </a:ln>
        </p:spPr>
        <p:txBody>
          <a:bodyPr wrap="none"/>
          <a:lstStyle/>
          <a:p>
            <a:endParaRPr lang="zh-CN" altLang="en-US"/>
          </a:p>
        </p:txBody>
      </p:sp>
      <p:sp>
        <p:nvSpPr>
          <p:cNvPr id="73746" name="Text Box 21"/>
          <p:cNvSpPr txBox="1">
            <a:spLocks noChangeArrowheads="1"/>
          </p:cNvSpPr>
          <p:nvPr/>
        </p:nvSpPr>
        <p:spPr bwMode="auto">
          <a:xfrm>
            <a:off x="2821360" y="5302027"/>
            <a:ext cx="1600200" cy="466725"/>
          </a:xfrm>
          <a:prstGeom prst="rect">
            <a:avLst/>
          </a:prstGeom>
          <a:noFill/>
          <a:ln w="9525">
            <a:solidFill>
              <a:schemeClr val="tx1"/>
            </a:solidFill>
            <a:miter lim="800000"/>
            <a:headEnd/>
            <a:tailEnd/>
          </a:ln>
        </p:spPr>
        <p:txBody>
          <a:bodyPr>
            <a:spAutoFit/>
          </a:bodyPr>
          <a:lstStyle/>
          <a:p>
            <a:pPr>
              <a:spcBef>
                <a:spcPct val="50000"/>
              </a:spcBef>
            </a:pPr>
            <a:r>
              <a:rPr lang="en-US" altLang="zh-CN" b="1"/>
              <a:t>   </a:t>
            </a:r>
            <a:r>
              <a:rPr lang="zh-CN" altLang="en-US" b="1"/>
              <a:t>轿车</a:t>
            </a:r>
          </a:p>
        </p:txBody>
      </p:sp>
      <p:sp>
        <p:nvSpPr>
          <p:cNvPr id="73747" name="Text Box 22"/>
          <p:cNvSpPr txBox="1">
            <a:spLocks noChangeArrowheads="1"/>
          </p:cNvSpPr>
          <p:nvPr/>
        </p:nvSpPr>
        <p:spPr bwMode="auto">
          <a:xfrm>
            <a:off x="5031160" y="5302027"/>
            <a:ext cx="1600200" cy="466725"/>
          </a:xfrm>
          <a:prstGeom prst="rect">
            <a:avLst/>
          </a:prstGeom>
          <a:noFill/>
          <a:ln w="9525">
            <a:solidFill>
              <a:schemeClr val="tx1"/>
            </a:solidFill>
            <a:miter lim="800000"/>
            <a:headEnd/>
            <a:tailEnd/>
          </a:ln>
        </p:spPr>
        <p:txBody>
          <a:bodyPr>
            <a:spAutoFit/>
          </a:bodyPr>
          <a:lstStyle/>
          <a:p>
            <a:pPr>
              <a:spcBef>
                <a:spcPct val="50000"/>
              </a:spcBef>
            </a:pPr>
            <a:r>
              <a:rPr lang="en-US" altLang="zh-CN" b="1"/>
              <a:t>    </a:t>
            </a:r>
            <a:r>
              <a:rPr lang="zh-CN" altLang="en-US" b="1"/>
              <a:t>跑车</a:t>
            </a:r>
          </a:p>
        </p:txBody>
      </p:sp>
      <p:sp>
        <p:nvSpPr>
          <p:cNvPr id="73748" name="Text Box 23"/>
          <p:cNvSpPr txBox="1">
            <a:spLocks noChangeArrowheads="1"/>
          </p:cNvSpPr>
          <p:nvPr/>
        </p:nvSpPr>
        <p:spPr bwMode="auto">
          <a:xfrm>
            <a:off x="7240960" y="5302027"/>
            <a:ext cx="1600200" cy="466725"/>
          </a:xfrm>
          <a:prstGeom prst="rect">
            <a:avLst/>
          </a:prstGeom>
          <a:noFill/>
          <a:ln w="9525">
            <a:solidFill>
              <a:schemeClr val="tx1"/>
            </a:solidFill>
            <a:miter lim="800000"/>
            <a:headEnd/>
            <a:tailEnd/>
          </a:ln>
        </p:spPr>
        <p:txBody>
          <a:bodyPr>
            <a:spAutoFit/>
          </a:bodyPr>
          <a:lstStyle/>
          <a:p>
            <a:pPr>
              <a:spcBef>
                <a:spcPct val="50000"/>
              </a:spcBef>
            </a:pPr>
            <a:r>
              <a:rPr lang="en-US" altLang="zh-CN" b="1"/>
              <a:t>   </a:t>
            </a:r>
            <a:r>
              <a:rPr lang="zh-CN" altLang="en-US" b="1"/>
              <a:t>面包车</a:t>
            </a:r>
          </a:p>
        </p:txBody>
      </p:sp>
      <p:sp>
        <p:nvSpPr>
          <p:cNvPr id="73749" name="Line 24"/>
          <p:cNvSpPr>
            <a:spLocks noChangeShapeType="1"/>
          </p:cNvSpPr>
          <p:nvPr/>
        </p:nvSpPr>
        <p:spPr bwMode="auto">
          <a:xfrm>
            <a:off x="3430960" y="5016277"/>
            <a:ext cx="0" cy="304800"/>
          </a:xfrm>
          <a:prstGeom prst="line">
            <a:avLst/>
          </a:prstGeom>
          <a:noFill/>
          <a:ln w="9525">
            <a:solidFill>
              <a:schemeClr val="tx1"/>
            </a:solidFill>
            <a:round/>
            <a:headEnd/>
            <a:tailEnd/>
          </a:ln>
        </p:spPr>
        <p:txBody>
          <a:bodyPr wrap="none"/>
          <a:lstStyle/>
          <a:p>
            <a:endParaRPr lang="zh-CN" altLang="en-US"/>
          </a:p>
        </p:txBody>
      </p:sp>
      <p:sp>
        <p:nvSpPr>
          <p:cNvPr id="73750" name="Line 25"/>
          <p:cNvSpPr>
            <a:spLocks noChangeShapeType="1"/>
          </p:cNvSpPr>
          <p:nvPr/>
        </p:nvSpPr>
        <p:spPr bwMode="auto">
          <a:xfrm>
            <a:off x="5716960" y="4997227"/>
            <a:ext cx="0" cy="304800"/>
          </a:xfrm>
          <a:prstGeom prst="line">
            <a:avLst/>
          </a:prstGeom>
          <a:noFill/>
          <a:ln w="9525">
            <a:solidFill>
              <a:schemeClr val="tx1"/>
            </a:solidFill>
            <a:round/>
            <a:headEnd/>
            <a:tailEnd/>
          </a:ln>
        </p:spPr>
        <p:txBody>
          <a:bodyPr wrap="none"/>
          <a:lstStyle/>
          <a:p>
            <a:endParaRPr lang="zh-CN" altLang="en-US"/>
          </a:p>
        </p:txBody>
      </p:sp>
      <p:sp>
        <p:nvSpPr>
          <p:cNvPr id="73751" name="Line 26"/>
          <p:cNvSpPr>
            <a:spLocks noChangeShapeType="1"/>
          </p:cNvSpPr>
          <p:nvPr/>
        </p:nvSpPr>
        <p:spPr bwMode="auto">
          <a:xfrm>
            <a:off x="3430960" y="5006752"/>
            <a:ext cx="4800600" cy="0"/>
          </a:xfrm>
          <a:prstGeom prst="line">
            <a:avLst/>
          </a:prstGeom>
          <a:noFill/>
          <a:ln w="9525">
            <a:solidFill>
              <a:schemeClr val="tx1"/>
            </a:solidFill>
            <a:round/>
            <a:headEnd/>
            <a:tailEnd/>
          </a:ln>
        </p:spPr>
        <p:txBody>
          <a:bodyPr wrap="none"/>
          <a:lstStyle/>
          <a:p>
            <a:endParaRPr lang="zh-CN" altLang="en-US"/>
          </a:p>
        </p:txBody>
      </p:sp>
      <p:sp>
        <p:nvSpPr>
          <p:cNvPr id="73752" name="Line 27"/>
          <p:cNvSpPr>
            <a:spLocks noChangeShapeType="1"/>
          </p:cNvSpPr>
          <p:nvPr/>
        </p:nvSpPr>
        <p:spPr bwMode="auto">
          <a:xfrm>
            <a:off x="8231560" y="5006752"/>
            <a:ext cx="0" cy="304800"/>
          </a:xfrm>
          <a:prstGeom prst="line">
            <a:avLst/>
          </a:prstGeom>
          <a:noFill/>
          <a:ln w="9525">
            <a:solidFill>
              <a:schemeClr val="tx1"/>
            </a:solidFill>
            <a:round/>
            <a:headEnd/>
            <a:tailEnd/>
          </a:ln>
        </p:spPr>
        <p:txBody>
          <a:bodyPr wrap="none"/>
          <a:lstStyle/>
          <a:p>
            <a:endParaRPr lang="zh-CN" altLang="en-US"/>
          </a:p>
        </p:txBody>
      </p:sp>
      <p:sp>
        <p:nvSpPr>
          <p:cNvPr id="26" name="标题 25"/>
          <p:cNvSpPr>
            <a:spLocks noGrp="1"/>
          </p:cNvSpPr>
          <p:nvPr>
            <p:ph type="title"/>
          </p:nvPr>
        </p:nvSpPr>
        <p:spPr/>
        <p:txBody>
          <a:bodyPr/>
          <a:lstStyle/>
          <a:p>
            <a:endParaRPr lang="zh-CN" alt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6" name="Rectangle 3"/>
          <p:cNvSpPr>
            <a:spLocks noGrp="1" noChangeArrowheads="1"/>
          </p:cNvSpPr>
          <p:nvPr>
            <p:ph type="body" idx="1"/>
          </p:nvPr>
        </p:nvSpPr>
        <p:spPr>
          <a:xfrm>
            <a:off x="762000" y="1628800"/>
            <a:ext cx="8001000" cy="4800600"/>
          </a:xfrm>
        </p:spPr>
        <p:txBody>
          <a:bodyPr/>
          <a:lstStyle/>
          <a:p>
            <a:pPr marL="609600" indent="-609600" eaLnBrk="1" hangingPunct="1">
              <a:lnSpc>
                <a:spcPct val="90000"/>
              </a:lnSpc>
              <a:buNone/>
            </a:pPr>
            <a:r>
              <a:rPr lang="en-US" altLang="zh-CN" sz="2800" dirty="0">
                <a:cs typeface="Times New Roman" pitchFamily="18" charset="0"/>
              </a:rPr>
              <a:t>Java</a:t>
            </a:r>
            <a:r>
              <a:rPr lang="zh-CN" altLang="en-US" sz="2800" dirty="0">
                <a:cs typeface="Times New Roman" pitchFamily="18" charset="0"/>
              </a:rPr>
              <a:t>中，所有的类都是通过直接或间接地继承</a:t>
            </a:r>
            <a:r>
              <a:rPr lang="en-US" altLang="zh-CN" sz="2800" dirty="0">
                <a:cs typeface="Times New Roman" pitchFamily="18" charset="0"/>
              </a:rPr>
              <a:t>java.lang.Object</a:t>
            </a:r>
            <a:r>
              <a:rPr lang="zh-CN" altLang="en-US" sz="2800" dirty="0">
                <a:cs typeface="Times New Roman" pitchFamily="18" charset="0"/>
              </a:rPr>
              <a:t>得到的</a:t>
            </a:r>
          </a:p>
          <a:p>
            <a:pPr marL="609600" indent="-609600" eaLnBrk="1" hangingPunct="1">
              <a:buFont typeface="Wingdings" pitchFamily="2" charset="2"/>
              <a:buNone/>
            </a:pPr>
            <a:endParaRPr lang="zh-CN" altLang="en-US" sz="2400" dirty="0">
              <a:solidFill>
                <a:srgbClr val="000000"/>
              </a:solidFill>
            </a:endParaRPr>
          </a:p>
          <a:p>
            <a:pPr marL="609600" indent="-609600" eaLnBrk="1" hangingPunct="1">
              <a:buFont typeface="Wingdings" pitchFamily="2" charset="2"/>
              <a:buNone/>
            </a:pPr>
            <a:endParaRPr lang="en-US" altLang="zh-CN" sz="2400" dirty="0">
              <a:solidFill>
                <a:srgbClr val="000000"/>
              </a:solidFill>
            </a:endParaRPr>
          </a:p>
        </p:txBody>
      </p:sp>
      <p:sp>
        <p:nvSpPr>
          <p:cNvPr id="74758" name="Rectangle 5"/>
          <p:cNvSpPr>
            <a:spLocks noChangeArrowheads="1"/>
          </p:cNvSpPr>
          <p:nvPr/>
        </p:nvSpPr>
        <p:spPr bwMode="auto">
          <a:xfrm>
            <a:off x="457200" y="2355874"/>
            <a:ext cx="7848600" cy="3881438"/>
          </a:xfrm>
          <a:prstGeom prst="rect">
            <a:avLst/>
          </a:prstGeom>
          <a:noFill/>
          <a:ln w="9525">
            <a:noFill/>
            <a:miter lim="800000"/>
            <a:headEnd/>
            <a:tailEnd/>
          </a:ln>
        </p:spPr>
        <p:txBody>
          <a:bodyPr/>
          <a:lstStyle/>
          <a:p>
            <a:pPr marL="609600" indent="-609600">
              <a:lnSpc>
                <a:spcPct val="90000"/>
              </a:lnSpc>
              <a:spcBef>
                <a:spcPct val="20000"/>
              </a:spcBef>
              <a:buClr>
                <a:schemeClr val="accent2"/>
              </a:buClr>
              <a:buFont typeface="Wingdings" pitchFamily="2" charset="2"/>
              <a:buNone/>
            </a:pPr>
            <a:endParaRPr lang="en-US" altLang="zh-CN" sz="2800">
              <a:latin typeface="BIEGHZ+Palatino-Roman"/>
            </a:endParaRPr>
          </a:p>
          <a:p>
            <a:pPr marL="609600" indent="-609600">
              <a:lnSpc>
                <a:spcPct val="90000"/>
              </a:lnSpc>
              <a:spcBef>
                <a:spcPct val="20000"/>
              </a:spcBef>
              <a:buClr>
                <a:schemeClr val="accent2"/>
              </a:buClr>
              <a:buFont typeface="Wingdings" pitchFamily="2" charset="2"/>
              <a:buNone/>
            </a:pPr>
            <a:r>
              <a:rPr lang="en-US" altLang="zh-CN" sz="2800" b="1">
                <a:solidFill>
                  <a:schemeClr val="folHlink"/>
                </a:solidFill>
                <a:latin typeface="BIEGHZ+Palatino-Roman"/>
              </a:rPr>
              <a:t> </a:t>
            </a:r>
            <a:endParaRPr lang="en-US" altLang="zh-CN" sz="2800">
              <a:latin typeface="BIEGHZ+Palatino-Roman"/>
            </a:endParaRPr>
          </a:p>
          <a:p>
            <a:pPr marL="609600" indent="-609600">
              <a:lnSpc>
                <a:spcPct val="90000"/>
              </a:lnSpc>
              <a:spcBef>
                <a:spcPct val="20000"/>
              </a:spcBef>
              <a:buClr>
                <a:schemeClr val="accent2"/>
              </a:buClr>
              <a:buFont typeface="Wingdings" pitchFamily="2" charset="2"/>
              <a:buNone/>
            </a:pPr>
            <a:endParaRPr lang="en-US" altLang="zh-CN">
              <a:latin typeface="BIEGHZ+Palatino-Roman"/>
            </a:endParaRPr>
          </a:p>
        </p:txBody>
      </p:sp>
      <p:pic>
        <p:nvPicPr>
          <p:cNvPr id="74759" name="Picture 7" descr="Image12"/>
          <p:cNvPicPr>
            <a:picLocks noChangeAspect="1" noChangeArrowheads="1"/>
          </p:cNvPicPr>
          <p:nvPr/>
        </p:nvPicPr>
        <p:blipFill>
          <a:blip r:embed="rId2" cstate="print"/>
          <a:srcRect/>
          <a:stretch>
            <a:fillRect/>
          </a:stretch>
        </p:blipFill>
        <p:spPr bwMode="auto">
          <a:xfrm>
            <a:off x="1828800" y="2861320"/>
            <a:ext cx="5029200" cy="3063875"/>
          </a:xfrm>
          <a:prstGeom prst="rect">
            <a:avLst/>
          </a:prstGeom>
          <a:noFill/>
          <a:ln w="9525">
            <a:noFill/>
            <a:miter lim="800000"/>
            <a:headEnd/>
            <a:tailEnd/>
          </a:ln>
        </p:spPr>
      </p:pic>
      <p:sp>
        <p:nvSpPr>
          <p:cNvPr id="8" name="标题 7"/>
          <p:cNvSpPr>
            <a:spLocks noGrp="1"/>
          </p:cNvSpPr>
          <p:nvPr>
            <p:ph type="title"/>
          </p:nvPr>
        </p:nvSpPr>
        <p:spPr/>
        <p:txBody>
          <a:bodyPr/>
          <a:lstStyle/>
          <a:p>
            <a:r>
              <a:rPr lang="zh-CN" altLang="en-US" b="1" dirty="0">
                <a:solidFill>
                  <a:schemeClr val="folHlink"/>
                </a:solidFill>
                <a:latin typeface="BIEGHZ+Palatino-Roman"/>
              </a:rPr>
              <a:t>父类、子类和继承</a:t>
            </a:r>
            <a:endParaRPr lang="zh-CN" altLang="en-US"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80" name="Rectangle 3"/>
          <p:cNvSpPr>
            <a:spLocks noGrp="1" noChangeArrowheads="1"/>
          </p:cNvSpPr>
          <p:nvPr>
            <p:ph type="body" idx="1"/>
          </p:nvPr>
        </p:nvSpPr>
        <p:spPr/>
        <p:txBody>
          <a:bodyPr/>
          <a:lstStyle/>
          <a:p>
            <a:pPr marL="609600" indent="-609600" eaLnBrk="1" hangingPunct="1">
              <a:lnSpc>
                <a:spcPct val="90000"/>
              </a:lnSpc>
            </a:pPr>
            <a:r>
              <a:rPr lang="zh-CN" altLang="en-US" sz="2800" b="1" dirty="0">
                <a:latin typeface="BIEGHZ+Palatino-Roman"/>
              </a:rPr>
              <a:t>创建子类</a:t>
            </a:r>
          </a:p>
          <a:p>
            <a:pPr marL="609600" indent="-609600" eaLnBrk="1" hangingPunct="1">
              <a:lnSpc>
                <a:spcPct val="90000"/>
              </a:lnSpc>
              <a:buFont typeface="Wingdings" pitchFamily="2" charset="2"/>
              <a:buNone/>
            </a:pPr>
            <a:r>
              <a:rPr lang="zh-CN" altLang="en-US" sz="2800" b="1" dirty="0">
                <a:cs typeface="Times New Roman" pitchFamily="18" charset="0"/>
              </a:rPr>
              <a:t>　</a:t>
            </a:r>
            <a:r>
              <a:rPr lang="zh-CN" altLang="en-US" sz="2800" dirty="0">
                <a:latin typeface="BIEGHZ+Palatino-Roman"/>
              </a:rPr>
              <a:t>	</a:t>
            </a:r>
            <a:r>
              <a:rPr lang="zh-CN" altLang="en-US" sz="2600" dirty="0">
                <a:latin typeface="BIEGHZ+Palatino-Roman"/>
              </a:rPr>
              <a:t>通过在类的声明中加入</a:t>
            </a:r>
            <a:r>
              <a:rPr lang="en-US" altLang="zh-CN" sz="2600" b="1" dirty="0">
                <a:cs typeface="Times New Roman" pitchFamily="18" charset="0"/>
              </a:rPr>
              <a:t>extends</a:t>
            </a:r>
            <a:r>
              <a:rPr lang="zh-CN" altLang="en-US" sz="2600" dirty="0">
                <a:latin typeface="BIEGHZ+Palatino-Roman"/>
              </a:rPr>
              <a:t>子句来创建一个类的子类，其格式如下：</a:t>
            </a:r>
          </a:p>
          <a:p>
            <a:pPr marL="609600" indent="-609600" eaLnBrk="1" hangingPunct="1">
              <a:lnSpc>
                <a:spcPct val="90000"/>
              </a:lnSpc>
              <a:buFont typeface="Wingdings" pitchFamily="2" charset="2"/>
              <a:buNone/>
            </a:pPr>
            <a:r>
              <a:rPr lang="zh-CN" altLang="en-US" sz="2600" dirty="0">
                <a:cs typeface="Times New Roman" pitchFamily="18" charset="0"/>
              </a:rPr>
              <a:t>	</a:t>
            </a:r>
            <a:r>
              <a:rPr lang="en-US" altLang="zh-CN" sz="2600" dirty="0">
                <a:cs typeface="Times New Roman" pitchFamily="18" charset="0"/>
              </a:rPr>
              <a:t>class SubClass extends SuperClass {</a:t>
            </a:r>
          </a:p>
          <a:p>
            <a:pPr marL="609600" indent="-609600" eaLnBrk="1" hangingPunct="1">
              <a:lnSpc>
                <a:spcPct val="90000"/>
              </a:lnSpc>
              <a:buFont typeface="Wingdings" pitchFamily="2" charset="2"/>
              <a:buNone/>
            </a:pPr>
            <a:r>
              <a:rPr lang="en-US" altLang="zh-CN" sz="2600" dirty="0">
                <a:cs typeface="Times New Roman" pitchFamily="18" charset="0"/>
              </a:rPr>
              <a:t>		……</a:t>
            </a:r>
          </a:p>
          <a:p>
            <a:pPr marL="609600" indent="-609600" eaLnBrk="1" hangingPunct="1">
              <a:lnSpc>
                <a:spcPct val="90000"/>
              </a:lnSpc>
              <a:buFont typeface="Wingdings" pitchFamily="2" charset="2"/>
              <a:buNone/>
            </a:pPr>
            <a:r>
              <a:rPr lang="en-US" altLang="zh-CN" sz="2600" b="1" dirty="0">
                <a:cs typeface="Times New Roman" pitchFamily="18" charset="0"/>
              </a:rPr>
              <a:t>	}</a:t>
            </a:r>
          </a:p>
          <a:p>
            <a:pPr marL="609600" indent="-609600" eaLnBrk="1" hangingPunct="1">
              <a:lnSpc>
                <a:spcPct val="90000"/>
              </a:lnSpc>
              <a:buFont typeface="Wingdings" pitchFamily="2" charset="2"/>
              <a:buNone/>
            </a:pPr>
            <a:r>
              <a:rPr lang="en-US" altLang="zh-CN" sz="2600" b="1" dirty="0">
                <a:solidFill>
                  <a:schemeClr val="folHlink"/>
                </a:solidFill>
                <a:latin typeface="BIEGHZ+Palatino-Roman"/>
              </a:rPr>
              <a:t>  	</a:t>
            </a:r>
            <a:r>
              <a:rPr lang="zh-CN" altLang="en-US" sz="2600" b="1" dirty="0">
                <a:solidFill>
                  <a:schemeClr val="folHlink"/>
                </a:solidFill>
                <a:latin typeface="BIEGHZ+Palatino-Roman"/>
              </a:rPr>
              <a:t>说明：</a:t>
            </a:r>
            <a:r>
              <a:rPr lang="zh-CN" altLang="en-US" sz="2600" dirty="0">
                <a:latin typeface="BIEGHZ+Palatino-Roman"/>
              </a:rPr>
              <a:t>如果缺省</a:t>
            </a:r>
            <a:r>
              <a:rPr lang="en-US" altLang="zh-CN" sz="2600" dirty="0">
                <a:cs typeface="Times New Roman" pitchFamily="18" charset="0"/>
              </a:rPr>
              <a:t>extends</a:t>
            </a:r>
            <a:r>
              <a:rPr lang="zh-CN" altLang="en-US" sz="2600" dirty="0">
                <a:latin typeface="BIEGHZ+Palatino-Roman"/>
              </a:rPr>
              <a:t>子句，则该类为</a:t>
            </a:r>
            <a:r>
              <a:rPr lang="en-US" altLang="zh-CN" sz="2600" dirty="0">
                <a:cs typeface="Times New Roman" pitchFamily="18" charset="0"/>
              </a:rPr>
              <a:t>java.lang.Object</a:t>
            </a:r>
            <a:r>
              <a:rPr lang="zh-CN" altLang="en-US" sz="2600" dirty="0">
                <a:latin typeface="BIEGHZ+Palatino-Roman"/>
              </a:rPr>
              <a:t>的子类</a:t>
            </a:r>
          </a:p>
          <a:p>
            <a:pPr marL="609600" indent="-609600" eaLnBrk="1" hangingPunct="1">
              <a:lnSpc>
                <a:spcPct val="90000"/>
              </a:lnSpc>
            </a:pPr>
            <a:endParaRPr lang="en-US" altLang="zh-CN" dirty="0"/>
          </a:p>
        </p:txBody>
      </p:sp>
      <p:sp>
        <p:nvSpPr>
          <p:cNvPr id="6" name="标题 5"/>
          <p:cNvSpPr>
            <a:spLocks noGrp="1"/>
          </p:cNvSpPr>
          <p:nvPr>
            <p:ph type="title"/>
          </p:nvPr>
        </p:nvSpPr>
        <p:spPr/>
        <p:txBody>
          <a:bodyPr/>
          <a:lstStyle/>
          <a:p>
            <a:r>
              <a:rPr lang="zh-CN" altLang="en-US" b="1" dirty="0">
                <a:solidFill>
                  <a:schemeClr val="folHlink"/>
                </a:solidFill>
                <a:latin typeface="BIEGHZ+Palatino-Roman"/>
              </a:rPr>
              <a:t>父类、子类和继承</a:t>
            </a:r>
            <a:endParaRPr lang="zh-CN" altLang="en-US"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4" name="Rectangle 3"/>
          <p:cNvSpPr>
            <a:spLocks noGrp="1" noChangeArrowheads="1"/>
          </p:cNvSpPr>
          <p:nvPr>
            <p:ph type="body" idx="1"/>
          </p:nvPr>
        </p:nvSpPr>
        <p:spPr>
          <a:xfrm>
            <a:off x="611560" y="1700808"/>
            <a:ext cx="7924800" cy="4495800"/>
          </a:xfrm>
        </p:spPr>
        <p:txBody>
          <a:bodyPr/>
          <a:lstStyle/>
          <a:p>
            <a:pPr marL="609600" indent="-609600" eaLnBrk="1" hangingPunct="1">
              <a:lnSpc>
                <a:spcPct val="90000"/>
              </a:lnSpc>
              <a:buNone/>
            </a:pPr>
            <a:r>
              <a:rPr lang="zh-CN" altLang="en-US" sz="2800" b="1" dirty="0">
                <a:latin typeface="BIEGHZ+Palatino-Roman"/>
              </a:rPr>
              <a:t>子类能够继承什么？</a:t>
            </a:r>
          </a:p>
          <a:p>
            <a:pPr marL="990600" lvl="1" indent="-533400" eaLnBrk="1" hangingPunct="1">
              <a:lnSpc>
                <a:spcPct val="90000"/>
              </a:lnSpc>
            </a:pPr>
            <a:r>
              <a:rPr lang="zh-CN" altLang="en-US" sz="2400" dirty="0">
                <a:latin typeface="宋体" pitchFamily="2" charset="-122"/>
              </a:rPr>
              <a:t>子类能够继承父类中</a:t>
            </a:r>
            <a:r>
              <a:rPr lang="en-US" altLang="zh-CN" sz="2400" dirty="0">
                <a:latin typeface="宋体" pitchFamily="2" charset="-122"/>
              </a:rPr>
              <a:t>public</a:t>
            </a:r>
            <a:r>
              <a:rPr lang="zh-CN" altLang="en-US" sz="2400" dirty="0">
                <a:latin typeface="宋体" pitchFamily="2" charset="-122"/>
              </a:rPr>
              <a:t>和</a:t>
            </a:r>
            <a:r>
              <a:rPr lang="en-US" altLang="zh-CN" sz="2400" dirty="0">
                <a:latin typeface="宋体" pitchFamily="2" charset="-122"/>
              </a:rPr>
              <a:t>protected</a:t>
            </a:r>
            <a:r>
              <a:rPr lang="zh-CN" altLang="en-US" sz="2400" dirty="0">
                <a:latin typeface="宋体" pitchFamily="2" charset="-122"/>
              </a:rPr>
              <a:t>的成员。</a:t>
            </a:r>
          </a:p>
          <a:p>
            <a:pPr marL="990600" lvl="1" indent="-533400" eaLnBrk="1" hangingPunct="1">
              <a:lnSpc>
                <a:spcPct val="90000"/>
              </a:lnSpc>
            </a:pPr>
            <a:r>
              <a:rPr lang="zh-CN" altLang="en-US" sz="2400" dirty="0">
                <a:latin typeface="宋体" pitchFamily="2" charset="-122"/>
              </a:rPr>
              <a:t>子类能够继承父类中没有访问控制的成员，只要子类和父类在同一个包内。</a:t>
            </a:r>
          </a:p>
          <a:p>
            <a:pPr marL="990600" lvl="1" indent="-533400" eaLnBrk="1" hangingPunct="1">
              <a:lnSpc>
                <a:spcPct val="90000"/>
              </a:lnSpc>
            </a:pPr>
            <a:r>
              <a:rPr lang="zh-CN" altLang="en-US" sz="2400" dirty="0">
                <a:latin typeface="宋体" pitchFamily="2" charset="-122"/>
              </a:rPr>
              <a:t>子类不能继承父类隐藏的成员变量和重写的父类方法</a:t>
            </a:r>
          </a:p>
          <a:p>
            <a:pPr marL="990600" lvl="1" indent="-533400" eaLnBrk="1" hangingPunct="1">
              <a:lnSpc>
                <a:spcPct val="90000"/>
              </a:lnSpc>
            </a:pPr>
            <a:r>
              <a:rPr lang="zh-CN" altLang="en-US" sz="2400" dirty="0">
                <a:latin typeface="宋体" pitchFamily="2" charset="-122"/>
              </a:rPr>
              <a:t>子类不能继承父类中</a:t>
            </a:r>
            <a:r>
              <a:rPr lang="en-US" altLang="zh-CN" sz="2400" dirty="0">
                <a:latin typeface="宋体" pitchFamily="2" charset="-122"/>
              </a:rPr>
              <a:t>private</a:t>
            </a:r>
            <a:r>
              <a:rPr lang="zh-CN" altLang="en-US" sz="2400" dirty="0">
                <a:latin typeface="宋体" pitchFamily="2" charset="-122"/>
              </a:rPr>
              <a:t>成员。</a:t>
            </a:r>
          </a:p>
          <a:p>
            <a:pPr marL="990600" lvl="1" indent="-533400" eaLnBrk="1" hangingPunct="1">
              <a:lnSpc>
                <a:spcPct val="90000"/>
              </a:lnSpc>
            </a:pPr>
            <a:r>
              <a:rPr lang="zh-CN" altLang="en-US" sz="2400" dirty="0">
                <a:latin typeface="宋体" pitchFamily="2" charset="-122"/>
              </a:rPr>
              <a:t>子类不能继承父类中构造方法。因为</a:t>
            </a:r>
            <a:r>
              <a:rPr lang="zh-CN" altLang="en-US" sz="2400" dirty="0">
                <a:solidFill>
                  <a:srgbClr val="000000"/>
                </a:solidFill>
              </a:rPr>
              <a:t>构造方法不是类的成员</a:t>
            </a:r>
            <a:endParaRPr lang="zh-CN" altLang="en-US" sz="2400" b="1" dirty="0">
              <a:latin typeface="BIEGHZ+Palatino-Roman"/>
            </a:endParaRPr>
          </a:p>
          <a:p>
            <a:pPr marL="609600" indent="-609600" eaLnBrk="1" hangingPunct="1">
              <a:lnSpc>
                <a:spcPct val="90000"/>
              </a:lnSpc>
            </a:pPr>
            <a:endParaRPr lang="zh-CN" altLang="en-US" sz="2400" dirty="0">
              <a:latin typeface="宋体" pitchFamily="2" charset="-122"/>
            </a:endParaRPr>
          </a:p>
          <a:p>
            <a:pPr marL="609600" indent="-609600" eaLnBrk="1" hangingPunct="1">
              <a:lnSpc>
                <a:spcPct val="90000"/>
              </a:lnSpc>
            </a:pPr>
            <a:endParaRPr lang="zh-CN" altLang="en-US" sz="2400" dirty="0">
              <a:latin typeface="宋体" pitchFamily="2" charset="-122"/>
            </a:endParaRPr>
          </a:p>
          <a:p>
            <a:pPr marL="609600" indent="-609600" eaLnBrk="1" hangingPunct="1"/>
            <a:endParaRPr lang="en-US" altLang="zh-CN" sz="2800" dirty="0"/>
          </a:p>
        </p:txBody>
      </p:sp>
      <p:sp>
        <p:nvSpPr>
          <p:cNvPr id="6" name="标题 5"/>
          <p:cNvSpPr>
            <a:spLocks noGrp="1"/>
          </p:cNvSpPr>
          <p:nvPr>
            <p:ph type="title"/>
          </p:nvPr>
        </p:nvSpPr>
        <p:spPr/>
        <p:txBody>
          <a:bodyPr/>
          <a:lstStyle/>
          <a:p>
            <a:r>
              <a:rPr lang="zh-CN" altLang="en-US" b="1" dirty="0">
                <a:solidFill>
                  <a:schemeClr val="folHlink"/>
                </a:solidFill>
                <a:latin typeface="BIEGHZ+Palatino-Roman"/>
              </a:rPr>
              <a:t>父类、子类和继承</a:t>
            </a:r>
            <a:endParaRPr lang="zh-CN" altLang="en-US"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灯片编号占位符 5"/>
          <p:cNvSpPr>
            <a:spLocks noGrp="1"/>
          </p:cNvSpPr>
          <p:nvPr>
            <p:ph type="sldNum" sz="quarter" idx="4294967295"/>
          </p:nvPr>
        </p:nvSpPr>
        <p:spPr>
          <a:xfrm>
            <a:off x="6589713" y="6376988"/>
            <a:ext cx="2193925" cy="457200"/>
          </a:xfrm>
          <a:prstGeom prst="rect">
            <a:avLst/>
          </a:prstGeom>
          <a:noFill/>
        </p:spPr>
        <p:txBody>
          <a:bodyPr/>
          <a:lstStyle/>
          <a:p>
            <a:fld id="{153CF279-EC41-49FA-B809-6FD8058BEFAE}" type="slidenum">
              <a:rPr lang="en-US" altLang="zh-CN"/>
              <a:pPr/>
              <a:t>56</a:t>
            </a:fld>
            <a:endParaRPr lang="en-US" altLang="zh-CN"/>
          </a:p>
        </p:txBody>
      </p:sp>
      <p:sp>
        <p:nvSpPr>
          <p:cNvPr id="77829" name="Rectangle 9"/>
          <p:cNvSpPr>
            <a:spLocks noGrp="1" noChangeArrowheads="1"/>
          </p:cNvSpPr>
          <p:nvPr>
            <p:ph type="body" idx="1"/>
          </p:nvPr>
        </p:nvSpPr>
        <p:spPr/>
        <p:txBody>
          <a:bodyPr/>
          <a:lstStyle/>
          <a:p>
            <a:pPr marL="609600" indent="-609600">
              <a:spcBef>
                <a:spcPct val="0"/>
              </a:spcBef>
              <a:buClrTx/>
              <a:buNone/>
            </a:pPr>
            <a:r>
              <a:rPr lang="zh-CN" altLang="en-US" sz="2800" dirty="0">
                <a:latin typeface="BIEGHZ+Palatino-Roman"/>
              </a:rPr>
              <a:t>	</a:t>
            </a:r>
            <a:r>
              <a:rPr lang="zh-CN" altLang="en-US" sz="2800" b="1" dirty="0">
                <a:latin typeface="BIEGHZ+Palatino-Roman"/>
              </a:rPr>
              <a:t>变量的隐藏：</a:t>
            </a:r>
            <a:r>
              <a:rPr lang="zh-CN" altLang="en-US" sz="2800" dirty="0">
                <a:latin typeface="BIEGHZ+Palatino-Roman"/>
              </a:rPr>
              <a:t>子类中声明了和父类同名的变量，父类的成员变量被隐藏。</a:t>
            </a:r>
          </a:p>
          <a:p>
            <a:pPr marL="609600" indent="-609600" eaLnBrk="1" hangingPunct="1">
              <a:buFont typeface="Wingdings" pitchFamily="2" charset="2"/>
              <a:buNone/>
            </a:pPr>
            <a:endParaRPr lang="zh-CN" altLang="en-US" sz="1000" dirty="0">
              <a:latin typeface="BIEGHZ+Palatino-Roman"/>
            </a:endParaRPr>
          </a:p>
          <a:p>
            <a:pPr marL="609600" indent="-609600" eaLnBrk="1" hangingPunct="1">
              <a:buFont typeface="Wingdings" pitchFamily="2" charset="2"/>
              <a:buNone/>
            </a:pPr>
            <a:r>
              <a:rPr lang="zh-CN" altLang="en-US" sz="2800" b="1" dirty="0">
                <a:solidFill>
                  <a:schemeClr val="folHlink"/>
                </a:solidFill>
                <a:latin typeface="BIEGHZ+Palatino-Roman"/>
              </a:rPr>
              <a:t>      </a:t>
            </a:r>
            <a:r>
              <a:rPr lang="zh-CN" altLang="en-US" sz="2800" b="1" dirty="0">
                <a:latin typeface="BIEGHZ+Palatino-Roman"/>
              </a:rPr>
              <a:t>方法的重写：</a:t>
            </a:r>
            <a:r>
              <a:rPr lang="zh-CN" altLang="en-US" sz="2800" dirty="0">
                <a:latin typeface="BIEGHZ+Palatino-Roman"/>
              </a:rPr>
              <a:t>子类中定义了与父类相同的方法</a:t>
            </a:r>
            <a:r>
              <a:rPr lang="en-US" altLang="zh-CN" sz="2800" dirty="0">
                <a:cs typeface="Times New Roman" pitchFamily="18" charset="0"/>
              </a:rPr>
              <a:t>, </a:t>
            </a:r>
            <a:r>
              <a:rPr lang="zh-CN" altLang="en-US" sz="2800" dirty="0">
                <a:latin typeface="BIEGHZ+Palatino-Roman"/>
              </a:rPr>
              <a:t>则父类的方法被重写。</a:t>
            </a:r>
          </a:p>
        </p:txBody>
      </p:sp>
      <p:sp>
        <p:nvSpPr>
          <p:cNvPr id="6" name="标题 5"/>
          <p:cNvSpPr>
            <a:spLocks noGrp="1"/>
          </p:cNvSpPr>
          <p:nvPr>
            <p:ph type="title"/>
          </p:nvPr>
        </p:nvSpPr>
        <p:spPr/>
        <p:txBody>
          <a:bodyPr/>
          <a:lstStyle/>
          <a:p>
            <a:pPr marL="609600" indent="-609600"/>
            <a:r>
              <a:rPr lang="zh-CN" altLang="en-US" b="1" dirty="0">
                <a:solidFill>
                  <a:schemeClr val="folHlink"/>
                </a:solidFill>
                <a:latin typeface="BIEGHZ+Palatino-Roman"/>
              </a:rPr>
              <a:t>成员变量的隐藏和方法的重写</a:t>
            </a:r>
            <a:endParaRPr lang="zh-CN" altLang="en-US"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3" name="Rectangle 4"/>
          <p:cNvSpPr>
            <a:spLocks noGrp="1" noChangeArrowheads="1"/>
          </p:cNvSpPr>
          <p:nvPr>
            <p:ph type="body" idx="1"/>
          </p:nvPr>
        </p:nvSpPr>
        <p:spPr>
          <a:xfrm>
            <a:off x="566738" y="1340768"/>
            <a:ext cx="8001000" cy="4929188"/>
          </a:xfrm>
        </p:spPr>
        <p:txBody>
          <a:bodyPr/>
          <a:lstStyle/>
          <a:p>
            <a:pPr marL="609600" indent="-609600">
              <a:lnSpc>
                <a:spcPct val="90000"/>
              </a:lnSpc>
              <a:spcBef>
                <a:spcPct val="0"/>
              </a:spcBef>
              <a:buClrTx/>
              <a:buFontTx/>
              <a:buNone/>
            </a:pPr>
            <a:endParaRPr lang="zh-CN" altLang="en-US" sz="900" dirty="0">
              <a:latin typeface="BIEGHZ+Palatino-Roman"/>
            </a:endParaRPr>
          </a:p>
          <a:p>
            <a:pPr marL="609600" indent="-609600" eaLnBrk="1" hangingPunct="1">
              <a:lnSpc>
                <a:spcPct val="90000"/>
              </a:lnSpc>
              <a:buFont typeface="Wingdings" pitchFamily="2" charset="2"/>
              <a:buNone/>
            </a:pPr>
            <a:r>
              <a:rPr lang="zh-CN" altLang="en-US" sz="2400" dirty="0">
                <a:latin typeface="BIEGHZ+Palatino-Roman"/>
              </a:rPr>
              <a:t>例题：  </a:t>
            </a:r>
          </a:p>
          <a:p>
            <a:pPr marL="609600" indent="-609600" eaLnBrk="1" hangingPunct="1">
              <a:lnSpc>
                <a:spcPct val="90000"/>
              </a:lnSpc>
              <a:buFont typeface="Wingdings" pitchFamily="2" charset="2"/>
              <a:buNone/>
            </a:pPr>
            <a:r>
              <a:rPr lang="zh-CN" altLang="en-US" sz="2400" dirty="0">
                <a:latin typeface="BIEGHZ+Palatino-Roman"/>
              </a:rPr>
              <a:t> </a:t>
            </a:r>
            <a:r>
              <a:rPr lang="en-US" altLang="zh-CN" sz="2400" dirty="0">
                <a:cs typeface="Times New Roman" pitchFamily="18" charset="0"/>
              </a:rPr>
              <a:t>class SuperClass{</a:t>
            </a:r>
          </a:p>
          <a:p>
            <a:pPr marL="609600" indent="-609600" eaLnBrk="1" hangingPunct="1">
              <a:lnSpc>
                <a:spcPct val="90000"/>
              </a:lnSpc>
              <a:buFont typeface="Wingdings" pitchFamily="2" charset="2"/>
              <a:buNone/>
            </a:pPr>
            <a:r>
              <a:rPr lang="en-US" altLang="zh-CN" sz="2400" dirty="0">
                <a:cs typeface="Times New Roman" pitchFamily="18" charset="0"/>
              </a:rPr>
              <a:t>     int x;</a:t>
            </a:r>
          </a:p>
          <a:p>
            <a:pPr marL="609600" indent="-609600" eaLnBrk="1" hangingPunct="1">
              <a:lnSpc>
                <a:spcPct val="90000"/>
              </a:lnSpc>
              <a:buFont typeface="Wingdings" pitchFamily="2" charset="2"/>
              <a:buNone/>
            </a:pPr>
            <a:r>
              <a:rPr lang="en-US" altLang="zh-CN" sz="2400" dirty="0">
                <a:cs typeface="Times New Roman" pitchFamily="18" charset="0"/>
              </a:rPr>
              <a:t>        ……</a:t>
            </a:r>
          </a:p>
          <a:p>
            <a:pPr marL="609600" indent="-609600" eaLnBrk="1" hangingPunct="1">
              <a:lnSpc>
                <a:spcPct val="90000"/>
              </a:lnSpc>
              <a:buFont typeface="Wingdings" pitchFamily="2" charset="2"/>
              <a:buNone/>
            </a:pPr>
            <a:r>
              <a:rPr lang="en-US" altLang="zh-CN" sz="2400" dirty="0">
                <a:cs typeface="Times New Roman" pitchFamily="18" charset="0"/>
              </a:rPr>
              <a:t>    void setX( ){</a:t>
            </a:r>
          </a:p>
          <a:p>
            <a:pPr marL="609600" indent="-609600" eaLnBrk="1" hangingPunct="1">
              <a:lnSpc>
                <a:spcPct val="90000"/>
              </a:lnSpc>
              <a:buFont typeface="Wingdings" pitchFamily="2" charset="2"/>
              <a:buNone/>
            </a:pPr>
            <a:r>
              <a:rPr lang="en-US" altLang="zh-CN" sz="2400" dirty="0">
                <a:cs typeface="Times New Roman" pitchFamily="18" charset="0"/>
              </a:rPr>
              <a:t>      x = 0;</a:t>
            </a:r>
          </a:p>
          <a:p>
            <a:pPr marL="609600" indent="-609600" eaLnBrk="1" hangingPunct="1">
              <a:lnSpc>
                <a:spcPct val="90000"/>
              </a:lnSpc>
              <a:buFont typeface="Wingdings" pitchFamily="2" charset="2"/>
              <a:buNone/>
            </a:pPr>
            <a:r>
              <a:rPr lang="en-US" altLang="zh-CN" sz="2400" dirty="0">
                <a:cs typeface="Times New Roman" pitchFamily="18" charset="0"/>
              </a:rPr>
              <a:t>    }</a:t>
            </a:r>
          </a:p>
          <a:p>
            <a:pPr marL="609600" indent="-609600" eaLnBrk="1" hangingPunct="1">
              <a:lnSpc>
                <a:spcPct val="90000"/>
              </a:lnSpc>
              <a:buFont typeface="Wingdings" pitchFamily="2" charset="2"/>
              <a:buNone/>
            </a:pPr>
            <a:r>
              <a:rPr lang="en-US" altLang="zh-CN" sz="2400" dirty="0">
                <a:cs typeface="Times New Roman" pitchFamily="18" charset="0"/>
              </a:rPr>
              <a:t>    ……</a:t>
            </a:r>
          </a:p>
          <a:p>
            <a:pPr marL="609600" indent="-609600" eaLnBrk="1" hangingPunct="1">
              <a:lnSpc>
                <a:spcPct val="90000"/>
              </a:lnSpc>
              <a:buFont typeface="Wingdings" pitchFamily="2" charset="2"/>
              <a:buNone/>
            </a:pPr>
            <a:r>
              <a:rPr lang="en-US" altLang="zh-CN" sz="2400" dirty="0">
                <a:cs typeface="Times New Roman" pitchFamily="18" charset="0"/>
              </a:rPr>
              <a:t> }</a:t>
            </a:r>
          </a:p>
        </p:txBody>
      </p:sp>
      <p:sp>
        <p:nvSpPr>
          <p:cNvPr id="78854" name="Text Box 6"/>
          <p:cNvSpPr txBox="1">
            <a:spLocks noChangeArrowheads="1"/>
          </p:cNvSpPr>
          <p:nvPr/>
        </p:nvSpPr>
        <p:spPr bwMode="auto">
          <a:xfrm>
            <a:off x="3990528" y="2276872"/>
            <a:ext cx="5334000" cy="4254500"/>
          </a:xfrm>
          <a:prstGeom prst="rect">
            <a:avLst/>
          </a:prstGeom>
          <a:noFill/>
          <a:ln w="9525">
            <a:noFill/>
            <a:miter lim="800000"/>
            <a:headEnd/>
            <a:tailEnd/>
          </a:ln>
        </p:spPr>
        <p:txBody>
          <a:bodyPr>
            <a:spAutoFit/>
          </a:bodyPr>
          <a:lstStyle/>
          <a:p>
            <a:pPr>
              <a:lnSpc>
                <a:spcPct val="80000"/>
              </a:lnSpc>
              <a:spcBef>
                <a:spcPct val="50000"/>
              </a:spcBef>
            </a:pPr>
            <a:r>
              <a:rPr lang="en-US" altLang="zh-CN" dirty="0">
                <a:cs typeface="Times New Roman" pitchFamily="18" charset="0"/>
              </a:rPr>
              <a:t>class SubClass extends SuperClass{</a:t>
            </a:r>
          </a:p>
          <a:p>
            <a:pPr>
              <a:lnSpc>
                <a:spcPct val="80000"/>
              </a:lnSpc>
              <a:spcBef>
                <a:spcPct val="50000"/>
              </a:spcBef>
            </a:pPr>
            <a:r>
              <a:rPr lang="en-US" altLang="zh-CN" dirty="0">
                <a:cs typeface="Times New Roman" pitchFamily="18" charset="0"/>
              </a:rPr>
              <a:t>    int x; //hide x in SuperClass</a:t>
            </a:r>
          </a:p>
          <a:p>
            <a:pPr>
              <a:lnSpc>
                <a:spcPct val="80000"/>
              </a:lnSpc>
              <a:spcBef>
                <a:spcPct val="50000"/>
              </a:spcBef>
            </a:pPr>
            <a:r>
              <a:rPr lang="en-US" altLang="zh-CN" dirty="0">
                <a:cs typeface="Times New Roman" pitchFamily="18" charset="0"/>
              </a:rPr>
              <a:t>     ……</a:t>
            </a:r>
          </a:p>
          <a:p>
            <a:pPr>
              <a:lnSpc>
                <a:spcPct val="80000"/>
              </a:lnSpc>
              <a:spcBef>
                <a:spcPct val="50000"/>
              </a:spcBef>
            </a:pPr>
            <a:r>
              <a:rPr lang="en-US" altLang="zh-CN" dirty="0">
                <a:cs typeface="Times New Roman" pitchFamily="18" charset="0"/>
              </a:rPr>
              <a:t>    void setX( ){ //overload</a:t>
            </a:r>
          </a:p>
          <a:p>
            <a:pPr>
              <a:lnSpc>
                <a:spcPct val="80000"/>
              </a:lnSpc>
              <a:spcBef>
                <a:spcPct val="50000"/>
              </a:spcBef>
            </a:pPr>
            <a:r>
              <a:rPr lang="en-US" altLang="zh-CN" dirty="0">
                <a:cs typeface="Times New Roman" pitchFamily="18" charset="0"/>
              </a:rPr>
              <a:t>          x = 5;</a:t>
            </a:r>
          </a:p>
          <a:p>
            <a:pPr>
              <a:lnSpc>
                <a:spcPct val="80000"/>
              </a:lnSpc>
              <a:spcBef>
                <a:spcPct val="50000"/>
              </a:spcBef>
            </a:pPr>
            <a:r>
              <a:rPr lang="en-US" altLang="zh-CN" dirty="0">
                <a:cs typeface="Times New Roman" pitchFamily="18" charset="0"/>
              </a:rPr>
              <a:t>     }</a:t>
            </a:r>
          </a:p>
          <a:p>
            <a:pPr>
              <a:lnSpc>
                <a:spcPct val="80000"/>
              </a:lnSpc>
              <a:spcBef>
                <a:spcPct val="50000"/>
              </a:spcBef>
            </a:pPr>
            <a:r>
              <a:rPr lang="en-US" altLang="zh-CN" dirty="0">
                <a:cs typeface="Times New Roman" pitchFamily="18" charset="0"/>
              </a:rPr>
              <a:t>     ……</a:t>
            </a:r>
          </a:p>
          <a:p>
            <a:pPr>
              <a:lnSpc>
                <a:spcPct val="80000"/>
              </a:lnSpc>
              <a:spcBef>
                <a:spcPct val="50000"/>
              </a:spcBef>
            </a:pPr>
            <a:r>
              <a:rPr lang="en-US" altLang="zh-CN" dirty="0">
                <a:cs typeface="Times New Roman" pitchFamily="18" charset="0"/>
              </a:rPr>
              <a:t> }</a:t>
            </a:r>
          </a:p>
          <a:p>
            <a:pPr>
              <a:spcBef>
                <a:spcPct val="50000"/>
              </a:spcBef>
            </a:pPr>
            <a:endParaRPr lang="en-US" altLang="zh-CN" dirty="0"/>
          </a:p>
        </p:txBody>
      </p:sp>
      <p:sp>
        <p:nvSpPr>
          <p:cNvPr id="7" name="标题 6"/>
          <p:cNvSpPr>
            <a:spLocks noGrp="1"/>
          </p:cNvSpPr>
          <p:nvPr>
            <p:ph type="title"/>
          </p:nvPr>
        </p:nvSpPr>
        <p:spPr/>
        <p:txBody>
          <a:bodyPr/>
          <a:lstStyle/>
          <a:p>
            <a:r>
              <a:rPr lang="zh-CN" altLang="en-US" b="1" dirty="0">
                <a:solidFill>
                  <a:schemeClr val="folHlink"/>
                </a:solidFill>
                <a:latin typeface="BIEGHZ+Palatino-Roman"/>
              </a:rPr>
              <a:t>成员变量的隐藏和方法的重写</a:t>
            </a:r>
            <a:endParaRPr lang="zh-CN" altLang="en-US"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7" name="Rectangle 4"/>
          <p:cNvSpPr>
            <a:spLocks noGrp="1" noChangeArrowheads="1"/>
          </p:cNvSpPr>
          <p:nvPr>
            <p:ph type="body" idx="1"/>
          </p:nvPr>
        </p:nvSpPr>
        <p:spPr>
          <a:xfrm>
            <a:off x="0" y="1340768"/>
            <a:ext cx="8001000" cy="4929188"/>
          </a:xfrm>
        </p:spPr>
        <p:txBody>
          <a:bodyPr/>
          <a:lstStyle/>
          <a:p>
            <a:pPr marL="609600" indent="-609600">
              <a:lnSpc>
                <a:spcPct val="90000"/>
              </a:lnSpc>
              <a:spcBef>
                <a:spcPct val="0"/>
              </a:spcBef>
              <a:buClrTx/>
              <a:buFontTx/>
              <a:buAutoNum type="arabicPeriod" startAt="2"/>
            </a:pPr>
            <a:endParaRPr lang="zh-CN" altLang="en-US" b="1" dirty="0">
              <a:latin typeface="BIEGHZ+Palatino-Roman"/>
            </a:endParaRPr>
          </a:p>
          <a:p>
            <a:pPr marL="990600" lvl="1" indent="-533400" eaLnBrk="1" hangingPunct="1">
              <a:lnSpc>
                <a:spcPct val="90000"/>
              </a:lnSpc>
            </a:pPr>
            <a:r>
              <a:rPr lang="zh-CN" altLang="en-US" sz="3000" dirty="0">
                <a:latin typeface="BIEGHZ+Palatino-Roman"/>
              </a:rPr>
              <a:t>重写的方法和父类中被重写的方法要具有相同的名字，相同的参数表和相同的返回类型</a:t>
            </a:r>
          </a:p>
          <a:p>
            <a:pPr marL="990600" lvl="1" indent="-533400" eaLnBrk="1" hangingPunct="1">
              <a:lnSpc>
                <a:spcPct val="90000"/>
              </a:lnSpc>
            </a:pPr>
            <a:r>
              <a:rPr lang="zh-CN" altLang="en-US" sz="3000" dirty="0">
                <a:latin typeface="BIEGHZ+Palatino-Roman"/>
              </a:rPr>
              <a:t>子类通过成员变量的隐藏和方法的重写可以把父类的状态和行为改变为自身的状态和行为</a:t>
            </a:r>
          </a:p>
          <a:p>
            <a:pPr marL="609600" indent="-609600" eaLnBrk="1" hangingPunct="1">
              <a:lnSpc>
                <a:spcPct val="90000"/>
              </a:lnSpc>
              <a:buFont typeface="Wingdings" pitchFamily="2" charset="2"/>
              <a:buNone/>
            </a:pPr>
            <a:endParaRPr lang="en-US" altLang="zh-CN" sz="3000" dirty="0">
              <a:latin typeface="BIEGHZ+Palatino-Roman"/>
            </a:endParaRPr>
          </a:p>
        </p:txBody>
      </p:sp>
      <p:sp>
        <p:nvSpPr>
          <p:cNvPr id="6" name="标题 5"/>
          <p:cNvSpPr>
            <a:spLocks noGrp="1"/>
          </p:cNvSpPr>
          <p:nvPr>
            <p:ph type="title"/>
          </p:nvPr>
        </p:nvSpPr>
        <p:spPr/>
        <p:txBody>
          <a:bodyPr/>
          <a:lstStyle/>
          <a:p>
            <a:pPr marL="609600" indent="-609600">
              <a:lnSpc>
                <a:spcPct val="90000"/>
              </a:lnSpc>
            </a:pPr>
            <a:r>
              <a:rPr lang="zh-CN" altLang="en-US" b="1" dirty="0">
                <a:solidFill>
                  <a:schemeClr val="folHlink"/>
                </a:solidFill>
                <a:latin typeface="BIEGHZ+Palatino-Roman"/>
              </a:rPr>
              <a:t>成员变量的隐藏和方法的重写</a:t>
            </a:r>
            <a:endParaRPr lang="zh-CN" altLang="en-US"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900" name="Rectangle 3"/>
          <p:cNvSpPr>
            <a:spLocks noGrp="1" noChangeArrowheads="1"/>
          </p:cNvSpPr>
          <p:nvPr>
            <p:ph type="body" idx="1"/>
          </p:nvPr>
        </p:nvSpPr>
        <p:spPr>
          <a:xfrm>
            <a:off x="0" y="1981200"/>
            <a:ext cx="7924800" cy="4495800"/>
          </a:xfrm>
        </p:spPr>
        <p:txBody>
          <a:bodyPr/>
          <a:lstStyle/>
          <a:p>
            <a:pPr marL="609600" indent="-609600" eaLnBrk="1" hangingPunct="1">
              <a:lnSpc>
                <a:spcPct val="90000"/>
              </a:lnSpc>
              <a:buFont typeface="Wingdings" pitchFamily="2" charset="2"/>
              <a:buNone/>
            </a:pPr>
            <a:r>
              <a:rPr lang="zh-CN" altLang="en-US" b="1" dirty="0">
                <a:solidFill>
                  <a:schemeClr val="folHlink"/>
                </a:solidFill>
                <a:latin typeface="BIEGHZ+Palatino-Roman"/>
              </a:rPr>
              <a:t> </a:t>
            </a:r>
            <a:endParaRPr lang="zh-CN" altLang="en-US" sz="2800" dirty="0">
              <a:latin typeface="宋体" pitchFamily="2" charset="-122"/>
            </a:endParaRPr>
          </a:p>
          <a:p>
            <a:pPr marL="609600" indent="-609600" eaLnBrk="1" hangingPunct="1">
              <a:lnSpc>
                <a:spcPct val="90000"/>
              </a:lnSpc>
            </a:pPr>
            <a:endParaRPr lang="zh-CN" altLang="en-US" sz="2800" dirty="0">
              <a:latin typeface="宋体" pitchFamily="2" charset="-122"/>
            </a:endParaRPr>
          </a:p>
          <a:p>
            <a:pPr marL="609600" indent="-609600" eaLnBrk="1" hangingPunct="1"/>
            <a:endParaRPr lang="en-US" altLang="zh-CN" dirty="0"/>
          </a:p>
        </p:txBody>
      </p:sp>
      <p:pic>
        <p:nvPicPr>
          <p:cNvPr id="80902" name="Picture 7"/>
          <p:cNvPicPr>
            <a:picLocks noChangeAspect="1" noChangeArrowheads="1"/>
          </p:cNvPicPr>
          <p:nvPr/>
        </p:nvPicPr>
        <p:blipFill>
          <a:blip r:embed="rId2" cstate="print"/>
          <a:srcRect/>
          <a:stretch>
            <a:fillRect/>
          </a:stretch>
        </p:blipFill>
        <p:spPr bwMode="auto">
          <a:xfrm>
            <a:off x="2055912" y="1604540"/>
            <a:ext cx="5105400" cy="2286000"/>
          </a:xfrm>
          <a:prstGeom prst="rect">
            <a:avLst/>
          </a:prstGeom>
          <a:noFill/>
          <a:ln w="9525">
            <a:noFill/>
            <a:miter lim="800000"/>
            <a:headEnd/>
            <a:tailEnd/>
          </a:ln>
        </p:spPr>
      </p:pic>
      <p:pic>
        <p:nvPicPr>
          <p:cNvPr id="80903" name="Picture 8"/>
          <p:cNvPicPr>
            <a:picLocks noChangeAspect="1" noChangeArrowheads="1"/>
          </p:cNvPicPr>
          <p:nvPr/>
        </p:nvPicPr>
        <p:blipFill>
          <a:blip r:embed="rId3" cstate="print"/>
          <a:srcRect/>
          <a:stretch>
            <a:fillRect/>
          </a:stretch>
        </p:blipFill>
        <p:spPr bwMode="auto">
          <a:xfrm>
            <a:off x="1979712" y="4119140"/>
            <a:ext cx="5105400" cy="2090738"/>
          </a:xfrm>
          <a:prstGeom prst="rect">
            <a:avLst/>
          </a:prstGeom>
          <a:noFill/>
          <a:ln w="9525">
            <a:noFill/>
            <a:miter lim="800000"/>
            <a:headEnd/>
            <a:tailEnd/>
          </a:ln>
        </p:spPr>
      </p:pic>
      <p:sp>
        <p:nvSpPr>
          <p:cNvPr id="9" name="标题 8"/>
          <p:cNvSpPr>
            <a:spLocks noGrp="1"/>
          </p:cNvSpPr>
          <p:nvPr>
            <p:ph type="title"/>
          </p:nvPr>
        </p:nvSpPr>
        <p:spPr/>
        <p:txBody>
          <a:bodyPr/>
          <a:lstStyle/>
          <a:p>
            <a:r>
              <a:rPr lang="zh-CN" altLang="en-US" dirty="0">
                <a:latin typeface="BIEGHZ+Palatino-Roman"/>
              </a:rPr>
              <a:t>例题：方法的重写</a:t>
            </a:r>
            <a:endParaRPr lang="zh-CN" altLang="en-US"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5" name="Rectangle 4"/>
          <p:cNvSpPr>
            <a:spLocks noGrp="1" noChangeArrowheads="1"/>
          </p:cNvSpPr>
          <p:nvPr>
            <p:ph type="body" idx="1"/>
          </p:nvPr>
        </p:nvSpPr>
        <p:spPr>
          <a:xfrm>
            <a:off x="720278" y="1196752"/>
            <a:ext cx="7812162" cy="4511973"/>
          </a:xfrm>
        </p:spPr>
        <p:txBody>
          <a:bodyPr/>
          <a:lstStyle/>
          <a:p>
            <a:pPr marL="609600" indent="-609600">
              <a:spcBef>
                <a:spcPct val="0"/>
              </a:spcBef>
              <a:buClrTx/>
              <a:buFontTx/>
              <a:buAutoNum type="arabicPeriod" startAt="2"/>
            </a:pPr>
            <a:endParaRPr lang="zh-CN" altLang="en-US" sz="2800" b="1" dirty="0">
              <a:solidFill>
                <a:schemeClr val="folHlink"/>
              </a:solidFill>
              <a:latin typeface="BIEGHZ+Palatino-Roman"/>
            </a:endParaRPr>
          </a:p>
          <a:p>
            <a:pPr marL="609600" indent="-609600">
              <a:spcBef>
                <a:spcPct val="0"/>
              </a:spcBef>
              <a:buClrTx/>
              <a:buFontTx/>
              <a:buNone/>
            </a:pPr>
            <a:endParaRPr lang="zh-CN" altLang="en-US" sz="1000" dirty="0">
              <a:latin typeface="BIEGHZ+Palatino-Roman"/>
            </a:endParaRPr>
          </a:p>
          <a:p>
            <a:pPr marL="609600" indent="-609600" eaLnBrk="1" hangingPunct="1">
              <a:buFont typeface="Wingdings" pitchFamily="2" charset="2"/>
              <a:buNone/>
            </a:pPr>
            <a:r>
              <a:rPr lang="zh-CN" altLang="en-US" sz="2800" b="1" dirty="0">
                <a:latin typeface="BIEGHZ+Palatino-Roman"/>
              </a:rPr>
              <a:t>说明：</a:t>
            </a:r>
            <a:r>
              <a:rPr lang="en-US" altLang="zh-CN" sz="2800" b="1" dirty="0">
                <a:latin typeface="BIEGHZ+Palatino-Roman"/>
              </a:rPr>
              <a:t>&lt;</a:t>
            </a:r>
            <a:r>
              <a:rPr lang="zh-CN" altLang="en-US" sz="2800" b="1" dirty="0">
                <a:latin typeface="BIEGHZ+Palatino-Roman"/>
              </a:rPr>
              <a:t>续</a:t>
            </a:r>
            <a:r>
              <a:rPr lang="en-US" altLang="zh-CN" sz="2800" b="1" dirty="0">
                <a:latin typeface="BIEGHZ+Palatino-Roman"/>
              </a:rPr>
              <a:t>&gt;</a:t>
            </a:r>
          </a:p>
          <a:p>
            <a:pPr marL="990600" lvl="1" indent="-533400" eaLnBrk="1" hangingPunct="1"/>
            <a:r>
              <a:rPr lang="zh-CN" altLang="en-US" sz="2600" dirty="0">
                <a:latin typeface="BIEGHZ+Palatino-Roman"/>
              </a:rPr>
              <a:t>子类中不能重写父类中的</a:t>
            </a:r>
            <a:r>
              <a:rPr lang="en-US" altLang="zh-CN" sz="2600" dirty="0">
                <a:latin typeface="BIEGHZ+Palatino-Roman"/>
              </a:rPr>
              <a:t>final method</a:t>
            </a:r>
          </a:p>
          <a:p>
            <a:pPr marL="990600" lvl="1" indent="-533400" eaLnBrk="1" hangingPunct="1"/>
            <a:r>
              <a:rPr lang="zh-CN" altLang="en-US" sz="2600" dirty="0">
                <a:latin typeface="BIEGHZ+Palatino-Roman"/>
              </a:rPr>
              <a:t>子类中必须重写父类中的</a:t>
            </a:r>
            <a:r>
              <a:rPr lang="en-US" altLang="zh-CN" sz="2600" dirty="0">
                <a:latin typeface="BIEGHZ+Palatino-Roman"/>
              </a:rPr>
              <a:t>abstract  method</a:t>
            </a:r>
            <a:r>
              <a:rPr lang="zh-CN" altLang="en-US" sz="2600" dirty="0">
                <a:latin typeface="BIEGHZ+Palatino-Roman"/>
              </a:rPr>
              <a:t>， 否则子类也为抽象类。 </a:t>
            </a:r>
          </a:p>
        </p:txBody>
      </p:sp>
      <p:sp>
        <p:nvSpPr>
          <p:cNvPr id="6" name="标题 5"/>
          <p:cNvSpPr>
            <a:spLocks noGrp="1"/>
          </p:cNvSpPr>
          <p:nvPr>
            <p:ph type="title"/>
          </p:nvPr>
        </p:nvSpPr>
        <p:spPr/>
        <p:txBody>
          <a:bodyPr/>
          <a:lstStyle/>
          <a:p>
            <a:r>
              <a:rPr lang="zh-CN" altLang="en-US" b="1" dirty="0">
                <a:solidFill>
                  <a:schemeClr val="folHlink"/>
                </a:solidFill>
                <a:latin typeface="BIEGHZ+Palatino-Roman"/>
              </a:rPr>
              <a:t>成员变量的隐藏和方法的重写</a:t>
            </a:r>
            <a:endParaRPr lang="zh-CN" altLang="en-US"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8" name="Rectangle 3"/>
          <p:cNvSpPr>
            <a:spLocks noGrp="1" noChangeArrowheads="1"/>
          </p:cNvSpPr>
          <p:nvPr>
            <p:ph type="body" idx="1"/>
          </p:nvPr>
        </p:nvSpPr>
        <p:spPr>
          <a:xfrm>
            <a:off x="533400" y="1628800"/>
            <a:ext cx="7924800" cy="4495800"/>
          </a:xfrm>
        </p:spPr>
        <p:txBody>
          <a:bodyPr/>
          <a:lstStyle/>
          <a:p>
            <a:pPr marL="609600" indent="-609600" eaLnBrk="1" hangingPunct="1">
              <a:lnSpc>
                <a:spcPct val="90000"/>
              </a:lnSpc>
              <a:buFont typeface="Wingdings" pitchFamily="2" charset="2"/>
              <a:buNone/>
            </a:pPr>
            <a:r>
              <a:rPr lang="en-US" altLang="zh-CN" sz="2800" dirty="0">
                <a:cs typeface="Times New Roman" pitchFamily="18" charset="0"/>
              </a:rPr>
              <a:t>super</a:t>
            </a:r>
            <a:r>
              <a:rPr lang="zh-CN" altLang="en-US" sz="2800" dirty="0">
                <a:latin typeface="BIEGHZ+Palatino-Roman"/>
              </a:rPr>
              <a:t>用来引用当前对象的父类</a:t>
            </a:r>
            <a:r>
              <a:rPr lang="en-US" altLang="zh-CN" sz="2800" dirty="0">
                <a:latin typeface="BIEGHZ+Palatino-Roman"/>
              </a:rPr>
              <a:t>, </a:t>
            </a:r>
            <a:r>
              <a:rPr lang="en-US" altLang="zh-CN" sz="2800" dirty="0">
                <a:cs typeface="Times New Roman" pitchFamily="18" charset="0"/>
              </a:rPr>
              <a:t>super</a:t>
            </a:r>
            <a:r>
              <a:rPr lang="zh-CN" altLang="en-US" sz="2800" dirty="0">
                <a:latin typeface="BIEGHZ+Palatino-Roman"/>
              </a:rPr>
              <a:t>来实现对父类成员的访问。</a:t>
            </a:r>
          </a:p>
          <a:p>
            <a:pPr marL="609600" indent="-609600" eaLnBrk="1" hangingPunct="1">
              <a:lnSpc>
                <a:spcPct val="90000"/>
              </a:lnSpc>
              <a:buFont typeface="Wingdings" pitchFamily="2" charset="2"/>
              <a:buNone/>
            </a:pPr>
            <a:r>
              <a:rPr lang="zh-CN" altLang="en-US" sz="2800" b="1" dirty="0">
                <a:latin typeface="BIEGHZ+Palatino-Roman"/>
              </a:rPr>
              <a:t>应用：</a:t>
            </a:r>
          </a:p>
          <a:p>
            <a:pPr marL="990600" lvl="1" indent="-533400" eaLnBrk="1" hangingPunct="1">
              <a:lnSpc>
                <a:spcPct val="90000"/>
              </a:lnSpc>
            </a:pPr>
            <a:r>
              <a:rPr lang="zh-CN" altLang="en-US" sz="2400" dirty="0">
                <a:latin typeface="BIEGHZ+Palatino-Roman"/>
              </a:rPr>
              <a:t>子类在隐藏了父类的成员变量或重写了父类的方法后，常常还要用到父类的成员</a:t>
            </a:r>
          </a:p>
          <a:p>
            <a:pPr marL="990600" lvl="1" indent="-533400" eaLnBrk="1" hangingPunct="1">
              <a:lnSpc>
                <a:spcPct val="90000"/>
              </a:lnSpc>
              <a:buFont typeface="Wingdings" pitchFamily="2" charset="2"/>
              <a:buNone/>
            </a:pPr>
            <a:endParaRPr lang="zh-CN" altLang="en-US" sz="2400" dirty="0">
              <a:latin typeface="BIEGHZ+Palatino-Roman"/>
            </a:endParaRPr>
          </a:p>
          <a:p>
            <a:pPr marL="990600" lvl="1" indent="-533400" eaLnBrk="1" hangingPunct="1">
              <a:lnSpc>
                <a:spcPct val="90000"/>
              </a:lnSpc>
            </a:pPr>
            <a:r>
              <a:rPr lang="zh-CN" altLang="en-US" sz="2400" dirty="0">
                <a:latin typeface="BIEGHZ+Palatino-Roman"/>
              </a:rPr>
              <a:t>在重写的方法中使用父类中被重写的方法以简化代码的编写</a:t>
            </a:r>
          </a:p>
          <a:p>
            <a:pPr marL="609600" indent="-609600" eaLnBrk="1" hangingPunct="1">
              <a:lnSpc>
                <a:spcPct val="90000"/>
              </a:lnSpc>
              <a:buFont typeface="Wingdings" pitchFamily="2" charset="2"/>
              <a:buNone/>
            </a:pPr>
            <a:endParaRPr lang="zh-CN" altLang="en-US" sz="2800" dirty="0">
              <a:latin typeface="BIEGHZ+Palatino-Roman"/>
            </a:endParaRPr>
          </a:p>
          <a:p>
            <a:pPr marL="609600" indent="-609600" eaLnBrk="1" hangingPunct="1">
              <a:lnSpc>
                <a:spcPct val="90000"/>
              </a:lnSpc>
            </a:pPr>
            <a:endParaRPr lang="zh-CN" altLang="en-US" sz="2800" dirty="0">
              <a:latin typeface="宋体" pitchFamily="2" charset="-122"/>
            </a:endParaRPr>
          </a:p>
          <a:p>
            <a:pPr marL="609600" indent="-609600" eaLnBrk="1" hangingPunct="1"/>
            <a:endParaRPr lang="en-US" altLang="zh-CN" dirty="0"/>
          </a:p>
        </p:txBody>
      </p:sp>
      <p:sp>
        <p:nvSpPr>
          <p:cNvPr id="6" name="标题 5"/>
          <p:cNvSpPr>
            <a:spLocks noGrp="1"/>
          </p:cNvSpPr>
          <p:nvPr>
            <p:ph type="title"/>
          </p:nvPr>
        </p:nvSpPr>
        <p:spPr/>
        <p:txBody>
          <a:bodyPr/>
          <a:lstStyle/>
          <a:p>
            <a:r>
              <a:rPr lang="en-US" altLang="zh-CN" b="1" dirty="0">
                <a:solidFill>
                  <a:schemeClr val="folHlink"/>
                </a:solidFill>
                <a:latin typeface="BIEGHZ+Palatino-Roman"/>
              </a:rPr>
              <a:t>super </a:t>
            </a:r>
            <a:r>
              <a:rPr lang="zh-CN" altLang="en-US" b="1" dirty="0">
                <a:solidFill>
                  <a:schemeClr val="folHlink"/>
                </a:solidFill>
                <a:latin typeface="BIEGHZ+Palatino-Roman"/>
              </a:rPr>
              <a:t>关键字</a:t>
            </a:r>
            <a:endParaRPr lang="zh-CN" altLang="en-US"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2" name="Rectangle 3"/>
          <p:cNvSpPr>
            <a:spLocks noGrp="1" noChangeArrowheads="1"/>
          </p:cNvSpPr>
          <p:nvPr>
            <p:ph type="body" idx="1"/>
          </p:nvPr>
        </p:nvSpPr>
        <p:spPr>
          <a:xfrm>
            <a:off x="533400" y="1648544"/>
            <a:ext cx="7924800" cy="4876800"/>
          </a:xfrm>
        </p:spPr>
        <p:txBody>
          <a:bodyPr/>
          <a:lstStyle/>
          <a:p>
            <a:pPr marL="609600" indent="-609600" eaLnBrk="1" hangingPunct="1">
              <a:lnSpc>
                <a:spcPct val="90000"/>
              </a:lnSpc>
              <a:buFont typeface="Wingdings" pitchFamily="2" charset="2"/>
              <a:buNone/>
            </a:pPr>
            <a:r>
              <a:rPr lang="en-US" altLang="zh-CN" sz="2800" dirty="0">
                <a:cs typeface="Times New Roman" pitchFamily="18" charset="0"/>
              </a:rPr>
              <a:t>super</a:t>
            </a:r>
            <a:r>
              <a:rPr lang="zh-CN" altLang="en-US" sz="2800" dirty="0">
                <a:cs typeface="Times New Roman" pitchFamily="18" charset="0"/>
              </a:rPr>
              <a:t>的使用有三种情况：</a:t>
            </a:r>
          </a:p>
          <a:p>
            <a:pPr marL="990600" lvl="1" indent="-533400" eaLnBrk="1" hangingPunct="1">
              <a:lnSpc>
                <a:spcPct val="90000"/>
              </a:lnSpc>
            </a:pPr>
            <a:r>
              <a:rPr lang="zh-CN" altLang="en-US" sz="2400" dirty="0">
                <a:cs typeface="Times New Roman" pitchFamily="18" charset="0"/>
              </a:rPr>
              <a:t> 用来访问父类被隐藏的成员变量，如：	</a:t>
            </a:r>
            <a:r>
              <a:rPr lang="en-US" altLang="zh-CN" sz="2400" dirty="0">
                <a:cs typeface="Times New Roman" pitchFamily="18" charset="0"/>
              </a:rPr>
              <a:t>super.variable</a:t>
            </a:r>
            <a:endParaRPr lang="en-US" altLang="zh-CN" sz="1000" dirty="0">
              <a:cs typeface="Times New Roman" pitchFamily="18" charset="0"/>
            </a:endParaRPr>
          </a:p>
          <a:p>
            <a:pPr marL="990600" lvl="1" indent="-533400" eaLnBrk="1" hangingPunct="1">
              <a:lnSpc>
                <a:spcPct val="90000"/>
              </a:lnSpc>
            </a:pPr>
            <a:r>
              <a:rPr lang="en-US" altLang="zh-CN" sz="2400" dirty="0">
                <a:cs typeface="Times New Roman" pitchFamily="18" charset="0"/>
              </a:rPr>
              <a:t> </a:t>
            </a:r>
            <a:r>
              <a:rPr lang="zh-CN" altLang="en-US" sz="2400" dirty="0">
                <a:cs typeface="Times New Roman" pitchFamily="18" charset="0"/>
              </a:rPr>
              <a:t>用来调用父类中被重</a:t>
            </a:r>
            <a:r>
              <a:rPr lang="zh-CN" altLang="en-US" sz="2400" dirty="0"/>
              <a:t>写</a:t>
            </a:r>
            <a:r>
              <a:rPr lang="zh-CN" altLang="en-US" sz="2400" dirty="0">
                <a:cs typeface="Times New Roman" pitchFamily="18" charset="0"/>
              </a:rPr>
              <a:t>的方法，如：</a:t>
            </a:r>
          </a:p>
          <a:p>
            <a:pPr marL="990600" lvl="1" indent="-533400" eaLnBrk="1" hangingPunct="1">
              <a:lnSpc>
                <a:spcPct val="90000"/>
              </a:lnSpc>
              <a:buFont typeface="Wingdings" pitchFamily="2" charset="2"/>
              <a:buNone/>
            </a:pPr>
            <a:r>
              <a:rPr lang="zh-CN" altLang="en-US" sz="2400" dirty="0">
                <a:cs typeface="Times New Roman" pitchFamily="18" charset="0"/>
              </a:rPr>
              <a:t>		</a:t>
            </a:r>
            <a:r>
              <a:rPr lang="en-US" altLang="zh-CN" sz="2400" dirty="0">
                <a:cs typeface="Times New Roman" pitchFamily="18" charset="0"/>
              </a:rPr>
              <a:t>super.Method ( [paramlist] )</a:t>
            </a:r>
            <a:r>
              <a:rPr lang="zh-CN" altLang="en-US" sz="2400" dirty="0">
                <a:cs typeface="Times New Roman" pitchFamily="18" charset="0"/>
              </a:rPr>
              <a:t>；</a:t>
            </a:r>
            <a:endParaRPr lang="zh-CN" altLang="en-US" sz="1000" dirty="0">
              <a:cs typeface="Times New Roman" pitchFamily="18" charset="0"/>
            </a:endParaRPr>
          </a:p>
          <a:p>
            <a:pPr marL="990600" lvl="1" indent="-533400" eaLnBrk="1" hangingPunct="1">
              <a:lnSpc>
                <a:spcPct val="90000"/>
              </a:lnSpc>
            </a:pPr>
            <a:r>
              <a:rPr lang="zh-CN" altLang="en-US" sz="2400" dirty="0">
                <a:cs typeface="Times New Roman" pitchFamily="18" charset="0"/>
              </a:rPr>
              <a:t> 用来调用父类的构造函数，如	 	</a:t>
            </a:r>
            <a:r>
              <a:rPr lang="en-US" altLang="zh-CN" sz="2400" dirty="0">
                <a:cs typeface="Times New Roman" pitchFamily="18" charset="0"/>
              </a:rPr>
              <a:t>super( [paramlist] )</a:t>
            </a:r>
            <a:r>
              <a:rPr lang="zh-CN" altLang="en-US" sz="2400" dirty="0">
                <a:cs typeface="Times New Roman" pitchFamily="18" charset="0"/>
              </a:rPr>
              <a:t>；</a:t>
            </a:r>
          </a:p>
          <a:p>
            <a:pPr marL="609600" indent="-609600" eaLnBrk="1" hangingPunct="1">
              <a:lnSpc>
                <a:spcPct val="90000"/>
              </a:lnSpc>
              <a:buFont typeface="Wingdings" pitchFamily="2" charset="2"/>
              <a:buNone/>
            </a:pPr>
            <a:r>
              <a:rPr lang="zh-CN" altLang="en-US" sz="2400" b="1" dirty="0">
                <a:latin typeface="BIEGHZ+Palatino-Roman"/>
              </a:rPr>
              <a:t>例题：</a:t>
            </a:r>
            <a:r>
              <a:rPr lang="en-US" altLang="zh-CN" sz="2400" b="1" dirty="0">
                <a:latin typeface="BIEGHZ+Palatino-Roman"/>
                <a:hlinkClick r:id="rId2" action="ppaction://hlinkfile"/>
              </a:rPr>
              <a:t>inheritance.java</a:t>
            </a:r>
            <a:r>
              <a:rPr lang="zh-CN" altLang="en-US" sz="2400" b="1" dirty="0">
                <a:latin typeface="BIEGHZ+Palatino-Roman"/>
              </a:rPr>
              <a:t>，</a:t>
            </a:r>
            <a:r>
              <a:rPr lang="en-US" altLang="zh-CN" sz="2400" b="1" dirty="0">
                <a:latin typeface="BIEGHZ+Palatino-Roman"/>
                <a:hlinkClick r:id="rId3" action="ppaction://hlinkfile"/>
              </a:rPr>
              <a:t>Manager.java</a:t>
            </a:r>
            <a:endParaRPr lang="en-US" altLang="zh-CN" sz="2400" b="1" dirty="0">
              <a:latin typeface="宋体" pitchFamily="2" charset="-122"/>
            </a:endParaRPr>
          </a:p>
          <a:p>
            <a:pPr marL="609600" indent="-609600" eaLnBrk="1" hangingPunct="1">
              <a:lnSpc>
                <a:spcPct val="90000"/>
              </a:lnSpc>
            </a:pPr>
            <a:endParaRPr lang="en-US" altLang="zh-CN" sz="2400" b="1" dirty="0"/>
          </a:p>
        </p:txBody>
      </p:sp>
      <p:sp>
        <p:nvSpPr>
          <p:cNvPr id="6" name="标题 5"/>
          <p:cNvSpPr>
            <a:spLocks noGrp="1"/>
          </p:cNvSpPr>
          <p:nvPr>
            <p:ph type="title"/>
          </p:nvPr>
        </p:nvSpPr>
        <p:spPr/>
        <p:txBody>
          <a:bodyPr/>
          <a:lstStyle/>
          <a:p>
            <a:r>
              <a:rPr lang="en-US" altLang="zh-CN" b="1" dirty="0">
                <a:solidFill>
                  <a:schemeClr val="folHlink"/>
                </a:solidFill>
                <a:latin typeface="BIEGHZ+Palatino-Roman"/>
              </a:rPr>
              <a:t>super </a:t>
            </a:r>
            <a:r>
              <a:rPr lang="zh-CN" altLang="en-US" b="1" dirty="0">
                <a:solidFill>
                  <a:schemeClr val="folHlink"/>
                </a:solidFill>
                <a:latin typeface="BIEGHZ+Palatino-Roman"/>
              </a:rPr>
              <a:t>关键字</a:t>
            </a:r>
            <a:endParaRPr lang="zh-CN" altLang="en-US"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6" name="Rectangle 3"/>
          <p:cNvSpPr>
            <a:spLocks noGrp="1" noChangeArrowheads="1"/>
          </p:cNvSpPr>
          <p:nvPr>
            <p:ph type="body" idx="1"/>
          </p:nvPr>
        </p:nvSpPr>
        <p:spPr>
          <a:xfrm>
            <a:off x="539552" y="1628800"/>
            <a:ext cx="7924800" cy="4876800"/>
          </a:xfrm>
        </p:spPr>
        <p:txBody>
          <a:bodyPr/>
          <a:lstStyle/>
          <a:p>
            <a:pPr marL="609600" indent="-609600" eaLnBrk="1" hangingPunct="1">
              <a:lnSpc>
                <a:spcPct val="90000"/>
              </a:lnSpc>
              <a:buFont typeface="Wingdings" pitchFamily="2" charset="2"/>
              <a:buNone/>
            </a:pPr>
            <a:r>
              <a:rPr lang="zh-CN" altLang="en-US" b="1" dirty="0">
                <a:solidFill>
                  <a:schemeClr val="folHlink"/>
                </a:solidFill>
                <a:latin typeface="BIEGHZ+Palatino-Roman"/>
              </a:rPr>
              <a:t>说明： 	</a:t>
            </a:r>
            <a:r>
              <a:rPr lang="zh-CN" altLang="en-US" sz="2800" dirty="0">
                <a:cs typeface="Times New Roman" pitchFamily="18" charset="0"/>
              </a:rPr>
              <a:t> </a:t>
            </a:r>
          </a:p>
          <a:p>
            <a:pPr marL="609600" indent="-609600" eaLnBrk="1" hangingPunct="1">
              <a:lnSpc>
                <a:spcPct val="90000"/>
              </a:lnSpc>
            </a:pPr>
            <a:r>
              <a:rPr lang="zh-CN" altLang="en-US" sz="2600" dirty="0">
                <a:cs typeface="Times New Roman" pitchFamily="18" charset="0"/>
              </a:rPr>
              <a:t>用来调用父类的构造函数</a:t>
            </a:r>
            <a:r>
              <a:rPr lang="en-US" altLang="zh-CN" sz="2600" dirty="0">
                <a:cs typeface="Times New Roman" pitchFamily="18" charset="0"/>
              </a:rPr>
              <a:t>super( [paramlist] )</a:t>
            </a:r>
            <a:r>
              <a:rPr lang="zh-CN" altLang="en-US" sz="2600" dirty="0"/>
              <a:t>必须放在子类构造方法的句首。</a:t>
            </a:r>
          </a:p>
          <a:p>
            <a:pPr marL="609600" indent="-609600" eaLnBrk="1" hangingPunct="1">
              <a:lnSpc>
                <a:spcPct val="90000"/>
              </a:lnSpc>
            </a:pPr>
            <a:r>
              <a:rPr lang="zh-CN" altLang="en-US" sz="2600" dirty="0"/>
              <a:t>如果子类没有明确的调用</a:t>
            </a:r>
            <a:r>
              <a:rPr lang="zh-CN" altLang="en-US" sz="2600" dirty="0">
                <a:cs typeface="Times New Roman" pitchFamily="18" charset="0"/>
              </a:rPr>
              <a:t>父类的构造函数</a:t>
            </a:r>
            <a:r>
              <a:rPr lang="zh-CN" altLang="en-US" sz="2600" dirty="0"/>
              <a:t>，编译器会自动的调用</a:t>
            </a:r>
            <a:r>
              <a:rPr lang="en-US" altLang="zh-CN" sz="2600" dirty="0">
                <a:latin typeface="Courier"/>
              </a:rPr>
              <a:t>super()</a:t>
            </a:r>
            <a:r>
              <a:rPr lang="zh-CN" altLang="en-US" sz="2600" dirty="0">
                <a:latin typeface="Courier"/>
              </a:rPr>
              <a:t>语句，它调用父类的默认构造函数。</a:t>
            </a:r>
          </a:p>
          <a:p>
            <a:pPr marL="990600" lvl="1" indent="-533400" eaLnBrk="1" hangingPunct="1">
              <a:lnSpc>
                <a:spcPct val="90000"/>
              </a:lnSpc>
            </a:pPr>
            <a:r>
              <a:rPr lang="zh-CN" altLang="en-US" sz="2400" dirty="0"/>
              <a:t>如果父类没有默认构造函数则编译出错。</a:t>
            </a:r>
            <a:endParaRPr lang="en-US" altLang="zh-CN" sz="2400" dirty="0"/>
          </a:p>
          <a:p>
            <a:pPr marL="990600" lvl="1" indent="-533400" eaLnBrk="1" hangingPunct="1">
              <a:lnSpc>
                <a:spcPct val="90000"/>
              </a:lnSpc>
            </a:pPr>
            <a:endParaRPr lang="zh-CN" altLang="en-US" sz="2400" dirty="0">
              <a:cs typeface="Times New Roman" pitchFamily="18" charset="0"/>
            </a:endParaRPr>
          </a:p>
          <a:p>
            <a:pPr marL="609600" indent="-609600" eaLnBrk="1" hangingPunct="1">
              <a:lnSpc>
                <a:spcPct val="90000"/>
              </a:lnSpc>
              <a:buFont typeface="Wingdings" pitchFamily="2" charset="2"/>
              <a:buNone/>
            </a:pPr>
            <a:r>
              <a:rPr lang="zh-CN" altLang="en-US" sz="2400" b="1" dirty="0">
                <a:latin typeface="BIEGHZ+Palatino-Roman"/>
              </a:rPr>
              <a:t>例题：</a:t>
            </a:r>
            <a:endParaRPr lang="en-US" altLang="zh-CN" sz="2400" b="1" dirty="0">
              <a:latin typeface="宋体" pitchFamily="2" charset="-122"/>
            </a:endParaRPr>
          </a:p>
        </p:txBody>
      </p:sp>
      <p:sp>
        <p:nvSpPr>
          <p:cNvPr id="6" name="标题 5"/>
          <p:cNvSpPr>
            <a:spLocks noGrp="1"/>
          </p:cNvSpPr>
          <p:nvPr>
            <p:ph type="title"/>
          </p:nvPr>
        </p:nvSpPr>
        <p:spPr/>
        <p:txBody>
          <a:bodyPr/>
          <a:lstStyle/>
          <a:p>
            <a:r>
              <a:rPr lang="en-US" altLang="zh-CN" b="1" dirty="0">
                <a:solidFill>
                  <a:schemeClr val="folHlink"/>
                </a:solidFill>
                <a:latin typeface="BIEGHZ+Palatino-Roman"/>
              </a:rPr>
              <a:t>super </a:t>
            </a:r>
            <a:r>
              <a:rPr lang="zh-CN" altLang="en-US" b="1" dirty="0">
                <a:solidFill>
                  <a:schemeClr val="folHlink"/>
                </a:solidFill>
                <a:latin typeface="BIEGHZ+Palatino-Roman"/>
              </a:rPr>
              <a:t>关键字</a:t>
            </a:r>
            <a:endParaRPr lang="zh-CN" altLang="en-US"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20" name="Rectangle 3"/>
          <p:cNvSpPr>
            <a:spLocks noGrp="1" noChangeArrowheads="1"/>
          </p:cNvSpPr>
          <p:nvPr>
            <p:ph type="body" idx="1"/>
          </p:nvPr>
        </p:nvSpPr>
        <p:spPr>
          <a:xfrm>
            <a:off x="685800" y="1556792"/>
            <a:ext cx="7924800" cy="4495800"/>
          </a:xfrm>
        </p:spPr>
        <p:txBody>
          <a:bodyPr/>
          <a:lstStyle/>
          <a:p>
            <a:pPr marL="609600" indent="-609600" eaLnBrk="1" hangingPunct="1">
              <a:lnSpc>
                <a:spcPct val="90000"/>
              </a:lnSpc>
              <a:buFont typeface="Wingdings" pitchFamily="2" charset="2"/>
              <a:buNone/>
            </a:pPr>
            <a:r>
              <a:rPr lang="zh-CN" altLang="en-US" sz="2800" dirty="0">
                <a:solidFill>
                  <a:srgbClr val="000000"/>
                </a:solidFill>
              </a:rPr>
              <a:t>在同一个类中名字相同但参数个数或类型不同的方法。返回值可以不同。</a:t>
            </a:r>
          </a:p>
          <a:p>
            <a:pPr marL="609600" indent="-609600" eaLnBrk="1" hangingPunct="1">
              <a:lnSpc>
                <a:spcPct val="90000"/>
              </a:lnSpc>
              <a:buFont typeface="Wingdings" pitchFamily="2" charset="2"/>
              <a:buNone/>
            </a:pPr>
            <a:r>
              <a:rPr lang="zh-CN" altLang="en-US" sz="2800" dirty="0">
                <a:solidFill>
                  <a:srgbClr val="000000"/>
                </a:solidFill>
              </a:rPr>
              <a:t>例如：</a:t>
            </a:r>
          </a:p>
          <a:p>
            <a:pPr marL="609600" indent="-609600" eaLnBrk="1" hangingPunct="1">
              <a:lnSpc>
                <a:spcPct val="90000"/>
              </a:lnSpc>
              <a:buFont typeface="Wingdings" pitchFamily="2" charset="2"/>
              <a:buNone/>
            </a:pPr>
            <a:r>
              <a:rPr lang="zh-CN" altLang="en-US" sz="2400" dirty="0">
                <a:solidFill>
                  <a:srgbClr val="000000"/>
                </a:solidFill>
                <a:latin typeface="Courier"/>
              </a:rPr>
              <a:t>	</a:t>
            </a:r>
            <a:r>
              <a:rPr lang="en-US" altLang="zh-CN" sz="2400" dirty="0">
                <a:solidFill>
                  <a:srgbClr val="000000"/>
                </a:solidFill>
                <a:latin typeface="Courier"/>
              </a:rPr>
              <a:t>public void println( int i)</a:t>
            </a:r>
          </a:p>
          <a:p>
            <a:pPr marL="609600" indent="-609600" eaLnBrk="1" hangingPunct="1">
              <a:lnSpc>
                <a:spcPct val="90000"/>
              </a:lnSpc>
              <a:buFont typeface="Wingdings" pitchFamily="2" charset="2"/>
              <a:buNone/>
            </a:pPr>
            <a:r>
              <a:rPr lang="en-US" altLang="zh-CN" sz="2400" dirty="0">
                <a:solidFill>
                  <a:srgbClr val="000000"/>
                </a:solidFill>
                <a:latin typeface="Courier"/>
              </a:rPr>
              <a:t>	public void println( float f)</a:t>
            </a:r>
          </a:p>
          <a:p>
            <a:pPr marL="609600" indent="-609600" eaLnBrk="1" hangingPunct="1">
              <a:lnSpc>
                <a:spcPct val="90000"/>
              </a:lnSpc>
              <a:buFont typeface="Wingdings" pitchFamily="2" charset="2"/>
              <a:buNone/>
            </a:pPr>
            <a:r>
              <a:rPr lang="en-US" altLang="zh-CN" sz="2400" dirty="0">
                <a:solidFill>
                  <a:srgbClr val="000000"/>
                </a:solidFill>
                <a:latin typeface="Courier"/>
              </a:rPr>
              <a:t>	public void println( String s)</a:t>
            </a:r>
          </a:p>
          <a:p>
            <a:pPr marL="990600" lvl="1" indent="-533400" eaLnBrk="1" hangingPunct="1">
              <a:buFont typeface="Wingdings" pitchFamily="2" charset="2"/>
              <a:buNone/>
            </a:pPr>
            <a:endParaRPr lang="en-US" altLang="zh-CN" b="1" dirty="0">
              <a:solidFill>
                <a:srgbClr val="000000"/>
              </a:solidFill>
            </a:endParaRPr>
          </a:p>
        </p:txBody>
      </p:sp>
      <p:sp>
        <p:nvSpPr>
          <p:cNvPr id="6" name="标题 5"/>
          <p:cNvSpPr>
            <a:spLocks noGrp="1"/>
          </p:cNvSpPr>
          <p:nvPr>
            <p:ph type="title"/>
          </p:nvPr>
        </p:nvSpPr>
        <p:spPr/>
        <p:txBody>
          <a:bodyPr/>
          <a:lstStyle/>
          <a:p>
            <a:r>
              <a:rPr lang="zh-CN" altLang="en-US" b="1" dirty="0">
                <a:solidFill>
                  <a:schemeClr val="folHlink"/>
                </a:solidFill>
                <a:latin typeface="BIEGHZ+Palatino-Roman"/>
              </a:rPr>
              <a:t>方法的重载</a:t>
            </a:r>
            <a:r>
              <a:rPr lang="zh-CN" altLang="en-US" b="1" dirty="0">
                <a:solidFill>
                  <a:srgbClr val="000000"/>
                </a:solidFill>
              </a:rPr>
              <a:t>（</a:t>
            </a:r>
            <a:r>
              <a:rPr lang="en-US" altLang="zh-CN" b="1" dirty="0">
                <a:solidFill>
                  <a:srgbClr val="000000"/>
                </a:solidFill>
              </a:rPr>
              <a:t>overloading</a:t>
            </a:r>
            <a:r>
              <a:rPr lang="zh-CN" altLang="en-US" b="1" dirty="0">
                <a:solidFill>
                  <a:srgbClr val="000000"/>
                </a:solidFill>
              </a:rPr>
              <a:t>）</a:t>
            </a:r>
            <a:endParaRPr lang="zh-CN" altLang="en-US"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4" name="Rectangle 3"/>
          <p:cNvSpPr>
            <a:spLocks noGrp="1" noChangeArrowheads="1"/>
          </p:cNvSpPr>
          <p:nvPr>
            <p:ph type="body" idx="1"/>
          </p:nvPr>
        </p:nvSpPr>
        <p:spPr>
          <a:xfrm>
            <a:off x="685800" y="2057400"/>
            <a:ext cx="7924800" cy="4495800"/>
          </a:xfrm>
        </p:spPr>
        <p:txBody>
          <a:bodyPr/>
          <a:lstStyle/>
          <a:p>
            <a:pPr marL="609600" indent="-609600" eaLnBrk="1" hangingPunct="1">
              <a:lnSpc>
                <a:spcPct val="90000"/>
              </a:lnSpc>
              <a:buFont typeface="Wingdings" pitchFamily="2" charset="2"/>
              <a:buNone/>
            </a:pPr>
            <a:r>
              <a:rPr lang="zh-CN" altLang="en-US" sz="2800" dirty="0">
                <a:solidFill>
                  <a:srgbClr val="000000"/>
                </a:solidFill>
              </a:rPr>
              <a:t>     构造方法也可以重载。可以在构造方法的第一条语句使用</a:t>
            </a:r>
            <a:r>
              <a:rPr lang="en-US" altLang="zh-CN" sz="2800" dirty="0">
                <a:solidFill>
                  <a:srgbClr val="000000"/>
                </a:solidFill>
              </a:rPr>
              <a:t>this</a:t>
            </a:r>
            <a:r>
              <a:rPr lang="zh-CN" altLang="en-US" sz="2800" dirty="0">
                <a:solidFill>
                  <a:srgbClr val="000000"/>
                </a:solidFill>
              </a:rPr>
              <a:t>来调用其他的构造方法。</a:t>
            </a:r>
          </a:p>
          <a:p>
            <a:pPr marL="609600" indent="-609600" eaLnBrk="1" hangingPunct="1">
              <a:lnSpc>
                <a:spcPct val="90000"/>
              </a:lnSpc>
              <a:buFont typeface="Wingdings" pitchFamily="2" charset="2"/>
              <a:buNone/>
            </a:pPr>
            <a:r>
              <a:rPr lang="zh-CN" altLang="en-US" sz="2400" dirty="0">
                <a:solidFill>
                  <a:srgbClr val="000000"/>
                </a:solidFill>
                <a:latin typeface="Courier"/>
              </a:rPr>
              <a:t>	</a:t>
            </a:r>
            <a:endParaRPr lang="zh-CN" altLang="en-US" b="1" dirty="0">
              <a:solidFill>
                <a:srgbClr val="000000"/>
              </a:solidFill>
            </a:endParaRPr>
          </a:p>
        </p:txBody>
      </p:sp>
      <p:sp>
        <p:nvSpPr>
          <p:cNvPr id="6" name="标题 5"/>
          <p:cNvSpPr>
            <a:spLocks noGrp="1"/>
          </p:cNvSpPr>
          <p:nvPr>
            <p:ph type="title"/>
          </p:nvPr>
        </p:nvSpPr>
        <p:spPr/>
        <p:txBody>
          <a:bodyPr/>
          <a:lstStyle/>
          <a:p>
            <a:r>
              <a:rPr lang="zh-CN" altLang="en-US" b="1" dirty="0">
                <a:solidFill>
                  <a:schemeClr val="folHlink"/>
                </a:solidFill>
                <a:latin typeface="BIEGHZ+Palatino-Roman"/>
              </a:rPr>
              <a:t>方法的重载</a:t>
            </a:r>
            <a:r>
              <a:rPr lang="zh-CN" altLang="en-US" b="1" dirty="0">
                <a:solidFill>
                  <a:srgbClr val="000000"/>
                </a:solidFill>
              </a:rPr>
              <a:t>（</a:t>
            </a:r>
            <a:r>
              <a:rPr lang="en-US" altLang="zh-CN" b="1" dirty="0">
                <a:solidFill>
                  <a:srgbClr val="000000"/>
                </a:solidFill>
              </a:rPr>
              <a:t>overloading</a:t>
            </a:r>
            <a:r>
              <a:rPr lang="zh-CN" altLang="en-US" b="1" dirty="0">
                <a:solidFill>
                  <a:srgbClr val="000000"/>
                </a:solidFill>
              </a:rPr>
              <a:t>）</a:t>
            </a:r>
            <a:endParaRPr lang="zh-CN" altLang="en-US"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7" name="Rectangle 3"/>
          <p:cNvSpPr>
            <a:spLocks noGrp="1" noChangeArrowheads="1"/>
          </p:cNvSpPr>
          <p:nvPr>
            <p:ph type="body" idx="1"/>
          </p:nvPr>
        </p:nvSpPr>
        <p:spPr>
          <a:xfrm>
            <a:off x="762000" y="1556792"/>
            <a:ext cx="7924800" cy="4495800"/>
          </a:xfrm>
        </p:spPr>
        <p:txBody>
          <a:bodyPr/>
          <a:lstStyle/>
          <a:p>
            <a:pPr marL="609600" indent="-609600" eaLnBrk="1" hangingPunct="1">
              <a:lnSpc>
                <a:spcPct val="90000"/>
              </a:lnSpc>
              <a:buSzPct val="55000"/>
              <a:buFont typeface="Wingdings" pitchFamily="2" charset="2"/>
              <a:buNone/>
            </a:pPr>
            <a:r>
              <a:rPr lang="zh-CN" altLang="en-US" sz="2800" dirty="0">
                <a:latin typeface="BIEGHZ+Palatino-Roman"/>
              </a:rPr>
              <a:t>对于重写或继承的方法，</a:t>
            </a:r>
            <a:r>
              <a:rPr lang="en-US" altLang="zh-CN" sz="2800" dirty="0">
                <a:cs typeface="Times New Roman" pitchFamily="18" charset="0"/>
              </a:rPr>
              <a:t>Java</a:t>
            </a:r>
            <a:r>
              <a:rPr lang="zh-CN" altLang="en-US" sz="2800" dirty="0">
                <a:latin typeface="BIEGHZ+Palatino-Roman"/>
              </a:rPr>
              <a:t>运行时系统根据调用该方法的实例的类型来决定选择哪个方法调用。</a:t>
            </a:r>
          </a:p>
          <a:p>
            <a:pPr marL="609600" indent="-609600" eaLnBrk="1" hangingPunct="1">
              <a:lnSpc>
                <a:spcPct val="90000"/>
              </a:lnSpc>
              <a:buSzPct val="55000"/>
              <a:buFont typeface="Wingdings" pitchFamily="2" charset="2"/>
              <a:buNone/>
            </a:pPr>
            <a:endParaRPr lang="zh-CN" altLang="en-US" sz="1000" dirty="0">
              <a:latin typeface="BIEGHZ+Palatino-Roman"/>
            </a:endParaRPr>
          </a:p>
          <a:p>
            <a:pPr marL="609600" indent="-609600" eaLnBrk="1" hangingPunct="1">
              <a:lnSpc>
                <a:spcPct val="90000"/>
              </a:lnSpc>
              <a:buFont typeface="Wingdings" pitchFamily="2" charset="2"/>
              <a:buNone/>
            </a:pPr>
            <a:r>
              <a:rPr lang="zh-CN" altLang="en-US" sz="2500" dirty="0">
                <a:latin typeface="宋体" pitchFamily="2" charset="-122"/>
              </a:rPr>
              <a:t> </a:t>
            </a:r>
          </a:p>
          <a:p>
            <a:pPr marL="609600" indent="-609600" eaLnBrk="1" hangingPunct="1">
              <a:lnSpc>
                <a:spcPct val="90000"/>
              </a:lnSpc>
            </a:pPr>
            <a:endParaRPr lang="zh-CN" altLang="en-US" sz="2500" dirty="0">
              <a:latin typeface="宋体" pitchFamily="2" charset="-122"/>
            </a:endParaRPr>
          </a:p>
          <a:p>
            <a:pPr marL="609600" indent="-609600" eaLnBrk="1" hangingPunct="1">
              <a:lnSpc>
                <a:spcPct val="90000"/>
              </a:lnSpc>
            </a:pPr>
            <a:endParaRPr lang="zh-CN" altLang="en-US" sz="2400" dirty="0">
              <a:latin typeface="宋体" pitchFamily="2" charset="-122"/>
            </a:endParaRPr>
          </a:p>
          <a:p>
            <a:pPr marL="609600" indent="-609600" eaLnBrk="1" hangingPunct="1"/>
            <a:endParaRPr lang="en-US" altLang="zh-CN" sz="2800" dirty="0"/>
          </a:p>
        </p:txBody>
      </p:sp>
      <p:sp>
        <p:nvSpPr>
          <p:cNvPr id="3079" name="AutoShape 6" descr="7-1"/>
          <p:cNvSpPr>
            <a:spLocks noChangeAspect="1" noChangeArrowheads="1"/>
          </p:cNvSpPr>
          <p:nvPr/>
        </p:nvSpPr>
        <p:spPr bwMode="auto">
          <a:xfrm>
            <a:off x="4422874" y="2349599"/>
            <a:ext cx="296862" cy="296862"/>
          </a:xfrm>
          <a:prstGeom prst="rect">
            <a:avLst/>
          </a:prstGeom>
          <a:noFill/>
          <a:ln w="9525">
            <a:noFill/>
            <a:miter lim="800000"/>
            <a:headEnd/>
            <a:tailEnd/>
          </a:ln>
        </p:spPr>
        <p:txBody>
          <a:bodyPr/>
          <a:lstStyle/>
          <a:p>
            <a:endParaRPr lang="zh-CN" altLang="en-US"/>
          </a:p>
        </p:txBody>
      </p:sp>
      <p:sp>
        <p:nvSpPr>
          <p:cNvPr id="3080" name="AutoShape 8" descr="7-1"/>
          <p:cNvSpPr>
            <a:spLocks noChangeAspect="1" noChangeArrowheads="1"/>
          </p:cNvSpPr>
          <p:nvPr/>
        </p:nvSpPr>
        <p:spPr bwMode="auto">
          <a:xfrm>
            <a:off x="4422874" y="2349599"/>
            <a:ext cx="296862" cy="296862"/>
          </a:xfrm>
          <a:prstGeom prst="rect">
            <a:avLst/>
          </a:prstGeom>
          <a:noFill/>
          <a:ln w="9525">
            <a:noFill/>
            <a:miter lim="800000"/>
            <a:headEnd/>
            <a:tailEnd/>
          </a:ln>
        </p:spPr>
        <p:txBody>
          <a:bodyPr/>
          <a:lstStyle/>
          <a:p>
            <a:endParaRPr lang="zh-CN" altLang="en-US"/>
          </a:p>
        </p:txBody>
      </p:sp>
      <p:sp>
        <p:nvSpPr>
          <p:cNvPr id="3081" name="AutoShape 10" descr="7-1"/>
          <p:cNvSpPr>
            <a:spLocks noChangeAspect="1" noChangeArrowheads="1"/>
          </p:cNvSpPr>
          <p:nvPr/>
        </p:nvSpPr>
        <p:spPr bwMode="auto">
          <a:xfrm>
            <a:off x="4422874" y="2349599"/>
            <a:ext cx="296862" cy="296862"/>
          </a:xfrm>
          <a:prstGeom prst="rect">
            <a:avLst/>
          </a:prstGeom>
          <a:noFill/>
          <a:ln w="9525">
            <a:noFill/>
            <a:miter lim="800000"/>
            <a:headEnd/>
            <a:tailEnd/>
          </a:ln>
        </p:spPr>
        <p:txBody>
          <a:bodyPr/>
          <a:lstStyle/>
          <a:p>
            <a:endParaRPr lang="zh-CN" altLang="en-US"/>
          </a:p>
        </p:txBody>
      </p:sp>
      <p:sp>
        <p:nvSpPr>
          <p:cNvPr id="3082" name="AutoShape 12" descr="7-1"/>
          <p:cNvSpPr>
            <a:spLocks noChangeAspect="1" noChangeArrowheads="1"/>
          </p:cNvSpPr>
          <p:nvPr/>
        </p:nvSpPr>
        <p:spPr bwMode="auto">
          <a:xfrm>
            <a:off x="4422874" y="2349599"/>
            <a:ext cx="296862" cy="296862"/>
          </a:xfrm>
          <a:prstGeom prst="rect">
            <a:avLst/>
          </a:prstGeom>
          <a:noFill/>
          <a:ln w="9525">
            <a:noFill/>
            <a:miter lim="800000"/>
            <a:headEnd/>
            <a:tailEnd/>
          </a:ln>
        </p:spPr>
        <p:txBody>
          <a:bodyPr/>
          <a:lstStyle/>
          <a:p>
            <a:endParaRPr lang="zh-CN" altLang="en-US"/>
          </a:p>
        </p:txBody>
      </p:sp>
      <p:sp>
        <p:nvSpPr>
          <p:cNvPr id="3083" name="AutoShape 14" descr="7-1"/>
          <p:cNvSpPr>
            <a:spLocks noChangeAspect="1" noChangeArrowheads="1"/>
          </p:cNvSpPr>
          <p:nvPr/>
        </p:nvSpPr>
        <p:spPr bwMode="auto">
          <a:xfrm>
            <a:off x="4422874" y="2349599"/>
            <a:ext cx="296862" cy="296862"/>
          </a:xfrm>
          <a:prstGeom prst="rect">
            <a:avLst/>
          </a:prstGeom>
          <a:noFill/>
          <a:ln w="9525">
            <a:noFill/>
            <a:miter lim="800000"/>
            <a:headEnd/>
            <a:tailEnd/>
          </a:ln>
        </p:spPr>
        <p:txBody>
          <a:bodyPr/>
          <a:lstStyle/>
          <a:p>
            <a:endParaRPr lang="zh-CN" altLang="en-US"/>
          </a:p>
        </p:txBody>
      </p:sp>
      <p:graphicFrame>
        <p:nvGraphicFramePr>
          <p:cNvPr id="3074" name="Object 15"/>
          <p:cNvGraphicFramePr>
            <a:graphicFrameLocks noChangeAspect="1"/>
          </p:cNvGraphicFramePr>
          <p:nvPr/>
        </p:nvGraphicFramePr>
        <p:xfrm>
          <a:off x="1293911" y="2878236"/>
          <a:ext cx="6019800" cy="2805113"/>
        </p:xfrm>
        <a:graphic>
          <a:graphicData uri="http://schemas.openxmlformats.org/presentationml/2006/ole">
            <mc:AlternateContent xmlns:mc="http://schemas.openxmlformats.org/markup-compatibility/2006">
              <mc:Choice xmlns:v="urn:schemas-microsoft-com:vml" Requires="v">
                <p:oleObj spid="_x0000_s4099" name="位图图像" r:id="rId3" imgW="4038095" imgH="2038095" progId="PBrush">
                  <p:embed/>
                </p:oleObj>
              </mc:Choice>
              <mc:Fallback>
                <p:oleObj name="位图图像" r:id="rId3" imgW="4038095" imgH="2038095" progId="PBrush">
                  <p:embed/>
                  <p:pic>
                    <p:nvPicPr>
                      <p:cNvPr id="0" name="Object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93911" y="2878236"/>
                        <a:ext cx="6019800" cy="2805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2" name="标题 11"/>
          <p:cNvSpPr>
            <a:spLocks noGrp="1"/>
          </p:cNvSpPr>
          <p:nvPr>
            <p:ph type="title"/>
          </p:nvPr>
        </p:nvSpPr>
        <p:spPr/>
        <p:txBody>
          <a:bodyPr/>
          <a:lstStyle/>
          <a:p>
            <a:r>
              <a:rPr lang="zh-CN" altLang="en-US" dirty="0"/>
              <a:t>运行时多态（对象多态）</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灯片编号占位符 5"/>
          <p:cNvSpPr>
            <a:spLocks noGrp="1"/>
          </p:cNvSpPr>
          <p:nvPr>
            <p:ph type="sldNum" sz="quarter" idx="4294967295"/>
          </p:nvPr>
        </p:nvSpPr>
        <p:spPr>
          <a:xfrm>
            <a:off x="6589713" y="6376988"/>
            <a:ext cx="2193925" cy="457200"/>
          </a:xfrm>
          <a:prstGeom prst="rect">
            <a:avLst/>
          </a:prstGeom>
          <a:noFill/>
        </p:spPr>
        <p:txBody>
          <a:bodyPr/>
          <a:lstStyle/>
          <a:p>
            <a:fld id="{44DB9082-7F6E-4828-BD29-F97793BC0EB9}" type="slidenum">
              <a:rPr lang="en-US" altLang="zh-CN"/>
              <a:pPr/>
              <a:t>67</a:t>
            </a:fld>
            <a:endParaRPr lang="en-US" altLang="zh-CN"/>
          </a:p>
        </p:txBody>
      </p:sp>
      <p:sp>
        <p:nvSpPr>
          <p:cNvPr id="88068" name="Rectangle 3"/>
          <p:cNvSpPr>
            <a:spLocks noGrp="1" noChangeArrowheads="1"/>
          </p:cNvSpPr>
          <p:nvPr>
            <p:ph type="body" idx="1"/>
          </p:nvPr>
        </p:nvSpPr>
        <p:spPr/>
        <p:txBody>
          <a:bodyPr/>
          <a:lstStyle/>
          <a:p>
            <a:pPr eaLnBrk="1" hangingPunct="1">
              <a:buFont typeface="Wingdings" pitchFamily="2" charset="2"/>
              <a:buNone/>
            </a:pPr>
            <a:r>
              <a:rPr lang="zh-CN" altLang="en-US" dirty="0"/>
              <a:t>说明：</a:t>
            </a:r>
          </a:p>
          <a:p>
            <a:pPr eaLnBrk="1" hangingPunct="1">
              <a:lnSpc>
                <a:spcPct val="90000"/>
              </a:lnSpc>
            </a:pPr>
            <a:r>
              <a:rPr lang="zh-CN" altLang="en-US" sz="2500" dirty="0">
                <a:latin typeface="宋体" pitchFamily="2" charset="-122"/>
              </a:rPr>
              <a:t>对子类的一个实例，如果子类重写了父类的方法，则运行时系统调用子类的方法，</a:t>
            </a:r>
          </a:p>
          <a:p>
            <a:pPr eaLnBrk="1" hangingPunct="1">
              <a:lnSpc>
                <a:spcPct val="90000"/>
              </a:lnSpc>
            </a:pPr>
            <a:endParaRPr lang="zh-CN" altLang="en-US" sz="1000" dirty="0">
              <a:latin typeface="宋体" pitchFamily="2" charset="-122"/>
            </a:endParaRPr>
          </a:p>
          <a:p>
            <a:pPr eaLnBrk="1" hangingPunct="1">
              <a:lnSpc>
                <a:spcPct val="90000"/>
              </a:lnSpc>
            </a:pPr>
            <a:r>
              <a:rPr lang="zh-CN" altLang="en-US" sz="2500" dirty="0">
                <a:latin typeface="宋体" pitchFamily="2" charset="-122"/>
              </a:rPr>
              <a:t>如果子类继承了父类的方法</a:t>
            </a:r>
            <a:r>
              <a:rPr lang="en-US" altLang="zh-CN" sz="2500" dirty="0">
                <a:latin typeface="宋体" pitchFamily="2" charset="-122"/>
              </a:rPr>
              <a:t>(</a:t>
            </a:r>
            <a:r>
              <a:rPr lang="zh-CN" altLang="en-US" sz="2500" dirty="0">
                <a:latin typeface="宋体" pitchFamily="2" charset="-122"/>
              </a:rPr>
              <a:t>未重写</a:t>
            </a:r>
            <a:r>
              <a:rPr lang="en-US" altLang="zh-CN" sz="2500" dirty="0">
                <a:latin typeface="宋体" pitchFamily="2" charset="-122"/>
              </a:rPr>
              <a:t>)</a:t>
            </a:r>
            <a:r>
              <a:rPr lang="zh-CN" altLang="en-US" sz="2500" dirty="0">
                <a:latin typeface="宋体" pitchFamily="2" charset="-122"/>
              </a:rPr>
              <a:t>，则运行时系统调用父类的方法。</a:t>
            </a:r>
          </a:p>
        </p:txBody>
      </p:sp>
      <p:sp>
        <p:nvSpPr>
          <p:cNvPr id="6" name="标题 5"/>
          <p:cNvSpPr>
            <a:spLocks noGrp="1"/>
          </p:cNvSpPr>
          <p:nvPr>
            <p:ph type="title"/>
          </p:nvPr>
        </p:nvSpPr>
        <p:spPr/>
        <p:txBody>
          <a:bodyPr/>
          <a:lstStyle/>
          <a:p>
            <a:r>
              <a:rPr lang="zh-CN" altLang="en-US" dirty="0"/>
              <a:t>对象的多态</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灯片编号占位符 5"/>
          <p:cNvSpPr>
            <a:spLocks noGrp="1"/>
          </p:cNvSpPr>
          <p:nvPr>
            <p:ph type="sldNum" sz="quarter" idx="4294967295"/>
          </p:nvPr>
        </p:nvSpPr>
        <p:spPr>
          <a:xfrm>
            <a:off x="6589713" y="5672932"/>
            <a:ext cx="2193925" cy="457200"/>
          </a:xfrm>
          <a:prstGeom prst="rect">
            <a:avLst/>
          </a:prstGeom>
          <a:noFill/>
        </p:spPr>
        <p:txBody>
          <a:bodyPr/>
          <a:lstStyle/>
          <a:p>
            <a:fld id="{BF149FB3-A0E0-401B-886E-493F62E58CCF}" type="slidenum">
              <a:rPr lang="en-US" altLang="zh-CN"/>
              <a:pPr/>
              <a:t>68</a:t>
            </a:fld>
            <a:endParaRPr lang="en-US" altLang="zh-CN"/>
          </a:p>
        </p:txBody>
      </p:sp>
      <p:sp>
        <p:nvSpPr>
          <p:cNvPr id="89092" name="Rectangle 3"/>
          <p:cNvSpPr>
            <a:spLocks noGrp="1" noChangeArrowheads="1"/>
          </p:cNvSpPr>
          <p:nvPr>
            <p:ph type="body" idx="1"/>
          </p:nvPr>
        </p:nvSpPr>
        <p:spPr>
          <a:xfrm>
            <a:off x="395536" y="157336"/>
            <a:ext cx="7924800" cy="4495800"/>
          </a:xfrm>
        </p:spPr>
        <p:txBody>
          <a:bodyPr/>
          <a:lstStyle/>
          <a:p>
            <a:pPr marL="609600" indent="-609600" eaLnBrk="1" hangingPunct="1">
              <a:lnSpc>
                <a:spcPct val="90000"/>
              </a:lnSpc>
              <a:buSzPct val="55000"/>
              <a:buFont typeface="Wingdings" pitchFamily="2" charset="2"/>
              <a:buNone/>
            </a:pPr>
            <a:endParaRPr lang="zh-CN" altLang="en-US" sz="1800" b="1" dirty="0">
              <a:solidFill>
                <a:schemeClr val="folHlink"/>
              </a:solidFill>
              <a:latin typeface="BIEGHZ+Palatino-Roman"/>
            </a:endParaRPr>
          </a:p>
          <a:p>
            <a:pPr marL="609600" indent="-609600" eaLnBrk="1" hangingPunct="1">
              <a:lnSpc>
                <a:spcPct val="60000"/>
              </a:lnSpc>
              <a:buSzPct val="55000"/>
              <a:buFont typeface="Wingdings" pitchFamily="2" charset="2"/>
              <a:buNone/>
            </a:pPr>
            <a:r>
              <a:rPr lang="en-US" altLang="zh-CN" sz="2000" b="1" dirty="0">
                <a:cs typeface="Times New Roman" pitchFamily="18" charset="0"/>
              </a:rPr>
              <a:t>class A{</a:t>
            </a:r>
          </a:p>
          <a:p>
            <a:pPr marL="609600" indent="-609600" eaLnBrk="1" hangingPunct="1">
              <a:lnSpc>
                <a:spcPct val="60000"/>
              </a:lnSpc>
              <a:buSzPct val="55000"/>
              <a:buFont typeface="Wingdings" pitchFamily="2" charset="2"/>
              <a:buNone/>
            </a:pPr>
            <a:r>
              <a:rPr lang="en-US" altLang="zh-CN" sz="2000" b="1" dirty="0">
                <a:cs typeface="Times New Roman" pitchFamily="18" charset="0"/>
              </a:rPr>
              <a:t>	void callme( ){</a:t>
            </a:r>
          </a:p>
          <a:p>
            <a:pPr marL="609600" indent="-609600" eaLnBrk="1" hangingPunct="1">
              <a:lnSpc>
                <a:spcPct val="60000"/>
              </a:lnSpc>
              <a:buSzPct val="55000"/>
              <a:buFont typeface="Wingdings" pitchFamily="2" charset="2"/>
              <a:buNone/>
            </a:pPr>
            <a:r>
              <a:rPr lang="en-US" altLang="zh-CN" sz="2000" b="1" dirty="0">
                <a:cs typeface="Times New Roman" pitchFamily="18" charset="0"/>
              </a:rPr>
              <a:t>	System.out.println("Inside A's callme( ) method");</a:t>
            </a:r>
          </a:p>
          <a:p>
            <a:pPr marL="609600" indent="-609600" eaLnBrk="1" hangingPunct="1">
              <a:lnSpc>
                <a:spcPct val="60000"/>
              </a:lnSpc>
              <a:buSzPct val="55000"/>
              <a:buFont typeface="Wingdings" pitchFamily="2" charset="2"/>
              <a:buNone/>
            </a:pPr>
            <a:r>
              <a:rPr lang="en-US" altLang="zh-CN" sz="2000" b="1" dirty="0">
                <a:cs typeface="Times New Roman" pitchFamily="18" charset="0"/>
              </a:rPr>
              <a:t>}}</a:t>
            </a:r>
          </a:p>
          <a:p>
            <a:pPr marL="609600" indent="-609600" eaLnBrk="1" hangingPunct="1">
              <a:lnSpc>
                <a:spcPct val="60000"/>
              </a:lnSpc>
              <a:buSzPct val="55000"/>
              <a:buFont typeface="Wingdings" pitchFamily="2" charset="2"/>
              <a:buNone/>
            </a:pPr>
            <a:r>
              <a:rPr lang="zh-CN" altLang="en-US" sz="2000" b="1" dirty="0">
                <a:cs typeface="Times New Roman" pitchFamily="18" charset="0"/>
              </a:rPr>
              <a:t>　</a:t>
            </a:r>
          </a:p>
          <a:p>
            <a:pPr marL="609600" indent="-609600" eaLnBrk="1" hangingPunct="1">
              <a:lnSpc>
                <a:spcPct val="60000"/>
              </a:lnSpc>
              <a:buSzPct val="55000"/>
              <a:buFont typeface="Wingdings" pitchFamily="2" charset="2"/>
              <a:buNone/>
            </a:pPr>
            <a:r>
              <a:rPr lang="en-US" altLang="zh-CN" sz="2000" b="1" dirty="0">
                <a:cs typeface="Times New Roman" pitchFamily="18" charset="0"/>
              </a:rPr>
              <a:t>class B extends A{</a:t>
            </a:r>
          </a:p>
          <a:p>
            <a:pPr marL="609600" indent="-609600" eaLnBrk="1" hangingPunct="1">
              <a:lnSpc>
                <a:spcPct val="60000"/>
              </a:lnSpc>
              <a:buSzPct val="55000"/>
              <a:buFont typeface="Wingdings" pitchFamily="2" charset="2"/>
              <a:buNone/>
            </a:pPr>
            <a:r>
              <a:rPr lang="en-US" altLang="zh-CN" sz="2000" b="1" dirty="0">
                <a:cs typeface="Times New Roman" pitchFamily="18" charset="0"/>
              </a:rPr>
              <a:t>	void callme( ){</a:t>
            </a:r>
          </a:p>
          <a:p>
            <a:pPr marL="609600" indent="-609600" eaLnBrk="1" hangingPunct="1">
              <a:lnSpc>
                <a:spcPct val="60000"/>
              </a:lnSpc>
              <a:buSzPct val="55000"/>
              <a:buFont typeface="Wingdings" pitchFamily="2" charset="2"/>
              <a:buNone/>
            </a:pPr>
            <a:r>
              <a:rPr lang="en-US" altLang="zh-CN" sz="2000" b="1" dirty="0">
                <a:cs typeface="Times New Roman" pitchFamily="18" charset="0"/>
              </a:rPr>
              <a:t>	System.out.println("Inside B's callme( ) method");</a:t>
            </a:r>
          </a:p>
          <a:p>
            <a:pPr marL="609600" indent="-609600" eaLnBrk="1" hangingPunct="1">
              <a:lnSpc>
                <a:spcPct val="60000"/>
              </a:lnSpc>
              <a:buSzPct val="55000"/>
              <a:buFont typeface="Wingdings" pitchFamily="2" charset="2"/>
              <a:buNone/>
            </a:pPr>
            <a:r>
              <a:rPr lang="en-US" altLang="zh-CN" sz="2000" b="1" dirty="0">
                <a:cs typeface="Times New Roman" pitchFamily="18" charset="0"/>
              </a:rPr>
              <a:t>}}</a:t>
            </a:r>
          </a:p>
          <a:p>
            <a:pPr marL="609600" indent="-609600" eaLnBrk="1" hangingPunct="1">
              <a:lnSpc>
                <a:spcPct val="60000"/>
              </a:lnSpc>
              <a:buSzPct val="55000"/>
              <a:buFont typeface="Wingdings" pitchFamily="2" charset="2"/>
              <a:buNone/>
            </a:pPr>
            <a:r>
              <a:rPr lang="zh-CN" altLang="en-US" sz="2000" b="1" dirty="0">
                <a:cs typeface="Times New Roman" pitchFamily="18" charset="0"/>
              </a:rPr>
              <a:t>　</a:t>
            </a:r>
          </a:p>
          <a:p>
            <a:pPr marL="609600" indent="-609600" eaLnBrk="1" hangingPunct="1">
              <a:lnSpc>
                <a:spcPct val="60000"/>
              </a:lnSpc>
              <a:buSzPct val="55000"/>
              <a:buFont typeface="Wingdings" pitchFamily="2" charset="2"/>
              <a:buNone/>
            </a:pPr>
            <a:r>
              <a:rPr lang="en-US" altLang="zh-CN" sz="2000" b="1" dirty="0">
                <a:cs typeface="Times New Roman" pitchFamily="18" charset="0"/>
              </a:rPr>
              <a:t>public class Dispatch{</a:t>
            </a:r>
          </a:p>
          <a:p>
            <a:pPr marL="609600" indent="-609600" eaLnBrk="1" hangingPunct="1">
              <a:lnSpc>
                <a:spcPct val="60000"/>
              </a:lnSpc>
              <a:buSzPct val="55000"/>
              <a:buFont typeface="Wingdings" pitchFamily="2" charset="2"/>
              <a:buNone/>
            </a:pPr>
            <a:r>
              <a:rPr lang="en-US" altLang="zh-CN" sz="2000" b="1" dirty="0">
                <a:cs typeface="Times New Roman" pitchFamily="18" charset="0"/>
              </a:rPr>
              <a:t>	public static void main( String args[ ] ){</a:t>
            </a:r>
          </a:p>
          <a:p>
            <a:pPr marL="609600" indent="-609600" eaLnBrk="1" hangingPunct="1">
              <a:lnSpc>
                <a:spcPct val="60000"/>
              </a:lnSpc>
              <a:buSzPct val="55000"/>
              <a:buFont typeface="Wingdings" pitchFamily="2" charset="2"/>
              <a:buNone/>
            </a:pPr>
            <a:r>
              <a:rPr lang="en-US" altLang="zh-CN" sz="2000" b="1" dirty="0">
                <a:cs typeface="Times New Roman" pitchFamily="18" charset="0"/>
              </a:rPr>
              <a:t>		A a = new B( );</a:t>
            </a:r>
          </a:p>
          <a:p>
            <a:pPr marL="609600" indent="-609600" eaLnBrk="1" hangingPunct="1">
              <a:lnSpc>
                <a:spcPct val="60000"/>
              </a:lnSpc>
              <a:buSzPct val="55000"/>
              <a:buFont typeface="Wingdings" pitchFamily="2" charset="2"/>
              <a:buNone/>
            </a:pPr>
            <a:r>
              <a:rPr lang="en-US" altLang="zh-CN" sz="2000" b="1" dirty="0">
                <a:cs typeface="Times New Roman" pitchFamily="18" charset="0"/>
              </a:rPr>
              <a:t>		a.callme( );</a:t>
            </a:r>
          </a:p>
          <a:p>
            <a:pPr marL="609600" indent="-609600" eaLnBrk="1" hangingPunct="1">
              <a:lnSpc>
                <a:spcPct val="60000"/>
              </a:lnSpc>
              <a:buSzPct val="55000"/>
              <a:buFont typeface="Wingdings" pitchFamily="2" charset="2"/>
              <a:buNone/>
            </a:pPr>
            <a:r>
              <a:rPr lang="en-US" altLang="zh-CN" sz="2000" b="1" dirty="0">
                <a:cs typeface="Times New Roman" pitchFamily="18" charset="0"/>
              </a:rPr>
              <a:t>	}}</a:t>
            </a:r>
          </a:p>
          <a:p>
            <a:pPr marL="609600" indent="-609600" eaLnBrk="1" hangingPunct="1">
              <a:lnSpc>
                <a:spcPct val="60000"/>
              </a:lnSpc>
              <a:buSzPct val="55000"/>
              <a:buFont typeface="Wingdings" pitchFamily="2" charset="2"/>
              <a:buNone/>
            </a:pPr>
            <a:r>
              <a:rPr lang="zh-CN" altLang="en-US" sz="2000" dirty="0">
                <a:cs typeface="Times New Roman" pitchFamily="18" charset="0"/>
              </a:rPr>
              <a:t>　</a:t>
            </a:r>
          </a:p>
        </p:txBody>
      </p:sp>
      <p:sp>
        <p:nvSpPr>
          <p:cNvPr id="9" name="标题 8"/>
          <p:cNvSpPr>
            <a:spLocks noGrp="1"/>
          </p:cNvSpPr>
          <p:nvPr>
            <p:ph type="title"/>
          </p:nvPr>
        </p:nvSpPr>
        <p:spPr/>
        <p:txBody>
          <a:bodyPr/>
          <a:lstStyle/>
          <a:p>
            <a:endParaRPr lang="zh-CN" alt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6" name="Rectangle 3"/>
          <p:cNvSpPr>
            <a:spLocks noGrp="1" noChangeArrowheads="1"/>
          </p:cNvSpPr>
          <p:nvPr>
            <p:ph type="body" idx="1"/>
          </p:nvPr>
        </p:nvSpPr>
        <p:spPr>
          <a:xfrm>
            <a:off x="755576" y="1556792"/>
            <a:ext cx="7924800" cy="4495800"/>
          </a:xfrm>
        </p:spPr>
        <p:txBody>
          <a:bodyPr/>
          <a:lstStyle/>
          <a:p>
            <a:pPr marL="609600" indent="-609600" eaLnBrk="1" hangingPunct="1">
              <a:lnSpc>
                <a:spcPct val="90000"/>
              </a:lnSpc>
              <a:buSzPct val="55000"/>
              <a:buFont typeface="Wingdings" pitchFamily="2" charset="2"/>
              <a:buNone/>
            </a:pPr>
            <a:endParaRPr lang="zh-CN" altLang="en-US" sz="2000" b="1" dirty="0">
              <a:solidFill>
                <a:schemeClr val="folHlink"/>
              </a:solidFill>
              <a:latin typeface="BIEGHZ+Palatino-Roman"/>
            </a:endParaRPr>
          </a:p>
          <a:p>
            <a:pPr marL="609600" indent="-609600" eaLnBrk="1" hangingPunct="1">
              <a:lnSpc>
                <a:spcPct val="60000"/>
              </a:lnSpc>
              <a:buSzPct val="55000"/>
              <a:buFont typeface="Wingdings" pitchFamily="2" charset="2"/>
              <a:buNone/>
            </a:pPr>
            <a:endParaRPr lang="zh-CN" altLang="en-US" sz="2400" dirty="0">
              <a:cs typeface="Times New Roman" pitchFamily="18" charset="0"/>
            </a:endParaRPr>
          </a:p>
          <a:p>
            <a:pPr marL="609600" indent="-609600" eaLnBrk="1" hangingPunct="1">
              <a:lnSpc>
                <a:spcPct val="60000"/>
              </a:lnSpc>
              <a:buSzPct val="55000"/>
              <a:buFont typeface="Wingdings" pitchFamily="2" charset="2"/>
              <a:buNone/>
            </a:pPr>
            <a:r>
              <a:rPr lang="zh-CN" altLang="en-US" sz="2400" dirty="0">
                <a:cs typeface="Times New Roman" pitchFamily="18" charset="0"/>
              </a:rPr>
              <a:t>　</a:t>
            </a:r>
          </a:p>
        </p:txBody>
      </p:sp>
      <p:sp>
        <p:nvSpPr>
          <p:cNvPr id="90119" name="Text Box 7"/>
          <p:cNvSpPr txBox="1">
            <a:spLocks noChangeArrowheads="1"/>
          </p:cNvSpPr>
          <p:nvPr/>
        </p:nvSpPr>
        <p:spPr bwMode="auto">
          <a:xfrm>
            <a:off x="609600" y="1626840"/>
            <a:ext cx="7620000" cy="3962400"/>
          </a:xfrm>
          <a:prstGeom prst="rect">
            <a:avLst/>
          </a:prstGeom>
          <a:noFill/>
          <a:ln w="9525">
            <a:noFill/>
            <a:miter lim="800000"/>
            <a:headEnd/>
            <a:tailEnd/>
          </a:ln>
        </p:spPr>
        <p:txBody>
          <a:bodyPr>
            <a:spAutoFit/>
          </a:bodyPr>
          <a:lstStyle/>
          <a:p>
            <a:pPr>
              <a:lnSpc>
                <a:spcPct val="50000"/>
              </a:lnSpc>
              <a:spcBef>
                <a:spcPct val="50000"/>
              </a:spcBef>
            </a:pPr>
            <a:r>
              <a:rPr lang="en-US" altLang="zh-CN" sz="2000" b="1" dirty="0"/>
              <a:t>class Student</a:t>
            </a:r>
          </a:p>
          <a:p>
            <a:pPr>
              <a:lnSpc>
                <a:spcPct val="50000"/>
              </a:lnSpc>
              <a:spcBef>
                <a:spcPct val="50000"/>
              </a:spcBef>
            </a:pPr>
            <a:r>
              <a:rPr lang="en-US" altLang="zh-CN" sz="2000" b="1" dirty="0"/>
              <a:t>{ public:</a:t>
            </a:r>
          </a:p>
          <a:p>
            <a:pPr>
              <a:lnSpc>
                <a:spcPct val="50000"/>
              </a:lnSpc>
              <a:spcBef>
                <a:spcPct val="50000"/>
              </a:spcBef>
            </a:pPr>
            <a:r>
              <a:rPr lang="en-US" altLang="zh-CN" sz="2000" b="1" dirty="0"/>
              <a:t>     //…</a:t>
            </a:r>
          </a:p>
          <a:p>
            <a:pPr>
              <a:lnSpc>
                <a:spcPct val="50000"/>
              </a:lnSpc>
              <a:spcBef>
                <a:spcPct val="50000"/>
              </a:spcBef>
            </a:pPr>
            <a:r>
              <a:rPr lang="en-US" altLang="zh-CN" sz="2000" b="1" dirty="0">
                <a:solidFill>
                  <a:schemeClr val="folHlink"/>
                </a:solidFill>
              </a:rPr>
              <a:t>     float calcTuition()</a:t>
            </a:r>
          </a:p>
          <a:p>
            <a:pPr>
              <a:lnSpc>
                <a:spcPct val="50000"/>
              </a:lnSpc>
              <a:spcBef>
                <a:spcPct val="50000"/>
              </a:spcBef>
            </a:pPr>
            <a:r>
              <a:rPr lang="en-US" altLang="zh-CN" sz="2000" b="1" dirty="0"/>
              <a:t>     {  //…  }</a:t>
            </a:r>
          </a:p>
          <a:p>
            <a:pPr>
              <a:lnSpc>
                <a:spcPct val="50000"/>
              </a:lnSpc>
              <a:spcBef>
                <a:spcPct val="50000"/>
              </a:spcBef>
            </a:pPr>
            <a:r>
              <a:rPr lang="en-US" altLang="zh-CN" sz="2000" b="1" dirty="0"/>
              <a:t>};</a:t>
            </a:r>
          </a:p>
          <a:p>
            <a:pPr>
              <a:lnSpc>
                <a:spcPct val="50000"/>
              </a:lnSpc>
              <a:spcBef>
                <a:spcPct val="50000"/>
              </a:spcBef>
            </a:pPr>
            <a:r>
              <a:rPr lang="en-US" altLang="zh-CN" sz="2000" b="1" dirty="0"/>
              <a:t>class GraduateStudent extends Student</a:t>
            </a:r>
          </a:p>
          <a:p>
            <a:pPr>
              <a:lnSpc>
                <a:spcPct val="50000"/>
              </a:lnSpc>
              <a:spcBef>
                <a:spcPct val="50000"/>
              </a:spcBef>
            </a:pPr>
            <a:r>
              <a:rPr lang="en-US" altLang="zh-CN" sz="2000" b="1" dirty="0"/>
              <a:t>{ public:</a:t>
            </a:r>
          </a:p>
          <a:p>
            <a:pPr>
              <a:lnSpc>
                <a:spcPct val="50000"/>
              </a:lnSpc>
              <a:spcBef>
                <a:spcPct val="50000"/>
              </a:spcBef>
            </a:pPr>
            <a:r>
              <a:rPr lang="en-US" altLang="zh-CN" sz="2000" b="1" dirty="0"/>
              <a:t>     //…</a:t>
            </a:r>
          </a:p>
          <a:p>
            <a:pPr>
              <a:lnSpc>
                <a:spcPct val="50000"/>
              </a:lnSpc>
              <a:spcBef>
                <a:spcPct val="50000"/>
              </a:spcBef>
            </a:pPr>
            <a:r>
              <a:rPr lang="en-US" altLang="zh-CN" sz="2000" b="1" dirty="0"/>
              <a:t>     </a:t>
            </a:r>
            <a:r>
              <a:rPr lang="en-US" altLang="zh-CN" sz="2000" b="1" dirty="0">
                <a:solidFill>
                  <a:schemeClr val="folHlink"/>
                </a:solidFill>
              </a:rPr>
              <a:t>float calcTuition() </a:t>
            </a:r>
          </a:p>
          <a:p>
            <a:pPr>
              <a:lnSpc>
                <a:spcPct val="50000"/>
              </a:lnSpc>
              <a:spcBef>
                <a:spcPct val="50000"/>
              </a:spcBef>
            </a:pPr>
            <a:r>
              <a:rPr lang="en-US" altLang="zh-CN" sz="2000" b="1" dirty="0">
                <a:solidFill>
                  <a:schemeClr val="folHlink"/>
                </a:solidFill>
              </a:rPr>
              <a:t>    </a:t>
            </a:r>
            <a:r>
              <a:rPr lang="en-US" altLang="zh-CN" sz="2000" b="1" dirty="0"/>
              <a:t>{  //…  }</a:t>
            </a:r>
          </a:p>
          <a:p>
            <a:pPr>
              <a:lnSpc>
                <a:spcPct val="50000"/>
              </a:lnSpc>
              <a:spcBef>
                <a:spcPct val="50000"/>
              </a:spcBef>
            </a:pPr>
            <a:r>
              <a:rPr lang="en-US" altLang="zh-CN" sz="2000" b="1" dirty="0"/>
              <a:t>};</a:t>
            </a:r>
          </a:p>
          <a:p>
            <a:pPr>
              <a:lnSpc>
                <a:spcPct val="50000"/>
              </a:lnSpc>
              <a:spcBef>
                <a:spcPct val="50000"/>
              </a:spcBef>
            </a:pPr>
            <a:r>
              <a:rPr lang="en-US" altLang="zh-CN" b="1" dirty="0"/>
              <a:t>    	</a:t>
            </a:r>
          </a:p>
        </p:txBody>
      </p:sp>
      <p:sp>
        <p:nvSpPr>
          <p:cNvPr id="90120" name="Rectangle 8"/>
          <p:cNvSpPr>
            <a:spLocks noChangeArrowheads="1"/>
          </p:cNvSpPr>
          <p:nvPr/>
        </p:nvSpPr>
        <p:spPr bwMode="auto">
          <a:xfrm>
            <a:off x="5638800" y="2492896"/>
            <a:ext cx="4572000" cy="2682875"/>
          </a:xfrm>
          <a:prstGeom prst="rect">
            <a:avLst/>
          </a:prstGeom>
          <a:noFill/>
          <a:ln w="9525">
            <a:noFill/>
            <a:miter lim="800000"/>
            <a:headEnd/>
            <a:tailEnd/>
          </a:ln>
        </p:spPr>
        <p:txBody>
          <a:bodyPr>
            <a:spAutoFit/>
          </a:bodyPr>
          <a:lstStyle/>
          <a:p>
            <a:pPr>
              <a:lnSpc>
                <a:spcPct val="50000"/>
              </a:lnSpc>
              <a:spcBef>
                <a:spcPct val="50000"/>
              </a:spcBef>
            </a:pPr>
            <a:r>
              <a:rPr lang="en-US" altLang="zh-CN" sz="2000" b="1" dirty="0"/>
              <a:t>void fn(</a:t>
            </a:r>
            <a:r>
              <a:rPr lang="en-US" altLang="zh-CN" sz="2000" b="1" dirty="0">
                <a:solidFill>
                  <a:schemeClr val="folHlink"/>
                </a:solidFill>
              </a:rPr>
              <a:t>Student  x</a:t>
            </a:r>
            <a:r>
              <a:rPr lang="en-US" altLang="zh-CN" sz="2000" b="1" dirty="0"/>
              <a:t>)</a:t>
            </a:r>
          </a:p>
          <a:p>
            <a:pPr>
              <a:lnSpc>
                <a:spcPct val="50000"/>
              </a:lnSpc>
              <a:spcBef>
                <a:spcPct val="50000"/>
              </a:spcBef>
            </a:pPr>
            <a:r>
              <a:rPr lang="en-US" altLang="zh-CN" sz="2000" b="1" dirty="0"/>
              <a:t>{ </a:t>
            </a:r>
            <a:r>
              <a:rPr lang="en-US" altLang="zh-CN" sz="2000" b="1" dirty="0">
                <a:solidFill>
                  <a:schemeClr val="folHlink"/>
                </a:solidFill>
              </a:rPr>
              <a:t>x.calcTuition();</a:t>
            </a:r>
            <a:r>
              <a:rPr lang="en-US" altLang="zh-CN" sz="2000" b="1" dirty="0"/>
              <a:t> }</a:t>
            </a:r>
          </a:p>
          <a:p>
            <a:pPr>
              <a:lnSpc>
                <a:spcPct val="50000"/>
              </a:lnSpc>
              <a:spcBef>
                <a:spcPct val="50000"/>
              </a:spcBef>
            </a:pPr>
            <a:endParaRPr lang="en-US" altLang="zh-CN" sz="2000" b="1" dirty="0"/>
          </a:p>
          <a:p>
            <a:pPr>
              <a:lnSpc>
                <a:spcPct val="50000"/>
              </a:lnSpc>
              <a:spcBef>
                <a:spcPct val="50000"/>
              </a:spcBef>
            </a:pPr>
            <a:r>
              <a:rPr lang="en-US" altLang="zh-CN" sz="2000" b="1" dirty="0"/>
              <a:t>void main()</a:t>
            </a:r>
          </a:p>
          <a:p>
            <a:pPr>
              <a:lnSpc>
                <a:spcPct val="50000"/>
              </a:lnSpc>
              <a:spcBef>
                <a:spcPct val="50000"/>
              </a:spcBef>
            </a:pPr>
            <a:r>
              <a:rPr lang="en-US" altLang="zh-CN" sz="2000" b="1" dirty="0"/>
              <a:t>{  Student s;</a:t>
            </a:r>
          </a:p>
          <a:p>
            <a:pPr>
              <a:lnSpc>
                <a:spcPct val="50000"/>
              </a:lnSpc>
              <a:spcBef>
                <a:spcPct val="50000"/>
              </a:spcBef>
            </a:pPr>
            <a:r>
              <a:rPr lang="en-US" altLang="zh-CN" sz="2000" b="1" dirty="0"/>
              <a:t>    GraduateStudent gs;</a:t>
            </a:r>
          </a:p>
          <a:p>
            <a:pPr>
              <a:lnSpc>
                <a:spcPct val="50000"/>
              </a:lnSpc>
              <a:spcBef>
                <a:spcPct val="50000"/>
              </a:spcBef>
            </a:pPr>
            <a:r>
              <a:rPr lang="en-US" altLang="zh-CN" sz="2000" b="1" dirty="0"/>
              <a:t>    </a:t>
            </a:r>
            <a:r>
              <a:rPr lang="en-US" altLang="zh-CN" sz="2000" b="1" dirty="0">
                <a:solidFill>
                  <a:schemeClr val="folHlink"/>
                </a:solidFill>
              </a:rPr>
              <a:t>fn(s);</a:t>
            </a:r>
          </a:p>
          <a:p>
            <a:pPr>
              <a:lnSpc>
                <a:spcPct val="50000"/>
              </a:lnSpc>
              <a:spcBef>
                <a:spcPct val="50000"/>
              </a:spcBef>
            </a:pPr>
            <a:r>
              <a:rPr lang="en-US" altLang="zh-CN" sz="2000" b="1" dirty="0">
                <a:solidFill>
                  <a:schemeClr val="folHlink"/>
                </a:solidFill>
              </a:rPr>
              <a:t>    fn(gs);</a:t>
            </a:r>
          </a:p>
          <a:p>
            <a:pPr>
              <a:lnSpc>
                <a:spcPct val="50000"/>
              </a:lnSpc>
              <a:spcBef>
                <a:spcPct val="50000"/>
              </a:spcBef>
            </a:pPr>
            <a:r>
              <a:rPr lang="en-US" altLang="zh-CN" sz="2000" b="1" dirty="0"/>
              <a:t>}</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9"/>
          <p:cNvSpPr>
            <a:spLocks noGrp="1"/>
          </p:cNvSpPr>
          <p:nvPr>
            <p:ph type="title"/>
          </p:nvPr>
        </p:nvSpPr>
        <p:spPr/>
        <p:txBody>
          <a:bodyPr/>
          <a:lstStyle/>
          <a:p>
            <a:r>
              <a:rPr lang="en-US" altLang="zh-CN" b="1" dirty="0">
                <a:solidFill>
                  <a:schemeClr val="folHlink"/>
                </a:solidFill>
                <a:latin typeface="Courier"/>
              </a:rPr>
              <a:t>instanceof </a:t>
            </a:r>
            <a:r>
              <a:rPr lang="zh-CN" altLang="en-US" b="1" dirty="0">
                <a:solidFill>
                  <a:schemeClr val="folHlink"/>
                </a:solidFill>
                <a:latin typeface="BIEGHZ+Palatino-Roman"/>
              </a:rPr>
              <a:t>操作符</a:t>
            </a:r>
            <a:endParaRPr lang="zh-CN" altLang="en-US" dirty="0"/>
          </a:p>
        </p:txBody>
      </p:sp>
      <p:sp>
        <p:nvSpPr>
          <p:cNvPr id="92164" name="Rectangle 3"/>
          <p:cNvSpPr>
            <a:spLocks noGrp="1" noChangeArrowheads="1"/>
          </p:cNvSpPr>
          <p:nvPr>
            <p:ph idx="1"/>
          </p:nvPr>
        </p:nvSpPr>
        <p:spPr/>
        <p:txBody>
          <a:bodyPr/>
          <a:lstStyle/>
          <a:p>
            <a:pPr marL="609600" indent="-609600" eaLnBrk="1" hangingPunct="1">
              <a:lnSpc>
                <a:spcPct val="60000"/>
              </a:lnSpc>
              <a:buSzPct val="55000"/>
              <a:buFont typeface="Wingdings" pitchFamily="2" charset="2"/>
              <a:buNone/>
            </a:pPr>
            <a:r>
              <a:rPr lang="zh-CN" altLang="en-US" sz="2400" b="1" dirty="0"/>
              <a:t>用来判断对象属于哪个类</a:t>
            </a:r>
          </a:p>
          <a:p>
            <a:pPr marL="609600" indent="-609600" eaLnBrk="1" hangingPunct="1">
              <a:lnSpc>
                <a:spcPct val="60000"/>
              </a:lnSpc>
              <a:buSzPct val="55000"/>
              <a:buFont typeface="Wingdings" pitchFamily="2" charset="2"/>
              <a:buNone/>
            </a:pPr>
            <a:r>
              <a:rPr lang="zh-CN" altLang="en-US" sz="2400" dirty="0">
                <a:cs typeface="Times New Roman" pitchFamily="18" charset="0"/>
              </a:rPr>
              <a:t>　</a:t>
            </a:r>
          </a:p>
        </p:txBody>
      </p:sp>
      <p:sp>
        <p:nvSpPr>
          <p:cNvPr id="92166" name="Text Box 6"/>
          <p:cNvSpPr txBox="1">
            <a:spLocks noChangeArrowheads="1"/>
          </p:cNvSpPr>
          <p:nvPr/>
        </p:nvSpPr>
        <p:spPr bwMode="auto">
          <a:xfrm>
            <a:off x="827584" y="2132856"/>
            <a:ext cx="7620000" cy="3962400"/>
          </a:xfrm>
          <a:prstGeom prst="rect">
            <a:avLst/>
          </a:prstGeom>
          <a:noFill/>
          <a:ln w="9525">
            <a:noFill/>
            <a:miter lim="800000"/>
            <a:headEnd/>
            <a:tailEnd/>
          </a:ln>
        </p:spPr>
        <p:txBody>
          <a:bodyPr>
            <a:spAutoFit/>
          </a:bodyPr>
          <a:lstStyle/>
          <a:p>
            <a:pPr>
              <a:lnSpc>
                <a:spcPct val="50000"/>
              </a:lnSpc>
              <a:spcBef>
                <a:spcPct val="50000"/>
              </a:spcBef>
            </a:pPr>
            <a:r>
              <a:rPr lang="en-US" altLang="zh-CN" sz="2000" dirty="0">
                <a:latin typeface="Courier"/>
              </a:rPr>
              <a:t>public class Employee extends Object</a:t>
            </a:r>
          </a:p>
          <a:p>
            <a:pPr>
              <a:lnSpc>
                <a:spcPct val="50000"/>
              </a:lnSpc>
              <a:spcBef>
                <a:spcPct val="50000"/>
              </a:spcBef>
            </a:pPr>
            <a:r>
              <a:rPr lang="en-US" altLang="zh-CN" sz="2000" dirty="0">
                <a:latin typeface="Courier"/>
              </a:rPr>
              <a:t>public class Manager extends Employee</a:t>
            </a:r>
          </a:p>
          <a:p>
            <a:pPr>
              <a:lnSpc>
                <a:spcPct val="50000"/>
              </a:lnSpc>
              <a:spcBef>
                <a:spcPct val="50000"/>
              </a:spcBef>
            </a:pPr>
            <a:r>
              <a:rPr lang="en-US" altLang="zh-CN" sz="2000" dirty="0">
                <a:latin typeface="Courier"/>
              </a:rPr>
              <a:t>public class Engineer extends Employee</a:t>
            </a:r>
          </a:p>
          <a:p>
            <a:pPr>
              <a:lnSpc>
                <a:spcPct val="50000"/>
              </a:lnSpc>
              <a:spcBef>
                <a:spcPct val="50000"/>
              </a:spcBef>
            </a:pPr>
            <a:r>
              <a:rPr lang="en-US" altLang="zh-CN" sz="2000" dirty="0">
                <a:latin typeface="Courier"/>
              </a:rPr>
              <a:t>--------------------------------------- -</a:t>
            </a:r>
          </a:p>
          <a:p>
            <a:pPr>
              <a:lnSpc>
                <a:spcPct val="50000"/>
              </a:lnSpc>
              <a:spcBef>
                <a:spcPct val="50000"/>
              </a:spcBef>
            </a:pPr>
            <a:r>
              <a:rPr lang="en-US" altLang="zh-CN" sz="2000" dirty="0">
                <a:latin typeface="Courier"/>
              </a:rPr>
              <a:t>public void doSomething( Employee e) {</a:t>
            </a:r>
          </a:p>
          <a:p>
            <a:pPr>
              <a:lnSpc>
                <a:spcPct val="50000"/>
              </a:lnSpc>
              <a:spcBef>
                <a:spcPct val="50000"/>
              </a:spcBef>
            </a:pPr>
            <a:r>
              <a:rPr lang="en-US" altLang="zh-CN" sz="2000" dirty="0">
                <a:latin typeface="Courier"/>
              </a:rPr>
              <a:t>if (e instanceof Manager) {</a:t>
            </a:r>
          </a:p>
          <a:p>
            <a:pPr>
              <a:lnSpc>
                <a:spcPct val="50000"/>
              </a:lnSpc>
              <a:spcBef>
                <a:spcPct val="50000"/>
              </a:spcBef>
            </a:pPr>
            <a:r>
              <a:rPr lang="en-US" altLang="zh-CN" sz="2000" dirty="0">
                <a:latin typeface="Courier"/>
              </a:rPr>
              <a:t>// Process a Manager</a:t>
            </a:r>
          </a:p>
          <a:p>
            <a:pPr>
              <a:lnSpc>
                <a:spcPct val="50000"/>
              </a:lnSpc>
              <a:spcBef>
                <a:spcPct val="50000"/>
              </a:spcBef>
            </a:pPr>
            <a:r>
              <a:rPr lang="en-US" altLang="zh-CN" sz="2000" dirty="0">
                <a:latin typeface="Courier"/>
              </a:rPr>
              <a:t>} else if (e instanceof Engineer) {</a:t>
            </a:r>
          </a:p>
          <a:p>
            <a:pPr>
              <a:lnSpc>
                <a:spcPct val="50000"/>
              </a:lnSpc>
              <a:spcBef>
                <a:spcPct val="50000"/>
              </a:spcBef>
            </a:pPr>
            <a:r>
              <a:rPr lang="en-US" altLang="zh-CN" sz="2000" dirty="0">
                <a:latin typeface="Courier"/>
              </a:rPr>
              <a:t>// Process an Engineer</a:t>
            </a:r>
          </a:p>
          <a:p>
            <a:pPr>
              <a:lnSpc>
                <a:spcPct val="50000"/>
              </a:lnSpc>
              <a:spcBef>
                <a:spcPct val="50000"/>
              </a:spcBef>
            </a:pPr>
            <a:r>
              <a:rPr lang="en-US" altLang="zh-CN" sz="2000" dirty="0">
                <a:latin typeface="Courier"/>
              </a:rPr>
              <a:t>} else {</a:t>
            </a:r>
          </a:p>
          <a:p>
            <a:pPr>
              <a:lnSpc>
                <a:spcPct val="50000"/>
              </a:lnSpc>
              <a:spcBef>
                <a:spcPct val="50000"/>
              </a:spcBef>
            </a:pPr>
            <a:r>
              <a:rPr lang="en-US" altLang="zh-CN" sz="2000" dirty="0">
                <a:latin typeface="Courier"/>
              </a:rPr>
              <a:t>// Process any other type of Employee</a:t>
            </a:r>
          </a:p>
          <a:p>
            <a:pPr>
              <a:lnSpc>
                <a:spcPct val="50000"/>
              </a:lnSpc>
              <a:spcBef>
                <a:spcPct val="50000"/>
              </a:spcBef>
            </a:pPr>
            <a:r>
              <a:rPr lang="en-US" altLang="zh-CN" sz="2000" dirty="0">
                <a:latin typeface="Courier"/>
              </a:rPr>
              <a:t>}</a:t>
            </a:r>
          </a:p>
          <a:p>
            <a:pPr>
              <a:lnSpc>
                <a:spcPct val="50000"/>
              </a:lnSpc>
              <a:spcBef>
                <a:spcPct val="50000"/>
              </a:spcBef>
            </a:pPr>
            <a:r>
              <a:rPr lang="en-US" altLang="zh-CN" b="1" dirty="0"/>
              <a:t>    	</a:t>
            </a:r>
          </a:p>
        </p:txBody>
      </p:sp>
      <p:sp>
        <p:nvSpPr>
          <p:cNvPr id="9" name="矩形 8"/>
          <p:cNvSpPr/>
          <p:nvPr/>
        </p:nvSpPr>
        <p:spPr>
          <a:xfrm>
            <a:off x="3494141" y="3244334"/>
            <a:ext cx="2155718" cy="369332"/>
          </a:xfrm>
          <a:prstGeom prst="rect">
            <a:avLst/>
          </a:prstGeom>
        </p:spPr>
        <p:txBody>
          <a:bodyPr wrap="none">
            <a:spAutoFit/>
          </a:bodyPr>
          <a:lstStyle/>
          <a:p>
            <a:r>
              <a:rPr lang="en-US" altLang="zh-CN" b="1" dirty="0">
                <a:solidFill>
                  <a:schemeClr val="folHlink"/>
                </a:solidFill>
                <a:latin typeface="Courier"/>
              </a:rPr>
              <a:t>instanceof </a:t>
            </a:r>
            <a:r>
              <a:rPr lang="zh-CN" altLang="en-US" b="1" dirty="0">
                <a:solidFill>
                  <a:schemeClr val="folHlink"/>
                </a:solidFill>
                <a:latin typeface="BIEGHZ+Palatino-Roman"/>
              </a:rPr>
              <a:t>操作符</a:t>
            </a:r>
            <a:endParaRPr lang="zh-CN" altLang="en-US"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9" name="Rectangle 5"/>
          <p:cNvSpPr>
            <a:spLocks noGrp="1" noChangeArrowheads="1"/>
          </p:cNvSpPr>
          <p:nvPr>
            <p:ph type="body" idx="1"/>
          </p:nvPr>
        </p:nvSpPr>
        <p:spPr>
          <a:xfrm>
            <a:off x="611560" y="1484784"/>
            <a:ext cx="7958138" cy="4643437"/>
          </a:xfrm>
        </p:spPr>
        <p:txBody>
          <a:bodyPr/>
          <a:lstStyle/>
          <a:p>
            <a:pPr marL="609600" indent="-609600" eaLnBrk="1" hangingPunct="1">
              <a:lnSpc>
                <a:spcPct val="90000"/>
              </a:lnSpc>
            </a:pPr>
            <a:r>
              <a:rPr lang="zh-CN" altLang="en-US" sz="2800" dirty="0"/>
              <a:t>类</a:t>
            </a:r>
            <a:r>
              <a:rPr lang="en-US" altLang="zh-CN" sz="2800" dirty="0">
                <a:cs typeface="Times New Roman" pitchFamily="18" charset="0"/>
              </a:rPr>
              <a:t>java.lang.Object</a:t>
            </a:r>
            <a:r>
              <a:rPr lang="zh-CN" altLang="en-US" sz="2800" dirty="0"/>
              <a:t>处于</a:t>
            </a:r>
            <a:r>
              <a:rPr lang="en-US" altLang="zh-CN" sz="2800" dirty="0">
                <a:cs typeface="Times New Roman" pitchFamily="18" charset="0"/>
              </a:rPr>
              <a:t>Java</a:t>
            </a:r>
            <a:r>
              <a:rPr lang="zh-CN" altLang="en-US" sz="2800" dirty="0"/>
              <a:t>开发环境的类层次树的根部，其他所有的类都直接或间接地为它的子类</a:t>
            </a:r>
          </a:p>
          <a:p>
            <a:pPr marL="609600" indent="-609600" eaLnBrk="1" hangingPunct="1">
              <a:lnSpc>
                <a:spcPct val="90000"/>
              </a:lnSpc>
            </a:pPr>
            <a:r>
              <a:rPr lang="zh-CN" altLang="en-US" sz="2800" dirty="0"/>
              <a:t>一个类如果没有声明继承某个类，则默认继承</a:t>
            </a:r>
            <a:r>
              <a:rPr lang="en-US" altLang="zh-CN" sz="2800" dirty="0">
                <a:cs typeface="Times New Roman" pitchFamily="18" charset="0"/>
              </a:rPr>
              <a:t>Object</a:t>
            </a:r>
            <a:r>
              <a:rPr lang="zh-CN" altLang="en-US" sz="2800" dirty="0"/>
              <a:t>类。</a:t>
            </a:r>
            <a:r>
              <a:rPr lang="zh-CN" altLang="en-US" sz="2800" dirty="0">
                <a:latin typeface="Courier"/>
              </a:rPr>
              <a:t>      </a:t>
            </a:r>
          </a:p>
          <a:p>
            <a:pPr marL="609600" indent="-609600" eaLnBrk="1" hangingPunct="1">
              <a:lnSpc>
                <a:spcPct val="60000"/>
              </a:lnSpc>
              <a:buFont typeface="Wingdings" pitchFamily="2" charset="2"/>
              <a:buNone/>
            </a:pPr>
            <a:r>
              <a:rPr lang="zh-CN" altLang="en-US" sz="2800" dirty="0">
                <a:latin typeface="Courier"/>
              </a:rPr>
              <a:t>	</a:t>
            </a:r>
            <a:r>
              <a:rPr lang="en-US" altLang="zh-CN" sz="2400" dirty="0">
                <a:latin typeface="Courier"/>
              </a:rPr>
              <a:t>public class Employee {</a:t>
            </a:r>
          </a:p>
          <a:p>
            <a:pPr marL="609600" indent="-609600" eaLnBrk="1" hangingPunct="1">
              <a:lnSpc>
                <a:spcPct val="60000"/>
              </a:lnSpc>
              <a:buFont typeface="Wingdings" pitchFamily="2" charset="2"/>
              <a:buNone/>
            </a:pPr>
            <a:r>
              <a:rPr lang="en-US" altLang="zh-CN" sz="2400" dirty="0">
                <a:latin typeface="Courier"/>
              </a:rPr>
              <a:t>        ...</a:t>
            </a:r>
          </a:p>
          <a:p>
            <a:pPr marL="609600" indent="-609600" eaLnBrk="1" hangingPunct="1">
              <a:lnSpc>
                <a:spcPct val="60000"/>
              </a:lnSpc>
              <a:buFont typeface="Wingdings" pitchFamily="2" charset="2"/>
              <a:buNone/>
            </a:pPr>
            <a:r>
              <a:rPr lang="en-US" altLang="zh-CN" sz="2400" dirty="0"/>
              <a:t>	}</a:t>
            </a:r>
          </a:p>
          <a:p>
            <a:pPr marL="609600" indent="-609600" eaLnBrk="1" hangingPunct="1">
              <a:lnSpc>
                <a:spcPct val="60000"/>
              </a:lnSpc>
              <a:buFont typeface="Wingdings" pitchFamily="2" charset="2"/>
              <a:buNone/>
            </a:pPr>
            <a:r>
              <a:rPr lang="zh-CN" altLang="en-US" sz="2400" dirty="0"/>
              <a:t>等价于：</a:t>
            </a:r>
          </a:p>
          <a:p>
            <a:pPr marL="609600" indent="-609600" eaLnBrk="1" hangingPunct="1">
              <a:lnSpc>
                <a:spcPct val="60000"/>
              </a:lnSpc>
              <a:buFont typeface="Wingdings" pitchFamily="2" charset="2"/>
              <a:buNone/>
            </a:pPr>
            <a:r>
              <a:rPr lang="zh-CN" altLang="en-US" sz="2400" dirty="0">
                <a:latin typeface="Courier"/>
              </a:rPr>
              <a:t>	</a:t>
            </a:r>
            <a:r>
              <a:rPr lang="en-US" altLang="zh-CN" sz="2400" dirty="0">
                <a:latin typeface="Courier"/>
              </a:rPr>
              <a:t>public class Employee extends Object {</a:t>
            </a:r>
          </a:p>
          <a:p>
            <a:pPr marL="609600" indent="-609600" eaLnBrk="1" hangingPunct="1">
              <a:lnSpc>
                <a:spcPct val="60000"/>
              </a:lnSpc>
              <a:buFont typeface="Wingdings" pitchFamily="2" charset="2"/>
              <a:buNone/>
            </a:pPr>
            <a:r>
              <a:rPr lang="en-US" altLang="zh-CN" sz="2400" dirty="0">
                <a:latin typeface="Courier"/>
              </a:rPr>
              <a:t>	…</a:t>
            </a:r>
            <a:r>
              <a:rPr lang="en-US" altLang="zh-CN" sz="2400" dirty="0"/>
              <a:t>	}</a:t>
            </a:r>
          </a:p>
        </p:txBody>
      </p:sp>
      <p:sp>
        <p:nvSpPr>
          <p:cNvPr id="6" name="标题 5"/>
          <p:cNvSpPr>
            <a:spLocks noGrp="1"/>
          </p:cNvSpPr>
          <p:nvPr>
            <p:ph type="title"/>
          </p:nvPr>
        </p:nvSpPr>
        <p:spPr/>
        <p:txBody>
          <a:bodyPr/>
          <a:lstStyle/>
          <a:p>
            <a:r>
              <a:rPr lang="zh-CN" altLang="en-US" b="1" dirty="0">
                <a:solidFill>
                  <a:srgbClr val="0033CC"/>
                </a:solidFill>
              </a:rPr>
              <a:t>类 </a:t>
            </a:r>
            <a:r>
              <a:rPr lang="en-US" altLang="zh-CN" b="1" dirty="0">
                <a:solidFill>
                  <a:srgbClr val="0033CC"/>
                </a:solidFill>
              </a:rPr>
              <a:t>jave.lang.Object</a:t>
            </a:r>
            <a:endParaRPr lang="zh-CN" altLang="en-US"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灯片编号占位符 5"/>
          <p:cNvSpPr>
            <a:spLocks noGrp="1"/>
          </p:cNvSpPr>
          <p:nvPr>
            <p:ph type="sldNum" sz="quarter" idx="4294967295"/>
          </p:nvPr>
        </p:nvSpPr>
        <p:spPr>
          <a:xfrm>
            <a:off x="6589713" y="6376988"/>
            <a:ext cx="2193925" cy="457200"/>
          </a:xfrm>
          <a:prstGeom prst="rect">
            <a:avLst/>
          </a:prstGeom>
          <a:noFill/>
        </p:spPr>
        <p:txBody>
          <a:bodyPr/>
          <a:lstStyle/>
          <a:p>
            <a:fld id="{D2999D10-3D0B-4A0A-BF37-1E4586790DE9}" type="slidenum">
              <a:rPr lang="en-US" altLang="zh-CN"/>
              <a:pPr/>
              <a:t>72</a:t>
            </a:fld>
            <a:endParaRPr lang="en-US" altLang="zh-CN"/>
          </a:p>
        </p:txBody>
      </p:sp>
      <p:sp>
        <p:nvSpPr>
          <p:cNvPr id="94213" name="Rectangle 4"/>
          <p:cNvSpPr>
            <a:spLocks noGrp="1" noChangeArrowheads="1"/>
          </p:cNvSpPr>
          <p:nvPr>
            <p:ph type="body" idx="1"/>
          </p:nvPr>
        </p:nvSpPr>
        <p:spPr>
          <a:xfrm>
            <a:off x="108520" y="1593875"/>
            <a:ext cx="9144000" cy="4643437"/>
          </a:xfrm>
        </p:spPr>
        <p:txBody>
          <a:bodyPr/>
          <a:lstStyle/>
          <a:p>
            <a:pPr marL="609600" indent="-609600" eaLnBrk="1" hangingPunct="1">
              <a:lnSpc>
                <a:spcPct val="90000"/>
              </a:lnSpc>
              <a:buFont typeface="Wingdings" pitchFamily="2" charset="2"/>
              <a:buNone/>
            </a:pPr>
            <a:r>
              <a:rPr lang="zh-CN" altLang="en-US" sz="2800" dirty="0"/>
              <a:t>该类定义了一些所有对象最基本的状态和行为常用的有：</a:t>
            </a:r>
          </a:p>
          <a:p>
            <a:pPr marL="1444625" lvl="2" indent="-609600">
              <a:lnSpc>
                <a:spcPct val="90000"/>
              </a:lnSpc>
              <a:buFont typeface="Wingdings" pitchFamily="2" charset="2"/>
              <a:buAutoNum type="arabicPeriod"/>
            </a:pPr>
            <a:r>
              <a:rPr lang="en-US" altLang="zh-CN" sz="2800" dirty="0">
                <a:latin typeface="Arial Unicode MS" pitchFamily="34" charset="-122"/>
              </a:rPr>
              <a:t>equals()</a:t>
            </a:r>
          </a:p>
          <a:p>
            <a:pPr marL="1444625" lvl="2" indent="-609600">
              <a:lnSpc>
                <a:spcPct val="90000"/>
              </a:lnSpc>
              <a:buFont typeface="Wingdings" pitchFamily="2" charset="2"/>
              <a:buAutoNum type="arabicPeriod"/>
            </a:pPr>
            <a:r>
              <a:rPr lang="en-US" altLang="zh-CN" sz="2800" dirty="0">
                <a:latin typeface="Arial Unicode MS" pitchFamily="34" charset="-122"/>
              </a:rPr>
              <a:t>getClass</a:t>
            </a:r>
            <a:endParaRPr lang="en-US" altLang="zh-CN" sz="2800" dirty="0"/>
          </a:p>
          <a:p>
            <a:pPr marL="1444625" lvl="2" indent="-609600">
              <a:lnSpc>
                <a:spcPct val="90000"/>
              </a:lnSpc>
              <a:buFont typeface="Wingdings" pitchFamily="2" charset="2"/>
              <a:buAutoNum type="arabicPeriod"/>
            </a:pPr>
            <a:r>
              <a:rPr lang="en-US" altLang="zh-CN" sz="2800" dirty="0">
                <a:latin typeface="Arial Unicode MS" pitchFamily="34" charset="-122"/>
              </a:rPr>
              <a:t>toString</a:t>
            </a:r>
            <a:r>
              <a:rPr lang="zh-CN" altLang="en-US" sz="2800" dirty="0">
                <a:latin typeface="Arial Unicode MS" pitchFamily="34" charset="-122"/>
              </a:rPr>
              <a:t>（）</a:t>
            </a:r>
            <a:endParaRPr lang="en-US" altLang="zh-CN" sz="2800" dirty="0">
              <a:latin typeface="Arial Unicode MS" pitchFamily="34" charset="-122"/>
            </a:endParaRPr>
          </a:p>
          <a:p>
            <a:pPr marL="1444625" lvl="2" indent="-609600">
              <a:lnSpc>
                <a:spcPct val="90000"/>
              </a:lnSpc>
              <a:buFont typeface="Wingdings" pitchFamily="2" charset="2"/>
              <a:buAutoNum type="arabicPeriod"/>
            </a:pPr>
            <a:r>
              <a:rPr lang="en-US" altLang="zh-CN" sz="2800" dirty="0">
                <a:latin typeface="Arial Unicode MS" pitchFamily="34" charset="-122"/>
              </a:rPr>
              <a:t>finalize</a:t>
            </a:r>
            <a:r>
              <a:rPr lang="en-US" altLang="zh-CN" sz="2800" dirty="0"/>
              <a:t> </a:t>
            </a:r>
          </a:p>
          <a:p>
            <a:pPr marL="1444625" lvl="2" indent="-609600">
              <a:lnSpc>
                <a:spcPct val="90000"/>
              </a:lnSpc>
              <a:buFont typeface="Wingdings" pitchFamily="2" charset="2"/>
              <a:buAutoNum type="arabicPeriod"/>
            </a:pPr>
            <a:r>
              <a:rPr lang="en-US" altLang="zh-CN" sz="2800" dirty="0">
                <a:latin typeface="Arial Unicode MS" pitchFamily="34" charset="-122"/>
              </a:rPr>
              <a:t>notify</a:t>
            </a:r>
            <a:r>
              <a:rPr lang="en-US" altLang="zh-CN" sz="2800" dirty="0"/>
              <a:t> </a:t>
            </a:r>
          </a:p>
          <a:p>
            <a:pPr marL="1444625" lvl="2" indent="-609600">
              <a:lnSpc>
                <a:spcPct val="90000"/>
              </a:lnSpc>
              <a:buFont typeface="Wingdings" pitchFamily="2" charset="2"/>
              <a:buAutoNum type="arabicPeriod"/>
            </a:pPr>
            <a:r>
              <a:rPr lang="en-US" altLang="zh-CN" sz="2800" dirty="0">
                <a:latin typeface="Arial Unicode MS" pitchFamily="34" charset="-122"/>
              </a:rPr>
              <a:t>notifyAll</a:t>
            </a:r>
            <a:r>
              <a:rPr lang="en-US" altLang="zh-CN" sz="2800" dirty="0"/>
              <a:t> </a:t>
            </a:r>
          </a:p>
          <a:p>
            <a:pPr marL="1444625" lvl="2" indent="-609600">
              <a:lnSpc>
                <a:spcPct val="90000"/>
              </a:lnSpc>
              <a:buFont typeface="Wingdings" pitchFamily="2" charset="2"/>
              <a:buAutoNum type="arabicPeriod"/>
            </a:pPr>
            <a:r>
              <a:rPr lang="en-US" altLang="zh-CN" sz="2800" dirty="0">
                <a:latin typeface="Arial Unicode MS" pitchFamily="34" charset="-122"/>
              </a:rPr>
              <a:t>wait</a:t>
            </a:r>
            <a:r>
              <a:rPr lang="en-US" altLang="zh-CN" sz="2800" dirty="0"/>
              <a:t> </a:t>
            </a:r>
          </a:p>
          <a:p>
            <a:pPr marL="609600" indent="-609600" eaLnBrk="1" hangingPunct="1">
              <a:lnSpc>
                <a:spcPct val="90000"/>
              </a:lnSpc>
              <a:buFont typeface="Wingdings" pitchFamily="2" charset="2"/>
              <a:buNone/>
            </a:pPr>
            <a:r>
              <a:rPr lang="en-US" altLang="zh-CN" sz="2800" dirty="0"/>
              <a:t> </a:t>
            </a:r>
          </a:p>
        </p:txBody>
      </p:sp>
      <p:sp>
        <p:nvSpPr>
          <p:cNvPr id="6" name="标题 5"/>
          <p:cNvSpPr>
            <a:spLocks noGrp="1"/>
          </p:cNvSpPr>
          <p:nvPr>
            <p:ph type="title"/>
          </p:nvPr>
        </p:nvSpPr>
        <p:spPr/>
        <p:txBody>
          <a:bodyPr/>
          <a:lstStyle/>
          <a:p>
            <a:r>
              <a:rPr lang="zh-CN" altLang="en-US" b="1" dirty="0">
                <a:solidFill>
                  <a:srgbClr val="0033CC"/>
                </a:solidFill>
              </a:rPr>
              <a:t>类 </a:t>
            </a:r>
            <a:r>
              <a:rPr lang="en-US" altLang="zh-CN" b="1" dirty="0">
                <a:solidFill>
                  <a:srgbClr val="0033CC"/>
                </a:solidFill>
              </a:rPr>
              <a:t>jave.lang.Object</a:t>
            </a:r>
            <a:endParaRPr lang="zh-CN" altLang="en-US"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7" name="Rectangle 4"/>
          <p:cNvSpPr>
            <a:spLocks noGrp="1" noChangeArrowheads="1"/>
          </p:cNvSpPr>
          <p:nvPr>
            <p:ph type="body" idx="1"/>
          </p:nvPr>
        </p:nvSpPr>
        <p:spPr>
          <a:xfrm>
            <a:off x="762000" y="1340768"/>
            <a:ext cx="7958138" cy="4643438"/>
          </a:xfrm>
        </p:spPr>
        <p:txBody>
          <a:bodyPr/>
          <a:lstStyle/>
          <a:p>
            <a:pPr marL="609600" indent="-609600" eaLnBrk="1" hangingPunct="1">
              <a:buFont typeface="Wingdings" pitchFamily="2" charset="2"/>
              <a:buNone/>
            </a:pPr>
            <a:r>
              <a:rPr lang="zh-CN" altLang="en-US" dirty="0">
                <a:solidFill>
                  <a:schemeClr val="folHlink"/>
                </a:solidFill>
                <a:latin typeface="Arial Unicode MS" pitchFamily="34" charset="-122"/>
              </a:rPr>
              <a:t>一般情况下需要覆盖</a:t>
            </a:r>
            <a:r>
              <a:rPr lang="en-US" altLang="zh-CN" dirty="0">
                <a:solidFill>
                  <a:schemeClr val="folHlink"/>
                </a:solidFill>
                <a:latin typeface="Arial Unicode MS" pitchFamily="34" charset="-122"/>
              </a:rPr>
              <a:t>Object</a:t>
            </a:r>
            <a:r>
              <a:rPr lang="zh-CN" altLang="en-US" dirty="0">
                <a:solidFill>
                  <a:schemeClr val="folHlink"/>
                </a:solidFill>
                <a:latin typeface="Arial Unicode MS" pitchFamily="34" charset="-122"/>
              </a:rPr>
              <a:t>中的</a:t>
            </a:r>
            <a:r>
              <a:rPr lang="en-US" altLang="zh-CN" dirty="0">
                <a:solidFill>
                  <a:schemeClr val="folHlink"/>
                </a:solidFill>
                <a:latin typeface="Arial Unicode MS" pitchFamily="34" charset="-122"/>
              </a:rPr>
              <a:t>equals()</a:t>
            </a:r>
            <a:r>
              <a:rPr lang="zh-CN" altLang="en-US" dirty="0">
                <a:solidFill>
                  <a:schemeClr val="folHlink"/>
                </a:solidFill>
                <a:latin typeface="Arial Unicode MS" pitchFamily="34" charset="-122"/>
              </a:rPr>
              <a:t>方法</a:t>
            </a:r>
          </a:p>
          <a:p>
            <a:pPr marL="609600" indent="-609600" eaLnBrk="1" hangingPunct="1">
              <a:buFont typeface="Wingdings" pitchFamily="2" charset="2"/>
              <a:buNone/>
            </a:pPr>
            <a:r>
              <a:rPr lang="zh-CN" altLang="en-US" sz="2800" b="1" dirty="0"/>
              <a:t>例如：</a:t>
            </a:r>
          </a:p>
          <a:p>
            <a:pPr marL="609600" indent="-609600" eaLnBrk="1" hangingPunct="1">
              <a:lnSpc>
                <a:spcPct val="80000"/>
              </a:lnSpc>
              <a:buFont typeface="Wingdings" pitchFamily="2" charset="2"/>
              <a:buNone/>
            </a:pPr>
            <a:r>
              <a:rPr lang="en-US" altLang="zh-CN" sz="2400" dirty="0">
                <a:cs typeface="Times New Roman" pitchFamily="18" charset="0"/>
              </a:rPr>
              <a:t>Integer one = new Integer (1), anotherOne = new Integer (1);</a:t>
            </a:r>
          </a:p>
          <a:p>
            <a:pPr marL="609600" indent="-609600" eaLnBrk="1" hangingPunct="1">
              <a:lnSpc>
                <a:spcPct val="80000"/>
              </a:lnSpc>
              <a:buFont typeface="Wingdings" pitchFamily="2" charset="2"/>
              <a:buNone/>
            </a:pPr>
            <a:r>
              <a:rPr lang="en-US" altLang="zh-CN" sz="2400" dirty="0">
                <a:cs typeface="Times New Roman" pitchFamily="18" charset="0"/>
              </a:rPr>
              <a:t>if (one.equals (anotherOne))</a:t>
            </a:r>
          </a:p>
          <a:p>
            <a:pPr marL="609600" indent="-609600" eaLnBrk="1" hangingPunct="1">
              <a:lnSpc>
                <a:spcPct val="80000"/>
              </a:lnSpc>
              <a:buFont typeface="Wingdings" pitchFamily="2" charset="2"/>
              <a:buNone/>
            </a:pPr>
            <a:r>
              <a:rPr lang="en-US" altLang="zh-CN" sz="2400" dirty="0">
                <a:cs typeface="Times New Roman" pitchFamily="18" charset="0"/>
              </a:rPr>
              <a:t>System.out.println (“objects are equal”);</a:t>
            </a:r>
          </a:p>
          <a:p>
            <a:pPr marL="609600" indent="-609600" eaLnBrk="1" hangingPunct="1">
              <a:lnSpc>
                <a:spcPct val="80000"/>
              </a:lnSpc>
              <a:buFont typeface="Wingdings" pitchFamily="2" charset="2"/>
              <a:buNone/>
            </a:pPr>
            <a:r>
              <a:rPr lang="en-US" altLang="zh-CN" sz="2400" dirty="0">
                <a:cs typeface="Times New Roman" pitchFamily="18" charset="0"/>
              </a:rPr>
              <a:t>if (one = = anotherOne))</a:t>
            </a:r>
          </a:p>
          <a:p>
            <a:pPr marL="609600" indent="-609600" eaLnBrk="1" hangingPunct="1">
              <a:lnSpc>
                <a:spcPct val="80000"/>
              </a:lnSpc>
              <a:buFont typeface="Wingdings" pitchFamily="2" charset="2"/>
              <a:buNone/>
            </a:pPr>
            <a:r>
              <a:rPr lang="en-US" altLang="zh-CN" sz="2400" dirty="0">
                <a:cs typeface="Times New Roman" pitchFamily="18" charset="0"/>
              </a:rPr>
              <a:t>	System.out.println (“objects are equal”);</a:t>
            </a:r>
          </a:p>
          <a:p>
            <a:pPr marL="609600" indent="-609600" eaLnBrk="1" hangingPunct="1">
              <a:lnSpc>
                <a:spcPct val="80000"/>
              </a:lnSpc>
              <a:buFont typeface="Wingdings" pitchFamily="2" charset="2"/>
              <a:buNone/>
            </a:pPr>
            <a:r>
              <a:rPr lang="en-US" altLang="zh-CN" sz="2400" dirty="0">
                <a:cs typeface="Times New Roman" pitchFamily="18" charset="0"/>
              </a:rPr>
              <a:t>else</a:t>
            </a:r>
          </a:p>
          <a:p>
            <a:pPr marL="609600" indent="-609600" eaLnBrk="1" hangingPunct="1">
              <a:lnSpc>
                <a:spcPct val="80000"/>
              </a:lnSpc>
              <a:buFont typeface="Wingdings" pitchFamily="2" charset="2"/>
              <a:buNone/>
            </a:pPr>
            <a:r>
              <a:rPr lang="en-US" altLang="zh-CN" sz="2400" dirty="0">
                <a:cs typeface="Times New Roman" pitchFamily="18" charset="0"/>
              </a:rPr>
              <a:t>	System.out.println (“objects are equal”);</a:t>
            </a:r>
          </a:p>
          <a:p>
            <a:pPr marL="609600" indent="-609600" eaLnBrk="1" hangingPunct="1">
              <a:buFont typeface="Wingdings" pitchFamily="2" charset="2"/>
              <a:buNone/>
            </a:pPr>
            <a:endParaRPr lang="en-US" altLang="zh-CN" sz="2800" dirty="0"/>
          </a:p>
        </p:txBody>
      </p:sp>
      <p:sp>
        <p:nvSpPr>
          <p:cNvPr id="6" name="标题 5"/>
          <p:cNvSpPr>
            <a:spLocks noGrp="1"/>
          </p:cNvSpPr>
          <p:nvPr>
            <p:ph type="title"/>
          </p:nvPr>
        </p:nvSpPr>
        <p:spPr>
          <a:xfrm>
            <a:off x="539552" y="404664"/>
            <a:ext cx="8001000" cy="857250"/>
          </a:xfrm>
        </p:spPr>
        <p:txBody>
          <a:bodyPr/>
          <a:lstStyle/>
          <a:p>
            <a:r>
              <a:rPr lang="en-US" altLang="zh-CN" dirty="0">
                <a:solidFill>
                  <a:schemeClr val="folHlink"/>
                </a:solidFill>
                <a:latin typeface="Arial Unicode MS" pitchFamily="34" charset="-122"/>
              </a:rPr>
              <a:t>equals()</a:t>
            </a:r>
            <a:endParaRPr lang="zh-CN" altLang="en-US"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灯片编号占位符 5"/>
          <p:cNvSpPr>
            <a:spLocks noGrp="1"/>
          </p:cNvSpPr>
          <p:nvPr>
            <p:ph type="sldNum" sz="quarter" idx="4294967295"/>
          </p:nvPr>
        </p:nvSpPr>
        <p:spPr>
          <a:xfrm>
            <a:off x="6589713" y="6376988"/>
            <a:ext cx="2193925" cy="457200"/>
          </a:xfrm>
          <a:prstGeom prst="rect">
            <a:avLst/>
          </a:prstGeom>
          <a:noFill/>
        </p:spPr>
        <p:txBody>
          <a:bodyPr/>
          <a:lstStyle/>
          <a:p>
            <a:fld id="{919345EF-47B6-4B87-AE4A-128E803A5371}" type="slidenum">
              <a:rPr lang="en-US" altLang="zh-CN"/>
              <a:pPr/>
              <a:t>74</a:t>
            </a:fld>
            <a:endParaRPr lang="en-US" altLang="zh-CN"/>
          </a:p>
        </p:txBody>
      </p:sp>
      <p:sp>
        <p:nvSpPr>
          <p:cNvPr id="96261" name="Rectangle 4"/>
          <p:cNvSpPr>
            <a:spLocks noGrp="1" noChangeArrowheads="1"/>
          </p:cNvSpPr>
          <p:nvPr>
            <p:ph type="body" idx="1"/>
          </p:nvPr>
        </p:nvSpPr>
        <p:spPr>
          <a:xfrm>
            <a:off x="395536" y="1412776"/>
            <a:ext cx="8604448" cy="4643438"/>
          </a:xfrm>
        </p:spPr>
        <p:txBody>
          <a:bodyPr/>
          <a:lstStyle/>
          <a:p>
            <a:pPr marL="609600" indent="-609600" eaLnBrk="1" hangingPunct="1">
              <a:buFont typeface="Wingdings" pitchFamily="2" charset="2"/>
              <a:buNone/>
            </a:pPr>
            <a:r>
              <a:rPr lang="en-US" altLang="zh-CN" sz="2800" dirty="0">
                <a:latin typeface="宋体" pitchFamily="2" charset="-122"/>
              </a:rPr>
              <a:t>getClass ( )</a:t>
            </a:r>
            <a:r>
              <a:rPr lang="zh-CN" altLang="en-US" sz="2800" dirty="0">
                <a:latin typeface="宋体" pitchFamily="2" charset="-122"/>
              </a:rPr>
              <a:t>方法是</a:t>
            </a:r>
            <a:r>
              <a:rPr lang="en-US" altLang="zh-CN" sz="2800" dirty="0">
                <a:latin typeface="宋体" pitchFamily="2" charset="-122"/>
              </a:rPr>
              <a:t>final</a:t>
            </a:r>
            <a:r>
              <a:rPr lang="zh-CN" altLang="en-US" sz="2800" dirty="0">
                <a:latin typeface="宋体" pitchFamily="2" charset="-122"/>
              </a:rPr>
              <a:t>方法，它不能被重写。它返回一个对象在运行时所对应的类的表示</a:t>
            </a:r>
          </a:p>
          <a:p>
            <a:pPr marL="609600" indent="-609600" eaLnBrk="1" hangingPunct="1">
              <a:lnSpc>
                <a:spcPct val="80000"/>
              </a:lnSpc>
              <a:buFont typeface="Wingdings" pitchFamily="2" charset="2"/>
              <a:buNone/>
            </a:pPr>
            <a:endParaRPr lang="en-US" altLang="zh-CN" sz="2800" dirty="0">
              <a:latin typeface="宋体" pitchFamily="2" charset="-122"/>
            </a:endParaRPr>
          </a:p>
          <a:p>
            <a:pPr marL="609600" indent="-609600" eaLnBrk="1" hangingPunct="1">
              <a:lnSpc>
                <a:spcPct val="80000"/>
              </a:lnSpc>
              <a:buFont typeface="Wingdings" pitchFamily="2" charset="2"/>
              <a:buNone/>
            </a:pPr>
            <a:r>
              <a:rPr lang="zh-CN" altLang="en-US" sz="2800" dirty="0">
                <a:latin typeface="宋体" pitchFamily="2" charset="-122"/>
              </a:rPr>
              <a:t>例如下面的方法得到并显示对象的类名：</a:t>
            </a:r>
          </a:p>
          <a:p>
            <a:pPr marL="609600" indent="-609600" eaLnBrk="1" hangingPunct="1">
              <a:lnSpc>
                <a:spcPct val="80000"/>
              </a:lnSpc>
              <a:buFont typeface="Wingdings" pitchFamily="2" charset="2"/>
              <a:buNone/>
            </a:pPr>
            <a:r>
              <a:rPr lang="en-US" altLang="zh-CN" sz="2400" dirty="0">
                <a:cs typeface="Times New Roman" pitchFamily="18" charset="0"/>
              </a:rPr>
              <a:t>void PrintClassName( Object obj ){</a:t>
            </a:r>
          </a:p>
          <a:p>
            <a:pPr marL="609600" indent="-609600" eaLnBrk="1" hangingPunct="1">
              <a:lnSpc>
                <a:spcPct val="80000"/>
              </a:lnSpc>
              <a:buFont typeface="Wingdings" pitchFamily="2" charset="2"/>
              <a:buNone/>
            </a:pPr>
            <a:r>
              <a:rPr lang="en-US" altLang="zh-CN" sz="2400" dirty="0">
                <a:cs typeface="Times New Roman" pitchFamily="18" charset="0"/>
              </a:rPr>
              <a:t>		System.out.println(“ The object’s class is “ + 	obj.getClass( ).getName( ) );</a:t>
            </a:r>
          </a:p>
          <a:p>
            <a:pPr marL="609600" indent="-609600" eaLnBrk="1" hangingPunct="1">
              <a:lnSpc>
                <a:spcPct val="80000"/>
              </a:lnSpc>
              <a:buFont typeface="Wingdings" pitchFamily="2" charset="2"/>
              <a:buNone/>
            </a:pPr>
            <a:r>
              <a:rPr lang="en-US" altLang="zh-CN" sz="2400" dirty="0">
                <a:cs typeface="Times New Roman" pitchFamily="18" charset="0"/>
              </a:rPr>
              <a:t>}</a:t>
            </a:r>
          </a:p>
          <a:p>
            <a:pPr marL="609600" indent="-609600" eaLnBrk="1" hangingPunct="1">
              <a:lnSpc>
                <a:spcPct val="80000"/>
              </a:lnSpc>
              <a:buFont typeface="Wingdings" pitchFamily="2" charset="2"/>
              <a:buNone/>
            </a:pPr>
            <a:endParaRPr lang="en-US" altLang="zh-CN" sz="2400" dirty="0">
              <a:latin typeface="宋体" pitchFamily="2" charset="-122"/>
            </a:endParaRPr>
          </a:p>
        </p:txBody>
      </p:sp>
      <p:sp>
        <p:nvSpPr>
          <p:cNvPr id="6" name="标题 5"/>
          <p:cNvSpPr>
            <a:spLocks noGrp="1"/>
          </p:cNvSpPr>
          <p:nvPr>
            <p:ph type="title"/>
          </p:nvPr>
        </p:nvSpPr>
        <p:spPr/>
        <p:txBody>
          <a:bodyPr/>
          <a:lstStyle/>
          <a:p>
            <a:r>
              <a:rPr lang="en-US" altLang="zh-CN" dirty="0">
                <a:solidFill>
                  <a:schemeClr val="folHlink"/>
                </a:solidFill>
                <a:latin typeface="Arial Unicode MS" pitchFamily="34" charset="-122"/>
              </a:rPr>
              <a:t>getClass()</a:t>
            </a:r>
            <a:endParaRPr lang="zh-CN" altLang="en-US"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5" name="Rectangle 4"/>
          <p:cNvSpPr>
            <a:spLocks noGrp="1" noChangeArrowheads="1"/>
          </p:cNvSpPr>
          <p:nvPr>
            <p:ph type="body" idx="1"/>
          </p:nvPr>
        </p:nvSpPr>
        <p:spPr>
          <a:xfrm>
            <a:off x="323528" y="1700808"/>
            <a:ext cx="8458200" cy="4643438"/>
          </a:xfrm>
        </p:spPr>
        <p:txBody>
          <a:bodyPr/>
          <a:lstStyle/>
          <a:p>
            <a:pPr marL="609600" indent="-609600" eaLnBrk="1" hangingPunct="1">
              <a:buFont typeface="Wingdings" pitchFamily="2" charset="2"/>
              <a:buNone/>
            </a:pPr>
            <a:r>
              <a:rPr lang="zh-CN" altLang="en-US" sz="2800" dirty="0"/>
              <a:t>可以用</a:t>
            </a:r>
            <a:r>
              <a:rPr lang="en-US" altLang="zh-CN" sz="2800" dirty="0">
                <a:cs typeface="Times New Roman" pitchFamily="18" charset="0"/>
              </a:rPr>
              <a:t>getClass</a:t>
            </a:r>
            <a:r>
              <a:rPr lang="zh-CN" altLang="en-US" sz="2800" dirty="0"/>
              <a:t>创建一个类的实例，而不必在编译时即知道到底是哪个类。</a:t>
            </a:r>
          </a:p>
          <a:p>
            <a:pPr marL="609600" indent="-609600" eaLnBrk="1" hangingPunct="1">
              <a:buFont typeface="Wingdings" pitchFamily="2" charset="2"/>
              <a:buNone/>
            </a:pPr>
            <a:r>
              <a:rPr lang="zh-CN" altLang="en-US" sz="2800" dirty="0"/>
              <a:t>下例创建了一个与对象</a:t>
            </a:r>
            <a:r>
              <a:rPr lang="en-US" altLang="zh-CN" sz="2800" dirty="0">
                <a:cs typeface="Times New Roman" pitchFamily="18" charset="0"/>
              </a:rPr>
              <a:t>obj</a:t>
            </a:r>
            <a:r>
              <a:rPr lang="zh-CN" altLang="en-US" sz="2800" dirty="0"/>
              <a:t>具有相同类型的一个实例，</a:t>
            </a:r>
          </a:p>
          <a:p>
            <a:pPr marL="609600" indent="-609600" eaLnBrk="1" hangingPunct="1">
              <a:buFont typeface="Wingdings" pitchFamily="2" charset="2"/>
              <a:buNone/>
            </a:pPr>
            <a:r>
              <a:rPr lang="zh-CN" altLang="en-US" sz="2800" dirty="0"/>
              <a:t>所创建的对象可以是任何类。</a:t>
            </a:r>
          </a:p>
          <a:p>
            <a:pPr marL="609600" indent="-609600" eaLnBrk="1" hangingPunct="1">
              <a:buFont typeface="Wingdings" pitchFamily="2" charset="2"/>
              <a:buNone/>
            </a:pPr>
            <a:r>
              <a:rPr lang="en-US" altLang="zh-CN" sz="2400" dirty="0">
                <a:cs typeface="Times New Roman" pitchFamily="18" charset="0"/>
              </a:rPr>
              <a:t>Object creatNewInstanceOf (object obj){</a:t>
            </a:r>
          </a:p>
          <a:p>
            <a:pPr marL="609600" indent="-609600" eaLnBrk="1" hangingPunct="1">
              <a:buFont typeface="Wingdings" pitchFamily="2" charset="2"/>
              <a:buNone/>
            </a:pPr>
            <a:r>
              <a:rPr lang="en-US" altLang="zh-CN" sz="2400" dirty="0">
                <a:cs typeface="Times New Roman" pitchFamily="18" charset="0"/>
              </a:rPr>
              <a:t>return obj.getClass( ).newInstance( );</a:t>
            </a:r>
          </a:p>
          <a:p>
            <a:pPr marL="609600" indent="-609600" eaLnBrk="1" hangingPunct="1">
              <a:buFont typeface="Wingdings" pitchFamily="2" charset="2"/>
              <a:buNone/>
            </a:pPr>
            <a:r>
              <a:rPr lang="en-US" altLang="zh-CN" sz="2400" dirty="0">
                <a:cs typeface="Times New Roman" pitchFamily="18" charset="0"/>
              </a:rPr>
              <a:t>}</a:t>
            </a:r>
          </a:p>
          <a:p>
            <a:pPr marL="609600" indent="-609600" eaLnBrk="1" hangingPunct="1">
              <a:lnSpc>
                <a:spcPct val="80000"/>
              </a:lnSpc>
              <a:buFont typeface="Wingdings" pitchFamily="2" charset="2"/>
              <a:buNone/>
            </a:pPr>
            <a:endParaRPr lang="en-US" altLang="zh-CN" sz="2400" dirty="0"/>
          </a:p>
        </p:txBody>
      </p:sp>
      <p:sp>
        <p:nvSpPr>
          <p:cNvPr id="6" name="标题 5"/>
          <p:cNvSpPr>
            <a:spLocks noGrp="1"/>
          </p:cNvSpPr>
          <p:nvPr>
            <p:ph type="title"/>
          </p:nvPr>
        </p:nvSpPr>
        <p:spPr/>
        <p:txBody>
          <a:bodyPr/>
          <a:lstStyle/>
          <a:p>
            <a:r>
              <a:rPr lang="en-US" altLang="zh-CN" dirty="0">
                <a:solidFill>
                  <a:schemeClr val="folHlink"/>
                </a:solidFill>
                <a:latin typeface="Arial Unicode MS" pitchFamily="34" charset="-122"/>
              </a:rPr>
              <a:t>getClass()</a:t>
            </a:r>
            <a:endParaRPr lang="zh-CN" altLang="en-US"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9" name="Rectangle 4"/>
          <p:cNvSpPr>
            <a:spLocks noGrp="1" noChangeArrowheads="1"/>
          </p:cNvSpPr>
          <p:nvPr>
            <p:ph type="body" idx="1"/>
          </p:nvPr>
        </p:nvSpPr>
        <p:spPr>
          <a:xfrm>
            <a:off x="395536" y="1593874"/>
            <a:ext cx="8424936" cy="4643438"/>
          </a:xfrm>
        </p:spPr>
        <p:txBody>
          <a:bodyPr/>
          <a:lstStyle/>
          <a:p>
            <a:pPr marL="609600" indent="-609600" eaLnBrk="1" hangingPunct="1">
              <a:buFont typeface="Wingdings" pitchFamily="2" charset="2"/>
              <a:buNone/>
            </a:pPr>
            <a:r>
              <a:rPr lang="en-US" altLang="zh-CN" sz="2800" b="1" dirty="0">
                <a:cs typeface="Times New Roman" pitchFamily="18" charset="0"/>
              </a:rPr>
              <a:t> </a:t>
            </a:r>
            <a:r>
              <a:rPr lang="en-US" altLang="zh-CN" sz="2800" dirty="0">
                <a:cs typeface="Times New Roman" pitchFamily="18" charset="0"/>
              </a:rPr>
              <a:t>toString( )</a:t>
            </a:r>
            <a:r>
              <a:rPr lang="zh-CN" altLang="en-US" sz="2800" dirty="0">
                <a:cs typeface="Times New Roman" pitchFamily="18" charset="0"/>
              </a:rPr>
              <a:t>方法用来返回对象的字符串表示</a:t>
            </a:r>
            <a:r>
              <a:rPr lang="en-US" altLang="zh-CN" sz="2800" dirty="0">
                <a:cs typeface="Times New Roman" pitchFamily="18" charset="0"/>
              </a:rPr>
              <a:t>.</a:t>
            </a:r>
            <a:r>
              <a:rPr lang="zh-CN" altLang="en-US" sz="2800" dirty="0"/>
              <a:t>不同的对象显示的形式也不一样。</a:t>
            </a:r>
            <a:endParaRPr lang="en-US" altLang="zh-CN" sz="2800" dirty="0"/>
          </a:p>
          <a:p>
            <a:pPr marL="609600" indent="-609600" eaLnBrk="1" hangingPunct="1">
              <a:buFont typeface="Wingdings" pitchFamily="2" charset="2"/>
              <a:buNone/>
            </a:pPr>
            <a:r>
              <a:rPr lang="zh-CN" altLang="en-US" sz="2800" dirty="0"/>
              <a:t>例如：</a:t>
            </a:r>
          </a:p>
          <a:p>
            <a:pPr marL="609600" indent="-609600" eaLnBrk="1" hangingPunct="1">
              <a:lnSpc>
                <a:spcPct val="80000"/>
              </a:lnSpc>
              <a:buFont typeface="Wingdings" pitchFamily="2" charset="2"/>
              <a:buNone/>
            </a:pPr>
            <a:r>
              <a:rPr lang="en-US" altLang="zh-CN" sz="2400" dirty="0">
                <a:latin typeface="Arial Unicode MS" pitchFamily="34" charset="-122"/>
              </a:rPr>
              <a:t>System.out.println(Thread.currentThread().toString());</a:t>
            </a:r>
            <a:r>
              <a:rPr lang="en-US" altLang="zh-CN" sz="2800" dirty="0">
                <a:latin typeface="Arial Unicode MS" pitchFamily="34" charset="-122"/>
              </a:rPr>
              <a:t> </a:t>
            </a:r>
          </a:p>
          <a:p>
            <a:pPr marL="609600" indent="-609600" eaLnBrk="1" hangingPunct="1">
              <a:lnSpc>
                <a:spcPct val="80000"/>
              </a:lnSpc>
              <a:buFont typeface="Wingdings" pitchFamily="2" charset="2"/>
              <a:buNone/>
            </a:pPr>
            <a:r>
              <a:rPr lang="zh-CN" altLang="en-US" sz="2400" dirty="0">
                <a:latin typeface="Arial Unicode MS" pitchFamily="34" charset="-122"/>
              </a:rPr>
              <a:t>显示结果为：</a:t>
            </a:r>
            <a:r>
              <a:rPr lang="en-US" altLang="zh-CN" sz="2400" dirty="0">
                <a:latin typeface="Arial Unicode MS" pitchFamily="34" charset="-122"/>
              </a:rPr>
              <a:t>Thread[main,5,main]</a:t>
            </a:r>
            <a:r>
              <a:rPr lang="en-US" altLang="zh-CN" sz="2800" dirty="0">
                <a:latin typeface="Arial Unicode MS" pitchFamily="34" charset="-122"/>
              </a:rPr>
              <a:t> </a:t>
            </a:r>
          </a:p>
          <a:p>
            <a:pPr marL="609600" indent="-609600" eaLnBrk="1" hangingPunct="1">
              <a:lnSpc>
                <a:spcPct val="70000"/>
              </a:lnSpc>
              <a:buFont typeface="Wingdings" pitchFamily="2" charset="2"/>
              <a:buNone/>
            </a:pPr>
            <a:r>
              <a:rPr lang="en-US" altLang="zh-CN" sz="2400" dirty="0">
                <a:latin typeface="Courier"/>
              </a:rPr>
              <a:t>int pInt = 500;</a:t>
            </a:r>
          </a:p>
          <a:p>
            <a:pPr marL="609600" indent="-609600" eaLnBrk="1" hangingPunct="1">
              <a:lnSpc>
                <a:spcPct val="70000"/>
              </a:lnSpc>
              <a:buFont typeface="Wingdings" pitchFamily="2" charset="2"/>
              <a:buNone/>
            </a:pPr>
            <a:r>
              <a:rPr lang="en-US" altLang="zh-CN" sz="2400" dirty="0">
                <a:latin typeface="Courier"/>
              </a:rPr>
              <a:t>Integer wInt = new Integer( pInt);</a:t>
            </a:r>
            <a:endParaRPr lang="en-US" altLang="zh-CN" sz="2400" dirty="0">
              <a:latin typeface="Arial Unicode MS" pitchFamily="34" charset="-122"/>
            </a:endParaRPr>
          </a:p>
          <a:p>
            <a:pPr marL="609600" indent="-609600" eaLnBrk="1" hangingPunct="1">
              <a:lnSpc>
                <a:spcPct val="70000"/>
              </a:lnSpc>
              <a:buFont typeface="Wingdings" pitchFamily="2" charset="2"/>
              <a:buNone/>
            </a:pPr>
            <a:r>
              <a:rPr lang="en-US" altLang="zh-CN" sz="2400" dirty="0">
                <a:latin typeface="Arial Unicode MS" pitchFamily="34" charset="-122"/>
              </a:rPr>
              <a:t>System.out.println(wInt.toString());</a:t>
            </a:r>
          </a:p>
          <a:p>
            <a:pPr marL="609600" indent="-609600" eaLnBrk="1" hangingPunct="1">
              <a:lnSpc>
                <a:spcPct val="70000"/>
              </a:lnSpc>
              <a:buFont typeface="Wingdings" pitchFamily="2" charset="2"/>
              <a:buNone/>
            </a:pPr>
            <a:r>
              <a:rPr lang="zh-CN" altLang="en-US" sz="2400" dirty="0">
                <a:latin typeface="Arial Unicode MS" pitchFamily="34" charset="-122"/>
              </a:rPr>
              <a:t>显示结果为：</a:t>
            </a:r>
            <a:r>
              <a:rPr lang="en-US" altLang="zh-CN" sz="2400" dirty="0">
                <a:latin typeface="Arial Unicode MS" pitchFamily="34" charset="-122"/>
              </a:rPr>
              <a:t>500</a:t>
            </a:r>
          </a:p>
        </p:txBody>
      </p:sp>
      <p:sp>
        <p:nvSpPr>
          <p:cNvPr id="6" name="标题 5"/>
          <p:cNvSpPr>
            <a:spLocks noGrp="1"/>
          </p:cNvSpPr>
          <p:nvPr>
            <p:ph type="title"/>
          </p:nvPr>
        </p:nvSpPr>
        <p:spPr/>
        <p:txBody>
          <a:bodyPr/>
          <a:lstStyle/>
          <a:p>
            <a:r>
              <a:rPr lang="en-US" altLang="zh-CN" b="1" dirty="0">
                <a:solidFill>
                  <a:schemeClr val="folHlink"/>
                </a:solidFill>
                <a:cs typeface="Times New Roman" pitchFamily="18" charset="0"/>
              </a:rPr>
              <a:t>toString( )</a:t>
            </a:r>
            <a:endParaRPr lang="zh-CN" altLang="en-US"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3" name="Rectangle 4"/>
          <p:cNvSpPr>
            <a:spLocks noGrp="1" noChangeArrowheads="1"/>
          </p:cNvSpPr>
          <p:nvPr>
            <p:ph type="body" idx="1"/>
          </p:nvPr>
        </p:nvSpPr>
        <p:spPr>
          <a:xfrm>
            <a:off x="467544" y="1556792"/>
            <a:ext cx="8229600" cy="4719637"/>
          </a:xfrm>
        </p:spPr>
        <p:txBody>
          <a:bodyPr/>
          <a:lstStyle/>
          <a:p>
            <a:pPr marL="609600" indent="-609600" eaLnBrk="1" hangingPunct="1">
              <a:buFont typeface="Wingdings" pitchFamily="2" charset="2"/>
              <a:buNone/>
            </a:pPr>
            <a:r>
              <a:rPr lang="en-US" altLang="zh-CN" b="1" dirty="0">
                <a:solidFill>
                  <a:schemeClr val="folHlink"/>
                </a:solidFill>
                <a:cs typeface="Times New Roman" pitchFamily="18" charset="0"/>
              </a:rPr>
              <a:t>1.	 </a:t>
            </a:r>
            <a:r>
              <a:rPr lang="en-US" altLang="zh-CN" sz="3600" b="1" dirty="0">
                <a:solidFill>
                  <a:schemeClr val="folHlink"/>
                </a:solidFill>
                <a:cs typeface="Times New Roman" pitchFamily="18" charset="0"/>
              </a:rPr>
              <a:t>final</a:t>
            </a:r>
            <a:r>
              <a:rPr lang="zh-CN" altLang="en-US" sz="3600" b="1" dirty="0">
                <a:solidFill>
                  <a:schemeClr val="folHlink"/>
                </a:solidFill>
              </a:rPr>
              <a:t>数据</a:t>
            </a:r>
            <a:endParaRPr lang="zh-CN" altLang="en-US" b="1" dirty="0">
              <a:solidFill>
                <a:schemeClr val="folHlink"/>
              </a:solidFill>
            </a:endParaRPr>
          </a:p>
          <a:p>
            <a:pPr marL="609600" indent="-609600" eaLnBrk="1" hangingPunct="1"/>
            <a:r>
              <a:rPr lang="zh-CN" altLang="en-US" dirty="0"/>
              <a:t>它可以是编译时的常量</a:t>
            </a:r>
          </a:p>
          <a:p>
            <a:pPr marL="609600" indent="-609600" eaLnBrk="1" hangingPunct="1"/>
            <a:r>
              <a:rPr lang="zh-CN" altLang="en-US" dirty="0"/>
              <a:t>它可以是运行时才初始化的常量</a:t>
            </a:r>
          </a:p>
          <a:p>
            <a:pPr marL="609600" indent="-609600" eaLnBrk="1" hangingPunct="1">
              <a:buFont typeface="Wingdings" pitchFamily="2" charset="2"/>
              <a:buNone/>
            </a:pPr>
            <a:r>
              <a:rPr lang="en-US" altLang="zh-CN" dirty="0">
                <a:cs typeface="Times New Roman" pitchFamily="18" charset="0"/>
              </a:rPr>
              <a:t>		</a:t>
            </a:r>
          </a:p>
          <a:p>
            <a:pPr marL="609600" indent="-609600" eaLnBrk="1" hangingPunct="1">
              <a:buFont typeface="Wingdings" pitchFamily="2" charset="2"/>
              <a:buNone/>
            </a:pPr>
            <a:endParaRPr lang="en-US" altLang="zh-CN" dirty="0">
              <a:cs typeface="Times New Roman" pitchFamily="18" charset="0"/>
            </a:endParaRPr>
          </a:p>
        </p:txBody>
      </p:sp>
      <p:sp>
        <p:nvSpPr>
          <p:cNvPr id="6" name="标题 5"/>
          <p:cNvSpPr>
            <a:spLocks noGrp="1"/>
          </p:cNvSpPr>
          <p:nvPr>
            <p:ph type="title"/>
          </p:nvPr>
        </p:nvSpPr>
        <p:spPr/>
        <p:txBody>
          <a:bodyPr/>
          <a:lstStyle/>
          <a:p>
            <a:r>
              <a:rPr lang="en-US" altLang="zh-CN" b="1" dirty="0">
                <a:solidFill>
                  <a:srgbClr val="0033CC"/>
                </a:solidFill>
              </a:rPr>
              <a:t> </a:t>
            </a:r>
            <a:r>
              <a:rPr lang="en-US" altLang="zh-CN" b="1" dirty="0">
                <a:solidFill>
                  <a:srgbClr val="0033CC"/>
                </a:solidFill>
                <a:cs typeface="Times New Roman" pitchFamily="18" charset="0"/>
              </a:rPr>
              <a:t>final</a:t>
            </a:r>
            <a:r>
              <a:rPr lang="zh-CN" altLang="en-US" b="1" dirty="0">
                <a:solidFill>
                  <a:srgbClr val="0033CC"/>
                </a:solidFill>
                <a:cs typeface="Times New Roman" pitchFamily="18" charset="0"/>
              </a:rPr>
              <a:t>关键字：</a:t>
            </a:r>
            <a:r>
              <a:rPr lang="zh-CN" altLang="en-US" b="1" dirty="0">
                <a:solidFill>
                  <a:srgbClr val="0033CC"/>
                </a:solidFill>
              </a:rPr>
              <a:t>数据、</a:t>
            </a:r>
            <a:r>
              <a:rPr lang="zh-CN" altLang="en-US" b="1" dirty="0">
                <a:solidFill>
                  <a:srgbClr val="0033CC"/>
                </a:solidFill>
                <a:cs typeface="Times New Roman" pitchFamily="18" charset="0"/>
              </a:rPr>
              <a:t>方法</a:t>
            </a:r>
            <a:r>
              <a:rPr lang="zh-CN" altLang="en-US" b="1" dirty="0">
                <a:solidFill>
                  <a:srgbClr val="0033CC"/>
                </a:solidFill>
              </a:rPr>
              <a:t>和类</a:t>
            </a:r>
            <a:endParaRPr lang="zh-CN" altLang="en-US"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7" name="Rectangle 4"/>
          <p:cNvSpPr>
            <a:spLocks noGrp="1" noChangeArrowheads="1"/>
          </p:cNvSpPr>
          <p:nvPr>
            <p:ph type="body" idx="1"/>
          </p:nvPr>
        </p:nvSpPr>
        <p:spPr>
          <a:xfrm>
            <a:off x="533400" y="1700808"/>
            <a:ext cx="8229600" cy="4719637"/>
          </a:xfrm>
        </p:spPr>
        <p:txBody>
          <a:bodyPr/>
          <a:lstStyle/>
          <a:p>
            <a:pPr marL="609600" indent="-609600" eaLnBrk="1" hangingPunct="1">
              <a:buFont typeface="Wingdings" pitchFamily="2" charset="2"/>
              <a:buNone/>
            </a:pPr>
            <a:r>
              <a:rPr lang="en-US" altLang="zh-CN" sz="2800" b="1" dirty="0">
                <a:solidFill>
                  <a:schemeClr val="folHlink"/>
                </a:solidFill>
                <a:cs typeface="Times New Roman" pitchFamily="18" charset="0"/>
              </a:rPr>
              <a:t>2.	 </a:t>
            </a:r>
            <a:r>
              <a:rPr lang="en-US" altLang="zh-CN" b="1" dirty="0">
                <a:solidFill>
                  <a:schemeClr val="folHlink"/>
                </a:solidFill>
                <a:cs typeface="Times New Roman" pitchFamily="18" charset="0"/>
              </a:rPr>
              <a:t>final</a:t>
            </a:r>
            <a:r>
              <a:rPr lang="zh-CN" altLang="en-US" b="1" dirty="0">
                <a:solidFill>
                  <a:schemeClr val="folHlink"/>
                </a:solidFill>
              </a:rPr>
              <a:t>方法</a:t>
            </a:r>
            <a:endParaRPr lang="zh-CN" altLang="en-US" sz="2800" b="1" dirty="0">
              <a:solidFill>
                <a:schemeClr val="folHlink"/>
              </a:solidFill>
            </a:endParaRPr>
          </a:p>
          <a:p>
            <a:pPr marL="609600" indent="-609600" eaLnBrk="1" hangingPunct="1">
              <a:buFont typeface="Wingdings" pitchFamily="2" charset="2"/>
              <a:buNone/>
            </a:pPr>
            <a:r>
              <a:rPr lang="zh-CN" altLang="en-US" dirty="0">
                <a:cs typeface="Times New Roman" pitchFamily="18" charset="0"/>
              </a:rPr>
              <a:t>有些方法不能被重</a:t>
            </a:r>
            <a:r>
              <a:rPr lang="zh-CN" altLang="en-US" dirty="0"/>
              <a:t>写</a:t>
            </a:r>
            <a:r>
              <a:rPr lang="zh-CN" altLang="en-US" dirty="0">
                <a:cs typeface="Times New Roman" pitchFamily="18" charset="0"/>
              </a:rPr>
              <a:t>，这时把它限定为</a:t>
            </a:r>
            <a:r>
              <a:rPr lang="en-US" altLang="zh-CN" dirty="0">
                <a:cs typeface="Times New Roman" pitchFamily="18" charset="0"/>
              </a:rPr>
              <a:t>final</a:t>
            </a:r>
            <a:r>
              <a:rPr lang="zh-CN" altLang="en-US" dirty="0">
                <a:cs typeface="Times New Roman" pitchFamily="18" charset="0"/>
              </a:rPr>
              <a:t>方法，其格式为：</a:t>
            </a:r>
          </a:p>
          <a:p>
            <a:pPr marL="609600" indent="-609600" eaLnBrk="1" hangingPunct="1">
              <a:buFont typeface="Wingdings" pitchFamily="2" charset="2"/>
              <a:buNone/>
            </a:pPr>
            <a:r>
              <a:rPr lang="en-US" altLang="zh-CN" dirty="0">
                <a:cs typeface="Times New Roman" pitchFamily="18" charset="0"/>
              </a:rPr>
              <a:t>final returnType finalMethod ( [paramlist] ){</a:t>
            </a:r>
          </a:p>
          <a:p>
            <a:pPr marL="609600" indent="-609600" eaLnBrk="1" hangingPunct="1">
              <a:buFont typeface="Wingdings" pitchFamily="2" charset="2"/>
              <a:buNone/>
            </a:pPr>
            <a:r>
              <a:rPr lang="en-US" altLang="zh-CN" dirty="0">
                <a:cs typeface="Times New Roman" pitchFamily="18" charset="0"/>
              </a:rPr>
              <a:t>……</a:t>
            </a:r>
          </a:p>
          <a:p>
            <a:pPr marL="609600" indent="-609600" eaLnBrk="1" hangingPunct="1">
              <a:buFont typeface="Wingdings" pitchFamily="2" charset="2"/>
              <a:buNone/>
            </a:pPr>
            <a:r>
              <a:rPr lang="en-US" altLang="zh-CN" dirty="0">
                <a:cs typeface="Times New Roman" pitchFamily="18" charset="0"/>
              </a:rPr>
              <a:t>}</a:t>
            </a:r>
          </a:p>
          <a:p>
            <a:pPr marL="609600" indent="-609600" eaLnBrk="1" hangingPunct="1"/>
            <a:endParaRPr lang="en-US" altLang="zh-CN" sz="2800" dirty="0"/>
          </a:p>
          <a:p>
            <a:pPr marL="609600" indent="-609600" eaLnBrk="1" hangingPunct="1">
              <a:buFont typeface="Wingdings" pitchFamily="2" charset="2"/>
              <a:buNone/>
            </a:pPr>
            <a:r>
              <a:rPr lang="en-US" altLang="zh-CN" sz="2800" dirty="0">
                <a:cs typeface="Times New Roman" pitchFamily="18" charset="0"/>
              </a:rPr>
              <a:t>		</a:t>
            </a:r>
          </a:p>
          <a:p>
            <a:pPr marL="609600" indent="-609600" eaLnBrk="1" hangingPunct="1">
              <a:buFont typeface="Wingdings" pitchFamily="2" charset="2"/>
              <a:buNone/>
            </a:pPr>
            <a:endParaRPr lang="en-US" altLang="zh-CN" sz="2800" dirty="0">
              <a:cs typeface="Times New Roman" pitchFamily="18" charset="0"/>
            </a:endParaRPr>
          </a:p>
        </p:txBody>
      </p:sp>
      <p:sp>
        <p:nvSpPr>
          <p:cNvPr id="6" name="标题 5"/>
          <p:cNvSpPr>
            <a:spLocks noGrp="1"/>
          </p:cNvSpPr>
          <p:nvPr>
            <p:ph type="title"/>
          </p:nvPr>
        </p:nvSpPr>
        <p:spPr/>
        <p:txBody>
          <a:bodyPr/>
          <a:lstStyle/>
          <a:p>
            <a:r>
              <a:rPr lang="en-US" altLang="zh-CN" b="1" dirty="0">
                <a:solidFill>
                  <a:srgbClr val="0033CC"/>
                </a:solidFill>
              </a:rPr>
              <a:t> </a:t>
            </a:r>
            <a:r>
              <a:rPr lang="en-US" altLang="zh-CN" b="1" dirty="0">
                <a:solidFill>
                  <a:srgbClr val="0033CC"/>
                </a:solidFill>
                <a:cs typeface="Times New Roman" pitchFamily="18" charset="0"/>
              </a:rPr>
              <a:t>final</a:t>
            </a:r>
            <a:r>
              <a:rPr lang="zh-CN" altLang="en-US" b="1" dirty="0">
                <a:solidFill>
                  <a:srgbClr val="0033CC"/>
                </a:solidFill>
                <a:cs typeface="Times New Roman" pitchFamily="18" charset="0"/>
              </a:rPr>
              <a:t>关键字：</a:t>
            </a:r>
            <a:r>
              <a:rPr lang="zh-CN" altLang="en-US" b="1" dirty="0">
                <a:solidFill>
                  <a:srgbClr val="0033CC"/>
                </a:solidFill>
              </a:rPr>
              <a:t>数据、</a:t>
            </a:r>
            <a:r>
              <a:rPr lang="zh-CN" altLang="en-US" b="1" dirty="0">
                <a:solidFill>
                  <a:srgbClr val="0033CC"/>
                </a:solidFill>
                <a:cs typeface="Times New Roman" pitchFamily="18" charset="0"/>
              </a:rPr>
              <a:t>方法</a:t>
            </a:r>
            <a:r>
              <a:rPr lang="zh-CN" altLang="en-US" b="1" dirty="0">
                <a:solidFill>
                  <a:srgbClr val="0033CC"/>
                </a:solidFill>
              </a:rPr>
              <a:t>和类</a:t>
            </a:r>
            <a:endParaRPr lang="zh-CN" altLang="en-US"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灯片编号占位符 5"/>
          <p:cNvSpPr>
            <a:spLocks noGrp="1"/>
          </p:cNvSpPr>
          <p:nvPr>
            <p:ph type="sldNum" sz="quarter" idx="4294967295"/>
          </p:nvPr>
        </p:nvSpPr>
        <p:spPr>
          <a:xfrm>
            <a:off x="6589713" y="6376988"/>
            <a:ext cx="2193925" cy="457200"/>
          </a:xfrm>
          <a:prstGeom prst="rect">
            <a:avLst/>
          </a:prstGeom>
          <a:noFill/>
        </p:spPr>
        <p:txBody>
          <a:bodyPr/>
          <a:lstStyle/>
          <a:p>
            <a:fld id="{EEF8F4B3-F48B-458A-835F-E0C52DF4544E}" type="slidenum">
              <a:rPr lang="en-US" altLang="zh-CN"/>
              <a:pPr/>
              <a:t>79</a:t>
            </a:fld>
            <a:endParaRPr lang="en-US" altLang="zh-CN"/>
          </a:p>
        </p:txBody>
      </p:sp>
      <p:sp>
        <p:nvSpPr>
          <p:cNvPr id="101381" name="Rectangle 4"/>
          <p:cNvSpPr>
            <a:spLocks noGrp="1" noChangeArrowheads="1"/>
          </p:cNvSpPr>
          <p:nvPr>
            <p:ph type="body" idx="1"/>
          </p:nvPr>
        </p:nvSpPr>
        <p:spPr>
          <a:xfrm>
            <a:off x="539552" y="1517675"/>
            <a:ext cx="8229600" cy="4719637"/>
          </a:xfrm>
        </p:spPr>
        <p:txBody>
          <a:bodyPr/>
          <a:lstStyle/>
          <a:p>
            <a:pPr marL="609600" indent="-609600" eaLnBrk="1" hangingPunct="1">
              <a:lnSpc>
                <a:spcPct val="90000"/>
              </a:lnSpc>
              <a:buFont typeface="Wingdings" pitchFamily="2" charset="2"/>
              <a:buNone/>
            </a:pPr>
            <a:r>
              <a:rPr lang="en-US" altLang="zh-CN" sz="2800" b="1" dirty="0">
                <a:solidFill>
                  <a:schemeClr val="folHlink"/>
                </a:solidFill>
                <a:cs typeface="Times New Roman" pitchFamily="18" charset="0"/>
              </a:rPr>
              <a:t>3.	 </a:t>
            </a:r>
            <a:r>
              <a:rPr lang="en-US" altLang="zh-CN" b="1" dirty="0">
                <a:solidFill>
                  <a:schemeClr val="folHlink"/>
                </a:solidFill>
                <a:cs typeface="Times New Roman" pitchFamily="18" charset="0"/>
              </a:rPr>
              <a:t>final</a:t>
            </a:r>
            <a:r>
              <a:rPr lang="zh-CN" altLang="en-US" b="1" dirty="0">
                <a:solidFill>
                  <a:schemeClr val="folHlink"/>
                </a:solidFill>
                <a:cs typeface="Times New Roman" pitchFamily="18" charset="0"/>
              </a:rPr>
              <a:t>类</a:t>
            </a:r>
            <a:endParaRPr lang="zh-CN" altLang="en-US" sz="2800" b="1" dirty="0">
              <a:solidFill>
                <a:schemeClr val="folHlink"/>
              </a:solidFill>
              <a:cs typeface="Times New Roman" pitchFamily="18" charset="0"/>
            </a:endParaRPr>
          </a:p>
          <a:p>
            <a:pPr marL="609600" indent="-609600" eaLnBrk="1" hangingPunct="1">
              <a:lnSpc>
                <a:spcPct val="90000"/>
              </a:lnSpc>
              <a:buFont typeface="Wingdings" pitchFamily="2" charset="2"/>
              <a:buNone/>
            </a:pPr>
            <a:r>
              <a:rPr lang="en-US" altLang="zh-CN" sz="2800" dirty="0">
                <a:cs typeface="Times New Roman" pitchFamily="18" charset="0"/>
              </a:rPr>
              <a:t>final</a:t>
            </a:r>
            <a:r>
              <a:rPr lang="zh-CN" altLang="en-US" sz="2800" dirty="0">
                <a:cs typeface="Times New Roman" pitchFamily="18" charset="0"/>
              </a:rPr>
              <a:t>类不能被继承。</a:t>
            </a:r>
            <a:r>
              <a:rPr lang="zh-CN" altLang="en-US" sz="2800" dirty="0"/>
              <a:t>出于以下原因</a:t>
            </a:r>
            <a:r>
              <a:rPr lang="zh-CN" altLang="en-US" sz="2800" dirty="0">
                <a:cs typeface="Times New Roman" pitchFamily="18" charset="0"/>
              </a:rPr>
              <a:t>由于，有时候希望一些类不能被继承</a:t>
            </a:r>
          </a:p>
          <a:p>
            <a:pPr marL="609600" indent="-609600" eaLnBrk="1" hangingPunct="1">
              <a:lnSpc>
                <a:spcPct val="90000"/>
              </a:lnSpc>
            </a:pPr>
            <a:r>
              <a:rPr lang="zh-CN" altLang="en-US" sz="2800" b="1" dirty="0">
                <a:cs typeface="Times New Roman" pitchFamily="18" charset="0"/>
              </a:rPr>
              <a:t>安全性的原因</a:t>
            </a:r>
            <a:r>
              <a:rPr lang="zh-CN" altLang="en-US" sz="2800" b="1" dirty="0"/>
              <a:t>：</a:t>
            </a:r>
            <a:r>
              <a:rPr lang="zh-CN" altLang="en-US" sz="2800" dirty="0"/>
              <a:t>如</a:t>
            </a:r>
            <a:r>
              <a:rPr lang="en-US" altLang="zh-CN" sz="2800" dirty="0">
                <a:cs typeface="Times New Roman" pitchFamily="18" charset="0"/>
              </a:rPr>
              <a:t>Java</a:t>
            </a:r>
            <a:r>
              <a:rPr lang="zh-CN" altLang="en-US" sz="2800" dirty="0"/>
              <a:t>中的</a:t>
            </a:r>
            <a:r>
              <a:rPr lang="en-US" altLang="zh-CN" sz="2800" dirty="0">
                <a:cs typeface="Times New Roman" pitchFamily="18" charset="0"/>
              </a:rPr>
              <a:t>String</a:t>
            </a:r>
            <a:r>
              <a:rPr lang="zh-CN" altLang="en-US" sz="2800" dirty="0"/>
              <a:t>类。</a:t>
            </a:r>
          </a:p>
          <a:p>
            <a:pPr marL="609600" indent="-609600" eaLnBrk="1" hangingPunct="1">
              <a:lnSpc>
                <a:spcPct val="90000"/>
              </a:lnSpc>
              <a:buFont typeface="Wingdings" pitchFamily="2" charset="2"/>
              <a:buNone/>
            </a:pPr>
            <a:endParaRPr lang="zh-CN" altLang="en-US" sz="1200" dirty="0"/>
          </a:p>
          <a:p>
            <a:pPr marL="609600" indent="-609600" eaLnBrk="1" hangingPunct="1">
              <a:lnSpc>
                <a:spcPct val="90000"/>
              </a:lnSpc>
            </a:pPr>
            <a:r>
              <a:rPr lang="zh-CN" altLang="en-US" sz="2800" b="1" dirty="0">
                <a:cs typeface="Times New Roman" pitchFamily="18" charset="0"/>
              </a:rPr>
              <a:t>面向对象的设计上的考虑</a:t>
            </a:r>
            <a:r>
              <a:rPr lang="zh-CN" altLang="en-US" sz="2800" b="1" dirty="0"/>
              <a:t>：</a:t>
            </a:r>
            <a:r>
              <a:rPr lang="zh-CN" altLang="en-US" sz="2800" dirty="0"/>
              <a:t>如果你认为一个类的定义已经很完美，不需要再生成它的子类，这时也应把它修饰为</a:t>
            </a:r>
            <a:r>
              <a:rPr lang="en-US" altLang="zh-CN" sz="2800" dirty="0">
                <a:cs typeface="Times New Roman" pitchFamily="18" charset="0"/>
              </a:rPr>
              <a:t>final</a:t>
            </a:r>
            <a:r>
              <a:rPr lang="zh-CN" altLang="en-US" sz="2800" dirty="0"/>
              <a:t>类</a:t>
            </a:r>
          </a:p>
          <a:p>
            <a:pPr marL="609600" indent="-609600" eaLnBrk="1" hangingPunct="1">
              <a:lnSpc>
                <a:spcPct val="90000"/>
              </a:lnSpc>
            </a:pPr>
            <a:endParaRPr lang="zh-CN" altLang="en-US" sz="2800" dirty="0"/>
          </a:p>
          <a:p>
            <a:pPr marL="609600" indent="-609600" eaLnBrk="1" hangingPunct="1">
              <a:lnSpc>
                <a:spcPct val="90000"/>
              </a:lnSpc>
              <a:buFont typeface="Wingdings" pitchFamily="2" charset="2"/>
              <a:buNone/>
            </a:pPr>
            <a:r>
              <a:rPr lang="zh-CN" altLang="en-US" sz="2800" dirty="0">
                <a:cs typeface="Times New Roman" pitchFamily="18" charset="0"/>
              </a:rPr>
              <a:t>		</a:t>
            </a:r>
          </a:p>
          <a:p>
            <a:pPr marL="609600" indent="-609600" eaLnBrk="1" hangingPunct="1">
              <a:lnSpc>
                <a:spcPct val="90000"/>
              </a:lnSpc>
              <a:buFont typeface="Wingdings" pitchFamily="2" charset="2"/>
              <a:buNone/>
            </a:pPr>
            <a:endParaRPr lang="en-US" altLang="zh-CN" sz="2800" dirty="0">
              <a:cs typeface="Times New Roman" pitchFamily="18" charset="0"/>
            </a:endParaRPr>
          </a:p>
        </p:txBody>
      </p:sp>
      <p:sp>
        <p:nvSpPr>
          <p:cNvPr id="6" name="标题 5"/>
          <p:cNvSpPr>
            <a:spLocks noGrp="1"/>
          </p:cNvSpPr>
          <p:nvPr>
            <p:ph type="title"/>
          </p:nvPr>
        </p:nvSpPr>
        <p:spPr/>
        <p:txBody>
          <a:bodyPr/>
          <a:lstStyle/>
          <a:p>
            <a:r>
              <a:rPr lang="en-US" altLang="zh-CN" b="1" dirty="0">
                <a:solidFill>
                  <a:srgbClr val="0033CC"/>
                </a:solidFill>
              </a:rPr>
              <a:t> </a:t>
            </a:r>
            <a:r>
              <a:rPr lang="en-US" altLang="zh-CN" b="1" dirty="0">
                <a:solidFill>
                  <a:srgbClr val="0033CC"/>
                </a:solidFill>
                <a:cs typeface="Times New Roman" pitchFamily="18" charset="0"/>
              </a:rPr>
              <a:t>final</a:t>
            </a:r>
            <a:r>
              <a:rPr lang="zh-CN" altLang="en-US" b="1" dirty="0">
                <a:solidFill>
                  <a:srgbClr val="0033CC"/>
                </a:solidFill>
                <a:cs typeface="Times New Roman" pitchFamily="18" charset="0"/>
              </a:rPr>
              <a:t>关键字：</a:t>
            </a:r>
            <a:r>
              <a:rPr lang="zh-CN" altLang="en-US" b="1" dirty="0">
                <a:solidFill>
                  <a:srgbClr val="0033CC"/>
                </a:solidFill>
              </a:rPr>
              <a:t>数据、</a:t>
            </a:r>
            <a:r>
              <a:rPr lang="zh-CN" altLang="en-US" b="1" dirty="0">
                <a:solidFill>
                  <a:srgbClr val="0033CC"/>
                </a:solidFill>
                <a:cs typeface="Times New Roman" pitchFamily="18" charset="0"/>
              </a:rPr>
              <a:t>方法</a:t>
            </a:r>
            <a:r>
              <a:rPr lang="zh-CN" altLang="en-US" b="1" dirty="0">
                <a:solidFill>
                  <a:srgbClr val="0033CC"/>
                </a:solidFill>
              </a:rPr>
              <a:t>和类</a:t>
            </a:r>
            <a:endParaRPr lang="zh-CN" altLang="en-US"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5" name="Rectangle 4"/>
          <p:cNvSpPr>
            <a:spLocks noGrp="1" noChangeArrowheads="1"/>
          </p:cNvSpPr>
          <p:nvPr>
            <p:ph type="body" idx="1"/>
          </p:nvPr>
        </p:nvSpPr>
        <p:spPr>
          <a:xfrm>
            <a:off x="533400" y="1628800"/>
            <a:ext cx="8229600" cy="4719637"/>
          </a:xfrm>
        </p:spPr>
        <p:txBody>
          <a:bodyPr/>
          <a:lstStyle/>
          <a:p>
            <a:pPr marL="609600" indent="-609600" eaLnBrk="1" hangingPunct="1">
              <a:buFont typeface="Wingdings" pitchFamily="2" charset="2"/>
              <a:buNone/>
            </a:pPr>
            <a:r>
              <a:rPr lang="en-US" altLang="zh-CN" sz="2800" b="1" dirty="0">
                <a:solidFill>
                  <a:schemeClr val="folHlink"/>
                </a:solidFill>
                <a:cs typeface="Times New Roman" pitchFamily="18" charset="0"/>
              </a:rPr>
              <a:t>3.	 </a:t>
            </a:r>
            <a:r>
              <a:rPr lang="en-US" altLang="zh-CN" b="1" dirty="0">
                <a:solidFill>
                  <a:schemeClr val="folHlink"/>
                </a:solidFill>
                <a:cs typeface="Times New Roman" pitchFamily="18" charset="0"/>
              </a:rPr>
              <a:t>final</a:t>
            </a:r>
            <a:r>
              <a:rPr lang="zh-CN" altLang="en-US" b="1" dirty="0">
                <a:solidFill>
                  <a:schemeClr val="folHlink"/>
                </a:solidFill>
                <a:cs typeface="Times New Roman" pitchFamily="18" charset="0"/>
              </a:rPr>
              <a:t>类</a:t>
            </a:r>
            <a:endParaRPr lang="zh-CN" altLang="en-US" sz="2800" b="1" dirty="0">
              <a:solidFill>
                <a:schemeClr val="folHlink"/>
              </a:solidFill>
              <a:cs typeface="Times New Roman" pitchFamily="18" charset="0"/>
            </a:endParaRPr>
          </a:p>
          <a:p>
            <a:pPr marL="609600" indent="-609600" eaLnBrk="1" hangingPunct="1">
              <a:buFont typeface="Wingdings" pitchFamily="2" charset="2"/>
              <a:buNone/>
            </a:pPr>
            <a:r>
              <a:rPr lang="zh-CN" altLang="en-US" dirty="0">
                <a:cs typeface="Times New Roman" pitchFamily="18" charset="0"/>
              </a:rPr>
              <a:t>定义一个</a:t>
            </a:r>
            <a:r>
              <a:rPr lang="en-US" altLang="zh-CN" dirty="0">
                <a:cs typeface="Times New Roman" pitchFamily="18" charset="0"/>
              </a:rPr>
              <a:t>final</a:t>
            </a:r>
            <a:r>
              <a:rPr lang="zh-CN" altLang="en-US" dirty="0">
                <a:cs typeface="Times New Roman" pitchFamily="18" charset="0"/>
              </a:rPr>
              <a:t>类的格式如下：</a:t>
            </a:r>
          </a:p>
          <a:p>
            <a:pPr marL="609600" indent="-609600" eaLnBrk="1" hangingPunct="1">
              <a:buFont typeface="Wingdings" pitchFamily="2" charset="2"/>
              <a:buNone/>
            </a:pPr>
            <a:r>
              <a:rPr lang="en-US" altLang="zh-CN" dirty="0">
                <a:cs typeface="Times New Roman" pitchFamily="18" charset="0"/>
              </a:rPr>
              <a:t>final class finalClassName{</a:t>
            </a:r>
          </a:p>
          <a:p>
            <a:pPr marL="609600" indent="-609600" eaLnBrk="1" hangingPunct="1">
              <a:buFont typeface="Wingdings" pitchFamily="2" charset="2"/>
              <a:buNone/>
            </a:pPr>
            <a:r>
              <a:rPr lang="en-US" altLang="zh-CN" dirty="0">
                <a:cs typeface="Times New Roman" pitchFamily="18" charset="0"/>
              </a:rPr>
              <a:t>	……</a:t>
            </a:r>
          </a:p>
          <a:p>
            <a:pPr marL="609600" indent="-609600" eaLnBrk="1" hangingPunct="1">
              <a:buFont typeface="Wingdings" pitchFamily="2" charset="2"/>
              <a:buNone/>
            </a:pPr>
            <a:r>
              <a:rPr lang="en-US" altLang="zh-CN" dirty="0">
                <a:cs typeface="Times New Roman" pitchFamily="18" charset="0"/>
              </a:rPr>
              <a:t>}</a:t>
            </a:r>
          </a:p>
          <a:p>
            <a:pPr marL="609600" indent="-609600" eaLnBrk="1" hangingPunct="1"/>
            <a:endParaRPr lang="en-US" altLang="zh-CN" sz="2800" dirty="0"/>
          </a:p>
          <a:p>
            <a:pPr marL="609600" indent="-609600" eaLnBrk="1" hangingPunct="1">
              <a:buFont typeface="Wingdings" pitchFamily="2" charset="2"/>
              <a:buNone/>
            </a:pPr>
            <a:r>
              <a:rPr lang="en-US" altLang="zh-CN" sz="2800" dirty="0">
                <a:cs typeface="Times New Roman" pitchFamily="18" charset="0"/>
              </a:rPr>
              <a:t>		</a:t>
            </a:r>
          </a:p>
          <a:p>
            <a:pPr marL="609600" indent="-609600" eaLnBrk="1" hangingPunct="1">
              <a:buFont typeface="Wingdings" pitchFamily="2" charset="2"/>
              <a:buNone/>
            </a:pPr>
            <a:endParaRPr lang="en-US" altLang="zh-CN" sz="2800" dirty="0">
              <a:cs typeface="Times New Roman" pitchFamily="18" charset="0"/>
            </a:endParaRPr>
          </a:p>
        </p:txBody>
      </p:sp>
      <p:sp>
        <p:nvSpPr>
          <p:cNvPr id="6" name="标题 5"/>
          <p:cNvSpPr>
            <a:spLocks noGrp="1"/>
          </p:cNvSpPr>
          <p:nvPr>
            <p:ph type="title"/>
          </p:nvPr>
        </p:nvSpPr>
        <p:spPr/>
        <p:txBody>
          <a:bodyPr/>
          <a:lstStyle/>
          <a:p>
            <a:r>
              <a:rPr lang="en-US" altLang="zh-CN" b="1" dirty="0">
                <a:solidFill>
                  <a:srgbClr val="0033CC"/>
                </a:solidFill>
              </a:rPr>
              <a:t> </a:t>
            </a:r>
            <a:r>
              <a:rPr lang="en-US" altLang="zh-CN" b="1" dirty="0">
                <a:solidFill>
                  <a:srgbClr val="0033CC"/>
                </a:solidFill>
                <a:cs typeface="Times New Roman" pitchFamily="18" charset="0"/>
              </a:rPr>
              <a:t>final</a:t>
            </a:r>
            <a:r>
              <a:rPr lang="zh-CN" altLang="en-US" b="1" dirty="0">
                <a:solidFill>
                  <a:srgbClr val="0033CC"/>
                </a:solidFill>
                <a:cs typeface="Times New Roman" pitchFamily="18" charset="0"/>
              </a:rPr>
              <a:t>关键字：</a:t>
            </a:r>
            <a:r>
              <a:rPr lang="zh-CN" altLang="en-US" b="1" dirty="0">
                <a:solidFill>
                  <a:srgbClr val="0033CC"/>
                </a:solidFill>
              </a:rPr>
              <a:t>数据、</a:t>
            </a:r>
            <a:r>
              <a:rPr lang="zh-CN" altLang="en-US" b="1" dirty="0">
                <a:solidFill>
                  <a:srgbClr val="0033CC"/>
                </a:solidFill>
                <a:cs typeface="Times New Roman" pitchFamily="18" charset="0"/>
              </a:rPr>
              <a:t>方法</a:t>
            </a:r>
            <a:r>
              <a:rPr lang="zh-CN" altLang="en-US" b="1" dirty="0">
                <a:solidFill>
                  <a:srgbClr val="0033CC"/>
                </a:solidFill>
              </a:rPr>
              <a:t>和类</a:t>
            </a:r>
            <a:endParaRPr lang="zh-CN" altLang="en-US"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9" name="Rectangle 4"/>
          <p:cNvSpPr>
            <a:spLocks noGrp="1" noChangeArrowheads="1"/>
          </p:cNvSpPr>
          <p:nvPr>
            <p:ph type="body" idx="1"/>
          </p:nvPr>
        </p:nvSpPr>
        <p:spPr>
          <a:xfrm>
            <a:off x="533400" y="1340768"/>
            <a:ext cx="8229600" cy="4719637"/>
          </a:xfrm>
        </p:spPr>
        <p:txBody>
          <a:bodyPr/>
          <a:lstStyle/>
          <a:p>
            <a:pPr marL="609600" indent="-609600" eaLnBrk="1" hangingPunct="1">
              <a:buFont typeface="Wingdings" pitchFamily="2" charset="2"/>
              <a:buNone/>
            </a:pPr>
            <a:r>
              <a:rPr lang="en-US" altLang="zh-CN" sz="2800" b="1" dirty="0">
                <a:solidFill>
                  <a:schemeClr val="folHlink"/>
                </a:solidFill>
                <a:cs typeface="Times New Roman" pitchFamily="18" charset="0"/>
              </a:rPr>
              <a:t>3.	 </a:t>
            </a:r>
            <a:r>
              <a:rPr lang="en-US" altLang="zh-CN" b="1" dirty="0">
                <a:solidFill>
                  <a:schemeClr val="folHlink"/>
                </a:solidFill>
                <a:cs typeface="Times New Roman" pitchFamily="18" charset="0"/>
              </a:rPr>
              <a:t>final</a:t>
            </a:r>
            <a:r>
              <a:rPr lang="zh-CN" altLang="en-US" b="1" dirty="0">
                <a:solidFill>
                  <a:schemeClr val="folHlink"/>
                </a:solidFill>
                <a:cs typeface="Times New Roman" pitchFamily="18" charset="0"/>
              </a:rPr>
              <a:t>类</a:t>
            </a:r>
            <a:endParaRPr lang="zh-CN" altLang="en-US" sz="2800" b="1" dirty="0">
              <a:solidFill>
                <a:schemeClr val="folHlink"/>
              </a:solidFill>
              <a:cs typeface="Times New Roman" pitchFamily="18" charset="0"/>
            </a:endParaRPr>
          </a:p>
          <a:p>
            <a:pPr marL="609600" indent="-609600" eaLnBrk="1" hangingPunct="1">
              <a:lnSpc>
                <a:spcPct val="80000"/>
              </a:lnSpc>
              <a:buFont typeface="Wingdings" pitchFamily="2" charset="2"/>
              <a:buNone/>
            </a:pPr>
            <a:r>
              <a:rPr lang="en-US" altLang="zh-CN" sz="2800" dirty="0">
                <a:cs typeface="Times New Roman" pitchFamily="18" charset="0"/>
              </a:rPr>
              <a:t>final class Da {</a:t>
            </a:r>
          </a:p>
          <a:p>
            <a:pPr marL="609600" indent="-609600" eaLnBrk="1" hangingPunct="1">
              <a:lnSpc>
                <a:spcPct val="80000"/>
              </a:lnSpc>
              <a:buFont typeface="Wingdings" pitchFamily="2" charset="2"/>
              <a:buNone/>
            </a:pPr>
            <a:r>
              <a:rPr lang="en-US" altLang="zh-CN" sz="2800" dirty="0">
                <a:cs typeface="Times New Roman" pitchFamily="18" charset="0"/>
              </a:rPr>
              <a:t>  int i = 7;</a:t>
            </a:r>
          </a:p>
          <a:p>
            <a:pPr marL="609600" indent="-609600" eaLnBrk="1" hangingPunct="1">
              <a:lnSpc>
                <a:spcPct val="80000"/>
              </a:lnSpc>
              <a:buFont typeface="Wingdings" pitchFamily="2" charset="2"/>
              <a:buNone/>
            </a:pPr>
            <a:r>
              <a:rPr lang="en-US" altLang="zh-CN" sz="2800" dirty="0">
                <a:cs typeface="Times New Roman" pitchFamily="18" charset="0"/>
              </a:rPr>
              <a:t>  int j = 1;</a:t>
            </a:r>
          </a:p>
          <a:p>
            <a:pPr marL="609600" indent="-609600" eaLnBrk="1" hangingPunct="1">
              <a:lnSpc>
                <a:spcPct val="80000"/>
              </a:lnSpc>
              <a:buFont typeface="Wingdings" pitchFamily="2" charset="2"/>
              <a:buNone/>
            </a:pPr>
            <a:r>
              <a:rPr lang="en-US" altLang="zh-CN" sz="2800" dirty="0">
                <a:cs typeface="Times New Roman" pitchFamily="18" charset="0"/>
              </a:rPr>
              <a:t>  void f() {}</a:t>
            </a:r>
          </a:p>
          <a:p>
            <a:pPr marL="609600" indent="-609600" eaLnBrk="1" hangingPunct="1">
              <a:lnSpc>
                <a:spcPct val="80000"/>
              </a:lnSpc>
              <a:buFont typeface="Wingdings" pitchFamily="2" charset="2"/>
              <a:buNone/>
            </a:pPr>
            <a:r>
              <a:rPr lang="en-US" altLang="zh-CN" sz="2800" dirty="0">
                <a:cs typeface="Times New Roman" pitchFamily="18" charset="0"/>
              </a:rPr>
              <a:t>}</a:t>
            </a:r>
          </a:p>
          <a:p>
            <a:pPr marL="609600" indent="-609600" eaLnBrk="1" hangingPunct="1">
              <a:lnSpc>
                <a:spcPct val="80000"/>
              </a:lnSpc>
              <a:buFont typeface="Wingdings" pitchFamily="2" charset="2"/>
              <a:buNone/>
            </a:pPr>
            <a:r>
              <a:rPr lang="en-US" altLang="zh-CN" sz="2800" dirty="0">
                <a:solidFill>
                  <a:srgbClr val="009900"/>
                </a:solidFill>
                <a:latin typeface="Arial Unicode MS" pitchFamily="34" charset="-122"/>
                <a:cs typeface="Times New Roman" pitchFamily="18" charset="0"/>
              </a:rPr>
              <a:t>class Further extends Da {   //error</a:t>
            </a:r>
          </a:p>
          <a:p>
            <a:pPr marL="609600" indent="-609600" eaLnBrk="1" hangingPunct="1">
              <a:lnSpc>
                <a:spcPct val="80000"/>
              </a:lnSpc>
              <a:buFont typeface="Wingdings" pitchFamily="2" charset="2"/>
              <a:buNone/>
            </a:pPr>
            <a:r>
              <a:rPr lang="en-US" altLang="zh-CN" sz="2800" dirty="0">
                <a:solidFill>
                  <a:srgbClr val="009900"/>
                </a:solidFill>
              </a:rPr>
              <a:t>…</a:t>
            </a:r>
            <a:endParaRPr lang="en-US" altLang="zh-CN" sz="2800" dirty="0">
              <a:solidFill>
                <a:srgbClr val="009900"/>
              </a:solidFill>
              <a:latin typeface="Arial Unicode MS" pitchFamily="34" charset="-122"/>
            </a:endParaRPr>
          </a:p>
          <a:p>
            <a:pPr marL="609600" indent="-609600" eaLnBrk="1" hangingPunct="1">
              <a:lnSpc>
                <a:spcPct val="80000"/>
              </a:lnSpc>
              <a:buFont typeface="Wingdings" pitchFamily="2" charset="2"/>
              <a:buNone/>
            </a:pPr>
            <a:r>
              <a:rPr lang="en-US" altLang="zh-CN" sz="2800" dirty="0">
                <a:solidFill>
                  <a:srgbClr val="009900"/>
                </a:solidFill>
                <a:latin typeface="Arial Unicode MS" pitchFamily="34" charset="-122"/>
                <a:cs typeface="Times New Roman" pitchFamily="18" charset="0"/>
              </a:rPr>
              <a:t>}</a:t>
            </a:r>
            <a:r>
              <a:rPr lang="en-US" altLang="zh-CN" sz="2800" dirty="0">
                <a:cs typeface="Times New Roman" pitchFamily="18" charset="0"/>
              </a:rPr>
              <a:t> 		</a:t>
            </a:r>
          </a:p>
          <a:p>
            <a:pPr marL="609600" indent="-609600" eaLnBrk="1" hangingPunct="1">
              <a:lnSpc>
                <a:spcPct val="80000"/>
              </a:lnSpc>
              <a:buFont typeface="Wingdings" pitchFamily="2" charset="2"/>
              <a:buNone/>
            </a:pPr>
            <a:endParaRPr lang="en-US" altLang="zh-CN" sz="2800" dirty="0">
              <a:cs typeface="Times New Roman" pitchFamily="18" charset="0"/>
            </a:endParaRPr>
          </a:p>
        </p:txBody>
      </p:sp>
      <p:sp>
        <p:nvSpPr>
          <p:cNvPr id="6" name="标题 5"/>
          <p:cNvSpPr>
            <a:spLocks noGrp="1"/>
          </p:cNvSpPr>
          <p:nvPr>
            <p:ph type="title"/>
          </p:nvPr>
        </p:nvSpPr>
        <p:spPr/>
        <p:txBody>
          <a:bodyPr/>
          <a:lstStyle/>
          <a:p>
            <a:r>
              <a:rPr lang="en-US" altLang="zh-CN" b="1" dirty="0">
                <a:solidFill>
                  <a:srgbClr val="0033CC"/>
                </a:solidFill>
              </a:rPr>
              <a:t> </a:t>
            </a:r>
            <a:r>
              <a:rPr lang="en-US" altLang="zh-CN" b="1" dirty="0">
                <a:solidFill>
                  <a:srgbClr val="0033CC"/>
                </a:solidFill>
                <a:cs typeface="Times New Roman" pitchFamily="18" charset="0"/>
              </a:rPr>
              <a:t>final</a:t>
            </a:r>
            <a:r>
              <a:rPr lang="zh-CN" altLang="en-US" b="1" dirty="0">
                <a:solidFill>
                  <a:srgbClr val="0033CC"/>
                </a:solidFill>
                <a:cs typeface="Times New Roman" pitchFamily="18" charset="0"/>
              </a:rPr>
              <a:t>关键字：</a:t>
            </a:r>
            <a:r>
              <a:rPr lang="zh-CN" altLang="en-US" b="1" dirty="0">
                <a:solidFill>
                  <a:srgbClr val="0033CC"/>
                </a:solidFill>
              </a:rPr>
              <a:t>数据、</a:t>
            </a:r>
            <a:r>
              <a:rPr lang="zh-CN" altLang="en-US" b="1" dirty="0">
                <a:solidFill>
                  <a:srgbClr val="0033CC"/>
                </a:solidFill>
                <a:cs typeface="Times New Roman" pitchFamily="18" charset="0"/>
              </a:rPr>
              <a:t>方法</a:t>
            </a:r>
            <a:r>
              <a:rPr lang="zh-CN" altLang="en-US" b="1" dirty="0">
                <a:solidFill>
                  <a:srgbClr val="0033CC"/>
                </a:solidFill>
              </a:rPr>
              <a:t>和类</a:t>
            </a:r>
            <a:endParaRPr lang="zh-CN" altLang="en-US"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3" name="Rectangle 4"/>
          <p:cNvSpPr>
            <a:spLocks noGrp="1" noChangeArrowheads="1"/>
          </p:cNvSpPr>
          <p:nvPr>
            <p:ph type="body" idx="1"/>
          </p:nvPr>
        </p:nvSpPr>
        <p:spPr>
          <a:xfrm>
            <a:off x="467544" y="1661691"/>
            <a:ext cx="8496944" cy="4719637"/>
          </a:xfrm>
        </p:spPr>
        <p:txBody>
          <a:bodyPr/>
          <a:lstStyle/>
          <a:p>
            <a:pPr marL="609600" indent="-609600" eaLnBrk="1" hangingPunct="1">
              <a:lnSpc>
                <a:spcPct val="90000"/>
              </a:lnSpc>
              <a:buFont typeface="Wingdings" pitchFamily="2" charset="2"/>
              <a:buAutoNum type="arabicPeriod"/>
            </a:pPr>
            <a:r>
              <a:rPr lang="en-US" altLang="zh-CN" sz="2800" b="1" dirty="0">
                <a:cs typeface="Times New Roman" pitchFamily="18" charset="0"/>
              </a:rPr>
              <a:t>abstract</a:t>
            </a:r>
            <a:r>
              <a:rPr lang="zh-CN" altLang="en-US" sz="2800" b="1" dirty="0"/>
              <a:t>类：</a:t>
            </a:r>
            <a:r>
              <a:rPr lang="zh-CN" altLang="en-US" sz="2800" dirty="0"/>
              <a:t>表示抽象的概念，不能够被实例化为一个对象。</a:t>
            </a:r>
          </a:p>
          <a:p>
            <a:pPr marL="609600" indent="-609600" eaLnBrk="1" hangingPunct="1">
              <a:lnSpc>
                <a:spcPct val="90000"/>
              </a:lnSpc>
              <a:buFont typeface="Wingdings" pitchFamily="2" charset="2"/>
              <a:buNone/>
            </a:pPr>
            <a:r>
              <a:rPr lang="zh-CN" altLang="en-US" sz="2800" dirty="0"/>
              <a:t>例如</a:t>
            </a:r>
            <a:r>
              <a:rPr lang="en-US" altLang="zh-CN" sz="2800" dirty="0">
                <a:cs typeface="Times New Roman" pitchFamily="18" charset="0"/>
              </a:rPr>
              <a:t>Java</a:t>
            </a:r>
            <a:r>
              <a:rPr lang="zh-CN" altLang="en-US" sz="2800" dirty="0"/>
              <a:t>中的</a:t>
            </a:r>
            <a:r>
              <a:rPr lang="en-US" altLang="zh-CN" sz="2800" dirty="0">
                <a:cs typeface="Times New Roman" pitchFamily="18" charset="0"/>
              </a:rPr>
              <a:t>Number</a:t>
            </a:r>
            <a:r>
              <a:rPr lang="zh-CN" altLang="en-US" sz="2800" dirty="0"/>
              <a:t>类</a:t>
            </a:r>
          </a:p>
          <a:p>
            <a:pPr marL="609600" indent="-609600" eaLnBrk="1" hangingPunct="1">
              <a:lnSpc>
                <a:spcPct val="90000"/>
              </a:lnSpc>
              <a:buFont typeface="Wingdings" pitchFamily="2" charset="2"/>
              <a:buNone/>
            </a:pPr>
            <a:r>
              <a:rPr lang="zh-CN" altLang="en-US" sz="2800" dirty="0"/>
              <a:t>定义一个抽象类的格式如下：</a:t>
            </a:r>
          </a:p>
          <a:p>
            <a:pPr marL="609600" indent="-609600" eaLnBrk="1" hangingPunct="1">
              <a:lnSpc>
                <a:spcPct val="90000"/>
              </a:lnSpc>
              <a:buFont typeface="Wingdings" pitchFamily="2" charset="2"/>
              <a:buNone/>
            </a:pPr>
            <a:r>
              <a:rPr lang="en-US" altLang="zh-CN" sz="2800" b="1" dirty="0">
                <a:cs typeface="Times New Roman" pitchFamily="18" charset="0"/>
              </a:rPr>
              <a:t>abstract</a:t>
            </a:r>
            <a:r>
              <a:rPr lang="en-US" altLang="zh-CN" sz="2800" dirty="0">
                <a:cs typeface="Times New Roman" pitchFamily="18" charset="0"/>
              </a:rPr>
              <a:t> class abstractClass{</a:t>
            </a:r>
          </a:p>
          <a:p>
            <a:pPr marL="609600" indent="-609600" eaLnBrk="1" hangingPunct="1">
              <a:lnSpc>
                <a:spcPct val="90000"/>
              </a:lnSpc>
              <a:buFont typeface="Wingdings" pitchFamily="2" charset="2"/>
              <a:buNone/>
            </a:pPr>
            <a:r>
              <a:rPr lang="en-US" altLang="zh-CN" sz="2800" dirty="0">
                <a:cs typeface="Times New Roman" pitchFamily="18" charset="0"/>
              </a:rPr>
              <a:t>	……</a:t>
            </a:r>
          </a:p>
          <a:p>
            <a:pPr marL="609600" indent="-609600" eaLnBrk="1" hangingPunct="1">
              <a:lnSpc>
                <a:spcPct val="90000"/>
              </a:lnSpc>
              <a:buFont typeface="Wingdings" pitchFamily="2" charset="2"/>
              <a:buNone/>
            </a:pPr>
            <a:r>
              <a:rPr lang="en-US" altLang="zh-CN" sz="2800" dirty="0">
                <a:cs typeface="Times New Roman" pitchFamily="18" charset="0"/>
              </a:rPr>
              <a:t>}</a:t>
            </a:r>
          </a:p>
          <a:p>
            <a:pPr marL="609600" indent="-609600" eaLnBrk="1" hangingPunct="1">
              <a:lnSpc>
                <a:spcPct val="90000"/>
              </a:lnSpc>
              <a:buFont typeface="Wingdings" pitchFamily="2" charset="2"/>
              <a:buNone/>
            </a:pPr>
            <a:endParaRPr lang="en-US" altLang="zh-CN" sz="2800" dirty="0"/>
          </a:p>
          <a:p>
            <a:pPr marL="609600" indent="-609600" eaLnBrk="1" hangingPunct="1">
              <a:lnSpc>
                <a:spcPct val="90000"/>
              </a:lnSpc>
              <a:buFont typeface="Wingdings" pitchFamily="2" charset="2"/>
              <a:buNone/>
            </a:pPr>
            <a:endParaRPr lang="en-US" altLang="zh-CN" sz="2800" dirty="0"/>
          </a:p>
          <a:p>
            <a:pPr marL="609600" indent="-609600" eaLnBrk="1" hangingPunct="1">
              <a:lnSpc>
                <a:spcPct val="90000"/>
              </a:lnSpc>
            </a:pPr>
            <a:endParaRPr lang="en-US" altLang="zh-CN" sz="2400" dirty="0"/>
          </a:p>
          <a:p>
            <a:pPr marL="609600" indent="-609600" eaLnBrk="1" hangingPunct="1">
              <a:lnSpc>
                <a:spcPct val="90000"/>
              </a:lnSpc>
              <a:buFont typeface="Wingdings" pitchFamily="2" charset="2"/>
              <a:buNone/>
            </a:pPr>
            <a:r>
              <a:rPr lang="en-US" altLang="zh-CN" sz="2400" dirty="0">
                <a:cs typeface="Times New Roman" pitchFamily="18" charset="0"/>
              </a:rPr>
              <a:t>		</a:t>
            </a:r>
          </a:p>
          <a:p>
            <a:pPr marL="609600" indent="-609600" eaLnBrk="1" hangingPunct="1">
              <a:lnSpc>
                <a:spcPct val="90000"/>
              </a:lnSpc>
              <a:buFont typeface="Wingdings" pitchFamily="2" charset="2"/>
              <a:buNone/>
            </a:pPr>
            <a:endParaRPr lang="en-US" altLang="zh-CN" sz="2400" dirty="0">
              <a:cs typeface="Times New Roman" pitchFamily="18" charset="0"/>
            </a:endParaRPr>
          </a:p>
        </p:txBody>
      </p:sp>
      <p:sp>
        <p:nvSpPr>
          <p:cNvPr id="6" name="标题 5"/>
          <p:cNvSpPr>
            <a:spLocks noGrp="1"/>
          </p:cNvSpPr>
          <p:nvPr>
            <p:ph type="title"/>
          </p:nvPr>
        </p:nvSpPr>
        <p:spPr/>
        <p:txBody>
          <a:bodyPr/>
          <a:lstStyle/>
          <a:p>
            <a:r>
              <a:rPr lang="en-US" altLang="zh-CN" b="1" dirty="0">
                <a:solidFill>
                  <a:srgbClr val="0033CC"/>
                </a:solidFill>
                <a:cs typeface="Times New Roman" pitchFamily="18" charset="0"/>
              </a:rPr>
              <a:t>abstract</a:t>
            </a:r>
            <a:r>
              <a:rPr lang="zh-CN" altLang="en-US" b="1" dirty="0">
                <a:solidFill>
                  <a:srgbClr val="0033CC"/>
                </a:solidFill>
                <a:cs typeface="Times New Roman" pitchFamily="18" charset="0"/>
              </a:rPr>
              <a:t>关键字</a:t>
            </a:r>
            <a:endParaRPr lang="zh-CN" altLang="en-US"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7" name="Rectangle 4"/>
          <p:cNvSpPr>
            <a:spLocks noGrp="1" noChangeArrowheads="1"/>
          </p:cNvSpPr>
          <p:nvPr>
            <p:ph type="body" idx="1"/>
          </p:nvPr>
        </p:nvSpPr>
        <p:spPr>
          <a:xfrm>
            <a:off x="395536" y="1589683"/>
            <a:ext cx="8610600" cy="4719637"/>
          </a:xfrm>
        </p:spPr>
        <p:txBody>
          <a:bodyPr/>
          <a:lstStyle/>
          <a:p>
            <a:pPr marL="609600" indent="-609600" eaLnBrk="1" hangingPunct="1">
              <a:lnSpc>
                <a:spcPct val="90000"/>
              </a:lnSpc>
              <a:buFont typeface="Wingdings" pitchFamily="2" charset="2"/>
              <a:buAutoNum type="arabicPeriod" startAt="2"/>
            </a:pPr>
            <a:r>
              <a:rPr lang="en-US" altLang="zh-CN" sz="2600" b="1" dirty="0">
                <a:cs typeface="Times New Roman" pitchFamily="18" charset="0"/>
              </a:rPr>
              <a:t>abstract</a:t>
            </a:r>
            <a:r>
              <a:rPr lang="zh-CN" altLang="en-US" sz="2600" b="1" dirty="0">
                <a:cs typeface="Times New Roman" pitchFamily="18" charset="0"/>
              </a:rPr>
              <a:t>方法：</a:t>
            </a:r>
            <a:r>
              <a:rPr lang="zh-CN" altLang="en-US" sz="2600" dirty="0"/>
              <a:t>只有方法声明，没有具体实现的方法</a:t>
            </a:r>
          </a:p>
          <a:p>
            <a:pPr marL="609600" indent="-609600" eaLnBrk="1" hangingPunct="1">
              <a:lnSpc>
                <a:spcPct val="90000"/>
              </a:lnSpc>
              <a:buFont typeface="Wingdings" pitchFamily="2" charset="2"/>
              <a:buNone/>
            </a:pPr>
            <a:r>
              <a:rPr lang="zh-CN" altLang="en-US" sz="2600" dirty="0"/>
              <a:t>抽象类中可以包含抽象方法，为所有子类定义一个统一的接口，具体实现由子类完成。</a:t>
            </a:r>
          </a:p>
          <a:p>
            <a:pPr marL="609600" indent="-609600" eaLnBrk="1" hangingPunct="1">
              <a:lnSpc>
                <a:spcPct val="90000"/>
              </a:lnSpc>
              <a:buFont typeface="Wingdings" pitchFamily="2" charset="2"/>
              <a:buNone/>
            </a:pPr>
            <a:r>
              <a:rPr lang="zh-CN" altLang="en-US" sz="2600" dirty="0"/>
              <a:t>定义格式如下：</a:t>
            </a:r>
          </a:p>
          <a:p>
            <a:pPr marL="609600" indent="-609600" algn="ctr" eaLnBrk="1" hangingPunct="1">
              <a:lnSpc>
                <a:spcPct val="90000"/>
              </a:lnSpc>
              <a:buFont typeface="Wingdings" pitchFamily="2" charset="2"/>
              <a:buNone/>
            </a:pPr>
            <a:r>
              <a:rPr lang="en-US" altLang="zh-CN" sz="2600" dirty="0">
                <a:cs typeface="Times New Roman" pitchFamily="18" charset="0"/>
              </a:rPr>
              <a:t>abstract returnType abstractMethod( [paramlist] );</a:t>
            </a:r>
          </a:p>
          <a:p>
            <a:pPr marL="609600" indent="-609600" algn="ctr" eaLnBrk="1" hangingPunct="1">
              <a:lnSpc>
                <a:spcPct val="90000"/>
              </a:lnSpc>
              <a:buFont typeface="Wingdings" pitchFamily="2" charset="2"/>
              <a:buNone/>
            </a:pPr>
            <a:endParaRPr lang="en-US" altLang="zh-CN" sz="1000" dirty="0"/>
          </a:p>
          <a:p>
            <a:pPr marL="609600" indent="-609600" eaLnBrk="1" hangingPunct="1">
              <a:lnSpc>
                <a:spcPct val="90000"/>
              </a:lnSpc>
              <a:buFont typeface="Wingdings" pitchFamily="2" charset="2"/>
              <a:buNone/>
            </a:pPr>
            <a:r>
              <a:rPr lang="zh-CN" altLang="en-US" sz="2400" b="1" dirty="0">
                <a:solidFill>
                  <a:schemeClr val="folHlink"/>
                </a:solidFill>
              </a:rPr>
              <a:t>说明：</a:t>
            </a:r>
            <a:r>
              <a:rPr lang="zh-CN" altLang="en-US" sz="2400" dirty="0"/>
              <a:t>抽象类中不一定要包含</a:t>
            </a:r>
            <a:r>
              <a:rPr lang="en-US" altLang="zh-CN" sz="2400" dirty="0">
                <a:cs typeface="Times New Roman" pitchFamily="18" charset="0"/>
              </a:rPr>
              <a:t>abstract</a:t>
            </a:r>
            <a:r>
              <a:rPr lang="zh-CN" altLang="en-US" sz="2400" dirty="0"/>
              <a:t>方法，但是，一旦某个类中包含了</a:t>
            </a:r>
            <a:r>
              <a:rPr lang="en-US" altLang="zh-CN" sz="2400" dirty="0">
                <a:cs typeface="Times New Roman" pitchFamily="18" charset="0"/>
              </a:rPr>
              <a:t>abstract</a:t>
            </a:r>
            <a:r>
              <a:rPr lang="zh-CN" altLang="en-US" sz="2400" dirty="0"/>
              <a:t>方法，则这个类必须声明为</a:t>
            </a:r>
            <a:r>
              <a:rPr lang="en-US" altLang="zh-CN" sz="2400" dirty="0">
                <a:cs typeface="Times New Roman" pitchFamily="18" charset="0"/>
              </a:rPr>
              <a:t>abstract</a:t>
            </a:r>
            <a:r>
              <a:rPr lang="zh-CN" altLang="en-US" sz="2400" dirty="0"/>
              <a:t>类。</a:t>
            </a:r>
          </a:p>
          <a:p>
            <a:pPr marL="609600" indent="-609600" eaLnBrk="1" hangingPunct="1">
              <a:lnSpc>
                <a:spcPct val="90000"/>
              </a:lnSpc>
              <a:buFont typeface="Wingdings" pitchFamily="2" charset="2"/>
              <a:buNone/>
            </a:pPr>
            <a:endParaRPr lang="zh-CN" altLang="en-US" sz="2400" dirty="0"/>
          </a:p>
          <a:p>
            <a:pPr marL="609600" indent="-609600" eaLnBrk="1" hangingPunct="1">
              <a:lnSpc>
                <a:spcPct val="90000"/>
              </a:lnSpc>
              <a:buFont typeface="Wingdings" pitchFamily="2" charset="2"/>
              <a:buNone/>
            </a:pPr>
            <a:r>
              <a:rPr lang="zh-CN" altLang="en-US" sz="2400" dirty="0">
                <a:cs typeface="Times New Roman" pitchFamily="18" charset="0"/>
              </a:rPr>
              <a:t>		</a:t>
            </a:r>
          </a:p>
          <a:p>
            <a:pPr marL="609600" indent="-609600" eaLnBrk="1" hangingPunct="1">
              <a:lnSpc>
                <a:spcPct val="90000"/>
              </a:lnSpc>
              <a:buFont typeface="Wingdings" pitchFamily="2" charset="2"/>
              <a:buNone/>
            </a:pPr>
            <a:endParaRPr lang="en-US" altLang="zh-CN" sz="2400" dirty="0">
              <a:cs typeface="Times New Roman" pitchFamily="18" charset="0"/>
            </a:endParaRPr>
          </a:p>
        </p:txBody>
      </p:sp>
      <p:sp>
        <p:nvSpPr>
          <p:cNvPr id="6" name="标题 5"/>
          <p:cNvSpPr>
            <a:spLocks noGrp="1"/>
          </p:cNvSpPr>
          <p:nvPr>
            <p:ph type="title"/>
          </p:nvPr>
        </p:nvSpPr>
        <p:spPr/>
        <p:txBody>
          <a:bodyPr/>
          <a:lstStyle/>
          <a:p>
            <a:r>
              <a:rPr lang="en-US" altLang="zh-CN" b="1" dirty="0">
                <a:solidFill>
                  <a:srgbClr val="0033CC"/>
                </a:solidFill>
                <a:cs typeface="Times New Roman" pitchFamily="18" charset="0"/>
              </a:rPr>
              <a:t>abstract</a:t>
            </a:r>
            <a:r>
              <a:rPr lang="zh-CN" altLang="en-US" b="1" dirty="0">
                <a:solidFill>
                  <a:srgbClr val="0033CC"/>
                </a:solidFill>
                <a:cs typeface="Times New Roman" pitchFamily="18" charset="0"/>
              </a:rPr>
              <a:t>关键字</a:t>
            </a:r>
            <a:endParaRPr lang="zh-CN" altLang="en-US"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灯片编号占位符 5"/>
          <p:cNvSpPr>
            <a:spLocks noGrp="1"/>
          </p:cNvSpPr>
          <p:nvPr>
            <p:ph type="sldNum" sz="quarter" idx="4294967295"/>
          </p:nvPr>
        </p:nvSpPr>
        <p:spPr>
          <a:xfrm>
            <a:off x="6589713" y="6376988"/>
            <a:ext cx="2193925" cy="457200"/>
          </a:xfrm>
          <a:prstGeom prst="rect">
            <a:avLst/>
          </a:prstGeom>
          <a:noFill/>
        </p:spPr>
        <p:txBody>
          <a:bodyPr/>
          <a:lstStyle/>
          <a:p>
            <a:fld id="{CF810EB7-C4F3-4736-AA00-1B5540AB931B}" type="slidenum">
              <a:rPr lang="en-US" altLang="zh-CN"/>
              <a:pPr/>
              <a:t>84</a:t>
            </a:fld>
            <a:endParaRPr lang="en-US" altLang="zh-CN"/>
          </a:p>
        </p:txBody>
      </p:sp>
      <p:sp>
        <p:nvSpPr>
          <p:cNvPr id="4102" name="Rectangle 4"/>
          <p:cNvSpPr>
            <a:spLocks noGrp="1" noChangeArrowheads="1"/>
          </p:cNvSpPr>
          <p:nvPr>
            <p:ph type="body" idx="1"/>
          </p:nvPr>
        </p:nvSpPr>
        <p:spPr>
          <a:xfrm>
            <a:off x="533400" y="1628800"/>
            <a:ext cx="8610600" cy="4719637"/>
          </a:xfrm>
        </p:spPr>
        <p:txBody>
          <a:bodyPr/>
          <a:lstStyle/>
          <a:p>
            <a:pPr marL="609600" indent="-609600" eaLnBrk="1" hangingPunct="1">
              <a:buFont typeface="Wingdings" pitchFamily="2" charset="2"/>
              <a:buAutoNum type="arabicPeriod" startAt="2"/>
            </a:pPr>
            <a:r>
              <a:rPr lang="en-US" altLang="zh-CN" sz="3000" b="1" dirty="0">
                <a:cs typeface="Times New Roman" pitchFamily="18" charset="0"/>
              </a:rPr>
              <a:t>abstract</a:t>
            </a:r>
            <a:r>
              <a:rPr lang="zh-CN" altLang="en-US" sz="3000" b="1" dirty="0">
                <a:cs typeface="Times New Roman" pitchFamily="18" charset="0"/>
              </a:rPr>
              <a:t>方法</a:t>
            </a:r>
          </a:p>
          <a:p>
            <a:pPr marL="609600" indent="-609600" eaLnBrk="1" hangingPunct="1">
              <a:buFont typeface="Wingdings" pitchFamily="2" charset="2"/>
              <a:buNone/>
            </a:pPr>
            <a:r>
              <a:rPr lang="zh-CN" altLang="en-US" sz="3000" dirty="0"/>
              <a:t>举例：</a:t>
            </a:r>
          </a:p>
          <a:p>
            <a:pPr marL="609600" indent="-609600" eaLnBrk="1" hangingPunct="1">
              <a:buFont typeface="Wingdings" pitchFamily="2" charset="2"/>
              <a:buNone/>
            </a:pPr>
            <a:endParaRPr lang="zh-CN" altLang="en-US" sz="2800" dirty="0"/>
          </a:p>
          <a:p>
            <a:pPr marL="609600" indent="-609600" eaLnBrk="1" hangingPunct="1">
              <a:buFont typeface="Wingdings" pitchFamily="2" charset="2"/>
              <a:buNone/>
            </a:pPr>
            <a:r>
              <a:rPr lang="zh-CN" altLang="en-US" sz="2800" dirty="0">
                <a:cs typeface="Times New Roman" pitchFamily="18" charset="0"/>
              </a:rPr>
              <a:t>		</a:t>
            </a:r>
          </a:p>
          <a:p>
            <a:pPr marL="609600" indent="-609600" eaLnBrk="1" hangingPunct="1">
              <a:buFont typeface="Wingdings" pitchFamily="2" charset="2"/>
              <a:buNone/>
            </a:pPr>
            <a:endParaRPr lang="en-US" altLang="zh-CN" sz="2800" dirty="0">
              <a:cs typeface="Times New Roman" pitchFamily="18" charset="0"/>
            </a:endParaRPr>
          </a:p>
        </p:txBody>
      </p:sp>
      <p:graphicFrame>
        <p:nvGraphicFramePr>
          <p:cNvPr id="4098" name="Object 9"/>
          <p:cNvGraphicFramePr>
            <a:graphicFrameLocks noChangeAspect="1"/>
          </p:cNvGraphicFramePr>
          <p:nvPr/>
        </p:nvGraphicFramePr>
        <p:xfrm>
          <a:off x="2057400" y="3057525"/>
          <a:ext cx="5562600" cy="1438275"/>
        </p:xfrm>
        <a:graphic>
          <a:graphicData uri="http://schemas.openxmlformats.org/presentationml/2006/ole">
            <mc:AlternateContent xmlns:mc="http://schemas.openxmlformats.org/markup-compatibility/2006">
              <mc:Choice xmlns:v="urn:schemas-microsoft-com:vml" Requires="v">
                <p:oleObj spid="_x0000_s5123" name="位图图像" r:id="rId3" imgW="3952381" imgH="743054" progId="PBrush">
                  <p:embed/>
                </p:oleObj>
              </mc:Choice>
              <mc:Fallback>
                <p:oleObj name="位图图像" r:id="rId3" imgW="3952381" imgH="743054" progId="PBrush">
                  <p:embed/>
                  <p:pic>
                    <p:nvPicPr>
                      <p:cNvPr id="0"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7400" y="3057525"/>
                        <a:ext cx="5562600" cy="1438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103" name="Text Box 10"/>
          <p:cNvSpPr txBox="1">
            <a:spLocks noChangeArrowheads="1"/>
          </p:cNvSpPr>
          <p:nvPr/>
        </p:nvSpPr>
        <p:spPr bwMode="auto">
          <a:xfrm>
            <a:off x="533400" y="4869160"/>
            <a:ext cx="8001000" cy="1370013"/>
          </a:xfrm>
          <a:prstGeom prst="rect">
            <a:avLst/>
          </a:prstGeom>
          <a:noFill/>
          <a:ln w="9525">
            <a:noFill/>
            <a:miter lim="800000"/>
            <a:headEnd/>
            <a:tailEnd/>
          </a:ln>
        </p:spPr>
        <p:txBody>
          <a:bodyPr>
            <a:spAutoFit/>
          </a:bodyPr>
          <a:lstStyle/>
          <a:p>
            <a:pPr>
              <a:spcBef>
                <a:spcPct val="50000"/>
              </a:spcBef>
            </a:pPr>
            <a:r>
              <a:rPr lang="en-US" altLang="zh-CN" b="1" dirty="0"/>
              <a:t>Graphic  share certain states (position, bounding box) and behavior (move, resize, draw). </a:t>
            </a:r>
          </a:p>
          <a:p>
            <a:pPr>
              <a:spcBef>
                <a:spcPct val="50000"/>
              </a:spcBef>
            </a:pPr>
            <a:endParaRPr lang="en-US" altLang="zh-CN" b="1" dirty="0"/>
          </a:p>
        </p:txBody>
      </p:sp>
      <p:sp>
        <p:nvSpPr>
          <p:cNvPr id="8" name="标题 7"/>
          <p:cNvSpPr>
            <a:spLocks noGrp="1"/>
          </p:cNvSpPr>
          <p:nvPr>
            <p:ph type="title"/>
          </p:nvPr>
        </p:nvSpPr>
        <p:spPr/>
        <p:txBody>
          <a:bodyPr/>
          <a:lstStyle/>
          <a:p>
            <a:r>
              <a:rPr lang="en-US" altLang="zh-CN" b="1" dirty="0">
                <a:solidFill>
                  <a:srgbClr val="0033CC"/>
                </a:solidFill>
                <a:cs typeface="Times New Roman" pitchFamily="18" charset="0"/>
              </a:rPr>
              <a:t>abstract</a:t>
            </a:r>
            <a:r>
              <a:rPr lang="zh-CN" altLang="en-US" b="1" dirty="0">
                <a:solidFill>
                  <a:srgbClr val="0033CC"/>
                </a:solidFill>
                <a:cs typeface="Times New Roman" pitchFamily="18" charset="0"/>
              </a:rPr>
              <a:t>关键字</a:t>
            </a:r>
            <a:endParaRPr lang="zh-CN" altLang="en-US"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灯片编号占位符 5"/>
          <p:cNvSpPr>
            <a:spLocks noGrp="1"/>
          </p:cNvSpPr>
          <p:nvPr>
            <p:ph type="sldNum" sz="quarter" idx="4294967295"/>
          </p:nvPr>
        </p:nvSpPr>
        <p:spPr>
          <a:xfrm>
            <a:off x="6589713" y="6376988"/>
            <a:ext cx="2193925" cy="457200"/>
          </a:xfrm>
          <a:prstGeom prst="rect">
            <a:avLst/>
          </a:prstGeom>
          <a:noFill/>
        </p:spPr>
        <p:txBody>
          <a:bodyPr/>
          <a:lstStyle/>
          <a:p>
            <a:fld id="{8530598B-15B2-4CF2-9C7E-13AAFC007E2F}" type="slidenum">
              <a:rPr lang="en-US" altLang="zh-CN"/>
              <a:pPr/>
              <a:t>85</a:t>
            </a:fld>
            <a:endParaRPr lang="en-US" altLang="zh-CN"/>
          </a:p>
        </p:txBody>
      </p:sp>
      <p:sp>
        <p:nvSpPr>
          <p:cNvPr id="106501" name="Rectangle 4"/>
          <p:cNvSpPr>
            <a:spLocks noGrp="1" noChangeArrowheads="1"/>
          </p:cNvSpPr>
          <p:nvPr>
            <p:ph type="body" idx="1"/>
          </p:nvPr>
        </p:nvSpPr>
        <p:spPr>
          <a:xfrm>
            <a:off x="533400" y="1628800"/>
            <a:ext cx="8610600" cy="4719637"/>
          </a:xfrm>
        </p:spPr>
        <p:txBody>
          <a:bodyPr/>
          <a:lstStyle/>
          <a:p>
            <a:pPr marL="609600" indent="-609600" eaLnBrk="1" hangingPunct="1">
              <a:buFont typeface="Wingdings" pitchFamily="2" charset="2"/>
              <a:buAutoNum type="arabicPeriod" startAt="2"/>
            </a:pPr>
            <a:r>
              <a:rPr lang="en-US" altLang="zh-CN" sz="3000" b="1" dirty="0">
                <a:cs typeface="Times New Roman" pitchFamily="18" charset="0"/>
              </a:rPr>
              <a:t>abstract</a:t>
            </a:r>
            <a:r>
              <a:rPr lang="zh-CN" altLang="en-US" sz="3000" b="1" dirty="0">
                <a:cs typeface="Times New Roman" pitchFamily="18" charset="0"/>
              </a:rPr>
              <a:t>方法</a:t>
            </a:r>
          </a:p>
          <a:p>
            <a:pPr marL="609600" indent="-609600" eaLnBrk="1" hangingPunct="1">
              <a:buFont typeface="Wingdings" pitchFamily="2" charset="2"/>
              <a:buNone/>
            </a:pPr>
            <a:r>
              <a:rPr lang="zh-CN" altLang="en-US" sz="3000" dirty="0"/>
              <a:t>举例：</a:t>
            </a:r>
          </a:p>
          <a:p>
            <a:pPr marL="609600" indent="-609600" eaLnBrk="1" hangingPunct="1">
              <a:buFont typeface="Wingdings" pitchFamily="2" charset="2"/>
              <a:buNone/>
            </a:pPr>
            <a:endParaRPr lang="zh-CN" altLang="en-US" sz="2800" dirty="0"/>
          </a:p>
          <a:p>
            <a:pPr marL="609600" indent="-609600" eaLnBrk="1" hangingPunct="1">
              <a:buFont typeface="Wingdings" pitchFamily="2" charset="2"/>
              <a:buNone/>
            </a:pPr>
            <a:r>
              <a:rPr lang="zh-CN" altLang="en-US" sz="2800" dirty="0">
                <a:cs typeface="Times New Roman" pitchFamily="18" charset="0"/>
              </a:rPr>
              <a:t>		</a:t>
            </a:r>
          </a:p>
          <a:p>
            <a:pPr marL="609600" indent="-609600" eaLnBrk="1" hangingPunct="1">
              <a:buFont typeface="Wingdings" pitchFamily="2" charset="2"/>
              <a:buNone/>
            </a:pPr>
            <a:endParaRPr lang="en-US" altLang="zh-CN" sz="2800" dirty="0">
              <a:cs typeface="Times New Roman" pitchFamily="18" charset="0"/>
            </a:endParaRPr>
          </a:p>
        </p:txBody>
      </p:sp>
      <p:sp>
        <p:nvSpPr>
          <p:cNvPr id="106502" name="Rectangle 8"/>
          <p:cNvSpPr>
            <a:spLocks noChangeArrowheads="1"/>
          </p:cNvSpPr>
          <p:nvPr/>
        </p:nvSpPr>
        <p:spPr bwMode="auto">
          <a:xfrm>
            <a:off x="1860376" y="2852936"/>
            <a:ext cx="6096000" cy="2313710"/>
          </a:xfrm>
          <a:prstGeom prst="rect">
            <a:avLst/>
          </a:prstGeom>
          <a:noFill/>
          <a:ln w="9525">
            <a:noFill/>
            <a:miter lim="800000"/>
            <a:headEnd/>
            <a:tailEnd/>
          </a:ln>
        </p:spPr>
        <p:txBody>
          <a:bodyPr>
            <a:spAutoFit/>
          </a:bodyPr>
          <a:lstStyle/>
          <a:p>
            <a:pPr>
              <a:lnSpc>
                <a:spcPct val="30000"/>
              </a:lnSpc>
              <a:spcBef>
                <a:spcPct val="50000"/>
              </a:spcBef>
            </a:pPr>
            <a:r>
              <a:rPr lang="en-US" altLang="zh-CN" sz="2400" b="1" dirty="0"/>
              <a:t>abstract class GraphicObject {</a:t>
            </a:r>
          </a:p>
          <a:p>
            <a:pPr>
              <a:lnSpc>
                <a:spcPct val="30000"/>
              </a:lnSpc>
              <a:spcBef>
                <a:spcPct val="50000"/>
              </a:spcBef>
            </a:pPr>
            <a:r>
              <a:rPr lang="en-US" altLang="zh-CN" sz="2400" b="1" dirty="0"/>
              <a:t>    int x, y;</a:t>
            </a:r>
          </a:p>
          <a:p>
            <a:pPr>
              <a:lnSpc>
                <a:spcPct val="30000"/>
              </a:lnSpc>
              <a:spcBef>
                <a:spcPct val="50000"/>
              </a:spcBef>
            </a:pPr>
            <a:r>
              <a:rPr lang="en-US" altLang="zh-CN" sz="2400" b="1" dirty="0"/>
              <a:t>    . . .</a:t>
            </a:r>
          </a:p>
          <a:p>
            <a:pPr>
              <a:lnSpc>
                <a:spcPct val="30000"/>
              </a:lnSpc>
              <a:spcBef>
                <a:spcPct val="50000"/>
              </a:spcBef>
            </a:pPr>
            <a:r>
              <a:rPr lang="en-US" altLang="zh-CN" sz="2400" b="1" dirty="0"/>
              <a:t>    void moveTo(int newX, int newY) {</a:t>
            </a:r>
          </a:p>
          <a:p>
            <a:pPr>
              <a:lnSpc>
                <a:spcPct val="30000"/>
              </a:lnSpc>
              <a:spcBef>
                <a:spcPct val="50000"/>
              </a:spcBef>
            </a:pPr>
            <a:r>
              <a:rPr lang="en-US" altLang="zh-CN" sz="2400" b="1" dirty="0"/>
              <a:t>        . . .</a:t>
            </a:r>
          </a:p>
          <a:p>
            <a:pPr>
              <a:lnSpc>
                <a:spcPct val="30000"/>
              </a:lnSpc>
              <a:spcBef>
                <a:spcPct val="50000"/>
              </a:spcBef>
            </a:pPr>
            <a:r>
              <a:rPr lang="en-US" altLang="zh-CN" sz="2400" b="1" dirty="0"/>
              <a:t>    }</a:t>
            </a:r>
          </a:p>
          <a:p>
            <a:pPr>
              <a:lnSpc>
                <a:spcPct val="30000"/>
              </a:lnSpc>
              <a:spcBef>
                <a:spcPct val="50000"/>
              </a:spcBef>
            </a:pPr>
            <a:r>
              <a:rPr lang="en-US" altLang="zh-CN" sz="2400" b="1" dirty="0"/>
              <a:t>    abstract void draw();</a:t>
            </a:r>
          </a:p>
          <a:p>
            <a:pPr>
              <a:lnSpc>
                <a:spcPct val="30000"/>
              </a:lnSpc>
              <a:spcBef>
                <a:spcPct val="50000"/>
              </a:spcBef>
            </a:pPr>
            <a:r>
              <a:rPr lang="en-US" altLang="zh-CN" sz="2400" b="1" dirty="0"/>
              <a:t>}</a:t>
            </a:r>
          </a:p>
        </p:txBody>
      </p:sp>
      <p:sp>
        <p:nvSpPr>
          <p:cNvPr id="7" name="标题 6"/>
          <p:cNvSpPr>
            <a:spLocks noGrp="1"/>
          </p:cNvSpPr>
          <p:nvPr>
            <p:ph type="title"/>
          </p:nvPr>
        </p:nvSpPr>
        <p:spPr/>
        <p:txBody>
          <a:bodyPr/>
          <a:lstStyle/>
          <a:p>
            <a:r>
              <a:rPr lang="en-US" altLang="zh-CN" b="1" dirty="0">
                <a:solidFill>
                  <a:srgbClr val="0033CC"/>
                </a:solidFill>
                <a:cs typeface="Times New Roman" pitchFamily="18" charset="0"/>
              </a:rPr>
              <a:t>abstract</a:t>
            </a:r>
            <a:r>
              <a:rPr lang="zh-CN" altLang="en-US" b="1" dirty="0">
                <a:solidFill>
                  <a:srgbClr val="0033CC"/>
                </a:solidFill>
                <a:cs typeface="Times New Roman" pitchFamily="18" charset="0"/>
              </a:rPr>
              <a:t>关键字</a:t>
            </a:r>
            <a:endParaRPr lang="zh-CN" altLang="en-US"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5" name="Rectangle 4"/>
          <p:cNvSpPr>
            <a:spLocks noGrp="1" noChangeArrowheads="1"/>
          </p:cNvSpPr>
          <p:nvPr>
            <p:ph type="body" idx="1"/>
          </p:nvPr>
        </p:nvSpPr>
        <p:spPr>
          <a:xfrm>
            <a:off x="533400" y="1556792"/>
            <a:ext cx="8610600" cy="4719637"/>
          </a:xfrm>
        </p:spPr>
        <p:txBody>
          <a:bodyPr/>
          <a:lstStyle/>
          <a:p>
            <a:pPr marL="609600" indent="-609600" eaLnBrk="1" hangingPunct="1">
              <a:buFont typeface="Wingdings" pitchFamily="2" charset="2"/>
              <a:buAutoNum type="arabicPeriod" startAt="2"/>
            </a:pPr>
            <a:r>
              <a:rPr lang="en-US" altLang="zh-CN" sz="3000" b="1" dirty="0">
                <a:cs typeface="Times New Roman" pitchFamily="18" charset="0"/>
              </a:rPr>
              <a:t>abstract</a:t>
            </a:r>
            <a:r>
              <a:rPr lang="zh-CN" altLang="en-US" sz="3000" b="1" dirty="0">
                <a:cs typeface="Times New Roman" pitchFamily="18" charset="0"/>
              </a:rPr>
              <a:t>方法</a:t>
            </a:r>
          </a:p>
          <a:p>
            <a:pPr marL="609600" indent="-609600" eaLnBrk="1" hangingPunct="1">
              <a:buFont typeface="Wingdings" pitchFamily="2" charset="2"/>
              <a:buNone/>
            </a:pPr>
            <a:r>
              <a:rPr lang="zh-CN" altLang="en-US" sz="3000" dirty="0"/>
              <a:t>举例：</a:t>
            </a:r>
          </a:p>
          <a:p>
            <a:pPr marL="609600" indent="-609600" eaLnBrk="1" hangingPunct="1">
              <a:buFont typeface="Wingdings" pitchFamily="2" charset="2"/>
              <a:buNone/>
            </a:pPr>
            <a:endParaRPr lang="zh-CN" altLang="en-US" sz="2800" dirty="0"/>
          </a:p>
          <a:p>
            <a:pPr marL="609600" indent="-609600" eaLnBrk="1" hangingPunct="1">
              <a:buFont typeface="Wingdings" pitchFamily="2" charset="2"/>
              <a:buNone/>
            </a:pPr>
            <a:r>
              <a:rPr lang="zh-CN" altLang="en-US" sz="2800" dirty="0">
                <a:cs typeface="Times New Roman" pitchFamily="18" charset="0"/>
              </a:rPr>
              <a:t>		</a:t>
            </a:r>
          </a:p>
          <a:p>
            <a:pPr marL="609600" indent="-609600" eaLnBrk="1" hangingPunct="1">
              <a:buFont typeface="Wingdings" pitchFamily="2" charset="2"/>
              <a:buNone/>
            </a:pPr>
            <a:endParaRPr lang="en-US" altLang="zh-CN" sz="2800" dirty="0">
              <a:cs typeface="Times New Roman" pitchFamily="18" charset="0"/>
            </a:endParaRPr>
          </a:p>
        </p:txBody>
      </p:sp>
      <p:sp>
        <p:nvSpPr>
          <p:cNvPr id="107526" name="Rectangle 7"/>
          <p:cNvSpPr>
            <a:spLocks noChangeArrowheads="1"/>
          </p:cNvSpPr>
          <p:nvPr/>
        </p:nvSpPr>
        <p:spPr bwMode="auto">
          <a:xfrm>
            <a:off x="1691680" y="2564904"/>
            <a:ext cx="6934200" cy="3624838"/>
          </a:xfrm>
          <a:prstGeom prst="rect">
            <a:avLst/>
          </a:prstGeom>
          <a:noFill/>
          <a:ln w="9525">
            <a:noFill/>
            <a:miter lim="800000"/>
            <a:headEnd/>
            <a:tailEnd/>
          </a:ln>
        </p:spPr>
        <p:txBody>
          <a:bodyPr>
            <a:spAutoFit/>
          </a:bodyPr>
          <a:lstStyle/>
          <a:p>
            <a:pPr>
              <a:lnSpc>
                <a:spcPct val="50000"/>
              </a:lnSpc>
              <a:spcBef>
                <a:spcPct val="50000"/>
              </a:spcBef>
            </a:pPr>
            <a:r>
              <a:rPr lang="en-US" altLang="zh-CN" sz="2400" b="1"/>
              <a:t>class Circle extends GraphicObject {</a:t>
            </a:r>
          </a:p>
          <a:p>
            <a:pPr>
              <a:lnSpc>
                <a:spcPct val="50000"/>
              </a:lnSpc>
              <a:spcBef>
                <a:spcPct val="50000"/>
              </a:spcBef>
            </a:pPr>
            <a:r>
              <a:rPr lang="en-US" altLang="zh-CN" sz="2400" b="1"/>
              <a:t>    void draw() {</a:t>
            </a:r>
          </a:p>
          <a:p>
            <a:pPr>
              <a:lnSpc>
                <a:spcPct val="50000"/>
              </a:lnSpc>
              <a:spcBef>
                <a:spcPct val="50000"/>
              </a:spcBef>
            </a:pPr>
            <a:r>
              <a:rPr lang="en-US" altLang="zh-CN" sz="2400" b="1"/>
              <a:t>        . . .</a:t>
            </a:r>
          </a:p>
          <a:p>
            <a:pPr>
              <a:lnSpc>
                <a:spcPct val="50000"/>
              </a:lnSpc>
              <a:spcBef>
                <a:spcPct val="50000"/>
              </a:spcBef>
            </a:pPr>
            <a:r>
              <a:rPr lang="en-US" altLang="zh-CN" sz="2400" b="1"/>
              <a:t>    }</a:t>
            </a:r>
          </a:p>
          <a:p>
            <a:pPr>
              <a:lnSpc>
                <a:spcPct val="50000"/>
              </a:lnSpc>
              <a:spcBef>
                <a:spcPct val="50000"/>
              </a:spcBef>
            </a:pPr>
            <a:r>
              <a:rPr lang="en-US" altLang="zh-CN" sz="2400" b="1"/>
              <a:t>}</a:t>
            </a:r>
          </a:p>
          <a:p>
            <a:pPr>
              <a:lnSpc>
                <a:spcPct val="50000"/>
              </a:lnSpc>
              <a:spcBef>
                <a:spcPct val="50000"/>
              </a:spcBef>
            </a:pPr>
            <a:r>
              <a:rPr lang="en-US" altLang="zh-CN" sz="2400" b="1"/>
              <a:t>class Rectangle extends GraphicObject {</a:t>
            </a:r>
          </a:p>
          <a:p>
            <a:pPr>
              <a:lnSpc>
                <a:spcPct val="50000"/>
              </a:lnSpc>
              <a:spcBef>
                <a:spcPct val="50000"/>
              </a:spcBef>
            </a:pPr>
            <a:r>
              <a:rPr lang="en-US" altLang="zh-CN" sz="2400" b="1"/>
              <a:t>    void draw() {</a:t>
            </a:r>
          </a:p>
          <a:p>
            <a:pPr>
              <a:lnSpc>
                <a:spcPct val="50000"/>
              </a:lnSpc>
              <a:spcBef>
                <a:spcPct val="50000"/>
              </a:spcBef>
            </a:pPr>
            <a:r>
              <a:rPr lang="en-US" altLang="zh-CN" sz="2400" b="1"/>
              <a:t>        . . .</a:t>
            </a:r>
          </a:p>
          <a:p>
            <a:pPr>
              <a:lnSpc>
                <a:spcPct val="50000"/>
              </a:lnSpc>
              <a:spcBef>
                <a:spcPct val="50000"/>
              </a:spcBef>
            </a:pPr>
            <a:r>
              <a:rPr lang="en-US" altLang="zh-CN" sz="2400" b="1"/>
              <a:t>   }</a:t>
            </a:r>
          </a:p>
          <a:p>
            <a:pPr>
              <a:lnSpc>
                <a:spcPct val="50000"/>
              </a:lnSpc>
              <a:spcBef>
                <a:spcPct val="50000"/>
              </a:spcBef>
            </a:pPr>
            <a:r>
              <a:rPr lang="en-US" altLang="zh-CN" sz="2400" b="1"/>
              <a:t>}</a:t>
            </a:r>
          </a:p>
        </p:txBody>
      </p:sp>
      <p:sp>
        <p:nvSpPr>
          <p:cNvPr id="7" name="标题 6"/>
          <p:cNvSpPr>
            <a:spLocks noGrp="1"/>
          </p:cNvSpPr>
          <p:nvPr>
            <p:ph type="title"/>
          </p:nvPr>
        </p:nvSpPr>
        <p:spPr/>
        <p:txBody>
          <a:bodyPr/>
          <a:lstStyle/>
          <a:p>
            <a:r>
              <a:rPr lang="en-US" altLang="zh-CN" b="1" dirty="0">
                <a:solidFill>
                  <a:srgbClr val="0033CC"/>
                </a:solidFill>
                <a:cs typeface="Times New Roman" pitchFamily="18" charset="0"/>
              </a:rPr>
              <a:t>abstract</a:t>
            </a:r>
            <a:r>
              <a:rPr lang="zh-CN" altLang="en-US" b="1" dirty="0">
                <a:solidFill>
                  <a:srgbClr val="0033CC"/>
                </a:solidFill>
                <a:cs typeface="Times New Roman" pitchFamily="18" charset="0"/>
              </a:rPr>
              <a:t>关键字</a:t>
            </a:r>
            <a:endParaRPr lang="zh-CN" altLang="en-US"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6" name="Rectangle 4"/>
          <p:cNvSpPr>
            <a:spLocks noGrp="1" noChangeArrowheads="1"/>
          </p:cNvSpPr>
          <p:nvPr>
            <p:ph type="body" idx="1"/>
          </p:nvPr>
        </p:nvSpPr>
        <p:spPr>
          <a:xfrm>
            <a:off x="395536" y="1733699"/>
            <a:ext cx="8610600" cy="4719637"/>
          </a:xfrm>
        </p:spPr>
        <p:txBody>
          <a:bodyPr/>
          <a:lstStyle/>
          <a:p>
            <a:pPr marL="609600" indent="-609600" eaLnBrk="1" hangingPunct="1">
              <a:buFont typeface="Wingdings" pitchFamily="2" charset="2"/>
              <a:buAutoNum type="arabicPeriod" startAt="2"/>
            </a:pPr>
            <a:r>
              <a:rPr lang="en-US" altLang="zh-CN" sz="3000" b="1" dirty="0">
                <a:cs typeface="Times New Roman" pitchFamily="18" charset="0"/>
              </a:rPr>
              <a:t>abstract</a:t>
            </a:r>
            <a:r>
              <a:rPr lang="zh-CN" altLang="en-US" sz="3000" b="1" dirty="0">
                <a:cs typeface="Times New Roman" pitchFamily="18" charset="0"/>
              </a:rPr>
              <a:t>方法</a:t>
            </a:r>
            <a:r>
              <a:rPr lang="en-US" altLang="zh-CN" sz="2800" dirty="0">
                <a:cs typeface="Times New Roman" pitchFamily="18" charset="0"/>
              </a:rPr>
              <a:t>		</a:t>
            </a:r>
          </a:p>
          <a:p>
            <a:pPr marL="609600" indent="-609600" eaLnBrk="1" hangingPunct="1">
              <a:buFont typeface="Wingdings" pitchFamily="2" charset="2"/>
              <a:buNone/>
            </a:pPr>
            <a:endParaRPr lang="en-US" altLang="zh-CN" sz="2800" dirty="0">
              <a:cs typeface="Times New Roman" pitchFamily="18" charset="0"/>
            </a:endParaRPr>
          </a:p>
        </p:txBody>
      </p:sp>
      <p:graphicFrame>
        <p:nvGraphicFramePr>
          <p:cNvPr id="5122" name="Object 6"/>
          <p:cNvGraphicFramePr>
            <a:graphicFrameLocks noChangeAspect="1"/>
          </p:cNvGraphicFramePr>
          <p:nvPr/>
        </p:nvGraphicFramePr>
        <p:xfrm>
          <a:off x="2209800" y="2636912"/>
          <a:ext cx="4800600" cy="2362200"/>
        </p:xfrm>
        <a:graphic>
          <a:graphicData uri="http://schemas.openxmlformats.org/presentationml/2006/ole">
            <mc:AlternateContent xmlns:mc="http://schemas.openxmlformats.org/markup-compatibility/2006">
              <mc:Choice xmlns:v="urn:schemas-microsoft-com:vml" Requires="v">
                <p:oleObj spid="_x0000_s6147" name="位图图像" r:id="rId3" imgW="3000000" imgH="1895238" progId="PBrush">
                  <p:embed/>
                </p:oleObj>
              </mc:Choice>
              <mc:Fallback>
                <p:oleObj name="位图图像" r:id="rId3" imgW="3000000" imgH="1895238" progId="PBrush">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09800" y="2636912"/>
                        <a:ext cx="4800600" cy="2362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 name="标题 6"/>
          <p:cNvSpPr>
            <a:spLocks noGrp="1"/>
          </p:cNvSpPr>
          <p:nvPr>
            <p:ph type="title"/>
          </p:nvPr>
        </p:nvSpPr>
        <p:spPr/>
        <p:txBody>
          <a:bodyPr/>
          <a:lstStyle/>
          <a:p>
            <a:r>
              <a:rPr lang="en-US" altLang="zh-CN" b="1" dirty="0">
                <a:solidFill>
                  <a:srgbClr val="0033CC"/>
                </a:solidFill>
                <a:cs typeface="Times New Roman" pitchFamily="18" charset="0"/>
              </a:rPr>
              <a:t>abstract</a:t>
            </a:r>
            <a:r>
              <a:rPr lang="zh-CN" altLang="en-US" b="1" dirty="0">
                <a:solidFill>
                  <a:srgbClr val="0033CC"/>
                </a:solidFill>
                <a:cs typeface="Times New Roman" pitchFamily="18" charset="0"/>
              </a:rPr>
              <a:t>关键字</a:t>
            </a:r>
            <a:endParaRPr lang="zh-CN" altLang="en-US" dirty="0"/>
          </a:p>
        </p:txBody>
      </p:sp>
    </p:spTree>
  </p:cSld>
  <p:clrMapOvr>
    <a:masterClrMapping/>
  </p:clrMapOvr>
</p:sld>
</file>

<file path=ppt/theme/theme1.xml><?xml version="1.0" encoding="utf-8"?>
<a:theme xmlns:a="http://schemas.openxmlformats.org/drawingml/2006/main" name="12月1日微博平台">
  <a:themeElements>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跋涉">
      <a:majorFont>
        <a:latin typeface="Franklin Gothic Medium"/>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Franklin Gothic Book"/>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Profile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Profile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Profile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Profile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Profile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Profile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Profile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Profile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12月1日微博平台</Template>
  <TotalTime>221</TotalTime>
  <Words>4816</Words>
  <Application>Microsoft Macintosh PowerPoint</Application>
  <PresentationFormat>全屏显示(4:3)</PresentationFormat>
  <Paragraphs>693</Paragraphs>
  <Slides>87</Slides>
  <Notes>1</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1</vt:i4>
      </vt:variant>
      <vt:variant>
        <vt:lpstr>幻灯片标题</vt:lpstr>
      </vt:variant>
      <vt:variant>
        <vt:i4>87</vt:i4>
      </vt:variant>
    </vt:vector>
  </HeadingPairs>
  <TitlesOfParts>
    <vt:vector size="100" baseType="lpstr">
      <vt:lpstr>宋体</vt:lpstr>
      <vt:lpstr>Arial Unicode MS</vt:lpstr>
      <vt:lpstr>BIEGHZ+Palatino-Roman</vt:lpstr>
      <vt:lpstr>Harlow Solid Italic</vt:lpstr>
      <vt:lpstr>Arial</vt:lpstr>
      <vt:lpstr>Calibri</vt:lpstr>
      <vt:lpstr>Courier</vt:lpstr>
      <vt:lpstr>Franklin Gothic Book</vt:lpstr>
      <vt:lpstr>Franklin Gothic Medium</vt:lpstr>
      <vt:lpstr>Verdana</vt:lpstr>
      <vt:lpstr>Wingdings</vt:lpstr>
      <vt:lpstr>12月1日微博平台</vt:lpstr>
      <vt:lpstr>位图图像</vt:lpstr>
      <vt:lpstr>继承与多态</vt:lpstr>
      <vt:lpstr>PowerPoint 演示文稿</vt:lpstr>
      <vt:lpstr>对象的生命周期</vt:lpstr>
      <vt:lpstr>对象的生命周期</vt:lpstr>
      <vt:lpstr>创建对象</vt:lpstr>
      <vt:lpstr>创建对象</vt:lpstr>
      <vt:lpstr>创建对象</vt:lpstr>
      <vt:lpstr>2. 对象的使用</vt:lpstr>
      <vt:lpstr> 2.对象的使用</vt:lpstr>
      <vt:lpstr>2. 对象的使用</vt:lpstr>
      <vt:lpstr>3.  清除对象</vt:lpstr>
      <vt:lpstr>3.清除对象</vt:lpstr>
      <vt:lpstr>3.  清除对象</vt:lpstr>
      <vt:lpstr> 类声明 </vt:lpstr>
      <vt:lpstr>类声明</vt:lpstr>
      <vt:lpstr> 类体 </vt:lpstr>
      <vt:lpstr>类体</vt:lpstr>
      <vt:lpstr>类体</vt:lpstr>
      <vt:lpstr>类体</vt:lpstr>
      <vt:lpstr>类体 </vt:lpstr>
      <vt:lpstr>类体 </vt:lpstr>
      <vt:lpstr>类体</vt:lpstr>
      <vt:lpstr> 类体 </vt:lpstr>
      <vt:lpstr>类体</vt:lpstr>
      <vt:lpstr>PowerPoint 演示文稿</vt:lpstr>
      <vt:lpstr>类体</vt:lpstr>
      <vt:lpstr>类体</vt:lpstr>
      <vt:lpstr>类体</vt:lpstr>
      <vt:lpstr>类体</vt:lpstr>
      <vt:lpstr>类体: 方法的实现 </vt:lpstr>
      <vt:lpstr>类体</vt:lpstr>
      <vt:lpstr>类体</vt:lpstr>
      <vt:lpstr>包的创建和使用</vt:lpstr>
      <vt:lpstr>使用包的好处</vt:lpstr>
      <vt:lpstr>创建包</vt:lpstr>
      <vt:lpstr>创建包</vt:lpstr>
      <vt:lpstr>包的使用</vt:lpstr>
      <vt:lpstr>包的使用</vt:lpstr>
      <vt:lpstr>包的使用</vt:lpstr>
      <vt:lpstr>包的使用</vt:lpstr>
      <vt:lpstr>包的使用</vt:lpstr>
      <vt:lpstr>包的使用</vt:lpstr>
      <vt:lpstr>包的使用</vt:lpstr>
      <vt:lpstr>包的使用</vt:lpstr>
      <vt:lpstr>包的使用</vt:lpstr>
      <vt:lpstr>类成员的访问控制</vt:lpstr>
      <vt:lpstr>继 承</vt:lpstr>
      <vt:lpstr>理解继承</vt:lpstr>
      <vt:lpstr>父类、子类和继承</vt:lpstr>
      <vt:lpstr>父类、子类和继承</vt:lpstr>
      <vt:lpstr>父类、子类和继承</vt:lpstr>
      <vt:lpstr>PowerPoint 演示文稿</vt:lpstr>
      <vt:lpstr>父类、子类和继承</vt:lpstr>
      <vt:lpstr>父类、子类和继承</vt:lpstr>
      <vt:lpstr>父类、子类和继承</vt:lpstr>
      <vt:lpstr>成员变量的隐藏和方法的重写</vt:lpstr>
      <vt:lpstr>成员变量的隐藏和方法的重写</vt:lpstr>
      <vt:lpstr>成员变量的隐藏和方法的重写</vt:lpstr>
      <vt:lpstr>例题：方法的重写</vt:lpstr>
      <vt:lpstr>成员变量的隐藏和方法的重写</vt:lpstr>
      <vt:lpstr>super 关键字</vt:lpstr>
      <vt:lpstr>super 关键字</vt:lpstr>
      <vt:lpstr>super 关键字</vt:lpstr>
      <vt:lpstr>方法的重载（overloading）</vt:lpstr>
      <vt:lpstr>方法的重载（overloading）</vt:lpstr>
      <vt:lpstr>运行时多态（对象多态）</vt:lpstr>
      <vt:lpstr>对象的多态</vt:lpstr>
      <vt:lpstr>PowerPoint 演示文稿</vt:lpstr>
      <vt:lpstr>PowerPoint 演示文稿</vt:lpstr>
      <vt:lpstr>instanceof 操作符</vt:lpstr>
      <vt:lpstr>类 jave.lang.Object</vt:lpstr>
      <vt:lpstr>类 jave.lang.Object</vt:lpstr>
      <vt:lpstr>equals()</vt:lpstr>
      <vt:lpstr>getClass()</vt:lpstr>
      <vt:lpstr>getClass()</vt:lpstr>
      <vt:lpstr>toString( )</vt:lpstr>
      <vt:lpstr> final关键字：数据、方法和类</vt:lpstr>
      <vt:lpstr> final关键字：数据、方法和类</vt:lpstr>
      <vt:lpstr> final关键字：数据、方法和类</vt:lpstr>
      <vt:lpstr> final关键字：数据、方法和类</vt:lpstr>
      <vt:lpstr> final关键字：数据、方法和类</vt:lpstr>
      <vt:lpstr>abstract关键字</vt:lpstr>
      <vt:lpstr>abstract关键字</vt:lpstr>
      <vt:lpstr>abstract关键字</vt:lpstr>
      <vt:lpstr>abstract关键字</vt:lpstr>
      <vt:lpstr>abstract关键字</vt:lpstr>
      <vt:lpstr>abstract关键字</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微博平台上用户影响力与信息传播</dc:title>
  <dc:creator>caihongsun</dc:creator>
  <cp:lastModifiedBy>Microsoft Office User</cp:lastModifiedBy>
  <cp:revision>54</cp:revision>
  <dcterms:created xsi:type="dcterms:W3CDTF">2012-04-11T04:36:32Z</dcterms:created>
  <dcterms:modified xsi:type="dcterms:W3CDTF">2024-03-12T02:57:48Z</dcterms:modified>
</cp:coreProperties>
</file>