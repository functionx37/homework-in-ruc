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33"/>
  </p:notes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9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6" r:id="rId27"/>
    <p:sldId id="282" r:id="rId28"/>
    <p:sldId id="284" r:id="rId29"/>
    <p:sldId id="287" r:id="rId30"/>
    <p:sldId id="283" r:id="rId31"/>
    <p:sldId id="288" r:id="rId3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3225"/>
  </p:normalViewPr>
  <p:slideViewPr>
    <p:cSldViewPr>
      <p:cViewPr varScale="1">
        <p:scale>
          <a:sx n="93" d="100"/>
          <a:sy n="93" d="100"/>
        </p:scale>
        <p:origin x="16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18277-68DD-2649-9AF6-0FFD4BA638D5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4AF6E-C25D-3C42-BA4A-6BDFC164CA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3832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4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4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D0093-576E-467B-B962-99E1A744E17E}" type="datetimeFigureOut">
              <a:rPr lang="zh-CN" altLang="en-US"/>
              <a:pPr>
                <a:defRPr/>
              </a:pPr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A8581-4873-47CA-8339-DD7371799E8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6D08D-254E-4C16-9BDD-2CB403A3435F}" type="datetimeFigureOut">
              <a:rPr lang="zh-CN" altLang="en-US"/>
              <a:pPr>
                <a:defRPr/>
              </a:pPr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B5DAA-F314-4201-A885-F94350C78D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DD86F-CDAF-474B-9FB2-89F4E1DB95B0}" type="datetimeFigureOut">
              <a:rPr lang="zh-CN" altLang="en-US"/>
              <a:pPr>
                <a:defRPr/>
              </a:pPr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F9244-E492-4E7F-8014-C42AB6E22D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D1C718-00B4-4F2E-8B01-D394E45EC67A}" type="datetimeFigureOut">
              <a:rPr lang="zh-CN" altLang="en-US"/>
              <a:pPr>
                <a:defRPr/>
              </a:pPr>
              <a:t>2026/4/7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F9A6D-C430-4B93-AE78-0A62FBBD8F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3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C617E-A9B1-47F9-B9A9-87483FDAC8D3}" type="datetimeFigureOut">
              <a:rPr lang="zh-CN" altLang="en-US"/>
              <a:pPr>
                <a:defRPr/>
              </a:pPr>
              <a:t>2026/4/7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4F1EF-4E26-4C56-9B88-FD593D373B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389AD-0748-4B3C-8811-5DFFA51CED5D}" type="datetimeFigureOut">
              <a:rPr lang="zh-CN" altLang="en-US"/>
              <a:pPr>
                <a:defRPr/>
              </a:pPr>
              <a:t>2026/4/7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CE0F20-CA7C-4D92-81FD-7E1D809D33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FD782-AFAB-420A-8FC3-E90FC8D60F6A}" type="datetimeFigureOut">
              <a:rPr lang="zh-CN" altLang="en-US"/>
              <a:pPr>
                <a:defRPr/>
              </a:pPr>
              <a:t>2026/4/7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1A5DAD-FC26-4B98-B59F-38A407A6EB1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8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8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6FA3B-6958-4BA2-91DC-7BEE42D86237}" type="datetimeFigureOut">
              <a:rPr lang="zh-CN" altLang="en-US"/>
              <a:pPr>
                <a:defRPr/>
              </a:pPr>
              <a:t>2026/4/7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F4D7F-6987-4FBB-8861-DE5388AE82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42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6B6D4-31F7-491F-A416-E134F3D25755}" type="datetimeFigureOut">
              <a:rPr lang="zh-CN" altLang="en-US"/>
              <a:pPr>
                <a:defRPr/>
              </a:pPr>
              <a:t>2026/4/7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6BCD3-ACD3-4915-AAF5-E95C433680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82DBD-F4DA-4F3D-8375-2CC882E5C4BD}" type="datetimeFigureOut">
              <a:rPr lang="zh-CN" altLang="en-US"/>
              <a:pPr>
                <a:defRPr/>
              </a:pPr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746474-8646-4F3B-9765-6AA2597643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30C6ED-1572-4AFD-969C-EAD6761B29D4}" type="datetimeFigureOut">
              <a:rPr lang="zh-CN" altLang="en-US"/>
              <a:pPr>
                <a:defRPr/>
              </a:pPr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B6592-189B-4FEE-91FE-2D98CF2508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"/>
            <a:ext cx="9144000" cy="14287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5167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9A9EEEDC-F40F-4A63-9580-80ADE972C86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5167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4"/>
            <a:ext cx="8229600" cy="452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644CF135-CD95-44F1-8454-15341B964199}" type="datetimeFigureOut">
              <a:rPr lang="zh-CN" altLang="en-US"/>
              <a:pPr>
                <a:defRPr/>
              </a:pPr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5B4EA391-E530-4487-AF14-F97E23C3A1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.baidu.com/s?word=Java%208&amp;sa=re_dqa_zy" TargetMode="External"/><Relationship Id="rId2" Type="http://schemas.openxmlformats.org/officeDocument/2006/relationships/hyperlink" Target="https://m.baidu.com/s?word=Java%20Lambda%E8%A1%A8%E8%BE%BE%E5%BC%8F&amp;sa=re_dqa_zy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-28377" y="-233726"/>
            <a:ext cx="9144000" cy="4005063"/>
            <a:chOff x="0" y="0"/>
            <a:chExt cx="9144000" cy="4518000"/>
          </a:xfrm>
        </p:grpSpPr>
        <p:sp>
          <p:nvSpPr>
            <p:cNvPr id="14" name="矩形 13"/>
            <p:cNvSpPr/>
            <p:nvPr/>
          </p:nvSpPr>
          <p:spPr>
            <a:xfrm>
              <a:off x="0" y="0"/>
              <a:ext cx="9144000" cy="4355055"/>
            </a:xfrm>
            <a:prstGeom prst="rect">
              <a:avLst/>
            </a:prstGeom>
            <a:solidFill>
              <a:srgbClr val="31BFA7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  <p:sp>
          <p:nvSpPr>
            <p:cNvPr id="15" name="等腰三角形 14"/>
            <p:cNvSpPr/>
            <p:nvPr/>
          </p:nvSpPr>
          <p:spPr>
            <a:xfrm flipV="1">
              <a:off x="4068763" y="4355055"/>
              <a:ext cx="1006475" cy="162945"/>
            </a:xfrm>
            <a:prstGeom prst="triangle">
              <a:avLst/>
            </a:prstGeom>
            <a:solidFill>
              <a:srgbClr val="31BFA7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70200" y="6225117"/>
            <a:ext cx="9003600" cy="0"/>
          </a:xfrm>
          <a:prstGeom prst="line">
            <a:avLst/>
          </a:prstGeom>
          <a:noFill/>
          <a:ln w="22225" cap="flat" cmpd="sng" algn="ctr">
            <a:gradFill>
              <a:gsLst>
                <a:gs pos="0">
                  <a:sysClr val="window" lastClr="FFFFFF">
                    <a:alpha val="0"/>
                  </a:sysClr>
                </a:gs>
                <a:gs pos="33000">
                  <a:srgbClr val="31BFA7"/>
                </a:gs>
                <a:gs pos="67000">
                  <a:srgbClr val="31BFA7"/>
                </a:gs>
                <a:gs pos="100000">
                  <a:sysClr val="window" lastClr="FFFFFF">
                    <a:alpha val="0"/>
                  </a:sysClr>
                </a:gs>
              </a:gsLst>
              <a:lin ang="10800000" scaled="0"/>
            </a:gradFill>
            <a:prstDash val="solid"/>
          </a:ln>
          <a:effectLst/>
        </p:spPr>
      </p:cxnSp>
      <p:sp>
        <p:nvSpPr>
          <p:cNvPr id="17" name="文本框 7"/>
          <p:cNvSpPr txBox="1">
            <a:spLocks noChangeArrowheads="1"/>
          </p:cNvSpPr>
          <p:nvPr/>
        </p:nvSpPr>
        <p:spPr bwMode="auto">
          <a:xfrm>
            <a:off x="482798" y="1844824"/>
            <a:ext cx="8121650" cy="6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auto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sz="4400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中的数据结构</a:t>
            </a:r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>
          <a:xfrm>
            <a:off x="1371600" y="4005064"/>
            <a:ext cx="6400800" cy="1752600"/>
          </a:xfrm>
        </p:spPr>
        <p:txBody>
          <a:bodyPr/>
          <a:lstStyle/>
          <a:p>
            <a:pPr>
              <a:defRPr/>
            </a:pPr>
            <a:r>
              <a:rPr lang="zh-CN" altLang="en-US" sz="2800" dirty="0"/>
              <a:t>中国人民大学信息学院   孙彩虹</a:t>
            </a:r>
            <a:endParaRPr lang="en-US" altLang="zh-CN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BF2A11-51F5-2A41-B7F2-B9E50EE23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AFA2368-6D20-B74D-BFB9-C3DD5AE7D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932C246-C62C-8B46-AA0A-73DD50737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C5B029D-463E-2A4C-A75F-539EEBA88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068D372-4F3E-7D49-BF36-6E458527A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16222-BFBD-3A4D-8A87-0C6C6C454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JAVA</a:t>
            </a:r>
            <a:r>
              <a:rPr kumimoji="1" lang="zh-CN" altLang="en-US" dirty="0"/>
              <a:t>集合框架层次结构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A9596B3-8881-374C-8DC2-DEADE3CD7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466658"/>
            <a:ext cx="5832648" cy="262306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03AFF25-67AB-8349-B540-358697F79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280" y="4788092"/>
            <a:ext cx="5207000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550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A84218-FC7D-1741-B1E2-CA576803E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JAVA</a:t>
            </a:r>
            <a:r>
              <a:rPr kumimoji="1" lang="zh-CN" altLang="en-US" dirty="0"/>
              <a:t>集合框架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FFBFB5-39F6-3E45-A3C4-353AC3B7E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400" dirty="0"/>
              <a:t>Collection</a:t>
            </a:r>
            <a:r>
              <a:rPr kumimoji="1" lang="zh-CN" altLang="en-US" sz="2400" dirty="0"/>
              <a:t>接口为线性表、向量、栈、队列、优先队列以及规则集定义了通用操作</a:t>
            </a:r>
            <a:endParaRPr kumimoji="1" lang="en-US" altLang="zh-CN" sz="2400" dirty="0"/>
          </a:p>
          <a:p>
            <a:r>
              <a:rPr kumimoji="1" lang="zh-CN" altLang="en-US" sz="2400" dirty="0"/>
              <a:t>存储一个元素的集合（</a:t>
            </a:r>
            <a:r>
              <a:rPr kumimoji="1" lang="en-US" altLang="zh-CN" sz="2400" dirty="0"/>
              <a:t>collection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Set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List</a:t>
            </a:r>
          </a:p>
          <a:p>
            <a:pPr lvl="1"/>
            <a:r>
              <a:rPr kumimoji="1" lang="en-US" altLang="zh-CN" sz="2000" dirty="0"/>
              <a:t>Stack</a:t>
            </a:r>
          </a:p>
          <a:p>
            <a:pPr lvl="1"/>
            <a:r>
              <a:rPr kumimoji="1" lang="en-US" altLang="zh-CN" sz="2000" dirty="0" err="1"/>
              <a:t>PriortyQueue</a:t>
            </a:r>
            <a:endParaRPr kumimoji="1" lang="en-US" altLang="zh-CN" sz="2000" dirty="0"/>
          </a:p>
          <a:p>
            <a:r>
              <a:rPr kumimoji="1" lang="zh-CN" altLang="en-US" sz="2400" dirty="0"/>
              <a:t>存储键值对  映射（</a:t>
            </a:r>
            <a:r>
              <a:rPr kumimoji="1" lang="en-US" altLang="zh-CN" sz="2400" dirty="0"/>
              <a:t>map</a:t>
            </a:r>
            <a:r>
              <a:rPr kumimoji="1" lang="zh-CN" altLang="en-US" sz="24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640939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8F6833B-531A-DE49-A827-581BF85B3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404664"/>
            <a:ext cx="7787300" cy="59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854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57E723-53C3-664D-A611-36CD6D1E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Iterator</a:t>
            </a:r>
            <a:r>
              <a:rPr kumimoji="1" lang="zh-CN" altLang="en-US" dirty="0"/>
              <a:t>（迭代器）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BBFE02-D79A-C542-91D0-CC60896EE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/>
              <a:t>也是一种经典的设计模式，用于在不需要暴露数据如何保存在数据结构中这一细节的情况下，遍历一个数据结构。</a:t>
            </a:r>
            <a:endParaRPr kumimoji="1" lang="en-US" altLang="zh-CN" sz="2400" dirty="0"/>
          </a:p>
          <a:p>
            <a:r>
              <a:rPr kumimoji="1" lang="en-US" altLang="zh-CN" sz="2400" dirty="0" err="1"/>
              <a:t>Iterable</a:t>
            </a:r>
            <a:r>
              <a:rPr kumimoji="1" lang="zh-CN" altLang="en-US" sz="2400" dirty="0"/>
              <a:t>接口里有个</a:t>
            </a:r>
            <a:r>
              <a:rPr kumimoji="1" lang="en-US" altLang="zh-CN" sz="2400" dirty="0"/>
              <a:t>iterator()</a:t>
            </a:r>
            <a:r>
              <a:rPr kumimoji="1" lang="zh-CN" altLang="en-US" sz="2400" dirty="0"/>
              <a:t>，</a:t>
            </a:r>
            <a:r>
              <a:rPr kumimoji="1" lang="en-US" altLang="zh-CN" sz="2400" dirty="0"/>
              <a:t>Iterator</a:t>
            </a:r>
            <a:r>
              <a:rPr kumimoji="1" lang="zh-CN" altLang="en-US" sz="2400" dirty="0"/>
              <a:t>接口为遍历各种类型的集合中的元素提供了统一的方法。</a:t>
            </a:r>
            <a:endParaRPr kumimoji="1" lang="en-US" altLang="zh-CN" sz="2400" dirty="0"/>
          </a:p>
          <a:p>
            <a:r>
              <a:rPr kumimoji="1" lang="zh-CN" altLang="en-US" sz="2400" dirty="0"/>
              <a:t>例子：</a:t>
            </a:r>
            <a:r>
              <a:rPr kumimoji="1" lang="en-US" altLang="zh-CN" sz="2400" dirty="0" err="1"/>
              <a:t>TestIterator.java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34316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C641A-9B13-2C40-9A03-1C34C627C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例子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E520CC3-8351-E14E-992A-FB7C05387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55" y="1628800"/>
            <a:ext cx="7387692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83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999926-1B46-3444-ACB6-5EDEA9211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Java10</a:t>
            </a:r>
            <a:r>
              <a:rPr kumimoji="1" lang="zh-CN" altLang="en-US" dirty="0"/>
              <a:t>以后的新特性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8839C0-7A6C-3D42-9CDA-A702526D8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8168"/>
            <a:ext cx="8686800" cy="4707468"/>
          </a:xfrm>
        </p:spPr>
        <p:txBody>
          <a:bodyPr/>
          <a:lstStyle/>
          <a:p>
            <a:r>
              <a:rPr kumimoji="1" lang="en-US" altLang="zh-CN" sz="2800" dirty="0"/>
              <a:t>var x=3; var y=3;</a:t>
            </a:r>
          </a:p>
          <a:p>
            <a:r>
              <a:rPr kumimoji="1" lang="zh-CN" altLang="en-US" sz="2800" dirty="0"/>
              <a:t>编译器自动从赋给</a:t>
            </a:r>
            <a:r>
              <a:rPr kumimoji="1" lang="en-US" altLang="zh-CN" sz="2800" dirty="0"/>
              <a:t>x</a:t>
            </a:r>
            <a:r>
              <a:rPr kumimoji="1" lang="zh-CN" altLang="en-US" sz="2800" dirty="0"/>
              <a:t>的类型来确定变量类型</a:t>
            </a:r>
            <a:endParaRPr kumimoji="1" lang="en-US" altLang="zh-CN" sz="2800" dirty="0"/>
          </a:p>
          <a:p>
            <a:r>
              <a:rPr kumimoji="1" lang="en-US" altLang="zh-CN" sz="2800" dirty="0"/>
              <a:t>var</a:t>
            </a:r>
            <a:r>
              <a:rPr kumimoji="1" lang="zh-CN" altLang="en-US" sz="2800" dirty="0"/>
              <a:t>类型真正的用途在于替换长的类型</a:t>
            </a:r>
            <a:endParaRPr kumimoji="1" lang="en-US" altLang="zh-CN" sz="2800" dirty="0"/>
          </a:p>
          <a:p>
            <a:r>
              <a:rPr kumimoji="1" lang="en-US" altLang="zh-CN" sz="2800" dirty="0"/>
              <a:t>Iterator&lt;String&gt; iterator= new </a:t>
            </a:r>
            <a:r>
              <a:rPr kumimoji="1" lang="en-US" altLang="zh-CN" sz="2800" dirty="0" err="1"/>
              <a:t>ArrayList</a:t>
            </a:r>
            <a:r>
              <a:rPr kumimoji="1" lang="en-US" altLang="zh-CN" sz="2800" dirty="0"/>
              <a:t>&lt;String&gt;().iterator();</a:t>
            </a:r>
          </a:p>
          <a:p>
            <a:r>
              <a:rPr kumimoji="1" lang="en-US" altLang="zh-CN" sz="2800" dirty="0"/>
              <a:t>var iterator= new </a:t>
            </a:r>
            <a:r>
              <a:rPr kumimoji="1" lang="en-US" altLang="zh-CN" sz="2800" dirty="0" err="1"/>
              <a:t>ArrayList</a:t>
            </a:r>
            <a:r>
              <a:rPr kumimoji="1" lang="en-US" altLang="zh-CN" sz="2800" dirty="0"/>
              <a:t>&lt;String&gt;().iterator();</a:t>
            </a:r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97029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C8BD32-12EE-6F44-BC5F-E3E47E5F7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forEach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40594C-1BEF-3F4D-AE2C-AEDB6CE49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400" dirty="0"/>
              <a:t>Java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8 </a:t>
            </a:r>
            <a:r>
              <a:rPr kumimoji="1" lang="zh-CN" altLang="en-US" sz="2400" dirty="0"/>
              <a:t>在</a:t>
            </a:r>
            <a:r>
              <a:rPr kumimoji="1" lang="en-US" altLang="zh-CN" sz="2400" dirty="0" err="1"/>
              <a:t>Iterable</a:t>
            </a:r>
            <a:r>
              <a:rPr kumimoji="1" lang="zh-CN" altLang="en-US" sz="2400" dirty="0"/>
              <a:t>接口中添加了一个新方法</a:t>
            </a:r>
            <a:r>
              <a:rPr kumimoji="1" lang="en-US" altLang="zh-CN" sz="2400" dirty="0" err="1"/>
              <a:t>forEeach</a:t>
            </a:r>
            <a:endParaRPr kumimoji="1" lang="en-US" altLang="zh-CN" sz="2400" dirty="0"/>
          </a:p>
          <a:p>
            <a:r>
              <a:rPr kumimoji="1" lang="zh-CN" altLang="en-US" sz="2400" dirty="0"/>
              <a:t>这个方法用一个参数指定动作，动作是</a:t>
            </a:r>
            <a:r>
              <a:rPr kumimoji="1" lang="en-US" altLang="zh-CN" sz="2400" dirty="0"/>
              <a:t>Consumer&lt;?super E&gt;</a:t>
            </a:r>
            <a:r>
              <a:rPr kumimoji="1" lang="zh-CN" altLang="en-US" sz="2400" dirty="0"/>
              <a:t>的一个实例，</a:t>
            </a:r>
            <a:r>
              <a:rPr kumimoji="1" lang="en-US" altLang="zh-CN" sz="2400" dirty="0"/>
              <a:t>Consumer</a:t>
            </a:r>
            <a:r>
              <a:rPr kumimoji="1" lang="zh-CN" altLang="en-US" sz="2400" dirty="0"/>
              <a:t>接口定义了在元素</a:t>
            </a:r>
            <a:r>
              <a:rPr kumimoji="1" lang="en-US" altLang="zh-CN" sz="2400" dirty="0"/>
              <a:t>e</a:t>
            </a:r>
            <a:r>
              <a:rPr kumimoji="1" lang="zh-CN" altLang="en-US" sz="2400" dirty="0"/>
              <a:t>上执行操作的</a:t>
            </a:r>
            <a:r>
              <a:rPr kumimoji="1" lang="en-US" altLang="zh-CN" sz="2400" dirty="0"/>
              <a:t>accept(E e)</a:t>
            </a:r>
            <a:r>
              <a:rPr kumimoji="1" lang="zh-CN" altLang="en-US" sz="2400" dirty="0"/>
              <a:t>方法。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参见例子 </a:t>
            </a:r>
            <a:r>
              <a:rPr kumimoji="1" lang="en-US" altLang="zh-CN" sz="2400" dirty="0" err="1"/>
              <a:t>TestForEach.java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19815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42A0413-2FE6-4C43-A6AB-7A8CA04ACB19}"/>
              </a:ext>
            </a:extLst>
          </p:cNvPr>
          <p:cNvSpPr txBox="1"/>
          <p:nvPr/>
        </p:nvSpPr>
        <p:spPr>
          <a:xfrm>
            <a:off x="179512" y="335845"/>
            <a:ext cx="842493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import java.util.* ;</a:t>
            </a:r>
          </a:p>
          <a:p>
            <a:r>
              <a:rPr lang="zh-CN" altLang="en-US" dirty="0"/>
              <a:t>public class TesForEach{</a:t>
            </a:r>
          </a:p>
          <a:p>
            <a:r>
              <a:rPr lang="zh-CN" altLang="en-US" dirty="0"/>
              <a:t>   public static void main(String[] args){</a:t>
            </a:r>
          </a:p>
          <a:p>
            <a:endParaRPr lang="zh-CN" altLang="en-US" dirty="0"/>
          </a:p>
          <a:p>
            <a:r>
              <a:rPr lang="zh-CN" altLang="en-US" dirty="0"/>
              <a:t>     Collection&lt;String&gt; collection=new ArrayList&lt;&gt;();</a:t>
            </a:r>
          </a:p>
          <a:p>
            <a:r>
              <a:rPr lang="zh-CN" altLang="en-US" dirty="0"/>
              <a:t>     collection.add("New York");</a:t>
            </a:r>
          </a:p>
          <a:p>
            <a:r>
              <a:rPr lang="zh-CN" altLang="en-US" dirty="0"/>
              <a:t>     collection.add("Atlanta");</a:t>
            </a:r>
          </a:p>
          <a:p>
            <a:r>
              <a:rPr lang="zh-CN" altLang="en-US" dirty="0"/>
              <a:t>     collection.add("Dallas");</a:t>
            </a:r>
          </a:p>
          <a:p>
            <a:r>
              <a:rPr lang="zh-CN" altLang="en-US" dirty="0"/>
              <a:t>     collection.add("Madison");</a:t>
            </a:r>
          </a:p>
          <a:p>
            <a:endParaRPr lang="zh-CN" altLang="en-US" dirty="0"/>
          </a:p>
          <a:p>
            <a:r>
              <a:rPr lang="zh-CN" altLang="en-US" dirty="0"/>
              <a:t>    collection.forEach(e-&gt;System.out.print(e.toUpperCase()+"  "));</a:t>
            </a:r>
          </a:p>
          <a:p>
            <a:r>
              <a:rPr lang="zh-CN" altLang="en-US" dirty="0"/>
              <a:t>  }</a:t>
            </a:r>
          </a:p>
          <a:p>
            <a:r>
              <a:rPr lang="zh-CN" altLang="en-US" dirty="0"/>
              <a:t>}</a:t>
            </a:r>
          </a:p>
          <a:p>
            <a:endParaRPr lang="zh-CN" altLang="en-US" dirty="0"/>
          </a:p>
          <a:p>
            <a:r>
              <a:rPr lang="zh-CN" altLang="en-US" dirty="0"/>
              <a:t>/*</a:t>
            </a:r>
          </a:p>
          <a:p>
            <a:r>
              <a:rPr lang="zh-CN" altLang="en-US" dirty="0"/>
              <a:t>forEach(new java.util.function.Consumer&lt;String&gt;(){</a:t>
            </a:r>
          </a:p>
          <a:p>
            <a:r>
              <a:rPr lang="zh-CN" altLang="en-US" dirty="0"/>
              <a:t>	public void accept(String e){</a:t>
            </a:r>
          </a:p>
          <a:p>
            <a:endParaRPr lang="zh-CN" altLang="en-US" dirty="0"/>
          </a:p>
          <a:p>
            <a:r>
              <a:rPr lang="zh-CN" altLang="en-US" dirty="0"/>
              <a:t>	System.out.print(e.toUpperCase()+"  ");</a:t>
            </a:r>
          </a:p>
          <a:p>
            <a:r>
              <a:rPr lang="zh-CN" altLang="en-US" dirty="0"/>
              <a:t>}</a:t>
            </a:r>
          </a:p>
          <a:p>
            <a:r>
              <a:rPr lang="zh-CN" altLang="en-US" dirty="0"/>
              <a:t>})</a:t>
            </a:r>
          </a:p>
          <a:p>
            <a:r>
              <a:rPr lang="zh-CN" altLang="en-US" dirty="0"/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3045132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7371E-9709-A44C-889D-DBBE8CCAE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lamda</a:t>
            </a:r>
            <a:r>
              <a:rPr kumimoji="1" lang="zh-CN" altLang="en-US" dirty="0"/>
              <a:t>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7F5A6E-6198-2649-B3AB-13AD47F63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433"/>
          </a:xfrm>
        </p:spPr>
        <p:txBody>
          <a:bodyPr/>
          <a:lstStyle/>
          <a:p>
            <a:pPr latinLnBrk="0"/>
            <a:r>
              <a:rPr kumimoji="1" lang="en-US" altLang="zh-CN" sz="24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 Lambda</a:t>
            </a:r>
            <a:r>
              <a:rPr kumimoji="1" lang="zh-CN" altLang="en-US" sz="24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表达式</a:t>
            </a:r>
            <a:r>
              <a:rPr kumimoji="1" lang="zh-CN" altLang="en-US" sz="2400" dirty="0"/>
              <a:t>是</a:t>
            </a:r>
            <a:r>
              <a:rPr kumimoji="1" lang="en-US" altLang="zh-CN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 8</a:t>
            </a:r>
            <a:r>
              <a:rPr kumimoji="1" lang="zh-CN" altLang="en-US" sz="2400" dirty="0"/>
              <a:t>中引入的一个特性，它允许以简洁的方式表示匿名函数。</a:t>
            </a:r>
            <a:endParaRPr kumimoji="1" lang="en-US" altLang="zh-CN" sz="2400" dirty="0"/>
          </a:p>
          <a:p>
            <a:pPr algn="l" latinLnBrk="0"/>
            <a:r>
              <a:rPr kumimoji="1" lang="en-US" altLang="zh-CN" sz="2400" dirty="0"/>
              <a:t>Lambda</a:t>
            </a:r>
            <a:r>
              <a:rPr kumimoji="1" lang="zh-CN" altLang="en-US" sz="2400" dirty="0"/>
              <a:t>表达式的语法采用</a:t>
            </a:r>
            <a:r>
              <a:rPr kumimoji="1" lang="en-US" altLang="zh-CN" sz="2400" dirty="0"/>
              <a:t>`(parameters) -&gt; {Body}`</a:t>
            </a:r>
            <a:r>
              <a:rPr kumimoji="1" lang="zh-CN" altLang="en-US" sz="2400" dirty="0"/>
              <a:t>的形式，其中参数列表括在括号中，与普通方法相同，而</a:t>
            </a:r>
            <a:r>
              <a:rPr kumimoji="1" lang="en-US" altLang="zh-CN" sz="2400" dirty="0"/>
              <a:t>lambda</a:t>
            </a:r>
            <a:r>
              <a:rPr kumimoji="1" lang="zh-CN" altLang="en-US" sz="2400" dirty="0"/>
              <a:t>表达式的主体是用大括号括起来的代码块。</a:t>
            </a:r>
            <a:endParaRPr kumimoji="1" lang="en-US" altLang="zh-CN" sz="2400" dirty="0"/>
          </a:p>
          <a:p>
            <a:pPr algn="l" latinLnBrk="0"/>
            <a:r>
              <a:rPr kumimoji="1" lang="en-US" altLang="zh-CN" sz="2400" dirty="0"/>
              <a:t>Lambda</a:t>
            </a:r>
            <a:r>
              <a:rPr kumimoji="1" lang="zh-CN" altLang="en-US" sz="2400" dirty="0"/>
              <a:t>表达式可以包含局部变量和语句，并且可以在其中使用</a:t>
            </a:r>
            <a:r>
              <a:rPr kumimoji="1" lang="en-US" altLang="zh-CN" sz="2400" dirty="0"/>
              <a:t>`break`</a:t>
            </a:r>
            <a:r>
              <a:rPr kumimoji="1" lang="zh-CN" altLang="en-US" sz="2400" dirty="0"/>
              <a:t>、</a:t>
            </a:r>
            <a:r>
              <a:rPr kumimoji="1" lang="en-US" altLang="zh-CN" sz="2400" dirty="0"/>
              <a:t>`continue`</a:t>
            </a:r>
            <a:r>
              <a:rPr kumimoji="1" lang="zh-CN" altLang="en-US" sz="2400" dirty="0"/>
              <a:t>和</a:t>
            </a:r>
            <a:r>
              <a:rPr kumimoji="1" lang="en-US" altLang="zh-CN" sz="2400" dirty="0"/>
              <a:t>`return`</a:t>
            </a:r>
            <a:r>
              <a:rPr kumimoji="1" lang="zh-CN" altLang="en-US" sz="2400" dirty="0"/>
              <a:t>关键字，也可以抛出异常。与普通方法不同的是，</a:t>
            </a:r>
            <a:r>
              <a:rPr kumimoji="1" lang="en-US" altLang="zh-CN" sz="2400" dirty="0"/>
              <a:t>lambda</a:t>
            </a:r>
            <a:r>
              <a:rPr kumimoji="1" lang="zh-CN" altLang="en-US" sz="2400" dirty="0"/>
              <a:t>表达式没有名称，因为它表示的是一个匿名内部类。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7741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534130-8E86-5B43-8E5B-9610275B2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/>
              <a:t>Lambda</a:t>
            </a:r>
            <a:r>
              <a:rPr kumimoji="1" lang="zh-CN" altLang="en-US" sz="3600" dirty="0"/>
              <a:t>表达式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4C3AD7-7ABF-8A43-B5B1-EC516846D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400" dirty="0"/>
              <a:t>Lambda</a:t>
            </a:r>
            <a:r>
              <a:rPr kumimoji="1" lang="zh-CN" altLang="en-US" sz="2400" dirty="0"/>
              <a:t>表达式的参数类型可以由编译器推断，也可以显式声明。当只有一个参数时，参数列表的括号可以省略。如果代码块只包含一条语句并且返回该语句的结果，那么即使该语句以</a:t>
            </a:r>
            <a:r>
              <a:rPr kumimoji="1" lang="en-US" altLang="zh-CN" sz="2400" dirty="0"/>
              <a:t>`return`</a:t>
            </a:r>
            <a:r>
              <a:rPr kumimoji="1" lang="zh-CN" altLang="en-US" sz="2400" dirty="0"/>
              <a:t>关键字开头，大括号也可以省略。这种简化使得</a:t>
            </a:r>
            <a:r>
              <a:rPr kumimoji="1" lang="en-US" altLang="zh-CN" sz="2400" dirty="0"/>
              <a:t>lambda</a:t>
            </a:r>
            <a:r>
              <a:rPr kumimoji="1" lang="zh-CN" altLang="en-US" sz="2400" dirty="0"/>
              <a:t>表达式更加简洁明了。</a:t>
            </a:r>
          </a:p>
          <a:p>
            <a:r>
              <a:rPr kumimoji="1" lang="en-US" altLang="zh-CN" sz="2400" dirty="0"/>
              <a:t>Lambda</a:t>
            </a:r>
            <a:r>
              <a:rPr kumimoji="1" lang="zh-CN" altLang="en-US" sz="2400" dirty="0"/>
              <a:t>表达式的引入解决了匿名内部类的冗余代码问题，并支持函数式编程，使得函数可以作为参数传递或返回值返回。此外，它还简化了并行编程的复杂性，因为函数式编程中的纯函数天然具备无副作用的特性。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0253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304481-446A-4344-86AC-D9A5E897E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/>
              <a:t>Lambda</a:t>
            </a:r>
            <a:r>
              <a:rPr kumimoji="1" lang="zh-CN" altLang="en-US" sz="3600" dirty="0"/>
              <a:t>表达式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C73B3B-9FE6-774B-858F-3369476F5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400" dirty="0"/>
              <a:t>Lambda</a:t>
            </a:r>
            <a:r>
              <a:rPr kumimoji="1" lang="zh-CN" altLang="en-US" sz="2400" dirty="0"/>
              <a:t>表达式的一个典型应用场景是作为函数式接口的实现。函数式接口是只有一个抽象方法的接口，</a:t>
            </a:r>
            <a:r>
              <a:rPr kumimoji="1" lang="en-US" altLang="zh-CN" sz="2400" dirty="0"/>
              <a:t>Lambda</a:t>
            </a:r>
            <a:r>
              <a:rPr kumimoji="1" lang="zh-CN" altLang="en-US" sz="2400" dirty="0"/>
              <a:t>表达式可以直接作为这样的接口的实例。例如，</a:t>
            </a:r>
            <a:r>
              <a:rPr kumimoji="1" lang="en-US" altLang="zh-CN" sz="2400" dirty="0" err="1"/>
              <a:t>forEach</a:t>
            </a:r>
            <a:r>
              <a:rPr kumimoji="1" lang="zh-CN" altLang="en-US" sz="2400" dirty="0"/>
              <a:t>方法就可以接受一个</a:t>
            </a:r>
            <a:r>
              <a:rPr kumimoji="1" lang="en-US" altLang="zh-CN" sz="2400" dirty="0"/>
              <a:t>Lambda</a:t>
            </a:r>
            <a:r>
              <a:rPr kumimoji="1" lang="zh-CN" altLang="en-US" sz="2400" dirty="0"/>
              <a:t>表达式作为参数，以实现对集合中每个元素的某种操作。（我们的例子）</a:t>
            </a:r>
          </a:p>
          <a:p>
            <a:r>
              <a:rPr kumimoji="1" lang="zh-CN" altLang="en-US" sz="2400" dirty="0"/>
              <a:t>总结来说，</a:t>
            </a:r>
            <a:r>
              <a:rPr kumimoji="1" lang="en-US" altLang="zh-CN" sz="2400" dirty="0"/>
              <a:t>Java Lambda</a:t>
            </a:r>
            <a:r>
              <a:rPr kumimoji="1" lang="zh-CN" altLang="en-US" sz="2400" dirty="0"/>
              <a:t>表达式是一种简洁的表示匿名函数的方式，它通过提供简洁的语法和强大的函数式编程支持，提高了代码的可读性和可维护性，并简化了并发编程的复杂性。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5676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A367A-517C-F34A-8221-18983FA0A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List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ListIterator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C9D61B-A33B-2344-B865-23AA65F28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453160"/>
            <a:ext cx="5508872" cy="255190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0DE9442-E933-914C-ACE1-082A90EDD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4265630"/>
            <a:ext cx="4690864" cy="227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567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244B59A-5A86-F84D-A29D-897CC0D16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556792"/>
            <a:ext cx="7624525" cy="243100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1A06C26-79D9-2246-88FA-30CA585B6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4118518"/>
            <a:ext cx="5904656" cy="2586148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8E89D1BB-8290-FC46-BD78-3BE1CC567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167"/>
            <a:ext cx="8229600" cy="1143000"/>
          </a:xfrm>
        </p:spPr>
        <p:txBody>
          <a:bodyPr/>
          <a:lstStyle/>
          <a:p>
            <a:r>
              <a:rPr kumimoji="1" lang="en-US" altLang="zh-CN" dirty="0" err="1"/>
              <a:t>ArrayList</a:t>
            </a:r>
            <a:r>
              <a:rPr kumimoji="1" lang="zh-CN" altLang="en-US" dirty="0"/>
              <a:t>和</a:t>
            </a:r>
            <a:r>
              <a:rPr kumimoji="1" lang="en-US" altLang="zh-CN" dirty="0"/>
              <a:t>LinkedList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2476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58EA46-A464-744C-8468-D0C546CE3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用于线性表和类集的静态方法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D9C7DF-831B-4948-860F-F33BF0FB3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7" y="1700808"/>
            <a:ext cx="8207977" cy="454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115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EAAFDE-D277-DA42-81CD-E1627859B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Vector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Stack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7A0994-B95D-4041-83B2-9A7B51BB3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8167"/>
            <a:ext cx="5290890" cy="356875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F79067D-41FD-CF4C-BED4-D005A649D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769" y="4953914"/>
            <a:ext cx="4097140" cy="169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044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4D0957-35CC-AD45-946B-6B87BE28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Queue</a:t>
            </a:r>
            <a:r>
              <a:rPr kumimoji="1" lang="zh-CN" altLang="en-US" dirty="0"/>
              <a:t>、</a:t>
            </a:r>
            <a:r>
              <a:rPr kumimoji="1" lang="en-US" altLang="zh-CN" dirty="0"/>
              <a:t>Deque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EE4E1B-21F6-6340-9954-24D2CDE5B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6792"/>
            <a:ext cx="5642154" cy="280831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13BFB5A-0329-5A4F-947B-0A34DEC2F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4653299"/>
            <a:ext cx="4680520" cy="207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146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31EF0-23A7-4544-9A62-06045272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PriorityQueue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87B6479-564C-E345-B44C-2792DC0A1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988840"/>
            <a:ext cx="5318224" cy="1943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037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71CCB-6E1E-F24A-8D69-B43E71664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优先队列的例子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9DA9671-9315-4248-B111-973383222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628800"/>
            <a:ext cx="5328592" cy="485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85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17E51-E397-0141-B670-C90100E90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Set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826C66A-057E-6B43-99E2-A10528887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628800"/>
            <a:ext cx="5904656" cy="477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792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5328D-A6E1-304E-A35A-91BE4AA8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Map </a:t>
            </a:r>
            <a:r>
              <a:rPr kumimoji="1" lang="zh-CN" altLang="en-US" dirty="0"/>
              <a:t>映射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039ABD-9D8A-2B4C-8671-5AE21616E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772815"/>
            <a:ext cx="3528392" cy="13427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3D11CEE-53AE-0944-BF34-3CBCBE2E4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221" y="3789498"/>
            <a:ext cx="6115554" cy="151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541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B8C63C-0AA7-B741-AFB9-D723998E7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Map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78A2DC0-EC46-9042-9649-C2751025E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5" y="1827094"/>
            <a:ext cx="4939403" cy="224997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BE6C5EF-3724-4049-8E22-794B81588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212" y="4511359"/>
            <a:ext cx="5667588" cy="144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506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0DC843-CE0E-E24C-8386-DF2DFF7A6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kumimoji="1" lang="en-US" altLang="zh-CN" dirty="0"/>
            </a:br>
            <a:r>
              <a:rPr kumimoji="1" lang="zh-CN" altLang="en-US" dirty="0"/>
              <a:t>三个具体</a:t>
            </a:r>
            <a:r>
              <a:rPr kumimoji="1" lang="en-US" altLang="zh-CN" dirty="0"/>
              <a:t>Map</a:t>
            </a:r>
            <a:r>
              <a:rPr kumimoji="1" lang="zh-CN" altLang="en-US" dirty="0"/>
              <a:t>类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ED5071-4603-E240-81E0-0C0722E90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916832"/>
            <a:ext cx="5401324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246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42FA81-B080-B84B-8C73-813E35C12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单例和不可变的集合和映射（</a:t>
            </a:r>
            <a:r>
              <a:rPr kumimoji="1" lang="en-US" altLang="zh-CN" dirty="0"/>
              <a:t>Collections</a:t>
            </a:r>
            <a:r>
              <a:rPr kumimoji="1" lang="zh-CN" altLang="en-US" dirty="0"/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CBEE9A-8DE2-3F44-8E17-68939BF9C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24" y="2240868"/>
            <a:ext cx="8554551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322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5C66CC-90DA-7042-8C6D-E5D8FDC58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集合流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C605C4-3B0D-2048-BE64-5BDCCEAF5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400" dirty="0"/>
              <a:t>Stream API </a:t>
            </a:r>
            <a:r>
              <a:rPr kumimoji="1" lang="zh-CN" altLang="en-US" sz="2400" dirty="0"/>
              <a:t>是 </a:t>
            </a:r>
            <a:r>
              <a:rPr kumimoji="1" lang="en-US" altLang="zh-CN" sz="2400" dirty="0"/>
              <a:t>Java 8 </a:t>
            </a:r>
            <a:r>
              <a:rPr kumimoji="1" lang="zh-CN" altLang="en-US" sz="2400" dirty="0"/>
              <a:t>引入的函数式编程特性，用于对集合数据进行声明式处理。它允许你以链式操作的方式对数据进行过滤、映射、排序、聚合等操作。</a:t>
            </a:r>
            <a:endParaRPr kumimoji="1" lang="en-US" altLang="zh-CN" sz="2400" dirty="0"/>
          </a:p>
          <a:p>
            <a:r>
              <a:rPr kumimoji="1" lang="en-US" altLang="zh-CN" sz="2400" dirty="0"/>
              <a:t>Stream</a:t>
            </a:r>
            <a:r>
              <a:rPr kumimoji="1" lang="zh-CN" altLang="en-US" sz="2400" dirty="0"/>
              <a:t>，数据流，不是数据结构，不存储数据</a:t>
            </a:r>
            <a:endParaRPr kumimoji="1" lang="en-US" altLang="zh-CN" sz="2400" dirty="0"/>
          </a:p>
          <a:p>
            <a:pPr marL="400050" lvl="1" fontAlgn="t">
              <a:spcBef>
                <a:spcPts val="0"/>
              </a:spcBef>
              <a:spcAft>
                <a:spcPts val="0"/>
              </a:spcAft>
            </a:pPr>
            <a:r>
              <a:rPr lang="zh-CN" altLang="zh-CN" sz="1600" b="1" i="0" u="none" strike="noStrike" kern="1200" dirty="0">
                <a:solidFill>
                  <a:srgbClr val="000000"/>
                </a:solidFill>
                <a:effectLst/>
                <a:latin typeface="inherit"/>
              </a:rPr>
              <a:t>中间操作</a:t>
            </a:r>
            <a:r>
              <a:rPr lang="zh-CN" altLang="en-US" sz="1600" dirty="0">
                <a:latin typeface="Arial" panose="020B0604020202020204" pitchFamily="34" charset="0"/>
              </a:rPr>
              <a:t>：</a:t>
            </a:r>
            <a:r>
              <a:rPr lang="zh-CN" altLang="zh-CN" sz="1600" b="0" i="0" u="none" strike="noStrike" kern="1200" dirty="0">
                <a:solidFill>
                  <a:srgbClr val="000000"/>
                </a:solidFill>
                <a:effectLst/>
                <a:latin typeface="inherit"/>
              </a:rPr>
              <a:t>返回新 </a:t>
            </a:r>
            <a:r>
              <a:rPr lang="en-US" altLang="zh-CN" sz="1600" b="0" i="0" u="none" strike="noStrike" kern="1200" dirty="0">
                <a:solidFill>
                  <a:srgbClr val="000000"/>
                </a:solidFill>
                <a:effectLst/>
                <a:latin typeface="inherit"/>
              </a:rPr>
              <a:t>Stream，</a:t>
            </a:r>
            <a:r>
              <a:rPr lang="zh-CN" altLang="zh-CN" sz="1600" b="0" i="0" u="none" strike="noStrike" kern="1200" dirty="0">
                <a:solidFill>
                  <a:srgbClr val="000000"/>
                </a:solidFill>
                <a:effectLst/>
                <a:latin typeface="inherit"/>
              </a:rPr>
              <a:t>惰性执行（如 </a:t>
            </a:r>
            <a:r>
              <a:rPr lang="en-US" altLang="zh-CN" sz="1600" b="0" i="0" u="none" strike="noStrike" kern="1200" dirty="0">
                <a:solidFill>
                  <a:srgbClr val="000000"/>
                </a:solidFill>
                <a:effectLst/>
                <a:latin typeface="inherit"/>
              </a:rPr>
              <a:t>filter, map）</a:t>
            </a:r>
            <a:endParaRPr lang="zh-CN" altLang="zh-CN" sz="1600" b="0" i="0" u="none" strike="noStrike" dirty="0">
              <a:effectLst/>
              <a:latin typeface="Arial" panose="020B0604020202020204" pitchFamily="34" charset="0"/>
            </a:endParaRPr>
          </a:p>
          <a:p>
            <a:pPr marL="400050" lvl="1" fontAlgn="t">
              <a:spcBef>
                <a:spcPts val="0"/>
              </a:spcBef>
              <a:spcAft>
                <a:spcPts val="0"/>
              </a:spcAft>
            </a:pPr>
            <a:r>
              <a:rPr lang="zh-CN" altLang="zh-CN" sz="1600" b="1" i="0" u="none" strike="noStrike" kern="1200" dirty="0">
                <a:solidFill>
                  <a:srgbClr val="000000"/>
                </a:solidFill>
                <a:effectLst/>
                <a:latin typeface="inherit"/>
              </a:rPr>
              <a:t>终止操作</a:t>
            </a:r>
            <a:r>
              <a:rPr lang="zh-CN" altLang="en-US" sz="1600" dirty="0">
                <a:latin typeface="Arial" panose="020B0604020202020204" pitchFamily="34" charset="0"/>
              </a:rPr>
              <a:t>：</a:t>
            </a:r>
            <a:r>
              <a:rPr lang="zh-CN" altLang="zh-CN" sz="1600" b="0" i="0" u="none" strike="noStrike" kern="1200" dirty="0">
                <a:solidFill>
                  <a:srgbClr val="000000"/>
                </a:solidFill>
                <a:effectLst/>
                <a:latin typeface="inherit"/>
              </a:rPr>
              <a:t>触发执行并产生结果（如 </a:t>
            </a:r>
            <a:r>
              <a:rPr lang="en-US" altLang="zh-CN" sz="1600" b="0" i="0" u="none" strike="noStrike" kern="1200" dirty="0">
                <a:solidFill>
                  <a:srgbClr val="000000"/>
                </a:solidFill>
                <a:effectLst/>
                <a:latin typeface="inherit"/>
              </a:rPr>
              <a:t>collect, </a:t>
            </a:r>
            <a:r>
              <a:rPr lang="en-US" altLang="zh-CN" sz="1600" b="0" i="0" u="none" strike="noStrike" kern="1200" dirty="0" err="1">
                <a:solidFill>
                  <a:srgbClr val="000000"/>
                </a:solidFill>
                <a:effectLst/>
                <a:latin typeface="inherit"/>
              </a:rPr>
              <a:t>forEach</a:t>
            </a:r>
            <a:r>
              <a:rPr lang="en-US" altLang="zh-CN" sz="1600" b="0" i="0" u="none" strike="noStrike" kern="1200" dirty="0">
                <a:solidFill>
                  <a:srgbClr val="000000"/>
                </a:solidFill>
                <a:effectLst/>
                <a:latin typeface="inherit"/>
              </a:rPr>
              <a:t>）</a:t>
            </a:r>
            <a:endParaRPr lang="zh-CN" altLang="zh-CN" sz="1600" b="0" i="0" u="none" strike="noStrike" dirty="0">
              <a:effectLst/>
              <a:latin typeface="Arial" panose="020B0604020202020204" pitchFamily="34" charset="0"/>
            </a:endParaRPr>
          </a:p>
          <a:p>
            <a:pPr marL="400050" lvl="1" fontAlgn="t">
              <a:spcBef>
                <a:spcPts val="0"/>
              </a:spcBef>
              <a:spcAft>
                <a:spcPts val="0"/>
              </a:spcAft>
            </a:pPr>
            <a:r>
              <a:rPr lang="zh-CN" altLang="zh-CN" sz="1600" b="1" i="0" u="none" strike="noStrike" kern="1200" dirty="0">
                <a:solidFill>
                  <a:srgbClr val="000000"/>
                </a:solidFill>
                <a:effectLst/>
                <a:latin typeface="inherit"/>
              </a:rPr>
              <a:t>惰性求值</a:t>
            </a:r>
            <a:r>
              <a:rPr lang="zh-CN" altLang="en-US" sz="1600" dirty="0">
                <a:latin typeface="Arial" panose="020B0604020202020204" pitchFamily="34" charset="0"/>
              </a:rPr>
              <a:t>：</a:t>
            </a:r>
            <a:r>
              <a:rPr lang="zh-CN" altLang="zh-CN" sz="1600" b="0" i="0" u="none" strike="noStrike" kern="1200" dirty="0">
                <a:solidFill>
                  <a:srgbClr val="000000"/>
                </a:solidFill>
                <a:effectLst/>
                <a:latin typeface="inherit"/>
              </a:rPr>
              <a:t>中间操作不会立即执行，遇到终止操作才执行</a:t>
            </a:r>
            <a:endParaRPr lang="zh-CN" altLang="zh-CN" sz="1600" b="0" i="0" u="none" strike="noStrike" dirty="0">
              <a:effectLst/>
              <a:latin typeface="Arial" panose="020B0604020202020204" pitchFamily="34" charset="0"/>
            </a:endParaRPr>
          </a:p>
          <a:p>
            <a:endParaRPr kumimoji="1" lang="en-US" altLang="zh-CN" sz="2400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68170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13FF4E-448E-2049-B3F4-EBA2D5DB1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集合流的聚合操作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C36615-19E3-B741-8952-596F15BBC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418167"/>
            <a:ext cx="8820472" cy="4525433"/>
          </a:xfrm>
        </p:spPr>
        <p:txBody>
          <a:bodyPr/>
          <a:lstStyle/>
          <a:p>
            <a:r>
              <a:rPr kumimoji="1" lang="zh-CN" altLang="en-US" sz="2000" dirty="0"/>
              <a:t>集合流（</a:t>
            </a:r>
            <a:r>
              <a:rPr kumimoji="1" lang="en-US" altLang="zh-CN" sz="2000" dirty="0"/>
              <a:t>collection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stream</a:t>
            </a:r>
            <a:r>
              <a:rPr kumimoji="1" lang="zh-CN" altLang="en-US" sz="2000" dirty="0"/>
              <a:t>或</a:t>
            </a:r>
            <a:r>
              <a:rPr kumimoji="1" lang="en-US" altLang="zh-CN" sz="2000" dirty="0"/>
              <a:t>stream</a:t>
            </a:r>
            <a:r>
              <a:rPr kumimoji="1" lang="zh-CN" altLang="en-US" sz="2000" dirty="0"/>
              <a:t>）是一个元素序列。对流的操作称为聚合操作或流操作，如 </a:t>
            </a:r>
            <a:r>
              <a:rPr kumimoji="1" lang="en-US" altLang="zh-CN" sz="2000" dirty="0"/>
              <a:t>filter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count</a:t>
            </a:r>
          </a:p>
          <a:p>
            <a:r>
              <a:rPr kumimoji="1" lang="zh-CN" altLang="en-US" sz="2000" dirty="0"/>
              <a:t>主要是快</a:t>
            </a:r>
            <a:endParaRPr kumimoji="1" lang="en-US" altLang="zh-CN" sz="2000" dirty="0"/>
          </a:p>
          <a:p>
            <a:pPr marL="400050" lvl="1" indent="0">
              <a:buNone/>
            </a:pPr>
            <a:r>
              <a:rPr kumimoji="1" lang="en-US" altLang="zh-CN" sz="1600" dirty="0"/>
              <a:t>Double[] numbers={2.4,55.6,90.12,26.6,62.3};</a:t>
            </a:r>
          </a:p>
          <a:p>
            <a:pPr marL="400050" lvl="1" indent="0">
              <a:buNone/>
            </a:pPr>
            <a:r>
              <a:rPr kumimoji="1" lang="en-US" altLang="zh-CN" sz="1600" dirty="0"/>
              <a:t>Set&lt;Double&gt; set =new HashSet&lt;&gt;(</a:t>
            </a:r>
            <a:r>
              <a:rPr kumimoji="1" lang="en-US" altLang="zh-CN" sz="1600" dirty="0" err="1"/>
              <a:t>Arrays.asList</a:t>
            </a:r>
            <a:r>
              <a:rPr kumimoji="1" lang="en-US" altLang="zh-CN" sz="1600" dirty="0"/>
              <a:t>(numbers));</a:t>
            </a:r>
          </a:p>
          <a:p>
            <a:pPr marL="400050" lvl="1" indent="0">
              <a:buNone/>
            </a:pPr>
            <a:r>
              <a:rPr kumimoji="1" lang="en-US" altLang="zh-CN" sz="1600" dirty="0">
                <a:highlight>
                  <a:srgbClr val="FFFF00"/>
                </a:highlight>
              </a:rPr>
              <a:t>int count=0;</a:t>
            </a:r>
          </a:p>
          <a:p>
            <a:pPr marL="400050" lvl="1" indent="0">
              <a:buNone/>
            </a:pPr>
            <a:r>
              <a:rPr kumimoji="1" lang="en-US" altLang="zh-CN" sz="1600" dirty="0">
                <a:highlight>
                  <a:srgbClr val="FFFF00"/>
                </a:highlight>
              </a:rPr>
              <a:t>for (Double </a:t>
            </a:r>
            <a:r>
              <a:rPr kumimoji="1" lang="en-US" altLang="zh-CN" sz="1600" dirty="0" err="1">
                <a:highlight>
                  <a:srgbClr val="FFFF00"/>
                </a:highlight>
              </a:rPr>
              <a:t>e:set</a:t>
            </a:r>
            <a:r>
              <a:rPr kumimoji="1" lang="en-US" altLang="zh-CN" sz="1600" dirty="0">
                <a:highlight>
                  <a:srgbClr val="FFFF00"/>
                </a:highlight>
              </a:rPr>
              <a:t>) </a:t>
            </a:r>
          </a:p>
          <a:p>
            <a:pPr marL="400050" lvl="1" indent="0">
              <a:buNone/>
            </a:pPr>
            <a:r>
              <a:rPr kumimoji="1" lang="en-US" altLang="zh-CN" sz="1600" dirty="0">
                <a:highlight>
                  <a:srgbClr val="FFFF00"/>
                </a:highlight>
              </a:rPr>
              <a:t>  if (e&gt;60) count++;</a:t>
            </a:r>
          </a:p>
          <a:p>
            <a:pPr marL="400050" lvl="1" indent="0">
              <a:buNone/>
            </a:pPr>
            <a:r>
              <a:rPr kumimoji="1" lang="en-US" altLang="zh-CN" sz="1600" dirty="0" err="1">
                <a:highlight>
                  <a:srgbClr val="FFFF00"/>
                </a:highlight>
              </a:rPr>
              <a:t>System.out.println</a:t>
            </a:r>
            <a:r>
              <a:rPr kumimoji="1" lang="en-US" altLang="zh-CN" sz="1600" dirty="0">
                <a:highlight>
                  <a:srgbClr val="FFFF00"/>
                </a:highlight>
              </a:rPr>
              <a:t>(</a:t>
            </a:r>
            <a:r>
              <a:rPr kumimoji="1" lang="zh-CN" altLang="en-US" sz="1600" dirty="0">
                <a:highlight>
                  <a:srgbClr val="FFFF00"/>
                </a:highlight>
              </a:rPr>
              <a:t>“</a:t>
            </a:r>
            <a:r>
              <a:rPr kumimoji="1" lang="en-US" altLang="zh-CN" sz="1600" dirty="0">
                <a:highlight>
                  <a:srgbClr val="FFFF00"/>
                </a:highlight>
              </a:rPr>
              <a:t>Count is ”+ count);  </a:t>
            </a:r>
          </a:p>
          <a:p>
            <a:pPr marL="400050" lvl="1" indent="0">
              <a:buNone/>
            </a:pPr>
            <a:r>
              <a:rPr kumimoji="1" lang="en-US" altLang="zh-CN" sz="1600" dirty="0" err="1">
                <a:solidFill>
                  <a:srgbClr val="FF0000"/>
                </a:solidFill>
              </a:rPr>
              <a:t>System.out.println</a:t>
            </a:r>
            <a:r>
              <a:rPr kumimoji="1" lang="en-US" altLang="zh-CN" sz="1600" dirty="0">
                <a:solidFill>
                  <a:srgbClr val="FF0000"/>
                </a:solidFill>
              </a:rPr>
              <a:t>(</a:t>
            </a:r>
            <a:r>
              <a:rPr kumimoji="1" lang="zh-CN" altLang="en-US" sz="1600" dirty="0">
                <a:solidFill>
                  <a:srgbClr val="FF0000"/>
                </a:solidFill>
              </a:rPr>
              <a:t>“</a:t>
            </a:r>
            <a:r>
              <a:rPr kumimoji="1" lang="en-US" altLang="zh-CN" sz="1600" dirty="0">
                <a:solidFill>
                  <a:srgbClr val="FF0000"/>
                </a:solidFill>
              </a:rPr>
              <a:t>Count is ”+ 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set.stream</a:t>
            </a:r>
            <a:r>
              <a:rPr kumimoji="1" lang="en-US" altLang="zh-CN" sz="1600" dirty="0">
                <a:solidFill>
                  <a:srgbClr val="FF0000"/>
                </a:solidFill>
              </a:rPr>
              <a:t>().filter(e-&gt;e&gt;60).count());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67107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0B0B9E-9AEE-FB4B-9A6F-B2E8EC873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如何创建流（</a:t>
            </a:r>
            <a:r>
              <a:rPr kumimoji="1" lang="en-US" altLang="zh-CN" dirty="0"/>
              <a:t>Stream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A9E39B-AEC3-5F4A-9767-1D7946970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8167"/>
            <a:ext cx="8507288" cy="5164666"/>
          </a:xfrm>
        </p:spPr>
        <p:txBody>
          <a:bodyPr numCol="2"/>
          <a:lstStyle/>
          <a:p>
            <a:r>
              <a:rPr kumimoji="1" lang="en-US" altLang="zh-CN" sz="1400" dirty="0"/>
              <a:t>// 1. </a:t>
            </a:r>
            <a:r>
              <a:rPr kumimoji="1" lang="zh-CN" altLang="en-US" sz="1400" dirty="0"/>
              <a:t>从集合创建</a:t>
            </a:r>
          </a:p>
          <a:p>
            <a:r>
              <a:rPr kumimoji="1" lang="en-US" altLang="zh-CN" sz="1400" dirty="0"/>
              <a:t>List&lt;Integer&gt; list = </a:t>
            </a:r>
            <a:r>
              <a:rPr kumimoji="1" lang="en-US" altLang="zh-CN" sz="1400" dirty="0" err="1"/>
              <a:t>Arrays.asList</a:t>
            </a:r>
            <a:r>
              <a:rPr kumimoji="1" lang="en-US" altLang="zh-CN" sz="1400" dirty="0"/>
              <a:t>(1, 2, 3);</a:t>
            </a:r>
          </a:p>
          <a:p>
            <a:r>
              <a:rPr kumimoji="1" lang="en-US" altLang="zh-CN" sz="1400" dirty="0"/>
              <a:t>Stream&lt;Integer&gt; stream1 = </a:t>
            </a:r>
            <a:r>
              <a:rPr kumimoji="1" lang="en-US" altLang="zh-CN" sz="1400" dirty="0" err="1"/>
              <a:t>list.stream</a:t>
            </a:r>
            <a:r>
              <a:rPr kumimoji="1" lang="en-US" altLang="zh-CN" sz="1400" dirty="0"/>
              <a:t>();          // </a:t>
            </a:r>
            <a:r>
              <a:rPr kumimoji="1" lang="zh-CN" altLang="en-US" sz="1400" dirty="0"/>
              <a:t>串行流</a:t>
            </a:r>
          </a:p>
          <a:p>
            <a:r>
              <a:rPr kumimoji="1" lang="en-US" altLang="zh-CN" sz="1400" dirty="0"/>
              <a:t>Stream&lt;Integer&gt; stream2 = </a:t>
            </a:r>
            <a:r>
              <a:rPr kumimoji="1" lang="en-US" altLang="zh-CN" sz="1400" dirty="0" err="1"/>
              <a:t>list.parallelStream</a:t>
            </a:r>
            <a:r>
              <a:rPr kumimoji="1" lang="en-US" altLang="zh-CN" sz="1400" dirty="0"/>
              <a:t>();  // </a:t>
            </a:r>
            <a:r>
              <a:rPr kumimoji="1" lang="zh-CN" altLang="en-US" sz="1400" dirty="0"/>
              <a:t>并行流</a:t>
            </a:r>
          </a:p>
          <a:p>
            <a:endParaRPr kumimoji="1" lang="zh-CN" altLang="en-US" sz="1400" dirty="0"/>
          </a:p>
          <a:p>
            <a:r>
              <a:rPr kumimoji="1" lang="en-US" altLang="zh-CN" sz="1400" dirty="0"/>
              <a:t>// 2. </a:t>
            </a:r>
            <a:r>
              <a:rPr kumimoji="1" lang="zh-CN" altLang="en-US" sz="1400" dirty="0"/>
              <a:t>从数组创建</a:t>
            </a:r>
          </a:p>
          <a:p>
            <a:r>
              <a:rPr kumimoji="1" lang="en-US" altLang="zh-CN" sz="1400" dirty="0"/>
              <a:t>Stream&lt;String&gt; stream3 = </a:t>
            </a:r>
            <a:r>
              <a:rPr kumimoji="1" lang="en-US" altLang="zh-CN" sz="1400" dirty="0" err="1"/>
              <a:t>Arrays.stream</a:t>
            </a:r>
            <a:r>
              <a:rPr kumimoji="1" lang="en-US" altLang="zh-CN" sz="1400" dirty="0"/>
              <a:t>(new String[]{"a", "b"});</a:t>
            </a:r>
          </a:p>
          <a:p>
            <a:endParaRPr kumimoji="1" lang="en-US" altLang="zh-CN" sz="1400" dirty="0"/>
          </a:p>
          <a:p>
            <a:r>
              <a:rPr kumimoji="1" lang="en-US" altLang="zh-CN" sz="1400" dirty="0"/>
              <a:t>// 3. </a:t>
            </a:r>
            <a:r>
              <a:rPr kumimoji="1" lang="zh-CN" altLang="en-US" sz="1400" dirty="0"/>
              <a:t>使用 </a:t>
            </a:r>
            <a:r>
              <a:rPr kumimoji="1" lang="en-US" altLang="zh-CN" sz="1400" dirty="0" err="1"/>
              <a:t>Stream.of</a:t>
            </a:r>
            <a:endParaRPr kumimoji="1" lang="en-US" altLang="zh-CN" sz="1400" dirty="0"/>
          </a:p>
          <a:p>
            <a:r>
              <a:rPr kumimoji="1" lang="en-US" altLang="zh-CN" sz="1400" dirty="0"/>
              <a:t>Stream&lt;Integer&gt; stream4 = </a:t>
            </a:r>
            <a:r>
              <a:rPr kumimoji="1" lang="en-US" altLang="zh-CN" sz="1400" dirty="0" err="1"/>
              <a:t>Stream.of</a:t>
            </a:r>
            <a:r>
              <a:rPr kumimoji="1" lang="en-US" altLang="zh-CN" sz="1400" dirty="0"/>
              <a:t>(1, 2, 3);</a:t>
            </a:r>
          </a:p>
          <a:p>
            <a:pPr marL="0" indent="0">
              <a:buNone/>
            </a:pPr>
            <a:endParaRPr kumimoji="1" lang="en-US" altLang="zh-CN" sz="1400" dirty="0"/>
          </a:p>
          <a:p>
            <a:pPr marL="0" indent="0">
              <a:buNone/>
            </a:pPr>
            <a:r>
              <a:rPr kumimoji="1" lang="en-US" altLang="zh-CN" sz="1400" dirty="0"/>
              <a:t>// 4. </a:t>
            </a:r>
            <a:r>
              <a:rPr kumimoji="1" lang="zh-CN" altLang="en-US" sz="1400" dirty="0"/>
              <a:t>无限流</a:t>
            </a:r>
          </a:p>
          <a:p>
            <a:r>
              <a:rPr kumimoji="1" lang="en-US" altLang="zh-CN" sz="1400" dirty="0"/>
              <a:t>Stream&lt;Integer&gt; stream5 = </a:t>
            </a:r>
            <a:r>
              <a:rPr kumimoji="1" lang="en-US" altLang="zh-CN" sz="1400" dirty="0" err="1"/>
              <a:t>Stream.iterate</a:t>
            </a:r>
            <a:r>
              <a:rPr kumimoji="1" lang="en-US" altLang="zh-CN" sz="1400" dirty="0"/>
              <a:t>(0, n -&gt; n + 2).limit(10); // 0,2,4...</a:t>
            </a:r>
          </a:p>
          <a:p>
            <a:r>
              <a:rPr kumimoji="1" lang="en-US" altLang="zh-CN" sz="1400" dirty="0"/>
              <a:t>Stream&lt;Double&gt; stream6 = </a:t>
            </a:r>
            <a:r>
              <a:rPr kumimoji="1" lang="en-US" altLang="zh-CN" sz="1400" dirty="0" err="1"/>
              <a:t>Stream.generate</a:t>
            </a:r>
            <a:r>
              <a:rPr kumimoji="1" lang="en-US" altLang="zh-CN" sz="1400" dirty="0"/>
              <a:t>(Math::random).limit(5);</a:t>
            </a:r>
          </a:p>
          <a:p>
            <a:endParaRPr kumimoji="1" lang="en-US" altLang="zh-CN" sz="1400" dirty="0"/>
          </a:p>
          <a:p>
            <a:r>
              <a:rPr kumimoji="1" lang="en-US" altLang="zh-CN" sz="1400" dirty="0"/>
              <a:t>// 5. </a:t>
            </a:r>
            <a:r>
              <a:rPr kumimoji="1" lang="zh-CN" altLang="en-US" sz="1400" dirty="0"/>
              <a:t>从文件创建</a:t>
            </a:r>
          </a:p>
          <a:p>
            <a:r>
              <a:rPr kumimoji="1" lang="en-US" altLang="zh-CN" sz="1400" dirty="0"/>
              <a:t>Stream&lt;String&gt; lines = </a:t>
            </a:r>
            <a:r>
              <a:rPr kumimoji="1" lang="en-US" altLang="zh-CN" sz="1400" dirty="0" err="1"/>
              <a:t>Files.lines</a:t>
            </a:r>
            <a:r>
              <a:rPr kumimoji="1" lang="en-US" altLang="zh-CN" sz="1400" dirty="0"/>
              <a:t>(</a:t>
            </a:r>
            <a:r>
              <a:rPr kumimoji="1" lang="en-US" altLang="zh-CN" sz="1400" dirty="0" err="1"/>
              <a:t>Paths.get</a:t>
            </a:r>
            <a:r>
              <a:rPr kumimoji="1" lang="en-US" altLang="zh-CN" sz="1400" dirty="0"/>
              <a:t>("</a:t>
            </a:r>
            <a:r>
              <a:rPr kumimoji="1" lang="en-US" altLang="zh-CN" sz="1400" dirty="0" err="1"/>
              <a:t>file.txt</a:t>
            </a:r>
            <a:r>
              <a:rPr kumimoji="1" lang="en-US" altLang="zh-CN" sz="1400" dirty="0"/>
              <a:t>"));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52949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713CF3-92B6-1640-9152-97ADC65BC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常用的中间操作和终止操作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2B0409-860F-B644-A0ED-9B18E5812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kumimoji="1" lang="en-US" altLang="zh-CN" sz="2400" dirty="0"/>
              <a:t>filter</a:t>
            </a:r>
          </a:p>
          <a:p>
            <a:r>
              <a:rPr kumimoji="1" lang="en-US" altLang="zh-CN" sz="2400" dirty="0"/>
              <a:t>map</a:t>
            </a:r>
          </a:p>
          <a:p>
            <a:r>
              <a:rPr kumimoji="1" lang="en-US" altLang="zh-CN" sz="2400" dirty="0" err="1"/>
              <a:t>flatmap</a:t>
            </a:r>
            <a:endParaRPr kumimoji="1" lang="en-US" altLang="zh-CN" sz="2400" dirty="0"/>
          </a:p>
          <a:p>
            <a:r>
              <a:rPr kumimoji="1" lang="en-US" altLang="zh-CN" sz="2400" dirty="0"/>
              <a:t>sorted</a:t>
            </a:r>
          </a:p>
          <a:p>
            <a:r>
              <a:rPr kumimoji="1" lang="en-US" altLang="zh-CN" sz="2400" dirty="0"/>
              <a:t>distinct</a:t>
            </a:r>
          </a:p>
          <a:p>
            <a:r>
              <a:rPr kumimoji="1" lang="en-US" altLang="zh-CN" sz="2400" dirty="0"/>
              <a:t>limit/skip</a:t>
            </a:r>
          </a:p>
          <a:p>
            <a:r>
              <a:rPr kumimoji="1" lang="en-US" altLang="zh-CN" sz="2400" dirty="0"/>
              <a:t>peek</a:t>
            </a:r>
          </a:p>
          <a:p>
            <a:r>
              <a:rPr kumimoji="1" lang="en-US" altLang="zh-CN" dirty="0"/>
              <a:t>Collect</a:t>
            </a:r>
          </a:p>
          <a:p>
            <a:r>
              <a:rPr kumimoji="1" lang="en-US" altLang="zh-CN" dirty="0" err="1"/>
              <a:t>forEach</a:t>
            </a:r>
            <a:endParaRPr kumimoji="1" lang="en-US" altLang="zh-CN" dirty="0"/>
          </a:p>
          <a:p>
            <a:r>
              <a:rPr kumimoji="1" lang="zh-CN" altLang="en-US" dirty="0"/>
              <a:t>匹配 与查找 （多个）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40743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FD3F2-325F-AA48-ACF2-DDCD6FB88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84A4EF-8FB9-A943-A5F9-98E9C4453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set.stream</a:t>
            </a:r>
            <a:r>
              <a:rPr kumimoji="1" lang="en-US" altLang="zh-CN" dirty="0"/>
              <a:t>().limit(50).distinct().count()</a:t>
            </a:r>
          </a:p>
          <a:p>
            <a:r>
              <a:rPr kumimoji="1" lang="zh-CN" altLang="en-US" dirty="0"/>
              <a:t>源，创建一个流</a:t>
            </a:r>
            <a:r>
              <a:rPr kumimoji="1" lang="en-US" altLang="zh-CN" dirty="0"/>
              <a:t>,</a:t>
            </a:r>
            <a:r>
              <a:rPr kumimoji="1" lang="zh-CN" altLang="en-US" dirty="0"/>
              <a:t>调用若干个中间方法（转换成</a:t>
            </a:r>
            <a:r>
              <a:rPr kumimoji="1" lang="zh-CN" altLang="en-US"/>
              <a:t>另外的流），</a:t>
            </a:r>
            <a:r>
              <a:rPr kumimoji="1" lang="zh-CN" altLang="en-US" dirty="0"/>
              <a:t>一</a:t>
            </a:r>
            <a:r>
              <a:rPr kumimoji="1" lang="zh-CN" altLang="en-US"/>
              <a:t>个终止方法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75961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3F7171-0D29-E146-9A84-34C813BCF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JAVA</a:t>
            </a:r>
            <a:r>
              <a:rPr kumimoji="1" lang="zh-CN" altLang="en-US" dirty="0"/>
              <a:t> </a:t>
            </a:r>
            <a:r>
              <a:rPr kumimoji="1" lang="en-US" altLang="zh-CN" dirty="0"/>
              <a:t>8</a:t>
            </a:r>
            <a:r>
              <a:rPr kumimoji="1" lang="zh-CN" altLang="en-US" dirty="0"/>
              <a:t>以后的简化引用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243F2D-8498-2347-9FCA-EBE48EDBD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/>
              <a:t>静态方法引用	</a:t>
            </a:r>
            <a:endParaRPr kumimoji="1" lang="en-US" altLang="zh-CN" sz="2400" dirty="0"/>
          </a:p>
          <a:p>
            <a:pPr lvl="1"/>
            <a:r>
              <a:rPr kumimoji="1" lang="zh-CN" altLang="en-US" sz="1800" dirty="0"/>
              <a:t>类名</a:t>
            </a:r>
            <a:r>
              <a:rPr kumimoji="1" lang="en-US" altLang="zh-CN" sz="1800" dirty="0"/>
              <a:t>::</a:t>
            </a:r>
            <a:r>
              <a:rPr kumimoji="1" lang="zh-CN" altLang="en-US" sz="1800" dirty="0"/>
              <a:t>静态方法	</a:t>
            </a:r>
            <a:r>
              <a:rPr kumimoji="1" lang="en-US" altLang="zh-CN" sz="1800" dirty="0"/>
              <a:t>Math::abs	x -&gt; </a:t>
            </a:r>
            <a:r>
              <a:rPr kumimoji="1" lang="en-US" altLang="zh-CN" sz="1800" dirty="0" err="1"/>
              <a:t>Math.abs</a:t>
            </a:r>
            <a:r>
              <a:rPr kumimoji="1" lang="en-US" altLang="zh-CN" sz="1800" dirty="0"/>
              <a:t>(x)</a:t>
            </a:r>
          </a:p>
          <a:p>
            <a:r>
              <a:rPr kumimoji="1" lang="zh-CN" altLang="en-US" sz="2400" dirty="0"/>
              <a:t>实例方法引用（对象）	</a:t>
            </a:r>
            <a:endParaRPr kumimoji="1" lang="en-US" altLang="zh-CN" sz="2400" dirty="0"/>
          </a:p>
          <a:p>
            <a:pPr lvl="1"/>
            <a:r>
              <a:rPr kumimoji="1" lang="zh-CN" altLang="en-US" sz="1800" dirty="0"/>
              <a:t>对象</a:t>
            </a:r>
            <a:r>
              <a:rPr kumimoji="1" lang="en-US" altLang="zh-CN" sz="1800" dirty="0"/>
              <a:t>::</a:t>
            </a:r>
            <a:r>
              <a:rPr kumimoji="1" lang="zh-CN" altLang="en-US" sz="1800" dirty="0"/>
              <a:t>实例方法	</a:t>
            </a:r>
            <a:r>
              <a:rPr kumimoji="1" lang="en-US" altLang="zh-CN" sz="1800" dirty="0" err="1"/>
              <a:t>System.out</a:t>
            </a:r>
            <a:r>
              <a:rPr kumimoji="1" lang="en-US" altLang="zh-CN" sz="1800" dirty="0"/>
              <a:t>::</a:t>
            </a:r>
            <a:r>
              <a:rPr kumimoji="1" lang="en-US" altLang="zh-CN" sz="1800" dirty="0" err="1"/>
              <a:t>println</a:t>
            </a:r>
            <a:r>
              <a:rPr kumimoji="1" lang="en-US" altLang="zh-CN" sz="1800" dirty="0"/>
              <a:t>	x -&gt; </a:t>
            </a:r>
            <a:r>
              <a:rPr kumimoji="1" lang="en-US" altLang="zh-CN" sz="1800" dirty="0" err="1"/>
              <a:t>System.out.println</a:t>
            </a:r>
            <a:r>
              <a:rPr kumimoji="1" lang="en-US" altLang="zh-CN" sz="1800" dirty="0"/>
              <a:t>(x)</a:t>
            </a:r>
          </a:p>
          <a:p>
            <a:r>
              <a:rPr kumimoji="1" lang="zh-CN" altLang="en-US" sz="2400" dirty="0"/>
              <a:t>实例方法引用（类）	</a:t>
            </a:r>
            <a:endParaRPr kumimoji="1" lang="en-US" altLang="zh-CN" sz="2400" dirty="0"/>
          </a:p>
          <a:p>
            <a:pPr lvl="1"/>
            <a:r>
              <a:rPr kumimoji="1" lang="zh-CN" altLang="en-US" sz="1800" dirty="0"/>
              <a:t>类名</a:t>
            </a:r>
            <a:r>
              <a:rPr kumimoji="1" lang="en-US" altLang="zh-CN" sz="1800" dirty="0"/>
              <a:t>::</a:t>
            </a:r>
            <a:r>
              <a:rPr kumimoji="1" lang="zh-CN" altLang="en-US" sz="1800" dirty="0"/>
              <a:t>实例方法	</a:t>
            </a:r>
            <a:r>
              <a:rPr kumimoji="1" lang="en-US" altLang="zh-CN" sz="1800" dirty="0"/>
              <a:t>Employee::</a:t>
            </a:r>
            <a:r>
              <a:rPr kumimoji="1" lang="en-US" altLang="zh-CN" sz="1800" dirty="0" err="1"/>
              <a:t>getName</a:t>
            </a:r>
            <a:r>
              <a:rPr kumimoji="1" lang="en-US" altLang="zh-CN" sz="1800" dirty="0"/>
              <a:t>	emp -&gt; </a:t>
            </a:r>
            <a:r>
              <a:rPr kumimoji="1" lang="en-US" altLang="zh-CN" sz="1800" dirty="0" err="1"/>
              <a:t>emp.getName</a:t>
            </a:r>
            <a:r>
              <a:rPr kumimoji="1" lang="en-US" altLang="zh-CN" sz="1800" dirty="0"/>
              <a:t>()</a:t>
            </a:r>
          </a:p>
          <a:p>
            <a:r>
              <a:rPr kumimoji="1" lang="zh-CN" altLang="en-US" sz="2400" dirty="0"/>
              <a:t>构造方法引用	</a:t>
            </a:r>
            <a:endParaRPr kumimoji="1" lang="en-US" altLang="zh-CN" sz="2400" dirty="0"/>
          </a:p>
          <a:p>
            <a:pPr lvl="1"/>
            <a:r>
              <a:rPr kumimoji="1" lang="zh-CN" altLang="en-US" sz="1800" dirty="0"/>
              <a:t>类名</a:t>
            </a:r>
            <a:r>
              <a:rPr kumimoji="1" lang="en-US" altLang="zh-CN" sz="1800" dirty="0"/>
              <a:t>::new	Employee::new	() -&gt; new Employee()</a:t>
            </a:r>
            <a:endParaRPr kumimoji="1"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79554872"/>
      </p:ext>
    </p:extLst>
  </p:cSld>
  <p:clrMapOvr>
    <a:masterClrMapping/>
  </p:clrMapOvr>
</p:sld>
</file>

<file path=ppt/theme/theme1.xml><?xml version="1.0" encoding="utf-8"?>
<a:theme xmlns:a="http://schemas.openxmlformats.org/drawingml/2006/main" name="16sucai_201411161035">
  <a:themeElements>
    <a:clrScheme name="自定义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1BFA7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计算广告应用V2</Template>
  <TotalTime>3298</TotalTime>
  <Words>1353</Words>
  <Application>Microsoft Macintosh PowerPoint</Application>
  <PresentationFormat>全屏显示(4:3)</PresentationFormat>
  <Paragraphs>127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36" baseType="lpstr">
      <vt:lpstr>微软雅黑</vt:lpstr>
      <vt:lpstr>inherit</vt:lpstr>
      <vt:lpstr>Arial</vt:lpstr>
      <vt:lpstr>Calibri</vt:lpstr>
      <vt:lpstr>16sucai_201411161035</vt:lpstr>
      <vt:lpstr>自定义设计方案</vt:lpstr>
      <vt:lpstr>PowerPoint 演示文稿</vt:lpstr>
      <vt:lpstr>JAVA集合框架层次结构</vt:lpstr>
      <vt:lpstr>JAVA集合框架</vt:lpstr>
      <vt:lpstr>PowerPoint 演示文稿</vt:lpstr>
      <vt:lpstr>Iterator（迭代器）</vt:lpstr>
      <vt:lpstr>例子</vt:lpstr>
      <vt:lpstr>Java10以后的新特性</vt:lpstr>
      <vt:lpstr>forEach</vt:lpstr>
      <vt:lpstr>PowerPoint 演示文稿</vt:lpstr>
      <vt:lpstr>lamda表达式</vt:lpstr>
      <vt:lpstr>Lambda表达式</vt:lpstr>
      <vt:lpstr>Lambda表达式</vt:lpstr>
      <vt:lpstr>List和ListIterator</vt:lpstr>
      <vt:lpstr>ArrayList和LinkedList</vt:lpstr>
      <vt:lpstr>用于线性表和类集的静态方法</vt:lpstr>
      <vt:lpstr>Vector和Stack</vt:lpstr>
      <vt:lpstr>Queue、Deque</vt:lpstr>
      <vt:lpstr>PriorityQueue</vt:lpstr>
      <vt:lpstr>优先队列的例子</vt:lpstr>
      <vt:lpstr>Set</vt:lpstr>
      <vt:lpstr>Map 映射</vt:lpstr>
      <vt:lpstr>Map</vt:lpstr>
      <vt:lpstr> 三个具体Map类</vt:lpstr>
      <vt:lpstr>单例和不可变的集合和映射（Collections）</vt:lpstr>
      <vt:lpstr>集合流</vt:lpstr>
      <vt:lpstr>集合流的聚合操作</vt:lpstr>
      <vt:lpstr>如何创建流（Stream）</vt:lpstr>
      <vt:lpstr>常用的中间操作和终止操作</vt:lpstr>
      <vt:lpstr>例子</vt:lpstr>
      <vt:lpstr>JAVA 8以后的简化引用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Microsoft Office User</cp:lastModifiedBy>
  <cp:revision>93</cp:revision>
  <dcterms:created xsi:type="dcterms:W3CDTF">2016-04-19T01:35:35Z</dcterms:created>
  <dcterms:modified xsi:type="dcterms:W3CDTF">2026-04-06T23:35:52Z</dcterms:modified>
</cp:coreProperties>
</file>