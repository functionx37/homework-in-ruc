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56" r:id="rId2"/>
    <p:sldId id="287" r:id="rId3"/>
    <p:sldId id="288" r:id="rId4"/>
    <p:sldId id="289"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13" r:id="rId23"/>
    <p:sldId id="317" r:id="rId24"/>
    <p:sldId id="320" r:id="rId25"/>
    <p:sldId id="322" r:id="rId26"/>
    <p:sldId id="323" r:id="rId27"/>
    <p:sldId id="308" r:id="rId28"/>
    <p:sldId id="309" r:id="rId29"/>
    <p:sldId id="310" r:id="rId30"/>
    <p:sldId id="311" r:id="rId31"/>
    <p:sldId id="257" r:id="rId32"/>
    <p:sldId id="258" r:id="rId33"/>
    <p:sldId id="259" r:id="rId34"/>
    <p:sldId id="260"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 id="280" r:id="rId54"/>
    <p:sldId id="283" r:id="rId5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1" autoAdjust="0"/>
    <p:restoredTop sz="94660"/>
  </p:normalViewPr>
  <p:slideViewPr>
    <p:cSldViewPr>
      <p:cViewPr varScale="1">
        <p:scale>
          <a:sx n="65" d="100"/>
          <a:sy n="65" d="100"/>
        </p:scale>
        <p:origin x="-1554"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AC4583-1CB9-4829-A484-EAF2B239DA1D}" type="datetimeFigureOut">
              <a:rPr lang="zh-CN" altLang="en-US" smtClean="0"/>
              <a:pPr/>
              <a:t>2015/4/22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271D3E-B0DB-4B99-849A-F7A571AE034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8271D3E-B0DB-4B99-849A-F7A571AE0348}" type="slidenum">
              <a:rPr lang="zh-CN" altLang="en-US" smtClean="0"/>
              <a:pPr/>
              <a:t>39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2" cstate="print"/>
          <a:srcRect/>
          <a:stretch>
            <a:fillRect/>
          </a:stretch>
        </p:blipFill>
        <p:spPr bwMode="auto">
          <a:xfrm>
            <a:off x="6750050" y="6473825"/>
            <a:ext cx="2393950" cy="393700"/>
          </a:xfrm>
          <a:prstGeom prst="rect">
            <a:avLst/>
          </a:prstGeom>
          <a:noFill/>
          <a:ln w="9525">
            <a:noFill/>
            <a:miter lim="800000"/>
            <a:headEnd/>
            <a:tailEnd/>
          </a:ln>
        </p:spPr>
      </p:pic>
      <p:sp>
        <p:nvSpPr>
          <p:cNvPr id="5" name="Rectangle 12" descr="bg"/>
          <p:cNvSpPr>
            <a:spLocks noChangeArrowheads="1"/>
          </p:cNvSpPr>
          <p:nvPr/>
        </p:nvSpPr>
        <p:spPr bwMode="auto">
          <a:xfrm>
            <a:off x="0" y="6477000"/>
            <a:ext cx="6751638" cy="392113"/>
          </a:xfrm>
          <a:prstGeom prst="rect">
            <a:avLst/>
          </a:prstGeom>
          <a:blipFill dpi="0" rotWithShape="1">
            <a:blip r:embed="rId3" cstate="print"/>
            <a:srcRect/>
            <a:stretch>
              <a:fillRect/>
            </a:stretch>
          </a:blip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6" name="Rectangle 11"/>
          <p:cNvSpPr>
            <a:spLocks noChangeArrowheads="1"/>
          </p:cNvSpPr>
          <p:nvPr/>
        </p:nvSpPr>
        <p:spPr bwMode="auto">
          <a:xfrm>
            <a:off x="357188" y="0"/>
            <a:ext cx="8786812" cy="392113"/>
          </a:xfrm>
          <a:prstGeom prst="rect">
            <a:avLst/>
          </a:prstGeom>
          <a:gradFill flip="none" rotWithShape="1">
            <a:gsLst>
              <a:gs pos="0">
                <a:srgbClr val="9E0000"/>
              </a:gs>
              <a:gs pos="100000">
                <a:schemeClr val="accent2"/>
              </a:gs>
            </a:gsLst>
            <a:lin ang="2700000" scaled="1"/>
            <a:tileRect/>
          </a:grad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pic>
        <p:nvPicPr>
          <p:cNvPr id="7" name="Picture 5"/>
          <p:cNvPicPr>
            <a:picLocks noChangeAspect="1" noChangeArrowheads="1"/>
          </p:cNvPicPr>
          <p:nvPr/>
        </p:nvPicPr>
        <p:blipFill>
          <a:blip r:embed="rId4" cstate="print"/>
          <a:srcRect/>
          <a:stretch>
            <a:fillRect/>
          </a:stretch>
        </p:blipFill>
        <p:spPr bwMode="auto">
          <a:xfrm>
            <a:off x="0" y="0"/>
            <a:ext cx="434975" cy="392113"/>
          </a:xfrm>
          <a:prstGeom prst="rect">
            <a:avLst/>
          </a:prstGeom>
          <a:noFill/>
          <a:ln w="9525">
            <a:noFill/>
            <a:miter lim="800000"/>
            <a:headEnd/>
            <a:tailEnd/>
          </a:ln>
        </p:spPr>
      </p:pic>
      <p:sp>
        <p:nvSpPr>
          <p:cNvPr id="8" name="TextBox 7"/>
          <p:cNvSpPr txBox="1"/>
          <p:nvPr/>
        </p:nvSpPr>
        <p:spPr>
          <a:xfrm>
            <a:off x="0" y="6488113"/>
            <a:ext cx="2571750" cy="369887"/>
          </a:xfrm>
          <a:prstGeom prst="rect">
            <a:avLst/>
          </a:prstGeom>
          <a:noFill/>
        </p:spPr>
        <p:txBody>
          <a:bodyPr>
            <a:spAutoFit/>
          </a:bodyPr>
          <a:lstStyle/>
          <a:p>
            <a:pPr fontAlgn="auto">
              <a:spcBef>
                <a:spcPts val="0"/>
              </a:spcBef>
              <a:spcAft>
                <a:spcPts val="0"/>
              </a:spcAft>
              <a:defRPr/>
            </a:pPr>
            <a:r>
              <a:rPr lang="en-GB" altLang="zh-CN" dirty="0">
                <a:solidFill>
                  <a:schemeClr val="accent1">
                    <a:lumMod val="60000"/>
                    <a:lumOff val="40000"/>
                  </a:schemeClr>
                </a:solidFill>
                <a:latin typeface="Harlow Solid Italic" pitchFamily="82" charset="0"/>
                <a:ea typeface="+mn-ea"/>
              </a:rPr>
              <a:t> </a:t>
            </a:r>
            <a:r>
              <a:rPr lang="en-GB" altLang="zh-CN" sz="1400" dirty="0">
                <a:solidFill>
                  <a:schemeClr val="accent1">
                    <a:lumMod val="60000"/>
                    <a:lumOff val="40000"/>
                  </a:schemeClr>
                </a:solidFill>
                <a:latin typeface="Harlow Solid Italic" pitchFamily="82" charset="0"/>
                <a:ea typeface="+mn-ea"/>
              </a:rPr>
              <a:t>Intelligence makes life better </a:t>
            </a:r>
            <a:endParaRPr lang="zh-CN" altLang="en-US" sz="1400" dirty="0">
              <a:solidFill>
                <a:schemeClr val="accent1">
                  <a:lumMod val="60000"/>
                  <a:lumOff val="40000"/>
                </a:schemeClr>
              </a:solidFill>
              <a:latin typeface="Harlow Solid Italic" pitchFamily="82" charset="0"/>
              <a:ea typeface="+mn-ea"/>
            </a:endParaRPr>
          </a:p>
        </p:txBody>
      </p:sp>
      <p:cxnSp>
        <p:nvCxnSpPr>
          <p:cNvPr id="9" name="直接连接符 8"/>
          <p:cNvCxnSpPr/>
          <p:nvPr/>
        </p:nvCxnSpPr>
        <p:spPr>
          <a:xfrm>
            <a:off x="642938" y="2928938"/>
            <a:ext cx="7786687" cy="1587"/>
          </a:xfrm>
          <a:prstGeom prst="line">
            <a:avLst/>
          </a:prstGeom>
          <a:ln w="53975" cap="rnd" cmpd="sng">
            <a:solidFill>
              <a:schemeClr val="accent6"/>
            </a:solidFill>
          </a:ln>
          <a:effectLst/>
        </p:spPr>
        <p:style>
          <a:lnRef idx="1">
            <a:schemeClr val="accent1"/>
          </a:lnRef>
          <a:fillRef idx="0">
            <a:schemeClr val="accent1"/>
          </a:fillRef>
          <a:effectRef idx="0">
            <a:schemeClr val="accent1"/>
          </a:effectRef>
          <a:fontRef idx="minor">
            <a:schemeClr val="tx1"/>
          </a:fontRef>
        </p:style>
      </p:cxnSp>
      <p:sp>
        <p:nvSpPr>
          <p:cNvPr id="5122" name="Rectangle 2"/>
          <p:cNvSpPr>
            <a:spLocks noGrp="1" noChangeArrowheads="1"/>
          </p:cNvSpPr>
          <p:nvPr>
            <p:ph type="ctrTitle"/>
          </p:nvPr>
        </p:nvSpPr>
        <p:spPr>
          <a:xfrm>
            <a:off x="642910" y="1500174"/>
            <a:ext cx="7772400" cy="1371600"/>
          </a:xfrm>
        </p:spPr>
        <p:txBody>
          <a:bodyPr/>
          <a:lstStyle>
            <a:lvl1pPr>
              <a:defRPr sz="4000"/>
            </a:lvl1pPr>
          </a:lstStyle>
          <a:p>
            <a:r>
              <a:rPr lang="zh-CN" altLang="en-US" smtClean="0"/>
              <a:t>单击此处编辑母版标题样式</a:t>
            </a:r>
            <a:endParaRPr lang="zh-CN" altLang="en-US" dirty="0"/>
          </a:p>
        </p:txBody>
      </p:sp>
      <p:sp>
        <p:nvSpPr>
          <p:cNvPr id="19" name="副标题 2"/>
          <p:cNvSpPr>
            <a:spLocks noGrp="1"/>
          </p:cNvSpPr>
          <p:nvPr>
            <p:ph type="subTitle" idx="1"/>
          </p:nvPr>
        </p:nvSpPr>
        <p:spPr>
          <a:xfrm>
            <a:off x="1371600" y="3571876"/>
            <a:ext cx="6400800" cy="121444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1500" y="500063"/>
            <a:ext cx="8001000" cy="8572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566738" y="1571625"/>
            <a:ext cx="8001000" cy="49291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auto">
              <a:spcBef>
                <a:spcPts val="0"/>
              </a:spcBef>
              <a:spcAft>
                <a:spcPts val="0"/>
              </a:spcAft>
              <a:defRPr sz="1200">
                <a:latin typeface="+mn-lt"/>
                <a:ea typeface="+mn-ea"/>
              </a:defRPr>
            </a:lvl1pPr>
          </a:lstStyle>
          <a:p>
            <a:pPr>
              <a:defRPr/>
            </a:pPr>
            <a:fld id="{C7A88F70-50E4-420E-A86B-536F885F8F08}" type="datetimeFigureOut">
              <a:rPr lang="zh-CN" altLang="en-US"/>
              <a:pPr>
                <a:defRPr/>
              </a:pPr>
              <a:t>2015/4/22</a:t>
            </a:fld>
            <a:endParaRPr lang="zh-CN" altLang="en-US"/>
          </a:p>
        </p:txBody>
      </p:sp>
      <p:sp>
        <p:nvSpPr>
          <p:cNvPr id="4103" name="Rectangle 7"/>
          <p:cNvSpPr>
            <a:spLocks noGrp="1" noChangeArrowheads="1"/>
          </p:cNvSpPr>
          <p:nvPr>
            <p:ph type="ftr" sz="quarter" idx="3"/>
          </p:nvPr>
        </p:nvSpPr>
        <p:spPr bwMode="auto">
          <a:xfrm>
            <a:off x="3132138" y="6237288"/>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fontAlgn="auto">
              <a:spcBef>
                <a:spcPts val="0"/>
              </a:spcBef>
              <a:spcAft>
                <a:spcPts val="0"/>
              </a:spcAft>
              <a:defRPr sz="1200">
                <a:latin typeface="+mn-lt"/>
                <a:ea typeface="+mn-ea"/>
              </a:defRPr>
            </a:lvl1pPr>
          </a:lstStyle>
          <a:p>
            <a:pPr>
              <a:defRPr/>
            </a:pPr>
            <a:endParaRPr lang="zh-CN" altLang="en-US"/>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200">
                <a:latin typeface="+mn-lt"/>
                <a:ea typeface="+mn-ea"/>
              </a:defRPr>
            </a:lvl1pPr>
          </a:lstStyle>
          <a:p>
            <a:pPr>
              <a:defRPr/>
            </a:pPr>
            <a:fld id="{DDB00772-DC12-469B-AFAF-8A77556DAB02}" type="slidenum">
              <a:rPr lang="zh-CN" altLang="en-US"/>
              <a:pPr>
                <a:defRPr/>
              </a:pPr>
              <a:t>‹#›</a:t>
            </a:fld>
            <a:endParaRPr lang="zh-CN" altLang="en-US"/>
          </a:p>
        </p:txBody>
      </p:sp>
      <p:pic>
        <p:nvPicPr>
          <p:cNvPr id="1031" name="Picture 1"/>
          <p:cNvPicPr>
            <a:picLocks noChangeAspect="1" noChangeArrowheads="1"/>
          </p:cNvPicPr>
          <p:nvPr/>
        </p:nvPicPr>
        <p:blipFill>
          <a:blip r:embed="rId7" cstate="print"/>
          <a:srcRect/>
          <a:stretch>
            <a:fillRect/>
          </a:stretch>
        </p:blipFill>
        <p:spPr bwMode="auto">
          <a:xfrm>
            <a:off x="6750050" y="6473825"/>
            <a:ext cx="2393950" cy="393700"/>
          </a:xfrm>
          <a:prstGeom prst="rect">
            <a:avLst/>
          </a:prstGeom>
          <a:noFill/>
          <a:ln w="9525">
            <a:noFill/>
            <a:miter lim="800000"/>
            <a:headEnd/>
            <a:tailEnd/>
          </a:ln>
        </p:spPr>
      </p:pic>
      <p:sp>
        <p:nvSpPr>
          <p:cNvPr id="4107" name="Rectangle 11"/>
          <p:cNvSpPr>
            <a:spLocks noChangeArrowheads="1"/>
          </p:cNvSpPr>
          <p:nvPr/>
        </p:nvSpPr>
        <p:spPr bwMode="auto">
          <a:xfrm>
            <a:off x="357188" y="0"/>
            <a:ext cx="8786812" cy="392113"/>
          </a:xfrm>
          <a:prstGeom prst="rect">
            <a:avLst/>
          </a:prstGeom>
          <a:gradFill flip="none" rotWithShape="1">
            <a:gsLst>
              <a:gs pos="0">
                <a:srgbClr val="9E0000"/>
              </a:gs>
              <a:gs pos="100000">
                <a:schemeClr val="accent2"/>
              </a:gs>
            </a:gsLst>
            <a:lin ang="2700000" scaled="1"/>
            <a:tileRect/>
          </a:grad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4108" name="Rectangle 12" descr="bg"/>
          <p:cNvSpPr>
            <a:spLocks noChangeArrowheads="1"/>
          </p:cNvSpPr>
          <p:nvPr/>
        </p:nvSpPr>
        <p:spPr bwMode="auto">
          <a:xfrm>
            <a:off x="0" y="6477000"/>
            <a:ext cx="6751638" cy="392113"/>
          </a:xfrm>
          <a:prstGeom prst="rect">
            <a:avLst/>
          </a:prstGeom>
          <a:blipFill dpi="0" rotWithShape="1">
            <a:blip r:embed="rId8" cstate="print"/>
            <a:srcRect/>
            <a:stretch>
              <a:fillRect/>
            </a:stretch>
          </a:blipFill>
          <a:ln w="9525">
            <a:noFill/>
            <a:miter lim="800000"/>
            <a:headEnd/>
            <a:tailEnd/>
          </a:ln>
          <a:effectLst/>
        </p:spPr>
        <p:txBody>
          <a:bodyPr wrap="none" anchor="ctr"/>
          <a:lstStyle/>
          <a:p>
            <a:pPr fontAlgn="auto">
              <a:spcBef>
                <a:spcPts val="0"/>
              </a:spcBef>
              <a:spcAft>
                <a:spcPts val="0"/>
              </a:spcAft>
              <a:defRPr/>
            </a:pPr>
            <a:endParaRPr lang="zh-CN" altLang="en-US">
              <a:latin typeface="+mn-lt"/>
              <a:ea typeface="+mn-ea"/>
            </a:endParaRPr>
          </a:p>
        </p:txBody>
      </p:sp>
      <p:pic>
        <p:nvPicPr>
          <p:cNvPr id="1034" name="Picture 5"/>
          <p:cNvPicPr>
            <a:picLocks noChangeAspect="1" noChangeArrowheads="1"/>
          </p:cNvPicPr>
          <p:nvPr/>
        </p:nvPicPr>
        <p:blipFill>
          <a:blip r:embed="rId9" cstate="print"/>
          <a:srcRect/>
          <a:stretch>
            <a:fillRect/>
          </a:stretch>
        </p:blipFill>
        <p:spPr bwMode="auto">
          <a:xfrm>
            <a:off x="0" y="0"/>
            <a:ext cx="434975" cy="392113"/>
          </a:xfrm>
          <a:prstGeom prst="rect">
            <a:avLst/>
          </a:prstGeom>
          <a:noFill/>
          <a:ln w="9525">
            <a:noFill/>
            <a:miter lim="800000"/>
            <a:headEnd/>
            <a:tailEnd/>
          </a:ln>
        </p:spPr>
      </p:pic>
      <p:sp>
        <p:nvSpPr>
          <p:cNvPr id="12" name="TextBox 11"/>
          <p:cNvSpPr txBox="1"/>
          <p:nvPr/>
        </p:nvSpPr>
        <p:spPr>
          <a:xfrm>
            <a:off x="0" y="6488113"/>
            <a:ext cx="2571750" cy="369887"/>
          </a:xfrm>
          <a:prstGeom prst="rect">
            <a:avLst/>
          </a:prstGeom>
          <a:noFill/>
        </p:spPr>
        <p:txBody>
          <a:bodyPr>
            <a:spAutoFit/>
          </a:bodyPr>
          <a:lstStyle/>
          <a:p>
            <a:pPr fontAlgn="auto">
              <a:spcBef>
                <a:spcPts val="0"/>
              </a:spcBef>
              <a:spcAft>
                <a:spcPts val="0"/>
              </a:spcAft>
              <a:defRPr/>
            </a:pPr>
            <a:r>
              <a:rPr lang="en-GB" altLang="zh-CN" dirty="0">
                <a:solidFill>
                  <a:schemeClr val="accent1">
                    <a:lumMod val="60000"/>
                    <a:lumOff val="40000"/>
                  </a:schemeClr>
                </a:solidFill>
                <a:latin typeface="Harlow Solid Italic" pitchFamily="82" charset="0"/>
                <a:ea typeface="+mn-ea"/>
              </a:rPr>
              <a:t> </a:t>
            </a:r>
            <a:r>
              <a:rPr lang="en-GB" altLang="zh-CN" sz="1400" dirty="0">
                <a:solidFill>
                  <a:schemeClr val="accent1">
                    <a:lumMod val="60000"/>
                    <a:lumOff val="40000"/>
                  </a:schemeClr>
                </a:solidFill>
                <a:latin typeface="Harlow Solid Italic" pitchFamily="82" charset="0"/>
                <a:ea typeface="+mn-ea"/>
              </a:rPr>
              <a:t>Intelligence makes life better </a:t>
            </a:r>
            <a:endParaRPr lang="zh-CN" altLang="en-US" sz="1400" dirty="0">
              <a:solidFill>
                <a:schemeClr val="accent1">
                  <a:lumMod val="60000"/>
                  <a:lumOff val="40000"/>
                </a:schemeClr>
              </a:solidFill>
              <a:latin typeface="Harlow Solid Italic" pitchFamily="82" charset="0"/>
              <a:ea typeface="+mn-ea"/>
            </a:endParaRPr>
          </a:p>
        </p:txBody>
      </p:sp>
      <p:cxnSp>
        <p:nvCxnSpPr>
          <p:cNvPr id="13" name="直接连接符 12"/>
          <p:cNvCxnSpPr/>
          <p:nvPr/>
        </p:nvCxnSpPr>
        <p:spPr>
          <a:xfrm>
            <a:off x="571500" y="1428750"/>
            <a:ext cx="8001000" cy="1588"/>
          </a:xfrm>
          <a:prstGeom prst="line">
            <a:avLst/>
          </a:prstGeom>
          <a:ln w="53975" cap="rnd" cmpd="sng">
            <a:solidFill>
              <a:schemeClr val="accent6"/>
            </a:solidFill>
          </a:ln>
          <a:effectLst/>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iming>
    <p:tnLst>
      <p:par>
        <p:cTn id="1" dur="indefinite" restart="never" nodeType="tmRoot"/>
      </p:par>
    </p:tnLst>
  </p:timing>
  <p:txStyles>
    <p:titleStyle>
      <a:lvl1pPr algn="l" rtl="0" eaLnBrk="1" fontAlgn="base" hangingPunct="1">
        <a:spcBef>
          <a:spcPct val="0"/>
        </a:spcBef>
        <a:spcAft>
          <a:spcPct val="0"/>
        </a:spcAft>
        <a:defRPr sz="360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2pPr>
      <a:lvl3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3pPr>
      <a:lvl4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4pPr>
      <a:lvl5pPr algn="l" rtl="0" eaLnBrk="1" fontAlgn="base" hangingPunct="1">
        <a:spcBef>
          <a:spcPct val="0"/>
        </a:spcBef>
        <a:spcAft>
          <a:spcPct val="0"/>
        </a:spcAft>
        <a:defRPr sz="3600">
          <a:solidFill>
            <a:schemeClr val="tx2"/>
          </a:solidFill>
          <a:latin typeface="Franklin Gothic Medium" pitchFamily="34" charset="0"/>
          <a:ea typeface="隶书" pitchFamily="49" charset="-122"/>
        </a:defRPr>
      </a:lvl5pPr>
      <a:lvl6pPr marL="457200" algn="l" rtl="0" eaLnBrk="1" fontAlgn="base" hangingPunct="1">
        <a:spcBef>
          <a:spcPct val="0"/>
        </a:spcBef>
        <a:spcAft>
          <a:spcPct val="0"/>
        </a:spcAft>
        <a:defRPr sz="3800">
          <a:solidFill>
            <a:schemeClr val="tx2"/>
          </a:solidFill>
          <a:latin typeface="Verdana" pitchFamily="34" charset="0"/>
          <a:ea typeface="宋体" pitchFamily="2" charset="-122"/>
        </a:defRPr>
      </a:lvl6pPr>
      <a:lvl7pPr marL="914400" algn="l" rtl="0" eaLnBrk="1" fontAlgn="base" hangingPunct="1">
        <a:spcBef>
          <a:spcPct val="0"/>
        </a:spcBef>
        <a:spcAft>
          <a:spcPct val="0"/>
        </a:spcAft>
        <a:defRPr sz="3800">
          <a:solidFill>
            <a:schemeClr val="tx2"/>
          </a:solidFill>
          <a:latin typeface="Verdana" pitchFamily="34" charset="0"/>
          <a:ea typeface="宋体" pitchFamily="2" charset="-122"/>
        </a:defRPr>
      </a:lvl7pPr>
      <a:lvl8pPr marL="1371600" algn="l" rtl="0" eaLnBrk="1" fontAlgn="base" hangingPunct="1">
        <a:spcBef>
          <a:spcPct val="0"/>
        </a:spcBef>
        <a:spcAft>
          <a:spcPct val="0"/>
        </a:spcAft>
        <a:defRPr sz="3800">
          <a:solidFill>
            <a:schemeClr val="tx2"/>
          </a:solidFill>
          <a:latin typeface="Verdana" pitchFamily="34" charset="0"/>
          <a:ea typeface="宋体" pitchFamily="2" charset="-122"/>
        </a:defRPr>
      </a:lvl8pPr>
      <a:lvl9pPr marL="1828800" algn="l" rtl="0" eaLnBrk="1" fontAlgn="base" hangingPunct="1">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1" fontAlgn="base" hangingPunct="1">
        <a:spcBef>
          <a:spcPts val="600"/>
        </a:spcBef>
        <a:spcAft>
          <a:spcPts val="1200"/>
        </a:spcAft>
        <a:buClr>
          <a:srgbClr val="004D86"/>
        </a:buClr>
        <a:buSzPct val="100000"/>
        <a:buFont typeface="Wingdings" pitchFamily="2" charset="2"/>
        <a:buChar char="p"/>
        <a:defRPr sz="3000">
          <a:solidFill>
            <a:schemeClr val="tx1"/>
          </a:solidFill>
          <a:latin typeface="+mn-lt"/>
          <a:ea typeface="+mn-ea"/>
          <a:cs typeface="+mn-cs"/>
        </a:defRPr>
      </a:lvl1pPr>
      <a:lvl2pPr marL="908050" indent="-436563" algn="l" rtl="0" eaLnBrk="1" fontAlgn="base" hangingPunct="1">
        <a:spcBef>
          <a:spcPts val="600"/>
        </a:spcBef>
        <a:spcAft>
          <a:spcPts val="1200"/>
        </a:spcAft>
        <a:buClr>
          <a:srgbClr val="004D86"/>
        </a:buClr>
        <a:buSzPct val="100000"/>
        <a:buFont typeface="Wingdings" pitchFamily="2" charset="2"/>
        <a:buChar char="n"/>
        <a:defRPr sz="2600">
          <a:solidFill>
            <a:schemeClr val="tx1"/>
          </a:solidFill>
          <a:latin typeface="+mn-lt"/>
          <a:ea typeface="+mn-ea"/>
        </a:defRPr>
      </a:lvl2pPr>
      <a:lvl3pPr marL="1304925" indent="-395288" algn="l" rtl="0" eaLnBrk="1" fontAlgn="base" hangingPunct="1">
        <a:spcBef>
          <a:spcPts val="600"/>
        </a:spcBef>
        <a:spcAft>
          <a:spcPts val="1200"/>
        </a:spcAft>
        <a:buClr>
          <a:srgbClr val="004D86"/>
        </a:buClr>
        <a:buSzPct val="100000"/>
        <a:buFont typeface="Wingdings" pitchFamily="2" charset="2"/>
        <a:buChar char="p"/>
        <a:defRPr sz="2300">
          <a:solidFill>
            <a:schemeClr val="tx1"/>
          </a:solidFill>
          <a:latin typeface="+mn-lt"/>
          <a:ea typeface="+mn-ea"/>
        </a:defRPr>
      </a:lvl3pPr>
      <a:lvl4pPr marL="1693863" indent="-387350" algn="l" rtl="0" eaLnBrk="1" fontAlgn="base" hangingPunct="1">
        <a:spcBef>
          <a:spcPts val="600"/>
        </a:spcBef>
        <a:spcAft>
          <a:spcPts val="1200"/>
        </a:spcAft>
        <a:buClr>
          <a:srgbClr val="004D86"/>
        </a:buClr>
        <a:buSzPct val="100000"/>
        <a:buFont typeface="Wingdings" pitchFamily="2" charset="2"/>
        <a:buChar char="n"/>
        <a:defRPr sz="2000">
          <a:solidFill>
            <a:schemeClr val="tx1"/>
          </a:solidFill>
          <a:latin typeface="+mn-lt"/>
          <a:ea typeface="+mn-ea"/>
        </a:defRPr>
      </a:lvl4pPr>
      <a:lvl5pPr marL="2152650" indent="-457200" algn="l" rtl="0" eaLnBrk="1" fontAlgn="base" hangingPunct="1">
        <a:spcBef>
          <a:spcPts val="600"/>
        </a:spcBef>
        <a:spcAft>
          <a:spcPts val="1200"/>
        </a:spcAft>
        <a:buClr>
          <a:srgbClr val="004D86"/>
        </a:buClr>
        <a:buSzPct val="100000"/>
        <a:buFont typeface="Wingdings" pitchFamily="2" charset="2"/>
        <a:buChar char="p"/>
        <a:defRPr sz="2000">
          <a:solidFill>
            <a:schemeClr val="tx1"/>
          </a:solidFill>
          <a:latin typeface="+mn-lt"/>
          <a:ea typeface="+mn-ea"/>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ctrTitle"/>
          </p:nvPr>
        </p:nvSpPr>
        <p:spPr>
          <a:xfrm>
            <a:off x="468313" y="1484313"/>
            <a:ext cx="8064500" cy="1371600"/>
          </a:xfrm>
        </p:spPr>
        <p:txBody>
          <a:bodyPr/>
          <a:lstStyle/>
          <a:p>
            <a:pPr algn="ctr" eaLnBrk="1" hangingPunct="1"/>
            <a:r>
              <a:rPr lang="zh-CN" altLang="en-US" sz="3600" dirty="0" smtClean="0"/>
              <a:t>接口</a:t>
            </a:r>
          </a:p>
        </p:txBody>
      </p:sp>
      <p:sp>
        <p:nvSpPr>
          <p:cNvPr id="4" name="副标题 3"/>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主要内容</a:t>
            </a:r>
            <a:endParaRPr lang="zh-CN" altLang="en-US" dirty="0"/>
          </a:p>
        </p:txBody>
      </p:sp>
      <p:sp>
        <p:nvSpPr>
          <p:cNvPr id="8" name="内容占位符 7"/>
          <p:cNvSpPr>
            <a:spLocks noGrp="1"/>
          </p:cNvSpPr>
          <p:nvPr>
            <p:ph idx="1"/>
          </p:nvPr>
        </p:nvSpPr>
        <p:spPr/>
        <p:txBody>
          <a:bodyPr/>
          <a:lstStyle/>
          <a:p>
            <a:pPr marL="609600" indent="-609600"/>
            <a:r>
              <a:rPr lang="zh-CN" altLang="en-US" b="1" dirty="0" smtClean="0"/>
              <a:t>什么是接口</a:t>
            </a:r>
          </a:p>
          <a:p>
            <a:pPr marL="609600" indent="-609600"/>
            <a:r>
              <a:rPr lang="en-US" altLang="zh-CN" b="1" dirty="0" smtClean="0"/>
              <a:t> </a:t>
            </a:r>
            <a:r>
              <a:rPr lang="zh-CN" altLang="en-US" b="1" dirty="0" smtClean="0"/>
              <a:t>接口的定义</a:t>
            </a:r>
          </a:p>
          <a:p>
            <a:pPr marL="609600" indent="-609600"/>
            <a:r>
              <a:rPr lang="zh-CN" altLang="en-US" b="1" dirty="0" smtClean="0"/>
              <a:t>接口的实现</a:t>
            </a:r>
          </a:p>
          <a:p>
            <a:pPr marL="609600" indent="-609600"/>
            <a:r>
              <a:rPr lang="zh-CN" altLang="en-US" b="1" dirty="0" smtClean="0"/>
              <a:t>接口类型</a:t>
            </a:r>
            <a:endParaRPr lang="en-US" altLang="zh-CN" b="1" dirty="0" smtClean="0"/>
          </a:p>
          <a:p>
            <a:r>
              <a:rPr lang="zh-CN" altLang="en-US" b="1" dirty="0" smtClean="0"/>
              <a:t>  应用举例</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8" name="Rectangle 4"/>
          <p:cNvSpPr>
            <a:spLocks noGrp="1" noChangeArrowheads="1"/>
          </p:cNvSpPr>
          <p:nvPr>
            <p:ph type="body" idx="1"/>
          </p:nvPr>
        </p:nvSpPr>
        <p:spPr>
          <a:xfrm>
            <a:off x="533400" y="1484784"/>
            <a:ext cx="8610600" cy="4719637"/>
          </a:xfrm>
        </p:spPr>
        <p:txBody>
          <a:bodyPr/>
          <a:lstStyle/>
          <a:p>
            <a:pPr marL="609600" indent="-609600">
              <a:buFont typeface="Wingdings" pitchFamily="2" charset="2"/>
              <a:buAutoNum type="arabicPeriod"/>
            </a:pPr>
            <a:r>
              <a:rPr lang="zh-CN" altLang="en-US" sz="2800" b="1" dirty="0"/>
              <a:t>定义：</a:t>
            </a:r>
            <a:r>
              <a:rPr lang="zh-CN" altLang="en-US" sz="2800" dirty="0"/>
              <a:t>接口就是方法定义（没有方法的实现）和常量值的集合 </a:t>
            </a:r>
            <a:r>
              <a:rPr lang="zh-CN" altLang="en-US" sz="2800" dirty="0" smtClean="0"/>
              <a:t>。</a:t>
            </a:r>
            <a:endParaRPr lang="en-US" altLang="zh-CN" sz="2800" dirty="0" smtClean="0"/>
          </a:p>
          <a:p>
            <a:pPr marL="609600" indent="-609600">
              <a:buFont typeface="Wingdings" pitchFamily="2" charset="2"/>
              <a:buNone/>
            </a:pPr>
            <a:r>
              <a:rPr lang="zh-CN" altLang="en-US" sz="2800" dirty="0" smtClean="0"/>
              <a:t>    </a:t>
            </a:r>
            <a:r>
              <a:rPr lang="en-US" altLang="zh-CN" sz="2400" dirty="0"/>
              <a:t>public interface Sleeper {</a:t>
            </a:r>
          </a:p>
          <a:p>
            <a:pPr marL="609600" indent="-609600">
              <a:buFont typeface="Wingdings" pitchFamily="2" charset="2"/>
              <a:buNone/>
            </a:pPr>
            <a:r>
              <a:rPr lang="en-US" altLang="zh-CN" sz="2400" dirty="0"/>
              <a:t>   	    public void wakeUp();</a:t>
            </a:r>
          </a:p>
          <a:p>
            <a:pPr marL="609600" indent="-609600">
              <a:buFont typeface="Wingdings" pitchFamily="2" charset="2"/>
              <a:buNone/>
            </a:pPr>
            <a:r>
              <a:rPr lang="en-US" altLang="zh-CN" sz="2400" dirty="0"/>
              <a:t>	    public void beep();</a:t>
            </a:r>
          </a:p>
          <a:p>
            <a:pPr marL="609600" indent="-609600">
              <a:buFont typeface="Wingdings" pitchFamily="2" charset="2"/>
              <a:buNone/>
            </a:pPr>
            <a:r>
              <a:rPr lang="en-US" altLang="zh-CN" sz="2400" dirty="0"/>
              <a:t>	    public long ONE_SECOND = 1000;</a:t>
            </a:r>
          </a:p>
          <a:p>
            <a:pPr marL="609600" indent="-609600">
              <a:buFont typeface="Wingdings" pitchFamily="2" charset="2"/>
              <a:buNone/>
            </a:pPr>
            <a:r>
              <a:rPr lang="en-US" altLang="zh-CN" sz="2400" dirty="0"/>
              <a:t>	    public long ONE_MINUTE = 60000;</a:t>
            </a:r>
          </a:p>
          <a:p>
            <a:pPr marL="609600" indent="-609600">
              <a:buFont typeface="Wingdings" pitchFamily="2" charset="2"/>
              <a:buNone/>
            </a:pPr>
            <a:r>
              <a:rPr lang="en-US" altLang="zh-CN" sz="2400" dirty="0"/>
              <a:t>    }</a:t>
            </a:r>
          </a:p>
          <a:p>
            <a:pPr marL="609600" indent="-609600">
              <a:buFont typeface="Wingdings" pitchFamily="2" charset="2"/>
              <a:buNone/>
            </a:pPr>
            <a:endParaRPr lang="en-US" altLang="zh-CN" sz="2400" dirty="0"/>
          </a:p>
        </p:txBody>
      </p:sp>
      <p:sp>
        <p:nvSpPr>
          <p:cNvPr id="7" name="标题 6"/>
          <p:cNvSpPr>
            <a:spLocks noGrp="1"/>
          </p:cNvSpPr>
          <p:nvPr>
            <p:ph type="title"/>
          </p:nvPr>
        </p:nvSpPr>
        <p:spPr/>
        <p:txBody>
          <a:bodyPr/>
          <a:lstStyle/>
          <a:p>
            <a:r>
              <a:rPr lang="zh-CN" altLang="en-US" b="1" dirty="0" smtClean="0">
                <a:solidFill>
                  <a:srgbClr val="0033CC"/>
                </a:solidFill>
              </a:rPr>
              <a:t>什么是接口</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6" name="Rectangle 4"/>
          <p:cNvSpPr>
            <a:spLocks noGrp="1" noChangeArrowheads="1"/>
          </p:cNvSpPr>
          <p:nvPr>
            <p:ph type="body" idx="1"/>
          </p:nvPr>
        </p:nvSpPr>
        <p:spPr>
          <a:xfrm>
            <a:off x="395536" y="1556792"/>
            <a:ext cx="5715000" cy="4719637"/>
          </a:xfrm>
        </p:spPr>
        <p:txBody>
          <a:bodyPr/>
          <a:lstStyle/>
          <a:p>
            <a:pPr marL="609600" indent="-609600">
              <a:buFont typeface="Wingdings" pitchFamily="2" charset="2"/>
              <a:buAutoNum type="arabicPeriod" startAt="2"/>
            </a:pPr>
            <a:r>
              <a:rPr lang="zh-CN" altLang="en-US" sz="2800" b="1" dirty="0" smtClean="0"/>
              <a:t>能否</a:t>
            </a:r>
            <a:r>
              <a:rPr lang="zh-CN" altLang="en-US" sz="2800" b="1" dirty="0"/>
              <a:t>使用抽象类来替代接口？</a:t>
            </a:r>
          </a:p>
          <a:p>
            <a:pPr marL="609600" indent="-609600"/>
            <a:r>
              <a:rPr lang="zh-CN" altLang="en-US" sz="2800" dirty="0" smtClean="0"/>
              <a:t>多</a:t>
            </a:r>
            <a:r>
              <a:rPr lang="zh-CN" altLang="en-US" sz="2800" dirty="0"/>
              <a:t>继承问题</a:t>
            </a:r>
          </a:p>
          <a:p>
            <a:pPr marL="609600" indent="-609600"/>
            <a:r>
              <a:rPr lang="zh-CN" altLang="en-US" sz="2800" dirty="0"/>
              <a:t>使用接口中方法和常数的类是否一定与它有继承关系。</a:t>
            </a:r>
            <a:endParaRPr lang="zh-CN" altLang="en-US" sz="2400" dirty="0"/>
          </a:p>
          <a:p>
            <a:pPr marL="609600" indent="-609600">
              <a:buFont typeface="Wingdings" pitchFamily="2" charset="2"/>
              <a:buNone/>
            </a:pPr>
            <a:endParaRPr lang="en-US" altLang="zh-CN" sz="2400" dirty="0"/>
          </a:p>
        </p:txBody>
      </p:sp>
      <p:pic>
        <p:nvPicPr>
          <p:cNvPr id="131077" name="Picture 5"/>
          <p:cNvPicPr>
            <a:picLocks noChangeAspect="1" noChangeArrowheads="1"/>
          </p:cNvPicPr>
          <p:nvPr/>
        </p:nvPicPr>
        <p:blipFill>
          <a:blip r:embed="rId2" cstate="print"/>
          <a:srcRect/>
          <a:stretch>
            <a:fillRect/>
          </a:stretch>
        </p:blipFill>
        <p:spPr bwMode="auto">
          <a:xfrm>
            <a:off x="6869113" y="2070124"/>
            <a:ext cx="2009775" cy="3886200"/>
          </a:xfrm>
          <a:prstGeom prst="rect">
            <a:avLst/>
          </a:prstGeom>
          <a:noFill/>
          <a:ln w="9525">
            <a:noFill/>
            <a:miter lim="800000"/>
            <a:headEnd/>
            <a:tailEnd/>
          </a:ln>
          <a:effectLst/>
        </p:spPr>
      </p:pic>
      <p:pic>
        <p:nvPicPr>
          <p:cNvPr id="131078" name="Picture 6"/>
          <p:cNvPicPr>
            <a:picLocks noChangeAspect="1" noChangeArrowheads="1"/>
          </p:cNvPicPr>
          <p:nvPr/>
        </p:nvPicPr>
        <p:blipFill>
          <a:blip r:embed="rId3" cstate="print"/>
          <a:srcRect/>
          <a:stretch>
            <a:fillRect/>
          </a:stretch>
        </p:blipFill>
        <p:spPr bwMode="auto">
          <a:xfrm>
            <a:off x="5105400" y="2011387"/>
            <a:ext cx="1524000" cy="473075"/>
          </a:xfrm>
          <a:prstGeom prst="rect">
            <a:avLst/>
          </a:prstGeom>
          <a:noFill/>
          <a:ln w="9525">
            <a:noFill/>
            <a:miter lim="800000"/>
            <a:headEnd/>
            <a:tailEnd/>
          </a:ln>
          <a:effectLst/>
        </p:spPr>
      </p:pic>
      <p:sp>
        <p:nvSpPr>
          <p:cNvPr id="131079" name="Line 7"/>
          <p:cNvSpPr>
            <a:spLocks noChangeShapeType="1"/>
          </p:cNvSpPr>
          <p:nvPr/>
        </p:nvSpPr>
        <p:spPr bwMode="auto">
          <a:xfrm flipV="1">
            <a:off x="7315200" y="3898924"/>
            <a:ext cx="0" cy="533400"/>
          </a:xfrm>
          <a:prstGeom prst="line">
            <a:avLst/>
          </a:prstGeom>
          <a:noFill/>
          <a:ln w="9525">
            <a:solidFill>
              <a:schemeClr val="tx1"/>
            </a:solidFill>
            <a:round/>
            <a:headEnd/>
            <a:tailEnd/>
          </a:ln>
          <a:effectLst/>
        </p:spPr>
        <p:txBody>
          <a:bodyPr wrap="none"/>
          <a:lstStyle/>
          <a:p>
            <a:endParaRPr lang="zh-CN" altLang="en-US"/>
          </a:p>
        </p:txBody>
      </p:sp>
      <p:sp>
        <p:nvSpPr>
          <p:cNvPr id="131080" name="Line 8"/>
          <p:cNvSpPr>
            <a:spLocks noChangeShapeType="1"/>
          </p:cNvSpPr>
          <p:nvPr/>
        </p:nvSpPr>
        <p:spPr bwMode="auto">
          <a:xfrm flipH="1">
            <a:off x="6096000" y="3898924"/>
            <a:ext cx="1219200" cy="0"/>
          </a:xfrm>
          <a:prstGeom prst="line">
            <a:avLst/>
          </a:prstGeom>
          <a:noFill/>
          <a:ln w="9525">
            <a:solidFill>
              <a:schemeClr val="tx1"/>
            </a:solidFill>
            <a:round/>
            <a:headEnd/>
            <a:tailEnd/>
          </a:ln>
          <a:effectLst/>
        </p:spPr>
        <p:txBody>
          <a:bodyPr wrap="none"/>
          <a:lstStyle/>
          <a:p>
            <a:endParaRPr lang="zh-CN" altLang="en-US"/>
          </a:p>
        </p:txBody>
      </p:sp>
      <p:sp>
        <p:nvSpPr>
          <p:cNvPr id="131081" name="Line 9"/>
          <p:cNvSpPr>
            <a:spLocks noChangeShapeType="1"/>
          </p:cNvSpPr>
          <p:nvPr/>
        </p:nvSpPr>
        <p:spPr bwMode="auto">
          <a:xfrm flipV="1">
            <a:off x="6096000" y="2451124"/>
            <a:ext cx="0" cy="1447800"/>
          </a:xfrm>
          <a:prstGeom prst="line">
            <a:avLst/>
          </a:prstGeom>
          <a:noFill/>
          <a:ln w="9525">
            <a:solidFill>
              <a:schemeClr val="tx1"/>
            </a:solidFill>
            <a:round/>
            <a:headEnd/>
            <a:tailEnd type="triangle" w="med" len="med"/>
          </a:ln>
          <a:effectLst/>
        </p:spPr>
        <p:txBody>
          <a:bodyPr wrap="none"/>
          <a:lstStyle/>
          <a:p>
            <a:endParaRPr lang="zh-CN" altLang="en-US"/>
          </a:p>
        </p:txBody>
      </p:sp>
      <p:pic>
        <p:nvPicPr>
          <p:cNvPr id="131082" name="Picture 10"/>
          <p:cNvPicPr>
            <a:picLocks noChangeAspect="1" noChangeArrowheads="1"/>
          </p:cNvPicPr>
          <p:nvPr/>
        </p:nvPicPr>
        <p:blipFill>
          <a:blip r:embed="rId4" cstate="print"/>
          <a:srcRect/>
          <a:stretch>
            <a:fillRect/>
          </a:stretch>
        </p:blipFill>
        <p:spPr bwMode="auto">
          <a:xfrm>
            <a:off x="5978525" y="2451124"/>
            <a:ext cx="228600" cy="200025"/>
          </a:xfrm>
          <a:prstGeom prst="rect">
            <a:avLst/>
          </a:prstGeom>
          <a:noFill/>
          <a:ln w="9525">
            <a:noFill/>
            <a:miter lim="800000"/>
            <a:headEnd/>
            <a:tailEnd/>
          </a:ln>
          <a:effectLst/>
        </p:spPr>
      </p:pic>
      <p:sp>
        <p:nvSpPr>
          <p:cNvPr id="13" name="标题 12"/>
          <p:cNvSpPr>
            <a:spLocks noGrp="1"/>
          </p:cNvSpPr>
          <p:nvPr>
            <p:ph type="title"/>
          </p:nvPr>
        </p:nvSpPr>
        <p:spPr/>
        <p:txBody>
          <a:bodyPr/>
          <a:lstStyle/>
          <a:p>
            <a:r>
              <a:rPr lang="zh-CN" altLang="en-US" dirty="0" smtClean="0"/>
              <a:t>什么是接口</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89713" y="6376988"/>
            <a:ext cx="2193925" cy="457200"/>
          </a:xfrm>
          <a:prstGeom prst="rect">
            <a:avLst/>
          </a:prstGeom>
        </p:spPr>
        <p:txBody>
          <a:bodyPr/>
          <a:lstStyle/>
          <a:p>
            <a:fld id="{E2317B90-BF8A-46E9-A19F-27FE0BFC7908}" type="slidenum">
              <a:rPr lang="en-US" altLang="zh-CN"/>
              <a:pPr/>
              <a:t>5</a:t>
            </a:fld>
            <a:endParaRPr lang="en-US" altLang="zh-CN"/>
          </a:p>
        </p:txBody>
      </p:sp>
      <p:sp>
        <p:nvSpPr>
          <p:cNvPr id="132100" name="Rectangle 4"/>
          <p:cNvSpPr>
            <a:spLocks noGrp="1" noChangeArrowheads="1"/>
          </p:cNvSpPr>
          <p:nvPr>
            <p:ph type="body" idx="1"/>
          </p:nvPr>
        </p:nvSpPr>
        <p:spPr>
          <a:xfrm>
            <a:off x="323528" y="1556792"/>
            <a:ext cx="8610600" cy="4719637"/>
          </a:xfrm>
        </p:spPr>
        <p:txBody>
          <a:bodyPr/>
          <a:lstStyle/>
          <a:p>
            <a:pPr marL="609600" indent="-609600">
              <a:buFont typeface="Wingdings" pitchFamily="2" charset="2"/>
              <a:buNone/>
            </a:pPr>
            <a:r>
              <a:rPr lang="en-US" altLang="zh-CN" sz="2800" b="1" dirty="0"/>
              <a:t>3.   </a:t>
            </a:r>
            <a:r>
              <a:rPr lang="zh-CN" altLang="en-US" sz="2800" b="1" dirty="0"/>
              <a:t>接口是否能看成多重继承呢？</a:t>
            </a:r>
            <a:endParaRPr lang="zh-CN" altLang="en-US" sz="2400" b="1" dirty="0"/>
          </a:p>
          <a:p>
            <a:pPr marL="609600" indent="-609600">
              <a:buFont typeface="Wingdings" pitchFamily="2" charset="2"/>
              <a:buNone/>
            </a:pPr>
            <a:r>
              <a:rPr lang="zh-CN" altLang="en-US" sz="2800" dirty="0">
                <a:latin typeface="宋体" pitchFamily="2" charset="-122"/>
              </a:rPr>
              <a:t>	接口虽然能完成多重继承的相似功能，但是完全不同的</a:t>
            </a:r>
            <a:r>
              <a:rPr lang="en-US" altLang="zh-CN" sz="2800" dirty="0">
                <a:latin typeface="宋体" pitchFamily="2" charset="-122"/>
              </a:rPr>
              <a:t>:</a:t>
            </a:r>
          </a:p>
          <a:p>
            <a:pPr marL="609600" indent="-609600"/>
            <a:r>
              <a:rPr lang="zh-CN" altLang="en-US" sz="2700" dirty="0">
                <a:latin typeface="宋体" pitchFamily="2" charset="-122"/>
              </a:rPr>
              <a:t>一个类仅仅继承接口中的常量。</a:t>
            </a:r>
          </a:p>
          <a:p>
            <a:pPr marL="609600" indent="-609600"/>
            <a:r>
              <a:rPr lang="zh-CN" altLang="en-US" sz="2700" dirty="0">
                <a:latin typeface="宋体" pitchFamily="2" charset="-122"/>
              </a:rPr>
              <a:t>一个类不能继承接口中的方法。</a:t>
            </a:r>
          </a:p>
          <a:p>
            <a:pPr marL="609600" indent="-609600"/>
            <a:r>
              <a:rPr lang="zh-CN" altLang="en-US" sz="2700" dirty="0">
                <a:latin typeface="宋体" pitchFamily="2" charset="-122"/>
              </a:rPr>
              <a:t>接口继承独立于类的继承。执行相同接口的类，不一定在类继承上相关。</a:t>
            </a:r>
          </a:p>
          <a:p>
            <a:pPr marL="609600" indent="-609600"/>
            <a:endParaRPr lang="en-US" altLang="zh-CN" sz="2700" dirty="0">
              <a:latin typeface="宋体" pitchFamily="2" charset="-122"/>
            </a:endParaRPr>
          </a:p>
        </p:txBody>
      </p:sp>
      <p:sp>
        <p:nvSpPr>
          <p:cNvPr id="132101" name="Rectangle 5"/>
          <p:cNvSpPr>
            <a:spLocks noChangeArrowheads="1"/>
          </p:cNvSpPr>
          <p:nvPr/>
        </p:nvSpPr>
        <p:spPr bwMode="auto">
          <a:xfrm>
            <a:off x="1295400" y="2514600"/>
            <a:ext cx="7378700" cy="1143000"/>
          </a:xfrm>
          <a:prstGeom prst="rect">
            <a:avLst/>
          </a:prstGeom>
          <a:noFill/>
          <a:ln w="9525">
            <a:noFill/>
            <a:miter lim="800000"/>
            <a:headEnd/>
            <a:tailEnd/>
          </a:ln>
          <a:effectLst/>
        </p:spPr>
        <p:txBody>
          <a:bodyPr anchor="ctr"/>
          <a:lstStyle/>
          <a:p>
            <a:pPr>
              <a:lnSpc>
                <a:spcPct val="85000"/>
              </a:lnSpc>
            </a:pPr>
            <a:r>
              <a:rPr lang="en-US" altLang="zh-CN" sz="3600" b="1">
                <a:solidFill>
                  <a:schemeClr val="hlink"/>
                </a:solidFill>
                <a:latin typeface="宋体" pitchFamily="2" charset="-122"/>
              </a:rPr>
              <a:t>		</a:t>
            </a:r>
            <a:endParaRPr lang="en-US" altLang="zh-CN" sz="3200" b="1">
              <a:solidFill>
                <a:srgbClr val="0033CC"/>
              </a:solidFill>
            </a:endParaRPr>
          </a:p>
        </p:txBody>
      </p:sp>
      <p:sp>
        <p:nvSpPr>
          <p:cNvPr id="9" name="标题 8"/>
          <p:cNvSpPr>
            <a:spLocks noGrp="1"/>
          </p:cNvSpPr>
          <p:nvPr>
            <p:ph type="title"/>
          </p:nvPr>
        </p:nvSpPr>
        <p:spPr/>
        <p:txBody>
          <a:bodyPr/>
          <a:lstStyle/>
          <a:p>
            <a:r>
              <a:rPr lang="zh-CN" altLang="en-US" b="1" dirty="0" smtClean="0">
                <a:solidFill>
                  <a:srgbClr val="0033CC"/>
                </a:solidFill>
              </a:rPr>
              <a:t>什么是接口</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4"/>
          <p:cNvSpPr>
            <a:spLocks noGrp="1" noChangeArrowheads="1"/>
          </p:cNvSpPr>
          <p:nvPr>
            <p:ph type="body" idx="1"/>
          </p:nvPr>
        </p:nvSpPr>
        <p:spPr>
          <a:xfrm>
            <a:off x="533400" y="836712"/>
            <a:ext cx="8610600" cy="4719637"/>
          </a:xfrm>
        </p:spPr>
        <p:txBody>
          <a:bodyPr/>
          <a:lstStyle/>
          <a:p>
            <a:pPr marL="609600" indent="-609600">
              <a:buFont typeface="Wingdings" pitchFamily="2" charset="2"/>
              <a:buNone/>
            </a:pPr>
            <a:r>
              <a:rPr lang="zh-CN" altLang="en-US" sz="2800" b="1" dirty="0"/>
              <a:t>例子：</a:t>
            </a:r>
            <a:endParaRPr lang="zh-CN" altLang="en-US" sz="2700" dirty="0">
              <a:latin typeface="宋体" pitchFamily="2" charset="-122"/>
            </a:endParaRPr>
          </a:p>
          <a:p>
            <a:pPr marL="609600" indent="-609600"/>
            <a:endParaRPr lang="en-US" altLang="zh-CN" sz="2700" dirty="0">
              <a:latin typeface="宋体" pitchFamily="2" charset="-122"/>
            </a:endParaRPr>
          </a:p>
        </p:txBody>
      </p:sp>
      <p:sp>
        <p:nvSpPr>
          <p:cNvPr id="137221" name="Rectangle 5"/>
          <p:cNvSpPr>
            <a:spLocks noChangeArrowheads="1"/>
          </p:cNvSpPr>
          <p:nvPr/>
        </p:nvSpPr>
        <p:spPr bwMode="auto">
          <a:xfrm>
            <a:off x="1295400" y="2514600"/>
            <a:ext cx="7378700" cy="1143000"/>
          </a:xfrm>
          <a:prstGeom prst="rect">
            <a:avLst/>
          </a:prstGeom>
          <a:noFill/>
          <a:ln w="9525">
            <a:noFill/>
            <a:miter lim="800000"/>
            <a:headEnd/>
            <a:tailEnd/>
          </a:ln>
          <a:effectLst/>
        </p:spPr>
        <p:txBody>
          <a:bodyPr anchor="ctr"/>
          <a:lstStyle/>
          <a:p>
            <a:pPr>
              <a:lnSpc>
                <a:spcPct val="85000"/>
              </a:lnSpc>
            </a:pPr>
            <a:r>
              <a:rPr lang="en-US" altLang="zh-CN" sz="3600" b="1">
                <a:solidFill>
                  <a:schemeClr val="hlink"/>
                </a:solidFill>
                <a:latin typeface="宋体" pitchFamily="2" charset="-122"/>
              </a:rPr>
              <a:t>		</a:t>
            </a:r>
            <a:endParaRPr lang="en-US" altLang="zh-CN" sz="3200" b="1">
              <a:solidFill>
                <a:srgbClr val="0033CC"/>
              </a:solidFill>
            </a:endParaRPr>
          </a:p>
        </p:txBody>
      </p:sp>
      <p:pic>
        <p:nvPicPr>
          <p:cNvPr id="137222" name="Picture 6"/>
          <p:cNvPicPr>
            <a:picLocks noChangeAspect="1" noChangeArrowheads="1"/>
          </p:cNvPicPr>
          <p:nvPr/>
        </p:nvPicPr>
        <p:blipFill>
          <a:blip r:embed="rId2" cstate="print"/>
          <a:srcRect/>
          <a:stretch>
            <a:fillRect/>
          </a:stretch>
        </p:blipFill>
        <p:spPr bwMode="auto">
          <a:xfrm>
            <a:off x="1403648" y="1268760"/>
            <a:ext cx="6934200" cy="4718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body" idx="1"/>
          </p:nvPr>
        </p:nvSpPr>
        <p:spPr>
          <a:xfrm>
            <a:off x="533400" y="1772817"/>
            <a:ext cx="8143056" cy="4032448"/>
          </a:xfrm>
        </p:spPr>
        <p:txBody>
          <a:bodyPr/>
          <a:lstStyle/>
          <a:p>
            <a:pPr marL="609600" indent="-609600">
              <a:buFont typeface="Wingdings" pitchFamily="2" charset="2"/>
              <a:buAutoNum type="arabicPeriod"/>
            </a:pPr>
            <a:endParaRPr lang="zh-CN" altLang="en-US" sz="900" dirty="0">
              <a:cs typeface="Times New Roman" pitchFamily="18" charset="0"/>
            </a:endParaRPr>
          </a:p>
          <a:p>
            <a:pPr marL="609600" indent="-609600"/>
            <a:r>
              <a:rPr lang="zh-CN" altLang="en-US" sz="2800" dirty="0">
                <a:cs typeface="Times New Roman" pitchFamily="18" charset="0"/>
              </a:rPr>
              <a:t>通过接口可以实现不相关类的相同行为，而不需要考虑这些类之间的层次关系。</a:t>
            </a:r>
          </a:p>
          <a:p>
            <a:pPr marL="609600" indent="-609600"/>
            <a:r>
              <a:rPr lang="zh-CN" altLang="en-US" sz="2800" dirty="0">
                <a:cs typeface="Times New Roman" pitchFamily="18" charset="0"/>
              </a:rPr>
              <a:t>通过接口可以</a:t>
            </a:r>
            <a:r>
              <a:rPr lang="zh-CN" altLang="en-US" sz="2800" dirty="0"/>
              <a:t>声明</a:t>
            </a:r>
            <a:r>
              <a:rPr lang="zh-CN" altLang="en-US" sz="2800" dirty="0">
                <a:cs typeface="Times New Roman" pitchFamily="18" charset="0"/>
              </a:rPr>
              <a:t>多个类需要实现的方法。</a:t>
            </a:r>
          </a:p>
          <a:p>
            <a:pPr marL="609600" indent="-609600"/>
            <a:r>
              <a:rPr lang="zh-CN" altLang="en-US" sz="2800" dirty="0">
                <a:cs typeface="Times New Roman" pitchFamily="18" charset="0"/>
              </a:rPr>
              <a:t>通过接口可以了解对象的交互界面，而不需了解对象所对应的类。</a:t>
            </a:r>
          </a:p>
          <a:p>
            <a:pPr marL="609600" indent="-609600">
              <a:buFont typeface="Wingdings" pitchFamily="2" charset="2"/>
              <a:buNone/>
            </a:pPr>
            <a:endParaRPr lang="zh-CN" altLang="en-US" sz="2700" dirty="0">
              <a:latin typeface="宋体" pitchFamily="2" charset="-122"/>
            </a:endParaRPr>
          </a:p>
          <a:p>
            <a:pPr marL="609600" indent="-609600"/>
            <a:endParaRPr lang="en-US" altLang="zh-CN" sz="2700" dirty="0">
              <a:latin typeface="宋体" pitchFamily="2" charset="-122"/>
            </a:endParaRPr>
          </a:p>
        </p:txBody>
      </p:sp>
      <p:sp>
        <p:nvSpPr>
          <p:cNvPr id="7" name="标题 6"/>
          <p:cNvSpPr>
            <a:spLocks noGrp="1"/>
          </p:cNvSpPr>
          <p:nvPr>
            <p:ph type="title"/>
          </p:nvPr>
        </p:nvSpPr>
        <p:spPr/>
        <p:txBody>
          <a:bodyPr/>
          <a:lstStyle/>
          <a:p>
            <a:r>
              <a:rPr lang="zh-CN" altLang="en-US" dirty="0" smtClean="0"/>
              <a:t>接口的主要用处</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Rectangle 4"/>
          <p:cNvSpPr>
            <a:spLocks noGrp="1" noChangeArrowheads="1"/>
          </p:cNvSpPr>
          <p:nvPr>
            <p:ph type="body" idx="1"/>
          </p:nvPr>
        </p:nvSpPr>
        <p:spPr>
          <a:xfrm>
            <a:off x="533400" y="1628800"/>
            <a:ext cx="8610600" cy="4186237"/>
          </a:xfrm>
        </p:spPr>
        <p:txBody>
          <a:bodyPr/>
          <a:lstStyle/>
          <a:p>
            <a:pPr marL="609600" indent="-609600">
              <a:buFont typeface="Wingdings" pitchFamily="2" charset="2"/>
              <a:buNone/>
            </a:pPr>
            <a:r>
              <a:rPr lang="zh-CN" altLang="en-US" sz="2700" b="1" dirty="0">
                <a:latin typeface="宋体" pitchFamily="2" charset="-122"/>
              </a:rPr>
              <a:t>接口的定义包括接口声明和接口体两部分：</a:t>
            </a:r>
          </a:p>
          <a:p>
            <a:pPr marL="609600" indent="-609600">
              <a:buFont typeface="Wingdings" pitchFamily="2" charset="2"/>
              <a:buNone/>
            </a:pPr>
            <a:endParaRPr lang="zh-CN" altLang="en-US" sz="2700" dirty="0">
              <a:latin typeface="宋体" pitchFamily="2" charset="-122"/>
            </a:endParaRPr>
          </a:p>
          <a:p>
            <a:pPr marL="609600" indent="-609600"/>
            <a:endParaRPr lang="en-US" altLang="zh-CN" sz="2700" dirty="0">
              <a:latin typeface="宋体" pitchFamily="2" charset="-122"/>
            </a:endParaRPr>
          </a:p>
        </p:txBody>
      </p:sp>
      <p:pic>
        <p:nvPicPr>
          <p:cNvPr id="138246" name="Picture 6" descr="22interf"/>
          <p:cNvPicPr>
            <a:picLocks noChangeAspect="1" noChangeArrowheads="1"/>
          </p:cNvPicPr>
          <p:nvPr/>
        </p:nvPicPr>
        <p:blipFill>
          <a:blip r:embed="rId2" cstate="print"/>
          <a:srcRect/>
          <a:stretch>
            <a:fillRect/>
          </a:stretch>
        </p:blipFill>
        <p:spPr bwMode="auto">
          <a:xfrm>
            <a:off x="685800" y="2636912"/>
            <a:ext cx="7848600" cy="2514600"/>
          </a:xfrm>
          <a:prstGeom prst="rect">
            <a:avLst/>
          </a:prstGeom>
          <a:noFill/>
        </p:spPr>
      </p:pic>
      <p:sp>
        <p:nvSpPr>
          <p:cNvPr id="8" name="标题 7"/>
          <p:cNvSpPr>
            <a:spLocks noGrp="1"/>
          </p:cNvSpPr>
          <p:nvPr>
            <p:ph type="title"/>
          </p:nvPr>
        </p:nvSpPr>
        <p:spPr/>
        <p:txBody>
          <a:bodyPr/>
          <a:lstStyle/>
          <a:p>
            <a:r>
              <a:rPr lang="zh-CN" altLang="en-US" b="1" dirty="0" smtClean="0">
                <a:solidFill>
                  <a:srgbClr val="0033CC"/>
                </a:solidFill>
              </a:rPr>
              <a:t>接口的定义</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Rectangle 4"/>
          <p:cNvSpPr>
            <a:spLocks noGrp="1" noChangeArrowheads="1"/>
          </p:cNvSpPr>
          <p:nvPr>
            <p:ph type="body" idx="1"/>
          </p:nvPr>
        </p:nvSpPr>
        <p:spPr>
          <a:xfrm>
            <a:off x="304800" y="1556793"/>
            <a:ext cx="8515672" cy="4176464"/>
          </a:xfrm>
        </p:spPr>
        <p:txBody>
          <a:bodyPr/>
          <a:lstStyle/>
          <a:p>
            <a:pPr marL="609600" indent="-609600" eaLnBrk="0" hangingPunct="0">
              <a:spcBef>
                <a:spcPct val="0"/>
              </a:spcBef>
              <a:buClrTx/>
              <a:buFontTx/>
              <a:buNone/>
            </a:pPr>
            <a:r>
              <a:rPr lang="en-US" altLang="zh-CN" sz="2400" dirty="0" smtClean="0">
                <a:cs typeface="Times New Roman" pitchFamily="18" charset="0"/>
              </a:rPr>
              <a:t>[</a:t>
            </a:r>
            <a:r>
              <a:rPr lang="en-US" altLang="zh-CN" sz="2400" dirty="0">
                <a:cs typeface="Times New Roman" pitchFamily="18" charset="0"/>
              </a:rPr>
              <a:t>public] interface interfaceName [extends listOfSuperInterface]{</a:t>
            </a:r>
          </a:p>
          <a:p>
            <a:pPr marL="609600" indent="-609600" eaLnBrk="0" hangingPunct="0">
              <a:spcBef>
                <a:spcPct val="0"/>
              </a:spcBef>
              <a:buClrTx/>
              <a:buFontTx/>
              <a:buNone/>
            </a:pPr>
            <a:r>
              <a:rPr lang="en-US" altLang="zh-CN" sz="2400" dirty="0">
                <a:cs typeface="Times New Roman" pitchFamily="18" charset="0"/>
              </a:rPr>
              <a:t>……</a:t>
            </a:r>
          </a:p>
          <a:p>
            <a:pPr marL="609600" indent="-609600" eaLnBrk="0" hangingPunct="0">
              <a:spcBef>
                <a:spcPct val="0"/>
              </a:spcBef>
              <a:buClrTx/>
              <a:buFontTx/>
              <a:buNone/>
            </a:pPr>
            <a:r>
              <a:rPr lang="en-US" altLang="zh-CN" sz="2400" dirty="0">
                <a:cs typeface="Times New Roman" pitchFamily="18" charset="0"/>
              </a:rPr>
              <a:t>}</a:t>
            </a:r>
          </a:p>
          <a:p>
            <a:pPr marL="609600" indent="-609600" eaLnBrk="0" hangingPunct="0">
              <a:spcBef>
                <a:spcPct val="0"/>
              </a:spcBef>
              <a:buClrTx/>
              <a:buFontTx/>
              <a:buNone/>
            </a:pPr>
            <a:r>
              <a:rPr lang="zh-CN" altLang="en-US" sz="2400" b="1" dirty="0">
                <a:latin typeface="宋体" pitchFamily="2" charset="-122"/>
              </a:rPr>
              <a:t>说明：</a:t>
            </a:r>
          </a:p>
          <a:p>
            <a:pPr marL="609600" indent="-609600" eaLnBrk="0" hangingPunct="0">
              <a:spcBef>
                <a:spcPct val="0"/>
              </a:spcBef>
              <a:buClrTx/>
              <a:buFontTx/>
              <a:buChar char="•"/>
            </a:pPr>
            <a:r>
              <a:rPr lang="zh-CN" altLang="en-US" sz="2400" dirty="0">
                <a:latin typeface="宋体" pitchFamily="2" charset="-122"/>
              </a:rPr>
              <a:t>其中</a:t>
            </a:r>
            <a:r>
              <a:rPr lang="en-US" altLang="zh-CN" sz="2400" dirty="0">
                <a:cs typeface="Times New Roman" pitchFamily="18" charset="0"/>
              </a:rPr>
              <a:t>public</a:t>
            </a:r>
            <a:r>
              <a:rPr lang="zh-CN" altLang="en-US" sz="2400" dirty="0">
                <a:latin typeface="宋体" pitchFamily="2" charset="-122"/>
              </a:rPr>
              <a:t>指明任意类均可以使用这个接口，缺省情况下，只有与该接口定义在同一个包中的类才可以访问这个接口</a:t>
            </a:r>
            <a:r>
              <a:rPr lang="zh-CN" altLang="en-US" sz="2400" dirty="0" smtClean="0">
                <a:latin typeface="宋体" pitchFamily="2" charset="-122"/>
              </a:rPr>
              <a:t>。</a:t>
            </a:r>
            <a:endParaRPr lang="zh-CN" altLang="en-US" sz="1200" dirty="0" smtClean="0">
              <a:latin typeface="宋体" pitchFamily="2" charset="-122"/>
            </a:endParaRPr>
          </a:p>
          <a:p>
            <a:pPr marL="609600" indent="-609600" eaLnBrk="0" hangingPunct="0">
              <a:spcBef>
                <a:spcPct val="0"/>
              </a:spcBef>
              <a:buClrTx/>
              <a:buFontTx/>
              <a:buChar char="•"/>
            </a:pPr>
            <a:r>
              <a:rPr lang="en-US" altLang="zh-CN" sz="2400" dirty="0" smtClean="0">
                <a:cs typeface="Times New Roman" pitchFamily="18" charset="0"/>
              </a:rPr>
              <a:t>extends </a:t>
            </a:r>
            <a:r>
              <a:rPr lang="zh-CN" altLang="en-US" sz="2400" dirty="0" smtClean="0">
                <a:cs typeface="Times New Roman" pitchFamily="18" charset="0"/>
              </a:rPr>
              <a:t>子句</a:t>
            </a:r>
            <a:r>
              <a:rPr lang="zh-CN" altLang="en-US" sz="2400" dirty="0">
                <a:cs typeface="Times New Roman" pitchFamily="18" charset="0"/>
              </a:rPr>
              <a:t>与类声明中的</a:t>
            </a:r>
            <a:r>
              <a:rPr lang="en-US" altLang="zh-CN" sz="2400" dirty="0">
                <a:cs typeface="Times New Roman" pitchFamily="18" charset="0"/>
              </a:rPr>
              <a:t>extends</a:t>
            </a:r>
            <a:r>
              <a:rPr lang="zh-CN" altLang="en-US" sz="2400" dirty="0">
                <a:cs typeface="Times New Roman" pitchFamily="18" charset="0"/>
              </a:rPr>
              <a:t>子句基本相同，不同的是一个接口可以有多个父接口，用逗号隔开，子接口继承父接口中所有的常量和方法。</a:t>
            </a:r>
          </a:p>
          <a:p>
            <a:pPr marL="609600" indent="-609600" eaLnBrk="0" hangingPunct="0">
              <a:spcBef>
                <a:spcPct val="0"/>
              </a:spcBef>
              <a:buClrTx/>
              <a:buFontTx/>
              <a:buNone/>
            </a:pPr>
            <a:endParaRPr lang="en-US" altLang="zh-CN" sz="2400" dirty="0">
              <a:latin typeface="宋体" pitchFamily="2" charset="-122"/>
            </a:endParaRPr>
          </a:p>
        </p:txBody>
      </p:sp>
      <p:sp>
        <p:nvSpPr>
          <p:cNvPr id="7" name="标题 6"/>
          <p:cNvSpPr>
            <a:spLocks noGrp="1"/>
          </p:cNvSpPr>
          <p:nvPr>
            <p:ph type="title"/>
          </p:nvPr>
        </p:nvSpPr>
        <p:spPr/>
        <p:txBody>
          <a:bodyPr/>
          <a:lstStyle/>
          <a:p>
            <a:r>
              <a:rPr lang="zh-CN" altLang="en-US" dirty="0" smtClean="0"/>
              <a:t>接口声明</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6" name="Rectangle 4"/>
          <p:cNvSpPr>
            <a:spLocks noGrp="1" noChangeArrowheads="1"/>
          </p:cNvSpPr>
          <p:nvPr>
            <p:ph type="body" idx="1"/>
          </p:nvPr>
        </p:nvSpPr>
        <p:spPr>
          <a:xfrm>
            <a:off x="304800" y="1628800"/>
            <a:ext cx="8659688" cy="4608512"/>
          </a:xfrm>
        </p:spPr>
        <p:txBody>
          <a:bodyPr/>
          <a:lstStyle/>
          <a:p>
            <a:pPr marL="609600" indent="-609600" eaLnBrk="0" hangingPunct="0">
              <a:spcBef>
                <a:spcPct val="0"/>
              </a:spcBef>
              <a:buClrTx/>
              <a:buFontTx/>
              <a:buNone/>
            </a:pPr>
            <a:r>
              <a:rPr lang="zh-CN" altLang="en-US" sz="2400" dirty="0" smtClean="0">
                <a:cs typeface="Times New Roman" pitchFamily="18" charset="0"/>
              </a:rPr>
              <a:t>常量</a:t>
            </a:r>
            <a:r>
              <a:rPr lang="zh-CN" altLang="en-US" sz="2400" dirty="0">
                <a:cs typeface="Times New Roman" pitchFamily="18" charset="0"/>
              </a:rPr>
              <a:t>定义的格式为： </a:t>
            </a:r>
            <a:r>
              <a:rPr lang="en-US" altLang="zh-CN" sz="2400" dirty="0">
                <a:cs typeface="Times New Roman" pitchFamily="18" charset="0"/>
              </a:rPr>
              <a:t>type NAME = value;</a:t>
            </a:r>
          </a:p>
          <a:p>
            <a:pPr marL="609600" indent="-609600" eaLnBrk="0" hangingPunct="0">
              <a:spcBef>
                <a:spcPct val="0"/>
              </a:spcBef>
              <a:buClrTx/>
              <a:buFontTx/>
              <a:buNone/>
            </a:pPr>
            <a:r>
              <a:rPr lang="zh-CN" altLang="en-US" sz="2400" dirty="0">
                <a:cs typeface="Times New Roman" pitchFamily="18" charset="0"/>
              </a:rPr>
              <a:t>方法定义的格式为： </a:t>
            </a:r>
            <a:r>
              <a:rPr lang="en-US" altLang="zh-CN" sz="2400" dirty="0">
                <a:cs typeface="Times New Roman" pitchFamily="18" charset="0"/>
              </a:rPr>
              <a:t>returnType methodName ( [paramlist] )</a:t>
            </a:r>
            <a:r>
              <a:rPr lang="zh-CN" altLang="en-US" sz="2400" dirty="0">
                <a:cs typeface="Times New Roman" pitchFamily="18" charset="0"/>
              </a:rPr>
              <a:t>；</a:t>
            </a:r>
          </a:p>
          <a:p>
            <a:pPr marL="609600" indent="-609600" eaLnBrk="0" hangingPunct="0">
              <a:spcBef>
                <a:spcPct val="0"/>
              </a:spcBef>
              <a:buClrTx/>
              <a:buFontTx/>
              <a:buNone/>
            </a:pPr>
            <a:r>
              <a:rPr lang="zh-CN" altLang="en-US" sz="2400" b="1" dirty="0" smtClean="0">
                <a:solidFill>
                  <a:schemeClr val="folHlink"/>
                </a:solidFill>
              </a:rPr>
              <a:t>说明</a:t>
            </a:r>
            <a:r>
              <a:rPr lang="zh-CN" altLang="en-US" sz="2400" b="1" dirty="0">
                <a:solidFill>
                  <a:schemeClr val="folHlink"/>
                </a:solidFill>
              </a:rPr>
              <a:t>：</a:t>
            </a:r>
          </a:p>
          <a:p>
            <a:pPr marL="609600" indent="-609600" eaLnBrk="0" hangingPunct="0">
              <a:lnSpc>
                <a:spcPct val="135000"/>
              </a:lnSpc>
              <a:spcBef>
                <a:spcPct val="0"/>
              </a:spcBef>
              <a:buClrTx/>
              <a:buFontTx/>
              <a:buChar char="•"/>
            </a:pPr>
            <a:r>
              <a:rPr lang="zh-CN" altLang="en-US" sz="2400" dirty="0"/>
              <a:t>在接口中定义的常量具有</a:t>
            </a:r>
            <a:r>
              <a:rPr lang="en-US" altLang="zh-CN" sz="2400" dirty="0">
                <a:cs typeface="Times New Roman" pitchFamily="18" charset="0"/>
              </a:rPr>
              <a:t>public, final ,static</a:t>
            </a:r>
            <a:r>
              <a:rPr lang="zh-CN" altLang="en-US" sz="2400" dirty="0"/>
              <a:t>的属性。</a:t>
            </a:r>
          </a:p>
          <a:p>
            <a:pPr marL="609600" indent="-609600" eaLnBrk="0" hangingPunct="0">
              <a:lnSpc>
                <a:spcPct val="135000"/>
              </a:lnSpc>
              <a:spcBef>
                <a:spcPct val="0"/>
              </a:spcBef>
              <a:buClrTx/>
              <a:buFontTx/>
              <a:buChar char="•"/>
            </a:pPr>
            <a:r>
              <a:rPr lang="zh-CN" altLang="en-US" sz="2400" dirty="0"/>
              <a:t>方法定义没有方法体，且用分号</a:t>
            </a:r>
            <a:r>
              <a:rPr lang="en-US" altLang="zh-CN" sz="2400" dirty="0">
                <a:cs typeface="Times New Roman" pitchFamily="18" charset="0"/>
              </a:rPr>
              <a:t>(;)</a:t>
            </a:r>
            <a:r>
              <a:rPr lang="zh-CN" altLang="en-US" sz="2400" dirty="0"/>
              <a:t>结尾。</a:t>
            </a:r>
          </a:p>
          <a:p>
            <a:pPr marL="609600" indent="-609600" eaLnBrk="0" hangingPunct="0">
              <a:lnSpc>
                <a:spcPct val="135000"/>
              </a:lnSpc>
              <a:spcBef>
                <a:spcPct val="0"/>
              </a:spcBef>
              <a:buClrTx/>
              <a:buFontTx/>
              <a:buChar char="•"/>
            </a:pPr>
            <a:r>
              <a:rPr lang="zh-CN" altLang="en-US" sz="2400" dirty="0"/>
              <a:t>在接口中声明的方法具有</a:t>
            </a:r>
            <a:r>
              <a:rPr lang="en-US" altLang="zh-CN" sz="2400" dirty="0">
                <a:cs typeface="Times New Roman" pitchFamily="18" charset="0"/>
              </a:rPr>
              <a:t>public </a:t>
            </a:r>
            <a:r>
              <a:rPr lang="zh-CN" altLang="en-US" sz="2400" dirty="0"/>
              <a:t>和</a:t>
            </a:r>
            <a:r>
              <a:rPr lang="en-US" altLang="zh-CN" sz="2400" dirty="0">
                <a:cs typeface="Times New Roman" pitchFamily="18" charset="0"/>
              </a:rPr>
              <a:t>abstract</a:t>
            </a:r>
            <a:r>
              <a:rPr lang="zh-CN" altLang="en-US" sz="2400" dirty="0"/>
              <a:t>属性。</a:t>
            </a:r>
          </a:p>
          <a:p>
            <a:pPr marL="609600" indent="-609600" eaLnBrk="0" hangingPunct="0">
              <a:lnSpc>
                <a:spcPct val="135000"/>
              </a:lnSpc>
              <a:spcBef>
                <a:spcPct val="0"/>
              </a:spcBef>
              <a:buClrTx/>
              <a:buFontTx/>
              <a:buChar char="•"/>
            </a:pPr>
            <a:r>
              <a:rPr lang="zh-CN" altLang="en-US" sz="2400" dirty="0"/>
              <a:t>如果在子接口中定义了和父接口同名的常量或相同的方法，则父接口中的常量被隐藏，方法被重写。</a:t>
            </a:r>
          </a:p>
          <a:p>
            <a:pPr marL="609600" indent="-609600" eaLnBrk="0" hangingPunct="0">
              <a:spcBef>
                <a:spcPct val="0"/>
              </a:spcBef>
              <a:buClrTx/>
              <a:buFontTx/>
              <a:buNone/>
            </a:pPr>
            <a:r>
              <a:rPr lang="zh-CN" altLang="en-US" sz="2400" dirty="0">
                <a:cs typeface="Times New Roman" pitchFamily="18" charset="0"/>
              </a:rPr>
              <a:t>　</a:t>
            </a:r>
          </a:p>
          <a:p>
            <a:pPr marL="609600" indent="-609600" eaLnBrk="0" hangingPunct="0">
              <a:spcBef>
                <a:spcPct val="0"/>
              </a:spcBef>
              <a:buClrTx/>
              <a:buFontTx/>
              <a:buChar char="•"/>
            </a:pPr>
            <a:endParaRPr lang="zh-CN" altLang="en-US" sz="2400" dirty="0"/>
          </a:p>
          <a:p>
            <a:pPr marL="609600" indent="-609600" eaLnBrk="0" hangingPunct="0">
              <a:spcBef>
                <a:spcPct val="0"/>
              </a:spcBef>
              <a:buClrTx/>
              <a:buFontTx/>
              <a:buChar char="•"/>
            </a:pPr>
            <a:endParaRPr lang="zh-CN" altLang="en-US" sz="2400" dirty="0"/>
          </a:p>
          <a:p>
            <a:pPr marL="609600" indent="-609600" eaLnBrk="0" hangingPunct="0">
              <a:spcBef>
                <a:spcPct val="0"/>
              </a:spcBef>
              <a:buClrTx/>
              <a:buFontTx/>
              <a:buNone/>
            </a:pPr>
            <a:endParaRPr lang="en-US" altLang="zh-CN" sz="2400" b="1" dirty="0">
              <a:solidFill>
                <a:schemeClr val="folHlink"/>
              </a:solidFill>
            </a:endParaRPr>
          </a:p>
        </p:txBody>
      </p:sp>
      <p:sp>
        <p:nvSpPr>
          <p:cNvPr id="7" name="标题 6"/>
          <p:cNvSpPr>
            <a:spLocks noGrp="1"/>
          </p:cNvSpPr>
          <p:nvPr>
            <p:ph type="title"/>
          </p:nvPr>
        </p:nvSpPr>
        <p:spPr/>
        <p:txBody>
          <a:bodyPr/>
          <a:lstStyle/>
          <a:p>
            <a:r>
              <a:rPr lang="zh-CN" altLang="en-US" dirty="0" smtClean="0"/>
              <a:t>接口体</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body" idx="1"/>
          </p:nvPr>
        </p:nvSpPr>
        <p:spPr>
          <a:xfrm>
            <a:off x="533400" y="754930"/>
            <a:ext cx="8610600" cy="4186238"/>
          </a:xfrm>
        </p:spPr>
        <p:txBody>
          <a:bodyPr/>
          <a:lstStyle/>
          <a:p>
            <a:pPr marL="609600" indent="-609600">
              <a:buFont typeface="Wingdings" pitchFamily="2" charset="2"/>
              <a:buNone/>
            </a:pPr>
            <a:r>
              <a:rPr lang="zh-CN" altLang="en-US" sz="2800" b="1" dirty="0"/>
              <a:t>例如：</a:t>
            </a:r>
          </a:p>
          <a:p>
            <a:pPr marL="609600" indent="-609600">
              <a:buFont typeface="Wingdings" pitchFamily="2" charset="2"/>
              <a:buNone/>
            </a:pPr>
            <a:r>
              <a:rPr lang="en-US" altLang="zh-CN" sz="2400" dirty="0">
                <a:cs typeface="Times New Roman" pitchFamily="18" charset="0"/>
              </a:rPr>
              <a:t>interface Collection {</a:t>
            </a:r>
          </a:p>
          <a:p>
            <a:pPr marL="609600" indent="-609600">
              <a:buFont typeface="Wingdings" pitchFamily="2" charset="2"/>
              <a:buNone/>
            </a:pPr>
            <a:r>
              <a:rPr lang="en-US" altLang="zh-CN" sz="2400" dirty="0">
                <a:cs typeface="Times New Roman" pitchFamily="18" charset="0"/>
              </a:rPr>
              <a:t>	int MAX_NUM=100;</a:t>
            </a:r>
          </a:p>
          <a:p>
            <a:pPr marL="609600" indent="-609600">
              <a:buFont typeface="Wingdings" pitchFamily="2" charset="2"/>
              <a:buNone/>
            </a:pPr>
            <a:endParaRPr lang="en-US" altLang="zh-CN" sz="800" dirty="0">
              <a:cs typeface="Times New Roman" pitchFamily="18" charset="0"/>
            </a:endParaRPr>
          </a:p>
          <a:p>
            <a:pPr marL="609600" indent="-609600">
              <a:buFont typeface="Wingdings" pitchFamily="2" charset="2"/>
              <a:buNone/>
            </a:pPr>
            <a:r>
              <a:rPr lang="en-US" altLang="zh-CN" sz="2400" dirty="0">
                <a:cs typeface="Times New Roman" pitchFamily="18" charset="0"/>
              </a:rPr>
              <a:t>	void add (Object obj);</a:t>
            </a:r>
          </a:p>
          <a:p>
            <a:pPr marL="609600" indent="-609600">
              <a:buFont typeface="Wingdings" pitchFamily="2" charset="2"/>
              <a:buNone/>
            </a:pPr>
            <a:r>
              <a:rPr lang="en-US" altLang="zh-CN" sz="2400" dirty="0">
                <a:cs typeface="Times New Roman" pitchFamily="18" charset="0"/>
              </a:rPr>
              <a:t>	void delete (Object obj);</a:t>
            </a:r>
          </a:p>
          <a:p>
            <a:pPr marL="609600" indent="-609600">
              <a:buFont typeface="Wingdings" pitchFamily="2" charset="2"/>
              <a:buNone/>
            </a:pPr>
            <a:r>
              <a:rPr lang="en-US" altLang="zh-CN" sz="2400" dirty="0">
                <a:cs typeface="Times New Roman" pitchFamily="18" charset="0"/>
              </a:rPr>
              <a:t>	Object find (Object obj);</a:t>
            </a:r>
          </a:p>
          <a:p>
            <a:pPr marL="609600" indent="-609600">
              <a:buFont typeface="Wingdings" pitchFamily="2" charset="2"/>
              <a:buNone/>
            </a:pPr>
            <a:r>
              <a:rPr lang="en-US" altLang="zh-CN" sz="2400" dirty="0">
                <a:cs typeface="Times New Roman" pitchFamily="18" charset="0"/>
              </a:rPr>
              <a:t>	int currentCount ( );</a:t>
            </a:r>
          </a:p>
          <a:p>
            <a:pPr marL="609600" indent="-609600">
              <a:buFont typeface="Wingdings" pitchFamily="2" charset="2"/>
              <a:buNone/>
            </a:pPr>
            <a:r>
              <a:rPr lang="en-US" altLang="zh-CN" sz="2400" dirty="0">
                <a:cs typeface="Times New Roman" pitchFamily="18" charset="0"/>
              </a:rPr>
              <a:t>}</a:t>
            </a:r>
          </a:p>
          <a:p>
            <a:pPr marL="609600" indent="-609600">
              <a:buFont typeface="Wingdings" pitchFamily="2" charset="2"/>
              <a:buNone/>
            </a:pPr>
            <a:r>
              <a:rPr lang="zh-CN" altLang="en-US" sz="2400" dirty="0">
                <a:latin typeface="宋体" pitchFamily="2" charset="-122"/>
              </a:rPr>
              <a:t>这个接口可以由队列、堆栈、链表等类来实现 </a:t>
            </a:r>
          </a:p>
          <a:p>
            <a:pPr marL="609600" indent="-609600"/>
            <a:endParaRPr lang="en-US" altLang="zh-CN" sz="2400" dirty="0">
              <a:latin typeface="宋体"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89713" y="6376988"/>
            <a:ext cx="2193925" cy="457200"/>
          </a:xfrm>
          <a:prstGeom prst="rect">
            <a:avLst/>
          </a:prstGeom>
        </p:spPr>
        <p:txBody>
          <a:bodyPr/>
          <a:lstStyle/>
          <a:p>
            <a:fld id="{3BB436E9-B4F1-478E-81E0-A95955DBC1B6}" type="slidenum">
              <a:rPr lang="en-US" altLang="zh-CN"/>
              <a:pPr/>
              <a:t>12</a:t>
            </a:fld>
            <a:endParaRPr lang="en-US" altLang="zh-CN"/>
          </a:p>
        </p:txBody>
      </p:sp>
      <p:sp>
        <p:nvSpPr>
          <p:cNvPr id="142340" name="Rectangle 4"/>
          <p:cNvSpPr>
            <a:spLocks noGrp="1" noChangeArrowheads="1"/>
          </p:cNvSpPr>
          <p:nvPr>
            <p:ph type="body" idx="1"/>
          </p:nvPr>
        </p:nvSpPr>
        <p:spPr>
          <a:xfrm>
            <a:off x="353888" y="1700808"/>
            <a:ext cx="8610600" cy="4186238"/>
          </a:xfrm>
        </p:spPr>
        <p:txBody>
          <a:bodyPr/>
          <a:lstStyle/>
          <a:p>
            <a:pPr marL="609600" indent="-609600">
              <a:buFont typeface="Wingdings" pitchFamily="2" charset="2"/>
              <a:buNone/>
            </a:pPr>
            <a:r>
              <a:rPr lang="zh-CN" altLang="en-US" sz="2800" dirty="0"/>
              <a:t>在使用接口的类体中可以使用</a:t>
            </a:r>
            <a:r>
              <a:rPr lang="zh-CN" altLang="en-US" sz="2600" dirty="0"/>
              <a:t>：</a:t>
            </a:r>
          </a:p>
          <a:p>
            <a:pPr marL="609600" indent="-609600"/>
            <a:r>
              <a:rPr lang="zh-CN" altLang="en-US" sz="2600" dirty="0"/>
              <a:t>接口中定义的常量</a:t>
            </a:r>
          </a:p>
          <a:p>
            <a:pPr marL="609600" indent="-609600"/>
            <a:r>
              <a:rPr lang="zh-CN" altLang="en-US" sz="2600" dirty="0"/>
              <a:t>必须实现接口中定义的所有方法。</a:t>
            </a:r>
          </a:p>
          <a:p>
            <a:pPr marL="609600" indent="-609600"/>
            <a:r>
              <a:rPr lang="zh-CN" altLang="en-US" sz="2600" dirty="0"/>
              <a:t>在类中实现接口所定义的方法时，方法的声明必须与接口中所定义的完全一致</a:t>
            </a:r>
            <a:r>
              <a:rPr lang="zh-CN" altLang="en-US" sz="2600" dirty="0" smtClean="0"/>
              <a:t>。</a:t>
            </a:r>
            <a:endParaRPr lang="zh-CN" altLang="en-US" sz="2600" dirty="0"/>
          </a:p>
          <a:p>
            <a:pPr marL="609600" indent="-609600">
              <a:buFont typeface="Wingdings" pitchFamily="2" charset="2"/>
              <a:buNone/>
            </a:pPr>
            <a:r>
              <a:rPr lang="zh-CN" altLang="en-US" sz="2600" dirty="0"/>
              <a:t>一个类可以实现多个接口，在</a:t>
            </a:r>
            <a:r>
              <a:rPr lang="en-US" altLang="zh-CN" sz="2600" dirty="0">
                <a:cs typeface="Times New Roman" pitchFamily="18" charset="0"/>
              </a:rPr>
              <a:t>implements</a:t>
            </a:r>
            <a:r>
              <a:rPr lang="zh-CN" altLang="en-US" sz="2600" dirty="0"/>
              <a:t>子句中用逗号分隔</a:t>
            </a:r>
            <a:r>
              <a:rPr lang="zh-CN" altLang="en-US" sz="2600" b="1" dirty="0"/>
              <a:t>。</a:t>
            </a:r>
          </a:p>
        </p:txBody>
      </p:sp>
      <p:sp>
        <p:nvSpPr>
          <p:cNvPr id="7" name="标题 6"/>
          <p:cNvSpPr>
            <a:spLocks noGrp="1"/>
          </p:cNvSpPr>
          <p:nvPr>
            <p:ph type="title"/>
          </p:nvPr>
        </p:nvSpPr>
        <p:spPr/>
        <p:txBody>
          <a:bodyPr/>
          <a:lstStyle/>
          <a:p>
            <a:r>
              <a:rPr lang="zh-CN" altLang="en-US" dirty="0" smtClean="0"/>
              <a:t>接口的实现</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Rectangle 4"/>
          <p:cNvSpPr>
            <a:spLocks noGrp="1" noChangeArrowheads="1"/>
          </p:cNvSpPr>
          <p:nvPr>
            <p:ph type="body" idx="1"/>
          </p:nvPr>
        </p:nvSpPr>
        <p:spPr>
          <a:xfrm>
            <a:off x="533400" y="1484784"/>
            <a:ext cx="8610600" cy="4186238"/>
          </a:xfrm>
        </p:spPr>
        <p:txBody>
          <a:bodyPr/>
          <a:lstStyle/>
          <a:p>
            <a:pPr marL="609600" indent="-609600">
              <a:buFont typeface="Wingdings" pitchFamily="2" charset="2"/>
              <a:buNone/>
            </a:pPr>
            <a:r>
              <a:rPr lang="zh-CN" altLang="en-US" sz="2600" b="1" dirty="0"/>
              <a:t>例子：</a:t>
            </a:r>
          </a:p>
        </p:txBody>
      </p:sp>
      <p:sp>
        <p:nvSpPr>
          <p:cNvPr id="144390" name="Rectangle 6"/>
          <p:cNvSpPr>
            <a:spLocks noChangeArrowheads="1"/>
          </p:cNvSpPr>
          <p:nvPr/>
        </p:nvSpPr>
        <p:spPr bwMode="auto">
          <a:xfrm>
            <a:off x="3832920" y="1772816"/>
            <a:ext cx="5257800" cy="4262438"/>
          </a:xfrm>
          <a:prstGeom prst="rect">
            <a:avLst/>
          </a:prstGeom>
          <a:noFill/>
          <a:ln w="9525">
            <a:noFill/>
            <a:miter lim="800000"/>
            <a:headEnd/>
            <a:tailEnd/>
          </a:ln>
          <a:effectLst/>
        </p:spPr>
        <p:txBody>
          <a:bodyPr>
            <a:spAutoFit/>
          </a:bodyPr>
          <a:lstStyle/>
          <a:p>
            <a:pPr>
              <a:lnSpc>
                <a:spcPct val="60000"/>
              </a:lnSpc>
              <a:spcBef>
                <a:spcPct val="50000"/>
              </a:spcBef>
              <a:buClr>
                <a:schemeClr val="accent2"/>
              </a:buClr>
              <a:buFont typeface="Wingdings" pitchFamily="2" charset="2"/>
              <a:buNone/>
            </a:pPr>
            <a:r>
              <a:rPr lang="en-US" altLang="zh-CN" sz="2200" b="1"/>
              <a:t>public class Airplane implements Flyer {</a:t>
            </a:r>
          </a:p>
          <a:p>
            <a:pPr>
              <a:lnSpc>
                <a:spcPct val="60000"/>
              </a:lnSpc>
              <a:spcBef>
                <a:spcPct val="50000"/>
              </a:spcBef>
              <a:buClr>
                <a:schemeClr val="accent2"/>
              </a:buClr>
              <a:buFont typeface="Wingdings" pitchFamily="2" charset="2"/>
              <a:buNone/>
            </a:pPr>
            <a:r>
              <a:rPr lang="en-US" altLang="zh-CN" sz="2200" b="1"/>
              <a:t>  public void takeOff() {</a:t>
            </a:r>
          </a:p>
          <a:p>
            <a:pPr>
              <a:lnSpc>
                <a:spcPct val="60000"/>
              </a:lnSpc>
              <a:spcBef>
                <a:spcPct val="50000"/>
              </a:spcBef>
              <a:buClr>
                <a:schemeClr val="accent2"/>
              </a:buClr>
              <a:buFont typeface="Wingdings" pitchFamily="2" charset="2"/>
              <a:buNone/>
            </a:pPr>
            <a:r>
              <a:rPr lang="en-US" altLang="zh-CN" sz="2200" b="1"/>
              <a:t>	...</a:t>
            </a:r>
          </a:p>
          <a:p>
            <a:pPr>
              <a:lnSpc>
                <a:spcPct val="60000"/>
              </a:lnSpc>
              <a:spcBef>
                <a:spcPct val="50000"/>
              </a:spcBef>
              <a:buClr>
                <a:schemeClr val="accent2"/>
              </a:buClr>
              <a:buFont typeface="Wingdings" pitchFamily="2" charset="2"/>
              <a:buNone/>
            </a:pPr>
            <a:r>
              <a:rPr lang="en-US" altLang="zh-CN" sz="2200" b="1"/>
              <a:t>  }</a:t>
            </a:r>
          </a:p>
          <a:p>
            <a:pPr>
              <a:lnSpc>
                <a:spcPct val="60000"/>
              </a:lnSpc>
              <a:spcBef>
                <a:spcPct val="50000"/>
              </a:spcBef>
              <a:buClr>
                <a:schemeClr val="accent2"/>
              </a:buClr>
              <a:buFont typeface="Wingdings" pitchFamily="2" charset="2"/>
              <a:buNone/>
            </a:pPr>
            <a:endParaRPr lang="en-US" altLang="zh-CN" sz="800" b="1"/>
          </a:p>
          <a:p>
            <a:pPr>
              <a:lnSpc>
                <a:spcPct val="60000"/>
              </a:lnSpc>
              <a:spcBef>
                <a:spcPct val="50000"/>
              </a:spcBef>
              <a:buClr>
                <a:schemeClr val="accent2"/>
              </a:buClr>
              <a:buFont typeface="Wingdings" pitchFamily="2" charset="2"/>
              <a:buNone/>
            </a:pPr>
            <a:r>
              <a:rPr lang="en-US" altLang="zh-CN" sz="2200" b="1"/>
              <a:t>  public void land() {</a:t>
            </a:r>
          </a:p>
          <a:p>
            <a:pPr>
              <a:lnSpc>
                <a:spcPct val="60000"/>
              </a:lnSpc>
              <a:spcBef>
                <a:spcPct val="50000"/>
              </a:spcBef>
              <a:buClr>
                <a:schemeClr val="accent2"/>
              </a:buClr>
              <a:buFont typeface="Wingdings" pitchFamily="2" charset="2"/>
              <a:buNone/>
            </a:pPr>
            <a:r>
              <a:rPr lang="en-US" altLang="zh-CN" sz="2200" b="1"/>
              <a:t>	...</a:t>
            </a:r>
          </a:p>
          <a:p>
            <a:pPr>
              <a:lnSpc>
                <a:spcPct val="60000"/>
              </a:lnSpc>
              <a:spcBef>
                <a:spcPct val="50000"/>
              </a:spcBef>
              <a:buClr>
                <a:schemeClr val="accent2"/>
              </a:buClr>
              <a:buFont typeface="Wingdings" pitchFamily="2" charset="2"/>
              <a:buNone/>
            </a:pPr>
            <a:r>
              <a:rPr lang="en-US" altLang="zh-CN" sz="2200" b="1"/>
              <a:t>  }</a:t>
            </a:r>
          </a:p>
          <a:p>
            <a:pPr>
              <a:lnSpc>
                <a:spcPct val="60000"/>
              </a:lnSpc>
              <a:spcBef>
                <a:spcPct val="50000"/>
              </a:spcBef>
              <a:buClr>
                <a:schemeClr val="accent2"/>
              </a:buClr>
              <a:buFont typeface="Wingdings" pitchFamily="2" charset="2"/>
              <a:buNone/>
            </a:pPr>
            <a:endParaRPr lang="en-US" altLang="zh-CN" sz="800" b="1"/>
          </a:p>
          <a:p>
            <a:pPr>
              <a:lnSpc>
                <a:spcPct val="60000"/>
              </a:lnSpc>
              <a:spcBef>
                <a:spcPct val="50000"/>
              </a:spcBef>
              <a:buClr>
                <a:schemeClr val="accent2"/>
              </a:buClr>
              <a:buFont typeface="Wingdings" pitchFamily="2" charset="2"/>
              <a:buNone/>
            </a:pPr>
            <a:r>
              <a:rPr lang="en-US" altLang="zh-CN" sz="2200" b="1"/>
              <a:t>  public void fly() {</a:t>
            </a:r>
          </a:p>
          <a:p>
            <a:pPr>
              <a:lnSpc>
                <a:spcPct val="60000"/>
              </a:lnSpc>
              <a:spcBef>
                <a:spcPct val="50000"/>
              </a:spcBef>
              <a:buClr>
                <a:schemeClr val="accent2"/>
              </a:buClr>
              <a:buFont typeface="Wingdings" pitchFamily="2" charset="2"/>
              <a:buNone/>
            </a:pPr>
            <a:r>
              <a:rPr lang="en-US" altLang="zh-CN" sz="2200" b="1"/>
              <a:t>	...</a:t>
            </a:r>
          </a:p>
          <a:p>
            <a:pPr>
              <a:lnSpc>
                <a:spcPct val="60000"/>
              </a:lnSpc>
              <a:spcBef>
                <a:spcPct val="50000"/>
              </a:spcBef>
              <a:buClr>
                <a:schemeClr val="accent2"/>
              </a:buClr>
              <a:buFont typeface="Wingdings" pitchFamily="2" charset="2"/>
              <a:buNone/>
            </a:pPr>
            <a:r>
              <a:rPr lang="en-US" altLang="zh-CN" sz="2200" b="1"/>
              <a:t>  }</a:t>
            </a:r>
          </a:p>
          <a:p>
            <a:pPr>
              <a:lnSpc>
                <a:spcPct val="60000"/>
              </a:lnSpc>
              <a:spcBef>
                <a:spcPct val="50000"/>
              </a:spcBef>
              <a:buClr>
                <a:schemeClr val="accent2"/>
              </a:buClr>
              <a:buFont typeface="Wingdings" pitchFamily="2" charset="2"/>
              <a:buNone/>
            </a:pPr>
            <a:r>
              <a:rPr lang="en-US" altLang="zh-CN" sz="2200" b="1"/>
              <a:t>}</a:t>
            </a:r>
          </a:p>
        </p:txBody>
      </p:sp>
      <p:sp>
        <p:nvSpPr>
          <p:cNvPr id="144391" name="Rectangle 7"/>
          <p:cNvSpPr>
            <a:spLocks noChangeArrowheads="1"/>
          </p:cNvSpPr>
          <p:nvPr/>
        </p:nvSpPr>
        <p:spPr bwMode="auto">
          <a:xfrm>
            <a:off x="251520" y="2230016"/>
            <a:ext cx="4572000" cy="2870200"/>
          </a:xfrm>
          <a:prstGeom prst="rect">
            <a:avLst/>
          </a:prstGeom>
          <a:noFill/>
          <a:ln w="9525">
            <a:noFill/>
            <a:miter lim="800000"/>
            <a:headEnd/>
            <a:tailEnd/>
          </a:ln>
          <a:effectLst/>
        </p:spPr>
        <p:txBody>
          <a:bodyPr>
            <a:spAutoFit/>
          </a:bodyPr>
          <a:lstStyle/>
          <a:p>
            <a:pPr>
              <a:lnSpc>
                <a:spcPct val="70000"/>
              </a:lnSpc>
              <a:spcBef>
                <a:spcPct val="50000"/>
              </a:spcBef>
              <a:buClr>
                <a:schemeClr val="accent2"/>
              </a:buClr>
              <a:buFont typeface="Wingdings" pitchFamily="2" charset="2"/>
              <a:buNone/>
            </a:pPr>
            <a:r>
              <a:rPr lang="en-US" altLang="zh-CN" sz="2600"/>
              <a:t>public interface Flyer {</a:t>
            </a:r>
          </a:p>
          <a:p>
            <a:pPr>
              <a:lnSpc>
                <a:spcPct val="70000"/>
              </a:lnSpc>
              <a:spcBef>
                <a:spcPct val="50000"/>
              </a:spcBef>
              <a:buClr>
                <a:schemeClr val="accent2"/>
              </a:buClr>
              <a:buFont typeface="Wingdings" pitchFamily="2" charset="2"/>
              <a:buNone/>
            </a:pPr>
            <a:r>
              <a:rPr lang="en-US" altLang="zh-CN" sz="2600"/>
              <a:t>  public void takeOff();</a:t>
            </a:r>
          </a:p>
          <a:p>
            <a:pPr>
              <a:lnSpc>
                <a:spcPct val="70000"/>
              </a:lnSpc>
              <a:spcBef>
                <a:spcPct val="50000"/>
              </a:spcBef>
              <a:buClr>
                <a:schemeClr val="accent2"/>
              </a:buClr>
              <a:buFont typeface="Wingdings" pitchFamily="2" charset="2"/>
              <a:buNone/>
            </a:pPr>
            <a:r>
              <a:rPr lang="en-US" altLang="zh-CN" sz="2600"/>
              <a:t>  public void land();</a:t>
            </a:r>
          </a:p>
          <a:p>
            <a:pPr>
              <a:lnSpc>
                <a:spcPct val="70000"/>
              </a:lnSpc>
              <a:spcBef>
                <a:spcPct val="50000"/>
              </a:spcBef>
              <a:buClr>
                <a:schemeClr val="accent2"/>
              </a:buClr>
              <a:buFont typeface="Wingdings" pitchFamily="2" charset="2"/>
              <a:buNone/>
            </a:pPr>
            <a:r>
              <a:rPr lang="en-US" altLang="zh-CN" sz="2600"/>
              <a:t>  public void fly();</a:t>
            </a:r>
          </a:p>
          <a:p>
            <a:pPr>
              <a:lnSpc>
                <a:spcPct val="70000"/>
              </a:lnSpc>
              <a:spcBef>
                <a:spcPct val="50000"/>
              </a:spcBef>
              <a:buClr>
                <a:schemeClr val="accent2"/>
              </a:buClr>
              <a:buFont typeface="Wingdings" pitchFamily="2" charset="2"/>
              <a:buNone/>
            </a:pPr>
            <a:r>
              <a:rPr lang="en-US" altLang="zh-CN" sz="2600"/>
              <a:t>}</a:t>
            </a:r>
          </a:p>
          <a:p>
            <a:pPr>
              <a:spcBef>
                <a:spcPct val="50000"/>
              </a:spcBef>
              <a:buClr>
                <a:schemeClr val="accent2"/>
              </a:buClr>
              <a:buFont typeface="Wingdings" pitchFamily="2" charset="2"/>
              <a:buNone/>
            </a:pPr>
            <a:endParaRPr lang="en-US" altLang="zh-CN" sz="2600" b="1"/>
          </a:p>
        </p:txBody>
      </p:sp>
      <p:sp>
        <p:nvSpPr>
          <p:cNvPr id="9" name="标题 8"/>
          <p:cNvSpPr>
            <a:spLocks noGrp="1"/>
          </p:cNvSpPr>
          <p:nvPr>
            <p:ph type="title"/>
          </p:nvPr>
        </p:nvSpPr>
        <p:spPr/>
        <p:txBody>
          <a:bodyPr/>
          <a:lstStyle/>
          <a:p>
            <a:r>
              <a:rPr lang="zh-CN" altLang="en-US" dirty="0" smtClean="0"/>
              <a:t>接口的实现</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2" name="Rectangle 4"/>
          <p:cNvSpPr>
            <a:spLocks noGrp="1" noChangeArrowheads="1"/>
          </p:cNvSpPr>
          <p:nvPr>
            <p:ph type="body" idx="1"/>
          </p:nvPr>
        </p:nvSpPr>
        <p:spPr>
          <a:xfrm>
            <a:off x="467544" y="1475010"/>
            <a:ext cx="8534400" cy="4186238"/>
          </a:xfrm>
        </p:spPr>
        <p:txBody>
          <a:bodyPr/>
          <a:lstStyle/>
          <a:p>
            <a:pPr marL="609600" indent="-609600">
              <a:buFont typeface="Wingdings" pitchFamily="2" charset="2"/>
              <a:buNone/>
            </a:pPr>
            <a:r>
              <a:rPr lang="zh-CN" altLang="en-US" sz="2600" dirty="0"/>
              <a:t>接口可以作为一种引用类型来使用，所以可以象其它类型的一样使用。</a:t>
            </a:r>
          </a:p>
          <a:p>
            <a:pPr marL="609600" indent="-609600">
              <a:buFont typeface="Wingdings" pitchFamily="2" charset="2"/>
              <a:buNone/>
            </a:pPr>
            <a:r>
              <a:rPr lang="zh-CN" altLang="en-US" sz="2600" dirty="0"/>
              <a:t>例如：假如</a:t>
            </a:r>
            <a:r>
              <a:rPr lang="en-US" altLang="zh-CN" sz="2600" dirty="0"/>
              <a:t>Sleeper </a:t>
            </a:r>
            <a:r>
              <a:rPr lang="zh-CN" altLang="en-US" sz="2600" dirty="0"/>
              <a:t>是接口</a:t>
            </a:r>
          </a:p>
          <a:p>
            <a:pPr marL="609600" indent="-609600">
              <a:buFont typeface="Wingdings" pitchFamily="2" charset="2"/>
              <a:buNone/>
            </a:pPr>
            <a:r>
              <a:rPr lang="en-US" altLang="zh-CN" sz="2600" dirty="0">
                <a:latin typeface="Arial Unicode MS" pitchFamily="34" charset="-122"/>
              </a:rPr>
              <a:t>private </a:t>
            </a:r>
            <a:r>
              <a:rPr lang="en-US" altLang="zh-CN" sz="2600" i="1" dirty="0">
                <a:latin typeface="Arial Unicode MS" pitchFamily="34" charset="-122"/>
              </a:rPr>
              <a:t>Sleeper</a:t>
            </a:r>
            <a:r>
              <a:rPr lang="en-US" altLang="zh-CN" sz="2600" dirty="0">
                <a:latin typeface="Arial Unicode MS" pitchFamily="34" charset="-122"/>
              </a:rPr>
              <a:t>[] sleepers = new </a:t>
            </a:r>
            <a:r>
              <a:rPr lang="en-US" altLang="zh-CN" sz="2600" i="1" dirty="0">
                <a:latin typeface="Arial Unicode MS" pitchFamily="34" charset="-122"/>
              </a:rPr>
              <a:t>Sleeper</a:t>
            </a:r>
            <a:r>
              <a:rPr lang="en-US" altLang="zh-CN" sz="2600" dirty="0">
                <a:latin typeface="Arial Unicode MS" pitchFamily="34" charset="-122"/>
              </a:rPr>
              <a:t>[MAX_CAPACITY</a:t>
            </a:r>
            <a:r>
              <a:rPr lang="en-US" altLang="zh-CN" sz="2600" dirty="0" smtClean="0">
                <a:latin typeface="Arial Unicode MS" pitchFamily="34" charset="-122"/>
              </a:rPr>
              <a:t>]; </a:t>
            </a:r>
            <a:endParaRPr lang="en-US" altLang="zh-CN" sz="2600" dirty="0"/>
          </a:p>
          <a:p>
            <a:pPr marL="609600" indent="-609600">
              <a:buFont typeface="Wingdings" pitchFamily="2" charset="2"/>
              <a:buNone/>
            </a:pPr>
            <a:r>
              <a:rPr lang="en-US" altLang="zh-CN" sz="2600" dirty="0">
                <a:latin typeface="Arial Unicode MS" pitchFamily="34" charset="-122"/>
              </a:rPr>
              <a:t>private boolean letMeSleepFor(</a:t>
            </a:r>
            <a:r>
              <a:rPr lang="en-US" altLang="zh-CN" sz="2600" i="1" dirty="0">
                <a:latin typeface="Arial Unicode MS" pitchFamily="34" charset="-122"/>
              </a:rPr>
              <a:t>Sleeper</a:t>
            </a:r>
            <a:r>
              <a:rPr lang="en-US" altLang="zh-CN" sz="2600" dirty="0">
                <a:latin typeface="Arial Unicode MS" pitchFamily="34" charset="-122"/>
              </a:rPr>
              <a:t> theSleeper, int time) { </a:t>
            </a:r>
          </a:p>
          <a:p>
            <a:pPr marL="609600" indent="-609600">
              <a:buFont typeface="Wingdings" pitchFamily="2" charset="2"/>
              <a:buNone/>
            </a:pPr>
            <a:r>
              <a:rPr lang="en-US" altLang="zh-CN" sz="2600" dirty="0">
                <a:latin typeface="Arial Unicode MS" pitchFamily="34" charset="-122"/>
              </a:rPr>
              <a:t>	. . . </a:t>
            </a:r>
          </a:p>
          <a:p>
            <a:pPr marL="609600" indent="-609600">
              <a:buFont typeface="Wingdings" pitchFamily="2" charset="2"/>
              <a:buNone/>
            </a:pPr>
            <a:r>
              <a:rPr lang="en-US" altLang="zh-CN" sz="2600" dirty="0">
                <a:latin typeface="Arial Unicode MS" pitchFamily="34" charset="-122"/>
              </a:rPr>
              <a:t>} </a:t>
            </a:r>
            <a:endParaRPr lang="en-US" altLang="zh-CN" sz="2600" dirty="0"/>
          </a:p>
          <a:p>
            <a:pPr marL="609600" indent="-609600">
              <a:buFont typeface="Wingdings" pitchFamily="2" charset="2"/>
              <a:buNone/>
            </a:pPr>
            <a:endParaRPr lang="en-US" altLang="zh-CN" sz="2600" dirty="0"/>
          </a:p>
        </p:txBody>
      </p:sp>
      <p:sp>
        <p:nvSpPr>
          <p:cNvPr id="7" name="标题 6"/>
          <p:cNvSpPr>
            <a:spLocks noGrp="1"/>
          </p:cNvSpPr>
          <p:nvPr>
            <p:ph type="title"/>
          </p:nvPr>
        </p:nvSpPr>
        <p:spPr/>
        <p:txBody>
          <a:bodyPr/>
          <a:lstStyle/>
          <a:p>
            <a:r>
              <a:rPr lang="zh-CN" altLang="en-US" dirty="0" smtClean="0"/>
              <a:t>接口的类型</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4"/>
          <p:cNvSpPr>
            <a:spLocks noGrp="1" noChangeArrowheads="1"/>
          </p:cNvSpPr>
          <p:nvPr>
            <p:ph type="body" idx="1"/>
          </p:nvPr>
        </p:nvSpPr>
        <p:spPr>
          <a:xfrm>
            <a:off x="395536" y="1700808"/>
            <a:ext cx="8610600" cy="4186238"/>
          </a:xfrm>
        </p:spPr>
        <p:txBody>
          <a:bodyPr/>
          <a:lstStyle/>
          <a:p>
            <a:pPr marL="609600" indent="-609600">
              <a:buFont typeface="Wingdings" pitchFamily="2" charset="2"/>
              <a:buNone/>
            </a:pPr>
            <a:r>
              <a:rPr lang="zh-CN" altLang="en-US" sz="2800" b="1" dirty="0">
                <a:solidFill>
                  <a:schemeClr val="folHlink"/>
                </a:solidFill>
              </a:rPr>
              <a:t>说明：</a:t>
            </a:r>
          </a:p>
          <a:p>
            <a:pPr marL="609600" indent="-609600"/>
            <a:r>
              <a:rPr lang="zh-CN" altLang="en-US" sz="2600" dirty="0"/>
              <a:t>任何实现该接口的类的实例都可以存储在该接口类型的变量中，通过这些变量可以访问类所实现的接口中的方法。</a:t>
            </a:r>
            <a:r>
              <a:rPr lang="en-US" altLang="zh-CN" sz="2600" dirty="0">
                <a:cs typeface="Times New Roman" pitchFamily="18" charset="0"/>
              </a:rPr>
              <a:t>Java</a:t>
            </a:r>
            <a:r>
              <a:rPr lang="zh-CN" altLang="en-US" sz="2600" dirty="0"/>
              <a:t>运行时系统动态地确定该使用哪个类中的方法</a:t>
            </a:r>
            <a:r>
              <a:rPr lang="zh-CN" altLang="en-US" sz="2600" dirty="0" smtClean="0"/>
              <a:t>。</a:t>
            </a:r>
            <a:endParaRPr lang="zh-CN" altLang="en-US" sz="2600" dirty="0"/>
          </a:p>
          <a:p>
            <a:pPr marL="609600" indent="-609600"/>
            <a:r>
              <a:rPr lang="zh-CN" altLang="en-US" sz="2600" dirty="0"/>
              <a:t>把接口作为一种数据类型可以不需要了解对象所对应的具体的类，而着重于它的交互界面</a:t>
            </a:r>
          </a:p>
        </p:txBody>
      </p:sp>
      <p:sp>
        <p:nvSpPr>
          <p:cNvPr id="7" name="标题 6"/>
          <p:cNvSpPr>
            <a:spLocks noGrp="1"/>
          </p:cNvSpPr>
          <p:nvPr>
            <p:ph type="title"/>
          </p:nvPr>
        </p:nvSpPr>
        <p:spPr/>
        <p:txBody>
          <a:bodyPr/>
          <a:lstStyle/>
          <a:p>
            <a:r>
              <a:rPr lang="zh-CN" altLang="en-US" dirty="0" smtClean="0"/>
              <a:t>接口的类型</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89713" y="6376988"/>
            <a:ext cx="2193925" cy="457200"/>
          </a:xfrm>
          <a:prstGeom prst="rect">
            <a:avLst/>
          </a:prstGeom>
        </p:spPr>
        <p:txBody>
          <a:bodyPr/>
          <a:lstStyle/>
          <a:p>
            <a:fld id="{66BAF030-21E8-4645-A0E8-82A3F225C4F0}" type="slidenum">
              <a:rPr lang="en-US" altLang="zh-CN"/>
              <a:pPr/>
              <a:t>16</a:t>
            </a:fld>
            <a:endParaRPr lang="en-US" altLang="zh-CN"/>
          </a:p>
        </p:txBody>
      </p:sp>
      <p:pic>
        <p:nvPicPr>
          <p:cNvPr id="148485" name="Picture 5"/>
          <p:cNvPicPr>
            <a:picLocks noChangeAspect="1" noChangeArrowheads="1"/>
          </p:cNvPicPr>
          <p:nvPr/>
        </p:nvPicPr>
        <p:blipFill>
          <a:blip r:embed="rId2" cstate="print"/>
          <a:srcRect/>
          <a:stretch>
            <a:fillRect/>
          </a:stretch>
        </p:blipFill>
        <p:spPr bwMode="auto">
          <a:xfrm>
            <a:off x="1043608" y="899765"/>
            <a:ext cx="7239000" cy="4689475"/>
          </a:xfrm>
          <a:prstGeom prst="rect">
            <a:avLst/>
          </a:prstGeom>
          <a:noFill/>
          <a:ln w="9525">
            <a:noFill/>
            <a:miter lim="800000"/>
            <a:headEnd/>
            <a:tailEnd/>
          </a:ln>
          <a:effectLst/>
        </p:spPr>
      </p:pic>
      <p:sp>
        <p:nvSpPr>
          <p:cNvPr id="8" name="标题 7"/>
          <p:cNvSpPr>
            <a:spLocks noGrp="1"/>
          </p:cNvSpPr>
          <p:nvPr>
            <p:ph type="title"/>
          </p:nvPr>
        </p:nvSpPr>
        <p:spPr/>
        <p:txBody>
          <a:bodyPr/>
          <a:lstStyle/>
          <a:p>
            <a:endParaRPr lang="zh-CN" altLang="en-US"/>
          </a:p>
        </p:txBody>
      </p:sp>
      <p:sp>
        <p:nvSpPr>
          <p:cNvPr id="9" name="内容占位符 8"/>
          <p:cNvSpPr>
            <a:spLocks noGrp="1"/>
          </p:cNvSpPr>
          <p:nvPr>
            <p:ph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Grp="1" noChangeArrowheads="1"/>
          </p:cNvSpPr>
          <p:nvPr>
            <p:ph type="body" idx="1"/>
          </p:nvPr>
        </p:nvSpPr>
        <p:spPr>
          <a:xfrm>
            <a:off x="683568" y="456604"/>
            <a:ext cx="8001000" cy="4186238"/>
          </a:xfrm>
        </p:spPr>
        <p:txBody>
          <a:bodyPr/>
          <a:lstStyle/>
          <a:p>
            <a:pPr marL="609600" indent="-609600">
              <a:buFont typeface="Wingdings" pitchFamily="2" charset="2"/>
              <a:buNone/>
            </a:pPr>
            <a:r>
              <a:rPr lang="zh-CN" altLang="en-US" sz="2600" b="1" dirty="0">
                <a:latin typeface="Courier"/>
              </a:rPr>
              <a:t>例题 </a:t>
            </a:r>
            <a:r>
              <a:rPr lang="en-US" altLang="zh-CN" sz="2600" b="1" dirty="0">
                <a:latin typeface="Courier"/>
              </a:rPr>
              <a:t>1</a:t>
            </a:r>
            <a:r>
              <a:rPr lang="zh-CN" altLang="en-US" sz="2600" b="1" dirty="0">
                <a:latin typeface="Courier"/>
              </a:rPr>
              <a:t>：</a:t>
            </a:r>
          </a:p>
          <a:p>
            <a:pPr marL="609600" indent="-609600">
              <a:buFont typeface="Wingdings" pitchFamily="2" charset="2"/>
              <a:buNone/>
            </a:pPr>
            <a:r>
              <a:rPr lang="en-US" altLang="zh-CN" sz="2600" dirty="0">
                <a:latin typeface="Courier"/>
              </a:rPr>
              <a:t>public class Bird extends Animal implements Flyer {</a:t>
            </a:r>
          </a:p>
          <a:p>
            <a:pPr marL="609600" indent="-609600">
              <a:buFont typeface="Wingdings" pitchFamily="2" charset="2"/>
              <a:buNone/>
            </a:pPr>
            <a:r>
              <a:rPr lang="en-US" altLang="zh-CN" sz="2600" dirty="0">
                <a:latin typeface="Courier"/>
              </a:rPr>
              <a:t>public void takeOff() { /* take- off implementation */ }</a:t>
            </a:r>
          </a:p>
          <a:p>
            <a:pPr marL="609600" indent="-609600">
              <a:buFont typeface="Wingdings" pitchFamily="2" charset="2"/>
              <a:buNone/>
            </a:pPr>
            <a:r>
              <a:rPr lang="en-US" altLang="zh-CN" sz="2600" dirty="0">
                <a:latin typeface="Courier"/>
              </a:rPr>
              <a:t>public void land() { /* landing implementation */ }</a:t>
            </a:r>
          </a:p>
          <a:p>
            <a:pPr marL="609600" indent="-609600">
              <a:buFont typeface="Wingdings" pitchFamily="2" charset="2"/>
              <a:buNone/>
            </a:pPr>
            <a:r>
              <a:rPr lang="en-US" altLang="zh-CN" sz="2600" dirty="0">
                <a:latin typeface="Courier"/>
              </a:rPr>
              <a:t>public void fly() { /* fly implementation */ }</a:t>
            </a:r>
          </a:p>
          <a:p>
            <a:pPr marL="609600" indent="-609600">
              <a:buFont typeface="Wingdings" pitchFamily="2" charset="2"/>
              <a:buNone/>
            </a:pPr>
            <a:r>
              <a:rPr lang="en-US" altLang="zh-CN" sz="2600" dirty="0">
                <a:latin typeface="Courier"/>
              </a:rPr>
              <a:t>public void buildNest() { /* nest building behavior */ }</a:t>
            </a:r>
          </a:p>
          <a:p>
            <a:pPr marL="609600" indent="-609600">
              <a:buFont typeface="Wingdings" pitchFamily="2" charset="2"/>
              <a:buNone/>
            </a:pPr>
            <a:r>
              <a:rPr lang="en-US" altLang="zh-CN" sz="2600" dirty="0">
                <a:latin typeface="Courier"/>
              </a:rPr>
              <a:t>public void layEggs() { /* egg laying behavior */ }</a:t>
            </a:r>
          </a:p>
          <a:p>
            <a:pPr marL="609600" indent="-609600">
              <a:buFont typeface="Wingdings" pitchFamily="2" charset="2"/>
              <a:buNone/>
            </a:pPr>
            <a:r>
              <a:rPr lang="en-US" altLang="zh-CN" sz="2600" dirty="0">
                <a:latin typeface="Courier"/>
              </a:rPr>
              <a:t>public void eat() { /* override eating behavior */ }</a:t>
            </a:r>
          </a:p>
        </p:txBody>
      </p:sp>
      <p:sp>
        <p:nvSpPr>
          <p:cNvPr id="7" name="标题 6"/>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89713" y="6376988"/>
            <a:ext cx="2193925" cy="457200"/>
          </a:xfrm>
          <a:prstGeom prst="rect">
            <a:avLst/>
          </a:prstGeom>
        </p:spPr>
        <p:txBody>
          <a:bodyPr/>
          <a:lstStyle/>
          <a:p>
            <a:fld id="{8DA3882B-CA52-4F3A-AB5D-CD6CB6336049}" type="slidenum">
              <a:rPr lang="en-US" altLang="zh-CN"/>
              <a:pPr/>
              <a:t>18</a:t>
            </a:fld>
            <a:endParaRPr lang="en-US" altLang="zh-CN"/>
          </a:p>
        </p:txBody>
      </p:sp>
      <p:sp>
        <p:nvSpPr>
          <p:cNvPr id="150532" name="Rectangle 4"/>
          <p:cNvSpPr>
            <a:spLocks noGrp="1" noChangeArrowheads="1"/>
          </p:cNvSpPr>
          <p:nvPr>
            <p:ph type="body" idx="1"/>
          </p:nvPr>
        </p:nvSpPr>
        <p:spPr>
          <a:xfrm>
            <a:off x="0" y="1905000"/>
            <a:ext cx="1676400" cy="685800"/>
          </a:xfrm>
        </p:spPr>
        <p:txBody>
          <a:bodyPr/>
          <a:lstStyle/>
          <a:p>
            <a:pPr marL="609600" indent="-609600">
              <a:buFont typeface="Wingdings" pitchFamily="2" charset="2"/>
              <a:buNone/>
            </a:pPr>
            <a:r>
              <a:rPr lang="zh-CN" altLang="en-US" sz="2600"/>
              <a:t>例题</a:t>
            </a:r>
            <a:r>
              <a:rPr lang="en-US" altLang="zh-CN" sz="2600"/>
              <a:t>2</a:t>
            </a:r>
            <a:r>
              <a:rPr lang="zh-CN" altLang="en-US" sz="2600"/>
              <a:t>：</a:t>
            </a:r>
          </a:p>
        </p:txBody>
      </p:sp>
      <p:pic>
        <p:nvPicPr>
          <p:cNvPr id="150533" name="Picture 5"/>
          <p:cNvPicPr>
            <a:picLocks noChangeAspect="1" noChangeArrowheads="1"/>
          </p:cNvPicPr>
          <p:nvPr/>
        </p:nvPicPr>
        <p:blipFill>
          <a:blip r:embed="rId2" cstate="print"/>
          <a:srcRect/>
          <a:stretch>
            <a:fillRect/>
          </a:stretch>
        </p:blipFill>
        <p:spPr bwMode="auto">
          <a:xfrm>
            <a:off x="1259632" y="764704"/>
            <a:ext cx="7315200" cy="4800600"/>
          </a:xfrm>
          <a:prstGeom prst="rect">
            <a:avLst/>
          </a:prstGeom>
          <a:noFill/>
          <a:ln w="9525">
            <a:noFill/>
            <a:miter lim="800000"/>
            <a:headEnd/>
            <a:tailEnd/>
          </a:ln>
          <a:effectLst/>
        </p:spPr>
      </p:pic>
      <p:sp>
        <p:nvSpPr>
          <p:cNvPr id="8" name="标题 7"/>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4"/>
          <p:cNvSpPr>
            <a:spLocks noGrp="1" noChangeArrowheads="1"/>
          </p:cNvSpPr>
          <p:nvPr>
            <p:ph type="body" idx="1"/>
          </p:nvPr>
        </p:nvSpPr>
        <p:spPr>
          <a:xfrm>
            <a:off x="1425202" y="521568"/>
            <a:ext cx="7086600" cy="4419600"/>
          </a:xfrm>
        </p:spPr>
        <p:txBody>
          <a:bodyPr/>
          <a:lstStyle/>
          <a:p>
            <a:pPr marL="609600" indent="-609600">
              <a:lnSpc>
                <a:spcPts val="1400"/>
              </a:lnSpc>
              <a:buFont typeface="Wingdings" pitchFamily="2" charset="2"/>
              <a:buNone/>
            </a:pPr>
            <a:r>
              <a:rPr lang="en-US" altLang="zh-CN" sz="2000" dirty="0">
                <a:latin typeface="Courier"/>
              </a:rPr>
              <a:t>public class Airport {</a:t>
            </a:r>
          </a:p>
          <a:p>
            <a:pPr marL="609600" indent="-609600">
              <a:lnSpc>
                <a:spcPts val="1400"/>
              </a:lnSpc>
              <a:spcBef>
                <a:spcPct val="50000"/>
              </a:spcBef>
              <a:buClrTx/>
              <a:buFontTx/>
              <a:buNone/>
            </a:pPr>
            <a:r>
              <a:rPr lang="en-US" altLang="zh-CN" sz="2000" dirty="0">
                <a:latin typeface="Courier"/>
              </a:rPr>
              <a:t>  public static void main( String[] args) {</a:t>
            </a:r>
          </a:p>
          <a:p>
            <a:pPr marL="609600" indent="-609600">
              <a:lnSpc>
                <a:spcPts val="1400"/>
              </a:lnSpc>
              <a:spcBef>
                <a:spcPct val="50000"/>
              </a:spcBef>
              <a:buClrTx/>
              <a:buFontTx/>
              <a:buNone/>
            </a:pPr>
            <a:r>
              <a:rPr lang="en-US" altLang="zh-CN" sz="2000" dirty="0">
                <a:latin typeface="Courier"/>
              </a:rPr>
              <a:t>   	 Airport metropolisAirport = new Airport();</a:t>
            </a:r>
          </a:p>
          <a:p>
            <a:pPr marL="609600" indent="-609600">
              <a:lnSpc>
                <a:spcPts val="1400"/>
              </a:lnSpc>
              <a:spcBef>
                <a:spcPct val="50000"/>
              </a:spcBef>
              <a:buClrTx/>
              <a:buFontTx/>
              <a:buNone/>
            </a:pPr>
            <a:r>
              <a:rPr lang="en-US" altLang="zh-CN" sz="2000" dirty="0">
                <a:latin typeface="Courier"/>
              </a:rPr>
              <a:t>	Helicopter copter = new Helicopter();</a:t>
            </a:r>
          </a:p>
          <a:p>
            <a:pPr marL="609600" indent="-609600">
              <a:lnSpc>
                <a:spcPts val="1400"/>
              </a:lnSpc>
              <a:spcBef>
                <a:spcPct val="50000"/>
              </a:spcBef>
              <a:buClrTx/>
              <a:buFontTx/>
              <a:buNone/>
            </a:pPr>
            <a:r>
              <a:rPr lang="en-US" altLang="zh-CN" sz="2000" dirty="0">
                <a:latin typeface="Courier"/>
              </a:rPr>
              <a:t>	SeaPlane sPlane = new SeaPlane();</a:t>
            </a:r>
          </a:p>
          <a:p>
            <a:pPr marL="609600" indent="-609600">
              <a:lnSpc>
                <a:spcPts val="1400"/>
              </a:lnSpc>
              <a:spcBef>
                <a:spcPct val="50000"/>
              </a:spcBef>
              <a:buClrTx/>
              <a:buFontTx/>
              <a:buNone/>
            </a:pPr>
            <a:r>
              <a:rPr lang="en-US" altLang="zh-CN" sz="2000" dirty="0">
                <a:latin typeface="Courier"/>
              </a:rPr>
              <a:t>	Superman sMan = new Superman();</a:t>
            </a:r>
          </a:p>
          <a:p>
            <a:pPr marL="609600" indent="-609600">
              <a:lnSpc>
                <a:spcPts val="1400"/>
              </a:lnSpc>
              <a:spcBef>
                <a:spcPct val="50000"/>
              </a:spcBef>
              <a:buClrTx/>
              <a:buFontTx/>
              <a:buNone/>
            </a:pPr>
            <a:r>
              <a:rPr lang="en-US" altLang="zh-CN" sz="2000" dirty="0">
                <a:latin typeface="Courier"/>
              </a:rPr>
              <a:t>	metropolisAirport. givePermissionToLand( </a:t>
            </a:r>
            <a:r>
              <a:rPr lang="en-US" altLang="zh-CN" sz="2000" b="1" dirty="0">
                <a:latin typeface="Courier"/>
              </a:rPr>
              <a:t>copte</a:t>
            </a:r>
            <a:r>
              <a:rPr lang="en-US" altLang="zh-CN" sz="2000" dirty="0">
                <a:latin typeface="Courier"/>
              </a:rPr>
              <a:t>r);</a:t>
            </a:r>
          </a:p>
          <a:p>
            <a:pPr marL="609600" indent="-609600">
              <a:lnSpc>
                <a:spcPts val="1400"/>
              </a:lnSpc>
              <a:spcBef>
                <a:spcPct val="50000"/>
              </a:spcBef>
              <a:buClrTx/>
              <a:buFontTx/>
              <a:buNone/>
            </a:pPr>
            <a:r>
              <a:rPr lang="en-US" altLang="zh-CN" sz="2000" dirty="0">
                <a:latin typeface="Courier"/>
              </a:rPr>
              <a:t>	metropolisAirport. givePermissionToLand(</a:t>
            </a:r>
            <a:r>
              <a:rPr lang="en-US" altLang="zh-CN" sz="2000" b="1" dirty="0">
                <a:latin typeface="Courier"/>
              </a:rPr>
              <a:t> sPlane</a:t>
            </a:r>
            <a:r>
              <a:rPr lang="en-US" altLang="zh-CN" sz="2000" dirty="0">
                <a:latin typeface="Courier"/>
              </a:rPr>
              <a:t>);</a:t>
            </a:r>
          </a:p>
          <a:p>
            <a:pPr marL="609600" indent="-609600">
              <a:lnSpc>
                <a:spcPts val="1400"/>
              </a:lnSpc>
              <a:spcBef>
                <a:spcPct val="50000"/>
              </a:spcBef>
              <a:buClrTx/>
              <a:buFontTx/>
              <a:buNone/>
            </a:pPr>
            <a:r>
              <a:rPr lang="en-US" altLang="zh-CN" sz="2000" dirty="0">
                <a:latin typeface="Courier"/>
              </a:rPr>
              <a:t>	metropolisAirport. givePermissionToLand( </a:t>
            </a:r>
            <a:r>
              <a:rPr lang="en-US" altLang="zh-CN" sz="2000" b="1" dirty="0">
                <a:latin typeface="Courier"/>
              </a:rPr>
              <a:t>sMan</a:t>
            </a:r>
            <a:r>
              <a:rPr lang="en-US" altLang="zh-CN" sz="2000" dirty="0">
                <a:latin typeface="Courier"/>
              </a:rPr>
              <a:t>);</a:t>
            </a:r>
          </a:p>
          <a:p>
            <a:pPr marL="609600" indent="-609600">
              <a:lnSpc>
                <a:spcPts val="1400"/>
              </a:lnSpc>
              <a:spcBef>
                <a:spcPct val="50000"/>
              </a:spcBef>
              <a:buClrTx/>
              <a:buFontTx/>
              <a:buNone/>
            </a:pPr>
            <a:r>
              <a:rPr lang="en-US" altLang="zh-CN" sz="2000" dirty="0">
                <a:latin typeface="Courier"/>
              </a:rPr>
              <a:t>  }</a:t>
            </a:r>
          </a:p>
          <a:p>
            <a:pPr marL="609600" indent="-609600">
              <a:lnSpc>
                <a:spcPts val="1400"/>
              </a:lnSpc>
              <a:spcBef>
                <a:spcPct val="50000"/>
              </a:spcBef>
              <a:buClrTx/>
              <a:buFontTx/>
              <a:buNone/>
            </a:pPr>
            <a:r>
              <a:rPr lang="en-US" altLang="zh-CN" sz="2000" dirty="0">
                <a:latin typeface="Courier"/>
              </a:rPr>
              <a:t>   private void givePermissionToLand( </a:t>
            </a:r>
            <a:r>
              <a:rPr lang="en-US" altLang="zh-CN" sz="2000" b="1" dirty="0">
                <a:latin typeface="Courier"/>
              </a:rPr>
              <a:t>Flyer f</a:t>
            </a:r>
            <a:r>
              <a:rPr lang="en-US" altLang="zh-CN" sz="2000" dirty="0">
                <a:latin typeface="Courier"/>
              </a:rPr>
              <a:t>) {</a:t>
            </a:r>
          </a:p>
          <a:p>
            <a:pPr marL="609600" indent="-609600">
              <a:lnSpc>
                <a:spcPts val="1400"/>
              </a:lnSpc>
              <a:spcBef>
                <a:spcPct val="50000"/>
              </a:spcBef>
              <a:buClrTx/>
              <a:buFontTx/>
              <a:buNone/>
            </a:pPr>
            <a:r>
              <a:rPr lang="en-US" altLang="zh-CN" sz="2000" dirty="0">
                <a:latin typeface="Courier"/>
              </a:rPr>
              <a:t>  	  f. land();</a:t>
            </a:r>
          </a:p>
          <a:p>
            <a:pPr marL="609600" indent="-609600">
              <a:lnSpc>
                <a:spcPts val="1400"/>
              </a:lnSpc>
              <a:spcBef>
                <a:spcPct val="50000"/>
              </a:spcBef>
              <a:buClrTx/>
              <a:buFontTx/>
              <a:buNone/>
            </a:pPr>
            <a:r>
              <a:rPr lang="en-US" altLang="zh-CN" sz="2000" dirty="0">
                <a:latin typeface="Courier"/>
              </a:rPr>
              <a:t>   }}</a:t>
            </a:r>
          </a:p>
          <a:p>
            <a:pPr marL="609600" indent="-609600">
              <a:lnSpc>
                <a:spcPct val="70000"/>
              </a:lnSpc>
              <a:spcBef>
                <a:spcPct val="50000"/>
              </a:spcBef>
              <a:buClrTx/>
              <a:buFontTx/>
              <a:buNone/>
            </a:pPr>
            <a:endParaRPr lang="en-US" altLang="zh-CN" sz="2000" dirty="0">
              <a:latin typeface="Courier"/>
            </a:endParaRPr>
          </a:p>
        </p:txBody>
      </p:sp>
      <p:sp>
        <p:nvSpPr>
          <p:cNvPr id="151559" name="Rectangle 7"/>
          <p:cNvSpPr>
            <a:spLocks noChangeArrowheads="1"/>
          </p:cNvSpPr>
          <p:nvPr/>
        </p:nvSpPr>
        <p:spPr bwMode="auto">
          <a:xfrm>
            <a:off x="53602" y="448220"/>
            <a:ext cx="1162050" cy="427038"/>
          </a:xfrm>
          <a:prstGeom prst="rect">
            <a:avLst/>
          </a:prstGeom>
          <a:noFill/>
          <a:ln w="9525">
            <a:noFill/>
            <a:miter lim="800000"/>
            <a:headEnd/>
            <a:tailEnd/>
          </a:ln>
          <a:effectLst/>
        </p:spPr>
        <p:txBody>
          <a:bodyPr wrap="none">
            <a:spAutoFit/>
          </a:bodyPr>
          <a:lstStyle/>
          <a:p>
            <a:r>
              <a:rPr lang="zh-CN" altLang="en-US" sz="2200"/>
              <a:t>例题</a:t>
            </a:r>
            <a:r>
              <a:rPr lang="en-US" altLang="zh-CN" sz="2200"/>
              <a:t>2</a:t>
            </a:r>
            <a:r>
              <a:rPr lang="zh-CN" altLang="en-US" sz="2200"/>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p:cNvSpPr>
            <a:spLocks noGrp="1" noChangeArrowheads="1"/>
          </p:cNvSpPr>
          <p:nvPr>
            <p:ph type="body" idx="1"/>
          </p:nvPr>
        </p:nvSpPr>
        <p:spPr>
          <a:xfrm>
            <a:off x="252858" y="476672"/>
            <a:ext cx="2133600" cy="685800"/>
          </a:xfrm>
        </p:spPr>
        <p:txBody>
          <a:bodyPr/>
          <a:lstStyle/>
          <a:p>
            <a:pPr marL="609600" indent="-609600">
              <a:lnSpc>
                <a:spcPct val="90000"/>
              </a:lnSpc>
              <a:buFont typeface="Wingdings" pitchFamily="2" charset="2"/>
              <a:buNone/>
            </a:pPr>
            <a:r>
              <a:rPr lang="zh-CN" altLang="en-US" sz="2200"/>
              <a:t>例题</a:t>
            </a:r>
            <a:r>
              <a:rPr lang="en-US" altLang="zh-CN" sz="2200"/>
              <a:t>3</a:t>
            </a:r>
            <a:r>
              <a:rPr lang="zh-CN" altLang="en-US" sz="2200"/>
              <a:t>：</a:t>
            </a:r>
          </a:p>
          <a:p>
            <a:pPr marL="609600" indent="-609600">
              <a:lnSpc>
                <a:spcPct val="90000"/>
              </a:lnSpc>
              <a:buFont typeface="Wingdings" pitchFamily="2" charset="2"/>
              <a:buNone/>
            </a:pPr>
            <a:r>
              <a:rPr lang="zh-CN" altLang="en-US" sz="2200"/>
              <a:t>继承多个接口</a:t>
            </a:r>
          </a:p>
        </p:txBody>
      </p:sp>
      <p:pic>
        <p:nvPicPr>
          <p:cNvPr id="152582" name="Picture 6"/>
          <p:cNvPicPr>
            <a:picLocks noChangeAspect="1" noChangeArrowheads="1"/>
          </p:cNvPicPr>
          <p:nvPr/>
        </p:nvPicPr>
        <p:blipFill>
          <a:blip r:embed="rId2" cstate="print"/>
          <a:srcRect/>
          <a:stretch>
            <a:fillRect/>
          </a:stretch>
        </p:blipFill>
        <p:spPr bwMode="auto">
          <a:xfrm>
            <a:off x="2157858" y="1375246"/>
            <a:ext cx="6019800" cy="4718050"/>
          </a:xfrm>
          <a:prstGeom prst="rect">
            <a:avLst/>
          </a:prstGeom>
          <a:noFill/>
          <a:ln w="9525">
            <a:noFill/>
            <a:miter lim="800000"/>
            <a:headEnd/>
            <a:tailEnd/>
          </a:ln>
          <a:effectLst/>
        </p:spPr>
      </p:pic>
      <p:sp>
        <p:nvSpPr>
          <p:cNvPr id="8" name="标题 7"/>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4"/>
          <p:cNvSpPr>
            <a:spLocks noGrp="1" noChangeArrowheads="1"/>
          </p:cNvSpPr>
          <p:nvPr>
            <p:ph type="body" idx="1"/>
          </p:nvPr>
        </p:nvSpPr>
        <p:spPr>
          <a:xfrm>
            <a:off x="2057400" y="737592"/>
            <a:ext cx="7086600" cy="4419600"/>
          </a:xfrm>
        </p:spPr>
        <p:txBody>
          <a:bodyPr/>
          <a:lstStyle/>
          <a:p>
            <a:pPr marL="609600" indent="-609600">
              <a:lnSpc>
                <a:spcPct val="90000"/>
              </a:lnSpc>
              <a:buFont typeface="Wingdings" pitchFamily="2" charset="2"/>
              <a:buNone/>
            </a:pPr>
            <a:r>
              <a:rPr lang="en-US" altLang="zh-CN" sz="2000" dirty="0">
                <a:latin typeface="Courier"/>
              </a:rPr>
              <a:t>public class Harbor {</a:t>
            </a:r>
          </a:p>
          <a:p>
            <a:pPr marL="609600" indent="-609600">
              <a:lnSpc>
                <a:spcPct val="90000"/>
              </a:lnSpc>
              <a:buFont typeface="Wingdings" pitchFamily="2" charset="2"/>
              <a:buNone/>
            </a:pPr>
            <a:r>
              <a:rPr lang="en-US" altLang="zh-CN" sz="2000" dirty="0">
                <a:latin typeface="Courier"/>
              </a:rPr>
              <a:t>	public static void main( String[] args) {</a:t>
            </a:r>
          </a:p>
          <a:p>
            <a:pPr marL="609600" indent="-609600">
              <a:lnSpc>
                <a:spcPct val="90000"/>
              </a:lnSpc>
              <a:buFont typeface="Wingdings" pitchFamily="2" charset="2"/>
              <a:buNone/>
            </a:pPr>
            <a:r>
              <a:rPr lang="en-US" altLang="zh-CN" sz="2000" dirty="0">
                <a:latin typeface="Courier"/>
              </a:rPr>
              <a:t>		Harbor bostonHarbor = new Harbor</a:t>
            </a:r>
            <a:r>
              <a:rPr lang="en-US" altLang="zh-CN" sz="2000" dirty="0" smtClean="0">
                <a:latin typeface="Courier"/>
              </a:rPr>
              <a:t>();</a:t>
            </a:r>
            <a:endParaRPr lang="en-US" altLang="zh-CN" sz="1400" dirty="0">
              <a:latin typeface="Courier"/>
            </a:endParaRPr>
          </a:p>
          <a:p>
            <a:pPr marL="609600" indent="-609600">
              <a:lnSpc>
                <a:spcPct val="90000"/>
              </a:lnSpc>
              <a:buFont typeface="Wingdings" pitchFamily="2" charset="2"/>
              <a:buNone/>
            </a:pPr>
            <a:r>
              <a:rPr lang="en-US" altLang="zh-CN" sz="2000" dirty="0">
                <a:latin typeface="Courier"/>
              </a:rPr>
              <a:t>		RiverBarge barge = new RiverBarge();</a:t>
            </a:r>
          </a:p>
          <a:p>
            <a:pPr marL="609600" indent="-609600">
              <a:lnSpc>
                <a:spcPct val="90000"/>
              </a:lnSpc>
              <a:buFont typeface="Wingdings" pitchFamily="2" charset="2"/>
              <a:buNone/>
            </a:pPr>
            <a:r>
              <a:rPr lang="en-US" altLang="zh-CN" sz="2000" dirty="0">
                <a:latin typeface="Courier"/>
              </a:rPr>
              <a:t>		SeaPlane sPlane = new SeaPlane</a:t>
            </a:r>
            <a:r>
              <a:rPr lang="en-US" altLang="zh-CN" sz="2000" dirty="0" smtClean="0">
                <a:latin typeface="Courier"/>
              </a:rPr>
              <a:t>();</a:t>
            </a:r>
            <a:endParaRPr lang="en-US" altLang="zh-CN" sz="1200" dirty="0">
              <a:latin typeface="Courier"/>
            </a:endParaRPr>
          </a:p>
          <a:p>
            <a:pPr marL="609600" indent="-609600">
              <a:lnSpc>
                <a:spcPct val="90000"/>
              </a:lnSpc>
              <a:buFont typeface="Wingdings" pitchFamily="2" charset="2"/>
              <a:buNone/>
            </a:pPr>
            <a:r>
              <a:rPr lang="en-US" altLang="zh-CN" sz="2000" dirty="0">
                <a:latin typeface="Courier"/>
              </a:rPr>
              <a:t>		bostonHarbor. givePermissionToDock( barge);</a:t>
            </a:r>
          </a:p>
          <a:p>
            <a:pPr marL="609600" indent="-609600">
              <a:lnSpc>
                <a:spcPct val="90000"/>
              </a:lnSpc>
              <a:buFont typeface="Wingdings" pitchFamily="2" charset="2"/>
              <a:buNone/>
            </a:pPr>
            <a:r>
              <a:rPr lang="en-US" altLang="zh-CN" sz="2000" dirty="0">
                <a:latin typeface="Courier"/>
              </a:rPr>
              <a:t>		bostonHarbor. givePermissionToDock( sPlane);</a:t>
            </a:r>
          </a:p>
          <a:p>
            <a:pPr marL="609600" indent="-609600">
              <a:lnSpc>
                <a:spcPct val="90000"/>
              </a:lnSpc>
              <a:buFont typeface="Wingdings" pitchFamily="2" charset="2"/>
              <a:buNone/>
            </a:pPr>
            <a:r>
              <a:rPr lang="en-US" altLang="zh-CN" sz="2000" dirty="0">
                <a:latin typeface="Courier"/>
              </a:rPr>
              <a:t>	}</a:t>
            </a:r>
          </a:p>
          <a:p>
            <a:pPr marL="609600" indent="-609600">
              <a:lnSpc>
                <a:spcPct val="90000"/>
              </a:lnSpc>
              <a:buFont typeface="Wingdings" pitchFamily="2" charset="2"/>
              <a:buNone/>
            </a:pPr>
            <a:r>
              <a:rPr lang="en-US" altLang="zh-CN" sz="2000" dirty="0">
                <a:latin typeface="Courier"/>
              </a:rPr>
              <a:t>	private void givePermissionToDock( Sailer s) {</a:t>
            </a:r>
          </a:p>
          <a:p>
            <a:pPr marL="609600" indent="-609600">
              <a:lnSpc>
                <a:spcPct val="90000"/>
              </a:lnSpc>
              <a:buFont typeface="Wingdings" pitchFamily="2" charset="2"/>
              <a:buNone/>
            </a:pPr>
            <a:r>
              <a:rPr lang="en-US" altLang="zh-CN" sz="2000" dirty="0">
                <a:latin typeface="Courier"/>
              </a:rPr>
              <a:t>		s. dock();</a:t>
            </a:r>
          </a:p>
          <a:p>
            <a:pPr marL="609600" indent="-609600">
              <a:lnSpc>
                <a:spcPct val="90000"/>
              </a:lnSpc>
              <a:buFont typeface="Wingdings" pitchFamily="2" charset="2"/>
              <a:buNone/>
            </a:pPr>
            <a:r>
              <a:rPr lang="en-US" altLang="zh-CN" sz="2000" dirty="0">
                <a:latin typeface="Courier"/>
              </a:rPr>
              <a:t>	</a:t>
            </a:r>
            <a:r>
              <a:rPr lang="en-US" altLang="zh-CN" sz="2000" dirty="0" smtClean="0">
                <a:latin typeface="Courier"/>
              </a:rPr>
              <a:t>}</a:t>
            </a:r>
          </a:p>
          <a:p>
            <a:pPr marL="609600" indent="-609600">
              <a:lnSpc>
                <a:spcPct val="70000"/>
              </a:lnSpc>
              <a:spcBef>
                <a:spcPct val="50000"/>
              </a:spcBef>
              <a:buClrTx/>
              <a:buFontTx/>
              <a:buNone/>
            </a:pPr>
            <a:r>
              <a:rPr lang="en-US" altLang="zh-CN" sz="2000" dirty="0" smtClean="0">
                <a:latin typeface="Courier"/>
              </a:rPr>
              <a:t>}</a:t>
            </a:r>
            <a:endParaRPr lang="en-US" altLang="zh-CN" sz="2000" dirty="0">
              <a:latin typeface="Courier"/>
            </a:endParaRPr>
          </a:p>
        </p:txBody>
      </p:sp>
      <p:sp>
        <p:nvSpPr>
          <p:cNvPr id="153606" name="Rectangle 6"/>
          <p:cNvSpPr>
            <a:spLocks noChangeArrowheads="1"/>
          </p:cNvSpPr>
          <p:nvPr/>
        </p:nvSpPr>
        <p:spPr bwMode="auto">
          <a:xfrm>
            <a:off x="0" y="585192"/>
            <a:ext cx="2133600" cy="685800"/>
          </a:xfrm>
          <a:prstGeom prst="rect">
            <a:avLst/>
          </a:prstGeom>
          <a:noFill/>
          <a:ln w="9525">
            <a:noFill/>
            <a:miter lim="800000"/>
            <a:headEnd/>
            <a:tailEnd/>
          </a:ln>
          <a:effectLst/>
        </p:spPr>
        <p:txBody>
          <a:bodyPr/>
          <a:lstStyle/>
          <a:p>
            <a:pPr marL="609600" indent="-609600">
              <a:lnSpc>
                <a:spcPct val="90000"/>
              </a:lnSpc>
              <a:spcBef>
                <a:spcPct val="20000"/>
              </a:spcBef>
              <a:buClr>
                <a:schemeClr val="accent2"/>
              </a:buClr>
              <a:buFont typeface="Wingdings" pitchFamily="2" charset="2"/>
              <a:buNone/>
            </a:pPr>
            <a:r>
              <a:rPr lang="zh-CN" altLang="en-US" sz="2200"/>
              <a:t>例题</a:t>
            </a:r>
            <a:r>
              <a:rPr lang="en-US" altLang="zh-CN" sz="2200"/>
              <a:t>3</a:t>
            </a:r>
            <a:r>
              <a:rPr lang="zh-CN" altLang="en-US" sz="2200"/>
              <a:t>：</a:t>
            </a:r>
          </a:p>
          <a:p>
            <a:pPr marL="609600" indent="-609600">
              <a:lnSpc>
                <a:spcPct val="90000"/>
              </a:lnSpc>
              <a:spcBef>
                <a:spcPct val="20000"/>
              </a:spcBef>
              <a:buClr>
                <a:schemeClr val="accent2"/>
              </a:buClr>
              <a:buFont typeface="Wingdings" pitchFamily="2" charset="2"/>
              <a:buNone/>
            </a:pPr>
            <a:r>
              <a:rPr lang="zh-CN" altLang="en-US" sz="2200"/>
              <a:t>继承多个接口</a:t>
            </a:r>
          </a:p>
        </p:txBody>
      </p:sp>
      <p:sp>
        <p:nvSpPr>
          <p:cNvPr id="8" name="标题 7"/>
          <p:cNvSpPr>
            <a:spLocks noGrp="1"/>
          </p:cNvSpPr>
          <p:nvPr>
            <p:ph type="title"/>
          </p:nvPr>
        </p:nvSpPr>
        <p:spPr>
          <a:xfrm>
            <a:off x="571500" y="569219"/>
            <a:ext cx="8001000" cy="857250"/>
          </a:xfrm>
        </p:spPr>
        <p:txBody>
          <a:bodyPr/>
          <a:lstStyle/>
          <a:p>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3"/>
          <p:cNvSpPr>
            <a:spLocks noGrp="1"/>
          </p:cNvSpPr>
          <p:nvPr>
            <p:ph type="ftr" sz="quarter" idx="4294967295"/>
          </p:nvPr>
        </p:nvSpPr>
        <p:spPr>
          <a:xfrm>
            <a:off x="561528" y="7304856"/>
            <a:ext cx="6248400" cy="228600"/>
          </a:xfrm>
          <a:prstGeom prst="rect">
            <a:avLst/>
          </a:prstGeom>
          <a:noFill/>
        </p:spPr>
        <p:txBody>
          <a:bodyPr/>
          <a:lstStyle/>
          <a:p>
            <a:r>
              <a:rPr lang="en-US" altLang="en-US">
                <a:latin typeface="Arial" pitchFamily="34" charset="0"/>
              </a:rPr>
              <a:t>Learn To Program Java</a:t>
            </a:r>
          </a:p>
        </p:txBody>
      </p:sp>
      <p:sp>
        <p:nvSpPr>
          <p:cNvPr id="20483" name="灯片编号占位符 4"/>
          <p:cNvSpPr>
            <a:spLocks noGrp="1"/>
          </p:cNvSpPr>
          <p:nvPr>
            <p:ph type="sldNum" sz="quarter" idx="4294967295"/>
          </p:nvPr>
        </p:nvSpPr>
        <p:spPr>
          <a:xfrm>
            <a:off x="6809928" y="7304856"/>
            <a:ext cx="2514600" cy="228600"/>
          </a:xfrm>
          <a:prstGeom prst="rect">
            <a:avLst/>
          </a:prstGeom>
          <a:noFill/>
        </p:spPr>
        <p:txBody>
          <a:bodyPr/>
          <a:lstStyle/>
          <a:p>
            <a:fld id="{2C68AD8C-8D01-42DF-B4A6-7EEAB808AC0D}" type="slidenum">
              <a:rPr lang="en-US" altLang="en-US">
                <a:latin typeface="Arial" pitchFamily="34" charset="0"/>
              </a:rPr>
              <a:pPr/>
              <a:t>22</a:t>
            </a:fld>
            <a:endParaRPr lang="en-US" altLang="en-US">
              <a:latin typeface="Arial" pitchFamily="34" charset="0"/>
            </a:endParaRPr>
          </a:p>
        </p:txBody>
      </p:sp>
      <p:sp>
        <p:nvSpPr>
          <p:cNvPr id="20484" name="Rectangle 2"/>
          <p:cNvSpPr>
            <a:spLocks noGrp="1" noChangeArrowheads="1"/>
          </p:cNvSpPr>
          <p:nvPr>
            <p:ph type="title"/>
          </p:nvPr>
        </p:nvSpPr>
        <p:spPr/>
        <p:txBody>
          <a:bodyPr/>
          <a:lstStyle/>
          <a:p>
            <a:pPr eaLnBrk="1" hangingPunct="1"/>
            <a:r>
              <a:rPr lang="zh-CN" altLang="en-US" sz="3800" b="1" dirty="0" smtClean="0">
                <a:ea typeface="宋体" pitchFamily="2" charset="-122"/>
              </a:rPr>
              <a:t>接口应用</a:t>
            </a:r>
            <a:r>
              <a:rPr lang="en-GB" altLang="zh-CN" sz="3800" dirty="0" smtClean="0">
                <a:ea typeface="宋体" pitchFamily="2" charset="-122"/>
              </a:rPr>
              <a:t>- Comparable</a:t>
            </a:r>
          </a:p>
        </p:txBody>
      </p:sp>
      <p:sp>
        <p:nvSpPr>
          <p:cNvPr id="20485" name="Rectangle 3"/>
          <p:cNvSpPr>
            <a:spLocks noGrp="1" noChangeArrowheads="1"/>
          </p:cNvSpPr>
          <p:nvPr>
            <p:ph type="body" idx="1"/>
          </p:nvPr>
        </p:nvSpPr>
        <p:spPr>
          <a:xfrm>
            <a:off x="566738" y="1596156"/>
            <a:ext cx="8001000" cy="4929188"/>
          </a:xfrm>
        </p:spPr>
        <p:txBody>
          <a:bodyPr/>
          <a:lstStyle/>
          <a:p>
            <a:pPr eaLnBrk="1" hangingPunct="1"/>
            <a:r>
              <a:rPr lang="en-GB" altLang="zh-CN" sz="2400" dirty="0" smtClean="0">
                <a:ea typeface="宋体" pitchFamily="2" charset="-122"/>
              </a:rPr>
              <a:t>An object that implements the Comparable interface is said to have the capability to compare itself to another object of the same type. </a:t>
            </a:r>
          </a:p>
          <a:p>
            <a:pPr eaLnBrk="1" hangingPunct="1"/>
            <a:r>
              <a:rPr lang="en-GB" altLang="zh-CN" sz="2400" dirty="0" smtClean="0">
                <a:ea typeface="宋体" pitchFamily="2" charset="-122"/>
              </a:rPr>
              <a:t>Classes that implement comparable have to provide a method “</a:t>
            </a:r>
            <a:r>
              <a:rPr lang="en-GB" altLang="zh-CN" sz="2400" b="1" dirty="0" smtClean="0">
                <a:ea typeface="宋体" pitchFamily="2" charset="-122"/>
              </a:rPr>
              <a:t>compareTo()</a:t>
            </a:r>
            <a:r>
              <a:rPr lang="en-GB" altLang="zh-CN" sz="2400" dirty="0" smtClean="0">
                <a:ea typeface="宋体" pitchFamily="2" charset="-122"/>
              </a:rPr>
              <a:t>”. </a:t>
            </a:r>
          </a:p>
        </p:txBody>
      </p:sp>
      <p:grpSp>
        <p:nvGrpSpPr>
          <p:cNvPr id="2" name="Group 173"/>
          <p:cNvGrpSpPr>
            <a:grpSpLocks/>
          </p:cNvGrpSpPr>
          <p:nvPr/>
        </p:nvGrpSpPr>
        <p:grpSpPr bwMode="auto">
          <a:xfrm>
            <a:off x="539552" y="3957587"/>
            <a:ext cx="8229600" cy="2438400"/>
            <a:chOff x="384" y="1824"/>
            <a:chExt cx="5184" cy="1128"/>
          </a:xfrm>
        </p:grpSpPr>
        <p:sp>
          <p:nvSpPr>
            <p:cNvPr id="20487" name="Rectangle 103"/>
            <p:cNvSpPr>
              <a:spLocks noChangeArrowheads="1"/>
            </p:cNvSpPr>
            <p:nvPr/>
          </p:nvSpPr>
          <p:spPr bwMode="auto">
            <a:xfrm>
              <a:off x="3504" y="2091"/>
              <a:ext cx="2064" cy="861"/>
            </a:xfrm>
            <a:prstGeom prst="rect">
              <a:avLst/>
            </a:prstGeom>
            <a:noFill/>
            <a:ln w="9525">
              <a:solidFill>
                <a:schemeClr val="accent2"/>
              </a:solidFill>
              <a:miter lim="800000"/>
              <a:headEnd/>
              <a:tailEnd/>
            </a:ln>
          </p:spPr>
          <p:txBody>
            <a:bodyPr/>
            <a:lstStyle/>
            <a:p>
              <a:pPr eaLnBrk="0" hangingPunct="0">
                <a:spcBef>
                  <a:spcPct val="0"/>
                </a:spcBef>
                <a:buFontTx/>
                <a:buNone/>
              </a:pPr>
              <a:r>
                <a:rPr lang="en-US" altLang="zh-CN" sz="1400" dirty="0">
                  <a:latin typeface="Verdana" pitchFamily="34" charset="0"/>
                  <a:ea typeface="宋体" pitchFamily="2" charset="-122"/>
                  <a:cs typeface="Times New Roman" pitchFamily="18" charset="0"/>
                </a:rPr>
                <a:t>Compares this object with the specified object for order. Returns a negative integer, zero, or a positive integer as this object is less than, equal to, or greater than the specified object.</a:t>
              </a:r>
              <a:endParaRPr lang="en-US" altLang="zh-CN" sz="1400" dirty="0">
                <a:latin typeface="Times New Roman" pitchFamily="18" charset="0"/>
                <a:ea typeface="宋体" pitchFamily="2" charset="-122"/>
                <a:cs typeface="Times New Roman" pitchFamily="18" charset="0"/>
              </a:endParaRPr>
            </a:p>
          </p:txBody>
        </p:sp>
        <p:sp>
          <p:nvSpPr>
            <p:cNvPr id="20488" name="Rectangle 102"/>
            <p:cNvSpPr>
              <a:spLocks noChangeArrowheads="1"/>
            </p:cNvSpPr>
            <p:nvPr/>
          </p:nvSpPr>
          <p:spPr bwMode="auto">
            <a:xfrm>
              <a:off x="2016" y="2091"/>
              <a:ext cx="1488" cy="861"/>
            </a:xfrm>
            <a:prstGeom prst="rect">
              <a:avLst/>
            </a:prstGeom>
            <a:noFill/>
            <a:ln w="9525">
              <a:solidFill>
                <a:schemeClr val="accent2"/>
              </a:solidFill>
              <a:miter lim="800000"/>
              <a:headEnd/>
              <a:tailEnd/>
            </a:ln>
          </p:spPr>
          <p:txBody>
            <a:bodyPr/>
            <a:lstStyle/>
            <a:p>
              <a:pPr eaLnBrk="0" hangingPunct="0">
                <a:spcBef>
                  <a:spcPct val="0"/>
                </a:spcBef>
                <a:buFontTx/>
                <a:buNone/>
              </a:pPr>
              <a:r>
                <a:rPr lang="en-GB" altLang="zh-CN" sz="2400" dirty="0">
                  <a:solidFill>
                    <a:schemeClr val="accent2"/>
                  </a:solidFill>
                  <a:latin typeface="Verdana" pitchFamily="34" charset="0"/>
                  <a:ea typeface="宋体" pitchFamily="2" charset="-122"/>
                  <a:cs typeface="Times New Roman" pitchFamily="18" charset="0"/>
                </a:rPr>
                <a:t>public int </a:t>
              </a:r>
              <a:r>
                <a:rPr lang="en-GB" altLang="zh-CN" sz="2400" b="1" dirty="0">
                  <a:solidFill>
                    <a:schemeClr val="accent2"/>
                  </a:solidFill>
                  <a:latin typeface="Verdana" pitchFamily="34" charset="0"/>
                  <a:ea typeface="宋体" pitchFamily="2" charset="-122"/>
                  <a:cs typeface="Times New Roman" pitchFamily="18" charset="0"/>
                </a:rPr>
                <a:t>compareTo</a:t>
              </a:r>
              <a:r>
                <a:rPr lang="en-GB" altLang="zh-CN" sz="2400" dirty="0">
                  <a:solidFill>
                    <a:schemeClr val="accent2"/>
                  </a:solidFill>
                  <a:latin typeface="Verdana" pitchFamily="34" charset="0"/>
                  <a:ea typeface="宋体" pitchFamily="2" charset="-122"/>
                  <a:cs typeface="Times New Roman" pitchFamily="18" charset="0"/>
                </a:rPr>
                <a:t> (object o)</a:t>
              </a:r>
              <a:endParaRPr lang="en-GB" altLang="zh-CN" sz="2400" dirty="0">
                <a:solidFill>
                  <a:schemeClr val="accent2"/>
                </a:solidFill>
                <a:latin typeface="Times New Roman" pitchFamily="18" charset="0"/>
                <a:ea typeface="宋体" pitchFamily="2" charset="-122"/>
              </a:endParaRPr>
            </a:p>
          </p:txBody>
        </p:sp>
        <p:sp>
          <p:nvSpPr>
            <p:cNvPr id="20489" name="Rectangle 101"/>
            <p:cNvSpPr>
              <a:spLocks noChangeArrowheads="1"/>
            </p:cNvSpPr>
            <p:nvPr/>
          </p:nvSpPr>
          <p:spPr bwMode="auto">
            <a:xfrm>
              <a:off x="1290" y="2091"/>
              <a:ext cx="726" cy="861"/>
            </a:xfrm>
            <a:prstGeom prst="rect">
              <a:avLst/>
            </a:prstGeom>
            <a:noFill/>
            <a:ln w="9525">
              <a:solidFill>
                <a:schemeClr val="accent2"/>
              </a:solidFill>
              <a:miter lim="800000"/>
              <a:headEnd/>
              <a:tailEnd/>
            </a:ln>
          </p:spPr>
          <p:txBody>
            <a:bodyPr/>
            <a:lstStyle/>
            <a:p>
              <a:pPr eaLnBrk="0" hangingPunct="0">
                <a:spcBef>
                  <a:spcPct val="0"/>
                </a:spcBef>
                <a:buFontTx/>
                <a:buNone/>
              </a:pPr>
              <a:r>
                <a:rPr lang="en-GB" altLang="zh-CN" sz="1400">
                  <a:solidFill>
                    <a:schemeClr val="accent2"/>
                  </a:solidFill>
                  <a:latin typeface="Verdana" pitchFamily="34" charset="0"/>
                  <a:ea typeface="宋体" pitchFamily="2" charset="-122"/>
                  <a:cs typeface="Times New Roman" pitchFamily="18" charset="0"/>
                </a:rPr>
                <a:t>java.lang</a:t>
              </a:r>
              <a:endParaRPr lang="en-GB" altLang="zh-CN" sz="1400">
                <a:solidFill>
                  <a:schemeClr val="accent2"/>
                </a:solidFill>
                <a:latin typeface="Times New Roman" pitchFamily="18" charset="0"/>
                <a:ea typeface="宋体" pitchFamily="2" charset="-122"/>
              </a:endParaRPr>
            </a:p>
          </p:txBody>
        </p:sp>
        <p:sp>
          <p:nvSpPr>
            <p:cNvPr id="20490" name="Rectangle 100"/>
            <p:cNvSpPr>
              <a:spLocks noChangeArrowheads="1"/>
            </p:cNvSpPr>
            <p:nvPr/>
          </p:nvSpPr>
          <p:spPr bwMode="auto">
            <a:xfrm>
              <a:off x="384" y="2091"/>
              <a:ext cx="906" cy="861"/>
            </a:xfrm>
            <a:prstGeom prst="rect">
              <a:avLst/>
            </a:prstGeom>
            <a:noFill/>
            <a:ln w="9525">
              <a:solidFill>
                <a:schemeClr val="accent2"/>
              </a:solidFill>
              <a:miter lim="800000"/>
              <a:headEnd/>
              <a:tailEnd/>
            </a:ln>
          </p:spPr>
          <p:txBody>
            <a:bodyPr/>
            <a:lstStyle/>
            <a:p>
              <a:pPr eaLnBrk="0" hangingPunct="0">
                <a:spcBef>
                  <a:spcPct val="0"/>
                </a:spcBef>
                <a:buFontTx/>
                <a:buNone/>
              </a:pPr>
              <a:r>
                <a:rPr lang="en-GB" altLang="zh-CN" sz="1400" b="1" dirty="0">
                  <a:solidFill>
                    <a:schemeClr val="accent2"/>
                  </a:solidFill>
                  <a:latin typeface="Verdana" pitchFamily="34" charset="0"/>
                  <a:ea typeface="宋体" pitchFamily="2" charset="-122"/>
                  <a:cs typeface="Times New Roman" pitchFamily="18" charset="0"/>
                </a:rPr>
                <a:t>Comparable</a:t>
              </a:r>
              <a:endParaRPr lang="en-GB" altLang="zh-CN" sz="1400" dirty="0">
                <a:solidFill>
                  <a:schemeClr val="accent2"/>
                </a:solidFill>
                <a:latin typeface="Times New Roman" pitchFamily="18" charset="0"/>
                <a:ea typeface="宋体" pitchFamily="2" charset="-122"/>
              </a:endParaRPr>
            </a:p>
          </p:txBody>
        </p:sp>
        <p:sp>
          <p:nvSpPr>
            <p:cNvPr id="20491" name="Rectangle 99"/>
            <p:cNvSpPr>
              <a:spLocks noChangeArrowheads="1"/>
            </p:cNvSpPr>
            <p:nvPr/>
          </p:nvSpPr>
          <p:spPr bwMode="auto">
            <a:xfrm>
              <a:off x="3504" y="1824"/>
              <a:ext cx="2064" cy="267"/>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2000" b="1" dirty="0">
                  <a:latin typeface="Times New Roman" pitchFamily="18" charset="0"/>
                  <a:ea typeface="宋体" pitchFamily="2" charset="-122"/>
                  <a:cs typeface="Times New Roman" pitchFamily="18" charset="0"/>
                </a:rPr>
                <a:t>Description of Method</a:t>
              </a:r>
              <a:endParaRPr lang="en-GB" altLang="zh-CN" sz="3600" dirty="0">
                <a:latin typeface="Times New Roman" pitchFamily="18" charset="0"/>
                <a:ea typeface="宋体" pitchFamily="2" charset="-122"/>
              </a:endParaRPr>
            </a:p>
          </p:txBody>
        </p:sp>
        <p:sp>
          <p:nvSpPr>
            <p:cNvPr id="20492" name="Rectangle 98"/>
            <p:cNvSpPr>
              <a:spLocks noChangeArrowheads="1"/>
            </p:cNvSpPr>
            <p:nvPr/>
          </p:nvSpPr>
          <p:spPr bwMode="auto">
            <a:xfrm>
              <a:off x="2016" y="1824"/>
              <a:ext cx="1488" cy="267"/>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2000" b="1">
                  <a:latin typeface="Times New Roman" pitchFamily="18" charset="0"/>
                  <a:ea typeface="宋体" pitchFamily="2" charset="-122"/>
                  <a:cs typeface="Times New Roman" pitchFamily="18" charset="0"/>
                </a:rPr>
                <a:t>Method</a:t>
              </a:r>
              <a:endParaRPr lang="en-GB" altLang="zh-CN" sz="3600">
                <a:latin typeface="Times New Roman" pitchFamily="18" charset="0"/>
                <a:ea typeface="宋体" pitchFamily="2" charset="-122"/>
              </a:endParaRPr>
            </a:p>
          </p:txBody>
        </p:sp>
        <p:sp>
          <p:nvSpPr>
            <p:cNvPr id="20493" name="Rectangle 97"/>
            <p:cNvSpPr>
              <a:spLocks noChangeArrowheads="1"/>
            </p:cNvSpPr>
            <p:nvPr/>
          </p:nvSpPr>
          <p:spPr bwMode="auto">
            <a:xfrm>
              <a:off x="1290" y="1824"/>
              <a:ext cx="726" cy="267"/>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2000" b="1" dirty="0">
                  <a:latin typeface="Times New Roman" pitchFamily="18" charset="0"/>
                  <a:ea typeface="宋体" pitchFamily="2" charset="-122"/>
                  <a:cs typeface="Times New Roman" pitchFamily="18" charset="0"/>
                </a:rPr>
                <a:t>Package</a:t>
              </a:r>
              <a:endParaRPr lang="en-GB" altLang="zh-CN" sz="3600" dirty="0">
                <a:latin typeface="Times New Roman" pitchFamily="18" charset="0"/>
                <a:ea typeface="宋体" pitchFamily="2" charset="-122"/>
              </a:endParaRPr>
            </a:p>
          </p:txBody>
        </p:sp>
        <p:sp>
          <p:nvSpPr>
            <p:cNvPr id="20494" name="Rectangle 96"/>
            <p:cNvSpPr>
              <a:spLocks noChangeArrowheads="1"/>
            </p:cNvSpPr>
            <p:nvPr/>
          </p:nvSpPr>
          <p:spPr bwMode="auto">
            <a:xfrm>
              <a:off x="384" y="1824"/>
              <a:ext cx="906" cy="267"/>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2000" b="1" dirty="0">
                  <a:latin typeface="Times New Roman" pitchFamily="18" charset="0"/>
                  <a:ea typeface="宋体" pitchFamily="2" charset="-122"/>
                  <a:cs typeface="Times New Roman" pitchFamily="18" charset="0"/>
                </a:rPr>
                <a:t>Interface</a:t>
              </a:r>
              <a:endParaRPr lang="en-GB" altLang="zh-CN" sz="3600" dirty="0">
                <a:latin typeface="Times New Roman" pitchFamily="18" charset="0"/>
                <a:ea typeface="宋体" pitchFamily="2" charset="-122"/>
              </a:endParaRPr>
            </a:p>
          </p:txBody>
        </p:sp>
        <p:sp>
          <p:nvSpPr>
            <p:cNvPr id="20495" name="Line 114"/>
            <p:cNvSpPr>
              <a:spLocks noChangeShapeType="1"/>
            </p:cNvSpPr>
            <p:nvPr/>
          </p:nvSpPr>
          <p:spPr bwMode="auto">
            <a:xfrm>
              <a:off x="384" y="2091"/>
              <a:ext cx="5184" cy="0"/>
            </a:xfrm>
            <a:prstGeom prst="line">
              <a:avLst/>
            </a:prstGeom>
            <a:noFill/>
            <a:ln w="12700" cap="rnd">
              <a:solidFill>
                <a:schemeClr val="accent2"/>
              </a:solidFill>
              <a:miter lim="800000"/>
              <a:headEnd/>
              <a:tailEnd/>
            </a:ln>
          </p:spPr>
          <p:txBody>
            <a:bodyPr/>
            <a:lstStyle/>
            <a:p>
              <a:endParaRPr lang="zh-CN" altLang="en-US"/>
            </a:p>
          </p:txBody>
        </p:sp>
        <p:sp>
          <p:nvSpPr>
            <p:cNvPr id="20496" name="Line 126"/>
            <p:cNvSpPr>
              <a:spLocks noChangeShapeType="1"/>
            </p:cNvSpPr>
            <p:nvPr/>
          </p:nvSpPr>
          <p:spPr bwMode="auto">
            <a:xfrm>
              <a:off x="384" y="2952"/>
              <a:ext cx="5184" cy="0"/>
            </a:xfrm>
            <a:prstGeom prst="line">
              <a:avLst/>
            </a:prstGeom>
            <a:noFill/>
            <a:ln w="12700" cap="rnd">
              <a:solidFill>
                <a:schemeClr val="accent2"/>
              </a:solidFill>
              <a:miter lim="800000"/>
              <a:headEnd/>
              <a:tailEnd/>
            </a:ln>
          </p:spPr>
          <p:txBody>
            <a:bodyPr/>
            <a:lstStyle/>
            <a:p>
              <a:endParaRPr lang="zh-CN" alt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pPr eaLnBrk="1" hangingPunct="1"/>
            <a:r>
              <a:rPr lang="zh-CN" altLang="en-US" sz="3800" dirty="0" smtClean="0">
                <a:ea typeface="宋体" pitchFamily="2" charset="-122"/>
              </a:rPr>
              <a:t>接口应用</a:t>
            </a:r>
            <a:r>
              <a:rPr lang="en-GB" altLang="zh-CN" sz="3800" dirty="0" smtClean="0">
                <a:ea typeface="宋体" pitchFamily="2" charset="-122"/>
              </a:rPr>
              <a:t>- Comparator </a:t>
            </a:r>
          </a:p>
        </p:txBody>
      </p:sp>
      <p:sp>
        <p:nvSpPr>
          <p:cNvPr id="24581" name="Rectangle 3"/>
          <p:cNvSpPr>
            <a:spLocks noGrp="1" noChangeArrowheads="1"/>
          </p:cNvSpPr>
          <p:nvPr>
            <p:ph type="body" idx="1"/>
          </p:nvPr>
        </p:nvSpPr>
        <p:spPr>
          <a:xfrm>
            <a:off x="381000" y="1600944"/>
            <a:ext cx="8610600" cy="3124200"/>
          </a:xfrm>
        </p:spPr>
        <p:txBody>
          <a:bodyPr/>
          <a:lstStyle/>
          <a:p>
            <a:pPr eaLnBrk="1" hangingPunct="1">
              <a:lnSpc>
                <a:spcPts val="2000"/>
              </a:lnSpc>
              <a:spcAft>
                <a:spcPts val="600"/>
              </a:spcAft>
            </a:pPr>
            <a:r>
              <a:rPr lang="en-GB" altLang="zh-CN" sz="2400" dirty="0" smtClean="0">
                <a:ea typeface="宋体" pitchFamily="2" charset="-122"/>
              </a:rPr>
              <a:t>The application requires the SalesPerson objects to be sorted via their names. </a:t>
            </a:r>
          </a:p>
          <a:p>
            <a:pPr eaLnBrk="1" hangingPunct="1">
              <a:lnSpc>
                <a:spcPts val="2000"/>
              </a:lnSpc>
              <a:spcAft>
                <a:spcPts val="600"/>
              </a:spcAft>
            </a:pPr>
            <a:r>
              <a:rPr lang="en-GB" altLang="zh-CN" sz="2400" dirty="0" smtClean="0">
                <a:ea typeface="宋体" pitchFamily="2" charset="-122"/>
              </a:rPr>
              <a:t>We have already implemented the </a:t>
            </a:r>
            <a:r>
              <a:rPr lang="en-US" altLang="zh-CN" sz="2400" dirty="0" smtClean="0">
                <a:ea typeface="宋体" pitchFamily="2" charset="-122"/>
              </a:rPr>
              <a:t>Comparable </a:t>
            </a:r>
            <a:r>
              <a:rPr lang="en-GB" altLang="zh-CN" sz="2400" dirty="0" smtClean="0">
                <a:ea typeface="宋体" pitchFamily="2" charset="-122"/>
              </a:rPr>
              <a:t>interface. Since there is only one compareTo() method that can be implemented, we have a problem in implementing sort based on name and wage. </a:t>
            </a:r>
          </a:p>
          <a:p>
            <a:pPr eaLnBrk="1" hangingPunct="1">
              <a:lnSpc>
                <a:spcPts val="2000"/>
              </a:lnSpc>
              <a:spcAft>
                <a:spcPts val="600"/>
              </a:spcAft>
            </a:pPr>
            <a:r>
              <a:rPr lang="en-GB" altLang="zh-CN" sz="2400" dirty="0" smtClean="0">
                <a:ea typeface="宋体" pitchFamily="2" charset="-122"/>
              </a:rPr>
              <a:t>One solution is to define a comparator that is capable of comparing two objects and determine their natural order. </a:t>
            </a:r>
          </a:p>
        </p:txBody>
      </p:sp>
      <p:grpSp>
        <p:nvGrpSpPr>
          <p:cNvPr id="2" name="Group 168"/>
          <p:cNvGrpSpPr>
            <a:grpSpLocks/>
          </p:cNvGrpSpPr>
          <p:nvPr/>
        </p:nvGrpSpPr>
        <p:grpSpPr bwMode="auto">
          <a:xfrm>
            <a:off x="467544" y="4102248"/>
            <a:ext cx="8305800" cy="2351088"/>
            <a:chOff x="384" y="2400"/>
            <a:chExt cx="5232" cy="1481"/>
          </a:xfrm>
        </p:grpSpPr>
        <p:sp>
          <p:nvSpPr>
            <p:cNvPr id="24583" name="Rectangle 107"/>
            <p:cNvSpPr>
              <a:spLocks noChangeArrowheads="1"/>
            </p:cNvSpPr>
            <p:nvPr/>
          </p:nvSpPr>
          <p:spPr bwMode="auto">
            <a:xfrm>
              <a:off x="3552" y="2592"/>
              <a:ext cx="2064" cy="1289"/>
            </a:xfrm>
            <a:prstGeom prst="rect">
              <a:avLst/>
            </a:prstGeom>
            <a:solidFill>
              <a:schemeClr val="tx1"/>
            </a:solidFill>
            <a:ln w="9525">
              <a:solidFill>
                <a:schemeClr val="accent2"/>
              </a:solidFill>
              <a:miter lim="800000"/>
              <a:headEnd/>
              <a:tailEnd/>
            </a:ln>
          </p:spPr>
          <p:txBody>
            <a:bodyPr/>
            <a:lstStyle/>
            <a:p>
              <a:pPr eaLnBrk="0" hangingPunct="0">
                <a:spcBef>
                  <a:spcPct val="0"/>
                </a:spcBef>
                <a:buFontTx/>
                <a:buNone/>
              </a:pPr>
              <a:r>
                <a:rPr lang="en-US" altLang="zh-CN" sz="1600">
                  <a:solidFill>
                    <a:schemeClr val="accent2"/>
                  </a:solidFill>
                  <a:latin typeface="Verdana" pitchFamily="34" charset="0"/>
                  <a:ea typeface="宋体" pitchFamily="2" charset="-122"/>
                  <a:cs typeface="Times New Roman" pitchFamily="18" charset="0"/>
                </a:rPr>
                <a:t>Compares its two arguments for order. Returns a negative integer, zero, or a positive integer as the first argument is less than, equal to, or greater than the second.</a:t>
              </a:r>
              <a:endParaRPr lang="en-GB" altLang="zh-CN" sz="1600">
                <a:solidFill>
                  <a:schemeClr val="accent2"/>
                </a:solidFill>
                <a:ea typeface="宋体" pitchFamily="2" charset="-122"/>
                <a:cs typeface="Times New Roman" pitchFamily="18" charset="0"/>
              </a:endParaRPr>
            </a:p>
            <a:p>
              <a:pPr eaLnBrk="0" hangingPunct="0">
                <a:spcBef>
                  <a:spcPct val="0"/>
                </a:spcBef>
                <a:buFontTx/>
                <a:buNone/>
              </a:pPr>
              <a:r>
                <a:rPr lang="en-GB" altLang="zh-CN" sz="1600">
                  <a:solidFill>
                    <a:schemeClr val="accent2"/>
                  </a:solidFill>
                  <a:latin typeface="Verdana" pitchFamily="34" charset="0"/>
                  <a:ea typeface="宋体" pitchFamily="2" charset="-122"/>
                  <a:cs typeface="Times New Roman" pitchFamily="18" charset="0"/>
                </a:rPr>
                <a:t>Indicates if object obj is equal to this Comparator</a:t>
              </a:r>
              <a:endParaRPr lang="en-GB" altLang="zh-CN" sz="1600">
                <a:solidFill>
                  <a:schemeClr val="accent2"/>
                </a:solidFill>
                <a:latin typeface="Times New Roman" pitchFamily="18" charset="0"/>
                <a:ea typeface="宋体" pitchFamily="2" charset="-122"/>
                <a:cs typeface="Times New Roman" pitchFamily="18" charset="0"/>
              </a:endParaRPr>
            </a:p>
          </p:txBody>
        </p:sp>
        <p:sp>
          <p:nvSpPr>
            <p:cNvPr id="24584" name="Rectangle 106"/>
            <p:cNvSpPr>
              <a:spLocks noChangeArrowheads="1"/>
            </p:cNvSpPr>
            <p:nvPr/>
          </p:nvSpPr>
          <p:spPr bwMode="auto">
            <a:xfrm>
              <a:off x="2448" y="2592"/>
              <a:ext cx="1104" cy="1289"/>
            </a:xfrm>
            <a:prstGeom prst="rect">
              <a:avLst/>
            </a:prstGeom>
            <a:solidFill>
              <a:schemeClr val="tx1"/>
            </a:solidFill>
            <a:ln w="9525">
              <a:solidFill>
                <a:schemeClr val="accent2"/>
              </a:solidFill>
              <a:miter lim="800000"/>
              <a:headEnd/>
              <a:tailEnd/>
            </a:ln>
          </p:spPr>
          <p:txBody>
            <a:bodyPr/>
            <a:lstStyle/>
            <a:p>
              <a:pPr eaLnBrk="0" hangingPunct="0">
                <a:spcBef>
                  <a:spcPct val="0"/>
                </a:spcBef>
                <a:buFontTx/>
                <a:buNone/>
              </a:pPr>
              <a:r>
                <a:rPr lang="en-GB" altLang="zh-CN" sz="1600">
                  <a:solidFill>
                    <a:schemeClr val="accent2"/>
                  </a:solidFill>
                  <a:latin typeface="Verdana" pitchFamily="34" charset="0"/>
                  <a:ea typeface="宋体" pitchFamily="2" charset="-122"/>
                  <a:cs typeface="Times New Roman" pitchFamily="18" charset="0"/>
                </a:rPr>
                <a:t>public int </a:t>
              </a:r>
              <a:r>
                <a:rPr lang="en-GB" altLang="zh-CN" sz="1600" b="1">
                  <a:solidFill>
                    <a:schemeClr val="accent2"/>
                  </a:solidFill>
                  <a:latin typeface="Verdana" pitchFamily="34" charset="0"/>
                  <a:ea typeface="宋体" pitchFamily="2" charset="-122"/>
                  <a:cs typeface="Times New Roman" pitchFamily="18" charset="0"/>
                </a:rPr>
                <a:t>compare</a:t>
              </a:r>
              <a:r>
                <a:rPr lang="en-GB" altLang="zh-CN" sz="1600">
                  <a:solidFill>
                    <a:schemeClr val="accent2"/>
                  </a:solidFill>
                  <a:latin typeface="Verdana" pitchFamily="34" charset="0"/>
                  <a:ea typeface="宋体" pitchFamily="2" charset="-122"/>
                  <a:cs typeface="Times New Roman" pitchFamily="18" charset="0"/>
                </a:rPr>
                <a:t> (object o1, object o2)</a:t>
              </a:r>
              <a:endParaRPr lang="en-GB" altLang="zh-CN" sz="1600">
                <a:solidFill>
                  <a:schemeClr val="accent2"/>
                </a:solidFill>
                <a:ea typeface="宋体" pitchFamily="2" charset="-122"/>
                <a:cs typeface="Times New Roman" pitchFamily="18" charset="0"/>
              </a:endParaRPr>
            </a:p>
            <a:p>
              <a:pPr eaLnBrk="0" hangingPunct="0">
                <a:spcBef>
                  <a:spcPct val="0"/>
                </a:spcBef>
                <a:buFontTx/>
                <a:buNone/>
              </a:pPr>
              <a:r>
                <a:rPr lang="en-GB" altLang="zh-CN" sz="1600">
                  <a:solidFill>
                    <a:schemeClr val="accent2"/>
                  </a:solidFill>
                  <a:latin typeface="Verdana" pitchFamily="34" charset="0"/>
                  <a:ea typeface="宋体" pitchFamily="2" charset="-122"/>
                  <a:cs typeface="Times New Roman" pitchFamily="18" charset="0"/>
                </a:rPr>
                <a:t>public boolean </a:t>
              </a:r>
              <a:r>
                <a:rPr lang="en-GB" altLang="zh-CN" sz="1600" b="1">
                  <a:solidFill>
                    <a:schemeClr val="accent2"/>
                  </a:solidFill>
                  <a:latin typeface="Verdana" pitchFamily="34" charset="0"/>
                  <a:ea typeface="宋体" pitchFamily="2" charset="-122"/>
                  <a:cs typeface="Times New Roman" pitchFamily="18" charset="0"/>
                </a:rPr>
                <a:t>equals</a:t>
              </a:r>
              <a:r>
                <a:rPr lang="en-GB" altLang="zh-CN" sz="1600">
                  <a:solidFill>
                    <a:schemeClr val="accent2"/>
                  </a:solidFill>
                  <a:latin typeface="Verdana" pitchFamily="34" charset="0"/>
                  <a:ea typeface="宋体" pitchFamily="2" charset="-122"/>
                  <a:cs typeface="Times New Roman" pitchFamily="18" charset="0"/>
                </a:rPr>
                <a:t> (Object obj)</a:t>
              </a:r>
              <a:endParaRPr lang="en-GB" altLang="zh-CN" sz="1600">
                <a:solidFill>
                  <a:schemeClr val="accent2"/>
                </a:solidFill>
                <a:latin typeface="Times New Roman" pitchFamily="18" charset="0"/>
                <a:ea typeface="宋体" pitchFamily="2" charset="-122"/>
              </a:endParaRPr>
            </a:p>
          </p:txBody>
        </p:sp>
        <p:sp>
          <p:nvSpPr>
            <p:cNvPr id="24585" name="Rectangle 105"/>
            <p:cNvSpPr>
              <a:spLocks noChangeArrowheads="1"/>
            </p:cNvSpPr>
            <p:nvPr/>
          </p:nvSpPr>
          <p:spPr bwMode="auto">
            <a:xfrm>
              <a:off x="1536" y="2592"/>
              <a:ext cx="912" cy="1289"/>
            </a:xfrm>
            <a:prstGeom prst="rect">
              <a:avLst/>
            </a:prstGeom>
            <a:solidFill>
              <a:schemeClr val="tx1"/>
            </a:solidFill>
            <a:ln w="9525">
              <a:solidFill>
                <a:schemeClr val="accent2"/>
              </a:solidFill>
              <a:miter lim="800000"/>
              <a:headEnd/>
              <a:tailEnd/>
            </a:ln>
          </p:spPr>
          <p:txBody>
            <a:bodyPr/>
            <a:lstStyle/>
            <a:p>
              <a:pPr eaLnBrk="0" hangingPunct="0">
                <a:spcBef>
                  <a:spcPct val="0"/>
                </a:spcBef>
                <a:buFontTx/>
                <a:buNone/>
              </a:pPr>
              <a:r>
                <a:rPr lang="en-GB" altLang="zh-CN" sz="1600">
                  <a:solidFill>
                    <a:schemeClr val="accent2"/>
                  </a:solidFill>
                  <a:latin typeface="Verdana" pitchFamily="34" charset="0"/>
                  <a:ea typeface="宋体" pitchFamily="2" charset="-122"/>
                  <a:cs typeface="Times New Roman" pitchFamily="18" charset="0"/>
                </a:rPr>
                <a:t>java.util</a:t>
              </a:r>
              <a:endParaRPr lang="en-GB" altLang="zh-CN" sz="1600">
                <a:solidFill>
                  <a:schemeClr val="accent2"/>
                </a:solidFill>
                <a:latin typeface="Times New Roman" pitchFamily="18" charset="0"/>
                <a:ea typeface="宋体" pitchFamily="2" charset="-122"/>
              </a:endParaRPr>
            </a:p>
          </p:txBody>
        </p:sp>
        <p:sp>
          <p:nvSpPr>
            <p:cNvPr id="24586" name="Rectangle 104"/>
            <p:cNvSpPr>
              <a:spLocks noChangeArrowheads="1"/>
            </p:cNvSpPr>
            <p:nvPr/>
          </p:nvSpPr>
          <p:spPr bwMode="auto">
            <a:xfrm>
              <a:off x="384" y="2592"/>
              <a:ext cx="1152" cy="1289"/>
            </a:xfrm>
            <a:prstGeom prst="rect">
              <a:avLst/>
            </a:prstGeom>
            <a:solidFill>
              <a:schemeClr val="tx1"/>
            </a:solidFill>
            <a:ln w="9525">
              <a:solidFill>
                <a:schemeClr val="accent2"/>
              </a:solidFill>
              <a:miter lim="800000"/>
              <a:headEnd/>
              <a:tailEnd/>
            </a:ln>
          </p:spPr>
          <p:txBody>
            <a:bodyPr/>
            <a:lstStyle/>
            <a:p>
              <a:pPr eaLnBrk="0" hangingPunct="0">
                <a:spcBef>
                  <a:spcPct val="0"/>
                </a:spcBef>
                <a:buFontTx/>
                <a:buNone/>
              </a:pPr>
              <a:r>
                <a:rPr lang="en-US" altLang="zh-CN" sz="1600" b="1">
                  <a:solidFill>
                    <a:schemeClr val="accent2"/>
                  </a:solidFill>
                  <a:latin typeface="Verdana" pitchFamily="34" charset="0"/>
                  <a:ea typeface="宋体" pitchFamily="2" charset="-122"/>
                  <a:cs typeface="Times New Roman" pitchFamily="18" charset="0"/>
                </a:rPr>
                <a:t>Comparator</a:t>
              </a:r>
              <a:endParaRPr lang="en-US" altLang="zh-CN" sz="1600">
                <a:solidFill>
                  <a:schemeClr val="accent2"/>
                </a:solidFill>
                <a:latin typeface="Times New Roman" pitchFamily="18" charset="0"/>
                <a:ea typeface="宋体" pitchFamily="2" charset="-122"/>
                <a:cs typeface="Times New Roman" pitchFamily="18" charset="0"/>
              </a:endParaRPr>
            </a:p>
          </p:txBody>
        </p:sp>
        <p:sp>
          <p:nvSpPr>
            <p:cNvPr id="24587" name="Rectangle 99"/>
            <p:cNvSpPr>
              <a:spLocks noChangeArrowheads="1"/>
            </p:cNvSpPr>
            <p:nvPr/>
          </p:nvSpPr>
          <p:spPr bwMode="auto">
            <a:xfrm>
              <a:off x="3552" y="2400"/>
              <a:ext cx="2064" cy="211"/>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1600" b="1">
                  <a:solidFill>
                    <a:schemeClr val="accent2"/>
                  </a:solidFill>
                  <a:latin typeface="Times New Roman" pitchFamily="18" charset="0"/>
                  <a:ea typeface="宋体" pitchFamily="2" charset="-122"/>
                  <a:cs typeface="Times New Roman" pitchFamily="18" charset="0"/>
                </a:rPr>
                <a:t>Description of Method</a:t>
              </a:r>
              <a:endParaRPr lang="en-GB" altLang="zh-CN" sz="1600">
                <a:solidFill>
                  <a:schemeClr val="accent2"/>
                </a:solidFill>
                <a:latin typeface="Times New Roman" pitchFamily="18" charset="0"/>
                <a:ea typeface="宋体" pitchFamily="2" charset="-122"/>
              </a:endParaRPr>
            </a:p>
          </p:txBody>
        </p:sp>
        <p:sp>
          <p:nvSpPr>
            <p:cNvPr id="24588" name="Rectangle 98"/>
            <p:cNvSpPr>
              <a:spLocks noChangeArrowheads="1"/>
            </p:cNvSpPr>
            <p:nvPr/>
          </p:nvSpPr>
          <p:spPr bwMode="auto">
            <a:xfrm>
              <a:off x="2448" y="2400"/>
              <a:ext cx="1104" cy="211"/>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1600" b="1">
                  <a:solidFill>
                    <a:schemeClr val="accent2"/>
                  </a:solidFill>
                  <a:latin typeface="Times New Roman" pitchFamily="18" charset="0"/>
                  <a:ea typeface="宋体" pitchFamily="2" charset="-122"/>
                  <a:cs typeface="Times New Roman" pitchFamily="18" charset="0"/>
                </a:rPr>
                <a:t>Method</a:t>
              </a:r>
              <a:endParaRPr lang="en-GB" altLang="zh-CN" sz="1600">
                <a:solidFill>
                  <a:schemeClr val="accent2"/>
                </a:solidFill>
                <a:latin typeface="Times New Roman" pitchFamily="18" charset="0"/>
                <a:ea typeface="宋体" pitchFamily="2" charset="-122"/>
              </a:endParaRPr>
            </a:p>
          </p:txBody>
        </p:sp>
        <p:sp>
          <p:nvSpPr>
            <p:cNvPr id="24589" name="Rectangle 97"/>
            <p:cNvSpPr>
              <a:spLocks noChangeArrowheads="1"/>
            </p:cNvSpPr>
            <p:nvPr/>
          </p:nvSpPr>
          <p:spPr bwMode="auto">
            <a:xfrm>
              <a:off x="1536" y="2400"/>
              <a:ext cx="912" cy="211"/>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1600" b="1">
                  <a:solidFill>
                    <a:schemeClr val="accent2"/>
                  </a:solidFill>
                  <a:latin typeface="Times New Roman" pitchFamily="18" charset="0"/>
                  <a:ea typeface="宋体" pitchFamily="2" charset="-122"/>
                  <a:cs typeface="Times New Roman" pitchFamily="18" charset="0"/>
                </a:rPr>
                <a:t>Package</a:t>
              </a:r>
              <a:endParaRPr lang="en-GB" altLang="zh-CN" sz="1600">
                <a:solidFill>
                  <a:schemeClr val="accent2"/>
                </a:solidFill>
                <a:latin typeface="Times New Roman" pitchFamily="18" charset="0"/>
                <a:ea typeface="宋体" pitchFamily="2" charset="-122"/>
              </a:endParaRPr>
            </a:p>
          </p:txBody>
        </p:sp>
        <p:sp>
          <p:nvSpPr>
            <p:cNvPr id="24590" name="Rectangle 96"/>
            <p:cNvSpPr>
              <a:spLocks noChangeArrowheads="1"/>
            </p:cNvSpPr>
            <p:nvPr/>
          </p:nvSpPr>
          <p:spPr bwMode="auto">
            <a:xfrm>
              <a:off x="384" y="2400"/>
              <a:ext cx="1152" cy="211"/>
            </a:xfrm>
            <a:prstGeom prst="rect">
              <a:avLst/>
            </a:prstGeom>
            <a:solidFill>
              <a:srgbClr val="FFCC99"/>
            </a:solidFill>
            <a:ln w="9525">
              <a:solidFill>
                <a:schemeClr val="accent2"/>
              </a:solidFill>
              <a:miter lim="800000"/>
              <a:headEnd/>
              <a:tailEnd/>
            </a:ln>
          </p:spPr>
          <p:txBody>
            <a:bodyPr/>
            <a:lstStyle/>
            <a:p>
              <a:pPr eaLnBrk="0" hangingPunct="0">
                <a:spcBef>
                  <a:spcPct val="0"/>
                </a:spcBef>
                <a:buFontTx/>
                <a:buNone/>
              </a:pPr>
              <a:r>
                <a:rPr lang="en-GB" altLang="zh-CN" sz="1600" b="1">
                  <a:solidFill>
                    <a:schemeClr val="accent2"/>
                  </a:solidFill>
                  <a:latin typeface="Times New Roman" pitchFamily="18" charset="0"/>
                  <a:ea typeface="宋体" pitchFamily="2" charset="-122"/>
                  <a:cs typeface="Times New Roman" pitchFamily="18" charset="0"/>
                </a:rPr>
                <a:t>Interface</a:t>
              </a:r>
              <a:endParaRPr lang="en-GB" altLang="zh-CN" sz="1600">
                <a:solidFill>
                  <a:schemeClr val="accent2"/>
                </a:solidFill>
                <a:latin typeface="Times New Roman" pitchFamily="18" charset="0"/>
                <a:ea typeface="宋体" pitchFamily="2" charset="-122"/>
              </a:endParaRPr>
            </a:p>
          </p:txBody>
        </p:sp>
        <p:sp>
          <p:nvSpPr>
            <p:cNvPr id="24591" name="Line 114"/>
            <p:cNvSpPr>
              <a:spLocks noChangeShapeType="1"/>
            </p:cNvSpPr>
            <p:nvPr/>
          </p:nvSpPr>
          <p:spPr bwMode="auto">
            <a:xfrm>
              <a:off x="384" y="2611"/>
              <a:ext cx="5232" cy="0"/>
            </a:xfrm>
            <a:prstGeom prst="line">
              <a:avLst/>
            </a:prstGeom>
            <a:noFill/>
            <a:ln w="12700" cap="rnd">
              <a:solidFill>
                <a:schemeClr val="accent2"/>
              </a:solidFill>
              <a:miter lim="800000"/>
              <a:headEnd/>
              <a:tailEnd/>
            </a:ln>
          </p:spPr>
          <p:txBody>
            <a:bodyPr/>
            <a:lstStyle/>
            <a:p>
              <a:endParaRPr lang="zh-CN" altLang="en-US"/>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pPr eaLnBrk="1" hangingPunct="1"/>
            <a:r>
              <a:rPr lang="zh-CN" altLang="en-US" sz="3800" dirty="0" smtClean="0">
                <a:ea typeface="宋体" pitchFamily="2" charset="-122"/>
              </a:rPr>
              <a:t>接口应用</a:t>
            </a:r>
            <a:r>
              <a:rPr lang="en-GB" altLang="zh-CN" sz="3800" dirty="0" smtClean="0">
                <a:ea typeface="宋体" pitchFamily="2" charset="-122"/>
              </a:rPr>
              <a:t>- Serializable</a:t>
            </a:r>
          </a:p>
        </p:txBody>
      </p:sp>
      <p:sp>
        <p:nvSpPr>
          <p:cNvPr id="27653" name="Rectangle 3"/>
          <p:cNvSpPr>
            <a:spLocks noGrp="1" noChangeArrowheads="1"/>
          </p:cNvSpPr>
          <p:nvPr>
            <p:ph type="body" idx="1"/>
          </p:nvPr>
        </p:nvSpPr>
        <p:spPr/>
        <p:txBody>
          <a:bodyPr/>
          <a:lstStyle/>
          <a:p>
            <a:pPr eaLnBrk="1" hangingPunct="1"/>
            <a:r>
              <a:rPr lang="en-GB" altLang="zh-CN" smtClean="0">
                <a:ea typeface="宋体" pitchFamily="2" charset="-122"/>
              </a:rPr>
              <a:t>When the program ends, the objects are destroyed. </a:t>
            </a:r>
          </a:p>
          <a:p>
            <a:pPr eaLnBrk="1" hangingPunct="1"/>
            <a:r>
              <a:rPr lang="en-GB" altLang="zh-CN" smtClean="0">
                <a:ea typeface="宋体" pitchFamily="2" charset="-122"/>
              </a:rPr>
              <a:t>Whatever state the objects might be in is lost forever. </a:t>
            </a:r>
          </a:p>
          <a:p>
            <a:pPr eaLnBrk="1" hangingPunct="1"/>
            <a:r>
              <a:rPr lang="en-GB" altLang="zh-CN" smtClean="0">
                <a:ea typeface="宋体" pitchFamily="2" charset="-122"/>
              </a:rPr>
              <a:t>One way to retain the values of objects beyond program execution is to store the state of the objects into secondary storage. </a:t>
            </a:r>
          </a:p>
          <a:p>
            <a:pPr eaLnBrk="1" hangingPunct="1"/>
            <a:r>
              <a:rPr lang="en-GB" altLang="zh-CN" smtClean="0">
                <a:ea typeface="宋体" pitchFamily="2" charset="-122"/>
              </a:rPr>
              <a:t>Java does this by providing a facility known as </a:t>
            </a:r>
            <a:r>
              <a:rPr lang="en-GB" altLang="zh-CN" smtClean="0">
                <a:solidFill>
                  <a:srgbClr val="FF0000"/>
                </a:solidFill>
                <a:ea typeface="宋体" pitchFamily="2" charset="-122"/>
              </a:rPr>
              <a:t>serialization</a:t>
            </a:r>
            <a:r>
              <a:rPr lang="en-GB" altLang="zh-CN" smtClean="0">
                <a:ea typeface="宋体" pitchFamily="2" charset="-122"/>
              </a:rPr>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539552" y="404664"/>
            <a:ext cx="8001000" cy="857250"/>
          </a:xfrm>
        </p:spPr>
        <p:txBody>
          <a:bodyPr/>
          <a:lstStyle/>
          <a:p>
            <a:pPr eaLnBrk="1" hangingPunct="1"/>
            <a:r>
              <a:rPr lang="zh-CN" altLang="en-US" sz="3800" dirty="0" smtClean="0">
                <a:ea typeface="宋体" pitchFamily="2" charset="-122"/>
              </a:rPr>
              <a:t>使用接口的意义</a:t>
            </a:r>
            <a:endParaRPr lang="en-GB" altLang="zh-CN" sz="3800" dirty="0" smtClean="0">
              <a:ea typeface="宋体" pitchFamily="2" charset="-122"/>
            </a:endParaRPr>
          </a:p>
        </p:txBody>
      </p:sp>
      <p:sp>
        <p:nvSpPr>
          <p:cNvPr id="29701" name="Rectangle 3"/>
          <p:cNvSpPr>
            <a:spLocks noGrp="1" noChangeArrowheads="1"/>
          </p:cNvSpPr>
          <p:nvPr>
            <p:ph type="body" idx="1"/>
          </p:nvPr>
        </p:nvSpPr>
        <p:spPr/>
        <p:txBody>
          <a:bodyPr/>
          <a:lstStyle/>
          <a:p>
            <a:pPr eaLnBrk="1" hangingPunct="1"/>
            <a:r>
              <a:rPr lang="en-GB" altLang="zh-CN" smtClean="0">
                <a:ea typeface="宋体" pitchFamily="2" charset="-122"/>
              </a:rPr>
              <a:t>Capturing behaviour without forcing class relationship.</a:t>
            </a:r>
          </a:p>
          <a:p>
            <a:pPr eaLnBrk="1" hangingPunct="1"/>
            <a:r>
              <a:rPr lang="en-GB" altLang="zh-CN" smtClean="0">
                <a:ea typeface="宋体" pitchFamily="2" charset="-122"/>
              </a:rPr>
              <a:t>Providing a place for defining methods that classes are expected to implement.</a:t>
            </a:r>
          </a:p>
          <a:p>
            <a:pPr eaLnBrk="1" hangingPunct="1"/>
            <a:r>
              <a:rPr lang="en-GB" altLang="zh-CN" smtClean="0">
                <a:ea typeface="宋体" pitchFamily="2" charset="-122"/>
              </a:rPr>
              <a:t>Provides a front for objects to publish the constant and method definitions without revealing their classes.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pPr eaLnBrk="1" hangingPunct="1"/>
            <a:r>
              <a:rPr lang="en-GB" altLang="zh-CN" sz="3800" dirty="0" smtClean="0">
                <a:ea typeface="宋体" pitchFamily="2" charset="-122"/>
              </a:rPr>
              <a:t>Interface summary</a:t>
            </a:r>
          </a:p>
        </p:txBody>
      </p:sp>
      <p:sp>
        <p:nvSpPr>
          <p:cNvPr id="30725" name="Rectangle 3"/>
          <p:cNvSpPr>
            <a:spLocks noGrp="1" noChangeArrowheads="1"/>
          </p:cNvSpPr>
          <p:nvPr>
            <p:ph type="body" idx="1"/>
          </p:nvPr>
        </p:nvSpPr>
        <p:spPr>
          <a:xfrm>
            <a:off x="566738" y="1524148"/>
            <a:ext cx="8001000" cy="4929188"/>
          </a:xfrm>
        </p:spPr>
        <p:txBody>
          <a:bodyPr/>
          <a:lstStyle/>
          <a:p>
            <a:pPr eaLnBrk="1" hangingPunct="1">
              <a:lnSpc>
                <a:spcPts val="2000"/>
              </a:lnSpc>
            </a:pPr>
            <a:r>
              <a:rPr lang="en-GB" altLang="zh-CN" sz="2100" dirty="0" smtClean="0">
                <a:ea typeface="宋体" pitchFamily="2" charset="-122"/>
              </a:rPr>
              <a:t>Single Inheritance. A situation in which a class is defined as a subclass that has only one parent class. </a:t>
            </a:r>
          </a:p>
          <a:p>
            <a:pPr eaLnBrk="1" hangingPunct="1">
              <a:lnSpc>
                <a:spcPts val="2000"/>
              </a:lnSpc>
            </a:pPr>
            <a:r>
              <a:rPr lang="en-GB" altLang="zh-CN" sz="2100" dirty="0" smtClean="0">
                <a:ea typeface="宋体" pitchFamily="2" charset="-122"/>
              </a:rPr>
              <a:t>Multiple Inheritance. A situation that is similar to Single Inheritance but with the subclass inheriting properties from more than one superclasses.</a:t>
            </a:r>
          </a:p>
          <a:p>
            <a:pPr eaLnBrk="1" hangingPunct="1">
              <a:lnSpc>
                <a:spcPts val="2000"/>
              </a:lnSpc>
            </a:pPr>
            <a:r>
              <a:rPr lang="en-GB" altLang="zh-CN" sz="2100" dirty="0" smtClean="0">
                <a:ea typeface="宋体" pitchFamily="2" charset="-122"/>
              </a:rPr>
              <a:t>The contract of a method defines the name of the method, the number and type of formal parameters, and the return type. It specifies what the method can do. </a:t>
            </a:r>
          </a:p>
          <a:p>
            <a:pPr eaLnBrk="1" hangingPunct="1">
              <a:lnSpc>
                <a:spcPts val="2000"/>
              </a:lnSpc>
            </a:pPr>
            <a:r>
              <a:rPr lang="en-GB" altLang="zh-CN" sz="2100" dirty="0" smtClean="0">
                <a:ea typeface="宋体" pitchFamily="2" charset="-122"/>
              </a:rPr>
              <a:t>The name of the method, and the number and type of formal parameters together is known as the method signature. </a:t>
            </a:r>
          </a:p>
          <a:p>
            <a:pPr eaLnBrk="1" hangingPunct="1">
              <a:lnSpc>
                <a:spcPts val="2000"/>
              </a:lnSpc>
            </a:pPr>
            <a:r>
              <a:rPr lang="en-GB" altLang="zh-CN" sz="2100" dirty="0" smtClean="0">
                <a:ea typeface="宋体" pitchFamily="2" charset="-122"/>
              </a:rPr>
              <a:t>An implementation of a method is the set of statements that defines the behaviour of the method. </a:t>
            </a:r>
          </a:p>
          <a:p>
            <a:pPr eaLnBrk="1" hangingPunct="1">
              <a:lnSpc>
                <a:spcPts val="2000"/>
              </a:lnSpc>
            </a:pPr>
            <a:r>
              <a:rPr lang="en-GB" altLang="zh-CN" sz="2100" dirty="0" smtClean="0">
                <a:ea typeface="宋体" pitchFamily="2" charset="-122"/>
              </a:rPr>
              <a:t>An Interface is a named collection of method definitions (contracts) that do not have implementations. The implementation of the methods is provided by the class of objects that choose to implement the behaviour.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3"/>
          <p:cNvSpPr>
            <a:spLocks noGrp="1" noChangeArrowheads="1"/>
          </p:cNvSpPr>
          <p:nvPr>
            <p:ph type="body" idx="1"/>
          </p:nvPr>
        </p:nvSpPr>
        <p:spPr>
          <a:xfrm>
            <a:off x="395536" y="1628800"/>
            <a:ext cx="8458200" cy="4343400"/>
          </a:xfrm>
        </p:spPr>
        <p:txBody>
          <a:bodyPr/>
          <a:lstStyle/>
          <a:p>
            <a:pPr>
              <a:buFont typeface="Wingdings" pitchFamily="2" charset="2"/>
              <a:buNone/>
            </a:pPr>
            <a:r>
              <a:rPr lang="en-US" altLang="zh-CN" sz="2400" b="1" dirty="0" smtClean="0">
                <a:cs typeface="Times New Roman" pitchFamily="18" charset="0"/>
              </a:rPr>
              <a:t>1</a:t>
            </a:r>
            <a:r>
              <a:rPr lang="en-US" altLang="zh-CN" sz="2400" b="1" dirty="0">
                <a:cs typeface="Times New Roman" pitchFamily="18" charset="0"/>
              </a:rPr>
              <a:t>. </a:t>
            </a:r>
            <a:r>
              <a:rPr lang="zh-CN" altLang="en-US" sz="2400" b="1" dirty="0">
                <a:cs typeface="Times New Roman" pitchFamily="18" charset="0"/>
              </a:rPr>
              <a:t>完整的类定义</a:t>
            </a:r>
          </a:p>
          <a:p>
            <a:pPr>
              <a:buFont typeface="Wingdings" pitchFamily="2" charset="2"/>
              <a:buNone/>
            </a:pPr>
            <a:r>
              <a:rPr lang="en-US" altLang="zh-CN" sz="2000" dirty="0">
                <a:cs typeface="Times New Roman" pitchFamily="18" charset="0"/>
              </a:rPr>
              <a:t>[public] [abstact|final]</a:t>
            </a:r>
            <a:r>
              <a:rPr lang="en-US" altLang="zh-CN" sz="2000" b="1" dirty="0">
                <a:cs typeface="Times New Roman" pitchFamily="18" charset="0"/>
              </a:rPr>
              <a:t> class</a:t>
            </a:r>
            <a:r>
              <a:rPr lang="en-US" altLang="zh-CN" sz="2000" dirty="0">
                <a:cs typeface="Times New Roman" pitchFamily="18" charset="0"/>
              </a:rPr>
              <a:t> className [extends superclassName]</a:t>
            </a:r>
          </a:p>
          <a:p>
            <a:pPr>
              <a:buFont typeface="Wingdings" pitchFamily="2" charset="2"/>
              <a:buNone/>
            </a:pPr>
            <a:r>
              <a:rPr lang="en-US" altLang="zh-CN" sz="2000" dirty="0">
                <a:cs typeface="Times New Roman" pitchFamily="18" charset="0"/>
              </a:rPr>
              <a:t>				[implements InterfaceNameList]{ //</a:t>
            </a:r>
            <a:r>
              <a:rPr lang="zh-CN" altLang="en-US" sz="2000" dirty="0">
                <a:cs typeface="Times New Roman" pitchFamily="18" charset="0"/>
              </a:rPr>
              <a:t>类声明</a:t>
            </a:r>
          </a:p>
          <a:p>
            <a:pPr>
              <a:buFont typeface="Wingdings" pitchFamily="2" charset="2"/>
              <a:buNone/>
            </a:pPr>
            <a:r>
              <a:rPr lang="en-US" altLang="zh-CN" sz="2000" dirty="0">
                <a:cs typeface="Times New Roman" pitchFamily="18" charset="0"/>
              </a:rPr>
              <a:t>[public | protected | private] [static] [final] [transient] [volatile]</a:t>
            </a:r>
          </a:p>
          <a:p>
            <a:pPr>
              <a:buFont typeface="Wingdings" pitchFamily="2" charset="2"/>
              <a:buNone/>
            </a:pPr>
            <a:r>
              <a:rPr lang="en-US" altLang="zh-CN" sz="2000" dirty="0">
                <a:cs typeface="Times New Roman" pitchFamily="18" charset="0"/>
              </a:rPr>
              <a:t> </a:t>
            </a:r>
            <a:r>
              <a:rPr lang="en-US" altLang="zh-CN" sz="2000" b="1" dirty="0">
                <a:cs typeface="Times New Roman" pitchFamily="18" charset="0"/>
              </a:rPr>
              <a:t>type variableName;</a:t>
            </a:r>
          </a:p>
          <a:p>
            <a:pPr>
              <a:buFont typeface="Wingdings" pitchFamily="2" charset="2"/>
              <a:buNone/>
            </a:pPr>
            <a:r>
              <a:rPr lang="en-US" altLang="zh-CN" sz="2000" dirty="0">
                <a:cs typeface="Times New Roman" pitchFamily="18" charset="0"/>
              </a:rPr>
              <a:t>[public | protected | private] [static] [final | abstract] [native] [synchronized]</a:t>
            </a:r>
          </a:p>
          <a:p>
            <a:pPr>
              <a:buFont typeface="Wingdings" pitchFamily="2" charset="2"/>
              <a:buNone/>
            </a:pPr>
            <a:r>
              <a:rPr lang="en-US" altLang="zh-CN" sz="2000" dirty="0">
                <a:cs typeface="Times New Roman" pitchFamily="18" charset="0"/>
              </a:rPr>
              <a:t>returnType </a:t>
            </a:r>
            <a:r>
              <a:rPr lang="en-US" altLang="zh-CN" sz="2000" b="1" dirty="0">
                <a:cs typeface="Times New Roman" pitchFamily="18" charset="0"/>
              </a:rPr>
              <a:t>methodName</a:t>
            </a:r>
            <a:r>
              <a:rPr lang="en-US" altLang="zh-CN" sz="2000" dirty="0">
                <a:cs typeface="Times New Roman" pitchFamily="18" charset="0"/>
              </a:rPr>
              <a:t> ( [paramList] ) //</a:t>
            </a:r>
            <a:r>
              <a:rPr lang="zh-CN" altLang="en-US" sz="2000" dirty="0">
                <a:cs typeface="Times New Roman" pitchFamily="18" charset="0"/>
              </a:rPr>
              <a:t>方法定义及实现，可为多个</a:t>
            </a:r>
          </a:p>
          <a:p>
            <a:pPr>
              <a:buFont typeface="Wingdings" pitchFamily="2" charset="2"/>
              <a:buNone/>
            </a:pPr>
            <a:r>
              <a:rPr lang="en-US" altLang="zh-CN" sz="2000" dirty="0">
                <a:cs typeface="Times New Roman" pitchFamily="18" charset="0"/>
              </a:rPr>
              <a:t>[throws exceptionList]{</a:t>
            </a:r>
          </a:p>
          <a:p>
            <a:pPr>
              <a:buFont typeface="Wingdings" pitchFamily="2" charset="2"/>
              <a:buNone/>
            </a:pPr>
            <a:r>
              <a:rPr lang="en-US" altLang="zh-CN" sz="2000" dirty="0">
                <a:cs typeface="Times New Roman" pitchFamily="18" charset="0"/>
              </a:rPr>
              <a:t>statements</a:t>
            </a:r>
          </a:p>
          <a:p>
            <a:pPr>
              <a:buFont typeface="Wingdings" pitchFamily="2" charset="2"/>
              <a:buNone/>
            </a:pPr>
            <a:r>
              <a:rPr lang="en-US" altLang="zh-CN" sz="2000" dirty="0">
                <a:solidFill>
                  <a:schemeClr val="hlink"/>
                </a:solidFill>
                <a:latin typeface="宋体" pitchFamily="2" charset="-122"/>
              </a:rPr>
              <a:t>}</a:t>
            </a:r>
          </a:p>
          <a:p>
            <a:endParaRPr lang="en-US" altLang="zh-CN" sz="2000" dirty="0"/>
          </a:p>
        </p:txBody>
      </p:sp>
      <p:sp>
        <p:nvSpPr>
          <p:cNvPr id="6" name="标题 5"/>
          <p:cNvSpPr>
            <a:spLocks noGrp="1"/>
          </p:cNvSpPr>
          <p:nvPr>
            <p:ph type="title"/>
          </p:nvPr>
        </p:nvSpPr>
        <p:spPr/>
        <p:txBody>
          <a:bodyPr/>
          <a:lstStyle/>
          <a:p>
            <a:r>
              <a:rPr lang="zh-CN" altLang="en-US" dirty="0" smtClean="0"/>
              <a:t>总结</a:t>
            </a: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p:cNvSpPr>
            <a:spLocks noGrp="1" noChangeArrowheads="1"/>
          </p:cNvSpPr>
          <p:nvPr>
            <p:ph type="body" idx="1"/>
          </p:nvPr>
        </p:nvSpPr>
        <p:spPr>
          <a:xfrm>
            <a:off x="611560" y="1851818"/>
            <a:ext cx="7958138" cy="3881438"/>
          </a:xfrm>
        </p:spPr>
        <p:txBody>
          <a:bodyPr/>
          <a:lstStyle/>
          <a:p>
            <a:pPr>
              <a:lnSpc>
                <a:spcPct val="105000"/>
              </a:lnSpc>
              <a:buFont typeface="Wingdings" pitchFamily="2" charset="2"/>
              <a:buNone/>
            </a:pPr>
            <a:r>
              <a:rPr lang="en-US" altLang="zh-CN" sz="2400" dirty="0" smtClean="0">
                <a:cs typeface="Times New Roman" pitchFamily="18" charset="0"/>
              </a:rPr>
              <a:t>[</a:t>
            </a:r>
            <a:r>
              <a:rPr lang="en-US" altLang="zh-CN" sz="2400" dirty="0">
                <a:cs typeface="Times New Roman" pitchFamily="18" charset="0"/>
              </a:rPr>
              <a:t>public] interface InterfaceName</a:t>
            </a:r>
          </a:p>
          <a:p>
            <a:pPr>
              <a:lnSpc>
                <a:spcPct val="105000"/>
              </a:lnSpc>
              <a:buFont typeface="Wingdings" pitchFamily="2" charset="2"/>
              <a:buNone/>
            </a:pPr>
            <a:r>
              <a:rPr lang="en-US" altLang="zh-CN" sz="2400" dirty="0">
                <a:cs typeface="Times New Roman" pitchFamily="18" charset="0"/>
              </a:rPr>
              <a:t>			 [extends superInterfaceList]{ //</a:t>
            </a:r>
            <a:r>
              <a:rPr lang="zh-CN" altLang="en-US" sz="2400" dirty="0">
                <a:cs typeface="Times New Roman" pitchFamily="18" charset="0"/>
              </a:rPr>
              <a:t>接口声明</a:t>
            </a:r>
          </a:p>
          <a:p>
            <a:pPr>
              <a:lnSpc>
                <a:spcPct val="105000"/>
              </a:lnSpc>
              <a:buFont typeface="Wingdings" pitchFamily="2" charset="2"/>
              <a:buNone/>
            </a:pPr>
            <a:r>
              <a:rPr lang="zh-CN" altLang="en-US" sz="2400" dirty="0">
                <a:cs typeface="Times New Roman" pitchFamily="18" charset="0"/>
              </a:rPr>
              <a:t>	</a:t>
            </a:r>
            <a:r>
              <a:rPr lang="en-US" altLang="zh-CN" sz="2400" dirty="0">
                <a:cs typeface="Times New Roman" pitchFamily="18" charset="0"/>
              </a:rPr>
              <a:t>type constantName = Value; //</a:t>
            </a:r>
            <a:r>
              <a:rPr lang="zh-CN" altLang="en-US" sz="2400" dirty="0">
                <a:cs typeface="Times New Roman" pitchFamily="18" charset="0"/>
              </a:rPr>
              <a:t>常量声明，可为多个</a:t>
            </a:r>
          </a:p>
          <a:p>
            <a:pPr>
              <a:lnSpc>
                <a:spcPct val="105000"/>
              </a:lnSpc>
              <a:buFont typeface="Wingdings" pitchFamily="2" charset="2"/>
              <a:buNone/>
            </a:pPr>
            <a:r>
              <a:rPr lang="zh-CN" altLang="en-US" sz="2400" dirty="0">
                <a:cs typeface="Times New Roman" pitchFamily="18" charset="0"/>
              </a:rPr>
              <a:t>	</a:t>
            </a:r>
            <a:r>
              <a:rPr lang="en-US" altLang="zh-CN" sz="2400" dirty="0">
                <a:cs typeface="Times New Roman" pitchFamily="18" charset="0"/>
              </a:rPr>
              <a:t>retumType methodName ( [paramList] ); //</a:t>
            </a:r>
            <a:r>
              <a:rPr lang="zh-CN" altLang="en-US" sz="2400" dirty="0">
                <a:cs typeface="Times New Roman" pitchFamily="18" charset="0"/>
              </a:rPr>
              <a:t>方法声明，可为多个</a:t>
            </a:r>
          </a:p>
          <a:p>
            <a:pPr>
              <a:lnSpc>
                <a:spcPct val="90000"/>
              </a:lnSpc>
              <a:buFont typeface="Wingdings" pitchFamily="2" charset="2"/>
              <a:buNone/>
            </a:pPr>
            <a:r>
              <a:rPr lang="en-US" altLang="zh-CN" sz="2400" dirty="0">
                <a:cs typeface="Times New Roman" pitchFamily="18" charset="0"/>
              </a:rPr>
              <a:t>}</a:t>
            </a:r>
          </a:p>
          <a:p>
            <a:pPr>
              <a:lnSpc>
                <a:spcPct val="70000"/>
              </a:lnSpc>
              <a:buFont typeface="Wingdings" pitchFamily="2" charset="2"/>
              <a:buNone/>
            </a:pPr>
            <a:endParaRPr lang="en-US" altLang="zh-CN" sz="2400" dirty="0">
              <a:cs typeface="Times New Roman" pitchFamily="18" charset="0"/>
            </a:endParaRPr>
          </a:p>
          <a:p>
            <a:pPr>
              <a:lnSpc>
                <a:spcPct val="90000"/>
              </a:lnSpc>
              <a:buFont typeface="Wingdings" pitchFamily="2" charset="2"/>
              <a:buNone/>
            </a:pPr>
            <a:r>
              <a:rPr lang="zh-CN" altLang="en-US" sz="2800" b="1" dirty="0">
                <a:cs typeface="Times New Roman" pitchFamily="18" charset="0"/>
              </a:rPr>
              <a:t>　</a:t>
            </a:r>
          </a:p>
          <a:p>
            <a:pPr>
              <a:lnSpc>
                <a:spcPct val="90000"/>
              </a:lnSpc>
            </a:pPr>
            <a:endParaRPr lang="en-US" altLang="zh-CN" sz="2800" dirty="0"/>
          </a:p>
        </p:txBody>
      </p:sp>
      <p:sp>
        <p:nvSpPr>
          <p:cNvPr id="6" name="标题 5"/>
          <p:cNvSpPr>
            <a:spLocks noGrp="1"/>
          </p:cNvSpPr>
          <p:nvPr>
            <p:ph type="title"/>
          </p:nvPr>
        </p:nvSpPr>
        <p:spPr/>
        <p:txBody>
          <a:bodyPr/>
          <a:lstStyle/>
          <a:p>
            <a:r>
              <a:rPr lang="zh-CN" altLang="en-US" b="1" dirty="0" smtClean="0">
                <a:solidFill>
                  <a:schemeClr val="tx1"/>
                </a:solidFill>
                <a:cs typeface="Times New Roman" pitchFamily="18" charset="0"/>
              </a:rPr>
              <a:t>完整的接口定义</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Rectangle 3"/>
          <p:cNvSpPr>
            <a:spLocks noGrp="1" noChangeArrowheads="1"/>
          </p:cNvSpPr>
          <p:nvPr>
            <p:ph type="body" idx="1"/>
          </p:nvPr>
        </p:nvSpPr>
        <p:spPr>
          <a:xfrm>
            <a:off x="248542" y="1700808"/>
            <a:ext cx="8643938" cy="3881438"/>
          </a:xfrm>
        </p:spPr>
        <p:txBody>
          <a:bodyPr/>
          <a:lstStyle/>
          <a:p>
            <a:pPr>
              <a:lnSpc>
                <a:spcPct val="150000"/>
              </a:lnSpc>
              <a:buFont typeface="Wingdings" pitchFamily="2" charset="2"/>
              <a:buNone/>
            </a:pPr>
            <a:r>
              <a:rPr lang="en-US" altLang="zh-CN" sz="2400" dirty="0" smtClean="0">
                <a:cs typeface="Times New Roman" pitchFamily="18" charset="0"/>
              </a:rPr>
              <a:t>package </a:t>
            </a:r>
            <a:r>
              <a:rPr lang="en-US" altLang="zh-CN" sz="2400" dirty="0">
                <a:cs typeface="Times New Roman" pitchFamily="18" charset="0"/>
              </a:rPr>
              <a:t>packageName; //</a:t>
            </a:r>
            <a:r>
              <a:rPr lang="zh-CN" altLang="en-US" sz="2400" dirty="0">
                <a:cs typeface="Times New Roman" pitchFamily="18" charset="0"/>
              </a:rPr>
              <a:t>指定文件中的类所在的包，</a:t>
            </a:r>
            <a:r>
              <a:rPr lang="en-US" altLang="zh-CN" sz="2400" dirty="0">
                <a:cs typeface="Times New Roman" pitchFamily="18" charset="0"/>
              </a:rPr>
              <a:t>0</a:t>
            </a:r>
            <a:r>
              <a:rPr lang="zh-CN" altLang="en-US" sz="2400" dirty="0">
                <a:cs typeface="Times New Roman" pitchFamily="18" charset="0"/>
              </a:rPr>
              <a:t>个或</a:t>
            </a:r>
            <a:r>
              <a:rPr lang="en-US" altLang="zh-CN" sz="2400" dirty="0">
                <a:cs typeface="Times New Roman" pitchFamily="18" charset="0"/>
              </a:rPr>
              <a:t>1</a:t>
            </a:r>
            <a:r>
              <a:rPr lang="zh-CN" altLang="en-US" sz="2400" dirty="0">
                <a:cs typeface="Times New Roman" pitchFamily="18" charset="0"/>
              </a:rPr>
              <a:t>个</a:t>
            </a:r>
          </a:p>
          <a:p>
            <a:pPr>
              <a:lnSpc>
                <a:spcPct val="150000"/>
              </a:lnSpc>
              <a:buFont typeface="Wingdings" pitchFamily="2" charset="2"/>
              <a:buNone/>
            </a:pPr>
            <a:r>
              <a:rPr lang="en-US" altLang="zh-CN" sz="2400" dirty="0">
                <a:cs typeface="Times New Roman" pitchFamily="18" charset="0"/>
              </a:rPr>
              <a:t>import packageName.[className|*]; //</a:t>
            </a:r>
            <a:r>
              <a:rPr lang="zh-CN" altLang="en-US" sz="2400" dirty="0">
                <a:cs typeface="Times New Roman" pitchFamily="18" charset="0"/>
              </a:rPr>
              <a:t>指定引入的类，</a:t>
            </a:r>
            <a:r>
              <a:rPr lang="en-US" altLang="zh-CN" sz="2400" dirty="0">
                <a:cs typeface="Times New Roman" pitchFamily="18" charset="0"/>
              </a:rPr>
              <a:t>0</a:t>
            </a:r>
            <a:r>
              <a:rPr lang="zh-CN" altLang="en-US" sz="2400" dirty="0">
                <a:cs typeface="Times New Roman" pitchFamily="18" charset="0"/>
              </a:rPr>
              <a:t>个或多个</a:t>
            </a:r>
          </a:p>
          <a:p>
            <a:pPr>
              <a:lnSpc>
                <a:spcPct val="150000"/>
              </a:lnSpc>
              <a:buFont typeface="Wingdings" pitchFamily="2" charset="2"/>
              <a:buNone/>
            </a:pPr>
            <a:r>
              <a:rPr lang="en-US" altLang="zh-CN" sz="2400" dirty="0">
                <a:cs typeface="Times New Roman" pitchFamily="18" charset="0"/>
              </a:rPr>
              <a:t>public classDefinition //</a:t>
            </a:r>
            <a:r>
              <a:rPr lang="zh-CN" altLang="en-US" sz="2400" dirty="0">
                <a:cs typeface="Times New Roman" pitchFamily="18" charset="0"/>
              </a:rPr>
              <a:t>属性为</a:t>
            </a:r>
            <a:r>
              <a:rPr lang="en-US" altLang="zh-CN" sz="2400" dirty="0">
                <a:cs typeface="Times New Roman" pitchFamily="18" charset="0"/>
              </a:rPr>
              <a:t>public</a:t>
            </a:r>
            <a:r>
              <a:rPr lang="zh-CN" altLang="en-US" sz="2400" dirty="0">
                <a:cs typeface="Times New Roman" pitchFamily="18" charset="0"/>
              </a:rPr>
              <a:t>的类定义，</a:t>
            </a:r>
            <a:r>
              <a:rPr lang="en-US" altLang="zh-CN" sz="2400" dirty="0">
                <a:cs typeface="Times New Roman" pitchFamily="18" charset="0"/>
              </a:rPr>
              <a:t>0</a:t>
            </a:r>
            <a:r>
              <a:rPr lang="zh-CN" altLang="en-US" sz="2400" dirty="0">
                <a:cs typeface="Times New Roman" pitchFamily="18" charset="0"/>
              </a:rPr>
              <a:t>个或</a:t>
            </a:r>
            <a:r>
              <a:rPr lang="en-US" altLang="zh-CN" sz="2400" dirty="0">
                <a:cs typeface="Times New Roman" pitchFamily="18" charset="0"/>
              </a:rPr>
              <a:t>1</a:t>
            </a:r>
            <a:r>
              <a:rPr lang="zh-CN" altLang="en-US" sz="2400" dirty="0">
                <a:cs typeface="Times New Roman" pitchFamily="18" charset="0"/>
              </a:rPr>
              <a:t>个</a:t>
            </a:r>
          </a:p>
          <a:p>
            <a:pPr>
              <a:lnSpc>
                <a:spcPct val="150000"/>
              </a:lnSpc>
              <a:buFont typeface="Wingdings" pitchFamily="2" charset="2"/>
              <a:buNone/>
            </a:pPr>
            <a:r>
              <a:rPr lang="en-US" altLang="zh-CN" sz="2400" dirty="0">
                <a:cs typeface="Times New Roman" pitchFamily="18" charset="0"/>
              </a:rPr>
              <a:t>interfaceDefinition and classDefinition //</a:t>
            </a:r>
            <a:r>
              <a:rPr lang="zh-CN" altLang="en-US" sz="2400" dirty="0">
                <a:cs typeface="Times New Roman" pitchFamily="18" charset="0"/>
              </a:rPr>
              <a:t>接口或类定义，</a:t>
            </a:r>
            <a:r>
              <a:rPr lang="en-US" altLang="zh-CN" sz="2400" dirty="0">
                <a:cs typeface="Times New Roman" pitchFamily="18" charset="0"/>
              </a:rPr>
              <a:t>0</a:t>
            </a:r>
            <a:r>
              <a:rPr lang="zh-CN" altLang="en-US" sz="2400" dirty="0">
                <a:cs typeface="Times New Roman" pitchFamily="18" charset="0"/>
              </a:rPr>
              <a:t>个或多个。</a:t>
            </a:r>
          </a:p>
          <a:p>
            <a:endParaRPr lang="zh-CN" altLang="en-US" sz="2800" b="1" dirty="0">
              <a:solidFill>
                <a:schemeClr val="hlink"/>
              </a:solidFill>
              <a:latin typeface="宋体" pitchFamily="2" charset="-122"/>
            </a:endParaRPr>
          </a:p>
          <a:p>
            <a:endParaRPr lang="en-US" altLang="zh-CN" sz="2800" dirty="0"/>
          </a:p>
        </p:txBody>
      </p:sp>
      <p:sp>
        <p:nvSpPr>
          <p:cNvPr id="6" name="标题 5"/>
          <p:cNvSpPr>
            <a:spLocks noGrp="1"/>
          </p:cNvSpPr>
          <p:nvPr>
            <p:ph type="title"/>
          </p:nvPr>
        </p:nvSpPr>
        <p:spPr/>
        <p:txBody>
          <a:bodyPr/>
          <a:lstStyle/>
          <a:p>
            <a:r>
              <a:rPr lang="zh-CN" altLang="en-US" b="1" dirty="0" smtClean="0">
                <a:solidFill>
                  <a:schemeClr val="tx1"/>
                </a:solidFill>
                <a:cs typeface="Times New Roman" pitchFamily="18" charset="0"/>
              </a:rPr>
              <a:t>完整的</a:t>
            </a:r>
            <a:r>
              <a:rPr lang="en-US" altLang="zh-CN" b="1" dirty="0" smtClean="0">
                <a:solidFill>
                  <a:schemeClr val="tx1"/>
                </a:solidFill>
                <a:cs typeface="Times New Roman" pitchFamily="18" charset="0"/>
              </a:rPr>
              <a:t>java</a:t>
            </a:r>
            <a:r>
              <a:rPr lang="zh-CN" altLang="en-US" b="1" dirty="0" smtClean="0">
                <a:solidFill>
                  <a:schemeClr val="tx1"/>
                </a:solidFill>
                <a:cs typeface="Times New Roman" pitchFamily="18" charset="0"/>
              </a:rPr>
              <a:t>源文件</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3"/>
          <p:cNvSpPr>
            <a:spLocks noGrp="1" noChangeArrowheads="1"/>
          </p:cNvSpPr>
          <p:nvPr>
            <p:ph type="body" idx="1"/>
          </p:nvPr>
        </p:nvSpPr>
        <p:spPr>
          <a:xfrm>
            <a:off x="320550" y="1412776"/>
            <a:ext cx="8643938" cy="3881438"/>
          </a:xfrm>
        </p:spPr>
        <p:txBody>
          <a:bodyPr/>
          <a:lstStyle/>
          <a:p>
            <a:pPr>
              <a:buFont typeface="Wingdings" pitchFamily="2" charset="2"/>
              <a:buNone/>
            </a:pPr>
            <a:endParaRPr lang="zh-CN" altLang="en-US" sz="900" b="1" dirty="0">
              <a:solidFill>
                <a:schemeClr val="hlink"/>
              </a:solidFill>
              <a:cs typeface="Times New Roman" pitchFamily="18" charset="0"/>
            </a:endParaRPr>
          </a:p>
          <a:p>
            <a:r>
              <a:rPr lang="zh-CN" altLang="en-US" sz="2800" dirty="0">
                <a:cs typeface="Times New Roman" pitchFamily="18" charset="0"/>
              </a:rPr>
              <a:t>源文件的名字必须与属性为</a:t>
            </a:r>
            <a:r>
              <a:rPr lang="en-US" altLang="zh-CN" sz="2800" dirty="0">
                <a:cs typeface="Times New Roman" pitchFamily="18" charset="0"/>
              </a:rPr>
              <a:t>public</a:t>
            </a:r>
            <a:r>
              <a:rPr lang="zh-CN" altLang="en-US" sz="2800" dirty="0">
                <a:cs typeface="Times New Roman" pitchFamily="18" charset="0"/>
              </a:rPr>
              <a:t>的类的类名完全相同，且以</a:t>
            </a:r>
            <a:r>
              <a:rPr lang="en-US" altLang="zh-CN" sz="2800" dirty="0">
                <a:cs typeface="Times New Roman" pitchFamily="18" charset="0"/>
              </a:rPr>
              <a:t>.java</a:t>
            </a:r>
            <a:r>
              <a:rPr lang="zh-CN" altLang="en-US" sz="2800" dirty="0">
                <a:cs typeface="Times New Roman" pitchFamily="18" charset="0"/>
              </a:rPr>
              <a:t>作为后缀</a:t>
            </a:r>
          </a:p>
          <a:p>
            <a:endParaRPr lang="zh-CN" altLang="en-US" sz="800" dirty="0">
              <a:cs typeface="Times New Roman" pitchFamily="18" charset="0"/>
            </a:endParaRPr>
          </a:p>
          <a:p>
            <a:r>
              <a:rPr lang="zh-CN" altLang="en-US" sz="2800" dirty="0">
                <a:cs typeface="Times New Roman" pitchFamily="18" charset="0"/>
              </a:rPr>
              <a:t>如果一个文件中没有</a:t>
            </a:r>
            <a:r>
              <a:rPr lang="en-US" altLang="zh-CN" sz="2800" dirty="0">
                <a:cs typeface="Times New Roman" pitchFamily="18" charset="0"/>
              </a:rPr>
              <a:t>public</a:t>
            </a:r>
            <a:r>
              <a:rPr lang="zh-CN" altLang="en-US" sz="2800" dirty="0">
                <a:cs typeface="Times New Roman" pitchFamily="18" charset="0"/>
              </a:rPr>
              <a:t>类，则可以用任何名称作为文件名。</a:t>
            </a:r>
          </a:p>
          <a:p>
            <a:endParaRPr lang="zh-CN" altLang="en-US" sz="900" dirty="0">
              <a:cs typeface="Times New Roman" pitchFamily="18" charset="0"/>
            </a:endParaRPr>
          </a:p>
          <a:p>
            <a:r>
              <a:rPr lang="zh-CN" altLang="en-US" sz="2800" dirty="0">
                <a:cs typeface="Times New Roman" pitchFamily="18" charset="0"/>
              </a:rPr>
              <a:t>在一个</a:t>
            </a:r>
            <a:r>
              <a:rPr lang="en-US" altLang="zh-CN" sz="2800" dirty="0">
                <a:cs typeface="Times New Roman" pitchFamily="18" charset="0"/>
              </a:rPr>
              <a:t>.java</a:t>
            </a:r>
            <a:r>
              <a:rPr lang="zh-CN" altLang="en-US" sz="2800" dirty="0">
                <a:cs typeface="Times New Roman" pitchFamily="18" charset="0"/>
              </a:rPr>
              <a:t>文件中，</a:t>
            </a:r>
            <a:r>
              <a:rPr lang="en-US" altLang="zh-CN" sz="2800" dirty="0">
                <a:cs typeface="Times New Roman" pitchFamily="18" charset="0"/>
              </a:rPr>
              <a:t>package</a:t>
            </a:r>
            <a:r>
              <a:rPr lang="zh-CN" altLang="en-US" sz="2800" dirty="0">
                <a:cs typeface="Times New Roman" pitchFamily="18" charset="0"/>
              </a:rPr>
              <a:t>语句和</a:t>
            </a:r>
            <a:r>
              <a:rPr lang="en-US" altLang="zh-CN" sz="2800" dirty="0">
                <a:cs typeface="Times New Roman" pitchFamily="18" charset="0"/>
              </a:rPr>
              <a:t>public</a:t>
            </a:r>
            <a:r>
              <a:rPr lang="zh-CN" altLang="en-US" sz="2800" dirty="0">
                <a:cs typeface="Times New Roman" pitchFamily="18" charset="0"/>
              </a:rPr>
              <a:t>类最多只能有</a:t>
            </a:r>
            <a:r>
              <a:rPr lang="en-US" altLang="zh-CN" sz="2800" dirty="0">
                <a:cs typeface="Times New Roman" pitchFamily="18" charset="0"/>
              </a:rPr>
              <a:t>1</a:t>
            </a:r>
            <a:r>
              <a:rPr lang="zh-CN" altLang="en-US" sz="2800" dirty="0">
                <a:cs typeface="Times New Roman" pitchFamily="18" charset="0"/>
              </a:rPr>
              <a:t>个。</a:t>
            </a:r>
          </a:p>
          <a:p>
            <a:endParaRPr lang="zh-CN" altLang="en-US" sz="2800" b="1" dirty="0">
              <a:solidFill>
                <a:schemeClr val="hlink"/>
              </a:solidFill>
              <a:latin typeface="宋体" pitchFamily="2" charset="-122"/>
            </a:endParaRPr>
          </a:p>
          <a:p>
            <a:endParaRPr lang="en-US" altLang="zh-CN" sz="2800" dirty="0"/>
          </a:p>
        </p:txBody>
      </p:sp>
      <p:sp>
        <p:nvSpPr>
          <p:cNvPr id="6" name="标题 5"/>
          <p:cNvSpPr>
            <a:spLocks noGrp="1"/>
          </p:cNvSpPr>
          <p:nvPr>
            <p:ph type="title"/>
          </p:nvPr>
        </p:nvSpPr>
        <p:spPr/>
        <p:txBody>
          <a:bodyPr/>
          <a:lstStyle/>
          <a:p>
            <a:r>
              <a:rPr lang="zh-CN" altLang="en-US" b="1" dirty="0" smtClean="0">
                <a:solidFill>
                  <a:schemeClr val="tx1"/>
                </a:solidFill>
                <a:cs typeface="Times New Roman" pitchFamily="18" charset="0"/>
              </a:rPr>
              <a:t>完整的</a:t>
            </a:r>
            <a:r>
              <a:rPr lang="en-US" altLang="zh-CN" b="1" dirty="0" smtClean="0">
                <a:solidFill>
                  <a:schemeClr val="tx1"/>
                </a:solidFill>
                <a:cs typeface="Times New Roman" pitchFamily="18" charset="0"/>
              </a:rPr>
              <a:t>java</a:t>
            </a:r>
            <a:r>
              <a:rPr lang="zh-CN" altLang="en-US" b="1" dirty="0" smtClean="0">
                <a:solidFill>
                  <a:schemeClr val="tx1"/>
                </a:solidFill>
                <a:cs typeface="Times New Roman" pitchFamily="18" charset="0"/>
              </a:rPr>
              <a:t>源文件（续）</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781800" y="6324600"/>
            <a:ext cx="1905000" cy="457200"/>
          </a:xfrm>
          <a:prstGeom prst="rect">
            <a:avLst/>
          </a:prstGeom>
        </p:spPr>
        <p:txBody>
          <a:bodyPr/>
          <a:lstStyle/>
          <a:p>
            <a:fld id="{1BBCF581-BCE8-4E8F-AA71-236470DE1C62}" type="slidenum">
              <a:rPr lang="en-US" altLang="zh-CN"/>
              <a:pPr/>
              <a:t>31</a:t>
            </a:fld>
            <a:endParaRPr lang="en-US" altLang="zh-CN"/>
          </a:p>
        </p:txBody>
      </p:sp>
      <p:sp>
        <p:nvSpPr>
          <p:cNvPr id="2051" name="Rectangle 3"/>
          <p:cNvSpPr>
            <a:spLocks noGrp="1" noChangeArrowheads="1"/>
          </p:cNvSpPr>
          <p:nvPr>
            <p:ph type="body" idx="1"/>
          </p:nvPr>
        </p:nvSpPr>
        <p:spPr/>
        <p:txBody>
          <a:bodyPr/>
          <a:lstStyle/>
          <a:p>
            <a:r>
              <a:rPr lang="zh-CN" altLang="en-US" b="1" dirty="0" smtClean="0">
                <a:latin typeface="宋体" pitchFamily="2" charset="-122"/>
              </a:rPr>
              <a:t>基本</a:t>
            </a:r>
            <a:r>
              <a:rPr lang="zh-CN" altLang="en-US" b="1" dirty="0">
                <a:latin typeface="宋体" pitchFamily="2" charset="-122"/>
              </a:rPr>
              <a:t>概念</a:t>
            </a:r>
          </a:p>
          <a:p>
            <a:r>
              <a:rPr lang="en-US" altLang="zh-CN" b="1" dirty="0" smtClean="0">
                <a:latin typeface="宋体" pitchFamily="2" charset="-122"/>
              </a:rPr>
              <a:t>Throwable</a:t>
            </a:r>
            <a:r>
              <a:rPr lang="zh-CN" altLang="en-US" b="1" dirty="0">
                <a:latin typeface="宋体" pitchFamily="2" charset="-122"/>
              </a:rPr>
              <a:t>类及其子类</a:t>
            </a:r>
          </a:p>
          <a:p>
            <a:r>
              <a:rPr lang="zh-CN" altLang="en-US" b="1" dirty="0" smtClean="0">
                <a:latin typeface="宋体" pitchFamily="2" charset="-122"/>
              </a:rPr>
              <a:t>异常处理</a:t>
            </a:r>
            <a:endParaRPr lang="zh-CN" altLang="en-US" b="1" dirty="0">
              <a:latin typeface="宋体" pitchFamily="2" charset="-122"/>
            </a:endParaRPr>
          </a:p>
          <a:p>
            <a:r>
              <a:rPr lang="zh-CN" altLang="en-US" b="1" dirty="0" smtClean="0">
                <a:latin typeface="宋体" pitchFamily="2" charset="-122"/>
              </a:rPr>
              <a:t>抛弃</a:t>
            </a:r>
            <a:r>
              <a:rPr lang="zh-CN" altLang="en-US" b="1" dirty="0">
                <a:latin typeface="宋体" pitchFamily="2" charset="-122"/>
              </a:rPr>
              <a:t>异常</a:t>
            </a:r>
          </a:p>
          <a:p>
            <a:r>
              <a:rPr lang="zh-CN" altLang="en-US" b="1" dirty="0" smtClean="0">
                <a:latin typeface="宋体" pitchFamily="2" charset="-122"/>
              </a:rPr>
              <a:t>总结</a:t>
            </a:r>
            <a:endParaRPr lang="zh-CN" altLang="en-US" b="1" dirty="0">
              <a:latin typeface="宋体" pitchFamily="2" charset="-122"/>
            </a:endParaRPr>
          </a:p>
          <a:p>
            <a:pPr>
              <a:buFont typeface="Wingdings" pitchFamily="2" charset="2"/>
              <a:buNone/>
            </a:pPr>
            <a:endParaRPr lang="zh-CN" altLang="en-US" b="1" dirty="0">
              <a:latin typeface="宋体" pitchFamily="2" charset="-122"/>
            </a:endParaRPr>
          </a:p>
          <a:p>
            <a:pPr>
              <a:buFont typeface="Wingdings" pitchFamily="2" charset="2"/>
              <a:buNone/>
            </a:pPr>
            <a:endParaRPr lang="zh-CN" altLang="en-US" dirty="0"/>
          </a:p>
          <a:p>
            <a:pPr>
              <a:buFont typeface="Wingdings" pitchFamily="2" charset="2"/>
              <a:buNone/>
            </a:pPr>
            <a:endParaRPr lang="en-US" altLang="zh-CN" dirty="0"/>
          </a:p>
        </p:txBody>
      </p:sp>
      <p:sp>
        <p:nvSpPr>
          <p:cNvPr id="6" name="标题 5"/>
          <p:cNvSpPr>
            <a:spLocks noGrp="1"/>
          </p:cNvSpPr>
          <p:nvPr>
            <p:ph type="title"/>
          </p:nvPr>
        </p:nvSpPr>
        <p:spPr/>
        <p:txBody>
          <a:bodyPr/>
          <a:lstStyle/>
          <a:p>
            <a:r>
              <a:rPr lang="zh-CN" altLang="en-US" dirty="0" smtClean="0"/>
              <a:t>复习</a:t>
            </a:r>
            <a:r>
              <a:rPr lang="en-US" altLang="zh-CN" dirty="0" smtClean="0"/>
              <a:t>——</a:t>
            </a:r>
            <a:r>
              <a:rPr lang="zh-CN" altLang="en-US" dirty="0" smtClean="0"/>
              <a:t>异常处理</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781800" y="6324600"/>
            <a:ext cx="1905000" cy="457200"/>
          </a:xfrm>
          <a:prstGeom prst="rect">
            <a:avLst/>
          </a:prstGeom>
        </p:spPr>
        <p:txBody>
          <a:bodyPr/>
          <a:lstStyle/>
          <a:p>
            <a:fld id="{4802749F-AD04-42BB-BD58-C16090141D90}" type="slidenum">
              <a:rPr lang="en-US" altLang="zh-CN"/>
              <a:pPr/>
              <a:t>32</a:t>
            </a:fld>
            <a:endParaRPr lang="en-US" altLang="zh-CN"/>
          </a:p>
        </p:txBody>
      </p:sp>
      <p:sp>
        <p:nvSpPr>
          <p:cNvPr id="7171" name="Rectangle 3"/>
          <p:cNvSpPr>
            <a:spLocks noGrp="1" noChangeArrowheads="1"/>
          </p:cNvSpPr>
          <p:nvPr>
            <p:ph type="body" idx="1"/>
          </p:nvPr>
        </p:nvSpPr>
        <p:spPr>
          <a:xfrm>
            <a:off x="616024" y="1556792"/>
            <a:ext cx="7772400" cy="4114800"/>
          </a:xfrm>
        </p:spPr>
        <p:txBody>
          <a:bodyPr/>
          <a:lstStyle/>
          <a:p>
            <a:pPr>
              <a:buFont typeface="Wingdings" pitchFamily="2" charset="2"/>
              <a:buNone/>
            </a:pPr>
            <a:endParaRPr lang="zh-CN" altLang="en-US" b="1" dirty="0">
              <a:solidFill>
                <a:schemeClr val="accent1"/>
              </a:solidFill>
              <a:latin typeface="宋体" pitchFamily="2" charset="-122"/>
            </a:endParaRPr>
          </a:p>
          <a:p>
            <a:pPr>
              <a:buFont typeface="Wingdings" pitchFamily="2" charset="2"/>
              <a:buNone/>
            </a:pPr>
            <a:r>
              <a:rPr lang="zh-CN" altLang="en-US" b="1" dirty="0">
                <a:solidFill>
                  <a:srgbClr val="000000"/>
                </a:solidFill>
                <a:latin typeface="宋体" pitchFamily="2" charset="-122"/>
              </a:rPr>
              <a:t>	</a:t>
            </a:r>
            <a:r>
              <a:rPr lang="zh-CN" altLang="en-US" dirty="0">
                <a:solidFill>
                  <a:srgbClr val="000000"/>
                </a:solidFill>
                <a:latin typeface="宋体" pitchFamily="2" charset="-122"/>
              </a:rPr>
              <a:t>异常是在程序运行过程中所发生的破坏了正常的指令流程的事件。软件和硬件错误都可能导致异常的产生。</a:t>
            </a:r>
            <a:endParaRPr lang="zh-CN" altLang="en-US" dirty="0">
              <a:solidFill>
                <a:schemeClr val="accent1"/>
              </a:solidFill>
              <a:latin typeface="宋体" pitchFamily="2" charset="-122"/>
            </a:endParaRPr>
          </a:p>
          <a:p>
            <a:pPr>
              <a:buFont typeface="Wingdings" pitchFamily="2" charset="2"/>
              <a:buNone/>
            </a:pPr>
            <a:endParaRPr lang="zh-CN" altLang="en-US" dirty="0">
              <a:solidFill>
                <a:schemeClr val="accent1"/>
              </a:solidFill>
              <a:latin typeface="宋体" pitchFamily="2" charset="-122"/>
            </a:endParaRPr>
          </a:p>
          <a:p>
            <a:pPr>
              <a:buFont typeface="Wingdings" pitchFamily="2" charset="2"/>
              <a:buNone/>
            </a:pPr>
            <a:endParaRPr lang="zh-CN" altLang="en-US" b="1" dirty="0">
              <a:latin typeface="宋体" pitchFamily="2" charset="-122"/>
            </a:endParaRPr>
          </a:p>
          <a:p>
            <a:pPr>
              <a:buFont typeface="Wingdings" pitchFamily="2" charset="2"/>
              <a:buNone/>
            </a:pPr>
            <a:endParaRPr lang="zh-CN" altLang="en-US" dirty="0"/>
          </a:p>
          <a:p>
            <a:pPr>
              <a:buFont typeface="Wingdings" pitchFamily="2" charset="2"/>
              <a:buNone/>
            </a:pPr>
            <a:endParaRPr lang="en-US" altLang="zh-CN" dirty="0"/>
          </a:p>
        </p:txBody>
      </p:sp>
      <p:sp>
        <p:nvSpPr>
          <p:cNvPr id="7" name="标题 6"/>
          <p:cNvSpPr>
            <a:spLocks noGrp="1"/>
          </p:cNvSpPr>
          <p:nvPr>
            <p:ph type="title"/>
          </p:nvPr>
        </p:nvSpPr>
        <p:spPr/>
        <p:txBody>
          <a:bodyPr/>
          <a:lstStyle/>
          <a:p>
            <a:r>
              <a:rPr lang="zh-CN" altLang="en-US" dirty="0" smtClean="0"/>
              <a:t>什么是异常</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781800" y="6324600"/>
            <a:ext cx="1905000" cy="457200"/>
          </a:xfrm>
          <a:prstGeom prst="rect">
            <a:avLst/>
          </a:prstGeom>
        </p:spPr>
        <p:txBody>
          <a:bodyPr/>
          <a:lstStyle/>
          <a:p>
            <a:fld id="{12A56605-283B-4F27-827B-418E71EE0B5C}" type="slidenum">
              <a:rPr lang="en-US" altLang="zh-CN"/>
              <a:pPr/>
              <a:t>33</a:t>
            </a:fld>
            <a:endParaRPr lang="en-US" altLang="zh-CN"/>
          </a:p>
        </p:txBody>
      </p:sp>
      <p:sp>
        <p:nvSpPr>
          <p:cNvPr id="25603" name="Rectangle 1027"/>
          <p:cNvSpPr>
            <a:spLocks noGrp="1" noChangeArrowheads="1"/>
          </p:cNvSpPr>
          <p:nvPr>
            <p:ph type="body" idx="1"/>
          </p:nvPr>
        </p:nvSpPr>
        <p:spPr>
          <a:xfrm>
            <a:off x="611560" y="620688"/>
            <a:ext cx="7772400" cy="4114800"/>
          </a:xfrm>
        </p:spPr>
        <p:txBody>
          <a:bodyPr/>
          <a:lstStyle/>
          <a:p>
            <a:pPr>
              <a:lnSpc>
                <a:spcPct val="60000"/>
              </a:lnSpc>
              <a:buFont typeface="Wingdings" pitchFamily="2" charset="2"/>
              <a:buNone/>
            </a:pPr>
            <a:r>
              <a:rPr lang="en-US" altLang="zh-CN" sz="2400" dirty="0" smtClean="0">
                <a:latin typeface="宋体" pitchFamily="2" charset="-122"/>
              </a:rPr>
              <a:t>public </a:t>
            </a:r>
            <a:r>
              <a:rPr lang="en-US" altLang="zh-CN" sz="2400" dirty="0">
                <a:latin typeface="宋体" pitchFamily="2" charset="-122"/>
              </a:rPr>
              <a:t>class HelloWorld {</a:t>
            </a:r>
          </a:p>
          <a:p>
            <a:pPr>
              <a:lnSpc>
                <a:spcPct val="60000"/>
              </a:lnSpc>
              <a:buFont typeface="Wingdings" pitchFamily="2" charset="2"/>
              <a:buNone/>
            </a:pPr>
            <a:r>
              <a:rPr lang="en-US" altLang="zh-CN" sz="2400" dirty="0">
                <a:latin typeface="宋体" pitchFamily="2" charset="-122"/>
              </a:rPr>
              <a:t>  public static void main (String args[]) {</a:t>
            </a:r>
          </a:p>
          <a:p>
            <a:pPr>
              <a:lnSpc>
                <a:spcPct val="60000"/>
              </a:lnSpc>
              <a:buFont typeface="Wingdings" pitchFamily="2" charset="2"/>
              <a:buNone/>
            </a:pPr>
            <a:r>
              <a:rPr lang="en-US" altLang="zh-CN" sz="2400" dirty="0">
                <a:latin typeface="宋体" pitchFamily="2" charset="-122"/>
              </a:rPr>
              <a:t>	  int i = 0;</a:t>
            </a:r>
          </a:p>
          <a:p>
            <a:pPr>
              <a:lnSpc>
                <a:spcPct val="60000"/>
              </a:lnSpc>
              <a:buFont typeface="Wingdings" pitchFamily="2" charset="2"/>
              <a:buNone/>
            </a:pPr>
            <a:endParaRPr lang="en-US" altLang="zh-CN" sz="2400" dirty="0">
              <a:latin typeface="宋体" pitchFamily="2" charset="-122"/>
            </a:endParaRPr>
          </a:p>
          <a:p>
            <a:pPr>
              <a:lnSpc>
                <a:spcPct val="60000"/>
              </a:lnSpc>
              <a:buFont typeface="Wingdings" pitchFamily="2" charset="2"/>
              <a:buNone/>
            </a:pPr>
            <a:r>
              <a:rPr lang="en-US" altLang="zh-CN" sz="2400" dirty="0">
                <a:latin typeface="宋体" pitchFamily="2" charset="-122"/>
              </a:rPr>
              <a:t>	 String greetings [] = {</a:t>
            </a:r>
          </a:p>
          <a:p>
            <a:pPr>
              <a:lnSpc>
                <a:spcPct val="60000"/>
              </a:lnSpc>
              <a:buFont typeface="Wingdings" pitchFamily="2" charset="2"/>
              <a:buNone/>
            </a:pPr>
            <a:r>
              <a:rPr lang="en-US" altLang="zh-CN" sz="2400" dirty="0">
                <a:latin typeface="宋体" pitchFamily="2" charset="-122"/>
              </a:rPr>
              <a:t>		 "Hello world!",</a:t>
            </a:r>
          </a:p>
          <a:p>
            <a:pPr>
              <a:lnSpc>
                <a:spcPct val="60000"/>
              </a:lnSpc>
              <a:buFont typeface="Wingdings" pitchFamily="2" charset="2"/>
              <a:buNone/>
            </a:pPr>
            <a:r>
              <a:rPr lang="en-US" altLang="zh-CN" sz="2400" dirty="0">
                <a:latin typeface="宋体" pitchFamily="2" charset="-122"/>
              </a:rPr>
              <a:t>		 "No, I mean it!",</a:t>
            </a:r>
          </a:p>
          <a:p>
            <a:pPr>
              <a:lnSpc>
                <a:spcPct val="60000"/>
              </a:lnSpc>
              <a:buFont typeface="Wingdings" pitchFamily="2" charset="2"/>
              <a:buNone/>
            </a:pPr>
            <a:r>
              <a:rPr lang="en-US" altLang="zh-CN" sz="2400" dirty="0">
                <a:latin typeface="宋体" pitchFamily="2" charset="-122"/>
              </a:rPr>
              <a:t>		 "HELLO WORLD!!"</a:t>
            </a:r>
          </a:p>
          <a:p>
            <a:pPr>
              <a:lnSpc>
                <a:spcPct val="60000"/>
              </a:lnSpc>
              <a:buFont typeface="Wingdings" pitchFamily="2" charset="2"/>
              <a:buNone/>
            </a:pPr>
            <a:r>
              <a:rPr lang="en-US" altLang="zh-CN" sz="2400" dirty="0">
                <a:latin typeface="宋体" pitchFamily="2" charset="-122"/>
              </a:rPr>
              <a:t>	 </a:t>
            </a:r>
            <a:r>
              <a:rPr lang="en-US" altLang="zh-CN" sz="2400" dirty="0" smtClean="0">
                <a:latin typeface="宋体" pitchFamily="2" charset="-122"/>
              </a:rPr>
              <a:t>};</a:t>
            </a:r>
            <a:endParaRPr lang="en-US" altLang="zh-CN" sz="2400" dirty="0">
              <a:latin typeface="宋体" pitchFamily="2" charset="-122"/>
            </a:endParaRPr>
          </a:p>
          <a:p>
            <a:pPr>
              <a:lnSpc>
                <a:spcPct val="60000"/>
              </a:lnSpc>
              <a:buFont typeface="Wingdings" pitchFamily="2" charset="2"/>
              <a:buNone/>
            </a:pPr>
            <a:r>
              <a:rPr lang="en-US" altLang="zh-CN" sz="2400" dirty="0">
                <a:latin typeface="宋体" pitchFamily="2" charset="-122"/>
              </a:rPr>
              <a:t>	 while (i &lt; 4) {</a:t>
            </a:r>
          </a:p>
          <a:p>
            <a:pPr>
              <a:lnSpc>
                <a:spcPct val="60000"/>
              </a:lnSpc>
              <a:buFont typeface="Wingdings" pitchFamily="2" charset="2"/>
              <a:buNone/>
            </a:pPr>
            <a:r>
              <a:rPr lang="en-US" altLang="zh-CN" sz="2400" dirty="0">
                <a:latin typeface="宋体" pitchFamily="2" charset="-122"/>
              </a:rPr>
              <a:t>		 System. out. println (greetings[ i]);</a:t>
            </a:r>
          </a:p>
          <a:p>
            <a:pPr>
              <a:lnSpc>
                <a:spcPct val="60000"/>
              </a:lnSpc>
              <a:buFont typeface="Wingdings" pitchFamily="2" charset="2"/>
              <a:buNone/>
            </a:pPr>
            <a:r>
              <a:rPr lang="en-US" altLang="zh-CN" sz="2400" dirty="0">
                <a:latin typeface="宋体" pitchFamily="2" charset="-122"/>
              </a:rPr>
              <a:t>		 i++;</a:t>
            </a:r>
          </a:p>
          <a:p>
            <a:pPr>
              <a:lnSpc>
                <a:spcPct val="60000"/>
              </a:lnSpc>
              <a:buFont typeface="Wingdings" pitchFamily="2" charset="2"/>
              <a:buNone/>
            </a:pPr>
            <a:r>
              <a:rPr lang="en-US" altLang="zh-CN" sz="2400" dirty="0">
                <a:latin typeface="宋体" pitchFamily="2" charset="-122"/>
              </a:rPr>
              <a:t>	 }</a:t>
            </a:r>
          </a:p>
          <a:p>
            <a:pPr>
              <a:lnSpc>
                <a:spcPct val="60000"/>
              </a:lnSpc>
              <a:buFont typeface="Wingdings" pitchFamily="2" charset="2"/>
              <a:buNone/>
            </a:pPr>
            <a:r>
              <a:rPr lang="en-US" altLang="zh-CN" sz="2400" dirty="0">
                <a:latin typeface="宋体" pitchFamily="2" charset="-122"/>
              </a:rPr>
              <a:t>  }}</a:t>
            </a:r>
          </a:p>
          <a:p>
            <a:pPr>
              <a:lnSpc>
                <a:spcPct val="90000"/>
              </a:lnSpc>
              <a:buFont typeface="Wingdings" pitchFamily="2" charset="2"/>
              <a:buNone/>
            </a:pPr>
            <a:endParaRPr lang="en-US" altLang="zh-CN" sz="2400" dirty="0">
              <a:latin typeface="宋体" pitchFamily="2" charset="-122"/>
            </a:endParaRPr>
          </a:p>
          <a:p>
            <a:pPr>
              <a:lnSpc>
                <a:spcPct val="90000"/>
              </a:lnSpc>
              <a:buFont typeface="Wingdings" pitchFamily="2" charset="2"/>
              <a:buNone/>
            </a:pPr>
            <a:endParaRPr lang="en-US" altLang="zh-CN" sz="2800" b="1" dirty="0">
              <a:latin typeface="宋体" pitchFamily="2" charset="-122"/>
            </a:endParaRPr>
          </a:p>
          <a:p>
            <a:pPr>
              <a:lnSpc>
                <a:spcPct val="90000"/>
              </a:lnSpc>
              <a:buFont typeface="Wingdings" pitchFamily="2" charset="2"/>
              <a:buNone/>
            </a:pPr>
            <a:endParaRPr lang="en-US" altLang="zh-CN" sz="2800" dirty="0"/>
          </a:p>
          <a:p>
            <a:pPr>
              <a:lnSpc>
                <a:spcPct val="90000"/>
              </a:lnSpc>
              <a:buFont typeface="Wingdings" pitchFamily="2" charset="2"/>
              <a:buNone/>
            </a:pPr>
            <a:endParaRPr lang="en-US" altLang="zh-CN" sz="2800" dirty="0"/>
          </a:p>
        </p:txBody>
      </p:sp>
      <p:sp>
        <p:nvSpPr>
          <p:cNvPr id="7" name="标题 6"/>
          <p:cNvSpPr>
            <a:spLocks noGrp="1"/>
          </p:cNvSpPr>
          <p:nvPr>
            <p:ph type="title"/>
          </p:nvPr>
        </p:nvSpPr>
        <p:spPr/>
        <p:txBody>
          <a:bodyPr/>
          <a:lstStyle/>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027"/>
          <p:cNvSpPr>
            <a:spLocks noGrp="1" noChangeArrowheads="1"/>
          </p:cNvSpPr>
          <p:nvPr>
            <p:ph type="body" idx="1"/>
          </p:nvPr>
        </p:nvSpPr>
        <p:spPr>
          <a:xfrm>
            <a:off x="304800" y="1618456"/>
            <a:ext cx="8458200" cy="4114800"/>
          </a:xfrm>
        </p:spPr>
        <p:txBody>
          <a:bodyPr/>
          <a:lstStyle/>
          <a:p>
            <a:pPr marL="609600" indent="-609600">
              <a:buFont typeface="Wingdings" pitchFamily="2" charset="2"/>
              <a:buNone/>
            </a:pPr>
            <a:r>
              <a:rPr lang="zh-CN" altLang="en-US" sz="2400" b="1" dirty="0" smtClean="0">
                <a:solidFill>
                  <a:srgbClr val="000000"/>
                </a:solidFill>
                <a:latin typeface="宋体" pitchFamily="2" charset="-122"/>
              </a:rPr>
              <a:t>异常处理</a:t>
            </a:r>
            <a:r>
              <a:rPr lang="zh-CN" altLang="en-US" sz="2400" b="1" dirty="0">
                <a:solidFill>
                  <a:srgbClr val="000000"/>
                </a:solidFill>
                <a:latin typeface="宋体" pitchFamily="2" charset="-122"/>
              </a:rPr>
              <a:t>可分为以下几个步骤</a:t>
            </a:r>
            <a:r>
              <a:rPr lang="en-US" altLang="zh-CN" sz="2400" b="1" dirty="0" smtClean="0">
                <a:solidFill>
                  <a:srgbClr val="000000"/>
                </a:solidFill>
                <a:latin typeface="宋体" pitchFamily="2" charset="-122"/>
              </a:rPr>
              <a:t>:</a:t>
            </a:r>
            <a:endParaRPr lang="en-US" altLang="zh-CN" sz="2400" b="1" dirty="0">
              <a:solidFill>
                <a:schemeClr val="accent1"/>
              </a:solidFill>
              <a:latin typeface="宋体" pitchFamily="2" charset="-122"/>
            </a:endParaRPr>
          </a:p>
          <a:p>
            <a:pPr marL="609600" indent="-609600">
              <a:buFont typeface="Wingdings" pitchFamily="2" charset="2"/>
              <a:buNone/>
            </a:pPr>
            <a:r>
              <a:rPr lang="en-US" altLang="zh-CN" sz="2400" dirty="0">
                <a:solidFill>
                  <a:srgbClr val="000000"/>
                </a:solidFill>
                <a:latin typeface="宋体" pitchFamily="2" charset="-122"/>
              </a:rPr>
              <a:t> 1</a:t>
            </a:r>
            <a:r>
              <a:rPr lang="zh-CN" altLang="en-US" sz="2400" dirty="0">
                <a:solidFill>
                  <a:srgbClr val="000000"/>
                </a:solidFill>
                <a:latin typeface="宋体" pitchFamily="2" charset="-122"/>
              </a:rPr>
              <a:t>）当方法中有一个错误发生后，该方法创建一个</a:t>
            </a:r>
            <a:r>
              <a:rPr lang="zh-CN" altLang="en-US" sz="2400" b="1" dirty="0">
                <a:solidFill>
                  <a:srgbClr val="000000"/>
                </a:solidFill>
                <a:latin typeface="宋体" pitchFamily="2" charset="-122"/>
              </a:rPr>
              <a:t>异常对象</a:t>
            </a:r>
            <a:r>
              <a:rPr lang="zh-CN" altLang="en-US" sz="2400" dirty="0">
                <a:solidFill>
                  <a:srgbClr val="000000"/>
                </a:solidFill>
                <a:latin typeface="宋体" pitchFamily="2" charset="-122"/>
              </a:rPr>
              <a:t>并把它交给运行时系统。异常对象中包含了有关异常的信息，如异常类型、发生错误时的程序状态等</a:t>
            </a:r>
            <a:r>
              <a:rPr lang="zh-CN" altLang="en-US" sz="2400" dirty="0" smtClean="0">
                <a:solidFill>
                  <a:srgbClr val="000000"/>
                </a:solidFill>
                <a:latin typeface="宋体" pitchFamily="2" charset="-122"/>
              </a:rPr>
              <a:t>。</a:t>
            </a:r>
            <a:r>
              <a:rPr lang="zh-CN" altLang="en-US" sz="2400" dirty="0">
                <a:solidFill>
                  <a:srgbClr val="000000"/>
                </a:solidFill>
                <a:latin typeface="宋体" pitchFamily="2" charset="-122"/>
              </a:rPr>
              <a:t>	</a:t>
            </a:r>
          </a:p>
          <a:p>
            <a:pPr marL="609600" indent="-609600">
              <a:buFont typeface="Wingdings" pitchFamily="2" charset="2"/>
              <a:buNone/>
            </a:pPr>
            <a:r>
              <a:rPr lang="zh-CN" altLang="en-US" sz="2400" b="1" dirty="0">
                <a:solidFill>
                  <a:srgbClr val="000000"/>
                </a:solidFill>
                <a:latin typeface="宋体" pitchFamily="2" charset="-122"/>
              </a:rPr>
              <a:t>抛出异常</a:t>
            </a:r>
            <a:r>
              <a:rPr lang="zh-CN" altLang="en-US" sz="2400" dirty="0">
                <a:solidFill>
                  <a:srgbClr val="000000"/>
                </a:solidFill>
                <a:latin typeface="宋体" pitchFamily="2" charset="-122"/>
              </a:rPr>
              <a:t>：创建一个异常对象并把它交给运行时系统的过程</a:t>
            </a:r>
            <a:r>
              <a:rPr lang="zh-CN" altLang="en-US" sz="2400" dirty="0" smtClean="0">
                <a:solidFill>
                  <a:srgbClr val="000000"/>
                </a:solidFill>
                <a:latin typeface="宋体" pitchFamily="2" charset="-122"/>
              </a:rPr>
              <a:t>。</a:t>
            </a:r>
            <a:endParaRPr lang="en-US" altLang="zh-CN" sz="2400" dirty="0" smtClean="0">
              <a:solidFill>
                <a:srgbClr val="000000"/>
              </a:solidFill>
              <a:latin typeface="宋体" pitchFamily="2" charset="-122"/>
            </a:endParaRPr>
          </a:p>
          <a:p>
            <a:pPr marL="609600" indent="-609600">
              <a:buNone/>
            </a:pPr>
            <a:r>
              <a:rPr lang="en-US" altLang="zh-CN" sz="2400" dirty="0" smtClean="0">
                <a:solidFill>
                  <a:srgbClr val="000000"/>
                </a:solidFill>
                <a:latin typeface="宋体" pitchFamily="2" charset="-122"/>
              </a:rPr>
              <a:t> 2</a:t>
            </a:r>
            <a:r>
              <a:rPr lang="zh-CN" altLang="en-US" sz="2400" dirty="0" smtClean="0">
                <a:solidFill>
                  <a:srgbClr val="000000"/>
                </a:solidFill>
                <a:latin typeface="宋体" pitchFamily="2" charset="-122"/>
              </a:rPr>
              <a:t>） 运行时系统在方法调用堆栈里为被抛出的异常查找处理代码。运行时系统从发生错误的方法开始进行回朔，在方法调用堆栈里向后搜索，直到找到含能处理当前发生的异常的处理程序的方法。</a:t>
            </a:r>
            <a:endParaRPr lang="en-US" altLang="zh-CN" sz="2400" dirty="0" smtClean="0">
              <a:solidFill>
                <a:srgbClr val="000000"/>
              </a:solidFill>
              <a:latin typeface="宋体" pitchFamily="2" charset="-122"/>
            </a:endParaRPr>
          </a:p>
          <a:p>
            <a:pPr marL="609600" indent="-609600">
              <a:buNone/>
            </a:pPr>
            <a:r>
              <a:rPr lang="zh-CN" altLang="en-US" sz="2400" b="1" dirty="0" smtClean="0">
                <a:latin typeface="宋体" pitchFamily="2" charset="-122"/>
              </a:rPr>
              <a:t>捕获</a:t>
            </a:r>
            <a:r>
              <a:rPr lang="zh-CN" altLang="en-US" sz="2400" b="1" dirty="0" smtClean="0">
                <a:solidFill>
                  <a:srgbClr val="000000"/>
                </a:solidFill>
                <a:latin typeface="宋体" pitchFamily="2" charset="-122"/>
              </a:rPr>
              <a:t>异常：</a:t>
            </a:r>
            <a:r>
              <a:rPr lang="zh-CN" altLang="en-US" sz="2400" dirty="0" smtClean="0">
                <a:solidFill>
                  <a:srgbClr val="000000"/>
                </a:solidFill>
                <a:latin typeface="宋体" pitchFamily="2" charset="-122"/>
              </a:rPr>
              <a:t>找到异常处理程序的过程。</a:t>
            </a:r>
            <a:endParaRPr lang="zh-CN" altLang="en-US" sz="2400" dirty="0" smtClean="0">
              <a:solidFill>
                <a:schemeClr val="accent1"/>
              </a:solidFill>
              <a:latin typeface="宋体" pitchFamily="2" charset="-122"/>
            </a:endParaRPr>
          </a:p>
          <a:p>
            <a:pPr marL="609600" indent="-609600">
              <a:buFont typeface="Wingdings" pitchFamily="2" charset="2"/>
              <a:buNone/>
            </a:pPr>
            <a:endParaRPr lang="zh-CN" altLang="en-US" sz="2400" dirty="0">
              <a:solidFill>
                <a:srgbClr val="000000"/>
              </a:solidFill>
              <a:latin typeface="宋体" pitchFamily="2" charset="-122"/>
            </a:endParaRPr>
          </a:p>
          <a:p>
            <a:pPr marL="609600" indent="-609600"/>
            <a:endParaRPr lang="zh-CN" altLang="en-US" sz="2400" dirty="0">
              <a:solidFill>
                <a:schemeClr val="accent1"/>
              </a:solidFill>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sz="2800" dirty="0"/>
          </a:p>
          <a:p>
            <a:pPr marL="609600" indent="-609600">
              <a:buFont typeface="Wingdings" pitchFamily="2" charset="2"/>
              <a:buNone/>
            </a:pPr>
            <a:endParaRPr lang="en-US" altLang="zh-CN" sz="2800" dirty="0"/>
          </a:p>
        </p:txBody>
      </p:sp>
      <p:sp>
        <p:nvSpPr>
          <p:cNvPr id="7" name="标题 6"/>
          <p:cNvSpPr>
            <a:spLocks noGrp="1"/>
          </p:cNvSpPr>
          <p:nvPr>
            <p:ph type="title"/>
          </p:nvPr>
        </p:nvSpPr>
        <p:spPr/>
        <p:txBody>
          <a:bodyPr/>
          <a:lstStyle/>
          <a:p>
            <a:r>
              <a:rPr lang="en-US" altLang="zh-CN" b="1" dirty="0" smtClean="0">
                <a:solidFill>
                  <a:schemeClr val="tx1"/>
                </a:solidFill>
                <a:latin typeface="宋体" pitchFamily="2" charset="-122"/>
              </a:rPr>
              <a:t>Java</a:t>
            </a:r>
            <a:r>
              <a:rPr lang="zh-CN" altLang="en-US" b="1" dirty="0" smtClean="0">
                <a:solidFill>
                  <a:schemeClr val="tx1"/>
                </a:solidFill>
                <a:latin typeface="宋体" pitchFamily="2" charset="-122"/>
              </a:rPr>
              <a:t>处理异常的机制</a:t>
            </a:r>
            <a:endParaRPr lang="zh-CN" altLang="en-US"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290264" y="1628800"/>
            <a:ext cx="8458200" cy="4114800"/>
          </a:xfrm>
        </p:spPr>
        <p:txBody>
          <a:bodyPr/>
          <a:lstStyle/>
          <a:p>
            <a:pPr marL="609600" indent="-609600">
              <a:buFont typeface="Wingdings" pitchFamily="2" charset="2"/>
              <a:buNone/>
            </a:pPr>
            <a:r>
              <a:rPr lang="zh-CN" altLang="en-US" sz="2800" b="1" dirty="0" smtClean="0">
                <a:solidFill>
                  <a:srgbClr val="000000"/>
                </a:solidFill>
                <a:latin typeface="宋体" pitchFamily="2" charset="-122"/>
              </a:rPr>
              <a:t>异常处理</a:t>
            </a:r>
            <a:r>
              <a:rPr lang="zh-CN" altLang="en-US" sz="2800" b="1" dirty="0">
                <a:solidFill>
                  <a:srgbClr val="000000"/>
                </a:solidFill>
                <a:latin typeface="宋体" pitchFamily="2" charset="-122"/>
              </a:rPr>
              <a:t>可分为以下几个步骤</a:t>
            </a:r>
            <a:r>
              <a:rPr lang="en-US" altLang="zh-CN" sz="2800" b="1" dirty="0">
                <a:solidFill>
                  <a:srgbClr val="000000"/>
                </a:solidFill>
                <a:latin typeface="宋体" pitchFamily="2" charset="-122"/>
              </a:rPr>
              <a:t>:</a:t>
            </a:r>
            <a:endParaRPr lang="en-US" altLang="zh-CN" sz="2800" b="1" dirty="0">
              <a:solidFill>
                <a:schemeClr val="accent1"/>
              </a:solidFill>
              <a:latin typeface="宋体" pitchFamily="2" charset="-122"/>
            </a:endParaRPr>
          </a:p>
          <a:p>
            <a:pPr marL="609600" indent="-609600">
              <a:buFont typeface="Wingdings" pitchFamily="2" charset="2"/>
              <a:buNone/>
            </a:pPr>
            <a:endParaRPr lang="en-US" altLang="zh-CN" sz="800" dirty="0">
              <a:solidFill>
                <a:srgbClr val="000000"/>
              </a:solidFill>
              <a:latin typeface="宋体" pitchFamily="2" charset="-122"/>
            </a:endParaRPr>
          </a:p>
          <a:p>
            <a:pPr marL="609600" indent="-609600">
              <a:buFont typeface="Wingdings" pitchFamily="2" charset="2"/>
              <a:buNone/>
            </a:pPr>
            <a:r>
              <a:rPr lang="en-US" altLang="zh-CN" sz="2400" dirty="0">
                <a:solidFill>
                  <a:srgbClr val="000000"/>
                </a:solidFill>
                <a:latin typeface="宋体" pitchFamily="2" charset="-122"/>
              </a:rPr>
              <a:t>3</a:t>
            </a:r>
            <a:r>
              <a:rPr lang="zh-CN" altLang="en-US" sz="2400" dirty="0">
                <a:solidFill>
                  <a:srgbClr val="000000"/>
                </a:solidFill>
                <a:latin typeface="宋体" pitchFamily="2" charset="-122"/>
              </a:rPr>
              <a:t>）通过方法调用来处理异常</a:t>
            </a:r>
            <a:r>
              <a:rPr lang="zh-CN" altLang="en-US" sz="2400" dirty="0">
                <a:solidFill>
                  <a:schemeClr val="accent1"/>
                </a:solidFill>
                <a:latin typeface="宋体" pitchFamily="2" charset="-122"/>
              </a:rPr>
              <a:t> </a:t>
            </a:r>
          </a:p>
          <a:p>
            <a:pPr marL="609600" indent="-609600">
              <a:buFont typeface="Wingdings" pitchFamily="2" charset="2"/>
              <a:buNone/>
            </a:pPr>
            <a:endParaRPr lang="zh-CN" altLang="en-US" sz="800" dirty="0">
              <a:solidFill>
                <a:schemeClr val="accent1"/>
              </a:solidFill>
              <a:latin typeface="宋体" pitchFamily="2" charset="-122"/>
            </a:endParaRPr>
          </a:p>
          <a:p>
            <a:pPr marL="609600" indent="-609600">
              <a:buFont typeface="Wingdings" pitchFamily="2" charset="2"/>
              <a:buNone/>
            </a:pPr>
            <a:r>
              <a:rPr lang="en-US" altLang="zh-CN" sz="2400" dirty="0">
                <a:solidFill>
                  <a:srgbClr val="000000"/>
                </a:solidFill>
                <a:latin typeface="宋体" pitchFamily="2" charset="-122"/>
              </a:rPr>
              <a:t>4</a:t>
            </a:r>
            <a:r>
              <a:rPr lang="zh-CN" altLang="en-US" sz="2400" dirty="0">
                <a:solidFill>
                  <a:srgbClr val="000000"/>
                </a:solidFill>
                <a:latin typeface="宋体" pitchFamily="2" charset="-122"/>
              </a:rPr>
              <a:t>）如果运行时系统在方法调用栈查遍了所有的方法而未找到合适的异常处理程序，则运行是系统终止执行。</a:t>
            </a:r>
            <a:r>
              <a:rPr lang="zh-CN" altLang="en-US" sz="2400" dirty="0">
                <a:solidFill>
                  <a:schemeClr val="accent1"/>
                </a:solidFill>
                <a:latin typeface="宋体" pitchFamily="2" charset="-122"/>
              </a:rPr>
              <a:t> </a:t>
            </a: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dirty="0"/>
          </a:p>
          <a:p>
            <a:pPr marL="609600" indent="-609600">
              <a:buFont typeface="Wingdings" pitchFamily="2" charset="2"/>
              <a:buNone/>
            </a:pPr>
            <a:endParaRPr lang="en-US" altLang="zh-CN" dirty="0"/>
          </a:p>
        </p:txBody>
      </p:sp>
      <p:sp>
        <p:nvSpPr>
          <p:cNvPr id="7" name="标题 6"/>
          <p:cNvSpPr>
            <a:spLocks noGrp="1"/>
          </p:cNvSpPr>
          <p:nvPr>
            <p:ph type="title"/>
          </p:nvPr>
        </p:nvSpPr>
        <p:spPr/>
        <p:txBody>
          <a:bodyPr/>
          <a:lstStyle/>
          <a:p>
            <a:r>
              <a:rPr lang="en-US" altLang="zh-CN" b="1" dirty="0" smtClean="0">
                <a:solidFill>
                  <a:schemeClr val="tx1"/>
                </a:solidFill>
                <a:latin typeface="宋体" pitchFamily="2" charset="-122"/>
              </a:rPr>
              <a:t>Java</a:t>
            </a:r>
            <a:r>
              <a:rPr lang="zh-CN" altLang="en-US" b="1" dirty="0" smtClean="0">
                <a:solidFill>
                  <a:schemeClr val="tx1"/>
                </a:solidFill>
                <a:latin typeface="宋体" pitchFamily="2" charset="-122"/>
              </a:rPr>
              <a:t>处理异常的机制</a:t>
            </a:r>
            <a:endParaRPr lang="zh-CN" altLang="en-US"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323528" y="1556792"/>
            <a:ext cx="8534400" cy="4114800"/>
          </a:xfrm>
        </p:spPr>
        <p:txBody>
          <a:bodyPr/>
          <a:lstStyle/>
          <a:p>
            <a:pPr>
              <a:buFont typeface="Wingdings" pitchFamily="2" charset="2"/>
              <a:buNone/>
            </a:pPr>
            <a:r>
              <a:rPr lang="en-US" altLang="zh-CN" sz="2800" dirty="0">
                <a:latin typeface="宋体" pitchFamily="2" charset="-122"/>
              </a:rPr>
              <a:t>	 </a:t>
            </a:r>
            <a:r>
              <a:rPr lang="en-US" altLang="zh-CN" sz="2800" dirty="0">
                <a:latin typeface="Times New Roman" pitchFamily="18" charset="0"/>
                <a:cs typeface="Times New Roman" pitchFamily="18" charset="0"/>
              </a:rPr>
              <a:t>Throwable</a:t>
            </a:r>
            <a:r>
              <a:rPr lang="zh-CN" altLang="en-US" sz="2800" dirty="0">
                <a:latin typeface="Times New Roman" pitchFamily="18" charset="0"/>
              </a:rPr>
              <a:t>是</a:t>
            </a:r>
            <a:r>
              <a:rPr lang="en-US" altLang="zh-CN" sz="2800" dirty="0">
                <a:latin typeface="Times New Roman" pitchFamily="18" charset="0"/>
              </a:rPr>
              <a:t>java.lang</a:t>
            </a:r>
            <a:r>
              <a:rPr lang="zh-CN" altLang="en-US" sz="2800" dirty="0">
                <a:latin typeface="Times New Roman" pitchFamily="18" charset="0"/>
              </a:rPr>
              <a:t>包中一个专门用来处理异常的类。</a:t>
            </a:r>
            <a:r>
              <a:rPr lang="zh-CN" altLang="en-US" sz="2800" dirty="0">
                <a:latin typeface="宋体" pitchFamily="2" charset="-122"/>
              </a:rPr>
              <a:t>抛出的异常对象必须是</a:t>
            </a:r>
            <a:r>
              <a:rPr lang="en-US" altLang="zh-CN" sz="2800" dirty="0">
                <a:latin typeface="Times New Roman" pitchFamily="18" charset="0"/>
                <a:cs typeface="Times New Roman" pitchFamily="18" charset="0"/>
              </a:rPr>
              <a:t>Throwable</a:t>
            </a:r>
            <a:r>
              <a:rPr lang="zh-CN" altLang="en-US" sz="2800" dirty="0">
                <a:latin typeface="Times New Roman" pitchFamily="18" charset="0"/>
              </a:rPr>
              <a:t>类的后代。</a:t>
            </a:r>
            <a:endParaRPr lang="zh-CN" altLang="en-US" sz="2800" dirty="0">
              <a:latin typeface="宋体" pitchFamily="2" charset="-122"/>
            </a:endParaRPr>
          </a:p>
          <a:p>
            <a:pPr>
              <a:buFont typeface="Wingdings" pitchFamily="2" charset="2"/>
              <a:buNone/>
            </a:pPr>
            <a:endParaRPr lang="zh-CN" altLang="en-US" dirty="0"/>
          </a:p>
          <a:p>
            <a:pPr>
              <a:buFont typeface="Wingdings" pitchFamily="2" charset="2"/>
              <a:buNone/>
            </a:pPr>
            <a:endParaRPr lang="en-US" altLang="zh-CN" dirty="0"/>
          </a:p>
        </p:txBody>
      </p:sp>
      <p:pic>
        <p:nvPicPr>
          <p:cNvPr id="8198" name="Picture 6" descr="Image4"/>
          <p:cNvPicPr>
            <a:picLocks noChangeAspect="1" noChangeArrowheads="1"/>
          </p:cNvPicPr>
          <p:nvPr/>
        </p:nvPicPr>
        <p:blipFill>
          <a:blip r:embed="rId2" cstate="print"/>
          <a:srcRect/>
          <a:stretch>
            <a:fillRect/>
          </a:stretch>
        </p:blipFill>
        <p:spPr bwMode="auto">
          <a:xfrm>
            <a:off x="990600" y="2564904"/>
            <a:ext cx="6858000" cy="3727450"/>
          </a:xfrm>
          <a:prstGeom prst="rect">
            <a:avLst/>
          </a:prstGeom>
          <a:noFill/>
        </p:spPr>
      </p:pic>
      <p:sp>
        <p:nvSpPr>
          <p:cNvPr id="9" name="标题 8"/>
          <p:cNvSpPr>
            <a:spLocks noGrp="1"/>
          </p:cNvSpPr>
          <p:nvPr>
            <p:ph type="title"/>
          </p:nvPr>
        </p:nvSpPr>
        <p:spPr/>
        <p:txBody>
          <a:bodyPr/>
          <a:lstStyle/>
          <a:p>
            <a:r>
              <a:rPr lang="en-US" altLang="zh-CN" b="1" dirty="0" smtClean="0">
                <a:latin typeface="宋体" pitchFamily="2" charset="-122"/>
              </a:rPr>
              <a:t>Throwable</a:t>
            </a:r>
            <a:r>
              <a:rPr lang="zh-CN" altLang="en-US" b="1" dirty="0" smtClean="0">
                <a:latin typeface="宋体" pitchFamily="2" charset="-122"/>
              </a:rPr>
              <a:t>类及其子类</a:t>
            </a:r>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781800" y="6324600"/>
            <a:ext cx="1905000" cy="457200"/>
          </a:xfrm>
          <a:prstGeom prst="rect">
            <a:avLst/>
          </a:prstGeom>
        </p:spPr>
        <p:txBody>
          <a:bodyPr/>
          <a:lstStyle/>
          <a:p>
            <a:fld id="{8B414E3C-5544-43FD-A4AA-A79449C08CBE}" type="slidenum">
              <a:rPr lang="en-US" altLang="zh-CN"/>
              <a:pPr/>
              <a:t>37</a:t>
            </a:fld>
            <a:endParaRPr lang="en-US" altLang="zh-CN"/>
          </a:p>
        </p:txBody>
      </p:sp>
      <p:sp>
        <p:nvSpPr>
          <p:cNvPr id="36870" name="Rectangle 6"/>
          <p:cNvSpPr>
            <a:spLocks noGrp="1" noChangeArrowheads="1"/>
          </p:cNvSpPr>
          <p:nvPr>
            <p:ph type="title"/>
          </p:nvPr>
        </p:nvSpPr>
        <p:spPr/>
        <p:txBody>
          <a:bodyPr/>
          <a:lstStyle/>
          <a:p>
            <a:r>
              <a:rPr lang="en-US" altLang="zh-CN" b="1" dirty="0" smtClean="0">
                <a:latin typeface="宋体" pitchFamily="2" charset="-122"/>
              </a:rPr>
              <a:t>Throwable</a:t>
            </a:r>
            <a:r>
              <a:rPr lang="zh-CN" altLang="en-US" b="1" dirty="0">
                <a:latin typeface="宋体" pitchFamily="2" charset="-122"/>
              </a:rPr>
              <a:t>类及其子类</a:t>
            </a:r>
          </a:p>
        </p:txBody>
      </p:sp>
      <p:graphicFrame>
        <p:nvGraphicFramePr>
          <p:cNvPr id="36869" name="Object 5"/>
          <p:cNvGraphicFramePr>
            <a:graphicFrameLocks noChangeAspect="1"/>
          </p:cNvGraphicFramePr>
          <p:nvPr>
            <p:ph idx="1"/>
          </p:nvPr>
        </p:nvGraphicFramePr>
        <p:xfrm>
          <a:off x="900113" y="1700808"/>
          <a:ext cx="7777162" cy="4557712"/>
        </p:xfrm>
        <a:graphic>
          <a:graphicData uri="http://schemas.openxmlformats.org/presentationml/2006/ole">
            <p:oleObj spid="_x0000_s29698" name="Visio" r:id="rId3" imgW="5007986" imgH="2935346" progId="">
              <p:embed/>
            </p:oleObj>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781800" y="6324600"/>
            <a:ext cx="1905000" cy="457200"/>
          </a:xfrm>
          <a:prstGeom prst="rect">
            <a:avLst/>
          </a:prstGeom>
        </p:spPr>
        <p:txBody>
          <a:bodyPr/>
          <a:lstStyle/>
          <a:p>
            <a:fld id="{6EA0F9CC-96AD-4826-8021-71630A419AF9}" type="slidenum">
              <a:rPr lang="en-US" altLang="zh-CN"/>
              <a:pPr/>
              <a:t>38</a:t>
            </a:fld>
            <a:endParaRPr lang="en-US" altLang="zh-CN"/>
          </a:p>
        </p:txBody>
      </p:sp>
      <p:sp>
        <p:nvSpPr>
          <p:cNvPr id="15363" name="Rectangle 3"/>
          <p:cNvSpPr>
            <a:spLocks noGrp="1" noChangeArrowheads="1"/>
          </p:cNvSpPr>
          <p:nvPr>
            <p:ph type="body" idx="1"/>
          </p:nvPr>
        </p:nvSpPr>
        <p:spPr>
          <a:xfrm>
            <a:off x="250825" y="1508720"/>
            <a:ext cx="8610600" cy="4800600"/>
          </a:xfrm>
        </p:spPr>
        <p:txBody>
          <a:bodyPr/>
          <a:lstStyle/>
          <a:p>
            <a:pPr>
              <a:lnSpc>
                <a:spcPct val="80000"/>
              </a:lnSpc>
              <a:buFont typeface="Wingdings" pitchFamily="2" charset="2"/>
              <a:buNone/>
            </a:pPr>
            <a:r>
              <a:rPr lang="zh-CN" altLang="en-US" sz="2800" dirty="0" smtClean="0">
                <a:latin typeface="宋体" pitchFamily="2" charset="-122"/>
              </a:rPr>
              <a:t>类</a:t>
            </a:r>
            <a:r>
              <a:rPr lang="en-US" altLang="zh-CN" sz="2800" dirty="0">
                <a:latin typeface="Times New Roman" pitchFamily="18" charset="0"/>
                <a:cs typeface="Times New Roman" pitchFamily="18" charset="0"/>
              </a:rPr>
              <a:t>Throwable</a:t>
            </a:r>
            <a:r>
              <a:rPr lang="zh-CN" altLang="en-US" sz="2800" dirty="0">
                <a:latin typeface="宋体" pitchFamily="2" charset="-122"/>
              </a:rPr>
              <a:t>有两个直接子类：</a:t>
            </a:r>
            <a:r>
              <a:rPr lang="en-US" altLang="zh-CN" sz="2800" dirty="0">
                <a:latin typeface="Times New Roman" pitchFamily="18" charset="0"/>
                <a:cs typeface="Times New Roman" pitchFamily="18" charset="0"/>
              </a:rPr>
              <a:t>Error</a:t>
            </a:r>
            <a:r>
              <a:rPr lang="zh-CN" altLang="en-US" sz="2800" dirty="0">
                <a:latin typeface="宋体" pitchFamily="2" charset="-122"/>
              </a:rPr>
              <a:t>和</a:t>
            </a:r>
            <a:r>
              <a:rPr lang="en-US" altLang="zh-CN" sz="2800" dirty="0">
                <a:latin typeface="Times New Roman" pitchFamily="18" charset="0"/>
                <a:cs typeface="Times New Roman" pitchFamily="18" charset="0"/>
              </a:rPr>
              <a:t>Exception</a:t>
            </a:r>
            <a:r>
              <a:rPr lang="zh-CN" altLang="en-US" sz="2800" dirty="0">
                <a:latin typeface="宋体" pitchFamily="2" charset="-122"/>
              </a:rPr>
              <a:t>，它们分别用来处理两组异常</a:t>
            </a:r>
            <a:r>
              <a:rPr lang="zh-CN" altLang="en-US" sz="2800" dirty="0" smtClean="0">
                <a:latin typeface="宋体" pitchFamily="2" charset="-122"/>
              </a:rPr>
              <a:t>。</a:t>
            </a:r>
            <a:endParaRPr lang="zh-CN" altLang="en-US" sz="1000" dirty="0">
              <a:latin typeface="宋体" pitchFamily="2" charset="-122"/>
            </a:endParaRPr>
          </a:p>
          <a:p>
            <a:pPr>
              <a:lnSpc>
                <a:spcPct val="80000"/>
              </a:lnSpc>
              <a:spcAft>
                <a:spcPts val="600"/>
              </a:spcAft>
            </a:pPr>
            <a:r>
              <a:rPr lang="en-US" altLang="zh-CN" sz="2400" dirty="0">
                <a:latin typeface="Times New Roman" pitchFamily="18" charset="0"/>
                <a:cs typeface="Times New Roman" pitchFamily="18" charset="0"/>
              </a:rPr>
              <a:t>Error</a:t>
            </a:r>
            <a:r>
              <a:rPr lang="zh-CN" altLang="en-US" sz="2400" dirty="0">
                <a:latin typeface="Times New Roman" pitchFamily="18" charset="0"/>
                <a:cs typeface="Times New Roman" pitchFamily="18" charset="0"/>
              </a:rPr>
              <a:t>类</a:t>
            </a:r>
            <a:r>
              <a:rPr lang="zh-CN" altLang="en-US" sz="2400" dirty="0">
                <a:latin typeface="Times New Roman" pitchFamily="18" charset="0"/>
              </a:rPr>
              <a:t>：</a:t>
            </a:r>
            <a:r>
              <a:rPr kumimoji="0" lang="zh-CN" altLang="en-US" sz="2400" dirty="0">
                <a:solidFill>
                  <a:srgbClr val="080808"/>
                </a:solidFill>
              </a:rPr>
              <a:t>被认为是不能恢复的严重错误，</a:t>
            </a:r>
            <a:r>
              <a:rPr lang="zh-CN" altLang="en-US" sz="2400" dirty="0">
                <a:latin typeface="Times New Roman" pitchFamily="18" charset="0"/>
              </a:rPr>
              <a:t>用来处理运行环境方面的异常。如：，虚拟机错误、装载错误、</a:t>
            </a:r>
            <a:r>
              <a:rPr lang="zh-CN" altLang="en-US" sz="2400" dirty="0">
                <a:latin typeface="Times New Roman" pitchFamily="18" charset="0"/>
                <a:cs typeface="Times New Roman" pitchFamily="18" charset="0"/>
              </a:rPr>
              <a:t>动态连接错误、</a:t>
            </a:r>
            <a:r>
              <a:rPr kumimoji="0" lang="zh-CN" altLang="en-US" sz="2400" dirty="0">
                <a:solidFill>
                  <a:srgbClr val="080808"/>
                </a:solidFill>
              </a:rPr>
              <a:t>系统内部错误和资源耗尽错误等</a:t>
            </a:r>
            <a:r>
              <a:rPr lang="zh-CN" altLang="en-US" sz="2400" dirty="0">
                <a:latin typeface="Times New Roman" pitchFamily="18" charset="0"/>
              </a:rPr>
              <a:t>。这类异常主要是和硬件有关系，而不是有程序本身抛出。通常，</a:t>
            </a:r>
            <a:r>
              <a:rPr kumimoji="0" lang="zh-CN" altLang="en-US" sz="2400" dirty="0">
                <a:solidFill>
                  <a:srgbClr val="080808"/>
                </a:solidFill>
              </a:rPr>
              <a:t>不应该抛出这种类型的错误，</a:t>
            </a:r>
            <a:r>
              <a:rPr lang="en-US" altLang="zh-CN" sz="2400" dirty="0">
                <a:latin typeface="Times New Roman" pitchFamily="18" charset="0"/>
                <a:cs typeface="Times New Roman" pitchFamily="18" charset="0"/>
              </a:rPr>
              <a:t>Java</a:t>
            </a:r>
            <a:r>
              <a:rPr lang="zh-CN" altLang="en-US" sz="2400" dirty="0">
                <a:latin typeface="Times New Roman" pitchFamily="18" charset="0"/>
              </a:rPr>
              <a:t>程序不对这类异常进行处理，</a:t>
            </a:r>
            <a:r>
              <a:rPr kumimoji="0" lang="zh-CN" altLang="en-US" sz="2400" dirty="0">
                <a:solidFill>
                  <a:srgbClr val="080808"/>
                </a:solidFill>
              </a:rPr>
              <a:t>而是让程序中断</a:t>
            </a:r>
            <a:r>
              <a:rPr kumimoji="0" lang="zh-CN" altLang="en-US" sz="2400" dirty="0" smtClean="0">
                <a:solidFill>
                  <a:srgbClr val="080808"/>
                </a:solidFill>
              </a:rPr>
              <a:t>。</a:t>
            </a:r>
            <a:endParaRPr lang="zh-CN" altLang="en-US" sz="800" dirty="0">
              <a:latin typeface="Times New Roman" pitchFamily="18" charset="0"/>
            </a:endParaRPr>
          </a:p>
          <a:p>
            <a:pPr>
              <a:lnSpc>
                <a:spcPct val="80000"/>
              </a:lnSpc>
              <a:spcAft>
                <a:spcPts val="600"/>
              </a:spcAft>
            </a:pPr>
            <a:r>
              <a:rPr lang="en-US" altLang="zh-CN" sz="2400" dirty="0">
                <a:latin typeface="Times New Roman" pitchFamily="18" charset="0"/>
                <a:cs typeface="Times New Roman" pitchFamily="18" charset="0"/>
              </a:rPr>
              <a:t>Exception</a:t>
            </a:r>
            <a:r>
              <a:rPr lang="zh-CN" altLang="en-US" sz="2400" dirty="0">
                <a:latin typeface="Times New Roman" pitchFamily="18" charset="0"/>
                <a:cs typeface="Times New Roman" pitchFamily="18" charset="0"/>
              </a:rPr>
              <a:t>类</a:t>
            </a:r>
            <a:r>
              <a:rPr lang="zh-CN" altLang="en-US" sz="2400" dirty="0">
                <a:latin typeface="Times New Roman" pitchFamily="18" charset="0"/>
              </a:rPr>
              <a:t>：是</a:t>
            </a:r>
            <a:r>
              <a:rPr lang="en-US" altLang="zh-CN" sz="2400" dirty="0">
                <a:latin typeface="Times New Roman" pitchFamily="18" charset="0"/>
                <a:cs typeface="Times New Roman" pitchFamily="18" charset="0"/>
              </a:rPr>
              <a:t>Throwable</a:t>
            </a:r>
            <a:r>
              <a:rPr lang="zh-CN" altLang="en-US" sz="2400" dirty="0">
                <a:latin typeface="Times New Roman" pitchFamily="18" charset="0"/>
              </a:rPr>
              <a:t>的一个主要子类，</a:t>
            </a:r>
            <a:r>
              <a:rPr kumimoji="0" lang="zh-CN" altLang="en-US" sz="2400" dirty="0">
                <a:solidFill>
                  <a:srgbClr val="080808"/>
                </a:solidFill>
              </a:rPr>
              <a:t>定义可能遇到的轻微错误，分为派生自</a:t>
            </a:r>
            <a:r>
              <a:rPr kumimoji="0" lang="en-US" altLang="zh-CN" sz="2400" dirty="0">
                <a:solidFill>
                  <a:srgbClr val="080808"/>
                </a:solidFill>
              </a:rPr>
              <a:t>RuntimeException</a:t>
            </a:r>
            <a:r>
              <a:rPr kumimoji="0" lang="zh-CN" altLang="en-US" sz="2400" dirty="0">
                <a:solidFill>
                  <a:srgbClr val="080808"/>
                </a:solidFill>
              </a:rPr>
              <a:t>类的异常和非派生自</a:t>
            </a:r>
            <a:r>
              <a:rPr kumimoji="0" lang="en-US" altLang="zh-CN" sz="2400" dirty="0">
                <a:solidFill>
                  <a:srgbClr val="080808"/>
                </a:solidFill>
              </a:rPr>
              <a:t>RuntimeException</a:t>
            </a:r>
            <a:r>
              <a:rPr kumimoji="0" lang="zh-CN" altLang="en-US" sz="2400" dirty="0">
                <a:solidFill>
                  <a:srgbClr val="080808"/>
                </a:solidFill>
              </a:rPr>
              <a:t>类的异常。这时，可以写代码来处理异常并继续程序执行，而不是让程序中断。</a:t>
            </a:r>
            <a:endParaRPr lang="zh-CN" altLang="en-US" sz="2400" dirty="0">
              <a:latin typeface="Times New Roman" pitchFamily="18" charset="0"/>
            </a:endParaRPr>
          </a:p>
          <a:p>
            <a:pPr lvl="1">
              <a:lnSpc>
                <a:spcPts val="1800"/>
              </a:lnSpc>
            </a:pPr>
            <a:r>
              <a:rPr lang="zh-CN" altLang="en-US" sz="2400" dirty="0">
                <a:latin typeface="Times New Roman" pitchFamily="18" charset="0"/>
              </a:rPr>
              <a:t>运行时异常</a:t>
            </a:r>
            <a:r>
              <a:rPr lang="en-US" altLang="zh-CN" sz="2400" dirty="0">
                <a:latin typeface="Times New Roman" pitchFamily="18" charset="0"/>
                <a:cs typeface="Times New Roman" pitchFamily="18" charset="0"/>
              </a:rPr>
              <a:t>RuntimeException</a:t>
            </a:r>
            <a:endParaRPr lang="en-US" altLang="zh-CN" sz="2400" dirty="0">
              <a:latin typeface="Times New Roman" pitchFamily="18" charset="0"/>
            </a:endParaRPr>
          </a:p>
          <a:p>
            <a:pPr lvl="1">
              <a:lnSpc>
                <a:spcPts val="1800"/>
              </a:lnSpc>
            </a:pPr>
            <a:r>
              <a:rPr lang="zh-CN" altLang="en-US" sz="2400" dirty="0">
                <a:latin typeface="Times New Roman" pitchFamily="18" charset="0"/>
              </a:rPr>
              <a:t>非运行时异常</a:t>
            </a:r>
            <a:endParaRPr lang="zh-CN" altLang="en-US" dirty="0"/>
          </a:p>
        </p:txBody>
      </p:sp>
      <p:sp>
        <p:nvSpPr>
          <p:cNvPr id="7" name="标题 6"/>
          <p:cNvSpPr>
            <a:spLocks noGrp="1"/>
          </p:cNvSpPr>
          <p:nvPr>
            <p:ph type="title"/>
          </p:nvPr>
        </p:nvSpPr>
        <p:spPr/>
        <p:txBody>
          <a:bodyPr/>
          <a:lstStyle/>
          <a:p>
            <a:r>
              <a:rPr lang="en-US" altLang="zh-CN" b="1" dirty="0" smtClean="0">
                <a:latin typeface="宋体" pitchFamily="2" charset="-122"/>
              </a:rPr>
              <a:t>Throwable</a:t>
            </a:r>
            <a:r>
              <a:rPr lang="zh-CN" altLang="en-US" b="1" dirty="0" smtClean="0">
                <a:latin typeface="宋体" pitchFamily="2" charset="-122"/>
              </a:rPr>
              <a:t>类及其子类</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781800" y="6324600"/>
            <a:ext cx="1905000" cy="457200"/>
          </a:xfrm>
          <a:prstGeom prst="rect">
            <a:avLst/>
          </a:prstGeom>
        </p:spPr>
        <p:txBody>
          <a:bodyPr/>
          <a:lstStyle/>
          <a:p>
            <a:fld id="{1A9216D0-3EC5-46C1-B8FE-A189FE9C5AEA}" type="slidenum">
              <a:rPr lang="en-US" altLang="zh-CN"/>
              <a:pPr/>
              <a:t>39</a:t>
            </a:fld>
            <a:endParaRPr lang="en-US" altLang="zh-CN"/>
          </a:p>
        </p:txBody>
      </p:sp>
      <p:sp>
        <p:nvSpPr>
          <p:cNvPr id="16387" name="Rectangle 3"/>
          <p:cNvSpPr>
            <a:spLocks noGrp="1" noChangeArrowheads="1"/>
          </p:cNvSpPr>
          <p:nvPr>
            <p:ph type="body" idx="1"/>
          </p:nvPr>
        </p:nvSpPr>
        <p:spPr>
          <a:xfrm>
            <a:off x="228600" y="1700808"/>
            <a:ext cx="8915400" cy="3963988"/>
          </a:xfrm>
        </p:spPr>
        <p:txBody>
          <a:bodyPr/>
          <a:lstStyle/>
          <a:p>
            <a:pPr>
              <a:lnSpc>
                <a:spcPct val="80000"/>
              </a:lnSpc>
            </a:pPr>
            <a:r>
              <a:rPr lang="zh-CN" altLang="en-US" sz="2800" dirty="0">
                <a:latin typeface="宋体" pitchFamily="2" charset="-122"/>
              </a:rPr>
              <a:t>运行时异常</a:t>
            </a:r>
            <a:r>
              <a:rPr lang="en-US" altLang="zh-CN" sz="2800" dirty="0">
                <a:latin typeface="宋体" pitchFamily="2" charset="-122"/>
              </a:rPr>
              <a:t>RuntimeException</a:t>
            </a:r>
          </a:p>
          <a:p>
            <a:pPr>
              <a:lnSpc>
                <a:spcPct val="80000"/>
              </a:lnSpc>
              <a:buFont typeface="Wingdings" pitchFamily="2" charset="2"/>
              <a:buNone/>
            </a:pPr>
            <a:r>
              <a:rPr lang="en-US" altLang="zh-CN" sz="2400" dirty="0">
                <a:latin typeface="宋体" pitchFamily="2" charset="-122"/>
              </a:rPr>
              <a:t>	java</a:t>
            </a:r>
            <a:r>
              <a:rPr lang="zh-CN" altLang="en-US" sz="2400" dirty="0">
                <a:latin typeface="宋体" pitchFamily="2" charset="-122"/>
              </a:rPr>
              <a:t>程序运行时常常遇到的各种异常的处理。</a:t>
            </a:r>
            <a:r>
              <a:rPr kumimoji="0" lang="zh-CN" altLang="en-US" sz="2400" dirty="0">
                <a:solidFill>
                  <a:srgbClr val="080808"/>
                </a:solidFill>
              </a:rPr>
              <a:t>编程错误导致</a:t>
            </a:r>
            <a:r>
              <a:rPr kumimoji="0" lang="en-US" altLang="zh-CN" sz="2400" dirty="0">
                <a:solidFill>
                  <a:srgbClr val="080808"/>
                </a:solidFill>
              </a:rPr>
              <a:t>RuntimeException</a:t>
            </a:r>
            <a:r>
              <a:rPr kumimoji="0" lang="zh-CN" altLang="en-US" sz="2400" dirty="0">
                <a:solidFill>
                  <a:srgbClr val="080808"/>
                </a:solidFill>
              </a:rPr>
              <a:t>，</a:t>
            </a:r>
            <a:r>
              <a:rPr lang="zh-CN" altLang="en-US" sz="2400" dirty="0">
                <a:latin typeface="宋体" pitchFamily="2" charset="-122"/>
              </a:rPr>
              <a:t>如算术运算异常</a:t>
            </a:r>
            <a:r>
              <a:rPr lang="en-US" altLang="zh-CN" sz="2400" dirty="0">
                <a:latin typeface="Times New Roman" pitchFamily="18" charset="0"/>
                <a:cs typeface="Times New Roman" pitchFamily="18" charset="0"/>
              </a:rPr>
              <a:t>ArithmeticException(</a:t>
            </a:r>
            <a:r>
              <a:rPr lang="zh-CN" altLang="en-US" sz="2400" dirty="0">
                <a:latin typeface="宋体" pitchFamily="2" charset="-122"/>
              </a:rPr>
              <a:t>由除</a:t>
            </a:r>
            <a:r>
              <a:rPr lang="en-US" altLang="zh-CN" sz="2400" dirty="0">
                <a:latin typeface="Times New Roman" pitchFamily="18" charset="0"/>
                <a:cs typeface="Times New Roman" pitchFamily="18" charset="0"/>
              </a:rPr>
              <a:t>0</a:t>
            </a:r>
            <a:r>
              <a:rPr lang="zh-CN" altLang="en-US" sz="2400" dirty="0">
                <a:latin typeface="宋体" pitchFamily="2" charset="-122"/>
              </a:rPr>
              <a:t>错等导致</a:t>
            </a:r>
            <a:r>
              <a:rPr lang="en-US" altLang="zh-CN" sz="2400" dirty="0">
                <a:latin typeface="Times New Roman" pitchFamily="18" charset="0"/>
                <a:cs typeface="Times New Roman" pitchFamily="18" charset="0"/>
              </a:rPr>
              <a:t>)</a:t>
            </a:r>
            <a:r>
              <a:rPr lang="zh-CN" altLang="en-US" sz="2400" dirty="0">
                <a:latin typeface="宋体" pitchFamily="2" charset="-122"/>
              </a:rPr>
              <a:t>、数组越界异常</a:t>
            </a:r>
            <a:r>
              <a:rPr lang="en-US" altLang="zh-CN" sz="2400" dirty="0">
                <a:latin typeface="Times New Roman" pitchFamily="18" charset="0"/>
                <a:cs typeface="Times New Roman" pitchFamily="18" charset="0"/>
              </a:rPr>
              <a:t>ArrayIndexOutOfBoundsException</a:t>
            </a:r>
            <a:r>
              <a:rPr lang="zh-CN" altLang="en-US" sz="2400" dirty="0">
                <a:latin typeface="Times New Roman" pitchFamily="18" charset="0"/>
                <a:cs typeface="Times New Roman" pitchFamily="18" charset="0"/>
              </a:rPr>
              <a:t>，</a:t>
            </a:r>
            <a:r>
              <a:rPr kumimoji="0" lang="zh-CN" altLang="en-US" sz="2400" dirty="0">
                <a:solidFill>
                  <a:srgbClr val="080808"/>
                </a:solidFill>
              </a:rPr>
              <a:t>空指针访问等。</a:t>
            </a:r>
            <a:endParaRPr lang="zh-CN" altLang="en-US" sz="800" dirty="0">
              <a:latin typeface="宋体" pitchFamily="2" charset="-122"/>
            </a:endParaRPr>
          </a:p>
          <a:p>
            <a:pPr>
              <a:lnSpc>
                <a:spcPct val="80000"/>
              </a:lnSpc>
            </a:pPr>
            <a:r>
              <a:rPr lang="zh-CN" altLang="en-US" sz="2800" dirty="0">
                <a:latin typeface="Times New Roman" pitchFamily="18" charset="0"/>
              </a:rPr>
              <a:t>非运行时异常</a:t>
            </a:r>
          </a:p>
          <a:p>
            <a:pPr>
              <a:lnSpc>
                <a:spcPct val="80000"/>
              </a:lnSpc>
              <a:buFont typeface="Wingdings" pitchFamily="2" charset="2"/>
              <a:buNone/>
            </a:pPr>
            <a:r>
              <a:rPr lang="zh-CN" altLang="en-US" sz="2400" dirty="0">
                <a:latin typeface="宋体" pitchFamily="2" charset="-122"/>
              </a:rPr>
              <a:t>	其它则为非运行时异常，</a:t>
            </a:r>
            <a:r>
              <a:rPr kumimoji="0" lang="zh-CN" altLang="en-US" sz="2400" dirty="0">
                <a:solidFill>
                  <a:srgbClr val="080808"/>
                </a:solidFill>
              </a:rPr>
              <a:t>由于意外情况而发生的，</a:t>
            </a:r>
            <a:r>
              <a:rPr lang="zh-CN" altLang="en-US" sz="2400" dirty="0">
                <a:latin typeface="宋体" pitchFamily="2" charset="-122"/>
              </a:rPr>
              <a:t>如输入输出异常</a:t>
            </a:r>
            <a:r>
              <a:rPr lang="en-US" altLang="zh-CN" sz="2400" dirty="0">
                <a:latin typeface="Times New Roman" pitchFamily="18" charset="0"/>
                <a:cs typeface="Times New Roman" pitchFamily="18" charset="0"/>
              </a:rPr>
              <a:t>IOException</a:t>
            </a:r>
            <a:r>
              <a:rPr lang="zh-CN" altLang="en-US" sz="2400" dirty="0">
                <a:latin typeface="Times New Roman" pitchFamily="18" charset="0"/>
                <a:cs typeface="Times New Roman" pitchFamily="18" charset="0"/>
              </a:rPr>
              <a:t>，</a:t>
            </a:r>
            <a:r>
              <a:rPr kumimoji="0" lang="zh-CN" altLang="en-US" sz="2400" dirty="0">
                <a:solidFill>
                  <a:srgbClr val="080808"/>
                </a:solidFill>
              </a:rPr>
              <a:t>如试图读取文件结尾以后的数据、试图打开错误的</a:t>
            </a:r>
            <a:r>
              <a:rPr kumimoji="0" lang="en-US" altLang="zh-CN" sz="2400" dirty="0">
                <a:solidFill>
                  <a:srgbClr val="080808"/>
                </a:solidFill>
              </a:rPr>
              <a:t>URL</a:t>
            </a:r>
            <a:r>
              <a:rPr kumimoji="0" lang="zh-CN" altLang="en-US" sz="2400" dirty="0">
                <a:solidFill>
                  <a:srgbClr val="080808"/>
                </a:solidFill>
              </a:rPr>
              <a:t>、试图根据并不代表已存在类的字符串来查找</a:t>
            </a:r>
            <a:r>
              <a:rPr kumimoji="0" lang="en-US" altLang="zh-CN" sz="2400" dirty="0">
                <a:solidFill>
                  <a:srgbClr val="080808"/>
                </a:solidFill>
              </a:rPr>
              <a:t>Class</a:t>
            </a:r>
            <a:r>
              <a:rPr kumimoji="0" lang="zh-CN" altLang="en-US" sz="2400" dirty="0">
                <a:solidFill>
                  <a:srgbClr val="080808"/>
                </a:solidFill>
              </a:rPr>
              <a:t>对象等。</a:t>
            </a:r>
            <a:r>
              <a:rPr lang="en-US" altLang="zh-CN" sz="2400" dirty="0">
                <a:latin typeface="Times New Roman" pitchFamily="18" charset="0"/>
                <a:cs typeface="Times New Roman" pitchFamily="18" charset="0"/>
              </a:rPr>
              <a:t>Java</a:t>
            </a:r>
            <a:r>
              <a:rPr lang="zh-CN" altLang="en-US" sz="2400" dirty="0">
                <a:latin typeface="宋体" pitchFamily="2" charset="-122"/>
              </a:rPr>
              <a:t>编译器要求</a:t>
            </a:r>
            <a:r>
              <a:rPr lang="en-US" altLang="zh-CN" sz="2400" dirty="0">
                <a:latin typeface="Times New Roman" pitchFamily="18" charset="0"/>
                <a:cs typeface="Times New Roman" pitchFamily="18" charset="0"/>
              </a:rPr>
              <a:t>Java</a:t>
            </a:r>
            <a:r>
              <a:rPr lang="zh-CN" altLang="en-US" sz="2400" dirty="0">
                <a:latin typeface="宋体" pitchFamily="2" charset="-122"/>
              </a:rPr>
              <a:t>程序必须捕获或声明所有的非运行时异常，但对运行时异常可以不做处理。</a:t>
            </a:r>
          </a:p>
        </p:txBody>
      </p:sp>
      <p:sp>
        <p:nvSpPr>
          <p:cNvPr id="7" name="标题 6"/>
          <p:cNvSpPr>
            <a:spLocks noGrp="1"/>
          </p:cNvSpPr>
          <p:nvPr>
            <p:ph type="title"/>
          </p:nvPr>
        </p:nvSpPr>
        <p:spPr/>
        <p:txBody>
          <a:bodyPr/>
          <a:lstStyle/>
          <a:p>
            <a:r>
              <a:rPr lang="en-US" altLang="zh-CN" b="1" dirty="0" smtClean="0">
                <a:latin typeface="宋体" pitchFamily="2" charset="-122"/>
              </a:rPr>
              <a:t>Throwable</a:t>
            </a:r>
            <a:r>
              <a:rPr lang="zh-CN" altLang="en-US" b="1" dirty="0" smtClean="0">
                <a:latin typeface="宋体" pitchFamily="2" charset="-122"/>
              </a:rPr>
              <a:t>类及其子类</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425896" y="1700808"/>
            <a:ext cx="8610600" cy="4800600"/>
          </a:xfrm>
        </p:spPr>
        <p:txBody>
          <a:bodyPr/>
          <a:lstStyle/>
          <a:p>
            <a:pPr marL="609600" indent="-609600">
              <a:buFont typeface="Wingdings" pitchFamily="2" charset="2"/>
              <a:buNone/>
            </a:pPr>
            <a:endParaRPr lang="zh-CN" altLang="en-US" sz="1000" b="1" dirty="0">
              <a:latin typeface="宋体" pitchFamily="2" charset="-122"/>
            </a:endParaRPr>
          </a:p>
          <a:p>
            <a:pPr marL="609600" indent="-609600"/>
            <a:r>
              <a:rPr lang="zh-CN" altLang="en-US" sz="2800" dirty="0" smtClean="0">
                <a:latin typeface="宋体" pitchFamily="2" charset="-122"/>
              </a:rPr>
              <a:t>对</a:t>
            </a:r>
            <a:r>
              <a:rPr lang="zh-CN" altLang="en-US" sz="2800" b="1" dirty="0">
                <a:latin typeface="宋体" pitchFamily="2" charset="-122"/>
              </a:rPr>
              <a:t>运行时异常</a:t>
            </a:r>
            <a:r>
              <a:rPr lang="zh-CN" altLang="en-US" sz="2800" dirty="0">
                <a:latin typeface="宋体" pitchFamily="2" charset="-122"/>
              </a:rPr>
              <a:t>可以不做处理；</a:t>
            </a:r>
          </a:p>
          <a:p>
            <a:pPr marL="609600" indent="-609600"/>
            <a:r>
              <a:rPr lang="zh-CN" altLang="en-US" sz="2800" dirty="0" smtClean="0">
                <a:latin typeface="宋体" pitchFamily="2" charset="-122"/>
              </a:rPr>
              <a:t>使用</a:t>
            </a:r>
            <a:r>
              <a:rPr lang="en-US" altLang="zh-CN" sz="2800" dirty="0">
                <a:latin typeface="Times New Roman" pitchFamily="18" charset="0"/>
                <a:cs typeface="Times New Roman" pitchFamily="18" charset="0"/>
              </a:rPr>
              <a:t>try-catch-finally</a:t>
            </a:r>
            <a:r>
              <a:rPr lang="zh-CN" altLang="en-US" sz="2800" dirty="0">
                <a:latin typeface="宋体" pitchFamily="2" charset="-122"/>
              </a:rPr>
              <a:t>语句</a:t>
            </a:r>
            <a:r>
              <a:rPr lang="zh-CN" altLang="en-US" sz="2800" b="1" dirty="0">
                <a:latin typeface="宋体" pitchFamily="2" charset="-122"/>
              </a:rPr>
              <a:t>捕获异常</a:t>
            </a:r>
            <a:r>
              <a:rPr lang="zh-CN" altLang="en-US" sz="2800" dirty="0">
                <a:latin typeface="宋体" pitchFamily="2" charset="-122"/>
              </a:rPr>
              <a:t>；</a:t>
            </a:r>
          </a:p>
          <a:p>
            <a:pPr marL="609600" indent="-609600"/>
            <a:r>
              <a:rPr lang="zh-CN" altLang="en-US" sz="2800" dirty="0" smtClean="0">
                <a:latin typeface="宋体" pitchFamily="2" charset="-122"/>
              </a:rPr>
              <a:t>通过</a:t>
            </a:r>
            <a:r>
              <a:rPr lang="en-US" altLang="zh-CN" sz="2800" dirty="0">
                <a:latin typeface="Times New Roman" pitchFamily="18" charset="0"/>
                <a:cs typeface="Times New Roman" pitchFamily="18" charset="0"/>
              </a:rPr>
              <a:t>throws</a:t>
            </a:r>
            <a:r>
              <a:rPr lang="zh-CN" altLang="en-US" sz="2800" dirty="0">
                <a:latin typeface="宋体" pitchFamily="2" charset="-122"/>
              </a:rPr>
              <a:t>子句</a:t>
            </a:r>
            <a:r>
              <a:rPr lang="zh-CN" altLang="en-US" sz="2800" b="1" dirty="0" smtClean="0">
                <a:latin typeface="宋体" pitchFamily="2" charset="-122"/>
              </a:rPr>
              <a:t>声明异常，将其抛给上一层。</a:t>
            </a:r>
            <a:endParaRPr lang="zh-CN" altLang="en-US" sz="2800" b="1" dirty="0">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dirty="0"/>
          </a:p>
          <a:p>
            <a:pPr marL="609600" indent="-609600">
              <a:buFont typeface="Wingdings" pitchFamily="2" charset="2"/>
              <a:buNone/>
            </a:pPr>
            <a:endParaRPr lang="en-US" altLang="zh-CN" dirty="0"/>
          </a:p>
        </p:txBody>
      </p:sp>
      <p:sp>
        <p:nvSpPr>
          <p:cNvPr id="7" name="标题 6"/>
          <p:cNvSpPr>
            <a:spLocks noGrp="1"/>
          </p:cNvSpPr>
          <p:nvPr>
            <p:ph type="title"/>
          </p:nvPr>
        </p:nvSpPr>
        <p:spPr/>
        <p:txBody>
          <a:bodyPr/>
          <a:lstStyle/>
          <a:p>
            <a:pPr marL="609600" indent="-609600"/>
            <a:r>
              <a:rPr lang="zh-CN" altLang="en-US" b="1" dirty="0" smtClean="0">
                <a:latin typeface="宋体" pitchFamily="2" charset="-122"/>
              </a:rPr>
              <a:t>异常处理</a:t>
            </a:r>
            <a:endParaRPr lang="zh-CN" altLang="en-US" b="1" dirty="0">
              <a:latin typeface="宋体"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533400" y="1484784"/>
            <a:ext cx="8610600" cy="4800600"/>
          </a:xfrm>
        </p:spPr>
        <p:txBody>
          <a:bodyPr/>
          <a:lstStyle/>
          <a:p>
            <a:pPr marL="609600" indent="-609600">
              <a:buFont typeface="Wingdings" pitchFamily="2" charset="2"/>
              <a:buNone/>
            </a:pPr>
            <a:r>
              <a:rPr lang="en-US" altLang="zh-CN" sz="2400" dirty="0" smtClean="0">
                <a:latin typeface="Times New Roman" pitchFamily="18" charset="0"/>
                <a:cs typeface="Times New Roman" pitchFamily="18" charset="0"/>
              </a:rPr>
              <a:t>Java</a:t>
            </a:r>
            <a:r>
              <a:rPr lang="zh-CN" altLang="en-US" sz="2400" dirty="0">
                <a:latin typeface="宋体" pitchFamily="2" charset="-122"/>
              </a:rPr>
              <a:t>编译器允许程序不对它进行处理。这时，</a:t>
            </a:r>
            <a:r>
              <a:rPr lang="en-US" altLang="zh-CN" sz="2400" dirty="0">
                <a:latin typeface="Times New Roman" pitchFamily="18" charset="0"/>
                <a:cs typeface="Times New Roman" pitchFamily="18" charset="0"/>
              </a:rPr>
              <a:t>Java</a:t>
            </a:r>
            <a:r>
              <a:rPr lang="zh-CN" altLang="en-US" sz="2400" dirty="0">
                <a:latin typeface="宋体" pitchFamily="2" charset="-122"/>
              </a:rPr>
              <a:t>运行时系统会把生成的运行时异常对象交给缺省的异常处理程序，在标准输出上显示异常的内容以及发生异常的位置。</a:t>
            </a:r>
          </a:p>
          <a:p>
            <a:pPr marL="609600" indent="-609600">
              <a:lnSpc>
                <a:spcPct val="70000"/>
              </a:lnSpc>
              <a:buFont typeface="Wingdings" pitchFamily="2" charset="2"/>
              <a:buNone/>
            </a:pPr>
            <a:r>
              <a:rPr lang="zh-CN" altLang="en-US" sz="2400" dirty="0">
                <a:latin typeface="Times New Roman" pitchFamily="18" charset="0"/>
              </a:rPr>
              <a:t>例如：</a:t>
            </a:r>
          </a:p>
          <a:p>
            <a:pPr marL="609600" indent="-609600">
              <a:lnSpc>
                <a:spcPct val="70000"/>
              </a:lnSpc>
              <a:buFont typeface="Wingdings" pitchFamily="2" charset="2"/>
              <a:buNone/>
            </a:pPr>
            <a:r>
              <a:rPr lang="en-US" altLang="zh-CN" sz="2400" dirty="0">
                <a:latin typeface="Times New Roman" pitchFamily="18" charset="0"/>
                <a:cs typeface="Times New Roman" pitchFamily="18" charset="0"/>
              </a:rPr>
              <a:t>public class RuntimeExceptionProc{</a:t>
            </a:r>
          </a:p>
          <a:p>
            <a:pPr marL="609600" indent="-609600">
              <a:lnSpc>
                <a:spcPct val="70000"/>
              </a:lnSpc>
              <a:buFont typeface="Wingdings" pitchFamily="2" charset="2"/>
              <a:buNone/>
            </a:pPr>
            <a:r>
              <a:rPr lang="en-US" altLang="zh-CN" sz="2400" dirty="0">
                <a:latin typeface="Times New Roman" pitchFamily="18" charset="0"/>
                <a:cs typeface="Times New Roman" pitchFamily="18" charset="0"/>
              </a:rPr>
              <a:t>	public static void main( String args[] ){</a:t>
            </a:r>
          </a:p>
          <a:p>
            <a:pPr marL="609600" indent="-609600">
              <a:lnSpc>
                <a:spcPct val="70000"/>
              </a:lnSpc>
              <a:buFont typeface="Wingdings" pitchFamily="2" charset="2"/>
              <a:buNone/>
            </a:pPr>
            <a:r>
              <a:rPr lang="en-US" altLang="zh-CN" sz="2400" dirty="0">
                <a:latin typeface="Times New Roman" pitchFamily="18" charset="0"/>
                <a:cs typeface="Times New Roman" pitchFamily="18" charset="0"/>
              </a:rPr>
              <a:t>		int i=0;</a:t>
            </a:r>
          </a:p>
          <a:p>
            <a:pPr marL="609600" indent="-609600">
              <a:lnSpc>
                <a:spcPct val="70000"/>
              </a:lnSpc>
              <a:buFont typeface="Wingdings" pitchFamily="2" charset="2"/>
              <a:buNone/>
            </a:pPr>
            <a:r>
              <a:rPr lang="en-US" altLang="zh-CN" sz="2400" dirty="0">
                <a:latin typeface="Times New Roman" pitchFamily="18" charset="0"/>
                <a:cs typeface="Times New Roman" pitchFamily="18" charset="0"/>
              </a:rPr>
              <a:t>		int r=4/i;</a:t>
            </a:r>
          </a:p>
          <a:p>
            <a:pPr marL="609600" indent="-609600">
              <a:lnSpc>
                <a:spcPct val="70000"/>
              </a:lnSpc>
              <a:buFont typeface="Wingdings" pitchFamily="2" charset="2"/>
              <a:buNone/>
            </a:pPr>
            <a:r>
              <a:rPr lang="en-US" altLang="zh-CN" sz="2400" dirty="0">
                <a:latin typeface="Times New Roman" pitchFamily="18" charset="0"/>
                <a:cs typeface="Times New Roman" pitchFamily="18" charset="0"/>
              </a:rPr>
              <a:t>	}</a:t>
            </a:r>
          </a:p>
          <a:p>
            <a:pPr marL="609600" indent="-609600">
              <a:lnSpc>
                <a:spcPct val="70000"/>
              </a:lnSpc>
              <a:buFont typeface="Wingdings" pitchFamily="2" charset="2"/>
              <a:buNone/>
            </a:pPr>
            <a:r>
              <a:rPr lang="en-US" altLang="zh-CN" sz="2400" dirty="0">
                <a:latin typeface="Times New Roman" pitchFamily="18" charset="0"/>
                <a:cs typeface="Times New Roman" pitchFamily="18" charset="0"/>
              </a:rPr>
              <a:t>}</a:t>
            </a:r>
          </a:p>
          <a:p>
            <a:pPr marL="609600" indent="-609600">
              <a:buFont typeface="Wingdings" pitchFamily="2" charset="2"/>
              <a:buNone/>
            </a:pPr>
            <a:endParaRPr lang="en-US" altLang="zh-CN" sz="2800" dirty="0">
              <a:latin typeface="宋体" pitchFamily="2" charset="-122"/>
            </a:endParaRPr>
          </a:p>
          <a:p>
            <a:pPr marL="609600" indent="-609600">
              <a:buFont typeface="Wingdings" pitchFamily="2" charset="2"/>
              <a:buNone/>
            </a:pPr>
            <a:endParaRPr lang="en-US" altLang="zh-CN" dirty="0"/>
          </a:p>
          <a:p>
            <a:pPr marL="609600" indent="-609600">
              <a:buFont typeface="Wingdings" pitchFamily="2" charset="2"/>
              <a:buNone/>
            </a:pPr>
            <a:endParaRPr lang="en-US" altLang="zh-CN" dirty="0"/>
          </a:p>
        </p:txBody>
      </p:sp>
      <p:sp>
        <p:nvSpPr>
          <p:cNvPr id="18437" name="Rectangle 5"/>
          <p:cNvSpPr>
            <a:spLocks noChangeArrowheads="1"/>
          </p:cNvSpPr>
          <p:nvPr/>
        </p:nvSpPr>
        <p:spPr bwMode="auto">
          <a:xfrm>
            <a:off x="1676400" y="5229200"/>
            <a:ext cx="7288213" cy="1106488"/>
          </a:xfrm>
          <a:prstGeom prst="rect">
            <a:avLst/>
          </a:prstGeom>
          <a:noFill/>
          <a:ln w="9525">
            <a:solidFill>
              <a:schemeClr val="tx1"/>
            </a:solidFill>
            <a:miter lim="800000"/>
            <a:headEnd/>
            <a:tailEnd/>
          </a:ln>
          <a:effectLst/>
        </p:spPr>
        <p:txBody>
          <a:bodyPr>
            <a:spAutoFit/>
          </a:bodyPr>
          <a:lstStyle/>
          <a:p>
            <a:r>
              <a:rPr lang="zh-CN" altLang="en-US" sz="2200" dirty="0">
                <a:latin typeface="Times New Roman" pitchFamily="18" charset="0"/>
              </a:rPr>
              <a:t>运行结果：</a:t>
            </a:r>
          </a:p>
          <a:p>
            <a:r>
              <a:rPr lang="en-US" altLang="zh-CN" sz="2200" dirty="0">
                <a:latin typeface="Times New Roman" pitchFamily="18" charset="0"/>
                <a:cs typeface="Times New Roman" pitchFamily="18" charset="0"/>
              </a:rPr>
              <a:t>java.lang.ArithmeticException: /by zero</a:t>
            </a:r>
          </a:p>
          <a:p>
            <a:pPr eaLnBrk="0" hangingPunct="0"/>
            <a:r>
              <a:rPr lang="en-US" altLang="zh-CN" sz="2200" dirty="0">
                <a:latin typeface="Times New Roman" pitchFamily="18" charset="0"/>
                <a:cs typeface="Times New Roman" pitchFamily="18" charset="0"/>
              </a:rPr>
              <a:t>at RuntimeExceptionProc.main(RuntimeExceptionProc.java:4)</a:t>
            </a:r>
            <a:endParaRPr lang="en-US" altLang="zh-CN" sz="2200" dirty="0">
              <a:latin typeface="Times New Roman" pitchFamily="18" charset="0"/>
            </a:endParaRPr>
          </a:p>
        </p:txBody>
      </p:sp>
      <p:sp>
        <p:nvSpPr>
          <p:cNvPr id="8" name="标题 7"/>
          <p:cNvSpPr>
            <a:spLocks noGrp="1"/>
          </p:cNvSpPr>
          <p:nvPr>
            <p:ph type="title"/>
          </p:nvPr>
        </p:nvSpPr>
        <p:spPr/>
        <p:txBody>
          <a:bodyPr/>
          <a:lstStyle/>
          <a:p>
            <a:r>
              <a:rPr lang="zh-CN" altLang="en-US" b="1" dirty="0" smtClean="0">
                <a:solidFill>
                  <a:schemeClr val="tx1"/>
                </a:solidFill>
                <a:latin typeface="宋体" pitchFamily="2" charset="-122"/>
              </a:rPr>
              <a:t>运行时异常</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381000" y="1580728"/>
            <a:ext cx="8610600" cy="4800600"/>
          </a:xfrm>
        </p:spPr>
        <p:txBody>
          <a:bodyPr/>
          <a:lstStyle/>
          <a:p>
            <a:pPr marL="609600" indent="-609600">
              <a:lnSpc>
                <a:spcPct val="90000"/>
              </a:lnSpc>
              <a:buFont typeface="Wingdings" pitchFamily="2" charset="2"/>
              <a:buNone/>
            </a:pPr>
            <a:r>
              <a:rPr lang="zh-CN" altLang="en-US" sz="2400" dirty="0" smtClean="0">
                <a:latin typeface="宋体" pitchFamily="2" charset="-122"/>
              </a:rPr>
              <a:t>用</a:t>
            </a:r>
            <a:r>
              <a:rPr lang="en-US" altLang="zh-CN" sz="2400" dirty="0">
                <a:latin typeface="Times New Roman" pitchFamily="18" charset="0"/>
                <a:cs typeface="Times New Roman" pitchFamily="18" charset="0"/>
              </a:rPr>
              <a:t>try-catch-finally</a:t>
            </a:r>
            <a:r>
              <a:rPr lang="zh-CN" altLang="en-US" sz="2400" dirty="0">
                <a:latin typeface="宋体" pitchFamily="2" charset="-122"/>
              </a:rPr>
              <a:t>语句来捕获一个或多个异常，基本格式为：</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try{</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	Java statements</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}catch (ExceptionType1 ExceptionObject){</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	Exception Handling</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}catch (ExceptionType2 ExceptionObject){</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	Excption Handling</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 finally {</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	final Handling</a:t>
            </a:r>
          </a:p>
          <a:p>
            <a:pPr marL="609600" indent="-609600">
              <a:lnSpc>
                <a:spcPts val="1800"/>
              </a:lnSpc>
              <a:buFont typeface="Wingdings" pitchFamily="2" charset="2"/>
              <a:buNone/>
            </a:pPr>
            <a:r>
              <a:rPr lang="en-US" altLang="zh-CN" sz="2400" dirty="0">
                <a:latin typeface="Times New Roman" pitchFamily="18" charset="0"/>
                <a:cs typeface="Times New Roman" pitchFamily="18" charset="0"/>
              </a:rPr>
              <a:t>} </a:t>
            </a:r>
          </a:p>
          <a:p>
            <a:pPr marL="609600" indent="-609600">
              <a:lnSpc>
                <a:spcPts val="1800"/>
              </a:lnSpc>
              <a:buFont typeface="Wingdings" pitchFamily="2" charset="2"/>
              <a:buNone/>
            </a:pPr>
            <a:endParaRPr lang="en-US" altLang="zh-CN" sz="2400" dirty="0">
              <a:latin typeface="宋体" pitchFamily="2" charset="-122"/>
            </a:endParaRPr>
          </a:p>
          <a:p>
            <a:pPr marL="609600" indent="-609600">
              <a:lnSpc>
                <a:spcPts val="1800"/>
              </a:lnSpc>
              <a:buFont typeface="Wingdings" pitchFamily="2" charset="2"/>
              <a:buNone/>
            </a:pPr>
            <a:endParaRPr lang="en-US" altLang="zh-CN" sz="2000" dirty="0">
              <a:latin typeface="宋体" pitchFamily="2" charset="-122"/>
            </a:endParaRPr>
          </a:p>
          <a:p>
            <a:pPr marL="609600" indent="-609600">
              <a:lnSpc>
                <a:spcPts val="1800"/>
              </a:lnSpc>
              <a:buFont typeface="Wingdings" pitchFamily="2" charset="2"/>
              <a:buNone/>
            </a:pPr>
            <a:endParaRPr lang="en-US" altLang="zh-CN" sz="2800" dirty="0"/>
          </a:p>
          <a:p>
            <a:pPr marL="609600" indent="-609600">
              <a:lnSpc>
                <a:spcPts val="1800"/>
              </a:lnSpc>
              <a:buFont typeface="Wingdings" pitchFamily="2" charset="2"/>
              <a:buNone/>
            </a:pPr>
            <a:endParaRPr lang="en-US" altLang="zh-CN" sz="2800" dirty="0"/>
          </a:p>
        </p:txBody>
      </p:sp>
      <p:sp>
        <p:nvSpPr>
          <p:cNvPr id="7" name="标题 6"/>
          <p:cNvSpPr>
            <a:spLocks noGrp="1"/>
          </p:cNvSpPr>
          <p:nvPr>
            <p:ph type="title"/>
          </p:nvPr>
        </p:nvSpPr>
        <p:spPr/>
        <p:txBody>
          <a:bodyPr/>
          <a:lstStyle/>
          <a:p>
            <a:r>
              <a:rPr lang="zh-CN" altLang="en-US" b="1" dirty="0" smtClean="0">
                <a:solidFill>
                  <a:schemeClr val="tx1"/>
                </a:solidFill>
                <a:latin typeface="宋体" pitchFamily="2" charset="-122"/>
              </a:rPr>
              <a:t>捕获异常</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381000" y="1556792"/>
            <a:ext cx="8610600" cy="4800600"/>
          </a:xfrm>
        </p:spPr>
        <p:txBody>
          <a:bodyPr/>
          <a:lstStyle/>
          <a:p>
            <a:pPr marL="609600" indent="-609600">
              <a:buFont typeface="Wingdings" pitchFamily="2" charset="2"/>
              <a:buNone/>
            </a:pPr>
            <a:r>
              <a:rPr lang="zh-CN" altLang="en-US" sz="2800" b="1" dirty="0" smtClean="0">
                <a:solidFill>
                  <a:srgbClr val="990033"/>
                </a:solidFill>
                <a:latin typeface="宋体" pitchFamily="2" charset="-122"/>
              </a:rPr>
              <a:t>说明</a:t>
            </a:r>
            <a:r>
              <a:rPr lang="zh-CN" altLang="en-US" sz="2800" b="1" dirty="0">
                <a:solidFill>
                  <a:srgbClr val="990033"/>
                </a:solidFill>
                <a:latin typeface="宋体" pitchFamily="2" charset="-122"/>
              </a:rPr>
              <a:t>：</a:t>
            </a:r>
            <a:endParaRPr lang="zh-CN" altLang="en-US" sz="2800" b="1" dirty="0">
              <a:solidFill>
                <a:srgbClr val="990033"/>
              </a:solidFill>
              <a:latin typeface="Times New Roman" pitchFamily="18" charset="0"/>
              <a:cs typeface="Times New Roman" pitchFamily="18" charset="0"/>
            </a:endParaRPr>
          </a:p>
          <a:p>
            <a:pPr marL="609600" indent="-609600"/>
            <a:r>
              <a:rPr lang="en-US" altLang="zh-CN" sz="2400" dirty="0">
                <a:latin typeface="宋体" pitchFamily="2" charset="-122"/>
              </a:rPr>
              <a:t>try</a:t>
            </a:r>
            <a:r>
              <a:rPr lang="zh-CN" altLang="en-US" sz="2400" dirty="0">
                <a:latin typeface="宋体" pitchFamily="2" charset="-122"/>
              </a:rPr>
              <a:t>语句用大括号</a:t>
            </a:r>
            <a:r>
              <a:rPr lang="en-US" altLang="zh-CN" sz="2400" dirty="0">
                <a:latin typeface="宋体" pitchFamily="2" charset="-122"/>
              </a:rPr>
              <a:t>{}</a:t>
            </a:r>
            <a:r>
              <a:rPr lang="zh-CN" altLang="en-US" sz="2400" dirty="0">
                <a:latin typeface="宋体" pitchFamily="2" charset="-122"/>
              </a:rPr>
              <a:t>指定了一段代码，该段代码可能会抛弃一个或多个异常。</a:t>
            </a:r>
          </a:p>
          <a:p>
            <a:pPr marL="609600" indent="-609600"/>
            <a:endParaRPr lang="zh-CN" altLang="en-US" sz="2400" dirty="0">
              <a:latin typeface="Times New Roman" pitchFamily="18" charset="0"/>
              <a:cs typeface="Times New Roman" pitchFamily="18" charset="0"/>
            </a:endParaRPr>
          </a:p>
          <a:p>
            <a:pPr marL="609600" indent="-609600"/>
            <a:r>
              <a:rPr lang="en-US" altLang="zh-CN" sz="2400" dirty="0">
                <a:latin typeface="Times New Roman" pitchFamily="18" charset="0"/>
                <a:cs typeface="Times New Roman" pitchFamily="18" charset="0"/>
              </a:rPr>
              <a:t>try</a:t>
            </a:r>
            <a:r>
              <a:rPr lang="zh-CN" altLang="en-US" sz="2400" dirty="0">
                <a:latin typeface="Times New Roman" pitchFamily="18" charset="0"/>
                <a:cs typeface="Times New Roman" pitchFamily="18" charset="0"/>
              </a:rPr>
              <a:t>所限定的代码中，当抛弃一个异常时，其后的代码不会被执行</a:t>
            </a:r>
          </a:p>
          <a:p>
            <a:pPr marL="609600" indent="-609600">
              <a:buFont typeface="Wingdings" pitchFamily="2" charset="2"/>
              <a:buNone/>
            </a:pPr>
            <a:endParaRPr lang="zh-CN" altLang="en-US" sz="2400" dirty="0">
              <a:latin typeface="宋体" pitchFamily="2" charset="-122"/>
            </a:endParaRPr>
          </a:p>
          <a:p>
            <a:pPr marL="609600" indent="-609600"/>
            <a:endParaRPr lang="zh-CN" altLang="en-US" sz="2400" dirty="0">
              <a:latin typeface="宋体" pitchFamily="2" charset="-122"/>
            </a:endParaRPr>
          </a:p>
          <a:p>
            <a:pPr marL="609600" indent="-609600"/>
            <a:endParaRPr lang="zh-CN" altLang="en-US" sz="2400" dirty="0">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dirty="0"/>
          </a:p>
          <a:p>
            <a:pPr marL="609600" indent="-609600">
              <a:buFont typeface="Wingdings" pitchFamily="2" charset="2"/>
              <a:buNone/>
            </a:pPr>
            <a:endParaRPr lang="en-US" altLang="zh-CN" dirty="0"/>
          </a:p>
        </p:txBody>
      </p:sp>
      <p:sp>
        <p:nvSpPr>
          <p:cNvPr id="7" name="标题 6"/>
          <p:cNvSpPr>
            <a:spLocks noGrp="1"/>
          </p:cNvSpPr>
          <p:nvPr>
            <p:ph type="title"/>
          </p:nvPr>
        </p:nvSpPr>
        <p:spPr/>
        <p:txBody>
          <a:bodyPr/>
          <a:lstStyle/>
          <a:p>
            <a:r>
              <a:rPr lang="zh-CN" altLang="en-US" b="1" dirty="0" smtClean="0">
                <a:solidFill>
                  <a:schemeClr val="tx1"/>
                </a:solidFill>
                <a:latin typeface="宋体" pitchFamily="2" charset="-122"/>
              </a:rPr>
              <a:t>捕获异常</a:t>
            </a:r>
            <a:endParaRPr lang="zh-CN" altLang="en-US" dirty="0">
              <a:solidFill>
                <a:schemeClr val="tx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1027"/>
          <p:cNvSpPr>
            <a:spLocks noGrp="1" noChangeArrowheads="1"/>
          </p:cNvSpPr>
          <p:nvPr>
            <p:ph type="body" idx="1"/>
          </p:nvPr>
        </p:nvSpPr>
        <p:spPr>
          <a:xfrm>
            <a:off x="323528" y="1556792"/>
            <a:ext cx="8610600" cy="4800600"/>
          </a:xfrm>
        </p:spPr>
        <p:txBody>
          <a:bodyPr/>
          <a:lstStyle/>
          <a:p>
            <a:pPr marL="609600" indent="-609600">
              <a:buFont typeface="Wingdings" pitchFamily="2" charset="2"/>
              <a:buNone/>
            </a:pPr>
            <a:r>
              <a:rPr lang="zh-CN" altLang="en-US" sz="2800" b="1" dirty="0" smtClean="0">
                <a:solidFill>
                  <a:srgbClr val="990033"/>
                </a:solidFill>
                <a:latin typeface="宋体" pitchFamily="2" charset="-122"/>
              </a:rPr>
              <a:t>说明</a:t>
            </a:r>
            <a:r>
              <a:rPr lang="zh-CN" altLang="en-US" sz="2800" b="1" dirty="0">
                <a:solidFill>
                  <a:srgbClr val="990033"/>
                </a:solidFill>
                <a:latin typeface="宋体" pitchFamily="2" charset="-122"/>
              </a:rPr>
              <a:t>：</a:t>
            </a:r>
            <a:endParaRPr lang="zh-CN" altLang="en-US" sz="2800" b="1" dirty="0">
              <a:solidFill>
                <a:srgbClr val="990033"/>
              </a:solidFill>
              <a:latin typeface="Times New Roman" pitchFamily="18" charset="0"/>
              <a:cs typeface="Times New Roman" pitchFamily="18" charset="0"/>
            </a:endParaRPr>
          </a:p>
          <a:p>
            <a:pPr marL="609600" indent="-609600"/>
            <a:r>
              <a:rPr lang="en-US" altLang="zh-CN" sz="2400" dirty="0">
                <a:latin typeface="Times New Roman" pitchFamily="18" charset="0"/>
                <a:cs typeface="Times New Roman" pitchFamily="18" charset="0"/>
              </a:rPr>
              <a:t>catch</a:t>
            </a:r>
            <a:r>
              <a:rPr lang="zh-CN" altLang="en-US" sz="2400" dirty="0">
                <a:latin typeface="宋体" pitchFamily="2" charset="-122"/>
              </a:rPr>
              <a:t>所处理的异常类型与生成的异常对象的类型完全一致或者是它的父类</a:t>
            </a:r>
          </a:p>
          <a:p>
            <a:pPr marL="609600" indent="-609600">
              <a:buFont typeface="Wingdings" pitchFamily="2" charset="2"/>
              <a:buNone/>
            </a:pPr>
            <a:endParaRPr lang="zh-CN" altLang="en-US" sz="2400" dirty="0">
              <a:latin typeface="宋体" pitchFamily="2" charset="-122"/>
            </a:endParaRPr>
          </a:p>
          <a:p>
            <a:pPr marL="609600" indent="-609600"/>
            <a:endParaRPr lang="zh-CN" altLang="en-US" sz="2400" dirty="0">
              <a:latin typeface="宋体" pitchFamily="2" charset="-122"/>
            </a:endParaRPr>
          </a:p>
          <a:p>
            <a:pPr marL="609600" indent="-609600"/>
            <a:endParaRPr lang="zh-CN" altLang="en-US" sz="2400" dirty="0">
              <a:latin typeface="宋体" pitchFamily="2" charset="-122"/>
            </a:endParaRPr>
          </a:p>
          <a:p>
            <a:pPr marL="609600" indent="-609600"/>
            <a:endParaRPr lang="zh-CN" altLang="en-US" sz="2400" dirty="0">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dirty="0"/>
          </a:p>
          <a:p>
            <a:pPr marL="609600" indent="-609600">
              <a:buFont typeface="Wingdings" pitchFamily="2" charset="2"/>
              <a:buNone/>
            </a:pPr>
            <a:endParaRPr lang="en-US" altLang="zh-CN" dirty="0"/>
          </a:p>
        </p:txBody>
      </p:sp>
      <p:pic>
        <p:nvPicPr>
          <p:cNvPr id="28678" name="Picture 1030" descr="9linked"/>
          <p:cNvPicPr>
            <a:picLocks noChangeAspect="1" noChangeArrowheads="1"/>
          </p:cNvPicPr>
          <p:nvPr/>
        </p:nvPicPr>
        <p:blipFill>
          <a:blip r:embed="rId2" cstate="print"/>
          <a:srcRect/>
          <a:stretch>
            <a:fillRect/>
          </a:stretch>
        </p:blipFill>
        <p:spPr bwMode="auto">
          <a:xfrm>
            <a:off x="755576" y="3284984"/>
            <a:ext cx="7162800" cy="2092325"/>
          </a:xfrm>
          <a:prstGeom prst="rect">
            <a:avLst/>
          </a:prstGeom>
          <a:noFill/>
        </p:spPr>
      </p:pic>
      <p:sp>
        <p:nvSpPr>
          <p:cNvPr id="8" name="标题 7"/>
          <p:cNvSpPr>
            <a:spLocks noGrp="1"/>
          </p:cNvSpPr>
          <p:nvPr>
            <p:ph type="title"/>
          </p:nvPr>
        </p:nvSpPr>
        <p:spPr/>
        <p:txBody>
          <a:bodyPr/>
          <a:lstStyle/>
          <a:p>
            <a:r>
              <a:rPr lang="zh-CN" altLang="en-US" b="1" dirty="0" smtClean="0">
                <a:solidFill>
                  <a:schemeClr val="tx1"/>
                </a:solidFill>
                <a:latin typeface="宋体" pitchFamily="2" charset="-122"/>
              </a:rPr>
              <a:t>捕获异常</a:t>
            </a:r>
            <a:endParaRPr lang="zh-CN" altLang="en-US"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323528" y="1628800"/>
            <a:ext cx="8610600" cy="4800600"/>
          </a:xfrm>
        </p:spPr>
        <p:txBody>
          <a:bodyPr/>
          <a:lstStyle/>
          <a:p>
            <a:pPr marL="609600" indent="-609600">
              <a:buFont typeface="Wingdings" pitchFamily="2" charset="2"/>
              <a:buNone/>
            </a:pPr>
            <a:r>
              <a:rPr lang="zh-CN" altLang="en-US" sz="2800" b="1" dirty="0" smtClean="0">
                <a:solidFill>
                  <a:srgbClr val="990033"/>
                </a:solidFill>
                <a:latin typeface="宋体" pitchFamily="2" charset="-122"/>
              </a:rPr>
              <a:t>说明</a:t>
            </a:r>
            <a:r>
              <a:rPr lang="zh-CN" altLang="en-US" sz="2800" b="1" dirty="0">
                <a:solidFill>
                  <a:srgbClr val="990033"/>
                </a:solidFill>
                <a:latin typeface="宋体" pitchFamily="2" charset="-122"/>
              </a:rPr>
              <a:t>：</a:t>
            </a:r>
          </a:p>
          <a:p>
            <a:pPr marL="609600" indent="-609600"/>
            <a:r>
              <a:rPr lang="zh-CN" altLang="en-US" sz="2400" dirty="0">
                <a:latin typeface="宋体" pitchFamily="2" charset="-122"/>
              </a:rPr>
              <a:t>无论</a:t>
            </a:r>
            <a:r>
              <a:rPr lang="en-US" altLang="zh-CN" sz="2400" dirty="0">
                <a:latin typeface="Times New Roman" pitchFamily="18" charset="0"/>
                <a:cs typeface="Times New Roman" pitchFamily="18" charset="0"/>
              </a:rPr>
              <a:t>try</a:t>
            </a:r>
            <a:r>
              <a:rPr lang="zh-CN" altLang="en-US" sz="2400" dirty="0">
                <a:latin typeface="宋体" pitchFamily="2" charset="-122"/>
              </a:rPr>
              <a:t>所指定的程序块中抛弃或不抛弃异常，也无论</a:t>
            </a:r>
            <a:r>
              <a:rPr lang="en-US" altLang="zh-CN" sz="2400" dirty="0">
                <a:latin typeface="Times New Roman" pitchFamily="18" charset="0"/>
                <a:cs typeface="Times New Roman" pitchFamily="18" charset="0"/>
              </a:rPr>
              <a:t>catch</a:t>
            </a:r>
            <a:r>
              <a:rPr lang="zh-CN" altLang="en-US" sz="2400" dirty="0">
                <a:latin typeface="宋体" pitchFamily="2" charset="-122"/>
              </a:rPr>
              <a:t>语句的异常类型是否与所抛弃的异常的类型一致，</a:t>
            </a:r>
            <a:r>
              <a:rPr lang="en-US" altLang="zh-CN" sz="2400" dirty="0">
                <a:latin typeface="Times New Roman" pitchFamily="18" charset="0"/>
                <a:cs typeface="Times New Roman" pitchFamily="18" charset="0"/>
              </a:rPr>
              <a:t>finally</a:t>
            </a:r>
            <a:r>
              <a:rPr lang="zh-CN" altLang="en-US" sz="2400" dirty="0">
                <a:latin typeface="宋体" pitchFamily="2" charset="-122"/>
              </a:rPr>
              <a:t>所指定的代码都要被执行，它提供了统一的出口。</a:t>
            </a:r>
          </a:p>
          <a:p>
            <a:pPr marL="609600" indent="-609600">
              <a:buFont typeface="Wingdings" pitchFamily="2" charset="2"/>
              <a:buNone/>
            </a:pPr>
            <a:endParaRPr lang="zh-CN" altLang="en-US" sz="2400" dirty="0">
              <a:latin typeface="宋体" pitchFamily="2" charset="-122"/>
            </a:endParaRPr>
          </a:p>
          <a:p>
            <a:pPr marL="609600" indent="-609600"/>
            <a:r>
              <a:rPr lang="zh-CN" altLang="en-US" sz="2400" dirty="0">
                <a:latin typeface="宋体" pitchFamily="2" charset="-122"/>
              </a:rPr>
              <a:t>通常在</a:t>
            </a:r>
            <a:r>
              <a:rPr lang="en-US" altLang="zh-CN" sz="2400" dirty="0">
                <a:latin typeface="Times New Roman" pitchFamily="18" charset="0"/>
                <a:cs typeface="Times New Roman" pitchFamily="18" charset="0"/>
              </a:rPr>
              <a:t>finally</a:t>
            </a:r>
            <a:r>
              <a:rPr lang="zh-CN" altLang="en-US" sz="2400" dirty="0">
                <a:latin typeface="宋体" pitchFamily="2" charset="-122"/>
              </a:rPr>
              <a:t>语句中可以进行资源的清除工作。如关闭打开的文件等</a:t>
            </a:r>
          </a:p>
          <a:p>
            <a:pPr marL="609600" indent="-609600">
              <a:buFont typeface="Wingdings" pitchFamily="2" charset="2"/>
              <a:buNone/>
            </a:pPr>
            <a:endParaRPr lang="zh-CN" altLang="en-US" sz="2400" dirty="0">
              <a:latin typeface="宋体" pitchFamily="2" charset="-122"/>
            </a:endParaRPr>
          </a:p>
          <a:p>
            <a:pPr marL="609600" indent="-609600">
              <a:buFont typeface="Wingdings" pitchFamily="2" charset="2"/>
              <a:buNone/>
            </a:pPr>
            <a:endParaRPr lang="en-US" altLang="zh-CN" sz="2400" dirty="0">
              <a:latin typeface="宋体" pitchFamily="2" charset="-122"/>
            </a:endParaRPr>
          </a:p>
          <a:p>
            <a:pPr marL="609600" indent="-609600">
              <a:buFont typeface="Wingdings" pitchFamily="2" charset="2"/>
              <a:buNone/>
            </a:pPr>
            <a:endParaRPr lang="en-US" altLang="zh-CN" sz="2400" dirty="0">
              <a:latin typeface="宋体" pitchFamily="2" charset="-122"/>
            </a:endParaRPr>
          </a:p>
          <a:p>
            <a:pPr marL="609600" indent="-609600">
              <a:buFont typeface="Wingdings" pitchFamily="2" charset="2"/>
              <a:buNone/>
            </a:pPr>
            <a:endParaRPr lang="en-US" altLang="zh-CN" dirty="0"/>
          </a:p>
          <a:p>
            <a:pPr marL="609600" indent="-609600">
              <a:buFont typeface="Wingdings" pitchFamily="2" charset="2"/>
              <a:buNone/>
            </a:pPr>
            <a:endParaRPr lang="en-US" altLang="zh-CN" dirty="0"/>
          </a:p>
        </p:txBody>
      </p:sp>
      <p:sp>
        <p:nvSpPr>
          <p:cNvPr id="7" name="标题 6"/>
          <p:cNvSpPr>
            <a:spLocks noGrp="1"/>
          </p:cNvSpPr>
          <p:nvPr>
            <p:ph type="title"/>
          </p:nvPr>
        </p:nvSpPr>
        <p:spPr/>
        <p:txBody>
          <a:bodyPr/>
          <a:lstStyle/>
          <a:p>
            <a:r>
              <a:rPr lang="zh-CN" altLang="en-US" b="1" dirty="0" smtClean="0">
                <a:solidFill>
                  <a:schemeClr val="tx1"/>
                </a:solidFill>
                <a:latin typeface="宋体" pitchFamily="2" charset="-122"/>
              </a:rPr>
              <a:t>捕获异常</a:t>
            </a:r>
            <a:endParaRPr lang="zh-CN" altLang="en-US"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1027"/>
          <p:cNvSpPr>
            <a:spLocks noGrp="1" noChangeArrowheads="1"/>
          </p:cNvSpPr>
          <p:nvPr>
            <p:ph type="body" idx="1"/>
          </p:nvPr>
        </p:nvSpPr>
        <p:spPr>
          <a:xfrm>
            <a:off x="785936" y="500608"/>
            <a:ext cx="8610600" cy="4800600"/>
          </a:xfrm>
        </p:spPr>
        <p:txBody>
          <a:bodyPr/>
          <a:lstStyle/>
          <a:p>
            <a:pPr marL="609600" indent="-609600">
              <a:lnSpc>
                <a:spcPts val="1800"/>
              </a:lnSpc>
              <a:buFont typeface="Wingdings" pitchFamily="2" charset="2"/>
              <a:buNone/>
            </a:pPr>
            <a:r>
              <a:rPr lang="en-US" altLang="zh-CN" sz="2200" dirty="0" smtClean="0">
                <a:latin typeface="宋体" pitchFamily="2" charset="-122"/>
              </a:rPr>
              <a:t>try </a:t>
            </a:r>
            <a:r>
              <a:rPr lang="en-US" altLang="zh-CN" sz="2200" dirty="0">
                <a:latin typeface="宋体" pitchFamily="2" charset="-122"/>
              </a:rPr>
              <a:t>{</a:t>
            </a:r>
          </a:p>
          <a:p>
            <a:pPr marL="609600" indent="-609600">
              <a:lnSpc>
                <a:spcPts val="1800"/>
              </a:lnSpc>
              <a:buFont typeface="Wingdings" pitchFamily="2" charset="2"/>
              <a:buNone/>
            </a:pPr>
            <a:r>
              <a:rPr lang="en-US" altLang="zh-CN" sz="2200" dirty="0">
                <a:latin typeface="宋体" pitchFamily="2" charset="-122"/>
              </a:rPr>
              <a:t>     </a:t>
            </a:r>
            <a:r>
              <a:rPr lang="zh-CN" altLang="en-US" sz="2200" dirty="0">
                <a:latin typeface="宋体" pitchFamily="2" charset="-122"/>
              </a:rPr>
              <a:t>打开文件</a:t>
            </a:r>
          </a:p>
          <a:p>
            <a:pPr marL="609600" indent="-609600">
              <a:lnSpc>
                <a:spcPts val="1800"/>
              </a:lnSpc>
              <a:buFont typeface="Wingdings" pitchFamily="2" charset="2"/>
              <a:buNone/>
            </a:pPr>
            <a:r>
              <a:rPr lang="zh-CN" altLang="en-US" sz="2200" dirty="0">
                <a:latin typeface="宋体" pitchFamily="2" charset="-122"/>
              </a:rPr>
              <a:t>	 </a:t>
            </a:r>
            <a:r>
              <a:rPr lang="en-US" altLang="zh-CN" sz="2200" dirty="0">
                <a:latin typeface="宋体" pitchFamily="2" charset="-122"/>
              </a:rPr>
              <a:t>. . .</a:t>
            </a:r>
          </a:p>
          <a:p>
            <a:pPr marL="609600" indent="-609600">
              <a:lnSpc>
                <a:spcPts val="1800"/>
              </a:lnSpc>
              <a:buFont typeface="Wingdings" pitchFamily="2" charset="2"/>
              <a:buNone/>
            </a:pPr>
            <a:r>
              <a:rPr lang="en-US" altLang="zh-CN" sz="2200" dirty="0">
                <a:latin typeface="宋体" pitchFamily="2" charset="-122"/>
              </a:rPr>
              <a:t>	</a:t>
            </a:r>
            <a:r>
              <a:rPr lang="zh-CN" altLang="en-US" sz="2200" dirty="0">
                <a:latin typeface="宋体" pitchFamily="2" charset="-122"/>
              </a:rPr>
              <a:t>对数组操作</a:t>
            </a:r>
          </a:p>
          <a:p>
            <a:pPr marL="609600" indent="-609600">
              <a:lnSpc>
                <a:spcPts val="1800"/>
              </a:lnSpc>
              <a:buFont typeface="Wingdings" pitchFamily="2" charset="2"/>
              <a:buNone/>
            </a:pPr>
            <a:r>
              <a:rPr lang="zh-CN" altLang="en-US" sz="2200" dirty="0">
                <a:latin typeface="宋体" pitchFamily="2" charset="-122"/>
              </a:rPr>
              <a:t>	</a:t>
            </a:r>
            <a:r>
              <a:rPr lang="en-US" altLang="zh-CN" sz="2200" dirty="0">
                <a:latin typeface="宋体" pitchFamily="2" charset="-122"/>
              </a:rPr>
              <a:t>. . .</a:t>
            </a:r>
          </a:p>
          <a:p>
            <a:pPr marL="609600" indent="-609600">
              <a:lnSpc>
                <a:spcPts val="1800"/>
              </a:lnSpc>
              <a:buFont typeface="Wingdings" pitchFamily="2" charset="2"/>
              <a:buNone/>
            </a:pPr>
            <a:r>
              <a:rPr lang="en-US" altLang="zh-CN" sz="2200" dirty="0">
                <a:latin typeface="宋体" pitchFamily="2" charset="-122"/>
              </a:rPr>
              <a:t>	</a:t>
            </a:r>
            <a:r>
              <a:rPr lang="zh-CN" altLang="en-US" sz="2200" b="1" dirty="0">
                <a:solidFill>
                  <a:srgbClr val="990033"/>
                </a:solidFill>
                <a:latin typeface="宋体" pitchFamily="2" charset="-122"/>
              </a:rPr>
              <a:t>关闭文件</a:t>
            </a:r>
            <a:r>
              <a:rPr lang="zh-CN" altLang="en-US" sz="2200" dirty="0">
                <a:latin typeface="宋体" pitchFamily="2" charset="-122"/>
              </a:rPr>
              <a:t>       </a:t>
            </a:r>
            <a:r>
              <a:rPr lang="en-US" altLang="zh-CN" sz="2200" dirty="0">
                <a:latin typeface="宋体" pitchFamily="2" charset="-122"/>
              </a:rPr>
              <a:t>// don't do this; it duplicates code </a:t>
            </a:r>
          </a:p>
          <a:p>
            <a:pPr marL="609600" indent="-609600">
              <a:lnSpc>
                <a:spcPts val="1800"/>
              </a:lnSpc>
              <a:buFont typeface="Wingdings" pitchFamily="2" charset="2"/>
              <a:buNone/>
            </a:pPr>
            <a:r>
              <a:rPr lang="en-US" altLang="zh-CN" sz="2200" dirty="0">
                <a:latin typeface="宋体" pitchFamily="2" charset="-122"/>
              </a:rPr>
              <a:t>} catch (ArrayIndexOutOfBoundsException e) {</a:t>
            </a:r>
          </a:p>
          <a:p>
            <a:pPr marL="609600" indent="-609600">
              <a:lnSpc>
                <a:spcPts val="1800"/>
              </a:lnSpc>
              <a:buFont typeface="Wingdings" pitchFamily="2" charset="2"/>
              <a:buNone/>
            </a:pPr>
            <a:r>
              <a:rPr lang="en-US" altLang="zh-CN" sz="2200" b="1" dirty="0">
                <a:latin typeface="宋体" pitchFamily="2" charset="-122"/>
              </a:rPr>
              <a:t>	</a:t>
            </a:r>
            <a:r>
              <a:rPr lang="zh-CN" altLang="en-US" sz="2200" b="1" dirty="0">
                <a:solidFill>
                  <a:srgbClr val="990033"/>
                </a:solidFill>
                <a:latin typeface="宋体" pitchFamily="2" charset="-122"/>
              </a:rPr>
              <a:t>关闭文件</a:t>
            </a:r>
            <a:r>
              <a:rPr lang="zh-CN" altLang="en-US" sz="2200" dirty="0">
                <a:latin typeface="宋体" pitchFamily="2" charset="-122"/>
              </a:rPr>
              <a:t> </a:t>
            </a:r>
            <a:r>
              <a:rPr lang="en-US" altLang="zh-CN" sz="2200" dirty="0">
                <a:latin typeface="宋体" pitchFamily="2" charset="-122"/>
              </a:rPr>
              <a:t>// don't do this; it duplicates code </a:t>
            </a:r>
          </a:p>
          <a:p>
            <a:pPr marL="609600" indent="-609600">
              <a:lnSpc>
                <a:spcPts val="1800"/>
              </a:lnSpc>
              <a:buFont typeface="Wingdings" pitchFamily="2" charset="2"/>
              <a:buNone/>
            </a:pPr>
            <a:r>
              <a:rPr lang="en-US" altLang="zh-CN" sz="2200" dirty="0">
                <a:latin typeface="宋体" pitchFamily="2" charset="-122"/>
              </a:rPr>
              <a:t>    System.err.println("Caught ArrayIndexOutOfBoundsException: "</a:t>
            </a:r>
          </a:p>
          <a:p>
            <a:pPr marL="609600" indent="-609600">
              <a:lnSpc>
                <a:spcPts val="1800"/>
              </a:lnSpc>
              <a:buFont typeface="Wingdings" pitchFamily="2" charset="2"/>
              <a:buNone/>
            </a:pPr>
            <a:r>
              <a:rPr lang="en-US" altLang="zh-CN" sz="2200" dirty="0">
                <a:latin typeface="宋体" pitchFamily="2" charset="-122"/>
              </a:rPr>
              <a:t>                       + e.getMessage());</a:t>
            </a:r>
          </a:p>
          <a:p>
            <a:pPr marL="609600" indent="-609600">
              <a:lnSpc>
                <a:spcPts val="1800"/>
              </a:lnSpc>
              <a:buFont typeface="Wingdings" pitchFamily="2" charset="2"/>
              <a:buNone/>
            </a:pPr>
            <a:r>
              <a:rPr lang="en-US" altLang="zh-CN" sz="2200" dirty="0">
                <a:latin typeface="宋体" pitchFamily="2" charset="-122"/>
              </a:rPr>
              <a:t>} catch (IOException e) {</a:t>
            </a:r>
          </a:p>
          <a:p>
            <a:pPr marL="609600" indent="-609600">
              <a:lnSpc>
                <a:spcPts val="1800"/>
              </a:lnSpc>
              <a:buFont typeface="Wingdings" pitchFamily="2" charset="2"/>
              <a:buNone/>
            </a:pPr>
            <a:r>
              <a:rPr lang="en-US" altLang="zh-CN" sz="2200" dirty="0">
                <a:latin typeface="宋体" pitchFamily="2" charset="-122"/>
              </a:rPr>
              <a:t>    System.err.println("Caught IOException: " + e.getMessage());</a:t>
            </a:r>
          </a:p>
          <a:p>
            <a:pPr marL="609600" indent="-609600">
              <a:lnSpc>
                <a:spcPts val="1800"/>
              </a:lnSpc>
              <a:buFont typeface="Wingdings" pitchFamily="2" charset="2"/>
              <a:buNone/>
            </a:pPr>
            <a:r>
              <a:rPr lang="en-US" altLang="zh-CN" sz="2200" dirty="0">
                <a:latin typeface="宋体" pitchFamily="2" charset="-122"/>
              </a:rPr>
              <a:t>}</a:t>
            </a:r>
          </a:p>
          <a:p>
            <a:pPr marL="609600" indent="-609600">
              <a:lnSpc>
                <a:spcPts val="1800"/>
              </a:lnSpc>
              <a:buFont typeface="Wingdings" pitchFamily="2" charset="2"/>
              <a:buNone/>
            </a:pPr>
            <a:endParaRPr lang="en-US" altLang="zh-CN" sz="2200" dirty="0">
              <a:latin typeface="宋体" pitchFamily="2" charset="-122"/>
            </a:endParaRPr>
          </a:p>
          <a:p>
            <a:pPr marL="609600" indent="-609600">
              <a:lnSpc>
                <a:spcPts val="1800"/>
              </a:lnSpc>
              <a:buFont typeface="Wingdings" pitchFamily="2" charset="2"/>
              <a:buNone/>
            </a:pPr>
            <a:endParaRPr lang="en-US" altLang="zh-CN" sz="2200" dirty="0">
              <a:latin typeface="宋体" pitchFamily="2" charset="-122"/>
            </a:endParaRPr>
          </a:p>
          <a:p>
            <a:pPr marL="609600" indent="-609600">
              <a:lnSpc>
                <a:spcPts val="1800"/>
              </a:lnSpc>
              <a:buFont typeface="Wingdings" pitchFamily="2" charset="2"/>
              <a:buNone/>
            </a:pPr>
            <a:endParaRPr lang="en-US" altLang="zh-CN" sz="2800" dirty="0"/>
          </a:p>
          <a:p>
            <a:pPr marL="609600" indent="-609600">
              <a:lnSpc>
                <a:spcPts val="1800"/>
              </a:lnSpc>
              <a:buFont typeface="Wingdings" pitchFamily="2" charset="2"/>
              <a:buNone/>
            </a:pPr>
            <a:endParaRPr lang="en-US" altLang="zh-CN" sz="2800" dirty="0"/>
          </a:p>
        </p:txBody>
      </p:sp>
      <p:sp>
        <p:nvSpPr>
          <p:cNvPr id="27653" name="Text Box 1029"/>
          <p:cNvSpPr txBox="1">
            <a:spLocks noChangeArrowheads="1"/>
          </p:cNvSpPr>
          <p:nvPr/>
        </p:nvSpPr>
        <p:spPr bwMode="auto">
          <a:xfrm>
            <a:off x="0" y="1632248"/>
            <a:ext cx="990600" cy="457200"/>
          </a:xfrm>
          <a:prstGeom prst="rect">
            <a:avLst/>
          </a:prstGeom>
          <a:noFill/>
          <a:ln w="9525">
            <a:noFill/>
            <a:miter lim="800000"/>
            <a:headEnd/>
            <a:tailEnd/>
          </a:ln>
          <a:effectLst/>
        </p:spPr>
        <p:txBody>
          <a:bodyPr>
            <a:spAutoFit/>
          </a:bodyPr>
          <a:lstStyle/>
          <a:p>
            <a:pPr>
              <a:spcBef>
                <a:spcPct val="50000"/>
              </a:spcBef>
            </a:pPr>
            <a:r>
              <a:rPr lang="zh-CN" altLang="en-US" b="1"/>
              <a:t>例子：</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1027"/>
          <p:cNvSpPr>
            <a:spLocks noGrp="1" noChangeArrowheads="1"/>
          </p:cNvSpPr>
          <p:nvPr>
            <p:ph type="body" idx="1"/>
          </p:nvPr>
        </p:nvSpPr>
        <p:spPr>
          <a:xfrm>
            <a:off x="395536" y="572616"/>
            <a:ext cx="9144000" cy="4800600"/>
          </a:xfrm>
        </p:spPr>
        <p:txBody>
          <a:bodyPr/>
          <a:lstStyle/>
          <a:p>
            <a:pPr marL="609600" indent="-609600">
              <a:lnSpc>
                <a:spcPct val="70000"/>
              </a:lnSpc>
              <a:buFont typeface="Wingdings" pitchFamily="2" charset="2"/>
              <a:buNone/>
            </a:pPr>
            <a:r>
              <a:rPr lang="en-US" altLang="zh-CN" sz="2200" dirty="0" smtClean="0">
                <a:latin typeface="宋体" pitchFamily="2" charset="-122"/>
              </a:rPr>
              <a:t>try </a:t>
            </a:r>
            <a:r>
              <a:rPr lang="en-US" altLang="zh-CN" sz="2200" dirty="0">
                <a:latin typeface="宋体" pitchFamily="2" charset="-122"/>
              </a:rPr>
              <a:t>{</a:t>
            </a:r>
          </a:p>
          <a:p>
            <a:pPr marL="609600" indent="-609600">
              <a:lnSpc>
                <a:spcPct val="70000"/>
              </a:lnSpc>
              <a:buFont typeface="Wingdings" pitchFamily="2" charset="2"/>
              <a:buNone/>
            </a:pPr>
            <a:r>
              <a:rPr lang="en-US" altLang="zh-CN" sz="2200" dirty="0">
                <a:latin typeface="宋体" pitchFamily="2" charset="-122"/>
              </a:rPr>
              <a:t>     </a:t>
            </a:r>
            <a:r>
              <a:rPr lang="zh-CN" altLang="en-US" sz="2200" dirty="0">
                <a:latin typeface="宋体" pitchFamily="2" charset="-122"/>
              </a:rPr>
              <a:t>打开文件</a:t>
            </a:r>
          </a:p>
          <a:p>
            <a:pPr marL="609600" indent="-609600">
              <a:lnSpc>
                <a:spcPct val="70000"/>
              </a:lnSpc>
              <a:buFont typeface="Wingdings" pitchFamily="2" charset="2"/>
              <a:buNone/>
            </a:pPr>
            <a:r>
              <a:rPr lang="zh-CN" altLang="en-US" sz="2200" dirty="0">
                <a:latin typeface="宋体" pitchFamily="2" charset="-122"/>
              </a:rPr>
              <a:t>	 </a:t>
            </a:r>
            <a:r>
              <a:rPr lang="en-US" altLang="zh-CN" sz="2200" dirty="0">
                <a:latin typeface="宋体" pitchFamily="2" charset="-122"/>
              </a:rPr>
              <a:t>. . .</a:t>
            </a:r>
          </a:p>
          <a:p>
            <a:pPr marL="609600" indent="-609600">
              <a:lnSpc>
                <a:spcPct val="70000"/>
              </a:lnSpc>
              <a:buFont typeface="Wingdings" pitchFamily="2" charset="2"/>
              <a:buNone/>
            </a:pPr>
            <a:r>
              <a:rPr lang="en-US" altLang="zh-CN" sz="2200" dirty="0">
                <a:latin typeface="宋体" pitchFamily="2" charset="-122"/>
              </a:rPr>
              <a:t>	</a:t>
            </a:r>
            <a:r>
              <a:rPr lang="zh-CN" altLang="en-US" sz="2200" dirty="0">
                <a:latin typeface="宋体" pitchFamily="2" charset="-122"/>
              </a:rPr>
              <a:t>对数组操作</a:t>
            </a:r>
          </a:p>
          <a:p>
            <a:pPr marL="609600" indent="-609600">
              <a:lnSpc>
                <a:spcPct val="70000"/>
              </a:lnSpc>
              <a:buFont typeface="Wingdings" pitchFamily="2" charset="2"/>
              <a:buNone/>
            </a:pPr>
            <a:r>
              <a:rPr lang="zh-CN" altLang="en-US" sz="2200" dirty="0">
                <a:latin typeface="宋体" pitchFamily="2" charset="-122"/>
              </a:rPr>
              <a:t>	</a:t>
            </a:r>
            <a:r>
              <a:rPr lang="en-US" altLang="zh-CN" sz="2200" dirty="0">
                <a:latin typeface="宋体" pitchFamily="2" charset="-122"/>
              </a:rPr>
              <a:t>. . .</a:t>
            </a:r>
          </a:p>
          <a:p>
            <a:pPr marL="609600" indent="-609600">
              <a:lnSpc>
                <a:spcPct val="70000"/>
              </a:lnSpc>
              <a:buFont typeface="Wingdings" pitchFamily="2" charset="2"/>
              <a:buNone/>
            </a:pPr>
            <a:r>
              <a:rPr lang="en-US" altLang="zh-CN" sz="2200" dirty="0">
                <a:latin typeface="宋体" pitchFamily="2" charset="-122"/>
              </a:rPr>
              <a:t>} catch (ArrayIndexOutOfBoundsException e) {</a:t>
            </a:r>
          </a:p>
          <a:p>
            <a:pPr marL="609600" indent="-609600">
              <a:lnSpc>
                <a:spcPct val="70000"/>
              </a:lnSpc>
              <a:buFont typeface="Wingdings" pitchFamily="2" charset="2"/>
              <a:buNone/>
            </a:pPr>
            <a:r>
              <a:rPr lang="en-US" altLang="zh-CN" sz="2200" dirty="0">
                <a:latin typeface="宋体" pitchFamily="2" charset="-122"/>
              </a:rPr>
              <a:t>	</a:t>
            </a:r>
            <a:r>
              <a:rPr lang="en-US" altLang="zh-CN" sz="2200" i="1" dirty="0">
                <a:latin typeface="宋体" pitchFamily="2" charset="-122"/>
              </a:rPr>
              <a:t>do something</a:t>
            </a:r>
          </a:p>
          <a:p>
            <a:pPr marL="609600" indent="-609600">
              <a:lnSpc>
                <a:spcPct val="70000"/>
              </a:lnSpc>
              <a:buFont typeface="Wingdings" pitchFamily="2" charset="2"/>
              <a:buNone/>
            </a:pPr>
            <a:r>
              <a:rPr lang="en-US" altLang="zh-CN" sz="2200" dirty="0">
                <a:latin typeface="宋体" pitchFamily="2" charset="-122"/>
              </a:rPr>
              <a:t>} catch (IOException e) {</a:t>
            </a:r>
          </a:p>
          <a:p>
            <a:pPr marL="609600" indent="-609600">
              <a:lnSpc>
                <a:spcPct val="70000"/>
              </a:lnSpc>
              <a:buFont typeface="Wingdings" pitchFamily="2" charset="2"/>
              <a:buNone/>
            </a:pPr>
            <a:r>
              <a:rPr lang="en-US" altLang="zh-CN" sz="2200" dirty="0">
                <a:latin typeface="宋体" pitchFamily="2" charset="-122"/>
              </a:rPr>
              <a:t>    </a:t>
            </a:r>
            <a:r>
              <a:rPr lang="en-US" altLang="zh-CN" sz="2200" i="1" dirty="0">
                <a:latin typeface="宋体" pitchFamily="2" charset="-122"/>
              </a:rPr>
              <a:t>do something</a:t>
            </a:r>
          </a:p>
          <a:p>
            <a:pPr marL="609600" indent="-609600">
              <a:lnSpc>
                <a:spcPct val="70000"/>
              </a:lnSpc>
              <a:buFont typeface="Wingdings" pitchFamily="2" charset="2"/>
              <a:buNone/>
            </a:pPr>
            <a:r>
              <a:rPr lang="en-US" altLang="zh-CN" sz="2200" dirty="0">
                <a:latin typeface="宋体" pitchFamily="2" charset="-122"/>
              </a:rPr>
              <a:t>}finally{</a:t>
            </a:r>
          </a:p>
          <a:p>
            <a:pPr marL="609600" indent="-609600">
              <a:lnSpc>
                <a:spcPct val="70000"/>
              </a:lnSpc>
              <a:buFont typeface="Wingdings" pitchFamily="2" charset="2"/>
              <a:buNone/>
            </a:pPr>
            <a:r>
              <a:rPr lang="en-US" altLang="zh-CN" sz="2200" dirty="0">
                <a:latin typeface="宋体" pitchFamily="2" charset="-122"/>
              </a:rPr>
              <a:t>	if(</a:t>
            </a:r>
            <a:r>
              <a:rPr lang="zh-CN" altLang="en-US" sz="2200" dirty="0">
                <a:latin typeface="宋体" pitchFamily="2" charset="-122"/>
              </a:rPr>
              <a:t>文件打开</a:t>
            </a:r>
            <a:r>
              <a:rPr lang="en-US" altLang="zh-CN" sz="2200" dirty="0">
                <a:latin typeface="宋体" pitchFamily="2" charset="-122"/>
              </a:rPr>
              <a:t>)  </a:t>
            </a:r>
            <a:r>
              <a:rPr lang="zh-CN" altLang="en-US" sz="2200" b="1" dirty="0">
                <a:solidFill>
                  <a:srgbClr val="990033"/>
                </a:solidFill>
                <a:latin typeface="宋体" pitchFamily="2" charset="-122"/>
              </a:rPr>
              <a:t>关闭文件</a:t>
            </a:r>
            <a:r>
              <a:rPr lang="zh-CN" altLang="en-US" sz="2200" dirty="0">
                <a:latin typeface="宋体" pitchFamily="2" charset="-122"/>
              </a:rPr>
              <a:t> </a:t>
            </a:r>
            <a:endParaRPr lang="zh-CN" altLang="en-US" sz="2200" i="1" dirty="0">
              <a:latin typeface="宋体" pitchFamily="2" charset="-122"/>
            </a:endParaRPr>
          </a:p>
          <a:p>
            <a:pPr marL="609600" indent="-609600">
              <a:lnSpc>
                <a:spcPct val="70000"/>
              </a:lnSpc>
              <a:buFont typeface="Wingdings" pitchFamily="2" charset="2"/>
              <a:buNone/>
            </a:pPr>
            <a:r>
              <a:rPr lang="zh-CN" altLang="en-US" sz="2200" dirty="0">
                <a:latin typeface="宋体" pitchFamily="2" charset="-122"/>
              </a:rPr>
              <a:t>	</a:t>
            </a:r>
            <a:r>
              <a:rPr lang="en-US" altLang="zh-CN" sz="2200" dirty="0">
                <a:latin typeface="宋体" pitchFamily="2" charset="-122"/>
              </a:rPr>
              <a:t>else	</a:t>
            </a:r>
            <a:r>
              <a:rPr lang="en-US" altLang="zh-CN" sz="2200" i="1" dirty="0">
                <a:latin typeface="宋体" pitchFamily="2" charset="-122"/>
              </a:rPr>
              <a:t>do </a:t>
            </a:r>
            <a:r>
              <a:rPr lang="en-US" altLang="zh-CN" sz="2200" i="1" dirty="0" smtClean="0">
                <a:latin typeface="宋体" pitchFamily="2" charset="-122"/>
              </a:rPr>
              <a:t>something</a:t>
            </a:r>
            <a:endParaRPr lang="en-US" altLang="zh-CN" sz="2200" dirty="0">
              <a:latin typeface="宋体" pitchFamily="2" charset="-122"/>
            </a:endParaRPr>
          </a:p>
          <a:p>
            <a:pPr marL="609600" indent="-609600">
              <a:lnSpc>
                <a:spcPct val="70000"/>
              </a:lnSpc>
              <a:buFont typeface="Wingdings" pitchFamily="2" charset="2"/>
              <a:buNone/>
            </a:pPr>
            <a:r>
              <a:rPr lang="en-US" altLang="zh-CN" sz="2200" dirty="0">
                <a:latin typeface="宋体" pitchFamily="2" charset="-122"/>
              </a:rPr>
              <a:t>}</a:t>
            </a:r>
          </a:p>
          <a:p>
            <a:pPr marL="609600" indent="-609600">
              <a:buFont typeface="Wingdings" pitchFamily="2" charset="2"/>
              <a:buNone/>
            </a:pPr>
            <a:endParaRPr lang="en-US" altLang="zh-CN" sz="2000" dirty="0">
              <a:latin typeface="宋体" pitchFamily="2" charset="-122"/>
            </a:endParaRPr>
          </a:p>
          <a:p>
            <a:pPr marL="609600" indent="-609600">
              <a:buFont typeface="Wingdings" pitchFamily="2" charset="2"/>
              <a:buNone/>
            </a:pPr>
            <a:endParaRPr lang="en-US" altLang="zh-CN" sz="2000" dirty="0">
              <a:latin typeface="宋体" pitchFamily="2" charset="-122"/>
            </a:endParaRPr>
          </a:p>
          <a:p>
            <a:pPr marL="609600" indent="-609600">
              <a:buFont typeface="Wingdings" pitchFamily="2" charset="2"/>
              <a:buNone/>
            </a:pPr>
            <a:endParaRPr lang="en-US" altLang="zh-CN" sz="2800" dirty="0"/>
          </a:p>
          <a:p>
            <a:pPr marL="609600" indent="-609600">
              <a:buFont typeface="Wingdings" pitchFamily="2" charset="2"/>
              <a:buNone/>
            </a:pPr>
            <a:endParaRPr lang="en-US" altLang="zh-CN" sz="2800" dirty="0"/>
          </a:p>
        </p:txBody>
      </p:sp>
      <p:sp>
        <p:nvSpPr>
          <p:cNvPr id="7" name="标题 6"/>
          <p:cNvSpPr>
            <a:spLocks noGrp="1"/>
          </p:cNvSpPr>
          <p:nvPr>
            <p:ph type="title"/>
          </p:nvPr>
        </p:nvSpPr>
        <p:spPr/>
        <p:txBody>
          <a:bodyPr/>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228600" y="1628800"/>
            <a:ext cx="8610600" cy="4800600"/>
          </a:xfrm>
        </p:spPr>
        <p:txBody>
          <a:bodyPr/>
          <a:lstStyle/>
          <a:p>
            <a:pPr marL="609600" indent="-609600">
              <a:buFont typeface="Wingdings" pitchFamily="2" charset="2"/>
              <a:buNone/>
            </a:pPr>
            <a:r>
              <a:rPr lang="zh-CN" altLang="en-US" sz="2400" dirty="0">
                <a:latin typeface="宋体" pitchFamily="2" charset="-122"/>
              </a:rPr>
              <a:t>	在有些情况下，一个方法并不需要处理它所生成</a:t>
            </a:r>
            <a:r>
              <a:rPr lang="zh-CN" altLang="en-US" sz="2400" dirty="0" smtClean="0">
                <a:latin typeface="宋体" pitchFamily="2" charset="-122"/>
              </a:rPr>
              <a:t>的异常，</a:t>
            </a:r>
            <a:r>
              <a:rPr lang="zh-CN" altLang="en-US" sz="2400" dirty="0">
                <a:latin typeface="宋体" pitchFamily="2" charset="-122"/>
              </a:rPr>
              <a:t>而是向上传递，由调用它的方法来处理</a:t>
            </a:r>
            <a:r>
              <a:rPr lang="zh-CN" altLang="en-US" sz="2400" dirty="0" smtClean="0">
                <a:latin typeface="宋体" pitchFamily="2" charset="-122"/>
              </a:rPr>
              <a:t>这些异常，</a:t>
            </a:r>
            <a:r>
              <a:rPr lang="zh-CN" altLang="en-US" sz="2400" dirty="0">
                <a:latin typeface="宋体" pitchFamily="2" charset="-122"/>
              </a:rPr>
              <a:t>这时就要用到</a:t>
            </a:r>
            <a:r>
              <a:rPr lang="en-US" altLang="zh-CN" sz="2400" dirty="0">
                <a:latin typeface="Times New Roman" pitchFamily="18" charset="0"/>
                <a:cs typeface="Times New Roman" pitchFamily="18" charset="0"/>
              </a:rPr>
              <a:t>throws</a:t>
            </a:r>
            <a:r>
              <a:rPr lang="zh-CN" altLang="en-US" sz="2400" dirty="0">
                <a:latin typeface="宋体" pitchFamily="2" charset="-122"/>
              </a:rPr>
              <a:t>子句</a:t>
            </a:r>
            <a:r>
              <a:rPr lang="zh-CN" altLang="en-US" sz="2400" dirty="0" smtClean="0">
                <a:latin typeface="宋体" pitchFamily="2" charset="-122"/>
              </a:rPr>
              <a:t>。</a:t>
            </a:r>
            <a:endParaRPr lang="zh-CN" altLang="en-US" sz="2400" dirty="0">
              <a:latin typeface="宋体" pitchFamily="2" charset="-122"/>
            </a:endParaRPr>
          </a:p>
          <a:p>
            <a:pPr marL="609600" indent="-609600"/>
            <a:r>
              <a:rPr lang="zh-CN" altLang="en-US" sz="2400" dirty="0">
                <a:latin typeface="宋体" pitchFamily="2" charset="-122"/>
              </a:rPr>
              <a:t>它包含在方法的声明中，其格式如下：</a:t>
            </a:r>
          </a:p>
          <a:p>
            <a:pPr marL="609600" indent="-609600" algn="ctr">
              <a:buFont typeface="Wingdings" pitchFamily="2" charset="2"/>
              <a:buNone/>
            </a:pPr>
            <a:r>
              <a:rPr lang="en-US" altLang="zh-CN" sz="2400" dirty="0">
                <a:latin typeface="Times New Roman" pitchFamily="18" charset="0"/>
                <a:cs typeface="Times New Roman" pitchFamily="18" charset="0"/>
              </a:rPr>
              <a:t>returnType methodName([paramlist]) throws exceptionList</a:t>
            </a:r>
          </a:p>
          <a:p>
            <a:pPr marL="609600" indent="-609600">
              <a:buFont typeface="Wingdings" pitchFamily="2" charset="2"/>
              <a:buNone/>
            </a:pPr>
            <a:endParaRPr lang="en-US" altLang="zh-CN" sz="2400" dirty="0">
              <a:latin typeface="宋体" pitchFamily="2" charset="-122"/>
            </a:endParaRPr>
          </a:p>
          <a:p>
            <a:pPr marL="609600" indent="-609600"/>
            <a:r>
              <a:rPr lang="en-US" altLang="zh-CN" sz="2400" dirty="0">
                <a:latin typeface="Times New Roman" pitchFamily="18" charset="0"/>
                <a:cs typeface="Times New Roman" pitchFamily="18" charset="0"/>
              </a:rPr>
              <a:t>ExceptionList</a:t>
            </a:r>
            <a:r>
              <a:rPr lang="zh-CN" altLang="en-US" sz="2400" dirty="0">
                <a:latin typeface="宋体" pitchFamily="2" charset="-122"/>
              </a:rPr>
              <a:t>中可以声明多</a:t>
            </a:r>
            <a:r>
              <a:rPr lang="zh-CN" altLang="en-US" sz="2400" dirty="0" smtClean="0">
                <a:latin typeface="宋体" pitchFamily="2" charset="-122"/>
              </a:rPr>
              <a:t>个异常，</a:t>
            </a:r>
            <a:r>
              <a:rPr lang="zh-CN" altLang="en-US" sz="2400" dirty="0">
                <a:latin typeface="宋体" pitchFamily="2" charset="-122"/>
              </a:rPr>
              <a:t>用逗号隔开。</a:t>
            </a:r>
          </a:p>
          <a:p>
            <a:pPr marL="609600" indent="-609600">
              <a:buFont typeface="Wingdings" pitchFamily="2" charset="2"/>
              <a:buNone/>
            </a:pPr>
            <a:endParaRPr lang="en-US" altLang="zh-CN" dirty="0"/>
          </a:p>
          <a:p>
            <a:pPr marL="609600" indent="-609600">
              <a:buFont typeface="Wingdings" pitchFamily="2" charset="2"/>
              <a:buNone/>
            </a:pPr>
            <a:endParaRPr lang="en-US" altLang="zh-CN" dirty="0"/>
          </a:p>
        </p:txBody>
      </p:sp>
      <p:sp>
        <p:nvSpPr>
          <p:cNvPr id="7" name="标题 6"/>
          <p:cNvSpPr>
            <a:spLocks noGrp="1"/>
          </p:cNvSpPr>
          <p:nvPr>
            <p:ph type="title"/>
          </p:nvPr>
        </p:nvSpPr>
        <p:spPr>
          <a:xfrm>
            <a:off x="459432" y="476672"/>
            <a:ext cx="8001000" cy="857250"/>
          </a:xfrm>
        </p:spPr>
        <p:txBody>
          <a:bodyPr/>
          <a:lstStyle/>
          <a:p>
            <a:r>
              <a:rPr lang="zh-CN" altLang="en-US" b="1" dirty="0" smtClean="0">
                <a:solidFill>
                  <a:schemeClr val="tx1"/>
                </a:solidFill>
                <a:latin typeface="宋体" pitchFamily="2" charset="-122"/>
              </a:rPr>
              <a:t>声明异常</a:t>
            </a:r>
            <a:endParaRPr lang="zh-CN" altLang="en-US"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b="1" dirty="0" smtClean="0">
                <a:solidFill>
                  <a:schemeClr val="tx1"/>
                </a:solidFill>
                <a:latin typeface="宋体" pitchFamily="2" charset="-122"/>
              </a:rPr>
              <a:t>声明异常</a:t>
            </a:r>
            <a:endParaRPr lang="zh-CN" altLang="en-US" dirty="0"/>
          </a:p>
        </p:txBody>
      </p:sp>
      <p:sp>
        <p:nvSpPr>
          <p:cNvPr id="21507" name="Rectangle 3"/>
          <p:cNvSpPr>
            <a:spLocks noGrp="1" noChangeArrowheads="1"/>
          </p:cNvSpPr>
          <p:nvPr>
            <p:ph idx="1"/>
          </p:nvPr>
        </p:nvSpPr>
        <p:spPr/>
        <p:txBody>
          <a:bodyPr/>
          <a:lstStyle/>
          <a:p>
            <a:pPr marL="609600" indent="-609600">
              <a:buFont typeface="Wingdings" pitchFamily="2" charset="2"/>
              <a:buNone/>
            </a:pPr>
            <a:r>
              <a:rPr lang="zh-CN" altLang="en-US" sz="2800" b="1" dirty="0">
                <a:solidFill>
                  <a:srgbClr val="990033"/>
                </a:solidFill>
                <a:latin typeface="BIEGHZ+Palatino-Roman"/>
              </a:rPr>
              <a:t>说明：</a:t>
            </a:r>
            <a:endParaRPr lang="zh-CN" altLang="en-US" dirty="0">
              <a:solidFill>
                <a:srgbClr val="990033"/>
              </a:solidFill>
            </a:endParaRPr>
          </a:p>
          <a:p>
            <a:pPr marL="609600" indent="-609600"/>
            <a:r>
              <a:rPr lang="zh-CN" altLang="en-US" sz="2800" dirty="0"/>
              <a:t>如果异常没有在当前的</a:t>
            </a:r>
            <a:r>
              <a:rPr lang="en-US" altLang="zh-CN" sz="2800" dirty="0">
                <a:latin typeface="Courier"/>
              </a:rPr>
              <a:t>try </a:t>
            </a:r>
            <a:r>
              <a:rPr lang="en-US" altLang="zh-CN" sz="2800" dirty="0">
                <a:latin typeface="BIEGHZ+Palatino-Roman"/>
              </a:rPr>
              <a:t>–</a:t>
            </a:r>
            <a:r>
              <a:rPr lang="en-US" altLang="zh-CN" sz="2800" dirty="0">
                <a:latin typeface="Courier"/>
              </a:rPr>
              <a:t>catch</a:t>
            </a:r>
            <a:r>
              <a:rPr lang="zh-CN" altLang="en-US" sz="2800" dirty="0">
                <a:latin typeface="Courier"/>
              </a:rPr>
              <a:t>中处理，则它必须将异常抛弃给上一级调用它的方法。</a:t>
            </a:r>
          </a:p>
          <a:p>
            <a:pPr marL="609600" indent="-609600">
              <a:buFont typeface="Wingdings" pitchFamily="2" charset="2"/>
              <a:buNone/>
            </a:pPr>
            <a:endParaRPr lang="zh-CN" altLang="en-US" sz="2800" dirty="0">
              <a:latin typeface="Courier"/>
            </a:endParaRPr>
          </a:p>
          <a:p>
            <a:pPr marL="609600" indent="-609600"/>
            <a:r>
              <a:rPr lang="zh-CN" altLang="en-US" sz="2800" dirty="0">
                <a:latin typeface="Courier"/>
              </a:rPr>
              <a:t>如果异常被回溯到</a:t>
            </a:r>
            <a:r>
              <a:rPr lang="en-US" altLang="zh-CN" sz="2800" dirty="0">
                <a:latin typeface="Courier"/>
              </a:rPr>
              <a:t>main</a:t>
            </a:r>
            <a:r>
              <a:rPr lang="zh-CN" altLang="en-US" sz="2800" dirty="0">
                <a:latin typeface="Courier"/>
              </a:rPr>
              <a:t>方法仍旧没有处理，则程序将出错，终止运行。</a:t>
            </a:r>
          </a:p>
          <a:p>
            <a:pPr marL="609600" indent="-609600">
              <a:buFont typeface="Wingdings" pitchFamily="2" charset="2"/>
              <a:buNone/>
            </a:pPr>
            <a:endParaRPr lang="zh-CN" altLang="en-US" sz="2800" b="1" dirty="0">
              <a:latin typeface="Courier"/>
            </a:endParaRPr>
          </a:p>
          <a:p>
            <a:pPr marL="609600" indent="-609600">
              <a:buFont typeface="Wingdings" pitchFamily="2" charset="2"/>
              <a:buNone/>
            </a:pPr>
            <a:r>
              <a:rPr lang="en-US" altLang="zh-CN" sz="2800" b="1" dirty="0">
                <a:latin typeface="Courier"/>
              </a:rPr>
              <a:t>[</a:t>
            </a:r>
            <a:r>
              <a:rPr lang="zh-CN" altLang="en-US" sz="2800" b="1" dirty="0">
                <a:latin typeface="Courier"/>
              </a:rPr>
              <a:t>注意］：对非运行</a:t>
            </a:r>
            <a:r>
              <a:rPr lang="zh-CN" altLang="en-US" sz="2800" b="1" dirty="0" smtClean="0">
                <a:latin typeface="Courier"/>
              </a:rPr>
              <a:t>时异常，</a:t>
            </a:r>
            <a:r>
              <a:rPr lang="zh-CN" altLang="en-US" sz="2800" b="1" dirty="0">
                <a:latin typeface="Courier"/>
              </a:rPr>
              <a:t>必须捕获或声明。</a:t>
            </a:r>
          </a:p>
          <a:p>
            <a:pPr marL="609600" indent="-609600">
              <a:buFont typeface="Wingdings" pitchFamily="2" charset="2"/>
              <a:buNone/>
            </a:pPr>
            <a:r>
              <a:rPr lang="zh-CN" altLang="en-US" sz="2800" b="1" dirty="0">
                <a:latin typeface="Times New Roman" pitchFamily="18" charset="0"/>
                <a:cs typeface="Times New Roman" pitchFamily="18" charset="0"/>
              </a:rPr>
              <a:t>　</a:t>
            </a:r>
          </a:p>
          <a:p>
            <a:pPr marL="609600" indent="-609600">
              <a:buFont typeface="Wingdings" pitchFamily="2" charset="2"/>
              <a:buNone/>
            </a:pPr>
            <a:endParaRPr lang="en-US" altLang="zh-CN" sz="2800" dirty="0">
              <a:latin typeface="Courier"/>
            </a:endParaRPr>
          </a:p>
        </p:txBody>
      </p:sp>
      <p:sp>
        <p:nvSpPr>
          <p:cNvPr id="6" name="灯片编号占位符 5"/>
          <p:cNvSpPr>
            <a:spLocks noGrp="1"/>
          </p:cNvSpPr>
          <p:nvPr>
            <p:ph type="sldNum" sz="quarter" idx="4294967295"/>
          </p:nvPr>
        </p:nvSpPr>
        <p:spPr>
          <a:xfrm>
            <a:off x="7239000" y="6324600"/>
            <a:ext cx="1905000" cy="457200"/>
          </a:xfrm>
          <a:prstGeom prst="rect">
            <a:avLst/>
          </a:prstGeom>
        </p:spPr>
        <p:txBody>
          <a:bodyPr/>
          <a:lstStyle/>
          <a:p>
            <a:fld id="{C7EBD6AF-2822-4B82-BA44-6953C1E6326B}" type="slidenum">
              <a:rPr lang="en-US" altLang="zh-CN"/>
              <a:pPr/>
              <a:t>49</a:t>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304800" y="1556792"/>
            <a:ext cx="8839200" cy="4800600"/>
          </a:xfrm>
        </p:spPr>
        <p:txBody>
          <a:bodyPr/>
          <a:lstStyle/>
          <a:p>
            <a:pPr marL="609600" indent="-609600">
              <a:buFont typeface="Wingdings" pitchFamily="2" charset="2"/>
              <a:buNone/>
            </a:pPr>
            <a:r>
              <a:rPr lang="en-US" altLang="zh-CN" sz="2400" b="1" dirty="0">
                <a:latin typeface="宋体" pitchFamily="2" charset="-122"/>
              </a:rPr>
              <a:t>	</a:t>
            </a:r>
            <a:r>
              <a:rPr lang="zh-CN" altLang="en-US" sz="2400" dirty="0">
                <a:latin typeface="宋体" pitchFamily="2" charset="-122"/>
              </a:rPr>
              <a:t>在捕获一</a:t>
            </a:r>
            <a:r>
              <a:rPr lang="zh-CN" altLang="en-US" sz="2400" dirty="0" smtClean="0">
                <a:latin typeface="宋体" pitchFamily="2" charset="-122"/>
              </a:rPr>
              <a:t>个异常前</a:t>
            </a:r>
            <a:r>
              <a:rPr lang="zh-CN" altLang="en-US" sz="2400" dirty="0">
                <a:latin typeface="宋体" pitchFamily="2" charset="-122"/>
              </a:rPr>
              <a:t>，必须有一段</a:t>
            </a:r>
            <a:r>
              <a:rPr lang="en-US" altLang="zh-CN" sz="2400" dirty="0">
                <a:latin typeface="Times New Roman" pitchFamily="18" charset="0"/>
                <a:cs typeface="Times New Roman" pitchFamily="18" charset="0"/>
              </a:rPr>
              <a:t>Java</a:t>
            </a:r>
            <a:r>
              <a:rPr lang="zh-CN" altLang="en-US" sz="2400" dirty="0">
                <a:latin typeface="宋体" pitchFamily="2" charset="-122"/>
              </a:rPr>
              <a:t>代码生成一</a:t>
            </a:r>
            <a:r>
              <a:rPr lang="zh-CN" altLang="en-US" sz="2400" dirty="0" smtClean="0">
                <a:latin typeface="宋体" pitchFamily="2" charset="-122"/>
              </a:rPr>
              <a:t>个异常对象</a:t>
            </a:r>
            <a:r>
              <a:rPr lang="zh-CN" altLang="en-US" sz="2400" dirty="0">
                <a:latin typeface="宋体" pitchFamily="2" charset="-122"/>
              </a:rPr>
              <a:t>并把它抛弃。</a:t>
            </a:r>
            <a:r>
              <a:rPr lang="zh-CN" altLang="en-US" sz="2400" dirty="0" smtClean="0">
                <a:latin typeface="宋体" pitchFamily="2" charset="-122"/>
              </a:rPr>
              <a:t>抛弃异常的</a:t>
            </a:r>
            <a:r>
              <a:rPr lang="zh-CN" altLang="en-US" sz="2400" dirty="0">
                <a:latin typeface="宋体" pitchFamily="2" charset="-122"/>
              </a:rPr>
              <a:t>代码可以是：</a:t>
            </a:r>
          </a:p>
          <a:p>
            <a:pPr marL="609600" indent="-609600"/>
            <a:r>
              <a:rPr lang="zh-CN" altLang="en-US" sz="2400" b="1" dirty="0">
                <a:latin typeface="宋体" pitchFamily="2" charset="-122"/>
              </a:rPr>
              <a:t>	</a:t>
            </a:r>
            <a:r>
              <a:rPr lang="zh-CN" altLang="en-US" sz="2400" dirty="0">
                <a:latin typeface="宋体" pitchFamily="2" charset="-122"/>
              </a:rPr>
              <a:t>你的</a:t>
            </a:r>
            <a:r>
              <a:rPr lang="en-US" altLang="zh-CN" sz="2400" dirty="0">
                <a:latin typeface="Times New Roman" pitchFamily="18" charset="0"/>
                <a:cs typeface="Times New Roman" pitchFamily="18" charset="0"/>
              </a:rPr>
              <a:t>Java</a:t>
            </a:r>
            <a:r>
              <a:rPr lang="zh-CN" altLang="en-US" sz="2400" dirty="0">
                <a:latin typeface="宋体" pitchFamily="2" charset="-122"/>
              </a:rPr>
              <a:t>程序</a:t>
            </a:r>
          </a:p>
          <a:p>
            <a:pPr marL="609600" indent="-609600"/>
            <a:r>
              <a:rPr lang="zh-CN" altLang="en-US" sz="2400" dirty="0">
                <a:latin typeface="Times New Roman" pitchFamily="18" charset="0"/>
                <a:cs typeface="Times New Roman" pitchFamily="18" charset="0"/>
              </a:rPr>
              <a:t>	</a:t>
            </a:r>
            <a:r>
              <a:rPr lang="en-US" altLang="zh-CN" sz="2400" dirty="0">
                <a:latin typeface="Times New Roman" pitchFamily="18" charset="0"/>
                <a:cs typeface="Times New Roman" pitchFamily="18" charset="0"/>
              </a:rPr>
              <a:t>JDK</a:t>
            </a:r>
            <a:r>
              <a:rPr lang="zh-CN" altLang="en-US" sz="2400" dirty="0">
                <a:latin typeface="宋体" pitchFamily="2" charset="-122"/>
              </a:rPr>
              <a:t>中某个类，</a:t>
            </a:r>
          </a:p>
          <a:p>
            <a:pPr marL="609600" indent="-609600"/>
            <a:r>
              <a:rPr lang="zh-CN" altLang="en-US" sz="2400" dirty="0">
                <a:latin typeface="Times New Roman" pitchFamily="18" charset="0"/>
                <a:cs typeface="Times New Roman" pitchFamily="18" charset="0"/>
              </a:rPr>
              <a:t>	</a:t>
            </a:r>
            <a:r>
              <a:rPr lang="en-US" altLang="zh-CN" sz="2400" dirty="0">
                <a:latin typeface="Times New Roman" pitchFamily="18" charset="0"/>
                <a:cs typeface="Times New Roman" pitchFamily="18" charset="0"/>
              </a:rPr>
              <a:t>Java</a:t>
            </a:r>
            <a:r>
              <a:rPr lang="zh-CN" altLang="en-US" sz="2400" dirty="0">
                <a:latin typeface="宋体" pitchFamily="2" charset="-122"/>
              </a:rPr>
              <a:t>运行时系统。</a:t>
            </a:r>
          </a:p>
          <a:p>
            <a:pPr marL="609600" indent="-609600">
              <a:buFont typeface="Wingdings" pitchFamily="2" charset="2"/>
              <a:buNone/>
            </a:pPr>
            <a:r>
              <a:rPr lang="zh-CN" altLang="en-US" sz="2400" dirty="0" smtClean="0">
                <a:latin typeface="宋体" pitchFamily="2" charset="-122"/>
              </a:rPr>
              <a:t>它们</a:t>
            </a:r>
            <a:r>
              <a:rPr lang="zh-CN" altLang="en-US" sz="2400" dirty="0">
                <a:latin typeface="宋体" pitchFamily="2" charset="-122"/>
              </a:rPr>
              <a:t>都是通过</a:t>
            </a:r>
            <a:r>
              <a:rPr lang="en-US" altLang="zh-CN" sz="2400" dirty="0">
                <a:latin typeface="Times New Roman" pitchFamily="18" charset="0"/>
                <a:cs typeface="Times New Roman" pitchFamily="18" charset="0"/>
              </a:rPr>
              <a:t>throw</a:t>
            </a:r>
            <a:r>
              <a:rPr lang="zh-CN" altLang="en-US" sz="2400" dirty="0">
                <a:latin typeface="宋体" pitchFamily="2" charset="-122"/>
              </a:rPr>
              <a:t>语句来实现的。</a:t>
            </a:r>
          </a:p>
          <a:p>
            <a:pPr marL="609600" indent="-609600">
              <a:buFont typeface="Wingdings" pitchFamily="2" charset="2"/>
              <a:buNone/>
            </a:pPr>
            <a:r>
              <a:rPr lang="en-US" altLang="zh-CN" sz="2400" dirty="0" smtClean="0">
                <a:latin typeface="Times New Roman" pitchFamily="18" charset="0"/>
                <a:cs typeface="Times New Roman" pitchFamily="18" charset="0"/>
              </a:rPr>
              <a:t>throw</a:t>
            </a:r>
            <a:r>
              <a:rPr lang="zh-CN" altLang="en-US" sz="2400" dirty="0">
                <a:latin typeface="Times New Roman" pitchFamily="18" charset="0"/>
                <a:cs typeface="Times New Roman" pitchFamily="18" charset="0"/>
              </a:rPr>
              <a:t>语句的格式为：</a:t>
            </a:r>
          </a:p>
          <a:p>
            <a:pPr marL="609600" indent="-609600" algn="ctr">
              <a:buFont typeface="Wingdings" pitchFamily="2" charset="2"/>
              <a:buNone/>
            </a:pPr>
            <a:r>
              <a:rPr lang="en-US" altLang="zh-CN" sz="2400" dirty="0">
                <a:latin typeface="Times New Roman" pitchFamily="18" charset="0"/>
                <a:cs typeface="Times New Roman" pitchFamily="18" charset="0"/>
              </a:rPr>
              <a:t>throw ThrowableObject</a:t>
            </a:r>
            <a:r>
              <a:rPr lang="zh-CN" altLang="en-US" sz="2400" dirty="0">
                <a:latin typeface="Times New Roman" pitchFamily="18" charset="0"/>
                <a:cs typeface="Times New Roman" pitchFamily="18" charset="0"/>
              </a:rPr>
              <a:t>；</a:t>
            </a:r>
          </a:p>
          <a:p>
            <a:pPr marL="609600" indent="-609600">
              <a:buFont typeface="Wingdings" pitchFamily="2" charset="2"/>
              <a:buNone/>
            </a:pPr>
            <a:r>
              <a:rPr lang="zh-CN" altLang="en-US" sz="2400" dirty="0">
                <a:latin typeface="Times New Roman" pitchFamily="18" charset="0"/>
                <a:cs typeface="Times New Roman" pitchFamily="18" charset="0"/>
              </a:rPr>
              <a:t>例如</a:t>
            </a:r>
            <a:r>
              <a:rPr lang="zh-CN" altLang="en-US" sz="2400" dirty="0">
                <a:latin typeface="Times New Roman" pitchFamily="18" charset="0"/>
              </a:rPr>
              <a:t>： </a:t>
            </a:r>
            <a:r>
              <a:rPr lang="zh-CN" altLang="en-US" sz="2400" dirty="0">
                <a:latin typeface="Times New Roman" pitchFamily="18" charset="0"/>
                <a:cs typeface="Times New Roman" pitchFamily="18" charset="0"/>
              </a:rPr>
              <a:t>      </a:t>
            </a:r>
            <a:r>
              <a:rPr lang="en-US" altLang="zh-CN" sz="2400" dirty="0">
                <a:latin typeface="Times New Roman" pitchFamily="18" charset="0"/>
                <a:cs typeface="Times New Roman" pitchFamily="18" charset="0"/>
              </a:rPr>
              <a:t>throw new ArithmeticExcption()</a:t>
            </a:r>
            <a:r>
              <a:rPr lang="zh-CN" altLang="en-US" sz="2400" dirty="0">
                <a:latin typeface="Times New Roman" pitchFamily="18" charset="0"/>
                <a:cs typeface="Times New Roman" pitchFamily="18" charset="0"/>
              </a:rPr>
              <a:t>；</a:t>
            </a:r>
          </a:p>
          <a:p>
            <a:pPr marL="609600" indent="-609600" algn="ctr">
              <a:buFont typeface="Wingdings" pitchFamily="2" charset="2"/>
              <a:buNone/>
            </a:pPr>
            <a:endParaRPr lang="zh-CN" altLang="en-US" sz="2400" dirty="0">
              <a:latin typeface="宋体" pitchFamily="2" charset="-122"/>
            </a:endParaRPr>
          </a:p>
          <a:p>
            <a:pPr marL="609600" indent="-609600">
              <a:buFont typeface="Wingdings" pitchFamily="2" charset="2"/>
              <a:buNone/>
            </a:pPr>
            <a:endParaRPr lang="zh-CN" altLang="en-US" sz="2400" dirty="0"/>
          </a:p>
          <a:p>
            <a:pPr marL="609600" indent="-609600">
              <a:buFont typeface="Wingdings" pitchFamily="2" charset="2"/>
              <a:buNone/>
            </a:pPr>
            <a:endParaRPr lang="en-US" altLang="zh-CN" sz="2800" dirty="0"/>
          </a:p>
        </p:txBody>
      </p:sp>
      <p:sp>
        <p:nvSpPr>
          <p:cNvPr id="7" name="标题 6"/>
          <p:cNvSpPr>
            <a:spLocks noGrp="1"/>
          </p:cNvSpPr>
          <p:nvPr>
            <p:ph type="title"/>
          </p:nvPr>
        </p:nvSpPr>
        <p:spPr/>
        <p:txBody>
          <a:bodyPr/>
          <a:lstStyle/>
          <a:p>
            <a:r>
              <a:rPr lang="zh-CN" altLang="en-US" b="1" dirty="0" smtClean="0">
                <a:latin typeface="宋体" pitchFamily="2" charset="-122"/>
              </a:rPr>
              <a:t>抛弃异常</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781800" y="6324600"/>
            <a:ext cx="1905000" cy="457200"/>
          </a:xfrm>
          <a:prstGeom prst="rect">
            <a:avLst/>
          </a:prstGeom>
        </p:spPr>
        <p:txBody>
          <a:bodyPr/>
          <a:lstStyle/>
          <a:p>
            <a:fld id="{AB93D20D-D35D-4511-8BE5-4F9F31B27243}" type="slidenum">
              <a:rPr lang="en-US" altLang="zh-CN"/>
              <a:pPr/>
              <a:t>51</a:t>
            </a:fld>
            <a:endParaRPr lang="en-US" altLang="zh-CN"/>
          </a:p>
        </p:txBody>
      </p:sp>
      <p:sp>
        <p:nvSpPr>
          <p:cNvPr id="29699" name="Rectangle 1027"/>
          <p:cNvSpPr>
            <a:spLocks noGrp="1" noChangeArrowheads="1"/>
          </p:cNvSpPr>
          <p:nvPr>
            <p:ph type="body" idx="1"/>
          </p:nvPr>
        </p:nvSpPr>
        <p:spPr>
          <a:xfrm>
            <a:off x="304800" y="1508720"/>
            <a:ext cx="8839200" cy="4800600"/>
          </a:xfrm>
        </p:spPr>
        <p:txBody>
          <a:bodyPr/>
          <a:lstStyle/>
          <a:p>
            <a:pPr marL="609600" indent="-609600">
              <a:lnSpc>
                <a:spcPct val="90000"/>
              </a:lnSpc>
              <a:buFont typeface="Wingdings" pitchFamily="2" charset="2"/>
              <a:buNone/>
            </a:pPr>
            <a:r>
              <a:rPr lang="zh-CN" altLang="en-US" sz="2400" b="1" dirty="0">
                <a:latin typeface="宋体" pitchFamily="2" charset="-122"/>
              </a:rPr>
              <a:t>例子：	</a:t>
            </a:r>
          </a:p>
          <a:p>
            <a:pPr marL="609600" indent="-609600">
              <a:lnSpc>
                <a:spcPts val="1800"/>
              </a:lnSpc>
              <a:buFont typeface="Wingdings" pitchFamily="2" charset="2"/>
              <a:buNone/>
            </a:pPr>
            <a:r>
              <a:rPr lang="zh-CN" altLang="en-US" sz="2400" dirty="0">
                <a:latin typeface="宋体" pitchFamily="2" charset="-122"/>
              </a:rPr>
              <a:t>	</a:t>
            </a:r>
            <a:r>
              <a:rPr lang="en-US" altLang="zh-CN" sz="2400" dirty="0">
                <a:latin typeface="宋体" pitchFamily="2" charset="-122"/>
              </a:rPr>
              <a:t>public Object pop() throws EmptyStackException {</a:t>
            </a:r>
          </a:p>
          <a:p>
            <a:pPr marL="609600" indent="-609600">
              <a:lnSpc>
                <a:spcPts val="1800"/>
              </a:lnSpc>
              <a:buFont typeface="Wingdings" pitchFamily="2" charset="2"/>
              <a:buNone/>
            </a:pPr>
            <a:r>
              <a:rPr lang="en-US" altLang="zh-CN" sz="2400" dirty="0">
                <a:latin typeface="宋体" pitchFamily="2" charset="-122"/>
              </a:rPr>
              <a:t>    	Object obj</a:t>
            </a:r>
            <a:r>
              <a:rPr lang="en-US" altLang="zh-CN" sz="2400" dirty="0" smtClean="0">
                <a:latin typeface="宋体" pitchFamily="2" charset="-122"/>
              </a:rPr>
              <a:t>;</a:t>
            </a:r>
            <a:endParaRPr lang="en-US" altLang="zh-CN" sz="1200" dirty="0">
              <a:latin typeface="宋体" pitchFamily="2" charset="-122"/>
            </a:endParaRPr>
          </a:p>
          <a:p>
            <a:pPr marL="609600" indent="-609600">
              <a:lnSpc>
                <a:spcPts val="1800"/>
              </a:lnSpc>
              <a:buFont typeface="Wingdings" pitchFamily="2" charset="2"/>
              <a:buNone/>
            </a:pPr>
            <a:r>
              <a:rPr lang="en-US" altLang="zh-CN" sz="2400" dirty="0">
                <a:latin typeface="宋体" pitchFamily="2" charset="-122"/>
              </a:rPr>
              <a:t>    	if (size == 0)</a:t>
            </a:r>
          </a:p>
          <a:p>
            <a:pPr marL="609600" indent="-609600">
              <a:lnSpc>
                <a:spcPts val="1800"/>
              </a:lnSpc>
              <a:buFont typeface="Wingdings" pitchFamily="2" charset="2"/>
              <a:buNone/>
            </a:pPr>
            <a:r>
              <a:rPr lang="en-US" altLang="zh-CN" sz="2400" dirty="0">
                <a:latin typeface="宋体" pitchFamily="2" charset="-122"/>
              </a:rPr>
              <a:t>        throw new EmptyStackException();</a:t>
            </a:r>
          </a:p>
          <a:p>
            <a:pPr marL="609600" indent="-609600">
              <a:lnSpc>
                <a:spcPts val="1800"/>
              </a:lnSpc>
              <a:buFont typeface="Wingdings" pitchFamily="2" charset="2"/>
              <a:buNone/>
            </a:pPr>
            <a:r>
              <a:rPr lang="en-US" altLang="zh-CN" sz="2400" dirty="0" smtClean="0">
                <a:latin typeface="宋体" pitchFamily="2" charset="-122"/>
              </a:rPr>
              <a:t>    </a:t>
            </a:r>
            <a:r>
              <a:rPr lang="en-US" altLang="zh-CN" sz="2400" dirty="0">
                <a:latin typeface="宋体" pitchFamily="2" charset="-122"/>
              </a:rPr>
              <a:t>	obj = objectAt(size - 1);</a:t>
            </a:r>
          </a:p>
          <a:p>
            <a:pPr marL="609600" indent="-609600">
              <a:lnSpc>
                <a:spcPts val="1800"/>
              </a:lnSpc>
              <a:buFont typeface="Wingdings" pitchFamily="2" charset="2"/>
              <a:buNone/>
            </a:pPr>
            <a:r>
              <a:rPr lang="en-US" altLang="zh-CN" sz="2400" dirty="0">
                <a:latin typeface="宋体" pitchFamily="2" charset="-122"/>
              </a:rPr>
              <a:t>    	setObjectAt(size - 1, null);</a:t>
            </a:r>
          </a:p>
          <a:p>
            <a:pPr marL="609600" indent="-609600">
              <a:lnSpc>
                <a:spcPts val="1800"/>
              </a:lnSpc>
              <a:buFont typeface="Wingdings" pitchFamily="2" charset="2"/>
              <a:buNone/>
            </a:pPr>
            <a:r>
              <a:rPr lang="en-US" altLang="zh-CN" sz="2400" dirty="0">
                <a:latin typeface="宋体" pitchFamily="2" charset="-122"/>
              </a:rPr>
              <a:t>    	size--;</a:t>
            </a:r>
          </a:p>
          <a:p>
            <a:pPr marL="609600" indent="-609600">
              <a:lnSpc>
                <a:spcPts val="1800"/>
              </a:lnSpc>
              <a:buFont typeface="Wingdings" pitchFamily="2" charset="2"/>
              <a:buNone/>
            </a:pPr>
            <a:r>
              <a:rPr lang="en-US" altLang="zh-CN" sz="2400" dirty="0">
                <a:latin typeface="宋体" pitchFamily="2" charset="-122"/>
              </a:rPr>
              <a:t>    	return obj;</a:t>
            </a:r>
          </a:p>
          <a:p>
            <a:pPr marL="609600" indent="-609600">
              <a:lnSpc>
                <a:spcPts val="1800"/>
              </a:lnSpc>
              <a:buFont typeface="Wingdings" pitchFamily="2" charset="2"/>
              <a:buNone/>
            </a:pPr>
            <a:r>
              <a:rPr lang="en-US" altLang="zh-CN" sz="2400" dirty="0">
                <a:latin typeface="宋体" pitchFamily="2" charset="-122"/>
              </a:rPr>
              <a:t>	}</a:t>
            </a:r>
            <a:endParaRPr lang="en-US" altLang="zh-CN" sz="2400" dirty="0"/>
          </a:p>
          <a:p>
            <a:pPr marL="609600" indent="-609600">
              <a:lnSpc>
                <a:spcPts val="1800"/>
              </a:lnSpc>
              <a:buFont typeface="Wingdings" pitchFamily="2" charset="2"/>
              <a:buNone/>
            </a:pPr>
            <a:endParaRPr lang="en-US" altLang="zh-CN" sz="2800" dirty="0"/>
          </a:p>
        </p:txBody>
      </p:sp>
      <p:sp>
        <p:nvSpPr>
          <p:cNvPr id="7" name="标题 6"/>
          <p:cNvSpPr>
            <a:spLocks noGrp="1"/>
          </p:cNvSpPr>
          <p:nvPr>
            <p:ph type="title"/>
          </p:nvPr>
        </p:nvSpPr>
        <p:spPr/>
        <p:txBody>
          <a:bodyPr/>
          <a:lstStyle/>
          <a:p>
            <a:r>
              <a:rPr lang="zh-CN" altLang="en-US" dirty="0" smtClean="0"/>
              <a:t>抛弃异常</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781800" y="6324600"/>
            <a:ext cx="1905000" cy="457200"/>
          </a:xfrm>
          <a:prstGeom prst="rect">
            <a:avLst/>
          </a:prstGeom>
        </p:spPr>
        <p:txBody>
          <a:bodyPr/>
          <a:lstStyle/>
          <a:p>
            <a:fld id="{596CC0F9-5D5F-4BD4-933F-97BB27667AC1}" type="slidenum">
              <a:rPr lang="en-US" altLang="zh-CN"/>
              <a:pPr/>
              <a:t>52</a:t>
            </a:fld>
            <a:endParaRPr lang="en-US" altLang="zh-CN"/>
          </a:p>
        </p:txBody>
      </p:sp>
      <p:sp>
        <p:nvSpPr>
          <p:cNvPr id="30723" name="Rectangle 1027"/>
          <p:cNvSpPr>
            <a:spLocks noGrp="1" noChangeArrowheads="1"/>
          </p:cNvSpPr>
          <p:nvPr>
            <p:ph type="body" idx="1"/>
          </p:nvPr>
        </p:nvSpPr>
        <p:spPr>
          <a:xfrm>
            <a:off x="0" y="1844824"/>
            <a:ext cx="8839200" cy="4800600"/>
          </a:xfrm>
        </p:spPr>
        <p:txBody>
          <a:bodyPr/>
          <a:lstStyle/>
          <a:p>
            <a:pPr marL="609600" indent="-609600">
              <a:buFont typeface="Wingdings" pitchFamily="2" charset="2"/>
              <a:buNone/>
            </a:pPr>
            <a:r>
              <a:rPr lang="en-US" altLang="zh-CN" sz="2800" b="1" dirty="0">
                <a:latin typeface="宋体" pitchFamily="2" charset="-122"/>
              </a:rPr>
              <a:t>	</a:t>
            </a:r>
            <a:r>
              <a:rPr lang="zh-CN" altLang="en-US" sz="2800" dirty="0">
                <a:latin typeface="宋体" pitchFamily="2" charset="-122"/>
              </a:rPr>
              <a:t>我们还可以定义自己</a:t>
            </a:r>
            <a:r>
              <a:rPr lang="zh-CN" altLang="en-US" sz="2800" dirty="0" smtClean="0">
                <a:latin typeface="宋体" pitchFamily="2" charset="-122"/>
              </a:rPr>
              <a:t>的异常类</a:t>
            </a:r>
            <a:r>
              <a:rPr lang="zh-CN" altLang="en-US" sz="2800" dirty="0">
                <a:latin typeface="宋体" pitchFamily="2" charset="-122"/>
              </a:rPr>
              <a:t>，并用</a:t>
            </a:r>
            <a:r>
              <a:rPr lang="en-US" altLang="zh-CN" sz="2800" dirty="0">
                <a:latin typeface="宋体" pitchFamily="2" charset="-122"/>
              </a:rPr>
              <a:t>throw</a:t>
            </a:r>
            <a:r>
              <a:rPr lang="zh-CN" altLang="en-US" sz="2800" dirty="0">
                <a:latin typeface="宋体" pitchFamily="2" charset="-122"/>
              </a:rPr>
              <a:t>语句来</a:t>
            </a:r>
            <a:r>
              <a:rPr lang="zh-CN" altLang="en-US" sz="2800" dirty="0" smtClean="0">
                <a:latin typeface="宋体" pitchFamily="2" charset="-122"/>
              </a:rPr>
              <a:t>抛出它。</a:t>
            </a:r>
            <a:endParaRPr lang="en-US" altLang="zh-CN" sz="2800" dirty="0" smtClean="0">
              <a:latin typeface="宋体" pitchFamily="2" charset="-122"/>
            </a:endParaRPr>
          </a:p>
          <a:p>
            <a:pPr marL="609600" indent="-609600">
              <a:buFont typeface="Wingdings" pitchFamily="2" charset="2"/>
              <a:buNone/>
            </a:pPr>
            <a:r>
              <a:rPr lang="en-US" altLang="zh-CN" sz="2800" dirty="0" smtClean="0">
                <a:latin typeface="宋体" pitchFamily="2" charset="-122"/>
              </a:rPr>
              <a:t> </a:t>
            </a:r>
            <a:r>
              <a:rPr lang="en-US" altLang="zh-CN" sz="2800" dirty="0" smtClean="0">
                <a:latin typeface="宋体" pitchFamily="2" charset="-122"/>
              </a:rPr>
              <a:t>  </a:t>
            </a:r>
            <a:endParaRPr lang="zh-CN" altLang="en-US" sz="2800" dirty="0">
              <a:latin typeface="宋体" pitchFamily="2" charset="-122"/>
            </a:endParaRPr>
          </a:p>
        </p:txBody>
      </p:sp>
      <p:sp>
        <p:nvSpPr>
          <p:cNvPr id="7" name="标题 6"/>
          <p:cNvSpPr>
            <a:spLocks noGrp="1"/>
          </p:cNvSpPr>
          <p:nvPr>
            <p:ph type="title"/>
          </p:nvPr>
        </p:nvSpPr>
        <p:spPr/>
        <p:txBody>
          <a:bodyPr/>
          <a:lstStyle/>
          <a:p>
            <a:r>
              <a:rPr lang="zh-CN" altLang="en-US" dirty="0" smtClean="0"/>
              <a:t>抛弃异常</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539552" y="1618456"/>
            <a:ext cx="8077200" cy="4114800"/>
          </a:xfrm>
        </p:spPr>
        <p:txBody>
          <a:bodyPr/>
          <a:lstStyle/>
          <a:p>
            <a:pPr marL="609600" indent="-609600" eaLnBrk="0" hangingPunct="0">
              <a:spcBef>
                <a:spcPct val="0"/>
              </a:spcBef>
              <a:buClrTx/>
              <a:buSzTx/>
              <a:buFontTx/>
              <a:buAutoNum type="arabicPeriod"/>
            </a:pPr>
            <a:r>
              <a:rPr lang="en-US" altLang="zh-CN" sz="2400" dirty="0" smtClean="0">
                <a:latin typeface="Times New Roman" pitchFamily="18" charset="0"/>
                <a:cs typeface="Times New Roman" pitchFamily="18" charset="0"/>
              </a:rPr>
              <a:t>Java</a:t>
            </a:r>
            <a:r>
              <a:rPr lang="zh-CN" altLang="en-US" sz="2400" dirty="0">
                <a:latin typeface="Times New Roman" pitchFamily="18" charset="0"/>
                <a:cs typeface="Times New Roman" pitchFamily="18" charset="0"/>
              </a:rPr>
              <a:t>通过面向对象的方法进行例外处理，把各种不同的例外事件进行分类，体现了良好的层次性，提供了良好的接口</a:t>
            </a:r>
            <a:r>
              <a:rPr lang="zh-CN" altLang="en-US" sz="2400" dirty="0">
                <a:latin typeface="Times New Roman" pitchFamily="18" charset="0"/>
              </a:rPr>
              <a:t>。</a:t>
            </a:r>
          </a:p>
          <a:p>
            <a:pPr marL="609600" indent="-609600" eaLnBrk="0" hangingPunct="0">
              <a:spcBef>
                <a:spcPct val="0"/>
              </a:spcBef>
              <a:buClrTx/>
              <a:buSzTx/>
              <a:buFontTx/>
              <a:buNone/>
            </a:pPr>
            <a:r>
              <a:rPr lang="en-US" altLang="zh-CN" sz="2400" dirty="0" smtClean="0">
                <a:latin typeface="Times New Roman" pitchFamily="18" charset="0"/>
                <a:cs typeface="Times New Roman" pitchFamily="18" charset="0"/>
              </a:rPr>
              <a:t>2</a:t>
            </a:r>
            <a:r>
              <a:rPr lang="en-US" altLang="zh-CN" sz="2400" dirty="0" smtClean="0">
                <a:latin typeface="Times New Roman" pitchFamily="18" charset="0"/>
              </a:rPr>
              <a:t> </a:t>
            </a:r>
            <a:r>
              <a:rPr lang="en-US" altLang="zh-CN" sz="2400" dirty="0">
                <a:latin typeface="Times New Roman" pitchFamily="18" charset="0"/>
              </a:rPr>
              <a:t>.    </a:t>
            </a:r>
            <a:r>
              <a:rPr lang="en-US" altLang="zh-CN" sz="2400" dirty="0">
                <a:latin typeface="Times New Roman" pitchFamily="18" charset="0"/>
                <a:cs typeface="Times New Roman" pitchFamily="18" charset="0"/>
              </a:rPr>
              <a:t>Java</a:t>
            </a:r>
            <a:r>
              <a:rPr lang="zh-CN" altLang="en-US" sz="2400" dirty="0">
                <a:latin typeface="Times New Roman" pitchFamily="18" charset="0"/>
                <a:cs typeface="Times New Roman" pitchFamily="18" charset="0"/>
              </a:rPr>
              <a:t>的例外处理机制使得处理例外的代码和“常规”代码分开，减少了代码的数量，增强了程序的可读性</a:t>
            </a:r>
            <a:r>
              <a:rPr lang="zh-CN" altLang="en-US" sz="2400" dirty="0" smtClean="0">
                <a:latin typeface="Times New Roman" pitchFamily="18" charset="0"/>
                <a:cs typeface="Times New Roman" pitchFamily="18" charset="0"/>
              </a:rPr>
              <a:t>。</a:t>
            </a:r>
            <a:endParaRPr lang="en-US" altLang="zh-CN" sz="2400" dirty="0" smtClean="0">
              <a:latin typeface="Times New Roman" pitchFamily="18" charset="0"/>
              <a:cs typeface="Times New Roman" pitchFamily="18" charset="0"/>
            </a:endParaRPr>
          </a:p>
          <a:p>
            <a:pPr marL="609600" indent="-609600" eaLnBrk="0" hangingPunct="0">
              <a:spcBef>
                <a:spcPct val="0"/>
              </a:spcBef>
              <a:buClrTx/>
              <a:buSzTx/>
              <a:buAutoNum type="arabicPeriod" startAt="3"/>
            </a:pPr>
            <a:r>
              <a:rPr lang="en-US" altLang="zh-CN" sz="2400" dirty="0" smtClean="0">
                <a:latin typeface="Times New Roman" pitchFamily="18" charset="0"/>
                <a:cs typeface="Times New Roman" pitchFamily="18" charset="0"/>
              </a:rPr>
              <a:t>Java</a:t>
            </a:r>
            <a:r>
              <a:rPr lang="zh-CN" altLang="en-US" sz="2400" dirty="0" smtClean="0">
                <a:latin typeface="Times New Roman" pitchFamily="18" charset="0"/>
                <a:cs typeface="Times New Roman" pitchFamily="18" charset="0"/>
              </a:rPr>
              <a:t>的例外处理机制使得例外事件可以沿调用栈自动向上传播，而不是</a:t>
            </a:r>
            <a:r>
              <a:rPr lang="en-US" altLang="zh-CN" sz="2400" dirty="0" smtClean="0">
                <a:latin typeface="Times New Roman" pitchFamily="18" charset="0"/>
                <a:cs typeface="Times New Roman" pitchFamily="18" charset="0"/>
              </a:rPr>
              <a:t>C</a:t>
            </a:r>
            <a:r>
              <a:rPr lang="zh-CN" altLang="en-US" sz="2400" dirty="0" smtClean="0">
                <a:latin typeface="Times New Roman" pitchFamily="18" charset="0"/>
                <a:cs typeface="Times New Roman" pitchFamily="18" charset="0"/>
              </a:rPr>
              <a:t>语言中通过函数的返回值来传播，这样可以传递更多的信息并且简化代码的编写。</a:t>
            </a:r>
            <a:endParaRPr lang="en-US" altLang="zh-CN" sz="2400" dirty="0" smtClean="0">
              <a:latin typeface="Times New Roman" pitchFamily="18" charset="0"/>
              <a:cs typeface="Times New Roman" pitchFamily="18" charset="0"/>
            </a:endParaRPr>
          </a:p>
          <a:p>
            <a:pPr marL="609600" indent="-609600" eaLnBrk="0" hangingPunct="0">
              <a:spcBef>
                <a:spcPct val="0"/>
              </a:spcBef>
              <a:buClrTx/>
              <a:buSzTx/>
              <a:buAutoNum type="arabicPeriod" startAt="3"/>
            </a:pPr>
            <a:r>
              <a:rPr lang="zh-CN" altLang="en-US" sz="2400" dirty="0" smtClean="0">
                <a:latin typeface="Times New Roman" pitchFamily="18" charset="0"/>
                <a:cs typeface="Times New Roman" pitchFamily="18" charset="0"/>
              </a:rPr>
              <a:t>由于把例外事件当成对象来处理，利用类的层次性我们可以把多个具有相同父类的例外统一处理，也可以区分不同的例外分别处理，使用非常灵活。</a:t>
            </a:r>
            <a:endParaRPr lang="en-US" altLang="zh-CN" sz="2400" dirty="0" smtClean="0">
              <a:latin typeface="Times New Roman" pitchFamily="18" charset="0"/>
              <a:cs typeface="Times New Roman" pitchFamily="18" charset="0"/>
            </a:endParaRPr>
          </a:p>
          <a:p>
            <a:pPr marL="609600" indent="-609600" eaLnBrk="0" hangingPunct="0">
              <a:spcBef>
                <a:spcPct val="0"/>
              </a:spcBef>
              <a:buClrTx/>
              <a:buSzTx/>
              <a:buAutoNum type="arabicPeriod" startAt="3"/>
            </a:pPr>
            <a:endParaRPr lang="zh-CN" altLang="en-US" sz="2400" dirty="0" smtClean="0">
              <a:latin typeface="Times New Roman" pitchFamily="18" charset="0"/>
              <a:cs typeface="Times New Roman" pitchFamily="18" charset="0"/>
            </a:endParaRPr>
          </a:p>
          <a:p>
            <a:pPr marL="609600" indent="-609600" eaLnBrk="0" hangingPunct="0">
              <a:spcBef>
                <a:spcPct val="0"/>
              </a:spcBef>
              <a:buClrTx/>
              <a:buSzTx/>
              <a:buFontTx/>
              <a:buNone/>
            </a:pPr>
            <a:endParaRPr lang="zh-CN" altLang="en-US" sz="2400" dirty="0">
              <a:latin typeface="Times New Roman" pitchFamily="18" charset="0"/>
              <a:cs typeface="Times New Roman" pitchFamily="18" charset="0"/>
            </a:endParaRPr>
          </a:p>
          <a:p>
            <a:pPr marL="609600" indent="-609600" eaLnBrk="0" hangingPunct="0">
              <a:spcBef>
                <a:spcPct val="0"/>
              </a:spcBef>
              <a:buClrTx/>
              <a:buSzTx/>
              <a:buFontTx/>
              <a:buNone/>
            </a:pPr>
            <a:endParaRPr lang="en-US" altLang="zh-CN" sz="2400" b="1" dirty="0">
              <a:latin typeface="Times New Roman" pitchFamily="18" charset="0"/>
              <a:cs typeface="Times New Roman" pitchFamily="18" charset="0"/>
            </a:endParaRPr>
          </a:p>
        </p:txBody>
      </p:sp>
      <p:sp>
        <p:nvSpPr>
          <p:cNvPr id="7" name="标题 6"/>
          <p:cNvSpPr>
            <a:spLocks noGrp="1"/>
          </p:cNvSpPr>
          <p:nvPr>
            <p:ph type="title"/>
          </p:nvPr>
        </p:nvSpPr>
        <p:spPr/>
        <p:txBody>
          <a:bodyPr/>
          <a:lstStyle/>
          <a:p>
            <a:r>
              <a:rPr lang="zh-CN" altLang="en-US" b="1" dirty="0" smtClean="0">
                <a:latin typeface="宋体" pitchFamily="2" charset="-122"/>
              </a:rPr>
              <a:t>总结</a:t>
            </a:r>
            <a:r>
              <a:rPr lang="en-US" altLang="zh-CN" b="1" dirty="0" smtClean="0">
                <a:latin typeface="宋体" pitchFamily="2" charset="-122"/>
              </a:rPr>
              <a:t>——</a:t>
            </a:r>
            <a:r>
              <a:rPr lang="zh-CN" altLang="en-US" b="1" dirty="0" smtClean="0">
                <a:latin typeface="宋体" pitchFamily="2" charset="-122"/>
              </a:rPr>
              <a:t>优点</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381000" y="1580728"/>
            <a:ext cx="8763000" cy="4800600"/>
          </a:xfrm>
        </p:spPr>
        <p:txBody>
          <a:bodyPr/>
          <a:lstStyle/>
          <a:p>
            <a:pPr marL="609600" indent="-609600" eaLnBrk="0" hangingPunct="0">
              <a:lnSpc>
                <a:spcPts val="2200"/>
              </a:lnSpc>
              <a:spcBef>
                <a:spcPct val="0"/>
              </a:spcBef>
              <a:buClrTx/>
              <a:buSzTx/>
              <a:buFontTx/>
              <a:buNone/>
            </a:pPr>
            <a:r>
              <a:rPr lang="en-US" altLang="zh-CN" sz="2400" dirty="0" smtClean="0">
                <a:latin typeface="Times New Roman" pitchFamily="18" charset="0"/>
                <a:cs typeface="Times New Roman" pitchFamily="18" charset="0"/>
              </a:rPr>
              <a:t>1</a:t>
            </a:r>
            <a:r>
              <a:rPr lang="zh-CN" altLang="en-US" sz="2400" dirty="0">
                <a:latin typeface="Times New Roman" pitchFamily="18" charset="0"/>
                <a:cs typeface="Times New Roman" pitchFamily="18" charset="0"/>
              </a:rPr>
              <a:t>、对非运行时例外必须捕获或声明，而对运行时例外则不必，可以交给</a:t>
            </a:r>
            <a:r>
              <a:rPr lang="en-US" altLang="zh-CN" sz="2400" dirty="0">
                <a:latin typeface="Times New Roman" pitchFamily="18" charset="0"/>
                <a:cs typeface="Times New Roman" pitchFamily="18" charset="0"/>
              </a:rPr>
              <a:t>Java</a:t>
            </a:r>
            <a:r>
              <a:rPr lang="zh-CN" altLang="en-US" sz="2400" dirty="0">
                <a:latin typeface="Times New Roman" pitchFamily="18" charset="0"/>
                <a:cs typeface="Times New Roman" pitchFamily="18" charset="0"/>
              </a:rPr>
              <a:t>运行时系统来处理</a:t>
            </a:r>
            <a:r>
              <a:rPr lang="zh-CN" altLang="en-US" sz="2400" dirty="0" smtClean="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a:p>
            <a:pPr marL="609600" indent="-609600" eaLnBrk="0" hangingPunct="0">
              <a:lnSpc>
                <a:spcPts val="2200"/>
              </a:lnSpc>
              <a:spcBef>
                <a:spcPct val="0"/>
              </a:spcBef>
              <a:buClrTx/>
              <a:buSzTx/>
              <a:buFontTx/>
              <a:buNone/>
            </a:pPr>
            <a:r>
              <a:rPr lang="en-US" altLang="zh-CN" sz="2400" dirty="0">
                <a:latin typeface="Times New Roman" pitchFamily="18" charset="0"/>
                <a:cs typeface="Times New Roman" pitchFamily="18" charset="0"/>
              </a:rPr>
              <a:t>2</a:t>
            </a:r>
            <a:r>
              <a:rPr lang="zh-CN" altLang="en-US" sz="2400" dirty="0">
                <a:latin typeface="Times New Roman" pitchFamily="18" charset="0"/>
                <a:cs typeface="Times New Roman" pitchFamily="18" charset="0"/>
              </a:rPr>
              <a:t>、对于自定义的例外类，通常把它做为类</a:t>
            </a:r>
            <a:r>
              <a:rPr lang="en-US" altLang="zh-CN" sz="2400" dirty="0">
                <a:latin typeface="Times New Roman" pitchFamily="18" charset="0"/>
                <a:cs typeface="Times New Roman" pitchFamily="18" charset="0"/>
              </a:rPr>
              <a:t>Exception</a:t>
            </a:r>
            <a:r>
              <a:rPr lang="zh-CN" altLang="en-US" sz="2400" dirty="0">
                <a:latin typeface="Times New Roman" pitchFamily="18" charset="0"/>
                <a:cs typeface="Times New Roman" pitchFamily="18" charset="0"/>
              </a:rPr>
              <a:t>子类，而不做为类</a:t>
            </a:r>
            <a:r>
              <a:rPr lang="en-US" altLang="zh-CN" sz="2400" dirty="0">
                <a:latin typeface="Times New Roman" pitchFamily="18" charset="0"/>
                <a:cs typeface="Times New Roman" pitchFamily="18" charset="0"/>
              </a:rPr>
              <a:t>Error</a:t>
            </a:r>
            <a:r>
              <a:rPr lang="zh-CN" altLang="en-US" sz="2400" dirty="0">
                <a:latin typeface="Times New Roman" pitchFamily="18" charset="0"/>
                <a:cs typeface="Times New Roman" pitchFamily="18" charset="0"/>
              </a:rPr>
              <a:t>的子类，</a:t>
            </a:r>
          </a:p>
          <a:p>
            <a:pPr marL="609600" indent="-609600" eaLnBrk="0" hangingPunct="0">
              <a:lnSpc>
                <a:spcPts val="2200"/>
              </a:lnSpc>
              <a:spcBef>
                <a:spcPct val="0"/>
              </a:spcBef>
              <a:buClrTx/>
              <a:buSzTx/>
              <a:buFontTx/>
              <a:buNone/>
            </a:pPr>
            <a:r>
              <a:rPr lang="zh-CN" altLang="en-US" sz="2400" dirty="0">
                <a:latin typeface="Times New Roman" pitchFamily="18" charset="0"/>
                <a:cs typeface="Times New Roman" pitchFamily="18" charset="0"/>
              </a:rPr>
              <a:t>	因为</a:t>
            </a:r>
            <a:r>
              <a:rPr lang="en-US" altLang="zh-CN" sz="2400" dirty="0">
                <a:latin typeface="Times New Roman" pitchFamily="18" charset="0"/>
                <a:cs typeface="Times New Roman" pitchFamily="18" charset="0"/>
              </a:rPr>
              <a:t>Error</a:t>
            </a:r>
            <a:r>
              <a:rPr lang="zh-CN" altLang="en-US" sz="2400" dirty="0">
                <a:latin typeface="Times New Roman" pitchFamily="18" charset="0"/>
                <a:cs typeface="Times New Roman" pitchFamily="18" charset="0"/>
              </a:rPr>
              <a:t>类通常用于系统内严重的硬件错误。并且在多数情况下，不要把自定义的例外类作为运行时</a:t>
            </a:r>
            <a:r>
              <a:rPr lang="zh-CN" altLang="en-US" sz="2400" dirty="0">
                <a:latin typeface="Times New Roman" pitchFamily="18" charset="0"/>
              </a:rPr>
              <a:t>异常</a:t>
            </a:r>
            <a:r>
              <a:rPr lang="zh-CN" altLang="en-US" sz="2400" dirty="0">
                <a:latin typeface="Times New Roman" pitchFamily="18" charset="0"/>
                <a:cs typeface="Times New Roman" pitchFamily="18" charset="0"/>
              </a:rPr>
              <a:t>类</a:t>
            </a:r>
            <a:r>
              <a:rPr lang="en-US" altLang="zh-CN" sz="2400" dirty="0">
                <a:latin typeface="Times New Roman" pitchFamily="18" charset="0"/>
                <a:cs typeface="Times New Roman" pitchFamily="18" charset="0"/>
              </a:rPr>
              <a:t>RuntimeException</a:t>
            </a:r>
            <a:r>
              <a:rPr lang="zh-CN" altLang="en-US" sz="2400" dirty="0">
                <a:latin typeface="Times New Roman" pitchFamily="18" charset="0"/>
                <a:cs typeface="Times New Roman" pitchFamily="18" charset="0"/>
              </a:rPr>
              <a:t>子类。另外，自定义</a:t>
            </a:r>
            <a:r>
              <a:rPr lang="zh-CN" altLang="en-US" sz="2400" dirty="0">
                <a:latin typeface="Times New Roman" pitchFamily="18" charset="0"/>
              </a:rPr>
              <a:t>异常</a:t>
            </a:r>
            <a:r>
              <a:rPr lang="zh-CN" altLang="en-US" sz="2400" dirty="0">
                <a:latin typeface="Times New Roman" pitchFamily="18" charset="0"/>
                <a:cs typeface="Times New Roman" pitchFamily="18" charset="0"/>
              </a:rPr>
              <a:t>类的类名常常以</a:t>
            </a:r>
            <a:r>
              <a:rPr lang="en-US" altLang="zh-CN" sz="2400" dirty="0">
                <a:latin typeface="Times New Roman" pitchFamily="18" charset="0"/>
                <a:cs typeface="Times New Roman" pitchFamily="18" charset="0"/>
              </a:rPr>
              <a:t>Exception</a:t>
            </a:r>
            <a:r>
              <a:rPr lang="zh-CN" altLang="en-US" sz="2400" dirty="0">
                <a:latin typeface="Times New Roman" pitchFamily="18" charset="0"/>
                <a:cs typeface="Times New Roman" pitchFamily="18" charset="0"/>
              </a:rPr>
              <a:t>结尾</a:t>
            </a:r>
            <a:r>
              <a:rPr lang="zh-CN" altLang="en-US" sz="2400" dirty="0" smtClean="0">
                <a:latin typeface="Times New Roman" pitchFamily="18" charset="0"/>
                <a:cs typeface="Times New Roman" pitchFamily="18" charset="0"/>
              </a:rPr>
              <a:t>。</a:t>
            </a:r>
            <a:r>
              <a:rPr lang="zh-CN" altLang="en-US" sz="2400" b="1" dirty="0" smtClean="0">
                <a:latin typeface="Times New Roman" pitchFamily="18" charset="0"/>
                <a:cs typeface="Times New Roman" pitchFamily="18" charset="0"/>
              </a:rPr>
              <a:t>　</a:t>
            </a:r>
          </a:p>
          <a:p>
            <a:pPr marL="609600" indent="-609600" eaLnBrk="0" hangingPunct="0">
              <a:lnSpc>
                <a:spcPts val="2200"/>
              </a:lnSpc>
              <a:spcBef>
                <a:spcPct val="0"/>
              </a:spcBef>
              <a:buClrTx/>
              <a:buSzTx/>
              <a:buFontTx/>
              <a:buNone/>
            </a:pPr>
            <a:r>
              <a:rPr lang="en-US" altLang="zh-CN" sz="2400" dirty="0" smtClean="0">
                <a:latin typeface="Times New Roman" pitchFamily="18" charset="0"/>
                <a:cs typeface="Times New Roman" pitchFamily="18" charset="0"/>
              </a:rPr>
              <a:t>3</a:t>
            </a:r>
            <a:r>
              <a:rPr lang="zh-CN" altLang="en-US" sz="2400" dirty="0" smtClean="0">
                <a:latin typeface="Times New Roman" pitchFamily="18" charset="0"/>
                <a:cs typeface="Times New Roman" pitchFamily="18" charset="0"/>
              </a:rPr>
              <a:t>、在捕获或声明例外时，要选取合适类型的例外类，注意例外的类层次，根据不同的情况使用一般或特殊的例外类。</a:t>
            </a:r>
          </a:p>
          <a:p>
            <a:pPr marL="609600" indent="-609600" eaLnBrk="0" hangingPunct="0">
              <a:lnSpc>
                <a:spcPts val="2200"/>
              </a:lnSpc>
              <a:spcBef>
                <a:spcPct val="0"/>
              </a:spcBef>
              <a:buClrTx/>
              <a:buSzTx/>
              <a:buFontTx/>
              <a:buNone/>
            </a:pPr>
            <a:r>
              <a:rPr lang="en-US" altLang="zh-CN" sz="2400" dirty="0" smtClean="0">
                <a:latin typeface="Times New Roman" pitchFamily="18" charset="0"/>
                <a:cs typeface="Times New Roman" pitchFamily="18" charset="0"/>
              </a:rPr>
              <a:t>4</a:t>
            </a:r>
            <a:r>
              <a:rPr lang="zh-CN" altLang="en-US" sz="2400" dirty="0" smtClean="0">
                <a:latin typeface="Times New Roman" pitchFamily="18" charset="0"/>
                <a:cs typeface="Times New Roman" pitchFamily="18" charset="0"/>
              </a:rPr>
              <a:t>、根据具体的情况选择在何处处理例外。是在方法内捕获并处理呢？还是用</a:t>
            </a:r>
            <a:r>
              <a:rPr lang="en-US" altLang="zh-CN" sz="2400" dirty="0" smtClean="0">
                <a:latin typeface="Times New Roman" pitchFamily="18" charset="0"/>
                <a:cs typeface="Times New Roman" pitchFamily="18" charset="0"/>
              </a:rPr>
              <a:t>throws</a:t>
            </a:r>
            <a:r>
              <a:rPr lang="zh-CN" altLang="en-US" sz="2400" dirty="0" smtClean="0">
                <a:latin typeface="Times New Roman" pitchFamily="18" charset="0"/>
                <a:cs typeface="Times New Roman" pitchFamily="18" charset="0"/>
              </a:rPr>
              <a:t>子句把它交给调用栈中上层的方法去处理</a:t>
            </a:r>
            <a:r>
              <a:rPr lang="en-US" altLang="zh-CN" sz="2400" dirty="0" smtClean="0">
                <a:latin typeface="Times New Roman" pitchFamily="18" charset="0"/>
                <a:cs typeface="Times New Roman" pitchFamily="18" charset="0"/>
              </a:rPr>
              <a:t>?</a:t>
            </a:r>
          </a:p>
          <a:p>
            <a:pPr marL="609600" indent="-609600" eaLnBrk="0" hangingPunct="0">
              <a:lnSpc>
                <a:spcPts val="2200"/>
              </a:lnSpc>
              <a:spcBef>
                <a:spcPct val="0"/>
              </a:spcBef>
              <a:buClrTx/>
              <a:buSzTx/>
              <a:buFontTx/>
              <a:buNone/>
            </a:pPr>
            <a:r>
              <a:rPr lang="en-US" altLang="zh-CN" sz="2400" dirty="0" smtClean="0">
                <a:latin typeface="Times New Roman" pitchFamily="18" charset="0"/>
                <a:cs typeface="Times New Roman" pitchFamily="18" charset="0"/>
              </a:rPr>
              <a:t>5</a:t>
            </a:r>
            <a:r>
              <a:rPr lang="zh-CN" altLang="en-US" sz="2400" dirty="0" smtClean="0">
                <a:latin typeface="Times New Roman" pitchFamily="18" charset="0"/>
                <a:cs typeface="Times New Roman" pitchFamily="18" charset="0"/>
              </a:rPr>
              <a:t>、使用</a:t>
            </a:r>
            <a:r>
              <a:rPr lang="en-US" altLang="zh-CN" sz="2400" dirty="0" smtClean="0">
                <a:latin typeface="Times New Roman" pitchFamily="18" charset="0"/>
                <a:cs typeface="Times New Roman" pitchFamily="18" charset="0"/>
              </a:rPr>
              <a:t>finally</a:t>
            </a:r>
            <a:r>
              <a:rPr lang="zh-CN" altLang="en-US" sz="2400" dirty="0" smtClean="0">
                <a:latin typeface="Times New Roman" pitchFamily="18" charset="0"/>
                <a:cs typeface="Times New Roman" pitchFamily="18" charset="0"/>
              </a:rPr>
              <a:t>语句为例外处理提供统一的出口。</a:t>
            </a:r>
            <a:endParaRPr lang="en-US" altLang="zh-CN" sz="2400" dirty="0" smtClean="0">
              <a:latin typeface="Times New Roman" pitchFamily="18" charset="0"/>
              <a:cs typeface="Times New Roman" pitchFamily="18" charset="0"/>
            </a:endParaRPr>
          </a:p>
          <a:p>
            <a:pPr marL="609600" indent="-609600" eaLnBrk="0" hangingPunct="0">
              <a:spcBef>
                <a:spcPct val="0"/>
              </a:spcBef>
              <a:buClrTx/>
              <a:buSzTx/>
              <a:buFontTx/>
              <a:buNone/>
            </a:pPr>
            <a:endParaRPr lang="zh-CN" altLang="en-US" sz="2400" dirty="0">
              <a:latin typeface="Times New Roman" pitchFamily="18" charset="0"/>
              <a:cs typeface="Times New Roman" pitchFamily="18" charset="0"/>
            </a:endParaRPr>
          </a:p>
        </p:txBody>
      </p:sp>
      <p:sp>
        <p:nvSpPr>
          <p:cNvPr id="7" name="标题 6"/>
          <p:cNvSpPr>
            <a:spLocks noGrp="1"/>
          </p:cNvSpPr>
          <p:nvPr>
            <p:ph type="title"/>
          </p:nvPr>
        </p:nvSpPr>
        <p:spPr/>
        <p:txBody>
          <a:bodyPr/>
          <a:lstStyle/>
          <a:p>
            <a:r>
              <a:rPr lang="zh-CN" altLang="en-US" dirty="0" smtClean="0"/>
              <a:t>总结</a:t>
            </a:r>
            <a:r>
              <a:rPr lang="en-US" altLang="zh-CN" dirty="0" smtClean="0"/>
              <a:t>——</a:t>
            </a:r>
            <a:r>
              <a:rPr lang="zh-CN" altLang="en-US" dirty="0" smtClean="0"/>
              <a:t>原则</a:t>
            </a:r>
            <a:endParaRPr lang="zh-CN" altLang="en-US" dirty="0"/>
          </a:p>
        </p:txBody>
      </p:sp>
    </p:spTree>
  </p:cSld>
  <p:clrMapOvr>
    <a:masterClrMapping/>
  </p:clrMapOvr>
</p:sld>
</file>

<file path=ppt/theme/theme1.xml><?xml version="1.0" encoding="utf-8"?>
<a:theme xmlns:a="http://schemas.openxmlformats.org/drawingml/2006/main" name="12月1日微博平台">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12月1日微博平台</Template>
  <TotalTime>68</TotalTime>
  <Words>2238</Words>
  <Application>Microsoft Office PowerPoint</Application>
  <PresentationFormat>全屏显示(4:3)</PresentationFormat>
  <Paragraphs>427</Paragraphs>
  <Slides>54</Slides>
  <Notes>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56" baseType="lpstr">
      <vt:lpstr>12月1日微博平台</vt:lpstr>
      <vt:lpstr>Visio</vt:lpstr>
      <vt:lpstr>接口</vt:lpstr>
      <vt:lpstr>主要内容</vt:lpstr>
      <vt:lpstr>什么是接口</vt:lpstr>
      <vt:lpstr>什么是接口</vt:lpstr>
      <vt:lpstr>什么是接口</vt:lpstr>
      <vt:lpstr>幻灯片 6</vt:lpstr>
      <vt:lpstr>接口的主要用处</vt:lpstr>
      <vt:lpstr>接口的定义</vt:lpstr>
      <vt:lpstr>接口声明</vt:lpstr>
      <vt:lpstr>接口体</vt:lpstr>
      <vt:lpstr>幻灯片 11</vt:lpstr>
      <vt:lpstr>接口的实现</vt:lpstr>
      <vt:lpstr>接口的实现</vt:lpstr>
      <vt:lpstr>接口的类型</vt:lpstr>
      <vt:lpstr>接口的类型</vt:lpstr>
      <vt:lpstr>幻灯片 16</vt:lpstr>
      <vt:lpstr>幻灯片 17</vt:lpstr>
      <vt:lpstr>幻灯片 18</vt:lpstr>
      <vt:lpstr>幻灯片 19</vt:lpstr>
      <vt:lpstr>幻灯片 20</vt:lpstr>
      <vt:lpstr>幻灯片 21</vt:lpstr>
      <vt:lpstr>接口应用- Comparable</vt:lpstr>
      <vt:lpstr>接口应用- Comparator </vt:lpstr>
      <vt:lpstr>接口应用- Serializable</vt:lpstr>
      <vt:lpstr>使用接口的意义</vt:lpstr>
      <vt:lpstr>Interface summary</vt:lpstr>
      <vt:lpstr>总结</vt:lpstr>
      <vt:lpstr>完整的接口定义</vt:lpstr>
      <vt:lpstr>完整的java源文件</vt:lpstr>
      <vt:lpstr>完整的java源文件（续）</vt:lpstr>
      <vt:lpstr>复习——异常处理</vt:lpstr>
      <vt:lpstr>什么是异常</vt:lpstr>
      <vt:lpstr>幻灯片 33</vt:lpstr>
      <vt:lpstr>Java处理异常的机制</vt:lpstr>
      <vt:lpstr>Java处理异常的机制</vt:lpstr>
      <vt:lpstr>Throwable类及其子类</vt:lpstr>
      <vt:lpstr>Throwable类及其子类</vt:lpstr>
      <vt:lpstr>Throwable类及其子类</vt:lpstr>
      <vt:lpstr>Throwable类及其子类</vt:lpstr>
      <vt:lpstr>异常处理</vt:lpstr>
      <vt:lpstr>运行时异常</vt:lpstr>
      <vt:lpstr>捕获异常</vt:lpstr>
      <vt:lpstr>捕获异常</vt:lpstr>
      <vt:lpstr>捕获异常</vt:lpstr>
      <vt:lpstr>捕获异常</vt:lpstr>
      <vt:lpstr>幻灯片 46</vt:lpstr>
      <vt:lpstr>幻灯片 47</vt:lpstr>
      <vt:lpstr>声明异常</vt:lpstr>
      <vt:lpstr>声明异常</vt:lpstr>
      <vt:lpstr>抛弃异常</vt:lpstr>
      <vt:lpstr>抛弃异常</vt:lpstr>
      <vt:lpstr>抛弃异常</vt:lpstr>
      <vt:lpstr>总结——优点</vt:lpstr>
      <vt:lpstr>总结——原则</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接口</dc:title>
  <dc:creator>caihongsun</dc:creator>
  <cp:lastModifiedBy>Administrator</cp:lastModifiedBy>
  <cp:revision>30</cp:revision>
  <dcterms:created xsi:type="dcterms:W3CDTF">2012-04-16T08:14:06Z</dcterms:created>
  <dcterms:modified xsi:type="dcterms:W3CDTF">2015-04-22T04:22:40Z</dcterms:modified>
</cp:coreProperties>
</file>