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72" r:id="rId2"/>
  </p:sldMasterIdLst>
  <p:notesMasterIdLst>
    <p:notesMasterId r:id="rId49"/>
  </p:notesMasterIdLst>
  <p:handoutMasterIdLst>
    <p:handoutMasterId r:id="rId50"/>
  </p:handoutMasterIdLst>
  <p:sldIdLst>
    <p:sldId id="487" r:id="rId3"/>
    <p:sldId id="488" r:id="rId4"/>
    <p:sldId id="495" r:id="rId5"/>
    <p:sldId id="489" r:id="rId6"/>
    <p:sldId id="490" r:id="rId7"/>
    <p:sldId id="491" r:id="rId8"/>
    <p:sldId id="494" r:id="rId9"/>
    <p:sldId id="499" r:id="rId10"/>
    <p:sldId id="492" r:id="rId11"/>
    <p:sldId id="496" r:id="rId12"/>
    <p:sldId id="497" r:id="rId13"/>
    <p:sldId id="493" r:id="rId14"/>
    <p:sldId id="500" r:id="rId15"/>
    <p:sldId id="501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485" r:id="rId25"/>
    <p:sldId id="486" r:id="rId26"/>
    <p:sldId id="412" r:id="rId27"/>
    <p:sldId id="414" r:id="rId28"/>
    <p:sldId id="415" r:id="rId29"/>
    <p:sldId id="459" r:id="rId30"/>
    <p:sldId id="419" r:id="rId31"/>
    <p:sldId id="460" r:id="rId32"/>
    <p:sldId id="461" r:id="rId33"/>
    <p:sldId id="462" r:id="rId34"/>
    <p:sldId id="463" r:id="rId35"/>
    <p:sldId id="464" r:id="rId36"/>
    <p:sldId id="465" r:id="rId37"/>
    <p:sldId id="466" r:id="rId38"/>
    <p:sldId id="467" r:id="rId39"/>
    <p:sldId id="468" r:id="rId40"/>
    <p:sldId id="469" r:id="rId41"/>
    <p:sldId id="470" r:id="rId42"/>
    <p:sldId id="471" r:id="rId43"/>
    <p:sldId id="472" r:id="rId44"/>
    <p:sldId id="473" r:id="rId45"/>
    <p:sldId id="474" r:id="rId46"/>
    <p:sldId id="475" r:id="rId47"/>
    <p:sldId id="476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5" autoAdjust="0"/>
    <p:restoredTop sz="93053" autoAdjust="0"/>
  </p:normalViewPr>
  <p:slideViewPr>
    <p:cSldViewPr>
      <p:cViewPr varScale="1">
        <p:scale>
          <a:sx n="92" d="100"/>
          <a:sy n="92" d="100"/>
        </p:scale>
        <p:origin x="1528" y="184"/>
      </p:cViewPr>
      <p:guideLst>
        <p:guide orient="horz" pos="576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04" y="-78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063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92150"/>
            <a:ext cx="45561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FBFA0808-9A70-BE4D-8616-B72E5B291E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1650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宋体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宋体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宋体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宋体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宋体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C84938-5BDD-D04A-86CE-071FD37EAE3F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E844ED-78FD-C24C-9A22-258B3A92C985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98EF71-6BC0-794E-9F1D-31A8D0508D53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97CEC1-E935-EA4B-9E78-26AB1BDD15B4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67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54443A-1519-9D4F-968F-D0F6946486D7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590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3053A6-CBD2-4545-A9C5-D24564A102A0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67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43DEC7-A056-F442-9D61-F175095CF9F4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404123-14CD-F143-AA31-4926B01EB212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67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94514E-5748-794B-82FB-7F4D927D9472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68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33115D-6591-4E44-A379-15E87F9ED715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68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E98292-0F56-6847-A560-D86FB8198286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68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748D02-B263-5B4C-ACEC-A766D65E2818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68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811FFC-B365-684C-BF9D-74266A67EDE2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68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CE0CDB-5083-A44E-AA81-08BED1BC9A3A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69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45AA6-5402-C54F-8532-117A90D64473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69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31A257-0D81-D545-9B54-8F5A31EB48E3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69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8118B6-49E4-8749-ACB1-676E1A3AEA4D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69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5BCC6D-03A3-AA4E-B87F-40535C5C2FC5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69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40BA49-5616-6D4F-BE34-21B7F5117376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E4A20C-CC53-1D4B-A0C8-32F9665E4C72}" type="slidenum">
              <a:rPr lang="en-US" altLang="zh-CN"/>
              <a:pPr/>
              <a:t>44</a:t>
            </a:fld>
            <a:endParaRPr lang="en-US" altLang="zh-CN"/>
          </a:p>
        </p:txBody>
      </p:sp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4E4F73-C885-794C-B25E-438820E4A97E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70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448174-80C5-864B-B01B-391D9F3A1F40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70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Liang, Introduction to Java Programming, Eighth Edition, (c) 2011 Pearson Education, Inc. All rights reserved. 0132130807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B8C08-C47D-D54E-A578-A4198494C1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D746F-33AB-064E-BE6A-D0232BC3A9A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4F9A5-76FF-A04D-8FAF-8D0CB3338CC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2D17C-4485-C446-AC96-AC5E089377A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F60D9-5E7E-6B48-BFC8-2CC0BC413A7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AA8C46-53C8-9D44-8EC7-71FD9EF015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4308F2-04DE-384D-BD9A-36AC102A796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4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91A5A-B77B-1F4D-83C3-59CB401A4EB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F73B94-7401-2143-B677-573EEF4779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2D17C-4485-C446-AC96-AC5E089377A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02D17C-4485-C446-AC96-AC5E089377A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8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9144000" cy="14287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7F02D17C-4485-C446-AC96-AC5E089377A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5167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4"/>
            <a:ext cx="8229600" cy="452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hyperlink" Target="html/CircleModel.html" TargetMode="External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ml/CircleView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ml/CircleController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ml/MVCDemo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6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ml/SimpleSpinner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ml/SpinnerModelEditorDemo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2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4.png"/><Relationship Id="rId4" Type="http://schemas.openxmlformats.org/officeDocument/2006/relationships/oleObject" Target="../embeddings/oleObject1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16.bin"/><Relationship Id="rId4" Type="http://schemas.openxmlformats.org/officeDocument/2006/relationships/hyperlink" Target="html/ListPropertiesDemo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7.png"/><Relationship Id="rId5" Type="http://schemas.openxmlformats.org/officeDocument/2006/relationships/oleObject" Target="../embeddings/oleObject18.bin"/><Relationship Id="rId4" Type="http://schemas.openxmlformats.org/officeDocument/2006/relationships/hyperlink" Target="html/ListModelDemo.html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9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ml/ListCellRendererDemo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hyperlink" Target="html/MyListCellRenderer.html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0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1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ml/ComboBoxCellRendererDemo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3804" y="-243408"/>
            <a:ext cx="9144000" cy="4005063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622511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82798" y="1844824"/>
            <a:ext cx="8121650" cy="6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ker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JAVA MVC</a:t>
            </a:r>
            <a:endParaRPr lang="zh-CN" altLang="en-US" sz="4400" b="1" kern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4005064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改编自</a:t>
            </a:r>
            <a:r>
              <a:rPr lang="en-US" altLang="zh-CN" sz="2800" dirty="0"/>
              <a:t>Daniel Liang: Introduction to programming JAVA</a:t>
            </a:r>
            <a:r>
              <a:rPr lang="zh-CN" altLang="en-US" sz="2800" dirty="0"/>
              <a:t>课件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CE9F53-5A12-0C40-89AB-1CB83724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0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47909-D4FD-7543-AB17-E51AC8A3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JavaBeans</a:t>
            </a:r>
            <a:r>
              <a:rPr kumimoji="1" lang="zh-CN" altLang="en-US" dirty="0"/>
              <a:t>和</a:t>
            </a:r>
            <a:r>
              <a:rPr kumimoji="1" lang="en-US" altLang="zh-CN" dirty="0"/>
              <a:t>bean</a:t>
            </a:r>
            <a:r>
              <a:rPr kumimoji="1" lang="zh-CN" altLang="en-US" dirty="0"/>
              <a:t>事件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F009A-03E7-064F-9C2D-2A0BB3B5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21E2B5-AE29-BF4C-9DC7-000E0539DB38}"/>
              </a:ext>
            </a:extLst>
          </p:cNvPr>
          <p:cNvSpPr/>
          <p:nvPr/>
        </p:nvSpPr>
        <p:spPr>
          <a:xfrm>
            <a:off x="1295400" y="2286000"/>
            <a:ext cx="6553200" cy="3657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5CA086-3EC3-1441-9B2C-533E8BF87DA6}"/>
              </a:ext>
            </a:extLst>
          </p:cNvPr>
          <p:cNvSpPr/>
          <p:nvPr/>
        </p:nvSpPr>
        <p:spPr>
          <a:xfrm flipH="1" flipV="1">
            <a:off x="3048000" y="2819400"/>
            <a:ext cx="4495800" cy="2514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6C02A0-176A-0D4E-9CA0-72A91734AA6D}"/>
              </a:ext>
            </a:extLst>
          </p:cNvPr>
          <p:cNvSpPr txBox="1"/>
          <p:nvPr/>
        </p:nvSpPr>
        <p:spPr>
          <a:xfrm>
            <a:off x="1327428" y="2362200"/>
            <a:ext cx="14157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类：</a:t>
            </a:r>
            <a:endParaRPr kumimoji="1" lang="en-US" altLang="zh-CN" dirty="0"/>
          </a:p>
          <a:p>
            <a:r>
              <a:rPr kumimoji="1" lang="zh-CN" altLang="en-US" dirty="0"/>
              <a:t>数据成员</a:t>
            </a:r>
            <a:endParaRPr kumimoji="1" lang="en-US" altLang="zh-CN" dirty="0"/>
          </a:p>
          <a:p>
            <a:r>
              <a:rPr kumimoji="1" lang="zh-CN" altLang="en-US" dirty="0"/>
              <a:t>方法</a:t>
            </a:r>
            <a:endParaRPr kumimoji="1" lang="en-US" altLang="zh-CN" dirty="0"/>
          </a:p>
          <a:p>
            <a:r>
              <a:rPr kumimoji="1" lang="zh-CN" altLang="en-US" dirty="0"/>
              <a:t>构造方法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43179A-A6D1-004C-A569-DA819CC9F7BF}"/>
              </a:ext>
            </a:extLst>
          </p:cNvPr>
          <p:cNvSpPr txBox="1"/>
          <p:nvPr/>
        </p:nvSpPr>
        <p:spPr>
          <a:xfrm>
            <a:off x="3352900" y="2960638"/>
            <a:ext cx="38860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JavaBeans</a:t>
            </a:r>
            <a:r>
              <a:rPr kumimoji="1" lang="zh-CN" altLang="en-US" dirty="0"/>
              <a:t>组件</a:t>
            </a:r>
            <a:endParaRPr kumimoji="1" lang="en-US" altLang="zh-CN" dirty="0"/>
          </a:p>
          <a:p>
            <a:r>
              <a:rPr kumimoji="1" lang="zh-CN" altLang="en-US" dirty="0"/>
              <a:t>   公共类</a:t>
            </a:r>
            <a:endParaRPr kumimoji="1" lang="en-US" altLang="zh-CN" dirty="0"/>
          </a:p>
          <a:p>
            <a:r>
              <a:rPr kumimoji="1" lang="zh-CN" altLang="en-US" dirty="0"/>
              <a:t>   公共无参构造方法</a:t>
            </a:r>
            <a:endParaRPr kumimoji="1" lang="en-US" altLang="zh-CN" dirty="0"/>
          </a:p>
          <a:p>
            <a:r>
              <a:rPr kumimoji="1" lang="zh-CN" altLang="en-US" dirty="0"/>
              <a:t>   可序列化</a:t>
            </a:r>
            <a:endParaRPr kumimoji="1" lang="en-US" altLang="zh-CN" dirty="0"/>
          </a:p>
          <a:p>
            <a:r>
              <a:rPr kumimoji="1" lang="zh-CN" altLang="en-US" dirty="0"/>
              <a:t>   可能有访问器</a:t>
            </a:r>
            <a:r>
              <a:rPr kumimoji="1" lang="en-US" altLang="zh-CN" dirty="0"/>
              <a:t>/</a:t>
            </a:r>
            <a:r>
              <a:rPr kumimoji="1" lang="zh-CN" altLang="en-US" dirty="0"/>
              <a:t>修改器方法</a:t>
            </a:r>
            <a:endParaRPr kumimoji="1" lang="en-US" altLang="zh-CN" dirty="0"/>
          </a:p>
          <a:p>
            <a:r>
              <a:rPr kumimoji="1" lang="zh-CN" altLang="en-US" dirty="0"/>
              <a:t>   可能有注册</a:t>
            </a:r>
            <a:r>
              <a:rPr kumimoji="1" lang="en-US" altLang="zh-CN" dirty="0"/>
              <a:t>/</a:t>
            </a:r>
            <a:r>
              <a:rPr kumimoji="1" lang="zh-CN" altLang="en-US" dirty="0"/>
              <a:t>注销方法</a:t>
            </a:r>
          </a:p>
        </p:txBody>
      </p:sp>
    </p:spTree>
    <p:extLst>
      <p:ext uri="{BB962C8B-B14F-4D97-AF65-F5344CB8AC3E}">
        <p14:creationId xmlns:p14="http://schemas.microsoft.com/office/powerpoint/2010/main" val="32150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536E5-9224-F94A-8D7B-876299F3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如何理解</a:t>
            </a:r>
            <a:r>
              <a:rPr kumimoji="1" lang="en-US" altLang="zh-CN" dirty="0"/>
              <a:t>JavaBeans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1498D6-A22A-A447-9D21-A10CE4616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组件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可重用，满足一定规范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接口</a:t>
            </a:r>
            <a:endParaRPr kumimoji="1" lang="en-US" altLang="zh-CN" dirty="0"/>
          </a:p>
          <a:p>
            <a:r>
              <a:rPr kumimoji="1" lang="zh-CN" altLang="en-US" dirty="0"/>
              <a:t>例子：</a:t>
            </a:r>
            <a:r>
              <a:rPr kumimoji="1" lang="en-US" altLang="zh-CN" dirty="0"/>
              <a:t>GUI </a:t>
            </a:r>
            <a:r>
              <a:rPr kumimoji="1" lang="zh-CN" altLang="en-US" dirty="0"/>
              <a:t>界面类，如</a:t>
            </a:r>
            <a:r>
              <a:rPr kumimoji="1" lang="en-US" altLang="zh-CN" dirty="0" err="1"/>
              <a:t>Jbutton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r>
              <a:rPr kumimoji="1" lang="zh-CN" altLang="en-US" dirty="0"/>
              <a:t>类，对象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354AE-7A33-7D43-90EF-EC5FA2203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5088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F7D68-A707-0A40-BCB0-1AE5C0C5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事件模型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0C633-E3C7-434D-B48E-D0AF5F06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</a:t>
            </a:r>
            <a:r>
              <a:rPr kumimoji="1" lang="en-US" altLang="zh-CN" dirty="0"/>
              <a:t>bean</a:t>
            </a:r>
            <a:r>
              <a:rPr kumimoji="1" lang="zh-CN" altLang="en-US" dirty="0"/>
              <a:t>可以和其他</a:t>
            </a:r>
            <a:r>
              <a:rPr kumimoji="1" lang="en-US" altLang="zh-CN" dirty="0"/>
              <a:t>bean</a:t>
            </a:r>
            <a:r>
              <a:rPr kumimoji="1" lang="zh-CN" altLang="en-US" dirty="0"/>
              <a:t>相互通信。</a:t>
            </a:r>
            <a:endParaRPr kumimoji="1" lang="en-US" altLang="zh-CN" dirty="0"/>
          </a:p>
          <a:p>
            <a:r>
              <a:rPr kumimoji="1" lang="en-US" altLang="zh-CN" dirty="0"/>
              <a:t>Java</a:t>
            </a:r>
            <a:r>
              <a:rPr kumimoji="1" lang="zh-CN" altLang="en-US" dirty="0"/>
              <a:t>事件模型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事件对象   （</a:t>
            </a:r>
            <a:r>
              <a:rPr kumimoji="1" lang="en-US" altLang="zh-CN" dirty="0" err="1"/>
              <a:t>EventObject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源对象        （如</a:t>
            </a:r>
            <a:r>
              <a:rPr kumimoji="1" lang="en-US" altLang="zh-CN" dirty="0" err="1"/>
              <a:t>JButton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事件监听器对象</a:t>
            </a:r>
            <a:r>
              <a:rPr kumimoji="1" lang="en-US" altLang="zh-CN" dirty="0"/>
              <a:t> (</a:t>
            </a:r>
            <a:r>
              <a:rPr kumimoji="1" lang="zh-CN" altLang="en-US" dirty="0"/>
              <a:t>如实现了</a:t>
            </a:r>
            <a:r>
              <a:rPr kumimoji="1" lang="en-US" altLang="zh-CN" dirty="0"/>
              <a:t>ActionListener</a:t>
            </a:r>
            <a:r>
              <a:rPr kumimoji="1" lang="zh-CN" altLang="en-US" dirty="0"/>
              <a:t>的类的一个对象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299ACF-BAEA-7D40-8A4A-96A03269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633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1CCAF-8659-3342-9933-6E29EB98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事件处理过程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09E443-05AD-7941-B907-59773F4CF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5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8789E4-CE49-9445-8484-C7182BD1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60971"/>
            <a:ext cx="7100182" cy="44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7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9AAB3-85E3-B543-9669-A2B7ED63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创建自定义源组件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4B85E-DBEE-9147-9CAE-1E414F10E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源组件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注册与注销方法 （注册监听器对象）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包含特定代码，可以创建事件对象，以及通过传递这个事件对象去调用监听器的处理器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负责注册监听器、创建事件、调用在监听器接口中定义的方法通知监听器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D51B40-C7CC-2D44-A04E-092952E7A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49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EDA16-7E24-2442-8422-B37D2CED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CADD78-DDAD-C74A-9536-BC62B4B70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招生如果超出限额时，进行处理</a:t>
            </a:r>
            <a:endParaRPr kumimoji="1" lang="en-US" altLang="zh-CN" dirty="0"/>
          </a:p>
          <a:p>
            <a:r>
              <a:rPr kumimoji="1" lang="zh-CN" altLang="en-US" dirty="0"/>
              <a:t>代码：</a:t>
            </a:r>
            <a:r>
              <a:rPr kumimoji="1" lang="en-US" altLang="zh-CN" dirty="0" err="1"/>
              <a:t>CourseWithActionEvent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利用已有的事件组（</a:t>
            </a:r>
            <a:r>
              <a:rPr kumimoji="1" lang="en-US" altLang="zh-CN" dirty="0" err="1"/>
              <a:t>ActionEvent+ActionListener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比较其他实现方法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2F97CC-1EDD-0749-9A83-2E2F04B5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449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81BA1-34CA-6544-8588-EA51AAAA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利用已有事件组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D914C-43CB-1B4C-9D6E-AA929CD20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1800" dirty="0" err="1"/>
              <a:t>java.awt.event.ActionEvent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extends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java.util.EventObject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800" dirty="0"/>
              <a:t>Methods</a:t>
            </a:r>
            <a:r>
              <a:rPr kumimoji="1" lang="zh-CN" altLang="en-US" sz="1800" dirty="0"/>
              <a:t>：</a:t>
            </a:r>
            <a:r>
              <a:rPr kumimoji="1" lang="en-US" altLang="zh-CN" sz="1800" dirty="0" err="1"/>
              <a:t>ActionEvent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source:Object</a:t>
            </a:r>
            <a:r>
              <a:rPr kumimoji="1" lang="en-US" altLang="zh-CN" sz="1800" dirty="0"/>
              <a:t>, </a:t>
            </a:r>
            <a:r>
              <a:rPr kumimoji="1" lang="en-US" altLang="zh-CN" sz="1800" dirty="0" err="1"/>
              <a:t>id:int,Command:String</a:t>
            </a:r>
            <a:r>
              <a:rPr kumimoji="1" lang="en-US" altLang="zh-CN" sz="1800" dirty="0"/>
              <a:t>)</a:t>
            </a:r>
          </a:p>
          <a:p>
            <a:pPr marL="0" indent="0">
              <a:buNone/>
            </a:pPr>
            <a:r>
              <a:rPr kumimoji="1" lang="en-US" altLang="zh-CN" sz="1800" dirty="0"/>
              <a:t>	</a:t>
            </a: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getActionCommand</a:t>
            </a:r>
            <a:r>
              <a:rPr kumimoji="1" lang="en-US" altLang="zh-CN" sz="1800" dirty="0"/>
              <a:t> ():String</a:t>
            </a:r>
          </a:p>
          <a:p>
            <a:pPr marL="0" indent="0">
              <a:buNone/>
            </a:pPr>
            <a:r>
              <a:rPr kumimoji="1" lang="zh-CN" altLang="en-US" sz="1800" dirty="0"/>
              <a:t>                 </a:t>
            </a:r>
            <a:r>
              <a:rPr kumimoji="1" lang="en-US" altLang="zh-CN" sz="1800" dirty="0" err="1"/>
              <a:t>getModifier</a:t>
            </a:r>
            <a:r>
              <a:rPr kumimoji="1" lang="en-US" altLang="zh-CN" sz="1800" dirty="0"/>
              <a:t>():int</a:t>
            </a:r>
          </a:p>
          <a:p>
            <a:pPr marL="0" indent="0">
              <a:buNone/>
            </a:pPr>
            <a:r>
              <a:rPr kumimoji="1" lang="en-US" altLang="zh-CN" sz="1800" dirty="0"/>
              <a:t>	    </a:t>
            </a:r>
            <a:r>
              <a:rPr kumimoji="1" lang="en-US" altLang="zh-CN" sz="1800" dirty="0" err="1"/>
              <a:t>getWhen</a:t>
            </a:r>
            <a:r>
              <a:rPr kumimoji="1" lang="en-US" altLang="zh-CN" sz="1800" dirty="0"/>
              <a:t>():long</a:t>
            </a:r>
          </a:p>
          <a:p>
            <a:pPr marL="0" indent="0">
              <a:buNone/>
            </a:pP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ActionListener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implements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java.util.EventListener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zh-CN" altLang="en-US" sz="1800" dirty="0"/>
              <a:t>   </a:t>
            </a:r>
            <a:r>
              <a:rPr kumimoji="1" lang="en-US" altLang="zh-CN" sz="1800" dirty="0" err="1"/>
              <a:t>actionPerformed</a:t>
            </a:r>
            <a:r>
              <a:rPr kumimoji="1" lang="en-US" altLang="zh-CN" sz="1800" dirty="0"/>
              <a:t>(e: </a:t>
            </a:r>
            <a:r>
              <a:rPr kumimoji="1" lang="en-US" altLang="zh-CN" sz="1800" dirty="0" err="1"/>
              <a:t>ActionEvent</a:t>
            </a:r>
            <a:r>
              <a:rPr kumimoji="1" lang="en-US" altLang="zh-CN" sz="1800" dirty="0"/>
              <a:t>):void</a:t>
            </a:r>
          </a:p>
          <a:p>
            <a:pPr marL="0" indent="0">
              <a:buNone/>
            </a:pP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D6116B-5954-D347-B9F0-A554BF93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930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CDF08-A0CB-F24F-8615-3D75DD34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0E651E-B65A-6D47-9F82-197D7024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9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2945ED-FD16-C744-A6C3-7715C0694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41" y="1824568"/>
            <a:ext cx="7846317" cy="412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3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10E09-F9B7-6E46-A016-BFE3548DF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自定义事件组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E3CD66-1484-6C48-A0B7-9CB662298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/>
              <a:t>可以增加些自定义的属性</a:t>
            </a:r>
            <a:endParaRPr kumimoji="1" lang="en-US" altLang="zh-CN" sz="2400" dirty="0"/>
          </a:p>
          <a:p>
            <a:r>
              <a:rPr kumimoji="1" lang="zh-CN" altLang="en-US" sz="2400" dirty="0"/>
              <a:t>事件组：事件</a:t>
            </a:r>
            <a:r>
              <a:rPr kumimoji="1" lang="en-US" altLang="zh-CN" sz="2400" dirty="0"/>
              <a:t>+</a:t>
            </a:r>
            <a:r>
              <a:rPr kumimoji="1" lang="zh-CN" altLang="en-US" sz="2400" dirty="0"/>
              <a:t>监听器</a:t>
            </a:r>
            <a:endParaRPr kumimoji="1" lang="en-US" altLang="zh-CN" sz="2400" dirty="0"/>
          </a:p>
          <a:p>
            <a:r>
              <a:rPr kumimoji="1" lang="zh-CN" altLang="en-US" sz="2400" dirty="0"/>
              <a:t>继承 </a:t>
            </a:r>
            <a:r>
              <a:rPr kumimoji="1" lang="en-US" altLang="zh-CN" sz="2400" dirty="0" err="1"/>
              <a:t>java.util.EventObject</a:t>
            </a:r>
            <a:r>
              <a:rPr kumimoji="1" lang="zh-CN" altLang="en-US" sz="2400" dirty="0"/>
              <a:t>和</a:t>
            </a:r>
            <a:r>
              <a:rPr kumimoji="1" lang="en-US" altLang="zh-CN" sz="2400" dirty="0" err="1"/>
              <a:t>java.util.EventListener</a:t>
            </a:r>
            <a:endParaRPr kumimoji="1" lang="en-US" altLang="zh-CN" sz="2400" dirty="0"/>
          </a:p>
          <a:p>
            <a:r>
              <a:rPr kumimoji="1" lang="zh-CN" altLang="en-US" sz="2400" dirty="0"/>
              <a:t>注意：创建一个事件</a:t>
            </a:r>
            <a:r>
              <a:rPr kumimoji="1" lang="zh-CN" altLang="en-US" sz="2400"/>
              <a:t>时必须指定其</a:t>
            </a:r>
            <a:r>
              <a:rPr kumimoji="1" lang="zh-CN" altLang="en-US" sz="2400" dirty="0"/>
              <a:t>源对象，所以事件类没有无参构造方法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3D2ACD-FC32-0443-8BEA-791EBBA6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184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81BA1-34CA-6544-8588-EA51AAAA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自定义事件组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D914C-43CB-1B4C-9D6E-AA929CD20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1800" dirty="0" err="1"/>
              <a:t>EnrollmentEvent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extends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java.util.EventObject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800" dirty="0"/>
              <a:t>Attributes</a:t>
            </a:r>
            <a:r>
              <a:rPr kumimoji="1" lang="zh-CN" altLang="en-US" sz="1800" dirty="0"/>
              <a:t>：</a:t>
            </a:r>
            <a:r>
              <a:rPr kumimoji="1" lang="en-US" altLang="zh-CN" sz="1800" dirty="0" err="1"/>
              <a:t>StudentToEnroll:String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800" dirty="0"/>
              <a:t>    	</a:t>
            </a:r>
            <a:r>
              <a:rPr kumimoji="1" lang="zh-CN" altLang="en-US" sz="1800" dirty="0"/>
              <a:t>      </a:t>
            </a:r>
            <a:r>
              <a:rPr kumimoji="1" lang="en-US" altLang="zh-CN" sz="1800" dirty="0"/>
              <a:t> </a:t>
            </a:r>
            <a:r>
              <a:rPr kumimoji="1" lang="en-US" altLang="zh-CN" sz="1800" dirty="0" err="1"/>
              <a:t>enrollmentCap:int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800" dirty="0"/>
              <a:t>Methods</a:t>
            </a:r>
            <a:r>
              <a:rPr kumimoji="1" lang="zh-CN" altLang="en-US" sz="1800" dirty="0"/>
              <a:t>：</a:t>
            </a:r>
            <a:r>
              <a:rPr kumimoji="1" lang="en-US" altLang="zh-CN" sz="1800" dirty="0" err="1"/>
              <a:t>EnrollmentEvent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source:Object,students:int,enrollmentCap:int</a:t>
            </a:r>
            <a:r>
              <a:rPr kumimoji="1" lang="en-US" altLang="zh-CN" sz="1800" dirty="0"/>
              <a:t>)</a:t>
            </a:r>
          </a:p>
          <a:p>
            <a:pPr marL="0" indent="0">
              <a:buNone/>
            </a:pPr>
            <a:r>
              <a:rPr kumimoji="1" lang="en-US" altLang="zh-CN" sz="1800" dirty="0"/>
              <a:t>	</a:t>
            </a: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getEnrollmentCap</a:t>
            </a:r>
            <a:r>
              <a:rPr kumimoji="1" lang="en-US" altLang="zh-CN" sz="1800" dirty="0"/>
              <a:t>():int</a:t>
            </a:r>
          </a:p>
          <a:p>
            <a:pPr marL="0" indent="0">
              <a:buNone/>
            </a:pPr>
            <a:r>
              <a:rPr kumimoji="1" lang="zh-CN" altLang="en-US" sz="1800" dirty="0"/>
              <a:t>                 </a:t>
            </a:r>
            <a:r>
              <a:rPr kumimoji="1" lang="en-US" altLang="zh-CN" sz="1800" dirty="0" err="1"/>
              <a:t>getStudentToEnroll</a:t>
            </a:r>
            <a:r>
              <a:rPr kumimoji="1" lang="en-US" altLang="zh-CN" sz="1800" dirty="0"/>
              <a:t>():String</a:t>
            </a:r>
          </a:p>
          <a:p>
            <a:pPr marL="0" indent="0">
              <a:buNone/>
            </a:pPr>
            <a:r>
              <a:rPr kumimoji="1" lang="en-US" altLang="zh-CN" sz="1800" dirty="0"/>
              <a:t>Interface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EnrollmentListener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implements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java.util.EventListener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zh-CN" altLang="en-US" sz="1800" dirty="0"/>
              <a:t>   </a:t>
            </a:r>
            <a:r>
              <a:rPr kumimoji="1" lang="en-US" altLang="zh-CN" sz="1800" dirty="0" err="1"/>
              <a:t>enrollmentExceeded</a:t>
            </a:r>
            <a:r>
              <a:rPr kumimoji="1" lang="en-US" altLang="zh-CN" sz="1800" dirty="0"/>
              <a:t>(e: </a:t>
            </a:r>
            <a:r>
              <a:rPr kumimoji="1" lang="en-US" altLang="zh-CN" sz="1800" dirty="0" err="1"/>
              <a:t>ErollmentEvent</a:t>
            </a:r>
            <a:r>
              <a:rPr kumimoji="1" lang="en-US" altLang="zh-CN" sz="1800" dirty="0"/>
              <a:t>):void</a:t>
            </a:r>
          </a:p>
          <a:p>
            <a:pPr marL="0" indent="0">
              <a:buNone/>
            </a:pP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D6116B-5954-D347-B9F0-A554BF93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83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C1170-F502-FC45-A181-351FD506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例子：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616A1C-7006-3243-97FC-81439D2F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12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D3DA4C-0964-6D41-AD2C-39C91424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86" y="1981200"/>
            <a:ext cx="8729628" cy="399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0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E8E46-8051-AF40-AE55-1A66D408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MVC</a:t>
            </a:r>
            <a:r>
              <a:rPr kumimoji="1" lang="zh-CN" altLang="en-US" dirty="0"/>
              <a:t>：框架模式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F3412-EA5C-BF44-9FC3-135A304E4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框架模式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用来对软件设计进行分工 （大智慧）</a:t>
            </a:r>
            <a:endParaRPr kumimoji="1" lang="en-US" altLang="zh-CN" dirty="0"/>
          </a:p>
          <a:p>
            <a:r>
              <a:rPr kumimoji="1" lang="zh-CN" altLang="en-US" dirty="0"/>
              <a:t>设计模式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对具体问题提出解决方案以提高代码复用率，降低耦合度 （小技巧）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02727-C2B3-5A4B-A7B7-A75073E7F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070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CE95B-CAD3-1A49-B04D-76BEC77C3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JAVA</a:t>
            </a:r>
            <a:r>
              <a:rPr kumimoji="1" lang="zh-CN" altLang="en-US" dirty="0"/>
              <a:t>事件委托模型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875500-FDF0-B64D-8B07-E9F564499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800" dirty="0"/>
              <a:t>提供一种很好的架构支持</a:t>
            </a:r>
            <a:r>
              <a:rPr kumimoji="1" lang="en-US" altLang="zh-CN" sz="2800" dirty="0"/>
              <a:t>MVC</a:t>
            </a:r>
            <a:r>
              <a:rPr kumimoji="1" lang="zh-CN" altLang="en-US" sz="2800" dirty="0"/>
              <a:t>组件模型开发</a:t>
            </a:r>
            <a:endParaRPr kumimoji="1" lang="en-US" altLang="zh-CN" sz="2800" dirty="0"/>
          </a:p>
          <a:p>
            <a:r>
              <a:rPr kumimoji="1" lang="zh-CN" altLang="en-US" sz="2800" dirty="0"/>
              <a:t>模型可以实现为一个带着事件和事件监听器注册方法的源，视图可以实现为监听器，构建模型与视图之间的关系</a:t>
            </a:r>
            <a:endParaRPr kumimoji="1" lang="en-US" altLang="zh-CN" sz="2800" dirty="0"/>
          </a:p>
          <a:p>
            <a:r>
              <a:rPr kumimoji="1" lang="zh-CN" altLang="en-US" sz="2800" dirty="0"/>
              <a:t>控制器获取数据传给</a:t>
            </a:r>
            <a:r>
              <a:rPr kumimoji="1" lang="en-US" altLang="zh-CN" sz="2800" dirty="0"/>
              <a:t>MVC</a:t>
            </a:r>
            <a:endParaRPr kumimoji="1"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60E7AE-952A-EE45-8614-324D679D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D746F-33AB-064E-BE6A-D0232BC3A9A2}" type="slidenum">
              <a:rPr lang="en-US" altLang="zh-CN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0290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458200" cy="476250"/>
          </a:xfrm>
        </p:spPr>
        <p:txBody>
          <a:bodyPr/>
          <a:lstStyle/>
          <a:p>
            <a:r>
              <a:rPr lang="en-US" altLang="zh-CN" sz="4000">
                <a:cs typeface="Times New Roman" charset="0"/>
              </a:rPr>
              <a:t>Model-View-Controller (MVC)</a:t>
            </a:r>
          </a:p>
        </p:txBody>
      </p:sp>
      <p:sp>
        <p:nvSpPr>
          <p:cNvPr id="12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3DE48-C013-754C-A2FA-733FE39842E3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770051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0052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0053" name="Text Box 5"/>
          <p:cNvSpPr txBox="1">
            <a:spLocks noChangeArrowheads="1"/>
          </p:cNvSpPr>
          <p:nvPr/>
        </p:nvSpPr>
        <p:spPr bwMode="auto">
          <a:xfrm>
            <a:off x="228600" y="1398587"/>
            <a:ext cx="8686800" cy="3454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Separating data storage and handling from the visual representation of the data</a:t>
            </a:r>
            <a:r>
              <a:rPr lang="zh-CN" altLang="en-US" sz="2300">
                <a:cs typeface="Times New Roman" charset="0"/>
              </a:rPr>
              <a:t> 将数据</a:t>
            </a:r>
            <a:r>
              <a:rPr lang="zh-CN" altLang="en-US" sz="2300" dirty="0">
                <a:cs typeface="Times New Roman" charset="0"/>
              </a:rPr>
              <a:t>存储和处理从数据的可视化表示中分离出来</a:t>
            </a:r>
            <a:endParaRPr lang="en-US" altLang="zh-CN" sz="2300" dirty="0">
              <a:cs typeface="Times New Roman" charset="0"/>
            </a:endParaRPr>
          </a:p>
          <a:p>
            <a:pPr marL="511175" lvl="1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The component for storing and handling data, known as a model, contains the actual contents of the component. </a:t>
            </a:r>
            <a:r>
              <a:rPr lang="zh-CN" altLang="en-US" sz="2300" dirty="0">
                <a:cs typeface="Times New Roman" charset="0"/>
              </a:rPr>
              <a:t>  存储和处理数据</a:t>
            </a:r>
            <a:endParaRPr lang="en-US" altLang="zh-CN" sz="2300" dirty="0">
              <a:cs typeface="Times New Roman" charset="0"/>
            </a:endParaRPr>
          </a:p>
          <a:p>
            <a:pPr marL="511175" lvl="1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The component for presenting the data, known as a view, handles all essential component behaviors. </a:t>
            </a:r>
            <a:r>
              <a:rPr lang="zh-CN" altLang="en-US" sz="2300" dirty="0">
                <a:cs typeface="Times New Roman" charset="0"/>
              </a:rPr>
              <a:t>  显示数据</a:t>
            </a:r>
            <a:endParaRPr lang="en-US" altLang="zh-CN" sz="2300" dirty="0">
              <a:cs typeface="Times New Roman" charset="0"/>
            </a:endParaRPr>
          </a:p>
          <a:p>
            <a:pPr marL="511175" lvl="1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The controller is a component that is usually responsible for obtaining data.</a:t>
            </a:r>
            <a:r>
              <a:rPr lang="zh-CN" altLang="en-US" sz="2300" dirty="0">
                <a:cs typeface="Times New Roman" charset="0"/>
              </a:rPr>
              <a:t>  一般用来获取数据</a:t>
            </a:r>
            <a:endParaRPr lang="en-US" altLang="zh-CN" sz="2300" dirty="0">
              <a:cs typeface="Times New Roman" charset="0"/>
            </a:endParaRPr>
          </a:p>
        </p:txBody>
      </p:sp>
      <p:sp>
        <p:nvSpPr>
          <p:cNvPr id="770054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0055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0056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0057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0058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700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912823"/>
              </p:ext>
            </p:extLst>
          </p:nvPr>
        </p:nvGraphicFramePr>
        <p:xfrm>
          <a:off x="0" y="4713287"/>
          <a:ext cx="9144000" cy="214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083" name="图片" r:id="rId3" imgW="4629912" imgH="1086612" progId="Word.Picture.8">
                  <p:embed/>
                </p:oleObj>
              </mc:Choice>
              <mc:Fallback>
                <p:oleObj name="图片" r:id="rId3" imgW="4629912" imgH="1086612" progId="Word.Picture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713287"/>
                        <a:ext cx="9144000" cy="214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14350"/>
            <a:ext cx="8458200" cy="476250"/>
          </a:xfrm>
        </p:spPr>
        <p:txBody>
          <a:bodyPr/>
          <a:lstStyle/>
          <a:p>
            <a:r>
              <a:rPr lang="en-US" altLang="zh-CN" sz="4000" dirty="0">
                <a:cs typeface="Times New Roman" charset="0"/>
              </a:rPr>
              <a:t>Benefits of MVC</a:t>
            </a: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60BC-C0C1-0D47-AE98-819B2DA73C2A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771075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1076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1077" name="Text Box 5"/>
          <p:cNvSpPr txBox="1">
            <a:spLocks noChangeArrowheads="1"/>
          </p:cNvSpPr>
          <p:nvPr/>
        </p:nvSpPr>
        <p:spPr bwMode="auto">
          <a:xfrm>
            <a:off x="228600" y="1817687"/>
            <a:ext cx="8686800" cy="237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It makes multiple views possible so that data can be shared through the same model. For example, a model storing student names can simultaneously be displayed in a combo box or in a list box </a:t>
            </a:r>
          </a:p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It simplifies the task of writing complex applications and makes the components scalable and easy to maintain. Changes can be made to the view without affecting the model, and vice versa </a:t>
            </a:r>
          </a:p>
        </p:txBody>
      </p:sp>
      <p:sp>
        <p:nvSpPr>
          <p:cNvPr id="771078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1079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1080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1081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1082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14350"/>
            <a:ext cx="8839200" cy="476250"/>
          </a:xfrm>
        </p:spPr>
        <p:txBody>
          <a:bodyPr/>
          <a:lstStyle/>
          <a:p>
            <a:r>
              <a:rPr lang="en-US" altLang="zh-CN" sz="3200" dirty="0">
                <a:cs typeface="Times New Roman" charset="0"/>
              </a:rPr>
              <a:t>Synchronization between Model and View</a:t>
            </a: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0625F-5791-974D-9373-D43043BCD597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772099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2100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2101" name="Text Box 5"/>
          <p:cNvSpPr txBox="1">
            <a:spLocks noChangeArrowheads="1"/>
          </p:cNvSpPr>
          <p:nvPr/>
        </p:nvSpPr>
        <p:spPr bwMode="auto">
          <a:xfrm>
            <a:off x="228600" y="1403350"/>
            <a:ext cx="8686800" cy="4162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A model contains data, whereas a view makes the data visible. Once a view is associated with a model, it immediately displays updates to the model.</a:t>
            </a:r>
          </a:p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 To achieve consistency and synchronize the model with its dependent views, the model should notify the views when there is a change in a property in the model that is used in the view.</a:t>
            </a:r>
          </a:p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 In response to a change notification, the view is responsible for redisplaying the viewing area affected by the property change. </a:t>
            </a:r>
          </a:p>
          <a:p>
            <a:pPr marL="342900" indent="-342900">
              <a:spcBef>
                <a:spcPct val="50000"/>
              </a:spcBef>
              <a:buFont typeface="Arial"/>
              <a:buChar char="•"/>
            </a:pPr>
            <a:r>
              <a:rPr lang="en-US" altLang="zh-CN" sz="2300" dirty="0">
                <a:cs typeface="Times New Roman" charset="0"/>
              </a:rPr>
              <a:t>The JDK event delegation model provides a superior architecture for supporting MVC component development. </a:t>
            </a:r>
          </a:p>
        </p:txBody>
      </p:sp>
      <p:sp>
        <p:nvSpPr>
          <p:cNvPr id="772102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2103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2104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2105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2106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200" dirty="0">
                <a:cs typeface="Times New Roman" charset="0"/>
              </a:rPr>
              <a:t>Example: Developing Model-View-Controller Components</a:t>
            </a:r>
          </a:p>
        </p:txBody>
      </p:sp>
      <p:sp>
        <p:nvSpPr>
          <p:cNvPr id="19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661153"/>
            <a:ext cx="2133600" cy="366183"/>
          </a:xfrm>
        </p:spPr>
        <p:txBody>
          <a:bodyPr/>
          <a:lstStyle/>
          <a:p>
            <a:fld id="{1341C181-FAA8-C047-ADFB-92D983FA1E18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773123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24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25" name="Text Box 5"/>
          <p:cNvSpPr txBox="1">
            <a:spLocks noChangeArrowheads="1"/>
          </p:cNvSpPr>
          <p:nvPr/>
        </p:nvSpPr>
        <p:spPr bwMode="auto">
          <a:xfrm>
            <a:off x="228600" y="1441450"/>
            <a:ext cx="8610600" cy="297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100" dirty="0">
                <a:cs typeface="Times New Roman" charset="0"/>
              </a:rPr>
              <a:t>Problem: The example creates a model named </a:t>
            </a:r>
            <a:r>
              <a:rPr lang="en-US" altLang="zh-CN" sz="2100" u="sng" dirty="0" err="1">
                <a:cs typeface="Times New Roman" charset="0"/>
              </a:rPr>
              <a:t>CircleModel</a:t>
            </a:r>
            <a:r>
              <a:rPr lang="en-US" altLang="zh-CN" sz="2100" dirty="0">
                <a:cs typeface="Times New Roman" charset="0"/>
              </a:rPr>
              <a:t>, a view named </a:t>
            </a:r>
            <a:r>
              <a:rPr lang="en-US" altLang="zh-CN" sz="2100" u="sng" dirty="0" err="1">
                <a:cs typeface="Times New Roman" charset="0"/>
              </a:rPr>
              <a:t>CircleView</a:t>
            </a:r>
            <a:r>
              <a:rPr lang="en-US" altLang="zh-CN" sz="2100" dirty="0">
                <a:cs typeface="Times New Roman" charset="0"/>
              </a:rPr>
              <a:t> and a controller named </a:t>
            </a:r>
            <a:r>
              <a:rPr lang="en-US" altLang="zh-CN" sz="2100" u="sng" dirty="0" err="1">
                <a:cs typeface="Times New Roman" charset="0"/>
              </a:rPr>
              <a:t>CircleControl</a:t>
            </a:r>
            <a:r>
              <a:rPr lang="en-US" altLang="zh-CN" sz="2100" dirty="0">
                <a:cs typeface="Times New Roman" charset="0"/>
              </a:rPr>
              <a:t>. </a:t>
            </a:r>
            <a:r>
              <a:rPr lang="en-US" altLang="zh-CN" sz="2100" u="sng" dirty="0" err="1">
                <a:cs typeface="Times New Roman" charset="0"/>
              </a:rPr>
              <a:t>CircleModel</a:t>
            </a:r>
            <a:r>
              <a:rPr lang="en-US" altLang="zh-CN" sz="2100" dirty="0">
                <a:cs typeface="Times New Roman" charset="0"/>
              </a:rPr>
              <a:t> stores the properties (</a:t>
            </a:r>
            <a:r>
              <a:rPr lang="en-US" altLang="zh-CN" sz="2100" u="sng" dirty="0">
                <a:cs typeface="Times New Roman" charset="0"/>
              </a:rPr>
              <a:t>radius</a:t>
            </a:r>
            <a:r>
              <a:rPr lang="en-US" altLang="zh-CN" sz="2100" dirty="0">
                <a:cs typeface="Times New Roman" charset="0"/>
              </a:rPr>
              <a:t>, </a:t>
            </a:r>
            <a:r>
              <a:rPr lang="en-US" altLang="zh-CN" sz="2100" u="sng" dirty="0">
                <a:cs typeface="Times New Roman" charset="0"/>
              </a:rPr>
              <a:t>filled</a:t>
            </a:r>
            <a:r>
              <a:rPr lang="en-US" altLang="zh-CN" sz="2100" dirty="0">
                <a:cs typeface="Times New Roman" charset="0"/>
              </a:rPr>
              <a:t>, and </a:t>
            </a:r>
            <a:r>
              <a:rPr lang="en-US" altLang="zh-CN" sz="2100" u="sng" dirty="0">
                <a:cs typeface="Times New Roman" charset="0"/>
              </a:rPr>
              <a:t>color</a:t>
            </a:r>
            <a:r>
              <a:rPr lang="en-US" altLang="zh-CN" sz="2100" dirty="0">
                <a:cs typeface="Times New Roman" charset="0"/>
              </a:rPr>
              <a:t>) that describe a circle. </a:t>
            </a:r>
            <a:r>
              <a:rPr lang="en-US" altLang="zh-CN" sz="2100" u="sng" dirty="0">
                <a:cs typeface="Times New Roman" charset="0"/>
              </a:rPr>
              <a:t>filled</a:t>
            </a:r>
            <a:r>
              <a:rPr lang="en-US" altLang="zh-CN" sz="2100" dirty="0">
                <a:cs typeface="Times New Roman" charset="0"/>
              </a:rPr>
              <a:t> is a </a:t>
            </a:r>
            <a:r>
              <a:rPr lang="en-US" altLang="zh-CN" sz="2100" dirty="0" err="1">
                <a:cs typeface="Times New Roman" charset="0"/>
              </a:rPr>
              <a:t>boolean</a:t>
            </a:r>
            <a:r>
              <a:rPr lang="en-US" altLang="zh-CN" sz="2100" dirty="0">
                <a:cs typeface="Times New Roman" charset="0"/>
              </a:rPr>
              <a:t> value that indicates whether a circle is filled. </a:t>
            </a:r>
            <a:r>
              <a:rPr lang="en-US" altLang="zh-CN" sz="2100" u="sng" dirty="0" err="1">
                <a:cs typeface="Times New Roman" charset="0"/>
              </a:rPr>
              <a:t>CircleView</a:t>
            </a:r>
            <a:r>
              <a:rPr lang="en-US" altLang="zh-CN" sz="2100" dirty="0">
                <a:cs typeface="Times New Roman" charset="0"/>
              </a:rPr>
              <a:t> draws a circle according to the properties of the circle. </a:t>
            </a:r>
            <a:r>
              <a:rPr lang="en-US" altLang="zh-CN" sz="2100" u="sng" dirty="0" err="1">
                <a:cs typeface="Times New Roman" charset="0"/>
              </a:rPr>
              <a:t>CircleControl</a:t>
            </a:r>
            <a:r>
              <a:rPr lang="en-US" altLang="zh-CN" sz="2100" dirty="0">
                <a:cs typeface="Times New Roman" charset="0"/>
              </a:rPr>
              <a:t> enables the user to enter circle properties from a graphical user interface. Create an applet with two buttons named </a:t>
            </a:r>
            <a:r>
              <a:rPr lang="en-US" altLang="zh-CN" sz="2100" i="1" dirty="0">
                <a:cs typeface="Times New Roman" charset="0"/>
              </a:rPr>
              <a:t>Show Controller</a:t>
            </a:r>
            <a:r>
              <a:rPr lang="en-US" altLang="zh-CN" sz="2100" dirty="0">
                <a:cs typeface="Times New Roman" charset="0"/>
              </a:rPr>
              <a:t> and </a:t>
            </a:r>
            <a:r>
              <a:rPr lang="en-US" altLang="zh-CN" sz="2100" i="1" dirty="0">
                <a:cs typeface="Times New Roman" charset="0"/>
              </a:rPr>
              <a:t>Show View</a:t>
            </a:r>
            <a:r>
              <a:rPr lang="en-US" altLang="zh-CN" sz="2100" dirty="0">
                <a:cs typeface="Times New Roman" charset="0"/>
              </a:rPr>
              <a:t>. When click the Show Controller button, the controller is displayed in a frame. When click the Show View button, the view is displayed in a separate frame.</a:t>
            </a:r>
          </a:p>
        </p:txBody>
      </p:sp>
      <p:sp>
        <p:nvSpPr>
          <p:cNvPr id="773126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27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28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29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30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31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3133" name="Line 13"/>
          <p:cNvSpPr>
            <a:spLocks noChangeShapeType="1"/>
          </p:cNvSpPr>
          <p:nvPr/>
        </p:nvSpPr>
        <p:spPr bwMode="auto">
          <a:xfrm flipH="1">
            <a:off x="6934200" y="5029200"/>
            <a:ext cx="106680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3134" name="Text Box 14"/>
          <p:cNvSpPr txBox="1">
            <a:spLocks noChangeArrowheads="1"/>
          </p:cNvSpPr>
          <p:nvPr/>
        </p:nvSpPr>
        <p:spPr bwMode="auto">
          <a:xfrm>
            <a:off x="7696200" y="46482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view</a:t>
            </a:r>
          </a:p>
        </p:txBody>
      </p:sp>
      <p:sp>
        <p:nvSpPr>
          <p:cNvPr id="773135" name="Line 15"/>
          <p:cNvSpPr>
            <a:spLocks noChangeShapeType="1"/>
          </p:cNvSpPr>
          <p:nvPr/>
        </p:nvSpPr>
        <p:spPr bwMode="auto">
          <a:xfrm>
            <a:off x="1371600" y="5105400"/>
            <a:ext cx="838200" cy="609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3136" name="Text Box 16"/>
          <p:cNvSpPr txBox="1">
            <a:spLocks noChangeArrowheads="1"/>
          </p:cNvSpPr>
          <p:nvPr/>
        </p:nvSpPr>
        <p:spPr bwMode="auto">
          <a:xfrm>
            <a:off x="533400" y="4724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controller</a:t>
            </a:r>
          </a:p>
        </p:txBody>
      </p:sp>
      <p:pic>
        <p:nvPicPr>
          <p:cNvPr id="773137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648200"/>
            <a:ext cx="27432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3138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638800"/>
            <a:ext cx="2438400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3139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638800"/>
            <a:ext cx="1981200" cy="106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600" dirty="0" err="1">
                <a:cs typeface="Times New Roman" charset="0"/>
              </a:rPr>
              <a:t>CircleModel</a:t>
            </a:r>
            <a:endParaRPr lang="en-US" altLang="zh-CN" sz="3600" dirty="0">
              <a:cs typeface="Times New Roman" charset="0"/>
            </a:endParaRPr>
          </a:p>
        </p:txBody>
      </p:sp>
      <p:sp>
        <p:nvSpPr>
          <p:cNvPr id="1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A881A-EBCE-2448-B429-4BF45BD287A5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774147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48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49" name="Text Box 5"/>
          <p:cNvSpPr txBox="1">
            <a:spLocks noChangeArrowheads="1"/>
          </p:cNvSpPr>
          <p:nvPr/>
        </p:nvSpPr>
        <p:spPr bwMode="auto">
          <a:xfrm>
            <a:off x="228600" y="1468437"/>
            <a:ext cx="86106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The circle model stores the data and notifies any change of data to the listeners. The circle model contains properties </a:t>
            </a:r>
            <a:r>
              <a:rPr lang="en-US" altLang="zh-CN" sz="2300" u="sng" dirty="0">
                <a:cs typeface="Times New Roman" charset="0"/>
              </a:rPr>
              <a:t>radius</a:t>
            </a:r>
            <a:r>
              <a:rPr lang="en-US" altLang="zh-CN" sz="2300" dirty="0">
                <a:cs typeface="Times New Roman" charset="0"/>
              </a:rPr>
              <a:t>, </a:t>
            </a:r>
            <a:r>
              <a:rPr lang="en-US" altLang="zh-CN" sz="2300" u="sng" dirty="0">
                <a:cs typeface="Times New Roman" charset="0"/>
              </a:rPr>
              <a:t>filled</a:t>
            </a:r>
            <a:r>
              <a:rPr lang="en-US" altLang="zh-CN" sz="2300" dirty="0">
                <a:cs typeface="Times New Roman" charset="0"/>
              </a:rPr>
              <a:t>, and </a:t>
            </a:r>
            <a:r>
              <a:rPr lang="en-US" altLang="zh-CN" sz="2300" u="sng" dirty="0">
                <a:cs typeface="Times New Roman" charset="0"/>
              </a:rPr>
              <a:t>color</a:t>
            </a:r>
            <a:r>
              <a:rPr lang="en-US" altLang="zh-CN" sz="2300" dirty="0">
                <a:cs typeface="Times New Roman" charset="0"/>
              </a:rPr>
              <a:t>, as well as the registration/deregistration methods for action event.</a:t>
            </a:r>
          </a:p>
        </p:txBody>
      </p:sp>
      <p:sp>
        <p:nvSpPr>
          <p:cNvPr id="774150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51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52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53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54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55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4156" name="Rectangle 12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741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982853"/>
              </p:ext>
            </p:extLst>
          </p:nvPr>
        </p:nvGraphicFramePr>
        <p:xfrm>
          <a:off x="0" y="2840037"/>
          <a:ext cx="8915400" cy="340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183" r:id="rId3" imgW="3886200" imgH="1485900" progId="Word.Picture.8">
                  <p:embed/>
                </p:oleObj>
              </mc:Choice>
              <mc:Fallback>
                <p:oleObj r:id="rId3" imgW="3886200" imgH="1485900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840037"/>
                        <a:ext cx="8915400" cy="3408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58" name="AutoShape 1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743200" y="6248400"/>
            <a:ext cx="3657600" cy="5334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charset="0"/>
                <a:hlinkClick r:id="rId5" action="ppaction://program"/>
              </a:rPr>
              <a:t>CircleModel</a:t>
            </a:r>
            <a:endParaRPr lang="en-US" altLang="zh-CN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600">
                <a:cs typeface="Times New Roman" charset="0"/>
              </a:rPr>
              <a:t>CircleView</a:t>
            </a:r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644217"/>
            <a:ext cx="2133600" cy="366183"/>
          </a:xfrm>
        </p:spPr>
        <p:txBody>
          <a:bodyPr/>
          <a:lstStyle/>
          <a:p>
            <a:fld id="{DB2B18F1-5AED-684B-8436-FEB2E3A1DDF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775171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2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3" name="Text Box 5"/>
          <p:cNvSpPr txBox="1">
            <a:spLocks noChangeArrowheads="1"/>
          </p:cNvSpPr>
          <p:nvPr/>
        </p:nvSpPr>
        <p:spPr bwMode="auto">
          <a:xfrm>
            <a:off x="228600" y="1354664"/>
            <a:ext cx="8610600" cy="184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The view implements </a:t>
            </a:r>
            <a:r>
              <a:rPr lang="en-US" altLang="zh-CN" sz="2300" dirty="0" err="1">
                <a:cs typeface="Times New Roman" charset="0"/>
              </a:rPr>
              <a:t>ActionListener</a:t>
            </a:r>
            <a:r>
              <a:rPr lang="en-US" altLang="zh-CN" sz="2300" dirty="0">
                <a:cs typeface="Times New Roman" charset="0"/>
              </a:rPr>
              <a:t> to listen for notifications from the model. It contains the model as its property. When a model is set in the view, the view is registered with the model. The view extends </a:t>
            </a:r>
            <a:r>
              <a:rPr lang="en-US" altLang="zh-CN" sz="2300" dirty="0" err="1">
                <a:cs typeface="Times New Roman" charset="0"/>
              </a:rPr>
              <a:t>JPanel</a:t>
            </a:r>
            <a:r>
              <a:rPr lang="en-US" altLang="zh-CN" sz="2300" dirty="0">
                <a:cs typeface="Times New Roman" charset="0"/>
              </a:rPr>
              <a:t> to override the </a:t>
            </a:r>
            <a:r>
              <a:rPr lang="en-US" altLang="zh-CN" sz="2300" dirty="0" err="1">
                <a:cs typeface="Times New Roman" charset="0"/>
              </a:rPr>
              <a:t>paintComponent</a:t>
            </a:r>
            <a:r>
              <a:rPr lang="en-US" altLang="zh-CN" sz="2300" dirty="0">
                <a:cs typeface="Times New Roman" charset="0"/>
              </a:rPr>
              <a:t> method to draw the circle according to the properties values specified in the model. </a:t>
            </a:r>
          </a:p>
        </p:txBody>
      </p:sp>
      <p:sp>
        <p:nvSpPr>
          <p:cNvPr id="775174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5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6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7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8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79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80" name="Rectangle 12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5181" name="AutoShape 1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743200" y="6231464"/>
            <a:ext cx="3657600" cy="533400"/>
          </a:xfrm>
          <a:prstGeom prst="actionButtonBlank">
            <a:avLst/>
          </a:prstGeom>
          <a:solidFill>
            <a:schemeClr val="tx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charset="0"/>
                <a:hlinkClick r:id="rId3" action="ppaction://program"/>
              </a:rPr>
              <a:t>CircleView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75182" name="Rectangle 14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751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50115"/>
              </p:ext>
            </p:extLst>
          </p:nvPr>
        </p:nvGraphicFramePr>
        <p:xfrm>
          <a:off x="914400" y="3375025"/>
          <a:ext cx="7315200" cy="279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5208" name="Picture" r:id="rId4" imgW="3886200" imgH="1486080" progId="Word.Picture.8">
                  <p:embed/>
                </p:oleObj>
              </mc:Choice>
              <mc:Fallback>
                <p:oleObj name="Picture" r:id="rId4" imgW="3886200" imgH="1486080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375025"/>
                        <a:ext cx="7315200" cy="2797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600">
                <a:cs typeface="Times New Roman" charset="0"/>
              </a:rPr>
              <a:t>CircleController</a:t>
            </a:r>
          </a:p>
        </p:txBody>
      </p:sp>
      <p:sp>
        <p:nvSpPr>
          <p:cNvPr id="1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E88C4-E48A-1040-97F8-1C1E4E7F2936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776195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196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197" name="Text Box 5"/>
          <p:cNvSpPr txBox="1">
            <a:spLocks noChangeArrowheads="1"/>
          </p:cNvSpPr>
          <p:nvPr/>
        </p:nvSpPr>
        <p:spPr bwMode="auto">
          <a:xfrm>
            <a:off x="228600" y="1993900"/>
            <a:ext cx="8610600" cy="219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The controller presents a GUI interface that enables the user to enter circle properties radius, filled, and color. It contains the model as its property. You can use the </a:t>
            </a:r>
            <a:r>
              <a:rPr lang="en-US" altLang="zh-CN" sz="2300" dirty="0" err="1">
                <a:cs typeface="Times New Roman" charset="0"/>
              </a:rPr>
              <a:t>setModel</a:t>
            </a:r>
            <a:r>
              <a:rPr lang="en-US" altLang="zh-CN" sz="2300" dirty="0">
                <a:cs typeface="Times New Roman" charset="0"/>
              </a:rPr>
              <a:t> method to associate a circle model with the controller. It uses a text field to obtain a new radius and a combo box to obtain a </a:t>
            </a:r>
            <a:r>
              <a:rPr lang="en-US" altLang="zh-CN" sz="2300" dirty="0" err="1">
                <a:cs typeface="Times New Roman" charset="0"/>
              </a:rPr>
              <a:t>boolean</a:t>
            </a:r>
            <a:r>
              <a:rPr lang="en-US" altLang="zh-CN" sz="2300" dirty="0">
                <a:cs typeface="Times New Roman" charset="0"/>
              </a:rPr>
              <a:t> value to specify whether the circle is filled. </a:t>
            </a:r>
          </a:p>
        </p:txBody>
      </p:sp>
      <p:sp>
        <p:nvSpPr>
          <p:cNvPr id="776198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199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00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01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02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03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04" name="Rectangle 12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6205" name="AutoShape 1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743200" y="4953000"/>
            <a:ext cx="3657600" cy="533400"/>
          </a:xfrm>
          <a:prstGeom prst="actionButtonBlank">
            <a:avLst/>
          </a:prstGeom>
          <a:solidFill>
            <a:schemeClr val="bg1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charset="0"/>
                <a:hlinkClick r:id="rId2" action="ppaction://program"/>
              </a:rPr>
              <a:t>CircleController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776206" name="Rectangle 14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600">
                <a:cs typeface="Times New Roman" charset="0"/>
              </a:rPr>
              <a:t>Putting Things Together</a:t>
            </a:r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B8809-DA18-E746-925D-A188D7458704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777219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0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1" name="Text Box 5"/>
          <p:cNvSpPr txBox="1">
            <a:spLocks noChangeArrowheads="1"/>
          </p:cNvSpPr>
          <p:nvPr/>
        </p:nvSpPr>
        <p:spPr bwMode="auto">
          <a:xfrm>
            <a:off x="228600" y="1933575"/>
            <a:ext cx="86106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Finally, let us create an applet named </a:t>
            </a:r>
            <a:r>
              <a:rPr lang="en-US" altLang="zh-CN" sz="2300" dirty="0" err="1">
                <a:cs typeface="Times New Roman" charset="0"/>
              </a:rPr>
              <a:t>MVCDemo</a:t>
            </a:r>
            <a:r>
              <a:rPr lang="en-US" altLang="zh-CN" sz="2300" dirty="0">
                <a:cs typeface="Times New Roman" charset="0"/>
              </a:rPr>
              <a:t> with two buttons Show Controller and Show View. The Show Controller button displays a controller in a frame and the Show View button displays a view in a separate frame. </a:t>
            </a:r>
          </a:p>
        </p:txBody>
      </p:sp>
      <p:sp>
        <p:nvSpPr>
          <p:cNvPr id="777222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3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4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5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6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7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8" name="Rectangle 12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7229" name="AutoShape 13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819400" y="5105400"/>
            <a:ext cx="2133600" cy="5334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charset="0"/>
                <a:hlinkClick r:id="rId2" action="ppaction://program"/>
              </a:rPr>
              <a:t>MVCDemo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777230" name="Rectangle 14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600">
                <a:cs typeface="Times New Roman" charset="0"/>
              </a:rPr>
              <a:t>MVC Variations</a:t>
            </a:r>
          </a:p>
        </p:txBody>
      </p:sp>
      <p:sp>
        <p:nvSpPr>
          <p:cNvPr id="1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92696-A71D-2243-A1D6-DBE772EE1B26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778243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44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45" name="Text Box 5"/>
          <p:cNvSpPr txBox="1">
            <a:spLocks noChangeArrowheads="1"/>
          </p:cNvSpPr>
          <p:nvPr/>
        </p:nvSpPr>
        <p:spPr bwMode="auto">
          <a:xfrm>
            <a:off x="228600" y="1446212"/>
            <a:ext cx="86106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>
                <a:cs typeface="Times New Roman" charset="0"/>
              </a:rPr>
              <a:t>One variation of the model-view-controller architecture is to combine the controller with the view. In this case, a view not only presents the data, but is also used as an interface to interact with the user and accept user input. </a:t>
            </a:r>
          </a:p>
        </p:txBody>
      </p:sp>
      <p:sp>
        <p:nvSpPr>
          <p:cNvPr id="778246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47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48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49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50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51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52" name="Rectangle 12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53" name="Rectangle 13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8254" name="Rectangle 14"/>
          <p:cNvSpPr>
            <a:spLocks noChangeArrowheads="1"/>
          </p:cNvSpPr>
          <p:nvPr/>
        </p:nvSpPr>
        <p:spPr bwMode="auto">
          <a:xfrm>
            <a:off x="2438400" y="2743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78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730757"/>
              </p:ext>
            </p:extLst>
          </p:nvPr>
        </p:nvGraphicFramePr>
        <p:xfrm>
          <a:off x="304800" y="2817812"/>
          <a:ext cx="8153400" cy="262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281" r:id="rId3" imgW="4267200" imgH="1371600" progId="Word.Picture.8">
                  <p:embed/>
                </p:oleObj>
              </mc:Choice>
              <mc:Fallback>
                <p:oleObj r:id="rId3" imgW="4267200" imgH="1371600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817812"/>
                        <a:ext cx="8153400" cy="2620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56" name="Text Box 16"/>
          <p:cNvSpPr txBox="1">
            <a:spLocks noChangeArrowheads="1"/>
          </p:cNvSpPr>
          <p:nvPr/>
        </p:nvSpPr>
        <p:spPr bwMode="auto">
          <a:xfrm>
            <a:off x="228600" y="5484812"/>
            <a:ext cx="8610600" cy="114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>
                <a:cs typeface="Times New Roman" charset="0"/>
              </a:rPr>
              <a:t>Another variation of the model-view-controller architecture is to add part of the data from the model to the view so that the frequently used data can be accessed directly from the 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838200"/>
          </a:xfrm>
        </p:spPr>
        <p:txBody>
          <a:bodyPr/>
          <a:lstStyle/>
          <a:p>
            <a:r>
              <a:rPr lang="en-US" altLang="zh-CN" sz="3600">
                <a:cs typeface="Times New Roman" charset="0"/>
              </a:rPr>
              <a:t>Swing MVC</a:t>
            </a:r>
          </a:p>
        </p:txBody>
      </p:sp>
      <p:sp>
        <p:nvSpPr>
          <p:cNvPr id="1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03CAE-D4E2-2C45-BBF8-C09E51596E25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779267" name="Rectangle 3"/>
          <p:cNvSpPr>
            <a:spLocks noChangeArrowheads="1"/>
          </p:cNvSpPr>
          <p:nvPr/>
        </p:nvSpPr>
        <p:spPr bwMode="auto">
          <a:xfrm>
            <a:off x="2200275" y="24003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68" name="Rectangle 4"/>
          <p:cNvSpPr>
            <a:spLocks noChangeArrowheads="1"/>
          </p:cNvSpPr>
          <p:nvPr/>
        </p:nvSpPr>
        <p:spPr bwMode="auto">
          <a:xfrm>
            <a:off x="2628900" y="1714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69" name="Text Box 5"/>
          <p:cNvSpPr txBox="1">
            <a:spLocks noChangeArrowheads="1"/>
          </p:cNvSpPr>
          <p:nvPr/>
        </p:nvSpPr>
        <p:spPr bwMode="auto">
          <a:xfrm>
            <a:off x="228600" y="1933575"/>
            <a:ext cx="8610600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8925" indent="-288925"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宋体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300" dirty="0">
                <a:cs typeface="Times New Roman" charset="0"/>
              </a:rPr>
              <a:t>NOTE: Swing components are designed using the MVC architecture. Each Swing GUI component is a view that uses a model to store data. Many components contain part of the data in the model so that they can be accessed directly from the component. </a:t>
            </a:r>
          </a:p>
        </p:txBody>
      </p:sp>
      <p:sp>
        <p:nvSpPr>
          <p:cNvPr id="779270" name="Rectangle 6"/>
          <p:cNvSpPr>
            <a:spLocks noChangeArrowheads="1"/>
          </p:cNvSpPr>
          <p:nvPr/>
        </p:nvSpPr>
        <p:spPr bwMode="auto">
          <a:xfrm>
            <a:off x="16002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1" name="Rectangle 7"/>
          <p:cNvSpPr>
            <a:spLocks noChangeArrowheads="1"/>
          </p:cNvSpPr>
          <p:nvPr/>
        </p:nvSpPr>
        <p:spPr bwMode="auto">
          <a:xfrm>
            <a:off x="2171700" y="1800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2" name="Rectangle 8"/>
          <p:cNvSpPr>
            <a:spLocks noChangeArrowheads="1"/>
          </p:cNvSpPr>
          <p:nvPr/>
        </p:nvSpPr>
        <p:spPr bwMode="auto">
          <a:xfrm>
            <a:off x="1657350" y="2457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3" name="Rectangle 9"/>
          <p:cNvSpPr>
            <a:spLocks noChangeArrowheads="1"/>
          </p:cNvSpPr>
          <p:nvPr/>
        </p:nvSpPr>
        <p:spPr bwMode="auto">
          <a:xfrm>
            <a:off x="182880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4" name="Rectangle 10"/>
          <p:cNvSpPr>
            <a:spLocks noChangeArrowheads="1"/>
          </p:cNvSpPr>
          <p:nvPr/>
        </p:nvSpPr>
        <p:spPr bwMode="auto">
          <a:xfrm>
            <a:off x="2257425" y="2886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5" name="Rectangle 11"/>
          <p:cNvSpPr>
            <a:spLocks noChangeArrowheads="1"/>
          </p:cNvSpPr>
          <p:nvPr/>
        </p:nvSpPr>
        <p:spPr bwMode="auto">
          <a:xfrm>
            <a:off x="2100263" y="2366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6" name="Rectangle 12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7" name="Rectangle 13"/>
          <p:cNvSpPr>
            <a:spLocks noChangeArrowheads="1"/>
          </p:cNvSpPr>
          <p:nvPr/>
        </p:nvSpPr>
        <p:spPr bwMode="auto">
          <a:xfrm>
            <a:off x="2628900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79278" name="Rectangle 14"/>
          <p:cNvSpPr>
            <a:spLocks noChangeArrowheads="1"/>
          </p:cNvSpPr>
          <p:nvPr/>
        </p:nvSpPr>
        <p:spPr bwMode="auto">
          <a:xfrm>
            <a:off x="2438400" y="2743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"/>
          </a:xfrm>
          <a:noFill/>
          <a:ln/>
        </p:spPr>
        <p:txBody>
          <a:bodyPr/>
          <a:lstStyle/>
          <a:p>
            <a:r>
              <a:rPr lang="en-US" altLang="zh-CN" sz="3200" dirty="0">
                <a:cs typeface="Times New Roman" charset="0"/>
              </a:rPr>
              <a:t>Swing Model-View-Controller Architecture</a:t>
            </a:r>
            <a:r>
              <a:rPr lang="en-US" altLang="zh-CN" sz="2800" dirty="0"/>
              <a:t> </a:t>
            </a:r>
          </a:p>
        </p:txBody>
      </p:sp>
      <p:sp>
        <p:nvSpPr>
          <p:cNvPr id="5754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4114800" cy="1752600"/>
          </a:xfrm>
          <a:noFill/>
          <a:ln/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2000">
                <a:cs typeface="Times New Roman" charset="0"/>
              </a:rPr>
              <a:t>Each Swing user interface component (except some containers and dialog boxes such as </a:t>
            </a:r>
            <a:r>
              <a:rPr lang="en-US" altLang="zh-CN" sz="2000" u="sng">
                <a:cs typeface="Times New Roman" charset="0"/>
              </a:rPr>
              <a:t>JPanel</a:t>
            </a:r>
            <a:r>
              <a:rPr lang="en-US" altLang="zh-CN" sz="2000">
                <a:cs typeface="Times New Roman" charset="0"/>
              </a:rPr>
              <a:t>, </a:t>
            </a:r>
            <a:r>
              <a:rPr lang="en-US" altLang="zh-CN" sz="2000" u="sng">
                <a:cs typeface="Times New Roman" charset="0"/>
              </a:rPr>
              <a:t>JSplitPane</a:t>
            </a:r>
            <a:r>
              <a:rPr lang="en-US" altLang="zh-CN" sz="2000">
                <a:cs typeface="Times New Roman" charset="0"/>
              </a:rPr>
              <a:t>, </a:t>
            </a:r>
            <a:r>
              <a:rPr lang="en-US" altLang="zh-CN" sz="2000" u="sng">
                <a:cs typeface="Times New Roman" charset="0"/>
              </a:rPr>
              <a:t>JFileChooser</a:t>
            </a:r>
            <a:r>
              <a:rPr lang="en-US" altLang="zh-CN" sz="2000">
                <a:cs typeface="Times New Roman" charset="0"/>
              </a:rPr>
              <a:t>, and </a:t>
            </a:r>
            <a:r>
              <a:rPr lang="en-US" altLang="zh-CN" sz="2000" u="sng">
                <a:cs typeface="Times New Roman" charset="0"/>
              </a:rPr>
              <a:t>JColorChooser</a:t>
            </a:r>
            <a:r>
              <a:rPr lang="en-US" altLang="zh-CN" sz="2000">
                <a:cs typeface="Times New Roman" charset="0"/>
              </a:rPr>
              <a:t>) has a property named </a:t>
            </a:r>
            <a:r>
              <a:rPr lang="en-US" altLang="zh-CN" sz="2000" i="1" u="sng">
                <a:cs typeface="Times New Roman" charset="0"/>
              </a:rPr>
              <a:t>model</a:t>
            </a:r>
            <a:r>
              <a:rPr lang="en-US" altLang="zh-CN" sz="2000">
                <a:cs typeface="Times New Roman" charset="0"/>
              </a:rPr>
              <a:t> that refers to its data model.</a:t>
            </a:r>
            <a:endParaRPr lang="en-US" altLang="zh-CN" sz="2800"/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A68B-C193-0243-A037-7925AA5C4EEB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575494" name="Rectangle 6"/>
          <p:cNvSpPr>
            <a:spLocks noChangeArrowheads="1"/>
          </p:cNvSpPr>
          <p:nvPr/>
        </p:nvSpPr>
        <p:spPr bwMode="auto">
          <a:xfrm>
            <a:off x="1543050" y="27146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754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0482780"/>
              </p:ext>
            </p:extLst>
          </p:nvPr>
        </p:nvGraphicFramePr>
        <p:xfrm>
          <a:off x="0" y="3711575"/>
          <a:ext cx="9144000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524" r:id="rId4" imgW="6057900" imgH="1429512" progId="Word.Picture.8">
                  <p:embed/>
                </p:oleObj>
              </mc:Choice>
              <mc:Fallback>
                <p:oleObj r:id="rId4" imgW="6057900" imgH="1429512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711575"/>
                        <a:ext cx="9144000" cy="215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5495" name="Line 7"/>
          <p:cNvSpPr>
            <a:spLocks noChangeShapeType="1"/>
          </p:cNvSpPr>
          <p:nvPr/>
        </p:nvSpPr>
        <p:spPr bwMode="auto">
          <a:xfrm>
            <a:off x="2362200" y="2895600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5496" name="Rectangle 8"/>
          <p:cNvSpPr>
            <a:spLocks noChangeArrowheads="1"/>
          </p:cNvSpPr>
          <p:nvPr/>
        </p:nvSpPr>
        <p:spPr bwMode="auto">
          <a:xfrm>
            <a:off x="4953000" y="1752600"/>
            <a:ext cx="38100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000">
                <a:cs typeface="Times New Roman" charset="0"/>
              </a:rPr>
              <a:t>The data model is defined in an interface whose name ends with </a:t>
            </a:r>
            <a:r>
              <a:rPr lang="en-US" altLang="zh-CN" sz="2000" u="sng">
                <a:cs typeface="Times New Roman" charset="0"/>
              </a:rPr>
              <a:t>Model</a:t>
            </a:r>
            <a:r>
              <a:rPr lang="en-US" altLang="zh-CN" sz="2000">
                <a:cs typeface="Times New Roman" charset="0"/>
              </a:rPr>
              <a:t>. For example, the model for button component is </a:t>
            </a:r>
            <a:r>
              <a:rPr lang="en-US" altLang="zh-CN" sz="2000" u="sng">
                <a:cs typeface="Times New Roman" charset="0"/>
              </a:rPr>
              <a:t>ButtonModel</a:t>
            </a:r>
            <a:r>
              <a:rPr lang="en-US" altLang="zh-CN" sz="2000">
                <a:cs typeface="Times New Roman" charset="0"/>
              </a:rPr>
              <a:t>.</a:t>
            </a:r>
            <a:r>
              <a:rPr lang="en-US" altLang="zh-CN" sz="2000"/>
              <a:t> </a:t>
            </a:r>
          </a:p>
        </p:txBody>
      </p:sp>
      <p:sp>
        <p:nvSpPr>
          <p:cNvPr id="575497" name="Line 9"/>
          <p:cNvSpPr>
            <a:spLocks noChangeShapeType="1"/>
          </p:cNvSpPr>
          <p:nvPr/>
        </p:nvSpPr>
        <p:spPr bwMode="auto">
          <a:xfrm>
            <a:off x="6858000" y="2895600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5498" name="Rectangle 10"/>
          <p:cNvSpPr>
            <a:spLocks noChangeArrowheads="1"/>
          </p:cNvSpPr>
          <p:nvPr/>
        </p:nvSpPr>
        <p:spPr bwMode="auto">
          <a:xfrm>
            <a:off x="2590800" y="5638800"/>
            <a:ext cx="6553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000" dirty="0">
                <a:cs typeface="Times New Roman" charset="0"/>
              </a:rPr>
              <a:t>Most model interfaces have a default implementation class that is commonly named </a:t>
            </a:r>
            <a:r>
              <a:rPr lang="en-US" altLang="zh-CN" sz="2000" u="sng" dirty="0" err="1">
                <a:cs typeface="Times New Roman" charset="0"/>
              </a:rPr>
              <a:t>Default</a:t>
            </a:r>
            <a:r>
              <a:rPr lang="en-US" altLang="zh-CN" sz="2000" i="1" u="sng" dirty="0" err="1">
                <a:cs typeface="Times New Roman" charset="0"/>
              </a:rPr>
              <a:t>X</a:t>
            </a:r>
            <a:r>
              <a:rPr lang="en-US" altLang="zh-CN" sz="2000" dirty="0">
                <a:cs typeface="Times New Roman" charset="0"/>
              </a:rPr>
              <a:t>, where </a:t>
            </a:r>
            <a:r>
              <a:rPr lang="en-US" altLang="zh-CN" sz="2000" i="1" u="sng" dirty="0">
                <a:cs typeface="Times New Roman" charset="0"/>
              </a:rPr>
              <a:t>X</a:t>
            </a:r>
            <a:r>
              <a:rPr lang="en-US" altLang="zh-CN" sz="2000" dirty="0">
                <a:cs typeface="Times New Roman" charset="0"/>
              </a:rPr>
              <a:t> is its model interface name. For example, the default implementation class for </a:t>
            </a:r>
            <a:r>
              <a:rPr lang="en-US" altLang="zh-CN" sz="2000" u="sng" dirty="0" err="1">
                <a:cs typeface="Times New Roman" charset="0"/>
              </a:rPr>
              <a:t>ButtonModel</a:t>
            </a:r>
            <a:r>
              <a:rPr lang="en-US" altLang="zh-CN" sz="2000" dirty="0">
                <a:cs typeface="Times New Roman" charset="0"/>
              </a:rPr>
              <a:t> is </a:t>
            </a:r>
            <a:r>
              <a:rPr lang="en-US" altLang="zh-CN" sz="2000" u="sng" dirty="0" err="1">
                <a:cs typeface="Times New Roman" charset="0"/>
              </a:rPr>
              <a:t>DefaultButtonModel</a:t>
            </a:r>
            <a:r>
              <a:rPr lang="en-US" altLang="zh-CN" sz="2000" dirty="0">
                <a:cs typeface="Times New Roman" charset="0"/>
              </a:rPr>
              <a:t>.</a:t>
            </a:r>
            <a:r>
              <a:rPr lang="en-US" altLang="zh-CN" sz="2000" dirty="0"/>
              <a:t> </a:t>
            </a:r>
          </a:p>
        </p:txBody>
      </p:sp>
      <p:sp>
        <p:nvSpPr>
          <p:cNvPr id="575499" name="Line 11"/>
          <p:cNvSpPr>
            <a:spLocks noChangeShapeType="1"/>
          </p:cNvSpPr>
          <p:nvPr/>
        </p:nvSpPr>
        <p:spPr bwMode="auto">
          <a:xfrm flipV="1">
            <a:off x="8382000" y="4724400"/>
            <a:ext cx="0" cy="838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533400"/>
          </a:xfrm>
          <a:noFill/>
          <a:ln/>
        </p:spPr>
        <p:txBody>
          <a:bodyPr/>
          <a:lstStyle/>
          <a:p>
            <a:r>
              <a:rPr lang="en-US" altLang="zh-CN" sz="3200" dirty="0"/>
              <a:t>Swing Components and Their Models</a:t>
            </a:r>
          </a:p>
        </p:txBody>
      </p:sp>
      <p:sp>
        <p:nvSpPr>
          <p:cNvPr id="4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C003C-833F-A541-B090-946AE7043A56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579588" name="Text Box 4"/>
          <p:cNvSpPr txBox="1">
            <a:spLocks noChangeArrowheads="1"/>
          </p:cNvSpPr>
          <p:nvPr/>
        </p:nvSpPr>
        <p:spPr bwMode="auto">
          <a:xfrm>
            <a:off x="152400" y="1439862"/>
            <a:ext cx="8763000" cy="3711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cs typeface="Courier New" charset="0"/>
              </a:rPr>
              <a:t>For convenience, most Swing components contain some properties of their models, and these properties can be accessed and modified directly from the component without knowing the existence of the model..</a:t>
            </a:r>
          </a:p>
          <a:p>
            <a:pPr>
              <a:spcBef>
                <a:spcPct val="20000"/>
              </a:spcBef>
            </a:pPr>
            <a:endParaRPr lang="en-US" altLang="zh-CN" sz="2800" dirty="0">
              <a:cs typeface="Courier New" charset="0"/>
            </a:endParaRPr>
          </a:p>
          <a:p>
            <a:pPr>
              <a:spcBef>
                <a:spcPct val="20000"/>
              </a:spcBef>
            </a:pPr>
            <a:r>
              <a:rPr lang="en-US" altLang="zh-CN" sz="2800" dirty="0">
                <a:cs typeface="Courier New" charset="0"/>
              </a:rPr>
              <a:t>For advanced components such as </a:t>
            </a:r>
            <a:r>
              <a:rPr lang="en-US" altLang="zh-CN" sz="2800" u="sng" dirty="0" err="1">
                <a:cs typeface="Courier New" charset="0"/>
              </a:rPr>
              <a:t>JSpinner</a:t>
            </a:r>
            <a:r>
              <a:rPr lang="en-US" altLang="zh-CN" sz="2800" dirty="0">
                <a:cs typeface="Courier New" charset="0"/>
              </a:rPr>
              <a:t>, </a:t>
            </a:r>
            <a:r>
              <a:rPr lang="en-US" altLang="zh-CN" sz="2800" u="sng" dirty="0" err="1">
                <a:cs typeface="Courier New" charset="0"/>
              </a:rPr>
              <a:t>JList</a:t>
            </a:r>
            <a:r>
              <a:rPr lang="en-US" altLang="zh-CN" sz="2800" dirty="0">
                <a:cs typeface="Courier New" charset="0"/>
              </a:rPr>
              <a:t>, </a:t>
            </a:r>
            <a:r>
              <a:rPr lang="en-US" altLang="zh-CN" sz="2800" u="sng" dirty="0" err="1">
                <a:cs typeface="Courier New" charset="0"/>
              </a:rPr>
              <a:t>JComboBox</a:t>
            </a:r>
            <a:r>
              <a:rPr lang="en-US" altLang="zh-CN" sz="2800" dirty="0">
                <a:cs typeface="Courier New" charset="0"/>
              </a:rPr>
              <a:t>, </a:t>
            </a:r>
            <a:r>
              <a:rPr lang="en-US" altLang="zh-CN" sz="2800" u="sng" dirty="0" err="1">
                <a:cs typeface="Courier New" charset="0"/>
              </a:rPr>
              <a:t>JTable</a:t>
            </a:r>
            <a:r>
              <a:rPr lang="en-US" altLang="zh-CN" sz="2800" dirty="0">
                <a:cs typeface="Courier New" charset="0"/>
              </a:rPr>
              <a:t>, and </a:t>
            </a:r>
            <a:r>
              <a:rPr lang="en-US" altLang="zh-CN" sz="2800" u="sng" dirty="0" err="1">
                <a:cs typeface="Courier New" charset="0"/>
              </a:rPr>
              <a:t>JTree</a:t>
            </a:r>
            <a:r>
              <a:rPr lang="en-US" altLang="zh-CN" sz="2800" dirty="0">
                <a:cs typeface="Courier New" charset="0"/>
              </a:rPr>
              <a:t>, you have to work with their models to store, access and modify data.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/>
          <a:lstStyle/>
          <a:p>
            <a:r>
              <a:rPr lang="en-US" altLang="zh-CN" u="sng">
                <a:cs typeface="Times New Roman" charset="0"/>
              </a:rPr>
              <a:t>JSpinner</a:t>
            </a:r>
            <a:r>
              <a:rPr lang="en-US" altLang="zh-CN"/>
              <a:t> </a:t>
            </a:r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644217"/>
            <a:ext cx="2133600" cy="366183"/>
          </a:xfrm>
        </p:spPr>
        <p:txBody>
          <a:bodyPr/>
          <a:lstStyle/>
          <a:p>
            <a:fld id="{3E2A383D-F2E9-6149-8F34-5EAF33DFD07E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81636" name="Text Box 4"/>
          <p:cNvSpPr txBox="1">
            <a:spLocks noChangeArrowheads="1"/>
          </p:cNvSpPr>
          <p:nvPr/>
        </p:nvSpPr>
        <p:spPr bwMode="auto">
          <a:xfrm>
            <a:off x="304800" y="1354664"/>
            <a:ext cx="8534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cs typeface="Courier New" charset="0"/>
              </a:rPr>
              <a:t>A spinner is a text field with a pair of tiny arrow buttons on its right side that enable the user to select numbers, dates, or values from an ordered sequence. The keyboard up/down arrow keys also cycle through the elements. The user may also be allowed to type a (legal) value directly into the spinner. </a:t>
            </a:r>
            <a:endParaRPr lang="en-US" altLang="zh-CN" dirty="0">
              <a:latin typeface="Courier New" charset="0"/>
              <a:cs typeface="Courier New" charset="0"/>
            </a:endParaRPr>
          </a:p>
        </p:txBody>
      </p:sp>
      <p:sp>
        <p:nvSpPr>
          <p:cNvPr id="581639" name="Rectangle 7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5816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5695"/>
              </p:ext>
            </p:extLst>
          </p:nvPr>
        </p:nvGraphicFramePr>
        <p:xfrm>
          <a:off x="1981200" y="3869264"/>
          <a:ext cx="51816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664" r:id="rId4" imgW="3223539" imgH="1706667" progId="Paint.Picture">
                  <p:embed/>
                </p:oleObj>
              </mc:Choice>
              <mc:Fallback>
                <p:oleObj r:id="rId4" imgW="3223539" imgH="1706667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869264"/>
                        <a:ext cx="5181600" cy="274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85800"/>
          </a:xfrm>
          <a:noFill/>
          <a:ln/>
        </p:spPr>
        <p:txBody>
          <a:bodyPr/>
          <a:lstStyle/>
          <a:p>
            <a:r>
              <a:rPr lang="en-US" altLang="zh-CN" dirty="0">
                <a:cs typeface="Times New Roman" charset="0"/>
              </a:rPr>
              <a:t>The </a:t>
            </a:r>
            <a:r>
              <a:rPr lang="en-US" altLang="zh-CN" u="sng" dirty="0" err="1">
                <a:cs typeface="Times New Roman" charset="0"/>
              </a:rPr>
              <a:t>JSpinner</a:t>
            </a:r>
            <a:r>
              <a:rPr lang="en-US" altLang="zh-CN" dirty="0"/>
              <a:t> Class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720417"/>
            <a:ext cx="2133600" cy="366183"/>
          </a:xfrm>
        </p:spPr>
        <p:txBody>
          <a:bodyPr/>
          <a:lstStyle/>
          <a:p>
            <a:fld id="{EAF60531-5CFC-AA4B-AFD6-E2B6165774CC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671747" name="Text Box 3"/>
          <p:cNvSpPr txBox="1">
            <a:spLocks noChangeArrowheads="1"/>
          </p:cNvSpPr>
          <p:nvPr/>
        </p:nvSpPr>
        <p:spPr bwMode="auto">
          <a:xfrm>
            <a:off x="228600" y="1430864"/>
            <a:ext cx="8610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cs typeface="Times New Roman" charset="0"/>
              </a:rPr>
              <a:t>A </a:t>
            </a:r>
            <a:r>
              <a:rPr lang="en-US" altLang="zh-CN" sz="2000" u="sng">
                <a:cs typeface="Times New Roman" charset="0"/>
              </a:rPr>
              <a:t>JSpinner</a:t>
            </a:r>
            <a:r>
              <a:rPr lang="en-US" altLang="zh-CN" sz="2000">
                <a:cs typeface="Times New Roman" charset="0"/>
              </a:rPr>
              <a:t>'s sequence value is defined by the </a:t>
            </a: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 interface, which manages a potentially unbounded sequence of elements. The model doesn't support indexed random access to sequence elements. Only three sequence elements are accessible at a time: current, next and previous using the methods </a:t>
            </a:r>
            <a:r>
              <a:rPr lang="en-US" altLang="zh-CN" sz="2000" u="sng">
                <a:cs typeface="Times New Roman" charset="0"/>
              </a:rPr>
              <a:t>getValue()</a:t>
            </a:r>
            <a:r>
              <a:rPr lang="en-US" altLang="zh-CN" sz="2000">
                <a:cs typeface="Times New Roman" charset="0"/>
              </a:rPr>
              <a:t>, </a:t>
            </a:r>
            <a:r>
              <a:rPr lang="en-US" altLang="zh-CN" sz="2000" u="sng">
                <a:cs typeface="Times New Roman" charset="0"/>
              </a:rPr>
              <a:t>getNextValue()</a:t>
            </a:r>
            <a:r>
              <a:rPr lang="en-US" altLang="zh-CN" sz="2000">
                <a:cs typeface="Times New Roman" charset="0"/>
              </a:rPr>
              <a:t>, and </a:t>
            </a:r>
            <a:r>
              <a:rPr lang="en-US" altLang="zh-CN" sz="2000" u="sng">
                <a:cs typeface="Times New Roman" charset="0"/>
              </a:rPr>
              <a:t>getPreviousValue()</a:t>
            </a:r>
            <a:r>
              <a:rPr lang="en-US" altLang="zh-CN" sz="2000">
                <a:cs typeface="Times New Roman" charset="0"/>
              </a:rPr>
              <a:t>, respectively.</a:t>
            </a:r>
            <a:r>
              <a:rPr lang="en-US" altLang="zh-CN" sz="2000">
                <a:cs typeface="Courier New" charset="0"/>
              </a:rPr>
              <a:t> </a:t>
            </a:r>
          </a:p>
        </p:txBody>
      </p:sp>
      <p:sp>
        <p:nvSpPr>
          <p:cNvPr id="671748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1751" name="Rectangle 7"/>
          <p:cNvSpPr>
            <a:spLocks noChangeArrowheads="1"/>
          </p:cNvSpPr>
          <p:nvPr/>
        </p:nvSpPr>
        <p:spPr bwMode="auto">
          <a:xfrm>
            <a:off x="2085975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71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471014"/>
              </p:ext>
            </p:extLst>
          </p:nvPr>
        </p:nvGraphicFramePr>
        <p:xfrm>
          <a:off x="304800" y="3183464"/>
          <a:ext cx="8610600" cy="366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776" r:id="rId4" imgW="4972812" imgH="2115312" progId="Word.Picture.8">
                  <p:embed/>
                </p:oleObj>
              </mc:Choice>
              <mc:Fallback>
                <p:oleObj r:id="rId4" imgW="4972812" imgH="2115312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183464"/>
                        <a:ext cx="8610600" cy="366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Example: A Simple </a:t>
            </a:r>
            <a:r>
              <a:rPr lang="en-US" altLang="zh-CN" u="sng">
                <a:cs typeface="Times New Roman" charset="0"/>
              </a:rPr>
              <a:t>JSpinner</a:t>
            </a:r>
            <a:r>
              <a:rPr lang="en-US" altLang="zh-CN">
                <a:cs typeface="Times New Roman" charset="0"/>
              </a:rPr>
              <a:t> Demo</a:t>
            </a:r>
            <a:r>
              <a:rPr lang="en-US" altLang="zh-CN"/>
              <a:t> </a:t>
            </a:r>
          </a:p>
        </p:txBody>
      </p:sp>
      <p:sp>
        <p:nvSpPr>
          <p:cNvPr id="5898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458200" cy="11430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3000">
                <a:cs typeface="Times New Roman" charset="0"/>
              </a:rPr>
              <a:t>Problem: This example creates a </a:t>
            </a:r>
            <a:r>
              <a:rPr lang="en-US" altLang="zh-CN" sz="3000" u="sng">
                <a:cs typeface="Times New Roman" charset="0"/>
              </a:rPr>
              <a:t>JSpinner</a:t>
            </a:r>
            <a:r>
              <a:rPr lang="en-US" altLang="zh-CN" sz="3000">
                <a:cs typeface="Times New Roman" charset="0"/>
              </a:rPr>
              <a:t> object for a sequence of numbers and displays the previous, current, and next number from the spinner on a label.</a:t>
            </a:r>
            <a:r>
              <a:rPr lang="en-US" altLang="zh-CN" sz="3000"/>
              <a:t> </a:t>
            </a:r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C33EB-EBDD-F14B-B0D7-FE3E2EDFDC14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589828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6248400" y="4953000"/>
            <a:ext cx="2438400" cy="5334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charset="0"/>
                <a:hlinkClick r:id="rId3" action="ppaction://program"/>
              </a:rPr>
              <a:t>SimpleSpinner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5898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384550"/>
            <a:ext cx="6172200" cy="149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589831" name="Rectangle 7"/>
          <p:cNvSpPr>
            <a:spLocks noChangeArrowheads="1"/>
          </p:cNvSpPr>
          <p:nvPr/>
        </p:nvSpPr>
        <p:spPr bwMode="auto">
          <a:xfrm>
            <a:off x="304800" y="4953000"/>
            <a:ext cx="5410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charset="0"/>
              <a:buNone/>
            </a:pPr>
            <a:r>
              <a:rPr lang="en-US" altLang="zh-CN" sz="2000">
                <a:latin typeface="Courier New" charset="0"/>
                <a:cs typeface="Times New Roman" charset="0"/>
              </a:rPr>
              <a:t>NOTE: If you create a </a:t>
            </a:r>
            <a:r>
              <a:rPr lang="en-US" altLang="zh-CN" sz="2000" u="sng">
                <a:latin typeface="Courier New" charset="0"/>
                <a:cs typeface="Times New Roman" charset="0"/>
              </a:rPr>
              <a:t>JSpinner</a:t>
            </a:r>
            <a:r>
              <a:rPr lang="en-US" altLang="zh-CN" sz="2000">
                <a:latin typeface="Courier New" charset="0"/>
                <a:cs typeface="Times New Roman" charset="0"/>
              </a:rPr>
              <a:t> object without specifying a model, the spinner displays a sequence of integers. </a:t>
            </a:r>
            <a:endParaRPr lang="en-US" altLang="zh-CN" sz="2000">
              <a:latin typeface="Courier New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Spinner Models</a:t>
            </a:r>
            <a:endParaRPr lang="en-US" altLang="zh-CN"/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568017"/>
            <a:ext cx="2133600" cy="366183"/>
          </a:xfrm>
        </p:spPr>
        <p:txBody>
          <a:bodyPr/>
          <a:lstStyle/>
          <a:p>
            <a:fld id="{97906BD9-3C78-E343-B528-DBE6B9D17911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673795" name="Text Box 3"/>
          <p:cNvSpPr txBox="1">
            <a:spLocks noChangeArrowheads="1"/>
          </p:cNvSpPr>
          <p:nvPr/>
        </p:nvSpPr>
        <p:spPr bwMode="auto">
          <a:xfrm>
            <a:off x="228600" y="1507064"/>
            <a:ext cx="8610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 is an interface for all spinner models. </a:t>
            </a:r>
            <a:r>
              <a:rPr lang="en-US" altLang="zh-CN" sz="2000" u="sng">
                <a:cs typeface="Times New Roman" charset="0"/>
              </a:rPr>
              <a:t>AbstractSpinnerModel</a:t>
            </a:r>
            <a:r>
              <a:rPr lang="en-US" altLang="zh-CN" sz="2000">
                <a:cs typeface="Times New Roman" charset="0"/>
              </a:rPr>
              <a:t> is a convenience abstract class that implements </a:t>
            </a: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 and provides the implementation for the registration/deregistration methods.  </a:t>
            </a:r>
            <a:r>
              <a:rPr lang="en-US" altLang="zh-CN" sz="2000" u="sng">
                <a:cs typeface="Times New Roman" charset="0"/>
              </a:rPr>
              <a:t>SpinnerListModel</a:t>
            </a:r>
            <a:r>
              <a:rPr lang="en-US" altLang="zh-CN" sz="2000">
                <a:cs typeface="Times New Roman" charset="0"/>
              </a:rPr>
              <a:t>, </a:t>
            </a:r>
            <a:r>
              <a:rPr lang="en-US" altLang="zh-CN" sz="2000" u="sng">
                <a:cs typeface="Times New Roman" charset="0"/>
              </a:rPr>
              <a:t>SpinnerNumberModel</a:t>
            </a:r>
            <a:r>
              <a:rPr lang="en-US" altLang="zh-CN" sz="2000">
                <a:cs typeface="Times New Roman" charset="0"/>
              </a:rPr>
              <a:t>, and </a:t>
            </a:r>
            <a:r>
              <a:rPr lang="en-US" altLang="zh-CN" sz="2000" u="sng">
                <a:cs typeface="Times New Roman" charset="0"/>
              </a:rPr>
              <a:t>SpinnerDateModel</a:t>
            </a:r>
            <a:r>
              <a:rPr lang="en-US" altLang="zh-CN" sz="2000">
                <a:cs typeface="Times New Roman" charset="0"/>
              </a:rPr>
              <a:t> are concrete implementations of </a:t>
            </a: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.</a:t>
            </a:r>
            <a:r>
              <a:rPr lang="en-US" altLang="zh-CN" sz="2000">
                <a:cs typeface="Courier New" charset="0"/>
              </a:rPr>
              <a:t> </a:t>
            </a:r>
          </a:p>
        </p:txBody>
      </p:sp>
      <p:sp>
        <p:nvSpPr>
          <p:cNvPr id="673796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797" name="Rectangle 5"/>
          <p:cNvSpPr>
            <a:spLocks noChangeArrowheads="1"/>
          </p:cNvSpPr>
          <p:nvPr/>
        </p:nvSpPr>
        <p:spPr bwMode="auto">
          <a:xfrm>
            <a:off x="2085975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3800" name="Rectangle 8"/>
          <p:cNvSpPr>
            <a:spLocks noChangeArrowheads="1"/>
          </p:cNvSpPr>
          <p:nvPr/>
        </p:nvSpPr>
        <p:spPr bwMode="auto">
          <a:xfrm>
            <a:off x="2085975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737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1965492"/>
              </p:ext>
            </p:extLst>
          </p:nvPr>
        </p:nvGraphicFramePr>
        <p:xfrm>
          <a:off x="228600" y="3031064"/>
          <a:ext cx="8915400" cy="327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825" r:id="rId4" imgW="4972812" imgH="1828800" progId="Word.Picture.8">
                  <p:embed/>
                </p:oleObj>
              </mc:Choice>
              <mc:Fallback>
                <p:oleObj r:id="rId4" imgW="4972812" imgH="182880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31064"/>
                        <a:ext cx="8915400" cy="3279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SpinnerListModel</a:t>
            </a: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568017"/>
            <a:ext cx="2133600" cy="366183"/>
          </a:xfrm>
        </p:spPr>
        <p:txBody>
          <a:bodyPr/>
          <a:lstStyle/>
          <a:p>
            <a:fld id="{CCEEC5E6-4713-094C-AE7F-82BDE63BE219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675843" name="Text Box 3"/>
          <p:cNvSpPr txBox="1">
            <a:spLocks noChangeArrowheads="1"/>
          </p:cNvSpPr>
          <p:nvPr/>
        </p:nvSpPr>
        <p:spPr bwMode="auto">
          <a:xfrm>
            <a:off x="228600" y="1507064"/>
            <a:ext cx="8610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u="sng">
                <a:cs typeface="Times New Roman" charset="0"/>
              </a:rPr>
              <a:t>SpinnerListModel</a:t>
            </a:r>
            <a:r>
              <a:rPr lang="en-US" altLang="zh-CN" sz="2000">
                <a:cs typeface="Times New Roman" charset="0"/>
              </a:rPr>
              <a:t> is a simple implementation of </a:t>
            </a: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 whose values are stored in a </a:t>
            </a:r>
            <a:r>
              <a:rPr lang="en-US" altLang="zh-CN" sz="2000" u="sng">
                <a:cs typeface="Times New Roman" charset="0"/>
              </a:rPr>
              <a:t>java.util.List</a:t>
            </a:r>
            <a:r>
              <a:rPr lang="en-US" altLang="zh-CN" sz="2000">
                <a:cs typeface="Times New Roman" charset="0"/>
              </a:rPr>
              <a:t>.</a:t>
            </a:r>
            <a:r>
              <a:rPr lang="en-US" altLang="zh-CN" sz="2000">
                <a:cs typeface="Courier New" charset="0"/>
              </a:rPr>
              <a:t> </a:t>
            </a:r>
          </a:p>
        </p:txBody>
      </p:sp>
      <p:sp>
        <p:nvSpPr>
          <p:cNvPr id="675844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5845" name="Rectangle 5"/>
          <p:cNvSpPr>
            <a:spLocks noChangeArrowheads="1"/>
          </p:cNvSpPr>
          <p:nvPr/>
        </p:nvSpPr>
        <p:spPr bwMode="auto">
          <a:xfrm>
            <a:off x="2085975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5846" name="Rectangle 6"/>
          <p:cNvSpPr>
            <a:spLocks noChangeArrowheads="1"/>
          </p:cNvSpPr>
          <p:nvPr/>
        </p:nvSpPr>
        <p:spPr bwMode="auto">
          <a:xfrm>
            <a:off x="2085975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5849" name="Rectangle 9"/>
          <p:cNvSpPr>
            <a:spLocks noChangeArrowheads="1"/>
          </p:cNvSpPr>
          <p:nvPr/>
        </p:nvSpPr>
        <p:spPr bwMode="auto">
          <a:xfrm>
            <a:off x="2286000" y="2428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75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748277"/>
              </p:ext>
            </p:extLst>
          </p:nvPr>
        </p:nvGraphicFramePr>
        <p:xfrm>
          <a:off x="228600" y="2497664"/>
          <a:ext cx="8686800" cy="380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74" r:id="rId4" imgW="4572000" imgH="2001012" progId="Word.Picture.8">
                  <p:embed/>
                </p:oleObj>
              </mc:Choice>
              <mc:Fallback>
                <p:oleObj r:id="rId4" imgW="4572000" imgH="2001012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497664"/>
                        <a:ext cx="8686800" cy="380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/>
          <a:lstStyle/>
          <a:p>
            <a:r>
              <a:rPr lang="en-US" altLang="zh-CN" u="sng">
                <a:cs typeface="Times New Roman" charset="0"/>
              </a:rPr>
              <a:t>SpinnerNumberModel</a:t>
            </a:r>
            <a:r>
              <a:rPr lang="en-US" altLang="zh-CN">
                <a:cs typeface="Times New Roman" charset="0"/>
              </a:rPr>
              <a:t> </a:t>
            </a:r>
          </a:p>
        </p:txBody>
      </p:sp>
      <p:sp>
        <p:nvSpPr>
          <p:cNvPr id="10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705600" y="6400800"/>
            <a:ext cx="2133600" cy="366183"/>
          </a:xfrm>
        </p:spPr>
        <p:txBody>
          <a:bodyPr/>
          <a:lstStyle/>
          <a:p>
            <a:fld id="{CF38FEB2-9D07-4145-B738-D1709BC65024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677891" name="Text Box 3"/>
          <p:cNvSpPr txBox="1">
            <a:spLocks noChangeArrowheads="1"/>
          </p:cNvSpPr>
          <p:nvPr/>
        </p:nvSpPr>
        <p:spPr bwMode="auto">
          <a:xfrm>
            <a:off x="228600" y="1354664"/>
            <a:ext cx="8610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u="sng">
                <a:cs typeface="Times New Roman" charset="0"/>
              </a:rPr>
              <a:t>SpinnerNumberModel</a:t>
            </a:r>
            <a:r>
              <a:rPr lang="en-US" altLang="zh-CN" sz="2000">
                <a:cs typeface="Times New Roman" charset="0"/>
              </a:rPr>
              <a:t> is a concrete implementation of </a:t>
            </a: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 that represents a sequence of numbers. It contains the properties </a:t>
            </a:r>
            <a:r>
              <a:rPr lang="en-US" altLang="zh-CN" sz="2000" u="sng">
                <a:cs typeface="Times New Roman" charset="0"/>
              </a:rPr>
              <a:t>maximum</a:t>
            </a:r>
            <a:r>
              <a:rPr lang="en-US" altLang="zh-CN" sz="2000">
                <a:cs typeface="Times New Roman" charset="0"/>
              </a:rPr>
              <a:t>, </a:t>
            </a:r>
            <a:r>
              <a:rPr lang="en-US" altLang="zh-CN" sz="2000" u="sng">
                <a:cs typeface="Times New Roman" charset="0"/>
              </a:rPr>
              <a:t>minimum</a:t>
            </a:r>
            <a:r>
              <a:rPr lang="en-US" altLang="zh-CN" sz="2000">
                <a:cs typeface="Times New Roman" charset="0"/>
              </a:rPr>
              <a:t>, and </a:t>
            </a:r>
            <a:r>
              <a:rPr lang="en-US" altLang="zh-CN" sz="2000" u="sng">
                <a:cs typeface="Times New Roman" charset="0"/>
              </a:rPr>
              <a:t>stepSize</a:t>
            </a:r>
            <a:r>
              <a:rPr lang="en-US" altLang="zh-CN" sz="2000">
                <a:cs typeface="Times New Roman" charset="0"/>
              </a:rPr>
              <a:t>. </a:t>
            </a:r>
          </a:p>
        </p:txBody>
      </p:sp>
      <p:sp>
        <p:nvSpPr>
          <p:cNvPr id="677892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7893" name="Rectangle 5"/>
          <p:cNvSpPr>
            <a:spLocks noChangeArrowheads="1"/>
          </p:cNvSpPr>
          <p:nvPr/>
        </p:nvSpPr>
        <p:spPr bwMode="auto">
          <a:xfrm>
            <a:off x="2085975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7894" name="Rectangle 6"/>
          <p:cNvSpPr>
            <a:spLocks noChangeArrowheads="1"/>
          </p:cNvSpPr>
          <p:nvPr/>
        </p:nvSpPr>
        <p:spPr bwMode="auto">
          <a:xfrm>
            <a:off x="2085975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7895" name="Rectangle 7"/>
          <p:cNvSpPr>
            <a:spLocks noChangeArrowheads="1"/>
          </p:cNvSpPr>
          <p:nvPr/>
        </p:nvSpPr>
        <p:spPr bwMode="auto">
          <a:xfrm>
            <a:off x="2286000" y="2428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7898" name="Rectangle 10"/>
          <p:cNvSpPr>
            <a:spLocks noChangeArrowheads="1"/>
          </p:cNvSpPr>
          <p:nvPr/>
        </p:nvSpPr>
        <p:spPr bwMode="auto">
          <a:xfrm>
            <a:off x="1828800" y="2000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778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259408"/>
              </p:ext>
            </p:extLst>
          </p:nvPr>
        </p:nvGraphicFramePr>
        <p:xfrm>
          <a:off x="381000" y="2497664"/>
          <a:ext cx="8153400" cy="424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923" r:id="rId4" imgW="5486400" imgH="2857500" progId="Word.Picture.8">
                  <p:embed/>
                </p:oleObj>
              </mc:Choice>
              <mc:Fallback>
                <p:oleObj r:id="rId4" imgW="5486400" imgH="2857500" progId="Word.Picture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497664"/>
                        <a:ext cx="8153400" cy="424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/>
          <a:lstStyle/>
          <a:p>
            <a:r>
              <a:rPr lang="en-US" altLang="zh-CN" sz="3200" u="sng" dirty="0" err="1">
                <a:cs typeface="Times New Roman" charset="0"/>
              </a:rPr>
              <a:t>SpinnerDateModel</a:t>
            </a:r>
            <a:endParaRPr lang="en-US" altLang="zh-CN" sz="3200" u="sng" dirty="0">
              <a:cs typeface="Times New Roman" charset="0"/>
            </a:endParaRP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781800" y="6491817"/>
            <a:ext cx="2133600" cy="366183"/>
          </a:xfrm>
        </p:spPr>
        <p:txBody>
          <a:bodyPr/>
          <a:lstStyle/>
          <a:p>
            <a:fld id="{7E5B43F7-9AC8-6740-825E-347EE9820B13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679939" name="Text Box 3"/>
          <p:cNvSpPr txBox="1">
            <a:spLocks noChangeArrowheads="1"/>
          </p:cNvSpPr>
          <p:nvPr/>
        </p:nvSpPr>
        <p:spPr bwMode="auto">
          <a:xfrm>
            <a:off x="228600" y="1278464"/>
            <a:ext cx="8610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u="sng">
                <a:cs typeface="Times New Roman" charset="0"/>
              </a:rPr>
              <a:t>SpinnerDateModel</a:t>
            </a:r>
            <a:r>
              <a:rPr lang="en-US" altLang="zh-CN" sz="2000">
                <a:cs typeface="Times New Roman" charset="0"/>
              </a:rPr>
              <a:t> is a concrete implementation of </a:t>
            </a:r>
            <a:r>
              <a:rPr lang="en-US" altLang="zh-CN" sz="2000" u="sng">
                <a:cs typeface="Times New Roman" charset="0"/>
              </a:rPr>
              <a:t>SpinnerModel</a:t>
            </a:r>
            <a:r>
              <a:rPr lang="en-US" altLang="zh-CN" sz="2000">
                <a:cs typeface="Times New Roman" charset="0"/>
              </a:rPr>
              <a:t> that represents a sequence of dates. The upper and lower bounds of the sequence are defined by properties called </a:t>
            </a:r>
            <a:r>
              <a:rPr lang="en-US" altLang="zh-CN" sz="2000" u="sng">
                <a:cs typeface="Times New Roman" charset="0"/>
              </a:rPr>
              <a:t>start</a:t>
            </a:r>
            <a:r>
              <a:rPr lang="en-US" altLang="zh-CN" sz="2000">
                <a:cs typeface="Times New Roman" charset="0"/>
              </a:rPr>
              <a:t> and </a:t>
            </a:r>
            <a:r>
              <a:rPr lang="en-US" altLang="zh-CN" sz="2000" u="sng">
                <a:cs typeface="Times New Roman" charset="0"/>
              </a:rPr>
              <a:t>end</a:t>
            </a:r>
            <a:r>
              <a:rPr lang="en-US" altLang="zh-CN" sz="2000">
                <a:cs typeface="Times New Roman" charset="0"/>
              </a:rPr>
              <a:t> and the size of the increase or decrease computed by the </a:t>
            </a:r>
            <a:r>
              <a:rPr lang="en-US" altLang="zh-CN" sz="2000" u="sng">
                <a:cs typeface="Times New Roman" charset="0"/>
              </a:rPr>
              <a:t>nextValue</a:t>
            </a:r>
            <a:r>
              <a:rPr lang="en-US" altLang="zh-CN" sz="2000">
                <a:cs typeface="Times New Roman" charset="0"/>
              </a:rPr>
              <a:t> and </a:t>
            </a:r>
            <a:r>
              <a:rPr lang="en-US" altLang="zh-CN" sz="2000" u="sng">
                <a:cs typeface="Times New Roman" charset="0"/>
              </a:rPr>
              <a:t>previousValue</a:t>
            </a:r>
            <a:r>
              <a:rPr lang="en-US" altLang="zh-CN" sz="2000">
                <a:cs typeface="Times New Roman" charset="0"/>
              </a:rPr>
              <a:t> methods is defined by a property called </a:t>
            </a:r>
            <a:r>
              <a:rPr lang="en-US" altLang="zh-CN" sz="2000" u="sng">
                <a:cs typeface="Times New Roman" charset="0"/>
              </a:rPr>
              <a:t>calendarField</a:t>
            </a:r>
            <a:r>
              <a:rPr lang="en-US" altLang="zh-CN" sz="2000">
                <a:cs typeface="Times New Roman" charset="0"/>
              </a:rPr>
              <a:t>. </a:t>
            </a:r>
          </a:p>
        </p:txBody>
      </p:sp>
      <p:sp>
        <p:nvSpPr>
          <p:cNvPr id="679940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9941" name="Rectangle 5"/>
          <p:cNvSpPr>
            <a:spLocks noChangeArrowheads="1"/>
          </p:cNvSpPr>
          <p:nvPr/>
        </p:nvSpPr>
        <p:spPr bwMode="auto">
          <a:xfrm>
            <a:off x="2085975" y="2371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9942" name="Rectangle 6"/>
          <p:cNvSpPr>
            <a:spLocks noChangeArrowheads="1"/>
          </p:cNvSpPr>
          <p:nvPr/>
        </p:nvSpPr>
        <p:spPr bwMode="auto">
          <a:xfrm>
            <a:off x="2085975" y="2514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9943" name="Rectangle 7"/>
          <p:cNvSpPr>
            <a:spLocks noChangeArrowheads="1"/>
          </p:cNvSpPr>
          <p:nvPr/>
        </p:nvSpPr>
        <p:spPr bwMode="auto">
          <a:xfrm>
            <a:off x="2286000" y="2428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9944" name="Rectangle 8"/>
          <p:cNvSpPr>
            <a:spLocks noChangeArrowheads="1"/>
          </p:cNvSpPr>
          <p:nvPr/>
        </p:nvSpPr>
        <p:spPr bwMode="auto">
          <a:xfrm>
            <a:off x="1828800" y="2000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79947" name="Rectangle 11"/>
          <p:cNvSpPr>
            <a:spLocks noChangeArrowheads="1"/>
          </p:cNvSpPr>
          <p:nvPr/>
        </p:nvSpPr>
        <p:spPr bwMode="auto">
          <a:xfrm>
            <a:off x="1828800" y="2228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799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741349"/>
              </p:ext>
            </p:extLst>
          </p:nvPr>
        </p:nvGraphicFramePr>
        <p:xfrm>
          <a:off x="228600" y="2878664"/>
          <a:ext cx="8915400" cy="390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972" r:id="rId4" imgW="5486400" imgH="2400300" progId="Word.Picture.8">
                  <p:embed/>
                </p:oleObj>
              </mc:Choice>
              <mc:Fallback>
                <p:oleObj r:id="rId4" imgW="5486400" imgH="2400300" progId="Word.Picture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878664"/>
                        <a:ext cx="8915400" cy="3900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428750"/>
          </a:xfrm>
          <a:noFill/>
          <a:ln/>
        </p:spPr>
        <p:txBody>
          <a:bodyPr/>
          <a:lstStyle/>
          <a:p>
            <a:r>
              <a:rPr lang="en-US" altLang="zh-CN" sz="3200" i="1" dirty="0">
                <a:cs typeface="Times New Roman" charset="0"/>
              </a:rPr>
              <a:t>Example: </a:t>
            </a:r>
            <a:r>
              <a:rPr lang="en-US" altLang="zh-CN" sz="3200" dirty="0">
                <a:cs typeface="Times New Roman" charset="0"/>
              </a:rPr>
              <a:t>Using Spinner Models and Editors </a:t>
            </a:r>
          </a:p>
        </p:txBody>
      </p:sp>
      <p:sp>
        <p:nvSpPr>
          <p:cNvPr id="6819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19050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2200">
                <a:cs typeface="Times New Roman" charset="0"/>
              </a:rPr>
              <a:t>Problem: This example uses a </a:t>
            </a:r>
            <a:r>
              <a:rPr lang="en-US" altLang="zh-CN" sz="2200" u="sng">
                <a:cs typeface="Times New Roman" charset="0"/>
              </a:rPr>
              <a:t>JSpinner</a:t>
            </a:r>
            <a:r>
              <a:rPr lang="en-US" altLang="zh-CN" sz="2200">
                <a:cs typeface="Times New Roman" charset="0"/>
              </a:rPr>
              <a:t> component to display date and three separate </a:t>
            </a:r>
            <a:r>
              <a:rPr lang="en-US" altLang="zh-CN" sz="2200" u="sng">
                <a:cs typeface="Times New Roman" charset="0"/>
              </a:rPr>
              <a:t>JSpinner</a:t>
            </a:r>
            <a:r>
              <a:rPr lang="en-US" altLang="zh-CN" sz="2200">
                <a:cs typeface="Times New Roman" charset="0"/>
              </a:rPr>
              <a:t> components to display day in a sequence of numbers, month in a sequence of strings, and year in a sequence of numbers. All these four components are synchronized. For example, if you change year in the spinner for year, the date value in the date spinner is updated accordingly. </a:t>
            </a:r>
            <a:endParaRPr lang="en-US" altLang="zh-CN" sz="2200"/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D20B-5AE9-BC4D-8CE6-76B5554C2533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681988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4876800" y="4953000"/>
            <a:ext cx="3810000" cy="3810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charset="0"/>
                <a:hlinkClick r:id="rId3" action="ppaction://program"/>
              </a:rPr>
              <a:t>SpinnerModelEditorDemo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pic>
        <p:nvPicPr>
          <p:cNvPr id="68199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90975"/>
            <a:ext cx="44196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85800"/>
          </a:xfrm>
          <a:noFill/>
          <a:ln/>
        </p:spPr>
        <p:txBody>
          <a:bodyPr/>
          <a:lstStyle/>
          <a:p>
            <a:r>
              <a:rPr lang="en-US" altLang="zh-CN" u="sng" dirty="0" err="1">
                <a:cs typeface="Times New Roman" charset="0"/>
              </a:rPr>
              <a:t>JList</a:t>
            </a:r>
            <a:r>
              <a:rPr lang="en-US" altLang="zh-CN" dirty="0"/>
              <a:t> 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720417"/>
            <a:ext cx="2133600" cy="366183"/>
          </a:xfrm>
        </p:spPr>
        <p:txBody>
          <a:bodyPr/>
          <a:lstStyle/>
          <a:p>
            <a:fld id="{1BBCCF89-BFB2-E943-A033-D111E3175355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684035" name="Text Box 3"/>
          <p:cNvSpPr txBox="1">
            <a:spLocks noChangeArrowheads="1"/>
          </p:cNvSpPr>
          <p:nvPr/>
        </p:nvSpPr>
        <p:spPr bwMode="auto">
          <a:xfrm>
            <a:off x="304800" y="1430864"/>
            <a:ext cx="8534400" cy="176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u="sng" dirty="0" err="1">
                <a:cs typeface="Times New Roman" charset="0"/>
              </a:rPr>
              <a:t>JList</a:t>
            </a:r>
            <a:r>
              <a:rPr lang="en-US" altLang="zh-CN" sz="2200" dirty="0">
                <a:cs typeface="Times New Roman" charset="0"/>
              </a:rPr>
              <a:t> has two supporting models: a list model and a list-selection model. The </a:t>
            </a:r>
            <a:r>
              <a:rPr lang="en-US" altLang="zh-CN" sz="2200" i="1" dirty="0">
                <a:cs typeface="Times New Roman" charset="0"/>
              </a:rPr>
              <a:t>list model</a:t>
            </a:r>
            <a:r>
              <a:rPr lang="en-US" altLang="zh-CN" sz="2200" dirty="0">
                <a:cs typeface="Times New Roman" charset="0"/>
              </a:rPr>
              <a:t> is for storing and processing data. The </a:t>
            </a:r>
            <a:r>
              <a:rPr lang="en-US" altLang="zh-CN" sz="2200" i="1" dirty="0">
                <a:cs typeface="Times New Roman" charset="0"/>
              </a:rPr>
              <a:t>list-selection model</a:t>
            </a:r>
            <a:r>
              <a:rPr lang="en-US" altLang="zh-CN" sz="2200" dirty="0">
                <a:cs typeface="Times New Roman" charset="0"/>
              </a:rPr>
              <a:t> is for selecting items. By default, items are rendered as strings or icons. You can also create a custom renderer implementing the </a:t>
            </a:r>
            <a:r>
              <a:rPr lang="en-US" altLang="zh-CN" sz="2200" u="sng" dirty="0" err="1">
                <a:cs typeface="Times New Roman" charset="0"/>
              </a:rPr>
              <a:t>ListCellRenderer</a:t>
            </a:r>
            <a:r>
              <a:rPr lang="en-US" altLang="zh-CN" sz="2200" dirty="0">
                <a:cs typeface="Times New Roman" charset="0"/>
              </a:rPr>
              <a:t> interface.</a:t>
            </a:r>
            <a:r>
              <a:rPr lang="en-US" altLang="zh-CN" sz="2200" dirty="0">
                <a:cs typeface="Courier New" charset="0"/>
              </a:rPr>
              <a:t> </a:t>
            </a:r>
          </a:p>
        </p:txBody>
      </p:sp>
      <p:sp>
        <p:nvSpPr>
          <p:cNvPr id="684036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84039" name="Rectangle 7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840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829255"/>
              </p:ext>
            </p:extLst>
          </p:nvPr>
        </p:nvGraphicFramePr>
        <p:xfrm>
          <a:off x="228600" y="3564464"/>
          <a:ext cx="8763000" cy="264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063" r:id="rId4" imgW="4607052" imgH="1385316" progId="Word.Picture.8">
                  <p:embed/>
                </p:oleObj>
              </mc:Choice>
              <mc:Fallback>
                <p:oleObj r:id="rId4" imgW="4607052" imgH="1385316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64464"/>
                        <a:ext cx="8763000" cy="2643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33400"/>
          </a:xfrm>
          <a:noFill/>
          <a:ln/>
        </p:spPr>
        <p:txBody>
          <a:bodyPr/>
          <a:lstStyle/>
          <a:p>
            <a:r>
              <a:rPr lang="en-US" altLang="zh-CN" dirty="0">
                <a:cs typeface="Times New Roman" charset="0"/>
              </a:rPr>
              <a:t>The </a:t>
            </a:r>
            <a:r>
              <a:rPr lang="en-US" altLang="zh-CN" u="sng" dirty="0" err="1">
                <a:cs typeface="Times New Roman" charset="0"/>
              </a:rPr>
              <a:t>JList</a:t>
            </a:r>
            <a:r>
              <a:rPr lang="en-US" altLang="zh-CN" dirty="0">
                <a:cs typeface="Times New Roman" charset="0"/>
              </a:rPr>
              <a:t> Class</a:t>
            </a:r>
            <a:r>
              <a:rPr lang="en-US" altLang="zh-CN" dirty="0"/>
              <a:t> 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B0294-C147-7346-9573-122BC836A86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686084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86085" name="Rectangle 5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86088" name="Rectangle 8"/>
          <p:cNvSpPr>
            <a:spLocks noChangeArrowheads="1"/>
          </p:cNvSpPr>
          <p:nvPr/>
        </p:nvSpPr>
        <p:spPr bwMode="auto">
          <a:xfrm>
            <a:off x="2228850" y="1528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860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634424"/>
              </p:ext>
            </p:extLst>
          </p:nvPr>
        </p:nvGraphicFramePr>
        <p:xfrm>
          <a:off x="1066800" y="1143000"/>
          <a:ext cx="6934200" cy="562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12" r:id="rId4" imgW="4686300" imgH="3794760" progId="Word.Picture.8">
                  <p:embed/>
                </p:oleObj>
              </mc:Choice>
              <mc:Fallback>
                <p:oleObj r:id="rId4" imgW="4686300" imgH="379476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143000"/>
                        <a:ext cx="6934200" cy="5624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533400"/>
          </a:xfrm>
          <a:noFill/>
          <a:ln/>
        </p:spPr>
        <p:txBody>
          <a:bodyPr/>
          <a:lstStyle/>
          <a:p>
            <a:r>
              <a:rPr lang="en-US" altLang="zh-CN" dirty="0">
                <a:cs typeface="Times New Roman" charset="0"/>
              </a:rPr>
              <a:t>The </a:t>
            </a:r>
            <a:r>
              <a:rPr lang="en-US" altLang="zh-CN" b="1" u="sng" dirty="0" err="1">
                <a:cs typeface="Times New Roman" charset="0"/>
              </a:rPr>
              <a:t>layoutOrientation</a:t>
            </a:r>
            <a:r>
              <a:rPr lang="en-US" altLang="zh-CN" dirty="0">
                <a:cs typeface="Times New Roman" charset="0"/>
              </a:rPr>
              <a:t> property </a:t>
            </a:r>
          </a:p>
        </p:txBody>
      </p:sp>
      <p:sp>
        <p:nvSpPr>
          <p:cNvPr id="12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B5143-6A09-7040-A2B2-4DAA3B3E3BA6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688131" name="Rectangle 3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88132" name="Rectangle 4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88133" name="Rectangle 5"/>
          <p:cNvSpPr>
            <a:spLocks noChangeArrowheads="1"/>
          </p:cNvSpPr>
          <p:nvPr/>
        </p:nvSpPr>
        <p:spPr bwMode="auto">
          <a:xfrm>
            <a:off x="2228850" y="1528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88136" name="Rectangle 8"/>
          <p:cNvSpPr>
            <a:spLocks noChangeArrowheads="1"/>
          </p:cNvSpPr>
          <p:nvPr/>
        </p:nvSpPr>
        <p:spPr bwMode="auto">
          <a:xfrm>
            <a:off x="2085975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8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25637"/>
              </p:ext>
            </p:extLst>
          </p:nvPr>
        </p:nvGraphicFramePr>
        <p:xfrm>
          <a:off x="381000" y="3917950"/>
          <a:ext cx="83058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164" name="Picture" r:id="rId4" imgW="4971960" imgH="1486080" progId="Word.Picture.8">
                  <p:embed/>
                </p:oleObj>
              </mc:Choice>
              <mc:Fallback>
                <p:oleObj name="Picture" r:id="rId4" imgW="4971960" imgH="148608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17950"/>
                        <a:ext cx="8305800" cy="248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8137" name="Text Box 9"/>
          <p:cNvSpPr txBox="1">
            <a:spLocks noChangeArrowheads="1"/>
          </p:cNvSpPr>
          <p:nvPr/>
        </p:nvSpPr>
        <p:spPr bwMode="auto">
          <a:xfrm>
            <a:off x="304800" y="1403350"/>
            <a:ext cx="85344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>
                <a:cs typeface="Times New Roman" charset="0"/>
              </a:rPr>
              <a:t>JList jlst = new JList();</a:t>
            </a:r>
          </a:p>
          <a:p>
            <a:pPr>
              <a:spcBef>
                <a:spcPct val="50000"/>
              </a:spcBef>
            </a:pPr>
            <a:r>
              <a:rPr lang="en-US" altLang="zh-CN" sz="2200">
                <a:cs typeface="Times New Roman" charset="0"/>
              </a:rPr>
              <a:t>jlst.setLayoutOrientation(int);</a:t>
            </a:r>
          </a:p>
        </p:txBody>
      </p:sp>
      <p:sp>
        <p:nvSpPr>
          <p:cNvPr id="688138" name="Line 10"/>
          <p:cNvSpPr>
            <a:spLocks noChangeShapeType="1"/>
          </p:cNvSpPr>
          <p:nvPr/>
        </p:nvSpPr>
        <p:spPr bwMode="auto">
          <a:xfrm flipH="1">
            <a:off x="1676400" y="2317750"/>
            <a:ext cx="1676400" cy="3505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8139" name="Line 11"/>
          <p:cNvSpPr>
            <a:spLocks noChangeShapeType="1"/>
          </p:cNvSpPr>
          <p:nvPr/>
        </p:nvSpPr>
        <p:spPr bwMode="auto">
          <a:xfrm>
            <a:off x="3429000" y="2317750"/>
            <a:ext cx="838200" cy="3733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8140" name="Line 12"/>
          <p:cNvSpPr>
            <a:spLocks noChangeShapeType="1"/>
          </p:cNvSpPr>
          <p:nvPr/>
        </p:nvSpPr>
        <p:spPr bwMode="auto">
          <a:xfrm>
            <a:off x="3505200" y="2317750"/>
            <a:ext cx="3124200" cy="3733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The </a:t>
            </a:r>
            <a:r>
              <a:rPr lang="en-US" altLang="zh-CN" b="1" u="sng">
                <a:cs typeface="Times New Roman" charset="0"/>
              </a:rPr>
              <a:t>selectionMode </a:t>
            </a:r>
            <a:r>
              <a:rPr lang="en-US" altLang="zh-CN">
                <a:cs typeface="Times New Roman" charset="0"/>
              </a:rPr>
              <a:t> property </a:t>
            </a:r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A18BC-11E3-1A47-94B3-01F0325B8770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690179" name="Rectangle 3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0180" name="Rectangle 4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0181" name="Rectangle 5"/>
          <p:cNvSpPr>
            <a:spLocks noChangeArrowheads="1"/>
          </p:cNvSpPr>
          <p:nvPr/>
        </p:nvSpPr>
        <p:spPr bwMode="auto">
          <a:xfrm>
            <a:off x="2228850" y="1528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0182" name="Rectangle 6"/>
          <p:cNvSpPr>
            <a:spLocks noChangeArrowheads="1"/>
          </p:cNvSpPr>
          <p:nvPr/>
        </p:nvSpPr>
        <p:spPr bwMode="auto">
          <a:xfrm>
            <a:off x="2085975" y="2686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0184" name="Text Box 8"/>
          <p:cNvSpPr txBox="1">
            <a:spLocks noChangeArrowheads="1"/>
          </p:cNvSpPr>
          <p:nvPr/>
        </p:nvSpPr>
        <p:spPr bwMode="auto">
          <a:xfrm>
            <a:off x="304800" y="1562100"/>
            <a:ext cx="85344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>
                <a:cs typeface="Times New Roman" charset="0"/>
              </a:rPr>
              <a:t>JList jlst = new JList();</a:t>
            </a:r>
          </a:p>
          <a:p>
            <a:pPr>
              <a:spcBef>
                <a:spcPct val="50000"/>
              </a:spcBef>
            </a:pPr>
            <a:r>
              <a:rPr lang="en-US" altLang="zh-CN" sz="2200">
                <a:cs typeface="Times New Roman" charset="0"/>
              </a:rPr>
              <a:t>jlst.setSelectionMode(int);</a:t>
            </a:r>
          </a:p>
        </p:txBody>
      </p:sp>
      <p:sp>
        <p:nvSpPr>
          <p:cNvPr id="690185" name="Line 9"/>
          <p:cNvSpPr>
            <a:spLocks noChangeShapeType="1"/>
          </p:cNvSpPr>
          <p:nvPr/>
        </p:nvSpPr>
        <p:spPr bwMode="auto">
          <a:xfrm flipH="1">
            <a:off x="4343400" y="2781300"/>
            <a:ext cx="152400" cy="1295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0186" name="Line 10"/>
          <p:cNvSpPr>
            <a:spLocks noChangeShapeType="1"/>
          </p:cNvSpPr>
          <p:nvPr/>
        </p:nvSpPr>
        <p:spPr bwMode="auto">
          <a:xfrm flipH="1">
            <a:off x="1143000" y="2019300"/>
            <a:ext cx="2514600" cy="2133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0187" name="Line 11"/>
          <p:cNvSpPr>
            <a:spLocks noChangeShapeType="1"/>
          </p:cNvSpPr>
          <p:nvPr/>
        </p:nvSpPr>
        <p:spPr bwMode="auto">
          <a:xfrm>
            <a:off x="6172200" y="3314700"/>
            <a:ext cx="1752600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0189" name="Rectangle 13"/>
          <p:cNvSpPr>
            <a:spLocks noChangeArrowheads="1"/>
          </p:cNvSpPr>
          <p:nvPr/>
        </p:nvSpPr>
        <p:spPr bwMode="auto">
          <a:xfrm>
            <a:off x="2071688" y="2852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0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610910"/>
              </p:ext>
            </p:extLst>
          </p:nvPr>
        </p:nvGraphicFramePr>
        <p:xfrm>
          <a:off x="381000" y="4305300"/>
          <a:ext cx="87630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216" r:id="rId4" imgW="4998095" imgH="1150476" progId="Paint.Picture">
                  <p:embed/>
                </p:oleObj>
              </mc:Choice>
              <mc:Fallback>
                <p:oleObj r:id="rId4" imgW="4998095" imgH="1150476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305300"/>
                        <a:ext cx="8763000" cy="201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0190" name="Text Box 14"/>
          <p:cNvSpPr txBox="1">
            <a:spLocks noChangeArrowheads="1"/>
          </p:cNvSpPr>
          <p:nvPr/>
        </p:nvSpPr>
        <p:spPr bwMode="auto">
          <a:xfrm>
            <a:off x="3581400" y="1790700"/>
            <a:ext cx="3505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u="sng">
                <a:cs typeface="Times New Roman" charset="0"/>
              </a:rPr>
              <a:t>JList.SINGLE_SELECTION</a:t>
            </a:r>
            <a:endParaRPr lang="en-US" altLang="zh-CN" sz="2200">
              <a:cs typeface="Times New Roman" charset="0"/>
            </a:endParaRPr>
          </a:p>
        </p:txBody>
      </p:sp>
      <p:sp>
        <p:nvSpPr>
          <p:cNvPr id="690191" name="Text Box 15"/>
          <p:cNvSpPr txBox="1">
            <a:spLocks noChangeArrowheads="1"/>
          </p:cNvSpPr>
          <p:nvPr/>
        </p:nvSpPr>
        <p:spPr bwMode="auto">
          <a:xfrm>
            <a:off x="3505200" y="2324100"/>
            <a:ext cx="5105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u="sng">
                <a:cs typeface="Times New Roman" charset="0"/>
              </a:rPr>
              <a:t>JList.SINGLE_INTERVAL_SELECTION</a:t>
            </a:r>
            <a:endParaRPr lang="en-US" altLang="zh-CN" sz="2200">
              <a:cs typeface="Times New Roman" charset="0"/>
            </a:endParaRPr>
          </a:p>
        </p:txBody>
      </p:sp>
      <p:sp>
        <p:nvSpPr>
          <p:cNvPr id="690192" name="Text Box 16"/>
          <p:cNvSpPr txBox="1">
            <a:spLocks noChangeArrowheads="1"/>
          </p:cNvSpPr>
          <p:nvPr/>
        </p:nvSpPr>
        <p:spPr bwMode="auto">
          <a:xfrm>
            <a:off x="3505200" y="2933700"/>
            <a:ext cx="54102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u="sng">
                <a:cs typeface="Times New Roman" charset="0"/>
              </a:rPr>
              <a:t>JList.MULTIPLE_INTERVAL_SELECTION</a:t>
            </a:r>
            <a:endParaRPr lang="en-US" altLang="zh-CN" sz="2200">
              <a:cs typeface="Times New Roman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428750"/>
          </a:xfrm>
          <a:noFill/>
          <a:ln/>
        </p:spPr>
        <p:txBody>
          <a:bodyPr/>
          <a:lstStyle/>
          <a:p>
            <a:r>
              <a:rPr lang="en-US" altLang="zh-CN" i="1">
                <a:cs typeface="Times New Roman" charset="0"/>
              </a:rPr>
              <a:t>Example: </a:t>
            </a:r>
            <a:r>
              <a:rPr lang="en-US" altLang="zh-CN">
                <a:cs typeface="Times New Roman" charset="0"/>
              </a:rPr>
              <a:t>List Properties Demo 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1905000"/>
          </a:xfrm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en-US" altLang="zh-CN" sz="2200">
                <a:cs typeface="Times New Roman" charset="0"/>
              </a:rPr>
              <a:t>Problem: This example creates a list of a fixed number of items displayed as strings. The example enables you to dynamically set </a:t>
            </a:r>
            <a:r>
              <a:rPr lang="en-US" altLang="zh-CN" sz="2200" u="sng">
                <a:cs typeface="Times New Roman" charset="0"/>
              </a:rPr>
              <a:t>visibleRowCount</a:t>
            </a:r>
            <a:r>
              <a:rPr lang="en-US" altLang="zh-CN" sz="2200">
                <a:cs typeface="Times New Roman" charset="0"/>
              </a:rPr>
              <a:t> from a spinner, </a:t>
            </a:r>
            <a:r>
              <a:rPr lang="en-US" altLang="zh-CN" sz="2200" u="sng">
                <a:cs typeface="Times New Roman" charset="0"/>
              </a:rPr>
              <a:t>layoutOrientation</a:t>
            </a:r>
            <a:r>
              <a:rPr lang="en-US" altLang="zh-CN" sz="2200">
                <a:cs typeface="Times New Roman" charset="0"/>
              </a:rPr>
              <a:t> from a combo box, and </a:t>
            </a:r>
            <a:r>
              <a:rPr lang="en-US" altLang="zh-CN" sz="2200" u="sng">
                <a:cs typeface="Times New Roman" charset="0"/>
              </a:rPr>
              <a:t>selectionMode</a:t>
            </a:r>
            <a:r>
              <a:rPr lang="en-US" altLang="zh-CN" sz="2200">
                <a:cs typeface="Times New Roman" charset="0"/>
              </a:rPr>
              <a:t> from a combo box. When you select one or more items, their values are displayed in a status label below the list. </a:t>
            </a:r>
          </a:p>
        </p:txBody>
      </p:sp>
      <p:sp>
        <p:nvSpPr>
          <p:cNvPr id="8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012E-E2BF-BF48-AD54-1C93B536B239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692228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590800" y="5791200"/>
            <a:ext cx="3124200" cy="3810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charset="0"/>
                <a:hlinkClick r:id="rId4" action="ppaction://program"/>
              </a:rPr>
              <a:t>ListPropertiesDemo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92232" name="Rectangle 8"/>
          <p:cNvSpPr>
            <a:spLocks noChangeArrowheads="1"/>
          </p:cNvSpPr>
          <p:nvPr/>
        </p:nvSpPr>
        <p:spPr bwMode="auto">
          <a:xfrm>
            <a:off x="182880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22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4320"/>
              </p:ext>
            </p:extLst>
          </p:nvPr>
        </p:nvGraphicFramePr>
        <p:xfrm>
          <a:off x="304800" y="3886200"/>
          <a:ext cx="8534400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2256" r:id="rId5" imgW="7571429" imgH="1600000" progId="Paint.Picture">
                  <p:embed/>
                </p:oleObj>
              </mc:Choice>
              <mc:Fallback>
                <p:oleObj r:id="rId5" imgW="7571429" imgH="160000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86200"/>
                        <a:ext cx="8534400" cy="180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List Models</a:t>
            </a:r>
            <a:r>
              <a:rPr lang="en-US" altLang="zh-CN"/>
              <a:t> </a:t>
            </a:r>
          </a:p>
        </p:txBody>
      </p:sp>
      <p:sp>
        <p:nvSpPr>
          <p:cNvPr id="16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644217"/>
            <a:ext cx="2133600" cy="366183"/>
          </a:xfrm>
        </p:spPr>
        <p:txBody>
          <a:bodyPr/>
          <a:lstStyle/>
          <a:p>
            <a:fld id="{4073B014-54ED-F548-8572-8DC78FB255C2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694276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4277" name="Rectangle 5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4280" name="Rectangle 8"/>
          <p:cNvSpPr>
            <a:spLocks noChangeArrowheads="1"/>
          </p:cNvSpPr>
          <p:nvPr/>
        </p:nvSpPr>
        <p:spPr bwMode="auto">
          <a:xfrm>
            <a:off x="1981200" y="65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42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811264"/>
              </p:ext>
            </p:extLst>
          </p:nvPr>
        </p:nvGraphicFramePr>
        <p:xfrm>
          <a:off x="3505200" y="1126064"/>
          <a:ext cx="5413375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4313" r:id="rId4" imgW="5181600" imgH="5544312" progId="Word.Picture.8">
                  <p:embed/>
                </p:oleObj>
              </mc:Choice>
              <mc:Fallback>
                <p:oleObj r:id="rId4" imgW="5181600" imgH="5544312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126064"/>
                        <a:ext cx="5413375" cy="579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4286" name="Group 14"/>
          <p:cNvGrpSpPr>
            <a:grpSpLocks/>
          </p:cNvGrpSpPr>
          <p:nvPr/>
        </p:nvGrpSpPr>
        <p:grpSpPr bwMode="auto">
          <a:xfrm>
            <a:off x="152400" y="1430864"/>
            <a:ext cx="3505200" cy="2319338"/>
            <a:chOff x="96" y="720"/>
            <a:chExt cx="2208" cy="1461"/>
          </a:xfrm>
        </p:grpSpPr>
        <p:sp>
          <p:nvSpPr>
            <p:cNvPr id="694275" name="Text Box 3"/>
            <p:cNvSpPr txBox="1">
              <a:spLocks noChangeArrowheads="1"/>
            </p:cNvSpPr>
            <p:nvPr/>
          </p:nvSpPr>
          <p:spPr bwMode="auto">
            <a:xfrm>
              <a:off x="96" y="720"/>
              <a:ext cx="1824" cy="1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Times New Roman" charset="0"/>
                </a:rPr>
                <a:t>The </a:t>
              </a:r>
              <a:r>
                <a:rPr lang="en-US" altLang="zh-CN" sz="1800" u="sng">
                  <a:cs typeface="Times New Roman" charset="0"/>
                </a:rPr>
                <a:t>JList</a:t>
              </a:r>
              <a:r>
                <a:rPr lang="en-US" altLang="zh-CN" sz="1800">
                  <a:cs typeface="Times New Roman" charset="0"/>
                </a:rPr>
                <a:t> class delegates the responsibilities of storing and maintaining data to its data model. The </a:t>
              </a:r>
              <a:r>
                <a:rPr lang="en-US" altLang="zh-CN" sz="1800" u="sng">
                  <a:cs typeface="Times New Roman" charset="0"/>
                </a:rPr>
                <a:t>JList</a:t>
              </a:r>
              <a:r>
                <a:rPr lang="en-US" altLang="zh-CN" sz="1800">
                  <a:cs typeface="Times New Roman" charset="0"/>
                </a:rPr>
                <a:t> class itself does not have methods for adding or removing items from the list. These methods are supported in </a:t>
              </a:r>
              <a:r>
                <a:rPr lang="en-US" altLang="zh-CN" sz="1800" u="sng">
                  <a:cs typeface="Times New Roman" charset="0"/>
                </a:rPr>
                <a:t>ListModel</a:t>
              </a:r>
              <a:r>
                <a:rPr lang="en-US" altLang="zh-CN" sz="1800">
                  <a:cs typeface="Times New Roman" charset="0"/>
                </a:rPr>
                <a:t>.</a:t>
              </a:r>
              <a:r>
                <a:rPr lang="en-US" altLang="zh-CN" sz="2000">
                  <a:cs typeface="Courier New" charset="0"/>
                </a:rPr>
                <a:t> </a:t>
              </a:r>
            </a:p>
          </p:txBody>
        </p:sp>
        <p:sp>
          <p:nvSpPr>
            <p:cNvPr id="694281" name="Line 9"/>
            <p:cNvSpPr>
              <a:spLocks noChangeShapeType="1"/>
            </p:cNvSpPr>
            <p:nvPr/>
          </p:nvSpPr>
          <p:spPr bwMode="auto">
            <a:xfrm flipV="1">
              <a:off x="1680" y="816"/>
              <a:ext cx="624" cy="24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4289" name="Group 17"/>
          <p:cNvGrpSpPr>
            <a:grpSpLocks/>
          </p:cNvGrpSpPr>
          <p:nvPr/>
        </p:nvGrpSpPr>
        <p:grpSpPr bwMode="auto">
          <a:xfrm>
            <a:off x="3276600" y="2192864"/>
            <a:ext cx="4038600" cy="4102100"/>
            <a:chOff x="2064" y="1200"/>
            <a:chExt cx="2544" cy="2584"/>
          </a:xfrm>
        </p:grpSpPr>
        <p:sp>
          <p:nvSpPr>
            <p:cNvPr id="694282" name="Text Box 10"/>
            <p:cNvSpPr txBox="1">
              <a:spLocks noChangeArrowheads="1"/>
            </p:cNvSpPr>
            <p:nvPr/>
          </p:nvSpPr>
          <p:spPr bwMode="auto">
            <a:xfrm>
              <a:off x="2064" y="2688"/>
              <a:ext cx="1824" cy="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u="sng">
                  <a:cs typeface="Courier New" charset="0"/>
                </a:rPr>
                <a:t>DefaultListModel</a:t>
              </a:r>
              <a:r>
                <a:rPr lang="en-US" altLang="zh-CN" sz="1800">
                  <a:cs typeface="Courier New" charset="0"/>
                </a:rPr>
                <a:t> extends </a:t>
              </a:r>
              <a:r>
                <a:rPr lang="en-US" altLang="zh-CN" sz="1800" u="sng">
                  <a:cs typeface="Courier New" charset="0"/>
                </a:rPr>
                <a:t>AbstractListModel</a:t>
              </a:r>
              <a:r>
                <a:rPr lang="en-US" altLang="zh-CN" sz="1800">
                  <a:cs typeface="Courier New" charset="0"/>
                </a:rPr>
                <a:t> and implements the two methods </a:t>
              </a:r>
              <a:r>
                <a:rPr lang="en-US" altLang="zh-CN" sz="1800" u="sng">
                  <a:cs typeface="Courier New" charset="0"/>
                </a:rPr>
                <a:t>getSize</a:t>
              </a:r>
              <a:r>
                <a:rPr lang="en-US" altLang="zh-CN" sz="1800">
                  <a:cs typeface="Courier New" charset="0"/>
                </a:rPr>
                <a:t> and </a:t>
              </a:r>
              <a:r>
                <a:rPr lang="en-US" altLang="zh-CN" sz="1800" u="sng">
                  <a:cs typeface="Courier New" charset="0"/>
                </a:rPr>
                <a:t>getElementAt</a:t>
              </a:r>
              <a:r>
                <a:rPr lang="en-US" altLang="zh-CN" sz="1800">
                  <a:cs typeface="Courier New" charset="0"/>
                </a:rPr>
                <a:t>, which are not implemented by </a:t>
              </a:r>
              <a:r>
                <a:rPr lang="en-US" altLang="zh-CN" sz="1800" u="sng">
                  <a:cs typeface="Courier New" charset="0"/>
                </a:rPr>
                <a:t>AbstractListModel</a:t>
              </a:r>
              <a:r>
                <a:rPr lang="en-US" altLang="zh-CN" sz="1800">
                  <a:cs typeface="Courier New" charset="0"/>
                </a:rPr>
                <a:t>.</a:t>
              </a:r>
              <a:endParaRPr lang="en-US" altLang="zh-CN" sz="2000">
                <a:cs typeface="Courier New" charset="0"/>
              </a:endParaRPr>
            </a:p>
          </p:txBody>
        </p:sp>
        <p:sp>
          <p:nvSpPr>
            <p:cNvPr id="694283" name="Line 11"/>
            <p:cNvSpPr>
              <a:spLocks noChangeShapeType="1"/>
            </p:cNvSpPr>
            <p:nvPr/>
          </p:nvSpPr>
          <p:spPr bwMode="auto">
            <a:xfrm flipV="1">
              <a:off x="3600" y="1200"/>
              <a:ext cx="1008" cy="16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4287" name="Group 15"/>
          <p:cNvGrpSpPr>
            <a:grpSpLocks/>
          </p:cNvGrpSpPr>
          <p:nvPr/>
        </p:nvGrpSpPr>
        <p:grpSpPr bwMode="auto">
          <a:xfrm>
            <a:off x="3276600" y="1583264"/>
            <a:ext cx="3505200" cy="2714625"/>
            <a:chOff x="2064" y="816"/>
            <a:chExt cx="2208" cy="1710"/>
          </a:xfrm>
        </p:grpSpPr>
        <p:sp>
          <p:nvSpPr>
            <p:cNvPr id="694284" name="Text Box 12"/>
            <p:cNvSpPr txBox="1">
              <a:spLocks noChangeArrowheads="1"/>
            </p:cNvSpPr>
            <p:nvPr/>
          </p:nvSpPr>
          <p:spPr bwMode="auto">
            <a:xfrm>
              <a:off x="2064" y="1392"/>
              <a:ext cx="1824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u="sng">
                  <a:cs typeface="Times New Roman" charset="0"/>
                </a:rPr>
                <a:t>AbstractListModel</a:t>
              </a:r>
              <a:r>
                <a:rPr lang="en-US" altLang="zh-CN" sz="1800">
                  <a:cs typeface="Times New Roman" charset="0"/>
                </a:rPr>
                <a:t> implements the registration methods in the </a:t>
              </a:r>
              <a:r>
                <a:rPr lang="en-US" altLang="zh-CN" sz="1800" u="sng">
                  <a:cs typeface="Times New Roman" charset="0"/>
                </a:rPr>
                <a:t>ListModel</a:t>
              </a:r>
              <a:r>
                <a:rPr lang="en-US" altLang="zh-CN" sz="1800">
                  <a:cs typeface="Times New Roman" charset="0"/>
                </a:rPr>
                <a:t>, but does not implement the </a:t>
              </a:r>
              <a:r>
                <a:rPr lang="en-US" altLang="zh-CN" sz="1800" u="sng">
                  <a:cs typeface="Times New Roman" charset="0"/>
                </a:rPr>
                <a:t>getSize</a:t>
              </a:r>
              <a:r>
                <a:rPr lang="en-US" altLang="zh-CN" sz="1800">
                  <a:cs typeface="Times New Roman" charset="0"/>
                </a:rPr>
                <a:t> and </a:t>
              </a:r>
              <a:r>
                <a:rPr lang="en-US" altLang="zh-CN" sz="1800" u="sng">
                  <a:cs typeface="Times New Roman" charset="0"/>
                </a:rPr>
                <a:t>getElementAt</a:t>
              </a:r>
              <a:r>
                <a:rPr lang="en-US" altLang="zh-CN" sz="1800">
                  <a:cs typeface="Times New Roman" charset="0"/>
                </a:rPr>
                <a:t> methods.</a:t>
              </a:r>
              <a:r>
                <a:rPr lang="en-US" altLang="zh-CN" sz="2200">
                  <a:cs typeface="Courier New" charset="0"/>
                </a:rPr>
                <a:t> </a:t>
              </a:r>
            </a:p>
          </p:txBody>
        </p:sp>
        <p:sp>
          <p:nvSpPr>
            <p:cNvPr id="694285" name="Line 13"/>
            <p:cNvSpPr>
              <a:spLocks noChangeShapeType="1"/>
            </p:cNvSpPr>
            <p:nvPr/>
          </p:nvSpPr>
          <p:spPr bwMode="auto">
            <a:xfrm flipV="1">
              <a:off x="3600" y="816"/>
              <a:ext cx="672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4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428750"/>
          </a:xfrm>
          <a:noFill/>
          <a:ln/>
        </p:spPr>
        <p:txBody>
          <a:bodyPr/>
          <a:lstStyle/>
          <a:p>
            <a:r>
              <a:rPr lang="en-US" altLang="zh-CN" i="1">
                <a:cs typeface="Times New Roman" charset="0"/>
              </a:rPr>
              <a:t>Example: </a:t>
            </a:r>
            <a:r>
              <a:rPr lang="en-US" altLang="zh-CN">
                <a:cs typeface="Times New Roman" charset="0"/>
              </a:rPr>
              <a:t>List Model Demo</a:t>
            </a:r>
          </a:p>
        </p:txBody>
      </p:sp>
      <p:sp>
        <p:nvSpPr>
          <p:cNvPr id="6963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12954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2200">
                <a:cs typeface="Times New Roman" charset="0"/>
              </a:rPr>
              <a:t>Problem: This example creates a list using a list model and allows the user to add and delete items in the list. When the user clicks the </a:t>
            </a:r>
            <a:r>
              <a:rPr lang="en-US" altLang="zh-CN" sz="2200" i="1">
                <a:cs typeface="Times New Roman" charset="0"/>
              </a:rPr>
              <a:t>Add new item</a:t>
            </a:r>
            <a:r>
              <a:rPr lang="en-US" altLang="zh-CN" sz="2200">
                <a:cs typeface="Times New Roman" charset="0"/>
              </a:rPr>
              <a:t> button, an input dialog box is displayed to receive a new item. </a:t>
            </a:r>
          </a:p>
        </p:txBody>
      </p:sp>
      <p:sp>
        <p:nvSpPr>
          <p:cNvPr id="9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6BF63-FDD8-6244-81A0-B24D822F990F}" type="slidenum">
              <a:rPr lang="en-US" altLang="zh-CN"/>
              <a:pPr/>
              <a:t>41</a:t>
            </a:fld>
            <a:endParaRPr lang="en-US" altLang="zh-CN"/>
          </a:p>
        </p:txBody>
      </p:sp>
      <p:sp>
        <p:nvSpPr>
          <p:cNvPr id="696324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2590800" y="5791200"/>
            <a:ext cx="3124200" cy="3810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charset="0"/>
                <a:hlinkClick r:id="rId4" action="ppaction://program"/>
              </a:rPr>
              <a:t>ListModelDemo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696326" name="Rectangle 6"/>
          <p:cNvSpPr>
            <a:spLocks noChangeArrowheads="1"/>
          </p:cNvSpPr>
          <p:nvPr/>
        </p:nvSpPr>
        <p:spPr bwMode="auto">
          <a:xfrm>
            <a:off x="182880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6329" name="Rectangle 9"/>
          <p:cNvSpPr>
            <a:spLocks noChangeArrowheads="1"/>
          </p:cNvSpPr>
          <p:nvPr/>
        </p:nvSpPr>
        <p:spPr bwMode="auto">
          <a:xfrm>
            <a:off x="182880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6328" name="Object 8"/>
          <p:cNvGraphicFramePr>
            <a:graphicFrameLocks noChangeAspect="1"/>
          </p:cNvGraphicFramePr>
          <p:nvPr/>
        </p:nvGraphicFramePr>
        <p:xfrm>
          <a:off x="609600" y="3124200"/>
          <a:ext cx="8077200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353" r:id="rId5" imgW="5676190" imgH="1685714" progId="Paint.Picture">
                  <p:embed/>
                </p:oleObj>
              </mc:Choice>
              <mc:Fallback>
                <p:oleObj r:id="rId5" imgW="5676190" imgH="1685714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24200"/>
                        <a:ext cx="8077200" cy="2398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  <a:noFill/>
          <a:ln/>
        </p:spPr>
        <p:txBody>
          <a:bodyPr/>
          <a:lstStyle/>
          <a:p>
            <a:r>
              <a:rPr lang="en-US" altLang="zh-CN">
                <a:cs typeface="Times New Roman" charset="0"/>
              </a:rPr>
              <a:t>List Cell Renderer</a:t>
            </a:r>
          </a:p>
        </p:txBody>
      </p:sp>
      <p:sp>
        <p:nvSpPr>
          <p:cNvPr id="20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66183"/>
          </a:xfrm>
        </p:spPr>
        <p:txBody>
          <a:bodyPr/>
          <a:lstStyle/>
          <a:p>
            <a:fld id="{DCD9F00C-6950-9D4B-8C81-EE14078CAD28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698371" name="Rectangle 3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8372" name="Rectangle 4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98373" name="Rectangle 5"/>
          <p:cNvSpPr>
            <a:spLocks noChangeArrowheads="1"/>
          </p:cNvSpPr>
          <p:nvPr/>
        </p:nvSpPr>
        <p:spPr bwMode="auto">
          <a:xfrm>
            <a:off x="1981200" y="657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698392" name="Group 24"/>
          <p:cNvGrpSpPr>
            <a:grpSpLocks/>
          </p:cNvGrpSpPr>
          <p:nvPr/>
        </p:nvGrpSpPr>
        <p:grpSpPr bwMode="auto">
          <a:xfrm>
            <a:off x="228600" y="1430864"/>
            <a:ext cx="2895600" cy="1981200"/>
            <a:chOff x="144" y="720"/>
            <a:chExt cx="1824" cy="1248"/>
          </a:xfrm>
        </p:grpSpPr>
        <p:sp>
          <p:nvSpPr>
            <p:cNvPr id="698376" name="Text Box 8"/>
            <p:cNvSpPr txBox="1">
              <a:spLocks noChangeArrowheads="1"/>
            </p:cNvSpPr>
            <p:nvPr/>
          </p:nvSpPr>
          <p:spPr bwMode="auto">
            <a:xfrm>
              <a:off x="144" y="720"/>
              <a:ext cx="182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Times New Roman" charset="0"/>
                </a:rPr>
                <a:t>In addition to delegating data storage and processing to list models, </a:t>
              </a:r>
              <a:r>
                <a:rPr lang="en-US" altLang="zh-CN" sz="1800" u="sng">
                  <a:cs typeface="Times New Roman" charset="0"/>
                </a:rPr>
                <a:t>JList</a:t>
              </a:r>
              <a:r>
                <a:rPr lang="en-US" altLang="zh-CN" sz="1800">
                  <a:cs typeface="Times New Roman" charset="0"/>
                </a:rPr>
                <a:t> delegates the rendering of the list cells to list cell renderers. </a:t>
              </a:r>
            </a:p>
          </p:txBody>
        </p:sp>
        <p:sp>
          <p:nvSpPr>
            <p:cNvPr id="698377" name="Line 9"/>
            <p:cNvSpPr>
              <a:spLocks noChangeShapeType="1"/>
            </p:cNvSpPr>
            <p:nvPr/>
          </p:nvSpPr>
          <p:spPr bwMode="auto">
            <a:xfrm>
              <a:off x="1440" y="1488"/>
              <a:ext cx="480" cy="48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8385" name="Rectangle 17"/>
          <p:cNvSpPr>
            <a:spLocks noChangeArrowheads="1"/>
          </p:cNvSpPr>
          <p:nvPr/>
        </p:nvSpPr>
        <p:spPr bwMode="auto">
          <a:xfrm>
            <a:off x="2000250" y="30337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83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940280"/>
              </p:ext>
            </p:extLst>
          </p:nvPr>
        </p:nvGraphicFramePr>
        <p:xfrm>
          <a:off x="0" y="3259664"/>
          <a:ext cx="8991600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419" r:id="rId4" imgW="5143500" imgH="789432" progId="Word.Picture.8">
                  <p:embed/>
                </p:oleObj>
              </mc:Choice>
              <mc:Fallback>
                <p:oleObj r:id="rId4" imgW="5143500" imgH="789432" progId="Word.Picture.8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59664"/>
                        <a:ext cx="8991600" cy="138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8394" name="Group 26"/>
          <p:cNvGrpSpPr>
            <a:grpSpLocks/>
          </p:cNvGrpSpPr>
          <p:nvPr/>
        </p:nvGrpSpPr>
        <p:grpSpPr bwMode="auto">
          <a:xfrm>
            <a:off x="457200" y="3945464"/>
            <a:ext cx="3276600" cy="2608263"/>
            <a:chOff x="288" y="2304"/>
            <a:chExt cx="2064" cy="1643"/>
          </a:xfrm>
        </p:grpSpPr>
        <p:sp>
          <p:nvSpPr>
            <p:cNvPr id="698386" name="Text Box 18"/>
            <p:cNvSpPr txBox="1">
              <a:spLocks noChangeArrowheads="1"/>
            </p:cNvSpPr>
            <p:nvPr/>
          </p:nvSpPr>
          <p:spPr bwMode="auto">
            <a:xfrm>
              <a:off x="288" y="3024"/>
              <a:ext cx="2064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Times New Roman" charset="0"/>
                </a:rPr>
                <a:t>All list cell renderers implement the </a:t>
              </a:r>
              <a:r>
                <a:rPr lang="en-US" altLang="zh-CN" sz="1800" u="sng">
                  <a:cs typeface="Times New Roman" charset="0"/>
                </a:rPr>
                <a:t>ListCellRenderer</a:t>
              </a:r>
              <a:r>
                <a:rPr lang="en-US" altLang="zh-CN" sz="1800">
                  <a:cs typeface="Times New Roman" charset="0"/>
                </a:rPr>
                <a:t> interface, which defines a single method, </a:t>
              </a:r>
              <a:r>
                <a:rPr lang="en-US" altLang="zh-CN" sz="1800" u="sng">
                  <a:cs typeface="Times New Roman" charset="0"/>
                </a:rPr>
                <a:t>getListCellRendererComponent</a:t>
              </a:r>
              <a:r>
                <a:rPr lang="en-US" altLang="zh-CN" sz="1800">
                  <a:cs typeface="Times New Roman" charset="0"/>
                </a:rPr>
                <a:t>, as follows </a:t>
              </a:r>
            </a:p>
          </p:txBody>
        </p:sp>
        <p:sp>
          <p:nvSpPr>
            <p:cNvPr id="698387" name="Line 19"/>
            <p:cNvSpPr>
              <a:spLocks noChangeShapeType="1"/>
            </p:cNvSpPr>
            <p:nvPr/>
          </p:nvSpPr>
          <p:spPr bwMode="auto">
            <a:xfrm flipV="1">
              <a:off x="912" y="2304"/>
              <a:ext cx="288" cy="72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8393" name="Group 25"/>
          <p:cNvGrpSpPr>
            <a:grpSpLocks/>
          </p:cNvGrpSpPr>
          <p:nvPr/>
        </p:nvGrpSpPr>
        <p:grpSpPr bwMode="auto">
          <a:xfrm>
            <a:off x="4191000" y="1507064"/>
            <a:ext cx="4724400" cy="1905000"/>
            <a:chOff x="2640" y="768"/>
            <a:chExt cx="2976" cy="1200"/>
          </a:xfrm>
        </p:grpSpPr>
        <p:sp>
          <p:nvSpPr>
            <p:cNvPr id="698388" name="Text Box 20"/>
            <p:cNvSpPr txBox="1">
              <a:spLocks noChangeArrowheads="1"/>
            </p:cNvSpPr>
            <p:nvPr/>
          </p:nvSpPr>
          <p:spPr bwMode="auto">
            <a:xfrm>
              <a:off x="2640" y="768"/>
              <a:ext cx="2976" cy="9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Courier New" charset="0"/>
                </a:rPr>
                <a:t>By default, </a:t>
              </a:r>
              <a:r>
                <a:rPr lang="en-US" altLang="zh-CN" sz="1800" u="sng">
                  <a:cs typeface="Courier New" charset="0"/>
                </a:rPr>
                <a:t>JList</a:t>
              </a:r>
              <a:r>
                <a:rPr lang="en-US" altLang="zh-CN" sz="1800">
                  <a:cs typeface="Courier New" charset="0"/>
                </a:rPr>
                <a:t> uses </a:t>
              </a:r>
              <a:r>
                <a:rPr lang="en-US" altLang="zh-CN" sz="1800" u="sng">
                  <a:cs typeface="Courier New" charset="0"/>
                </a:rPr>
                <a:t>DefaultListCellRenderer</a:t>
              </a:r>
              <a:r>
                <a:rPr lang="en-US" altLang="zh-CN" sz="1800">
                  <a:cs typeface="Courier New" charset="0"/>
                </a:rPr>
                <a:t> to render its cells. The </a:t>
              </a:r>
              <a:r>
                <a:rPr lang="en-US" altLang="zh-CN" sz="1800" u="sng">
                  <a:cs typeface="Courier New" charset="0"/>
                </a:rPr>
                <a:t>DefaultListCellRenderer</a:t>
              </a:r>
              <a:r>
                <a:rPr lang="en-US" altLang="zh-CN" sz="1800">
                  <a:cs typeface="Courier New" charset="0"/>
                </a:rPr>
                <a:t> class implements </a:t>
              </a:r>
              <a:r>
                <a:rPr lang="en-US" altLang="zh-CN" sz="1800" u="sng">
                  <a:cs typeface="Courier New" charset="0"/>
                </a:rPr>
                <a:t>ListCellRenderer</a:t>
              </a:r>
              <a:r>
                <a:rPr lang="en-US" altLang="zh-CN" sz="1800">
                  <a:cs typeface="Courier New" charset="0"/>
                </a:rPr>
                <a:t>, extends </a:t>
              </a:r>
              <a:r>
                <a:rPr lang="en-US" altLang="zh-CN" sz="1800" u="sng">
                  <a:cs typeface="Courier New" charset="0"/>
                </a:rPr>
                <a:t>JLabel</a:t>
              </a:r>
              <a:r>
                <a:rPr lang="en-US" altLang="zh-CN" sz="1800">
                  <a:cs typeface="Courier New" charset="0"/>
                </a:rPr>
                <a:t>, and can display either a string or an icon, but not both in the same cell.</a:t>
              </a:r>
            </a:p>
          </p:txBody>
        </p:sp>
        <p:sp>
          <p:nvSpPr>
            <p:cNvPr id="698390" name="Line 22"/>
            <p:cNvSpPr>
              <a:spLocks noChangeShapeType="1"/>
            </p:cNvSpPr>
            <p:nvPr/>
          </p:nvSpPr>
          <p:spPr bwMode="auto">
            <a:xfrm flipH="1">
              <a:off x="4320" y="1584"/>
              <a:ext cx="96" cy="38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8395" name="Group 27"/>
          <p:cNvGrpSpPr>
            <a:grpSpLocks/>
          </p:cNvGrpSpPr>
          <p:nvPr/>
        </p:nvGrpSpPr>
        <p:grpSpPr bwMode="auto">
          <a:xfrm>
            <a:off x="4191000" y="4250264"/>
            <a:ext cx="4724400" cy="1479550"/>
            <a:chOff x="2640" y="2496"/>
            <a:chExt cx="2976" cy="932"/>
          </a:xfrm>
        </p:grpSpPr>
        <p:sp>
          <p:nvSpPr>
            <p:cNvPr id="698389" name="Text Box 21"/>
            <p:cNvSpPr txBox="1">
              <a:spLocks noChangeArrowheads="1"/>
            </p:cNvSpPr>
            <p:nvPr/>
          </p:nvSpPr>
          <p:spPr bwMode="auto">
            <a:xfrm>
              <a:off x="2640" y="3024"/>
              <a:ext cx="29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Courier New" charset="0"/>
                </a:rPr>
                <a:t>You can create a custom renderer by implementing </a:t>
              </a:r>
              <a:r>
                <a:rPr lang="en-US" altLang="zh-CN" sz="1800" u="sng">
                  <a:cs typeface="Courier New" charset="0"/>
                </a:rPr>
                <a:t>ListCellRenderer</a:t>
              </a:r>
              <a:r>
                <a:rPr lang="en-US" altLang="zh-CN" sz="1800">
                  <a:cs typeface="Courier New" charset="0"/>
                </a:rPr>
                <a:t>.</a:t>
              </a:r>
            </a:p>
          </p:txBody>
        </p:sp>
        <p:sp>
          <p:nvSpPr>
            <p:cNvPr id="698391" name="Line 23"/>
            <p:cNvSpPr>
              <a:spLocks noChangeShapeType="1"/>
            </p:cNvSpPr>
            <p:nvPr/>
          </p:nvSpPr>
          <p:spPr bwMode="auto">
            <a:xfrm flipV="1">
              <a:off x="3696" y="2496"/>
              <a:ext cx="528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8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8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8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8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8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8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8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8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428750"/>
          </a:xfrm>
          <a:noFill/>
          <a:ln/>
        </p:spPr>
        <p:txBody>
          <a:bodyPr/>
          <a:lstStyle/>
          <a:p>
            <a:r>
              <a:rPr lang="en-US" altLang="zh-CN" i="1">
                <a:cs typeface="Times New Roman" charset="0"/>
              </a:rPr>
              <a:t>Example: </a:t>
            </a:r>
            <a:r>
              <a:rPr lang="en-US" altLang="zh-CN">
                <a:cs typeface="Times New Roman" charset="0"/>
              </a:rPr>
              <a:t>List Cell Renderer Demo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12954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2200">
                <a:cs typeface="Times New Roman" charset="0"/>
              </a:rPr>
              <a:t>Problem: This example creates a list of countries and displays the country flags and country names in the list. When a country is selected in the list, its flag is displayed in a panel next to the list. </a:t>
            </a:r>
          </a:p>
        </p:txBody>
      </p:sp>
      <p:sp>
        <p:nvSpPr>
          <p:cNvPr id="11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FF02-FE8B-E64E-AB1A-2C059F0ACC94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700420" name="AutoShape 4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562600" y="3962400"/>
            <a:ext cx="3124200" cy="3810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charset="0"/>
                <a:hlinkClick r:id="rId3" action="ppaction://program"/>
              </a:rPr>
              <a:t>ListCellRendererDemo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700422" name="Rectangle 6"/>
          <p:cNvSpPr>
            <a:spLocks noChangeArrowheads="1"/>
          </p:cNvSpPr>
          <p:nvPr/>
        </p:nvSpPr>
        <p:spPr bwMode="auto">
          <a:xfrm>
            <a:off x="182880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0423" name="Rectangle 7"/>
          <p:cNvSpPr>
            <a:spLocks noChangeArrowheads="1"/>
          </p:cNvSpPr>
          <p:nvPr/>
        </p:nvSpPr>
        <p:spPr bwMode="auto">
          <a:xfrm>
            <a:off x="182880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0426" name="Rectangle 10"/>
          <p:cNvSpPr>
            <a:spLocks noChangeArrowheads="1"/>
          </p:cNvSpPr>
          <p:nvPr/>
        </p:nvSpPr>
        <p:spPr bwMode="auto">
          <a:xfrm>
            <a:off x="2667000" y="2238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0427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562600" y="3276600"/>
            <a:ext cx="3124200" cy="3810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Book Antiqua" charset="0"/>
                <a:hlinkClick r:id="rId4" action="ppaction://program"/>
              </a:rPr>
              <a:t>MyListCellRenderer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pic>
        <p:nvPicPr>
          <p:cNvPr id="700428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4800600" cy="232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457200"/>
          </a:xfrm>
          <a:noFill/>
          <a:ln/>
        </p:spPr>
        <p:txBody>
          <a:bodyPr/>
          <a:lstStyle/>
          <a:p>
            <a:r>
              <a:rPr lang="en-US" altLang="zh-CN" u="sng">
                <a:cs typeface="Times New Roman" charset="0"/>
              </a:rPr>
              <a:t>JComboBox</a:t>
            </a:r>
            <a:r>
              <a:rPr lang="en-US" altLang="zh-CN"/>
              <a:t> </a:t>
            </a:r>
          </a:p>
        </p:txBody>
      </p:sp>
      <p:sp>
        <p:nvSpPr>
          <p:cNvPr id="7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629400" y="6400800"/>
            <a:ext cx="2133600" cy="366183"/>
          </a:xfrm>
        </p:spPr>
        <p:txBody>
          <a:bodyPr/>
          <a:lstStyle/>
          <a:p>
            <a:fld id="{DD5CDB89-DB70-8541-AE58-6EF722C79F69}" type="slidenum">
              <a:rPr lang="en-US" altLang="zh-CN"/>
              <a:pPr/>
              <a:t>44</a:t>
            </a:fld>
            <a:endParaRPr lang="en-US" altLang="zh-CN" dirty="0"/>
          </a:p>
        </p:txBody>
      </p:sp>
      <p:sp>
        <p:nvSpPr>
          <p:cNvPr id="702468" name="Rectangle 4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2469" name="Rectangle 5"/>
          <p:cNvSpPr>
            <a:spLocks noChangeArrowheads="1"/>
          </p:cNvSpPr>
          <p:nvPr/>
        </p:nvSpPr>
        <p:spPr bwMode="auto">
          <a:xfrm>
            <a:off x="2266950" y="2733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2472" name="Rectangle 8"/>
          <p:cNvSpPr>
            <a:spLocks noChangeArrowheads="1"/>
          </p:cNvSpPr>
          <p:nvPr/>
        </p:nvSpPr>
        <p:spPr bwMode="auto">
          <a:xfrm>
            <a:off x="2057400" y="1628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024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0977525"/>
              </p:ext>
            </p:extLst>
          </p:nvPr>
        </p:nvGraphicFramePr>
        <p:xfrm>
          <a:off x="685800" y="1126064"/>
          <a:ext cx="7848600" cy="561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496" r:id="rId4" imgW="5029200" imgH="3601212" progId="Word.Picture.8">
                  <p:embed/>
                </p:oleObj>
              </mc:Choice>
              <mc:Fallback>
                <p:oleObj r:id="rId4" imgW="5029200" imgH="3601212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26064"/>
                        <a:ext cx="7848600" cy="561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457200"/>
          </a:xfrm>
          <a:noFill/>
          <a:ln/>
        </p:spPr>
        <p:txBody>
          <a:bodyPr/>
          <a:lstStyle/>
          <a:p>
            <a:r>
              <a:rPr lang="en-US" altLang="zh-CN" dirty="0">
                <a:cs typeface="Times New Roman" charset="0"/>
              </a:rPr>
              <a:t>Combo Box Model</a:t>
            </a:r>
            <a:endParaRPr lang="en-US" altLang="zh-CN" dirty="0"/>
          </a:p>
        </p:txBody>
      </p:sp>
      <p:sp>
        <p:nvSpPr>
          <p:cNvPr id="18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2133600" cy="366183"/>
          </a:xfrm>
        </p:spPr>
        <p:txBody>
          <a:bodyPr/>
          <a:lstStyle/>
          <a:p>
            <a:fld id="{E7119426-29E2-514D-9FDE-81DE37005EB7}" type="slidenum">
              <a:rPr lang="en-US" altLang="zh-CN"/>
              <a:pPr/>
              <a:t>45</a:t>
            </a:fld>
            <a:endParaRPr lang="en-US" altLang="zh-CN"/>
          </a:p>
        </p:txBody>
      </p:sp>
      <p:sp>
        <p:nvSpPr>
          <p:cNvPr id="704515" name="Rectangle 3"/>
          <p:cNvSpPr>
            <a:spLocks noChangeArrowheads="1"/>
          </p:cNvSpPr>
          <p:nvPr/>
        </p:nvSpPr>
        <p:spPr bwMode="auto">
          <a:xfrm>
            <a:off x="2962275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4516" name="Rectangle 4"/>
          <p:cNvSpPr>
            <a:spLocks noChangeArrowheads="1"/>
          </p:cNvSpPr>
          <p:nvPr/>
        </p:nvSpPr>
        <p:spPr bwMode="auto">
          <a:xfrm>
            <a:off x="2266950" y="30215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4517" name="Rectangle 5"/>
          <p:cNvSpPr>
            <a:spLocks noChangeArrowheads="1"/>
          </p:cNvSpPr>
          <p:nvPr/>
        </p:nvSpPr>
        <p:spPr bwMode="auto">
          <a:xfrm>
            <a:off x="2057400" y="191663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4520" name="Rectangle 8"/>
          <p:cNvSpPr>
            <a:spLocks noChangeArrowheads="1"/>
          </p:cNvSpPr>
          <p:nvPr/>
        </p:nvSpPr>
        <p:spPr bwMode="auto">
          <a:xfrm>
            <a:off x="3286125" y="194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4522" name="Rectangle 10"/>
          <p:cNvSpPr>
            <a:spLocks noChangeArrowheads="1"/>
          </p:cNvSpPr>
          <p:nvPr/>
        </p:nvSpPr>
        <p:spPr bwMode="auto">
          <a:xfrm>
            <a:off x="3286125" y="1528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7045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7289894"/>
              </p:ext>
            </p:extLst>
          </p:nvPr>
        </p:nvGraphicFramePr>
        <p:xfrm>
          <a:off x="0" y="1202264"/>
          <a:ext cx="381635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62" name="Picture" r:id="rId4" imgW="2571840" imgH="3803760" progId="Word.Picture.8">
                  <p:embed/>
                </p:oleObj>
              </mc:Choice>
              <mc:Fallback>
                <p:oleObj name="Picture" r:id="rId4" imgW="2571840" imgH="3803760" progId="Word.Picture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02264"/>
                        <a:ext cx="3816350" cy="563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4536" name="Group 24"/>
          <p:cNvGrpSpPr>
            <a:grpSpLocks/>
          </p:cNvGrpSpPr>
          <p:nvPr/>
        </p:nvGrpSpPr>
        <p:grpSpPr bwMode="auto">
          <a:xfrm>
            <a:off x="3581400" y="1126064"/>
            <a:ext cx="5334000" cy="2014538"/>
            <a:chOff x="2256" y="528"/>
            <a:chExt cx="3360" cy="1269"/>
          </a:xfrm>
        </p:grpSpPr>
        <p:sp>
          <p:nvSpPr>
            <p:cNvPr id="704524" name="Text Box 12"/>
            <p:cNvSpPr txBox="1">
              <a:spLocks noChangeArrowheads="1"/>
            </p:cNvSpPr>
            <p:nvPr/>
          </p:nvSpPr>
          <p:spPr bwMode="auto">
            <a:xfrm>
              <a:off x="2640" y="528"/>
              <a:ext cx="2976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u="sng">
                  <a:cs typeface="Times New Roman" charset="0"/>
                </a:rPr>
                <a:t>JComboBox</a:t>
              </a:r>
              <a:r>
                <a:rPr lang="en-US" altLang="zh-CN" sz="1800">
                  <a:cs typeface="Times New Roman" charset="0"/>
                </a:rPr>
                <a:t> delegates the responsibilities of storing and maintaining data to its data model. All combo box models implement the </a:t>
              </a:r>
              <a:r>
                <a:rPr lang="en-US" altLang="zh-CN" sz="1800" u="sng">
                  <a:cs typeface="Times New Roman" charset="0"/>
                </a:rPr>
                <a:t>ComboBoxModel</a:t>
              </a:r>
              <a:r>
                <a:rPr lang="en-US" altLang="zh-CN" sz="1800">
                  <a:cs typeface="Times New Roman" charset="0"/>
                </a:rPr>
                <a:t> interface, which extends the </a:t>
              </a:r>
              <a:r>
                <a:rPr lang="en-US" altLang="zh-CN" sz="1800" u="sng">
                  <a:cs typeface="Times New Roman" charset="0"/>
                </a:rPr>
                <a:t>ListModel</a:t>
              </a:r>
              <a:r>
                <a:rPr lang="en-US" altLang="zh-CN" sz="1800">
                  <a:cs typeface="Times New Roman" charset="0"/>
                </a:rPr>
                <a:t> interface and defines the </a:t>
              </a:r>
              <a:r>
                <a:rPr lang="en-US" altLang="zh-CN" sz="1800" u="sng">
                  <a:cs typeface="Times New Roman" charset="0"/>
                </a:rPr>
                <a:t>getSelectedItem</a:t>
              </a:r>
              <a:r>
                <a:rPr lang="en-US" altLang="zh-CN" sz="1800">
                  <a:cs typeface="Times New Roman" charset="0"/>
                </a:rPr>
                <a:t> and </a:t>
              </a:r>
              <a:r>
                <a:rPr lang="en-US" altLang="zh-CN" sz="1800" u="sng">
                  <a:cs typeface="Times New Roman" charset="0"/>
                </a:rPr>
                <a:t>setSelectedItem</a:t>
              </a:r>
              <a:r>
                <a:rPr lang="en-US" altLang="zh-CN" sz="1800">
                  <a:cs typeface="Times New Roman" charset="0"/>
                </a:rPr>
                <a:t> methods for retrieving and setting a selected item. </a:t>
              </a:r>
            </a:p>
          </p:txBody>
        </p:sp>
        <p:sp>
          <p:nvSpPr>
            <p:cNvPr id="704525" name="Line 13"/>
            <p:cNvSpPr>
              <a:spLocks noChangeShapeType="1"/>
            </p:cNvSpPr>
            <p:nvPr/>
          </p:nvSpPr>
          <p:spPr bwMode="auto">
            <a:xfrm flipH="1" flipV="1">
              <a:off x="2256" y="1104"/>
              <a:ext cx="432" cy="1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4537" name="Group 25"/>
          <p:cNvGrpSpPr>
            <a:grpSpLocks/>
          </p:cNvGrpSpPr>
          <p:nvPr/>
        </p:nvGrpSpPr>
        <p:grpSpPr bwMode="auto">
          <a:xfrm>
            <a:off x="3505200" y="2726264"/>
            <a:ext cx="5334000" cy="1601788"/>
            <a:chOff x="2208" y="1536"/>
            <a:chExt cx="3360" cy="1009"/>
          </a:xfrm>
        </p:grpSpPr>
        <p:sp>
          <p:nvSpPr>
            <p:cNvPr id="704532" name="Text Box 20"/>
            <p:cNvSpPr txBox="1">
              <a:spLocks noChangeArrowheads="1"/>
            </p:cNvSpPr>
            <p:nvPr/>
          </p:nvSpPr>
          <p:spPr bwMode="auto">
            <a:xfrm>
              <a:off x="2592" y="1968"/>
              <a:ext cx="2976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Times New Roman" charset="0"/>
                </a:rPr>
                <a:t>The methods for adding and removing items are defined in the </a:t>
              </a:r>
              <a:r>
                <a:rPr lang="en-US" altLang="zh-CN" sz="1800" u="sng">
                  <a:cs typeface="Times New Roman" charset="0"/>
                </a:rPr>
                <a:t>MutableComboBoxModel</a:t>
              </a:r>
              <a:r>
                <a:rPr lang="en-US" altLang="zh-CN" sz="1800">
                  <a:cs typeface="Times New Roman" charset="0"/>
                </a:rPr>
                <a:t> interface </a:t>
              </a:r>
            </a:p>
          </p:txBody>
        </p:sp>
        <p:sp>
          <p:nvSpPr>
            <p:cNvPr id="704533" name="Line 21"/>
            <p:cNvSpPr>
              <a:spLocks noChangeShapeType="1"/>
            </p:cNvSpPr>
            <p:nvPr/>
          </p:nvSpPr>
          <p:spPr bwMode="auto">
            <a:xfrm flipH="1" flipV="1">
              <a:off x="2208" y="1536"/>
              <a:ext cx="432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4538" name="Group 26"/>
          <p:cNvGrpSpPr>
            <a:grpSpLocks/>
          </p:cNvGrpSpPr>
          <p:nvPr/>
        </p:nvGrpSpPr>
        <p:grpSpPr bwMode="auto">
          <a:xfrm>
            <a:off x="3429000" y="4250264"/>
            <a:ext cx="5334000" cy="1327150"/>
            <a:chOff x="2160" y="2496"/>
            <a:chExt cx="3360" cy="836"/>
          </a:xfrm>
        </p:grpSpPr>
        <p:sp>
          <p:nvSpPr>
            <p:cNvPr id="704534" name="Text Box 22"/>
            <p:cNvSpPr txBox="1">
              <a:spLocks noChangeArrowheads="1"/>
            </p:cNvSpPr>
            <p:nvPr/>
          </p:nvSpPr>
          <p:spPr bwMode="auto">
            <a:xfrm>
              <a:off x="2544" y="2928"/>
              <a:ext cx="29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cs typeface="Times New Roman" charset="0"/>
                </a:rPr>
                <a:t>DefaultComboBoxModel provides a concrete implementation for ComboModel.</a:t>
              </a:r>
            </a:p>
          </p:txBody>
        </p:sp>
        <p:sp>
          <p:nvSpPr>
            <p:cNvPr id="704535" name="Line 23"/>
            <p:cNvSpPr>
              <a:spLocks noChangeShapeType="1"/>
            </p:cNvSpPr>
            <p:nvPr/>
          </p:nvSpPr>
          <p:spPr bwMode="auto">
            <a:xfrm flipH="1" flipV="1">
              <a:off x="2160" y="2496"/>
              <a:ext cx="432" cy="52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4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4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4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1428750"/>
          </a:xfrm>
          <a:noFill/>
          <a:ln/>
        </p:spPr>
        <p:txBody>
          <a:bodyPr/>
          <a:lstStyle/>
          <a:p>
            <a:r>
              <a:rPr lang="en-US" altLang="zh-CN" sz="3200" i="1" dirty="0">
                <a:cs typeface="Times New Roman" charset="0"/>
              </a:rPr>
              <a:t>Example: </a:t>
            </a:r>
            <a:r>
              <a:rPr lang="en-US" altLang="zh-CN" sz="3200" dirty="0">
                <a:cs typeface="Times New Roman" charset="0"/>
              </a:rPr>
              <a:t>Combo Box Cell Renderer Demo</a:t>
            </a:r>
          </a:p>
        </p:txBody>
      </p:sp>
      <p:sp>
        <p:nvSpPr>
          <p:cNvPr id="7065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534400" cy="12954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charset="0"/>
              <a:buNone/>
            </a:pPr>
            <a:r>
              <a:rPr lang="en-US" altLang="zh-CN" sz="2200">
                <a:cs typeface="Times New Roman" charset="0"/>
              </a:rPr>
              <a:t>Problem: This example creates a combo box that contains a list of countries and displays the country flags and country names in the list cell. When a country is selected in the list, its flag is displayed in a panel below the combo box.</a:t>
            </a:r>
          </a:p>
        </p:txBody>
      </p:sp>
      <p:sp>
        <p:nvSpPr>
          <p:cNvPr id="10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C9DD0-A62F-A242-86F8-F657728D25A2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706566" name="Rectangle 6"/>
          <p:cNvSpPr>
            <a:spLocks noChangeArrowheads="1"/>
          </p:cNvSpPr>
          <p:nvPr/>
        </p:nvSpPr>
        <p:spPr bwMode="auto">
          <a:xfrm>
            <a:off x="182880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6567" name="Rectangle 7"/>
          <p:cNvSpPr>
            <a:spLocks noChangeArrowheads="1"/>
          </p:cNvSpPr>
          <p:nvPr/>
        </p:nvSpPr>
        <p:spPr bwMode="auto">
          <a:xfrm>
            <a:off x="1828800" y="2614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6568" name="Rectangle 8"/>
          <p:cNvSpPr>
            <a:spLocks noChangeArrowheads="1"/>
          </p:cNvSpPr>
          <p:nvPr/>
        </p:nvSpPr>
        <p:spPr bwMode="auto">
          <a:xfrm>
            <a:off x="2667000" y="2238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706569" name="AutoShape 9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5562600" y="3276600"/>
            <a:ext cx="3352800" cy="381000"/>
          </a:xfrm>
          <a:prstGeom prst="actionButtonBlank">
            <a:avLst/>
          </a:prstGeom>
          <a:solidFill>
            <a:srgbClr val="FFFFFF"/>
          </a:solidFill>
          <a:ln>
            <a:noFill/>
          </a:ln>
          <a:effectLst>
            <a:prstShdw prst="shdw17" dist="17961" dir="2700000">
              <a:schemeClr val="tx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 anchor="ctr"/>
          <a:lstStyle/>
          <a:p>
            <a:pPr algn="ctr"/>
            <a:r>
              <a:rPr lang="en-US" altLang="zh-CN">
                <a:solidFill>
                  <a:schemeClr val="accent1"/>
                </a:solidFill>
                <a:latin typeface="Book Antiqua" charset="0"/>
                <a:hlinkClick r:id="rId3" action="ppaction://program"/>
              </a:rPr>
              <a:t>ComboBoxCellRenderer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706571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76600"/>
            <a:ext cx="4800600" cy="270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base-Java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Database-Java.thmx</Template>
  <TotalTime>19420</TotalTime>
  <Words>2449</Words>
  <Application>Microsoft Macintosh PowerPoint</Application>
  <PresentationFormat>全屏显示(4:3)</PresentationFormat>
  <Paragraphs>235</Paragraphs>
  <Slides>46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微软雅黑</vt:lpstr>
      <vt:lpstr>Arial</vt:lpstr>
      <vt:lpstr>Book Antiqua</vt:lpstr>
      <vt:lpstr>Calibri</vt:lpstr>
      <vt:lpstr>Courier New</vt:lpstr>
      <vt:lpstr>Monotype Sorts</vt:lpstr>
      <vt:lpstr>Times New Roman</vt:lpstr>
      <vt:lpstr>Database-Java</vt:lpstr>
      <vt:lpstr>自定义设计方案</vt:lpstr>
      <vt:lpstr>图片</vt:lpstr>
      <vt:lpstr>Word.Picture.8</vt:lpstr>
      <vt:lpstr>Picture</vt:lpstr>
      <vt:lpstr>Paint.Picture</vt:lpstr>
      <vt:lpstr>PowerPoint 演示文稿</vt:lpstr>
      <vt:lpstr>JavaBeans和bean事件</vt:lpstr>
      <vt:lpstr>如何理解JavaBeans</vt:lpstr>
      <vt:lpstr>JAVA事件模型</vt:lpstr>
      <vt:lpstr>事件处理过程</vt:lpstr>
      <vt:lpstr>创建自定义源组件</vt:lpstr>
      <vt:lpstr>例子</vt:lpstr>
      <vt:lpstr>利用已有事件组</vt:lpstr>
      <vt:lpstr>PowerPoint 演示文稿</vt:lpstr>
      <vt:lpstr>自定义事件组</vt:lpstr>
      <vt:lpstr>自定义事件组</vt:lpstr>
      <vt:lpstr>例子：</vt:lpstr>
      <vt:lpstr>MVC：框架模式</vt:lpstr>
      <vt:lpstr>JAVA事件委托模型</vt:lpstr>
      <vt:lpstr>Model-View-Controller (MVC)</vt:lpstr>
      <vt:lpstr>Benefits of MVC</vt:lpstr>
      <vt:lpstr>Synchronization between Model and View</vt:lpstr>
      <vt:lpstr>Example: Developing Model-View-Controller Components</vt:lpstr>
      <vt:lpstr>CircleModel</vt:lpstr>
      <vt:lpstr>CircleView</vt:lpstr>
      <vt:lpstr>CircleController</vt:lpstr>
      <vt:lpstr>Putting Things Together</vt:lpstr>
      <vt:lpstr>MVC Variations</vt:lpstr>
      <vt:lpstr>Swing MVC</vt:lpstr>
      <vt:lpstr>Swing Model-View-Controller Architecture </vt:lpstr>
      <vt:lpstr>Swing Components and Their Models</vt:lpstr>
      <vt:lpstr>JSpinner </vt:lpstr>
      <vt:lpstr>The JSpinner Class</vt:lpstr>
      <vt:lpstr>Example: A Simple JSpinner Demo </vt:lpstr>
      <vt:lpstr>Spinner Models</vt:lpstr>
      <vt:lpstr>SpinnerListModel</vt:lpstr>
      <vt:lpstr>SpinnerNumberModel </vt:lpstr>
      <vt:lpstr>SpinnerDateModel</vt:lpstr>
      <vt:lpstr>Example: Using Spinner Models and Editors </vt:lpstr>
      <vt:lpstr>JList </vt:lpstr>
      <vt:lpstr>The JList Class </vt:lpstr>
      <vt:lpstr>The layoutOrientation property </vt:lpstr>
      <vt:lpstr>The selectionMode  property </vt:lpstr>
      <vt:lpstr>Example: List Properties Demo </vt:lpstr>
      <vt:lpstr>List Models </vt:lpstr>
      <vt:lpstr>Example: List Model Demo</vt:lpstr>
      <vt:lpstr>List Cell Renderer</vt:lpstr>
      <vt:lpstr>Example: List Cell Renderer Demo</vt:lpstr>
      <vt:lpstr>JComboBox </vt:lpstr>
      <vt:lpstr>Combo Box Model</vt:lpstr>
      <vt:lpstr>Example: Combo Box Cell Renderer 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Objects and Classes</dc:title>
  <dc:creator>Y. Daniel Liang</dc:creator>
  <cp:lastModifiedBy>Microsoft Office User</cp:lastModifiedBy>
  <cp:revision>251</cp:revision>
  <dcterms:created xsi:type="dcterms:W3CDTF">1995-06-10T17:31:50Z</dcterms:created>
  <dcterms:modified xsi:type="dcterms:W3CDTF">2025-05-20T00:53:54Z</dcterms:modified>
</cp:coreProperties>
</file>