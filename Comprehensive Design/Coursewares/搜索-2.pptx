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8"/>
  </p:notesMasterIdLst>
  <p:sldIdLst>
    <p:sldId id="593" r:id="rId2"/>
    <p:sldId id="603" r:id="rId3"/>
    <p:sldId id="594" r:id="rId4"/>
    <p:sldId id="641" r:id="rId5"/>
    <p:sldId id="604" r:id="rId6"/>
    <p:sldId id="605" r:id="rId7"/>
    <p:sldId id="606" r:id="rId8"/>
    <p:sldId id="607" r:id="rId9"/>
    <p:sldId id="608" r:id="rId10"/>
    <p:sldId id="609" r:id="rId11"/>
    <p:sldId id="610" r:id="rId12"/>
    <p:sldId id="642" r:id="rId13"/>
    <p:sldId id="612" r:id="rId14"/>
    <p:sldId id="613" r:id="rId15"/>
    <p:sldId id="614" r:id="rId16"/>
    <p:sldId id="615" r:id="rId17"/>
    <p:sldId id="616" r:id="rId18"/>
    <p:sldId id="617" r:id="rId19"/>
    <p:sldId id="618" r:id="rId20"/>
    <p:sldId id="704" r:id="rId21"/>
    <p:sldId id="699" r:id="rId22"/>
    <p:sldId id="643" r:id="rId23"/>
    <p:sldId id="676" r:id="rId24"/>
    <p:sldId id="629" r:id="rId25"/>
    <p:sldId id="630" r:id="rId26"/>
    <p:sldId id="631" r:id="rId27"/>
    <p:sldId id="632" r:id="rId28"/>
    <p:sldId id="678" r:id="rId29"/>
    <p:sldId id="679" r:id="rId30"/>
    <p:sldId id="680" r:id="rId31"/>
    <p:sldId id="681" r:id="rId32"/>
    <p:sldId id="682" r:id="rId33"/>
    <p:sldId id="683" r:id="rId34"/>
    <p:sldId id="635" r:id="rId35"/>
    <p:sldId id="700" r:id="rId36"/>
    <p:sldId id="701" r:id="rId37"/>
    <p:sldId id="702" r:id="rId38"/>
    <p:sldId id="703" r:id="rId39"/>
    <p:sldId id="636" r:id="rId40"/>
    <p:sldId id="637" r:id="rId41"/>
    <p:sldId id="638" r:id="rId42"/>
    <p:sldId id="639" r:id="rId43"/>
    <p:sldId id="640" r:id="rId44"/>
    <p:sldId id="694" r:id="rId45"/>
    <p:sldId id="696" r:id="rId46"/>
    <p:sldId id="697"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4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854" autoAdjust="0"/>
    <p:restoredTop sz="86951" autoAdjust="0"/>
  </p:normalViewPr>
  <p:slideViewPr>
    <p:cSldViewPr>
      <p:cViewPr varScale="1">
        <p:scale>
          <a:sx n="94" d="100"/>
          <a:sy n="94" d="100"/>
        </p:scale>
        <p:origin x="-2376" y="-102"/>
      </p:cViewPr>
      <p:guideLst>
        <p:guide orient="horz" pos="2144"/>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D05AC6C-9512-4B60-88A3-550D11AC211E}" type="datetimeFigureOut">
              <a:rPr lang="en-US" smtClean="0"/>
              <a:t>6/26/2024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6BA42DD-6D94-4698-832B-FD6413A899CA}" type="slidenum">
              <a:rPr lang="en-US" smtClean="0"/>
              <a:t>‹#›</a:t>
            </a:fld>
            <a:endParaRPr lang="en-US"/>
          </a:p>
        </p:txBody>
      </p:sp>
    </p:spTree>
    <p:extLst>
      <p:ext uri="{BB962C8B-B14F-4D97-AF65-F5344CB8AC3E}">
        <p14:creationId xmlns:p14="http://schemas.microsoft.com/office/powerpoint/2010/main" val="2203345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Informed search:  </a:t>
            </a:r>
            <a:r>
              <a:rPr kumimoji="1" lang="zh-CN" altLang="en-US" dirty="0"/>
              <a:t>提示性搜索，有信息的搜索</a:t>
            </a:r>
          </a:p>
        </p:txBody>
      </p:sp>
      <p:sp>
        <p:nvSpPr>
          <p:cNvPr id="4" name="灯片编号占位符 3"/>
          <p:cNvSpPr>
            <a:spLocks noGrp="1"/>
          </p:cNvSpPr>
          <p:nvPr>
            <p:ph type="sldNum" sz="quarter" idx="5"/>
          </p:nvPr>
        </p:nvSpPr>
        <p:spPr/>
        <p:txBody>
          <a:bodyPr/>
          <a:lstStyle/>
          <a:p>
            <a:fld id="{86BA42DD-6D94-4698-832B-FD6413A899CA}" type="slidenum">
              <a:rPr lang="en-US" smtClean="0"/>
              <a:t>3</a:t>
            </a:fld>
            <a:endParaRPr lang="en-US"/>
          </a:p>
        </p:txBody>
      </p:sp>
    </p:spTree>
    <p:extLst>
      <p:ext uri="{BB962C8B-B14F-4D97-AF65-F5344CB8AC3E}">
        <p14:creationId xmlns:p14="http://schemas.microsoft.com/office/powerpoint/2010/main" val="897180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根据直线距离，用来估计后续走那条路线。 </a:t>
            </a:r>
          </a:p>
        </p:txBody>
      </p:sp>
      <p:sp>
        <p:nvSpPr>
          <p:cNvPr id="4" name="灯片编号占位符 3"/>
          <p:cNvSpPr>
            <a:spLocks noGrp="1"/>
          </p:cNvSpPr>
          <p:nvPr>
            <p:ph type="sldNum" sz="quarter" idx="5"/>
          </p:nvPr>
        </p:nvSpPr>
        <p:spPr/>
        <p:txBody>
          <a:bodyPr/>
          <a:lstStyle/>
          <a:p>
            <a:fld id="{86BA42DD-6D94-4698-832B-FD6413A899CA}" type="slidenum">
              <a:rPr lang="en-US" smtClean="0"/>
              <a:t>6</a:t>
            </a:fld>
            <a:endParaRPr lang="en-US"/>
          </a:p>
        </p:txBody>
      </p:sp>
    </p:spTree>
    <p:extLst>
      <p:ext uri="{BB962C8B-B14F-4D97-AF65-F5344CB8AC3E}">
        <p14:creationId xmlns:p14="http://schemas.microsoft.com/office/powerpoint/2010/main" val="3763678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给出实例的问题。</a:t>
            </a:r>
          </a:p>
        </p:txBody>
      </p:sp>
      <p:sp>
        <p:nvSpPr>
          <p:cNvPr id="4" name="灯片编号占位符 3"/>
          <p:cNvSpPr>
            <a:spLocks noGrp="1"/>
          </p:cNvSpPr>
          <p:nvPr>
            <p:ph type="sldNum" sz="quarter" idx="5"/>
          </p:nvPr>
        </p:nvSpPr>
        <p:spPr/>
        <p:txBody>
          <a:bodyPr/>
          <a:lstStyle/>
          <a:p>
            <a:fld id="{86BA42DD-6D94-4698-832B-FD6413A899CA}" type="slidenum">
              <a:rPr lang="en-US" smtClean="0"/>
              <a:t>23</a:t>
            </a:fld>
            <a:endParaRPr lang="en-US"/>
          </a:p>
        </p:txBody>
      </p:sp>
    </p:spTree>
    <p:extLst>
      <p:ext uri="{BB962C8B-B14F-4D97-AF65-F5344CB8AC3E}">
        <p14:creationId xmlns:p14="http://schemas.microsoft.com/office/powerpoint/2010/main" val="23241615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6BA42DD-6D94-4698-832B-FD6413A899CA}" type="slidenum">
              <a:rPr lang="en-US" smtClean="0"/>
              <a:t>24</a:t>
            </a:fld>
            <a:endParaRPr lang="en-US"/>
          </a:p>
        </p:txBody>
      </p:sp>
    </p:spTree>
    <p:extLst>
      <p:ext uri="{BB962C8B-B14F-4D97-AF65-F5344CB8AC3E}">
        <p14:creationId xmlns:p14="http://schemas.microsoft.com/office/powerpoint/2010/main" val="2162047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仅从当前状态的最优选择上判断。只是爬当前的山峰。</a:t>
            </a:r>
          </a:p>
        </p:txBody>
      </p:sp>
      <p:sp>
        <p:nvSpPr>
          <p:cNvPr id="4" name="灯片编号占位符 3"/>
          <p:cNvSpPr>
            <a:spLocks noGrp="1"/>
          </p:cNvSpPr>
          <p:nvPr>
            <p:ph type="sldNum" sz="quarter" idx="5"/>
          </p:nvPr>
        </p:nvSpPr>
        <p:spPr/>
        <p:txBody>
          <a:bodyPr/>
          <a:lstStyle/>
          <a:p>
            <a:fld id="{86BA42DD-6D94-4698-832B-FD6413A899CA}" type="slidenum">
              <a:rPr lang="en-US" smtClean="0"/>
              <a:t>26</a:t>
            </a:fld>
            <a:endParaRPr lang="en-US"/>
          </a:p>
        </p:txBody>
      </p:sp>
    </p:spTree>
    <p:extLst>
      <p:ext uri="{BB962C8B-B14F-4D97-AF65-F5344CB8AC3E}">
        <p14:creationId xmlns:p14="http://schemas.microsoft.com/office/powerpoint/2010/main" val="22472243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根据当前梯度，寻找最优，常获得局部最优。</a:t>
            </a:r>
          </a:p>
        </p:txBody>
      </p:sp>
      <p:sp>
        <p:nvSpPr>
          <p:cNvPr id="4" name="灯片编号占位符 3"/>
          <p:cNvSpPr>
            <a:spLocks noGrp="1"/>
          </p:cNvSpPr>
          <p:nvPr>
            <p:ph type="sldNum" sz="quarter" idx="5"/>
          </p:nvPr>
        </p:nvSpPr>
        <p:spPr/>
        <p:txBody>
          <a:bodyPr/>
          <a:lstStyle/>
          <a:p>
            <a:fld id="{86BA42DD-6D94-4698-832B-FD6413A899CA}" type="slidenum">
              <a:rPr lang="en-US" smtClean="0"/>
              <a:t>27</a:t>
            </a:fld>
            <a:endParaRPr lang="en-US"/>
          </a:p>
        </p:txBody>
      </p:sp>
    </p:spTree>
    <p:extLst>
      <p:ext uri="{BB962C8B-B14F-4D97-AF65-F5344CB8AC3E}">
        <p14:creationId xmlns:p14="http://schemas.microsoft.com/office/powerpoint/2010/main" val="40012576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相互攻击的皇后数的对数，为单调升； 加上负数，为单调降。由此，当无攻击的皇后，该评估函数值 最大，吻合最大值的爬山算法。</a:t>
            </a:r>
          </a:p>
        </p:txBody>
      </p:sp>
      <p:sp>
        <p:nvSpPr>
          <p:cNvPr id="4" name="灯片编号占位符 3"/>
          <p:cNvSpPr>
            <a:spLocks noGrp="1"/>
          </p:cNvSpPr>
          <p:nvPr>
            <p:ph type="sldNum" sz="quarter" idx="5"/>
          </p:nvPr>
        </p:nvSpPr>
        <p:spPr/>
        <p:txBody>
          <a:bodyPr/>
          <a:lstStyle/>
          <a:p>
            <a:fld id="{86BA42DD-6D94-4698-832B-FD6413A899CA}" type="slidenum">
              <a:rPr lang="en-US" smtClean="0"/>
              <a:t>28</a:t>
            </a:fld>
            <a:endParaRPr lang="en-US"/>
          </a:p>
        </p:txBody>
      </p:sp>
    </p:spTree>
    <p:extLst>
      <p:ext uri="{BB962C8B-B14F-4D97-AF65-F5344CB8AC3E}">
        <p14:creationId xmlns:p14="http://schemas.microsoft.com/office/powerpoint/2010/main" val="31964459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演示程序 在哪？</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86BA42DD-6D94-4698-832B-FD6413A899CA}" type="slidenum">
              <a:rPr lang="en-US" smtClean="0"/>
              <a:t>29</a:t>
            </a:fld>
            <a:endParaRPr lang="en-US"/>
          </a:p>
        </p:txBody>
      </p:sp>
    </p:spTree>
    <p:extLst>
      <p:ext uri="{BB962C8B-B14F-4D97-AF65-F5344CB8AC3E}">
        <p14:creationId xmlns:p14="http://schemas.microsoft.com/office/powerpoint/2010/main" val="37374258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如何体现？  </a:t>
            </a:r>
            <a:r>
              <a:rPr kumimoji="1" lang="en-US" altLang="zh-CN" dirty="0"/>
              <a:t>Sideways</a:t>
            </a:r>
            <a:r>
              <a:rPr kumimoji="1" lang="zh-CN" altLang="en-US" dirty="0"/>
              <a:t> </a:t>
            </a:r>
            <a:r>
              <a:rPr kumimoji="1" lang="en-US" altLang="zh-CN" dirty="0"/>
              <a:t>move</a:t>
            </a:r>
            <a:r>
              <a:rPr kumimoji="1" lang="zh-CN" altLang="en-US" dirty="0"/>
              <a:t>  同一高度的山腰</a:t>
            </a:r>
          </a:p>
        </p:txBody>
      </p:sp>
      <p:sp>
        <p:nvSpPr>
          <p:cNvPr id="4" name="灯片编号占位符 3"/>
          <p:cNvSpPr>
            <a:spLocks noGrp="1"/>
          </p:cNvSpPr>
          <p:nvPr>
            <p:ph type="sldNum" sz="quarter" idx="5"/>
          </p:nvPr>
        </p:nvSpPr>
        <p:spPr/>
        <p:txBody>
          <a:bodyPr/>
          <a:lstStyle/>
          <a:p>
            <a:fld id="{86BA42DD-6D94-4698-832B-FD6413A899CA}" type="slidenum">
              <a:rPr lang="en-US" smtClean="0"/>
              <a:t>31</a:t>
            </a:fld>
            <a:endParaRPr lang="en-US"/>
          </a:p>
        </p:txBody>
      </p:sp>
    </p:spTree>
    <p:extLst>
      <p:ext uri="{BB962C8B-B14F-4D97-AF65-F5344CB8AC3E}">
        <p14:creationId xmlns:p14="http://schemas.microsoft.com/office/powerpoint/2010/main" val="25498127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6BA42DD-6D94-4698-832B-FD6413A899CA}" type="slidenum">
              <a:rPr lang="en-US" smtClean="0"/>
              <a:t>33</a:t>
            </a:fld>
            <a:endParaRPr lang="en-US"/>
          </a:p>
        </p:txBody>
      </p:sp>
    </p:spTree>
    <p:extLst>
      <p:ext uri="{BB962C8B-B14F-4D97-AF65-F5344CB8AC3E}">
        <p14:creationId xmlns:p14="http://schemas.microsoft.com/office/powerpoint/2010/main" val="37519692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坏 的移动，目的是 不要总是贪心， 太贪 是要犯错的。</a:t>
            </a:r>
          </a:p>
        </p:txBody>
      </p:sp>
      <p:sp>
        <p:nvSpPr>
          <p:cNvPr id="4" name="灯片编号占位符 3"/>
          <p:cNvSpPr>
            <a:spLocks noGrp="1"/>
          </p:cNvSpPr>
          <p:nvPr>
            <p:ph type="sldNum" sz="quarter" idx="5"/>
          </p:nvPr>
        </p:nvSpPr>
        <p:spPr/>
        <p:txBody>
          <a:bodyPr/>
          <a:lstStyle/>
          <a:p>
            <a:fld id="{86BA42DD-6D94-4698-832B-FD6413A899CA}" type="slidenum">
              <a:rPr lang="en-US" smtClean="0"/>
              <a:t>34</a:t>
            </a:fld>
            <a:endParaRPr lang="en-US"/>
          </a:p>
        </p:txBody>
      </p:sp>
    </p:spTree>
    <p:extLst>
      <p:ext uri="{BB962C8B-B14F-4D97-AF65-F5344CB8AC3E}">
        <p14:creationId xmlns:p14="http://schemas.microsoft.com/office/powerpoint/2010/main" val="1819150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6BA42DD-6D94-4698-832B-FD6413A899CA}" type="slidenum">
              <a:rPr lang="en-US" smtClean="0"/>
              <a:t>39</a:t>
            </a:fld>
            <a:endParaRPr lang="en-US"/>
          </a:p>
        </p:txBody>
      </p:sp>
    </p:spTree>
    <p:extLst>
      <p:ext uri="{BB962C8B-B14F-4D97-AF65-F5344CB8AC3E}">
        <p14:creationId xmlns:p14="http://schemas.microsoft.com/office/powerpoint/2010/main" val="17958107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BA42DD-6D94-4698-832B-FD6413A899CA}" type="slidenum">
              <a:rPr lang="en-US" smtClean="0"/>
              <a:t>44</a:t>
            </a:fld>
            <a:endParaRPr lang="en-US"/>
          </a:p>
        </p:txBody>
      </p:sp>
    </p:spTree>
    <p:extLst>
      <p:ext uri="{BB962C8B-B14F-4D97-AF65-F5344CB8AC3E}">
        <p14:creationId xmlns:p14="http://schemas.microsoft.com/office/powerpoint/2010/main" val="2103758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73157"/>
            <a:ext cx="7772400" cy="1470025"/>
          </a:xfrm>
        </p:spPr>
        <p:txBody>
          <a:bodyPr anchor="b"/>
          <a:lstStyle>
            <a:lvl1pPr algn="l">
              <a:defRPr sz="4800"/>
            </a:lvl1pPr>
          </a:lstStyle>
          <a:p>
            <a:r>
              <a:rPr kumimoji="0" lang="en-US"/>
              <a:t>Click to edit Master title style</a:t>
            </a:r>
          </a:p>
        </p:txBody>
      </p:sp>
      <p:sp>
        <p:nvSpPr>
          <p:cNvPr id="3" name="Subtitle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6/26/2024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t>6/26/2024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2924181"/>
            <a:ext cx="7772400" cy="1362075"/>
          </a:xfrm>
        </p:spPr>
        <p:txBody>
          <a:bodyPr anchor="t"/>
          <a:lstStyle>
            <a:lvl1pPr algn="l">
              <a:defRPr sz="4400" b="0" cap="all"/>
            </a:lvl1pPr>
          </a:lstStyle>
          <a:p>
            <a:r>
              <a:rPr kumimoji="0" lang="en-US"/>
              <a:t>Click to edit Master title style</a:t>
            </a:r>
          </a:p>
        </p:txBody>
      </p:sp>
      <p:sp>
        <p:nvSpPr>
          <p:cNvPr id="3" name="Text Placeholder 2"/>
          <p:cNvSpPr>
            <a:spLocks noGrp="1"/>
          </p:cNvSpPr>
          <p:nvPr>
            <p:ph type="body" idx="1"/>
          </p:nvPr>
        </p:nvSpPr>
        <p:spPr>
          <a:xfrm>
            <a:off x="685800" y="1428747"/>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t>6/26/2024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t>6/26/2024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kumimoji="0"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t>6/26/2024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6/26/2024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6/26/2024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60382" y="1071546"/>
            <a:ext cx="5111750"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5679083" y="1071546"/>
            <a:ext cx="3008313"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t>6/26/2024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
        <p:nvSpPr>
          <p:cNvPr id="2" name="Title 1"/>
          <p:cNvSpPr>
            <a:spLocks noGrp="1"/>
          </p:cNvSpPr>
          <p:nvPr>
            <p:ph type="title"/>
          </p:nvPr>
        </p:nvSpPr>
        <p:spPr>
          <a:xfrm>
            <a:off x="457205" y="285728"/>
            <a:ext cx="8230993" cy="696626"/>
          </a:xfrm>
        </p:spPr>
        <p:txBody>
          <a:bodyPr anchor="ctr"/>
          <a:lstStyle>
            <a:lvl1pPr algn="ctr">
              <a:defRPr sz="3600" b="0"/>
            </a:lvl1pPr>
          </a:lstStyle>
          <a:p>
            <a:r>
              <a:rPr kumimoji="0" lang="en-US"/>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01024" y="642918"/>
            <a:ext cx="785818" cy="4572032"/>
          </a:xfrm>
        </p:spPr>
        <p:txBody>
          <a:bodyPr vert="eaVert" anchor="ctr"/>
          <a:lstStyle>
            <a:lvl1pPr algn="l">
              <a:defRPr sz="2400" b="0"/>
            </a:lvl1pPr>
          </a:lstStyle>
          <a:p>
            <a:r>
              <a:rPr kumimoji="0" lang="en-US"/>
              <a:t>Click to edit Master title style</a:t>
            </a:r>
          </a:p>
        </p:txBody>
      </p:sp>
      <p:sp>
        <p:nvSpPr>
          <p:cNvPr id="3" name="Picture Placeholder 2"/>
          <p:cNvSpPr>
            <a:spLocks noGrp="1"/>
          </p:cNvSpPr>
          <p:nvPr>
            <p:ph type="pic" idx="1"/>
          </p:nvPr>
        </p:nvSpPr>
        <p:spPr>
          <a:xfrm>
            <a:off x="442922" y="541340"/>
            <a:ext cx="6415094"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en-US"/>
              <a:t>Click icon to add picture</a:t>
            </a:r>
          </a:p>
        </p:txBody>
      </p:sp>
      <p:sp>
        <p:nvSpPr>
          <p:cNvPr id="4" name="Text Placeholder 3"/>
          <p:cNvSpPr>
            <a:spLocks noGrp="1"/>
          </p:cNvSpPr>
          <p:nvPr>
            <p:ph type="body" sz="half" idx="2"/>
          </p:nvPr>
        </p:nvSpPr>
        <p:spPr>
          <a:xfrm>
            <a:off x="7072330" y="1000108"/>
            <a:ext cx="914368"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t>6/26/2024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t>6/26/2024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43768" y="274639"/>
            <a:ext cx="1543032"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9"/>
            <a:ext cx="661513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t>6/26/2024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buClr>
                <a:schemeClr val="bg1"/>
              </a:buClr>
            </a:pPr>
            <a:r>
              <a:rPr lang="en-US"/>
              <a:t>14 Jan 2004</a:t>
            </a:r>
          </a:p>
        </p:txBody>
      </p:sp>
      <p:sp>
        <p:nvSpPr>
          <p:cNvPr id="6" name="页脚占位符 5"/>
          <p:cNvSpPr>
            <a:spLocks noGrp="1"/>
          </p:cNvSpPr>
          <p:nvPr>
            <p:ph type="ftr" sz="quarter" idx="11"/>
          </p:nvPr>
        </p:nvSpPr>
        <p:spPr/>
        <p:txBody>
          <a:bodyPr/>
          <a:lstStyle/>
          <a:p>
            <a:pPr lvl="0">
              <a:buClr>
                <a:schemeClr val="bg1"/>
              </a:buClr>
            </a:pPr>
            <a:r>
              <a:rPr lang="en-US"/>
              <a:t>CS 3243 - Blind Search</a:t>
            </a:r>
          </a:p>
        </p:txBody>
      </p:sp>
      <p:sp>
        <p:nvSpPr>
          <p:cNvPr id="7" name="灯片编号占位符 6"/>
          <p:cNvSpPr>
            <a:spLocks noGrp="1"/>
          </p:cNvSpPr>
          <p:nvPr>
            <p:ph type="sldNum" sz="quarter" idx="12"/>
          </p:nvPr>
        </p:nvSpPr>
        <p:spPr/>
        <p:txBody>
          <a:bodyPr/>
          <a:lstStyle/>
          <a:p>
            <a:pPr lvl="0">
              <a:buClr>
                <a:schemeClr val="bg1"/>
              </a:buClr>
            </a:pPr>
            <a:fld id="{9A0DB2DC-4C9A-4742-B13C-FB6460FD3503}"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4.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a:blip r:embed="rId14" cstate="print">
            <a:duotone>
              <a:schemeClr val="accent1"/>
              <a:srgbClr val="FFFFFF"/>
            </a:duotone>
            <a:lum bright="12000" contrast="40000"/>
          </a:blip>
          <a:stretch>
            <a:fillRect/>
          </a:stretch>
        </p:blipFill>
        <p:spPr>
          <a:xfrm>
            <a:off x="6667809" y="4915143"/>
            <a:ext cx="2476191" cy="1942857"/>
          </a:xfrm>
          <a:prstGeom prst="rect">
            <a:avLst/>
          </a:prstGeom>
          <a:noFill/>
          <a:ln>
            <a:noFill/>
          </a:ln>
        </p:spPr>
      </p:pic>
      <p:sp>
        <p:nvSpPr>
          <p:cNvPr id="10" name="Rectangle 9"/>
          <p:cNvSpPr/>
          <p:nvPr/>
        </p:nvSpPr>
        <p:spPr>
          <a:xfrm>
            <a:off x="0" y="0"/>
            <a:ext cx="9144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11" name="Rectangle 10"/>
          <p:cNvSpPr/>
          <p:nvPr/>
        </p:nvSpPr>
        <p:spPr>
          <a:xfrm>
            <a:off x="0" y="40951"/>
            <a:ext cx="457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pic>
        <p:nvPicPr>
          <p:cNvPr id="9" name="Picture 8"/>
          <p:cNvPicPr>
            <a:picLocks noChangeAspect="1"/>
          </p:cNvPicPr>
          <p:nvPr/>
        </p:nvPicPr>
        <p:blipFill>
          <a:blip r:embed="rId15" cstate="print">
            <a:duotone>
              <a:schemeClr val="accent1"/>
              <a:srgbClr val="FFFFFF"/>
            </a:duotone>
            <a:lum bright="35000" contrast="40000"/>
          </a:blip>
          <a:stretch>
            <a:fillRect/>
          </a:stretch>
        </p:blipFill>
        <p:spPr>
          <a:xfrm>
            <a:off x="0" y="6420445"/>
            <a:ext cx="9144000" cy="437555"/>
          </a:xfrm>
          <a:prstGeom prst="rect">
            <a:avLst/>
          </a:prstGeom>
          <a:noFill/>
          <a:ln>
            <a:noFill/>
          </a:ln>
          <a:effectLst/>
        </p:spPr>
      </p:pic>
      <p:sp>
        <p:nvSpPr>
          <p:cNvPr id="2" name="Title Placeholder 1"/>
          <p:cNvSpPr>
            <a:spLocks noGrp="1"/>
          </p:cNvSpPr>
          <p:nvPr>
            <p:ph type="title"/>
          </p:nvPr>
        </p:nvSpPr>
        <p:spPr>
          <a:xfrm>
            <a:off x="457200" y="274638"/>
            <a:ext cx="8229600" cy="1143000"/>
          </a:xfrm>
          <a:prstGeom prst="rect">
            <a:avLst/>
          </a:prstGeom>
        </p:spPr>
        <p:txBody>
          <a:bodyPr vert="horz" rtlCol="0" anchor="ctr">
            <a:normAutofit/>
          </a:bodyPr>
          <a:lstStyle/>
          <a:p>
            <a:r>
              <a:rPr kumimoji="0"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rtlCol="0">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fld id="{1D8BD707-D9CF-40AE-B4C6-C98DA3205C09}" type="datetimeFigureOut">
              <a:rPr lang="en-US" smtClean="0"/>
              <a:t>6/26/2024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accent1"/>
        </a:buClr>
        <a:buSzPct val="50000"/>
        <a:buFont typeface="Wingdings 2" panose="05020102010507070707"/>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panose="05020102010507070707"/>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panose="05020102010507070707"/>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panose="05020102010507070707"/>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panose="05020102010507070707"/>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a:t>搜索问题第</a:t>
            </a:r>
            <a:r>
              <a:rPr lang="en-US" altLang="zh-CN"/>
              <a:t>2</a:t>
            </a:r>
            <a:r>
              <a:rPr lang="zh-CN" altLang="en-US"/>
              <a:t>讲</a:t>
            </a:r>
          </a:p>
        </p:txBody>
      </p:sp>
      <p:sp>
        <p:nvSpPr>
          <p:cNvPr id="3" name="副标题 2"/>
          <p:cNvSpPr>
            <a:spLocks noGrp="1"/>
          </p:cNvSpPr>
          <p:nvPr>
            <p:ph type="subTitle" idx="1"/>
          </p:nvPr>
        </p:nvSpPr>
        <p:spPr/>
        <p:txBody>
          <a:bodyPr/>
          <a:lstStyle/>
          <a:p>
            <a:r>
              <a:rPr lang="en-US" altLang="zh-CN" dirty="0">
                <a:sym typeface="+mn-ea"/>
              </a:rPr>
              <a:t>“</a:t>
            </a:r>
            <a:r>
              <a:rPr lang="zh-CN" altLang="en-US" dirty="0">
                <a:sym typeface="+mn-ea"/>
              </a:rPr>
              <a:t>不盲的</a:t>
            </a:r>
            <a:r>
              <a:rPr lang="en-US" altLang="zh-CN" dirty="0">
                <a:sym typeface="+mn-ea"/>
              </a:rPr>
              <a:t>”</a:t>
            </a:r>
            <a:r>
              <a:rPr lang="zh-CN" altLang="en-US">
                <a:sym typeface="+mn-ea"/>
              </a:rPr>
              <a:t>搜</a:t>
            </a:r>
          </a:p>
          <a:p>
            <a:r>
              <a:rPr lang="en-US" altLang="zh-CN">
                <a:sym typeface="+mn-ea"/>
              </a:rPr>
              <a:t>Informed Search Algorithms</a:t>
            </a: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6145"/>
          <p:cNvSpPr>
            <a:spLocks noGrp="1"/>
          </p:cNvSpPr>
          <p:nvPr>
            <p:ph type="title"/>
          </p:nvPr>
        </p:nvSpPr>
        <p:spPr/>
        <p:txBody>
          <a:bodyPr anchor="ctr"/>
          <a:lstStyle/>
          <a:p>
            <a:r>
              <a:rPr lang="zh-CN" altLang="en-US"/>
              <a:t>回顾</a:t>
            </a:r>
            <a:r>
              <a:rPr lang="en-US" altLang="zh-CN"/>
              <a:t>: </a:t>
            </a:r>
            <a:r>
              <a:rPr lang="zh-CN" altLang="en-US"/>
              <a:t>树搜索</a:t>
            </a:r>
          </a:p>
        </p:txBody>
      </p:sp>
      <p:sp>
        <p:nvSpPr>
          <p:cNvPr id="6147" name="文本占位符 6146"/>
          <p:cNvSpPr>
            <a:spLocks noGrp="1"/>
          </p:cNvSpPr>
          <p:nvPr>
            <p:ph type="body" idx="1"/>
          </p:nvPr>
        </p:nvSpPr>
        <p:spPr/>
        <p:txBody>
          <a:bodyPr>
            <a:normAutofit/>
          </a:bodyPr>
          <a:lstStyle/>
          <a:p>
            <a:r>
              <a:rPr lang="en-US" altLang="zh-CN" err="1"/>
              <a:t> </a:t>
            </a:r>
          </a:p>
          <a:p>
            <a:endParaRPr lang="en-US" altLang="zh-CN" err="1"/>
          </a:p>
          <a:p>
            <a:endParaRPr lang="en-US" altLang="zh-CN" err="1"/>
          </a:p>
          <a:p>
            <a:endParaRPr lang="en-US" altLang="zh-CN" err="1"/>
          </a:p>
          <a:p>
            <a:endParaRPr lang="en-US" altLang="zh-CN" err="1"/>
          </a:p>
          <a:p>
            <a:endParaRPr lang="en-US" altLang="zh-CN" err="1"/>
          </a:p>
          <a:p>
            <a:r>
              <a:rPr lang="zh-CN" altLang="en-US"/>
              <a:t>一个搜索策略实际是选择展开节点的顺序</a:t>
            </a:r>
            <a:endParaRPr lang="en-US" altLang="zh-CN"/>
          </a:p>
        </p:txBody>
      </p:sp>
      <p:pic>
        <p:nvPicPr>
          <p:cNvPr id="2" name="图片 1"/>
          <p:cNvPicPr>
            <a:picLocks noChangeAspect="1"/>
          </p:cNvPicPr>
          <p:nvPr/>
        </p:nvPicPr>
        <p:blipFill>
          <a:blip r:embed="rId2"/>
          <a:stretch>
            <a:fillRect/>
          </a:stretch>
        </p:blipFill>
        <p:spPr>
          <a:xfrm>
            <a:off x="377190" y="1739900"/>
            <a:ext cx="7980680" cy="24574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提纲</a:t>
            </a:r>
          </a:p>
        </p:txBody>
      </p:sp>
      <p:sp>
        <p:nvSpPr>
          <p:cNvPr id="3" name="内容占位符 2"/>
          <p:cNvSpPr>
            <a:spLocks noGrp="1"/>
          </p:cNvSpPr>
          <p:nvPr>
            <p:ph idx="1"/>
          </p:nvPr>
        </p:nvSpPr>
        <p:spPr/>
        <p:txBody>
          <a:bodyPr>
            <a:normAutofit/>
          </a:bodyPr>
          <a:lstStyle/>
          <a:p>
            <a:r>
              <a:rPr lang="en-US" altLang="zh-CN" dirty="0"/>
              <a:t>“</a:t>
            </a:r>
            <a:r>
              <a:rPr lang="zh-CN" altLang="en-US" dirty="0"/>
              <a:t>不盲的</a:t>
            </a:r>
            <a:r>
              <a:rPr lang="en-US" altLang="zh-CN" dirty="0"/>
              <a:t>”</a:t>
            </a:r>
            <a:r>
              <a:rPr lang="zh-CN" altLang="en-US" dirty="0"/>
              <a:t>搜（</a:t>
            </a:r>
            <a:r>
              <a:rPr lang="en-US" altLang="zh-CN" dirty="0"/>
              <a:t>Informed Search)</a:t>
            </a:r>
          </a:p>
          <a:p>
            <a:pPr lvl="1">
              <a:lnSpc>
                <a:spcPct val="90000"/>
              </a:lnSpc>
            </a:pPr>
            <a:r>
              <a:rPr lang="en-US" altLang="zh-CN" sz="2450" dirty="0">
                <a:sym typeface="+mn-ea"/>
              </a:rPr>
              <a:t>Best-first search</a:t>
            </a:r>
            <a:endParaRPr lang="en-US" altLang="zh-CN" sz="2450" dirty="0"/>
          </a:p>
          <a:p>
            <a:pPr lvl="2">
              <a:lnSpc>
                <a:spcPct val="90000"/>
              </a:lnSpc>
            </a:pPr>
            <a:r>
              <a:rPr lang="en-US" altLang="zh-CN" sz="2100" dirty="0">
                <a:sym typeface="+mn-ea"/>
              </a:rPr>
              <a:t>Greedy best-first search</a:t>
            </a:r>
            <a:endParaRPr lang="en-US" altLang="zh-CN" sz="2100" dirty="0"/>
          </a:p>
          <a:p>
            <a:pPr lvl="2">
              <a:lnSpc>
                <a:spcPct val="90000"/>
              </a:lnSpc>
            </a:pPr>
            <a:r>
              <a:rPr lang="en-US" altLang="zh-CN" sz="2100" dirty="0">
                <a:sym typeface="+mn-ea"/>
              </a:rPr>
              <a:t>A</a:t>
            </a:r>
            <a:r>
              <a:rPr lang="en-US" altLang="zh-CN" sz="2100" baseline="30000" dirty="0">
                <a:sym typeface="+mn-ea"/>
              </a:rPr>
              <a:t>*</a:t>
            </a:r>
            <a:r>
              <a:rPr lang="en-US" altLang="zh-CN" sz="2100" dirty="0">
                <a:sym typeface="+mn-ea"/>
              </a:rPr>
              <a:t> search</a:t>
            </a:r>
          </a:p>
          <a:p>
            <a:pPr lvl="1">
              <a:lnSpc>
                <a:spcPct val="90000"/>
              </a:lnSpc>
            </a:pPr>
            <a:r>
              <a:rPr lang="en-US" altLang="zh-CN" sz="2140" dirty="0">
                <a:sym typeface="+mn-ea"/>
              </a:rPr>
              <a:t>Local search algorithms</a:t>
            </a:r>
            <a:endParaRPr lang="en-US" altLang="zh-CN" sz="2140" dirty="0"/>
          </a:p>
          <a:p>
            <a:pPr lvl="2">
              <a:lnSpc>
                <a:spcPct val="90000"/>
              </a:lnSpc>
            </a:pPr>
            <a:r>
              <a:rPr lang="en-US" altLang="zh-CN" sz="1830" dirty="0">
                <a:sym typeface="+mn-ea"/>
              </a:rPr>
              <a:t>Hill-climbing search</a:t>
            </a:r>
            <a:endParaRPr lang="en-US" altLang="zh-CN" sz="1830" dirty="0"/>
          </a:p>
          <a:p>
            <a:pPr lvl="2">
              <a:lnSpc>
                <a:spcPct val="90000"/>
              </a:lnSpc>
            </a:pPr>
            <a:r>
              <a:rPr lang="en-US" altLang="zh-CN" sz="1830" dirty="0">
                <a:sym typeface="+mn-ea"/>
              </a:rPr>
              <a:t>Simulated annealing search</a:t>
            </a:r>
            <a:endParaRPr lang="en-US" altLang="zh-CN" sz="1830" dirty="0"/>
          </a:p>
          <a:p>
            <a:pPr lvl="2">
              <a:lnSpc>
                <a:spcPct val="90000"/>
              </a:lnSpc>
            </a:pPr>
            <a:r>
              <a:rPr lang="en-US" altLang="zh-CN" sz="1830" dirty="0">
                <a:sym typeface="+mn-ea"/>
              </a:rPr>
              <a:t>Local beam search</a:t>
            </a:r>
            <a:endParaRPr lang="en-US" altLang="zh-CN" sz="1830" dirty="0"/>
          </a:p>
          <a:p>
            <a:pPr lvl="2">
              <a:lnSpc>
                <a:spcPct val="90000"/>
              </a:lnSpc>
            </a:pPr>
            <a:r>
              <a:rPr lang="en-US" altLang="zh-CN" sz="1830" dirty="0">
                <a:sym typeface="+mn-ea"/>
              </a:rPr>
              <a:t>Genetic algorithms</a:t>
            </a:r>
            <a:endParaRPr lang="en-US" altLang="zh-CN" sz="1830" dirty="0"/>
          </a:p>
          <a:p>
            <a:pPr lvl="1">
              <a:lnSpc>
                <a:spcPct val="90000"/>
              </a:lnSpc>
            </a:pPr>
            <a:endParaRPr lang="en-US" altLang="zh-CN" sz="2450" dirty="0"/>
          </a:p>
          <a:p>
            <a:pPr lvl="1"/>
            <a:endParaRPr lang="en-US" altLang="zh-C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Informed Search</a:t>
            </a:r>
            <a:endParaRPr lang="zh-CN" altLang="en-US"/>
          </a:p>
        </p:txBody>
      </p:sp>
      <p:sp>
        <p:nvSpPr>
          <p:cNvPr id="3" name="内容占位符 2"/>
          <p:cNvSpPr>
            <a:spLocks noGrp="1"/>
          </p:cNvSpPr>
          <p:nvPr>
            <p:ph idx="1"/>
          </p:nvPr>
        </p:nvSpPr>
        <p:spPr/>
        <p:txBody>
          <a:bodyPr>
            <a:normAutofit fontScale="87500"/>
          </a:bodyPr>
          <a:lstStyle/>
          <a:p>
            <a:r>
              <a:rPr lang="en-US" altLang="zh-CN"/>
              <a:t>“Informed Search”</a:t>
            </a:r>
            <a:r>
              <a:rPr lang="zh-CN" altLang="en-US"/>
              <a:t>指在搜索过程中将使用问题定义之外的额外信息、知识，来寻找更高效的解决方案。</a:t>
            </a:r>
          </a:p>
          <a:p>
            <a:r>
              <a:rPr lang="zh-CN" altLang="en-US"/>
              <a:t>基本思路是引入一个评估函数</a:t>
            </a:r>
            <a:r>
              <a:rPr lang="en-US" altLang="zh-CN"/>
              <a:t>f(n)</a:t>
            </a:r>
            <a:r>
              <a:rPr lang="zh-CN" altLang="en-US"/>
              <a:t>来评估节点，选择分值最高或最低的节点进行扩展</a:t>
            </a:r>
            <a:r>
              <a:rPr lang="en-US" altLang="zh-CN"/>
              <a:t>——</a:t>
            </a:r>
            <a:r>
              <a:rPr lang="zh-CN" altLang="en-US"/>
              <a:t>贪心策略</a:t>
            </a:r>
          </a:p>
          <a:p>
            <a:r>
              <a:rPr lang="zh-CN" altLang="en-US"/>
              <a:t>对评估函数的设计可以加入领域知识</a:t>
            </a:r>
          </a:p>
          <a:p>
            <a:pPr lvl="1"/>
            <a:r>
              <a:rPr lang="zh-CN" altLang="en-US" sz="2800"/>
              <a:t>例：五子棋策略优先连四或连三</a:t>
            </a:r>
            <a:endParaRPr lang="zh-CN" altLang="en-US"/>
          </a:p>
          <a:p>
            <a:endParaRPr lang="zh-CN" altLang="en-US"/>
          </a:p>
          <a:p>
            <a:r>
              <a:rPr lang="zh-CN" altLang="en-US"/>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7169"/>
          <p:cNvSpPr>
            <a:spLocks noGrp="1"/>
          </p:cNvSpPr>
          <p:nvPr>
            <p:ph type="title"/>
          </p:nvPr>
        </p:nvSpPr>
        <p:spPr/>
        <p:txBody>
          <a:bodyPr anchor="ctr"/>
          <a:lstStyle/>
          <a:p>
            <a:r>
              <a:rPr lang="en-US" altLang="zh-CN"/>
              <a:t>Best-first search</a:t>
            </a:r>
          </a:p>
        </p:txBody>
      </p:sp>
      <p:sp>
        <p:nvSpPr>
          <p:cNvPr id="7171" name="文本占位符 7170"/>
          <p:cNvSpPr>
            <a:spLocks noGrp="1"/>
          </p:cNvSpPr>
          <p:nvPr>
            <p:ph type="body" idx="1"/>
          </p:nvPr>
        </p:nvSpPr>
        <p:spPr/>
        <p:txBody>
          <a:bodyPr>
            <a:normAutofit fontScale="90000" lnSpcReduction="10000"/>
          </a:bodyPr>
          <a:lstStyle/>
          <a:p>
            <a:pPr>
              <a:lnSpc>
                <a:spcPct val="90000"/>
              </a:lnSpc>
            </a:pPr>
            <a:r>
              <a:rPr lang="zh-CN" altLang="en-US" sz="2400"/>
              <a:t>思路</a:t>
            </a:r>
            <a:r>
              <a:rPr lang="en-US" altLang="zh-CN" sz="2400"/>
              <a:t>: </a:t>
            </a:r>
            <a:r>
              <a:rPr lang="zh-CN" altLang="en-US" sz="2400"/>
              <a:t>使用一个评估函数</a:t>
            </a:r>
            <a:r>
              <a:rPr lang="en-US" altLang="zh-CN" sz="2400"/>
              <a:t> </a:t>
            </a:r>
            <a:r>
              <a:rPr lang="en-US" altLang="zh-CN" sz="2400" i="1" err="1"/>
              <a:t>f(n</a:t>
            </a:r>
            <a:r>
              <a:rPr lang="en-US" altLang="zh-CN" sz="2400" i="1"/>
              <a:t>) </a:t>
            </a:r>
            <a:r>
              <a:rPr lang="zh-CN" altLang="en-US" sz="2400"/>
              <a:t>来计算每个待扩展节点的分值</a:t>
            </a:r>
            <a:endParaRPr lang="en-US" altLang="zh-CN" sz="2400"/>
          </a:p>
          <a:p>
            <a:pPr lvl="1">
              <a:lnSpc>
                <a:spcPct val="90000"/>
              </a:lnSpc>
            </a:pPr>
            <a:endParaRPr lang="en-US" altLang="zh-CN" sz="2000"/>
          </a:p>
          <a:p>
            <a:pPr lvl="1">
              <a:lnSpc>
                <a:spcPct val="90000"/>
              </a:lnSpc>
            </a:pPr>
            <a:r>
              <a:rPr lang="zh-CN" altLang="en-US" sz="2000"/>
              <a:t>评估函数通常是一个估计</a:t>
            </a:r>
            <a:r>
              <a:rPr lang="en-US" altLang="zh-CN" sz="2000"/>
              <a:t>
</a:t>
            </a:r>
          </a:p>
          <a:p>
            <a:pPr lvl="1">
              <a:lnSpc>
                <a:spcPct val="90000"/>
              </a:lnSpc>
              <a:buFont typeface="Wingdings" panose="05000000000000000000" pitchFamily="2" charset="2"/>
              <a:buChar char="à"/>
            </a:pPr>
            <a:r>
              <a:rPr lang="zh-CN" altLang="en-US" sz="2000"/>
              <a:t>在待扩展节点中，选择分值最高或最低的进行扩展</a:t>
            </a:r>
            <a:r>
              <a:rPr lang="en-US" altLang="zh-CN" sz="2000"/>
              <a:t>
</a:t>
            </a:r>
          </a:p>
          <a:p>
            <a:pPr lvl="1">
              <a:lnSpc>
                <a:spcPct val="90000"/>
              </a:lnSpc>
              <a:buFont typeface="Wingdings" panose="05000000000000000000" pitchFamily="2" charset="2"/>
              <a:buChar char="à"/>
            </a:pPr>
            <a:endParaRPr lang="en-US" altLang="zh-CN" sz="2000"/>
          </a:p>
          <a:p>
            <a:pPr>
              <a:lnSpc>
                <a:spcPct val="90000"/>
              </a:lnSpc>
            </a:pPr>
            <a:r>
              <a:rPr lang="zh-CN" altLang="en-US" sz="2400" u="sng"/>
              <a:t>实现方法</a:t>
            </a:r>
            <a:r>
              <a:rPr lang="en-US" altLang="zh-CN" sz="2400"/>
              <a:t>:</a:t>
            </a:r>
          </a:p>
          <a:p>
            <a:pPr>
              <a:lnSpc>
                <a:spcPct val="90000"/>
              </a:lnSpc>
              <a:buNone/>
            </a:pPr>
            <a:r>
              <a:rPr lang="en-US" altLang="zh-CN" sz="2400"/>
              <a:t>	</a:t>
            </a:r>
            <a:r>
              <a:rPr lang="zh-CN" altLang="en-US" sz="2400"/>
              <a:t>将工作队列（</a:t>
            </a:r>
            <a:r>
              <a:rPr lang="en-US" altLang="zh-CN" sz="2400"/>
              <a:t>fringe</a:t>
            </a:r>
            <a:r>
              <a:rPr lang="zh-CN" altLang="en-US" sz="2400"/>
              <a:t>）中的节点按评估函数分值排序</a:t>
            </a:r>
            <a:r>
              <a:rPr lang="en-US" altLang="zh-CN" sz="2400"/>
              <a:t>	</a:t>
            </a:r>
          </a:p>
          <a:p>
            <a:pPr>
              <a:lnSpc>
                <a:spcPct val="90000"/>
              </a:lnSpc>
              <a:buNone/>
            </a:pPr>
            <a:endParaRPr lang="en-US" altLang="zh-CN" sz="2400"/>
          </a:p>
          <a:p>
            <a:pPr>
              <a:lnSpc>
                <a:spcPct val="90000"/>
              </a:lnSpc>
            </a:pPr>
            <a:endParaRPr lang="en-US" altLang="zh-CN" sz="2400"/>
          </a:p>
          <a:p>
            <a:pPr>
              <a:lnSpc>
                <a:spcPct val="90000"/>
              </a:lnSpc>
            </a:pPr>
            <a:r>
              <a:rPr lang="zh-CN" altLang="en-US" sz="2400"/>
              <a:t>扩展方法</a:t>
            </a:r>
            <a:r>
              <a:rPr lang="en-US" altLang="zh-CN" sz="2400"/>
              <a:t>:</a:t>
            </a:r>
          </a:p>
          <a:p>
            <a:pPr lvl="1">
              <a:lnSpc>
                <a:spcPct val="90000"/>
              </a:lnSpc>
            </a:pPr>
            <a:r>
              <a:rPr lang="en-US" altLang="zh-CN" sz="2000"/>
              <a:t>greedy best-first search</a:t>
            </a:r>
          </a:p>
          <a:p>
            <a:pPr lvl="1">
              <a:lnSpc>
                <a:spcPct val="90000"/>
              </a:lnSpc>
            </a:pPr>
            <a:r>
              <a:rPr lang="en-US" altLang="zh-CN" sz="2000"/>
              <a:t>A</a:t>
            </a:r>
            <a:r>
              <a:rPr lang="en-US" altLang="zh-CN" sz="2000" baseline="30000"/>
              <a:t>*</a:t>
            </a:r>
            <a:r>
              <a:rPr lang="en-US" altLang="zh-CN" sz="2000"/>
              <a:t> search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p:txBody>
          <a:bodyPr anchor="ctr">
            <a:noAutofit/>
          </a:bodyPr>
          <a:lstStyle/>
          <a:p>
            <a:r>
              <a:rPr lang="zh-CN" altLang="en-US" sz="2800"/>
              <a:t>例：最短路径</a:t>
            </a:r>
            <a:br>
              <a:rPr lang="zh-CN" altLang="en-US" sz="2800"/>
            </a:br>
            <a:r>
              <a:rPr lang="zh-CN" altLang="en-US" sz="2800"/>
              <a:t>下图为罗马尼亚地图，路径上数字为城市间距离</a:t>
            </a:r>
          </a:p>
        </p:txBody>
      </p:sp>
      <p:pic>
        <p:nvPicPr>
          <p:cNvPr id="8196" name="图片 8195" descr="romania2"/>
          <p:cNvPicPr>
            <a:picLocks noChangeAspect="1"/>
          </p:cNvPicPr>
          <p:nvPr/>
        </p:nvPicPr>
        <p:blipFill>
          <a:blip r:embed="rId3"/>
          <a:stretch>
            <a:fillRect/>
          </a:stretch>
        </p:blipFill>
        <p:spPr>
          <a:xfrm>
            <a:off x="381000" y="1828800"/>
            <a:ext cx="8229600" cy="4033838"/>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9217"/>
          <p:cNvSpPr>
            <a:spLocks noGrp="1"/>
          </p:cNvSpPr>
          <p:nvPr>
            <p:ph type="title"/>
          </p:nvPr>
        </p:nvSpPr>
        <p:spPr/>
        <p:txBody>
          <a:bodyPr anchor="ctr"/>
          <a:lstStyle/>
          <a:p>
            <a:r>
              <a:rPr lang="en-US" altLang="zh-CN"/>
              <a:t>Greedy best-first search</a:t>
            </a:r>
          </a:p>
        </p:txBody>
      </p:sp>
      <p:sp>
        <p:nvSpPr>
          <p:cNvPr id="9219" name="文本占位符 9218"/>
          <p:cNvSpPr>
            <a:spLocks noGrp="1"/>
          </p:cNvSpPr>
          <p:nvPr>
            <p:ph type="body" idx="1"/>
          </p:nvPr>
        </p:nvSpPr>
        <p:spPr/>
        <p:txBody>
          <a:bodyPr>
            <a:normAutofit fontScale="92500" lnSpcReduction="10000"/>
          </a:bodyPr>
          <a:lstStyle/>
          <a:p>
            <a:r>
              <a:rPr lang="zh-CN" altLang="en-US" dirty="0"/>
              <a:t>评估函数</a:t>
            </a:r>
            <a:r>
              <a:rPr lang="en-US" altLang="zh-CN" dirty="0"/>
              <a:t> </a:t>
            </a:r>
            <a:r>
              <a:rPr lang="en-US" altLang="zh-CN" i="1" dirty="0"/>
              <a:t>f(n) = h(n) </a:t>
            </a:r>
            <a:r>
              <a:rPr lang="en-US" altLang="zh-CN" dirty="0"/>
              <a:t>(</a:t>
            </a:r>
            <a:r>
              <a:rPr lang="en-US" altLang="zh-CN" dirty="0">
                <a:solidFill>
                  <a:srgbClr val="FF0000"/>
                </a:solidFill>
              </a:rPr>
              <a:t>h</a:t>
            </a:r>
            <a:r>
              <a:rPr lang="en-US" altLang="zh-CN" dirty="0"/>
              <a:t>euristic)</a:t>
            </a:r>
          </a:p>
          <a:p>
            <a:r>
              <a:rPr lang="en-US" altLang="zh-CN" dirty="0"/>
              <a:t>= </a:t>
            </a:r>
            <a:r>
              <a:rPr lang="zh-CN" altLang="en-US" dirty="0"/>
              <a:t>估计从</a:t>
            </a:r>
            <a:r>
              <a:rPr lang="en-US" altLang="zh-CN" dirty="0"/>
              <a:t>n</a:t>
            </a:r>
            <a:r>
              <a:rPr lang="zh-CN" altLang="en-US" dirty="0"/>
              <a:t>到目标节点之间的代价</a:t>
            </a:r>
            <a:r>
              <a:rPr lang="en-US" altLang="zh-CN" dirty="0"/>
              <a:t>
</a:t>
            </a:r>
          </a:p>
          <a:p>
            <a:r>
              <a:rPr lang="zh-CN" altLang="en-US" dirty="0"/>
              <a:t>比如</a:t>
            </a:r>
            <a:r>
              <a:rPr lang="en-US" altLang="zh-CN" dirty="0"/>
              <a:t>, </a:t>
            </a:r>
            <a:r>
              <a:rPr lang="en-US" altLang="zh-CN" i="1" dirty="0" err="1"/>
              <a:t>h</a:t>
            </a:r>
            <a:r>
              <a:rPr lang="en-US" altLang="zh-CN" i="1" baseline="-25000" dirty="0" err="1"/>
              <a:t>SLD</a:t>
            </a:r>
            <a:r>
              <a:rPr lang="en-US" altLang="zh-CN" i="1" dirty="0"/>
              <a:t>(n)</a:t>
            </a:r>
            <a:r>
              <a:rPr lang="en-US" altLang="zh-CN" dirty="0"/>
              <a:t> = </a:t>
            </a:r>
            <a:r>
              <a:rPr lang="zh-CN" altLang="en-US" dirty="0"/>
              <a:t>从</a:t>
            </a:r>
            <a:r>
              <a:rPr lang="en-US" altLang="zh-CN" dirty="0"/>
              <a:t>n</a:t>
            </a:r>
            <a:r>
              <a:rPr lang="zh-CN" altLang="en-US" dirty="0"/>
              <a:t>到目标</a:t>
            </a:r>
            <a:r>
              <a:rPr lang="en-US" altLang="zh-CN" dirty="0"/>
              <a:t>Bucharest</a:t>
            </a:r>
            <a:r>
              <a:rPr lang="zh-CN" altLang="en-US" dirty="0"/>
              <a:t>之间直线距离</a:t>
            </a:r>
            <a:r>
              <a:rPr lang="en-US" altLang="zh-CN" dirty="0"/>
              <a:t>
</a:t>
            </a:r>
          </a:p>
          <a:p>
            <a:r>
              <a:rPr lang="en-US" altLang="zh-CN" dirty="0"/>
              <a:t>Greedy best-first search </a:t>
            </a:r>
            <a:r>
              <a:rPr lang="zh-CN" altLang="en-US" dirty="0"/>
              <a:t>优先扩展</a:t>
            </a:r>
            <a:r>
              <a:rPr lang="zh-CN" altLang="en-US" dirty="0">
                <a:solidFill>
                  <a:srgbClr val="FF0000"/>
                </a:solidFill>
              </a:rPr>
              <a:t>看上去</a:t>
            </a:r>
            <a:r>
              <a:rPr lang="zh-CN" altLang="en-US" dirty="0"/>
              <a:t>离目标最近的节点</a:t>
            </a:r>
            <a:r>
              <a:rPr lang="en-US" altLang="zh-CN" dirty="0"/>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0241"/>
          <p:cNvSpPr>
            <a:spLocks noGrp="1"/>
          </p:cNvSpPr>
          <p:nvPr>
            <p:ph type="title"/>
          </p:nvPr>
        </p:nvSpPr>
        <p:spPr/>
        <p:txBody>
          <a:bodyPr anchor="ctr"/>
          <a:lstStyle/>
          <a:p>
            <a:r>
              <a:rPr lang="en-US" altLang="zh-CN"/>
              <a:t>Greedy best-first search example</a:t>
            </a:r>
          </a:p>
        </p:txBody>
      </p:sp>
      <p:pic>
        <p:nvPicPr>
          <p:cNvPr id="10244" name="图片 10243" descr="greedy-progress01c"/>
          <p:cNvPicPr>
            <a:picLocks noChangeAspect="1"/>
          </p:cNvPicPr>
          <p:nvPr/>
        </p:nvPicPr>
        <p:blipFill>
          <a:blip r:embed="rId2"/>
          <a:stretch>
            <a:fillRect/>
          </a:stretch>
        </p:blipFill>
        <p:spPr>
          <a:xfrm>
            <a:off x="-104729" y="1828799"/>
            <a:ext cx="9401129" cy="3423059"/>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8" name="图片 47107" descr="greedy-progress02c"/>
          <p:cNvPicPr>
            <a:picLocks noChangeAspect="1"/>
          </p:cNvPicPr>
          <p:nvPr/>
        </p:nvPicPr>
        <p:blipFill>
          <a:blip r:embed="rId2"/>
          <a:stretch>
            <a:fillRect/>
          </a:stretch>
        </p:blipFill>
        <p:spPr>
          <a:xfrm>
            <a:off x="-228600" y="1828800"/>
            <a:ext cx="9372600" cy="5029200"/>
          </a:xfrm>
          <a:prstGeom prst="rect">
            <a:avLst/>
          </a:prstGeom>
          <a:noFill/>
          <a:ln w="9525">
            <a:noFill/>
          </a:ln>
        </p:spPr>
      </p:pic>
      <p:sp>
        <p:nvSpPr>
          <p:cNvPr id="47106" name="标题 47105"/>
          <p:cNvSpPr>
            <a:spLocks noGrp="1"/>
          </p:cNvSpPr>
          <p:nvPr>
            <p:ph type="title"/>
          </p:nvPr>
        </p:nvSpPr>
        <p:spPr/>
        <p:txBody>
          <a:bodyPr anchor="ctr"/>
          <a:lstStyle/>
          <a:p>
            <a:r>
              <a:rPr lang="en-US" altLang="zh-CN"/>
              <a:t>Greedy best-first search example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2" name="图片 48131" descr="greedy-progress03c"/>
          <p:cNvPicPr>
            <a:picLocks noChangeAspect="1"/>
          </p:cNvPicPr>
          <p:nvPr/>
        </p:nvPicPr>
        <p:blipFill>
          <a:blip r:embed="rId2"/>
          <a:stretch>
            <a:fillRect/>
          </a:stretch>
        </p:blipFill>
        <p:spPr>
          <a:xfrm>
            <a:off x="-152400" y="1828800"/>
            <a:ext cx="9296400" cy="5029200"/>
          </a:xfrm>
          <a:prstGeom prst="rect">
            <a:avLst/>
          </a:prstGeom>
          <a:noFill/>
          <a:ln w="9525">
            <a:noFill/>
          </a:ln>
        </p:spPr>
      </p:pic>
      <p:sp>
        <p:nvSpPr>
          <p:cNvPr id="48130" name="标题 48129"/>
          <p:cNvSpPr>
            <a:spLocks noGrp="1"/>
          </p:cNvSpPr>
          <p:nvPr>
            <p:ph type="title"/>
          </p:nvPr>
        </p:nvSpPr>
        <p:spPr/>
        <p:txBody>
          <a:bodyPr anchor="ctr"/>
          <a:lstStyle/>
          <a:p>
            <a:r>
              <a:rPr lang="en-US" altLang="zh-CN"/>
              <a:t>Greedy best-first search example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6" name="图片 49155" descr="greedy-progress04c"/>
          <p:cNvPicPr>
            <a:picLocks noChangeAspect="1"/>
          </p:cNvPicPr>
          <p:nvPr/>
        </p:nvPicPr>
        <p:blipFill>
          <a:blip r:embed="rId2"/>
          <a:stretch>
            <a:fillRect/>
          </a:stretch>
        </p:blipFill>
        <p:spPr>
          <a:xfrm>
            <a:off x="-76200" y="1828800"/>
            <a:ext cx="9220200" cy="5029200"/>
          </a:xfrm>
          <a:prstGeom prst="rect">
            <a:avLst/>
          </a:prstGeom>
          <a:noFill/>
          <a:ln w="9525">
            <a:noFill/>
          </a:ln>
        </p:spPr>
      </p:pic>
      <p:sp>
        <p:nvSpPr>
          <p:cNvPr id="49154" name="标题 49153"/>
          <p:cNvSpPr>
            <a:spLocks noGrp="1"/>
          </p:cNvSpPr>
          <p:nvPr>
            <p:ph type="title"/>
          </p:nvPr>
        </p:nvSpPr>
        <p:spPr/>
        <p:txBody>
          <a:bodyPr anchor="ctr"/>
          <a:lstStyle/>
          <a:p>
            <a:r>
              <a:rPr lang="en-US" altLang="zh-CN"/>
              <a:t>Greedy best-first search example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课堂练习</a:t>
            </a:r>
          </a:p>
        </p:txBody>
      </p:sp>
      <p:sp>
        <p:nvSpPr>
          <p:cNvPr id="3" name="内容占位符 2"/>
          <p:cNvSpPr>
            <a:spLocks noGrp="1"/>
          </p:cNvSpPr>
          <p:nvPr>
            <p:ph idx="1"/>
          </p:nvPr>
        </p:nvSpPr>
        <p:spPr/>
        <p:txBody>
          <a:bodyPr/>
          <a:lstStyle/>
          <a:p>
            <a:r>
              <a:rPr lang="zh-CN" altLang="en-US" dirty="0"/>
              <a:t>用</a:t>
            </a:r>
            <a:r>
              <a:rPr lang="en-US" altLang="zh-CN" dirty="0"/>
              <a:t>Greedy best-first </a:t>
            </a:r>
            <a:r>
              <a:rPr lang="zh-CN" altLang="en-US" dirty="0"/>
              <a:t>实现最短路径问题</a:t>
            </a:r>
          </a:p>
          <a:p>
            <a:r>
              <a:rPr lang="zh-CN" altLang="en-US" dirty="0"/>
              <a:t>根据已有框架，完成</a:t>
            </a:r>
            <a:r>
              <a:rPr lang="en-US" altLang="zh-CN" dirty="0" err="1"/>
              <a:t>Best_First</a:t>
            </a:r>
            <a:r>
              <a:rPr lang="zh-CN" altLang="en-US" dirty="0"/>
              <a:t>函数</a:t>
            </a:r>
            <a:endParaRPr lang="zh-CN" altLang="en-US" dirty="0">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p:txBody>
          <a:bodyPr anchor="ctr"/>
          <a:lstStyle/>
          <a:p>
            <a:r>
              <a:rPr lang="en-US" altLang="zh-CN"/>
              <a:t>A</a:t>
            </a:r>
            <a:r>
              <a:rPr lang="en-US" altLang="zh-CN" baseline="30000"/>
              <a:t>*</a:t>
            </a:r>
            <a:r>
              <a:rPr lang="en-US" altLang="zh-CN"/>
              <a:t> search</a:t>
            </a:r>
          </a:p>
        </p:txBody>
      </p:sp>
      <p:sp>
        <p:nvSpPr>
          <p:cNvPr id="15363" name="文本占位符 15362"/>
          <p:cNvSpPr>
            <a:spLocks noGrp="1"/>
          </p:cNvSpPr>
          <p:nvPr>
            <p:ph type="body" idx="1"/>
          </p:nvPr>
        </p:nvSpPr>
        <p:spPr/>
        <p:txBody>
          <a:bodyPr>
            <a:normAutofit lnSpcReduction="10000"/>
          </a:bodyPr>
          <a:lstStyle/>
          <a:p>
            <a:r>
              <a:rPr lang="zh-CN" altLang="en-US"/>
              <a:t>思路</a:t>
            </a:r>
            <a:r>
              <a:rPr lang="en-US" altLang="zh-CN"/>
              <a:t>: </a:t>
            </a:r>
            <a:r>
              <a:rPr lang="zh-CN" altLang="en-US"/>
              <a:t>避免扩展已经很昂贵的路径</a:t>
            </a:r>
            <a:r>
              <a:rPr lang="en-US" altLang="zh-CN"/>
              <a:t>
</a:t>
            </a:r>
          </a:p>
          <a:p>
            <a:r>
              <a:rPr lang="zh-CN" altLang="en-US"/>
              <a:t>评估函数</a:t>
            </a:r>
            <a:r>
              <a:rPr lang="en-US" altLang="zh-CN"/>
              <a:t> </a:t>
            </a:r>
            <a:r>
              <a:rPr lang="en-US" altLang="zh-CN" i="1" err="1"/>
              <a:t>f(n) = g(n) + h(n</a:t>
            </a:r>
            <a:r>
              <a:rPr lang="en-US" altLang="zh-CN" i="1"/>
              <a:t>)</a:t>
            </a:r>
            <a:r>
              <a:rPr lang="en-US" altLang="zh-CN"/>
              <a:t>
</a:t>
            </a:r>
          </a:p>
          <a:p>
            <a:r>
              <a:rPr lang="en-US" altLang="zh-CN" i="1" err="1"/>
              <a:t>g(n</a:t>
            </a:r>
            <a:r>
              <a:rPr lang="en-US" altLang="zh-CN" i="1"/>
              <a:t>) </a:t>
            </a:r>
            <a:r>
              <a:rPr lang="en-US" altLang="zh-CN"/>
              <a:t>= </a:t>
            </a:r>
            <a:r>
              <a:rPr lang="zh-CN" altLang="en-US"/>
              <a:t>到达节点</a:t>
            </a:r>
            <a:r>
              <a:rPr lang="en-US" altLang="zh-CN"/>
              <a:t> </a:t>
            </a:r>
            <a:r>
              <a:rPr lang="en-US" altLang="zh-CN" i="1"/>
              <a:t>n </a:t>
            </a:r>
            <a:r>
              <a:rPr lang="zh-CN" altLang="en-US"/>
              <a:t>的代价</a:t>
            </a:r>
            <a:endParaRPr lang="en-US" altLang="zh-CN" i="1"/>
          </a:p>
          <a:p>
            <a:r>
              <a:rPr lang="en-US" altLang="zh-CN" i="1" err="1"/>
              <a:t>h(n</a:t>
            </a:r>
            <a:r>
              <a:rPr lang="en-US" altLang="zh-CN" i="1"/>
              <a:t>)</a:t>
            </a:r>
            <a:r>
              <a:rPr lang="en-US" altLang="zh-CN"/>
              <a:t> = </a:t>
            </a:r>
            <a:r>
              <a:rPr lang="zh-CN" altLang="en-US"/>
              <a:t>从</a:t>
            </a:r>
            <a:r>
              <a:rPr lang="en-US" altLang="zh-CN"/>
              <a:t>n</a:t>
            </a:r>
            <a:r>
              <a:rPr lang="zh-CN" altLang="en-US"/>
              <a:t>到目标的代价估计值</a:t>
            </a:r>
            <a:endParaRPr lang="en-US" altLang="zh-CN"/>
          </a:p>
          <a:p>
            <a:r>
              <a:rPr lang="en-US" altLang="zh-CN" i="1" err="1"/>
              <a:t>f(n</a:t>
            </a:r>
            <a:r>
              <a:rPr lang="en-US" altLang="zh-CN" i="1"/>
              <a:t>) </a:t>
            </a:r>
            <a:r>
              <a:rPr lang="en-US" altLang="zh-CN"/>
              <a:t>= </a:t>
            </a:r>
            <a:r>
              <a:rPr lang="zh-CN" altLang="en-US"/>
              <a:t>估计的总代价</a:t>
            </a:r>
            <a:r>
              <a:rPr lang="en-US" altLang="zh-CN"/>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6385"/>
          <p:cNvSpPr>
            <a:spLocks noGrp="1"/>
          </p:cNvSpPr>
          <p:nvPr>
            <p:ph type="title"/>
          </p:nvPr>
        </p:nvSpPr>
        <p:spPr/>
        <p:txBody>
          <a:bodyPr anchor="ctr"/>
          <a:lstStyle/>
          <a:p>
            <a:r>
              <a:rPr lang="en-US" altLang="zh-CN"/>
              <a:t>A</a:t>
            </a:r>
            <a:r>
              <a:rPr lang="en-US" altLang="zh-CN" baseline="30000"/>
              <a:t>*</a:t>
            </a:r>
            <a:r>
              <a:rPr lang="en-US" altLang="zh-CN"/>
              <a:t> search example</a:t>
            </a:r>
          </a:p>
        </p:txBody>
      </p:sp>
      <p:pic>
        <p:nvPicPr>
          <p:cNvPr id="16388" name="图片 16387" descr="astar-progress01c"/>
          <p:cNvPicPr>
            <a:picLocks noChangeAspect="1"/>
          </p:cNvPicPr>
          <p:nvPr/>
        </p:nvPicPr>
        <p:blipFill>
          <a:blip r:embed="rId2"/>
          <a:stretch>
            <a:fillRect/>
          </a:stretch>
        </p:blipFill>
        <p:spPr>
          <a:xfrm>
            <a:off x="5786" y="1402204"/>
            <a:ext cx="9138213" cy="5455795"/>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2" name="图片 17411" descr="astar-progress02c"/>
          <p:cNvPicPr>
            <a:picLocks noChangeAspect="1"/>
          </p:cNvPicPr>
          <p:nvPr/>
        </p:nvPicPr>
        <p:blipFill>
          <a:blip r:embed="rId2"/>
          <a:stretch>
            <a:fillRect/>
          </a:stretch>
        </p:blipFill>
        <p:spPr>
          <a:xfrm>
            <a:off x="-152400" y="1295400"/>
            <a:ext cx="9296400" cy="5562600"/>
          </a:xfrm>
          <a:prstGeom prst="rect">
            <a:avLst/>
          </a:prstGeom>
          <a:noFill/>
          <a:ln w="9525">
            <a:noFill/>
          </a:ln>
        </p:spPr>
      </p:pic>
      <p:sp>
        <p:nvSpPr>
          <p:cNvPr id="17410" name="标题 17409"/>
          <p:cNvSpPr>
            <a:spLocks noGrp="1"/>
          </p:cNvSpPr>
          <p:nvPr>
            <p:ph type="title"/>
          </p:nvPr>
        </p:nvSpPr>
        <p:spPr/>
        <p:txBody>
          <a:bodyPr anchor="ctr"/>
          <a:lstStyle/>
          <a:p>
            <a:r>
              <a:rPr lang="en-US" altLang="zh-CN"/>
              <a:t>A</a:t>
            </a:r>
            <a:r>
              <a:rPr lang="en-US" altLang="zh-CN" baseline="30000"/>
              <a:t>*</a:t>
            </a:r>
            <a:r>
              <a:rPr lang="en-US" altLang="zh-CN"/>
              <a:t> search example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8433"/>
          <p:cNvSpPr>
            <a:spLocks noGrp="1"/>
          </p:cNvSpPr>
          <p:nvPr>
            <p:ph type="title"/>
          </p:nvPr>
        </p:nvSpPr>
        <p:spPr/>
        <p:txBody>
          <a:bodyPr anchor="ctr"/>
          <a:lstStyle/>
          <a:p>
            <a:r>
              <a:rPr lang="en-US" altLang="zh-CN"/>
              <a:t>A</a:t>
            </a:r>
            <a:r>
              <a:rPr lang="en-US" altLang="zh-CN" baseline="30000"/>
              <a:t>*</a:t>
            </a:r>
            <a:r>
              <a:rPr lang="en-US" altLang="zh-CN"/>
              <a:t> search example</a:t>
            </a:r>
          </a:p>
        </p:txBody>
      </p:sp>
      <p:pic>
        <p:nvPicPr>
          <p:cNvPr id="18437" name="图片 18436" descr="astar-progress03c"/>
          <p:cNvPicPr>
            <a:picLocks noChangeAspect="1"/>
          </p:cNvPicPr>
          <p:nvPr/>
        </p:nvPicPr>
        <p:blipFill>
          <a:blip r:embed="rId2"/>
          <a:stretch>
            <a:fillRect/>
          </a:stretch>
        </p:blipFill>
        <p:spPr>
          <a:xfrm>
            <a:off x="-152400" y="1295400"/>
            <a:ext cx="9296400" cy="5562600"/>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9457"/>
          <p:cNvSpPr>
            <a:spLocks noGrp="1"/>
          </p:cNvSpPr>
          <p:nvPr>
            <p:ph type="title"/>
          </p:nvPr>
        </p:nvSpPr>
        <p:spPr/>
        <p:txBody>
          <a:bodyPr anchor="ctr"/>
          <a:lstStyle/>
          <a:p>
            <a:r>
              <a:rPr lang="en-US" altLang="zh-CN"/>
              <a:t>A</a:t>
            </a:r>
            <a:r>
              <a:rPr lang="en-US" altLang="zh-CN" baseline="30000"/>
              <a:t>*</a:t>
            </a:r>
            <a:r>
              <a:rPr lang="en-US" altLang="zh-CN"/>
              <a:t> search example</a:t>
            </a:r>
          </a:p>
        </p:txBody>
      </p:sp>
      <p:pic>
        <p:nvPicPr>
          <p:cNvPr id="19460" name="图片 19459" descr="astar-progress04c"/>
          <p:cNvPicPr>
            <a:picLocks noChangeAspect="1"/>
          </p:cNvPicPr>
          <p:nvPr/>
        </p:nvPicPr>
        <p:blipFill>
          <a:blip r:embed="rId2"/>
          <a:stretch>
            <a:fillRect/>
          </a:stretch>
        </p:blipFill>
        <p:spPr>
          <a:xfrm>
            <a:off x="-115118" y="1295400"/>
            <a:ext cx="9287898" cy="5562600"/>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20481"/>
          <p:cNvSpPr>
            <a:spLocks noGrp="1"/>
          </p:cNvSpPr>
          <p:nvPr>
            <p:ph type="title"/>
          </p:nvPr>
        </p:nvSpPr>
        <p:spPr/>
        <p:txBody>
          <a:bodyPr anchor="ctr"/>
          <a:lstStyle/>
          <a:p>
            <a:r>
              <a:rPr lang="en-US" altLang="zh-CN"/>
              <a:t>A</a:t>
            </a:r>
            <a:r>
              <a:rPr lang="en-US" altLang="zh-CN" baseline="30000"/>
              <a:t>*</a:t>
            </a:r>
            <a:r>
              <a:rPr lang="en-US" altLang="zh-CN"/>
              <a:t> search example</a:t>
            </a:r>
          </a:p>
        </p:txBody>
      </p:sp>
      <p:pic>
        <p:nvPicPr>
          <p:cNvPr id="20484" name="图片 20483" descr="astar-progress05c"/>
          <p:cNvPicPr>
            <a:picLocks noChangeAspect="1"/>
          </p:cNvPicPr>
          <p:nvPr/>
        </p:nvPicPr>
        <p:blipFill>
          <a:blip r:embed="rId2"/>
          <a:stretch>
            <a:fillRect/>
          </a:stretch>
        </p:blipFill>
        <p:spPr>
          <a:xfrm>
            <a:off x="-152400" y="1295400"/>
            <a:ext cx="9325180" cy="5562600"/>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21505"/>
          <p:cNvSpPr>
            <a:spLocks noGrp="1"/>
          </p:cNvSpPr>
          <p:nvPr>
            <p:ph type="title"/>
          </p:nvPr>
        </p:nvSpPr>
        <p:spPr/>
        <p:txBody>
          <a:bodyPr anchor="ctr"/>
          <a:lstStyle/>
          <a:p>
            <a:r>
              <a:rPr lang="en-US" altLang="zh-CN"/>
              <a:t>A</a:t>
            </a:r>
            <a:r>
              <a:rPr lang="en-US" altLang="zh-CN" baseline="30000"/>
              <a:t>*</a:t>
            </a:r>
            <a:r>
              <a:rPr lang="en-US" altLang="zh-CN"/>
              <a:t> search example</a:t>
            </a:r>
          </a:p>
        </p:txBody>
      </p:sp>
      <p:pic>
        <p:nvPicPr>
          <p:cNvPr id="21508" name="图片 21507" descr="astar-progress06c"/>
          <p:cNvPicPr>
            <a:picLocks noChangeAspect="1"/>
          </p:cNvPicPr>
          <p:nvPr/>
        </p:nvPicPr>
        <p:blipFill>
          <a:blip r:embed="rId2"/>
          <a:stretch>
            <a:fillRect/>
          </a:stretch>
        </p:blipFill>
        <p:spPr>
          <a:xfrm>
            <a:off x="-109257" y="1295400"/>
            <a:ext cx="9215639" cy="5562600"/>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xmlns="" id="{C914EBCE-1459-4F41-AB38-105382FCE8A2}"/>
              </a:ext>
            </a:extLst>
          </p:cNvPr>
          <p:cNvSpPr>
            <a:spLocks noGrp="1"/>
          </p:cNvSpPr>
          <p:nvPr>
            <p:ph idx="1"/>
          </p:nvPr>
        </p:nvSpPr>
        <p:spPr>
          <a:xfrm>
            <a:off x="457200" y="152400"/>
            <a:ext cx="8229600" cy="5973763"/>
          </a:xfrm>
        </p:spPr>
        <p:txBody>
          <a:bodyPr>
            <a:normAutofit fontScale="55000" lnSpcReduction="20000"/>
          </a:bodyPr>
          <a:lstStyle/>
          <a:p>
            <a:pPr marL="0" indent="0">
              <a:buNone/>
            </a:pPr>
            <a:r>
              <a:rPr lang="en-US" altLang="zh-CN" dirty="0"/>
              <a:t>#include &lt;queue&gt;</a:t>
            </a:r>
          </a:p>
          <a:p>
            <a:pPr marL="0" indent="0">
              <a:buNone/>
            </a:pPr>
            <a:r>
              <a:rPr lang="en-US" altLang="zh-CN" dirty="0"/>
              <a:t>using namespace std;</a:t>
            </a:r>
          </a:p>
          <a:p>
            <a:pPr marL="0" indent="0">
              <a:buNone/>
            </a:pPr>
            <a:endParaRPr lang="en-US" altLang="zh-CN" dirty="0"/>
          </a:p>
          <a:p>
            <a:pPr marL="0" indent="0">
              <a:buNone/>
            </a:pPr>
            <a:endParaRPr lang="en-US" altLang="zh-CN" dirty="0"/>
          </a:p>
          <a:p>
            <a:pPr marL="0" indent="0">
              <a:buNone/>
            </a:pPr>
            <a:r>
              <a:rPr lang="en-US" altLang="zh-CN" dirty="0" err="1"/>
              <a:t>priority_queue</a:t>
            </a:r>
            <a:r>
              <a:rPr lang="en-US" altLang="zh-CN" dirty="0"/>
              <a:t>&lt;Node&gt;  Que;//</a:t>
            </a:r>
            <a:r>
              <a:rPr lang="zh-CN" altLang="en-US" dirty="0"/>
              <a:t>优先级队列</a:t>
            </a:r>
          </a:p>
          <a:p>
            <a:pPr marL="0" indent="0">
              <a:buNone/>
            </a:pPr>
            <a:endParaRPr lang="zh-CN" altLang="en-US" dirty="0"/>
          </a:p>
          <a:p>
            <a:pPr marL="0" indent="0">
              <a:buNone/>
            </a:pPr>
            <a:r>
              <a:rPr lang="en-US" altLang="zh-CN" dirty="0" err="1"/>
              <a:t>Que.push</a:t>
            </a:r>
            <a:r>
              <a:rPr lang="en-US" altLang="zh-CN" dirty="0"/>
              <a:t>(node);</a:t>
            </a:r>
          </a:p>
          <a:p>
            <a:pPr marL="0" indent="0">
              <a:buNone/>
            </a:pPr>
            <a:endParaRPr lang="en-US" altLang="zh-CN" dirty="0"/>
          </a:p>
          <a:p>
            <a:pPr marL="0" indent="0">
              <a:buNone/>
            </a:pPr>
            <a:r>
              <a:rPr lang="en-US" altLang="zh-CN" dirty="0"/>
              <a:t>Node now = </a:t>
            </a:r>
            <a:r>
              <a:rPr lang="en-US" altLang="zh-CN" dirty="0" err="1"/>
              <a:t>Que.top</a:t>
            </a:r>
            <a:r>
              <a:rPr lang="en-US" altLang="zh-CN" dirty="0"/>
              <a:t>();</a:t>
            </a:r>
          </a:p>
          <a:p>
            <a:pPr marL="0" indent="0">
              <a:buNone/>
            </a:pPr>
            <a:r>
              <a:rPr lang="en-US" altLang="zh-CN" dirty="0" err="1"/>
              <a:t>Que.pop</a:t>
            </a:r>
            <a:r>
              <a:rPr lang="en-US" altLang="zh-CN" dirty="0"/>
              <a:t>(); //</a:t>
            </a:r>
            <a:r>
              <a:rPr lang="zh-CN" altLang="en-US" dirty="0"/>
              <a:t>弹出</a:t>
            </a:r>
            <a:r>
              <a:rPr lang="en-US" altLang="zh-CN" dirty="0"/>
              <a:t>h</a:t>
            </a:r>
            <a:r>
              <a:rPr lang="zh-CN" altLang="en-US" dirty="0"/>
              <a:t>值最小的节点，也就是离目的地最近的一个节点</a:t>
            </a:r>
          </a:p>
          <a:p>
            <a:pPr marL="0" indent="0">
              <a:buNone/>
            </a:pPr>
            <a:endParaRPr lang="zh-CN" altLang="en-US" dirty="0"/>
          </a:p>
          <a:p>
            <a:pPr marL="0" indent="0">
              <a:buNone/>
            </a:pPr>
            <a:endParaRPr lang="zh-CN" altLang="en-US" dirty="0"/>
          </a:p>
          <a:p>
            <a:pPr marL="0" indent="0">
              <a:buNone/>
            </a:pPr>
            <a:r>
              <a:rPr lang="zh-CN" altLang="en-US" dirty="0"/>
              <a:t>定义</a:t>
            </a:r>
            <a:r>
              <a:rPr lang="en-US" altLang="zh-CN" dirty="0"/>
              <a:t>struct Node</a:t>
            </a:r>
          </a:p>
          <a:p>
            <a:pPr marL="0" indent="0">
              <a:buNone/>
            </a:pPr>
            <a:endParaRPr lang="en-US" altLang="zh-CN" dirty="0"/>
          </a:p>
          <a:p>
            <a:pPr marL="0" indent="0">
              <a:buNone/>
            </a:pPr>
            <a:r>
              <a:rPr lang="zh-CN" altLang="en-US" dirty="0"/>
              <a:t>定义扩展动作的子函数  比如   </a:t>
            </a:r>
            <a:r>
              <a:rPr lang="en-US" altLang="zh-CN" dirty="0" err="1"/>
              <a:t>getChildren</a:t>
            </a:r>
            <a:r>
              <a:rPr lang="en-US" altLang="zh-CN" dirty="0"/>
              <a:t>(Node)</a:t>
            </a:r>
          </a:p>
          <a:p>
            <a:pPr marL="0" indent="0">
              <a:buNone/>
            </a:pPr>
            <a:endParaRPr lang="en-US" altLang="zh-CN" dirty="0"/>
          </a:p>
          <a:p>
            <a:pPr marL="0" indent="0">
              <a:buNone/>
            </a:pPr>
            <a:r>
              <a:rPr lang="zh-CN" altLang="en-US" dirty="0"/>
              <a:t>定义其他必要的子函数  例如</a:t>
            </a:r>
          </a:p>
          <a:p>
            <a:pPr marL="0" indent="0">
              <a:buNone/>
            </a:pPr>
            <a:r>
              <a:rPr lang="en-US" altLang="zh-CN" dirty="0"/>
              <a:t>int evaluate(state);</a:t>
            </a:r>
          </a:p>
          <a:p>
            <a:pPr marL="0" indent="0">
              <a:buNone/>
            </a:pPr>
            <a:r>
              <a:rPr lang="en-US" altLang="zh-CN" dirty="0"/>
              <a:t>    //</a:t>
            </a:r>
            <a:r>
              <a:rPr lang="zh-CN" altLang="en-US" dirty="0"/>
              <a:t>评估一个状态的价值</a:t>
            </a:r>
          </a:p>
          <a:p>
            <a:pPr marL="0" indent="0">
              <a:buNone/>
            </a:pPr>
            <a:endParaRPr lang="en-US" altLang="zh-CN" dirty="0"/>
          </a:p>
          <a:p>
            <a:pPr marL="0" indent="0">
              <a:buNone/>
            </a:pPr>
            <a:r>
              <a:rPr lang="zh-CN" altLang="en-US" dirty="0"/>
              <a:t>写主框架</a:t>
            </a:r>
          </a:p>
        </p:txBody>
      </p:sp>
    </p:spTree>
    <p:extLst>
      <p:ext uri="{BB962C8B-B14F-4D97-AF65-F5344CB8AC3E}">
        <p14:creationId xmlns:p14="http://schemas.microsoft.com/office/powerpoint/2010/main" val="29658170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标题 22529"/>
          <p:cNvSpPr>
            <a:spLocks noGrp="1"/>
          </p:cNvSpPr>
          <p:nvPr>
            <p:ph type="title"/>
          </p:nvPr>
        </p:nvSpPr>
        <p:spPr/>
        <p:txBody>
          <a:bodyPr anchor="ctr"/>
          <a:lstStyle/>
          <a:p>
            <a:r>
              <a:rPr lang="en-US" altLang="zh-CN"/>
              <a:t>Admissible heuristics</a:t>
            </a:r>
          </a:p>
        </p:txBody>
      </p:sp>
      <p:sp>
        <p:nvSpPr>
          <p:cNvPr id="21506" name="文本占位符 22530"/>
          <p:cNvSpPr>
            <a:spLocks noGrp="1"/>
          </p:cNvSpPr>
          <p:nvPr>
            <p:ph idx="1"/>
          </p:nvPr>
        </p:nvSpPr>
        <p:spPr/>
        <p:txBody>
          <a:bodyPr anchor="t">
            <a:normAutofit fontScale="82500" lnSpcReduction="20000"/>
          </a:bodyPr>
          <a:lstStyle/>
          <a:p>
            <a:r>
              <a:rPr lang="en-US" altLang="zh-CN" sz="2800" dirty="0"/>
              <a:t>A heuristic </a:t>
            </a:r>
            <a:r>
              <a:rPr lang="en-US" altLang="zh-CN" sz="2800" i="1" dirty="0"/>
              <a:t>h(n)</a:t>
            </a:r>
            <a:r>
              <a:rPr lang="en-US" altLang="zh-CN" sz="2800" dirty="0"/>
              <a:t> is </a:t>
            </a:r>
            <a:r>
              <a:rPr lang="en-US" altLang="zh-CN" sz="2800" dirty="0">
                <a:solidFill>
                  <a:srgbClr val="FF0000"/>
                </a:solidFill>
              </a:rPr>
              <a:t>admissible</a:t>
            </a:r>
            <a:r>
              <a:rPr lang="en-US" altLang="zh-CN" sz="2800" dirty="0"/>
              <a:t> if for every node </a:t>
            </a:r>
            <a:r>
              <a:rPr lang="en-US" altLang="zh-CN" sz="2800" i="1" dirty="0"/>
              <a:t>n</a:t>
            </a:r>
            <a:r>
              <a:rPr lang="en-US" altLang="zh-CN" sz="2800" dirty="0"/>
              <a:t>,</a:t>
            </a:r>
          </a:p>
          <a:p>
            <a:pPr>
              <a:buNone/>
            </a:pPr>
            <a:r>
              <a:rPr lang="en-US" altLang="zh-CN" sz="2800" i="1" dirty="0"/>
              <a:t>	h(n) ≤ h</a:t>
            </a:r>
            <a:r>
              <a:rPr lang="en-US" altLang="zh-CN" sz="2800" i="1" baseline="30000" dirty="0"/>
              <a:t>*</a:t>
            </a:r>
            <a:r>
              <a:rPr lang="en-US" altLang="zh-CN" sz="2800" i="1" dirty="0"/>
              <a:t>(n), </a:t>
            </a:r>
            <a:r>
              <a:rPr lang="en-US" altLang="zh-CN" sz="2800" dirty="0"/>
              <a:t>where </a:t>
            </a:r>
            <a:r>
              <a:rPr lang="en-US" altLang="zh-CN" sz="2800" i="1" dirty="0"/>
              <a:t>h</a:t>
            </a:r>
            <a:r>
              <a:rPr lang="en-US" altLang="zh-CN" sz="2800" i="1" baseline="30000" dirty="0"/>
              <a:t>*</a:t>
            </a:r>
            <a:r>
              <a:rPr lang="en-US" altLang="zh-CN" sz="2800" i="1" dirty="0"/>
              <a:t>(n)</a:t>
            </a:r>
            <a:r>
              <a:rPr lang="en-US" altLang="zh-CN" sz="2800" dirty="0"/>
              <a:t> is the </a:t>
            </a:r>
            <a:r>
              <a:rPr lang="en-US" altLang="zh-CN" sz="2800" dirty="0">
                <a:solidFill>
                  <a:srgbClr val="FF0000"/>
                </a:solidFill>
              </a:rPr>
              <a:t>true </a:t>
            </a:r>
            <a:r>
              <a:rPr lang="en-US" altLang="zh-CN" sz="2800" dirty="0"/>
              <a:t>cost to reach the goal state from </a:t>
            </a:r>
            <a:r>
              <a:rPr lang="en-US" altLang="zh-CN" sz="2800" i="1" dirty="0"/>
              <a:t>n</a:t>
            </a:r>
            <a:r>
              <a:rPr lang="en-US" altLang="zh-CN" sz="2800" dirty="0"/>
              <a:t>.
</a:t>
            </a:r>
          </a:p>
          <a:p>
            <a:pPr>
              <a:buNone/>
            </a:pPr>
            <a:r>
              <a:rPr lang="en-US" altLang="zh-CN" sz="2800" dirty="0"/>
              <a:t>	An admissible heuristic </a:t>
            </a:r>
            <a:r>
              <a:rPr lang="en-US" altLang="zh-CN" sz="2800" dirty="0">
                <a:solidFill>
                  <a:srgbClr val="FF0000"/>
                </a:solidFill>
              </a:rPr>
              <a:t>never overestimates</a:t>
            </a:r>
            <a:r>
              <a:rPr lang="en-US" altLang="zh-CN" sz="2800" dirty="0"/>
              <a:t> the cost to reach the goal, i.e., it is </a:t>
            </a:r>
            <a:r>
              <a:rPr lang="en-US" altLang="zh-CN" sz="2800" dirty="0">
                <a:solidFill>
                  <a:srgbClr val="FF0000"/>
                </a:solidFill>
              </a:rPr>
              <a:t>optimistic</a:t>
            </a:r>
            <a:r>
              <a:rPr lang="en-US" altLang="zh-CN" sz="2800" dirty="0"/>
              <a:t>
</a:t>
            </a:r>
          </a:p>
          <a:p>
            <a:pPr>
              <a:buNone/>
            </a:pPr>
            <a:r>
              <a:rPr lang="en-US" altLang="zh-CN" sz="2800" dirty="0"/>
              <a:t>    Example: </a:t>
            </a:r>
            <a:r>
              <a:rPr lang="en-US" altLang="zh-CN" sz="2800" i="1" dirty="0" err="1"/>
              <a:t>h</a:t>
            </a:r>
            <a:r>
              <a:rPr lang="en-US" altLang="zh-CN" sz="2800" i="1" baseline="-25000" dirty="0" err="1"/>
              <a:t>SLD</a:t>
            </a:r>
            <a:r>
              <a:rPr lang="en-US" altLang="zh-CN" sz="2800" i="1" dirty="0"/>
              <a:t>(n) </a:t>
            </a:r>
            <a:r>
              <a:rPr lang="en-US" altLang="zh-CN" sz="2800" dirty="0"/>
              <a:t>(never overestimates the actual road distance)
</a:t>
            </a:r>
          </a:p>
          <a:p>
            <a:r>
              <a:rPr lang="en-US" altLang="zh-CN" sz="2800" dirty="0">
                <a:solidFill>
                  <a:schemeClr val="accent2"/>
                </a:solidFill>
              </a:rPr>
              <a:t>Theorem</a:t>
            </a:r>
            <a:r>
              <a:rPr lang="en-US" altLang="zh-CN" sz="2800" dirty="0"/>
              <a:t>: If </a:t>
            </a:r>
            <a:r>
              <a:rPr lang="en-US" altLang="zh-CN" sz="2800" i="1" dirty="0"/>
              <a:t>h(n) </a:t>
            </a:r>
            <a:r>
              <a:rPr lang="en-US" altLang="zh-CN" sz="2800" dirty="0"/>
              <a:t>is admissible, A</a:t>
            </a:r>
            <a:r>
              <a:rPr lang="en-US" altLang="zh-CN" sz="2800" baseline="30000" dirty="0"/>
              <a:t>*</a:t>
            </a:r>
            <a:r>
              <a:rPr lang="en-US" altLang="zh-CN" sz="2800" dirty="0"/>
              <a:t> using </a:t>
            </a:r>
            <a:r>
              <a:rPr lang="en-US" altLang="zh-CN" sz="2800" dirty="0">
                <a:latin typeface="Courier New" panose="02070309020205020404" pitchFamily="49" charset="0"/>
              </a:rPr>
              <a:t>TREE-SEARCH</a:t>
            </a:r>
            <a:r>
              <a:rPr lang="en-US" altLang="zh-CN" sz="2800" dirty="0"/>
              <a:t> is </a:t>
            </a:r>
            <a:r>
              <a:rPr lang="en-US" altLang="zh-CN" sz="2800" dirty="0">
                <a:solidFill>
                  <a:srgbClr val="FF0000"/>
                </a:solidFill>
              </a:rPr>
              <a:t>optimal</a:t>
            </a:r>
            <a:r>
              <a:rPr lang="en-US" altLang="zh-CN" sz="2800" dirty="0"/>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课堂练习</a:t>
            </a:r>
          </a:p>
        </p:txBody>
      </p:sp>
      <p:sp>
        <p:nvSpPr>
          <p:cNvPr id="3" name="内容占位符 2"/>
          <p:cNvSpPr>
            <a:spLocks noGrp="1"/>
          </p:cNvSpPr>
          <p:nvPr>
            <p:ph idx="1"/>
          </p:nvPr>
        </p:nvSpPr>
        <p:spPr/>
        <p:txBody>
          <a:bodyPr/>
          <a:lstStyle/>
          <a:p>
            <a:r>
              <a:rPr lang="zh-CN" altLang="en-US" dirty="0"/>
              <a:t>在</a:t>
            </a:r>
            <a:r>
              <a:rPr lang="en-US" altLang="zh-CN" dirty="0" err="1"/>
              <a:t>BestFirst</a:t>
            </a:r>
            <a:r>
              <a:rPr lang="zh-CN" altLang="en-US" dirty="0"/>
              <a:t>基础上修改，实现</a:t>
            </a:r>
            <a:r>
              <a:rPr lang="en-US" altLang="zh-CN" dirty="0"/>
              <a:t>A</a:t>
            </a:r>
            <a:r>
              <a:rPr lang="zh-CN" altLang="en-US" dirty="0"/>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课后选做</a:t>
            </a:r>
          </a:p>
        </p:txBody>
      </p:sp>
      <p:sp>
        <p:nvSpPr>
          <p:cNvPr id="3" name="内容占位符 2"/>
          <p:cNvSpPr>
            <a:spLocks noGrp="1"/>
          </p:cNvSpPr>
          <p:nvPr>
            <p:ph idx="1"/>
          </p:nvPr>
        </p:nvSpPr>
        <p:spPr/>
        <p:txBody>
          <a:bodyPr/>
          <a:lstStyle/>
          <a:p>
            <a:r>
              <a:rPr lang="zh-CN" altLang="en-US" dirty="0">
                <a:solidFill>
                  <a:schemeClr val="tx1"/>
                </a:solidFill>
              </a:rPr>
              <a:t> 对于一个较大规模的最短路径问题（比如节点数量大于</a:t>
            </a:r>
            <a:r>
              <a:rPr lang="en-US" altLang="zh-CN" dirty="0">
                <a:solidFill>
                  <a:schemeClr val="tx1"/>
                </a:solidFill>
              </a:rPr>
              <a:t>100</a:t>
            </a:r>
            <a:r>
              <a:rPr lang="zh-CN" altLang="en-US" dirty="0">
                <a:solidFill>
                  <a:schemeClr val="tx1"/>
                </a:solidFill>
              </a:rPr>
              <a:t>）分别尝试采用</a:t>
            </a:r>
            <a:r>
              <a:rPr lang="en-US" altLang="zh-CN" dirty="0">
                <a:solidFill>
                  <a:schemeClr val="tx1"/>
                </a:solidFill>
              </a:rPr>
              <a:t>BFS</a:t>
            </a:r>
            <a:r>
              <a:rPr lang="zh-CN" altLang="en-US" dirty="0">
                <a:solidFill>
                  <a:schemeClr val="tx1"/>
                </a:solidFill>
              </a:rPr>
              <a:t>，</a:t>
            </a:r>
            <a:r>
              <a:rPr lang="en-US" altLang="zh-CN" dirty="0">
                <a:solidFill>
                  <a:schemeClr val="tx1"/>
                </a:solidFill>
              </a:rPr>
              <a:t>IDS</a:t>
            </a:r>
            <a:r>
              <a:rPr lang="zh-CN" altLang="en-US" dirty="0">
                <a:solidFill>
                  <a:schemeClr val="tx1"/>
                </a:solidFill>
              </a:rPr>
              <a:t>，</a:t>
            </a:r>
            <a:r>
              <a:rPr lang="en-US" altLang="zh-CN" dirty="0">
                <a:solidFill>
                  <a:schemeClr val="tx1"/>
                </a:solidFill>
              </a:rPr>
              <a:t>A* </a:t>
            </a:r>
            <a:r>
              <a:rPr lang="zh-CN" altLang="en-US" dirty="0">
                <a:solidFill>
                  <a:schemeClr val="tx1"/>
                </a:solidFill>
              </a:rPr>
              <a:t>，打印展开的节点数量</a:t>
            </a:r>
          </a:p>
          <a:p>
            <a:endParaRPr lang="zh-CN" altLang="en-US" dirty="0">
              <a:solidFill>
                <a:srgbClr val="FF0000"/>
              </a:solidFill>
            </a:endParaRPr>
          </a:p>
          <a:p>
            <a:r>
              <a:rPr lang="zh-CN" altLang="en-US" dirty="0">
                <a:solidFill>
                  <a:srgbClr val="FF0000"/>
                </a:solidFill>
              </a:rPr>
              <a:t>数据样例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32769"/>
          <p:cNvSpPr>
            <a:spLocks noGrp="1"/>
          </p:cNvSpPr>
          <p:nvPr>
            <p:ph type="title"/>
          </p:nvPr>
        </p:nvSpPr>
        <p:spPr/>
        <p:txBody>
          <a:bodyPr anchor="ctr">
            <a:noAutofit/>
          </a:bodyPr>
          <a:lstStyle/>
          <a:p>
            <a:r>
              <a:rPr lang="zh-CN" altLang="en-US" sz="3600"/>
              <a:t>局部搜索算法</a:t>
            </a:r>
            <a:r>
              <a:rPr lang="en-US" altLang="zh-CN" sz="3600"/>
              <a:t/>
            </a:r>
            <a:br>
              <a:rPr lang="en-US" altLang="zh-CN" sz="3600"/>
            </a:br>
            <a:r>
              <a:rPr lang="en-US" altLang="zh-CN" sz="3600"/>
              <a:t>Local search algorithms</a:t>
            </a:r>
          </a:p>
        </p:txBody>
      </p:sp>
      <p:sp>
        <p:nvSpPr>
          <p:cNvPr id="32771" name="文本占位符 32770"/>
          <p:cNvSpPr>
            <a:spLocks noGrp="1"/>
          </p:cNvSpPr>
          <p:nvPr>
            <p:ph type="body" idx="1"/>
          </p:nvPr>
        </p:nvSpPr>
        <p:spPr/>
        <p:txBody>
          <a:bodyPr>
            <a:normAutofit fontScale="82500" lnSpcReduction="20000"/>
          </a:bodyPr>
          <a:lstStyle/>
          <a:p>
            <a:pPr>
              <a:lnSpc>
                <a:spcPct val="80000"/>
              </a:lnSpc>
            </a:pPr>
            <a:endParaRPr lang="zh-CN" altLang="en-US" sz="2800" dirty="0"/>
          </a:p>
          <a:p>
            <a:pPr>
              <a:lnSpc>
                <a:spcPct val="170000"/>
              </a:lnSpc>
            </a:pPr>
            <a:r>
              <a:rPr lang="zh-CN" altLang="en-US" sz="2800" dirty="0"/>
              <a:t>在很多优化问题中，我们不关心到达目标的路径，</a:t>
            </a:r>
            <a:r>
              <a:rPr lang="zh-CN" altLang="en-US" sz="2800" dirty="0">
                <a:solidFill>
                  <a:srgbClr val="FF0000"/>
                </a:solidFill>
              </a:rPr>
              <a:t>目标状态</a:t>
            </a:r>
            <a:r>
              <a:rPr lang="zh-CN" altLang="en-US" sz="2800" dirty="0"/>
              <a:t>本身就是要求的解决方案</a:t>
            </a:r>
            <a:endParaRPr lang="en-US" altLang="zh-CN" sz="2800" dirty="0"/>
          </a:p>
          <a:p>
            <a:pPr>
              <a:lnSpc>
                <a:spcPct val="80000"/>
              </a:lnSpc>
            </a:pPr>
            <a:endParaRPr lang="en-US" altLang="zh-CN" sz="2800" dirty="0"/>
          </a:p>
          <a:p>
            <a:pPr>
              <a:lnSpc>
                <a:spcPct val="80000"/>
              </a:lnSpc>
            </a:pPr>
            <a:endParaRPr lang="en-US" altLang="zh-CN" sz="2800" dirty="0"/>
          </a:p>
          <a:p>
            <a:pPr>
              <a:lnSpc>
                <a:spcPct val="80000"/>
              </a:lnSpc>
            </a:pPr>
            <a:r>
              <a:rPr lang="zh-CN" altLang="en-US" sz="2800" dirty="0"/>
              <a:t>状态空间</a:t>
            </a:r>
            <a:r>
              <a:rPr lang="en-US" altLang="zh-CN" sz="2800" dirty="0"/>
              <a:t>= </a:t>
            </a:r>
            <a:r>
              <a:rPr lang="zh-CN" altLang="en-US" sz="2800" dirty="0"/>
              <a:t>一组完整的配置</a:t>
            </a:r>
            <a:r>
              <a:rPr lang="en-US" altLang="zh-CN" sz="2800" dirty="0"/>
              <a:t> </a:t>
            </a:r>
            <a:r>
              <a:rPr lang="zh-CN" altLang="en-US" sz="2800" dirty="0"/>
              <a:t>（</a:t>
            </a:r>
            <a:r>
              <a:rPr lang="en-US" altLang="zh-CN" sz="2800" dirty="0"/>
              <a:t> configurations</a:t>
            </a:r>
            <a:r>
              <a:rPr lang="zh-CN" altLang="en-US" sz="2800" dirty="0"/>
              <a:t>）</a:t>
            </a:r>
          </a:p>
          <a:p>
            <a:pPr lvl="1">
              <a:lnSpc>
                <a:spcPct val="80000"/>
              </a:lnSpc>
            </a:pPr>
            <a:r>
              <a:rPr lang="zh-CN" altLang="en-US" sz="2450" dirty="0"/>
              <a:t>比如</a:t>
            </a:r>
            <a:r>
              <a:rPr lang="en-US" altLang="zh-CN" sz="2450" dirty="0"/>
              <a:t>n</a:t>
            </a:r>
            <a:r>
              <a:rPr lang="zh-CN" altLang="en-US" sz="2450" dirty="0"/>
              <a:t>皇后问题</a:t>
            </a:r>
          </a:p>
          <a:p>
            <a:pPr>
              <a:lnSpc>
                <a:spcPct val="80000"/>
              </a:lnSpc>
            </a:pPr>
            <a:endParaRPr lang="en-US" altLang="zh-CN" sz="2800" dirty="0"/>
          </a:p>
          <a:p>
            <a:pPr>
              <a:lnSpc>
                <a:spcPct val="80000"/>
              </a:lnSpc>
            </a:pPr>
            <a:r>
              <a:rPr lang="zh-CN" altLang="en-US" sz="2800" dirty="0"/>
              <a:t>问题目标是寻找满足约束条件的配置</a:t>
            </a:r>
            <a:endParaRPr lang="en-US" altLang="zh-CN" sz="2800" dirty="0"/>
          </a:p>
          <a:p>
            <a:pPr>
              <a:lnSpc>
                <a:spcPct val="80000"/>
              </a:lnSpc>
            </a:pPr>
            <a:endParaRPr lang="en-US" altLang="zh-CN" sz="2800" dirty="0"/>
          </a:p>
          <a:p>
            <a:pPr>
              <a:lnSpc>
                <a:spcPct val="80000"/>
              </a:lnSpc>
            </a:pPr>
            <a:r>
              <a:rPr lang="zh-CN" altLang="en-US" sz="2800" dirty="0"/>
              <a:t>对于这类问题，我们可以采用局部搜索算法</a:t>
            </a:r>
            <a:endParaRPr lang="en-US" altLang="zh-CN" sz="2800" dirty="0"/>
          </a:p>
          <a:p>
            <a:pPr>
              <a:lnSpc>
                <a:spcPct val="80000"/>
              </a:lnSpc>
            </a:pPr>
            <a:endParaRPr lang="en-US" altLang="zh-CN" sz="2800" dirty="0"/>
          </a:p>
          <a:p>
            <a:pPr>
              <a:lnSpc>
                <a:spcPct val="80000"/>
              </a:lnSpc>
            </a:pPr>
            <a:r>
              <a:rPr lang="zh-CN" altLang="en-US" sz="2800" dirty="0"/>
              <a:t>思想：不断尝试优化当前的状态，力图构造目标状态</a:t>
            </a:r>
            <a:r>
              <a:rPr lang="en-US" altLang="zh-CN" sz="2800" dirty="0"/>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33793"/>
          <p:cNvSpPr>
            <a:spLocks noGrp="1"/>
          </p:cNvSpPr>
          <p:nvPr>
            <p:ph type="title"/>
          </p:nvPr>
        </p:nvSpPr>
        <p:spPr/>
        <p:txBody>
          <a:bodyPr anchor="ctr"/>
          <a:lstStyle/>
          <a:p>
            <a:r>
              <a:rPr lang="zh-CN" altLang="en-US"/>
              <a:t>例</a:t>
            </a:r>
            <a:r>
              <a:rPr lang="en-US" altLang="zh-CN"/>
              <a:t>: </a:t>
            </a:r>
            <a:r>
              <a:rPr lang="en-US" altLang="zh-CN" i="1"/>
              <a:t>n</a:t>
            </a:r>
            <a:r>
              <a:rPr lang="en-US" altLang="zh-CN"/>
              <a:t>-queens</a:t>
            </a:r>
          </a:p>
        </p:txBody>
      </p:sp>
      <p:sp>
        <p:nvSpPr>
          <p:cNvPr id="33795" name="文本占位符 33794"/>
          <p:cNvSpPr>
            <a:spLocks noGrp="1"/>
          </p:cNvSpPr>
          <p:nvPr>
            <p:ph type="body" idx="1"/>
          </p:nvPr>
        </p:nvSpPr>
        <p:spPr/>
        <p:txBody>
          <a:bodyPr/>
          <a:lstStyle/>
          <a:p>
            <a:r>
              <a:rPr lang="en-US" altLang="zh-CN"/>
              <a:t>Put </a:t>
            </a:r>
            <a:r>
              <a:rPr lang="en-US" altLang="zh-CN" i="1"/>
              <a:t>n</a:t>
            </a:r>
            <a:r>
              <a:rPr lang="en-US" altLang="zh-CN"/>
              <a:t> queens on an </a:t>
            </a:r>
            <a:r>
              <a:rPr lang="en-US" altLang="zh-CN" i="1"/>
              <a:t>n </a:t>
            </a:r>
            <a:r>
              <a:rPr lang="en-US" altLang="zh-CN" i="1">
                <a:cs typeface="Arial" panose="020B0604020202020204" pitchFamily="34" charset="0"/>
              </a:rPr>
              <a:t>× </a:t>
            </a:r>
            <a:r>
              <a:rPr lang="en-US" altLang="zh-CN" i="1"/>
              <a:t>n</a:t>
            </a:r>
            <a:r>
              <a:rPr lang="en-US" altLang="zh-CN"/>
              <a:t> board with no two queens on the same row, column, or diagonal
</a:t>
            </a:r>
          </a:p>
        </p:txBody>
      </p:sp>
      <p:pic>
        <p:nvPicPr>
          <p:cNvPr id="33796" name="图片 33795" descr="4queens-sequence"/>
          <p:cNvPicPr>
            <a:picLocks noChangeAspect="1"/>
          </p:cNvPicPr>
          <p:nvPr/>
        </p:nvPicPr>
        <p:blipFill>
          <a:blip r:embed="rId2"/>
          <a:stretch>
            <a:fillRect/>
          </a:stretch>
        </p:blipFill>
        <p:spPr>
          <a:xfrm>
            <a:off x="838200" y="3505200"/>
            <a:ext cx="7467600" cy="1860550"/>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34817"/>
          <p:cNvSpPr>
            <a:spLocks noGrp="1"/>
          </p:cNvSpPr>
          <p:nvPr>
            <p:ph type="title"/>
          </p:nvPr>
        </p:nvSpPr>
        <p:spPr/>
        <p:txBody>
          <a:bodyPr anchor="ctr">
            <a:noAutofit/>
          </a:bodyPr>
          <a:lstStyle/>
          <a:p>
            <a:r>
              <a:rPr lang="zh-CN" altLang="en-US" sz="3600"/>
              <a:t>爬山算法</a:t>
            </a:r>
            <a:r>
              <a:rPr lang="en-US" altLang="zh-CN" sz="3600"/>
              <a:t/>
            </a:r>
            <a:br>
              <a:rPr lang="en-US" altLang="zh-CN" sz="3600"/>
            </a:br>
            <a:r>
              <a:rPr lang="en-US" altLang="zh-CN" sz="3600"/>
              <a:t>Hill-climbing search</a:t>
            </a:r>
          </a:p>
        </p:txBody>
      </p:sp>
      <p:sp>
        <p:nvSpPr>
          <p:cNvPr id="34819" name="文本占位符 34818"/>
          <p:cNvSpPr>
            <a:spLocks noGrp="1"/>
          </p:cNvSpPr>
          <p:nvPr>
            <p:ph type="body" idx="1"/>
          </p:nvPr>
        </p:nvSpPr>
        <p:spPr/>
        <p:txBody>
          <a:bodyPr/>
          <a:lstStyle/>
          <a:p>
            <a:r>
              <a:rPr lang="en-US" altLang="zh-CN"/>
              <a:t>"</a:t>
            </a:r>
            <a:r>
              <a:rPr lang="zh-CN" altLang="en-US"/>
              <a:t>就像一个健忘的人在浓雾中爬珠峰</a:t>
            </a:r>
            <a:r>
              <a:rPr lang="en-US" altLang="zh-CN"/>
              <a:t>"
</a:t>
            </a:r>
          </a:p>
          <a:p>
            <a:endParaRPr lang="en-US" altLang="zh-CN"/>
          </a:p>
        </p:txBody>
      </p:sp>
      <p:pic>
        <p:nvPicPr>
          <p:cNvPr id="34820" name="图片 34819"/>
          <p:cNvPicPr>
            <a:picLocks noChangeAspect="1"/>
          </p:cNvPicPr>
          <p:nvPr/>
        </p:nvPicPr>
        <p:blipFill>
          <a:blip r:embed="rId3"/>
          <a:srcRect l="17969" t="27083" r="13281" b="36459"/>
          <a:stretch>
            <a:fillRect/>
          </a:stretch>
        </p:blipFill>
        <p:spPr>
          <a:xfrm>
            <a:off x="838200" y="2743200"/>
            <a:ext cx="7620000" cy="3030538"/>
          </a:xfrm>
          <a:prstGeom prst="rect">
            <a:avLst/>
          </a:prstGeom>
          <a:noFill/>
          <a:ln w="9525">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35841"/>
          <p:cNvSpPr>
            <a:spLocks noGrp="1"/>
          </p:cNvSpPr>
          <p:nvPr>
            <p:ph type="title"/>
          </p:nvPr>
        </p:nvSpPr>
        <p:spPr/>
        <p:txBody>
          <a:bodyPr anchor="ctr"/>
          <a:lstStyle/>
          <a:p>
            <a:r>
              <a:rPr lang="en-US" altLang="zh-CN"/>
              <a:t>Hill-climbing search</a:t>
            </a:r>
          </a:p>
        </p:txBody>
      </p:sp>
      <p:sp>
        <p:nvSpPr>
          <p:cNvPr id="35843" name="文本占位符 35842"/>
          <p:cNvSpPr>
            <a:spLocks noGrp="1"/>
          </p:cNvSpPr>
          <p:nvPr>
            <p:ph type="body" idx="1"/>
          </p:nvPr>
        </p:nvSpPr>
        <p:spPr/>
        <p:txBody>
          <a:bodyPr/>
          <a:lstStyle/>
          <a:p>
            <a:r>
              <a:rPr lang="zh-CN" altLang="en-US"/>
              <a:t>存在的问题</a:t>
            </a:r>
            <a:r>
              <a:rPr lang="en-US" altLang="zh-CN"/>
              <a:t>: </a:t>
            </a:r>
            <a:r>
              <a:rPr lang="zh-CN" altLang="en-US"/>
              <a:t>依赖于最初状态，可能陷入局部最优</a:t>
            </a:r>
            <a:endParaRPr lang="en-US" altLang="zh-CN"/>
          </a:p>
          <a:p>
            <a:endParaRPr lang="en-US" altLang="zh-CN"/>
          </a:p>
        </p:txBody>
      </p:sp>
      <p:pic>
        <p:nvPicPr>
          <p:cNvPr id="35844" name="图片 35843" descr="hill-climbing"/>
          <p:cNvPicPr>
            <a:picLocks noChangeAspect="1"/>
          </p:cNvPicPr>
          <p:nvPr/>
        </p:nvPicPr>
        <p:blipFill>
          <a:blip r:embed="rId3"/>
          <a:stretch>
            <a:fillRect/>
          </a:stretch>
        </p:blipFill>
        <p:spPr>
          <a:xfrm>
            <a:off x="1104900" y="3124200"/>
            <a:ext cx="6934200" cy="3890963"/>
          </a:xfrm>
          <a:prstGeom prst="rect">
            <a:avLst/>
          </a:prstGeom>
          <a:noFill/>
          <a:ln w="9525">
            <a:noFill/>
          </a:ln>
        </p:spPr>
      </p:pic>
      <p:pic>
        <p:nvPicPr>
          <p:cNvPr id="5" name="图片 4">
            <a:extLst>
              <a:ext uri="{FF2B5EF4-FFF2-40B4-BE49-F238E27FC236}">
                <a16:creationId xmlns:a16="http://schemas.microsoft.com/office/drawing/2014/main" xmlns="" id="{171829EF-A12C-4EB4-AAED-E97E1FD55F60}"/>
              </a:ext>
            </a:extLst>
          </p:cNvPr>
          <p:cNvPicPr>
            <a:picLocks noChangeAspect="1"/>
          </p:cNvPicPr>
          <p:nvPr/>
        </p:nvPicPr>
        <p:blipFill>
          <a:blip r:embed="rId4"/>
          <a:srcRect l="17969" t="27083" r="13281" b="36459"/>
          <a:stretch>
            <a:fillRect/>
          </a:stretch>
        </p:blipFill>
        <p:spPr>
          <a:xfrm>
            <a:off x="762000" y="69849"/>
            <a:ext cx="7620000" cy="3030538"/>
          </a:xfrm>
          <a:prstGeom prst="rect">
            <a:avLst/>
          </a:prstGeom>
          <a:noFill/>
          <a:ln w="9525">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用爬山算法求解</a:t>
            </a:r>
            <a:r>
              <a:rPr lang="en-US" altLang="zh-CN" dirty="0"/>
              <a:t>8</a:t>
            </a:r>
            <a:r>
              <a:rPr lang="zh-CN" altLang="en-US" dirty="0"/>
              <a:t>皇后</a:t>
            </a:r>
          </a:p>
        </p:txBody>
      </p:sp>
      <p:sp>
        <p:nvSpPr>
          <p:cNvPr id="3" name="内容占位符 2"/>
          <p:cNvSpPr>
            <a:spLocks noGrp="1"/>
          </p:cNvSpPr>
          <p:nvPr>
            <p:ph idx="1"/>
          </p:nvPr>
        </p:nvSpPr>
        <p:spPr>
          <a:xfrm>
            <a:off x="228600" y="2057401"/>
            <a:ext cx="4198513" cy="3394472"/>
          </a:xfrm>
        </p:spPr>
        <p:txBody>
          <a:bodyPr>
            <a:normAutofit fontScale="57500" lnSpcReduction="20000"/>
          </a:bodyPr>
          <a:lstStyle/>
          <a:p>
            <a:r>
              <a:rPr lang="zh-CN" altLang="en-US" dirty="0"/>
              <a:t>随机生成</a:t>
            </a:r>
            <a:r>
              <a:rPr lang="en-US" altLang="zh-CN" dirty="0"/>
              <a:t>8</a:t>
            </a:r>
            <a:r>
              <a:rPr lang="zh-CN" altLang="en-US" dirty="0"/>
              <a:t>皇后在棋盘上的排列作为初始状态</a:t>
            </a:r>
            <a:r>
              <a:rPr lang="en-US" altLang="zh-CN" dirty="0"/>
              <a:t>s </a:t>
            </a:r>
          </a:p>
          <a:p>
            <a:r>
              <a:rPr lang="zh-CN" altLang="en-US" dirty="0"/>
              <a:t>评估函数定义为能够相互攻击的皇后对数，取负数，比如</a:t>
            </a:r>
            <a:r>
              <a:rPr lang="en-US" altLang="zh-CN" dirty="0" err="1"/>
              <a:t>val</a:t>
            </a:r>
            <a:r>
              <a:rPr lang="en-US" altLang="zh-CN" dirty="0"/>
              <a:t>(s)=-17</a:t>
            </a:r>
          </a:p>
          <a:p>
            <a:r>
              <a:rPr lang="zh-CN" altLang="en-US" dirty="0"/>
              <a:t>某一列上的皇后，可换到其他</a:t>
            </a:r>
            <a:r>
              <a:rPr lang="en-US" altLang="zh-CN" dirty="0"/>
              <a:t>7</a:t>
            </a:r>
            <a:r>
              <a:rPr lang="zh-CN" altLang="en-US" dirty="0"/>
              <a:t>个位置，得到一个</a:t>
            </a:r>
            <a:r>
              <a:rPr lang="en-US" altLang="zh-CN" dirty="0"/>
              <a:t>s</a:t>
            </a:r>
            <a:r>
              <a:rPr lang="zh-CN" altLang="en-US" dirty="0"/>
              <a:t>的一个邻居</a:t>
            </a:r>
            <a:endParaRPr lang="en-US" altLang="zh-CN" dirty="0"/>
          </a:p>
          <a:p>
            <a:r>
              <a:rPr lang="zh-CN" altLang="en-US" dirty="0"/>
              <a:t>这样</a:t>
            </a:r>
            <a:r>
              <a:rPr lang="en-US" altLang="zh-CN" dirty="0"/>
              <a:t>s</a:t>
            </a:r>
            <a:r>
              <a:rPr lang="zh-CN" altLang="en-US" dirty="0"/>
              <a:t>一共有</a:t>
            </a:r>
            <a:r>
              <a:rPr lang="en-US" altLang="zh-CN" dirty="0"/>
              <a:t>8</a:t>
            </a:r>
            <a:r>
              <a:rPr lang="zh-CN" altLang="en-US" dirty="0"/>
              <a:t>*</a:t>
            </a:r>
            <a:r>
              <a:rPr lang="en-US" altLang="zh-CN" dirty="0"/>
              <a:t>7=56</a:t>
            </a:r>
            <a:r>
              <a:rPr lang="zh-CN" altLang="en-US" dirty="0"/>
              <a:t>个邻居</a:t>
            </a:r>
            <a:endParaRPr lang="en-US" altLang="zh-CN" dirty="0"/>
          </a:p>
          <a:p>
            <a:r>
              <a:rPr lang="zh-CN" altLang="en-US" dirty="0"/>
              <a:t>计算每个邻居的价值，选择最优（</a:t>
            </a:r>
            <a:r>
              <a:rPr lang="en-US" altLang="zh-CN" dirty="0" err="1"/>
              <a:t>val</a:t>
            </a:r>
            <a:r>
              <a:rPr lang="zh-CN" altLang="en-US" dirty="0"/>
              <a:t>最大）的邻居</a:t>
            </a:r>
            <a:r>
              <a:rPr lang="en-US" altLang="zh-CN" dirty="0"/>
              <a:t>s’</a:t>
            </a:r>
          </a:p>
          <a:p>
            <a:r>
              <a:rPr lang="zh-CN" altLang="en-US" dirty="0"/>
              <a:t>若</a:t>
            </a:r>
            <a:r>
              <a:rPr lang="en-US" altLang="zh-CN" dirty="0"/>
              <a:t>s’</a:t>
            </a:r>
            <a:r>
              <a:rPr lang="zh-CN" altLang="en-US" dirty="0"/>
              <a:t>的价值次于</a:t>
            </a:r>
            <a:r>
              <a:rPr lang="en-US" altLang="zh-CN" dirty="0"/>
              <a:t>s</a:t>
            </a:r>
            <a:r>
              <a:rPr lang="zh-CN" altLang="en-US" dirty="0"/>
              <a:t>，搜索停止；否则用</a:t>
            </a:r>
            <a:r>
              <a:rPr lang="en-US" altLang="zh-CN" dirty="0"/>
              <a:t>s’</a:t>
            </a:r>
            <a:r>
              <a:rPr lang="zh-CN" altLang="en-US" dirty="0"/>
              <a:t>替换</a:t>
            </a:r>
            <a:r>
              <a:rPr lang="en-US" altLang="zh-CN" dirty="0"/>
              <a:t>s</a:t>
            </a:r>
            <a:r>
              <a:rPr lang="zh-CN" altLang="en-US" dirty="0"/>
              <a:t>，重复上述步骤</a:t>
            </a:r>
            <a:endParaRPr lang="en-US" altLang="zh-CN" dirty="0"/>
          </a:p>
          <a:p>
            <a:r>
              <a:rPr lang="zh-CN" altLang="en-US" dirty="0"/>
              <a:t>右图所示，从</a:t>
            </a:r>
            <a:r>
              <a:rPr lang="en-US" altLang="zh-CN" dirty="0"/>
              <a:t>s</a:t>
            </a:r>
            <a:r>
              <a:rPr lang="zh-CN" altLang="en-US" dirty="0"/>
              <a:t>出发，将得到一个局部最优解</a:t>
            </a:r>
            <a:r>
              <a:rPr lang="en-US" altLang="zh-CN" dirty="0" err="1"/>
              <a:t>s</a:t>
            </a:r>
            <a:r>
              <a:rPr lang="en-US" altLang="zh-CN" sz="1725" dirty="0" err="1"/>
              <a:t>m</a:t>
            </a:r>
            <a:r>
              <a:rPr lang="en-US" altLang="zh-CN" dirty="0"/>
              <a:t>, </a:t>
            </a:r>
            <a:r>
              <a:rPr lang="en-US" altLang="zh-CN" dirty="0" err="1"/>
              <a:t>val</a:t>
            </a:r>
            <a:r>
              <a:rPr lang="en-US" altLang="zh-CN" dirty="0"/>
              <a:t>(</a:t>
            </a:r>
            <a:r>
              <a:rPr lang="en-US" altLang="zh-CN" dirty="0" err="1"/>
              <a:t>s</a:t>
            </a:r>
            <a:r>
              <a:rPr lang="en-US" altLang="zh-CN" sz="1725" dirty="0" err="1"/>
              <a:t>m</a:t>
            </a:r>
            <a:r>
              <a:rPr lang="en-US" altLang="zh-CN" dirty="0"/>
              <a:t>)=-1</a:t>
            </a:r>
          </a:p>
          <a:p>
            <a:endParaRPr lang="en-US" altLang="zh-CN" dirty="0"/>
          </a:p>
          <a:p>
            <a:endParaRPr lang="zh-CN" altLang="en-US" dirty="0"/>
          </a:p>
        </p:txBody>
      </p:sp>
      <p:pic>
        <p:nvPicPr>
          <p:cNvPr id="4" name="图片 3"/>
          <p:cNvPicPr>
            <a:picLocks noChangeAspect="1"/>
          </p:cNvPicPr>
          <p:nvPr/>
        </p:nvPicPr>
        <p:blipFill>
          <a:blip r:embed="rId3"/>
          <a:stretch>
            <a:fillRect/>
          </a:stretch>
        </p:blipFill>
        <p:spPr>
          <a:xfrm>
            <a:off x="4655797" y="2057401"/>
            <a:ext cx="4457846" cy="2102074"/>
          </a:xfrm>
          <a:prstGeom prst="rect">
            <a:avLst/>
          </a:prstGeom>
        </p:spPr>
      </p:pic>
      <p:sp>
        <p:nvSpPr>
          <p:cNvPr id="5" name="矩形 4"/>
          <p:cNvSpPr/>
          <p:nvPr/>
        </p:nvSpPr>
        <p:spPr>
          <a:xfrm>
            <a:off x="5759807" y="3974372"/>
            <a:ext cx="313690" cy="460375"/>
          </a:xfrm>
          <a:prstGeom prst="rect">
            <a:avLst/>
          </a:prstGeom>
        </p:spPr>
        <p:txBody>
          <a:bodyPr wrap="none">
            <a:spAutoFit/>
          </a:bodyPr>
          <a:lstStyle/>
          <a:p>
            <a:r>
              <a:rPr lang="en-US" altLang="zh-CN" sz="2400" dirty="0"/>
              <a:t>s</a:t>
            </a:r>
            <a:endParaRPr lang="zh-CN" altLang="en-US" sz="2400" dirty="0"/>
          </a:p>
        </p:txBody>
      </p:sp>
      <p:sp>
        <p:nvSpPr>
          <p:cNvPr id="6" name="矩形 5"/>
          <p:cNvSpPr/>
          <p:nvPr/>
        </p:nvSpPr>
        <p:spPr>
          <a:xfrm>
            <a:off x="7931507" y="3940184"/>
            <a:ext cx="472440" cy="460375"/>
          </a:xfrm>
          <a:prstGeom prst="rect">
            <a:avLst/>
          </a:prstGeom>
        </p:spPr>
        <p:txBody>
          <a:bodyPr wrap="none">
            <a:spAutoFit/>
          </a:bodyPr>
          <a:lstStyle/>
          <a:p>
            <a:r>
              <a:rPr lang="en-US" altLang="zh-CN" sz="2400" dirty="0" err="1"/>
              <a:t>s</a:t>
            </a:r>
            <a:r>
              <a:rPr lang="en-US" altLang="zh-CN" sz="1500" dirty="0" err="1"/>
              <a:t>m</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讨论</a:t>
            </a:r>
          </a:p>
        </p:txBody>
      </p:sp>
      <p:sp>
        <p:nvSpPr>
          <p:cNvPr id="3" name="内容占位符 2"/>
          <p:cNvSpPr>
            <a:spLocks noGrp="1"/>
          </p:cNvSpPr>
          <p:nvPr>
            <p:ph idx="1"/>
          </p:nvPr>
        </p:nvSpPr>
        <p:spPr/>
        <p:txBody>
          <a:bodyPr>
            <a:normAutofit fontScale="87500" lnSpcReduction="20000"/>
          </a:bodyPr>
          <a:lstStyle/>
          <a:p>
            <a:r>
              <a:rPr lang="zh-CN" altLang="en-US" dirty="0"/>
              <a:t>效率高，采用基本的爬山算法可以解决</a:t>
            </a:r>
            <a:r>
              <a:rPr lang="en-US" altLang="zh-CN" dirty="0"/>
              <a:t>128</a:t>
            </a:r>
            <a:r>
              <a:rPr lang="zh-CN" altLang="en-US" dirty="0"/>
              <a:t>皇后（</a:t>
            </a:r>
            <a:r>
              <a:rPr lang="zh-CN" altLang="en-US" dirty="0">
                <a:solidFill>
                  <a:srgbClr val="FF0000"/>
                </a:solidFill>
              </a:rPr>
              <a:t>可以演示</a:t>
            </a:r>
            <a:r>
              <a:rPr lang="zh-CN" altLang="en-US" dirty="0"/>
              <a:t>）</a:t>
            </a:r>
          </a:p>
          <a:p>
            <a:r>
              <a:rPr lang="zh-CN" altLang="en-US" dirty="0"/>
              <a:t>文献中记载，可以解决</a:t>
            </a:r>
            <a:r>
              <a:rPr lang="en-US" altLang="zh-CN" dirty="0"/>
              <a:t>3000</a:t>
            </a:r>
            <a:r>
              <a:rPr lang="zh-CN" altLang="en-US" dirty="0"/>
              <a:t>，</a:t>
            </a:r>
            <a:r>
              <a:rPr lang="en-US" altLang="zh-CN" dirty="0"/>
              <a:t>000</a:t>
            </a:r>
            <a:r>
              <a:rPr lang="zh-CN" altLang="en-US" dirty="0"/>
              <a:t>皇后 </a:t>
            </a:r>
            <a:endParaRPr lang="en-US" altLang="zh-CN" dirty="0"/>
          </a:p>
          <a:p>
            <a:pPr lvl="1"/>
            <a:r>
              <a:rPr lang="en-US" altLang="zh-CN" dirty="0" err="1"/>
              <a:t>Rok</a:t>
            </a:r>
            <a:r>
              <a:rPr lang="en-US" altLang="zh-CN" dirty="0"/>
              <a:t> </a:t>
            </a:r>
            <a:r>
              <a:rPr lang="en-US" altLang="zh-CN" dirty="0" err="1"/>
              <a:t>Sosic</a:t>
            </a:r>
            <a:r>
              <a:rPr lang="en-US" altLang="zh-CN" dirty="0"/>
              <a:t> and Jun </a:t>
            </a:r>
            <a:r>
              <a:rPr lang="en-US" altLang="zh-CN" dirty="0" err="1"/>
              <a:t>Gu</a:t>
            </a:r>
            <a:r>
              <a:rPr lang="en-US" altLang="zh-CN" dirty="0"/>
              <a:t>. 3,000,000 Queens in less than one minute. SIGART Bull. 1991</a:t>
            </a:r>
          </a:p>
          <a:p>
            <a:r>
              <a:rPr lang="zh-CN" altLang="en-US" dirty="0"/>
              <a:t>一般难以找到全局最优解</a:t>
            </a:r>
            <a:endParaRPr lang="en-US" altLang="zh-CN" dirty="0"/>
          </a:p>
          <a:p>
            <a:r>
              <a:rPr lang="zh-CN" altLang="en-US" dirty="0">
                <a:solidFill>
                  <a:srgbClr val="FF0000"/>
                </a:solidFill>
              </a:rPr>
              <a:t>不用保存状态</a:t>
            </a:r>
            <a:r>
              <a:rPr lang="zh-CN" altLang="en-US" dirty="0"/>
              <a:t>队列，每次仅在</a:t>
            </a:r>
            <a:r>
              <a:rPr lang="zh-CN" altLang="en-US" dirty="0">
                <a:solidFill>
                  <a:srgbClr val="FF0000"/>
                </a:solidFill>
              </a:rPr>
              <a:t>当前状态的局部范围</a:t>
            </a:r>
            <a:r>
              <a:rPr lang="zh-CN" altLang="en-US" dirty="0"/>
              <a:t>内进行搜索，因此被归入</a:t>
            </a:r>
            <a:r>
              <a:rPr lang="zh-CN" altLang="en-US" i="1" dirty="0"/>
              <a:t>局部搜索</a:t>
            </a:r>
            <a:r>
              <a:rPr lang="zh-CN" altLang="en-US" dirty="0"/>
              <a:t>方法</a:t>
            </a:r>
            <a:endParaRPr lang="en-US" altLang="zh-CN" dirty="0"/>
          </a:p>
          <a:p>
            <a:r>
              <a:rPr lang="zh-CN" altLang="en-US" dirty="0"/>
              <a:t>受制于问题状态空间的形态</a:t>
            </a:r>
            <a:endParaRPr lang="en-US" altLang="zh-CN" dirty="0"/>
          </a:p>
          <a:p>
            <a:r>
              <a:rPr lang="zh-CN" altLang="en-US" dirty="0"/>
              <a:t>若有多个邻居具有相同的最高价值，则从中随机选择一个邻居继续搜索（注意重复）</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改进策略</a:t>
            </a:r>
          </a:p>
        </p:txBody>
      </p:sp>
      <p:sp>
        <p:nvSpPr>
          <p:cNvPr id="3" name="内容占位符 2"/>
          <p:cNvSpPr>
            <a:spLocks noGrp="1"/>
          </p:cNvSpPr>
          <p:nvPr>
            <p:ph idx="1"/>
          </p:nvPr>
        </p:nvSpPr>
        <p:spPr/>
        <p:txBody>
          <a:bodyPr/>
          <a:lstStyle/>
          <a:p>
            <a:r>
              <a:rPr lang="zh-CN" altLang="en-US" dirty="0"/>
              <a:t>多次</a:t>
            </a:r>
            <a:r>
              <a:rPr lang="en-US" altLang="zh-CN" dirty="0"/>
              <a:t>random restart</a:t>
            </a:r>
          </a:p>
          <a:p>
            <a:pPr lvl="1"/>
            <a:r>
              <a:rPr lang="zh-CN" altLang="en-US" dirty="0"/>
              <a:t>若每次找到最优解的概率为</a:t>
            </a:r>
            <a:r>
              <a:rPr lang="en-US" altLang="zh-CN" dirty="0"/>
              <a:t>p</a:t>
            </a:r>
            <a:r>
              <a:rPr lang="zh-CN" altLang="en-US" dirty="0"/>
              <a:t>，则平均需要</a:t>
            </a:r>
            <a:r>
              <a:rPr lang="en-US" altLang="zh-CN" dirty="0"/>
              <a:t>1/p</a:t>
            </a:r>
            <a:r>
              <a:rPr lang="zh-CN" altLang="en-US" dirty="0"/>
              <a:t>次</a:t>
            </a:r>
            <a:r>
              <a:rPr lang="en-US" altLang="zh-CN" dirty="0"/>
              <a:t>restart</a:t>
            </a:r>
            <a:r>
              <a:rPr lang="zh-CN" altLang="en-US" dirty="0"/>
              <a:t>就能找到最优解</a:t>
            </a:r>
            <a:endParaRPr lang="en-US" altLang="zh-CN" dirty="0"/>
          </a:p>
          <a:p>
            <a:pPr lvl="1"/>
            <a:endParaRPr lang="en-US" altLang="zh-CN" dirty="0"/>
          </a:p>
          <a:p>
            <a:pPr lvl="1"/>
            <a:endParaRPr lang="en-US" altLang="zh-CN" dirty="0"/>
          </a:p>
          <a:p>
            <a:pPr lvl="2"/>
            <a:endParaRPr lang="en-US" altLang="zh-CN" dirty="0"/>
          </a:p>
          <a:p>
            <a:endParaRPr lang="en-US" altLang="zh-CN" dirty="0"/>
          </a:p>
          <a:p>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改进策略 续</a:t>
            </a:r>
          </a:p>
        </p:txBody>
      </p:sp>
      <p:sp>
        <p:nvSpPr>
          <p:cNvPr id="3" name="内容占位符 2"/>
          <p:cNvSpPr>
            <a:spLocks noGrp="1"/>
          </p:cNvSpPr>
          <p:nvPr>
            <p:ph idx="1"/>
          </p:nvPr>
        </p:nvSpPr>
        <p:spPr>
          <a:xfrm>
            <a:off x="90152" y="1920479"/>
            <a:ext cx="8229600" cy="3394472"/>
          </a:xfrm>
        </p:spPr>
        <p:txBody>
          <a:bodyPr/>
          <a:lstStyle/>
          <a:p>
            <a:r>
              <a:rPr lang="zh-CN" altLang="en-US" dirty="0"/>
              <a:t>允许用价值相同的邻居取代当前状态 </a:t>
            </a:r>
            <a:r>
              <a:rPr lang="en-US" altLang="zh-CN" dirty="0"/>
              <a:t>sideways move</a:t>
            </a:r>
          </a:p>
          <a:p>
            <a:pPr lvl="1"/>
            <a:r>
              <a:rPr lang="zh-CN" altLang="en-US" dirty="0"/>
              <a:t>要注意避免死循环</a:t>
            </a:r>
            <a:endParaRPr lang="en-US" altLang="zh-CN" dirty="0"/>
          </a:p>
          <a:p>
            <a:pPr lvl="1"/>
            <a:r>
              <a:rPr lang="zh-CN" altLang="en-US" dirty="0"/>
              <a:t>一般要限制连续</a:t>
            </a:r>
            <a:r>
              <a:rPr lang="en-US" altLang="zh-CN" dirty="0"/>
              <a:t/>
            </a:r>
            <a:br>
              <a:rPr lang="en-US" altLang="zh-CN" dirty="0"/>
            </a:br>
            <a:r>
              <a:rPr lang="en-US" altLang="zh-CN" dirty="0"/>
              <a:t>sideways move </a:t>
            </a:r>
            <a:r>
              <a:rPr lang="zh-CN" altLang="en-US" dirty="0"/>
              <a:t>次数 </a:t>
            </a:r>
            <a:endParaRPr lang="en-US" altLang="zh-CN" dirty="0"/>
          </a:p>
          <a:p>
            <a:endParaRPr lang="zh-CN" altLang="en-US" dirty="0"/>
          </a:p>
        </p:txBody>
      </p:sp>
      <p:pic>
        <p:nvPicPr>
          <p:cNvPr id="9" name="图片 8"/>
          <p:cNvPicPr>
            <a:picLocks noChangeAspect="1"/>
          </p:cNvPicPr>
          <p:nvPr/>
        </p:nvPicPr>
        <p:blipFill>
          <a:blip r:embed="rId3"/>
          <a:stretch>
            <a:fillRect/>
          </a:stretch>
        </p:blipFill>
        <p:spPr>
          <a:xfrm>
            <a:off x="3133107" y="2531312"/>
            <a:ext cx="5697071" cy="29333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变种</a:t>
            </a:r>
          </a:p>
        </p:txBody>
      </p:sp>
      <p:sp>
        <p:nvSpPr>
          <p:cNvPr id="3" name="内容占位符 2"/>
          <p:cNvSpPr>
            <a:spLocks noGrp="1"/>
          </p:cNvSpPr>
          <p:nvPr>
            <p:ph idx="1"/>
          </p:nvPr>
        </p:nvSpPr>
        <p:spPr/>
        <p:txBody>
          <a:bodyPr/>
          <a:lstStyle/>
          <a:p>
            <a:r>
              <a:rPr lang="zh-CN" altLang="en-US" dirty="0"/>
              <a:t>随机爬山法：</a:t>
            </a:r>
            <a:endParaRPr lang="en-US" altLang="zh-CN" dirty="0"/>
          </a:p>
          <a:p>
            <a:pPr lvl="1"/>
            <a:r>
              <a:rPr lang="zh-CN" altLang="en-US" dirty="0"/>
              <a:t>在上山移动中，随机选择下一步，选择的概率与</a:t>
            </a:r>
            <a:r>
              <a:rPr lang="zh-CN" altLang="en-US" dirty="0">
                <a:solidFill>
                  <a:srgbClr val="FF0000"/>
                </a:solidFill>
              </a:rPr>
              <a:t>陡峭程度</a:t>
            </a:r>
            <a:r>
              <a:rPr lang="zh-CN" altLang="en-US" dirty="0"/>
              <a:t>成正比</a:t>
            </a:r>
            <a:endParaRPr lang="en-US" altLang="zh-CN" dirty="0"/>
          </a:p>
          <a:p>
            <a:endParaRPr lang="en-US" altLang="zh-CN" dirty="0"/>
          </a:p>
          <a:p>
            <a:r>
              <a:rPr lang="zh-CN" altLang="en-US" dirty="0"/>
              <a:t>首选爬山法</a:t>
            </a:r>
            <a:endParaRPr lang="en-US" altLang="zh-CN" dirty="0"/>
          </a:p>
          <a:p>
            <a:pPr lvl="1"/>
            <a:r>
              <a:rPr lang="zh-CN" altLang="en-US" dirty="0"/>
              <a:t>随机地生成后继节点直到生成一个优于当前节点的后继</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课堂练习</a:t>
            </a:r>
          </a:p>
        </p:txBody>
      </p:sp>
      <p:sp>
        <p:nvSpPr>
          <p:cNvPr id="3" name="内容占位符 2"/>
          <p:cNvSpPr>
            <a:spLocks noGrp="1"/>
          </p:cNvSpPr>
          <p:nvPr>
            <p:ph idx="1"/>
          </p:nvPr>
        </p:nvSpPr>
        <p:spPr/>
        <p:txBody>
          <a:bodyPr/>
          <a:lstStyle/>
          <a:p>
            <a:r>
              <a:rPr lang="zh-CN" altLang="en-US" dirty="0"/>
              <a:t>用爬山算法的思想来求解 </a:t>
            </a:r>
            <a:r>
              <a:rPr lang="en-US" altLang="zh-CN" i="1" dirty="0"/>
              <a:t>n </a:t>
            </a:r>
            <a:r>
              <a:rPr lang="zh-CN" altLang="en-US" dirty="0"/>
              <a:t>皇后，要求至少解决</a:t>
            </a:r>
            <a:r>
              <a:rPr lang="en-US" altLang="zh-CN" dirty="0"/>
              <a:t>128</a:t>
            </a:r>
            <a:r>
              <a:rPr lang="zh-CN" altLang="en-US" dirty="0"/>
              <a:t>皇后</a:t>
            </a:r>
            <a:endParaRPr lang="en-US" altLang="zh-CN" dirty="0"/>
          </a:p>
          <a:p>
            <a:r>
              <a:rPr lang="zh-CN" altLang="en-US" dirty="0"/>
              <a:t>补充完成</a:t>
            </a:r>
            <a:r>
              <a:rPr lang="en-US" altLang="zh-CN" dirty="0" err="1"/>
              <a:t>try_once</a:t>
            </a:r>
            <a:r>
              <a:rPr lang="zh-CN" altLang="en-US" dirty="0"/>
              <a:t>函数</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38913"/>
          <p:cNvSpPr>
            <a:spLocks noGrp="1"/>
          </p:cNvSpPr>
          <p:nvPr>
            <p:ph type="title"/>
          </p:nvPr>
        </p:nvSpPr>
        <p:spPr/>
        <p:txBody>
          <a:bodyPr anchor="ctr">
            <a:noAutofit/>
          </a:bodyPr>
          <a:lstStyle/>
          <a:p>
            <a:r>
              <a:rPr lang="zh-CN" altLang="en-US" sz="3200"/>
              <a:t>模拟退火搜索</a:t>
            </a:r>
            <a:r>
              <a:rPr lang="en-US" altLang="zh-CN" sz="3200"/>
              <a:t/>
            </a:r>
            <a:br>
              <a:rPr lang="en-US" altLang="zh-CN" sz="3200"/>
            </a:br>
            <a:r>
              <a:rPr lang="en-US" altLang="zh-CN" sz="3200"/>
              <a:t>Simulated annealing search</a:t>
            </a:r>
          </a:p>
        </p:txBody>
      </p:sp>
      <p:sp>
        <p:nvSpPr>
          <p:cNvPr id="38915" name="文本占位符 38914"/>
          <p:cNvSpPr>
            <a:spLocks noGrp="1"/>
          </p:cNvSpPr>
          <p:nvPr>
            <p:ph type="body" idx="1"/>
          </p:nvPr>
        </p:nvSpPr>
        <p:spPr/>
        <p:txBody>
          <a:bodyPr/>
          <a:lstStyle/>
          <a:p>
            <a:r>
              <a:rPr lang="zh-CN" altLang="en-US" sz="2800"/>
              <a:t>思想</a:t>
            </a:r>
            <a:r>
              <a:rPr lang="en-US" altLang="zh-CN" sz="2800"/>
              <a:t>: </a:t>
            </a:r>
            <a:r>
              <a:rPr lang="zh-CN" altLang="en-US" sz="2800"/>
              <a:t>为避免陷入局部最优，允许一些</a:t>
            </a:r>
            <a:r>
              <a:rPr lang="en-US" altLang="zh-CN" sz="2800"/>
              <a:t>“</a:t>
            </a:r>
            <a:r>
              <a:rPr lang="zh-CN" altLang="en-US" sz="2800"/>
              <a:t>坏</a:t>
            </a:r>
            <a:r>
              <a:rPr lang="en-US" altLang="zh-CN" sz="2800"/>
              <a:t>”</a:t>
            </a:r>
            <a:r>
              <a:rPr lang="zh-CN" altLang="en-US" sz="2800"/>
              <a:t>的移动，但是要逐渐减少</a:t>
            </a:r>
            <a:r>
              <a:rPr lang="en-US" altLang="zh-CN" sz="2800"/>
              <a:t>“</a:t>
            </a:r>
            <a:r>
              <a:rPr lang="zh-CN" altLang="en-US" sz="2800">
                <a:sym typeface="+mn-ea"/>
              </a:rPr>
              <a:t>坏</a:t>
            </a:r>
            <a:r>
              <a:rPr lang="en-US" altLang="zh-CN" sz="2800"/>
              <a:t>”</a:t>
            </a:r>
            <a:r>
              <a:rPr lang="zh-CN" altLang="en-US" sz="2800"/>
              <a:t>移动的频率</a:t>
            </a:r>
            <a:r>
              <a:rPr lang="en-US" altLang="zh-CN" sz="2800"/>
              <a:t>
</a:t>
            </a:r>
          </a:p>
          <a:p>
            <a:endParaRPr lang="en-US" altLang="zh-CN" sz="2800"/>
          </a:p>
        </p:txBody>
      </p:sp>
      <p:pic>
        <p:nvPicPr>
          <p:cNvPr id="38916" name="图片 38915"/>
          <p:cNvPicPr>
            <a:picLocks noChangeAspect="1"/>
          </p:cNvPicPr>
          <p:nvPr/>
        </p:nvPicPr>
        <p:blipFill>
          <a:blip r:embed="rId3"/>
          <a:srcRect l="17969" t="31250" r="13281" b="17709"/>
          <a:stretch>
            <a:fillRect/>
          </a:stretch>
        </p:blipFill>
        <p:spPr>
          <a:xfrm>
            <a:off x="1022985" y="2521585"/>
            <a:ext cx="7098665" cy="3953510"/>
          </a:xfrm>
          <a:prstGeom prst="rect">
            <a:avLst/>
          </a:prstGeom>
          <a:noFill/>
          <a:ln w="9525">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模拟退火搜索</a:t>
            </a:r>
            <a:r>
              <a:rPr lang="en-US" altLang="zh-CN" dirty="0"/>
              <a:t/>
            </a:r>
            <a:br>
              <a:rPr lang="en-US" altLang="zh-CN" dirty="0"/>
            </a:br>
            <a:r>
              <a:rPr lang="en-US" altLang="zh-CN" dirty="0"/>
              <a:t>Simulated annealing search</a:t>
            </a:r>
            <a:endParaRPr lang="zh-CN" altLang="en-US" dirty="0"/>
          </a:p>
        </p:txBody>
      </p:sp>
      <p:sp>
        <p:nvSpPr>
          <p:cNvPr id="3" name="内容占位符 2"/>
          <p:cNvSpPr>
            <a:spLocks noGrp="1"/>
          </p:cNvSpPr>
          <p:nvPr>
            <p:ph idx="1"/>
          </p:nvPr>
        </p:nvSpPr>
        <p:spPr>
          <a:xfrm>
            <a:off x="0" y="1600200"/>
            <a:ext cx="9144000" cy="5257800"/>
          </a:xfrm>
        </p:spPr>
        <p:txBody>
          <a:bodyPr>
            <a:normAutofit fontScale="92500" lnSpcReduction="10000"/>
          </a:bodyPr>
          <a:lstStyle/>
          <a:p>
            <a:r>
              <a:rPr lang="zh-CN" altLang="en-US" dirty="0"/>
              <a:t>模拟退火算法（</a:t>
            </a:r>
            <a:r>
              <a:rPr lang="en-US" altLang="zh-CN" dirty="0"/>
              <a:t>Simulate Anneal</a:t>
            </a:r>
            <a:r>
              <a:rPr lang="zh-CN" altLang="en-US" dirty="0"/>
              <a:t>，</a:t>
            </a:r>
            <a:r>
              <a:rPr lang="en-US" altLang="zh-CN" dirty="0"/>
              <a:t>SA</a:t>
            </a:r>
            <a:r>
              <a:rPr lang="zh-CN" altLang="en-US" dirty="0"/>
              <a:t>）是一种通用概率演算法，用来在一个大的搜寻空间内找寻命题的最优解。模拟退火是由</a:t>
            </a:r>
            <a:r>
              <a:rPr lang="en-US" altLang="zh-CN" dirty="0" err="1"/>
              <a:t>S.Kirkpatrick</a:t>
            </a:r>
            <a:r>
              <a:rPr lang="en-US" altLang="zh-CN" dirty="0"/>
              <a:t>, </a:t>
            </a:r>
            <a:r>
              <a:rPr lang="en-US" altLang="zh-CN" dirty="0" err="1"/>
              <a:t>C.D.Gelatt</a:t>
            </a:r>
            <a:r>
              <a:rPr lang="zh-CN" altLang="en-US" dirty="0"/>
              <a:t>和</a:t>
            </a:r>
            <a:r>
              <a:rPr lang="en-US" altLang="zh-CN" dirty="0" err="1"/>
              <a:t>M.P.Vecchi</a:t>
            </a:r>
            <a:r>
              <a:rPr lang="zh-CN" altLang="en-US" dirty="0"/>
              <a:t>在</a:t>
            </a:r>
            <a:r>
              <a:rPr lang="en-US" altLang="zh-CN" dirty="0"/>
              <a:t>1983</a:t>
            </a:r>
            <a:r>
              <a:rPr lang="zh-CN" altLang="en-US" dirty="0"/>
              <a:t>年所发明的。</a:t>
            </a:r>
            <a:r>
              <a:rPr lang="en-US" altLang="zh-CN" dirty="0" err="1"/>
              <a:t>V.Čern&amp;yacute</a:t>
            </a:r>
            <a:r>
              <a:rPr lang="en-US" altLang="zh-CN" dirty="0"/>
              <a:t> </a:t>
            </a:r>
            <a:r>
              <a:rPr lang="zh-CN" altLang="en-US" dirty="0"/>
              <a:t>在</a:t>
            </a:r>
            <a:r>
              <a:rPr lang="en-US" altLang="zh-CN" dirty="0"/>
              <a:t>1985</a:t>
            </a:r>
            <a:r>
              <a:rPr lang="zh-CN" altLang="en-US" dirty="0"/>
              <a:t>年也独立发明此演算法。</a:t>
            </a:r>
            <a:endParaRPr lang="en-US" altLang="zh-CN" dirty="0"/>
          </a:p>
          <a:p>
            <a:r>
              <a:rPr lang="zh-CN" altLang="en-US" dirty="0"/>
              <a:t>模拟退火算法是解决旅行商问题的有效方法之一。</a:t>
            </a:r>
          </a:p>
          <a:p>
            <a:r>
              <a:rPr lang="zh-CN" altLang="en-US" dirty="0"/>
              <a:t>模拟退火的出发点是基于物理中固体物质的退火过程与一般组合优化问题之间的相似性。</a:t>
            </a:r>
            <a:endParaRPr lang="en-US" altLang="zh-CN" dirty="0"/>
          </a:p>
          <a:p>
            <a:r>
              <a:rPr lang="zh-CN" altLang="en-US" dirty="0"/>
              <a:t>模拟退火算法是一种通用的优化算法，其物理退火过程由加温过程、等温过程、冷却过程这三部分组成。</a:t>
            </a:r>
          </a:p>
        </p:txBody>
      </p:sp>
    </p:spTree>
    <p:extLst>
      <p:ext uri="{BB962C8B-B14F-4D97-AF65-F5344CB8AC3E}">
        <p14:creationId xmlns:p14="http://schemas.microsoft.com/office/powerpoint/2010/main" val="12069260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原理</a:t>
            </a:r>
          </a:p>
        </p:txBody>
      </p:sp>
      <p:sp>
        <p:nvSpPr>
          <p:cNvPr id="3" name="内容占位符 2"/>
          <p:cNvSpPr>
            <a:spLocks noGrp="1"/>
          </p:cNvSpPr>
          <p:nvPr>
            <p:ph idx="1"/>
          </p:nvPr>
        </p:nvSpPr>
        <p:spPr>
          <a:xfrm>
            <a:off x="0" y="1600200"/>
            <a:ext cx="9144000" cy="5257800"/>
          </a:xfrm>
        </p:spPr>
        <p:txBody>
          <a:bodyPr/>
          <a:lstStyle/>
          <a:p>
            <a:r>
              <a:rPr lang="zh-CN" altLang="en-US" dirty="0"/>
              <a:t>模拟退火的原理也和金属退火的原理近似：将热力学的理论套用到统计学上，将搜寻空间内每一点想像成空气内的分子；分子的能量，就是它本身的动能；而搜寻空间内的每一点，也像空气分子一样带有“能量”，以表示该点对命题的合适程度。</a:t>
            </a:r>
            <a:endParaRPr lang="en-US" altLang="zh-CN" dirty="0"/>
          </a:p>
          <a:p>
            <a:r>
              <a:rPr lang="zh-CN" altLang="en-US" dirty="0"/>
              <a:t>演算法先以搜寻空间内一个任意点作起始：每一步先选择一个“邻居”，然后再计算从现有位置到达“邻居”的概率。</a:t>
            </a:r>
          </a:p>
        </p:txBody>
      </p:sp>
    </p:spTree>
    <p:extLst>
      <p:ext uri="{BB962C8B-B14F-4D97-AF65-F5344CB8AC3E}">
        <p14:creationId xmlns:p14="http://schemas.microsoft.com/office/powerpoint/2010/main" val="2404376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304800"/>
            <a:ext cx="9144000" cy="6858000"/>
          </a:xfrm>
        </p:spPr>
        <p:txBody>
          <a:bodyPr>
            <a:noAutofit/>
          </a:bodyPr>
          <a:lstStyle/>
          <a:p>
            <a:r>
              <a:rPr lang="zh-CN" altLang="en-US" sz="2800" dirty="0"/>
              <a:t>模拟退火算法新解的产生和接受可分为如下四个步骤：</a:t>
            </a:r>
          </a:p>
          <a:p>
            <a:r>
              <a:rPr lang="zh-CN" altLang="en-US" sz="2800" dirty="0"/>
              <a:t>第一步是由一个产生函数从当前解产生一个位于解空间的新解；为便于后续的计算和接受，减少算法耗时，通常选择由当前新解经过简单地变换即可产生新解的方法，如对构成新解的全部或部分元素进行置换、互换等，注意到产生新解的变换方法决定了当前新解的邻域结构，因而对冷却进度表的选取有一定的影响。</a:t>
            </a:r>
          </a:p>
          <a:p>
            <a:r>
              <a:rPr lang="zh-CN" altLang="en-US" sz="2800" dirty="0"/>
              <a:t>第二步是计算与新解所对应的目标函数差。因为目标函数差仅由变换部分产生，所以目标函数差的计算最好按增量计算。事实表明，对大多数应用而言，这是计算目标函数差的最快方法。</a:t>
            </a:r>
          </a:p>
          <a:p>
            <a:endParaRPr lang="zh-CN" altLang="en-US" sz="2800" dirty="0"/>
          </a:p>
        </p:txBody>
      </p:sp>
    </p:spTree>
    <p:extLst>
      <p:ext uri="{BB962C8B-B14F-4D97-AF65-F5344CB8AC3E}">
        <p14:creationId xmlns:p14="http://schemas.microsoft.com/office/powerpoint/2010/main" val="18912517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0480" y="609600"/>
            <a:ext cx="8763000" cy="6001643"/>
          </a:xfrm>
          <a:prstGeom prst="rect">
            <a:avLst/>
          </a:prstGeom>
        </p:spPr>
        <p:txBody>
          <a:bodyPr wrap="square">
            <a:spAutoFit/>
          </a:bodyPr>
          <a:lstStyle/>
          <a:p>
            <a:r>
              <a:rPr lang="zh-CN" altLang="en-US" sz="2400" dirty="0"/>
              <a:t>第三步是判断新解是否被接受，判断的依据是一个接受准则，最常用的接受准则是</a:t>
            </a:r>
            <a:r>
              <a:rPr lang="en-US" altLang="zh-CN" sz="2400" dirty="0"/>
              <a:t>Metropolis</a:t>
            </a:r>
            <a:r>
              <a:rPr lang="zh-CN" altLang="en-US" sz="2400" dirty="0"/>
              <a:t>准则</a:t>
            </a:r>
            <a:r>
              <a:rPr lang="en-US" altLang="zh-CN" sz="2400" dirty="0"/>
              <a:t>: </a:t>
            </a:r>
            <a:r>
              <a:rPr lang="zh-CN" altLang="en-US" sz="2400" dirty="0"/>
              <a:t>若</a:t>
            </a:r>
            <a:r>
              <a:rPr lang="en-US" altLang="zh-CN" sz="2400" dirty="0" err="1"/>
              <a:t>Δt</a:t>
            </a:r>
            <a:r>
              <a:rPr lang="en-US" altLang="zh-CN" sz="2400" dirty="0"/>
              <a:t>′&lt;0</a:t>
            </a:r>
            <a:r>
              <a:rPr lang="zh-CN" altLang="en-US" sz="2400" dirty="0"/>
              <a:t>则接受</a:t>
            </a:r>
            <a:r>
              <a:rPr lang="en-US" altLang="zh-CN" sz="2400" dirty="0"/>
              <a:t>S′</a:t>
            </a:r>
            <a:r>
              <a:rPr lang="zh-CN" altLang="en-US" sz="2400" dirty="0"/>
              <a:t>作为新的当前解</a:t>
            </a:r>
            <a:r>
              <a:rPr lang="en-US" altLang="zh-CN" sz="2400" dirty="0"/>
              <a:t>S</a:t>
            </a:r>
            <a:r>
              <a:rPr lang="zh-CN" altLang="en-US" sz="2400" dirty="0"/>
              <a:t>，否则以概率</a:t>
            </a:r>
            <a:r>
              <a:rPr lang="en-US" altLang="zh-CN" sz="2400" dirty="0" err="1"/>
              <a:t>exp</a:t>
            </a:r>
            <a:r>
              <a:rPr lang="en-US" altLang="zh-CN" sz="2400" dirty="0"/>
              <a:t>(-</a:t>
            </a:r>
            <a:r>
              <a:rPr lang="en-US" altLang="zh-CN" sz="2400" dirty="0" err="1"/>
              <a:t>Δt</a:t>
            </a:r>
            <a:r>
              <a:rPr lang="en-US" altLang="zh-CN" sz="2400" dirty="0"/>
              <a:t>′/T)</a:t>
            </a:r>
            <a:r>
              <a:rPr lang="zh-CN" altLang="en-US" sz="2400" dirty="0"/>
              <a:t>接受</a:t>
            </a:r>
            <a:r>
              <a:rPr lang="en-US" altLang="zh-CN" sz="2400" dirty="0"/>
              <a:t>S′</a:t>
            </a:r>
            <a:r>
              <a:rPr lang="zh-CN" altLang="en-US" sz="2400" dirty="0"/>
              <a:t>作为新的当前解</a:t>
            </a:r>
            <a:r>
              <a:rPr lang="en-US" altLang="zh-CN" sz="2400" dirty="0"/>
              <a:t>S</a:t>
            </a:r>
            <a:r>
              <a:rPr lang="zh-CN" altLang="en-US" sz="2400" dirty="0"/>
              <a:t>。</a:t>
            </a:r>
          </a:p>
          <a:p>
            <a:endParaRPr lang="en-US" altLang="zh-CN" sz="2400" dirty="0"/>
          </a:p>
          <a:p>
            <a:endParaRPr lang="en-US" altLang="zh-CN" sz="2400" dirty="0"/>
          </a:p>
          <a:p>
            <a:r>
              <a:rPr lang="zh-CN" altLang="en-US" sz="2400" dirty="0"/>
              <a:t>第四步是当新解被确定接受时，用新解代替当前解，这只需将当前解中对应于产生新解时的变换部分予以实现，同时修正目标函数值即可。此时，当前解实现了一次迭代。可在此基础上开始下一轮试验。而当新解被判定为舍弃时，则在原当前解的基础上继续下一轮试验。</a:t>
            </a:r>
          </a:p>
          <a:p>
            <a:endParaRPr lang="en-US" altLang="zh-CN" sz="2400" dirty="0"/>
          </a:p>
          <a:p>
            <a:endParaRPr lang="en-US" altLang="zh-CN" sz="2400" dirty="0"/>
          </a:p>
          <a:p>
            <a:r>
              <a:rPr lang="zh-CN" altLang="en-US" sz="2400" dirty="0"/>
              <a:t>模拟退火算法与初始值无关，算法求得的解与初始解状态</a:t>
            </a:r>
            <a:r>
              <a:rPr lang="en-US" altLang="zh-CN" sz="2400" dirty="0"/>
              <a:t>S(</a:t>
            </a:r>
            <a:r>
              <a:rPr lang="zh-CN" altLang="en-US" sz="2400" dirty="0"/>
              <a:t>是算法迭代的起点</a:t>
            </a:r>
            <a:r>
              <a:rPr lang="en-US" altLang="zh-CN" sz="2400" dirty="0"/>
              <a:t>)</a:t>
            </a:r>
            <a:r>
              <a:rPr lang="zh-CN" altLang="en-US" sz="2400" dirty="0"/>
              <a:t>无关；</a:t>
            </a:r>
            <a:r>
              <a:rPr lang="zh-CN" altLang="en-US" sz="2400" b="1" dirty="0"/>
              <a:t>模拟退火算法具有渐近收敛性，已在理论上被证明是一种以概率收敛于全局最优解的全局优化算法</a:t>
            </a:r>
            <a:r>
              <a:rPr lang="zh-CN" altLang="en-US" sz="2400" dirty="0"/>
              <a:t>；模拟退火算法并行性。</a:t>
            </a:r>
          </a:p>
        </p:txBody>
      </p:sp>
    </p:spTree>
    <p:extLst>
      <p:ext uri="{BB962C8B-B14F-4D97-AF65-F5344CB8AC3E}">
        <p14:creationId xmlns:p14="http://schemas.microsoft.com/office/powerpoint/2010/main" val="33180983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39937"/>
          <p:cNvSpPr>
            <a:spLocks noGrp="1"/>
          </p:cNvSpPr>
          <p:nvPr>
            <p:ph type="title"/>
          </p:nvPr>
        </p:nvSpPr>
        <p:spPr/>
        <p:txBody>
          <a:bodyPr anchor="ctr"/>
          <a:lstStyle/>
          <a:p>
            <a:r>
              <a:rPr lang="zh-CN" altLang="en-US"/>
              <a:t>模拟退火的特点</a:t>
            </a:r>
          </a:p>
        </p:txBody>
      </p:sp>
      <p:sp>
        <p:nvSpPr>
          <p:cNvPr id="39939" name="文本占位符 39938"/>
          <p:cNvSpPr>
            <a:spLocks noGrp="1"/>
          </p:cNvSpPr>
          <p:nvPr>
            <p:ph type="body" idx="1"/>
          </p:nvPr>
        </p:nvSpPr>
        <p:spPr/>
        <p:txBody>
          <a:bodyPr/>
          <a:lstStyle/>
          <a:p>
            <a:r>
              <a:rPr lang="zh-CN" altLang="en-US" sz="2800"/>
              <a:t>可以证明，如果温度</a:t>
            </a:r>
            <a:r>
              <a:rPr lang="en-US" altLang="zh-CN" sz="2800"/>
              <a:t> </a:t>
            </a:r>
            <a:r>
              <a:rPr lang="en-US" altLang="zh-CN" sz="2800" i="1"/>
              <a:t>T</a:t>
            </a:r>
            <a:r>
              <a:rPr lang="en-US" altLang="zh-CN" sz="2800"/>
              <a:t> </a:t>
            </a:r>
            <a:r>
              <a:rPr lang="zh-CN" altLang="en-US" sz="2800"/>
              <a:t>下降的速度足够慢，那么模拟退火找到全局最优的概率将逼近</a:t>
            </a:r>
            <a:r>
              <a:rPr lang="en-US" altLang="zh-CN" sz="2800"/>
              <a:t>1</a:t>
            </a:r>
          </a:p>
          <a:p>
            <a:endParaRPr lang="en-US" altLang="zh-CN" sz="2800"/>
          </a:p>
          <a:p>
            <a:r>
              <a:rPr lang="zh-CN" altLang="en-US" sz="2800"/>
              <a:t>广泛用于超大规模集成电路设计，机场调度等</a:t>
            </a:r>
            <a:endParaRPr lang="en-US" altLang="zh-CN" sz="28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40961"/>
          <p:cNvSpPr>
            <a:spLocks noGrp="1"/>
          </p:cNvSpPr>
          <p:nvPr>
            <p:ph type="title"/>
          </p:nvPr>
        </p:nvSpPr>
        <p:spPr/>
        <p:txBody>
          <a:bodyPr anchor="ctr">
            <a:noAutofit/>
          </a:bodyPr>
          <a:lstStyle/>
          <a:p>
            <a:r>
              <a:rPr lang="en-US" altLang="zh-CN" sz="3600"/>
              <a:t>集束搜索</a:t>
            </a:r>
            <a:br>
              <a:rPr lang="en-US" altLang="zh-CN" sz="3600"/>
            </a:br>
            <a:r>
              <a:rPr lang="en-US" altLang="zh-CN" sz="3600"/>
              <a:t>Local beam search</a:t>
            </a:r>
          </a:p>
        </p:txBody>
      </p:sp>
      <p:sp>
        <p:nvSpPr>
          <p:cNvPr id="40963" name="文本占位符 40962"/>
          <p:cNvSpPr>
            <a:spLocks noGrp="1"/>
          </p:cNvSpPr>
          <p:nvPr>
            <p:ph type="body" idx="1"/>
          </p:nvPr>
        </p:nvSpPr>
        <p:spPr/>
        <p:txBody>
          <a:bodyPr>
            <a:normAutofit fontScale="90000" lnSpcReduction="10000"/>
          </a:bodyPr>
          <a:lstStyle/>
          <a:p>
            <a:pPr>
              <a:lnSpc>
                <a:spcPct val="90000"/>
              </a:lnSpc>
            </a:pPr>
            <a:r>
              <a:rPr lang="zh-CN" altLang="en-US" sz="2800"/>
              <a:t>追踪</a:t>
            </a:r>
            <a:r>
              <a:rPr lang="en-US" altLang="zh-CN" sz="2800"/>
              <a:t> </a:t>
            </a:r>
            <a:r>
              <a:rPr lang="en-US" altLang="zh-CN" sz="2800" i="1"/>
              <a:t>k</a:t>
            </a:r>
            <a:r>
              <a:rPr lang="en-US" altLang="zh-CN" sz="2800"/>
              <a:t> </a:t>
            </a:r>
            <a:r>
              <a:rPr lang="zh-CN" altLang="en-US" sz="2800"/>
              <a:t>个状态，而不是仅仅一个</a:t>
            </a:r>
            <a:r>
              <a:rPr lang="en-US" altLang="zh-CN" sz="2800"/>
              <a:t>
</a:t>
            </a:r>
          </a:p>
          <a:p>
            <a:pPr lvl="1">
              <a:lnSpc>
                <a:spcPct val="90000"/>
              </a:lnSpc>
            </a:pPr>
            <a:endParaRPr lang="en-US" altLang="zh-CN" sz="2400"/>
          </a:p>
          <a:p>
            <a:pPr>
              <a:lnSpc>
                <a:spcPct val="90000"/>
              </a:lnSpc>
            </a:pPr>
            <a:r>
              <a:rPr lang="zh-CN" altLang="en-US" sz="2800"/>
              <a:t>第一步：从随机产生的</a:t>
            </a:r>
            <a:r>
              <a:rPr lang="en-US" altLang="zh-CN" sz="2800"/>
              <a:t> </a:t>
            </a:r>
            <a:r>
              <a:rPr lang="en-US" altLang="zh-CN" sz="2800" i="1"/>
              <a:t>k</a:t>
            </a:r>
            <a:r>
              <a:rPr lang="en-US" altLang="zh-CN" sz="2800"/>
              <a:t> </a:t>
            </a:r>
            <a:r>
              <a:rPr lang="zh-CN" altLang="en-US" sz="2800"/>
              <a:t>个状态开始</a:t>
            </a:r>
            <a:r>
              <a:rPr lang="en-US" altLang="zh-CN" sz="2800"/>
              <a:t>
</a:t>
            </a:r>
          </a:p>
          <a:p>
            <a:pPr lvl="1">
              <a:lnSpc>
                <a:spcPct val="90000"/>
              </a:lnSpc>
            </a:pPr>
            <a:endParaRPr lang="en-US" altLang="zh-CN" sz="2400"/>
          </a:p>
          <a:p>
            <a:pPr>
              <a:lnSpc>
                <a:spcPct val="90000"/>
              </a:lnSpc>
            </a:pPr>
            <a:r>
              <a:rPr lang="zh-CN" altLang="en-US" sz="2800"/>
              <a:t>第二步：在每一轮，产生这</a:t>
            </a:r>
            <a:r>
              <a:rPr lang="en-US" altLang="zh-CN" sz="2800"/>
              <a:t>  </a:t>
            </a:r>
            <a:r>
              <a:rPr lang="en-US" altLang="zh-CN" sz="2800" i="1"/>
              <a:t>k</a:t>
            </a:r>
            <a:r>
              <a:rPr lang="en-US" altLang="zh-CN" sz="2800"/>
              <a:t> </a:t>
            </a:r>
            <a:r>
              <a:rPr lang="zh-CN" altLang="en-US" sz="2800"/>
              <a:t>个状态的所有孩子状态</a:t>
            </a:r>
            <a:r>
              <a:rPr lang="en-US" altLang="zh-CN" sz="2800"/>
              <a:t>
</a:t>
            </a:r>
          </a:p>
          <a:p>
            <a:pPr lvl="1">
              <a:lnSpc>
                <a:spcPct val="90000"/>
              </a:lnSpc>
            </a:pPr>
            <a:endParaRPr lang="en-US" altLang="zh-CN" sz="2400"/>
          </a:p>
          <a:p>
            <a:pPr>
              <a:lnSpc>
                <a:spcPct val="90000"/>
              </a:lnSpc>
            </a:pPr>
            <a:r>
              <a:rPr lang="zh-CN" altLang="en-US" sz="2800"/>
              <a:t>第三步：若任何新的状态是目标，则停止；否则，从这些新的状态中选择</a:t>
            </a:r>
            <a:r>
              <a:rPr lang="en-US" altLang="zh-CN" sz="2800"/>
              <a:t> </a:t>
            </a:r>
            <a:r>
              <a:rPr lang="en-US" altLang="zh-CN" sz="2800" i="1"/>
              <a:t>k</a:t>
            </a:r>
            <a:r>
              <a:rPr lang="en-US" altLang="zh-CN" sz="2800"/>
              <a:t> </a:t>
            </a:r>
            <a:r>
              <a:rPr lang="zh-CN" altLang="en-US" sz="2800"/>
              <a:t>个最好的状态然后重复第二步</a:t>
            </a:r>
            <a:r>
              <a:rPr lang="en-US" altLang="zh-CN" sz="2800"/>
              <a:t>.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41985"/>
          <p:cNvSpPr>
            <a:spLocks noGrp="1"/>
          </p:cNvSpPr>
          <p:nvPr>
            <p:ph type="title"/>
          </p:nvPr>
        </p:nvSpPr>
        <p:spPr/>
        <p:txBody>
          <a:bodyPr anchor="ctr">
            <a:noAutofit/>
          </a:bodyPr>
          <a:lstStyle/>
          <a:p>
            <a:r>
              <a:rPr lang="zh-CN" altLang="en-US" sz="3600"/>
              <a:t>遗传算法</a:t>
            </a:r>
            <a:br>
              <a:rPr lang="zh-CN" altLang="en-US" sz="3600"/>
            </a:br>
            <a:r>
              <a:rPr lang="en-US" altLang="zh-CN" sz="3600"/>
              <a:t>Genetic algorithms</a:t>
            </a:r>
          </a:p>
        </p:txBody>
      </p:sp>
      <p:sp>
        <p:nvSpPr>
          <p:cNvPr id="41987" name="文本占位符 41986"/>
          <p:cNvSpPr>
            <a:spLocks noGrp="1"/>
          </p:cNvSpPr>
          <p:nvPr>
            <p:ph type="body" idx="1"/>
          </p:nvPr>
        </p:nvSpPr>
        <p:spPr>
          <a:xfrm>
            <a:off x="457200" y="1600200"/>
            <a:ext cx="8492490" cy="4526280"/>
          </a:xfrm>
        </p:spPr>
        <p:txBody>
          <a:bodyPr>
            <a:normAutofit fontScale="90000" lnSpcReduction="10000"/>
          </a:bodyPr>
          <a:lstStyle/>
          <a:p>
            <a:pPr>
              <a:lnSpc>
                <a:spcPct val="80000"/>
              </a:lnSpc>
            </a:pPr>
            <a:r>
              <a:rPr lang="zh-CN" altLang="en-US" sz="2400"/>
              <a:t>思想：一个孩子状态由两个父状态组合产生</a:t>
            </a:r>
            <a:r>
              <a:rPr lang="en-US" altLang="zh-CN" sz="2400"/>
              <a:t>
</a:t>
            </a:r>
          </a:p>
          <a:p>
            <a:pPr>
              <a:lnSpc>
                <a:spcPct val="80000"/>
              </a:lnSpc>
            </a:pPr>
            <a:endParaRPr lang="en-US" altLang="zh-CN" sz="2400"/>
          </a:p>
          <a:p>
            <a:pPr>
              <a:lnSpc>
                <a:spcPct val="80000"/>
              </a:lnSpc>
            </a:pPr>
            <a:r>
              <a:rPr lang="zh-CN" altLang="en-US" sz="2400"/>
              <a:t>第一步：从</a:t>
            </a:r>
            <a:r>
              <a:rPr lang="en-US" altLang="zh-CN" sz="2400"/>
              <a:t> </a:t>
            </a:r>
            <a:r>
              <a:rPr lang="en-US" altLang="zh-CN" sz="2400" i="1"/>
              <a:t>k</a:t>
            </a:r>
            <a:r>
              <a:rPr lang="en-US" altLang="zh-CN" sz="2400"/>
              <a:t> </a:t>
            </a:r>
            <a:r>
              <a:rPr lang="zh-CN" altLang="en-US" sz="2400"/>
              <a:t>个随机生成的状态开始</a:t>
            </a:r>
            <a:r>
              <a:rPr lang="en-US" altLang="zh-CN" sz="2400"/>
              <a:t> (</a:t>
            </a:r>
            <a:r>
              <a:rPr lang="en-US" altLang="zh-CN" sz="2400">
                <a:solidFill>
                  <a:srgbClr val="FF0000"/>
                </a:solidFill>
              </a:rPr>
              <a:t>population</a:t>
            </a:r>
            <a:r>
              <a:rPr lang="en-US" altLang="zh-CN" sz="2400"/>
              <a:t>)
</a:t>
            </a:r>
          </a:p>
          <a:p>
            <a:pPr>
              <a:lnSpc>
                <a:spcPct val="80000"/>
              </a:lnSpc>
            </a:pPr>
            <a:endParaRPr lang="en-US" altLang="zh-CN" sz="2400"/>
          </a:p>
          <a:p>
            <a:pPr>
              <a:lnSpc>
                <a:spcPct val="80000"/>
              </a:lnSpc>
            </a:pPr>
            <a:r>
              <a:rPr lang="zh-CN" altLang="en-US" sz="2400"/>
              <a:t>第二步：一个状态被表述为一个字符串（通常是</a:t>
            </a:r>
            <a:r>
              <a:rPr lang="en-US" altLang="zh-CN" sz="2400"/>
              <a:t>0/1 </a:t>
            </a:r>
            <a:r>
              <a:rPr lang="zh-CN" altLang="en-US" sz="2400"/>
              <a:t>串）</a:t>
            </a:r>
            <a:r>
              <a:rPr lang="en-US" altLang="zh-CN" sz="2400"/>
              <a:t>
</a:t>
            </a:r>
          </a:p>
          <a:p>
            <a:pPr>
              <a:lnSpc>
                <a:spcPct val="80000"/>
              </a:lnSpc>
            </a:pPr>
            <a:endParaRPr lang="en-US" altLang="zh-CN" sz="2400"/>
          </a:p>
          <a:p>
            <a:pPr>
              <a:lnSpc>
                <a:spcPct val="80000"/>
              </a:lnSpc>
            </a:pPr>
            <a:r>
              <a:rPr lang="zh-CN" altLang="en-US" sz="2400"/>
              <a:t>第三步：采用评估函数</a:t>
            </a:r>
            <a:r>
              <a:rPr lang="en-US" altLang="zh-CN" sz="2400"/>
              <a:t> (</a:t>
            </a:r>
            <a:r>
              <a:rPr lang="en-US" altLang="zh-CN" sz="2400">
                <a:solidFill>
                  <a:srgbClr val="FF0000"/>
                </a:solidFill>
              </a:rPr>
              <a:t>fitness function</a:t>
            </a:r>
            <a:r>
              <a:rPr lang="en-US" altLang="zh-CN" sz="2400"/>
              <a:t>). </a:t>
            </a:r>
            <a:r>
              <a:rPr lang="zh-CN" altLang="en-US" sz="2400"/>
              <a:t>好的状态得到高的分值</a:t>
            </a:r>
            <a:r>
              <a:rPr lang="en-US" altLang="zh-CN" sz="2400"/>
              <a:t>
</a:t>
            </a:r>
          </a:p>
          <a:p>
            <a:pPr>
              <a:lnSpc>
                <a:spcPct val="80000"/>
              </a:lnSpc>
            </a:pPr>
            <a:endParaRPr lang="en-US" altLang="zh-CN" sz="2400" dirty="0"/>
          </a:p>
          <a:p>
            <a:pPr>
              <a:lnSpc>
                <a:spcPct val="80000"/>
              </a:lnSpc>
            </a:pPr>
            <a:r>
              <a:rPr lang="zh-CN" altLang="en-US" sz="2400" dirty="0"/>
              <a:t>第四步：通过选择、交叉和变异来生成下一组状态（</a:t>
            </a:r>
            <a:r>
              <a:rPr lang="en-US" altLang="zh-CN" sz="2400" dirty="0"/>
              <a:t>population)</a:t>
            </a:r>
            <a:r>
              <a:rPr lang="en-US" altLang="zh-CN" sz="2400"/>
              <a: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43009"/>
          <p:cNvSpPr>
            <a:spLocks noGrp="1"/>
          </p:cNvSpPr>
          <p:nvPr>
            <p:ph type="title"/>
          </p:nvPr>
        </p:nvSpPr>
        <p:spPr/>
        <p:txBody>
          <a:bodyPr anchor="ctr"/>
          <a:lstStyle/>
          <a:p>
            <a:r>
              <a:rPr lang="en-US" altLang="zh-CN"/>
              <a:t>Genetic algorithms</a:t>
            </a:r>
          </a:p>
        </p:txBody>
      </p:sp>
      <p:sp>
        <p:nvSpPr>
          <p:cNvPr id="43011" name="文本占位符 43010"/>
          <p:cNvSpPr>
            <a:spLocks noGrp="1"/>
          </p:cNvSpPr>
          <p:nvPr>
            <p:ph type="body" idx="1"/>
          </p:nvPr>
        </p:nvSpPr>
        <p:spPr/>
        <p:txBody>
          <a:bodyPr>
            <a:normAutofit fontScale="92500" lnSpcReduction="20000"/>
          </a:bodyPr>
          <a:lstStyle/>
          <a:p>
            <a:endParaRPr lang="en-US" altLang="zh-CN"/>
          </a:p>
          <a:p>
            <a:endParaRPr lang="en-US" altLang="zh-CN"/>
          </a:p>
          <a:p>
            <a:endParaRPr lang="en-US" altLang="zh-CN"/>
          </a:p>
          <a:p>
            <a:endParaRPr lang="en-US" altLang="zh-CN"/>
          </a:p>
          <a:p>
            <a:endParaRPr lang="en-US" altLang="zh-CN" sz="2400"/>
          </a:p>
          <a:p>
            <a:r>
              <a:rPr lang="en-US" altLang="zh-CN" sz="2400"/>
              <a:t>Fitness function: number of non-attacking pairs of queens (min = 0, max = 8 </a:t>
            </a:r>
            <a:r>
              <a:rPr lang="en-US" altLang="zh-CN" sz="2400">
                <a:cs typeface="Arial" panose="020B0604020202020204" pitchFamily="34" charset="0"/>
              </a:rPr>
              <a:t>× </a:t>
            </a:r>
            <a:r>
              <a:rPr lang="en-US" altLang="zh-CN" sz="2400"/>
              <a:t>7/2 = 28)
</a:t>
            </a:r>
          </a:p>
          <a:p>
            <a:r>
              <a:rPr lang="en-US" altLang="zh-CN" sz="2400"/>
              <a:t>24/(24+23+20+11) = 31%
</a:t>
            </a:r>
          </a:p>
          <a:p>
            <a:r>
              <a:rPr lang="en-US" altLang="zh-CN" sz="2400"/>
              <a:t>23/(24+23+20+11) = 29% etc
</a:t>
            </a:r>
          </a:p>
        </p:txBody>
      </p:sp>
      <p:pic>
        <p:nvPicPr>
          <p:cNvPr id="43012" name="图片 43011" descr="genetic"/>
          <p:cNvPicPr>
            <a:picLocks noChangeAspect="1"/>
          </p:cNvPicPr>
          <p:nvPr/>
        </p:nvPicPr>
        <p:blipFill>
          <a:blip r:embed="rId2"/>
          <a:stretch>
            <a:fillRect/>
          </a:stretch>
        </p:blipFill>
        <p:spPr>
          <a:xfrm>
            <a:off x="457200" y="1219200"/>
            <a:ext cx="7772400" cy="2355850"/>
          </a:xfrm>
          <a:prstGeom prst="rect">
            <a:avLst/>
          </a:prstGeom>
          <a:noFill/>
          <a:ln w="9525">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44033"/>
          <p:cNvSpPr>
            <a:spLocks noGrp="1"/>
          </p:cNvSpPr>
          <p:nvPr>
            <p:ph type="title"/>
          </p:nvPr>
        </p:nvSpPr>
        <p:spPr/>
        <p:txBody>
          <a:bodyPr anchor="ctr"/>
          <a:lstStyle/>
          <a:p>
            <a:r>
              <a:rPr lang="en-US" altLang="zh-CN"/>
              <a:t>Genetic algorithms</a:t>
            </a:r>
          </a:p>
        </p:txBody>
      </p:sp>
      <p:pic>
        <p:nvPicPr>
          <p:cNvPr id="44036" name="图片 44035" descr="8queens-crossover"/>
          <p:cNvPicPr>
            <a:picLocks noChangeAspect="1"/>
          </p:cNvPicPr>
          <p:nvPr/>
        </p:nvPicPr>
        <p:blipFill>
          <a:blip r:embed="rId2"/>
          <a:stretch>
            <a:fillRect/>
          </a:stretch>
        </p:blipFill>
        <p:spPr>
          <a:xfrm>
            <a:off x="1171575" y="2433638"/>
            <a:ext cx="6800850" cy="1990725"/>
          </a:xfrm>
          <a:prstGeom prst="rect">
            <a:avLst/>
          </a:prstGeom>
          <a:noFill/>
          <a:ln w="9525">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遗传算法</a:t>
            </a:r>
          </a:p>
        </p:txBody>
      </p:sp>
      <p:pic>
        <p:nvPicPr>
          <p:cNvPr id="4" name="图片 3"/>
          <p:cNvPicPr>
            <a:picLocks noChangeAspect="1"/>
          </p:cNvPicPr>
          <p:nvPr/>
        </p:nvPicPr>
        <p:blipFill>
          <a:blip r:embed="rId3"/>
          <a:stretch>
            <a:fillRect/>
          </a:stretch>
        </p:blipFill>
        <p:spPr>
          <a:xfrm>
            <a:off x="704803" y="1295400"/>
            <a:ext cx="7734394" cy="50292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效果对比</a:t>
            </a:r>
          </a:p>
        </p:txBody>
      </p:sp>
      <p:sp>
        <p:nvSpPr>
          <p:cNvPr id="4" name="矩形 3"/>
          <p:cNvSpPr/>
          <p:nvPr/>
        </p:nvSpPr>
        <p:spPr>
          <a:xfrm>
            <a:off x="730876" y="4722432"/>
            <a:ext cx="7208950" cy="645160"/>
          </a:xfrm>
          <a:prstGeom prst="rect">
            <a:avLst/>
          </a:prstGeom>
        </p:spPr>
        <p:txBody>
          <a:bodyPr wrap="square">
            <a:spAutoFit/>
          </a:bodyPr>
          <a:lstStyle/>
          <a:p>
            <a:r>
              <a:rPr lang="zh-CN" altLang="en-US" dirty="0"/>
              <a:t>数据来源</a:t>
            </a:r>
            <a:endParaRPr lang="en-US" altLang="zh-CN" dirty="0"/>
          </a:p>
          <a:p>
            <a:r>
              <a:rPr lang="zh-CN" altLang="en-US" dirty="0"/>
              <a:t>http://wenku.baidu.com/view/1cae7308bb68a98271fefa51.html</a:t>
            </a:r>
          </a:p>
        </p:txBody>
      </p:sp>
      <p:pic>
        <p:nvPicPr>
          <p:cNvPr id="5" name="图片 4"/>
          <p:cNvPicPr>
            <a:picLocks noChangeAspect="1"/>
          </p:cNvPicPr>
          <p:nvPr/>
        </p:nvPicPr>
        <p:blipFill>
          <a:blip r:embed="rId2"/>
          <a:stretch>
            <a:fillRect/>
          </a:stretch>
        </p:blipFill>
        <p:spPr>
          <a:xfrm>
            <a:off x="676009" y="2485313"/>
            <a:ext cx="7791982" cy="1269324"/>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讨论</a:t>
            </a:r>
          </a:p>
        </p:txBody>
      </p:sp>
      <p:sp>
        <p:nvSpPr>
          <p:cNvPr id="3" name="内容占位符 2"/>
          <p:cNvSpPr>
            <a:spLocks noGrp="1"/>
          </p:cNvSpPr>
          <p:nvPr>
            <p:ph idx="1"/>
          </p:nvPr>
        </p:nvSpPr>
        <p:spPr/>
        <p:txBody>
          <a:bodyPr>
            <a:normAutofit fontScale="92500" lnSpcReduction="10000"/>
          </a:bodyPr>
          <a:lstStyle/>
          <a:p>
            <a:r>
              <a:rPr lang="zh-CN" altLang="en-US" dirty="0"/>
              <a:t>遗传算法看起来很美</a:t>
            </a:r>
            <a:endParaRPr lang="en-US" altLang="zh-CN" dirty="0"/>
          </a:p>
          <a:p>
            <a:pPr lvl="1"/>
            <a:r>
              <a:rPr lang="zh-CN" altLang="en-US" dirty="0"/>
              <a:t>模拟进化</a:t>
            </a:r>
            <a:endParaRPr lang="en-US" altLang="zh-CN" dirty="0"/>
          </a:p>
          <a:p>
            <a:pPr lvl="1"/>
            <a:endParaRPr lang="en-US" altLang="zh-CN" dirty="0"/>
          </a:p>
          <a:p>
            <a:r>
              <a:rPr lang="zh-CN" altLang="en-US" dirty="0"/>
              <a:t>不能保证找到最优解</a:t>
            </a:r>
            <a:endParaRPr lang="en-US" altLang="zh-CN" dirty="0"/>
          </a:p>
          <a:p>
            <a:pPr lvl="1"/>
            <a:r>
              <a:rPr lang="zh-CN" altLang="en-US" dirty="0"/>
              <a:t>本质上仍是近似算法</a:t>
            </a:r>
            <a:endParaRPr lang="en-US" altLang="zh-CN" dirty="0"/>
          </a:p>
          <a:p>
            <a:pPr lvl="1"/>
            <a:endParaRPr lang="en-US" altLang="zh-CN" dirty="0"/>
          </a:p>
          <a:p>
            <a:r>
              <a:rPr lang="zh-CN" altLang="en-US" dirty="0"/>
              <a:t>进化策略的选择存在较多优化空间</a:t>
            </a:r>
            <a:endParaRPr lang="en-US" altLang="zh-CN" dirty="0"/>
          </a:p>
          <a:p>
            <a:endParaRPr lang="en-US" altLang="zh-CN" dirty="0"/>
          </a:p>
          <a:p>
            <a:r>
              <a:rPr lang="zh-CN" altLang="en-US" dirty="0"/>
              <a:t> </a:t>
            </a:r>
            <a:endParaRPr lang="en-US" altLang="zh-CN" dirty="0"/>
          </a:p>
          <a:p>
            <a:pPr marL="0" indent="0">
              <a:buNone/>
            </a:pPr>
            <a:endParaRPr lang="zh-CN" alt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Dragon">
  <a:themeElements>
    <a:clrScheme name="Dragon">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Dragon">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Dragon">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Dragon</Template>
  <TotalTime>3631</TotalTime>
  <Words>1748</Words>
  <Application>Microsoft Office PowerPoint</Application>
  <PresentationFormat>全屏显示(4:3)</PresentationFormat>
  <Paragraphs>243</Paragraphs>
  <Slides>46</Slides>
  <Notes>13</Notes>
  <HiddenSlides>0</HiddenSlides>
  <MMClips>0</MMClips>
  <ScaleCrop>false</ScaleCrop>
  <HeadingPairs>
    <vt:vector size="4" baseType="variant">
      <vt:variant>
        <vt:lpstr>主题</vt:lpstr>
      </vt:variant>
      <vt:variant>
        <vt:i4>1</vt:i4>
      </vt:variant>
      <vt:variant>
        <vt:lpstr>幻灯片标题</vt:lpstr>
      </vt:variant>
      <vt:variant>
        <vt:i4>46</vt:i4>
      </vt:variant>
    </vt:vector>
  </HeadingPairs>
  <TitlesOfParts>
    <vt:vector size="47" baseType="lpstr">
      <vt:lpstr>Dragon</vt:lpstr>
      <vt:lpstr>搜索问题第2讲</vt:lpstr>
      <vt:lpstr>回顾: 树搜索</vt:lpstr>
      <vt:lpstr>提纲</vt:lpstr>
      <vt:lpstr>Informed Search</vt:lpstr>
      <vt:lpstr>Best-first search</vt:lpstr>
      <vt:lpstr>例：最短路径 下图为罗马尼亚地图，路径上数字为城市间距离</vt:lpstr>
      <vt:lpstr>Greedy best-first search</vt:lpstr>
      <vt:lpstr>Greedy best-first search example</vt:lpstr>
      <vt:lpstr>Greedy best-first search example</vt:lpstr>
      <vt:lpstr>Greedy best-first search example</vt:lpstr>
      <vt:lpstr>Greedy best-first search example</vt:lpstr>
      <vt:lpstr>课堂练习</vt:lpstr>
      <vt:lpstr>A* search</vt:lpstr>
      <vt:lpstr>A* search example</vt:lpstr>
      <vt:lpstr>A* search example</vt:lpstr>
      <vt:lpstr>A* search example</vt:lpstr>
      <vt:lpstr>A* search example</vt:lpstr>
      <vt:lpstr>A* search example</vt:lpstr>
      <vt:lpstr>A* search example</vt:lpstr>
      <vt:lpstr>PowerPoint 演示文稿</vt:lpstr>
      <vt:lpstr>Admissible heuristics</vt:lpstr>
      <vt:lpstr>课堂练习</vt:lpstr>
      <vt:lpstr>课后选做</vt:lpstr>
      <vt:lpstr>局部搜索算法 Local search algorithms</vt:lpstr>
      <vt:lpstr>例: n-queens</vt:lpstr>
      <vt:lpstr>爬山算法 Hill-climbing search</vt:lpstr>
      <vt:lpstr>Hill-climbing search</vt:lpstr>
      <vt:lpstr>用爬山算法求解8皇后</vt:lpstr>
      <vt:lpstr>讨论</vt:lpstr>
      <vt:lpstr>改进策略</vt:lpstr>
      <vt:lpstr>改进策略 续</vt:lpstr>
      <vt:lpstr>变种</vt:lpstr>
      <vt:lpstr>课堂练习</vt:lpstr>
      <vt:lpstr>模拟退火搜索 Simulated annealing search</vt:lpstr>
      <vt:lpstr>模拟退火搜索 Simulated annealing search</vt:lpstr>
      <vt:lpstr>原理</vt:lpstr>
      <vt:lpstr>PowerPoint 演示文稿</vt:lpstr>
      <vt:lpstr>PowerPoint 演示文稿</vt:lpstr>
      <vt:lpstr>模拟退火的特点</vt:lpstr>
      <vt:lpstr>集束搜索 Local beam search</vt:lpstr>
      <vt:lpstr>遗传算法 Genetic algorithms</vt:lpstr>
      <vt:lpstr>Genetic algorithms</vt:lpstr>
      <vt:lpstr>Genetic algorithms</vt:lpstr>
      <vt:lpstr>遗传算法</vt:lpstr>
      <vt:lpstr>效果对比</vt:lpstr>
      <vt:lpstr>讨论</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Pebble</dc:creator>
  <cp:lastModifiedBy>DescFly</cp:lastModifiedBy>
  <cp:revision>660</cp:revision>
  <dcterms:created xsi:type="dcterms:W3CDTF">2006-08-16T00:00:00Z</dcterms:created>
  <dcterms:modified xsi:type="dcterms:W3CDTF">2024-06-26T13:59:17Z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2052-10.1.0.7400</vt:lpwstr>
  </property>
</Properties>
</file>