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593" r:id="rId2"/>
    <p:sldId id="699" r:id="rId3"/>
    <p:sldId id="700" r:id="rId4"/>
    <p:sldId id="695" r:id="rId5"/>
    <p:sldId id="696" r:id="rId6"/>
    <p:sldId id="711" r:id="rId7"/>
    <p:sldId id="698" r:id="rId8"/>
    <p:sldId id="697" r:id="rId9"/>
    <p:sldId id="690" r:id="rId10"/>
    <p:sldId id="701" r:id="rId11"/>
    <p:sldId id="691" r:id="rId12"/>
    <p:sldId id="692" r:id="rId13"/>
    <p:sldId id="727" r:id="rId14"/>
    <p:sldId id="693" r:id="rId15"/>
    <p:sldId id="694" r:id="rId16"/>
    <p:sldId id="702" r:id="rId17"/>
    <p:sldId id="728" r:id="rId18"/>
    <p:sldId id="760" r:id="rId19"/>
    <p:sldId id="663" r:id="rId20"/>
    <p:sldId id="704" r:id="rId21"/>
    <p:sldId id="729" r:id="rId22"/>
    <p:sldId id="703" r:id="rId23"/>
    <p:sldId id="705" r:id="rId24"/>
    <p:sldId id="706" r:id="rId25"/>
    <p:sldId id="707" r:id="rId26"/>
    <p:sldId id="708" r:id="rId27"/>
    <p:sldId id="709" r:id="rId28"/>
    <p:sldId id="710" r:id="rId29"/>
    <p:sldId id="730" r:id="rId30"/>
    <p:sldId id="712" r:id="rId31"/>
    <p:sldId id="713" r:id="rId32"/>
    <p:sldId id="714" r:id="rId33"/>
    <p:sldId id="654" r:id="rId34"/>
    <p:sldId id="655" r:id="rId35"/>
    <p:sldId id="731" r:id="rId36"/>
    <p:sldId id="761" r:id="rId37"/>
    <p:sldId id="732" r:id="rId38"/>
    <p:sldId id="733" r:id="rId39"/>
    <p:sldId id="762" r:id="rId40"/>
    <p:sldId id="664" r:id="rId41"/>
    <p:sldId id="715" r:id="rId42"/>
    <p:sldId id="656" r:id="rId43"/>
    <p:sldId id="719" r:id="rId44"/>
    <p:sldId id="718" r:id="rId45"/>
    <p:sldId id="720" r:id="rId46"/>
    <p:sldId id="734" r:id="rId47"/>
    <p:sldId id="735" r:id="rId48"/>
    <p:sldId id="721" r:id="rId49"/>
    <p:sldId id="724" r:id="rId50"/>
    <p:sldId id="725" r:id="rId51"/>
    <p:sldId id="763" r:id="rId52"/>
    <p:sldId id="764" r:id="rId53"/>
    <p:sldId id="723" r:id="rId54"/>
    <p:sldId id="736" r:id="rId55"/>
    <p:sldId id="737" r:id="rId56"/>
    <p:sldId id="738" r:id="rId57"/>
    <p:sldId id="739" r:id="rId58"/>
    <p:sldId id="740" r:id="rId59"/>
    <p:sldId id="741" r:id="rId60"/>
    <p:sldId id="765" r:id="rId61"/>
    <p:sldId id="767" r:id="rId62"/>
    <p:sldId id="768" r:id="rId63"/>
    <p:sldId id="766" r:id="rId64"/>
    <p:sldId id="757" r:id="rId65"/>
    <p:sldId id="744" r:id="rId66"/>
    <p:sldId id="745" r:id="rId67"/>
    <p:sldId id="746" r:id="rId68"/>
    <p:sldId id="747" r:id="rId69"/>
    <p:sldId id="748" r:id="rId70"/>
    <p:sldId id="749" r:id="rId71"/>
    <p:sldId id="750" r:id="rId72"/>
    <p:sldId id="758" r:id="rId73"/>
    <p:sldId id="752" r:id="rId74"/>
    <p:sldId id="753" r:id="rId75"/>
    <p:sldId id="754" r:id="rId76"/>
    <p:sldId id="755" r:id="rId77"/>
    <p:sldId id="759" r:id="rId78"/>
    <p:sldId id="756" r:id="rId79"/>
    <p:sldId id="660" r:id="rId80"/>
    <p:sldId id="661"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53" autoAdjust="0"/>
    <p:restoredTop sz="86884" autoAdjust="0"/>
  </p:normalViewPr>
  <p:slideViewPr>
    <p:cSldViewPr>
      <p:cViewPr varScale="1">
        <p:scale>
          <a:sx n="63" d="100"/>
          <a:sy n="63" d="100"/>
        </p:scale>
        <p:origin x="1332" y="72"/>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6/30/2021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1928418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466922AC-C5F1-0248-814B-33EAB5146C1D}" type="slidenum">
              <a:rPr lang="en-US" altLang="zh-CN" sz="1200"/>
              <a:t>6</a:t>
            </a:fld>
            <a:endParaRPr lang="en-US" altLang="zh-CN" sz="1200"/>
          </a:p>
        </p:txBody>
      </p:sp>
      <p:sp>
        <p:nvSpPr>
          <p:cNvPr id="27651" name="Rectangle 2"/>
          <p:cNvSpPr>
            <a:spLocks noGrp="1" noRot="1" noChangeAspect="1" noChangeArrowheads="1" noTextEdit="1"/>
          </p:cNvSpPr>
          <p:nvPr>
            <p:ph type="sldImg"/>
          </p:nvPr>
        </p:nvSpPr>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黑体" panose="02010609060101010101"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EB9E7C-E104-44CE-96E3-86319C1A8D9A}" type="slidenum">
              <a:rPr lang="en-US" smtClean="0"/>
              <a:t>44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EB9E7C-E104-44CE-96E3-86319C1A8D9A}" type="slidenum">
              <a:rPr lang="en-US" smtClean="0"/>
              <a:t>45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EB9E7C-E104-44CE-96E3-86319C1A8D9A}" type="slidenum">
              <a:rPr lang="en-US" smtClean="0"/>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4" name="Date Placeholder 3"/>
          <p:cNvSpPr>
            <a:spLocks noGrp="1"/>
          </p:cNvSpPr>
          <p:nvPr>
            <p:ph type="dt" sz="half" idx="10"/>
          </p:nvPr>
        </p:nvSpPr>
        <p:spPr/>
        <p:txBody>
          <a:bodyPr/>
          <a:lstStyle/>
          <a:p>
            <a:fld id="{67404E63-5D57-184A-B71F-76F85CC557E3}" type="datetime1">
              <a:rPr lang="zh-CN" altLang="en-US" smtClean="0"/>
              <a:t>2021/6/30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0208A7-4828-7842-B128-A145BF97BF06}" type="datetime1">
              <a:rPr lang="zh-CN" altLang="en-US" smtClean="0"/>
              <a:t>2021/6/30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A002F9B-4BC5-F844-A6A6-CF166E10E79D}" type="datetime1">
              <a:rPr lang="zh-CN" altLang="en-US" smtClean="0"/>
              <a:t>2021/6/30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E8C589E-E06C-6C4C-B6E3-CF73018A6CBD}" type="datetime1">
              <a:rPr lang="zh-CN" altLang="en-US" smtClean="0"/>
              <a:t>2021/6/30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3101269-B3CE-6548-A2F3-4BE3FB5D12B3}" type="datetime1">
              <a:rPr lang="zh-CN" altLang="en-US" smtClean="0"/>
              <a:t>2021/6/30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6EC45D5-319B-2A40-B260-F61B96DD4248}" type="datetime1">
              <a:rPr lang="zh-CN" altLang="en-US" smtClean="0"/>
              <a:t>2021/6/30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51D89-B3D5-7F48-8085-34BF63902B0A}" type="datetime1">
              <a:rPr lang="zh-CN" altLang="en-US" smtClean="0"/>
              <a:t>2021/6/30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2424012-458B-FF4C-9A8E-1BB6C9BF1B95}" type="datetime1">
              <a:rPr lang="zh-CN" altLang="en-US" smtClean="0"/>
              <a:t>2021/6/30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ABDA241-2A88-7643-AC9D-D4EA287E4E7A}" type="datetime1">
              <a:rPr lang="zh-CN" altLang="en-US" smtClean="0"/>
              <a:t>2021/6/30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CB4743B-EF1C-8B43-8348-A4EABBDF5460}" type="datetime1">
              <a:rPr lang="zh-CN" altLang="en-US" smtClean="0"/>
              <a:t>2021/6/30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3147CE1-81FF-A44D-8213-7B00EF6A751F}" type="datetime1">
              <a:rPr lang="zh-CN" altLang="en-US" smtClean="0"/>
              <a:t>2021/6/30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buClr>
                <a:schemeClr val="bg1"/>
              </a:buClr>
            </a:pPr>
            <a:fld id="{64455692-40C4-6E47-A07E-4FD9091CDD35}" type="datetime1">
              <a:rPr lang="zh-CN" altLang="en-US" smtClean="0"/>
              <a:t>2021/6/30</a:t>
            </a:fld>
            <a:endParaRPr lang="en-US"/>
          </a:p>
        </p:txBody>
      </p:sp>
      <p:sp>
        <p:nvSpPr>
          <p:cNvPr id="6" name="页脚占位符 5"/>
          <p:cNvSpPr>
            <a:spLocks noGrp="1"/>
          </p:cNvSpPr>
          <p:nvPr>
            <p:ph type="ftr" sz="quarter" idx="11"/>
          </p:nvPr>
        </p:nvSpPr>
        <p:spPr/>
        <p:txBody>
          <a:bodyPr/>
          <a:lstStyle/>
          <a:p>
            <a:pPr lvl="0">
              <a:buClr>
                <a:schemeClr val="bg1"/>
              </a:buClr>
            </a:pPr>
            <a:endParaRPr lang="en-US"/>
          </a:p>
        </p:txBody>
      </p:sp>
      <p:sp>
        <p:nvSpPr>
          <p:cNvPr id="7" name="灯片编号占位符 6"/>
          <p:cNvSpPr>
            <a:spLocks noGrp="1"/>
          </p:cNvSpPr>
          <p:nvPr>
            <p:ph type="sldNum" sz="quarter" idx="12"/>
          </p:nvPr>
        </p:nvSpPr>
        <p:spPr/>
        <p:txBody>
          <a:bodyPr/>
          <a:lstStyle/>
          <a:p>
            <a:pPr lvl="0">
              <a:buClr>
                <a:schemeClr val="bg1"/>
              </a:buClr>
            </a:pPr>
            <a:fld id="{9A0DB2DC-4C9A-4742-B13C-FB6460FD3503}"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Picture 8"/>
          <p:cNvPicPr>
            <a:picLocks noChangeAspect="1"/>
          </p:cNvPicPr>
          <p:nvPr/>
        </p:nvPicPr>
        <p:blipFill>
          <a:blip r:embed="rId15" cstate="print">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EB79DA16-C56D-E644-96FF-BDFE7FCFC9E2}" type="datetime1">
              <a:rPr lang="zh-CN" altLang="en-US" smtClean="0"/>
              <a:t>2021/6/30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9.wmf"/><Relationship Id="rId5" Type="http://schemas.openxmlformats.org/officeDocument/2006/relationships/oleObject" Target="../embeddings/oleObject2.bin"/><Relationship Id="rId4" Type="http://schemas.openxmlformats.org/officeDocument/2006/relationships/image" Target="../media/image38.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搜索问题第</a:t>
            </a:r>
            <a:r>
              <a:rPr lang="en-US" altLang="zh-CN"/>
              <a:t>3</a:t>
            </a:r>
            <a:r>
              <a:rPr lang="zh-CN" altLang="en-US"/>
              <a:t>讲</a:t>
            </a:r>
          </a:p>
        </p:txBody>
      </p:sp>
      <p:sp>
        <p:nvSpPr>
          <p:cNvPr id="3" name="副标题 2"/>
          <p:cNvSpPr>
            <a:spLocks noGrp="1"/>
          </p:cNvSpPr>
          <p:nvPr>
            <p:ph type="subTitle" idx="1"/>
          </p:nvPr>
        </p:nvSpPr>
        <p:spPr/>
        <p:txBody>
          <a:bodyPr/>
          <a:lstStyle/>
          <a:p>
            <a:r>
              <a:rPr lang="zh-CN" altLang="en-US" dirty="0">
                <a:sym typeface="+mn-ea"/>
              </a:rPr>
              <a:t>对抗</a:t>
            </a:r>
            <a:r>
              <a:rPr lang="zh-CN" altLang="en-US" dirty="0" smtClean="0">
                <a:sym typeface="+mn-ea"/>
              </a:rPr>
              <a:t>搜索</a:t>
            </a:r>
            <a:endParaRPr lang="en-US" altLang="zh-CN" smtClean="0">
              <a:sym typeface="+mn-ea"/>
            </a:endParaRPr>
          </a:p>
          <a:p>
            <a:r>
              <a:rPr lang="en-US" altLang="zh-CN" smtClean="0">
                <a:sym typeface="+mn-ea"/>
              </a:rPr>
              <a:t> </a:t>
            </a:r>
            <a:r>
              <a:rPr lang="en-US" altLang="zh-CN" dirty="0">
                <a:sym typeface="+mn-ea"/>
              </a:rPr>
              <a:t>Adversarial Search</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ctr"/>
          <a:lstStyle/>
          <a:p>
            <a:r>
              <a:rPr lang="zh-CN" altLang="en-US"/>
              <a:t>提纲</a:t>
            </a:r>
          </a:p>
        </p:txBody>
      </p:sp>
      <p:sp>
        <p:nvSpPr>
          <p:cNvPr id="4099" name="文本占位符 4098"/>
          <p:cNvSpPr>
            <a:spLocks noGrp="1"/>
          </p:cNvSpPr>
          <p:nvPr>
            <p:ph type="body" idx="1"/>
          </p:nvPr>
        </p:nvSpPr>
        <p:spPr/>
        <p:txBody>
          <a:bodyPr/>
          <a:lstStyle/>
          <a:p>
            <a:r>
              <a:rPr lang="zh-CN" altLang="en-US" dirty="0"/>
              <a:t>游戏（两人对抗）</a:t>
            </a:r>
            <a:endParaRPr lang="en-US" altLang="zh-CN" dirty="0"/>
          </a:p>
          <a:p>
            <a:r>
              <a:rPr lang="zh-CN" altLang="en-US" dirty="0"/>
              <a:t>对抗搜索</a:t>
            </a:r>
          </a:p>
          <a:p>
            <a:pPr lvl="1"/>
            <a:r>
              <a:rPr lang="en-US" altLang="zh-CN" dirty="0" err="1"/>
              <a:t>Minimax</a:t>
            </a:r>
            <a:r>
              <a:rPr lang="zh-CN" altLang="en-US" dirty="0"/>
              <a:t>算法</a:t>
            </a:r>
            <a:endParaRPr lang="en-US" altLang="zh-CN" dirty="0"/>
          </a:p>
          <a:p>
            <a:pPr lvl="1"/>
            <a:r>
              <a:rPr lang="en-US" altLang="zh-CN" dirty="0"/>
              <a:t>α-β </a:t>
            </a:r>
            <a:r>
              <a:rPr lang="zh-CN" altLang="en-US" dirty="0"/>
              <a:t>剪枝</a:t>
            </a:r>
            <a:r>
              <a:rPr lang="en-US" altLang="zh-CN" dirty="0"/>
              <a:t> (alpha-beta pruning)</a:t>
            </a:r>
          </a:p>
          <a:p>
            <a:pPr lvl="1"/>
            <a:r>
              <a:rPr lang="zh-CN" altLang="en-US" dirty="0"/>
              <a:t>实时决策</a:t>
            </a:r>
            <a:r>
              <a:rPr lang="en-US" altLang="zh-CN" dirty="0"/>
              <a:t> (real-time decision</a:t>
            </a:r>
            <a:r>
              <a:rPr lang="en-US" altLang="zh-CN" dirty="0" smtClean="0"/>
              <a:t>)</a:t>
            </a:r>
            <a:endParaRPr lang="en-US" altLang="zh-CN" dirty="0"/>
          </a:p>
          <a:p>
            <a:r>
              <a:rPr lang="zh-CN" altLang="en-US" dirty="0"/>
              <a:t>包含几率因素的游戏</a:t>
            </a:r>
            <a:endParaRPr lang="en-US" altLang="zh-CN" dirty="0"/>
          </a:p>
          <a:p>
            <a:r>
              <a:rPr lang="zh-CN" altLang="en-US" dirty="0"/>
              <a:t>不完整信息的</a:t>
            </a:r>
            <a:r>
              <a:rPr lang="zh-CN" altLang="en-US" dirty="0" smtClean="0"/>
              <a:t>游戏</a:t>
            </a:r>
            <a:endParaRPr lang="zh-CN" altLang="en-US" dirty="0"/>
          </a:p>
        </p:txBody>
      </p:sp>
      <p:sp>
        <p:nvSpPr>
          <p:cNvPr id="2" name="灯片编号占位符 1"/>
          <p:cNvSpPr>
            <a:spLocks noGrp="1"/>
          </p:cNvSpPr>
          <p:nvPr>
            <p:ph type="sldNum" sz="quarter" idx="12"/>
          </p:nvPr>
        </p:nvSpPr>
        <p:spPr/>
        <p:txBody>
          <a:bodyPr/>
          <a:lstStyle/>
          <a:p>
            <a:fld id="{B6F15528-21DE-4FAA-801E-634DDDAF4B2B}" type="slidenum">
              <a:rPr lang="en-US" smtClean="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0FC5054C-F853-8B4E-ACD5-CA337C118BAD}" type="slidenum">
              <a:rPr kumimoji="0" lang="en-US" altLang="zh-CN" sz="1400"/>
              <a:t>3</a:t>
            </a:fld>
            <a:endParaRPr kumimoji="0" lang="en-US" altLang="zh-CN" sz="1400"/>
          </a:p>
        </p:txBody>
      </p:sp>
      <p:sp>
        <p:nvSpPr>
          <p:cNvPr id="161794" name="Rectangle 2"/>
          <p:cNvSpPr>
            <a:spLocks noGrp="1" noChangeArrowheads="1"/>
          </p:cNvSpPr>
          <p:nvPr>
            <p:ph type="title"/>
          </p:nvPr>
        </p:nvSpPr>
        <p:spPr>
          <a:xfrm>
            <a:off x="685800" y="247650"/>
            <a:ext cx="7772400" cy="742950"/>
          </a:xfrm>
        </p:spPr>
        <p:txBody>
          <a:bodyPr>
            <a:normAutofit fontScale="90000"/>
          </a:bodyPr>
          <a:lstStyle/>
          <a:p>
            <a:pPr eaLnBrk="1" hangingPunct="1"/>
            <a:r>
              <a:rPr lang="zh-CN" altLang="en-US" dirty="0"/>
              <a:t>分钱币游戏</a:t>
            </a:r>
          </a:p>
        </p:txBody>
      </p:sp>
      <p:sp>
        <p:nvSpPr>
          <p:cNvPr id="18437" name="Text Box 4"/>
          <p:cNvSpPr txBox="1">
            <a:spLocks noChangeArrowheads="1"/>
          </p:cNvSpPr>
          <p:nvPr/>
        </p:nvSpPr>
        <p:spPr bwMode="auto">
          <a:xfrm>
            <a:off x="3736975" y="140017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7</a:t>
            </a:r>
            <a:r>
              <a:rPr lang="zh-CN" altLang="en-US"/>
              <a:t>）</a:t>
            </a:r>
          </a:p>
        </p:txBody>
      </p:sp>
      <p:sp>
        <p:nvSpPr>
          <p:cNvPr id="18438" name="Text Box 5"/>
          <p:cNvSpPr txBox="1">
            <a:spLocks noChangeArrowheads="1"/>
          </p:cNvSpPr>
          <p:nvPr/>
        </p:nvSpPr>
        <p:spPr bwMode="auto">
          <a:xfrm>
            <a:off x="1965325" y="2200275"/>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t>（</a:t>
            </a:r>
            <a:r>
              <a:rPr lang="en-US" altLang="zh-CN" dirty="0"/>
              <a:t>6,1</a:t>
            </a:r>
            <a:r>
              <a:rPr lang="zh-CN" altLang="en-US" dirty="0"/>
              <a:t>）</a:t>
            </a:r>
          </a:p>
        </p:txBody>
      </p:sp>
      <p:sp>
        <p:nvSpPr>
          <p:cNvPr id="18439" name="Text Box 6"/>
          <p:cNvSpPr txBox="1">
            <a:spLocks noChangeArrowheads="1"/>
          </p:cNvSpPr>
          <p:nvPr/>
        </p:nvSpPr>
        <p:spPr bwMode="auto">
          <a:xfrm>
            <a:off x="3603625" y="2200275"/>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5,2</a:t>
            </a:r>
            <a:r>
              <a:rPr lang="zh-CN" altLang="en-US"/>
              <a:t>）</a:t>
            </a:r>
          </a:p>
        </p:txBody>
      </p:sp>
      <p:sp>
        <p:nvSpPr>
          <p:cNvPr id="18440" name="Text Box 7"/>
          <p:cNvSpPr txBox="1">
            <a:spLocks noChangeArrowheads="1"/>
          </p:cNvSpPr>
          <p:nvPr/>
        </p:nvSpPr>
        <p:spPr bwMode="auto">
          <a:xfrm>
            <a:off x="5832475" y="2200275"/>
            <a:ext cx="1174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4,3</a:t>
            </a:r>
            <a:r>
              <a:rPr lang="zh-CN" altLang="en-US"/>
              <a:t>）</a:t>
            </a:r>
          </a:p>
        </p:txBody>
      </p:sp>
      <p:sp>
        <p:nvSpPr>
          <p:cNvPr id="18441" name="Text Box 8"/>
          <p:cNvSpPr txBox="1">
            <a:spLocks noChangeArrowheads="1"/>
          </p:cNvSpPr>
          <p:nvPr/>
        </p:nvSpPr>
        <p:spPr bwMode="auto">
          <a:xfrm>
            <a:off x="1069975" y="31908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5,1,1</a:t>
            </a:r>
            <a:r>
              <a:rPr lang="zh-CN" altLang="en-US"/>
              <a:t>）</a:t>
            </a:r>
          </a:p>
        </p:txBody>
      </p:sp>
      <p:sp>
        <p:nvSpPr>
          <p:cNvPr id="18442" name="Text Box 9"/>
          <p:cNvSpPr txBox="1">
            <a:spLocks noChangeArrowheads="1"/>
          </p:cNvSpPr>
          <p:nvPr/>
        </p:nvSpPr>
        <p:spPr bwMode="auto">
          <a:xfrm>
            <a:off x="2498725" y="32289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4,2,1</a:t>
            </a:r>
            <a:r>
              <a:rPr lang="zh-CN" altLang="en-US"/>
              <a:t>）</a:t>
            </a:r>
          </a:p>
        </p:txBody>
      </p:sp>
      <p:sp>
        <p:nvSpPr>
          <p:cNvPr id="18443" name="Text Box 10"/>
          <p:cNvSpPr txBox="1">
            <a:spLocks noChangeArrowheads="1"/>
          </p:cNvSpPr>
          <p:nvPr/>
        </p:nvSpPr>
        <p:spPr bwMode="auto">
          <a:xfrm>
            <a:off x="4403725" y="324802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3,2,2</a:t>
            </a:r>
            <a:r>
              <a:rPr lang="zh-CN" altLang="en-US"/>
              <a:t>）</a:t>
            </a:r>
          </a:p>
        </p:txBody>
      </p:sp>
      <p:sp>
        <p:nvSpPr>
          <p:cNvPr id="18444" name="Text Box 11"/>
          <p:cNvSpPr txBox="1">
            <a:spLocks noChangeArrowheads="1"/>
          </p:cNvSpPr>
          <p:nvPr/>
        </p:nvSpPr>
        <p:spPr bwMode="auto">
          <a:xfrm>
            <a:off x="6556375" y="326707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3,3,1</a:t>
            </a:r>
            <a:r>
              <a:rPr lang="zh-CN" altLang="en-US"/>
              <a:t>）</a:t>
            </a:r>
          </a:p>
        </p:txBody>
      </p:sp>
      <p:sp>
        <p:nvSpPr>
          <p:cNvPr id="18445" name="Text Box 12"/>
          <p:cNvSpPr txBox="1">
            <a:spLocks noChangeArrowheads="1"/>
          </p:cNvSpPr>
          <p:nvPr/>
        </p:nvSpPr>
        <p:spPr bwMode="auto">
          <a:xfrm>
            <a:off x="1584325" y="435292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t>（</a:t>
            </a:r>
            <a:r>
              <a:rPr lang="en-US" altLang="zh-CN" dirty="0"/>
              <a:t>4,1,1,1</a:t>
            </a:r>
            <a:r>
              <a:rPr lang="zh-CN" altLang="en-US" dirty="0"/>
              <a:t>）</a:t>
            </a:r>
          </a:p>
        </p:txBody>
      </p:sp>
      <p:sp>
        <p:nvSpPr>
          <p:cNvPr id="18446" name="Text Box 13"/>
          <p:cNvSpPr txBox="1">
            <a:spLocks noChangeArrowheads="1"/>
          </p:cNvSpPr>
          <p:nvPr/>
        </p:nvSpPr>
        <p:spPr bwMode="auto">
          <a:xfrm>
            <a:off x="3336925" y="441007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t>（</a:t>
            </a:r>
            <a:r>
              <a:rPr lang="en-US" altLang="zh-CN" dirty="0"/>
              <a:t>3,2,1,1</a:t>
            </a:r>
            <a:r>
              <a:rPr lang="zh-CN" altLang="en-US" dirty="0"/>
              <a:t>）</a:t>
            </a:r>
          </a:p>
        </p:txBody>
      </p:sp>
      <p:sp>
        <p:nvSpPr>
          <p:cNvPr id="18447" name="Text Box 14"/>
          <p:cNvSpPr txBox="1">
            <a:spLocks noChangeArrowheads="1"/>
          </p:cNvSpPr>
          <p:nvPr/>
        </p:nvSpPr>
        <p:spPr bwMode="auto">
          <a:xfrm>
            <a:off x="5280025" y="4391025"/>
            <a:ext cx="163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solidFill>
                  <a:schemeClr val="accent1"/>
                </a:solidFill>
              </a:rPr>
              <a:t>（</a:t>
            </a:r>
            <a:r>
              <a:rPr lang="en-US" altLang="zh-CN" dirty="0">
                <a:solidFill>
                  <a:schemeClr val="accent1"/>
                </a:solidFill>
              </a:rPr>
              <a:t>2,2,2,1</a:t>
            </a:r>
            <a:r>
              <a:rPr lang="zh-CN" altLang="en-US" dirty="0">
                <a:solidFill>
                  <a:schemeClr val="accent1"/>
                </a:solidFill>
              </a:rPr>
              <a:t>）</a:t>
            </a:r>
          </a:p>
        </p:txBody>
      </p:sp>
      <p:sp>
        <p:nvSpPr>
          <p:cNvPr id="18448" name="Text Box 15"/>
          <p:cNvSpPr txBox="1">
            <a:spLocks noChangeArrowheads="1"/>
          </p:cNvSpPr>
          <p:nvPr/>
        </p:nvSpPr>
        <p:spPr bwMode="auto">
          <a:xfrm>
            <a:off x="1393825" y="5210175"/>
            <a:ext cx="186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a:t>
            </a:r>
            <a:r>
              <a:rPr lang="en-US" altLang="zh-CN"/>
              <a:t>3,1,1,1,1</a:t>
            </a:r>
            <a:r>
              <a:rPr lang="zh-CN" altLang="en-US"/>
              <a:t>）</a:t>
            </a:r>
          </a:p>
        </p:txBody>
      </p:sp>
      <p:sp>
        <p:nvSpPr>
          <p:cNvPr id="18449" name="Text Box 16"/>
          <p:cNvSpPr txBox="1">
            <a:spLocks noChangeArrowheads="1"/>
          </p:cNvSpPr>
          <p:nvPr/>
        </p:nvSpPr>
        <p:spPr bwMode="auto">
          <a:xfrm>
            <a:off x="4156075" y="5210175"/>
            <a:ext cx="186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solidFill>
                  <a:schemeClr val="tx2"/>
                </a:solidFill>
              </a:rPr>
              <a:t>（</a:t>
            </a:r>
            <a:r>
              <a:rPr lang="en-US" altLang="zh-CN" dirty="0">
                <a:solidFill>
                  <a:schemeClr val="tx2"/>
                </a:solidFill>
              </a:rPr>
              <a:t>2,2,1,1,1</a:t>
            </a:r>
            <a:r>
              <a:rPr lang="zh-CN" altLang="en-US" dirty="0">
                <a:solidFill>
                  <a:schemeClr val="tx2"/>
                </a:solidFill>
              </a:rPr>
              <a:t>）</a:t>
            </a:r>
            <a:endParaRPr lang="zh-CN" altLang="en-US" dirty="0"/>
          </a:p>
        </p:txBody>
      </p:sp>
      <p:sp>
        <p:nvSpPr>
          <p:cNvPr id="18450" name="Text Box 18"/>
          <p:cNvSpPr txBox="1">
            <a:spLocks noChangeArrowheads="1"/>
          </p:cNvSpPr>
          <p:nvPr/>
        </p:nvSpPr>
        <p:spPr bwMode="auto">
          <a:xfrm>
            <a:off x="1184275" y="6124575"/>
            <a:ext cx="208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solidFill>
                  <a:schemeClr val="accent1"/>
                </a:solidFill>
              </a:rPr>
              <a:t>（</a:t>
            </a:r>
            <a:r>
              <a:rPr lang="en-US" altLang="zh-CN">
                <a:solidFill>
                  <a:schemeClr val="accent1"/>
                </a:solidFill>
              </a:rPr>
              <a:t>2,1,1,1,1,1</a:t>
            </a:r>
            <a:r>
              <a:rPr lang="zh-CN" altLang="en-US">
                <a:solidFill>
                  <a:schemeClr val="accent1"/>
                </a:solidFill>
              </a:rPr>
              <a:t>）</a:t>
            </a:r>
          </a:p>
        </p:txBody>
      </p:sp>
      <p:sp>
        <p:nvSpPr>
          <p:cNvPr id="18451" name="Line 19"/>
          <p:cNvSpPr>
            <a:spLocks noChangeShapeType="1"/>
          </p:cNvSpPr>
          <p:nvPr/>
        </p:nvSpPr>
        <p:spPr bwMode="auto">
          <a:xfrm flipH="1">
            <a:off x="2609850" y="1790700"/>
            <a:ext cx="1447800" cy="381000"/>
          </a:xfrm>
          <a:prstGeom prst="line">
            <a:avLst/>
          </a:prstGeom>
          <a:noFill/>
          <a:ln w="5715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Line 20"/>
          <p:cNvSpPr>
            <a:spLocks noChangeShapeType="1"/>
          </p:cNvSpPr>
          <p:nvPr/>
        </p:nvSpPr>
        <p:spPr bwMode="auto">
          <a:xfrm>
            <a:off x="4076700" y="1790700"/>
            <a:ext cx="57150" cy="381000"/>
          </a:xfrm>
          <a:prstGeom prst="line">
            <a:avLst/>
          </a:prstGeom>
          <a:noFill/>
          <a:ln w="5715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Line 21"/>
          <p:cNvSpPr>
            <a:spLocks noChangeShapeType="1"/>
          </p:cNvSpPr>
          <p:nvPr/>
        </p:nvSpPr>
        <p:spPr bwMode="auto">
          <a:xfrm>
            <a:off x="4191000" y="1771650"/>
            <a:ext cx="1924050" cy="381000"/>
          </a:xfrm>
          <a:prstGeom prst="line">
            <a:avLst/>
          </a:prstGeom>
          <a:noFill/>
          <a:ln w="5715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4" name="Line 22"/>
          <p:cNvSpPr>
            <a:spLocks noChangeShapeType="1"/>
          </p:cNvSpPr>
          <p:nvPr/>
        </p:nvSpPr>
        <p:spPr bwMode="auto">
          <a:xfrm flipH="1">
            <a:off x="1809750" y="2609850"/>
            <a:ext cx="647700" cy="6096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Line 23"/>
          <p:cNvSpPr>
            <a:spLocks noChangeShapeType="1"/>
          </p:cNvSpPr>
          <p:nvPr/>
        </p:nvSpPr>
        <p:spPr bwMode="auto">
          <a:xfrm>
            <a:off x="2514600" y="2647950"/>
            <a:ext cx="762000" cy="59055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6" name="Line 24"/>
          <p:cNvSpPr>
            <a:spLocks noChangeShapeType="1"/>
          </p:cNvSpPr>
          <p:nvPr/>
        </p:nvSpPr>
        <p:spPr bwMode="auto">
          <a:xfrm flipH="1">
            <a:off x="3371850" y="2647950"/>
            <a:ext cx="685800" cy="57150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7" name="Line 25"/>
          <p:cNvSpPr>
            <a:spLocks noChangeShapeType="1"/>
          </p:cNvSpPr>
          <p:nvPr/>
        </p:nvSpPr>
        <p:spPr bwMode="auto">
          <a:xfrm>
            <a:off x="4191000" y="2686050"/>
            <a:ext cx="952500" cy="5715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8" name="Line 26"/>
          <p:cNvSpPr>
            <a:spLocks noChangeShapeType="1"/>
          </p:cNvSpPr>
          <p:nvPr/>
        </p:nvSpPr>
        <p:spPr bwMode="auto">
          <a:xfrm>
            <a:off x="6343650" y="2647950"/>
            <a:ext cx="971550" cy="6096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9" name="Line 27"/>
          <p:cNvSpPr>
            <a:spLocks noChangeShapeType="1"/>
          </p:cNvSpPr>
          <p:nvPr/>
        </p:nvSpPr>
        <p:spPr bwMode="auto">
          <a:xfrm flipH="1">
            <a:off x="3619500" y="2667000"/>
            <a:ext cx="2781300" cy="57150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0" name="Line 28"/>
          <p:cNvSpPr>
            <a:spLocks noChangeShapeType="1"/>
          </p:cNvSpPr>
          <p:nvPr/>
        </p:nvSpPr>
        <p:spPr bwMode="auto">
          <a:xfrm>
            <a:off x="1714500" y="3638550"/>
            <a:ext cx="571500" cy="66675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1" name="Line 29"/>
          <p:cNvSpPr>
            <a:spLocks noChangeShapeType="1"/>
          </p:cNvSpPr>
          <p:nvPr/>
        </p:nvSpPr>
        <p:spPr bwMode="auto">
          <a:xfrm>
            <a:off x="1828800" y="3638550"/>
            <a:ext cx="2152650" cy="74295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3" name="Line 31"/>
          <p:cNvSpPr>
            <a:spLocks noChangeShapeType="1"/>
          </p:cNvSpPr>
          <p:nvPr/>
        </p:nvSpPr>
        <p:spPr bwMode="auto">
          <a:xfrm>
            <a:off x="5219700" y="3657600"/>
            <a:ext cx="857250" cy="8001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4" name="Line 32"/>
          <p:cNvSpPr>
            <a:spLocks noChangeShapeType="1"/>
          </p:cNvSpPr>
          <p:nvPr/>
        </p:nvSpPr>
        <p:spPr bwMode="auto">
          <a:xfrm flipH="1">
            <a:off x="4400550" y="3638550"/>
            <a:ext cx="2781300" cy="66675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5" name="Line 33"/>
          <p:cNvSpPr>
            <a:spLocks noChangeShapeType="1"/>
          </p:cNvSpPr>
          <p:nvPr/>
        </p:nvSpPr>
        <p:spPr bwMode="auto">
          <a:xfrm>
            <a:off x="4248150" y="4876800"/>
            <a:ext cx="819150" cy="34290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6" name="Line 34"/>
          <p:cNvSpPr>
            <a:spLocks noChangeShapeType="1"/>
          </p:cNvSpPr>
          <p:nvPr/>
        </p:nvSpPr>
        <p:spPr bwMode="auto">
          <a:xfrm flipH="1">
            <a:off x="2400300" y="4819650"/>
            <a:ext cx="38100" cy="4572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7" name="Line 35"/>
          <p:cNvSpPr>
            <a:spLocks noChangeShapeType="1"/>
          </p:cNvSpPr>
          <p:nvPr/>
        </p:nvSpPr>
        <p:spPr bwMode="auto">
          <a:xfrm flipH="1">
            <a:off x="2400300" y="5695950"/>
            <a:ext cx="19050" cy="41910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8" name="Text Box 36"/>
          <p:cNvSpPr txBox="1">
            <a:spLocks noChangeArrowheads="1"/>
          </p:cNvSpPr>
          <p:nvPr/>
        </p:nvSpPr>
        <p:spPr bwMode="auto">
          <a:xfrm>
            <a:off x="7756525" y="2045017"/>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dirty="0">
                <a:solidFill>
                  <a:schemeClr val="tx2"/>
                </a:solidFill>
              </a:rPr>
              <a:t>对方先走</a:t>
            </a:r>
            <a:endParaRPr lang="zh-CN" altLang="en-US" dirty="0"/>
          </a:p>
        </p:txBody>
      </p:sp>
      <p:sp>
        <p:nvSpPr>
          <p:cNvPr id="18469" name="Text Box 37"/>
          <p:cNvSpPr txBox="1">
            <a:spLocks noChangeArrowheads="1"/>
          </p:cNvSpPr>
          <p:nvPr/>
        </p:nvSpPr>
        <p:spPr bwMode="auto">
          <a:xfrm>
            <a:off x="6232525" y="5267325"/>
            <a:ext cx="1403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solidFill>
                  <a:schemeClr val="tx2"/>
                </a:solidFill>
              </a:rPr>
              <a:t>我方必胜</a:t>
            </a:r>
            <a:endParaRPr lang="zh-CN" altLang="en-US"/>
          </a:p>
        </p:txBody>
      </p:sp>
      <p:sp>
        <p:nvSpPr>
          <p:cNvPr id="38" name="矩形 37">
            <a:extLst>
              <a:ext uri="{FF2B5EF4-FFF2-40B4-BE49-F238E27FC236}">
                <a16:creationId xmlns:a16="http://schemas.microsoft.com/office/drawing/2014/main" id="{FA2F09A3-919F-3047-83AA-542B3895BABC}"/>
              </a:ext>
            </a:extLst>
          </p:cNvPr>
          <p:cNvSpPr/>
          <p:nvPr/>
        </p:nvSpPr>
        <p:spPr>
          <a:xfrm>
            <a:off x="4690886" y="932497"/>
            <a:ext cx="4572000" cy="923330"/>
          </a:xfrm>
          <a:prstGeom prst="rect">
            <a:avLst/>
          </a:prstGeom>
        </p:spPr>
        <p:txBody>
          <a:bodyPr>
            <a:spAutoFit/>
          </a:bodyPr>
          <a:lstStyle/>
          <a:p>
            <a:r>
              <a:rPr lang="zh-CN" altLang="en-US" dirty="0"/>
              <a:t>有一定数量的钱币 两个人轮流分 但不能分成两个数量相等的堆 当轮到某一个人时 如果他无法再分堆 则他</a:t>
            </a:r>
            <a:r>
              <a:rPr lang="zh-CN" altLang="en-US" dirty="0" smtClean="0"/>
              <a:t>输</a:t>
            </a:r>
            <a:endParaRPr lang="zh-CN" altLang="en-US" dirty="0"/>
          </a:p>
        </p:txBody>
      </p:sp>
      <p:sp>
        <p:nvSpPr>
          <p:cNvPr id="2" name="矩形 1"/>
          <p:cNvSpPr/>
          <p:nvPr/>
        </p:nvSpPr>
        <p:spPr>
          <a:xfrm>
            <a:off x="95250" y="1444109"/>
            <a:ext cx="902811" cy="523220"/>
          </a:xfrm>
          <a:prstGeom prst="rect">
            <a:avLst/>
          </a:prstGeom>
        </p:spPr>
        <p:txBody>
          <a:bodyPr wrap="none">
            <a:spAutoFit/>
          </a:bodyPr>
          <a:lstStyle/>
          <a:p>
            <a:r>
              <a:rPr lang="zh-CN" altLang="en-US" sz="2800" dirty="0">
                <a:solidFill>
                  <a:schemeClr val="tx2"/>
                </a:solidFill>
              </a:rPr>
              <a:t>对方</a:t>
            </a:r>
            <a:endParaRPr lang="zh-CN" altLang="en-US" sz="2800" dirty="0"/>
          </a:p>
        </p:txBody>
      </p:sp>
      <p:sp>
        <p:nvSpPr>
          <p:cNvPr id="39" name="矩形 38"/>
          <p:cNvSpPr/>
          <p:nvPr/>
        </p:nvSpPr>
        <p:spPr>
          <a:xfrm>
            <a:off x="95250" y="3134380"/>
            <a:ext cx="902811" cy="523220"/>
          </a:xfrm>
          <a:prstGeom prst="rect">
            <a:avLst/>
          </a:prstGeom>
        </p:spPr>
        <p:txBody>
          <a:bodyPr wrap="none">
            <a:spAutoFit/>
          </a:bodyPr>
          <a:lstStyle/>
          <a:p>
            <a:r>
              <a:rPr lang="zh-CN" altLang="en-US" sz="2800" dirty="0">
                <a:solidFill>
                  <a:schemeClr val="tx2"/>
                </a:solidFill>
              </a:rPr>
              <a:t>对方</a:t>
            </a:r>
            <a:endParaRPr lang="zh-CN" altLang="en-US" sz="2800" dirty="0"/>
          </a:p>
        </p:txBody>
      </p:sp>
      <p:sp>
        <p:nvSpPr>
          <p:cNvPr id="40" name="矩形 39"/>
          <p:cNvSpPr/>
          <p:nvPr/>
        </p:nvSpPr>
        <p:spPr>
          <a:xfrm>
            <a:off x="82074" y="5105400"/>
            <a:ext cx="902811" cy="523220"/>
          </a:xfrm>
          <a:prstGeom prst="rect">
            <a:avLst/>
          </a:prstGeom>
        </p:spPr>
        <p:txBody>
          <a:bodyPr wrap="none">
            <a:spAutoFit/>
          </a:bodyPr>
          <a:lstStyle/>
          <a:p>
            <a:r>
              <a:rPr lang="zh-CN" altLang="en-US" sz="2800" dirty="0">
                <a:solidFill>
                  <a:schemeClr val="tx2"/>
                </a:solidFill>
              </a:rPr>
              <a:t>对方</a:t>
            </a:r>
            <a:endParaRPr lang="zh-CN" altLang="en-US" sz="2800" dirty="0"/>
          </a:p>
        </p:txBody>
      </p:sp>
      <p:sp>
        <p:nvSpPr>
          <p:cNvPr id="41" name="矩形 40"/>
          <p:cNvSpPr/>
          <p:nvPr/>
        </p:nvSpPr>
        <p:spPr>
          <a:xfrm>
            <a:off x="84059" y="2079010"/>
            <a:ext cx="902811" cy="523220"/>
          </a:xfrm>
          <a:prstGeom prst="rect">
            <a:avLst/>
          </a:prstGeom>
        </p:spPr>
        <p:txBody>
          <a:bodyPr wrap="none">
            <a:spAutoFit/>
          </a:bodyPr>
          <a:lstStyle/>
          <a:p>
            <a:r>
              <a:rPr lang="zh-CN" altLang="en-US" sz="2800" dirty="0" smtClean="0">
                <a:solidFill>
                  <a:schemeClr val="tx2"/>
                </a:solidFill>
              </a:rPr>
              <a:t>我方</a:t>
            </a:r>
            <a:endParaRPr lang="zh-CN" altLang="en-US" sz="2800" dirty="0"/>
          </a:p>
        </p:txBody>
      </p:sp>
      <p:sp>
        <p:nvSpPr>
          <p:cNvPr id="42" name="矩形 41"/>
          <p:cNvSpPr/>
          <p:nvPr/>
        </p:nvSpPr>
        <p:spPr>
          <a:xfrm>
            <a:off x="115809" y="4259580"/>
            <a:ext cx="902811" cy="523220"/>
          </a:xfrm>
          <a:prstGeom prst="rect">
            <a:avLst/>
          </a:prstGeom>
        </p:spPr>
        <p:txBody>
          <a:bodyPr wrap="none">
            <a:spAutoFit/>
          </a:bodyPr>
          <a:lstStyle/>
          <a:p>
            <a:r>
              <a:rPr lang="zh-CN" altLang="en-US" sz="2800" dirty="0" smtClean="0">
                <a:solidFill>
                  <a:schemeClr val="tx2"/>
                </a:solidFill>
              </a:rPr>
              <a:t>我方</a:t>
            </a:r>
            <a:endParaRPr lang="zh-CN" altLang="en-US" sz="2800" dirty="0"/>
          </a:p>
        </p:txBody>
      </p:sp>
      <p:sp>
        <p:nvSpPr>
          <p:cNvPr id="43" name="Line 33"/>
          <p:cNvSpPr>
            <a:spLocks noChangeShapeType="1"/>
          </p:cNvSpPr>
          <p:nvPr/>
        </p:nvSpPr>
        <p:spPr bwMode="auto">
          <a:xfrm>
            <a:off x="3241674" y="3670935"/>
            <a:ext cx="835025" cy="605790"/>
          </a:xfrm>
          <a:prstGeom prst="line">
            <a:avLst/>
          </a:prstGeom>
          <a:noFill/>
          <a:ln w="5715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23505707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两人对抗游戏</a:t>
            </a:r>
          </a:p>
        </p:txBody>
      </p:sp>
      <p:sp>
        <p:nvSpPr>
          <p:cNvPr id="3" name="内容占位符 2"/>
          <p:cNvSpPr>
            <a:spLocks noGrp="1"/>
          </p:cNvSpPr>
          <p:nvPr>
            <p:ph idx="1"/>
          </p:nvPr>
        </p:nvSpPr>
        <p:spPr>
          <a:xfrm>
            <a:off x="457200" y="1600200"/>
            <a:ext cx="8534400" cy="4525963"/>
          </a:xfrm>
        </p:spPr>
        <p:txBody>
          <a:bodyPr/>
          <a:lstStyle/>
          <a:p>
            <a:r>
              <a:rPr lang="zh-CN" altLang="en-US" b="1" dirty="0"/>
              <a:t>井字棋</a:t>
            </a:r>
            <a:r>
              <a:rPr lang="en-US" altLang="zh-CN" b="1" dirty="0"/>
              <a:t> (Tic-tac-toe)</a:t>
            </a:r>
          </a:p>
          <a:p>
            <a:pPr lvl="1"/>
            <a:r>
              <a:rPr kumimoji="1" lang="zh-CN" altLang="en-US" sz="2400" dirty="0"/>
              <a:t>两个玩家，一个打圈</a:t>
            </a:r>
            <a:r>
              <a:rPr kumimoji="1" lang="en-US" altLang="zh-CN" sz="2400" dirty="0"/>
              <a:t>(◯)</a:t>
            </a:r>
            <a:r>
              <a:rPr kumimoji="1" lang="zh-CN" altLang="en-US" sz="2400" dirty="0"/>
              <a:t>，一个打叉</a:t>
            </a:r>
            <a:r>
              <a:rPr kumimoji="1" lang="en-US" altLang="zh-CN" sz="2400" dirty="0"/>
              <a:t>(✗)</a:t>
            </a:r>
            <a:r>
              <a:rPr kumimoji="1" lang="zh-CN" altLang="en-US" sz="2400" dirty="0"/>
              <a:t>，轮流在</a:t>
            </a:r>
            <a:r>
              <a:rPr kumimoji="1" lang="en-US" altLang="zh-CN" sz="2400" dirty="0"/>
              <a:t>3</a:t>
            </a:r>
            <a:r>
              <a:rPr kumimoji="1" lang="zh-CN" altLang="en-US" sz="2400" dirty="0"/>
              <a:t>乘</a:t>
            </a:r>
            <a:r>
              <a:rPr kumimoji="1" lang="en-US" altLang="zh-CN" sz="2400" dirty="0"/>
              <a:t>3</a:t>
            </a:r>
            <a:r>
              <a:rPr kumimoji="1" lang="zh-CN" altLang="en-US" sz="2400" dirty="0"/>
              <a:t>的格上打自己的符号，最先以横、直、斜连成一线则为胜</a:t>
            </a:r>
          </a:p>
        </p:txBody>
      </p:sp>
      <p:sp>
        <p:nvSpPr>
          <p:cNvPr id="4" name="幻灯片编号占位符 3"/>
          <p:cNvSpPr>
            <a:spLocks noGrp="1"/>
          </p:cNvSpPr>
          <p:nvPr>
            <p:ph type="sldNum" sz="quarter" idx="12"/>
          </p:nvPr>
        </p:nvSpPr>
        <p:spPr/>
        <p:txBody>
          <a:bodyPr/>
          <a:lstStyle/>
          <a:p>
            <a:fld id="{B6F15528-21DE-4FAA-801E-634DDDAF4B2B}" type="slidenum">
              <a:rPr lang="en-US" smtClean="0"/>
              <a:t>4</a:t>
            </a:fld>
            <a:endParaRPr lang="en-US"/>
          </a:p>
        </p:txBody>
      </p:sp>
      <p:pic>
        <p:nvPicPr>
          <p:cNvPr id="1026" name="Picture 2" descr="https://upload.wikimedia.org/wikipedia/commons/thumb/9/9a/Three-game.gif/300px-Three-gam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0" y="3155632"/>
            <a:ext cx="3429000" cy="33832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两人对抗游戏</a:t>
            </a:r>
          </a:p>
        </p:txBody>
      </p:sp>
      <p:sp>
        <p:nvSpPr>
          <p:cNvPr id="3" name="内容占位符 2"/>
          <p:cNvSpPr>
            <a:spLocks noGrp="1"/>
          </p:cNvSpPr>
          <p:nvPr>
            <p:ph idx="1"/>
          </p:nvPr>
        </p:nvSpPr>
        <p:spPr/>
        <p:txBody>
          <a:bodyPr/>
          <a:lstStyle/>
          <a:p>
            <a:r>
              <a:rPr kumimoji="1" lang="zh-CN" altLang="en-US" dirty="0"/>
              <a:t>五子棋 </a:t>
            </a:r>
            <a:r>
              <a:rPr kumimoji="1" lang="en-US" altLang="zh-CN" dirty="0"/>
              <a:t>(</a:t>
            </a:r>
            <a:r>
              <a:rPr kumimoji="1" lang="en-US" altLang="zh-CN" dirty="0" err="1"/>
              <a:t>Gomoku</a:t>
            </a:r>
            <a:r>
              <a:rPr kumimoji="1" lang="en-US" altLang="zh-CN" dirty="0"/>
              <a:t>)</a:t>
            </a:r>
            <a:endParaRPr kumimoji="1" lang="zh-CN" altLang="en-US" dirty="0"/>
          </a:p>
          <a:p>
            <a:pPr lvl="1"/>
            <a:r>
              <a:rPr lang="zh-CN" altLang="en-US" sz="2400" dirty="0"/>
              <a:t>先在横线、直线或斜对角线上形成</a:t>
            </a:r>
            <a:r>
              <a:rPr lang="en-US" altLang="zh-CN" sz="2400" dirty="0"/>
              <a:t>5</a:t>
            </a:r>
            <a:r>
              <a:rPr lang="zh-CN" altLang="en-US" sz="2400" dirty="0"/>
              <a:t>子连线者获胜</a:t>
            </a:r>
            <a:endParaRPr kumimoji="1" lang="zh-CN" altLang="en-US" sz="2400" dirty="0"/>
          </a:p>
        </p:txBody>
      </p:sp>
      <p:sp>
        <p:nvSpPr>
          <p:cNvPr id="4" name="幻灯片编号占位符 3"/>
          <p:cNvSpPr>
            <a:spLocks noGrp="1"/>
          </p:cNvSpPr>
          <p:nvPr>
            <p:ph type="sldNum" sz="quarter" idx="12"/>
          </p:nvPr>
        </p:nvSpPr>
        <p:spPr/>
        <p:txBody>
          <a:bodyPr/>
          <a:lstStyle/>
          <a:p>
            <a:fld id="{B6F15528-21DE-4FAA-801E-634DDDAF4B2B}" type="slidenum">
              <a:rPr lang="en-US" smtClean="0"/>
              <a:t>5</a:t>
            </a:fld>
            <a:endParaRPr lang="en-US"/>
          </a:p>
        </p:txBody>
      </p:sp>
      <p:pic>
        <p:nvPicPr>
          <p:cNvPr id="2052" name="Picture 4" descr="https://upload.wikimedia.org/wikipedia/commons/thumb/1/1e/Gomoku-game-1.svg/300px-Gomoku-game-1.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667000"/>
            <a:ext cx="4054475" cy="4054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9E272FD2-9462-EB4A-9C36-F8B98810DC67}" type="slidenum">
              <a:rPr kumimoji="0" lang="en-US" altLang="zh-CN" sz="1400"/>
              <a:t>6</a:t>
            </a:fld>
            <a:endParaRPr kumimoji="0" lang="en-US" altLang="zh-CN" sz="1400"/>
          </a:p>
        </p:txBody>
      </p:sp>
      <p:sp>
        <p:nvSpPr>
          <p:cNvPr id="162818" name="Rectangle 2"/>
          <p:cNvSpPr>
            <a:spLocks noGrp="1" noChangeArrowheads="1"/>
          </p:cNvSpPr>
          <p:nvPr>
            <p:ph type="title"/>
          </p:nvPr>
        </p:nvSpPr>
        <p:spPr/>
        <p:txBody>
          <a:bodyPr/>
          <a:lstStyle/>
          <a:p>
            <a:r>
              <a:rPr lang="zh-CN" altLang="en-US" dirty="0"/>
              <a:t>中国象棋</a:t>
            </a:r>
          </a:p>
        </p:txBody>
      </p:sp>
      <p:sp>
        <p:nvSpPr>
          <p:cNvPr id="19460" name="Rectangle 3"/>
          <p:cNvSpPr>
            <a:spLocks noGrp="1" noChangeArrowheads="1"/>
          </p:cNvSpPr>
          <p:nvPr>
            <p:ph type="body" idx="1"/>
          </p:nvPr>
        </p:nvSpPr>
        <p:spPr/>
        <p:txBody>
          <a:bodyPr/>
          <a:lstStyle/>
          <a:p>
            <a:r>
              <a:rPr lang="zh-CN" altLang="en-US" dirty="0"/>
              <a:t>一盘棋平均走</a:t>
            </a:r>
            <a:r>
              <a:rPr lang="en-US" altLang="zh-CN" dirty="0"/>
              <a:t>50</a:t>
            </a:r>
            <a:r>
              <a:rPr lang="zh-CN" altLang="en-US" dirty="0"/>
              <a:t>步，总状态数约为</a:t>
            </a:r>
            <a:r>
              <a:rPr lang="en-US" altLang="zh-CN" dirty="0"/>
              <a:t>10</a:t>
            </a:r>
            <a:r>
              <a:rPr lang="zh-CN" altLang="en-US" dirty="0"/>
              <a:t>的</a:t>
            </a:r>
            <a:r>
              <a:rPr lang="en-US" altLang="zh-CN" dirty="0"/>
              <a:t>161</a:t>
            </a:r>
            <a:r>
              <a:rPr lang="zh-CN" altLang="en-US" dirty="0"/>
              <a:t>次方。</a:t>
            </a:r>
          </a:p>
          <a:p>
            <a:r>
              <a:rPr lang="zh-CN" altLang="en-US" dirty="0"/>
              <a:t>假设</a:t>
            </a:r>
            <a:r>
              <a:rPr lang="en-US" altLang="zh-CN" dirty="0"/>
              <a:t>1</a:t>
            </a:r>
            <a:r>
              <a:rPr lang="zh-CN" altLang="en-US" dirty="0"/>
              <a:t>毫微秒走一步，约需</a:t>
            </a:r>
            <a:r>
              <a:rPr lang="en-US" altLang="zh-CN" dirty="0"/>
              <a:t>10</a:t>
            </a:r>
            <a:r>
              <a:rPr lang="zh-CN" altLang="en-US" dirty="0"/>
              <a:t>的</a:t>
            </a:r>
            <a:r>
              <a:rPr lang="en-US" altLang="zh-CN" dirty="0"/>
              <a:t>145</a:t>
            </a:r>
            <a:r>
              <a:rPr lang="zh-CN" altLang="en-US" dirty="0"/>
              <a:t>次方年。</a:t>
            </a:r>
          </a:p>
          <a:p>
            <a:r>
              <a:rPr lang="zh-CN" altLang="en-US" dirty="0"/>
              <a:t>结论：不可能穷举</a:t>
            </a:r>
            <a:r>
              <a:rPr lang="zh-CN" altLang="en-US" dirty="0" smtClean="0"/>
              <a:t>。</a:t>
            </a:r>
            <a:endParaRPr lang="en-US" altLang="zh-CN" dirty="0" smtClean="0"/>
          </a:p>
          <a:p>
            <a:pPr lvl="1"/>
            <a:r>
              <a:rPr lang="zh-CN" altLang="en-US" dirty="0" smtClean="0"/>
              <a:t>然而，我们需要先知道如何穷举，才能优化</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游戏的问题定义</a:t>
            </a:r>
          </a:p>
        </p:txBody>
      </p:sp>
      <p:sp>
        <p:nvSpPr>
          <p:cNvPr id="3" name="内容占位符 2"/>
          <p:cNvSpPr>
            <a:spLocks noGrp="1"/>
          </p:cNvSpPr>
          <p:nvPr>
            <p:ph idx="1"/>
          </p:nvPr>
        </p:nvSpPr>
        <p:spPr/>
        <p:txBody>
          <a:bodyPr>
            <a:normAutofit fontScale="92500" lnSpcReduction="20000"/>
          </a:bodyPr>
          <a:lstStyle/>
          <a:p>
            <a:r>
              <a:rPr lang="en-US" altLang="zh-CN" dirty="0">
                <a:sym typeface="+mn-ea"/>
              </a:rPr>
              <a:t>s: </a:t>
            </a:r>
            <a:r>
              <a:rPr lang="zh-CN" altLang="en-US" dirty="0">
                <a:sym typeface="+mn-ea"/>
              </a:rPr>
              <a:t>游戏中的特定状态（所有玩家都能获得）</a:t>
            </a:r>
            <a:endParaRPr lang="en-US" altLang="zh-CN" dirty="0">
              <a:sym typeface="+mn-ea"/>
            </a:endParaRPr>
          </a:p>
          <a:p>
            <a:pPr lvl="1"/>
            <a:r>
              <a:rPr lang="en-US" altLang="zh-CN" dirty="0">
                <a:sym typeface="+mn-ea"/>
              </a:rPr>
              <a:t>s</a:t>
            </a:r>
            <a:r>
              <a:rPr lang="en-US" altLang="zh-CN" baseline="-25000" dirty="0">
                <a:sym typeface="+mn-ea"/>
              </a:rPr>
              <a:t>0 </a:t>
            </a:r>
            <a:r>
              <a:rPr lang="zh-CN" altLang="en-US" dirty="0"/>
              <a:t>：初始状态 </a:t>
            </a:r>
            <a:endParaRPr lang="en-US" altLang="zh-CN" dirty="0"/>
          </a:p>
          <a:p>
            <a:r>
              <a:rPr lang="en-US" altLang="zh-CN" dirty="0"/>
              <a:t>Player(s): </a:t>
            </a:r>
            <a:r>
              <a:rPr lang="zh-CN" altLang="en-US" dirty="0"/>
              <a:t>在状态</a:t>
            </a:r>
            <a:r>
              <a:rPr lang="en-US" altLang="zh-CN" dirty="0"/>
              <a:t>s</a:t>
            </a:r>
            <a:r>
              <a:rPr lang="zh-CN" altLang="en-US" dirty="0"/>
              <a:t>时应该行动的玩家（此处讨论的游戏是玩家轮流行动的，如棋牌类）</a:t>
            </a:r>
          </a:p>
          <a:p>
            <a:r>
              <a:rPr lang="en-US" altLang="zh-CN" dirty="0"/>
              <a:t>Action(s): </a:t>
            </a:r>
            <a:r>
              <a:rPr lang="zh-CN" altLang="en-US" dirty="0"/>
              <a:t>状态</a:t>
            </a:r>
            <a:r>
              <a:rPr lang="en-US" altLang="zh-CN" dirty="0"/>
              <a:t>s</a:t>
            </a:r>
            <a:r>
              <a:rPr lang="zh-CN" altLang="en-US" dirty="0"/>
              <a:t>时合法的动作集合</a:t>
            </a:r>
          </a:p>
          <a:p>
            <a:r>
              <a:rPr lang="en-US" altLang="zh-CN" dirty="0"/>
              <a:t>Result(s, a)</a:t>
            </a:r>
            <a:r>
              <a:rPr lang="zh-CN" altLang="en-US" dirty="0"/>
              <a:t>：状态</a:t>
            </a:r>
            <a:r>
              <a:rPr lang="en-US" altLang="zh-CN" dirty="0"/>
              <a:t>s</a:t>
            </a:r>
            <a:r>
              <a:rPr lang="zh-CN" altLang="en-US" dirty="0"/>
              <a:t>接受到动作</a:t>
            </a:r>
            <a:r>
              <a:rPr lang="en-US" altLang="zh-CN" dirty="0"/>
              <a:t>a</a:t>
            </a:r>
            <a:r>
              <a:rPr lang="zh-CN" altLang="en-US" dirty="0"/>
              <a:t>时产生的目标状态</a:t>
            </a:r>
          </a:p>
          <a:p>
            <a:r>
              <a:rPr lang="en-US" altLang="zh-CN" dirty="0"/>
              <a:t>Terminal-Test(s)</a:t>
            </a:r>
            <a:r>
              <a:rPr lang="zh-CN" altLang="en-US" dirty="0"/>
              <a:t>：测试</a:t>
            </a:r>
            <a:r>
              <a:rPr lang="en-US" altLang="zh-CN" dirty="0"/>
              <a:t>s</a:t>
            </a:r>
            <a:r>
              <a:rPr lang="zh-CN" altLang="en-US" dirty="0"/>
              <a:t>是否目标状态</a:t>
            </a:r>
          </a:p>
          <a:p>
            <a:r>
              <a:rPr lang="en-US" altLang="zh-CN" dirty="0"/>
              <a:t>Utility(</a:t>
            </a:r>
            <a:r>
              <a:rPr lang="en-US" altLang="zh-CN" dirty="0" err="1"/>
              <a:t>s,p</a:t>
            </a:r>
            <a:r>
              <a:rPr lang="en-US" altLang="zh-CN" dirty="0"/>
              <a:t>)</a:t>
            </a:r>
            <a:r>
              <a:rPr lang="zh-CN" altLang="en-US" dirty="0"/>
              <a:t>：效用函数，表示对玩家</a:t>
            </a:r>
            <a:r>
              <a:rPr lang="en-US" altLang="zh-CN" dirty="0"/>
              <a:t>p</a:t>
            </a:r>
            <a:r>
              <a:rPr lang="zh-CN" altLang="en-US" dirty="0"/>
              <a:t>而言，状态</a:t>
            </a:r>
            <a:r>
              <a:rPr lang="en-US" altLang="zh-CN" dirty="0"/>
              <a:t>s</a:t>
            </a:r>
            <a:r>
              <a:rPr lang="zh-CN" altLang="en-US" dirty="0"/>
              <a:t>的价值。 </a:t>
            </a:r>
          </a:p>
          <a:p>
            <a:endParaRPr lang="en-US" altLang="zh-CN" dirty="0"/>
          </a:p>
          <a:p>
            <a:endParaRPr lang="en-US" altLang="zh-CN"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5121"/>
          <p:cNvSpPr>
            <a:spLocks noGrp="1"/>
          </p:cNvSpPr>
          <p:nvPr>
            <p:ph type="title"/>
          </p:nvPr>
        </p:nvSpPr>
        <p:spPr/>
        <p:txBody>
          <a:bodyPr anchor="ctr"/>
          <a:lstStyle/>
          <a:p>
            <a:r>
              <a:rPr lang="zh-CN" altLang="en-US" dirty="0"/>
              <a:t>游戏中的搜索问题</a:t>
            </a:r>
          </a:p>
        </p:txBody>
      </p:sp>
      <p:sp>
        <p:nvSpPr>
          <p:cNvPr id="5123" name="文本占位符 5122"/>
          <p:cNvSpPr>
            <a:spLocks noGrp="1"/>
          </p:cNvSpPr>
          <p:nvPr>
            <p:ph type="body" idx="1"/>
          </p:nvPr>
        </p:nvSpPr>
        <p:spPr/>
        <p:txBody>
          <a:bodyPr>
            <a:normAutofit fontScale="92500" lnSpcReduction="10000"/>
          </a:bodyPr>
          <a:lstStyle/>
          <a:p>
            <a:r>
              <a:rPr lang="en-US" altLang="zh-CN" dirty="0"/>
              <a:t>"</a:t>
            </a:r>
            <a:r>
              <a:rPr lang="zh-CN" altLang="en-US" dirty="0"/>
              <a:t>无法预测的</a:t>
            </a:r>
            <a:r>
              <a:rPr lang="en-US" altLang="zh-CN" dirty="0"/>
              <a:t>" </a:t>
            </a:r>
            <a:r>
              <a:rPr lang="zh-CN" altLang="en-US" dirty="0"/>
              <a:t>对手</a:t>
            </a:r>
            <a:r>
              <a:rPr lang="en-US" altLang="zh-CN" dirty="0"/>
              <a:t> </a:t>
            </a:r>
            <a:r>
              <a:rPr lang="en-US" altLang="zh-CN" dirty="0">
                <a:sym typeface="Wingdings" panose="05000000000000000000" pitchFamily="2" charset="2"/>
              </a:rPr>
              <a:t></a:t>
            </a:r>
            <a:r>
              <a:rPr lang="en-US" altLang="zh-CN" dirty="0"/>
              <a:t> </a:t>
            </a:r>
            <a:r>
              <a:rPr lang="zh-CN" altLang="en-US" dirty="0"/>
              <a:t>需要为对手的每个可能的落子选择一个动作</a:t>
            </a:r>
            <a:r>
              <a:rPr lang="en-US" altLang="zh-CN" dirty="0"/>
              <a:t>
</a:t>
            </a:r>
          </a:p>
          <a:p>
            <a:r>
              <a:rPr lang="zh-CN" altLang="en-US" dirty="0"/>
              <a:t>搜索空间过大（如五子棋、象棋）、时间限制</a:t>
            </a:r>
            <a:r>
              <a:rPr lang="en-US" altLang="zh-CN" dirty="0"/>
              <a:t> </a:t>
            </a:r>
            <a:r>
              <a:rPr lang="en-US" altLang="zh-CN" dirty="0">
                <a:cs typeface="Arial" panose="020B0604020202020204" pitchFamily="34" charset="0"/>
                <a:sym typeface="Wingdings" panose="05000000000000000000" pitchFamily="2" charset="2"/>
              </a:rPr>
              <a:t></a:t>
            </a:r>
            <a:r>
              <a:rPr lang="en-US" altLang="zh-CN" dirty="0"/>
              <a:t> </a:t>
            </a:r>
            <a:r>
              <a:rPr lang="zh-CN" altLang="en-US" dirty="0"/>
              <a:t>导致不可能找到目标，必须采用近似算法</a:t>
            </a:r>
            <a:r>
              <a:rPr lang="en-US" altLang="zh-CN" dirty="0"/>
              <a:t>
</a:t>
            </a:r>
            <a:endParaRPr lang="zh-CN" altLang="en-US" dirty="0"/>
          </a:p>
          <a:p>
            <a:r>
              <a:rPr lang="zh-CN" altLang="en-US" dirty="0"/>
              <a:t>对于两个玩家而言，它们的评估函数分值往往是相等的，但对两个玩家的意义</a:t>
            </a:r>
            <a:r>
              <a:rPr lang="zh-CN" altLang="en-US" dirty="0">
                <a:solidFill>
                  <a:srgbClr val="FF0000"/>
                </a:solidFill>
              </a:rPr>
              <a:t>正好相反</a:t>
            </a:r>
            <a:r>
              <a:rPr lang="zh-CN" altLang="en-US" dirty="0"/>
              <a:t>。因此这类搜索问题被称为</a:t>
            </a:r>
            <a:r>
              <a:rPr lang="zh-CN" altLang="en-US" dirty="0">
                <a:solidFill>
                  <a:srgbClr val="FF0000"/>
                </a:solidFill>
              </a:rPr>
              <a:t>对抗搜索</a:t>
            </a:r>
          </a:p>
          <a:p>
            <a:endParaRPr lang="en-US" altLang="zh-CN" dirty="0"/>
          </a:p>
        </p:txBody>
      </p:sp>
      <p:sp>
        <p:nvSpPr>
          <p:cNvPr id="2" name="灯片编号占位符 1"/>
          <p:cNvSpPr>
            <a:spLocks noGrp="1"/>
          </p:cNvSpPr>
          <p:nvPr>
            <p:ph type="sldNum" sz="quarter" idx="12"/>
          </p:nvPr>
        </p:nvSpPr>
        <p:spPr/>
        <p:txBody>
          <a:bodyPr/>
          <a:lstStyle/>
          <a:p>
            <a:fld id="{B6F15528-21DE-4FAA-801E-634DDDAF4B2B}" type="slidenum">
              <a:rPr lang="en-US" smtClean="0"/>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6145"/>
          <p:cNvSpPr>
            <a:spLocks noGrp="1"/>
          </p:cNvSpPr>
          <p:nvPr>
            <p:ph type="title"/>
          </p:nvPr>
        </p:nvSpPr>
        <p:spPr/>
        <p:txBody>
          <a:bodyPr anchor="ctr">
            <a:normAutofit/>
          </a:bodyPr>
          <a:lstStyle/>
          <a:p>
            <a:r>
              <a:rPr lang="zh-CN" altLang="en-US" dirty="0"/>
              <a:t>博弈树搜索（</a:t>
            </a:r>
            <a:r>
              <a:rPr lang="en-US" altLang="zh-CN" dirty="0"/>
              <a:t>Game tree</a:t>
            </a:r>
            <a:r>
              <a:rPr lang="zh-CN" altLang="en-US" dirty="0"/>
              <a:t> </a:t>
            </a:r>
            <a:r>
              <a:rPr lang="en-US" altLang="zh-CN" dirty="0"/>
              <a:t>search</a:t>
            </a:r>
            <a:r>
              <a:rPr lang="zh-CN" altLang="en-US" dirty="0"/>
              <a:t>）</a:t>
            </a:r>
            <a:endParaRPr lang="en-US" altLang="zh-CN" dirty="0"/>
          </a:p>
        </p:txBody>
      </p:sp>
      <p:pic>
        <p:nvPicPr>
          <p:cNvPr id="6148" name="图片 6147" descr="tictactoe"/>
          <p:cNvPicPr>
            <a:picLocks noChangeAspect="1"/>
          </p:cNvPicPr>
          <p:nvPr/>
        </p:nvPicPr>
        <p:blipFill>
          <a:blip r:embed="rId2"/>
          <a:stretch>
            <a:fillRect/>
          </a:stretch>
        </p:blipFill>
        <p:spPr>
          <a:xfrm>
            <a:off x="3096895" y="1562735"/>
            <a:ext cx="6048375" cy="4305300"/>
          </a:xfrm>
          <a:prstGeom prst="rect">
            <a:avLst/>
          </a:prstGeom>
          <a:noFill/>
          <a:ln w="9525">
            <a:noFill/>
          </a:ln>
        </p:spPr>
      </p:pic>
      <p:sp>
        <p:nvSpPr>
          <p:cNvPr id="2" name="文本框 1"/>
          <p:cNvSpPr txBox="1"/>
          <p:nvPr/>
        </p:nvSpPr>
        <p:spPr>
          <a:xfrm>
            <a:off x="207645" y="1718310"/>
            <a:ext cx="2842445" cy="4524315"/>
          </a:xfrm>
          <a:prstGeom prst="rect">
            <a:avLst/>
          </a:prstGeom>
          <a:noFill/>
        </p:spPr>
        <p:txBody>
          <a:bodyPr wrap="none" rtlCol="0" anchor="t">
            <a:spAutoFit/>
          </a:bodyPr>
          <a:lstStyle/>
          <a:p>
            <a:r>
              <a:rPr lang="en-US" altLang="zh-CN" sz="2400" dirty="0">
                <a:sym typeface="+mn-ea"/>
              </a:rPr>
              <a:t>tic-tac-toe</a:t>
            </a:r>
            <a:r>
              <a:rPr lang="zh-CN" altLang="en-US" sz="2400" dirty="0">
                <a:sym typeface="+mn-ea"/>
              </a:rPr>
              <a:t>游戏</a:t>
            </a:r>
            <a:endParaRPr lang="en-US" altLang="zh-CN" sz="2400" dirty="0">
              <a:sym typeface="+mn-ea"/>
            </a:endParaRPr>
          </a:p>
          <a:p>
            <a:endParaRPr lang="zh-CN" altLang="en-US" sz="2400" dirty="0">
              <a:sym typeface="+mn-ea"/>
            </a:endParaRPr>
          </a:p>
          <a:p>
            <a:r>
              <a:rPr lang="en-US" altLang="zh-CN" sz="2400" dirty="0">
                <a:sym typeface="+mn-ea"/>
              </a:rPr>
              <a:t>player 1: MAX</a:t>
            </a:r>
          </a:p>
          <a:p>
            <a:r>
              <a:rPr lang="en-US" altLang="zh-CN" sz="2400" dirty="0">
                <a:sym typeface="+mn-ea"/>
              </a:rPr>
              <a:t>player 2: MIN</a:t>
            </a:r>
            <a:endParaRPr lang="zh-CN" altLang="en-US" sz="2400" dirty="0">
              <a:sym typeface="+mn-ea"/>
            </a:endParaRPr>
          </a:p>
          <a:p>
            <a:endParaRPr lang="zh-CN" altLang="en-US" sz="2400" dirty="0">
              <a:sym typeface="+mn-ea"/>
            </a:endParaRPr>
          </a:p>
          <a:p>
            <a:r>
              <a:rPr lang="zh-CN" altLang="en-US" sz="2400" dirty="0">
                <a:sym typeface="+mn-ea"/>
              </a:rPr>
              <a:t>任一玩家达成</a:t>
            </a:r>
            <a:br>
              <a:rPr lang="zh-CN" altLang="en-US" sz="2400" dirty="0">
                <a:sym typeface="+mn-ea"/>
              </a:rPr>
            </a:br>
            <a:r>
              <a:rPr lang="zh-CN" altLang="en-US" sz="2400" dirty="0">
                <a:sym typeface="+mn-ea"/>
              </a:rPr>
              <a:t>三连即获胜</a:t>
            </a:r>
          </a:p>
          <a:p>
            <a:endParaRPr lang="zh-CN" altLang="en-US" sz="2400" dirty="0">
              <a:sym typeface="+mn-ea"/>
            </a:endParaRPr>
          </a:p>
          <a:p>
            <a:r>
              <a:rPr lang="zh-CN" altLang="en-US" sz="2400" dirty="0">
                <a:sym typeface="+mn-ea"/>
              </a:rPr>
              <a:t>搜索树的节点数量</a:t>
            </a:r>
            <a:br>
              <a:rPr lang="zh-CN" altLang="en-US" sz="2400" dirty="0">
                <a:sym typeface="+mn-ea"/>
              </a:rPr>
            </a:br>
            <a:r>
              <a:rPr lang="zh-CN" altLang="en-US" sz="2400" dirty="0">
                <a:sym typeface="+mn-ea"/>
              </a:rPr>
              <a:t>大概为 </a:t>
            </a:r>
            <a:r>
              <a:rPr lang="en-US" altLang="zh-CN" sz="2400" dirty="0">
                <a:sym typeface="+mn-ea"/>
              </a:rPr>
              <a:t>9</a:t>
            </a:r>
            <a:r>
              <a:rPr lang="zh-CN" altLang="en-US" sz="2400" dirty="0">
                <a:sym typeface="+mn-ea"/>
              </a:rPr>
              <a:t>！</a:t>
            </a:r>
            <a:r>
              <a:rPr lang="en-US" altLang="zh-CN" sz="2400" dirty="0">
                <a:sym typeface="+mn-ea"/>
              </a:rPr>
              <a:t>=362880</a:t>
            </a:r>
          </a:p>
          <a:p>
            <a:endParaRPr lang="en-US" altLang="zh-CN" sz="2400" dirty="0">
              <a:sym typeface="+mn-ea"/>
            </a:endParaRPr>
          </a:p>
          <a:p>
            <a:endParaRPr lang="zh-CN" altLang="en-US" sz="2400" dirty="0">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79D676D1-7677-4C49-92E7-D4325A8CEB82}" type="slidenum">
              <a:rPr kumimoji="0" lang="en-US" altLang="zh-CN" sz="1400"/>
              <a:t>10</a:t>
            </a:fld>
            <a:endParaRPr kumimoji="0" lang="en-US" altLang="zh-CN" sz="1400"/>
          </a:p>
        </p:txBody>
      </p:sp>
      <p:sp>
        <p:nvSpPr>
          <p:cNvPr id="160770" name="Rectangle 2"/>
          <p:cNvSpPr>
            <a:spLocks noGrp="1" noChangeArrowheads="1"/>
          </p:cNvSpPr>
          <p:nvPr>
            <p:ph type="title"/>
          </p:nvPr>
        </p:nvSpPr>
        <p:spPr/>
        <p:txBody>
          <a:bodyPr/>
          <a:lstStyle/>
          <a:p>
            <a:pPr eaLnBrk="1" hangingPunct="1"/>
            <a:r>
              <a:rPr lang="zh-CN" altLang="en-US" dirty="0"/>
              <a:t>博弈树</a:t>
            </a:r>
            <a:endParaRPr lang="en-US" altLang="zh-CN" dirty="0"/>
          </a:p>
        </p:txBody>
      </p:sp>
      <p:sp>
        <p:nvSpPr>
          <p:cNvPr id="160771" name="Rectangle 3"/>
          <p:cNvSpPr>
            <a:spLocks noGrp="1" noChangeArrowheads="1"/>
          </p:cNvSpPr>
          <p:nvPr>
            <p:ph type="body" idx="1"/>
          </p:nvPr>
        </p:nvSpPr>
        <p:spPr>
          <a:xfrm>
            <a:off x="304800" y="1600200"/>
            <a:ext cx="8229600" cy="4525963"/>
          </a:xfrm>
        </p:spPr>
        <p:txBody>
          <a:bodyPr>
            <a:normAutofit/>
          </a:bodyPr>
          <a:lstStyle/>
          <a:p>
            <a:pPr eaLnBrk="1" hangingPunct="1"/>
            <a:r>
              <a:rPr lang="zh-CN" altLang="en-US" sz="2800" dirty="0"/>
              <a:t>博弈问题</a:t>
            </a:r>
          </a:p>
          <a:p>
            <a:pPr lvl="1" eaLnBrk="1" hangingPunct="1"/>
            <a:r>
              <a:rPr lang="zh-CN" altLang="en-US" sz="2400" dirty="0"/>
              <a:t>双人</a:t>
            </a:r>
          </a:p>
          <a:p>
            <a:pPr lvl="1" eaLnBrk="1" hangingPunct="1"/>
            <a:r>
              <a:rPr lang="zh-CN" altLang="en-US" sz="2400" dirty="0"/>
              <a:t>一人一步</a:t>
            </a:r>
          </a:p>
          <a:p>
            <a:pPr lvl="1" eaLnBrk="1" hangingPunct="1"/>
            <a:r>
              <a:rPr lang="zh-CN" altLang="en-US" sz="2400" dirty="0"/>
              <a:t>双方信息完备</a:t>
            </a:r>
          </a:p>
          <a:p>
            <a:pPr lvl="1" eaLnBrk="1" hangingPunct="1"/>
            <a:r>
              <a:rPr lang="zh-CN" altLang="en-US" sz="2400" dirty="0"/>
              <a:t>零和</a:t>
            </a:r>
            <a:endParaRPr lang="en-US" altLang="zh-CN" sz="2400" dirty="0"/>
          </a:p>
          <a:p>
            <a:pPr lvl="2"/>
            <a:r>
              <a:rPr lang="zh-CN" altLang="en-US" sz="2000" dirty="0"/>
              <a:t>一方得分为</a:t>
            </a:r>
            <a:r>
              <a:rPr lang="en-US" altLang="zh-CN" sz="2000" dirty="0"/>
              <a:t>V</a:t>
            </a:r>
          </a:p>
          <a:p>
            <a:pPr lvl="2"/>
            <a:r>
              <a:rPr lang="zh-CN" altLang="en-US" sz="2000" dirty="0"/>
              <a:t>另一方得分为</a:t>
            </a:r>
            <a:r>
              <a:rPr lang="en-US" altLang="zh-CN" sz="2000" dirty="0"/>
              <a:t>-V</a:t>
            </a:r>
            <a:endParaRPr lang="zh-CN" altLang="en-US" sz="2000" dirty="0"/>
          </a:p>
        </p:txBody>
      </p:sp>
      <p:pic>
        <p:nvPicPr>
          <p:cNvPr id="6" name="图片 5" descr="tictactoe"/>
          <p:cNvPicPr>
            <a:picLocks noChangeAspect="1"/>
          </p:cNvPicPr>
          <p:nvPr/>
        </p:nvPicPr>
        <p:blipFill>
          <a:blip r:embed="rId2"/>
          <a:stretch>
            <a:fillRect/>
          </a:stretch>
        </p:blipFill>
        <p:spPr>
          <a:xfrm>
            <a:off x="3479550" y="1981200"/>
            <a:ext cx="5557725" cy="3956050"/>
          </a:xfrm>
          <a:prstGeom prst="rect">
            <a:avLst/>
          </a:prstGeom>
          <a:noFill/>
          <a:ln w="9525">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Minimax</a:t>
            </a:r>
            <a:r>
              <a:rPr lang="zh-CN" altLang="en-US" dirty="0"/>
              <a:t>算法</a:t>
            </a:r>
          </a:p>
        </p:txBody>
      </p:sp>
      <p:sp>
        <p:nvSpPr>
          <p:cNvPr id="3" name="内容占位符 2"/>
          <p:cNvSpPr>
            <a:spLocks noGrp="1"/>
          </p:cNvSpPr>
          <p:nvPr>
            <p:ph idx="1"/>
          </p:nvPr>
        </p:nvSpPr>
        <p:spPr/>
        <p:txBody>
          <a:bodyPr/>
          <a:lstStyle/>
          <a:p>
            <a:r>
              <a:rPr lang="zh-CN" altLang="en-US" dirty="0">
                <a:sym typeface="+mn-ea"/>
              </a:rPr>
              <a:t>该算法的目标是寻找完美的</a:t>
            </a:r>
            <a:r>
              <a:rPr lang="zh-CN" altLang="en-US" dirty="0" smtClean="0">
                <a:sym typeface="+mn-ea"/>
              </a:rPr>
              <a:t>策略</a:t>
            </a:r>
            <a:endParaRPr lang="en-US" altLang="zh-CN" dirty="0" smtClean="0">
              <a:sym typeface="+mn-ea"/>
            </a:endParaRPr>
          </a:p>
          <a:p>
            <a:r>
              <a:rPr lang="zh-CN" altLang="en-US" dirty="0" smtClean="0">
                <a:sym typeface="+mn-ea"/>
              </a:rPr>
              <a:t>后续</a:t>
            </a:r>
            <a:r>
              <a:rPr lang="zh-CN" altLang="en-US" dirty="0">
                <a:sym typeface="+mn-ea"/>
              </a:rPr>
              <a:t>我们会介绍当时间或计算资源受限时，如何寻找不完美的策略</a:t>
            </a:r>
          </a:p>
          <a:p>
            <a:r>
              <a:rPr lang="zh-CN" altLang="en-US" dirty="0"/>
              <a:t>我们用</a:t>
            </a:r>
            <a:r>
              <a:rPr lang="en-US" altLang="zh-CN" dirty="0"/>
              <a:t>MAX</a:t>
            </a:r>
            <a:r>
              <a:rPr lang="zh-CN" altLang="en-US" dirty="0"/>
              <a:t>，</a:t>
            </a:r>
            <a:r>
              <a:rPr lang="en-US" altLang="zh-CN" dirty="0"/>
              <a:t>MIN</a:t>
            </a:r>
            <a:r>
              <a:rPr lang="zh-CN" altLang="en-US" dirty="0"/>
              <a:t>来表示两个玩家，他们交替行动</a:t>
            </a:r>
          </a:p>
          <a:p>
            <a:r>
              <a:rPr lang="zh-CN" altLang="en-US" dirty="0"/>
              <a:t>和传统搜索问题相比，每个玩家的行动策略</a:t>
            </a:r>
            <a:r>
              <a:rPr lang="zh-CN" altLang="en-US" dirty="0">
                <a:solidFill>
                  <a:srgbClr val="FF0000"/>
                </a:solidFill>
              </a:rPr>
              <a:t>必须考虑对手的行动</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Minimax</a:t>
            </a:r>
            <a:r>
              <a:rPr lang="zh-CN" altLang="en-US" dirty="0"/>
              <a:t>算法中的搜索树</a:t>
            </a:r>
          </a:p>
        </p:txBody>
      </p:sp>
      <p:pic>
        <p:nvPicPr>
          <p:cNvPr id="7172" name="内容占位符 7171" descr="minimax"/>
          <p:cNvPicPr>
            <a:picLocks noGrp="1" noChangeAspect="1"/>
          </p:cNvPicPr>
          <p:nvPr>
            <p:ph idx="1"/>
          </p:nvPr>
        </p:nvPicPr>
        <p:blipFill>
          <a:blip r:embed="rId2"/>
          <a:stretch>
            <a:fillRect/>
          </a:stretch>
        </p:blipFill>
        <p:spPr>
          <a:xfrm>
            <a:off x="4676775" y="1899920"/>
            <a:ext cx="4337685" cy="1831975"/>
          </a:xfrm>
          <a:prstGeom prst="rect">
            <a:avLst/>
          </a:prstGeom>
          <a:noFill/>
          <a:ln w="9525">
            <a:noFill/>
          </a:ln>
        </p:spPr>
      </p:pic>
      <p:sp>
        <p:nvSpPr>
          <p:cNvPr id="7171" name="文本占位符 7170"/>
          <p:cNvSpPr>
            <a:spLocks noGrp="1"/>
          </p:cNvSpPr>
          <p:nvPr/>
        </p:nvSpPr>
        <p:spPr>
          <a:xfrm>
            <a:off x="152400" y="1524000"/>
            <a:ext cx="8229600" cy="4525963"/>
          </a:xfrm>
          <a:prstGeom prst="rect">
            <a:avLst/>
          </a:prstGeom>
        </p:spPr>
        <p:txBody>
          <a:bodyPr vert="horz" rtlCol="0">
            <a:normAutofit/>
          </a:bodyPr>
          <a:lst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r>
              <a:rPr lang="zh-CN" altLang="en-US" sz="2000" dirty="0"/>
              <a:t>正放的三角形节点表示</a:t>
            </a:r>
            <a:br>
              <a:rPr lang="zh-CN" altLang="en-US" sz="2000" dirty="0"/>
            </a:br>
            <a:r>
              <a:rPr lang="zh-CN" altLang="en-US" sz="2000" dirty="0"/>
              <a:t>玩家</a:t>
            </a:r>
            <a:r>
              <a:rPr lang="en-US" altLang="zh-CN" sz="2000" dirty="0"/>
              <a:t>MAX</a:t>
            </a:r>
            <a:r>
              <a:rPr lang="zh-CN" altLang="en-US" sz="2000" dirty="0"/>
              <a:t>行动（第</a:t>
            </a:r>
            <a:r>
              <a:rPr lang="en-US" altLang="zh-CN" sz="2000" dirty="0"/>
              <a:t>1,3</a:t>
            </a:r>
            <a:r>
              <a:rPr lang="zh-CN" altLang="en-US" sz="2000" dirty="0"/>
              <a:t>层），</a:t>
            </a:r>
            <a:br>
              <a:rPr lang="zh-CN" altLang="en-US" sz="2000" dirty="0"/>
            </a:br>
            <a:r>
              <a:rPr lang="zh-CN" altLang="en-US" sz="2000" dirty="0"/>
              <a:t>倒放的三角形表示玩家</a:t>
            </a:r>
            <a:r>
              <a:rPr lang="en-US" altLang="zh-CN" sz="2000" dirty="0"/>
              <a:t>MIN </a:t>
            </a:r>
            <a:br>
              <a:rPr lang="en-US" altLang="zh-CN" sz="2000" dirty="0"/>
            </a:br>
            <a:endParaRPr lang="en-US" altLang="zh-CN" sz="2000" dirty="0"/>
          </a:p>
          <a:p>
            <a:r>
              <a:rPr lang="zh-CN" altLang="en-US" sz="2000" dirty="0"/>
              <a:t>图中展示的是两个玩家</a:t>
            </a:r>
            <a:br>
              <a:rPr lang="zh-CN" altLang="en-US" sz="2000" dirty="0"/>
            </a:br>
            <a:r>
              <a:rPr lang="zh-CN" altLang="en-US" sz="2000" dirty="0"/>
              <a:t>各走一步的情形</a:t>
            </a:r>
          </a:p>
          <a:p>
            <a:endParaRPr lang="en-US" altLang="zh-CN" sz="2000" dirty="0" smtClean="0"/>
          </a:p>
          <a:p>
            <a:r>
              <a:rPr lang="zh-CN" altLang="en-US" sz="2000" dirty="0" smtClean="0"/>
              <a:t>假设</a:t>
            </a:r>
            <a:r>
              <a:rPr lang="zh-CN" altLang="en-US" sz="2000" dirty="0"/>
              <a:t>每个节点都会采取</a:t>
            </a:r>
            <a:r>
              <a:rPr lang="zh-CN" altLang="en-US" sz="2000" dirty="0">
                <a:solidFill>
                  <a:srgbClr val="FF0000"/>
                </a:solidFill>
              </a:rPr>
              <a:t>对自己最优</a:t>
            </a:r>
            <a:r>
              <a:rPr lang="zh-CN" altLang="en-US" sz="2000" dirty="0"/>
              <a:t>的行动</a:t>
            </a:r>
            <a:r>
              <a:rPr lang="zh-CN" altLang="en-US" sz="2000" dirty="0" smtClean="0"/>
              <a:t>方案</a:t>
            </a:r>
            <a:r>
              <a:rPr lang="zh-CN" altLang="en-US" sz="2000" dirty="0" smtClean="0"/>
              <a:t>（理性人假设）</a:t>
            </a:r>
            <a:r>
              <a:rPr lang="zh-CN" altLang="en-US" sz="2000" dirty="0"/>
              <a:t/>
            </a:r>
            <a:br>
              <a:rPr lang="zh-CN" altLang="en-US" sz="2000" dirty="0"/>
            </a:br>
            <a:r>
              <a:rPr lang="zh-CN" sz="2000" dirty="0"/>
              <a:t>注意，一个状态对</a:t>
            </a:r>
            <a:r>
              <a:rPr lang="en-US" altLang="zh-CN" sz="2000" dirty="0"/>
              <a:t>MAX</a:t>
            </a:r>
            <a:r>
              <a:rPr lang="zh-CN" altLang="en-US" sz="2000" dirty="0"/>
              <a:t>玩家的效用值越高，对</a:t>
            </a:r>
            <a:r>
              <a:rPr lang="en-US" altLang="zh-CN" sz="2000" dirty="0"/>
              <a:t>MIN</a:t>
            </a:r>
            <a:r>
              <a:rPr lang="zh-CN" altLang="en-US" sz="2000" dirty="0"/>
              <a:t>则越低，反之亦然</a:t>
            </a:r>
          </a:p>
          <a:p>
            <a:r>
              <a:rPr lang="zh-CN" altLang="en-US" sz="2000" b="1" dirty="0"/>
              <a:t>叶节点</a:t>
            </a:r>
            <a:r>
              <a:rPr lang="zh-CN" altLang="en-US" sz="2000" dirty="0"/>
              <a:t>标出的是</a:t>
            </a:r>
            <a:r>
              <a:rPr lang="en-US" altLang="zh-CN" sz="2000" dirty="0"/>
              <a:t>MAX</a:t>
            </a:r>
            <a:r>
              <a:rPr lang="zh-CN" altLang="en-US" sz="2000" dirty="0"/>
              <a:t>的效用函数</a:t>
            </a:r>
            <a:r>
              <a:rPr lang="zh-CN" altLang="en-US" sz="2000" dirty="0" smtClean="0"/>
              <a:t>值</a:t>
            </a:r>
            <a:endParaRPr lang="en-US" altLang="zh-CN" sz="2000" dirty="0" smtClean="0"/>
          </a:p>
          <a:p>
            <a:r>
              <a:rPr lang="zh-CN" altLang="en-US" sz="2000" b="1" dirty="0" smtClean="0"/>
              <a:t>中间节点</a:t>
            </a:r>
            <a:r>
              <a:rPr lang="zh-CN" altLang="en-US" sz="2000" dirty="0"/>
              <a:t>标出的是</a:t>
            </a:r>
            <a:r>
              <a:rPr lang="en-US" altLang="zh-CN" sz="2000" dirty="0" err="1"/>
              <a:t>minimax</a:t>
            </a:r>
            <a:r>
              <a:rPr lang="en-US" altLang="zh-CN" sz="2000" dirty="0"/>
              <a:t> </a:t>
            </a:r>
            <a:r>
              <a:rPr lang="zh-CN" altLang="en-US" sz="2000" dirty="0"/>
              <a:t>值</a:t>
            </a:r>
            <a:endParaRPr lang="en-US" altLang="zh-CN" sz="2000" dirty="0"/>
          </a:p>
          <a:p>
            <a:endParaRPr lang="en-US" altLang="zh-CN" sz="2000" dirty="0"/>
          </a:p>
          <a:p>
            <a:endParaRPr lang="en-US" altLang="zh-CN" sz="2000" dirty="0"/>
          </a:p>
        </p:txBody>
      </p:sp>
      <p:sp>
        <p:nvSpPr>
          <p:cNvPr id="6" name="Content Placeholder 2"/>
          <p:cNvSpPr txBox="1"/>
          <p:nvPr/>
        </p:nvSpPr>
        <p:spPr>
          <a:xfrm>
            <a:off x="457200" y="5334000"/>
            <a:ext cx="8686800" cy="1295400"/>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None/>
            </a:pPr>
            <a:r>
              <a:rPr lang="en-US" sz="1800" b="1" dirty="0">
                <a:solidFill>
                  <a:srgbClr val="CC0099"/>
                </a:solidFill>
              </a:rPr>
              <a:t>     </a:t>
            </a:r>
            <a:r>
              <a:rPr lang="en-US" sz="1800" b="1" dirty="0" err="1">
                <a:solidFill>
                  <a:srgbClr val="CC0099"/>
                </a:solidFill>
              </a:rPr>
              <a:t>Minimax</a:t>
            </a:r>
            <a:r>
              <a:rPr lang="en-US" sz="1800" dirty="0"/>
              <a:t>(</a:t>
            </a:r>
            <a:r>
              <a:rPr lang="en-US" sz="1800" i="1" dirty="0"/>
              <a:t>node</a:t>
            </a:r>
            <a:r>
              <a:rPr lang="en-US" sz="1800" dirty="0"/>
              <a:t>) = </a:t>
            </a:r>
          </a:p>
          <a:p>
            <a:pPr lvl="1">
              <a:buFont typeface="Wingdings" panose="05000000000000000000" pitchFamily="2" charset="2"/>
              <a:buChar char="§"/>
            </a:pPr>
            <a:r>
              <a:rPr lang="en-US" sz="2000" dirty="0"/>
              <a:t>Utility(</a:t>
            </a:r>
            <a:r>
              <a:rPr lang="en-US" sz="2000" i="1" dirty="0"/>
              <a:t>node</a:t>
            </a:r>
            <a:r>
              <a:rPr lang="en-US" sz="2000" dirty="0"/>
              <a:t>) if Terminal-Test(</a:t>
            </a:r>
            <a:r>
              <a:rPr lang="en-US" sz="2000" i="1" dirty="0"/>
              <a:t>node)</a:t>
            </a:r>
            <a:r>
              <a:rPr lang="en-US" sz="2000" dirty="0"/>
              <a:t> is True</a:t>
            </a:r>
          </a:p>
          <a:p>
            <a:pPr lvl="1">
              <a:buFont typeface="Wingdings" panose="05000000000000000000" pitchFamily="2" charset="2"/>
              <a:buChar char="§"/>
            </a:pPr>
            <a:r>
              <a:rPr lang="en-US" sz="2000" dirty="0" err="1"/>
              <a:t>max</a:t>
            </a:r>
            <a:r>
              <a:rPr lang="en-US" sz="2000" i="1" baseline="-25000" dirty="0" err="1"/>
              <a:t>action</a:t>
            </a:r>
            <a:r>
              <a:rPr lang="en-US" sz="2000" dirty="0"/>
              <a:t> </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if </a:t>
            </a:r>
            <a:r>
              <a:rPr lang="en-US" sz="2000" i="1" dirty="0"/>
              <a:t>player</a:t>
            </a:r>
            <a:r>
              <a:rPr lang="en-US" sz="2000" dirty="0"/>
              <a:t> = MAX</a:t>
            </a:r>
          </a:p>
          <a:p>
            <a:pPr lvl="1">
              <a:buFont typeface="Wingdings" panose="05000000000000000000" pitchFamily="2" charset="2"/>
              <a:buChar char="§"/>
            </a:pPr>
            <a:r>
              <a:rPr lang="en-US" sz="2000" dirty="0" err="1"/>
              <a:t>min</a:t>
            </a:r>
            <a:r>
              <a:rPr lang="en-US" sz="2000" i="1" baseline="-25000" dirty="0" err="1"/>
              <a:t>action</a:t>
            </a:r>
            <a:r>
              <a:rPr lang="en-US" sz="2000" dirty="0"/>
              <a:t>  </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if </a:t>
            </a:r>
            <a:r>
              <a:rPr lang="en-US" sz="2000" i="1" dirty="0"/>
              <a:t>player</a:t>
            </a:r>
            <a:r>
              <a:rPr lang="en-US" sz="2000" dirty="0"/>
              <a:t> =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极小极大值原理</a:t>
            </a:r>
          </a:p>
        </p:txBody>
      </p:sp>
      <p:sp>
        <p:nvSpPr>
          <p:cNvPr id="3" name="内容占位符 2"/>
          <p:cNvSpPr>
            <a:spLocks noGrp="1"/>
          </p:cNvSpPr>
          <p:nvPr>
            <p:ph idx="1"/>
          </p:nvPr>
        </p:nvSpPr>
        <p:spPr/>
        <p:txBody>
          <a:bodyPr>
            <a:normAutofit/>
          </a:bodyPr>
          <a:lstStyle/>
          <a:p>
            <a:r>
              <a:rPr lang="zh-CN" altLang="en-US" sz="2800" dirty="0"/>
              <a:t>假设两位玩家都按照最佳策略行动</a:t>
            </a:r>
            <a:r>
              <a:rPr lang="en-US" sz="2400" dirty="0"/>
              <a:t/>
            </a:r>
            <a:br>
              <a:rPr lang="en-US" sz="2400" dirty="0"/>
            </a:br>
            <a:r>
              <a:rPr lang="en-US" sz="2400" dirty="0"/>
              <a:t>  –computer </a:t>
            </a:r>
            <a:r>
              <a:rPr lang="zh-CN" altLang="en-US" sz="2400" dirty="0"/>
              <a:t>假设在其行动以后，其对手会选择效用值最小的状态来移动</a:t>
            </a:r>
            <a:r>
              <a:rPr lang="en-US" sz="2400" dirty="0"/>
              <a:t/>
            </a:r>
            <a:br>
              <a:rPr lang="en-US" sz="2400" dirty="0"/>
            </a:br>
            <a:r>
              <a:rPr lang="en-US" sz="2400" dirty="0"/>
              <a:t>  –computer</a:t>
            </a:r>
            <a:r>
              <a:rPr lang="zh-CN" altLang="en-US" sz="2400" dirty="0"/>
              <a:t>在选择其最佳行动方案时要同时考虑自己以及对手的最佳行动</a:t>
            </a:r>
          </a:p>
        </p:txBody>
      </p:sp>
      <p:pic>
        <p:nvPicPr>
          <p:cNvPr id="1026" name="Picture 2"/>
          <p:cNvPicPr>
            <a:picLocks noChangeAspect="1" noChangeArrowheads="1"/>
          </p:cNvPicPr>
          <p:nvPr/>
        </p:nvPicPr>
        <p:blipFill>
          <a:blip r:embed="rId2" cstate="print"/>
          <a:srcRect/>
          <a:stretch>
            <a:fillRect/>
          </a:stretch>
        </p:blipFill>
        <p:spPr bwMode="auto">
          <a:xfrm>
            <a:off x="928662" y="4000504"/>
            <a:ext cx="7524803" cy="2286016"/>
          </a:xfrm>
          <a:prstGeom prst="rect">
            <a:avLst/>
          </a:prstGeom>
          <a:noFill/>
          <a:ln w="9525">
            <a:noFill/>
            <a:miter lim="800000"/>
            <a:headEnd/>
            <a:tailEnd/>
          </a:ln>
          <a:effectLst/>
        </p:spPr>
      </p:pic>
      <p:sp>
        <p:nvSpPr>
          <p:cNvPr id="5" name="TextBox 4"/>
          <p:cNvSpPr txBox="1"/>
          <p:nvPr/>
        </p:nvSpPr>
        <p:spPr>
          <a:xfrm>
            <a:off x="2000232" y="6286520"/>
            <a:ext cx="4857784" cy="369332"/>
          </a:xfrm>
          <a:prstGeom prst="rect">
            <a:avLst/>
          </a:prstGeom>
          <a:noFill/>
        </p:spPr>
        <p:txBody>
          <a:bodyPr wrap="square" rtlCol="0">
            <a:spAutoFit/>
          </a:bodyPr>
          <a:lstStyle/>
          <a:p>
            <a:r>
              <a:rPr lang="zh-CN" altLang="en-US" dirty="0"/>
              <a:t>从</a:t>
            </a:r>
            <a:r>
              <a:rPr lang="en-US" altLang="zh-CN" dirty="0"/>
              <a:t>max</a:t>
            </a:r>
            <a:r>
              <a:rPr lang="zh-CN" altLang="en-US" dirty="0"/>
              <a:t>的角度显示效用值</a:t>
            </a:r>
          </a:p>
        </p:txBody>
      </p:sp>
    </p:spTree>
    <p:extLst>
      <p:ext uri="{BB962C8B-B14F-4D97-AF65-F5344CB8AC3E}">
        <p14:creationId xmlns:p14="http://schemas.microsoft.com/office/powerpoint/2010/main" val="21663140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Minimax</a:t>
            </a:r>
            <a:r>
              <a:rPr lang="en-US" altLang="zh-CN" dirty="0"/>
              <a:t> </a:t>
            </a:r>
            <a:r>
              <a:rPr lang="zh-CN" altLang="en-US" dirty="0"/>
              <a:t>算法</a:t>
            </a:r>
          </a:p>
        </p:txBody>
      </p:sp>
      <p:sp>
        <p:nvSpPr>
          <p:cNvPr id="3" name="内容占位符 2"/>
          <p:cNvSpPr>
            <a:spLocks noGrp="1"/>
          </p:cNvSpPr>
          <p:nvPr>
            <p:ph idx="1"/>
          </p:nvPr>
        </p:nvSpPr>
        <p:spPr>
          <a:xfrm>
            <a:off x="457200" y="1600200"/>
            <a:ext cx="8686800" cy="4525963"/>
          </a:xfrm>
        </p:spPr>
        <p:txBody>
          <a:bodyPr>
            <a:normAutofit/>
          </a:bodyPr>
          <a:lstStyle/>
          <a:p>
            <a:r>
              <a:rPr lang="zh-CN" altLang="en-US" sz="2800" dirty="0"/>
              <a:t>采用递归方式来计算每个节点的</a:t>
            </a:r>
            <a:r>
              <a:rPr lang="en-US" altLang="zh-CN" sz="2800" dirty="0" err="1"/>
              <a:t>minimax</a:t>
            </a:r>
            <a:r>
              <a:rPr lang="zh-CN" altLang="en-US" sz="2800" dirty="0"/>
              <a:t>值</a:t>
            </a:r>
          </a:p>
          <a:p>
            <a:pPr lvl="1"/>
            <a:r>
              <a:rPr lang="zh-CN" altLang="en-US" sz="2400" dirty="0"/>
              <a:t>从任意节点开始递归，</a:t>
            </a:r>
            <a:r>
              <a:rPr lang="zh-CN" altLang="en-US" sz="2400" dirty="0">
                <a:solidFill>
                  <a:srgbClr val="FF0000"/>
                </a:solidFill>
              </a:rPr>
              <a:t>直到叶节点</a:t>
            </a:r>
            <a:r>
              <a:rPr lang="zh-CN" altLang="en-US" sz="2400" dirty="0"/>
              <a:t>为止 </a:t>
            </a:r>
            <a:r>
              <a:rPr lang="en-US" altLang="zh-CN" sz="2400" dirty="0"/>
              <a:t>(</a:t>
            </a:r>
            <a:r>
              <a:rPr lang="zh-CN" altLang="en-US" sz="2400" dirty="0"/>
              <a:t>此时</a:t>
            </a:r>
            <a:r>
              <a:rPr lang="en-US" altLang="zh-CN" sz="2400" dirty="0">
                <a:solidFill>
                  <a:srgbClr val="FF0000"/>
                </a:solidFill>
              </a:rPr>
              <a:t>Terminal-test</a:t>
            </a:r>
            <a:r>
              <a:rPr lang="zh-CN" altLang="en-US" sz="2400" dirty="0">
                <a:solidFill>
                  <a:srgbClr val="FF0000"/>
                </a:solidFill>
              </a:rPr>
              <a:t> </a:t>
            </a:r>
            <a:r>
              <a:rPr lang="zh-CN" altLang="en-US" sz="2400" dirty="0"/>
              <a:t>返回真值</a:t>
            </a:r>
            <a:r>
              <a:rPr lang="zh-CN" altLang="en-US" sz="2400" dirty="0">
                <a:solidFill>
                  <a:srgbClr val="FF0000"/>
                </a:solidFill>
              </a:rPr>
              <a:t>）</a:t>
            </a:r>
          </a:p>
          <a:p>
            <a:pPr lvl="1"/>
            <a:r>
              <a:rPr lang="zh-CN" altLang="en-US" sz="2400" dirty="0"/>
              <a:t>将叶节点的</a:t>
            </a:r>
            <a:r>
              <a:rPr lang="en-US" altLang="zh-CN" sz="2400" dirty="0" err="1"/>
              <a:t>minimax</a:t>
            </a:r>
            <a:r>
              <a:rPr lang="zh-CN" altLang="en-US" sz="2400" dirty="0"/>
              <a:t>值逐层传递回去，得到中间节点的</a:t>
            </a:r>
            <a:r>
              <a:rPr lang="en-US" altLang="zh-CN" sz="2400" dirty="0" err="1"/>
              <a:t>minimax</a:t>
            </a:r>
            <a:r>
              <a:rPr lang="zh-CN" altLang="en-US" sz="2400" dirty="0"/>
              <a:t>值</a:t>
            </a:r>
          </a:p>
          <a:p>
            <a:pPr lvl="0"/>
            <a:r>
              <a:rPr lang="zh-CN" altLang="en-US" sz="2800" dirty="0"/>
              <a:t>若搜索树的深度为</a:t>
            </a:r>
            <a:r>
              <a:rPr lang="en-US" altLang="zh-CN" sz="2800" dirty="0"/>
              <a:t>m</a:t>
            </a:r>
            <a:r>
              <a:rPr lang="zh-CN" altLang="en-US" sz="2800" dirty="0"/>
              <a:t>，每个节点平均有</a:t>
            </a:r>
            <a:r>
              <a:rPr lang="en-US" altLang="zh-CN" sz="2800" dirty="0"/>
              <a:t>b</a:t>
            </a:r>
            <a:r>
              <a:rPr lang="zh-CN" altLang="en-US" sz="2800" dirty="0"/>
              <a:t>个子节点，则总的节点个数在 </a:t>
            </a:r>
            <a:r>
              <a:rPr lang="en-US" altLang="zh-CN" sz="2800" dirty="0" err="1"/>
              <a:t>b</a:t>
            </a:r>
            <a:r>
              <a:rPr lang="en-US" altLang="zh-CN" sz="2800" baseline="30000" dirty="0" err="1"/>
              <a:t>m</a:t>
            </a:r>
            <a:r>
              <a:rPr lang="en-US" altLang="zh-CN" sz="2800" dirty="0"/>
              <a:t> </a:t>
            </a:r>
            <a:r>
              <a:rPr lang="zh-CN" altLang="en-US" sz="2800" dirty="0"/>
              <a:t>量级</a:t>
            </a:r>
          </a:p>
          <a:p>
            <a:pPr lvl="1"/>
            <a:r>
              <a:rPr lang="zh-CN" altLang="en-US" sz="2400" dirty="0"/>
              <a:t>对于实际的游戏，这样的时间成本太高，无法实用</a:t>
            </a:r>
          </a:p>
          <a:p>
            <a:pPr lvl="0"/>
            <a:r>
              <a:rPr lang="en-US" altLang="zh-CN" sz="2800" dirty="0" err="1"/>
              <a:t>Minimax</a:t>
            </a:r>
            <a:r>
              <a:rPr lang="zh-CN" altLang="en-US" sz="2800" dirty="0"/>
              <a:t>算法仅是一个理论上的分析，并且是后续高效算法的基础</a:t>
            </a:r>
          </a:p>
          <a:p>
            <a:pPr lvl="0"/>
            <a:endParaRPr lang="zh-CN" altLang="en-US" sz="2800" dirty="0"/>
          </a:p>
          <a:p>
            <a:pPr lvl="0"/>
            <a:endParaRPr lang="zh-CN" altLang="en-US" sz="2800" dirty="0"/>
          </a:p>
          <a:p>
            <a:endParaRPr lang="zh-CN"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8193"/>
          <p:cNvSpPr>
            <a:spLocks noGrp="1"/>
          </p:cNvSpPr>
          <p:nvPr>
            <p:ph type="title"/>
          </p:nvPr>
        </p:nvSpPr>
        <p:spPr/>
        <p:txBody>
          <a:bodyPr anchor="ctr"/>
          <a:lstStyle/>
          <a:p>
            <a:r>
              <a:rPr lang="en-US" altLang="zh-CN" dirty="0" err="1"/>
              <a:t>Minimax</a:t>
            </a:r>
            <a:r>
              <a:rPr lang="en-US" altLang="zh-CN" dirty="0"/>
              <a:t> </a:t>
            </a:r>
            <a:r>
              <a:rPr lang="zh-CN" altLang="en-US" dirty="0"/>
              <a:t>算法</a:t>
            </a:r>
            <a:endParaRPr lang="en-US" altLang="zh-CN" dirty="0"/>
          </a:p>
        </p:txBody>
      </p:sp>
      <p:pic>
        <p:nvPicPr>
          <p:cNvPr id="8196" name="图片 8195"/>
          <p:cNvPicPr>
            <a:picLocks noChangeAspect="1"/>
          </p:cNvPicPr>
          <p:nvPr/>
        </p:nvPicPr>
        <p:blipFill>
          <a:blip r:embed="rId2"/>
          <a:srcRect l="15625" t="25000" r="15625" b="11458"/>
          <a:stretch>
            <a:fillRect/>
          </a:stretch>
        </p:blipFill>
        <p:spPr>
          <a:xfrm rot="-21600000">
            <a:off x="914400" y="1371600"/>
            <a:ext cx="7162800" cy="4965700"/>
          </a:xfrm>
          <a:prstGeom prst="rect">
            <a:avLst/>
          </a:prstGeom>
          <a:noFill/>
          <a:ln w="9525">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深度受限的</a:t>
            </a:r>
            <a:r>
              <a:rPr kumimoji="1" lang="en-US" altLang="zh-CN" dirty="0" err="1"/>
              <a:t>Minimax</a:t>
            </a:r>
            <a:r>
              <a:rPr kumimoji="1" lang="zh-CN" altLang="en-US" dirty="0"/>
              <a:t>算法</a:t>
            </a:r>
          </a:p>
        </p:txBody>
      </p:sp>
      <p:sp>
        <p:nvSpPr>
          <p:cNvPr id="3" name="内容占位符 2"/>
          <p:cNvSpPr>
            <a:spLocks noGrp="1"/>
          </p:cNvSpPr>
          <p:nvPr>
            <p:ph idx="1"/>
          </p:nvPr>
        </p:nvSpPr>
        <p:spPr/>
        <p:txBody>
          <a:bodyPr/>
          <a:lstStyle/>
          <a:p>
            <a:endParaRPr kumimoji="1" lang="zh-CN" altLang="en-US" dirty="0"/>
          </a:p>
        </p:txBody>
      </p:sp>
      <p:sp>
        <p:nvSpPr>
          <p:cNvPr id="4" name="幻灯片编号占位符 3"/>
          <p:cNvSpPr>
            <a:spLocks noGrp="1"/>
          </p:cNvSpPr>
          <p:nvPr>
            <p:ph type="sldNum" sz="quarter" idx="12"/>
          </p:nvPr>
        </p:nvSpPr>
        <p:spPr/>
        <p:txBody>
          <a:bodyPr/>
          <a:lstStyle/>
          <a:p>
            <a:fld id="{B6F15528-21DE-4FAA-801E-634DDDAF4B2B}" type="slidenum">
              <a:rPr lang="en-US" smtClean="0"/>
              <a:t>16</a:t>
            </a:fld>
            <a:endParaRPr lang="en-US"/>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524433"/>
            <a:ext cx="7298336" cy="496456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err="1"/>
              <a:t>Minimax</a:t>
            </a:r>
            <a:r>
              <a:rPr lang="en-US" dirty="0"/>
              <a:t> </a:t>
            </a:r>
            <a:r>
              <a:rPr lang="zh-CN" altLang="en-US" dirty="0"/>
              <a:t>的性能</a:t>
            </a:r>
          </a:p>
        </p:txBody>
      </p:sp>
      <p:sp>
        <p:nvSpPr>
          <p:cNvPr id="3" name="内容占位符 2"/>
          <p:cNvSpPr>
            <a:spLocks noGrp="1"/>
          </p:cNvSpPr>
          <p:nvPr>
            <p:ph idx="1"/>
          </p:nvPr>
        </p:nvSpPr>
        <p:spPr>
          <a:xfrm>
            <a:off x="285720" y="1600200"/>
            <a:ext cx="8643998" cy="4525963"/>
          </a:xfrm>
        </p:spPr>
        <p:txBody>
          <a:bodyPr>
            <a:normAutofit fontScale="92500" lnSpcReduction="10000"/>
          </a:bodyPr>
          <a:lstStyle/>
          <a:p>
            <a:pPr>
              <a:buNone/>
            </a:pPr>
            <a:r>
              <a:rPr lang="zh-CN" altLang="en-US" sz="2400" dirty="0">
                <a:solidFill>
                  <a:srgbClr val="FF0000"/>
                </a:solidFill>
              </a:rPr>
              <a:t>完整性？？</a:t>
            </a:r>
            <a:r>
              <a:rPr lang="en-US" sz="2400" dirty="0">
                <a:solidFill>
                  <a:srgbClr val="FF0000"/>
                </a:solidFill>
              </a:rPr>
              <a:t> </a:t>
            </a:r>
            <a:r>
              <a:rPr lang="en-US" sz="2400" dirty="0"/>
              <a:t>Yes,</a:t>
            </a:r>
            <a:r>
              <a:rPr lang="zh-CN" altLang="en-US" sz="2400" dirty="0"/>
              <a:t>仅当博弈树是有限时</a:t>
            </a:r>
            <a:endParaRPr lang="en-US" altLang="zh-CN" sz="2400" dirty="0"/>
          </a:p>
          <a:p>
            <a:pPr>
              <a:buNone/>
            </a:pPr>
            <a:endParaRPr lang="en-US" sz="2400" dirty="0"/>
          </a:p>
          <a:p>
            <a:pPr>
              <a:buNone/>
            </a:pPr>
            <a:r>
              <a:rPr lang="zh-CN" altLang="en-US" sz="2400" dirty="0">
                <a:solidFill>
                  <a:srgbClr val="FF0000"/>
                </a:solidFill>
              </a:rPr>
              <a:t>最优性？？</a:t>
            </a:r>
            <a:r>
              <a:rPr lang="en-US" altLang="zh-CN" sz="2400" dirty="0"/>
              <a:t>Yes,</a:t>
            </a:r>
            <a:r>
              <a:rPr lang="zh-CN" altLang="en-US" sz="2400" dirty="0"/>
              <a:t>遇到一个聪明的对手。</a:t>
            </a:r>
            <a:r>
              <a:rPr lang="en-US" sz="2400" dirty="0"/>
              <a:t>Otherwise?? </a:t>
            </a:r>
          </a:p>
          <a:p>
            <a:pPr>
              <a:buNone/>
            </a:pPr>
            <a:endParaRPr lang="en-US" sz="2400" dirty="0"/>
          </a:p>
          <a:p>
            <a:pPr>
              <a:buNone/>
            </a:pPr>
            <a:r>
              <a:rPr lang="zh-CN" altLang="en-US" sz="2400" dirty="0">
                <a:solidFill>
                  <a:srgbClr val="FF0000"/>
                </a:solidFill>
              </a:rPr>
              <a:t>时间复杂度？？</a:t>
            </a:r>
            <a:r>
              <a:rPr lang="en-US" sz="2400" dirty="0">
                <a:solidFill>
                  <a:srgbClr val="FF0000"/>
                </a:solidFill>
              </a:rPr>
              <a:t>O(</a:t>
            </a:r>
            <a:r>
              <a:rPr lang="en-US" sz="2400" dirty="0" err="1">
                <a:solidFill>
                  <a:srgbClr val="FF0000"/>
                </a:solidFill>
              </a:rPr>
              <a:t>b</a:t>
            </a:r>
            <a:r>
              <a:rPr lang="en-US" sz="2400" baseline="30000" dirty="0" err="1">
                <a:solidFill>
                  <a:srgbClr val="FF0000"/>
                </a:solidFill>
              </a:rPr>
              <a:t>m</a:t>
            </a:r>
            <a:r>
              <a:rPr lang="en-US" sz="2400" dirty="0">
                <a:solidFill>
                  <a:srgbClr val="FF0000"/>
                </a:solidFill>
              </a:rPr>
              <a:t>) </a:t>
            </a:r>
          </a:p>
          <a:p>
            <a:pPr>
              <a:buNone/>
            </a:pPr>
            <a:endParaRPr lang="en-US" sz="2400" dirty="0"/>
          </a:p>
          <a:p>
            <a:pPr>
              <a:buNone/>
            </a:pPr>
            <a:r>
              <a:rPr lang="zh-CN" altLang="en-US" sz="2400" dirty="0">
                <a:solidFill>
                  <a:srgbClr val="FF0000"/>
                </a:solidFill>
              </a:rPr>
              <a:t>空间复杂度？？</a:t>
            </a:r>
            <a:r>
              <a:rPr lang="en-US" dirty="0"/>
              <a:t> </a:t>
            </a:r>
            <a:r>
              <a:rPr lang="en-US" altLang="zh-CN" sz="2400" dirty="0">
                <a:solidFill>
                  <a:srgbClr val="FF0000"/>
                </a:solidFill>
              </a:rPr>
              <a:t>O(</a:t>
            </a:r>
            <a:r>
              <a:rPr lang="en-US" altLang="zh-CN" sz="2400" dirty="0" err="1">
                <a:solidFill>
                  <a:srgbClr val="FF0000"/>
                </a:solidFill>
              </a:rPr>
              <a:t>bm</a:t>
            </a:r>
            <a:r>
              <a:rPr lang="en-US" altLang="zh-CN" sz="2400" dirty="0">
                <a:solidFill>
                  <a:srgbClr val="FF0000"/>
                </a:solidFill>
              </a:rPr>
              <a:t>)</a:t>
            </a:r>
            <a:r>
              <a:rPr lang="en-US" altLang="zh-CN" sz="2400" dirty="0"/>
              <a:t> (</a:t>
            </a:r>
            <a:r>
              <a:rPr lang="zh-CN" altLang="en-US" sz="2400" dirty="0"/>
              <a:t>深度优先搜索</a:t>
            </a:r>
            <a:r>
              <a:rPr lang="en-US" altLang="zh-CN" sz="2400" dirty="0"/>
              <a:t>) </a:t>
            </a:r>
          </a:p>
          <a:p>
            <a:pPr>
              <a:buNone/>
            </a:pPr>
            <a:r>
              <a:rPr lang="en-US" altLang="zh-CN" sz="2400" dirty="0"/>
              <a:t>For chess, b≈35, m≈100 for “reasonable" games</a:t>
            </a:r>
          </a:p>
          <a:p>
            <a:pPr>
              <a:buNone/>
            </a:pPr>
            <a:r>
              <a:rPr lang="en-US" altLang="zh-CN" sz="2400" dirty="0"/>
              <a:t>		→</a:t>
            </a:r>
            <a:r>
              <a:rPr lang="zh-CN" altLang="en-US" sz="2400" dirty="0"/>
              <a:t>寻找精确解时完全不可行的</a:t>
            </a:r>
            <a:endParaRPr lang="en-US" altLang="zh-CN" sz="2400" dirty="0"/>
          </a:p>
          <a:p>
            <a:pPr>
              <a:buNone/>
            </a:pPr>
            <a:r>
              <a:rPr lang="en-US" altLang="zh-CN" sz="2400" dirty="0"/>
              <a:t/>
            </a:r>
            <a:br>
              <a:rPr lang="en-US" altLang="zh-CN" sz="2400" dirty="0"/>
            </a:br>
            <a:r>
              <a:rPr lang="en-US" altLang="zh-CN" sz="2400" dirty="0"/>
              <a:t>But do we need to explore every path? </a:t>
            </a:r>
            <a:br>
              <a:rPr lang="en-US" altLang="zh-CN" sz="2400" dirty="0"/>
            </a:br>
            <a:endParaRPr lang="zh-CN" altLang="en-US" sz="2400" dirty="0"/>
          </a:p>
        </p:txBody>
      </p:sp>
    </p:spTree>
    <p:extLst>
      <p:ext uri="{BB962C8B-B14F-4D97-AF65-F5344CB8AC3E}">
        <p14:creationId xmlns:p14="http://schemas.microsoft.com/office/powerpoint/2010/main" val="10243660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最优策略</a:t>
            </a:r>
            <a:endParaRPr lang="zh-CN" altLang="en-US" dirty="0"/>
          </a:p>
        </p:txBody>
      </p:sp>
      <p:sp>
        <p:nvSpPr>
          <p:cNvPr id="3" name="内容占位符 2"/>
          <p:cNvSpPr>
            <a:spLocks noGrp="1"/>
          </p:cNvSpPr>
          <p:nvPr>
            <p:ph idx="1"/>
          </p:nvPr>
        </p:nvSpPr>
        <p:spPr>
          <a:xfrm>
            <a:off x="457200" y="1600200"/>
            <a:ext cx="8458200" cy="4525963"/>
          </a:xfrm>
        </p:spPr>
        <p:txBody>
          <a:bodyPr/>
          <a:lstStyle/>
          <a:p>
            <a:pPr>
              <a:defRPr/>
            </a:pPr>
            <a:r>
              <a:rPr lang="zh-CN" altLang="en-US" noProof="1"/>
              <a:t>最优解是导致取胜的终止状态的一系列招数</a:t>
            </a:r>
          </a:p>
          <a:p>
            <a:pPr>
              <a:defRPr/>
            </a:pPr>
            <a:r>
              <a:rPr lang="zh-CN" altLang="en-US" noProof="1"/>
              <a:t>但，在游戏中</a:t>
            </a:r>
            <a:r>
              <a:rPr lang="en-US" altLang="zh-CN" noProof="1"/>
              <a:t>MIN</a:t>
            </a:r>
            <a:r>
              <a:rPr lang="zh-CN" altLang="en-US" noProof="1"/>
              <a:t>还有发言权</a:t>
            </a:r>
          </a:p>
          <a:p>
            <a:pPr>
              <a:defRPr/>
            </a:pPr>
            <a:r>
              <a:rPr lang="zh-CN" altLang="en-US" noProof="1"/>
              <a:t>在对手不犯错误时，最优策略能够导致至少不比任何其它策略差的结果。 </a:t>
            </a:r>
            <a:endParaRPr lang="en-US" altLang="zh-CN" noProof="1" smtClean="0"/>
          </a:p>
          <a:p>
            <a:pPr>
              <a:defRPr/>
            </a:pPr>
            <a:endParaRPr lang="en-US" altLang="zh-CN" noProof="1"/>
          </a:p>
        </p:txBody>
      </p:sp>
      <p:sp>
        <p:nvSpPr>
          <p:cNvPr id="4" name="灯片编号占位符 3"/>
          <p:cNvSpPr>
            <a:spLocks noGrp="1"/>
          </p:cNvSpPr>
          <p:nvPr>
            <p:ph type="sldNum" sz="quarter" idx="12"/>
          </p:nvPr>
        </p:nvSpPr>
        <p:spPr/>
        <p:txBody>
          <a:bodyPr/>
          <a:lstStyle/>
          <a:p>
            <a:fld id="{B6F15528-21DE-4FAA-801E-634DDDAF4B2B}" type="slidenum">
              <a:rPr lang="en-US" smtClean="0"/>
              <a:t>18</a:t>
            </a:fld>
            <a:endParaRPr lang="en-US"/>
          </a:p>
        </p:txBody>
      </p:sp>
    </p:spTree>
    <p:extLst>
      <p:ext uri="{BB962C8B-B14F-4D97-AF65-F5344CB8AC3E}">
        <p14:creationId xmlns:p14="http://schemas.microsoft.com/office/powerpoint/2010/main" val="352837412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课堂练习</a:t>
            </a:r>
          </a:p>
        </p:txBody>
      </p:sp>
      <p:sp>
        <p:nvSpPr>
          <p:cNvPr id="3" name="内容占位符 2"/>
          <p:cNvSpPr>
            <a:spLocks noGrp="1"/>
          </p:cNvSpPr>
          <p:nvPr>
            <p:ph idx="1"/>
          </p:nvPr>
        </p:nvSpPr>
        <p:spPr/>
        <p:txBody>
          <a:bodyPr/>
          <a:lstStyle/>
          <a:p>
            <a:r>
              <a:rPr lang="zh-CN" altLang="en-US" dirty="0" smtClean="0"/>
              <a:t>补充</a:t>
            </a:r>
            <a:r>
              <a:rPr lang="en-US" altLang="zh-CN" dirty="0" err="1"/>
              <a:t>Minimax_Value</a:t>
            </a:r>
            <a:r>
              <a:rPr lang="en-US" altLang="zh-CN" dirty="0"/>
              <a:t> </a:t>
            </a:r>
            <a:r>
              <a:rPr lang="zh-CN" altLang="en-US" dirty="0" smtClean="0"/>
              <a:t>函数</a:t>
            </a:r>
            <a:r>
              <a:rPr lang="zh-CN" altLang="en-US" dirty="0" smtClean="0"/>
              <a:t>，实现</a:t>
            </a:r>
            <a:r>
              <a:rPr lang="en-US" altLang="zh-CN" dirty="0" smtClean="0"/>
              <a:t>Tic-Tac-Toe</a:t>
            </a:r>
            <a:r>
              <a:rPr lang="zh-CN" altLang="en-US" dirty="0" smtClean="0"/>
              <a:t>游戏</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t>19</a:t>
            </a:fld>
            <a:endParaRPr lang="en-US"/>
          </a:p>
        </p:txBody>
      </p:sp>
      <p:sp>
        <p:nvSpPr>
          <p:cNvPr id="5" name="笑脸 4">
            <a:extLst>
              <a:ext uri="{FF2B5EF4-FFF2-40B4-BE49-F238E27FC236}">
                <a16:creationId xmlns:a16="http://schemas.microsoft.com/office/drawing/2014/main" id="{26AE876D-427E-8948-BD29-90AF4B50143D}"/>
              </a:ext>
            </a:extLst>
          </p:cNvPr>
          <p:cNvSpPr/>
          <p:nvPr/>
        </p:nvSpPr>
        <p:spPr>
          <a:xfrm>
            <a:off x="152400" y="152400"/>
            <a:ext cx="838200" cy="762000"/>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ctr"/>
          <a:lstStyle/>
          <a:p>
            <a:r>
              <a:rPr lang="zh-CN" altLang="en-US"/>
              <a:t>提纲</a:t>
            </a:r>
          </a:p>
        </p:txBody>
      </p:sp>
      <p:sp>
        <p:nvSpPr>
          <p:cNvPr id="4099" name="文本占位符 4098"/>
          <p:cNvSpPr>
            <a:spLocks noGrp="1"/>
          </p:cNvSpPr>
          <p:nvPr>
            <p:ph type="body" idx="1"/>
          </p:nvPr>
        </p:nvSpPr>
        <p:spPr/>
        <p:txBody>
          <a:bodyPr/>
          <a:lstStyle/>
          <a:p>
            <a:r>
              <a:rPr lang="zh-CN" altLang="en-US" dirty="0"/>
              <a:t>游戏（两人对抗）</a:t>
            </a:r>
            <a:endParaRPr lang="en-US" altLang="zh-CN" dirty="0"/>
          </a:p>
          <a:p>
            <a:r>
              <a:rPr lang="zh-CN" altLang="en-US" dirty="0"/>
              <a:t>对抗搜索</a:t>
            </a:r>
          </a:p>
          <a:p>
            <a:pPr lvl="1"/>
            <a:r>
              <a:rPr lang="en-US" altLang="zh-CN" dirty="0" err="1"/>
              <a:t>Minimax</a:t>
            </a:r>
            <a:r>
              <a:rPr lang="zh-CN" altLang="en-US" dirty="0"/>
              <a:t>算法</a:t>
            </a:r>
            <a:endParaRPr lang="en-US" altLang="zh-CN" dirty="0"/>
          </a:p>
          <a:p>
            <a:pPr lvl="1"/>
            <a:r>
              <a:rPr lang="en-US" altLang="zh-CN" b="1" dirty="0">
                <a:solidFill>
                  <a:srgbClr val="FF0000"/>
                </a:solidFill>
              </a:rPr>
              <a:t>α-β </a:t>
            </a:r>
            <a:r>
              <a:rPr lang="zh-CN" altLang="en-US" b="1" dirty="0">
                <a:solidFill>
                  <a:srgbClr val="FF0000"/>
                </a:solidFill>
              </a:rPr>
              <a:t>剪枝</a:t>
            </a:r>
            <a:r>
              <a:rPr lang="en-US" altLang="zh-CN" b="1" dirty="0">
                <a:solidFill>
                  <a:srgbClr val="FF0000"/>
                </a:solidFill>
              </a:rPr>
              <a:t> (alpha-beta pruning)</a:t>
            </a:r>
          </a:p>
          <a:p>
            <a:pPr lvl="1"/>
            <a:r>
              <a:rPr lang="zh-CN" altLang="en-US" dirty="0"/>
              <a:t>实时决策</a:t>
            </a:r>
            <a:r>
              <a:rPr lang="en-US" altLang="zh-CN" dirty="0"/>
              <a:t> (real-time decision</a:t>
            </a:r>
            <a:r>
              <a:rPr lang="en-US" altLang="zh-CN" dirty="0" smtClean="0"/>
              <a:t>)</a:t>
            </a:r>
          </a:p>
          <a:p>
            <a:r>
              <a:rPr lang="zh-CN" altLang="en-US" dirty="0"/>
              <a:t>包含几率因素的游戏</a:t>
            </a:r>
            <a:endParaRPr lang="en-US" altLang="zh-CN" dirty="0"/>
          </a:p>
          <a:p>
            <a:r>
              <a:rPr lang="zh-CN" altLang="en-US" dirty="0"/>
              <a:t>不完整信息的</a:t>
            </a:r>
            <a:r>
              <a:rPr lang="zh-CN" altLang="en-US" dirty="0" smtClean="0"/>
              <a:t>游戏</a:t>
            </a:r>
          </a:p>
        </p:txBody>
      </p:sp>
      <p:sp>
        <p:nvSpPr>
          <p:cNvPr id="2" name="灯片编号占位符 1"/>
          <p:cNvSpPr>
            <a:spLocks noGrp="1"/>
          </p:cNvSpPr>
          <p:nvPr>
            <p:ph type="sldNum" sz="quarter" idx="12"/>
          </p:nvPr>
        </p:nvSpPr>
        <p:spPr/>
        <p:txBody>
          <a:bodyPr/>
          <a:lstStyle/>
          <a:p>
            <a:fld id="{B6F15528-21DE-4FAA-801E-634DDDAF4B2B}" type="slidenum">
              <a:rPr lang="en-US" smtClean="0"/>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l-GR" dirty="0"/>
              <a:t>α  - β </a:t>
            </a:r>
            <a:r>
              <a:rPr lang="zh-CN" altLang="en-US"/>
              <a:t>剪枝</a:t>
            </a:r>
            <a:endParaRPr lang="zh-CN" altLang="en-US" dirty="0"/>
          </a:p>
        </p:txBody>
      </p:sp>
      <p:sp>
        <p:nvSpPr>
          <p:cNvPr id="3" name="内容占位符 2"/>
          <p:cNvSpPr>
            <a:spLocks noGrp="1"/>
          </p:cNvSpPr>
          <p:nvPr>
            <p:ph idx="1"/>
          </p:nvPr>
        </p:nvSpPr>
        <p:spPr/>
        <p:txBody>
          <a:bodyPr>
            <a:normAutofit/>
          </a:bodyPr>
          <a:lstStyle/>
          <a:p>
            <a:pPr>
              <a:buNone/>
            </a:pPr>
            <a:r>
              <a:rPr lang="en-US" altLang="zh-CN" dirty="0"/>
              <a:t>• </a:t>
            </a:r>
            <a:r>
              <a:rPr lang="zh-CN" altLang="en-US" dirty="0"/>
              <a:t>若与一个聪明的对手对弈，则博弈树上的一些分枝绝不会发生</a:t>
            </a:r>
            <a:endParaRPr lang="en-US" altLang="zh-CN" dirty="0"/>
          </a:p>
          <a:p>
            <a:pPr>
              <a:buNone/>
            </a:pPr>
            <a:endParaRPr lang="en-US" altLang="zh-CN" dirty="0"/>
          </a:p>
          <a:p>
            <a:pPr>
              <a:buNone/>
            </a:pPr>
            <a:r>
              <a:rPr lang="en-US" altLang="zh-CN" dirty="0"/>
              <a:t>• “If you have an idea that is surely bad, don’t take the time to see how truly awful it is.”</a:t>
            </a:r>
            <a:br>
              <a:rPr lang="en-US" altLang="zh-CN" dirty="0"/>
            </a:br>
            <a:r>
              <a:rPr lang="en-US" altLang="zh-CN" dirty="0"/>
              <a:t>					-- Pat Winston</a:t>
            </a:r>
          </a:p>
          <a:p>
            <a:pPr>
              <a:buNone/>
            </a:pPr>
            <a:endParaRPr lang="en-US" altLang="zh-CN" dirty="0"/>
          </a:p>
          <a:p>
            <a:pPr>
              <a:buNone/>
            </a:pPr>
            <a:r>
              <a:rPr lang="en-US" altLang="zh-CN" dirty="0"/>
              <a:t>• </a:t>
            </a:r>
            <a:r>
              <a:rPr lang="zh-CN" altLang="en-US" dirty="0"/>
              <a:t>剪枝能消除搜索树的很大一部分分枝</a:t>
            </a:r>
          </a:p>
        </p:txBody>
      </p:sp>
    </p:spTree>
    <p:extLst>
      <p:ext uri="{BB962C8B-B14F-4D97-AF65-F5344CB8AC3E}">
        <p14:creationId xmlns:p14="http://schemas.microsoft.com/office/powerpoint/2010/main" val="3381905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err="1">
                <a:sym typeface="+mn-ea"/>
              </a:rPr>
              <a:t>α-β</a:t>
            </a:r>
            <a:r>
              <a:rPr lang="en-US" altLang="zh-CN">
                <a:sym typeface="+mn-ea"/>
              </a:rPr>
              <a:t> pruning</a:t>
            </a:r>
            <a:endParaRPr lang="zh-CN" altLang="en-US"/>
          </a:p>
        </p:txBody>
      </p:sp>
      <p:sp>
        <p:nvSpPr>
          <p:cNvPr id="3" name="内容占位符 2"/>
          <p:cNvSpPr>
            <a:spLocks noGrp="1"/>
          </p:cNvSpPr>
          <p:nvPr>
            <p:ph idx="1"/>
          </p:nvPr>
        </p:nvSpPr>
        <p:spPr/>
        <p:txBody>
          <a:bodyPr/>
          <a:lstStyle/>
          <a:p>
            <a:r>
              <a:rPr lang="zh-CN" altLang="en-US" dirty="0"/>
              <a:t>动机：</a:t>
            </a:r>
            <a:r>
              <a:rPr lang="en-US" altLang="zh-CN" dirty="0" err="1"/>
              <a:t>minimax</a:t>
            </a:r>
            <a:r>
              <a:rPr lang="zh-CN" altLang="en-US" dirty="0"/>
              <a:t>搜索须遍历指数级的结点，效率太低</a:t>
            </a:r>
          </a:p>
          <a:p>
            <a:r>
              <a:rPr lang="en-US" altLang="zh-CN" dirty="0"/>
              <a:t>pruning</a:t>
            </a:r>
            <a:r>
              <a:rPr lang="zh-CN" altLang="en-US" dirty="0"/>
              <a:t>：剪枝掉一部分节点（子树），保证结果依然是正确的（得到最佳的</a:t>
            </a:r>
            <a:r>
              <a:rPr lang="en-US" altLang="zh-CN" dirty="0" err="1"/>
              <a:t>minimax</a:t>
            </a:r>
            <a:r>
              <a:rPr lang="zh-CN" altLang="en-US" dirty="0"/>
              <a:t>值）</a:t>
            </a:r>
          </a:p>
          <a:p>
            <a:pPr lvl="1"/>
            <a:r>
              <a:rPr lang="zh-CN" altLang="en-US" sz="2800" dirty="0"/>
              <a:t>剪枝意味着程序不去处理、展开这些节点</a:t>
            </a:r>
            <a:endParaRPr lang="zh-CN" altLang="en-US" dirty="0"/>
          </a:p>
          <a:p>
            <a:r>
              <a:rPr lang="en-US" altLang="zh-CN" dirty="0">
                <a:sym typeface="+mn-ea"/>
              </a:rPr>
              <a:t>α-β pruning </a:t>
            </a:r>
            <a:r>
              <a:rPr lang="zh-CN" altLang="en-US" dirty="0">
                <a:sym typeface="+mn-ea"/>
              </a:rPr>
              <a:t>大约剪掉一半的节点</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0241"/>
          <p:cNvSpPr>
            <a:spLocks noGrp="1"/>
          </p:cNvSpPr>
          <p:nvPr>
            <p:ph type="title"/>
          </p:nvPr>
        </p:nvSpPr>
        <p:spPr/>
        <p:txBody>
          <a:bodyPr anchor="ctr"/>
          <a:lstStyle/>
          <a:p>
            <a:r>
              <a:rPr lang="en-US" altLang="zh-CN" dirty="0"/>
              <a:t>α-β pruning </a:t>
            </a:r>
            <a:r>
              <a:rPr lang="zh-CN" altLang="en-US" dirty="0"/>
              <a:t>例子</a:t>
            </a:r>
          </a:p>
        </p:txBody>
      </p:sp>
      <p:pic>
        <p:nvPicPr>
          <p:cNvPr id="10245" name="图片 10244" descr="alpha-beta-progress1c"/>
          <p:cNvPicPr>
            <a:picLocks noChangeAspect="1"/>
          </p:cNvPicPr>
          <p:nvPr/>
        </p:nvPicPr>
        <p:blipFill>
          <a:blip r:embed="rId2"/>
          <a:stretch>
            <a:fillRect/>
          </a:stretch>
        </p:blipFill>
        <p:spPr>
          <a:xfrm>
            <a:off x="457200" y="1600200"/>
            <a:ext cx="8229600" cy="3767138"/>
          </a:xfrm>
          <a:prstGeom prst="rect">
            <a:avLst/>
          </a:prstGeom>
          <a:noFill/>
          <a:ln w="9525">
            <a:noFill/>
          </a:ln>
        </p:spPr>
      </p:pic>
      <p:sp>
        <p:nvSpPr>
          <p:cNvPr id="2" name="文本框 1"/>
          <p:cNvSpPr txBox="1"/>
          <p:nvPr/>
        </p:nvSpPr>
        <p:spPr>
          <a:xfrm>
            <a:off x="656590" y="5916930"/>
            <a:ext cx="8119745" cy="645160"/>
          </a:xfrm>
          <a:prstGeom prst="rect">
            <a:avLst/>
          </a:prstGeom>
          <a:noFill/>
        </p:spPr>
        <p:txBody>
          <a:bodyPr wrap="square" rtlCol="0" anchor="t">
            <a:spAutoFit/>
          </a:bodyPr>
          <a:lstStyle/>
          <a:p>
            <a:r>
              <a:rPr lang="zh-CN" altLang="en-US"/>
              <a:t>对于根节点，已经得到其一个子节点的值为</a:t>
            </a:r>
            <a:r>
              <a:rPr lang="en-US" altLang="zh-CN"/>
              <a:t>3</a:t>
            </a:r>
            <a:r>
              <a:rPr lang="zh-CN" altLang="en-US"/>
              <a:t>，那么作为一个</a:t>
            </a:r>
            <a:r>
              <a:rPr lang="en-US" altLang="zh-CN">
                <a:sym typeface="+mn-ea"/>
              </a:rPr>
              <a:t>MAX</a:t>
            </a:r>
            <a:r>
              <a:rPr lang="zh-CN" altLang="en-US">
                <a:sym typeface="+mn-ea"/>
              </a:rPr>
              <a:t>节点，</a:t>
            </a:r>
            <a:r>
              <a:rPr lang="zh-CN" altLang="en-US"/>
              <a:t>根节点的值必然 </a:t>
            </a:r>
            <a:r>
              <a:rPr lang="en-US" altLang="zh-CN"/>
              <a:t>&gt;=3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3553"/>
          <p:cNvSpPr>
            <a:spLocks noGrp="1"/>
          </p:cNvSpPr>
          <p:nvPr>
            <p:ph type="title"/>
          </p:nvPr>
        </p:nvSpPr>
        <p:spPr/>
        <p:txBody>
          <a:bodyPr anchor="ctr"/>
          <a:lstStyle/>
          <a:p>
            <a:r>
              <a:rPr lang="en-US" altLang="zh-CN" dirty="0"/>
              <a:t>α-β pruning</a:t>
            </a:r>
            <a:r>
              <a:rPr lang="zh-CN" altLang="en-US" dirty="0"/>
              <a:t> 例子</a:t>
            </a:r>
            <a:endParaRPr lang="en-US" altLang="zh-CN" dirty="0"/>
          </a:p>
        </p:txBody>
      </p:sp>
      <p:pic>
        <p:nvPicPr>
          <p:cNvPr id="23556" name="图片 23555" descr="alpha-beta-progress2c"/>
          <p:cNvPicPr>
            <a:picLocks noChangeAspect="1"/>
          </p:cNvPicPr>
          <p:nvPr/>
        </p:nvPicPr>
        <p:blipFill>
          <a:blip r:embed="rId2"/>
          <a:stretch>
            <a:fillRect/>
          </a:stretch>
        </p:blipFill>
        <p:spPr>
          <a:xfrm>
            <a:off x="457200" y="1600200"/>
            <a:ext cx="8229600" cy="3767138"/>
          </a:xfrm>
          <a:prstGeom prst="rect">
            <a:avLst/>
          </a:prstGeom>
          <a:noFill/>
          <a:ln w="9525">
            <a:noFill/>
          </a:ln>
        </p:spPr>
      </p:pic>
      <p:sp>
        <p:nvSpPr>
          <p:cNvPr id="2" name="文本框 1"/>
          <p:cNvSpPr txBox="1"/>
          <p:nvPr/>
        </p:nvSpPr>
        <p:spPr>
          <a:xfrm>
            <a:off x="656590" y="5916930"/>
            <a:ext cx="8119745" cy="922020"/>
          </a:xfrm>
          <a:prstGeom prst="rect">
            <a:avLst/>
          </a:prstGeom>
          <a:noFill/>
        </p:spPr>
        <p:txBody>
          <a:bodyPr wrap="square" rtlCol="0" anchor="t">
            <a:spAutoFit/>
          </a:bodyPr>
          <a:lstStyle/>
          <a:p>
            <a:r>
              <a:rPr lang="zh-CN" altLang="en-US"/>
              <a:t>对于根节点的第二个子节点，已经得到其一个子节点的值为</a:t>
            </a:r>
            <a:r>
              <a:rPr lang="en-US" altLang="zh-CN"/>
              <a:t>2</a:t>
            </a:r>
            <a:r>
              <a:rPr lang="zh-CN" altLang="en-US"/>
              <a:t>，那么作为一个</a:t>
            </a:r>
            <a:r>
              <a:rPr lang="en-US" altLang="zh-CN">
                <a:sym typeface="+mn-ea"/>
              </a:rPr>
              <a:t>MIN</a:t>
            </a:r>
            <a:r>
              <a:rPr lang="zh-CN" altLang="en-US">
                <a:sym typeface="+mn-ea"/>
              </a:rPr>
              <a:t>节点，它</a:t>
            </a:r>
            <a:r>
              <a:rPr lang="zh-CN" altLang="en-US"/>
              <a:t>的值必然 </a:t>
            </a:r>
            <a:r>
              <a:rPr lang="en-US" altLang="zh-CN"/>
              <a:t>&lt;=2</a:t>
            </a:r>
            <a:r>
              <a:rPr lang="zh-CN" altLang="en-US"/>
              <a:t>（那么，我们就不需要计算两个</a:t>
            </a:r>
            <a:r>
              <a:rPr lang="en-US" altLang="zh-CN"/>
              <a:t>X</a:t>
            </a:r>
            <a:r>
              <a:rPr lang="zh-CN" altLang="en-US"/>
              <a:t>节点的值了，它们对根节点的值不会有影响）</a:t>
            </a:r>
            <a:r>
              <a:rPr lang="en-US" altLang="zh-CN"/>
              <a: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24577"/>
          <p:cNvSpPr>
            <a:spLocks noGrp="1"/>
          </p:cNvSpPr>
          <p:nvPr>
            <p:ph type="title"/>
          </p:nvPr>
        </p:nvSpPr>
        <p:spPr/>
        <p:txBody>
          <a:bodyPr anchor="ctr"/>
          <a:lstStyle/>
          <a:p>
            <a:r>
              <a:rPr lang="en-US" altLang="zh-CN" dirty="0"/>
              <a:t>α-β pruning</a:t>
            </a:r>
            <a:r>
              <a:rPr lang="zh-CN" altLang="en-US" dirty="0"/>
              <a:t> 例子</a:t>
            </a:r>
            <a:endParaRPr lang="en-US" altLang="zh-CN" dirty="0"/>
          </a:p>
        </p:txBody>
      </p:sp>
      <p:pic>
        <p:nvPicPr>
          <p:cNvPr id="24580" name="图片 24579" descr="alpha-beta-progress3c"/>
          <p:cNvPicPr>
            <a:picLocks noChangeAspect="1"/>
          </p:cNvPicPr>
          <p:nvPr/>
        </p:nvPicPr>
        <p:blipFill>
          <a:blip r:embed="rId2"/>
          <a:stretch>
            <a:fillRect/>
          </a:stretch>
        </p:blipFill>
        <p:spPr>
          <a:xfrm>
            <a:off x="457200" y="1600200"/>
            <a:ext cx="8229600" cy="3767138"/>
          </a:xfrm>
          <a:prstGeom prst="rect">
            <a:avLst/>
          </a:prstGeom>
          <a:noFill/>
          <a:ln w="9525">
            <a:noFill/>
          </a:ln>
        </p:spPr>
      </p:pic>
      <p:sp>
        <p:nvSpPr>
          <p:cNvPr id="2" name="文本框 1"/>
          <p:cNvSpPr txBox="1"/>
          <p:nvPr/>
        </p:nvSpPr>
        <p:spPr>
          <a:xfrm>
            <a:off x="656590" y="5916930"/>
            <a:ext cx="8119745" cy="645160"/>
          </a:xfrm>
          <a:prstGeom prst="rect">
            <a:avLst/>
          </a:prstGeom>
          <a:noFill/>
        </p:spPr>
        <p:txBody>
          <a:bodyPr wrap="square" rtlCol="0" anchor="t">
            <a:spAutoFit/>
          </a:bodyPr>
          <a:lstStyle/>
          <a:p>
            <a:r>
              <a:rPr lang="zh-CN" altLang="en-US"/>
              <a:t>对于根节点的第三个子节点，已经得到其一个子节点的值为</a:t>
            </a:r>
            <a:r>
              <a:rPr lang="en-US" altLang="zh-CN"/>
              <a:t>14</a:t>
            </a:r>
            <a:r>
              <a:rPr lang="zh-CN" altLang="en-US"/>
              <a:t>，那么作为一个</a:t>
            </a:r>
            <a:r>
              <a:rPr lang="en-US" altLang="zh-CN">
                <a:sym typeface="+mn-ea"/>
              </a:rPr>
              <a:t>MIN</a:t>
            </a:r>
            <a:r>
              <a:rPr lang="zh-CN" altLang="en-US">
                <a:sym typeface="+mn-ea"/>
              </a:rPr>
              <a:t>节点，它</a:t>
            </a:r>
            <a:r>
              <a:rPr lang="zh-CN" altLang="en-US"/>
              <a:t>的值必然 </a:t>
            </a:r>
            <a:r>
              <a:rPr lang="en-US" altLang="zh-CN"/>
              <a:t>&lt;=14</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25601"/>
          <p:cNvSpPr>
            <a:spLocks noGrp="1"/>
          </p:cNvSpPr>
          <p:nvPr>
            <p:ph type="title"/>
          </p:nvPr>
        </p:nvSpPr>
        <p:spPr/>
        <p:txBody>
          <a:bodyPr anchor="ctr"/>
          <a:lstStyle/>
          <a:p>
            <a:r>
              <a:rPr lang="en-US" altLang="zh-CN" dirty="0"/>
              <a:t>α-β pruning</a:t>
            </a:r>
            <a:r>
              <a:rPr lang="zh-CN" altLang="en-US" dirty="0"/>
              <a:t> 例子</a:t>
            </a:r>
            <a:endParaRPr lang="en-US" altLang="zh-CN" dirty="0"/>
          </a:p>
        </p:txBody>
      </p:sp>
      <p:pic>
        <p:nvPicPr>
          <p:cNvPr id="25604" name="图片 25603" descr="alpha-beta-progress4c"/>
          <p:cNvPicPr>
            <a:picLocks noChangeAspect="1"/>
          </p:cNvPicPr>
          <p:nvPr/>
        </p:nvPicPr>
        <p:blipFill>
          <a:blip r:embed="rId2"/>
          <a:stretch>
            <a:fillRect/>
          </a:stretch>
        </p:blipFill>
        <p:spPr>
          <a:xfrm>
            <a:off x="457200" y="1600200"/>
            <a:ext cx="8229600" cy="3768725"/>
          </a:xfrm>
          <a:prstGeom prst="rect">
            <a:avLst/>
          </a:prstGeom>
          <a:noFill/>
          <a:ln w="9525">
            <a:noFill/>
          </a:ln>
        </p:spPr>
      </p:pic>
      <p:sp>
        <p:nvSpPr>
          <p:cNvPr id="2" name="文本框 1"/>
          <p:cNvSpPr txBox="1"/>
          <p:nvPr/>
        </p:nvSpPr>
        <p:spPr>
          <a:xfrm>
            <a:off x="656590" y="5916930"/>
            <a:ext cx="8119745" cy="645160"/>
          </a:xfrm>
          <a:prstGeom prst="rect">
            <a:avLst/>
          </a:prstGeom>
          <a:noFill/>
        </p:spPr>
        <p:txBody>
          <a:bodyPr wrap="square" rtlCol="0" anchor="t">
            <a:spAutoFit/>
          </a:bodyPr>
          <a:lstStyle/>
          <a:p>
            <a:r>
              <a:rPr lang="zh-CN" altLang="en-US"/>
              <a:t>对于根节点的第三个子节点，</a:t>
            </a:r>
            <a:r>
              <a:rPr lang="zh-CN"/>
              <a:t>继续计算其子节点的值，发现</a:t>
            </a:r>
            <a:r>
              <a:rPr lang="zh-CN" altLang="en-US">
                <a:sym typeface="+mn-ea"/>
              </a:rPr>
              <a:t>它</a:t>
            </a:r>
            <a:r>
              <a:rPr lang="zh-CN" altLang="en-US"/>
              <a:t>的值被更新为 </a:t>
            </a:r>
            <a:r>
              <a:rPr lang="en-US" altLang="zh-CN"/>
              <a:t>&lt;=5</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26625"/>
          <p:cNvSpPr>
            <a:spLocks noGrp="1"/>
          </p:cNvSpPr>
          <p:nvPr>
            <p:ph type="title"/>
          </p:nvPr>
        </p:nvSpPr>
        <p:spPr/>
        <p:txBody>
          <a:bodyPr anchor="ctr"/>
          <a:lstStyle/>
          <a:p>
            <a:r>
              <a:rPr lang="en-US" altLang="zh-CN" dirty="0"/>
              <a:t>α-β pruning</a:t>
            </a:r>
            <a:r>
              <a:rPr lang="zh-CN" altLang="en-US" dirty="0"/>
              <a:t> 例子</a:t>
            </a:r>
            <a:endParaRPr lang="en-US" altLang="zh-CN" dirty="0"/>
          </a:p>
        </p:txBody>
      </p:sp>
      <p:pic>
        <p:nvPicPr>
          <p:cNvPr id="26628" name="图片 26627" descr="alpha-beta-progress5c"/>
          <p:cNvPicPr>
            <a:picLocks noChangeAspect="1"/>
          </p:cNvPicPr>
          <p:nvPr/>
        </p:nvPicPr>
        <p:blipFill>
          <a:blip r:embed="rId2"/>
          <a:stretch>
            <a:fillRect/>
          </a:stretch>
        </p:blipFill>
        <p:spPr>
          <a:xfrm>
            <a:off x="457200" y="1524000"/>
            <a:ext cx="8229600" cy="3778250"/>
          </a:xfrm>
          <a:prstGeom prst="rect">
            <a:avLst/>
          </a:prstGeom>
          <a:noFill/>
          <a:ln w="9525">
            <a:noFill/>
          </a:ln>
        </p:spPr>
      </p:pic>
      <p:sp>
        <p:nvSpPr>
          <p:cNvPr id="2" name="文本框 1"/>
          <p:cNvSpPr txBox="1"/>
          <p:nvPr/>
        </p:nvSpPr>
        <p:spPr>
          <a:xfrm>
            <a:off x="656590" y="5916930"/>
            <a:ext cx="8119745" cy="368300"/>
          </a:xfrm>
          <a:prstGeom prst="rect">
            <a:avLst/>
          </a:prstGeom>
          <a:noFill/>
        </p:spPr>
        <p:txBody>
          <a:bodyPr wrap="square" rtlCol="0" anchor="t">
            <a:spAutoFit/>
          </a:bodyPr>
          <a:lstStyle/>
          <a:p>
            <a:r>
              <a:rPr lang="zh-CN" altLang="en-US"/>
              <a:t>对于根节点的第三个子节点，</a:t>
            </a:r>
            <a:r>
              <a:rPr lang="zh-CN"/>
              <a:t>继续计算其子节点的值，发现</a:t>
            </a:r>
            <a:r>
              <a:rPr lang="zh-CN" altLang="en-US">
                <a:sym typeface="+mn-ea"/>
              </a:rPr>
              <a:t>它</a:t>
            </a:r>
            <a:r>
              <a:rPr lang="zh-CN" altLang="en-US"/>
              <a:t>的值被更新为 </a:t>
            </a:r>
            <a:r>
              <a:rPr lang="en-US" altLang="zh-CN"/>
              <a:t>2</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2289"/>
          <p:cNvSpPr>
            <a:spLocks noGrp="1"/>
          </p:cNvSpPr>
          <p:nvPr>
            <p:ph type="title"/>
          </p:nvPr>
        </p:nvSpPr>
        <p:spPr/>
        <p:txBody>
          <a:bodyPr anchor="ctr"/>
          <a:lstStyle/>
          <a:p>
            <a:r>
              <a:rPr lang="zh-CN" altLang="en-US" err="1"/>
              <a:t>为什么叫</a:t>
            </a:r>
            <a:r>
              <a:rPr lang="en-US" altLang="zh-CN" err="1"/>
              <a:t> α-β</a:t>
            </a:r>
            <a:r>
              <a:rPr lang="en-US" altLang="zh-CN"/>
              <a:t>?</a:t>
            </a:r>
          </a:p>
        </p:txBody>
      </p:sp>
      <p:sp>
        <p:nvSpPr>
          <p:cNvPr id="12291" name="文本占位符 12290"/>
          <p:cNvSpPr>
            <a:spLocks noGrp="1"/>
          </p:cNvSpPr>
          <p:nvPr>
            <p:ph type="body" sz="half" idx="1"/>
          </p:nvPr>
        </p:nvSpPr>
        <p:spPr>
          <a:xfrm>
            <a:off x="457200" y="1600200"/>
            <a:ext cx="4038600" cy="4525963"/>
          </a:xfrm>
        </p:spPr>
        <p:txBody>
          <a:bodyPr>
            <a:normAutofit/>
          </a:bodyPr>
          <a:lstStyle/>
          <a:p>
            <a:pPr>
              <a:lnSpc>
                <a:spcPct val="90000"/>
              </a:lnSpc>
            </a:pPr>
            <a:r>
              <a:rPr lang="en-US" altLang="zh-CN" sz="2800" dirty="0"/>
              <a:t>α </a:t>
            </a:r>
            <a:r>
              <a:rPr lang="zh-CN" altLang="en-US" sz="2800" dirty="0"/>
              <a:t>是对</a:t>
            </a:r>
            <a:r>
              <a:rPr lang="en-US" altLang="zh-CN" sz="2800" dirty="0"/>
              <a:t>MAX</a:t>
            </a:r>
            <a:r>
              <a:rPr lang="zh-CN" altLang="en-US" sz="2800" dirty="0"/>
              <a:t>而言当前找到的最优选择的值</a:t>
            </a:r>
            <a:endParaRPr lang="en-US" altLang="zh-CN" sz="2800" dirty="0"/>
          </a:p>
          <a:p>
            <a:pPr>
              <a:lnSpc>
                <a:spcPct val="90000"/>
              </a:lnSpc>
            </a:pPr>
            <a:endParaRPr lang="en-US" altLang="zh-CN" sz="2800" dirty="0"/>
          </a:p>
          <a:p>
            <a:pPr>
              <a:lnSpc>
                <a:spcPct val="90000"/>
              </a:lnSpc>
            </a:pPr>
            <a:r>
              <a:rPr lang="zh-CN" altLang="en-US" sz="2800" dirty="0"/>
              <a:t>若</a:t>
            </a:r>
            <a:r>
              <a:rPr lang="en-US" altLang="zh-CN" sz="2800" dirty="0"/>
              <a:t> </a:t>
            </a:r>
            <a:r>
              <a:rPr lang="en-US" altLang="zh-CN" sz="2800" i="1" dirty="0"/>
              <a:t>v</a:t>
            </a:r>
            <a:r>
              <a:rPr lang="en-US" altLang="zh-CN" sz="2800" dirty="0"/>
              <a:t> </a:t>
            </a:r>
            <a:r>
              <a:rPr lang="zh-CN" altLang="en-US" sz="2800" dirty="0"/>
              <a:t>比</a:t>
            </a:r>
            <a:r>
              <a:rPr lang="en-US" altLang="zh-CN" sz="2800" dirty="0"/>
              <a:t> α </a:t>
            </a:r>
            <a:r>
              <a:rPr lang="zh-CN" altLang="en-US" sz="2800" dirty="0"/>
              <a:t>差</a:t>
            </a:r>
            <a:r>
              <a:rPr lang="en-US" altLang="zh-CN" sz="2800" dirty="0"/>
              <a:t>, MAX</a:t>
            </a:r>
            <a:r>
              <a:rPr lang="zh-CN" altLang="en-US" sz="2800" dirty="0"/>
              <a:t>将抛弃 </a:t>
            </a:r>
            <a:r>
              <a:rPr lang="en-US" altLang="zh-CN" sz="2800" i="1" dirty="0"/>
              <a:t>v</a:t>
            </a:r>
            <a:r>
              <a:rPr lang="zh-CN" altLang="en-US" dirty="0"/>
              <a:t>，以及从</a:t>
            </a:r>
            <a:r>
              <a:rPr lang="en-US" altLang="zh-CN" dirty="0"/>
              <a:t>v</a:t>
            </a:r>
            <a:r>
              <a:rPr lang="zh-CN" altLang="en-US" dirty="0"/>
              <a:t>展开的子树</a:t>
            </a:r>
            <a:r>
              <a:rPr lang="en-US" altLang="zh-CN" sz="2000" dirty="0"/>
              <a:t>
</a:t>
            </a:r>
          </a:p>
          <a:p>
            <a:pPr>
              <a:lnSpc>
                <a:spcPct val="90000"/>
              </a:lnSpc>
            </a:pPr>
            <a:r>
              <a:rPr lang="zh-CN" altLang="en-US" sz="2800" dirty="0"/>
              <a:t>类似地，</a:t>
            </a:r>
            <a:r>
              <a:rPr lang="en-US" altLang="zh-CN" sz="2800" dirty="0"/>
              <a:t> β </a:t>
            </a:r>
            <a:r>
              <a:rPr lang="zh-CN" altLang="en-US" sz="2800" dirty="0"/>
              <a:t>是对</a:t>
            </a:r>
            <a:r>
              <a:rPr lang="en-US" altLang="zh-CN" sz="2800" dirty="0"/>
              <a:t>MIN</a:t>
            </a:r>
            <a:r>
              <a:rPr lang="zh-CN" altLang="en-US" sz="2800" dirty="0"/>
              <a:t>而言的最优值</a:t>
            </a:r>
            <a:endParaRPr lang="en-US" altLang="zh-CN" sz="2800" dirty="0"/>
          </a:p>
        </p:txBody>
      </p:sp>
      <p:sp>
        <p:nvSpPr>
          <p:cNvPr id="12293" name="文本占位符 12292"/>
          <p:cNvSpPr>
            <a:spLocks noGrp="1"/>
          </p:cNvSpPr>
          <p:nvPr>
            <p:ph type="body" sz="half" idx="2"/>
          </p:nvPr>
        </p:nvSpPr>
        <p:spPr>
          <a:xfrm>
            <a:off x="4648200" y="1600200"/>
            <a:ext cx="4038600" cy="4525963"/>
          </a:xfrm>
        </p:spPr>
        <p:txBody>
          <a:bodyPr/>
          <a:lstStyle/>
          <a:p>
            <a:pPr>
              <a:lnSpc>
                <a:spcPct val="90000"/>
              </a:lnSpc>
            </a:pPr>
            <a:endParaRPr sz="2800"/>
          </a:p>
        </p:txBody>
      </p:sp>
      <p:pic>
        <p:nvPicPr>
          <p:cNvPr id="12292" name="图片 12291" descr="alpha-beta-general"/>
          <p:cNvPicPr>
            <a:picLocks noChangeAspect="1"/>
          </p:cNvPicPr>
          <p:nvPr/>
        </p:nvPicPr>
        <p:blipFill>
          <a:blip r:embed="rId2"/>
          <a:stretch>
            <a:fillRect/>
          </a:stretch>
        </p:blipFill>
        <p:spPr>
          <a:xfrm>
            <a:off x="4648200" y="1600200"/>
            <a:ext cx="4068763" cy="4419600"/>
          </a:xfrm>
          <a:prstGeom prst="rect">
            <a:avLst/>
          </a:prstGeom>
          <a:noFill/>
          <a:ln w="9525">
            <a:noFill/>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l-GR" altLang="zh-CN" dirty="0">
                <a:sym typeface="+mn-ea"/>
              </a:rPr>
              <a:t>α−β</a:t>
            </a:r>
            <a:r>
              <a:rPr lang="zh-CN" altLang="zh-CN" dirty="0">
                <a:sym typeface="+mn-ea"/>
              </a:rPr>
              <a:t>剪枝技术</a:t>
            </a:r>
          </a:p>
        </p:txBody>
      </p:sp>
      <p:sp>
        <p:nvSpPr>
          <p:cNvPr id="3" name="内容占位符 2"/>
          <p:cNvSpPr>
            <a:spLocks noGrp="1"/>
          </p:cNvSpPr>
          <p:nvPr>
            <p:ph idx="1"/>
          </p:nvPr>
        </p:nvSpPr>
        <p:spPr/>
        <p:txBody>
          <a:bodyPr>
            <a:normAutofit lnSpcReduction="10000"/>
          </a:bodyPr>
          <a:lstStyle/>
          <a:p>
            <a:r>
              <a:rPr lang="zh-CN" altLang="en-US"/>
              <a:t>对于一个</a:t>
            </a:r>
            <a:r>
              <a:rPr lang="en-US" altLang="zh-CN"/>
              <a:t>MAX</a:t>
            </a:r>
            <a:r>
              <a:rPr lang="zh-CN" altLang="en-US"/>
              <a:t>节点来说，它取值称为</a:t>
            </a:r>
            <a:r>
              <a:rPr lang="el-GR" altLang="zh-CN" dirty="0">
                <a:sym typeface="+mn-ea"/>
              </a:rPr>
              <a:t>α</a:t>
            </a:r>
            <a:r>
              <a:rPr lang="zh-CN" altLang="el-GR" dirty="0">
                <a:sym typeface="+mn-ea"/>
              </a:rPr>
              <a:t>值</a:t>
            </a:r>
          </a:p>
          <a:p>
            <a:r>
              <a:rPr lang="zh-CN" altLang="en-US">
                <a:sym typeface="+mn-ea"/>
              </a:rPr>
              <a:t>对于一个</a:t>
            </a:r>
            <a:r>
              <a:rPr lang="en-US" altLang="zh-CN">
                <a:sym typeface="+mn-ea"/>
              </a:rPr>
              <a:t>MIN</a:t>
            </a:r>
            <a:r>
              <a:rPr lang="zh-CN" altLang="en-US">
                <a:sym typeface="+mn-ea"/>
              </a:rPr>
              <a:t>节点来说，它取值称为</a:t>
            </a:r>
            <a:r>
              <a:rPr lang="el-GR" altLang="zh-CN" dirty="0">
                <a:sym typeface="+mn-ea"/>
              </a:rPr>
              <a:t>β</a:t>
            </a:r>
            <a:r>
              <a:rPr lang="zh-CN" altLang="el-GR" dirty="0">
                <a:sym typeface="+mn-ea"/>
              </a:rPr>
              <a:t>值</a:t>
            </a:r>
          </a:p>
          <a:p>
            <a:endParaRPr lang="zh-CN" altLang="el-GR" dirty="0">
              <a:sym typeface="+mn-ea"/>
            </a:endParaRPr>
          </a:p>
          <a:p>
            <a:r>
              <a:rPr lang="el-GR" altLang="zh-CN" dirty="0">
                <a:sym typeface="+mn-ea"/>
              </a:rPr>
              <a:t>β</a:t>
            </a:r>
            <a:r>
              <a:rPr lang="zh-CN" altLang="el-GR" dirty="0">
                <a:sym typeface="+mn-ea"/>
              </a:rPr>
              <a:t>剪枝：任何</a:t>
            </a:r>
            <a:r>
              <a:rPr lang="en-US" altLang="zh-CN" dirty="0">
                <a:sym typeface="+mn-ea"/>
              </a:rPr>
              <a:t>MAX</a:t>
            </a:r>
            <a:r>
              <a:rPr lang="zh-CN" altLang="en-US" dirty="0">
                <a:sym typeface="+mn-ea"/>
              </a:rPr>
              <a:t>节点</a:t>
            </a:r>
            <a:r>
              <a:rPr lang="en-US" altLang="zh-CN" dirty="0">
                <a:sym typeface="+mn-ea"/>
              </a:rPr>
              <a:t>x</a:t>
            </a:r>
            <a:r>
              <a:rPr lang="zh-CN" altLang="en-US" dirty="0">
                <a:sym typeface="+mn-ea"/>
              </a:rPr>
              <a:t>的</a:t>
            </a:r>
            <a:r>
              <a:rPr lang="el-GR" altLang="zh-CN" dirty="0">
                <a:sym typeface="+mn-ea"/>
              </a:rPr>
              <a:t>α</a:t>
            </a:r>
            <a:r>
              <a:rPr lang="zh-CN" altLang="el-GR" dirty="0">
                <a:sym typeface="+mn-ea"/>
              </a:rPr>
              <a:t>值如果不能降低其父节点的</a:t>
            </a:r>
            <a:r>
              <a:rPr lang="el-GR" altLang="zh-CN" dirty="0">
                <a:sym typeface="+mn-ea"/>
              </a:rPr>
              <a:t>β</a:t>
            </a:r>
            <a:r>
              <a:rPr lang="zh-CN" altLang="el-GR" dirty="0">
                <a:sym typeface="+mn-ea"/>
              </a:rPr>
              <a:t>值，则对节点</a:t>
            </a:r>
            <a:r>
              <a:rPr lang="en-US" altLang="zh-CN" dirty="0">
                <a:sym typeface="+mn-ea"/>
              </a:rPr>
              <a:t>x</a:t>
            </a:r>
            <a:r>
              <a:rPr lang="zh-CN" altLang="en-US" dirty="0">
                <a:sym typeface="+mn-ea"/>
              </a:rPr>
              <a:t>以下的分枝可停止搜索。</a:t>
            </a:r>
          </a:p>
          <a:p>
            <a:r>
              <a:rPr lang="el-GR" altLang="zh-CN" dirty="0">
                <a:sym typeface="+mn-ea"/>
              </a:rPr>
              <a:t>α</a:t>
            </a:r>
            <a:r>
              <a:rPr lang="zh-CN" altLang="el-GR" dirty="0">
                <a:sym typeface="+mn-ea"/>
              </a:rPr>
              <a:t>剪枝：任何</a:t>
            </a:r>
            <a:r>
              <a:rPr lang="en-US" altLang="zh-CN" dirty="0">
                <a:sym typeface="+mn-ea"/>
              </a:rPr>
              <a:t>MIN</a:t>
            </a:r>
            <a:r>
              <a:rPr lang="zh-CN" altLang="en-US" dirty="0">
                <a:sym typeface="+mn-ea"/>
              </a:rPr>
              <a:t>节点</a:t>
            </a:r>
            <a:r>
              <a:rPr lang="en-US" altLang="zh-CN" dirty="0">
                <a:sym typeface="+mn-ea"/>
              </a:rPr>
              <a:t>x</a:t>
            </a:r>
            <a:r>
              <a:rPr lang="zh-CN" altLang="en-US" dirty="0">
                <a:sym typeface="+mn-ea"/>
              </a:rPr>
              <a:t>的</a:t>
            </a:r>
            <a:r>
              <a:rPr lang="el-GR" altLang="zh-CN" dirty="0">
                <a:sym typeface="+mn-ea"/>
              </a:rPr>
              <a:t>β</a:t>
            </a:r>
            <a:r>
              <a:rPr lang="zh-CN" altLang="el-GR" dirty="0">
                <a:sym typeface="+mn-ea"/>
              </a:rPr>
              <a:t>值如果不能升高其父节点的</a:t>
            </a:r>
            <a:r>
              <a:rPr lang="el-GR" altLang="zh-CN" dirty="0">
                <a:sym typeface="+mn-ea"/>
              </a:rPr>
              <a:t>α</a:t>
            </a:r>
            <a:r>
              <a:rPr lang="zh-CN" altLang="el-GR" dirty="0">
                <a:sym typeface="+mn-ea"/>
              </a:rPr>
              <a:t>值，则对节点</a:t>
            </a:r>
            <a:r>
              <a:rPr lang="en-US" altLang="zh-CN" dirty="0">
                <a:sym typeface="+mn-ea"/>
              </a:rPr>
              <a:t>x</a:t>
            </a:r>
            <a:r>
              <a:rPr lang="zh-CN" altLang="en-US" dirty="0">
                <a:sym typeface="+mn-ea"/>
              </a:rPr>
              <a:t>以下的分枝可停止搜索。</a:t>
            </a:r>
          </a:p>
          <a:p>
            <a:endParaRPr lang="zh-CN" altLang="en-US" dirty="0">
              <a:sym typeface="+mn-ea"/>
            </a:endParaRPr>
          </a:p>
        </p:txBody>
      </p:sp>
    </p:spTree>
    <p:extLst>
      <p:ext uri="{BB962C8B-B14F-4D97-AF65-F5344CB8AC3E}">
        <p14:creationId xmlns:p14="http://schemas.microsoft.com/office/powerpoint/2010/main" val="4214349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9142C260-D392-F646-9CEF-39CD6886CB56}" type="slidenum">
              <a:rPr kumimoji="0" lang="en-US" altLang="zh-CN" sz="1400"/>
              <a:t>30</a:t>
            </a:fld>
            <a:endParaRPr kumimoji="0" lang="en-US" altLang="zh-CN" sz="1400"/>
          </a:p>
        </p:txBody>
      </p:sp>
      <p:sp>
        <p:nvSpPr>
          <p:cNvPr id="165890" name="Rectangle 2"/>
          <p:cNvSpPr>
            <a:spLocks noGrp="1" noChangeArrowheads="1"/>
          </p:cNvSpPr>
          <p:nvPr>
            <p:ph type="title"/>
          </p:nvPr>
        </p:nvSpPr>
        <p:spPr>
          <a:xfrm>
            <a:off x="685800" y="228600"/>
            <a:ext cx="7772400" cy="800100"/>
          </a:xfrm>
        </p:spPr>
        <p:txBody>
          <a:bodyPr/>
          <a:lstStyle/>
          <a:p>
            <a:pPr eaLnBrk="1" hangingPunct="1">
              <a:defRPr/>
            </a:pPr>
            <a:r>
              <a:rPr lang="en-US" altLang="zh-CN" dirty="0">
                <a:sym typeface="Symbol" panose="05050102010706020507" pitchFamily="18" charset="2"/>
              </a:rPr>
              <a:t>-</a:t>
            </a:r>
            <a:r>
              <a:rPr lang="zh-CN" altLang="en-US" dirty="0">
                <a:sym typeface="Symbol" panose="05050102010706020507" pitchFamily="18" charset="2"/>
              </a:rPr>
              <a:t>剪枝</a:t>
            </a:r>
          </a:p>
        </p:txBody>
      </p:sp>
      <p:sp>
        <p:nvSpPr>
          <p:cNvPr id="165891" name="Rectangle 3"/>
          <p:cNvSpPr>
            <a:spLocks noGrp="1" noChangeArrowheads="1"/>
          </p:cNvSpPr>
          <p:nvPr>
            <p:ph type="body" idx="1"/>
          </p:nvPr>
        </p:nvSpPr>
        <p:spPr>
          <a:xfrm>
            <a:off x="685800" y="1162050"/>
            <a:ext cx="7772400" cy="4933950"/>
          </a:xfrm>
        </p:spPr>
        <p:txBody>
          <a:bodyPr/>
          <a:lstStyle/>
          <a:p>
            <a:pPr eaLnBrk="1" hangingPunct="1"/>
            <a:r>
              <a:rPr lang="zh-CN" altLang="en-US" dirty="0"/>
              <a:t>极大节点的下界为</a:t>
            </a:r>
            <a:r>
              <a:rPr lang="zh-CN" altLang="en-US" dirty="0">
                <a:sym typeface="Symbol" panose="05050102010706020507" pitchFamily="18" charset="2"/>
              </a:rPr>
              <a:t>。</a:t>
            </a:r>
          </a:p>
          <a:p>
            <a:pPr eaLnBrk="1" hangingPunct="1"/>
            <a:r>
              <a:rPr lang="zh-CN" altLang="en-US" dirty="0">
                <a:sym typeface="Symbol" panose="05050102010706020507" pitchFamily="18" charset="2"/>
              </a:rPr>
              <a:t>极小节点的上界为。</a:t>
            </a:r>
          </a:p>
          <a:p>
            <a:pPr eaLnBrk="1" hangingPunct="1"/>
            <a:r>
              <a:rPr lang="zh-CN" altLang="en-US" dirty="0">
                <a:sym typeface="Symbol" panose="05050102010706020507" pitchFamily="18" charset="2"/>
              </a:rPr>
              <a:t>剪枝的条件：</a:t>
            </a:r>
          </a:p>
          <a:p>
            <a:pPr lvl="1" eaLnBrk="1" hangingPunct="1"/>
            <a:r>
              <a:rPr lang="zh-CN" altLang="en-US" dirty="0">
                <a:sym typeface="Symbol" panose="05050102010706020507" pitchFamily="18" charset="2"/>
              </a:rPr>
              <a:t>后辈节点的值≤祖先节点的值时， 剪枝</a:t>
            </a:r>
          </a:p>
          <a:p>
            <a:pPr lvl="1" eaLnBrk="1" hangingPunct="1"/>
            <a:r>
              <a:rPr lang="zh-CN" altLang="en-US" dirty="0">
                <a:sym typeface="Symbol" panose="05050102010706020507" pitchFamily="18" charset="2"/>
              </a:rPr>
              <a:t>后辈节点的 值≥祖先节点的值时， 剪枝</a:t>
            </a:r>
          </a:p>
          <a:p>
            <a:pPr eaLnBrk="1" hangingPunct="1"/>
            <a:r>
              <a:rPr lang="zh-CN" altLang="en-US" dirty="0">
                <a:sym typeface="Symbol" panose="05050102010706020507" pitchFamily="18" charset="2"/>
              </a:rPr>
              <a:t>简记为：</a:t>
            </a:r>
          </a:p>
          <a:p>
            <a:pPr lvl="1" eaLnBrk="1" hangingPunct="1"/>
            <a:r>
              <a:rPr lang="zh-CN" altLang="en-US" dirty="0">
                <a:sym typeface="Symbol" panose="05050102010706020507" pitchFamily="18" charset="2"/>
              </a:rPr>
              <a:t>极小≤极大，剪枝</a:t>
            </a:r>
          </a:p>
          <a:p>
            <a:pPr lvl="1" eaLnBrk="1" hangingPunct="1"/>
            <a:r>
              <a:rPr lang="zh-CN" altLang="en-US" dirty="0">
                <a:sym typeface="Symbol" panose="05050102010706020507" pitchFamily="18" charset="2"/>
              </a:rPr>
              <a:t>极大≥极小，剪枝</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5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5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5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5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58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58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58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65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build="p" bldLvl="2"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1AED7D46-8D80-1846-946B-77BCE1E03A5F}" type="slidenum">
              <a:rPr kumimoji="0" lang="en-US" altLang="zh-CN" sz="1400"/>
              <a:t>31</a:t>
            </a:fld>
            <a:endParaRPr kumimoji="0" lang="en-US" altLang="zh-CN" sz="1400"/>
          </a:p>
        </p:txBody>
      </p:sp>
      <p:sp>
        <p:nvSpPr>
          <p:cNvPr id="20483" name="Text Box 4"/>
          <p:cNvSpPr txBox="1">
            <a:spLocks noChangeArrowheads="1"/>
          </p:cNvSpPr>
          <p:nvPr/>
        </p:nvSpPr>
        <p:spPr bwMode="auto">
          <a:xfrm>
            <a:off x="269875" y="52260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163842" name="Rectangle 2"/>
          <p:cNvSpPr>
            <a:spLocks noGrp="1" noChangeArrowheads="1"/>
          </p:cNvSpPr>
          <p:nvPr>
            <p:ph type="title"/>
          </p:nvPr>
        </p:nvSpPr>
        <p:spPr>
          <a:xfrm>
            <a:off x="685800" y="247650"/>
            <a:ext cx="7772400" cy="742950"/>
          </a:xfrm>
        </p:spPr>
        <p:txBody>
          <a:bodyPr>
            <a:normAutofit fontScale="90000"/>
          </a:bodyPr>
          <a:lstStyle/>
          <a:p>
            <a:pPr eaLnBrk="1" hangingPunct="1"/>
            <a:r>
              <a:rPr lang="zh-CN" altLang="en-US" dirty="0"/>
              <a:t>极小极大过程</a:t>
            </a:r>
          </a:p>
        </p:txBody>
      </p:sp>
      <p:sp>
        <p:nvSpPr>
          <p:cNvPr id="20485" name="Rectangle 3"/>
          <p:cNvSpPr>
            <a:spLocks noGrp="1" noChangeArrowheads="1"/>
          </p:cNvSpPr>
          <p:nvPr>
            <p:ph type="body" idx="1"/>
          </p:nvPr>
        </p:nvSpPr>
        <p:spPr>
          <a:xfrm>
            <a:off x="666750" y="6478588"/>
            <a:ext cx="7772400" cy="74612"/>
          </a:xfrm>
        </p:spPr>
        <p:txBody>
          <a:bodyPr>
            <a:normAutofit fontScale="25000" lnSpcReduction="20000"/>
          </a:bodyPr>
          <a:lstStyle/>
          <a:p>
            <a:pPr eaLnBrk="1" hangingPunct="1">
              <a:lnSpc>
                <a:spcPct val="90000"/>
              </a:lnSpc>
            </a:pPr>
            <a:endParaRPr lang="zh-CN" altLang="zh-CN" sz="2800"/>
          </a:p>
        </p:txBody>
      </p:sp>
      <p:sp>
        <p:nvSpPr>
          <p:cNvPr id="20486" name="Text Box 14"/>
          <p:cNvSpPr txBox="1">
            <a:spLocks noChangeArrowheads="1"/>
          </p:cNvSpPr>
          <p:nvPr/>
        </p:nvSpPr>
        <p:spPr bwMode="auto">
          <a:xfrm>
            <a:off x="612775" y="52260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5</a:t>
            </a:r>
            <a:endParaRPr lang="en-US" altLang="zh-CN"/>
          </a:p>
        </p:txBody>
      </p:sp>
      <p:sp>
        <p:nvSpPr>
          <p:cNvPr id="20487" name="Text Box 15"/>
          <p:cNvSpPr txBox="1">
            <a:spLocks noChangeArrowheads="1"/>
          </p:cNvSpPr>
          <p:nvPr/>
        </p:nvSpPr>
        <p:spPr bwMode="auto">
          <a:xfrm>
            <a:off x="960438" y="52546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88" name="Text Box 16"/>
          <p:cNvSpPr txBox="1">
            <a:spLocks noChangeArrowheads="1"/>
          </p:cNvSpPr>
          <p:nvPr/>
        </p:nvSpPr>
        <p:spPr bwMode="auto">
          <a:xfrm>
            <a:off x="1565275" y="52832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89" name="Text Box 17"/>
          <p:cNvSpPr txBox="1">
            <a:spLocks noChangeArrowheads="1"/>
          </p:cNvSpPr>
          <p:nvPr/>
        </p:nvSpPr>
        <p:spPr bwMode="auto">
          <a:xfrm>
            <a:off x="1908175" y="52832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90" name="Text Box 18"/>
          <p:cNvSpPr txBox="1">
            <a:spLocks noChangeArrowheads="1"/>
          </p:cNvSpPr>
          <p:nvPr/>
        </p:nvSpPr>
        <p:spPr bwMode="auto">
          <a:xfrm>
            <a:off x="2255838" y="53117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91" name="Text Box 19"/>
          <p:cNvSpPr txBox="1">
            <a:spLocks noChangeArrowheads="1"/>
          </p:cNvSpPr>
          <p:nvPr/>
        </p:nvSpPr>
        <p:spPr bwMode="auto">
          <a:xfrm>
            <a:off x="2846388" y="5326063"/>
            <a:ext cx="193675" cy="376237"/>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20492" name="Text Box 20"/>
          <p:cNvSpPr txBox="1">
            <a:spLocks noChangeArrowheads="1"/>
          </p:cNvSpPr>
          <p:nvPr/>
        </p:nvSpPr>
        <p:spPr bwMode="auto">
          <a:xfrm>
            <a:off x="3170238" y="5335588"/>
            <a:ext cx="231775" cy="376237"/>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2</a:t>
            </a:r>
            <a:endParaRPr lang="en-US" altLang="zh-CN"/>
          </a:p>
        </p:txBody>
      </p:sp>
      <p:sp>
        <p:nvSpPr>
          <p:cNvPr id="20493" name="Text Box 21"/>
          <p:cNvSpPr txBox="1">
            <a:spLocks noChangeArrowheads="1"/>
          </p:cNvSpPr>
          <p:nvPr/>
        </p:nvSpPr>
        <p:spPr bwMode="auto">
          <a:xfrm>
            <a:off x="3565525" y="5330825"/>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2</a:t>
            </a:r>
            <a:endParaRPr lang="en-US" altLang="zh-CN"/>
          </a:p>
        </p:txBody>
      </p:sp>
      <p:sp>
        <p:nvSpPr>
          <p:cNvPr id="20494" name="Text Box 22"/>
          <p:cNvSpPr txBox="1">
            <a:spLocks noChangeArrowheads="1"/>
          </p:cNvSpPr>
          <p:nvPr/>
        </p:nvSpPr>
        <p:spPr bwMode="auto">
          <a:xfrm>
            <a:off x="3894138" y="53498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95" name="Text Box 23"/>
          <p:cNvSpPr txBox="1">
            <a:spLocks noChangeArrowheads="1"/>
          </p:cNvSpPr>
          <p:nvPr/>
        </p:nvSpPr>
        <p:spPr bwMode="auto">
          <a:xfrm>
            <a:off x="4422775" y="53594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20496" name="Text Box 24"/>
          <p:cNvSpPr txBox="1">
            <a:spLocks noChangeArrowheads="1"/>
          </p:cNvSpPr>
          <p:nvPr/>
        </p:nvSpPr>
        <p:spPr bwMode="auto">
          <a:xfrm>
            <a:off x="4751388" y="53498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-2</a:t>
            </a:r>
            <a:endParaRPr lang="en-US" altLang="zh-CN"/>
          </a:p>
        </p:txBody>
      </p:sp>
      <p:sp>
        <p:nvSpPr>
          <p:cNvPr id="20497" name="Text Box 25"/>
          <p:cNvSpPr txBox="1">
            <a:spLocks noChangeArrowheads="1"/>
          </p:cNvSpPr>
          <p:nvPr/>
        </p:nvSpPr>
        <p:spPr bwMode="auto">
          <a:xfrm>
            <a:off x="5305425" y="53784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498" name="Text Box 26"/>
          <p:cNvSpPr txBox="1">
            <a:spLocks noChangeArrowheads="1"/>
          </p:cNvSpPr>
          <p:nvPr/>
        </p:nvSpPr>
        <p:spPr bwMode="auto">
          <a:xfrm>
            <a:off x="5622925" y="53594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5</a:t>
            </a:r>
            <a:endParaRPr lang="en-US" altLang="zh-CN"/>
          </a:p>
        </p:txBody>
      </p:sp>
      <p:sp>
        <p:nvSpPr>
          <p:cNvPr id="20499" name="Text Box 27"/>
          <p:cNvSpPr txBox="1">
            <a:spLocks noChangeArrowheads="1"/>
          </p:cNvSpPr>
          <p:nvPr/>
        </p:nvSpPr>
        <p:spPr bwMode="auto">
          <a:xfrm>
            <a:off x="5932488" y="53403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4</a:t>
            </a:r>
            <a:endParaRPr lang="en-US" altLang="zh-CN"/>
          </a:p>
        </p:txBody>
      </p:sp>
      <p:sp>
        <p:nvSpPr>
          <p:cNvPr id="20500" name="Text Box 28"/>
          <p:cNvSpPr txBox="1">
            <a:spLocks noChangeArrowheads="1"/>
          </p:cNvSpPr>
          <p:nvPr/>
        </p:nvSpPr>
        <p:spPr bwMode="auto">
          <a:xfrm>
            <a:off x="6299200" y="53403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1</a:t>
            </a:r>
            <a:endParaRPr lang="en-US" altLang="zh-CN"/>
          </a:p>
        </p:txBody>
      </p:sp>
      <p:sp>
        <p:nvSpPr>
          <p:cNvPr id="20501" name="Text Box 29"/>
          <p:cNvSpPr txBox="1">
            <a:spLocks noChangeArrowheads="1"/>
          </p:cNvSpPr>
          <p:nvPr/>
        </p:nvSpPr>
        <p:spPr bwMode="auto">
          <a:xfrm>
            <a:off x="6656388" y="53689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502" name="Text Box 30"/>
          <p:cNvSpPr txBox="1">
            <a:spLocks noChangeArrowheads="1"/>
          </p:cNvSpPr>
          <p:nvPr/>
        </p:nvSpPr>
        <p:spPr bwMode="auto">
          <a:xfrm>
            <a:off x="7185025" y="53784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20503" name="Text Box 31"/>
          <p:cNvSpPr txBox="1">
            <a:spLocks noChangeArrowheads="1"/>
          </p:cNvSpPr>
          <p:nvPr/>
        </p:nvSpPr>
        <p:spPr bwMode="auto">
          <a:xfrm>
            <a:off x="7513638" y="535940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6</a:t>
            </a:r>
            <a:endParaRPr lang="en-US" altLang="zh-CN"/>
          </a:p>
        </p:txBody>
      </p:sp>
      <p:sp>
        <p:nvSpPr>
          <p:cNvPr id="20504" name="Text Box 32"/>
          <p:cNvSpPr txBox="1">
            <a:spLocks noChangeArrowheads="1"/>
          </p:cNvSpPr>
          <p:nvPr/>
        </p:nvSpPr>
        <p:spPr bwMode="auto">
          <a:xfrm>
            <a:off x="7875588" y="53403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8</a:t>
            </a:r>
            <a:endParaRPr lang="en-US" altLang="zh-CN"/>
          </a:p>
        </p:txBody>
      </p:sp>
      <p:sp>
        <p:nvSpPr>
          <p:cNvPr id="20505" name="Text Box 33"/>
          <p:cNvSpPr txBox="1">
            <a:spLocks noChangeArrowheads="1"/>
          </p:cNvSpPr>
          <p:nvPr/>
        </p:nvSpPr>
        <p:spPr bwMode="auto">
          <a:xfrm>
            <a:off x="8199438" y="53403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9</a:t>
            </a:r>
            <a:endParaRPr lang="en-US" altLang="zh-CN"/>
          </a:p>
        </p:txBody>
      </p:sp>
      <p:sp>
        <p:nvSpPr>
          <p:cNvPr id="20506" name="Text Box 34"/>
          <p:cNvSpPr txBox="1">
            <a:spLocks noChangeArrowheads="1"/>
          </p:cNvSpPr>
          <p:nvPr/>
        </p:nvSpPr>
        <p:spPr bwMode="auto">
          <a:xfrm>
            <a:off x="8550275" y="53308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20507" name="Oval 35"/>
          <p:cNvSpPr>
            <a:spLocks noChangeArrowheads="1"/>
          </p:cNvSpPr>
          <p:nvPr/>
        </p:nvSpPr>
        <p:spPr bwMode="auto">
          <a:xfrm>
            <a:off x="1276350" y="41719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08" name="Oval 36"/>
          <p:cNvSpPr>
            <a:spLocks noChangeArrowheads="1"/>
          </p:cNvSpPr>
          <p:nvPr/>
        </p:nvSpPr>
        <p:spPr bwMode="auto">
          <a:xfrm>
            <a:off x="400050" y="41719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09" name="Oval 37"/>
          <p:cNvSpPr>
            <a:spLocks noChangeArrowheads="1"/>
          </p:cNvSpPr>
          <p:nvPr/>
        </p:nvSpPr>
        <p:spPr bwMode="auto">
          <a:xfrm>
            <a:off x="2133600" y="4152900"/>
            <a:ext cx="247650" cy="266700"/>
          </a:xfrm>
          <a:prstGeom prst="ellipse">
            <a:avLst/>
          </a:pr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0" name="Oval 38"/>
          <p:cNvSpPr>
            <a:spLocks noChangeArrowheads="1"/>
          </p:cNvSpPr>
          <p:nvPr/>
        </p:nvSpPr>
        <p:spPr bwMode="auto">
          <a:xfrm>
            <a:off x="2819400" y="4152900"/>
            <a:ext cx="247650" cy="266700"/>
          </a:xfrm>
          <a:prstGeom prst="ellipse">
            <a:avLst/>
          </a:pr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1" name="Oval 39"/>
          <p:cNvSpPr>
            <a:spLocks noChangeArrowheads="1"/>
          </p:cNvSpPr>
          <p:nvPr/>
        </p:nvSpPr>
        <p:spPr bwMode="auto">
          <a:xfrm>
            <a:off x="3562350" y="4133850"/>
            <a:ext cx="247650" cy="266700"/>
          </a:xfrm>
          <a:prstGeom prst="ellipse">
            <a:avLst/>
          </a:pr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2" name="Oval 40"/>
          <p:cNvSpPr>
            <a:spLocks noChangeArrowheads="1"/>
          </p:cNvSpPr>
          <p:nvPr/>
        </p:nvSpPr>
        <p:spPr bwMode="auto">
          <a:xfrm>
            <a:off x="4267200" y="4133850"/>
            <a:ext cx="247650" cy="266700"/>
          </a:xfrm>
          <a:prstGeom prst="ellipse">
            <a:avLst/>
          </a:prstGeom>
          <a:noFill/>
          <a:ln w="9525">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3" name="Oval 41"/>
          <p:cNvSpPr>
            <a:spLocks noChangeArrowheads="1"/>
          </p:cNvSpPr>
          <p:nvPr/>
        </p:nvSpPr>
        <p:spPr bwMode="auto">
          <a:xfrm>
            <a:off x="5086350" y="41338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4" name="Oval 42"/>
          <p:cNvSpPr>
            <a:spLocks noChangeArrowheads="1"/>
          </p:cNvSpPr>
          <p:nvPr/>
        </p:nvSpPr>
        <p:spPr bwMode="auto">
          <a:xfrm>
            <a:off x="5867400" y="41338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5" name="Oval 43"/>
          <p:cNvSpPr>
            <a:spLocks noChangeArrowheads="1"/>
          </p:cNvSpPr>
          <p:nvPr/>
        </p:nvSpPr>
        <p:spPr bwMode="auto">
          <a:xfrm>
            <a:off x="6648450" y="41338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6" name="Oval 44"/>
          <p:cNvSpPr>
            <a:spLocks noChangeArrowheads="1"/>
          </p:cNvSpPr>
          <p:nvPr/>
        </p:nvSpPr>
        <p:spPr bwMode="auto">
          <a:xfrm>
            <a:off x="7677150" y="40957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7" name="Rectangle 45"/>
          <p:cNvSpPr>
            <a:spLocks noChangeArrowheads="1"/>
          </p:cNvSpPr>
          <p:nvPr/>
        </p:nvSpPr>
        <p:spPr bwMode="auto">
          <a:xfrm>
            <a:off x="1219200" y="28003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8" name="Rectangle 46"/>
          <p:cNvSpPr>
            <a:spLocks noChangeArrowheads="1"/>
          </p:cNvSpPr>
          <p:nvPr/>
        </p:nvSpPr>
        <p:spPr bwMode="auto">
          <a:xfrm>
            <a:off x="2857500" y="2800350"/>
            <a:ext cx="285750" cy="323850"/>
          </a:xfrm>
          <a:prstGeom prst="rect">
            <a:avLst/>
          </a:prstGeom>
          <a:noFill/>
          <a:ln w="9525">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19" name="Rectangle 47"/>
          <p:cNvSpPr>
            <a:spLocks noChangeArrowheads="1"/>
          </p:cNvSpPr>
          <p:nvPr/>
        </p:nvSpPr>
        <p:spPr bwMode="auto">
          <a:xfrm>
            <a:off x="4591050" y="27622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20" name="Rectangle 48"/>
          <p:cNvSpPr>
            <a:spLocks noChangeArrowheads="1"/>
          </p:cNvSpPr>
          <p:nvPr/>
        </p:nvSpPr>
        <p:spPr bwMode="auto">
          <a:xfrm>
            <a:off x="6229350" y="27622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21" name="Oval 49"/>
          <p:cNvSpPr>
            <a:spLocks noChangeArrowheads="1"/>
          </p:cNvSpPr>
          <p:nvPr/>
        </p:nvSpPr>
        <p:spPr bwMode="auto">
          <a:xfrm>
            <a:off x="2171700" y="18859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22" name="Oval 50"/>
          <p:cNvSpPr>
            <a:spLocks noChangeArrowheads="1"/>
          </p:cNvSpPr>
          <p:nvPr/>
        </p:nvSpPr>
        <p:spPr bwMode="auto">
          <a:xfrm>
            <a:off x="5524500" y="18669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23" name="Rectangle 51"/>
          <p:cNvSpPr>
            <a:spLocks noChangeArrowheads="1"/>
          </p:cNvSpPr>
          <p:nvPr/>
        </p:nvSpPr>
        <p:spPr bwMode="auto">
          <a:xfrm>
            <a:off x="3905250" y="10477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24" name="Line 52"/>
          <p:cNvSpPr>
            <a:spLocks noChangeShapeType="1"/>
          </p:cNvSpPr>
          <p:nvPr/>
        </p:nvSpPr>
        <p:spPr bwMode="auto">
          <a:xfrm flipH="1">
            <a:off x="2381250" y="1371600"/>
            <a:ext cx="1619250" cy="552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5" name="Line 53"/>
          <p:cNvSpPr>
            <a:spLocks noChangeShapeType="1"/>
          </p:cNvSpPr>
          <p:nvPr/>
        </p:nvSpPr>
        <p:spPr bwMode="auto">
          <a:xfrm>
            <a:off x="4019550" y="1390650"/>
            <a:ext cx="1485900" cy="533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6" name="Line 54"/>
          <p:cNvSpPr>
            <a:spLocks noChangeShapeType="1"/>
          </p:cNvSpPr>
          <p:nvPr/>
        </p:nvSpPr>
        <p:spPr bwMode="auto">
          <a:xfrm flipH="1">
            <a:off x="1352550" y="2152650"/>
            <a:ext cx="857250" cy="628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7" name="Line 55"/>
          <p:cNvSpPr>
            <a:spLocks noChangeShapeType="1"/>
          </p:cNvSpPr>
          <p:nvPr/>
        </p:nvSpPr>
        <p:spPr bwMode="auto">
          <a:xfrm>
            <a:off x="2228850" y="2171700"/>
            <a:ext cx="838200" cy="609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8" name="Line 56"/>
          <p:cNvSpPr>
            <a:spLocks noChangeShapeType="1"/>
          </p:cNvSpPr>
          <p:nvPr/>
        </p:nvSpPr>
        <p:spPr bwMode="auto">
          <a:xfrm flipH="1">
            <a:off x="4705350" y="2114550"/>
            <a:ext cx="952500" cy="628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29" name="Line 57"/>
          <p:cNvSpPr>
            <a:spLocks noChangeShapeType="1"/>
          </p:cNvSpPr>
          <p:nvPr/>
        </p:nvSpPr>
        <p:spPr bwMode="auto">
          <a:xfrm>
            <a:off x="5657850" y="2152650"/>
            <a:ext cx="723900" cy="609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0" name="Line 58"/>
          <p:cNvSpPr>
            <a:spLocks noChangeShapeType="1"/>
          </p:cNvSpPr>
          <p:nvPr/>
        </p:nvSpPr>
        <p:spPr bwMode="auto">
          <a:xfrm flipH="1">
            <a:off x="571500" y="3105150"/>
            <a:ext cx="7429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1" name="Line 59"/>
          <p:cNvSpPr>
            <a:spLocks noChangeShapeType="1"/>
          </p:cNvSpPr>
          <p:nvPr/>
        </p:nvSpPr>
        <p:spPr bwMode="auto">
          <a:xfrm>
            <a:off x="1333500" y="3143250"/>
            <a:ext cx="38100" cy="10477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2" name="Line 60"/>
          <p:cNvSpPr>
            <a:spLocks noChangeShapeType="1"/>
          </p:cNvSpPr>
          <p:nvPr/>
        </p:nvSpPr>
        <p:spPr bwMode="auto">
          <a:xfrm flipH="1">
            <a:off x="2247900" y="3105150"/>
            <a:ext cx="742950" cy="1028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3" name="Line 61"/>
          <p:cNvSpPr>
            <a:spLocks noChangeShapeType="1"/>
          </p:cNvSpPr>
          <p:nvPr/>
        </p:nvSpPr>
        <p:spPr bwMode="auto">
          <a:xfrm>
            <a:off x="2952750" y="3143250"/>
            <a:ext cx="0" cy="1009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4" name="Line 62"/>
          <p:cNvSpPr>
            <a:spLocks noChangeShapeType="1"/>
          </p:cNvSpPr>
          <p:nvPr/>
        </p:nvSpPr>
        <p:spPr bwMode="auto">
          <a:xfrm>
            <a:off x="3009900" y="3143250"/>
            <a:ext cx="666750" cy="990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5" name="Line 63"/>
          <p:cNvSpPr>
            <a:spLocks noChangeShapeType="1"/>
          </p:cNvSpPr>
          <p:nvPr/>
        </p:nvSpPr>
        <p:spPr bwMode="auto">
          <a:xfrm>
            <a:off x="3028950" y="3181350"/>
            <a:ext cx="1371600" cy="9334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6" name="Line 64"/>
          <p:cNvSpPr>
            <a:spLocks noChangeShapeType="1"/>
          </p:cNvSpPr>
          <p:nvPr/>
        </p:nvSpPr>
        <p:spPr bwMode="auto">
          <a:xfrm>
            <a:off x="4724400" y="3086100"/>
            <a:ext cx="4762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7" name="Line 65"/>
          <p:cNvSpPr>
            <a:spLocks noChangeShapeType="1"/>
          </p:cNvSpPr>
          <p:nvPr/>
        </p:nvSpPr>
        <p:spPr bwMode="auto">
          <a:xfrm>
            <a:off x="4724400" y="3086100"/>
            <a:ext cx="12763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8" name="Line 66"/>
          <p:cNvSpPr>
            <a:spLocks noChangeShapeType="1"/>
          </p:cNvSpPr>
          <p:nvPr/>
        </p:nvSpPr>
        <p:spPr bwMode="auto">
          <a:xfrm>
            <a:off x="6400800" y="3105150"/>
            <a:ext cx="36195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39" name="Line 67"/>
          <p:cNvSpPr>
            <a:spLocks noChangeShapeType="1"/>
          </p:cNvSpPr>
          <p:nvPr/>
        </p:nvSpPr>
        <p:spPr bwMode="auto">
          <a:xfrm>
            <a:off x="6438900" y="3124200"/>
            <a:ext cx="1333500" cy="9525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0" name="Line 68"/>
          <p:cNvSpPr>
            <a:spLocks noChangeShapeType="1"/>
          </p:cNvSpPr>
          <p:nvPr/>
        </p:nvSpPr>
        <p:spPr bwMode="auto">
          <a:xfrm flipH="1">
            <a:off x="361950" y="4438650"/>
            <a:ext cx="133350" cy="8191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1" name="Line 69"/>
          <p:cNvSpPr>
            <a:spLocks noChangeShapeType="1"/>
          </p:cNvSpPr>
          <p:nvPr/>
        </p:nvSpPr>
        <p:spPr bwMode="auto">
          <a:xfrm>
            <a:off x="514350" y="4476750"/>
            <a:ext cx="228600" cy="7810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2" name="Line 70"/>
          <p:cNvSpPr>
            <a:spLocks noChangeShapeType="1"/>
          </p:cNvSpPr>
          <p:nvPr/>
        </p:nvSpPr>
        <p:spPr bwMode="auto">
          <a:xfrm flipH="1">
            <a:off x="1162050" y="4438650"/>
            <a:ext cx="247650" cy="8572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3" name="Line 71"/>
          <p:cNvSpPr>
            <a:spLocks noChangeShapeType="1"/>
          </p:cNvSpPr>
          <p:nvPr/>
        </p:nvSpPr>
        <p:spPr bwMode="auto">
          <a:xfrm>
            <a:off x="1428750" y="4438650"/>
            <a:ext cx="228600" cy="8763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4" name="Line 72"/>
          <p:cNvSpPr>
            <a:spLocks noChangeShapeType="1"/>
          </p:cNvSpPr>
          <p:nvPr/>
        </p:nvSpPr>
        <p:spPr bwMode="auto">
          <a:xfrm flipH="1">
            <a:off x="2057400" y="4438650"/>
            <a:ext cx="209550" cy="857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5" name="Line 73"/>
          <p:cNvSpPr>
            <a:spLocks noChangeShapeType="1"/>
          </p:cNvSpPr>
          <p:nvPr/>
        </p:nvSpPr>
        <p:spPr bwMode="auto">
          <a:xfrm flipH="1">
            <a:off x="2457450" y="4419600"/>
            <a:ext cx="476250" cy="914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6" name="Line 74"/>
          <p:cNvSpPr>
            <a:spLocks noChangeShapeType="1"/>
          </p:cNvSpPr>
          <p:nvPr/>
        </p:nvSpPr>
        <p:spPr bwMode="auto">
          <a:xfrm>
            <a:off x="2952750" y="4419600"/>
            <a:ext cx="0" cy="8953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7" name="Line 75"/>
          <p:cNvSpPr>
            <a:spLocks noChangeShapeType="1"/>
          </p:cNvSpPr>
          <p:nvPr/>
        </p:nvSpPr>
        <p:spPr bwMode="auto">
          <a:xfrm>
            <a:off x="2952750" y="4438650"/>
            <a:ext cx="342900" cy="8953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8" name="Line 76"/>
          <p:cNvSpPr>
            <a:spLocks noChangeShapeType="1"/>
          </p:cNvSpPr>
          <p:nvPr/>
        </p:nvSpPr>
        <p:spPr bwMode="auto">
          <a:xfrm flipH="1">
            <a:off x="3657600" y="4381500"/>
            <a:ext cx="381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49" name="Line 77"/>
          <p:cNvSpPr>
            <a:spLocks noChangeShapeType="1"/>
          </p:cNvSpPr>
          <p:nvPr/>
        </p:nvSpPr>
        <p:spPr bwMode="auto">
          <a:xfrm>
            <a:off x="3695700" y="4381500"/>
            <a:ext cx="40005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0" name="Line 78"/>
          <p:cNvSpPr>
            <a:spLocks noChangeShapeType="1"/>
          </p:cNvSpPr>
          <p:nvPr/>
        </p:nvSpPr>
        <p:spPr bwMode="auto">
          <a:xfrm>
            <a:off x="3714750" y="4381500"/>
            <a:ext cx="8382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1" name="Line 79"/>
          <p:cNvSpPr>
            <a:spLocks noChangeShapeType="1"/>
          </p:cNvSpPr>
          <p:nvPr/>
        </p:nvSpPr>
        <p:spPr bwMode="auto">
          <a:xfrm>
            <a:off x="4457700" y="4362450"/>
            <a:ext cx="49530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2" name="Line 80"/>
          <p:cNvSpPr>
            <a:spLocks noChangeShapeType="1"/>
          </p:cNvSpPr>
          <p:nvPr/>
        </p:nvSpPr>
        <p:spPr bwMode="auto">
          <a:xfrm>
            <a:off x="4476750" y="4381500"/>
            <a:ext cx="9906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3" name="Line 81"/>
          <p:cNvSpPr>
            <a:spLocks noChangeShapeType="1"/>
          </p:cNvSpPr>
          <p:nvPr/>
        </p:nvSpPr>
        <p:spPr bwMode="auto">
          <a:xfrm>
            <a:off x="5257800" y="4419600"/>
            <a:ext cx="495300" cy="9525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4" name="Line 82"/>
          <p:cNvSpPr>
            <a:spLocks noChangeShapeType="1"/>
          </p:cNvSpPr>
          <p:nvPr/>
        </p:nvSpPr>
        <p:spPr bwMode="auto">
          <a:xfrm>
            <a:off x="5276850" y="4419600"/>
            <a:ext cx="800100" cy="933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5" name="Line 83"/>
          <p:cNvSpPr>
            <a:spLocks noChangeShapeType="1"/>
          </p:cNvSpPr>
          <p:nvPr/>
        </p:nvSpPr>
        <p:spPr bwMode="auto">
          <a:xfrm>
            <a:off x="5295900" y="4400550"/>
            <a:ext cx="11430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6" name="Line 84"/>
          <p:cNvSpPr>
            <a:spLocks noChangeShapeType="1"/>
          </p:cNvSpPr>
          <p:nvPr/>
        </p:nvSpPr>
        <p:spPr bwMode="auto">
          <a:xfrm>
            <a:off x="6019800" y="4419600"/>
            <a:ext cx="8382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7" name="Line 85"/>
          <p:cNvSpPr>
            <a:spLocks noChangeShapeType="1"/>
          </p:cNvSpPr>
          <p:nvPr/>
        </p:nvSpPr>
        <p:spPr bwMode="auto">
          <a:xfrm>
            <a:off x="6038850" y="4457700"/>
            <a:ext cx="12573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8" name="Line 86"/>
          <p:cNvSpPr>
            <a:spLocks noChangeShapeType="1"/>
          </p:cNvSpPr>
          <p:nvPr/>
        </p:nvSpPr>
        <p:spPr bwMode="auto">
          <a:xfrm>
            <a:off x="6819900" y="4419600"/>
            <a:ext cx="81915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59" name="Line 87"/>
          <p:cNvSpPr>
            <a:spLocks noChangeShapeType="1"/>
          </p:cNvSpPr>
          <p:nvPr/>
        </p:nvSpPr>
        <p:spPr bwMode="auto">
          <a:xfrm>
            <a:off x="6819900" y="4400550"/>
            <a:ext cx="11811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0" name="Line 88"/>
          <p:cNvSpPr>
            <a:spLocks noChangeShapeType="1"/>
          </p:cNvSpPr>
          <p:nvPr/>
        </p:nvSpPr>
        <p:spPr bwMode="auto">
          <a:xfrm>
            <a:off x="7829550" y="4381500"/>
            <a:ext cx="4953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61" name="Line 89"/>
          <p:cNvSpPr>
            <a:spLocks noChangeShapeType="1"/>
          </p:cNvSpPr>
          <p:nvPr/>
        </p:nvSpPr>
        <p:spPr bwMode="auto">
          <a:xfrm>
            <a:off x="7848600" y="4381500"/>
            <a:ext cx="9525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31" name="Text Box 91"/>
          <p:cNvSpPr txBox="1">
            <a:spLocks noChangeArrowheads="1"/>
          </p:cNvSpPr>
          <p:nvPr/>
        </p:nvSpPr>
        <p:spPr bwMode="auto">
          <a:xfrm>
            <a:off x="698500" y="41402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0</a:t>
            </a:r>
            <a:endParaRPr lang="en-US" altLang="zh-CN">
              <a:solidFill>
                <a:schemeClr val="folHlink"/>
              </a:solidFill>
            </a:endParaRPr>
          </a:p>
        </p:txBody>
      </p:sp>
      <p:sp>
        <p:nvSpPr>
          <p:cNvPr id="163932" name="Text Box 92"/>
          <p:cNvSpPr txBox="1">
            <a:spLocks noChangeArrowheads="1"/>
          </p:cNvSpPr>
          <p:nvPr/>
        </p:nvSpPr>
        <p:spPr bwMode="auto">
          <a:xfrm>
            <a:off x="1555750" y="41402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33" name="Text Box 93"/>
          <p:cNvSpPr txBox="1">
            <a:spLocks noChangeArrowheads="1"/>
          </p:cNvSpPr>
          <p:nvPr/>
        </p:nvSpPr>
        <p:spPr bwMode="auto">
          <a:xfrm>
            <a:off x="2374900" y="4083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34" name="Text Box 94"/>
          <p:cNvSpPr txBox="1">
            <a:spLocks noChangeArrowheads="1"/>
          </p:cNvSpPr>
          <p:nvPr/>
        </p:nvSpPr>
        <p:spPr bwMode="auto">
          <a:xfrm>
            <a:off x="3022600" y="41021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35" name="Text Box 95"/>
          <p:cNvSpPr txBox="1">
            <a:spLocks noChangeArrowheads="1"/>
          </p:cNvSpPr>
          <p:nvPr/>
        </p:nvSpPr>
        <p:spPr bwMode="auto">
          <a:xfrm>
            <a:off x="3784600" y="39878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36" name="Text Box 96"/>
          <p:cNvSpPr txBox="1">
            <a:spLocks noChangeArrowheads="1"/>
          </p:cNvSpPr>
          <p:nvPr/>
        </p:nvSpPr>
        <p:spPr bwMode="auto">
          <a:xfrm>
            <a:off x="4508500" y="396875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-2</a:t>
            </a:r>
            <a:endParaRPr lang="en-US" altLang="zh-CN">
              <a:solidFill>
                <a:schemeClr val="folHlink"/>
              </a:solidFill>
            </a:endParaRPr>
          </a:p>
        </p:txBody>
      </p:sp>
      <p:sp>
        <p:nvSpPr>
          <p:cNvPr id="163937" name="Text Box 97"/>
          <p:cNvSpPr txBox="1">
            <a:spLocks noChangeArrowheads="1"/>
          </p:cNvSpPr>
          <p:nvPr/>
        </p:nvSpPr>
        <p:spPr bwMode="auto">
          <a:xfrm>
            <a:off x="5308600" y="40259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1</a:t>
            </a:r>
            <a:endParaRPr lang="en-US" altLang="zh-CN">
              <a:solidFill>
                <a:schemeClr val="folHlink"/>
              </a:solidFill>
            </a:endParaRPr>
          </a:p>
        </p:txBody>
      </p:sp>
      <p:sp>
        <p:nvSpPr>
          <p:cNvPr id="163938" name="Text Box 98"/>
          <p:cNvSpPr txBox="1">
            <a:spLocks noChangeArrowheads="1"/>
          </p:cNvSpPr>
          <p:nvPr/>
        </p:nvSpPr>
        <p:spPr bwMode="auto">
          <a:xfrm>
            <a:off x="6051550" y="389255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39" name="Text Box 99"/>
          <p:cNvSpPr txBox="1">
            <a:spLocks noChangeArrowheads="1"/>
          </p:cNvSpPr>
          <p:nvPr/>
        </p:nvSpPr>
        <p:spPr bwMode="auto">
          <a:xfrm>
            <a:off x="6908800" y="39306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6</a:t>
            </a:r>
            <a:endParaRPr lang="en-US" altLang="zh-CN">
              <a:solidFill>
                <a:schemeClr val="folHlink"/>
              </a:solidFill>
            </a:endParaRPr>
          </a:p>
        </p:txBody>
      </p:sp>
      <p:sp>
        <p:nvSpPr>
          <p:cNvPr id="163940" name="Text Box 100"/>
          <p:cNvSpPr txBox="1">
            <a:spLocks noChangeArrowheads="1"/>
          </p:cNvSpPr>
          <p:nvPr/>
        </p:nvSpPr>
        <p:spPr bwMode="auto">
          <a:xfrm>
            <a:off x="7937500" y="39497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41" name="Text Box 101"/>
          <p:cNvSpPr txBox="1">
            <a:spLocks noChangeArrowheads="1"/>
          </p:cNvSpPr>
          <p:nvPr/>
        </p:nvSpPr>
        <p:spPr bwMode="auto">
          <a:xfrm>
            <a:off x="1536700" y="27495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0</a:t>
            </a:r>
            <a:endParaRPr lang="en-US" altLang="zh-CN">
              <a:solidFill>
                <a:schemeClr val="folHlink"/>
              </a:solidFill>
            </a:endParaRPr>
          </a:p>
        </p:txBody>
      </p:sp>
      <p:sp>
        <p:nvSpPr>
          <p:cNvPr id="163942" name="Text Box 102"/>
          <p:cNvSpPr txBox="1">
            <a:spLocks noChangeArrowheads="1"/>
          </p:cNvSpPr>
          <p:nvPr/>
        </p:nvSpPr>
        <p:spPr bwMode="auto">
          <a:xfrm>
            <a:off x="3251200" y="27495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3</a:t>
            </a:r>
            <a:endParaRPr lang="en-US" altLang="zh-CN">
              <a:solidFill>
                <a:schemeClr val="folHlink"/>
              </a:solidFill>
            </a:endParaRPr>
          </a:p>
        </p:txBody>
      </p:sp>
      <p:sp>
        <p:nvSpPr>
          <p:cNvPr id="163943" name="Text Box 103"/>
          <p:cNvSpPr txBox="1">
            <a:spLocks noChangeArrowheads="1"/>
          </p:cNvSpPr>
          <p:nvPr/>
        </p:nvSpPr>
        <p:spPr bwMode="auto">
          <a:xfrm>
            <a:off x="4908550" y="27686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1</a:t>
            </a:r>
            <a:endParaRPr lang="en-US" altLang="zh-CN">
              <a:solidFill>
                <a:schemeClr val="folHlink"/>
              </a:solidFill>
            </a:endParaRPr>
          </a:p>
        </p:txBody>
      </p:sp>
      <p:sp>
        <p:nvSpPr>
          <p:cNvPr id="163944" name="Text Box 104"/>
          <p:cNvSpPr txBox="1">
            <a:spLocks noChangeArrowheads="1"/>
          </p:cNvSpPr>
          <p:nvPr/>
        </p:nvSpPr>
        <p:spPr bwMode="auto">
          <a:xfrm>
            <a:off x="6565900" y="27686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6</a:t>
            </a:r>
            <a:endParaRPr lang="en-US" altLang="zh-CN">
              <a:solidFill>
                <a:schemeClr val="folHlink"/>
              </a:solidFill>
            </a:endParaRPr>
          </a:p>
        </p:txBody>
      </p:sp>
      <p:sp>
        <p:nvSpPr>
          <p:cNvPr id="163945" name="Text Box 105"/>
          <p:cNvSpPr txBox="1">
            <a:spLocks noChangeArrowheads="1"/>
          </p:cNvSpPr>
          <p:nvPr/>
        </p:nvSpPr>
        <p:spPr bwMode="auto">
          <a:xfrm>
            <a:off x="2527300" y="189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0</a:t>
            </a:r>
            <a:endParaRPr lang="en-US" altLang="zh-CN">
              <a:solidFill>
                <a:schemeClr val="folHlink"/>
              </a:solidFill>
            </a:endParaRPr>
          </a:p>
        </p:txBody>
      </p:sp>
      <p:sp>
        <p:nvSpPr>
          <p:cNvPr id="163946" name="Text Box 106"/>
          <p:cNvSpPr txBox="1">
            <a:spLocks noChangeArrowheads="1"/>
          </p:cNvSpPr>
          <p:nvPr/>
        </p:nvSpPr>
        <p:spPr bwMode="auto">
          <a:xfrm>
            <a:off x="5822950" y="17589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1</a:t>
            </a:r>
            <a:endParaRPr lang="en-US" altLang="zh-CN">
              <a:solidFill>
                <a:schemeClr val="folHlink"/>
              </a:solidFill>
            </a:endParaRPr>
          </a:p>
        </p:txBody>
      </p:sp>
      <p:sp>
        <p:nvSpPr>
          <p:cNvPr id="163947" name="Text Box 107"/>
          <p:cNvSpPr txBox="1">
            <a:spLocks noChangeArrowheads="1"/>
          </p:cNvSpPr>
          <p:nvPr/>
        </p:nvSpPr>
        <p:spPr bwMode="auto">
          <a:xfrm>
            <a:off x="4260850" y="1035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chemeClr val="folHlink"/>
                </a:solidFill>
              </a:rPr>
              <a:t>1</a:t>
            </a:r>
            <a:endParaRPr lang="en-US" altLang="zh-CN">
              <a:solidFill>
                <a:schemeClr val="folHlink"/>
              </a:solidFill>
            </a:endParaRPr>
          </a:p>
        </p:txBody>
      </p:sp>
      <p:sp>
        <p:nvSpPr>
          <p:cNvPr id="163948" name="Line 108"/>
          <p:cNvSpPr>
            <a:spLocks noChangeShapeType="1"/>
          </p:cNvSpPr>
          <p:nvPr/>
        </p:nvSpPr>
        <p:spPr bwMode="auto">
          <a:xfrm>
            <a:off x="4743450" y="1314450"/>
            <a:ext cx="685800" cy="323850"/>
          </a:xfrm>
          <a:prstGeom prst="line">
            <a:avLst/>
          </a:prstGeom>
          <a:noFill/>
          <a:ln w="57150">
            <a:solidFill>
              <a:schemeClr val="fo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49" name="Text Box 109"/>
          <p:cNvSpPr txBox="1">
            <a:spLocks noChangeArrowheads="1"/>
          </p:cNvSpPr>
          <p:nvPr/>
        </p:nvSpPr>
        <p:spPr bwMode="auto">
          <a:xfrm>
            <a:off x="6937375" y="10096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极大</a:t>
            </a:r>
          </a:p>
        </p:txBody>
      </p:sp>
      <p:sp>
        <p:nvSpPr>
          <p:cNvPr id="163950" name="Text Box 110"/>
          <p:cNvSpPr txBox="1">
            <a:spLocks noChangeArrowheads="1"/>
          </p:cNvSpPr>
          <p:nvPr/>
        </p:nvSpPr>
        <p:spPr bwMode="auto">
          <a:xfrm>
            <a:off x="7032625" y="1809750"/>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zh-CN" altLang="en-US"/>
              <a:t>极小</a:t>
            </a:r>
          </a:p>
        </p:txBody>
      </p:sp>
      <p:sp>
        <p:nvSpPr>
          <p:cNvPr id="163951" name="Freeform 111"/>
          <p:cNvSpPr/>
          <p:nvPr/>
        </p:nvSpPr>
        <p:spPr bwMode="auto">
          <a:xfrm>
            <a:off x="1466850" y="5086350"/>
            <a:ext cx="419100" cy="819150"/>
          </a:xfrm>
          <a:custGeom>
            <a:avLst/>
            <a:gdLst>
              <a:gd name="T0" fmla="*/ 12 w 264"/>
              <a:gd name="T1" fmla="*/ 60 h 516"/>
              <a:gd name="T2" fmla="*/ 84 w 264"/>
              <a:gd name="T3" fmla="*/ 0 h 516"/>
              <a:gd name="T4" fmla="*/ 156 w 264"/>
              <a:gd name="T5" fmla="*/ 0 h 516"/>
              <a:gd name="T6" fmla="*/ 264 w 264"/>
              <a:gd name="T7" fmla="*/ 60 h 516"/>
              <a:gd name="T8" fmla="*/ 252 w 264"/>
              <a:gd name="T9" fmla="*/ 204 h 516"/>
              <a:gd name="T10" fmla="*/ 252 w 264"/>
              <a:gd name="T11" fmla="*/ 408 h 516"/>
              <a:gd name="T12" fmla="*/ 156 w 264"/>
              <a:gd name="T13" fmla="*/ 516 h 516"/>
              <a:gd name="T14" fmla="*/ 0 w 264"/>
              <a:gd name="T15" fmla="*/ 480 h 516"/>
              <a:gd name="T16" fmla="*/ 12 w 264"/>
              <a:gd name="T17" fmla="*/ 336 h 516"/>
              <a:gd name="T18" fmla="*/ 12 w 264"/>
              <a:gd name="T19" fmla="*/ 204 h 516"/>
              <a:gd name="T20" fmla="*/ 12 w 264"/>
              <a:gd name="T21" fmla="*/ 60 h 5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4"/>
              <a:gd name="T34" fmla="*/ 0 h 516"/>
              <a:gd name="T35" fmla="*/ 264 w 264"/>
              <a:gd name="T36" fmla="*/ 516 h 5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4" h="516">
                <a:moveTo>
                  <a:pt x="12" y="60"/>
                </a:moveTo>
                <a:lnTo>
                  <a:pt x="84" y="0"/>
                </a:lnTo>
                <a:lnTo>
                  <a:pt x="156" y="0"/>
                </a:lnTo>
                <a:lnTo>
                  <a:pt x="264" y="60"/>
                </a:lnTo>
                <a:lnTo>
                  <a:pt x="252" y="204"/>
                </a:lnTo>
                <a:lnTo>
                  <a:pt x="252" y="408"/>
                </a:lnTo>
                <a:lnTo>
                  <a:pt x="156" y="516"/>
                </a:lnTo>
                <a:lnTo>
                  <a:pt x="0" y="480"/>
                </a:lnTo>
                <a:lnTo>
                  <a:pt x="12" y="336"/>
                </a:lnTo>
                <a:lnTo>
                  <a:pt x="12" y="204"/>
                </a:lnTo>
                <a:lnTo>
                  <a:pt x="12" y="60"/>
                </a:lnTo>
                <a:close/>
              </a:path>
            </a:pathLst>
          </a:cu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3952" name="Freeform 112"/>
          <p:cNvSpPr/>
          <p:nvPr/>
        </p:nvSpPr>
        <p:spPr bwMode="auto">
          <a:xfrm>
            <a:off x="2190750" y="3562350"/>
            <a:ext cx="3409950" cy="2609850"/>
          </a:xfrm>
          <a:custGeom>
            <a:avLst/>
            <a:gdLst>
              <a:gd name="T0" fmla="*/ 360 w 2148"/>
              <a:gd name="T1" fmla="*/ 168 h 1644"/>
              <a:gd name="T2" fmla="*/ 504 w 2148"/>
              <a:gd name="T3" fmla="*/ 60 h 1644"/>
              <a:gd name="T4" fmla="*/ 672 w 2148"/>
              <a:gd name="T5" fmla="*/ 24 h 1644"/>
              <a:gd name="T6" fmla="*/ 960 w 2148"/>
              <a:gd name="T7" fmla="*/ 0 h 1644"/>
              <a:gd name="T8" fmla="*/ 1104 w 2148"/>
              <a:gd name="T9" fmla="*/ 0 h 1644"/>
              <a:gd name="T10" fmla="*/ 1272 w 2148"/>
              <a:gd name="T11" fmla="*/ 36 h 1644"/>
              <a:gd name="T12" fmla="*/ 1524 w 2148"/>
              <a:gd name="T13" fmla="*/ 192 h 1644"/>
              <a:gd name="T14" fmla="*/ 1680 w 2148"/>
              <a:gd name="T15" fmla="*/ 480 h 1644"/>
              <a:gd name="T16" fmla="*/ 1716 w 2148"/>
              <a:gd name="T17" fmla="*/ 540 h 1644"/>
              <a:gd name="T18" fmla="*/ 1872 w 2148"/>
              <a:gd name="T19" fmla="*/ 696 h 1644"/>
              <a:gd name="T20" fmla="*/ 1992 w 2148"/>
              <a:gd name="T21" fmla="*/ 864 h 1644"/>
              <a:gd name="T22" fmla="*/ 2088 w 2148"/>
              <a:gd name="T23" fmla="*/ 996 h 1644"/>
              <a:gd name="T24" fmla="*/ 2148 w 2148"/>
              <a:gd name="T25" fmla="*/ 1080 h 1644"/>
              <a:gd name="T26" fmla="*/ 2148 w 2148"/>
              <a:gd name="T27" fmla="*/ 1392 h 1644"/>
              <a:gd name="T28" fmla="*/ 2076 w 2148"/>
              <a:gd name="T29" fmla="*/ 1608 h 1644"/>
              <a:gd name="T30" fmla="*/ 1092 w 2148"/>
              <a:gd name="T31" fmla="*/ 1596 h 1644"/>
              <a:gd name="T32" fmla="*/ 336 w 2148"/>
              <a:gd name="T33" fmla="*/ 1644 h 1644"/>
              <a:gd name="T34" fmla="*/ 24 w 2148"/>
              <a:gd name="T35" fmla="*/ 1560 h 1644"/>
              <a:gd name="T36" fmla="*/ 0 w 2148"/>
              <a:gd name="T37" fmla="*/ 1296 h 1644"/>
              <a:gd name="T38" fmla="*/ 12 w 2148"/>
              <a:gd name="T39" fmla="*/ 840 h 1644"/>
              <a:gd name="T40" fmla="*/ 192 w 2148"/>
              <a:gd name="T41" fmla="*/ 636 h 1644"/>
              <a:gd name="T42" fmla="*/ 360 w 2148"/>
              <a:gd name="T43" fmla="*/ 456 h 1644"/>
              <a:gd name="T44" fmla="*/ 360 w 2148"/>
              <a:gd name="T45" fmla="*/ 168 h 16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148"/>
              <a:gd name="T70" fmla="*/ 0 h 1644"/>
              <a:gd name="T71" fmla="*/ 2148 w 2148"/>
              <a:gd name="T72" fmla="*/ 1644 h 16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148" h="1644">
                <a:moveTo>
                  <a:pt x="360" y="168"/>
                </a:moveTo>
                <a:lnTo>
                  <a:pt x="504" y="60"/>
                </a:lnTo>
                <a:lnTo>
                  <a:pt x="672" y="24"/>
                </a:lnTo>
                <a:lnTo>
                  <a:pt x="960" y="0"/>
                </a:lnTo>
                <a:lnTo>
                  <a:pt x="1104" y="0"/>
                </a:lnTo>
                <a:lnTo>
                  <a:pt x="1272" y="36"/>
                </a:lnTo>
                <a:lnTo>
                  <a:pt x="1524" y="192"/>
                </a:lnTo>
                <a:lnTo>
                  <a:pt x="1680" y="480"/>
                </a:lnTo>
                <a:lnTo>
                  <a:pt x="1716" y="540"/>
                </a:lnTo>
                <a:lnTo>
                  <a:pt x="1872" y="696"/>
                </a:lnTo>
                <a:lnTo>
                  <a:pt x="1992" y="864"/>
                </a:lnTo>
                <a:lnTo>
                  <a:pt x="2088" y="996"/>
                </a:lnTo>
                <a:lnTo>
                  <a:pt x="2148" y="1080"/>
                </a:lnTo>
                <a:lnTo>
                  <a:pt x="2148" y="1392"/>
                </a:lnTo>
                <a:lnTo>
                  <a:pt x="2076" y="1608"/>
                </a:lnTo>
                <a:lnTo>
                  <a:pt x="1092" y="1596"/>
                </a:lnTo>
                <a:lnTo>
                  <a:pt x="336" y="1644"/>
                </a:lnTo>
                <a:lnTo>
                  <a:pt x="24" y="1560"/>
                </a:lnTo>
                <a:lnTo>
                  <a:pt x="0" y="1296"/>
                </a:lnTo>
                <a:lnTo>
                  <a:pt x="12" y="840"/>
                </a:lnTo>
                <a:lnTo>
                  <a:pt x="192" y="636"/>
                </a:lnTo>
                <a:lnTo>
                  <a:pt x="360" y="456"/>
                </a:lnTo>
                <a:lnTo>
                  <a:pt x="360" y="168"/>
                </a:lnTo>
                <a:close/>
              </a:path>
            </a:pathLst>
          </a:custGeom>
          <a:noFill/>
          <a:ln w="571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84" name="Text Box 113"/>
          <p:cNvSpPr txBox="1">
            <a:spLocks noChangeArrowheads="1"/>
          </p:cNvSpPr>
          <p:nvPr/>
        </p:nvSpPr>
        <p:spPr bwMode="auto">
          <a:xfrm>
            <a:off x="838200" y="257175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a</a:t>
            </a:r>
          </a:p>
        </p:txBody>
      </p:sp>
      <p:sp>
        <p:nvSpPr>
          <p:cNvPr id="20585" name="Text Box 114"/>
          <p:cNvSpPr txBox="1">
            <a:spLocks noChangeArrowheads="1"/>
          </p:cNvSpPr>
          <p:nvPr/>
        </p:nvSpPr>
        <p:spPr bwMode="auto">
          <a:xfrm>
            <a:off x="1771650" y="1619250"/>
            <a:ext cx="43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b</a:t>
            </a:r>
          </a:p>
        </p:txBody>
      </p:sp>
      <p:sp>
        <p:nvSpPr>
          <p:cNvPr id="20586" name="Text Box 115"/>
          <p:cNvSpPr txBox="1">
            <a:spLocks noChangeArrowheads="1"/>
          </p:cNvSpPr>
          <p:nvPr/>
        </p:nvSpPr>
        <p:spPr bwMode="auto">
          <a:xfrm>
            <a:off x="2822575" y="53022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20587" name="Text Box 116"/>
          <p:cNvSpPr txBox="1">
            <a:spLocks noChangeArrowheads="1"/>
          </p:cNvSpPr>
          <p:nvPr/>
        </p:nvSpPr>
        <p:spPr bwMode="auto">
          <a:xfrm>
            <a:off x="3165475" y="5311775"/>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2</a:t>
            </a:r>
            <a:endParaRPr lang="en-US" altLang="zh-CN"/>
          </a:p>
        </p:txBody>
      </p:sp>
      <p:sp>
        <p:nvSpPr>
          <p:cNvPr id="20588" name="Oval 117"/>
          <p:cNvSpPr>
            <a:spLocks noChangeArrowheads="1"/>
          </p:cNvSpPr>
          <p:nvPr/>
        </p:nvSpPr>
        <p:spPr bwMode="auto">
          <a:xfrm>
            <a:off x="2133600" y="41529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89" name="Oval 118"/>
          <p:cNvSpPr>
            <a:spLocks noChangeArrowheads="1"/>
          </p:cNvSpPr>
          <p:nvPr/>
        </p:nvSpPr>
        <p:spPr bwMode="auto">
          <a:xfrm>
            <a:off x="2819400" y="41529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90" name="Oval 119"/>
          <p:cNvSpPr>
            <a:spLocks noChangeArrowheads="1"/>
          </p:cNvSpPr>
          <p:nvPr/>
        </p:nvSpPr>
        <p:spPr bwMode="auto">
          <a:xfrm>
            <a:off x="3562350" y="41338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91" name="Oval 120"/>
          <p:cNvSpPr>
            <a:spLocks noChangeArrowheads="1"/>
          </p:cNvSpPr>
          <p:nvPr/>
        </p:nvSpPr>
        <p:spPr bwMode="auto">
          <a:xfrm>
            <a:off x="4267200" y="41338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92" name="Rectangle 121"/>
          <p:cNvSpPr>
            <a:spLocks noChangeArrowheads="1"/>
          </p:cNvSpPr>
          <p:nvPr/>
        </p:nvSpPr>
        <p:spPr bwMode="auto">
          <a:xfrm>
            <a:off x="2857500" y="28003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0593" name="Line 122"/>
          <p:cNvSpPr>
            <a:spLocks noChangeShapeType="1"/>
          </p:cNvSpPr>
          <p:nvPr/>
        </p:nvSpPr>
        <p:spPr bwMode="auto">
          <a:xfrm flipH="1">
            <a:off x="2247900" y="3105150"/>
            <a:ext cx="742950" cy="10287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4" name="Line 123"/>
          <p:cNvSpPr>
            <a:spLocks noChangeShapeType="1"/>
          </p:cNvSpPr>
          <p:nvPr/>
        </p:nvSpPr>
        <p:spPr bwMode="auto">
          <a:xfrm>
            <a:off x="2952750" y="3143250"/>
            <a:ext cx="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5" name="Line 124"/>
          <p:cNvSpPr>
            <a:spLocks noChangeShapeType="1"/>
          </p:cNvSpPr>
          <p:nvPr/>
        </p:nvSpPr>
        <p:spPr bwMode="auto">
          <a:xfrm>
            <a:off x="3009900" y="3143250"/>
            <a:ext cx="66675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6" name="Line 125"/>
          <p:cNvSpPr>
            <a:spLocks noChangeShapeType="1"/>
          </p:cNvSpPr>
          <p:nvPr/>
        </p:nvSpPr>
        <p:spPr bwMode="auto">
          <a:xfrm>
            <a:off x="3028950" y="3181350"/>
            <a:ext cx="1371600" cy="933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7" name="Line 126"/>
          <p:cNvSpPr>
            <a:spLocks noChangeShapeType="1"/>
          </p:cNvSpPr>
          <p:nvPr/>
        </p:nvSpPr>
        <p:spPr bwMode="auto">
          <a:xfrm flipH="1">
            <a:off x="2057400" y="4438650"/>
            <a:ext cx="209550" cy="8572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8" name="Line 127"/>
          <p:cNvSpPr>
            <a:spLocks noChangeShapeType="1"/>
          </p:cNvSpPr>
          <p:nvPr/>
        </p:nvSpPr>
        <p:spPr bwMode="auto">
          <a:xfrm flipH="1">
            <a:off x="2457450" y="4419600"/>
            <a:ext cx="476250" cy="914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599" name="Line 128"/>
          <p:cNvSpPr>
            <a:spLocks noChangeShapeType="1"/>
          </p:cNvSpPr>
          <p:nvPr/>
        </p:nvSpPr>
        <p:spPr bwMode="auto">
          <a:xfrm>
            <a:off x="2952750" y="4419600"/>
            <a:ext cx="0" cy="8953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600" name="Line 129"/>
          <p:cNvSpPr>
            <a:spLocks noChangeShapeType="1"/>
          </p:cNvSpPr>
          <p:nvPr/>
        </p:nvSpPr>
        <p:spPr bwMode="auto">
          <a:xfrm>
            <a:off x="2952750" y="4438650"/>
            <a:ext cx="342900" cy="8953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9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9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9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9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39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39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39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639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639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639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639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39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639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6394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6394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6394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6394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639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16394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499"/>
                                          </p:stCondLst>
                                        </p:cTn>
                                        <p:tgtEl>
                                          <p:spTgt spid="16394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499"/>
                                          </p:stCondLst>
                                        </p:cTn>
                                        <p:tgtEl>
                                          <p:spTgt spid="16395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639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31" grpId="0" autoUpdateAnimBg="0"/>
      <p:bldP spid="163932" grpId="0" autoUpdateAnimBg="0"/>
      <p:bldP spid="163933" grpId="0" autoUpdateAnimBg="0"/>
      <p:bldP spid="163934" grpId="0" autoUpdateAnimBg="0"/>
      <p:bldP spid="163935" grpId="0" autoUpdateAnimBg="0"/>
      <p:bldP spid="163936" grpId="0" autoUpdateAnimBg="0"/>
      <p:bldP spid="163937" grpId="0" autoUpdateAnimBg="0"/>
      <p:bldP spid="163938" grpId="0" autoUpdateAnimBg="0"/>
      <p:bldP spid="163939" grpId="0" autoUpdateAnimBg="0"/>
      <p:bldP spid="163940" grpId="0" autoUpdateAnimBg="0"/>
      <p:bldP spid="163941" grpId="0" autoUpdateAnimBg="0"/>
      <p:bldP spid="163942" grpId="0" autoUpdateAnimBg="0"/>
      <p:bldP spid="163943" grpId="0" autoUpdateAnimBg="0"/>
      <p:bldP spid="163944" grpId="0" autoUpdateAnimBg="0"/>
      <p:bldP spid="163945" grpId="0" autoUpdateAnimBg="0"/>
      <p:bldP spid="163946" grpId="0" autoUpdateAnimBg="0"/>
      <p:bldP spid="163947" grpId="0" autoUpdateAnimBg="0"/>
      <p:bldP spid="163949" grpId="0" autoUpdateAnimBg="0"/>
      <p:bldP spid="163950" grpId="0" autoUpdateAnimBg="0"/>
      <p:bldP spid="163951" grpId="0" animBg="1"/>
      <p:bldP spid="16395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fld id="{D0D57B55-1114-4E43-9F1C-6A6EC93F2C96}" type="slidenum">
              <a:rPr kumimoji="0" lang="en-US" altLang="zh-CN" sz="1400"/>
              <a:t>32</a:t>
            </a:fld>
            <a:endParaRPr kumimoji="0" lang="en-US" altLang="zh-CN" sz="1400"/>
          </a:p>
        </p:txBody>
      </p:sp>
      <p:sp>
        <p:nvSpPr>
          <p:cNvPr id="164984" name="Rectangle 120"/>
          <p:cNvSpPr>
            <a:spLocks noChangeArrowheads="1"/>
          </p:cNvSpPr>
          <p:nvPr/>
        </p:nvSpPr>
        <p:spPr bwMode="auto">
          <a:xfrm>
            <a:off x="7905750" y="5619750"/>
            <a:ext cx="190500" cy="323850"/>
          </a:xfrm>
          <a:prstGeom prst="rect">
            <a:avLst/>
          </a:prstGeom>
          <a:solidFill>
            <a:schemeClr val="tx2"/>
          </a:solidFill>
          <a:ln w="57150">
            <a:solidFill>
              <a:schemeClr val="tx2"/>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83" name="Rectangle 119"/>
          <p:cNvSpPr>
            <a:spLocks noChangeArrowheads="1"/>
          </p:cNvSpPr>
          <p:nvPr/>
        </p:nvSpPr>
        <p:spPr bwMode="auto">
          <a:xfrm>
            <a:off x="7524750" y="5600700"/>
            <a:ext cx="228600" cy="40005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82" name="Rectangle 118"/>
          <p:cNvSpPr>
            <a:spLocks noChangeArrowheads="1"/>
          </p:cNvSpPr>
          <p:nvPr/>
        </p:nvSpPr>
        <p:spPr bwMode="auto">
          <a:xfrm>
            <a:off x="6686550" y="5613400"/>
            <a:ext cx="419100" cy="38735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81" name="Rectangle 117"/>
          <p:cNvSpPr>
            <a:spLocks noChangeArrowheads="1"/>
          </p:cNvSpPr>
          <p:nvPr/>
        </p:nvSpPr>
        <p:spPr bwMode="auto">
          <a:xfrm>
            <a:off x="6324600" y="5600700"/>
            <a:ext cx="209550" cy="381000"/>
          </a:xfrm>
          <a:prstGeom prst="rect">
            <a:avLst/>
          </a:prstGeom>
          <a:solidFill>
            <a:schemeClr val="tx2"/>
          </a:solidFill>
          <a:ln w="57150">
            <a:solidFill>
              <a:schemeClr val="tx2"/>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endParaRPr lang="zh-CN" altLang="zh-CN">
              <a:solidFill>
                <a:srgbClr val="FF0000"/>
              </a:solidFill>
            </a:endParaRPr>
          </a:p>
        </p:txBody>
      </p:sp>
      <p:sp>
        <p:nvSpPr>
          <p:cNvPr id="164980" name="Rectangle 116"/>
          <p:cNvSpPr>
            <a:spLocks noChangeArrowheads="1"/>
          </p:cNvSpPr>
          <p:nvPr/>
        </p:nvSpPr>
        <p:spPr bwMode="auto">
          <a:xfrm>
            <a:off x="5956300" y="5600700"/>
            <a:ext cx="215900" cy="361950"/>
          </a:xfrm>
          <a:prstGeom prst="rect">
            <a:avLst/>
          </a:prstGeom>
          <a:solidFill>
            <a:schemeClr val="tx2"/>
          </a:solidFill>
          <a:ln w="57150">
            <a:solidFill>
              <a:schemeClr val="tx2"/>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79" name="Rectangle 115"/>
          <p:cNvSpPr>
            <a:spLocks noChangeArrowheads="1"/>
          </p:cNvSpPr>
          <p:nvPr/>
        </p:nvSpPr>
        <p:spPr bwMode="auto">
          <a:xfrm>
            <a:off x="5632450" y="5607050"/>
            <a:ext cx="209550" cy="374650"/>
          </a:xfrm>
          <a:prstGeom prst="rect">
            <a:avLst/>
          </a:prstGeom>
          <a:solidFill>
            <a:schemeClr val="tx2"/>
          </a:solidFill>
          <a:ln w="57150">
            <a:solidFill>
              <a:schemeClr val="tx2"/>
            </a:solidFill>
            <a:miter lim="800000"/>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77" name="Rectangle 113"/>
          <p:cNvSpPr>
            <a:spLocks noChangeArrowheads="1"/>
          </p:cNvSpPr>
          <p:nvPr/>
        </p:nvSpPr>
        <p:spPr bwMode="auto">
          <a:xfrm>
            <a:off x="1905000" y="5505450"/>
            <a:ext cx="266700" cy="43180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75" name="Rectangle 111"/>
          <p:cNvSpPr>
            <a:spLocks noChangeArrowheads="1"/>
          </p:cNvSpPr>
          <p:nvPr/>
        </p:nvSpPr>
        <p:spPr bwMode="auto">
          <a:xfrm>
            <a:off x="628650" y="5435600"/>
            <a:ext cx="222250" cy="41275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972" name="Rectangle 108"/>
          <p:cNvSpPr>
            <a:spLocks noChangeArrowheads="1"/>
          </p:cNvSpPr>
          <p:nvPr/>
        </p:nvSpPr>
        <p:spPr bwMode="auto">
          <a:xfrm>
            <a:off x="254000" y="5473700"/>
            <a:ext cx="273050" cy="40640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40" name="Text Box 18"/>
          <p:cNvSpPr txBox="1">
            <a:spLocks noChangeArrowheads="1"/>
          </p:cNvSpPr>
          <p:nvPr/>
        </p:nvSpPr>
        <p:spPr bwMode="auto">
          <a:xfrm>
            <a:off x="5932488" y="55689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4</a:t>
            </a:r>
            <a:endParaRPr lang="en-US" altLang="zh-CN">
              <a:solidFill>
                <a:srgbClr val="FF0000"/>
              </a:solidFill>
            </a:endParaRPr>
          </a:p>
        </p:txBody>
      </p:sp>
      <p:sp>
        <p:nvSpPr>
          <p:cNvPr id="22541" name="Text Box 23"/>
          <p:cNvSpPr txBox="1">
            <a:spLocks noChangeArrowheads="1"/>
          </p:cNvSpPr>
          <p:nvPr/>
        </p:nvSpPr>
        <p:spPr bwMode="auto">
          <a:xfrm>
            <a:off x="7875588" y="55689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8</a:t>
            </a:r>
            <a:endParaRPr lang="en-US" altLang="zh-CN">
              <a:solidFill>
                <a:srgbClr val="FF0000"/>
              </a:solidFill>
            </a:endParaRPr>
          </a:p>
        </p:txBody>
      </p:sp>
      <p:sp>
        <p:nvSpPr>
          <p:cNvPr id="22542" name="Text Box 22"/>
          <p:cNvSpPr txBox="1">
            <a:spLocks noChangeArrowheads="1"/>
          </p:cNvSpPr>
          <p:nvPr/>
        </p:nvSpPr>
        <p:spPr bwMode="auto">
          <a:xfrm>
            <a:off x="7513638" y="558800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6</a:t>
            </a:r>
            <a:endParaRPr lang="en-US" altLang="zh-CN">
              <a:solidFill>
                <a:srgbClr val="FF0000"/>
              </a:solidFill>
            </a:endParaRPr>
          </a:p>
        </p:txBody>
      </p:sp>
      <p:sp>
        <p:nvSpPr>
          <p:cNvPr id="22543" name="Text Box 20"/>
          <p:cNvSpPr txBox="1">
            <a:spLocks noChangeArrowheads="1"/>
          </p:cNvSpPr>
          <p:nvPr/>
        </p:nvSpPr>
        <p:spPr bwMode="auto">
          <a:xfrm>
            <a:off x="6675438" y="55975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44" name="Text Box 19"/>
          <p:cNvSpPr txBox="1">
            <a:spLocks noChangeArrowheads="1"/>
          </p:cNvSpPr>
          <p:nvPr/>
        </p:nvSpPr>
        <p:spPr bwMode="auto">
          <a:xfrm>
            <a:off x="6299200" y="55689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1</a:t>
            </a:r>
            <a:endParaRPr lang="en-US" altLang="zh-CN">
              <a:solidFill>
                <a:srgbClr val="FF0000"/>
              </a:solidFill>
            </a:endParaRPr>
          </a:p>
        </p:txBody>
      </p:sp>
      <p:sp>
        <p:nvSpPr>
          <p:cNvPr id="22545" name="Text Box 17"/>
          <p:cNvSpPr txBox="1">
            <a:spLocks noChangeArrowheads="1"/>
          </p:cNvSpPr>
          <p:nvPr/>
        </p:nvSpPr>
        <p:spPr bwMode="auto">
          <a:xfrm>
            <a:off x="5622925" y="55880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5</a:t>
            </a:r>
            <a:endParaRPr lang="en-US" altLang="zh-CN">
              <a:solidFill>
                <a:srgbClr val="FF0000"/>
              </a:solidFill>
            </a:endParaRPr>
          </a:p>
        </p:txBody>
      </p:sp>
      <p:sp>
        <p:nvSpPr>
          <p:cNvPr id="22546" name="Text Box 4"/>
          <p:cNvSpPr txBox="1">
            <a:spLocks noChangeArrowheads="1"/>
          </p:cNvSpPr>
          <p:nvPr/>
        </p:nvSpPr>
        <p:spPr bwMode="auto">
          <a:xfrm>
            <a:off x="269875" y="54546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0</a:t>
            </a:r>
            <a:endParaRPr lang="en-US" altLang="zh-CN">
              <a:solidFill>
                <a:srgbClr val="FF0000"/>
              </a:solidFill>
            </a:endParaRPr>
          </a:p>
        </p:txBody>
      </p:sp>
      <p:sp>
        <p:nvSpPr>
          <p:cNvPr id="22547" name="Text Box 8"/>
          <p:cNvSpPr txBox="1">
            <a:spLocks noChangeArrowheads="1"/>
          </p:cNvSpPr>
          <p:nvPr/>
        </p:nvSpPr>
        <p:spPr bwMode="auto">
          <a:xfrm>
            <a:off x="1908175" y="55118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48" name="Text Box 5"/>
          <p:cNvSpPr txBox="1">
            <a:spLocks noChangeArrowheads="1"/>
          </p:cNvSpPr>
          <p:nvPr/>
        </p:nvSpPr>
        <p:spPr bwMode="auto">
          <a:xfrm>
            <a:off x="612775" y="54546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5</a:t>
            </a:r>
            <a:endParaRPr lang="en-US" altLang="zh-CN">
              <a:solidFill>
                <a:srgbClr val="FF0000"/>
              </a:solidFill>
            </a:endParaRPr>
          </a:p>
        </p:txBody>
      </p:sp>
      <p:sp>
        <p:nvSpPr>
          <p:cNvPr id="164976" name="Rectangle 112"/>
          <p:cNvSpPr>
            <a:spLocks noChangeArrowheads="1"/>
          </p:cNvSpPr>
          <p:nvPr/>
        </p:nvSpPr>
        <p:spPr bwMode="auto">
          <a:xfrm>
            <a:off x="971550" y="5505450"/>
            <a:ext cx="419100" cy="381000"/>
          </a:xfrm>
          <a:prstGeom prst="rect">
            <a:avLst/>
          </a:prstGeom>
          <a:solidFill>
            <a:schemeClr val="tx2"/>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64866" name="Rectangle 2"/>
          <p:cNvSpPr>
            <a:spLocks noGrp="1" noChangeArrowheads="1"/>
          </p:cNvSpPr>
          <p:nvPr>
            <p:ph type="title"/>
          </p:nvPr>
        </p:nvSpPr>
        <p:spPr>
          <a:xfrm>
            <a:off x="685800" y="247650"/>
            <a:ext cx="7772400" cy="723900"/>
          </a:xfrm>
        </p:spPr>
        <p:txBody>
          <a:bodyPr>
            <a:normAutofit fontScale="90000"/>
          </a:bodyPr>
          <a:lstStyle/>
          <a:p>
            <a:pPr eaLnBrk="1" hangingPunct="1"/>
            <a:r>
              <a:rPr lang="en-US" altLang="zh-CN" dirty="0">
                <a:sym typeface="Symbol" panose="05050102010706020507" pitchFamily="18" charset="2"/>
              </a:rPr>
              <a:t>-</a:t>
            </a:r>
            <a:r>
              <a:rPr lang="zh-CN" altLang="en-US" dirty="0">
                <a:sym typeface="Symbol" panose="05050102010706020507" pitchFamily="18" charset="2"/>
              </a:rPr>
              <a:t>剪枝过程</a:t>
            </a:r>
            <a:endParaRPr lang="zh-CN" altLang="en-US" dirty="0"/>
          </a:p>
        </p:txBody>
      </p:sp>
      <p:sp>
        <p:nvSpPr>
          <p:cNvPr id="22551" name="Text Box 6"/>
          <p:cNvSpPr txBox="1">
            <a:spLocks noChangeArrowheads="1"/>
          </p:cNvSpPr>
          <p:nvPr/>
        </p:nvSpPr>
        <p:spPr bwMode="auto">
          <a:xfrm>
            <a:off x="960438" y="54832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52" name="Text Box 7"/>
          <p:cNvSpPr txBox="1">
            <a:spLocks noChangeArrowheads="1"/>
          </p:cNvSpPr>
          <p:nvPr/>
        </p:nvSpPr>
        <p:spPr bwMode="auto">
          <a:xfrm>
            <a:off x="1565275" y="55118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53" name="Text Box 9"/>
          <p:cNvSpPr txBox="1">
            <a:spLocks noChangeArrowheads="1"/>
          </p:cNvSpPr>
          <p:nvPr/>
        </p:nvSpPr>
        <p:spPr bwMode="auto">
          <a:xfrm>
            <a:off x="2255838" y="55403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54" name="Text Box 10"/>
          <p:cNvSpPr txBox="1">
            <a:spLocks noChangeArrowheads="1"/>
          </p:cNvSpPr>
          <p:nvPr/>
        </p:nvSpPr>
        <p:spPr bwMode="auto">
          <a:xfrm>
            <a:off x="2822575" y="55308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0</a:t>
            </a:r>
            <a:endParaRPr lang="en-US" altLang="zh-CN">
              <a:solidFill>
                <a:srgbClr val="FF0000"/>
              </a:solidFill>
            </a:endParaRPr>
          </a:p>
        </p:txBody>
      </p:sp>
      <p:sp>
        <p:nvSpPr>
          <p:cNvPr id="22555" name="Text Box 11"/>
          <p:cNvSpPr txBox="1">
            <a:spLocks noChangeArrowheads="1"/>
          </p:cNvSpPr>
          <p:nvPr/>
        </p:nvSpPr>
        <p:spPr bwMode="auto">
          <a:xfrm>
            <a:off x="3165475" y="5540375"/>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2</a:t>
            </a:r>
            <a:endParaRPr lang="en-US" altLang="zh-CN">
              <a:solidFill>
                <a:srgbClr val="FF0000"/>
              </a:solidFill>
            </a:endParaRPr>
          </a:p>
        </p:txBody>
      </p:sp>
      <p:sp>
        <p:nvSpPr>
          <p:cNvPr id="22556" name="Text Box 12"/>
          <p:cNvSpPr txBox="1">
            <a:spLocks noChangeArrowheads="1"/>
          </p:cNvSpPr>
          <p:nvPr/>
        </p:nvSpPr>
        <p:spPr bwMode="auto">
          <a:xfrm>
            <a:off x="3565525" y="5559425"/>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2</a:t>
            </a:r>
            <a:endParaRPr lang="en-US" altLang="zh-CN">
              <a:solidFill>
                <a:srgbClr val="FF0000"/>
              </a:solidFill>
            </a:endParaRPr>
          </a:p>
        </p:txBody>
      </p:sp>
      <p:sp>
        <p:nvSpPr>
          <p:cNvPr id="22557" name="Text Box 13"/>
          <p:cNvSpPr txBox="1">
            <a:spLocks noChangeArrowheads="1"/>
          </p:cNvSpPr>
          <p:nvPr/>
        </p:nvSpPr>
        <p:spPr bwMode="auto">
          <a:xfrm>
            <a:off x="3894138" y="55784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58" name="Text Box 14"/>
          <p:cNvSpPr txBox="1">
            <a:spLocks noChangeArrowheads="1"/>
          </p:cNvSpPr>
          <p:nvPr/>
        </p:nvSpPr>
        <p:spPr bwMode="auto">
          <a:xfrm>
            <a:off x="4422775" y="558800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0</a:t>
            </a:r>
            <a:endParaRPr lang="en-US" altLang="zh-CN">
              <a:solidFill>
                <a:srgbClr val="FF0000"/>
              </a:solidFill>
            </a:endParaRPr>
          </a:p>
        </p:txBody>
      </p:sp>
      <p:sp>
        <p:nvSpPr>
          <p:cNvPr id="22559" name="Text Box 15"/>
          <p:cNvSpPr txBox="1">
            <a:spLocks noChangeArrowheads="1"/>
          </p:cNvSpPr>
          <p:nvPr/>
        </p:nvSpPr>
        <p:spPr bwMode="auto">
          <a:xfrm>
            <a:off x="4751388" y="557847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-2</a:t>
            </a:r>
            <a:endParaRPr lang="en-US" altLang="zh-CN">
              <a:solidFill>
                <a:srgbClr val="FF0000"/>
              </a:solidFill>
            </a:endParaRPr>
          </a:p>
        </p:txBody>
      </p:sp>
      <p:sp>
        <p:nvSpPr>
          <p:cNvPr id="22560" name="Text Box 16"/>
          <p:cNvSpPr txBox="1">
            <a:spLocks noChangeArrowheads="1"/>
          </p:cNvSpPr>
          <p:nvPr/>
        </p:nvSpPr>
        <p:spPr bwMode="auto">
          <a:xfrm>
            <a:off x="5318125" y="55689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61" name="Text Box 21"/>
          <p:cNvSpPr txBox="1">
            <a:spLocks noChangeArrowheads="1"/>
          </p:cNvSpPr>
          <p:nvPr/>
        </p:nvSpPr>
        <p:spPr bwMode="auto">
          <a:xfrm>
            <a:off x="7185025" y="5607050"/>
            <a:ext cx="241300"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0</a:t>
            </a:r>
            <a:endParaRPr lang="en-US" altLang="zh-CN">
              <a:solidFill>
                <a:srgbClr val="FF0000"/>
              </a:solidFill>
            </a:endParaRPr>
          </a:p>
        </p:txBody>
      </p:sp>
      <p:sp>
        <p:nvSpPr>
          <p:cNvPr id="22562" name="Text Box 24"/>
          <p:cNvSpPr txBox="1">
            <a:spLocks noChangeArrowheads="1"/>
          </p:cNvSpPr>
          <p:nvPr/>
        </p:nvSpPr>
        <p:spPr bwMode="auto">
          <a:xfrm>
            <a:off x="8199438" y="5568950"/>
            <a:ext cx="2508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9</a:t>
            </a:r>
            <a:endParaRPr lang="en-US" altLang="zh-CN">
              <a:solidFill>
                <a:srgbClr val="FF0000"/>
              </a:solidFill>
            </a:endParaRPr>
          </a:p>
        </p:txBody>
      </p:sp>
      <p:sp>
        <p:nvSpPr>
          <p:cNvPr id="22563" name="Text Box 25"/>
          <p:cNvSpPr txBox="1">
            <a:spLocks noChangeArrowheads="1"/>
          </p:cNvSpPr>
          <p:nvPr/>
        </p:nvSpPr>
        <p:spPr bwMode="auto">
          <a:xfrm>
            <a:off x="8550275" y="5559425"/>
            <a:ext cx="441325" cy="423863"/>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solidFill>
                  <a:srgbClr val="FF0000"/>
                </a:solidFill>
              </a:rPr>
              <a:t>-3</a:t>
            </a:r>
            <a:endParaRPr lang="en-US" altLang="zh-CN">
              <a:solidFill>
                <a:srgbClr val="FF0000"/>
              </a:solidFill>
            </a:endParaRPr>
          </a:p>
        </p:txBody>
      </p:sp>
      <p:sp>
        <p:nvSpPr>
          <p:cNvPr id="22564" name="Oval 26"/>
          <p:cNvSpPr>
            <a:spLocks noChangeArrowheads="1"/>
          </p:cNvSpPr>
          <p:nvPr/>
        </p:nvSpPr>
        <p:spPr bwMode="auto">
          <a:xfrm>
            <a:off x="1276350" y="43624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65" name="Oval 27"/>
          <p:cNvSpPr>
            <a:spLocks noChangeArrowheads="1"/>
          </p:cNvSpPr>
          <p:nvPr/>
        </p:nvSpPr>
        <p:spPr bwMode="auto">
          <a:xfrm>
            <a:off x="400050" y="43624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66" name="Oval 28"/>
          <p:cNvSpPr>
            <a:spLocks noChangeArrowheads="1"/>
          </p:cNvSpPr>
          <p:nvPr/>
        </p:nvSpPr>
        <p:spPr bwMode="auto">
          <a:xfrm>
            <a:off x="2133600" y="43434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67" name="Oval 29"/>
          <p:cNvSpPr>
            <a:spLocks noChangeArrowheads="1"/>
          </p:cNvSpPr>
          <p:nvPr/>
        </p:nvSpPr>
        <p:spPr bwMode="auto">
          <a:xfrm>
            <a:off x="2819400" y="43434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68" name="Oval 30"/>
          <p:cNvSpPr>
            <a:spLocks noChangeArrowheads="1"/>
          </p:cNvSpPr>
          <p:nvPr/>
        </p:nvSpPr>
        <p:spPr bwMode="auto">
          <a:xfrm>
            <a:off x="3562350" y="43243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69" name="Oval 31"/>
          <p:cNvSpPr>
            <a:spLocks noChangeArrowheads="1"/>
          </p:cNvSpPr>
          <p:nvPr/>
        </p:nvSpPr>
        <p:spPr bwMode="auto">
          <a:xfrm>
            <a:off x="4267200" y="43243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0" name="Oval 32"/>
          <p:cNvSpPr>
            <a:spLocks noChangeArrowheads="1"/>
          </p:cNvSpPr>
          <p:nvPr/>
        </p:nvSpPr>
        <p:spPr bwMode="auto">
          <a:xfrm>
            <a:off x="5086350" y="43243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1" name="Oval 33"/>
          <p:cNvSpPr>
            <a:spLocks noChangeArrowheads="1"/>
          </p:cNvSpPr>
          <p:nvPr/>
        </p:nvSpPr>
        <p:spPr bwMode="auto">
          <a:xfrm>
            <a:off x="5867400" y="43243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2" name="Oval 34"/>
          <p:cNvSpPr>
            <a:spLocks noChangeArrowheads="1"/>
          </p:cNvSpPr>
          <p:nvPr/>
        </p:nvSpPr>
        <p:spPr bwMode="auto">
          <a:xfrm>
            <a:off x="6648450" y="43243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3" name="Oval 35"/>
          <p:cNvSpPr>
            <a:spLocks noChangeArrowheads="1"/>
          </p:cNvSpPr>
          <p:nvPr/>
        </p:nvSpPr>
        <p:spPr bwMode="auto">
          <a:xfrm>
            <a:off x="7677150" y="42862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4" name="Rectangle 36"/>
          <p:cNvSpPr>
            <a:spLocks noChangeArrowheads="1"/>
          </p:cNvSpPr>
          <p:nvPr/>
        </p:nvSpPr>
        <p:spPr bwMode="auto">
          <a:xfrm>
            <a:off x="1219200" y="29908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5" name="Rectangle 37"/>
          <p:cNvSpPr>
            <a:spLocks noChangeArrowheads="1"/>
          </p:cNvSpPr>
          <p:nvPr/>
        </p:nvSpPr>
        <p:spPr bwMode="auto">
          <a:xfrm>
            <a:off x="2857500" y="29908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6" name="Rectangle 38"/>
          <p:cNvSpPr>
            <a:spLocks noChangeArrowheads="1"/>
          </p:cNvSpPr>
          <p:nvPr/>
        </p:nvSpPr>
        <p:spPr bwMode="auto">
          <a:xfrm>
            <a:off x="4591050" y="29527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7" name="Rectangle 39"/>
          <p:cNvSpPr>
            <a:spLocks noChangeArrowheads="1"/>
          </p:cNvSpPr>
          <p:nvPr/>
        </p:nvSpPr>
        <p:spPr bwMode="auto">
          <a:xfrm>
            <a:off x="6229350" y="29527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8" name="Oval 40"/>
          <p:cNvSpPr>
            <a:spLocks noChangeArrowheads="1"/>
          </p:cNvSpPr>
          <p:nvPr/>
        </p:nvSpPr>
        <p:spPr bwMode="auto">
          <a:xfrm>
            <a:off x="2171700" y="207645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79" name="Oval 41"/>
          <p:cNvSpPr>
            <a:spLocks noChangeArrowheads="1"/>
          </p:cNvSpPr>
          <p:nvPr/>
        </p:nvSpPr>
        <p:spPr bwMode="auto">
          <a:xfrm>
            <a:off x="5524500" y="2057400"/>
            <a:ext cx="247650" cy="266700"/>
          </a:xfrm>
          <a:prstGeom prst="ellipse">
            <a:avLst/>
          </a:prstGeom>
          <a:noFill/>
          <a:ln w="57150">
            <a:solidFill>
              <a:schemeClr val="tx2"/>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80" name="Rectangle 42"/>
          <p:cNvSpPr>
            <a:spLocks noChangeArrowheads="1"/>
          </p:cNvSpPr>
          <p:nvPr/>
        </p:nvSpPr>
        <p:spPr bwMode="auto">
          <a:xfrm>
            <a:off x="3905250" y="1238250"/>
            <a:ext cx="285750" cy="323850"/>
          </a:xfrm>
          <a:prstGeom prst="rect">
            <a:avLst/>
          </a:prstGeom>
          <a:noFill/>
          <a:ln w="57150">
            <a:solidFill>
              <a:schemeClr val="tx2"/>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2581" name="Line 43"/>
          <p:cNvSpPr>
            <a:spLocks noChangeShapeType="1"/>
          </p:cNvSpPr>
          <p:nvPr/>
        </p:nvSpPr>
        <p:spPr bwMode="auto">
          <a:xfrm flipH="1">
            <a:off x="2381250" y="1562100"/>
            <a:ext cx="1619250" cy="552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2" name="Line 44"/>
          <p:cNvSpPr>
            <a:spLocks noChangeShapeType="1"/>
          </p:cNvSpPr>
          <p:nvPr/>
        </p:nvSpPr>
        <p:spPr bwMode="auto">
          <a:xfrm>
            <a:off x="4019550" y="1581150"/>
            <a:ext cx="1485900" cy="533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3" name="Line 45"/>
          <p:cNvSpPr>
            <a:spLocks noChangeShapeType="1"/>
          </p:cNvSpPr>
          <p:nvPr/>
        </p:nvSpPr>
        <p:spPr bwMode="auto">
          <a:xfrm flipH="1">
            <a:off x="1352550" y="2343150"/>
            <a:ext cx="857250" cy="628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4" name="Line 46"/>
          <p:cNvSpPr>
            <a:spLocks noChangeShapeType="1"/>
          </p:cNvSpPr>
          <p:nvPr/>
        </p:nvSpPr>
        <p:spPr bwMode="auto">
          <a:xfrm>
            <a:off x="2228850" y="2362200"/>
            <a:ext cx="838200" cy="609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5" name="Line 47"/>
          <p:cNvSpPr>
            <a:spLocks noChangeShapeType="1"/>
          </p:cNvSpPr>
          <p:nvPr/>
        </p:nvSpPr>
        <p:spPr bwMode="auto">
          <a:xfrm flipH="1">
            <a:off x="4705350" y="2305050"/>
            <a:ext cx="952500" cy="628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6" name="Line 48"/>
          <p:cNvSpPr>
            <a:spLocks noChangeShapeType="1"/>
          </p:cNvSpPr>
          <p:nvPr/>
        </p:nvSpPr>
        <p:spPr bwMode="auto">
          <a:xfrm>
            <a:off x="5657850" y="2343150"/>
            <a:ext cx="723900" cy="609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7" name="Line 49"/>
          <p:cNvSpPr>
            <a:spLocks noChangeShapeType="1"/>
          </p:cNvSpPr>
          <p:nvPr/>
        </p:nvSpPr>
        <p:spPr bwMode="auto">
          <a:xfrm flipH="1">
            <a:off x="571500" y="3295650"/>
            <a:ext cx="7429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8" name="Line 50"/>
          <p:cNvSpPr>
            <a:spLocks noChangeShapeType="1"/>
          </p:cNvSpPr>
          <p:nvPr/>
        </p:nvSpPr>
        <p:spPr bwMode="auto">
          <a:xfrm>
            <a:off x="1333500" y="3333750"/>
            <a:ext cx="38100" cy="10477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9" name="Line 51"/>
          <p:cNvSpPr>
            <a:spLocks noChangeShapeType="1"/>
          </p:cNvSpPr>
          <p:nvPr/>
        </p:nvSpPr>
        <p:spPr bwMode="auto">
          <a:xfrm flipH="1">
            <a:off x="2247900" y="3295650"/>
            <a:ext cx="742950" cy="10287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0" name="Line 52"/>
          <p:cNvSpPr>
            <a:spLocks noChangeShapeType="1"/>
          </p:cNvSpPr>
          <p:nvPr/>
        </p:nvSpPr>
        <p:spPr bwMode="auto">
          <a:xfrm>
            <a:off x="2952750" y="3333750"/>
            <a:ext cx="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1" name="Line 53"/>
          <p:cNvSpPr>
            <a:spLocks noChangeShapeType="1"/>
          </p:cNvSpPr>
          <p:nvPr/>
        </p:nvSpPr>
        <p:spPr bwMode="auto">
          <a:xfrm>
            <a:off x="3009900" y="3333750"/>
            <a:ext cx="66675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2" name="Line 54"/>
          <p:cNvSpPr>
            <a:spLocks noChangeShapeType="1"/>
          </p:cNvSpPr>
          <p:nvPr/>
        </p:nvSpPr>
        <p:spPr bwMode="auto">
          <a:xfrm>
            <a:off x="3028950" y="3371850"/>
            <a:ext cx="1371600" cy="933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3" name="Line 55"/>
          <p:cNvSpPr>
            <a:spLocks noChangeShapeType="1"/>
          </p:cNvSpPr>
          <p:nvPr/>
        </p:nvSpPr>
        <p:spPr bwMode="auto">
          <a:xfrm>
            <a:off x="4724400" y="3276600"/>
            <a:ext cx="4762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4" name="Line 56"/>
          <p:cNvSpPr>
            <a:spLocks noChangeShapeType="1"/>
          </p:cNvSpPr>
          <p:nvPr/>
        </p:nvSpPr>
        <p:spPr bwMode="auto">
          <a:xfrm>
            <a:off x="4724400" y="3276600"/>
            <a:ext cx="1276350" cy="10668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5" name="Line 57"/>
          <p:cNvSpPr>
            <a:spLocks noChangeShapeType="1"/>
          </p:cNvSpPr>
          <p:nvPr/>
        </p:nvSpPr>
        <p:spPr bwMode="auto">
          <a:xfrm>
            <a:off x="6400800" y="3295650"/>
            <a:ext cx="36195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6" name="Line 58"/>
          <p:cNvSpPr>
            <a:spLocks noChangeShapeType="1"/>
          </p:cNvSpPr>
          <p:nvPr/>
        </p:nvSpPr>
        <p:spPr bwMode="auto">
          <a:xfrm>
            <a:off x="6438900" y="3314700"/>
            <a:ext cx="1333500" cy="9525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7" name="Line 59"/>
          <p:cNvSpPr>
            <a:spLocks noChangeShapeType="1"/>
          </p:cNvSpPr>
          <p:nvPr/>
        </p:nvSpPr>
        <p:spPr bwMode="auto">
          <a:xfrm flipH="1">
            <a:off x="361950" y="4629150"/>
            <a:ext cx="133350" cy="8191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8" name="Line 60"/>
          <p:cNvSpPr>
            <a:spLocks noChangeShapeType="1"/>
          </p:cNvSpPr>
          <p:nvPr/>
        </p:nvSpPr>
        <p:spPr bwMode="auto">
          <a:xfrm>
            <a:off x="514350" y="4667250"/>
            <a:ext cx="228600" cy="7810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9" name="Line 61"/>
          <p:cNvSpPr>
            <a:spLocks noChangeShapeType="1"/>
          </p:cNvSpPr>
          <p:nvPr/>
        </p:nvSpPr>
        <p:spPr bwMode="auto">
          <a:xfrm flipH="1">
            <a:off x="1162050" y="4629150"/>
            <a:ext cx="247650" cy="8572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0" name="Line 62"/>
          <p:cNvSpPr>
            <a:spLocks noChangeShapeType="1"/>
          </p:cNvSpPr>
          <p:nvPr/>
        </p:nvSpPr>
        <p:spPr bwMode="auto">
          <a:xfrm>
            <a:off x="1428750" y="4629150"/>
            <a:ext cx="228600" cy="8763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1" name="Line 63"/>
          <p:cNvSpPr>
            <a:spLocks noChangeShapeType="1"/>
          </p:cNvSpPr>
          <p:nvPr/>
        </p:nvSpPr>
        <p:spPr bwMode="auto">
          <a:xfrm flipH="1">
            <a:off x="2057400" y="4629150"/>
            <a:ext cx="209550" cy="8572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2" name="Line 64"/>
          <p:cNvSpPr>
            <a:spLocks noChangeShapeType="1"/>
          </p:cNvSpPr>
          <p:nvPr/>
        </p:nvSpPr>
        <p:spPr bwMode="auto">
          <a:xfrm flipH="1">
            <a:off x="2457450" y="4610100"/>
            <a:ext cx="476250" cy="9144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3" name="Line 65"/>
          <p:cNvSpPr>
            <a:spLocks noChangeShapeType="1"/>
          </p:cNvSpPr>
          <p:nvPr/>
        </p:nvSpPr>
        <p:spPr bwMode="auto">
          <a:xfrm>
            <a:off x="2952750" y="4610100"/>
            <a:ext cx="0" cy="8953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4" name="Line 66"/>
          <p:cNvSpPr>
            <a:spLocks noChangeShapeType="1"/>
          </p:cNvSpPr>
          <p:nvPr/>
        </p:nvSpPr>
        <p:spPr bwMode="auto">
          <a:xfrm>
            <a:off x="2952750" y="4629150"/>
            <a:ext cx="342900" cy="8953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5" name="Line 67"/>
          <p:cNvSpPr>
            <a:spLocks noChangeShapeType="1"/>
          </p:cNvSpPr>
          <p:nvPr/>
        </p:nvSpPr>
        <p:spPr bwMode="auto">
          <a:xfrm flipH="1">
            <a:off x="3657600" y="4572000"/>
            <a:ext cx="381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6" name="Line 68"/>
          <p:cNvSpPr>
            <a:spLocks noChangeShapeType="1"/>
          </p:cNvSpPr>
          <p:nvPr/>
        </p:nvSpPr>
        <p:spPr bwMode="auto">
          <a:xfrm>
            <a:off x="3695700" y="4572000"/>
            <a:ext cx="40005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7" name="Line 69"/>
          <p:cNvSpPr>
            <a:spLocks noChangeShapeType="1"/>
          </p:cNvSpPr>
          <p:nvPr/>
        </p:nvSpPr>
        <p:spPr bwMode="auto">
          <a:xfrm>
            <a:off x="3714750" y="4572000"/>
            <a:ext cx="8382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8" name="Line 70"/>
          <p:cNvSpPr>
            <a:spLocks noChangeShapeType="1"/>
          </p:cNvSpPr>
          <p:nvPr/>
        </p:nvSpPr>
        <p:spPr bwMode="auto">
          <a:xfrm>
            <a:off x="4457700" y="4552950"/>
            <a:ext cx="495300" cy="10096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9" name="Line 71"/>
          <p:cNvSpPr>
            <a:spLocks noChangeShapeType="1"/>
          </p:cNvSpPr>
          <p:nvPr/>
        </p:nvSpPr>
        <p:spPr bwMode="auto">
          <a:xfrm>
            <a:off x="4476750" y="4572000"/>
            <a:ext cx="9906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0" name="Line 72"/>
          <p:cNvSpPr>
            <a:spLocks noChangeShapeType="1"/>
          </p:cNvSpPr>
          <p:nvPr/>
        </p:nvSpPr>
        <p:spPr bwMode="auto">
          <a:xfrm>
            <a:off x="5257800" y="4610100"/>
            <a:ext cx="495300" cy="9525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1" name="Line 73"/>
          <p:cNvSpPr>
            <a:spLocks noChangeShapeType="1"/>
          </p:cNvSpPr>
          <p:nvPr/>
        </p:nvSpPr>
        <p:spPr bwMode="auto">
          <a:xfrm>
            <a:off x="5276850" y="4610100"/>
            <a:ext cx="800100" cy="9334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2" name="Line 74"/>
          <p:cNvSpPr>
            <a:spLocks noChangeShapeType="1"/>
          </p:cNvSpPr>
          <p:nvPr/>
        </p:nvSpPr>
        <p:spPr bwMode="auto">
          <a:xfrm>
            <a:off x="5295900" y="4591050"/>
            <a:ext cx="11430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3" name="Line 75"/>
          <p:cNvSpPr>
            <a:spLocks noChangeShapeType="1"/>
          </p:cNvSpPr>
          <p:nvPr/>
        </p:nvSpPr>
        <p:spPr bwMode="auto">
          <a:xfrm>
            <a:off x="6019800" y="4610100"/>
            <a:ext cx="8382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4" name="Line 76"/>
          <p:cNvSpPr>
            <a:spLocks noChangeShapeType="1"/>
          </p:cNvSpPr>
          <p:nvPr/>
        </p:nvSpPr>
        <p:spPr bwMode="auto">
          <a:xfrm>
            <a:off x="6038850" y="4648200"/>
            <a:ext cx="12573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5" name="Line 77"/>
          <p:cNvSpPr>
            <a:spLocks noChangeShapeType="1"/>
          </p:cNvSpPr>
          <p:nvPr/>
        </p:nvSpPr>
        <p:spPr bwMode="auto">
          <a:xfrm>
            <a:off x="6819900" y="4610100"/>
            <a:ext cx="81915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6" name="Line 78"/>
          <p:cNvSpPr>
            <a:spLocks noChangeShapeType="1"/>
          </p:cNvSpPr>
          <p:nvPr/>
        </p:nvSpPr>
        <p:spPr bwMode="auto">
          <a:xfrm>
            <a:off x="6819900" y="4591050"/>
            <a:ext cx="11811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7" name="Line 79"/>
          <p:cNvSpPr>
            <a:spLocks noChangeShapeType="1"/>
          </p:cNvSpPr>
          <p:nvPr/>
        </p:nvSpPr>
        <p:spPr bwMode="auto">
          <a:xfrm>
            <a:off x="7829550" y="4572000"/>
            <a:ext cx="495300" cy="99060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8" name="Line 80"/>
          <p:cNvSpPr>
            <a:spLocks noChangeShapeType="1"/>
          </p:cNvSpPr>
          <p:nvPr/>
        </p:nvSpPr>
        <p:spPr bwMode="auto">
          <a:xfrm>
            <a:off x="7848600" y="4572000"/>
            <a:ext cx="952500" cy="971550"/>
          </a:xfrm>
          <a:prstGeom prst="line">
            <a:avLst/>
          </a:prstGeom>
          <a:noFill/>
          <a:ln w="5715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45" name="Text Box 81"/>
          <p:cNvSpPr txBox="1">
            <a:spLocks noChangeArrowheads="1"/>
          </p:cNvSpPr>
          <p:nvPr/>
        </p:nvSpPr>
        <p:spPr bwMode="auto">
          <a:xfrm>
            <a:off x="622300" y="43307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164946" name="Text Box 82"/>
          <p:cNvSpPr txBox="1">
            <a:spLocks noChangeArrowheads="1"/>
          </p:cNvSpPr>
          <p:nvPr/>
        </p:nvSpPr>
        <p:spPr bwMode="auto">
          <a:xfrm>
            <a:off x="1555750" y="28638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164947" name="Text Box 83"/>
          <p:cNvSpPr txBox="1">
            <a:spLocks noChangeArrowheads="1"/>
          </p:cNvSpPr>
          <p:nvPr/>
        </p:nvSpPr>
        <p:spPr bwMode="auto">
          <a:xfrm>
            <a:off x="1555750" y="421640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164949" name="Line 85"/>
          <p:cNvSpPr>
            <a:spLocks noChangeShapeType="1"/>
          </p:cNvSpPr>
          <p:nvPr/>
        </p:nvSpPr>
        <p:spPr bwMode="auto">
          <a:xfrm flipH="1">
            <a:off x="1428750" y="4876800"/>
            <a:ext cx="209550" cy="20955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50" name="Text Box 86"/>
          <p:cNvSpPr txBox="1">
            <a:spLocks noChangeArrowheads="1"/>
          </p:cNvSpPr>
          <p:nvPr/>
        </p:nvSpPr>
        <p:spPr bwMode="auto">
          <a:xfrm>
            <a:off x="1879600" y="17208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164951" name="Text Box 87"/>
          <p:cNvSpPr txBox="1">
            <a:spLocks noChangeArrowheads="1"/>
          </p:cNvSpPr>
          <p:nvPr/>
        </p:nvSpPr>
        <p:spPr bwMode="auto">
          <a:xfrm>
            <a:off x="2355850" y="42354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164952" name="Text Box 88"/>
          <p:cNvSpPr txBox="1">
            <a:spLocks noChangeArrowheads="1"/>
          </p:cNvSpPr>
          <p:nvPr/>
        </p:nvSpPr>
        <p:spPr bwMode="auto">
          <a:xfrm>
            <a:off x="3155950" y="27305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164953" name="Line 89"/>
          <p:cNvSpPr>
            <a:spLocks noChangeShapeType="1"/>
          </p:cNvSpPr>
          <p:nvPr/>
        </p:nvSpPr>
        <p:spPr bwMode="auto">
          <a:xfrm flipH="1">
            <a:off x="2800350" y="3829050"/>
            <a:ext cx="266700" cy="20955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54" name="Line 90"/>
          <p:cNvSpPr>
            <a:spLocks noChangeShapeType="1"/>
          </p:cNvSpPr>
          <p:nvPr/>
        </p:nvSpPr>
        <p:spPr bwMode="auto">
          <a:xfrm flipH="1">
            <a:off x="3314700" y="3810000"/>
            <a:ext cx="190500" cy="26670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55" name="Line 91"/>
          <p:cNvSpPr>
            <a:spLocks noChangeShapeType="1"/>
          </p:cNvSpPr>
          <p:nvPr/>
        </p:nvSpPr>
        <p:spPr bwMode="auto">
          <a:xfrm flipH="1">
            <a:off x="3733800" y="3657600"/>
            <a:ext cx="152400" cy="28575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56" name="Text Box 92"/>
          <p:cNvSpPr txBox="1">
            <a:spLocks noChangeArrowheads="1"/>
          </p:cNvSpPr>
          <p:nvPr/>
        </p:nvSpPr>
        <p:spPr bwMode="auto">
          <a:xfrm>
            <a:off x="4298950" y="11493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0</a:t>
            </a:r>
            <a:endParaRPr lang="en-US" altLang="zh-CN"/>
          </a:p>
        </p:txBody>
      </p:sp>
      <p:sp>
        <p:nvSpPr>
          <p:cNvPr id="164957" name="Text Box 93"/>
          <p:cNvSpPr txBox="1">
            <a:spLocks noChangeArrowheads="1"/>
          </p:cNvSpPr>
          <p:nvPr/>
        </p:nvSpPr>
        <p:spPr bwMode="auto">
          <a:xfrm>
            <a:off x="5251450" y="40068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5</a:t>
            </a:r>
            <a:endParaRPr lang="en-US" altLang="zh-CN"/>
          </a:p>
        </p:txBody>
      </p:sp>
      <p:sp>
        <p:nvSpPr>
          <p:cNvPr id="164958" name="Text Box 94"/>
          <p:cNvSpPr txBox="1">
            <a:spLocks noChangeArrowheads="1"/>
          </p:cNvSpPr>
          <p:nvPr/>
        </p:nvSpPr>
        <p:spPr bwMode="auto">
          <a:xfrm>
            <a:off x="5327650" y="42926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4</a:t>
            </a:r>
            <a:endParaRPr lang="en-US" altLang="zh-CN"/>
          </a:p>
        </p:txBody>
      </p:sp>
      <p:sp>
        <p:nvSpPr>
          <p:cNvPr id="164959" name="Line 95"/>
          <p:cNvSpPr>
            <a:spLocks noChangeShapeType="1"/>
          </p:cNvSpPr>
          <p:nvPr/>
        </p:nvSpPr>
        <p:spPr bwMode="auto">
          <a:xfrm flipV="1">
            <a:off x="5295900" y="4076700"/>
            <a:ext cx="190500" cy="15240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60" name="Text Box 96"/>
          <p:cNvSpPr txBox="1">
            <a:spLocks noChangeArrowheads="1"/>
          </p:cNvSpPr>
          <p:nvPr/>
        </p:nvSpPr>
        <p:spPr bwMode="auto">
          <a:xfrm>
            <a:off x="5480050" y="4464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1</a:t>
            </a:r>
            <a:endParaRPr lang="en-US" altLang="zh-CN"/>
          </a:p>
        </p:txBody>
      </p:sp>
      <p:sp>
        <p:nvSpPr>
          <p:cNvPr id="164961" name="Line 97"/>
          <p:cNvSpPr>
            <a:spLocks noChangeShapeType="1"/>
          </p:cNvSpPr>
          <p:nvPr/>
        </p:nvSpPr>
        <p:spPr bwMode="auto">
          <a:xfrm flipV="1">
            <a:off x="5410200" y="4362450"/>
            <a:ext cx="190500" cy="19050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62" name="Text Box 98"/>
          <p:cNvSpPr txBox="1">
            <a:spLocks noChangeArrowheads="1"/>
          </p:cNvSpPr>
          <p:nvPr/>
        </p:nvSpPr>
        <p:spPr bwMode="auto">
          <a:xfrm>
            <a:off x="4965700" y="2844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1</a:t>
            </a:r>
            <a:endParaRPr lang="en-US" altLang="zh-CN"/>
          </a:p>
        </p:txBody>
      </p:sp>
      <p:sp>
        <p:nvSpPr>
          <p:cNvPr id="164963" name="Text Box 99"/>
          <p:cNvSpPr txBox="1">
            <a:spLocks noChangeArrowheads="1"/>
          </p:cNvSpPr>
          <p:nvPr/>
        </p:nvSpPr>
        <p:spPr bwMode="auto">
          <a:xfrm>
            <a:off x="6013450" y="4044950"/>
            <a:ext cx="37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-3</a:t>
            </a:r>
            <a:endParaRPr lang="en-US" altLang="zh-CN"/>
          </a:p>
        </p:txBody>
      </p:sp>
      <p:sp>
        <p:nvSpPr>
          <p:cNvPr id="164964" name="Line 100"/>
          <p:cNvSpPr>
            <a:spLocks noChangeShapeType="1"/>
          </p:cNvSpPr>
          <p:nvPr/>
        </p:nvSpPr>
        <p:spPr bwMode="auto">
          <a:xfrm flipV="1">
            <a:off x="6705600" y="5105400"/>
            <a:ext cx="38100" cy="20955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65" name="Text Box 101"/>
          <p:cNvSpPr txBox="1">
            <a:spLocks noChangeArrowheads="1"/>
          </p:cNvSpPr>
          <p:nvPr/>
        </p:nvSpPr>
        <p:spPr bwMode="auto">
          <a:xfrm>
            <a:off x="5842000" y="18923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1</a:t>
            </a:r>
            <a:endParaRPr lang="en-US" altLang="zh-CN"/>
          </a:p>
        </p:txBody>
      </p:sp>
      <p:sp>
        <p:nvSpPr>
          <p:cNvPr id="164966" name="Text Box 102"/>
          <p:cNvSpPr txBox="1">
            <a:spLocks noChangeArrowheads="1"/>
          </p:cNvSpPr>
          <p:nvPr/>
        </p:nvSpPr>
        <p:spPr bwMode="auto">
          <a:xfrm>
            <a:off x="6775450" y="39878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6</a:t>
            </a:r>
            <a:endParaRPr lang="en-US" altLang="zh-CN"/>
          </a:p>
        </p:txBody>
      </p:sp>
      <p:sp>
        <p:nvSpPr>
          <p:cNvPr id="164967" name="Text Box 103"/>
          <p:cNvSpPr txBox="1">
            <a:spLocks noChangeArrowheads="1"/>
          </p:cNvSpPr>
          <p:nvPr/>
        </p:nvSpPr>
        <p:spPr bwMode="auto">
          <a:xfrm>
            <a:off x="6565900" y="280670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6</a:t>
            </a:r>
            <a:endParaRPr lang="en-US" altLang="zh-CN"/>
          </a:p>
        </p:txBody>
      </p:sp>
      <p:sp>
        <p:nvSpPr>
          <p:cNvPr id="164968" name="Line 104"/>
          <p:cNvSpPr>
            <a:spLocks noChangeShapeType="1"/>
          </p:cNvSpPr>
          <p:nvPr/>
        </p:nvSpPr>
        <p:spPr bwMode="auto">
          <a:xfrm flipV="1">
            <a:off x="6838950" y="3524250"/>
            <a:ext cx="304800" cy="26670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69" name="Line 105"/>
          <p:cNvSpPr>
            <a:spLocks noChangeShapeType="1"/>
          </p:cNvSpPr>
          <p:nvPr/>
        </p:nvSpPr>
        <p:spPr bwMode="auto">
          <a:xfrm flipV="1">
            <a:off x="4305300" y="1219200"/>
            <a:ext cx="247650" cy="190500"/>
          </a:xfrm>
          <a:prstGeom prst="line">
            <a:avLst/>
          </a:prstGeom>
          <a:noFill/>
          <a:ln w="57150">
            <a:solidFill>
              <a:schemeClr val="accent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970" name="Text Box 106"/>
          <p:cNvSpPr txBox="1">
            <a:spLocks noChangeArrowheads="1"/>
          </p:cNvSpPr>
          <p:nvPr/>
        </p:nvSpPr>
        <p:spPr bwMode="auto">
          <a:xfrm>
            <a:off x="4337050" y="13398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spcBef>
                <a:spcPct val="50000"/>
              </a:spcBef>
            </a:pPr>
            <a:r>
              <a:rPr lang="en-US" altLang="zh-CN" sz="1800"/>
              <a:t>1</a:t>
            </a:r>
            <a:endParaRPr lang="en-US" altLang="zh-CN"/>
          </a:p>
        </p:txBody>
      </p:sp>
      <p:sp>
        <p:nvSpPr>
          <p:cNvPr id="164971" name="Line 107"/>
          <p:cNvSpPr>
            <a:spLocks noChangeShapeType="1"/>
          </p:cNvSpPr>
          <p:nvPr/>
        </p:nvSpPr>
        <p:spPr bwMode="auto">
          <a:xfrm>
            <a:off x="4743450" y="1581150"/>
            <a:ext cx="590550" cy="209550"/>
          </a:xfrm>
          <a:prstGeom prst="line">
            <a:avLst/>
          </a:prstGeom>
          <a:noFill/>
          <a:ln w="57150">
            <a:solidFill>
              <a:schemeClr val="accent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5" name="Text Box 121"/>
          <p:cNvSpPr txBox="1">
            <a:spLocks noChangeArrowheads="1"/>
          </p:cNvSpPr>
          <p:nvPr/>
        </p:nvSpPr>
        <p:spPr bwMode="auto">
          <a:xfrm>
            <a:off x="171450" y="39433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a</a:t>
            </a:r>
          </a:p>
        </p:txBody>
      </p:sp>
      <p:sp>
        <p:nvSpPr>
          <p:cNvPr id="22646" name="Text Box 122"/>
          <p:cNvSpPr txBox="1">
            <a:spLocks noChangeArrowheads="1"/>
          </p:cNvSpPr>
          <p:nvPr/>
        </p:nvSpPr>
        <p:spPr bwMode="auto">
          <a:xfrm>
            <a:off x="895350" y="26479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b</a:t>
            </a:r>
          </a:p>
        </p:txBody>
      </p:sp>
      <p:sp>
        <p:nvSpPr>
          <p:cNvPr id="22647" name="Text Box 123"/>
          <p:cNvSpPr txBox="1">
            <a:spLocks noChangeArrowheads="1"/>
          </p:cNvSpPr>
          <p:nvPr/>
        </p:nvSpPr>
        <p:spPr bwMode="auto">
          <a:xfrm>
            <a:off x="1028700" y="40005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c</a:t>
            </a:r>
          </a:p>
        </p:txBody>
      </p:sp>
      <p:sp>
        <p:nvSpPr>
          <p:cNvPr id="22648" name="Text Box 124"/>
          <p:cNvSpPr txBox="1">
            <a:spLocks noChangeArrowheads="1"/>
          </p:cNvSpPr>
          <p:nvPr/>
        </p:nvSpPr>
        <p:spPr bwMode="auto">
          <a:xfrm>
            <a:off x="2438400" y="2057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d</a:t>
            </a:r>
          </a:p>
        </p:txBody>
      </p:sp>
      <p:sp>
        <p:nvSpPr>
          <p:cNvPr id="22649" name="Text Box 125"/>
          <p:cNvSpPr txBox="1">
            <a:spLocks noChangeArrowheads="1"/>
          </p:cNvSpPr>
          <p:nvPr/>
        </p:nvSpPr>
        <p:spPr bwMode="auto">
          <a:xfrm>
            <a:off x="2000250" y="38862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e</a:t>
            </a:r>
          </a:p>
        </p:txBody>
      </p:sp>
      <p:sp>
        <p:nvSpPr>
          <p:cNvPr id="22650" name="Text Box 126"/>
          <p:cNvSpPr txBox="1">
            <a:spLocks noChangeArrowheads="1"/>
          </p:cNvSpPr>
          <p:nvPr/>
        </p:nvSpPr>
        <p:spPr bwMode="auto">
          <a:xfrm>
            <a:off x="3486150" y="1143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f</a:t>
            </a:r>
          </a:p>
        </p:txBody>
      </p:sp>
      <p:sp>
        <p:nvSpPr>
          <p:cNvPr id="22651" name="Text Box 127"/>
          <p:cNvSpPr txBox="1">
            <a:spLocks noChangeArrowheads="1"/>
          </p:cNvSpPr>
          <p:nvPr/>
        </p:nvSpPr>
        <p:spPr bwMode="auto">
          <a:xfrm>
            <a:off x="4743450" y="40957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g</a:t>
            </a:r>
          </a:p>
        </p:txBody>
      </p:sp>
      <p:sp>
        <p:nvSpPr>
          <p:cNvPr id="22652" name="Text Box 128"/>
          <p:cNvSpPr txBox="1">
            <a:spLocks noChangeArrowheads="1"/>
          </p:cNvSpPr>
          <p:nvPr/>
        </p:nvSpPr>
        <p:spPr bwMode="auto">
          <a:xfrm>
            <a:off x="4438650" y="25146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h</a:t>
            </a:r>
          </a:p>
        </p:txBody>
      </p:sp>
      <p:sp>
        <p:nvSpPr>
          <p:cNvPr id="22653" name="Text Box 129"/>
          <p:cNvSpPr txBox="1">
            <a:spLocks noChangeArrowheads="1"/>
          </p:cNvSpPr>
          <p:nvPr/>
        </p:nvSpPr>
        <p:spPr bwMode="auto">
          <a:xfrm>
            <a:off x="5829300" y="37528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i</a:t>
            </a:r>
          </a:p>
        </p:txBody>
      </p:sp>
      <p:sp>
        <p:nvSpPr>
          <p:cNvPr id="22654" name="Text Box 130"/>
          <p:cNvSpPr txBox="1">
            <a:spLocks noChangeArrowheads="1"/>
          </p:cNvSpPr>
          <p:nvPr/>
        </p:nvSpPr>
        <p:spPr bwMode="auto">
          <a:xfrm>
            <a:off x="6915150" y="42291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j</a:t>
            </a:r>
          </a:p>
        </p:txBody>
      </p:sp>
      <p:sp>
        <p:nvSpPr>
          <p:cNvPr id="22655" name="Text Box 131"/>
          <p:cNvSpPr txBox="1">
            <a:spLocks noChangeArrowheads="1"/>
          </p:cNvSpPr>
          <p:nvPr/>
        </p:nvSpPr>
        <p:spPr bwMode="auto">
          <a:xfrm>
            <a:off x="5810250" y="28575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k</a:t>
            </a:r>
          </a:p>
        </p:txBody>
      </p:sp>
      <p:sp>
        <p:nvSpPr>
          <p:cNvPr id="22656" name="Text Box 132"/>
          <p:cNvSpPr txBox="1">
            <a:spLocks noChangeArrowheads="1"/>
          </p:cNvSpPr>
          <p:nvPr/>
        </p:nvSpPr>
        <p:spPr bwMode="auto">
          <a:xfrm>
            <a:off x="5029200" y="200025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m</a:t>
            </a:r>
          </a:p>
        </p:txBody>
      </p:sp>
      <p:sp>
        <p:nvSpPr>
          <p:cNvPr id="22657" name="Text Box 133"/>
          <p:cNvSpPr txBox="1">
            <a:spLocks noChangeArrowheads="1"/>
          </p:cNvSpPr>
          <p:nvPr/>
        </p:nvSpPr>
        <p:spPr bwMode="auto">
          <a:xfrm>
            <a:off x="3105150" y="30099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4972"/>
                                        </p:tgtEl>
                                        <p:attrNameLst>
                                          <p:attrName>style.visibility</p:attrName>
                                        </p:attrNameLst>
                                      </p:cBhvr>
                                      <p:to>
                                        <p:strVal val="visible"/>
                                      </p:to>
                                    </p:set>
                                    <p:anim calcmode="lin" valueType="num">
                                      <p:cBhvr additive="base">
                                        <p:cTn id="7" dur="500" fill="hold"/>
                                        <p:tgtEl>
                                          <p:spTgt spid="164972"/>
                                        </p:tgtEl>
                                        <p:attrNameLst>
                                          <p:attrName>ppt_x</p:attrName>
                                        </p:attrNameLst>
                                      </p:cBhvr>
                                      <p:tavLst>
                                        <p:tav tm="0">
                                          <p:val>
                                            <p:strVal val="0-#ppt_w/2"/>
                                          </p:val>
                                        </p:tav>
                                        <p:tav tm="100000">
                                          <p:val>
                                            <p:strVal val="#ppt_x"/>
                                          </p:val>
                                        </p:tav>
                                      </p:tavLst>
                                    </p:anim>
                                    <p:anim calcmode="lin" valueType="num">
                                      <p:cBhvr additive="base">
                                        <p:cTn id="8" dur="500" fill="hold"/>
                                        <p:tgtEl>
                                          <p:spTgt spid="1649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649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4975"/>
                                        </p:tgtEl>
                                        <p:attrNameLst>
                                          <p:attrName>style.visibility</p:attrName>
                                        </p:attrNameLst>
                                      </p:cBhvr>
                                      <p:to>
                                        <p:strVal val="visible"/>
                                      </p:to>
                                    </p:set>
                                    <p:anim calcmode="lin" valueType="num">
                                      <p:cBhvr additive="base">
                                        <p:cTn id="17" dur="500" fill="hold"/>
                                        <p:tgtEl>
                                          <p:spTgt spid="164975"/>
                                        </p:tgtEl>
                                        <p:attrNameLst>
                                          <p:attrName>ppt_x</p:attrName>
                                        </p:attrNameLst>
                                      </p:cBhvr>
                                      <p:tavLst>
                                        <p:tav tm="0">
                                          <p:val>
                                            <p:strVal val="0-#ppt_w/2"/>
                                          </p:val>
                                        </p:tav>
                                        <p:tav tm="100000">
                                          <p:val>
                                            <p:strVal val="#ppt_x"/>
                                          </p:val>
                                        </p:tav>
                                      </p:tavLst>
                                    </p:anim>
                                    <p:anim calcmode="lin" valueType="num">
                                      <p:cBhvr additive="base">
                                        <p:cTn id="18" dur="500" fill="hold"/>
                                        <p:tgtEl>
                                          <p:spTgt spid="16497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49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64976"/>
                                        </p:tgtEl>
                                        <p:attrNameLst>
                                          <p:attrName>style.visibility</p:attrName>
                                        </p:attrNameLst>
                                      </p:cBhvr>
                                      <p:to>
                                        <p:strVal val="visible"/>
                                      </p:to>
                                    </p:set>
                                    <p:anim calcmode="lin" valueType="num">
                                      <p:cBhvr additive="base">
                                        <p:cTn id="27" dur="500" fill="hold"/>
                                        <p:tgtEl>
                                          <p:spTgt spid="164976"/>
                                        </p:tgtEl>
                                        <p:attrNameLst>
                                          <p:attrName>ppt_x</p:attrName>
                                        </p:attrNameLst>
                                      </p:cBhvr>
                                      <p:tavLst>
                                        <p:tav tm="0">
                                          <p:val>
                                            <p:strVal val="0-#ppt_w/2"/>
                                          </p:val>
                                        </p:tav>
                                        <p:tav tm="100000">
                                          <p:val>
                                            <p:strVal val="#ppt_x"/>
                                          </p:val>
                                        </p:tav>
                                      </p:tavLst>
                                    </p:anim>
                                    <p:anim calcmode="lin" valueType="num">
                                      <p:cBhvr additive="base">
                                        <p:cTn id="28" dur="500" fill="hold"/>
                                        <p:tgtEl>
                                          <p:spTgt spid="16497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49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16494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649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64977"/>
                                        </p:tgtEl>
                                        <p:attrNameLst>
                                          <p:attrName>style.visibility</p:attrName>
                                        </p:attrNameLst>
                                      </p:cBhvr>
                                      <p:to>
                                        <p:strVal val="visible"/>
                                      </p:to>
                                    </p:set>
                                    <p:anim calcmode="lin" valueType="num">
                                      <p:cBhvr additive="base">
                                        <p:cTn id="45" dur="500" fill="hold"/>
                                        <p:tgtEl>
                                          <p:spTgt spid="164977"/>
                                        </p:tgtEl>
                                        <p:attrNameLst>
                                          <p:attrName>ppt_x</p:attrName>
                                        </p:attrNameLst>
                                      </p:cBhvr>
                                      <p:tavLst>
                                        <p:tav tm="0">
                                          <p:val>
                                            <p:strVal val="0-#ppt_w/2"/>
                                          </p:val>
                                        </p:tav>
                                        <p:tav tm="100000">
                                          <p:val>
                                            <p:strVal val="#ppt_x"/>
                                          </p:val>
                                        </p:tav>
                                      </p:tavLst>
                                    </p:anim>
                                    <p:anim calcmode="lin" valueType="num">
                                      <p:cBhvr additive="base">
                                        <p:cTn id="46" dur="500" fill="hold"/>
                                        <p:tgtEl>
                                          <p:spTgt spid="164977"/>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6495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649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499"/>
                                          </p:stCondLst>
                                        </p:cTn>
                                        <p:tgtEl>
                                          <p:spTgt spid="1649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6495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499"/>
                                          </p:stCondLst>
                                        </p:cTn>
                                        <p:tgtEl>
                                          <p:spTgt spid="16495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6495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164979"/>
                                        </p:tgtEl>
                                        <p:attrNameLst>
                                          <p:attrName>style.visibility</p:attrName>
                                        </p:attrNameLst>
                                      </p:cBhvr>
                                      <p:to>
                                        <p:strVal val="visible"/>
                                      </p:to>
                                    </p:set>
                                    <p:anim calcmode="lin" valueType="num">
                                      <p:cBhvr additive="base">
                                        <p:cTn id="75" dur="500" fill="hold"/>
                                        <p:tgtEl>
                                          <p:spTgt spid="164979"/>
                                        </p:tgtEl>
                                        <p:attrNameLst>
                                          <p:attrName>ppt_x</p:attrName>
                                        </p:attrNameLst>
                                      </p:cBhvr>
                                      <p:tavLst>
                                        <p:tav tm="0">
                                          <p:val>
                                            <p:strVal val="0-#ppt_w/2"/>
                                          </p:val>
                                        </p:tav>
                                        <p:tav tm="100000">
                                          <p:val>
                                            <p:strVal val="#ppt_x"/>
                                          </p:val>
                                        </p:tav>
                                      </p:tavLst>
                                    </p:anim>
                                    <p:anim calcmode="lin" valueType="num">
                                      <p:cBhvr additive="base">
                                        <p:cTn id="76" dur="500" fill="hold"/>
                                        <p:tgtEl>
                                          <p:spTgt spid="164979"/>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6495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164980"/>
                                        </p:tgtEl>
                                        <p:attrNameLst>
                                          <p:attrName>style.visibility</p:attrName>
                                        </p:attrNameLst>
                                      </p:cBhvr>
                                      <p:to>
                                        <p:strVal val="visible"/>
                                      </p:to>
                                    </p:set>
                                    <p:anim calcmode="lin" valueType="num">
                                      <p:cBhvr additive="base">
                                        <p:cTn id="85" dur="500" fill="hold"/>
                                        <p:tgtEl>
                                          <p:spTgt spid="164980"/>
                                        </p:tgtEl>
                                        <p:attrNameLst>
                                          <p:attrName>ppt_x</p:attrName>
                                        </p:attrNameLst>
                                      </p:cBhvr>
                                      <p:tavLst>
                                        <p:tav tm="0">
                                          <p:val>
                                            <p:strVal val="0-#ppt_w/2"/>
                                          </p:val>
                                        </p:tav>
                                        <p:tav tm="100000">
                                          <p:val>
                                            <p:strVal val="#ppt_x"/>
                                          </p:val>
                                        </p:tav>
                                      </p:tavLst>
                                    </p:anim>
                                    <p:anim calcmode="lin" valueType="num">
                                      <p:cBhvr additive="base">
                                        <p:cTn id="86" dur="500" fill="hold"/>
                                        <p:tgtEl>
                                          <p:spTgt spid="164980"/>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499"/>
                                          </p:stCondLst>
                                        </p:cTn>
                                        <p:tgtEl>
                                          <p:spTgt spid="16495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499"/>
                                          </p:stCondLst>
                                        </p:cTn>
                                        <p:tgtEl>
                                          <p:spTgt spid="16495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 presetClass="entr" presetSubtype="8" fill="hold" grpId="0" nodeType="clickEffect">
                                  <p:stCondLst>
                                    <p:cond delay="0"/>
                                  </p:stCondLst>
                                  <p:childTnLst>
                                    <p:set>
                                      <p:cBhvr>
                                        <p:cTn id="98" dur="1" fill="hold">
                                          <p:stCondLst>
                                            <p:cond delay="0"/>
                                          </p:stCondLst>
                                        </p:cTn>
                                        <p:tgtEl>
                                          <p:spTgt spid="164981"/>
                                        </p:tgtEl>
                                        <p:attrNameLst>
                                          <p:attrName>style.visibility</p:attrName>
                                        </p:attrNameLst>
                                      </p:cBhvr>
                                      <p:to>
                                        <p:strVal val="visible"/>
                                      </p:to>
                                    </p:set>
                                    <p:anim calcmode="lin" valueType="num">
                                      <p:cBhvr additive="base">
                                        <p:cTn id="99" dur="500" fill="hold"/>
                                        <p:tgtEl>
                                          <p:spTgt spid="164981"/>
                                        </p:tgtEl>
                                        <p:attrNameLst>
                                          <p:attrName>ppt_x</p:attrName>
                                        </p:attrNameLst>
                                      </p:cBhvr>
                                      <p:tavLst>
                                        <p:tav tm="0">
                                          <p:val>
                                            <p:strVal val="0-#ppt_w/2"/>
                                          </p:val>
                                        </p:tav>
                                        <p:tav tm="100000">
                                          <p:val>
                                            <p:strVal val="#ppt_x"/>
                                          </p:val>
                                        </p:tav>
                                      </p:tavLst>
                                    </p:anim>
                                    <p:anim calcmode="lin" valueType="num">
                                      <p:cBhvr additive="base">
                                        <p:cTn id="100" dur="500" fill="hold"/>
                                        <p:tgtEl>
                                          <p:spTgt spid="164981"/>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499"/>
                                          </p:stCondLst>
                                        </p:cTn>
                                        <p:tgtEl>
                                          <p:spTgt spid="16496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499"/>
                                          </p:stCondLst>
                                        </p:cTn>
                                        <p:tgtEl>
                                          <p:spTgt spid="164961"/>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499"/>
                                          </p:stCondLst>
                                        </p:cTn>
                                        <p:tgtEl>
                                          <p:spTgt spid="164962"/>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grpId="0" nodeType="clickEffect">
                                  <p:stCondLst>
                                    <p:cond delay="0"/>
                                  </p:stCondLst>
                                  <p:childTnLst>
                                    <p:set>
                                      <p:cBhvr>
                                        <p:cTn id="116" dur="1" fill="hold">
                                          <p:stCondLst>
                                            <p:cond delay="0"/>
                                          </p:stCondLst>
                                        </p:cTn>
                                        <p:tgtEl>
                                          <p:spTgt spid="164982"/>
                                        </p:tgtEl>
                                        <p:attrNameLst>
                                          <p:attrName>style.visibility</p:attrName>
                                        </p:attrNameLst>
                                      </p:cBhvr>
                                      <p:to>
                                        <p:strVal val="visible"/>
                                      </p:to>
                                    </p:set>
                                    <p:anim calcmode="lin" valueType="num">
                                      <p:cBhvr additive="base">
                                        <p:cTn id="117" dur="500" fill="hold"/>
                                        <p:tgtEl>
                                          <p:spTgt spid="164982"/>
                                        </p:tgtEl>
                                        <p:attrNameLst>
                                          <p:attrName>ppt_x</p:attrName>
                                        </p:attrNameLst>
                                      </p:cBhvr>
                                      <p:tavLst>
                                        <p:tav tm="0">
                                          <p:val>
                                            <p:strVal val="0-#ppt_w/2"/>
                                          </p:val>
                                        </p:tav>
                                        <p:tav tm="100000">
                                          <p:val>
                                            <p:strVal val="#ppt_x"/>
                                          </p:val>
                                        </p:tav>
                                      </p:tavLst>
                                    </p:anim>
                                    <p:anim calcmode="lin" valueType="num">
                                      <p:cBhvr additive="base">
                                        <p:cTn id="118" dur="500" fill="hold"/>
                                        <p:tgtEl>
                                          <p:spTgt spid="164982"/>
                                        </p:tgtEl>
                                        <p:attrNameLst>
                                          <p:attrName>ppt_y</p:attrName>
                                        </p:attrNameLst>
                                      </p:cBhvr>
                                      <p:tavLst>
                                        <p:tav tm="0">
                                          <p:val>
                                            <p:strVal val="#ppt_y"/>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164963"/>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499"/>
                                          </p:stCondLst>
                                        </p:cTn>
                                        <p:tgtEl>
                                          <p:spTgt spid="16496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64965"/>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 presetClass="entr" presetSubtype="8" fill="hold" grpId="0" nodeType="clickEffect">
                                  <p:stCondLst>
                                    <p:cond delay="0"/>
                                  </p:stCondLst>
                                  <p:childTnLst>
                                    <p:set>
                                      <p:cBhvr>
                                        <p:cTn id="134" dur="1" fill="hold">
                                          <p:stCondLst>
                                            <p:cond delay="0"/>
                                          </p:stCondLst>
                                        </p:cTn>
                                        <p:tgtEl>
                                          <p:spTgt spid="164983"/>
                                        </p:tgtEl>
                                        <p:attrNameLst>
                                          <p:attrName>style.visibility</p:attrName>
                                        </p:attrNameLst>
                                      </p:cBhvr>
                                      <p:to>
                                        <p:strVal val="visible"/>
                                      </p:to>
                                    </p:set>
                                    <p:anim calcmode="lin" valueType="num">
                                      <p:cBhvr additive="base">
                                        <p:cTn id="135" dur="500" fill="hold"/>
                                        <p:tgtEl>
                                          <p:spTgt spid="164983"/>
                                        </p:tgtEl>
                                        <p:attrNameLst>
                                          <p:attrName>ppt_x</p:attrName>
                                        </p:attrNameLst>
                                      </p:cBhvr>
                                      <p:tavLst>
                                        <p:tav tm="0">
                                          <p:val>
                                            <p:strVal val="0-#ppt_w/2"/>
                                          </p:val>
                                        </p:tav>
                                        <p:tav tm="100000">
                                          <p:val>
                                            <p:strVal val="#ppt_x"/>
                                          </p:val>
                                        </p:tav>
                                      </p:tavLst>
                                    </p:anim>
                                    <p:anim calcmode="lin" valueType="num">
                                      <p:cBhvr additive="base">
                                        <p:cTn id="136" dur="500" fill="hold"/>
                                        <p:tgtEl>
                                          <p:spTgt spid="164983"/>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499"/>
                                          </p:stCondLst>
                                        </p:cTn>
                                        <p:tgtEl>
                                          <p:spTgt spid="164966"/>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2" presetClass="entr" presetSubtype="8" fill="hold" grpId="0" nodeType="clickEffect">
                                  <p:stCondLst>
                                    <p:cond delay="0"/>
                                  </p:stCondLst>
                                  <p:childTnLst>
                                    <p:set>
                                      <p:cBhvr>
                                        <p:cTn id="144" dur="1" fill="hold">
                                          <p:stCondLst>
                                            <p:cond delay="0"/>
                                          </p:stCondLst>
                                        </p:cTn>
                                        <p:tgtEl>
                                          <p:spTgt spid="164984"/>
                                        </p:tgtEl>
                                        <p:attrNameLst>
                                          <p:attrName>style.visibility</p:attrName>
                                        </p:attrNameLst>
                                      </p:cBhvr>
                                      <p:to>
                                        <p:strVal val="visible"/>
                                      </p:to>
                                    </p:set>
                                    <p:anim calcmode="lin" valueType="num">
                                      <p:cBhvr additive="base">
                                        <p:cTn id="145" dur="500" fill="hold"/>
                                        <p:tgtEl>
                                          <p:spTgt spid="164984"/>
                                        </p:tgtEl>
                                        <p:attrNameLst>
                                          <p:attrName>ppt_x</p:attrName>
                                        </p:attrNameLst>
                                      </p:cBhvr>
                                      <p:tavLst>
                                        <p:tav tm="0">
                                          <p:val>
                                            <p:strVal val="0-#ppt_w/2"/>
                                          </p:val>
                                        </p:tav>
                                        <p:tav tm="100000">
                                          <p:val>
                                            <p:strVal val="#ppt_x"/>
                                          </p:val>
                                        </p:tav>
                                      </p:tavLst>
                                    </p:anim>
                                    <p:anim calcmode="lin" valueType="num">
                                      <p:cBhvr additive="base">
                                        <p:cTn id="146" dur="500" fill="hold"/>
                                        <p:tgtEl>
                                          <p:spTgt spid="164984"/>
                                        </p:tgtEl>
                                        <p:attrNameLst>
                                          <p:attrName>ppt_y</p:attrName>
                                        </p:attrNameLst>
                                      </p:cBhvr>
                                      <p:tavLst>
                                        <p:tav tm="0">
                                          <p:val>
                                            <p:strVal val="#ppt_y"/>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499"/>
                                          </p:stCondLst>
                                        </p:cTn>
                                        <p:tgtEl>
                                          <p:spTgt spid="16496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499"/>
                                          </p:stCondLst>
                                        </p:cTn>
                                        <p:tgtEl>
                                          <p:spTgt spid="16496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499"/>
                                          </p:stCondLst>
                                        </p:cTn>
                                        <p:tgtEl>
                                          <p:spTgt spid="16496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499"/>
                                          </p:stCondLst>
                                        </p:cTn>
                                        <p:tgtEl>
                                          <p:spTgt spid="164970"/>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nodeType="clickEffect">
                                  <p:stCondLst>
                                    <p:cond delay="0"/>
                                  </p:stCondLst>
                                  <p:childTnLst>
                                    <p:set>
                                      <p:cBhvr>
                                        <p:cTn id="166" dur="1" fill="hold">
                                          <p:stCondLst>
                                            <p:cond delay="499"/>
                                          </p:stCondLst>
                                        </p:cTn>
                                        <p:tgtEl>
                                          <p:spTgt spid="1649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84" grpId="0" animBg="1"/>
      <p:bldP spid="164983" grpId="0" animBg="1"/>
      <p:bldP spid="164982" grpId="0" animBg="1"/>
      <p:bldP spid="164981" grpId="0" animBg="1"/>
      <p:bldP spid="164980" grpId="0" animBg="1"/>
      <p:bldP spid="164979" grpId="0" animBg="1"/>
      <p:bldP spid="164977" grpId="0" animBg="1"/>
      <p:bldP spid="164975" grpId="0" animBg="1"/>
      <p:bldP spid="164972" grpId="0" animBg="1"/>
      <p:bldP spid="164976" grpId="0" animBg="1"/>
      <p:bldP spid="164945" grpId="0" autoUpdateAnimBg="0"/>
      <p:bldP spid="164946" grpId="0" autoUpdateAnimBg="0"/>
      <p:bldP spid="164947" grpId="0" autoUpdateAnimBg="0"/>
      <p:bldP spid="164950" grpId="0" autoUpdateAnimBg="0"/>
      <p:bldP spid="164951" grpId="0" autoUpdateAnimBg="0"/>
      <p:bldP spid="164952" grpId="0" autoUpdateAnimBg="0"/>
      <p:bldP spid="164956" grpId="0" autoUpdateAnimBg="0"/>
      <p:bldP spid="164957" grpId="0" autoUpdateAnimBg="0"/>
      <p:bldP spid="164958" grpId="0" autoUpdateAnimBg="0"/>
      <p:bldP spid="164960" grpId="0" autoUpdateAnimBg="0"/>
      <p:bldP spid="164962" grpId="0" autoUpdateAnimBg="0"/>
      <p:bldP spid="164963" grpId="0" autoUpdateAnimBg="0"/>
      <p:bldP spid="164965" grpId="0" autoUpdateAnimBg="0"/>
      <p:bldP spid="164966" grpId="0" autoUpdateAnimBg="0"/>
      <p:bldP spid="164967" grpId="0" autoUpdateAnimBg="0"/>
      <p:bldP spid="164970"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3313"/>
          <p:cNvSpPr>
            <a:spLocks noGrp="1"/>
          </p:cNvSpPr>
          <p:nvPr>
            <p:ph type="title"/>
          </p:nvPr>
        </p:nvSpPr>
        <p:spPr/>
        <p:txBody>
          <a:bodyPr anchor="ctr"/>
          <a:lstStyle/>
          <a:p>
            <a:r>
              <a:rPr lang="en-US" altLang="zh-CN" dirty="0">
                <a:sym typeface="Symbol" panose="05050102010706020507" pitchFamily="18" charset="2"/>
              </a:rPr>
              <a:t>-</a:t>
            </a:r>
            <a:r>
              <a:rPr lang="zh-CN" altLang="en-US" dirty="0">
                <a:sym typeface="Symbol" panose="05050102010706020507" pitchFamily="18" charset="2"/>
              </a:rPr>
              <a:t>剪枝算法</a:t>
            </a:r>
            <a:endParaRPr lang="en-US" altLang="zh-CN" dirty="0"/>
          </a:p>
        </p:txBody>
      </p:sp>
      <p:pic>
        <p:nvPicPr>
          <p:cNvPr id="13317" name="图片 13316"/>
          <p:cNvPicPr>
            <a:picLocks noChangeAspect="1"/>
          </p:cNvPicPr>
          <p:nvPr/>
        </p:nvPicPr>
        <p:blipFill>
          <a:blip r:embed="rId2"/>
          <a:srcRect l="16406" t="25000" r="15625" b="15625"/>
          <a:stretch>
            <a:fillRect/>
          </a:stretch>
        </p:blipFill>
        <p:spPr>
          <a:xfrm>
            <a:off x="685800" y="1295400"/>
            <a:ext cx="7620000" cy="4992688"/>
          </a:xfrm>
          <a:prstGeom prst="rect">
            <a:avLst/>
          </a:prstGeom>
          <a:noFill/>
          <a:ln w="9525">
            <a:noFill/>
          </a:ln>
        </p:spPr>
      </p:pic>
      <p:sp>
        <p:nvSpPr>
          <p:cNvPr id="2" name="灯片编号占位符 1"/>
          <p:cNvSpPr>
            <a:spLocks noGrp="1"/>
          </p:cNvSpPr>
          <p:nvPr>
            <p:ph type="sldNum" sz="quarter" idx="12"/>
          </p:nvPr>
        </p:nvSpPr>
        <p:spPr/>
        <p:txBody>
          <a:bodyPr/>
          <a:lstStyle/>
          <a:p>
            <a:fld id="{B6F15528-21DE-4FAA-801E-634DDDAF4B2B}" type="slidenum">
              <a:rPr lang="en-US" smtClean="0"/>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4337"/>
          <p:cNvSpPr>
            <a:spLocks noGrp="1"/>
          </p:cNvSpPr>
          <p:nvPr>
            <p:ph type="title"/>
          </p:nvPr>
        </p:nvSpPr>
        <p:spPr/>
        <p:txBody>
          <a:bodyPr anchor="ctr"/>
          <a:lstStyle/>
          <a:p>
            <a:r>
              <a:rPr lang="en-US" altLang="zh-CN" dirty="0">
                <a:sym typeface="Symbol" panose="05050102010706020507" pitchFamily="18" charset="2"/>
              </a:rPr>
              <a:t>-</a:t>
            </a:r>
            <a:r>
              <a:rPr lang="zh-CN" altLang="en-US" dirty="0">
                <a:sym typeface="Symbol" panose="05050102010706020507" pitchFamily="18" charset="2"/>
              </a:rPr>
              <a:t>剪枝算法（续）</a:t>
            </a:r>
            <a:endParaRPr lang="en-US" altLang="zh-CN" dirty="0"/>
          </a:p>
        </p:txBody>
      </p:sp>
      <p:pic>
        <p:nvPicPr>
          <p:cNvPr id="14340" name="图片 14339"/>
          <p:cNvPicPr>
            <a:picLocks noChangeAspect="1"/>
          </p:cNvPicPr>
          <p:nvPr/>
        </p:nvPicPr>
        <p:blipFill>
          <a:blip r:embed="rId2"/>
          <a:srcRect l="15625" t="25000" r="15625" b="33333"/>
          <a:stretch>
            <a:fillRect/>
          </a:stretch>
        </p:blipFill>
        <p:spPr>
          <a:xfrm>
            <a:off x="685800" y="1524000"/>
            <a:ext cx="7772400" cy="3532188"/>
          </a:xfrm>
          <a:prstGeom prst="rect">
            <a:avLst/>
          </a:prstGeom>
          <a:noFill/>
          <a:ln w="9525">
            <a:noFill/>
          </a:ln>
        </p:spPr>
      </p:pic>
      <p:sp>
        <p:nvSpPr>
          <p:cNvPr id="2" name="灯片编号占位符 1"/>
          <p:cNvSpPr>
            <a:spLocks noGrp="1"/>
          </p:cNvSpPr>
          <p:nvPr>
            <p:ph type="sldNum" sz="quarter" idx="12"/>
          </p:nvPr>
        </p:nvSpPr>
        <p:spPr/>
        <p:txBody>
          <a:bodyPr/>
          <a:lstStyle/>
          <a:p>
            <a:fld id="{B6F15528-21DE-4FAA-801E-634DDDAF4B2B}" type="slidenum">
              <a:rPr lang="en-US" smtClean="0"/>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l-GR" altLang="zh-CN" dirty="0">
                <a:sym typeface="+mn-ea"/>
              </a:rPr>
              <a:t>α−β</a:t>
            </a:r>
            <a:r>
              <a:rPr lang="zh-CN" altLang="zh-CN" dirty="0">
                <a:sym typeface="+mn-ea"/>
              </a:rPr>
              <a:t>剪枝案例</a:t>
            </a:r>
            <a:endParaRPr lang="zh-CN" altLang="en-US"/>
          </a:p>
        </p:txBody>
      </p:sp>
      <p:pic>
        <p:nvPicPr>
          <p:cNvPr id="4" name="内容占位符 3"/>
          <p:cNvPicPr>
            <a:picLocks noGrp="1" noChangeAspect="1"/>
          </p:cNvPicPr>
          <p:nvPr>
            <p:ph idx="1"/>
          </p:nvPr>
        </p:nvPicPr>
        <p:blipFill>
          <a:blip r:embed="rId2"/>
          <a:stretch>
            <a:fillRect/>
          </a:stretch>
        </p:blipFill>
        <p:spPr>
          <a:xfrm>
            <a:off x="360680" y="1417955"/>
            <a:ext cx="8475345" cy="4525645"/>
          </a:xfrm>
          <a:prstGeom prst="rect">
            <a:avLst/>
          </a:prstGeom>
        </p:spPr>
      </p:pic>
    </p:spTree>
    <p:extLst>
      <p:ext uri="{BB962C8B-B14F-4D97-AF65-F5344CB8AC3E}">
        <p14:creationId xmlns:p14="http://schemas.microsoft.com/office/powerpoint/2010/main" val="39402026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标题 30723"/>
          <p:cNvSpPr>
            <a:spLocks noGrp="1"/>
          </p:cNvSpPr>
          <p:nvPr>
            <p:ph type="title"/>
          </p:nvPr>
        </p:nvSpPr>
        <p:spPr>
          <a:xfrm>
            <a:off x="914400" y="0"/>
            <a:ext cx="8229600" cy="838200"/>
          </a:xfrm>
        </p:spPr>
        <p:txBody>
          <a:bodyPr anchor="b"/>
          <a:lstStyle/>
          <a:p>
            <a:pPr>
              <a:defRPr/>
            </a:pPr>
            <a:r>
              <a:rPr lang="zh-CN" altLang="en-US" noProof="1"/>
              <a:t>例子</a:t>
            </a:r>
          </a:p>
        </p:txBody>
      </p:sp>
      <p:pic>
        <p:nvPicPr>
          <p:cNvPr id="20483" name="内容占位符 30725" descr="alpha-beta-progr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838200"/>
            <a:ext cx="7543800" cy="5567760"/>
          </a:xfrm>
        </p:spPr>
      </p:pic>
    </p:spTree>
    <p:extLst>
      <p:ext uri="{BB962C8B-B14F-4D97-AF65-F5344CB8AC3E}">
        <p14:creationId xmlns:p14="http://schemas.microsoft.com/office/powerpoint/2010/main" val="42367304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l-GR" altLang="zh-CN" dirty="0"/>
              <a:t>α−β</a:t>
            </a:r>
            <a:r>
              <a:rPr lang="zh-CN" altLang="en-US" dirty="0"/>
              <a:t>搜索的效率</a:t>
            </a:r>
          </a:p>
        </p:txBody>
      </p:sp>
      <p:sp>
        <p:nvSpPr>
          <p:cNvPr id="3" name="内容占位符 2"/>
          <p:cNvSpPr>
            <a:spLocks noGrp="1"/>
          </p:cNvSpPr>
          <p:nvPr>
            <p:ph idx="1"/>
          </p:nvPr>
        </p:nvSpPr>
        <p:spPr>
          <a:xfrm>
            <a:off x="0" y="1600200"/>
            <a:ext cx="9144000" cy="4525963"/>
          </a:xfrm>
        </p:spPr>
        <p:txBody>
          <a:bodyPr>
            <a:normAutofit fontScale="92500" lnSpcReduction="10000"/>
          </a:bodyPr>
          <a:lstStyle/>
          <a:p>
            <a:pPr>
              <a:buNone/>
            </a:pPr>
            <a:r>
              <a:rPr lang="en-US" altLang="zh-CN" dirty="0"/>
              <a:t>• </a:t>
            </a:r>
            <a:r>
              <a:rPr lang="zh-CN" altLang="en-US" dirty="0"/>
              <a:t>效率很大程度上取决于检查后继的顺序</a:t>
            </a:r>
            <a:r>
              <a:rPr lang="en-US" altLang="zh-CN" dirty="0"/>
              <a:t>; </a:t>
            </a:r>
            <a:r>
              <a:rPr lang="zh-CN" altLang="en-US" dirty="0"/>
              <a:t>所以尝试检查可能较好的后继是值得的。</a:t>
            </a:r>
            <a:r>
              <a:rPr lang="zh-CN" altLang="en-US" noProof="1"/>
              <a:t>极小极大值搜索的时间复杂度是</a:t>
            </a:r>
            <a:r>
              <a:rPr lang="en-US" altLang="zh-CN" noProof="1"/>
              <a:t>O(b</a:t>
            </a:r>
            <a:r>
              <a:rPr lang="en-US" altLang="zh-CN" baseline="30000" noProof="1"/>
              <a:t>m</a:t>
            </a:r>
            <a:r>
              <a:rPr lang="en-US" altLang="zh-CN" noProof="1"/>
              <a:t>)</a:t>
            </a:r>
            <a:endParaRPr lang="en-US" altLang="zh-CN" dirty="0"/>
          </a:p>
          <a:p>
            <a:pPr>
              <a:buNone/>
            </a:pPr>
            <a:r>
              <a:rPr lang="en-US" altLang="zh-CN" dirty="0"/>
              <a:t>• </a:t>
            </a:r>
            <a:r>
              <a:rPr lang="zh-CN" altLang="en-US" dirty="0"/>
              <a:t>最坏情况</a:t>
            </a:r>
            <a:r>
              <a:rPr lang="en-US" altLang="zh-CN" dirty="0"/>
              <a:t>:</a:t>
            </a:r>
            <a:br>
              <a:rPr lang="en-US" altLang="zh-CN" dirty="0"/>
            </a:br>
            <a:r>
              <a:rPr lang="en-US" altLang="zh-CN" dirty="0"/>
              <a:t>– </a:t>
            </a:r>
            <a:r>
              <a:rPr lang="zh-CN" altLang="en-US" dirty="0"/>
              <a:t>没有分枝需要修剪</a:t>
            </a:r>
            <a:r>
              <a:rPr lang="en-US" altLang="zh-CN" dirty="0"/>
              <a:t/>
            </a:r>
            <a:br>
              <a:rPr lang="en-US" altLang="zh-CN" dirty="0"/>
            </a:br>
            <a:r>
              <a:rPr lang="en-US" altLang="zh-CN" dirty="0"/>
              <a:t>– </a:t>
            </a:r>
            <a:r>
              <a:rPr lang="zh-CN" altLang="en-US" dirty="0"/>
              <a:t>相比于穷举搜索没有改进</a:t>
            </a:r>
            <a:endParaRPr lang="en-US" altLang="zh-CN" dirty="0"/>
          </a:p>
          <a:p>
            <a:pPr>
              <a:buNone/>
            </a:pPr>
            <a:r>
              <a:rPr lang="en-US" altLang="zh-CN" dirty="0"/>
              <a:t>• </a:t>
            </a:r>
            <a:r>
              <a:rPr lang="zh-CN" altLang="en-US" dirty="0"/>
              <a:t>最好情况</a:t>
            </a:r>
            <a:r>
              <a:rPr lang="en-US" altLang="zh-CN" dirty="0"/>
              <a:t>:</a:t>
            </a:r>
            <a:br>
              <a:rPr lang="en-US" altLang="zh-CN" dirty="0"/>
            </a:br>
            <a:r>
              <a:rPr lang="en-US" altLang="zh-CN" dirty="0"/>
              <a:t>– </a:t>
            </a:r>
            <a:r>
              <a:rPr lang="zh-CN" altLang="en-US" dirty="0"/>
              <a:t>每个玩家的最佳行动都先被检查</a:t>
            </a:r>
            <a:endParaRPr lang="en-US" altLang="zh-CN" dirty="0"/>
          </a:p>
          <a:p>
            <a:pPr>
              <a:buNone/>
            </a:pPr>
            <a:r>
              <a:rPr lang="en-US" altLang="zh-CN" dirty="0"/>
              <a:t>• </a:t>
            </a:r>
            <a:r>
              <a:rPr lang="zh-CN" altLang="en-US" dirty="0"/>
              <a:t>在实践中，性能接近于最好情况，而不是最坏情况，但要依实际情况而定</a:t>
            </a:r>
          </a:p>
        </p:txBody>
      </p:sp>
    </p:spTree>
    <p:extLst>
      <p:ext uri="{BB962C8B-B14F-4D97-AF65-F5344CB8AC3E}">
        <p14:creationId xmlns:p14="http://schemas.microsoft.com/office/powerpoint/2010/main" val="154905776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l-GR" altLang="zh-CN" dirty="0"/>
              <a:t>α−β</a:t>
            </a:r>
            <a:r>
              <a:rPr lang="zh-CN" altLang="en-US" dirty="0"/>
              <a:t>的性能</a:t>
            </a:r>
          </a:p>
        </p:txBody>
      </p:sp>
      <p:sp>
        <p:nvSpPr>
          <p:cNvPr id="3" name="内容占位符 2"/>
          <p:cNvSpPr>
            <a:spLocks noGrp="1"/>
          </p:cNvSpPr>
          <p:nvPr>
            <p:ph idx="1"/>
          </p:nvPr>
        </p:nvSpPr>
        <p:spPr/>
        <p:txBody>
          <a:bodyPr>
            <a:normAutofit fontScale="92500"/>
          </a:bodyPr>
          <a:lstStyle/>
          <a:p>
            <a:pPr>
              <a:buNone/>
            </a:pPr>
            <a:r>
              <a:rPr lang="zh-CN" altLang="en-US" dirty="0"/>
              <a:t>剪枝</a:t>
            </a:r>
            <a:r>
              <a:rPr lang="zh-CN" altLang="en-US" dirty="0">
                <a:solidFill>
                  <a:srgbClr val="FF0000"/>
                </a:solidFill>
              </a:rPr>
              <a:t>不影响</a:t>
            </a:r>
            <a:r>
              <a:rPr lang="zh-CN" altLang="en-US" dirty="0"/>
              <a:t>最终结果</a:t>
            </a:r>
            <a:endParaRPr lang="en-US" altLang="zh-CN" dirty="0"/>
          </a:p>
          <a:p>
            <a:pPr>
              <a:buNone/>
            </a:pPr>
            <a:endParaRPr lang="en-US" altLang="zh-CN" dirty="0"/>
          </a:p>
          <a:p>
            <a:pPr>
              <a:buNone/>
            </a:pPr>
            <a:r>
              <a:rPr lang="zh-CN" altLang="en-US" dirty="0"/>
              <a:t>好的行动顺序能提高剪枝的效率</a:t>
            </a:r>
            <a:endParaRPr lang="en-US" altLang="zh-CN" dirty="0"/>
          </a:p>
          <a:p>
            <a:pPr>
              <a:buNone/>
            </a:pPr>
            <a:endParaRPr lang="en-US" altLang="zh-CN" dirty="0"/>
          </a:p>
          <a:p>
            <a:pPr>
              <a:buNone/>
            </a:pPr>
            <a:r>
              <a:rPr lang="en-US" altLang="zh-CN" dirty="0"/>
              <a:t>With “perfect ordering," time complexity = </a:t>
            </a:r>
            <a:r>
              <a:rPr lang="en-US" altLang="zh-CN" dirty="0">
                <a:solidFill>
                  <a:srgbClr val="FF0000"/>
                </a:solidFill>
              </a:rPr>
              <a:t>O(</a:t>
            </a:r>
            <a:r>
              <a:rPr lang="en-US" altLang="zh-CN" dirty="0" err="1">
                <a:solidFill>
                  <a:srgbClr val="FF0000"/>
                </a:solidFill>
              </a:rPr>
              <a:t>b</a:t>
            </a:r>
            <a:r>
              <a:rPr lang="en-US" altLang="zh-CN" baseline="30000" dirty="0" err="1">
                <a:solidFill>
                  <a:srgbClr val="FF0000"/>
                </a:solidFill>
              </a:rPr>
              <a:t>d</a:t>
            </a:r>
            <a:r>
              <a:rPr lang="en-US" altLang="zh-CN" baseline="30000" dirty="0">
                <a:solidFill>
                  <a:srgbClr val="FF0000"/>
                </a:solidFill>
              </a:rPr>
              <a:t>/2</a:t>
            </a:r>
            <a:r>
              <a:rPr lang="en-US" altLang="zh-CN" dirty="0">
                <a:solidFill>
                  <a:srgbClr val="FF0000"/>
                </a:solidFill>
              </a:rPr>
              <a:t>)</a:t>
            </a:r>
            <a:r>
              <a:rPr lang="en-US" altLang="zh-CN" dirty="0"/>
              <a:t/>
            </a:r>
            <a:br>
              <a:rPr lang="en-US" altLang="zh-CN" dirty="0"/>
            </a:br>
            <a:r>
              <a:rPr lang="en-US" altLang="zh-CN" dirty="0"/>
              <a:t>doubles solvable depth</a:t>
            </a:r>
          </a:p>
          <a:p>
            <a:pPr>
              <a:buNone/>
            </a:pPr>
            <a:endParaRPr lang="en-US" altLang="zh-CN" dirty="0"/>
          </a:p>
          <a:p>
            <a:pPr>
              <a:buNone/>
            </a:pPr>
            <a:r>
              <a:rPr lang="zh-CN" altLang="en-US" dirty="0"/>
              <a:t>不幸的是</a:t>
            </a:r>
            <a:r>
              <a:rPr lang="en-US" altLang="zh-CN" dirty="0"/>
              <a:t>, </a:t>
            </a:r>
            <a:r>
              <a:rPr lang="en-US" altLang="zh-CN" dirty="0">
                <a:solidFill>
                  <a:srgbClr val="FF0000"/>
                </a:solidFill>
              </a:rPr>
              <a:t>35</a:t>
            </a:r>
            <a:r>
              <a:rPr lang="en-US" altLang="zh-CN" baseline="30000" dirty="0">
                <a:solidFill>
                  <a:srgbClr val="FF0000"/>
                </a:solidFill>
              </a:rPr>
              <a:t>50</a:t>
            </a:r>
            <a:r>
              <a:rPr lang="en-US" altLang="zh-CN" dirty="0">
                <a:solidFill>
                  <a:srgbClr val="FF0000"/>
                </a:solidFill>
              </a:rPr>
              <a:t> </a:t>
            </a:r>
            <a:r>
              <a:rPr lang="zh-CN" altLang="en-US" dirty="0"/>
              <a:t>也是有可能的</a:t>
            </a:r>
          </a:p>
        </p:txBody>
      </p:sp>
    </p:spTree>
    <p:extLst>
      <p:ext uri="{BB962C8B-B14F-4D97-AF65-F5344CB8AC3E}">
        <p14:creationId xmlns:p14="http://schemas.microsoft.com/office/powerpoint/2010/main" val="1823131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58369"/>
          <p:cNvSpPr>
            <a:spLocks noGrp="1"/>
          </p:cNvSpPr>
          <p:nvPr>
            <p:ph type="title"/>
          </p:nvPr>
        </p:nvSpPr>
        <p:spPr/>
        <p:txBody>
          <a:bodyPr anchor="b"/>
          <a:lstStyle/>
          <a:p>
            <a:pPr>
              <a:defRPr/>
            </a:pPr>
            <a:r>
              <a:rPr lang="zh-CN" altLang="en-US" noProof="1"/>
              <a:t>处理搜索树中的重复状态</a:t>
            </a:r>
          </a:p>
        </p:txBody>
      </p:sp>
      <p:sp>
        <p:nvSpPr>
          <p:cNvPr id="24579" name="文本占位符 58370"/>
          <p:cNvSpPr>
            <a:spLocks noGrp="1"/>
          </p:cNvSpPr>
          <p:nvPr>
            <p:ph idx="1"/>
          </p:nvPr>
        </p:nvSpPr>
        <p:spPr/>
        <p:txBody>
          <a:bodyPr>
            <a:prstTxWarp prst="textNoShape">
              <a:avLst/>
            </a:prstTxWarp>
          </a:bodyPr>
          <a:lstStyle/>
          <a:p>
            <a:r>
              <a:rPr lang="zh-CN" altLang="en-US">
                <a:effectLst/>
              </a:rPr>
              <a:t>在游戏中重复状态的频繁出现往往是因为调换</a:t>
            </a:r>
            <a:r>
              <a:rPr lang="en-US" altLang="zh-CN">
                <a:effectLst/>
                <a:latin typeface="Arial" pitchFamily="34" charset="0"/>
                <a:cs typeface="Arial" pitchFamily="34" charset="0"/>
              </a:rPr>
              <a:t>—</a:t>
            </a:r>
            <a:r>
              <a:rPr lang="zh-CN" altLang="en-US">
                <a:effectLst/>
                <a:latin typeface="Arial" pitchFamily="34" charset="0"/>
                <a:cs typeface="Arial" pitchFamily="34" charset="0"/>
              </a:rPr>
              <a:t>导致同样棋局的不同行棋序列的排列</a:t>
            </a:r>
          </a:p>
          <a:p>
            <a:pPr lvl="1"/>
            <a:r>
              <a:rPr lang="zh-CN" altLang="en-US">
                <a:effectLst/>
                <a:latin typeface="Arial" pitchFamily="34" charset="0"/>
                <a:cs typeface="Arial" pitchFamily="34" charset="0"/>
              </a:rPr>
              <a:t>例如，</a:t>
            </a:r>
            <a:r>
              <a:rPr lang="en-US" altLang="zh-CN">
                <a:effectLst/>
                <a:latin typeface="Arial" pitchFamily="34" charset="0"/>
                <a:cs typeface="Arial" pitchFamily="34" charset="0"/>
              </a:rPr>
              <a:t>[a</a:t>
            </a:r>
            <a:r>
              <a:rPr lang="en-US" altLang="zh-CN" baseline="-25000">
                <a:effectLst/>
                <a:latin typeface="Arial" pitchFamily="34" charset="0"/>
                <a:cs typeface="Arial" pitchFamily="34" charset="0"/>
              </a:rPr>
              <a:t>1</a:t>
            </a:r>
            <a:r>
              <a:rPr lang="en-US" altLang="zh-CN">
                <a:effectLst/>
                <a:latin typeface="Arial" pitchFamily="34" charset="0"/>
                <a:cs typeface="Arial" pitchFamily="34" charset="0"/>
              </a:rPr>
              <a:t>, b</a:t>
            </a:r>
            <a:r>
              <a:rPr lang="en-US" altLang="zh-CN" baseline="-25000">
                <a:effectLst/>
                <a:latin typeface="Arial" pitchFamily="34" charset="0"/>
                <a:cs typeface="Arial" pitchFamily="34" charset="0"/>
              </a:rPr>
              <a:t>1</a:t>
            </a:r>
            <a:r>
              <a:rPr lang="en-US" altLang="zh-CN">
                <a:effectLst/>
                <a:latin typeface="Arial" pitchFamily="34" charset="0"/>
                <a:cs typeface="Arial" pitchFamily="34" charset="0"/>
              </a:rPr>
              <a:t>, a</a:t>
            </a:r>
            <a:r>
              <a:rPr lang="en-US" altLang="zh-CN" baseline="-25000">
                <a:effectLst/>
                <a:latin typeface="Arial" pitchFamily="34" charset="0"/>
                <a:cs typeface="Arial" pitchFamily="34" charset="0"/>
              </a:rPr>
              <a:t>2</a:t>
            </a:r>
            <a:r>
              <a:rPr lang="en-US" altLang="zh-CN">
                <a:effectLst/>
                <a:latin typeface="Arial" pitchFamily="34" charset="0"/>
                <a:cs typeface="Arial" pitchFamily="34" charset="0"/>
              </a:rPr>
              <a:t>, b</a:t>
            </a:r>
            <a:r>
              <a:rPr lang="en-US" altLang="zh-CN" baseline="-25000">
                <a:effectLst/>
                <a:latin typeface="Arial" pitchFamily="34" charset="0"/>
                <a:cs typeface="Arial" pitchFamily="34" charset="0"/>
              </a:rPr>
              <a:t>2</a:t>
            </a:r>
            <a:r>
              <a:rPr lang="en-US" altLang="zh-CN">
                <a:effectLst/>
                <a:latin typeface="Arial" pitchFamily="34" charset="0"/>
                <a:cs typeface="Arial" pitchFamily="34" charset="0"/>
              </a:rPr>
              <a:t>]</a:t>
            </a:r>
            <a:r>
              <a:rPr lang="zh-CN" altLang="en-US">
                <a:effectLst/>
                <a:latin typeface="Arial" pitchFamily="34" charset="0"/>
                <a:cs typeface="Arial" pitchFamily="34" charset="0"/>
              </a:rPr>
              <a:t>和</a:t>
            </a:r>
            <a:r>
              <a:rPr lang="en-US" altLang="zh-CN">
                <a:effectLst/>
                <a:latin typeface="Arial" pitchFamily="34" charset="0"/>
                <a:cs typeface="Arial" pitchFamily="34" charset="0"/>
              </a:rPr>
              <a:t>[a</a:t>
            </a:r>
            <a:r>
              <a:rPr lang="en-US" altLang="zh-CN" baseline="-25000">
                <a:effectLst/>
                <a:latin typeface="Arial" pitchFamily="34" charset="0"/>
                <a:cs typeface="Arial" pitchFamily="34" charset="0"/>
              </a:rPr>
              <a:t>2</a:t>
            </a:r>
            <a:r>
              <a:rPr lang="en-US" altLang="zh-CN">
                <a:effectLst/>
                <a:latin typeface="Arial" pitchFamily="34" charset="0"/>
                <a:cs typeface="Arial" pitchFamily="34" charset="0"/>
              </a:rPr>
              <a:t>, b</a:t>
            </a:r>
            <a:r>
              <a:rPr lang="en-US" altLang="zh-CN" baseline="-25000">
                <a:effectLst/>
                <a:latin typeface="Arial" pitchFamily="34" charset="0"/>
                <a:cs typeface="Arial" pitchFamily="34" charset="0"/>
              </a:rPr>
              <a:t>2</a:t>
            </a:r>
            <a:r>
              <a:rPr lang="en-US" altLang="zh-CN">
                <a:effectLst/>
                <a:latin typeface="Arial" pitchFamily="34" charset="0"/>
                <a:cs typeface="Arial" pitchFamily="34" charset="0"/>
              </a:rPr>
              <a:t>, a</a:t>
            </a:r>
            <a:r>
              <a:rPr lang="en-US" altLang="zh-CN" baseline="-25000">
                <a:effectLst/>
                <a:latin typeface="Arial" pitchFamily="34" charset="0"/>
                <a:cs typeface="Arial" pitchFamily="34" charset="0"/>
              </a:rPr>
              <a:t>1</a:t>
            </a:r>
            <a:r>
              <a:rPr lang="en-US" altLang="zh-CN">
                <a:effectLst/>
                <a:latin typeface="Arial" pitchFamily="34" charset="0"/>
                <a:cs typeface="Arial" pitchFamily="34" charset="0"/>
              </a:rPr>
              <a:t>, b</a:t>
            </a:r>
            <a:r>
              <a:rPr lang="en-US" altLang="zh-CN" baseline="-25000">
                <a:effectLst/>
                <a:latin typeface="Arial" pitchFamily="34" charset="0"/>
                <a:cs typeface="Arial" pitchFamily="34" charset="0"/>
              </a:rPr>
              <a:t>1</a:t>
            </a:r>
            <a:r>
              <a:rPr lang="en-US" altLang="zh-CN">
                <a:effectLst/>
                <a:latin typeface="Arial" pitchFamily="34" charset="0"/>
                <a:cs typeface="Arial" pitchFamily="34" charset="0"/>
              </a:rPr>
              <a:t>]</a:t>
            </a:r>
            <a:r>
              <a:rPr lang="zh-CN" altLang="en-US">
                <a:effectLst/>
                <a:latin typeface="Arial" pitchFamily="34" charset="0"/>
                <a:cs typeface="Arial" pitchFamily="34" charset="0"/>
              </a:rPr>
              <a:t>都结束于同样的棋局。</a:t>
            </a:r>
          </a:p>
          <a:p>
            <a:r>
              <a:rPr lang="zh-CN" altLang="en-US">
                <a:effectLst/>
                <a:latin typeface="Arial" pitchFamily="34" charset="0"/>
                <a:cs typeface="Arial" pitchFamily="34" charset="0"/>
              </a:rPr>
              <a:t>解决办法：第一次遇见某棋局时将对它的评价存储在哈希表中（该哈希表称为调换表）。</a:t>
            </a:r>
          </a:p>
        </p:txBody>
      </p:sp>
    </p:spTree>
    <p:extLst>
      <p:ext uri="{BB962C8B-B14F-4D97-AF65-F5344CB8AC3E}">
        <p14:creationId xmlns:p14="http://schemas.microsoft.com/office/powerpoint/2010/main" val="6325274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课堂练习</a:t>
            </a:r>
          </a:p>
        </p:txBody>
      </p:sp>
      <p:sp>
        <p:nvSpPr>
          <p:cNvPr id="3" name="内容占位符 2"/>
          <p:cNvSpPr>
            <a:spLocks noGrp="1"/>
          </p:cNvSpPr>
          <p:nvPr>
            <p:ph idx="1"/>
          </p:nvPr>
        </p:nvSpPr>
        <p:spPr/>
        <p:txBody>
          <a:bodyPr/>
          <a:lstStyle/>
          <a:p>
            <a:r>
              <a:rPr lang="zh-CN" altLang="en-US" dirty="0"/>
              <a:t>讨论：如何用</a:t>
            </a:r>
            <a:r>
              <a:rPr lang="en-US" altLang="zh-CN" dirty="0">
                <a:sym typeface="+mn-ea"/>
              </a:rPr>
              <a:t>α-β </a:t>
            </a:r>
            <a:r>
              <a:rPr lang="zh-CN" altLang="en-US" dirty="0">
                <a:sym typeface="+mn-ea"/>
              </a:rPr>
              <a:t>剪枝</a:t>
            </a:r>
            <a:r>
              <a:rPr lang="zh-CN" altLang="en-US" dirty="0"/>
              <a:t>来设计五子棋游戏</a:t>
            </a:r>
          </a:p>
          <a:p>
            <a:r>
              <a:rPr lang="zh-CN" altLang="en-US" dirty="0"/>
              <a:t>或者</a:t>
            </a:r>
            <a:r>
              <a:rPr lang="zh-CN" altLang="en-US" dirty="0">
                <a:sym typeface="+mn-ea"/>
              </a:rPr>
              <a:t>用</a:t>
            </a:r>
            <a:r>
              <a:rPr lang="en-US" altLang="zh-CN" dirty="0">
                <a:sym typeface="+mn-ea"/>
              </a:rPr>
              <a:t>α-β </a:t>
            </a:r>
            <a:r>
              <a:rPr lang="zh-CN" altLang="en-US" dirty="0">
                <a:sym typeface="+mn-ea"/>
              </a:rPr>
              <a:t>剪枝来实现一个黑白棋（只有算法，不需要图形）</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t>40</a:t>
            </a:fld>
            <a:endParaRPr lang="en-US"/>
          </a:p>
        </p:txBody>
      </p:sp>
      <p:sp>
        <p:nvSpPr>
          <p:cNvPr id="5" name="笑脸 4">
            <a:extLst>
              <a:ext uri="{FF2B5EF4-FFF2-40B4-BE49-F238E27FC236}">
                <a16:creationId xmlns:a16="http://schemas.microsoft.com/office/drawing/2014/main" id="{22C6F1CD-1A73-0441-A68F-98E6FB68926D}"/>
              </a:ext>
            </a:extLst>
          </p:cNvPr>
          <p:cNvSpPr/>
          <p:nvPr/>
        </p:nvSpPr>
        <p:spPr>
          <a:xfrm>
            <a:off x="152400" y="152400"/>
            <a:ext cx="838200" cy="762000"/>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ctr"/>
          <a:lstStyle/>
          <a:p>
            <a:r>
              <a:rPr lang="zh-CN" altLang="en-US"/>
              <a:t>提纲</a:t>
            </a:r>
          </a:p>
        </p:txBody>
      </p:sp>
      <p:sp>
        <p:nvSpPr>
          <p:cNvPr id="4099" name="文本占位符 4098"/>
          <p:cNvSpPr>
            <a:spLocks noGrp="1"/>
          </p:cNvSpPr>
          <p:nvPr>
            <p:ph type="body" idx="1"/>
          </p:nvPr>
        </p:nvSpPr>
        <p:spPr/>
        <p:txBody>
          <a:bodyPr/>
          <a:lstStyle/>
          <a:p>
            <a:r>
              <a:rPr lang="zh-CN" altLang="en-US" dirty="0"/>
              <a:t>游戏（两人对抗）</a:t>
            </a:r>
            <a:endParaRPr lang="en-US" altLang="zh-CN" dirty="0"/>
          </a:p>
          <a:p>
            <a:r>
              <a:rPr lang="zh-CN" altLang="en-US" dirty="0"/>
              <a:t>对抗搜索</a:t>
            </a:r>
          </a:p>
          <a:p>
            <a:pPr lvl="1"/>
            <a:r>
              <a:rPr lang="en-US" altLang="zh-CN" dirty="0" err="1"/>
              <a:t>Minimax</a:t>
            </a:r>
            <a:r>
              <a:rPr lang="zh-CN" altLang="en-US" dirty="0"/>
              <a:t>算法</a:t>
            </a:r>
            <a:endParaRPr lang="en-US" altLang="zh-CN" dirty="0"/>
          </a:p>
          <a:p>
            <a:pPr lvl="1"/>
            <a:r>
              <a:rPr lang="en-US" altLang="zh-CN" dirty="0"/>
              <a:t>α-β </a:t>
            </a:r>
            <a:r>
              <a:rPr lang="zh-CN" altLang="en-US" dirty="0"/>
              <a:t>剪枝</a:t>
            </a:r>
            <a:r>
              <a:rPr lang="en-US" altLang="zh-CN" dirty="0"/>
              <a:t> (alpha-beta pruning)</a:t>
            </a:r>
          </a:p>
          <a:p>
            <a:pPr lvl="1"/>
            <a:r>
              <a:rPr lang="zh-CN" altLang="en-US" b="1" dirty="0">
                <a:solidFill>
                  <a:srgbClr val="FF0000"/>
                </a:solidFill>
              </a:rPr>
              <a:t>实时决策</a:t>
            </a:r>
            <a:r>
              <a:rPr lang="en-US" altLang="zh-CN" b="1" dirty="0">
                <a:solidFill>
                  <a:srgbClr val="FF0000"/>
                </a:solidFill>
              </a:rPr>
              <a:t> (real-time decision)</a:t>
            </a:r>
          </a:p>
          <a:p>
            <a:r>
              <a:rPr lang="zh-CN" altLang="en-US" dirty="0"/>
              <a:t>包含几率因素的游戏</a:t>
            </a:r>
            <a:endParaRPr lang="en-US" altLang="zh-CN" dirty="0"/>
          </a:p>
          <a:p>
            <a:r>
              <a:rPr lang="zh-CN" altLang="en-US" dirty="0"/>
              <a:t>不完整信息的游戏</a:t>
            </a:r>
          </a:p>
        </p:txBody>
      </p:sp>
      <p:sp>
        <p:nvSpPr>
          <p:cNvPr id="2" name="灯片编号占位符 1"/>
          <p:cNvSpPr>
            <a:spLocks noGrp="1"/>
          </p:cNvSpPr>
          <p:nvPr>
            <p:ph type="sldNum" sz="quarter" idx="12"/>
          </p:nvPr>
        </p:nvSpPr>
        <p:spPr/>
        <p:txBody>
          <a:bodyPr/>
          <a:lstStyle/>
          <a:p>
            <a:fld id="{B6F15528-21DE-4FAA-801E-634DDDAF4B2B}" type="slidenum">
              <a:rPr lang="en-US" smtClean="0"/>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5361"/>
          <p:cNvSpPr>
            <a:spLocks noGrp="1"/>
          </p:cNvSpPr>
          <p:nvPr>
            <p:ph type="title"/>
          </p:nvPr>
        </p:nvSpPr>
        <p:spPr/>
        <p:txBody>
          <a:bodyPr anchor="ctr">
            <a:normAutofit/>
          </a:bodyPr>
          <a:lstStyle/>
          <a:p>
            <a:r>
              <a:rPr lang="zh-CN" altLang="en-US" dirty="0"/>
              <a:t>计算资源的限制</a:t>
            </a:r>
            <a:endParaRPr lang="en-US" altLang="zh-CN" dirty="0"/>
          </a:p>
        </p:txBody>
      </p:sp>
      <p:sp>
        <p:nvSpPr>
          <p:cNvPr id="15363" name="文本占位符 15362"/>
          <p:cNvSpPr>
            <a:spLocks noGrp="1"/>
          </p:cNvSpPr>
          <p:nvPr>
            <p:ph type="body" idx="1"/>
          </p:nvPr>
        </p:nvSpPr>
        <p:spPr/>
        <p:txBody>
          <a:bodyPr>
            <a:noAutofit/>
          </a:bodyPr>
          <a:lstStyle/>
          <a:p>
            <a:r>
              <a:rPr lang="zh-CN" altLang="en-US" sz="2800" dirty="0"/>
              <a:t>实际游戏中要求每个玩家必须在规定时间内行动</a:t>
            </a:r>
          </a:p>
          <a:p>
            <a:r>
              <a:rPr lang="zh-CN" altLang="en-US" sz="2800" dirty="0"/>
              <a:t>假设我们每一步允许花费</a:t>
            </a:r>
            <a:r>
              <a:rPr lang="en-US" altLang="zh-CN" sz="2800" dirty="0"/>
              <a:t>100</a:t>
            </a:r>
            <a:r>
              <a:rPr lang="zh-CN" altLang="en-US" sz="2800" dirty="0"/>
              <a:t>秒，每秒平均探索</a:t>
            </a:r>
            <a:r>
              <a:rPr lang="en-US" altLang="zh-CN" sz="2800" dirty="0"/>
              <a:t>10</a:t>
            </a:r>
            <a:r>
              <a:rPr lang="en-US" altLang="zh-CN" sz="2800" baseline="30000" dirty="0"/>
              <a:t>4</a:t>
            </a:r>
            <a:r>
              <a:rPr lang="zh-CN" altLang="en-US" sz="2800" dirty="0"/>
              <a:t>个节点</a:t>
            </a:r>
          </a:p>
          <a:p>
            <a:pPr lvl="1"/>
            <a:r>
              <a:rPr lang="zh-CN" altLang="en-US" dirty="0"/>
              <a:t>每一步可以（最多）探索</a:t>
            </a:r>
            <a:r>
              <a:rPr lang="en-US" altLang="zh-CN" dirty="0"/>
              <a:t>10</a:t>
            </a:r>
            <a:r>
              <a:rPr lang="en-US" altLang="zh-CN" baseline="30000" dirty="0"/>
              <a:t>6</a:t>
            </a:r>
            <a:r>
              <a:rPr lang="zh-CN" altLang="en-US" dirty="0"/>
              <a:t>个节点</a:t>
            </a:r>
          </a:p>
          <a:p>
            <a:r>
              <a:rPr lang="zh-CN" altLang="en-US" sz="2800" dirty="0"/>
              <a:t>国际象棋，一步约有</a:t>
            </a:r>
            <a:r>
              <a:rPr lang="en-US" altLang="zh-CN" sz="2800" dirty="0"/>
              <a:t>35</a:t>
            </a:r>
            <a:r>
              <a:rPr lang="zh-CN" altLang="en-US" sz="2800" dirty="0"/>
              <a:t>个分支，搜索到叶子节点（即满足</a:t>
            </a:r>
            <a:r>
              <a:rPr lang="en-US" altLang="zh-CN" sz="2800" dirty="0" err="1"/>
              <a:t>Terminal_Test</a:t>
            </a:r>
            <a:r>
              <a:rPr lang="zh-CN" altLang="en-US" sz="2800" dirty="0"/>
              <a:t>为真）的深度约为</a:t>
            </a:r>
            <a:r>
              <a:rPr lang="en-US" altLang="zh-CN" sz="2800" dirty="0"/>
              <a:t>100</a:t>
            </a:r>
            <a:r>
              <a:rPr lang="zh-CN" altLang="en-US" sz="2800" dirty="0"/>
              <a:t>，意味着</a:t>
            </a:r>
            <a:r>
              <a:rPr lang="en-US" altLang="zh-CN" sz="2800" dirty="0"/>
              <a:t> 35</a:t>
            </a:r>
            <a:r>
              <a:rPr lang="en-US" altLang="zh-CN" sz="2800" baseline="30000" dirty="0"/>
              <a:t>100</a:t>
            </a:r>
            <a:r>
              <a:rPr lang="en-US" altLang="zh-CN" sz="2800" dirty="0"/>
              <a:t>=</a:t>
            </a:r>
            <a:r>
              <a:rPr lang="en-US" altLang="zh-CN" sz="2800" dirty="0">
                <a:solidFill>
                  <a:srgbClr val="CC0099"/>
                </a:solidFill>
              </a:rPr>
              <a:t>10</a:t>
            </a:r>
            <a:r>
              <a:rPr lang="en-US" altLang="zh-CN" sz="2800" baseline="30000" dirty="0">
                <a:solidFill>
                  <a:srgbClr val="CC0099"/>
                </a:solidFill>
              </a:rPr>
              <a:t>154</a:t>
            </a:r>
            <a:r>
              <a:rPr lang="en-US" altLang="zh-CN" sz="2800" dirty="0"/>
              <a:t> </a:t>
            </a:r>
            <a:r>
              <a:rPr lang="zh-CN" altLang="en-US" sz="2800" dirty="0"/>
              <a:t>节点</a:t>
            </a:r>
          </a:p>
          <a:p>
            <a:endParaRPr lang="en-US" altLang="zh-CN" dirty="0"/>
          </a:p>
          <a:p>
            <a:pPr>
              <a:buNone/>
            </a:pPr>
            <a:r>
              <a:rPr lang="en-US" altLang="zh-CN" sz="2400" dirty="0"/>
              <a:t/>
            </a:r>
            <a:br>
              <a:rPr lang="en-US" altLang="zh-CN" sz="2400" dirty="0"/>
            </a:br>
            <a:r>
              <a:rPr lang="en-US" altLang="zh-CN" sz="2400" dirty="0"/>
              <a:t> 
</a:t>
            </a:r>
          </a:p>
          <a:p>
            <a:pPr>
              <a:buNone/>
            </a:pPr>
            <a:endParaRPr lang="en-US" altLang="zh-CN" sz="2400" dirty="0"/>
          </a:p>
          <a:p>
            <a:pPr>
              <a:buNone/>
            </a:pPr>
            <a:r>
              <a:rPr lang="en-US" altLang="zh-CN" sz="2400" dirty="0"/>
              <a:t>Standard approach:
</a:t>
            </a:r>
          </a:p>
          <a:p>
            <a:r>
              <a:rPr lang="en-US" altLang="zh-CN" sz="2400" dirty="0">
                <a:solidFill>
                  <a:srgbClr val="FF0000"/>
                </a:solidFill>
              </a:rPr>
              <a:t>cutoff test: </a:t>
            </a:r>
          </a:p>
          <a:p>
            <a:pPr lvl="1">
              <a:buNone/>
            </a:pPr>
            <a:r>
              <a:rPr lang="en-US" altLang="zh-CN" sz="1800" dirty="0"/>
              <a:t>e.g., depth limit (perhaps add </a:t>
            </a:r>
            <a:r>
              <a:rPr lang="en-US" altLang="zh-CN" sz="1800" dirty="0">
                <a:solidFill>
                  <a:srgbClr val="FF0000"/>
                </a:solidFill>
              </a:rPr>
              <a:t>quiescence search</a:t>
            </a:r>
            <a:r>
              <a:rPr lang="en-US" altLang="zh-CN" sz="1800" dirty="0"/>
              <a:t>)
</a:t>
            </a:r>
          </a:p>
          <a:p>
            <a:r>
              <a:rPr lang="en-US" altLang="zh-CN" sz="2400" dirty="0">
                <a:solidFill>
                  <a:srgbClr val="FF0000"/>
                </a:solidFill>
              </a:rPr>
              <a:t>evaluation function </a:t>
            </a:r>
          </a:p>
          <a:p>
            <a:pPr lvl="1">
              <a:buNone/>
            </a:pPr>
            <a:r>
              <a:rPr lang="en-US" altLang="zh-CN" sz="1800" dirty="0"/>
              <a:t>= estimated desirability of position
</a:t>
            </a:r>
          </a:p>
        </p:txBody>
      </p:sp>
      <p:sp>
        <p:nvSpPr>
          <p:cNvPr id="2" name="灯片编号占位符 1"/>
          <p:cNvSpPr>
            <a:spLocks noGrp="1"/>
          </p:cNvSpPr>
          <p:nvPr>
            <p:ph type="sldNum" sz="quarter" idx="12"/>
          </p:nvPr>
        </p:nvSpPr>
        <p:spPr/>
        <p:txBody>
          <a:bodyPr/>
          <a:lstStyle/>
          <a:p>
            <a:fld id="{B6F15528-21DE-4FAA-801E-634DDDAF4B2B}" type="slidenum">
              <a:rPr lang="en-US" smtClean="0"/>
              <a:t>42</a:t>
            </a:fld>
            <a:endParaRPr lang="en-US"/>
          </a:p>
        </p:txBody>
      </p:sp>
      <p:sp>
        <p:nvSpPr>
          <p:cNvPr id="5" name="Content Placeholder 2"/>
          <p:cNvSpPr txBox="1"/>
          <p:nvPr/>
        </p:nvSpPr>
        <p:spPr>
          <a:xfrm>
            <a:off x="457200" y="5334000"/>
            <a:ext cx="8686800" cy="1295400"/>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None/>
            </a:pPr>
            <a:r>
              <a:rPr lang="en-US" sz="1800" b="1" dirty="0">
                <a:solidFill>
                  <a:srgbClr val="CC0099"/>
                </a:solidFill>
              </a:rPr>
              <a:t>     </a:t>
            </a:r>
            <a:r>
              <a:rPr lang="en-US" sz="1800" b="1" dirty="0" err="1">
                <a:solidFill>
                  <a:srgbClr val="CC0099"/>
                </a:solidFill>
              </a:rPr>
              <a:t>Minimax</a:t>
            </a:r>
            <a:r>
              <a:rPr lang="en-US" sz="1800" dirty="0"/>
              <a:t>(</a:t>
            </a:r>
            <a:r>
              <a:rPr lang="en-US" sz="1800" i="1" dirty="0"/>
              <a:t>node</a:t>
            </a:r>
            <a:r>
              <a:rPr lang="en-US" sz="1800" dirty="0"/>
              <a:t>) = </a:t>
            </a:r>
          </a:p>
          <a:p>
            <a:pPr lvl="1">
              <a:buFont typeface="Wingdings" panose="05000000000000000000" pitchFamily="2" charset="2"/>
              <a:buChar char="§"/>
            </a:pPr>
            <a:r>
              <a:rPr lang="en-US" sz="2000" dirty="0"/>
              <a:t>Utility(</a:t>
            </a:r>
            <a:r>
              <a:rPr lang="en-US" sz="2000" i="1" dirty="0"/>
              <a:t>node</a:t>
            </a:r>
            <a:r>
              <a:rPr lang="en-US" sz="2000" dirty="0"/>
              <a:t>) if Terminal-Test(</a:t>
            </a:r>
            <a:r>
              <a:rPr lang="en-US" sz="2000" i="1" dirty="0"/>
              <a:t>node)</a:t>
            </a:r>
            <a:r>
              <a:rPr lang="en-US" sz="2000" dirty="0"/>
              <a:t> is True</a:t>
            </a:r>
          </a:p>
          <a:p>
            <a:pPr lvl="1">
              <a:buFont typeface="Wingdings" panose="05000000000000000000" pitchFamily="2" charset="2"/>
              <a:buChar char="§"/>
            </a:pPr>
            <a:r>
              <a:rPr lang="en-US" sz="2000" dirty="0" err="1"/>
              <a:t>max</a:t>
            </a:r>
            <a:r>
              <a:rPr lang="en-US" sz="2000" i="1" baseline="-25000" dirty="0" err="1"/>
              <a:t>action</a:t>
            </a:r>
            <a:r>
              <a:rPr lang="en-US" sz="2000" dirty="0"/>
              <a:t> </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if </a:t>
            </a:r>
            <a:r>
              <a:rPr lang="en-US" sz="2000" i="1" dirty="0"/>
              <a:t>player</a:t>
            </a:r>
            <a:r>
              <a:rPr lang="en-US" sz="2000" dirty="0"/>
              <a:t> = MAX</a:t>
            </a:r>
          </a:p>
          <a:p>
            <a:pPr lvl="1">
              <a:buFont typeface="Wingdings" panose="05000000000000000000" pitchFamily="2" charset="2"/>
              <a:buChar char="§"/>
            </a:pPr>
            <a:r>
              <a:rPr lang="en-US" sz="2000" dirty="0" err="1"/>
              <a:t>min</a:t>
            </a:r>
            <a:r>
              <a:rPr lang="en-US" sz="2000" i="1" baseline="-25000" dirty="0" err="1"/>
              <a:t>action</a:t>
            </a:r>
            <a:r>
              <a:rPr lang="en-US" sz="2000" dirty="0"/>
              <a:t>  </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if </a:t>
            </a:r>
            <a:r>
              <a:rPr lang="en-US" sz="2000" i="1" dirty="0"/>
              <a:t>player</a:t>
            </a:r>
            <a:r>
              <a:rPr lang="en-US" sz="2000" dirty="0"/>
              <a:t> = MIN</a:t>
            </a:r>
          </a:p>
        </p:txBody>
      </p:sp>
      <p:sp>
        <p:nvSpPr>
          <p:cNvPr id="3" name="文本框 2"/>
          <p:cNvSpPr txBox="1"/>
          <p:nvPr/>
        </p:nvSpPr>
        <p:spPr>
          <a:xfrm>
            <a:off x="4890568" y="5103167"/>
            <a:ext cx="3190297" cy="400110"/>
          </a:xfrm>
          <a:prstGeom prst="rect">
            <a:avLst/>
          </a:prstGeom>
          <a:noFill/>
        </p:spPr>
        <p:txBody>
          <a:bodyPr wrap="none" rtlCol="0">
            <a:spAutoFit/>
          </a:bodyPr>
          <a:lstStyle/>
          <a:p>
            <a:r>
              <a:rPr kumimoji="1" lang="zh-CN" altLang="en-US" sz="2000" dirty="0"/>
              <a:t>应如何修改</a:t>
            </a:r>
            <a:r>
              <a:rPr kumimoji="1" lang="en-US" altLang="zh-CN" sz="2000" dirty="0" err="1"/>
              <a:t>Minimax</a:t>
            </a:r>
            <a:r>
              <a:rPr kumimoji="1" lang="zh-CN" altLang="en-US" sz="2000" dirty="0"/>
              <a:t>算法？</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启发式 </a:t>
            </a:r>
            <a:r>
              <a:rPr kumimoji="1" lang="en-US" altLang="zh-CN" dirty="0" err="1"/>
              <a:t>Minmax</a:t>
            </a:r>
            <a:r>
              <a:rPr kumimoji="1" lang="en-US" altLang="zh-CN" dirty="0"/>
              <a:t> (H-</a:t>
            </a:r>
            <a:r>
              <a:rPr kumimoji="1" lang="en-US" altLang="zh-CN" dirty="0" err="1"/>
              <a:t>Minimax</a:t>
            </a:r>
            <a:r>
              <a:rPr kumimoji="1" lang="en-US" altLang="zh-CN" dirty="0"/>
              <a:t>)</a:t>
            </a:r>
            <a:endParaRPr kumimoji="1" lang="zh-CN" altLang="en-US" dirty="0"/>
          </a:p>
        </p:txBody>
      </p:sp>
      <p:sp>
        <p:nvSpPr>
          <p:cNvPr id="3" name="内容占位符 2"/>
          <p:cNvSpPr>
            <a:spLocks noGrp="1"/>
          </p:cNvSpPr>
          <p:nvPr>
            <p:ph idx="1"/>
          </p:nvPr>
        </p:nvSpPr>
        <p:spPr/>
        <p:txBody>
          <a:bodyPr>
            <a:normAutofit/>
          </a:bodyPr>
          <a:lstStyle/>
          <a:p>
            <a:r>
              <a:rPr kumimoji="1" lang="zh-CN" altLang="en-US" sz="2800" dirty="0"/>
              <a:t>通过使用截断测试 </a:t>
            </a:r>
            <a:r>
              <a:rPr kumimoji="1" lang="en-US" altLang="zh-CN" sz="2800" dirty="0"/>
              <a:t>(cutoff test)</a:t>
            </a:r>
            <a:r>
              <a:rPr kumimoji="1" lang="zh-CN" altLang="en-US" sz="2800" dirty="0"/>
              <a:t>，在尚未到达叶子结点时，即停止搜索，并返回一个启发式的</a:t>
            </a:r>
            <a:r>
              <a:rPr kumimoji="1" lang="en-US" altLang="zh-CN" sz="2800" dirty="0" err="1"/>
              <a:t>Minmax</a:t>
            </a:r>
            <a:r>
              <a:rPr kumimoji="1" lang="zh-CN" altLang="en-US" sz="2800" dirty="0"/>
              <a:t>值</a:t>
            </a:r>
          </a:p>
        </p:txBody>
      </p:sp>
      <p:sp>
        <p:nvSpPr>
          <p:cNvPr id="4" name="幻灯片编号占位符 3"/>
          <p:cNvSpPr>
            <a:spLocks noGrp="1"/>
          </p:cNvSpPr>
          <p:nvPr>
            <p:ph type="sldNum" sz="quarter" idx="12"/>
          </p:nvPr>
        </p:nvSpPr>
        <p:spPr/>
        <p:txBody>
          <a:bodyPr/>
          <a:lstStyle/>
          <a:p>
            <a:fld id="{B6F15528-21DE-4FAA-801E-634DDDAF4B2B}" type="slidenum">
              <a:rPr lang="en-US" smtClean="0"/>
              <a:t>43</a:t>
            </a:fld>
            <a:endParaRPr lang="en-US"/>
          </a:p>
        </p:txBody>
      </p:sp>
      <p:sp>
        <p:nvSpPr>
          <p:cNvPr id="5" name="Content Placeholder 2"/>
          <p:cNvSpPr txBox="1"/>
          <p:nvPr/>
        </p:nvSpPr>
        <p:spPr>
          <a:xfrm>
            <a:off x="228600" y="3863181"/>
            <a:ext cx="8915400" cy="1295400"/>
          </a:xfrm>
          <a:prstGeom prst="rect">
            <a:avLst/>
          </a:prstGeom>
        </p:spPr>
        <p:txBody>
          <a:bodyPr vert="horz" rtlCol="0">
            <a:normAutofit fontScale="92500" lnSpcReduction="10000"/>
          </a:bodyPr>
          <a:lst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a:lstStyle>
          <a:p>
            <a:pPr marL="0" indent="0">
              <a:buNone/>
            </a:pPr>
            <a:r>
              <a:rPr lang="en-US" sz="1800" b="1" dirty="0">
                <a:solidFill>
                  <a:srgbClr val="CC0099"/>
                </a:solidFill>
              </a:rPr>
              <a:t>     H-</a:t>
            </a:r>
            <a:r>
              <a:rPr lang="en-US" sz="1800" b="1" dirty="0" err="1">
                <a:solidFill>
                  <a:srgbClr val="CC0099"/>
                </a:solidFill>
              </a:rPr>
              <a:t>Minimax</a:t>
            </a:r>
            <a:r>
              <a:rPr lang="en-US" sz="1800" dirty="0"/>
              <a:t>(</a:t>
            </a:r>
            <a:r>
              <a:rPr lang="en-US" sz="1800" i="1" dirty="0"/>
              <a:t>node, d</a:t>
            </a:r>
            <a:r>
              <a:rPr lang="en-US" sz="1800" dirty="0"/>
              <a:t>) = </a:t>
            </a:r>
          </a:p>
          <a:p>
            <a:pPr lvl="1">
              <a:buFont typeface="Wingdings" panose="05000000000000000000" pitchFamily="2" charset="2"/>
              <a:buChar char="§"/>
            </a:pPr>
            <a:r>
              <a:rPr lang="en-US" sz="2000" dirty="0" err="1"/>
              <a:t>Eval</a:t>
            </a:r>
            <a:r>
              <a:rPr lang="en-US" sz="2000" dirty="0"/>
              <a:t>(</a:t>
            </a:r>
            <a:r>
              <a:rPr lang="en-US" sz="2000" i="1" dirty="0"/>
              <a:t>node</a:t>
            </a:r>
            <a:r>
              <a:rPr lang="en-US" sz="2000" dirty="0"/>
              <a:t>)                                                                         if Cutoff-Test(</a:t>
            </a:r>
            <a:r>
              <a:rPr lang="en-US" sz="2000" i="1" dirty="0"/>
              <a:t>node, d)</a:t>
            </a:r>
            <a:r>
              <a:rPr lang="en-US" sz="2000" dirty="0"/>
              <a:t> is True</a:t>
            </a:r>
          </a:p>
          <a:p>
            <a:pPr lvl="1">
              <a:buFont typeface="Wingdings" panose="05000000000000000000" pitchFamily="2" charset="2"/>
              <a:buChar char="§"/>
            </a:pPr>
            <a:r>
              <a:rPr lang="en-US" sz="2000" dirty="0" err="1"/>
              <a:t>max</a:t>
            </a:r>
            <a:r>
              <a:rPr lang="en-US" sz="2000" i="1" baseline="-25000" dirty="0" err="1"/>
              <a:t>action</a:t>
            </a:r>
            <a:r>
              <a:rPr lang="en-US" sz="2000" dirty="0"/>
              <a:t> </a:t>
            </a:r>
            <a:r>
              <a:rPr lang="en-US" sz="2000" b="1" dirty="0">
                <a:solidFill>
                  <a:srgbClr val="CC0099"/>
                </a:solidFill>
              </a:rPr>
              <a:t>H-</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d + 1)   if </a:t>
            </a:r>
            <a:r>
              <a:rPr lang="en-US" sz="2000" i="1" dirty="0"/>
              <a:t>player</a:t>
            </a:r>
            <a:r>
              <a:rPr lang="en-US" sz="2000" dirty="0"/>
              <a:t> = MAX</a:t>
            </a:r>
          </a:p>
          <a:p>
            <a:pPr lvl="1">
              <a:buFont typeface="Wingdings" panose="05000000000000000000" pitchFamily="2" charset="2"/>
              <a:buChar char="§"/>
            </a:pPr>
            <a:r>
              <a:rPr lang="en-US" sz="2000" dirty="0" err="1"/>
              <a:t>min</a:t>
            </a:r>
            <a:r>
              <a:rPr lang="en-US" sz="2000" i="1" baseline="-25000" dirty="0" err="1"/>
              <a:t>action</a:t>
            </a:r>
            <a:r>
              <a:rPr lang="en-US" sz="2000" dirty="0"/>
              <a:t>  </a:t>
            </a:r>
            <a:r>
              <a:rPr lang="en-US" sz="2000" b="1" dirty="0">
                <a:solidFill>
                  <a:srgbClr val="CC0099"/>
                </a:solidFill>
              </a:rPr>
              <a:t>H-</a:t>
            </a:r>
            <a:r>
              <a:rPr lang="en-US" sz="2000" b="1" dirty="0" err="1">
                <a:solidFill>
                  <a:srgbClr val="CC0099"/>
                </a:solidFill>
              </a:rPr>
              <a:t>Minimax</a:t>
            </a:r>
            <a:r>
              <a:rPr lang="en-US" sz="2000" dirty="0"/>
              <a:t>(</a:t>
            </a:r>
            <a:r>
              <a:rPr lang="en-US" sz="2000" dirty="0" err="1"/>
              <a:t>Succ</a:t>
            </a:r>
            <a:r>
              <a:rPr lang="en-US" sz="2000" dirty="0"/>
              <a:t>(</a:t>
            </a:r>
            <a:r>
              <a:rPr lang="en-US" sz="2000" i="1" dirty="0"/>
              <a:t>node, action</a:t>
            </a:r>
            <a:r>
              <a:rPr lang="en-US" sz="2000" dirty="0"/>
              <a:t>), d + 1)   if </a:t>
            </a:r>
            <a:r>
              <a:rPr lang="en-US" sz="2000" i="1" dirty="0"/>
              <a:t>player</a:t>
            </a:r>
            <a:r>
              <a:rPr lang="en-US" sz="2000" dirty="0"/>
              <a:t> = MIN</a:t>
            </a:r>
          </a:p>
        </p:txBody>
      </p:sp>
      <p:sp>
        <p:nvSpPr>
          <p:cNvPr id="6" name="文本框 5"/>
          <p:cNvSpPr txBox="1"/>
          <p:nvPr/>
        </p:nvSpPr>
        <p:spPr>
          <a:xfrm>
            <a:off x="838200" y="5700988"/>
            <a:ext cx="4176464" cy="707886"/>
          </a:xfrm>
          <a:prstGeom prst="rect">
            <a:avLst/>
          </a:prstGeom>
          <a:noFill/>
        </p:spPr>
        <p:txBody>
          <a:bodyPr wrap="none" rtlCol="0">
            <a:spAutoFit/>
          </a:bodyPr>
          <a:lstStyle/>
          <a:p>
            <a:r>
              <a:rPr kumimoji="1" lang="en-US" altLang="zh-CN" sz="2000" dirty="0"/>
              <a:t>d: </a:t>
            </a:r>
            <a:r>
              <a:rPr kumimoji="1" lang="zh-CN" altLang="en-US" sz="2000" dirty="0"/>
              <a:t>当前搜索深度</a:t>
            </a:r>
          </a:p>
          <a:p>
            <a:r>
              <a:rPr kumimoji="1" lang="en-US" altLang="zh-CN" sz="2000" dirty="0" err="1"/>
              <a:t>Eval</a:t>
            </a:r>
            <a:r>
              <a:rPr kumimoji="1" lang="en-US" altLang="zh-CN" sz="2000" dirty="0"/>
              <a:t>: </a:t>
            </a:r>
            <a:r>
              <a:rPr kumimoji="1" lang="zh-CN" altLang="en-US" sz="2000" dirty="0"/>
              <a:t>评估函数 </a:t>
            </a:r>
            <a:r>
              <a:rPr kumimoji="1" lang="en-US" altLang="zh-CN" sz="2000" dirty="0"/>
              <a:t>(Evaluation function)</a:t>
            </a:r>
            <a:endParaRPr kumimoji="1" lang="zh-CN" altLang="en-US" sz="20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00150" y="381000"/>
            <a:ext cx="7200900" cy="857250"/>
          </a:xfrm>
        </p:spPr>
        <p:txBody>
          <a:bodyPr>
            <a:normAutofit/>
          </a:bodyPr>
          <a:lstStyle/>
          <a:p>
            <a:r>
              <a:rPr lang="zh-CN" altLang="en-US" dirty="0"/>
              <a:t>评估函数</a:t>
            </a:r>
            <a:r>
              <a:rPr lang="en-US" altLang="zh-CN" dirty="0"/>
              <a:t> </a:t>
            </a:r>
            <a:r>
              <a:rPr lang="en-US" altLang="zh-CN" dirty="0" err="1"/>
              <a:t>Eval</a:t>
            </a:r>
            <a:endParaRPr lang="en-US" dirty="0"/>
          </a:p>
        </p:txBody>
      </p:sp>
      <p:sp>
        <p:nvSpPr>
          <p:cNvPr id="15363" name="Rectangle 3"/>
          <p:cNvSpPr>
            <a:spLocks noGrp="1" noChangeArrowheads="1"/>
          </p:cNvSpPr>
          <p:nvPr>
            <p:ph type="body" idx="1"/>
          </p:nvPr>
        </p:nvSpPr>
        <p:spPr>
          <a:xfrm>
            <a:off x="685800" y="1600200"/>
            <a:ext cx="7639050" cy="3581400"/>
          </a:xfrm>
        </p:spPr>
        <p:txBody>
          <a:bodyPr>
            <a:normAutofit/>
          </a:bodyPr>
          <a:lstStyle/>
          <a:p>
            <a:r>
              <a:rPr lang="zh-CN" altLang="en-US" sz="3000" dirty="0"/>
              <a:t>评估函数给出了在当前状态</a:t>
            </a:r>
            <a:r>
              <a:rPr lang="en-US" altLang="zh-CN" sz="3000" dirty="0"/>
              <a:t>s</a:t>
            </a:r>
            <a:r>
              <a:rPr lang="zh-CN" altLang="en-US" sz="3000" dirty="0"/>
              <a:t>下，玩家</a:t>
            </a:r>
            <a:r>
              <a:rPr lang="en-US" altLang="zh-CN" sz="3000" dirty="0"/>
              <a:t>p</a:t>
            </a:r>
            <a:r>
              <a:rPr lang="zh-CN" altLang="en-US" sz="3000" dirty="0"/>
              <a:t>能从游戏中期望获得的效用值</a:t>
            </a:r>
            <a:r>
              <a:rPr lang="en-US" altLang="zh-CN" sz="3000" dirty="0"/>
              <a:t>Utility(s, p)</a:t>
            </a:r>
            <a:r>
              <a:rPr lang="zh-CN" altLang="en-US" sz="3000" dirty="0"/>
              <a:t>的一个估计值</a:t>
            </a:r>
          </a:p>
          <a:p>
            <a:r>
              <a:rPr lang="zh-CN" altLang="en-US" sz="3000" dirty="0"/>
              <a:t>评估函数的设计原则</a:t>
            </a:r>
          </a:p>
          <a:p>
            <a:endParaRPr lang="en-US" sz="1800" dirty="0"/>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2831" y="3177790"/>
            <a:ext cx="3661169" cy="3379011"/>
          </a:xfrm>
          <a:prstGeom prst="rect">
            <a:avLst/>
          </a:prstGeom>
        </p:spPr>
      </p:pic>
      <p:sp>
        <p:nvSpPr>
          <p:cNvPr id="3" name="文本框 2"/>
          <p:cNvSpPr txBox="1"/>
          <p:nvPr/>
        </p:nvSpPr>
        <p:spPr>
          <a:xfrm>
            <a:off x="5482830" y="2762291"/>
            <a:ext cx="3280169" cy="400110"/>
          </a:xfrm>
          <a:prstGeom prst="rect">
            <a:avLst/>
          </a:prstGeom>
          <a:noFill/>
        </p:spPr>
        <p:txBody>
          <a:bodyPr wrap="square" rtlCol="0">
            <a:spAutoFit/>
          </a:bodyPr>
          <a:lstStyle/>
          <a:p>
            <a:r>
              <a:rPr kumimoji="1" lang="zh-CN" altLang="en-US" sz="2000" dirty="0"/>
              <a:t>黑棋比白棋多了</a:t>
            </a:r>
            <a:r>
              <a:rPr kumimoji="1" lang="en-US" altLang="zh-CN" sz="2000" dirty="0"/>
              <a:t>1</a:t>
            </a:r>
            <a:r>
              <a:rPr kumimoji="1" lang="zh-CN" altLang="en-US" sz="2000" dirty="0"/>
              <a:t>马和</a:t>
            </a:r>
            <a:r>
              <a:rPr kumimoji="1" lang="en-US" altLang="zh-CN" sz="2000" dirty="0"/>
              <a:t>2</a:t>
            </a:r>
            <a:r>
              <a:rPr kumimoji="1" lang="zh-CN" altLang="en-US" sz="2000" dirty="0"/>
              <a:t>兵</a:t>
            </a:r>
          </a:p>
        </p:txBody>
      </p:sp>
      <p:sp>
        <p:nvSpPr>
          <p:cNvPr id="4" name="矩形 3"/>
          <p:cNvSpPr/>
          <p:nvPr/>
        </p:nvSpPr>
        <p:spPr>
          <a:xfrm>
            <a:off x="381000" y="3810000"/>
            <a:ext cx="4800600" cy="2246769"/>
          </a:xfrm>
          <a:prstGeom prst="rect">
            <a:avLst/>
          </a:prstGeom>
        </p:spPr>
        <p:txBody>
          <a:bodyPr wrap="square">
            <a:spAutoFit/>
          </a:bodyPr>
          <a:lstStyle/>
          <a:p>
            <a:pPr marL="914400" lvl="1" indent="-457200">
              <a:buAutoNum type="arabicPeriod"/>
            </a:pPr>
            <a:r>
              <a:rPr lang="zh-CN" altLang="en-US" sz="2000" dirty="0"/>
              <a:t>用</a:t>
            </a:r>
            <a:r>
              <a:rPr lang="en-US" altLang="zh-CN" sz="2000" dirty="0" err="1"/>
              <a:t>Eval</a:t>
            </a:r>
            <a:r>
              <a:rPr lang="zh-CN" altLang="en-US" sz="2000" dirty="0"/>
              <a:t>对所有结束状态排序，可以得到与</a:t>
            </a:r>
            <a:r>
              <a:rPr lang="en-US" altLang="zh-CN" sz="2000" dirty="0"/>
              <a:t>Utility</a:t>
            </a:r>
            <a:r>
              <a:rPr lang="zh-CN" altLang="en-US" sz="2000" dirty="0"/>
              <a:t>一样的排序结果</a:t>
            </a:r>
          </a:p>
          <a:p>
            <a:pPr marL="914400" lvl="1" indent="-457200">
              <a:buAutoNum type="arabicPeriod"/>
            </a:pPr>
            <a:r>
              <a:rPr lang="zh-CN" altLang="en-US" sz="2000" dirty="0"/>
              <a:t>计算量小（我们之所以用</a:t>
            </a:r>
            <a:r>
              <a:rPr lang="en-US" altLang="zh-CN" sz="2000" dirty="0" err="1"/>
              <a:t>Eval</a:t>
            </a:r>
            <a:r>
              <a:rPr lang="zh-CN" altLang="en-US" sz="2000" dirty="0"/>
              <a:t>就是减少计算量）</a:t>
            </a:r>
          </a:p>
          <a:p>
            <a:pPr marL="914400" lvl="1" indent="-457200">
              <a:buAutoNum type="arabicPeriod"/>
            </a:pPr>
            <a:r>
              <a:rPr lang="zh-CN" altLang="en-US" sz="2000" dirty="0"/>
              <a:t>对于非结束状态，</a:t>
            </a:r>
            <a:r>
              <a:rPr lang="en-US" altLang="zh-CN" sz="2000" dirty="0" err="1"/>
              <a:t>Eval</a:t>
            </a:r>
            <a:r>
              <a:rPr lang="zh-CN" altLang="en-US" sz="2000" dirty="0"/>
              <a:t>给出的估计值与从该状态出发赢得游戏的概率强相关</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00150" y="381000"/>
            <a:ext cx="7200900" cy="857250"/>
          </a:xfrm>
        </p:spPr>
        <p:txBody>
          <a:bodyPr>
            <a:normAutofit/>
          </a:bodyPr>
          <a:lstStyle/>
          <a:p>
            <a:r>
              <a:rPr lang="zh-CN" altLang="en-US" dirty="0"/>
              <a:t>评估函数</a:t>
            </a:r>
            <a:r>
              <a:rPr lang="en-US" altLang="zh-CN" dirty="0"/>
              <a:t> </a:t>
            </a:r>
            <a:r>
              <a:rPr lang="en-US" altLang="zh-CN" dirty="0" err="1"/>
              <a:t>Eval</a:t>
            </a:r>
            <a:endParaRPr lang="en-US" dirty="0"/>
          </a:p>
        </p:txBody>
      </p:sp>
      <p:sp>
        <p:nvSpPr>
          <p:cNvPr id="15363" name="Rectangle 3"/>
          <p:cNvSpPr>
            <a:spLocks noGrp="1" noChangeArrowheads="1"/>
          </p:cNvSpPr>
          <p:nvPr>
            <p:ph type="body" idx="1"/>
          </p:nvPr>
        </p:nvSpPr>
        <p:spPr>
          <a:xfrm>
            <a:off x="685800" y="1600200"/>
            <a:ext cx="8305800" cy="4572000"/>
          </a:xfrm>
        </p:spPr>
        <p:txBody>
          <a:bodyPr>
            <a:normAutofit/>
          </a:bodyPr>
          <a:lstStyle/>
          <a:p>
            <a:r>
              <a:rPr lang="zh-CN" altLang="en-US" sz="3000" dirty="0"/>
              <a:t>一种常用的方案是各种特征的线性加权组合</a:t>
            </a:r>
            <a:endParaRPr lang="en-US" sz="1800" dirty="0"/>
          </a:p>
          <a:p>
            <a:pPr algn="ctr">
              <a:buFontTx/>
              <a:buNone/>
            </a:pPr>
            <a:r>
              <a:rPr lang="en-US" sz="2400" b="1" i="1" dirty="0" err="1">
                <a:solidFill>
                  <a:srgbClr val="CC0099"/>
                </a:solidFill>
              </a:rPr>
              <a:t>Eval</a:t>
            </a:r>
            <a:r>
              <a:rPr lang="en-US" sz="2400" b="1" i="1" dirty="0">
                <a:solidFill>
                  <a:srgbClr val="CC0099"/>
                </a:solidFill>
              </a:rPr>
              <a:t>(s) = w</a:t>
            </a:r>
            <a:r>
              <a:rPr lang="en-US" sz="2400" b="1" i="1" baseline="-25000" dirty="0">
                <a:solidFill>
                  <a:srgbClr val="CC0099"/>
                </a:solidFill>
              </a:rPr>
              <a:t>1 </a:t>
            </a:r>
            <a:r>
              <a:rPr lang="en-US" sz="2400" b="1" i="1" dirty="0">
                <a:solidFill>
                  <a:srgbClr val="CC0099"/>
                </a:solidFill>
              </a:rPr>
              <a:t>f</a:t>
            </a:r>
            <a:r>
              <a:rPr lang="en-US" sz="2400" b="1" i="1" baseline="-25000" dirty="0">
                <a:solidFill>
                  <a:srgbClr val="CC0099"/>
                </a:solidFill>
              </a:rPr>
              <a:t>1</a:t>
            </a:r>
            <a:r>
              <a:rPr lang="en-US" sz="2400" b="1" i="1" dirty="0">
                <a:solidFill>
                  <a:srgbClr val="CC0099"/>
                </a:solidFill>
              </a:rPr>
              <a:t>(s) + w</a:t>
            </a:r>
            <a:r>
              <a:rPr lang="en-US" sz="2400" b="1" i="1" baseline="-25000" dirty="0">
                <a:solidFill>
                  <a:srgbClr val="CC0099"/>
                </a:solidFill>
              </a:rPr>
              <a:t>2 </a:t>
            </a:r>
            <a:r>
              <a:rPr lang="en-US" sz="2400" b="1" i="1" dirty="0">
                <a:solidFill>
                  <a:srgbClr val="CC0099"/>
                </a:solidFill>
              </a:rPr>
              <a:t>f</a:t>
            </a:r>
            <a:r>
              <a:rPr lang="en-US" sz="2400" b="1" i="1" baseline="-25000" dirty="0">
                <a:solidFill>
                  <a:srgbClr val="CC0099"/>
                </a:solidFill>
              </a:rPr>
              <a:t>2</a:t>
            </a:r>
            <a:r>
              <a:rPr lang="en-US" sz="2400" b="1" i="1" dirty="0">
                <a:solidFill>
                  <a:srgbClr val="CC0099"/>
                </a:solidFill>
              </a:rPr>
              <a:t>(s) + … + </a:t>
            </a:r>
            <a:r>
              <a:rPr lang="en-US" sz="2400" b="1" i="1" dirty="0" err="1">
                <a:solidFill>
                  <a:srgbClr val="CC0099"/>
                </a:solidFill>
              </a:rPr>
              <a:t>w</a:t>
            </a:r>
            <a:r>
              <a:rPr lang="en-US" sz="2400" b="1" i="1" baseline="-25000" dirty="0" err="1">
                <a:solidFill>
                  <a:srgbClr val="CC0099"/>
                </a:solidFill>
              </a:rPr>
              <a:t>n</a:t>
            </a:r>
            <a:r>
              <a:rPr lang="en-US" sz="2400" b="1" i="1" baseline="-25000" dirty="0">
                <a:solidFill>
                  <a:srgbClr val="CC0099"/>
                </a:solidFill>
              </a:rPr>
              <a:t> </a:t>
            </a:r>
            <a:r>
              <a:rPr lang="en-US" sz="2400" b="1" i="1" dirty="0">
                <a:solidFill>
                  <a:srgbClr val="CC0099"/>
                </a:solidFill>
              </a:rPr>
              <a:t>f</a:t>
            </a:r>
            <a:r>
              <a:rPr lang="en-US" sz="2400" b="1" i="1" baseline="-25000" dirty="0">
                <a:solidFill>
                  <a:srgbClr val="CC0099"/>
                </a:solidFill>
              </a:rPr>
              <a:t>n</a:t>
            </a:r>
            <a:r>
              <a:rPr lang="en-US" sz="2400" b="1" i="1" dirty="0">
                <a:solidFill>
                  <a:srgbClr val="CC0099"/>
                </a:solidFill>
              </a:rPr>
              <a:t>(s)</a:t>
            </a:r>
            <a:r>
              <a:rPr lang="en-US" sz="2400" dirty="0"/>
              <a:t/>
            </a:r>
            <a:br>
              <a:rPr lang="en-US" sz="2400" dirty="0"/>
            </a:br>
            <a:endParaRPr lang="en-US" sz="800" dirty="0"/>
          </a:p>
          <a:p>
            <a:r>
              <a:rPr lang="zh-CN" altLang="en-US" sz="2800" dirty="0"/>
              <a:t>对于象棋</a:t>
            </a:r>
          </a:p>
          <a:p>
            <a:pPr lvl="1"/>
            <a:r>
              <a:rPr lang="en-US" sz="2400" b="1" i="1" dirty="0" err="1">
                <a:solidFill>
                  <a:srgbClr val="CC0099"/>
                </a:solidFill>
              </a:rPr>
              <a:t>w</a:t>
            </a:r>
            <a:r>
              <a:rPr lang="en-US" sz="2400" b="1" i="1" baseline="-25000" dirty="0" err="1">
                <a:solidFill>
                  <a:srgbClr val="CC0099"/>
                </a:solidFill>
              </a:rPr>
              <a:t>k</a:t>
            </a:r>
            <a:r>
              <a:rPr lang="en-US" sz="2400" dirty="0"/>
              <a:t> </a:t>
            </a:r>
            <a:r>
              <a:rPr lang="zh-CN" altLang="en-US" sz="2400" dirty="0"/>
              <a:t>可以是每个棋子的物料价值</a:t>
            </a:r>
            <a:r>
              <a:rPr lang="en-US" altLang="zh-CN" sz="2400" dirty="0"/>
              <a:t> (</a:t>
            </a:r>
            <a:r>
              <a:rPr lang="en-US" sz="2400" b="1" dirty="0"/>
              <a:t>material value)</a:t>
            </a:r>
            <a:r>
              <a:rPr lang="en-US" sz="2400" dirty="0"/>
              <a:t> </a:t>
            </a:r>
          </a:p>
          <a:p>
            <a:pPr lvl="2"/>
            <a:r>
              <a:rPr lang="en-US" sz="2000" dirty="0"/>
              <a:t>pawn</a:t>
            </a:r>
            <a:r>
              <a:rPr lang="zh-CN" altLang="en-US" sz="2000" dirty="0"/>
              <a:t> </a:t>
            </a:r>
            <a:r>
              <a:rPr lang="en-US" altLang="zh-CN" sz="2000" dirty="0"/>
              <a:t>(</a:t>
            </a:r>
            <a:r>
              <a:rPr lang="zh-CN" altLang="en-US" sz="2000" dirty="0"/>
              <a:t>兵</a:t>
            </a:r>
            <a:r>
              <a:rPr lang="en-US" altLang="zh-CN" sz="2000" dirty="0"/>
              <a:t>)</a:t>
            </a:r>
            <a:r>
              <a:rPr lang="en-US" sz="2000" dirty="0"/>
              <a:t> = 1, knight </a:t>
            </a:r>
            <a:r>
              <a:rPr lang="en-US" altLang="zh-CN" sz="2000" dirty="0"/>
              <a:t>(</a:t>
            </a:r>
            <a:r>
              <a:rPr lang="zh-CN" altLang="en-US" sz="2000" dirty="0"/>
              <a:t>马</a:t>
            </a:r>
            <a:r>
              <a:rPr lang="en-US" altLang="zh-CN" sz="2000" dirty="0"/>
              <a:t>) </a:t>
            </a:r>
            <a:r>
              <a:rPr lang="en-US" sz="2000" dirty="0"/>
              <a:t>= 3, rook </a:t>
            </a:r>
            <a:r>
              <a:rPr lang="en-US" altLang="zh-CN" sz="2000" dirty="0"/>
              <a:t>(</a:t>
            </a:r>
            <a:r>
              <a:rPr lang="zh-CN" altLang="en-US" sz="2000" dirty="0"/>
              <a:t>车</a:t>
            </a:r>
            <a:r>
              <a:rPr lang="en-US" altLang="zh-CN" sz="2000" dirty="0"/>
              <a:t>) </a:t>
            </a:r>
            <a:r>
              <a:rPr lang="en-US" sz="2000" dirty="0"/>
              <a:t>= 5, queen</a:t>
            </a:r>
            <a:r>
              <a:rPr lang="en-US" altLang="zh-CN" sz="2000" dirty="0"/>
              <a:t> (</a:t>
            </a:r>
            <a:r>
              <a:rPr lang="zh-CN" altLang="en-US" sz="2000" dirty="0"/>
              <a:t>皇后</a:t>
            </a:r>
            <a:r>
              <a:rPr lang="en-US" altLang="zh-CN" sz="2000" dirty="0"/>
              <a:t>)</a:t>
            </a:r>
            <a:r>
              <a:rPr lang="en-US" sz="2000" dirty="0"/>
              <a:t> = 9</a:t>
            </a:r>
          </a:p>
          <a:p>
            <a:pPr lvl="1"/>
            <a:r>
              <a:rPr lang="en-US" sz="2400" dirty="0"/>
              <a:t> </a:t>
            </a:r>
            <a:r>
              <a:rPr lang="en-US" sz="2400" b="1" i="1" dirty="0" err="1">
                <a:solidFill>
                  <a:srgbClr val="CC0099"/>
                </a:solidFill>
              </a:rPr>
              <a:t>f</a:t>
            </a:r>
            <a:r>
              <a:rPr lang="en-US" sz="2400" b="1" i="1" baseline="-25000" dirty="0" err="1">
                <a:solidFill>
                  <a:srgbClr val="CC0099"/>
                </a:solidFill>
              </a:rPr>
              <a:t>k</a:t>
            </a:r>
            <a:r>
              <a:rPr lang="en-US" sz="2400" b="1" i="1" dirty="0">
                <a:solidFill>
                  <a:srgbClr val="CC0099"/>
                </a:solidFill>
              </a:rPr>
              <a:t>(s)</a:t>
            </a:r>
            <a:r>
              <a:rPr lang="en-US" sz="2400" dirty="0"/>
              <a:t> </a:t>
            </a:r>
            <a:r>
              <a:rPr lang="zh-CN" altLang="en-US" sz="2400" dirty="0"/>
              <a:t> 表示该棋子（在状态</a:t>
            </a:r>
            <a:r>
              <a:rPr lang="en-US" altLang="zh-CN" sz="2400" dirty="0"/>
              <a:t>s</a:t>
            </a:r>
            <a:r>
              <a:rPr lang="zh-CN" altLang="en-US" sz="2400" dirty="0"/>
              <a:t>下的）权重</a:t>
            </a:r>
            <a:endParaRPr lang="en-US" altLang="zh-CN" sz="2400" dirty="0"/>
          </a:p>
          <a:p>
            <a:pPr lvl="2"/>
            <a:r>
              <a:rPr lang="zh-CN" altLang="en-US" sz="2000" dirty="0"/>
              <a:t>比如</a:t>
            </a:r>
            <a:r>
              <a:rPr lang="en-US" altLang="zh-CN" sz="2000" dirty="0"/>
              <a:t> bishop(</a:t>
            </a:r>
            <a:r>
              <a:rPr lang="zh-CN" altLang="en-US" sz="2000" dirty="0"/>
              <a:t>象）在残局</a:t>
            </a:r>
            <a:r>
              <a:rPr lang="en-US" altLang="zh-CN" sz="2000" dirty="0"/>
              <a:t> </a:t>
            </a:r>
            <a:r>
              <a:rPr lang="zh-CN" altLang="en-US" sz="2000" dirty="0"/>
              <a:t>中更重要</a:t>
            </a:r>
            <a:endParaRPr lang="en-US" sz="2000" dirty="0"/>
          </a:p>
          <a:p>
            <a:endParaRPr lang="zh-CN" altLang="en-US" sz="2400" dirty="0"/>
          </a:p>
          <a:p>
            <a:r>
              <a:rPr lang="zh-CN" altLang="en-US" sz="2400" dirty="0"/>
              <a:t>评估函数可以是经验设计，也可以通过机器学习的方式得到</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6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6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More on </a:t>
            </a:r>
            <a:r>
              <a:rPr lang="zh-CN" altLang="en-US" dirty="0"/>
              <a:t>评价函数</a:t>
            </a:r>
          </a:p>
        </p:txBody>
      </p:sp>
      <p:sp>
        <p:nvSpPr>
          <p:cNvPr id="3" name="内容占位符 2"/>
          <p:cNvSpPr>
            <a:spLocks noGrp="1"/>
          </p:cNvSpPr>
          <p:nvPr>
            <p:ph idx="1"/>
          </p:nvPr>
        </p:nvSpPr>
        <p:spPr/>
        <p:txBody>
          <a:bodyPr>
            <a:normAutofit fontScale="85000" lnSpcReduction="10000"/>
          </a:bodyPr>
          <a:lstStyle/>
          <a:p>
            <a:pPr>
              <a:buNone/>
            </a:pPr>
            <a:r>
              <a:rPr lang="en-US" altLang="zh-CN" dirty="0"/>
              <a:t>• </a:t>
            </a:r>
            <a:r>
              <a:rPr lang="zh-CN" altLang="en-US" dirty="0"/>
              <a:t>评价函数评估当前局面配置的好坏</a:t>
            </a:r>
            <a:endParaRPr lang="en-US" altLang="zh-CN" dirty="0"/>
          </a:p>
          <a:p>
            <a:pPr>
              <a:buNone/>
            </a:pPr>
            <a:endParaRPr lang="en-US" altLang="zh-CN" dirty="0"/>
          </a:p>
          <a:p>
            <a:pPr>
              <a:buNone/>
            </a:pPr>
            <a:r>
              <a:rPr lang="en-US" altLang="zh-CN" dirty="0"/>
              <a:t>•</a:t>
            </a:r>
            <a:r>
              <a:rPr lang="zh-CN" altLang="en-US" dirty="0"/>
              <a:t>一个线性的评价函数是关于特征</a:t>
            </a:r>
            <a:r>
              <a:rPr lang="en-US" altLang="zh-CN" dirty="0"/>
              <a:t>f</a:t>
            </a:r>
            <a:r>
              <a:rPr lang="en-US" altLang="zh-CN" baseline="-25000" dirty="0"/>
              <a:t>1</a:t>
            </a:r>
            <a:r>
              <a:rPr lang="en-US" altLang="zh-CN" dirty="0"/>
              <a:t>, f</a:t>
            </a:r>
            <a:r>
              <a:rPr lang="en-US" altLang="zh-CN" baseline="-25000" dirty="0"/>
              <a:t>2</a:t>
            </a:r>
            <a:r>
              <a:rPr lang="en-US" altLang="zh-CN" dirty="0"/>
              <a:t>, f</a:t>
            </a:r>
            <a:r>
              <a:rPr lang="en-US" altLang="zh-CN" baseline="-25000" dirty="0"/>
              <a:t>3</a:t>
            </a:r>
            <a:r>
              <a:rPr lang="zh-CN" altLang="en-US" dirty="0"/>
              <a:t>的加权和</a:t>
            </a:r>
            <a:r>
              <a:rPr lang="en-US" altLang="zh-CN" dirty="0"/>
              <a:t/>
            </a:r>
            <a:br>
              <a:rPr lang="en-US" altLang="zh-CN" dirty="0"/>
            </a:br>
            <a:r>
              <a:rPr lang="en-US" altLang="zh-CN" dirty="0"/>
              <a:t>– More important features get more weight</a:t>
            </a:r>
          </a:p>
          <a:p>
            <a:pPr>
              <a:buNone/>
            </a:pPr>
            <a:endParaRPr lang="en-US" altLang="zh-CN" dirty="0"/>
          </a:p>
          <a:p>
            <a:pPr>
              <a:buNone/>
            </a:pPr>
            <a:r>
              <a:rPr lang="en-US" altLang="zh-CN" dirty="0"/>
              <a:t>• </a:t>
            </a:r>
            <a:r>
              <a:rPr lang="zh-CN" altLang="en-US" dirty="0"/>
              <a:t>对弈的质量直接依赖于评价函数的质量</a:t>
            </a:r>
            <a:endParaRPr lang="en-US" altLang="zh-CN" dirty="0"/>
          </a:p>
          <a:p>
            <a:pPr>
              <a:buNone/>
            </a:pPr>
            <a:endParaRPr lang="en-US" altLang="zh-CN" dirty="0"/>
          </a:p>
          <a:p>
            <a:pPr>
              <a:buNone/>
            </a:pPr>
            <a:r>
              <a:rPr lang="en-US" altLang="zh-CN" dirty="0"/>
              <a:t>• </a:t>
            </a:r>
            <a:r>
              <a:rPr lang="zh-CN" altLang="en-US" dirty="0"/>
              <a:t>为了构建一个好的评价函数，必须</a:t>
            </a:r>
            <a:r>
              <a:rPr lang="en-US" altLang="zh-CN" dirty="0"/>
              <a:t>:</a:t>
            </a:r>
            <a:br>
              <a:rPr lang="en-US" altLang="zh-CN" dirty="0"/>
            </a:br>
            <a:r>
              <a:rPr lang="en-US" altLang="zh-CN" dirty="0"/>
              <a:t>–</a:t>
            </a:r>
            <a:r>
              <a:rPr lang="zh-CN" altLang="en-US" dirty="0"/>
              <a:t>利用行业知识提取好的特征</a:t>
            </a:r>
            <a:r>
              <a:rPr lang="en-US" altLang="zh-CN" dirty="0"/>
              <a:t/>
            </a:r>
            <a:br>
              <a:rPr lang="en-US" altLang="zh-CN" dirty="0"/>
            </a:br>
            <a:r>
              <a:rPr lang="en-US" altLang="zh-CN" dirty="0"/>
              <a:t>– </a:t>
            </a:r>
            <a:r>
              <a:rPr lang="zh-CN" altLang="en-US" dirty="0"/>
              <a:t>选择或学习更好的权重</a:t>
            </a:r>
          </a:p>
        </p:txBody>
      </p:sp>
    </p:spTree>
    <p:extLst>
      <p:ext uri="{BB962C8B-B14F-4D97-AF65-F5344CB8AC3E}">
        <p14:creationId xmlns:p14="http://schemas.microsoft.com/office/powerpoint/2010/main" val="3550206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题外话</a:t>
            </a:r>
            <a:r>
              <a:rPr lang="en-US" altLang="zh-CN" dirty="0"/>
              <a:t>: </a:t>
            </a:r>
            <a:r>
              <a:rPr lang="zh-CN" altLang="en-US" dirty="0"/>
              <a:t>精确的评价函数并不重要</a:t>
            </a:r>
          </a:p>
        </p:txBody>
      </p:sp>
      <p:sp>
        <p:nvSpPr>
          <p:cNvPr id="3" name="内容占位符 2"/>
          <p:cNvSpPr>
            <a:spLocks noGrp="1"/>
          </p:cNvSpPr>
          <p:nvPr>
            <p:ph idx="1"/>
          </p:nvPr>
        </p:nvSpPr>
        <p:spPr>
          <a:xfrm>
            <a:off x="457200" y="4437112"/>
            <a:ext cx="8435280" cy="1689051"/>
          </a:xfrm>
        </p:spPr>
        <p:txBody>
          <a:bodyPr>
            <a:noAutofit/>
          </a:bodyPr>
          <a:lstStyle/>
          <a:p>
            <a:pPr>
              <a:buNone/>
            </a:pPr>
            <a:r>
              <a:rPr lang="en-US" altLang="zh-CN" sz="2000" dirty="0"/>
              <a:t>Behavior is preserved under any monotonic</a:t>
            </a:r>
            <a:r>
              <a:rPr lang="zh-CN" altLang="en-US" sz="2000" dirty="0"/>
              <a:t>（单调的） </a:t>
            </a:r>
            <a:r>
              <a:rPr lang="en-US" altLang="zh-CN" sz="2000" dirty="0"/>
              <a:t>transformation of EVAL</a:t>
            </a:r>
            <a:br>
              <a:rPr lang="en-US" altLang="zh-CN" sz="2000" dirty="0"/>
            </a:br>
            <a:endParaRPr lang="zh-CN" altLang="en-US" sz="2000" dirty="0"/>
          </a:p>
        </p:txBody>
      </p:sp>
      <p:pic>
        <p:nvPicPr>
          <p:cNvPr id="2050" name="Picture 2"/>
          <p:cNvPicPr>
            <a:picLocks noChangeAspect="1" noChangeArrowheads="1"/>
          </p:cNvPicPr>
          <p:nvPr/>
        </p:nvPicPr>
        <p:blipFill>
          <a:blip r:embed="rId2" cstate="print"/>
          <a:srcRect/>
          <a:stretch>
            <a:fillRect/>
          </a:stretch>
        </p:blipFill>
        <p:spPr bwMode="auto">
          <a:xfrm>
            <a:off x="251520" y="1412776"/>
            <a:ext cx="8382367" cy="2520280"/>
          </a:xfrm>
          <a:prstGeom prst="rect">
            <a:avLst/>
          </a:prstGeom>
          <a:noFill/>
          <a:ln w="9525">
            <a:noFill/>
            <a:miter lim="800000"/>
            <a:headEnd/>
            <a:tailEnd/>
          </a:ln>
        </p:spPr>
      </p:pic>
    </p:spTree>
    <p:extLst>
      <p:ext uri="{BB962C8B-B14F-4D97-AF65-F5344CB8AC3E}">
        <p14:creationId xmlns:p14="http://schemas.microsoft.com/office/powerpoint/2010/main" val="281792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截断搜索 </a:t>
            </a:r>
            <a:r>
              <a:rPr kumimoji="1" lang="en-US" altLang="zh-CN" dirty="0"/>
              <a:t>Cut-off Search</a:t>
            </a:r>
            <a:endParaRPr kumimoji="1" lang="zh-CN" altLang="en-US" dirty="0"/>
          </a:p>
        </p:txBody>
      </p:sp>
      <p:sp>
        <p:nvSpPr>
          <p:cNvPr id="3" name="内容占位符 2"/>
          <p:cNvSpPr>
            <a:spLocks noGrp="1"/>
          </p:cNvSpPr>
          <p:nvPr>
            <p:ph idx="1"/>
          </p:nvPr>
        </p:nvSpPr>
        <p:spPr/>
        <p:txBody>
          <a:bodyPr/>
          <a:lstStyle/>
          <a:p>
            <a:r>
              <a:rPr kumimoji="1" lang="zh-CN" altLang="en-US" dirty="0"/>
              <a:t>每一步都搜索到一个固定的深度</a:t>
            </a:r>
            <a:endParaRPr kumimoji="1" lang="en-US" altLang="zh-CN" dirty="0"/>
          </a:p>
          <a:p>
            <a:pPr lvl="1"/>
            <a:r>
              <a:rPr kumimoji="1" lang="zh-CN" altLang="en-US" dirty="0"/>
              <a:t>这个深度被称为地平线（</a:t>
            </a:r>
            <a:r>
              <a:rPr kumimoji="1" lang="en-US" altLang="zh-CN" dirty="0"/>
              <a:t>horizon</a:t>
            </a:r>
            <a:r>
              <a:rPr kumimoji="1" lang="zh-CN" altLang="en-US" dirty="0"/>
              <a:t>）</a:t>
            </a:r>
            <a:endParaRPr kumimoji="1" lang="en-US" altLang="zh-CN" dirty="0"/>
          </a:p>
          <a:p>
            <a:pPr lvl="1"/>
            <a:r>
              <a:rPr kumimoji="1" lang="zh-CN" altLang="en-US" dirty="0"/>
              <a:t>截断搜索能看到地平线内会发生的威胁</a:t>
            </a:r>
            <a:endParaRPr kumimoji="1" lang="en-US" altLang="zh-CN" dirty="0"/>
          </a:p>
          <a:p>
            <a:r>
              <a:rPr kumimoji="1" lang="zh-CN" altLang="en-US" dirty="0"/>
              <a:t>地平线效应（</a:t>
            </a:r>
            <a:r>
              <a:rPr kumimoji="1" lang="en-US" altLang="zh-CN" dirty="0"/>
              <a:t>horizon effect</a:t>
            </a:r>
            <a:r>
              <a:rPr kumimoji="1" lang="zh-CN" altLang="en-US" dirty="0"/>
              <a:t>）</a:t>
            </a:r>
          </a:p>
          <a:p>
            <a:pPr lvl="1"/>
            <a:r>
              <a:rPr kumimoji="1" lang="zh-CN" altLang="en-US" dirty="0"/>
              <a:t>看不到地平线外的威胁</a:t>
            </a:r>
          </a:p>
          <a:p>
            <a:pPr lvl="1"/>
            <a:r>
              <a:rPr kumimoji="1" lang="zh-CN" altLang="en-US" dirty="0"/>
              <a:t>在</a:t>
            </a:r>
            <a:r>
              <a:rPr kumimoji="1" lang="en-US" altLang="zh-CN" dirty="0"/>
              <a:t>8</a:t>
            </a:r>
            <a:r>
              <a:rPr kumimoji="1" lang="zh-CN" altLang="en-US" dirty="0"/>
              <a:t>层的搜索中</a:t>
            </a:r>
            <a:r>
              <a:rPr kumimoji="1" lang="en-US" altLang="zh-CN" dirty="0"/>
              <a:t>(</a:t>
            </a:r>
            <a:r>
              <a:rPr kumimoji="1" lang="zh-CN" altLang="en-US" dirty="0"/>
              <a:t>即搜索</a:t>
            </a:r>
            <a:r>
              <a:rPr kumimoji="1" lang="en-US" altLang="zh-CN" dirty="0"/>
              <a:t>4</a:t>
            </a:r>
            <a:r>
              <a:rPr kumimoji="1" lang="zh-CN" altLang="en-US" dirty="0"/>
              <a:t>个回合</a:t>
            </a:r>
            <a:r>
              <a:rPr kumimoji="1" lang="en-US" altLang="zh-CN" dirty="0"/>
              <a:t>)</a:t>
            </a:r>
            <a:r>
              <a:rPr kumimoji="1" lang="zh-CN" altLang="en-US" dirty="0"/>
              <a:t>，就可能得不到在第</a:t>
            </a:r>
            <a:r>
              <a:rPr kumimoji="1" lang="en-US" altLang="zh-CN" dirty="0"/>
              <a:t>5</a:t>
            </a:r>
            <a:r>
              <a:rPr kumimoji="1" lang="zh-CN" altLang="en-US" dirty="0"/>
              <a:t>步有杀棋的信息</a:t>
            </a:r>
          </a:p>
        </p:txBody>
      </p:sp>
      <p:sp>
        <p:nvSpPr>
          <p:cNvPr id="4" name="幻灯片编号占位符 3"/>
          <p:cNvSpPr>
            <a:spLocks noGrp="1"/>
          </p:cNvSpPr>
          <p:nvPr>
            <p:ph type="sldNum" sz="quarter" idx="12"/>
          </p:nvPr>
        </p:nvSpPr>
        <p:spPr/>
        <p:txBody>
          <a:bodyPr/>
          <a:lstStyle/>
          <a:p>
            <a:fld id="{B6F15528-21DE-4FAA-801E-634DDDAF4B2B}"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地平线效应</a:t>
            </a:r>
          </a:p>
        </p:txBody>
      </p:sp>
      <p:pic>
        <p:nvPicPr>
          <p:cNvPr id="5" name="内容占位符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27364" y="1451828"/>
            <a:ext cx="6634093" cy="4015744"/>
          </a:xfrm>
        </p:spPr>
      </p:pic>
      <p:sp>
        <p:nvSpPr>
          <p:cNvPr id="4" name="幻灯片编号占位符 3"/>
          <p:cNvSpPr>
            <a:spLocks noGrp="1"/>
          </p:cNvSpPr>
          <p:nvPr>
            <p:ph type="sldNum" sz="quarter" idx="12"/>
          </p:nvPr>
        </p:nvSpPr>
        <p:spPr/>
        <p:txBody>
          <a:bodyPr/>
          <a:lstStyle/>
          <a:p>
            <a:fld id="{B6F15528-21DE-4FAA-801E-634DDDAF4B2B}" type="slidenum">
              <a:rPr lang="en-US" smtClean="0"/>
              <a:t>49</a:t>
            </a:fld>
            <a:endParaRPr lang="en-US"/>
          </a:p>
        </p:txBody>
      </p:sp>
      <p:sp>
        <p:nvSpPr>
          <p:cNvPr id="6" name="文本框 5"/>
          <p:cNvSpPr txBox="1"/>
          <p:nvPr/>
        </p:nvSpPr>
        <p:spPr>
          <a:xfrm>
            <a:off x="686692" y="5648464"/>
            <a:ext cx="6933308" cy="707886"/>
          </a:xfrm>
          <a:prstGeom prst="rect">
            <a:avLst/>
          </a:prstGeom>
          <a:noFill/>
        </p:spPr>
        <p:txBody>
          <a:bodyPr wrap="none" rtlCol="0">
            <a:spAutoFit/>
          </a:bodyPr>
          <a:lstStyle/>
          <a:p>
            <a:r>
              <a:rPr kumimoji="1" lang="zh-CN" altLang="en-US" sz="2000" dirty="0"/>
              <a:t>状态</a:t>
            </a:r>
            <a:r>
              <a:rPr kumimoji="1" lang="en-US" altLang="zh-CN" sz="2000" dirty="0"/>
              <a:t>(a)</a:t>
            </a:r>
            <a:r>
              <a:rPr kumimoji="1" lang="zh-CN" altLang="en-US" sz="2000" dirty="0"/>
              <a:t>和状态</a:t>
            </a:r>
            <a:r>
              <a:rPr kumimoji="1" lang="en-US" altLang="zh-CN" sz="2000" dirty="0"/>
              <a:t>(b)</a:t>
            </a:r>
            <a:r>
              <a:rPr kumimoji="1" lang="zh-CN" altLang="en-US" sz="2000" dirty="0"/>
              <a:t>的区别在于白方车的位置。</a:t>
            </a:r>
          </a:p>
          <a:p>
            <a:r>
              <a:rPr kumimoji="1" lang="zh-CN" altLang="en-US" sz="2000" dirty="0"/>
              <a:t>注意到状态</a:t>
            </a:r>
            <a:r>
              <a:rPr kumimoji="1" lang="en-US" altLang="zh-CN" sz="2000" dirty="0"/>
              <a:t>(b)</a:t>
            </a:r>
            <a:r>
              <a:rPr kumimoji="1" lang="zh-CN" altLang="en-US" sz="2000" dirty="0"/>
              <a:t>是一个很不稳定的状态（白车会抓住黑皇后）</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静态搜索 </a:t>
            </a:r>
            <a:r>
              <a:rPr lang="en-US" altLang="zh-CN" dirty="0"/>
              <a:t>Quiescence Search</a:t>
            </a:r>
            <a:endParaRPr kumimoji="1" lang="zh-CN" altLang="en-US" dirty="0"/>
          </a:p>
        </p:txBody>
      </p:sp>
      <p:sp>
        <p:nvSpPr>
          <p:cNvPr id="3" name="内容占位符 2"/>
          <p:cNvSpPr>
            <a:spLocks noGrp="1"/>
          </p:cNvSpPr>
          <p:nvPr>
            <p:ph idx="1"/>
          </p:nvPr>
        </p:nvSpPr>
        <p:spPr/>
        <p:txBody>
          <a:bodyPr/>
          <a:lstStyle/>
          <a:p>
            <a:r>
              <a:rPr kumimoji="1" lang="zh-CN" altLang="en-US" dirty="0"/>
              <a:t>静态（</a:t>
            </a:r>
            <a:r>
              <a:rPr kumimoji="1" lang="en-US" altLang="zh-CN" dirty="0"/>
              <a:t>quiescent state</a:t>
            </a:r>
            <a:r>
              <a:rPr kumimoji="1" lang="zh-CN" altLang="en-US" dirty="0"/>
              <a:t>）：评估值不发生剧烈变化</a:t>
            </a:r>
          </a:p>
          <a:p>
            <a:r>
              <a:rPr kumimoji="1" lang="zh-CN" altLang="en-US" dirty="0"/>
              <a:t>到达地平线后，检查状态是否</a:t>
            </a:r>
            <a:r>
              <a:rPr kumimoji="1" lang="en-US" altLang="zh-CN" dirty="0"/>
              <a:t>quiescent</a:t>
            </a:r>
            <a:endParaRPr kumimoji="1" lang="zh-CN" altLang="en-US" dirty="0"/>
          </a:p>
          <a:p>
            <a:pPr lvl="1"/>
            <a:r>
              <a:rPr kumimoji="1" lang="zh-CN" altLang="en-US" dirty="0"/>
              <a:t>如果是，则评估并返回</a:t>
            </a:r>
          </a:p>
          <a:p>
            <a:pPr lvl="1"/>
            <a:r>
              <a:rPr kumimoji="1" lang="zh-CN" altLang="en-US" dirty="0"/>
              <a:t>如果不是，继续搜索</a:t>
            </a:r>
          </a:p>
        </p:txBody>
      </p:sp>
      <p:sp>
        <p:nvSpPr>
          <p:cNvPr id="4" name="幻灯片编号占位符 3"/>
          <p:cNvSpPr>
            <a:spLocks noGrp="1"/>
          </p:cNvSpPr>
          <p:nvPr>
            <p:ph type="sldNum" sz="quarter" idx="12"/>
          </p:nvPr>
        </p:nvSpPr>
        <p:spPr/>
        <p:txBody>
          <a:bodyPr/>
          <a:lstStyle/>
          <a:p>
            <a:fld id="{B6F15528-21DE-4FAA-801E-634DDDAF4B2B}"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49153"/>
          <p:cNvSpPr>
            <a:spLocks noGrp="1"/>
          </p:cNvSpPr>
          <p:nvPr>
            <p:ph type="title"/>
          </p:nvPr>
        </p:nvSpPr>
        <p:spPr/>
        <p:txBody>
          <a:bodyPr anchor="b"/>
          <a:lstStyle/>
          <a:p>
            <a:pPr>
              <a:defRPr/>
            </a:pPr>
            <a:r>
              <a:rPr lang="zh-CN" altLang="en-US" noProof="1"/>
              <a:t>截断搜索</a:t>
            </a:r>
          </a:p>
        </p:txBody>
      </p:sp>
      <p:sp>
        <p:nvSpPr>
          <p:cNvPr id="49155" name="文本占位符 49154"/>
          <p:cNvSpPr>
            <a:spLocks noGrp="1"/>
          </p:cNvSpPr>
          <p:nvPr>
            <p:ph idx="1"/>
          </p:nvPr>
        </p:nvSpPr>
        <p:spPr/>
        <p:txBody>
          <a:bodyPr/>
          <a:lstStyle/>
          <a:p>
            <a:pPr>
              <a:defRPr/>
            </a:pPr>
            <a:r>
              <a:rPr lang="zh-CN" altLang="en-US" noProof="1"/>
              <a:t>用</a:t>
            </a:r>
            <a:r>
              <a:rPr lang="en-US" altLang="zh-CN" noProof="1"/>
              <a:t>if CUTOFF-TEST(state, depth) then return EVAL(state)</a:t>
            </a:r>
            <a:r>
              <a:rPr lang="zh-CN" altLang="en-US" noProof="1"/>
              <a:t>代替</a:t>
            </a:r>
            <a:r>
              <a:rPr lang="en-US" altLang="zh-CN" noProof="1">
                <a:sym typeface="Symbol" panose="05050102010706020507" pitchFamily="18" charset="2"/>
              </a:rPr>
              <a:t></a:t>
            </a:r>
            <a:r>
              <a:rPr lang="en-US" altLang="zh-CN" noProof="1">
                <a:latin typeface="Arial" panose="020B0604020202020204" pitchFamily="34" charset="0"/>
                <a:ea typeface="Arial" panose="020B0604020202020204" pitchFamily="34" charset="0"/>
                <a:sym typeface="Symbol" panose="05050102010706020507" pitchFamily="18" charset="2"/>
              </a:rPr>
              <a:t>–</a:t>
            </a:r>
            <a:r>
              <a:rPr lang="en-US" altLang="zh-CN" noProof="1">
                <a:sym typeface="Symbol" panose="05050102010706020507" pitchFamily="18" charset="2"/>
              </a:rPr>
              <a:t></a:t>
            </a:r>
            <a:r>
              <a:rPr lang="zh-CN" altLang="en-US" noProof="1">
                <a:sym typeface="Symbol" panose="05050102010706020507" pitchFamily="18" charset="2"/>
              </a:rPr>
              <a:t>算法中</a:t>
            </a:r>
            <a:r>
              <a:rPr lang="en-US" altLang="zh-CN" noProof="1"/>
              <a:t>TERMINAL-TEST</a:t>
            </a:r>
            <a:r>
              <a:rPr lang="zh-CN" altLang="en-US" noProof="1"/>
              <a:t>所在的两行，或</a:t>
            </a:r>
          </a:p>
          <a:p>
            <a:pPr>
              <a:defRPr/>
            </a:pPr>
            <a:r>
              <a:rPr lang="zh-CN" altLang="en-US" noProof="1"/>
              <a:t>使用迭代搜索：当时间用完时，程序就返回目前完成最深的搜索所选择的招数。</a:t>
            </a:r>
          </a:p>
          <a:p>
            <a:pPr lvl="1">
              <a:defRPr/>
            </a:pPr>
            <a:r>
              <a:rPr lang="zh-CN" altLang="en-US" noProof="1"/>
              <a:t>由于评价函数的近似性，上述方法可能导致错误。</a:t>
            </a:r>
          </a:p>
        </p:txBody>
      </p:sp>
    </p:spTree>
    <p:extLst>
      <p:ext uri="{BB962C8B-B14F-4D97-AF65-F5344CB8AC3E}">
        <p14:creationId xmlns:p14="http://schemas.microsoft.com/office/powerpoint/2010/main" val="2985353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charRg st="123" end="14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50177"/>
          <p:cNvSpPr>
            <a:spLocks noGrp="1"/>
          </p:cNvSpPr>
          <p:nvPr>
            <p:ph type="title"/>
          </p:nvPr>
        </p:nvSpPr>
        <p:spPr/>
        <p:txBody>
          <a:bodyPr anchor="b"/>
          <a:lstStyle/>
          <a:p>
            <a:pPr>
              <a:defRPr/>
            </a:pPr>
            <a:r>
              <a:rPr lang="zh-CN" altLang="en-US" noProof="1"/>
              <a:t>截断搜索（续）</a:t>
            </a:r>
          </a:p>
        </p:txBody>
      </p:sp>
      <p:sp>
        <p:nvSpPr>
          <p:cNvPr id="50179" name="文本占位符 50178"/>
          <p:cNvSpPr>
            <a:spLocks noGrp="1"/>
          </p:cNvSpPr>
          <p:nvPr>
            <p:ph idx="1"/>
          </p:nvPr>
        </p:nvSpPr>
        <p:spPr/>
        <p:txBody>
          <a:bodyPr/>
          <a:lstStyle/>
          <a:p>
            <a:pPr>
              <a:defRPr/>
            </a:pPr>
            <a:r>
              <a:rPr lang="zh-CN" altLang="en-US" noProof="1"/>
              <a:t>需要更为复杂的截断测试，评价函数应该只用于那些静止的棋局（静态棋局）。</a:t>
            </a:r>
          </a:p>
          <a:p>
            <a:pPr>
              <a:defRPr/>
            </a:pPr>
            <a:r>
              <a:rPr lang="zh-CN" altLang="en-US" noProof="1"/>
              <a:t>非静止的棋局可以进一步扩展直到静止的棋局，这种额外的搜索称为</a:t>
            </a:r>
            <a:r>
              <a:rPr lang="zh-CN" altLang="en-US" u="sng" noProof="1">
                <a:solidFill>
                  <a:srgbClr val="FF0000"/>
                </a:solidFill>
              </a:rPr>
              <a:t>静态搜索</a:t>
            </a:r>
            <a:r>
              <a:rPr lang="zh-CN" altLang="en-US" noProof="1"/>
              <a:t>。</a:t>
            </a:r>
            <a:endParaRPr lang="en-US" altLang="zh-CN" noProof="1"/>
          </a:p>
          <a:p>
            <a:pPr>
              <a:defRPr/>
            </a:pPr>
            <a:r>
              <a:rPr lang="zh-CN" altLang="en-US" noProof="1">
                <a:solidFill>
                  <a:srgbClr val="FF0000"/>
                </a:solidFill>
              </a:rPr>
              <a:t>单步延伸</a:t>
            </a:r>
            <a:r>
              <a:rPr lang="zh-CN" altLang="en-US" noProof="1"/>
              <a:t>是避免地平线效应的一种策略 </a:t>
            </a:r>
          </a:p>
          <a:p>
            <a:pPr marL="0" indent="0">
              <a:buFontTx/>
              <a:buNone/>
              <a:defRPr/>
            </a:pPr>
            <a:r>
              <a:rPr lang="zh-CN" altLang="en-US" noProof="1"/>
              <a:t>这样做可能超过深度限制，但由于单步延伸很少，不会增加太多开销。</a:t>
            </a:r>
          </a:p>
        </p:txBody>
      </p:sp>
    </p:spTree>
    <p:extLst>
      <p:ext uri="{BB962C8B-B14F-4D97-AF65-F5344CB8AC3E}">
        <p14:creationId xmlns:p14="http://schemas.microsoft.com/office/powerpoint/2010/main" val="2003909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485900" y="857250"/>
            <a:ext cx="6172200" cy="857250"/>
          </a:xfrm>
        </p:spPr>
        <p:txBody>
          <a:bodyPr>
            <a:normAutofit/>
          </a:bodyPr>
          <a:lstStyle/>
          <a:p>
            <a:r>
              <a:rPr lang="zh-CN" altLang="en-US" dirty="0"/>
              <a:t>国际象棋游戏系统</a:t>
            </a:r>
            <a:endParaRPr lang="en-US" dirty="0"/>
          </a:p>
        </p:txBody>
      </p:sp>
      <p:graphicFrame>
        <p:nvGraphicFramePr>
          <p:cNvPr id="3" name="内容占位符 2"/>
          <p:cNvGraphicFramePr>
            <a:graphicFrameLocks noGrp="1"/>
          </p:cNvGraphicFramePr>
          <p:nvPr>
            <p:ph idx="1"/>
          </p:nvPr>
        </p:nvGraphicFramePr>
        <p:xfrm>
          <a:off x="457200" y="2590800"/>
          <a:ext cx="8229600" cy="158496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r>
                        <a:rPr lang="zh-CN" altLang="en-US" sz="2000" dirty="0"/>
                        <a:t>算法</a:t>
                      </a:r>
                    </a:p>
                  </a:txBody>
                  <a:tcPr/>
                </a:tc>
                <a:tc>
                  <a:txBody>
                    <a:bodyPr/>
                    <a:lstStyle/>
                    <a:p>
                      <a:r>
                        <a:rPr lang="zh-CN" altLang="en-US" sz="2000" dirty="0"/>
                        <a:t>搜索深度</a:t>
                      </a:r>
                    </a:p>
                  </a:txBody>
                  <a:tcPr/>
                </a:tc>
                <a:tc>
                  <a:txBody>
                    <a:bodyPr/>
                    <a:lstStyle/>
                    <a:p>
                      <a:r>
                        <a:rPr lang="zh-CN" altLang="en-US" sz="2000" dirty="0"/>
                        <a:t>人类水平</a:t>
                      </a:r>
                    </a:p>
                  </a:txBody>
                  <a:tcPr/>
                </a:tc>
                <a:extLst>
                  <a:ext uri="{0D108BD9-81ED-4DB2-BD59-A6C34878D82A}">
                    <a16:rowId xmlns:a16="http://schemas.microsoft.com/office/drawing/2014/main" val="10000"/>
                  </a:ext>
                </a:extLst>
              </a:tr>
              <a:tr h="370840">
                <a:tc>
                  <a:txBody>
                    <a:bodyPr/>
                    <a:lstStyle/>
                    <a:p>
                      <a:r>
                        <a:rPr lang="en-US" altLang="zh-CN" sz="2000" dirty="0"/>
                        <a:t>H-</a:t>
                      </a:r>
                      <a:r>
                        <a:rPr lang="en-US" altLang="zh-CN" sz="2000" dirty="0" err="1"/>
                        <a:t>Minimax</a:t>
                      </a:r>
                      <a:r>
                        <a:rPr lang="en-US" altLang="zh-CN" sz="2000" baseline="0" dirty="0"/>
                        <a:t> </a:t>
                      </a:r>
                      <a:r>
                        <a:rPr lang="zh-CN" altLang="en-US" sz="2000" baseline="0" dirty="0"/>
                        <a:t>加上 静态搜索</a:t>
                      </a:r>
                      <a:endParaRPr lang="zh-CN" altLang="en-US" sz="2000" dirty="0"/>
                    </a:p>
                  </a:txBody>
                  <a:tcPr/>
                </a:tc>
                <a:tc>
                  <a:txBody>
                    <a:bodyPr/>
                    <a:lstStyle/>
                    <a:p>
                      <a:r>
                        <a:rPr lang="zh-CN" altLang="en-US" sz="2000" dirty="0"/>
                        <a:t>双方共走</a:t>
                      </a:r>
                      <a:r>
                        <a:rPr lang="en-US" altLang="zh-CN" sz="2000" dirty="0"/>
                        <a:t>4</a:t>
                      </a:r>
                      <a:r>
                        <a:rPr lang="zh-CN" altLang="en-US" sz="2000" dirty="0"/>
                        <a:t>步</a:t>
                      </a:r>
                    </a:p>
                  </a:txBody>
                  <a:tcPr/>
                </a:tc>
                <a:tc>
                  <a:txBody>
                    <a:bodyPr/>
                    <a:lstStyle/>
                    <a:p>
                      <a:r>
                        <a:rPr lang="zh-CN" altLang="en-US" sz="2000" dirty="0"/>
                        <a:t>新手</a:t>
                      </a:r>
                    </a:p>
                  </a:txBody>
                  <a:tcPr/>
                </a:tc>
                <a:extLst>
                  <a:ext uri="{0D108BD9-81ED-4DB2-BD59-A6C34878D82A}">
                    <a16:rowId xmlns:a16="http://schemas.microsoft.com/office/drawing/2014/main" val="10001"/>
                  </a:ext>
                </a:extLst>
              </a:tr>
              <a:tr h="370840">
                <a:tc>
                  <a:txBody>
                    <a:bodyPr/>
                    <a:lstStyle/>
                    <a:p>
                      <a:r>
                        <a:rPr lang="zh-CN" altLang="en-US" sz="2000" dirty="0"/>
                        <a:t>加上 </a:t>
                      </a:r>
                      <a:r>
                        <a:rPr lang="en-US" altLang="zh-CN" sz="2000" dirty="0"/>
                        <a:t>alpha-beta</a:t>
                      </a:r>
                      <a:r>
                        <a:rPr lang="en-US" altLang="zh-CN" sz="2000" baseline="0" dirty="0"/>
                        <a:t> </a:t>
                      </a:r>
                      <a:r>
                        <a:rPr lang="zh-CN" altLang="en-US" sz="2000" baseline="0" dirty="0"/>
                        <a:t>剪枝</a:t>
                      </a:r>
                      <a:endParaRPr lang="zh-CN" altLang="en-US" sz="2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t>双方共走</a:t>
                      </a:r>
                      <a:r>
                        <a:rPr lang="en-US" altLang="zh-CN" sz="2000" dirty="0"/>
                        <a:t>10</a:t>
                      </a:r>
                      <a:r>
                        <a:rPr lang="zh-CN" altLang="en-US" sz="2000" dirty="0"/>
                        <a:t>步</a:t>
                      </a:r>
                    </a:p>
                  </a:txBody>
                  <a:tcPr/>
                </a:tc>
                <a:tc>
                  <a:txBody>
                    <a:bodyPr/>
                    <a:lstStyle/>
                    <a:p>
                      <a:r>
                        <a:rPr lang="zh-CN" altLang="en-US" sz="2000" dirty="0"/>
                        <a:t>高手</a:t>
                      </a:r>
                    </a:p>
                  </a:txBody>
                  <a:tcPr/>
                </a:tc>
                <a:extLst>
                  <a:ext uri="{0D108BD9-81ED-4DB2-BD59-A6C34878D82A}">
                    <a16:rowId xmlns:a16="http://schemas.microsoft.com/office/drawing/2014/main" val="10002"/>
                  </a:ext>
                </a:extLst>
              </a:tr>
              <a:tr h="370840">
                <a:tc>
                  <a:txBody>
                    <a:bodyPr/>
                    <a:lstStyle/>
                    <a:p>
                      <a:r>
                        <a:rPr lang="en-US" altLang="zh-CN" sz="2000" dirty="0"/>
                        <a:t>IBM </a:t>
                      </a:r>
                      <a:r>
                        <a:rPr lang="zh-CN" altLang="en-US" sz="2000" dirty="0"/>
                        <a:t>深蓝</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2000" dirty="0"/>
                        <a:t>双方共走</a:t>
                      </a:r>
                      <a:r>
                        <a:rPr lang="en-US" altLang="zh-CN" sz="2000" dirty="0"/>
                        <a:t>14</a:t>
                      </a:r>
                      <a:r>
                        <a:rPr lang="zh-CN" altLang="en-US" sz="2000" dirty="0"/>
                        <a:t>步</a:t>
                      </a:r>
                    </a:p>
                  </a:txBody>
                  <a:tcPr/>
                </a:tc>
                <a:tc>
                  <a:txBody>
                    <a:bodyPr/>
                    <a:lstStyle/>
                    <a:p>
                      <a:r>
                        <a:rPr lang="zh-CN" altLang="en-US" sz="2000" dirty="0"/>
                        <a:t>卡斯帕罗夫（棋王）</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对待有限的时间</a:t>
            </a:r>
          </a:p>
        </p:txBody>
      </p:sp>
      <p:sp>
        <p:nvSpPr>
          <p:cNvPr id="3" name="内容占位符 2"/>
          <p:cNvSpPr>
            <a:spLocks noGrp="1"/>
          </p:cNvSpPr>
          <p:nvPr>
            <p:ph idx="1"/>
          </p:nvPr>
        </p:nvSpPr>
        <p:spPr/>
        <p:txBody>
          <a:bodyPr>
            <a:normAutofit/>
          </a:bodyPr>
          <a:lstStyle/>
          <a:p>
            <a:pPr>
              <a:buNone/>
            </a:pPr>
            <a:r>
              <a:rPr lang="en-US" altLang="zh-CN" dirty="0"/>
              <a:t>• </a:t>
            </a:r>
            <a:r>
              <a:rPr lang="zh-CN" altLang="en-US" dirty="0"/>
              <a:t>在实际游戏中，通常对每一步有时间限制</a:t>
            </a:r>
            <a:r>
              <a:rPr lang="en-US" altLang="zh-CN" dirty="0"/>
              <a:t>T</a:t>
            </a:r>
          </a:p>
          <a:p>
            <a:pPr>
              <a:buNone/>
            </a:pPr>
            <a:r>
              <a:rPr lang="en-US" altLang="zh-CN" dirty="0"/>
              <a:t>• </a:t>
            </a:r>
            <a:r>
              <a:rPr lang="zh-CN" altLang="en-US" dirty="0"/>
              <a:t>我们如何考虑这个问题</a:t>
            </a:r>
            <a:r>
              <a:rPr lang="en-US" altLang="zh-CN" dirty="0"/>
              <a:t>?</a:t>
            </a:r>
            <a:br>
              <a:rPr lang="en-US" altLang="zh-CN" dirty="0"/>
            </a:br>
            <a:r>
              <a:rPr lang="en-US" altLang="zh-CN" dirty="0"/>
              <a:t/>
            </a:r>
            <a:br>
              <a:rPr lang="en-US" altLang="zh-CN" dirty="0"/>
            </a:br>
            <a:r>
              <a:rPr lang="en-US" altLang="zh-CN" dirty="0"/>
              <a:t>– </a:t>
            </a:r>
            <a:r>
              <a:rPr lang="zh-CN" altLang="en-US" dirty="0"/>
              <a:t>所以，我们可以设置一个保守的深度有限，以保证在</a:t>
            </a:r>
            <a:r>
              <a:rPr lang="en-US" altLang="zh-CN" dirty="0"/>
              <a:t>T</a:t>
            </a:r>
            <a:r>
              <a:rPr lang="zh-CN" altLang="en-US" dirty="0"/>
              <a:t>时间内决定一次行动</a:t>
            </a:r>
            <a:r>
              <a:rPr lang="en-US" altLang="zh-CN" dirty="0"/>
              <a:t/>
            </a:r>
            <a:br>
              <a:rPr lang="en-US" altLang="zh-CN" dirty="0"/>
            </a:br>
            <a:r>
              <a:rPr lang="en-US" altLang="zh-CN" dirty="0"/>
              <a:t>–</a:t>
            </a:r>
            <a:r>
              <a:rPr lang="zh-CN" altLang="en-US" dirty="0"/>
              <a:t>但是，搜索可能提前结束，更多搜索的机会被浪费了</a:t>
            </a:r>
          </a:p>
        </p:txBody>
      </p:sp>
    </p:spTree>
    <p:extLst>
      <p:ext uri="{BB962C8B-B14F-4D97-AF65-F5344CB8AC3E}">
        <p14:creationId xmlns:p14="http://schemas.microsoft.com/office/powerpoint/2010/main" val="8553732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对待有限的时间</a:t>
            </a:r>
          </a:p>
        </p:txBody>
      </p:sp>
      <p:sp>
        <p:nvSpPr>
          <p:cNvPr id="3" name="内容占位符 2"/>
          <p:cNvSpPr>
            <a:spLocks noGrp="1"/>
          </p:cNvSpPr>
          <p:nvPr>
            <p:ph idx="1"/>
          </p:nvPr>
        </p:nvSpPr>
        <p:spPr/>
        <p:txBody>
          <a:bodyPr>
            <a:normAutofit/>
          </a:bodyPr>
          <a:lstStyle/>
          <a:p>
            <a:pPr>
              <a:buNone/>
            </a:pPr>
            <a:r>
              <a:rPr lang="en-US" altLang="zh-CN" dirty="0"/>
              <a:t>• </a:t>
            </a:r>
            <a:r>
              <a:rPr lang="zh-CN" altLang="en-US" dirty="0"/>
              <a:t>在实践中</a:t>
            </a:r>
            <a:r>
              <a:rPr lang="en-US" altLang="zh-CN" dirty="0"/>
              <a:t>, </a:t>
            </a:r>
            <a:r>
              <a:rPr lang="zh-CN" altLang="en-US" dirty="0"/>
              <a:t>迭代深入深度优先搜索</a:t>
            </a:r>
            <a:r>
              <a:rPr lang="en-US" altLang="zh-CN" dirty="0"/>
              <a:t>(IDS) </a:t>
            </a:r>
            <a:r>
              <a:rPr lang="zh-CN" altLang="en-US" dirty="0"/>
              <a:t>被很好地使用</a:t>
            </a:r>
            <a:r>
              <a:rPr lang="en-US" altLang="zh-CN" dirty="0"/>
              <a:t/>
            </a:r>
            <a:br>
              <a:rPr lang="en-US" altLang="zh-CN" dirty="0"/>
            </a:br>
            <a:r>
              <a:rPr lang="en-US" altLang="zh-CN" dirty="0"/>
              <a:t>– </a:t>
            </a:r>
            <a:r>
              <a:rPr lang="zh-CN" altLang="en-US" dirty="0"/>
              <a:t>运行</a:t>
            </a:r>
            <a:r>
              <a:rPr lang="en-US" altLang="zh-CN" dirty="0"/>
              <a:t>alpha-beta search </a:t>
            </a:r>
            <a:r>
              <a:rPr lang="zh-CN" altLang="en-US" dirty="0"/>
              <a:t>以深度限制逐渐增加的方式</a:t>
            </a:r>
            <a:r>
              <a:rPr lang="en-US" altLang="zh-CN" dirty="0"/>
              <a:t/>
            </a:r>
            <a:br>
              <a:rPr lang="en-US" altLang="zh-CN" dirty="0"/>
            </a:br>
            <a:r>
              <a:rPr lang="en-US" altLang="zh-CN" dirty="0"/>
              <a:t>– </a:t>
            </a:r>
            <a:r>
              <a:rPr lang="zh-CN" altLang="en-US" dirty="0"/>
              <a:t>当时间</a:t>
            </a:r>
            <a:r>
              <a:rPr lang="en-US" altLang="zh-CN" dirty="0"/>
              <a:t>T</a:t>
            </a:r>
            <a:r>
              <a:rPr lang="zh-CN" altLang="en-US" dirty="0"/>
              <a:t>快运行完时，返回最后一次完整的</a:t>
            </a:r>
            <a:r>
              <a:rPr lang="el-GR" altLang="zh-CN" dirty="0"/>
              <a:t>α−β </a:t>
            </a:r>
            <a:r>
              <a:rPr lang="zh-CN" altLang="en-US" dirty="0"/>
              <a:t>搜索的结果</a:t>
            </a:r>
            <a:r>
              <a:rPr lang="en-US" altLang="zh-CN" dirty="0"/>
              <a:t> (i.e., the deepest search that was completed)</a:t>
            </a:r>
            <a:br>
              <a:rPr lang="en-US" altLang="zh-CN" dirty="0"/>
            </a:br>
            <a:r>
              <a:rPr lang="en-US" altLang="zh-CN" dirty="0"/>
              <a:t/>
            </a:r>
            <a:br>
              <a:rPr lang="en-US" altLang="zh-CN" dirty="0"/>
            </a:br>
            <a:endParaRPr lang="zh-CN" altLang="en-US" dirty="0"/>
          </a:p>
        </p:txBody>
      </p:sp>
    </p:spTree>
    <p:extLst>
      <p:ext uri="{BB962C8B-B14F-4D97-AF65-F5344CB8AC3E}">
        <p14:creationId xmlns:p14="http://schemas.microsoft.com/office/powerpoint/2010/main" val="2608419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现今一些确定性的游戏</a:t>
            </a:r>
          </a:p>
        </p:txBody>
      </p:sp>
      <p:sp>
        <p:nvSpPr>
          <p:cNvPr id="3" name="内容占位符 2"/>
          <p:cNvSpPr>
            <a:spLocks noGrp="1"/>
          </p:cNvSpPr>
          <p:nvPr>
            <p:ph idx="1"/>
          </p:nvPr>
        </p:nvSpPr>
        <p:spPr/>
        <p:txBody>
          <a:bodyPr>
            <a:normAutofit fontScale="85000" lnSpcReduction="20000"/>
          </a:bodyPr>
          <a:lstStyle/>
          <a:p>
            <a:pPr>
              <a:buNone/>
            </a:pPr>
            <a:r>
              <a:rPr lang="en-US" altLang="zh-CN" dirty="0"/>
              <a:t>Chess(</a:t>
            </a:r>
            <a:r>
              <a:rPr lang="zh-CN" altLang="en-US" dirty="0"/>
              <a:t>国际象棋） </a:t>
            </a:r>
            <a:r>
              <a:rPr lang="en-US" altLang="zh-CN" dirty="0"/>
              <a:t>: Deep Blue defeated human world champion Gary Kasparov in a six-game match in 1997. Deep Blue searches 200 million positions per second, uses very sophisticated evaluation, and undisclosed methods for extending some lines of search up to 40 ply</a:t>
            </a:r>
            <a:r>
              <a:rPr lang="zh-CN" altLang="en-US" dirty="0"/>
              <a:t>（层、厚度） </a:t>
            </a:r>
            <a:r>
              <a:rPr lang="en-US" altLang="zh-CN" dirty="0"/>
              <a:t>.</a:t>
            </a:r>
            <a:br>
              <a:rPr lang="en-US" altLang="zh-CN" dirty="0"/>
            </a:br>
            <a:r>
              <a:rPr lang="en-US" altLang="zh-CN" dirty="0"/>
              <a:t>– </a:t>
            </a:r>
            <a:r>
              <a:rPr lang="en-US" altLang="zh-CN" dirty="0" smtClean="0"/>
              <a:t>Kasparov </a:t>
            </a:r>
            <a:r>
              <a:rPr lang="en-US" altLang="zh-CN" dirty="0"/>
              <a:t>lost the match 2 wins to 3 wins and 1 tie</a:t>
            </a:r>
            <a:br>
              <a:rPr lang="en-US" altLang="zh-CN" dirty="0"/>
            </a:br>
            <a:r>
              <a:rPr lang="en-US" altLang="zh-CN" dirty="0"/>
              <a:t>– Deep Blue played by “brute force” (i.e., raw power from computer speed and memory); it used relatively little that is similar to human intuition and cleverness</a:t>
            </a:r>
            <a:br>
              <a:rPr lang="en-US" altLang="zh-CN" dirty="0"/>
            </a:br>
            <a:r>
              <a:rPr lang="en-US" altLang="zh-CN" dirty="0"/>
              <a:t>– </a:t>
            </a:r>
            <a:r>
              <a:rPr lang="en-US" altLang="zh-CN" dirty="0">
                <a:solidFill>
                  <a:srgbClr val="FF0000"/>
                </a:solidFill>
              </a:rPr>
              <a:t>Used minimax, alpha-beta, sophisticated heuristics</a:t>
            </a:r>
            <a:endParaRPr lang="zh-CN" altLang="en-US" dirty="0">
              <a:solidFill>
                <a:srgbClr val="FF0000"/>
              </a:solidFill>
            </a:endParaRPr>
          </a:p>
        </p:txBody>
      </p:sp>
    </p:spTree>
    <p:extLst>
      <p:ext uri="{BB962C8B-B14F-4D97-AF65-F5344CB8AC3E}">
        <p14:creationId xmlns:p14="http://schemas.microsoft.com/office/powerpoint/2010/main" val="41030301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现今一些确定性的游戏</a:t>
            </a:r>
          </a:p>
        </p:txBody>
      </p:sp>
      <p:sp>
        <p:nvSpPr>
          <p:cNvPr id="3" name="内容占位符 2"/>
          <p:cNvSpPr>
            <a:spLocks noGrp="1"/>
          </p:cNvSpPr>
          <p:nvPr>
            <p:ph idx="1"/>
          </p:nvPr>
        </p:nvSpPr>
        <p:spPr/>
        <p:txBody>
          <a:bodyPr>
            <a:normAutofit fontScale="85000" lnSpcReduction="20000"/>
          </a:bodyPr>
          <a:lstStyle/>
          <a:p>
            <a:pPr>
              <a:buNone/>
            </a:pPr>
            <a:r>
              <a:rPr lang="en-US" altLang="zh-CN" dirty="0"/>
              <a:t>Checkers</a:t>
            </a:r>
            <a:r>
              <a:rPr lang="zh-CN" altLang="en-US" dirty="0"/>
              <a:t>（西洋跳棋） </a:t>
            </a:r>
            <a:r>
              <a:rPr lang="en-US" altLang="zh-CN" dirty="0"/>
              <a:t>: </a:t>
            </a:r>
            <a:r>
              <a:rPr lang="en-US" altLang="zh-CN" dirty="0">
                <a:solidFill>
                  <a:srgbClr val="FF0000"/>
                </a:solidFill>
              </a:rPr>
              <a:t>Chinook</a:t>
            </a:r>
            <a:r>
              <a:rPr lang="en-US" altLang="zh-CN" dirty="0"/>
              <a:t>, the World Man-Machine Checkers Champion.</a:t>
            </a:r>
            <a:br>
              <a:rPr lang="en-US" altLang="zh-CN" dirty="0"/>
            </a:br>
            <a:r>
              <a:rPr lang="en-US" altLang="zh-CN" dirty="0"/>
              <a:t>• Chinook ended </a:t>
            </a:r>
            <a:r>
              <a:rPr lang="en-US" altLang="zh-CN" dirty="0">
                <a:solidFill>
                  <a:srgbClr val="FF0000"/>
                </a:solidFill>
              </a:rPr>
              <a:t>40-year-reign </a:t>
            </a:r>
            <a:r>
              <a:rPr lang="en-US" altLang="zh-CN" dirty="0"/>
              <a:t>of human world champion Marion Tinsley in 1994.</a:t>
            </a:r>
            <a:br>
              <a:rPr lang="en-US" altLang="zh-CN" dirty="0"/>
            </a:br>
            <a:r>
              <a:rPr lang="en-US" altLang="zh-CN" dirty="0"/>
              <a:t>• In 2007, checkers was solved: perfect play leads to a draw.</a:t>
            </a:r>
            <a:br>
              <a:rPr lang="en-US" altLang="zh-CN" dirty="0"/>
            </a:br>
            <a:r>
              <a:rPr lang="en-US" altLang="zh-CN" dirty="0">
                <a:solidFill>
                  <a:srgbClr val="FF0000"/>
                </a:solidFill>
              </a:rPr>
              <a:t>Chinook cannot ever lose</a:t>
            </a:r>
            <a:r>
              <a:rPr lang="en-US" altLang="zh-CN" dirty="0"/>
              <a:t/>
            </a:r>
            <a:br>
              <a:rPr lang="en-US" altLang="zh-CN" dirty="0"/>
            </a:br>
            <a:r>
              <a:rPr lang="zh-CN" altLang="en-US" dirty="0"/>
              <a:t>使用了一个提前计算好的存有</a:t>
            </a:r>
            <a:r>
              <a:rPr lang="en-US" altLang="zh-CN" dirty="0"/>
              <a:t>443,748,401,247</a:t>
            </a:r>
            <a:r>
              <a:rPr lang="zh-CN" altLang="en-US" dirty="0"/>
              <a:t>个不多于</a:t>
            </a:r>
            <a:r>
              <a:rPr lang="en-US" altLang="zh-CN" dirty="0"/>
              <a:t>8</a:t>
            </a:r>
            <a:r>
              <a:rPr lang="zh-CN" altLang="en-US" dirty="0"/>
              <a:t>个棋子的棋局数据库，使它的残局</a:t>
            </a:r>
            <a:r>
              <a:rPr lang="en-US" altLang="zh-CN" dirty="0"/>
              <a:t>(endgame)</a:t>
            </a:r>
            <a:r>
              <a:rPr lang="zh-CN" altLang="en-US" dirty="0"/>
              <a:t>走棋没有缺陷</a:t>
            </a:r>
            <a:br>
              <a:rPr lang="zh-CN" altLang="en-US" dirty="0"/>
            </a:br>
            <a:r>
              <a:rPr lang="en-US" altLang="zh-CN" dirty="0"/>
              <a:t>50 machines working in parallel on the problem</a:t>
            </a:r>
            <a:br>
              <a:rPr lang="en-US" altLang="zh-CN" dirty="0"/>
            </a:br>
            <a:endParaRPr lang="zh-CN" altLang="en-US" dirty="0"/>
          </a:p>
        </p:txBody>
      </p:sp>
    </p:spTree>
    <p:extLst>
      <p:ext uri="{BB962C8B-B14F-4D97-AF65-F5344CB8AC3E}">
        <p14:creationId xmlns:p14="http://schemas.microsoft.com/office/powerpoint/2010/main" val="640739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现今一些确定性的游戏</a:t>
            </a:r>
          </a:p>
        </p:txBody>
      </p:sp>
      <p:sp>
        <p:nvSpPr>
          <p:cNvPr id="3" name="内容占位符 2"/>
          <p:cNvSpPr>
            <a:spLocks noGrp="1"/>
          </p:cNvSpPr>
          <p:nvPr>
            <p:ph idx="1"/>
          </p:nvPr>
        </p:nvSpPr>
        <p:spPr/>
        <p:txBody>
          <a:bodyPr>
            <a:normAutofit/>
          </a:bodyPr>
          <a:lstStyle/>
          <a:p>
            <a:pPr>
              <a:buNone/>
            </a:pPr>
            <a:r>
              <a:rPr lang="en-US" altLang="zh-CN" dirty="0" smtClean="0"/>
              <a:t>Go</a:t>
            </a:r>
            <a:r>
              <a:rPr lang="zh-CN" altLang="en-US" dirty="0"/>
              <a:t>（围棋） </a:t>
            </a:r>
            <a:r>
              <a:rPr lang="en-US" altLang="zh-CN" dirty="0"/>
              <a:t>: 2016</a:t>
            </a:r>
            <a:r>
              <a:rPr lang="zh-CN" altLang="en-US" dirty="0"/>
              <a:t>年以前，人类冠军拒绝与计算机比赛，因为计算机是个小学生棋手。</a:t>
            </a:r>
            <a:r>
              <a:rPr lang="en-US" altLang="zh-CN" dirty="0"/>
              <a:t> In go, b &gt; 300</a:t>
            </a:r>
            <a:r>
              <a:rPr lang="zh-CN" altLang="en-US" dirty="0"/>
              <a:t>（棋盘为 </a:t>
            </a:r>
            <a:r>
              <a:rPr lang="en-US" altLang="zh-CN" dirty="0"/>
              <a:t>19x19</a:t>
            </a:r>
            <a:r>
              <a:rPr lang="zh-CN" altLang="en-US" dirty="0"/>
              <a:t>） </a:t>
            </a:r>
            <a:r>
              <a:rPr lang="en-US" altLang="zh-CN" dirty="0"/>
              <a:t>, </a:t>
            </a:r>
            <a:r>
              <a:rPr lang="zh-CN" altLang="en-US" dirty="0"/>
              <a:t>所以大多数程序使用基于模式识别的方法来提供一个貌似可行的解。</a:t>
            </a:r>
            <a:r>
              <a:rPr lang="en-US" altLang="zh-CN" dirty="0"/>
              <a:t>Go has became a new benchmark for Artificial Intelligence (</a:t>
            </a:r>
            <a:r>
              <a:rPr lang="zh-CN" altLang="en-US" dirty="0"/>
              <a:t>人工智能新的试金石</a:t>
            </a:r>
            <a:r>
              <a:rPr lang="en-US" altLang="zh-CN" dirty="0" smtClean="0"/>
              <a:t>)</a:t>
            </a:r>
          </a:p>
          <a:p>
            <a:pPr>
              <a:buNone/>
            </a:pPr>
            <a:r>
              <a:rPr lang="zh-CN" altLang="en-US" dirty="0" smtClean="0"/>
              <a:t> </a:t>
            </a:r>
            <a:endParaRPr lang="zh-CN" altLang="en-US" dirty="0"/>
          </a:p>
        </p:txBody>
      </p:sp>
    </p:spTree>
    <p:extLst>
      <p:ext uri="{BB962C8B-B14F-4D97-AF65-F5344CB8AC3E}">
        <p14:creationId xmlns:p14="http://schemas.microsoft.com/office/powerpoint/2010/main" val="37000085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t>AlphaGo</a:t>
            </a:r>
            <a:r>
              <a:rPr lang="en-US" altLang="zh-CN" sz="3600" dirty="0"/>
              <a:t>: </a:t>
            </a:r>
            <a:r>
              <a:rPr lang="zh-CN" altLang="en-US" sz="3600" dirty="0"/>
              <a:t>第一次打败人类</a:t>
            </a:r>
            <a:r>
              <a:rPr lang="en-US" altLang="zh-CN" sz="3600" dirty="0"/>
              <a:t>in 19x19 Go</a:t>
            </a:r>
            <a:endParaRPr lang="zh-CN" altLang="en-US" sz="3600" dirty="0"/>
          </a:p>
        </p:txBody>
      </p:sp>
      <p:sp>
        <p:nvSpPr>
          <p:cNvPr id="3" name="内容占位符 2"/>
          <p:cNvSpPr>
            <a:spLocks noGrp="1"/>
          </p:cNvSpPr>
          <p:nvPr>
            <p:ph idx="1"/>
          </p:nvPr>
        </p:nvSpPr>
        <p:spPr/>
        <p:txBody>
          <a:bodyPr>
            <a:normAutofit/>
          </a:bodyPr>
          <a:lstStyle/>
          <a:p>
            <a:r>
              <a:rPr lang="en-US" altLang="zh-CN" dirty="0" smtClean="0"/>
              <a:t>Google DeepMind</a:t>
            </a:r>
          </a:p>
          <a:p>
            <a:pPr>
              <a:buNone/>
            </a:pPr>
            <a:r>
              <a:rPr lang="en-US" altLang="zh-CN" dirty="0" smtClean="0"/>
              <a:t>	</a:t>
            </a:r>
            <a:r>
              <a:rPr lang="en-US" altLang="zh-CN" sz="2800" dirty="0" smtClean="0"/>
              <a:t>–</a:t>
            </a:r>
            <a:r>
              <a:rPr lang="zh-CN" altLang="en-US" sz="2800" dirty="0" smtClean="0"/>
              <a:t>深度神经网络、监督学习、强化学习、</a:t>
            </a:r>
            <a:r>
              <a:rPr lang="en-US" altLang="zh-CN" sz="2800" dirty="0" smtClean="0"/>
              <a:t>Monte-Carlo simulation</a:t>
            </a:r>
          </a:p>
        </p:txBody>
      </p:sp>
    </p:spTree>
    <p:extLst>
      <p:ext uri="{BB962C8B-B14F-4D97-AF65-F5344CB8AC3E}">
        <p14:creationId xmlns:p14="http://schemas.microsoft.com/office/powerpoint/2010/main" val="3265847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t>60</a:t>
            </a:fld>
            <a:endParaRPr lang="en-US"/>
          </a:p>
        </p:txBody>
      </p:sp>
      <p:sp>
        <p:nvSpPr>
          <p:cNvPr id="5" name="矩形 4"/>
          <p:cNvSpPr/>
          <p:nvPr/>
        </p:nvSpPr>
        <p:spPr>
          <a:xfrm>
            <a:off x="609600" y="914400"/>
            <a:ext cx="7467600" cy="954107"/>
          </a:xfrm>
          <a:prstGeom prst="rect">
            <a:avLst/>
          </a:prstGeom>
        </p:spPr>
        <p:txBody>
          <a:bodyPr wrap="square">
            <a:spAutoFit/>
          </a:bodyPr>
          <a:lstStyle/>
          <a:p>
            <a:r>
              <a:rPr lang="en-US" altLang="zh-CN" sz="2800" dirty="0"/>
              <a:t>2016</a:t>
            </a:r>
            <a:r>
              <a:rPr lang="zh-CN" altLang="en-US" sz="2800" dirty="0"/>
              <a:t>年</a:t>
            </a:r>
            <a:r>
              <a:rPr lang="en-US" altLang="zh-CN" sz="2800" dirty="0"/>
              <a:t>3</a:t>
            </a:r>
            <a:r>
              <a:rPr lang="zh-CN" altLang="en-US" sz="2800" dirty="0"/>
              <a:t>月，</a:t>
            </a:r>
            <a:r>
              <a:rPr lang="en-US" altLang="zh-CN" sz="2800" dirty="0"/>
              <a:t> </a:t>
            </a:r>
            <a:r>
              <a:rPr lang="en-US" altLang="zh-CN" sz="2800" dirty="0" err="1"/>
              <a:t>AlphaGo</a:t>
            </a:r>
            <a:r>
              <a:rPr lang="en-US" altLang="zh-CN" sz="2800" dirty="0"/>
              <a:t> vs </a:t>
            </a:r>
            <a:r>
              <a:rPr lang="zh-CN" altLang="en-US" sz="2800" dirty="0"/>
              <a:t>围棋世界冠军、职业九段棋手李世石，</a:t>
            </a:r>
            <a:r>
              <a:rPr lang="en-US" altLang="zh-CN" sz="2800" dirty="0"/>
              <a:t>4</a:t>
            </a:r>
            <a:r>
              <a:rPr lang="zh-CN" altLang="en-US" sz="2800" dirty="0"/>
              <a:t>比</a:t>
            </a:r>
            <a:r>
              <a:rPr lang="en-US" altLang="zh-CN" sz="2800" dirty="0"/>
              <a:t>1</a:t>
            </a:r>
            <a:r>
              <a:rPr lang="zh-CN" altLang="en-US" sz="2800" dirty="0"/>
              <a:t>获胜</a:t>
            </a:r>
            <a:endParaRPr lang="en-US" altLang="zh-CN" sz="2800" dirty="0"/>
          </a:p>
        </p:txBody>
      </p:sp>
      <p:pic>
        <p:nvPicPr>
          <p:cNvPr id="6" name="Picture 8"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590800"/>
            <a:ext cx="4143375" cy="26384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958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人类唯一的一次胜利</a:t>
            </a:r>
            <a:endParaRPr lang="zh-CN" altLang="en-US" dirty="0"/>
          </a:p>
        </p:txBody>
      </p:sp>
      <p:sp>
        <p:nvSpPr>
          <p:cNvPr id="4" name="灯片编号占位符 3"/>
          <p:cNvSpPr>
            <a:spLocks noGrp="1"/>
          </p:cNvSpPr>
          <p:nvPr>
            <p:ph type="sldNum" sz="quarter" idx="12"/>
          </p:nvPr>
        </p:nvSpPr>
        <p:spPr/>
        <p:txBody>
          <a:bodyPr/>
          <a:lstStyle/>
          <a:p>
            <a:fld id="{B6F15528-21DE-4FAA-801E-634DDDAF4B2B}" type="slidenum">
              <a:rPr lang="en-US" smtClean="0"/>
              <a:t>61</a:t>
            </a:fld>
            <a:endParaRPr lang="en-US"/>
          </a:p>
        </p:txBody>
      </p:sp>
      <p:pic>
        <p:nvPicPr>
          <p:cNvPr id="5" name="图片 4"/>
          <p:cNvPicPr>
            <a:picLocks noChangeAspect="1"/>
          </p:cNvPicPr>
          <p:nvPr/>
        </p:nvPicPr>
        <p:blipFill>
          <a:blip r:embed="rId2"/>
          <a:stretch>
            <a:fillRect/>
          </a:stretch>
        </p:blipFill>
        <p:spPr>
          <a:xfrm>
            <a:off x="1219200" y="1465897"/>
            <a:ext cx="7166610" cy="5103495"/>
          </a:xfrm>
          <a:prstGeom prst="rect">
            <a:avLst/>
          </a:prstGeom>
        </p:spPr>
      </p:pic>
      <p:sp>
        <p:nvSpPr>
          <p:cNvPr id="6" name="椭圆 5"/>
          <p:cNvSpPr/>
          <p:nvPr/>
        </p:nvSpPr>
        <p:spPr>
          <a:xfrm>
            <a:off x="3733800" y="3733800"/>
            <a:ext cx="3048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522524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AlphaGo</a:t>
            </a:r>
            <a:r>
              <a:rPr lang="zh-CN" altLang="en-US" dirty="0" smtClean="0"/>
              <a:t>被逼出了</a:t>
            </a:r>
            <a:r>
              <a:rPr lang="en-US" altLang="zh-CN" dirty="0" smtClean="0"/>
              <a:t>bug</a:t>
            </a:r>
            <a:endParaRPr lang="zh-CN" altLang="en-US" dirty="0"/>
          </a:p>
        </p:txBody>
      </p:sp>
      <p:pic>
        <p:nvPicPr>
          <p:cNvPr id="5" name="内容占位符 4"/>
          <p:cNvPicPr>
            <a:picLocks noGrp="1" noChangeAspect="1"/>
          </p:cNvPicPr>
          <p:nvPr>
            <p:ph idx="1"/>
          </p:nvPr>
        </p:nvPicPr>
        <p:blipFill>
          <a:blip r:embed="rId2"/>
          <a:stretch>
            <a:fillRect/>
          </a:stretch>
        </p:blipFill>
        <p:spPr>
          <a:xfrm>
            <a:off x="1091259" y="1344681"/>
            <a:ext cx="6961482" cy="5023666"/>
          </a:xfrm>
          <a:prstGeom prst="rect">
            <a:avLst/>
          </a:prstGeom>
        </p:spPr>
      </p:pic>
      <p:sp>
        <p:nvSpPr>
          <p:cNvPr id="4" name="灯片编号占位符 3"/>
          <p:cNvSpPr>
            <a:spLocks noGrp="1"/>
          </p:cNvSpPr>
          <p:nvPr>
            <p:ph type="sldNum" sz="quarter" idx="12"/>
          </p:nvPr>
        </p:nvSpPr>
        <p:spPr/>
        <p:txBody>
          <a:bodyPr/>
          <a:lstStyle/>
          <a:p>
            <a:fld id="{B6F15528-21DE-4FAA-801E-634DDDAF4B2B}" type="slidenum">
              <a:rPr lang="en-US" smtClean="0"/>
              <a:t>62</a:t>
            </a:fld>
            <a:endParaRPr lang="en-US"/>
          </a:p>
        </p:txBody>
      </p:sp>
      <p:sp>
        <p:nvSpPr>
          <p:cNvPr id="6" name="椭圆 5"/>
          <p:cNvSpPr/>
          <p:nvPr/>
        </p:nvSpPr>
        <p:spPr>
          <a:xfrm>
            <a:off x="5410200" y="4038600"/>
            <a:ext cx="304800"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611311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B6F15528-21DE-4FAA-801E-634DDDAF4B2B}" type="slidenum">
              <a:rPr lang="en-US" smtClean="0"/>
              <a:t>63</a:t>
            </a:fld>
            <a:endParaRPr lang="en-US"/>
          </a:p>
        </p:txBody>
      </p:sp>
      <p:sp>
        <p:nvSpPr>
          <p:cNvPr id="5" name="矩形 4"/>
          <p:cNvSpPr/>
          <p:nvPr/>
        </p:nvSpPr>
        <p:spPr>
          <a:xfrm>
            <a:off x="609600" y="914400"/>
            <a:ext cx="7467600" cy="954107"/>
          </a:xfrm>
          <a:prstGeom prst="rect">
            <a:avLst/>
          </a:prstGeom>
        </p:spPr>
        <p:txBody>
          <a:bodyPr wrap="square">
            <a:spAutoFit/>
          </a:bodyPr>
          <a:lstStyle/>
          <a:p>
            <a:r>
              <a:rPr lang="en-US" altLang="zh-CN" sz="2800" dirty="0"/>
              <a:t>2017</a:t>
            </a:r>
            <a:r>
              <a:rPr lang="zh-CN" altLang="en-US" sz="2800" dirty="0"/>
              <a:t>年</a:t>
            </a:r>
            <a:r>
              <a:rPr lang="en-US" altLang="zh-CN" sz="2800" dirty="0"/>
              <a:t>5</a:t>
            </a:r>
            <a:r>
              <a:rPr lang="zh-CN" altLang="en-US" sz="2800" dirty="0"/>
              <a:t>月，</a:t>
            </a:r>
            <a:r>
              <a:rPr lang="en-US" altLang="zh-CN" sz="2800" dirty="0"/>
              <a:t> </a:t>
            </a:r>
            <a:r>
              <a:rPr lang="en-US" altLang="zh-CN" sz="2800" dirty="0" err="1"/>
              <a:t>AlphaGo</a:t>
            </a:r>
            <a:r>
              <a:rPr lang="en-US" altLang="zh-CN" sz="2800" dirty="0"/>
              <a:t> vs</a:t>
            </a:r>
            <a:r>
              <a:rPr lang="zh-CN" altLang="en-US" sz="2800" dirty="0"/>
              <a:t> 排名世界第一的柯洁以</a:t>
            </a:r>
            <a:r>
              <a:rPr lang="en-US" altLang="zh-CN" sz="2800" dirty="0"/>
              <a:t>3</a:t>
            </a:r>
            <a:r>
              <a:rPr lang="zh-CN" altLang="en-US" sz="2800" dirty="0"/>
              <a:t>比</a:t>
            </a:r>
            <a:r>
              <a:rPr lang="en-US" altLang="zh-CN" sz="2800" dirty="0"/>
              <a:t>0</a:t>
            </a:r>
            <a:r>
              <a:rPr lang="zh-CN" altLang="en-US" sz="2800" dirty="0"/>
              <a:t>的总比分获胜</a:t>
            </a:r>
          </a:p>
        </p:txBody>
      </p:sp>
      <p:pic>
        <p:nvPicPr>
          <p:cNvPr id="7"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73" y="2734520"/>
            <a:ext cx="3813127" cy="27432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734520"/>
            <a:ext cx="4114800" cy="2734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369003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ctr"/>
          <a:lstStyle/>
          <a:p>
            <a:r>
              <a:rPr lang="zh-CN" altLang="en-US"/>
              <a:t>提纲</a:t>
            </a:r>
          </a:p>
        </p:txBody>
      </p:sp>
      <p:sp>
        <p:nvSpPr>
          <p:cNvPr id="4099" name="文本占位符 4098"/>
          <p:cNvSpPr>
            <a:spLocks noGrp="1"/>
          </p:cNvSpPr>
          <p:nvPr>
            <p:ph type="body" idx="1"/>
          </p:nvPr>
        </p:nvSpPr>
        <p:spPr/>
        <p:txBody>
          <a:bodyPr/>
          <a:lstStyle/>
          <a:p>
            <a:r>
              <a:rPr lang="zh-CN" altLang="en-US" dirty="0"/>
              <a:t>游戏（两人对抗）</a:t>
            </a:r>
            <a:endParaRPr lang="en-US" altLang="zh-CN" dirty="0"/>
          </a:p>
          <a:p>
            <a:r>
              <a:rPr lang="zh-CN" altLang="en-US" dirty="0"/>
              <a:t>对抗搜索</a:t>
            </a:r>
          </a:p>
          <a:p>
            <a:pPr lvl="1"/>
            <a:r>
              <a:rPr lang="en-US" altLang="zh-CN" dirty="0" err="1"/>
              <a:t>Minimax</a:t>
            </a:r>
            <a:r>
              <a:rPr lang="zh-CN" altLang="en-US" dirty="0"/>
              <a:t>算法</a:t>
            </a:r>
            <a:endParaRPr lang="en-US" altLang="zh-CN" dirty="0"/>
          </a:p>
          <a:p>
            <a:pPr lvl="1"/>
            <a:r>
              <a:rPr lang="en-US" altLang="zh-CN" dirty="0"/>
              <a:t>α-β </a:t>
            </a:r>
            <a:r>
              <a:rPr lang="zh-CN" altLang="en-US" dirty="0"/>
              <a:t>剪枝</a:t>
            </a:r>
            <a:r>
              <a:rPr lang="en-US" altLang="zh-CN" dirty="0"/>
              <a:t> (alpha-beta pruning)</a:t>
            </a:r>
          </a:p>
          <a:p>
            <a:pPr lvl="1"/>
            <a:r>
              <a:rPr lang="zh-CN" altLang="en-US" dirty="0"/>
              <a:t>实时决策</a:t>
            </a:r>
            <a:r>
              <a:rPr lang="en-US" altLang="zh-CN" dirty="0"/>
              <a:t> (real-time decision)</a:t>
            </a:r>
          </a:p>
          <a:p>
            <a:r>
              <a:rPr lang="zh-CN" altLang="en-US" b="1" dirty="0">
                <a:solidFill>
                  <a:srgbClr val="C00000"/>
                </a:solidFill>
              </a:rPr>
              <a:t>包含几率因素的游戏</a:t>
            </a:r>
            <a:endParaRPr lang="en-US" altLang="zh-CN" b="1" dirty="0">
              <a:solidFill>
                <a:srgbClr val="C00000"/>
              </a:solidFill>
            </a:endParaRPr>
          </a:p>
          <a:p>
            <a:r>
              <a:rPr lang="zh-CN" altLang="en-US" dirty="0"/>
              <a:t>不完整信息的游戏</a:t>
            </a:r>
          </a:p>
        </p:txBody>
      </p:sp>
      <p:sp>
        <p:nvSpPr>
          <p:cNvPr id="2" name="灯片编号占位符 1"/>
          <p:cNvSpPr>
            <a:spLocks noGrp="1"/>
          </p:cNvSpPr>
          <p:nvPr>
            <p:ph type="sldNum" sz="quarter" idx="12"/>
          </p:nvPr>
        </p:nvSpPr>
        <p:spPr/>
        <p:txBody>
          <a:bodyPr/>
          <a:lstStyle/>
          <a:p>
            <a:fld id="{B6F15528-21DE-4FAA-801E-634DDDAF4B2B}" type="slidenum">
              <a:rPr lang="en-US" smtClean="0"/>
              <a:t>64</a:t>
            </a:fld>
            <a:endParaRPr lang="en-US"/>
          </a:p>
        </p:txBody>
      </p:sp>
    </p:spTree>
    <p:extLst>
      <p:ext uri="{BB962C8B-B14F-4D97-AF65-F5344CB8AC3E}">
        <p14:creationId xmlns:p14="http://schemas.microsoft.com/office/powerpoint/2010/main" val="410845386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包含几率因素的游戏</a:t>
            </a:r>
          </a:p>
        </p:txBody>
      </p:sp>
      <p:sp>
        <p:nvSpPr>
          <p:cNvPr id="3" name="内容占位符 2"/>
          <p:cNvSpPr>
            <a:spLocks noGrp="1"/>
          </p:cNvSpPr>
          <p:nvPr>
            <p:ph idx="1"/>
          </p:nvPr>
        </p:nvSpPr>
        <p:spPr/>
        <p:txBody>
          <a:bodyPr/>
          <a:lstStyle/>
          <a:p>
            <a:r>
              <a:rPr lang="zh-CN" altLang="en-US" dirty="0"/>
              <a:t>西洋双陆棋</a:t>
            </a:r>
          </a:p>
        </p:txBody>
      </p:sp>
      <p:pic>
        <p:nvPicPr>
          <p:cNvPr id="4098" name="Picture 2"/>
          <p:cNvPicPr>
            <a:picLocks noChangeAspect="1" noChangeArrowheads="1"/>
          </p:cNvPicPr>
          <p:nvPr/>
        </p:nvPicPr>
        <p:blipFill>
          <a:blip r:embed="rId2" cstate="print"/>
          <a:srcRect/>
          <a:stretch>
            <a:fillRect/>
          </a:stretch>
        </p:blipFill>
        <p:spPr bwMode="auto">
          <a:xfrm>
            <a:off x="2195736" y="2204864"/>
            <a:ext cx="5086522" cy="4320480"/>
          </a:xfrm>
          <a:prstGeom prst="rect">
            <a:avLst/>
          </a:prstGeom>
          <a:noFill/>
          <a:ln w="9525">
            <a:noFill/>
            <a:miter lim="800000"/>
            <a:headEnd/>
            <a:tailEnd/>
          </a:ln>
        </p:spPr>
      </p:pic>
    </p:spTree>
    <p:extLst>
      <p:ext uri="{BB962C8B-B14F-4D97-AF65-F5344CB8AC3E}">
        <p14:creationId xmlns:p14="http://schemas.microsoft.com/office/powerpoint/2010/main" val="2804599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非确定性游戏概述</a:t>
            </a:r>
          </a:p>
        </p:txBody>
      </p:sp>
      <p:sp>
        <p:nvSpPr>
          <p:cNvPr id="3" name="内容占位符 2"/>
          <p:cNvSpPr>
            <a:spLocks noGrp="1"/>
          </p:cNvSpPr>
          <p:nvPr>
            <p:ph idx="1"/>
          </p:nvPr>
        </p:nvSpPr>
        <p:spPr>
          <a:xfrm>
            <a:off x="457200" y="1600201"/>
            <a:ext cx="8229600" cy="1468759"/>
          </a:xfrm>
        </p:spPr>
        <p:txBody>
          <a:bodyPr>
            <a:normAutofit lnSpcReduction="10000"/>
          </a:bodyPr>
          <a:lstStyle/>
          <a:p>
            <a:pPr>
              <a:buNone/>
            </a:pPr>
            <a:r>
              <a:rPr lang="zh-CN" altLang="en-US" dirty="0"/>
              <a:t>在非确定性的游戏中</a:t>
            </a:r>
            <a:r>
              <a:rPr lang="en-US" altLang="zh-CN" dirty="0"/>
              <a:t>, </a:t>
            </a:r>
            <a:r>
              <a:rPr lang="zh-CN" altLang="en-US" dirty="0"/>
              <a:t>几率因素是由掷骰子，抽牌等引起的。</a:t>
            </a:r>
            <a:r>
              <a:rPr lang="en-US" altLang="zh-CN" dirty="0"/>
              <a:t> </a:t>
            </a:r>
            <a:r>
              <a:rPr lang="zh-CN" altLang="en-US" dirty="0"/>
              <a:t>抛硬币游戏的简化示例</a:t>
            </a:r>
            <a:r>
              <a:rPr lang="en-US" altLang="zh-CN" dirty="0"/>
              <a:t>:</a:t>
            </a:r>
            <a:br>
              <a:rPr lang="en-US" altLang="zh-CN" dirty="0"/>
            </a:br>
            <a:endParaRPr lang="zh-CN" altLang="en-US" dirty="0"/>
          </a:p>
        </p:txBody>
      </p:sp>
      <p:pic>
        <p:nvPicPr>
          <p:cNvPr id="5122" name="Picture 2"/>
          <p:cNvPicPr>
            <a:picLocks noChangeAspect="1" noChangeArrowheads="1"/>
          </p:cNvPicPr>
          <p:nvPr/>
        </p:nvPicPr>
        <p:blipFill>
          <a:blip r:embed="rId2" cstate="print"/>
          <a:srcRect/>
          <a:stretch>
            <a:fillRect/>
          </a:stretch>
        </p:blipFill>
        <p:spPr bwMode="auto">
          <a:xfrm>
            <a:off x="1619671" y="2780928"/>
            <a:ext cx="6303723" cy="3384376"/>
          </a:xfrm>
          <a:prstGeom prst="rect">
            <a:avLst/>
          </a:prstGeom>
          <a:noFill/>
          <a:ln w="9525">
            <a:noFill/>
            <a:miter lim="800000"/>
            <a:headEnd/>
            <a:tailEnd/>
          </a:ln>
        </p:spPr>
      </p:pic>
    </p:spTree>
    <p:extLst>
      <p:ext uri="{BB962C8B-B14F-4D97-AF65-F5344CB8AC3E}">
        <p14:creationId xmlns:p14="http://schemas.microsoft.com/office/powerpoint/2010/main" val="30299549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非确定性游戏概述</a:t>
            </a:r>
          </a:p>
        </p:txBody>
      </p:sp>
      <p:sp>
        <p:nvSpPr>
          <p:cNvPr id="3" name="内容占位符 2"/>
          <p:cNvSpPr>
            <a:spLocks noGrp="1"/>
          </p:cNvSpPr>
          <p:nvPr>
            <p:ph idx="1"/>
          </p:nvPr>
        </p:nvSpPr>
        <p:spPr/>
        <p:txBody>
          <a:bodyPr>
            <a:normAutofit/>
          </a:bodyPr>
          <a:lstStyle/>
          <a:p>
            <a:pPr>
              <a:buNone/>
            </a:pPr>
            <a:r>
              <a:rPr lang="en-US" altLang="zh-CN" dirty="0"/>
              <a:t>• </a:t>
            </a:r>
            <a:r>
              <a:rPr lang="zh-CN" altLang="en-US" dirty="0"/>
              <a:t>权重取决于事件发生的概率</a:t>
            </a:r>
            <a:endParaRPr lang="en-US" altLang="zh-CN" dirty="0"/>
          </a:p>
          <a:p>
            <a:pPr>
              <a:buNone/>
            </a:pPr>
            <a:endParaRPr lang="en-US" altLang="zh-CN" dirty="0"/>
          </a:p>
          <a:p>
            <a:pPr>
              <a:buNone/>
            </a:pPr>
            <a:r>
              <a:rPr lang="en-US" altLang="zh-CN" dirty="0"/>
              <a:t>• </a:t>
            </a:r>
            <a:r>
              <a:rPr lang="zh-CN" altLang="en-US" dirty="0"/>
              <a:t>将极小极大值推广为</a:t>
            </a:r>
            <a:r>
              <a:rPr lang="zh-CN" altLang="en-US" dirty="0">
                <a:solidFill>
                  <a:srgbClr val="FF0000"/>
                </a:solidFill>
              </a:rPr>
              <a:t>期望</a:t>
            </a:r>
            <a:endParaRPr lang="en-US" altLang="zh-CN" dirty="0">
              <a:solidFill>
                <a:srgbClr val="FF0000"/>
              </a:solidFill>
            </a:endParaRPr>
          </a:p>
          <a:p>
            <a:pPr>
              <a:buNone/>
            </a:pPr>
            <a:r>
              <a:rPr lang="zh-CN" altLang="en-US" dirty="0">
                <a:solidFill>
                  <a:srgbClr val="FF0000"/>
                </a:solidFill>
              </a:rPr>
              <a:t>极小极大值</a:t>
            </a:r>
            <a:endParaRPr lang="en-US" altLang="zh-CN" dirty="0">
              <a:solidFill>
                <a:srgbClr val="FF0000"/>
              </a:solidFill>
            </a:endParaRPr>
          </a:p>
          <a:p>
            <a:pPr>
              <a:buNone/>
            </a:pPr>
            <a:endParaRPr lang="en-US" altLang="zh-CN" dirty="0"/>
          </a:p>
          <a:p>
            <a:pPr>
              <a:buNone/>
            </a:pPr>
            <a:r>
              <a:rPr lang="en-US" altLang="zh-CN" dirty="0"/>
              <a:t>• Choose move with highest</a:t>
            </a:r>
            <a:br>
              <a:rPr lang="en-US" altLang="zh-CN" dirty="0"/>
            </a:br>
            <a:r>
              <a:rPr lang="en-US" altLang="zh-CN" dirty="0"/>
              <a:t>expected value</a:t>
            </a:r>
            <a:endParaRPr lang="zh-CN" altLang="en-US" dirty="0"/>
          </a:p>
        </p:txBody>
      </p:sp>
      <p:pic>
        <p:nvPicPr>
          <p:cNvPr id="6146" name="Picture 2"/>
          <p:cNvPicPr>
            <a:picLocks noChangeAspect="1" noChangeArrowheads="1"/>
          </p:cNvPicPr>
          <p:nvPr/>
        </p:nvPicPr>
        <p:blipFill>
          <a:blip r:embed="rId2" cstate="print"/>
          <a:srcRect/>
          <a:stretch>
            <a:fillRect/>
          </a:stretch>
        </p:blipFill>
        <p:spPr bwMode="auto">
          <a:xfrm>
            <a:off x="5508104" y="2276872"/>
            <a:ext cx="3627403" cy="2808312"/>
          </a:xfrm>
          <a:prstGeom prst="rect">
            <a:avLst/>
          </a:prstGeom>
          <a:noFill/>
          <a:ln w="9525">
            <a:noFill/>
            <a:miter lim="800000"/>
            <a:headEnd/>
            <a:tailEnd/>
          </a:ln>
        </p:spPr>
      </p:pic>
    </p:spTree>
    <p:extLst>
      <p:ext uri="{BB962C8B-B14F-4D97-AF65-F5344CB8AC3E}">
        <p14:creationId xmlns:p14="http://schemas.microsoft.com/office/powerpoint/2010/main" val="3195792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期望效用最大化</a:t>
            </a:r>
          </a:p>
        </p:txBody>
      </p:sp>
      <p:sp>
        <p:nvSpPr>
          <p:cNvPr id="3" name="内容占位符 2"/>
          <p:cNvSpPr>
            <a:spLocks noGrp="1"/>
          </p:cNvSpPr>
          <p:nvPr>
            <p:ph idx="1"/>
          </p:nvPr>
        </p:nvSpPr>
        <p:spPr/>
        <p:txBody>
          <a:bodyPr>
            <a:normAutofit fontScale="92500" lnSpcReduction="20000"/>
          </a:bodyPr>
          <a:lstStyle/>
          <a:p>
            <a:pPr>
              <a:buNone/>
            </a:pPr>
            <a:r>
              <a:rPr lang="en-US" altLang="zh-CN" dirty="0"/>
              <a:t>• </a:t>
            </a:r>
            <a:r>
              <a:rPr lang="zh-CN" altLang="en-US" dirty="0"/>
              <a:t>为什么我们要计算平均效用值</a:t>
            </a:r>
            <a:r>
              <a:rPr lang="en-US" altLang="zh-CN" dirty="0"/>
              <a:t>? </a:t>
            </a:r>
            <a:r>
              <a:rPr lang="zh-CN" altLang="en-US" dirty="0"/>
              <a:t>为什么不计算极小极大值</a:t>
            </a:r>
            <a:r>
              <a:rPr lang="en-US" altLang="zh-CN" dirty="0"/>
              <a:t>?</a:t>
            </a:r>
          </a:p>
          <a:p>
            <a:pPr>
              <a:buNone/>
            </a:pPr>
            <a:endParaRPr lang="en-US" altLang="zh-CN" dirty="0"/>
          </a:p>
          <a:p>
            <a:pPr>
              <a:buNone/>
            </a:pPr>
            <a:r>
              <a:rPr lang="en-US" altLang="zh-CN" dirty="0"/>
              <a:t>• </a:t>
            </a:r>
            <a:r>
              <a:rPr lang="zh-CN" altLang="en-US" dirty="0"/>
              <a:t>期望效用最大化原则</a:t>
            </a:r>
            <a:r>
              <a:rPr lang="en-US" altLang="zh-CN" dirty="0"/>
              <a:t>: </a:t>
            </a:r>
            <a:r>
              <a:rPr lang="zh-CN" altLang="en-US" dirty="0"/>
              <a:t>一个智能体基于其给定的知识库，会根据</a:t>
            </a:r>
            <a:r>
              <a:rPr lang="zh-CN" altLang="en-US" dirty="0">
                <a:solidFill>
                  <a:srgbClr val="FF0000"/>
                </a:solidFill>
              </a:rPr>
              <a:t>期望效用最大化</a:t>
            </a:r>
            <a:r>
              <a:rPr lang="zh-CN" altLang="en-US" dirty="0"/>
              <a:t>来选择行动方式</a:t>
            </a:r>
            <a:endParaRPr lang="en-US" altLang="zh-CN" dirty="0"/>
          </a:p>
          <a:p>
            <a:pPr>
              <a:buNone/>
            </a:pPr>
            <a:endParaRPr lang="en-US" altLang="zh-CN" dirty="0"/>
          </a:p>
          <a:p>
            <a:pPr>
              <a:buNone/>
            </a:pPr>
            <a:r>
              <a:rPr lang="en-US" altLang="zh-CN" dirty="0"/>
              <a:t>• </a:t>
            </a:r>
            <a:r>
              <a:rPr lang="zh-CN" altLang="en-US" dirty="0"/>
              <a:t>决策的一般性原则</a:t>
            </a:r>
            <a:endParaRPr lang="en-US" altLang="zh-CN" dirty="0"/>
          </a:p>
          <a:p>
            <a:pPr>
              <a:buNone/>
            </a:pPr>
            <a:r>
              <a:rPr lang="en-US" altLang="zh-CN" dirty="0"/>
              <a:t>• </a:t>
            </a:r>
            <a:r>
              <a:rPr lang="zh-CN" altLang="en-US" dirty="0"/>
              <a:t>经常作为理性的定义</a:t>
            </a:r>
            <a:endParaRPr lang="en-US" altLang="zh-CN" dirty="0"/>
          </a:p>
          <a:p>
            <a:pPr>
              <a:buNone/>
            </a:pPr>
            <a:r>
              <a:rPr lang="en-US" altLang="zh-CN" dirty="0"/>
              <a:t>• </a:t>
            </a:r>
            <a:r>
              <a:rPr lang="zh-CN" altLang="en-US" dirty="0"/>
              <a:t>我们会在本课程中反复看到该观点</a:t>
            </a:r>
            <a:r>
              <a:rPr lang="en-US" altLang="zh-CN" dirty="0"/>
              <a:t>!</a:t>
            </a:r>
            <a:endParaRPr lang="zh-CN" altLang="en-US" dirty="0"/>
          </a:p>
        </p:txBody>
      </p:sp>
    </p:spTree>
    <p:extLst>
      <p:ext uri="{BB962C8B-B14F-4D97-AF65-F5344CB8AC3E}">
        <p14:creationId xmlns:p14="http://schemas.microsoft.com/office/powerpoint/2010/main" val="1521894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期望极小极大值算法</a:t>
            </a:r>
          </a:p>
        </p:txBody>
      </p:sp>
      <p:sp>
        <p:nvSpPr>
          <p:cNvPr id="3" name="内容占位符 2"/>
          <p:cNvSpPr>
            <a:spLocks noGrp="1"/>
          </p:cNvSpPr>
          <p:nvPr>
            <p:ph idx="1"/>
          </p:nvPr>
        </p:nvSpPr>
        <p:spPr/>
        <p:txBody>
          <a:bodyPr>
            <a:normAutofit fontScale="77500" lnSpcReduction="20000"/>
          </a:bodyPr>
          <a:lstStyle/>
          <a:p>
            <a:pPr>
              <a:buNone/>
            </a:pPr>
            <a:r>
              <a:rPr lang="en-US" altLang="zh-CN" dirty="0"/>
              <a:t>EXPECTIMINIMAX </a:t>
            </a:r>
            <a:r>
              <a:rPr lang="zh-CN" altLang="en-US" dirty="0"/>
              <a:t>类似于</a:t>
            </a:r>
            <a:r>
              <a:rPr lang="en-US" altLang="zh-CN" dirty="0"/>
              <a:t>MINIMAX</a:t>
            </a:r>
            <a:r>
              <a:rPr lang="zh-CN" altLang="en-US" dirty="0"/>
              <a:t>，多考虑一个几率节点</a:t>
            </a:r>
            <a:r>
              <a:rPr lang="en-US" altLang="zh-CN" dirty="0"/>
              <a:t/>
            </a:r>
            <a:br>
              <a:rPr lang="en-US" altLang="zh-CN" dirty="0"/>
            </a:br>
            <a:endParaRPr lang="en-US" altLang="zh-CN" dirty="0"/>
          </a:p>
          <a:p>
            <a:pPr>
              <a:buNone/>
            </a:pPr>
            <a:endParaRPr lang="en-US" altLang="zh-CN" dirty="0"/>
          </a:p>
          <a:p>
            <a:pPr>
              <a:buNone/>
            </a:pPr>
            <a:r>
              <a:rPr lang="en-US" altLang="zh-CN" dirty="0"/>
              <a:t>if state is a Max node then</a:t>
            </a:r>
            <a:br>
              <a:rPr lang="en-US" altLang="zh-CN" dirty="0"/>
            </a:br>
            <a:r>
              <a:rPr lang="en-US" altLang="zh-CN" dirty="0"/>
              <a:t>return the highest EXPECTIMINIMAX-VALUE of SUCCESSORS(state)</a:t>
            </a:r>
          </a:p>
          <a:p>
            <a:pPr>
              <a:buNone/>
            </a:pPr>
            <a:r>
              <a:rPr lang="en-US" altLang="zh-CN" dirty="0"/>
              <a:t>if state is a Min node then</a:t>
            </a:r>
            <a:br>
              <a:rPr lang="en-US" altLang="zh-CN" dirty="0"/>
            </a:br>
            <a:r>
              <a:rPr lang="en-US" altLang="zh-CN" dirty="0"/>
              <a:t>return the lowest EXPECTIMINIMAX-VALUE of SUCCESSORS(state)</a:t>
            </a:r>
          </a:p>
          <a:p>
            <a:pPr>
              <a:buNone/>
            </a:pPr>
            <a:r>
              <a:rPr lang="en-US" altLang="zh-CN" dirty="0"/>
              <a:t>if state is a chance node then</a:t>
            </a:r>
            <a:br>
              <a:rPr lang="en-US" altLang="zh-CN" dirty="0"/>
            </a:br>
            <a:r>
              <a:rPr lang="en-US" altLang="zh-CN" dirty="0"/>
              <a:t>return average of EXPECTIMINIMAX-VALUE of SUCCESSORS(state) </a:t>
            </a:r>
            <a:br>
              <a:rPr lang="en-US" altLang="zh-CN" dirty="0"/>
            </a:br>
            <a:endParaRPr lang="zh-CN" altLang="en-US" dirty="0"/>
          </a:p>
        </p:txBody>
      </p:sp>
    </p:spTree>
    <p:extLst>
      <p:ext uri="{BB962C8B-B14F-4D97-AF65-F5344CB8AC3E}">
        <p14:creationId xmlns:p14="http://schemas.microsoft.com/office/powerpoint/2010/main" val="5247092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随机的</a:t>
            </a:r>
            <a:r>
              <a:rPr lang="en-US" altLang="zh-CN" dirty="0"/>
              <a:t>Two-Player</a:t>
            </a:r>
            <a:endParaRPr lang="zh-CN" altLang="en-US" dirty="0"/>
          </a:p>
        </p:txBody>
      </p:sp>
      <p:sp>
        <p:nvSpPr>
          <p:cNvPr id="3" name="内容占位符 2"/>
          <p:cNvSpPr>
            <a:spLocks noGrp="1"/>
          </p:cNvSpPr>
          <p:nvPr>
            <p:ph idx="1"/>
          </p:nvPr>
        </p:nvSpPr>
        <p:spPr/>
        <p:txBody>
          <a:bodyPr>
            <a:normAutofit fontScale="92500" lnSpcReduction="10000"/>
          </a:bodyPr>
          <a:lstStyle/>
          <a:p>
            <a:pPr>
              <a:buNone/>
            </a:pPr>
            <a:r>
              <a:rPr lang="en-US" altLang="zh-CN" dirty="0"/>
              <a:t>• </a:t>
            </a:r>
            <a:r>
              <a:rPr lang="zh-CN" altLang="en-US" dirty="0"/>
              <a:t>掷骰子增加分枝</a:t>
            </a:r>
            <a:r>
              <a:rPr lang="en-US" altLang="zh-CN" dirty="0"/>
              <a:t>b: </a:t>
            </a:r>
            <a:r>
              <a:rPr lang="zh-CN" altLang="en-US" dirty="0"/>
              <a:t>两个骰子有</a:t>
            </a:r>
            <a:r>
              <a:rPr lang="en-US" altLang="zh-CN" dirty="0"/>
              <a:t>21</a:t>
            </a:r>
            <a:r>
              <a:rPr lang="zh-CN" altLang="en-US" dirty="0"/>
              <a:t>种可能的掷法</a:t>
            </a:r>
            <a:r>
              <a:rPr lang="en-US" altLang="zh-CN" dirty="0"/>
              <a:t/>
            </a:r>
            <a:br>
              <a:rPr lang="en-US" altLang="zh-CN" dirty="0"/>
            </a:br>
            <a:r>
              <a:rPr lang="en-US" altLang="zh-CN" dirty="0"/>
              <a:t>– </a:t>
            </a:r>
            <a:r>
              <a:rPr lang="zh-CN" altLang="en-US" dirty="0"/>
              <a:t>西洋双陆棋</a:t>
            </a:r>
            <a:r>
              <a:rPr lang="en-US" altLang="zh-CN" dirty="0"/>
              <a:t> ≈ 20</a:t>
            </a:r>
            <a:r>
              <a:rPr lang="zh-CN" altLang="en-US" dirty="0"/>
              <a:t>种合法行动</a:t>
            </a:r>
            <a:r>
              <a:rPr lang="en-US" altLang="zh-CN" dirty="0"/>
              <a:t/>
            </a:r>
            <a:br>
              <a:rPr lang="en-US" altLang="zh-CN" dirty="0"/>
            </a:br>
            <a:r>
              <a:rPr lang="en-US" altLang="zh-CN" dirty="0"/>
              <a:t>– Depth 4 = 20 x (21 x 20)</a:t>
            </a:r>
            <a:r>
              <a:rPr lang="en-US" altLang="zh-CN" baseline="30000" dirty="0"/>
              <a:t>3</a:t>
            </a:r>
            <a:r>
              <a:rPr lang="en-US" altLang="zh-CN" dirty="0"/>
              <a:t>=1.2 x 10</a:t>
            </a:r>
            <a:r>
              <a:rPr lang="en-US" altLang="zh-CN" baseline="30000" dirty="0"/>
              <a:t>9</a:t>
            </a:r>
          </a:p>
          <a:p>
            <a:pPr>
              <a:buNone/>
            </a:pPr>
            <a:r>
              <a:rPr lang="en-US" altLang="zh-CN" dirty="0"/>
              <a:t>• </a:t>
            </a:r>
            <a:r>
              <a:rPr lang="zh-CN" altLang="en-US" dirty="0"/>
              <a:t>当深度增加时，到达指定节点的概率会收窄</a:t>
            </a:r>
            <a:r>
              <a:rPr lang="en-US" altLang="zh-CN" dirty="0"/>
              <a:t/>
            </a:r>
            <a:br>
              <a:rPr lang="en-US" altLang="zh-CN" dirty="0"/>
            </a:br>
            <a:r>
              <a:rPr lang="en-US" altLang="zh-CN" dirty="0"/>
              <a:t>– </a:t>
            </a:r>
            <a:r>
              <a:rPr lang="zh-CN" altLang="en-US" dirty="0"/>
              <a:t>此时再向前搜索的价值会减少</a:t>
            </a:r>
            <a:r>
              <a:rPr lang="en-US" altLang="zh-CN" dirty="0"/>
              <a:t/>
            </a:r>
            <a:br>
              <a:rPr lang="en-US" altLang="zh-CN" dirty="0"/>
            </a:br>
            <a:r>
              <a:rPr lang="en-US" altLang="zh-CN" dirty="0"/>
              <a:t>– </a:t>
            </a:r>
            <a:r>
              <a:rPr lang="zh-CN" altLang="en-US" dirty="0"/>
              <a:t>所以限定搜索深度是</a:t>
            </a:r>
            <a:r>
              <a:rPr lang="en-US" altLang="zh-CN" dirty="0"/>
              <a:t>OK</a:t>
            </a:r>
            <a:r>
              <a:rPr lang="zh-CN" altLang="en-US" dirty="0"/>
              <a:t>的</a:t>
            </a:r>
            <a:r>
              <a:rPr lang="en-US" altLang="zh-CN" dirty="0"/>
              <a:t/>
            </a:r>
            <a:br>
              <a:rPr lang="en-US" altLang="zh-CN" dirty="0"/>
            </a:br>
            <a:r>
              <a:rPr lang="en-US" altLang="zh-CN" dirty="0"/>
              <a:t>– </a:t>
            </a:r>
            <a:r>
              <a:rPr lang="zh-CN" altLang="en-US" dirty="0"/>
              <a:t>但是剪枝不太可能实现</a:t>
            </a:r>
            <a:r>
              <a:rPr lang="en-US" altLang="zh-CN" dirty="0"/>
              <a:t>…</a:t>
            </a:r>
          </a:p>
          <a:p>
            <a:pPr>
              <a:buNone/>
            </a:pPr>
            <a:r>
              <a:rPr lang="en-US" altLang="zh-CN" dirty="0"/>
              <a:t>• </a:t>
            </a:r>
            <a:r>
              <a:rPr lang="en-US" altLang="zh-CN" dirty="0" err="1"/>
              <a:t>TDGammon</a:t>
            </a:r>
            <a:r>
              <a:rPr lang="en-US" altLang="zh-CN" dirty="0"/>
              <a:t> uses depth-2 search + very</a:t>
            </a:r>
            <a:br>
              <a:rPr lang="en-US" altLang="zh-CN" dirty="0"/>
            </a:br>
            <a:r>
              <a:rPr lang="en-US" altLang="zh-CN" dirty="0"/>
              <a:t>good </a:t>
            </a:r>
            <a:r>
              <a:rPr lang="en-US" altLang="zh-CN" dirty="0" err="1"/>
              <a:t>eval</a:t>
            </a:r>
            <a:r>
              <a:rPr lang="en-US" altLang="zh-CN" dirty="0"/>
              <a:t> function + reinforcement</a:t>
            </a:r>
            <a:br>
              <a:rPr lang="en-US" altLang="zh-CN" dirty="0"/>
            </a:br>
            <a:r>
              <a:rPr lang="en-US" altLang="zh-CN" dirty="0"/>
              <a:t>learning: world-champion level play</a:t>
            </a:r>
            <a:endParaRPr lang="zh-CN" altLang="en-US" dirty="0"/>
          </a:p>
        </p:txBody>
      </p:sp>
      <p:pic>
        <p:nvPicPr>
          <p:cNvPr id="7170" name="Picture 2"/>
          <p:cNvPicPr>
            <a:picLocks noChangeAspect="1" noChangeArrowheads="1"/>
          </p:cNvPicPr>
          <p:nvPr/>
        </p:nvPicPr>
        <p:blipFill>
          <a:blip r:embed="rId2" cstate="print"/>
          <a:srcRect/>
          <a:stretch>
            <a:fillRect/>
          </a:stretch>
        </p:blipFill>
        <p:spPr bwMode="auto">
          <a:xfrm>
            <a:off x="7020272" y="3645024"/>
            <a:ext cx="1933575" cy="1971675"/>
          </a:xfrm>
          <a:prstGeom prst="rect">
            <a:avLst/>
          </a:prstGeom>
          <a:noFill/>
          <a:ln w="9525">
            <a:noFill/>
            <a:miter lim="800000"/>
            <a:headEnd/>
            <a:tailEnd/>
          </a:ln>
        </p:spPr>
      </p:pic>
    </p:spTree>
    <p:extLst>
      <p:ext uri="{BB962C8B-B14F-4D97-AF65-F5344CB8AC3E}">
        <p14:creationId xmlns:p14="http://schemas.microsoft.com/office/powerpoint/2010/main" val="24444661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题外话：精确的评价函数的重要性</a:t>
            </a:r>
          </a:p>
        </p:txBody>
      </p:sp>
      <p:sp>
        <p:nvSpPr>
          <p:cNvPr id="3" name="内容占位符 2"/>
          <p:cNvSpPr>
            <a:spLocks noGrp="1"/>
          </p:cNvSpPr>
          <p:nvPr>
            <p:ph idx="1"/>
          </p:nvPr>
        </p:nvSpPr>
        <p:spPr>
          <a:xfrm>
            <a:off x="467544" y="4653136"/>
            <a:ext cx="8229600" cy="1756791"/>
          </a:xfrm>
        </p:spPr>
        <p:txBody>
          <a:bodyPr>
            <a:normAutofit fontScale="77500" lnSpcReduction="20000"/>
          </a:bodyPr>
          <a:lstStyle/>
          <a:p>
            <a:pPr>
              <a:buNone/>
            </a:pPr>
            <a:r>
              <a:rPr lang="en-US" altLang="zh-CN" dirty="0" err="1"/>
              <a:t>Behaviour</a:t>
            </a:r>
            <a:r>
              <a:rPr lang="en-US" altLang="zh-CN" dirty="0"/>
              <a:t> is preserved only by positive linear transformation of EVAL</a:t>
            </a:r>
          </a:p>
          <a:p>
            <a:pPr>
              <a:buNone/>
            </a:pPr>
            <a:r>
              <a:rPr lang="en-US" altLang="zh-CN" dirty="0"/>
              <a:t>Hence EVAL should be proportional to the expected payoff</a:t>
            </a:r>
            <a:br>
              <a:rPr lang="en-US" altLang="zh-CN" dirty="0"/>
            </a:br>
            <a:r>
              <a:rPr lang="zh-CN" altLang="en-US" dirty="0"/>
              <a:t>评价函数应该是棋局的期望效用值的正线性变换</a:t>
            </a:r>
          </a:p>
        </p:txBody>
      </p:sp>
      <p:pic>
        <p:nvPicPr>
          <p:cNvPr id="8194" name="Picture 2"/>
          <p:cNvPicPr>
            <a:picLocks noChangeAspect="1" noChangeArrowheads="1"/>
          </p:cNvPicPr>
          <p:nvPr/>
        </p:nvPicPr>
        <p:blipFill>
          <a:blip r:embed="rId2" cstate="print"/>
          <a:srcRect/>
          <a:stretch>
            <a:fillRect/>
          </a:stretch>
        </p:blipFill>
        <p:spPr bwMode="auto">
          <a:xfrm>
            <a:off x="827584" y="1484784"/>
            <a:ext cx="7290967" cy="2952328"/>
          </a:xfrm>
          <a:prstGeom prst="rect">
            <a:avLst/>
          </a:prstGeom>
          <a:noFill/>
          <a:ln w="9525">
            <a:noFill/>
            <a:miter lim="800000"/>
            <a:headEnd/>
            <a:tailEnd/>
          </a:ln>
        </p:spPr>
      </p:pic>
    </p:spTree>
    <p:extLst>
      <p:ext uri="{BB962C8B-B14F-4D97-AF65-F5344CB8AC3E}">
        <p14:creationId xmlns:p14="http://schemas.microsoft.com/office/powerpoint/2010/main" val="39448666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4097"/>
          <p:cNvSpPr>
            <a:spLocks noGrp="1"/>
          </p:cNvSpPr>
          <p:nvPr>
            <p:ph type="title"/>
          </p:nvPr>
        </p:nvSpPr>
        <p:spPr/>
        <p:txBody>
          <a:bodyPr anchor="ctr"/>
          <a:lstStyle/>
          <a:p>
            <a:r>
              <a:rPr lang="zh-CN" altLang="en-US"/>
              <a:t>提纲</a:t>
            </a:r>
          </a:p>
        </p:txBody>
      </p:sp>
      <p:sp>
        <p:nvSpPr>
          <p:cNvPr id="4099" name="文本占位符 4098"/>
          <p:cNvSpPr>
            <a:spLocks noGrp="1"/>
          </p:cNvSpPr>
          <p:nvPr>
            <p:ph type="body" idx="1"/>
          </p:nvPr>
        </p:nvSpPr>
        <p:spPr/>
        <p:txBody>
          <a:bodyPr/>
          <a:lstStyle/>
          <a:p>
            <a:r>
              <a:rPr lang="zh-CN" altLang="en-US" dirty="0"/>
              <a:t>游戏（两人对抗）</a:t>
            </a:r>
            <a:endParaRPr lang="en-US" altLang="zh-CN" dirty="0"/>
          </a:p>
          <a:p>
            <a:r>
              <a:rPr lang="zh-CN" altLang="en-US" dirty="0"/>
              <a:t>对抗搜索</a:t>
            </a:r>
          </a:p>
          <a:p>
            <a:pPr lvl="1"/>
            <a:r>
              <a:rPr lang="en-US" altLang="zh-CN" dirty="0" err="1"/>
              <a:t>Minimax</a:t>
            </a:r>
            <a:r>
              <a:rPr lang="zh-CN" altLang="en-US" dirty="0"/>
              <a:t>算法</a:t>
            </a:r>
            <a:endParaRPr lang="en-US" altLang="zh-CN" dirty="0"/>
          </a:p>
          <a:p>
            <a:pPr lvl="1"/>
            <a:r>
              <a:rPr lang="en-US" altLang="zh-CN" dirty="0"/>
              <a:t>α-β </a:t>
            </a:r>
            <a:r>
              <a:rPr lang="zh-CN" altLang="en-US" dirty="0"/>
              <a:t>剪枝</a:t>
            </a:r>
            <a:r>
              <a:rPr lang="en-US" altLang="zh-CN" dirty="0"/>
              <a:t> (alpha-beta pruning)</a:t>
            </a:r>
          </a:p>
          <a:p>
            <a:pPr lvl="1"/>
            <a:r>
              <a:rPr lang="zh-CN" altLang="en-US" dirty="0"/>
              <a:t>实时决策</a:t>
            </a:r>
            <a:r>
              <a:rPr lang="en-US" altLang="zh-CN" dirty="0"/>
              <a:t> (real-time decision)</a:t>
            </a:r>
          </a:p>
          <a:p>
            <a:r>
              <a:rPr lang="zh-CN" altLang="en-US" dirty="0"/>
              <a:t>包含几率因素的游戏</a:t>
            </a:r>
            <a:endParaRPr lang="en-US" altLang="zh-CN" dirty="0"/>
          </a:p>
          <a:p>
            <a:r>
              <a:rPr lang="zh-CN" altLang="en-US" b="1" dirty="0">
                <a:solidFill>
                  <a:srgbClr val="C00000"/>
                </a:solidFill>
              </a:rPr>
              <a:t>不完整信息的游戏</a:t>
            </a:r>
          </a:p>
        </p:txBody>
      </p:sp>
      <p:sp>
        <p:nvSpPr>
          <p:cNvPr id="2" name="灯片编号占位符 1"/>
          <p:cNvSpPr>
            <a:spLocks noGrp="1"/>
          </p:cNvSpPr>
          <p:nvPr>
            <p:ph type="sldNum" sz="quarter" idx="12"/>
          </p:nvPr>
        </p:nvSpPr>
        <p:spPr/>
        <p:txBody>
          <a:bodyPr/>
          <a:lstStyle/>
          <a:p>
            <a:fld id="{B6F15528-21DE-4FAA-801E-634DDDAF4B2B}" type="slidenum">
              <a:rPr lang="en-US" smtClean="0"/>
              <a:t>72</a:t>
            </a:fld>
            <a:endParaRPr lang="en-US"/>
          </a:p>
        </p:txBody>
      </p:sp>
    </p:spTree>
    <p:extLst>
      <p:ext uri="{BB962C8B-B14F-4D97-AF65-F5344CB8AC3E}">
        <p14:creationId xmlns:p14="http://schemas.microsoft.com/office/powerpoint/2010/main" val="41614066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不完整信息的游戏</a:t>
            </a:r>
          </a:p>
        </p:txBody>
      </p:sp>
      <p:sp>
        <p:nvSpPr>
          <p:cNvPr id="3" name="内容占位符 2"/>
          <p:cNvSpPr>
            <a:spLocks noGrp="1"/>
          </p:cNvSpPr>
          <p:nvPr>
            <p:ph idx="1"/>
          </p:nvPr>
        </p:nvSpPr>
        <p:spPr/>
        <p:txBody>
          <a:bodyPr>
            <a:normAutofit fontScale="70000" lnSpcReduction="20000"/>
          </a:bodyPr>
          <a:lstStyle/>
          <a:p>
            <a:pPr>
              <a:buNone/>
            </a:pPr>
            <a:r>
              <a:rPr lang="en-US" altLang="zh-CN" dirty="0"/>
              <a:t>E.g., card games, where opponent's initial cards are unknown</a:t>
            </a:r>
          </a:p>
          <a:p>
            <a:pPr>
              <a:buNone/>
            </a:pPr>
            <a:r>
              <a:rPr lang="en-US" altLang="zh-CN" dirty="0"/>
              <a:t>Typically we can calculate a probability for each possible deal</a:t>
            </a:r>
          </a:p>
          <a:p>
            <a:pPr>
              <a:buNone/>
            </a:pPr>
            <a:r>
              <a:rPr lang="en-US" altLang="zh-CN" dirty="0"/>
              <a:t>Seems just like having one big dice roll at the beginning of the</a:t>
            </a:r>
          </a:p>
          <a:p>
            <a:pPr>
              <a:buNone/>
            </a:pPr>
            <a:r>
              <a:rPr lang="en-US" altLang="zh-CN" dirty="0"/>
              <a:t>Game</a:t>
            </a:r>
          </a:p>
          <a:p>
            <a:pPr>
              <a:buNone/>
            </a:pPr>
            <a:endParaRPr lang="en-US" altLang="zh-CN" dirty="0"/>
          </a:p>
          <a:p>
            <a:pPr>
              <a:buNone/>
            </a:pPr>
            <a:r>
              <a:rPr lang="en-US" altLang="zh-CN" dirty="0"/>
              <a:t>Idea: compute the </a:t>
            </a:r>
            <a:r>
              <a:rPr lang="en-US" altLang="zh-CN" dirty="0" err="1"/>
              <a:t>minimax</a:t>
            </a:r>
            <a:r>
              <a:rPr lang="en-US" altLang="zh-CN" dirty="0"/>
              <a:t> value of each action in each deal,</a:t>
            </a:r>
            <a:br>
              <a:rPr lang="en-US" altLang="zh-CN" dirty="0"/>
            </a:br>
            <a:r>
              <a:rPr lang="en-US" altLang="zh-CN" dirty="0"/>
              <a:t>then choose the action with </a:t>
            </a:r>
            <a:r>
              <a:rPr lang="en-US" altLang="zh-CN" dirty="0">
                <a:solidFill>
                  <a:srgbClr val="FF0000"/>
                </a:solidFill>
              </a:rPr>
              <a:t>highest expected </a:t>
            </a:r>
            <a:r>
              <a:rPr lang="en-US" altLang="zh-CN" dirty="0"/>
              <a:t>value over all</a:t>
            </a:r>
          </a:p>
          <a:p>
            <a:pPr>
              <a:buNone/>
            </a:pPr>
            <a:r>
              <a:rPr lang="en-US" altLang="zh-CN" dirty="0"/>
              <a:t>Deals</a:t>
            </a:r>
          </a:p>
          <a:p>
            <a:pPr>
              <a:buNone/>
            </a:pPr>
            <a:endParaRPr lang="en-US" altLang="zh-CN" dirty="0"/>
          </a:p>
          <a:p>
            <a:pPr>
              <a:buNone/>
            </a:pPr>
            <a:r>
              <a:rPr lang="zh-CN" altLang="en-US" dirty="0"/>
              <a:t>在评价一个有未知牌的给定行动过程时，首先计算出每副可能</a:t>
            </a:r>
            <a:endParaRPr lang="en-US" altLang="zh-CN" dirty="0"/>
          </a:p>
          <a:p>
            <a:pPr>
              <a:buNone/>
            </a:pPr>
            <a:r>
              <a:rPr lang="zh-CN" altLang="en-US" dirty="0"/>
              <a:t>牌的出牌行动的极小极大值，然后再用每副牌的概率来计算得到</a:t>
            </a:r>
            <a:endParaRPr lang="en-US" altLang="zh-CN" dirty="0"/>
          </a:p>
          <a:p>
            <a:pPr>
              <a:buNone/>
            </a:pPr>
            <a:r>
              <a:rPr lang="zh-CN" altLang="en-US" dirty="0"/>
              <a:t>对所有发牌情况的期望值。</a:t>
            </a:r>
            <a:br>
              <a:rPr lang="zh-CN" altLang="en-US" dirty="0"/>
            </a:br>
            <a:endParaRPr lang="zh-CN" altLang="en-US" dirty="0"/>
          </a:p>
        </p:txBody>
      </p:sp>
    </p:spTree>
    <p:extLst>
      <p:ext uri="{BB962C8B-B14F-4D97-AF65-F5344CB8AC3E}">
        <p14:creationId xmlns:p14="http://schemas.microsoft.com/office/powerpoint/2010/main" val="215019670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Example</a:t>
            </a:r>
            <a:endParaRPr lang="zh-CN" altLang="en-US"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514734" y="1484784"/>
            <a:ext cx="8305738" cy="2304256"/>
          </a:xfrm>
          <a:prstGeom prst="rect">
            <a:avLst/>
          </a:prstGeom>
          <a:noFill/>
          <a:ln w="9525">
            <a:noFill/>
            <a:miter lim="800000"/>
            <a:headEnd/>
            <a:tailEnd/>
          </a:ln>
        </p:spPr>
      </p:pic>
    </p:spTree>
    <p:extLst>
      <p:ext uri="{BB962C8B-B14F-4D97-AF65-F5344CB8AC3E}">
        <p14:creationId xmlns:p14="http://schemas.microsoft.com/office/powerpoint/2010/main" val="1492373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a:t>
            </a:r>
            <a:endParaRPr lang="zh-CN" altLang="en-US"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395536" y="1556792"/>
            <a:ext cx="8550139" cy="2880320"/>
          </a:xfrm>
          <a:prstGeom prst="rect">
            <a:avLst/>
          </a:prstGeom>
          <a:noFill/>
          <a:ln w="9525">
            <a:noFill/>
            <a:miter lim="800000"/>
            <a:headEnd/>
            <a:tailEnd/>
          </a:ln>
        </p:spPr>
      </p:pic>
    </p:spTree>
    <p:extLst>
      <p:ext uri="{BB962C8B-B14F-4D97-AF65-F5344CB8AC3E}">
        <p14:creationId xmlns:p14="http://schemas.microsoft.com/office/powerpoint/2010/main" val="31949035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Example</a:t>
            </a:r>
            <a:endParaRPr lang="zh-CN" altLang="en-US"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251520" y="1340768"/>
            <a:ext cx="8595423" cy="5112568"/>
          </a:xfrm>
          <a:prstGeom prst="rect">
            <a:avLst/>
          </a:prstGeom>
          <a:noFill/>
          <a:ln w="9525">
            <a:noFill/>
            <a:miter lim="800000"/>
            <a:headEnd/>
            <a:tailEnd/>
          </a:ln>
        </p:spPr>
      </p:pic>
    </p:spTree>
    <p:extLst>
      <p:ext uri="{BB962C8B-B14F-4D97-AF65-F5344CB8AC3E}">
        <p14:creationId xmlns:p14="http://schemas.microsoft.com/office/powerpoint/2010/main" val="2405092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81921"/>
          <p:cNvSpPr>
            <a:spLocks noGrp="1"/>
          </p:cNvSpPr>
          <p:nvPr>
            <p:ph type="title"/>
          </p:nvPr>
        </p:nvSpPr>
        <p:spPr/>
        <p:txBody>
          <a:bodyPr anchor="b">
            <a:normAutofit fontScale="90000"/>
          </a:bodyPr>
          <a:lstStyle/>
          <a:p>
            <a:pPr>
              <a:defRPr/>
            </a:pPr>
            <a:r>
              <a:rPr lang="zh-CN" altLang="en-US" noProof="1"/>
              <a:t/>
            </a:r>
            <a:br>
              <a:rPr lang="zh-CN" altLang="en-US" noProof="1"/>
            </a:br>
            <a:r>
              <a:rPr lang="zh-CN" altLang="en-US" noProof="1">
                <a:sym typeface="+mn-ea"/>
              </a:rPr>
              <a:t>牌类游戏</a:t>
            </a:r>
            <a:endParaRPr lang="en-US" altLang="zh-CN" noProof="1"/>
          </a:p>
        </p:txBody>
      </p:sp>
      <p:sp>
        <p:nvSpPr>
          <p:cNvPr id="81923" name="文本占位符 81922"/>
          <p:cNvSpPr>
            <a:spLocks noGrp="1"/>
          </p:cNvSpPr>
          <p:nvPr>
            <p:ph idx="1"/>
          </p:nvPr>
        </p:nvSpPr>
        <p:spPr/>
        <p:txBody>
          <a:bodyPr/>
          <a:lstStyle/>
          <a:p>
            <a:pPr>
              <a:defRPr/>
            </a:pPr>
            <a:r>
              <a:rPr lang="zh-CN" altLang="en-US" sz="2400" noProof="1"/>
              <a:t>考虑未知牌的所有可能应对策略 假设应对策略</a:t>
            </a:r>
            <a:r>
              <a:rPr lang="en-US" altLang="zh-CN" sz="2400" noProof="1"/>
              <a:t>s</a:t>
            </a:r>
            <a:r>
              <a:rPr lang="zh-CN" altLang="en-US" sz="2400" noProof="1"/>
              <a:t>发生的概率是</a:t>
            </a:r>
            <a:r>
              <a:rPr lang="en-US" altLang="zh-CN" sz="2400" noProof="1"/>
              <a:t>p(s)</a:t>
            </a:r>
          </a:p>
          <a:p>
            <a:pPr marL="0" indent="0">
              <a:buFontTx/>
              <a:buNone/>
              <a:defRPr/>
            </a:pPr>
            <a:endParaRPr lang="en-US" altLang="zh-CN" sz="2400" noProof="1"/>
          </a:p>
          <a:p>
            <a:pPr marL="0" indent="0">
              <a:buFontTx/>
              <a:buNone/>
              <a:defRPr/>
            </a:pPr>
            <a:endParaRPr lang="en-US" altLang="zh-CN" sz="2400" noProof="1"/>
          </a:p>
          <a:p>
            <a:pPr>
              <a:defRPr/>
            </a:pPr>
            <a:r>
              <a:rPr lang="zh-CN" altLang="en-US" sz="2400" noProof="1"/>
              <a:t>若使用蒙特卡洛近似，随机采样</a:t>
            </a:r>
            <a:r>
              <a:rPr lang="en-US" altLang="zh-CN" sz="2400" noProof="1"/>
              <a:t>N</a:t>
            </a:r>
            <a:r>
              <a:rPr lang="zh-CN" altLang="en-US" sz="2400" noProof="1"/>
              <a:t>个样本，设组合</a:t>
            </a:r>
            <a:r>
              <a:rPr lang="en-US" altLang="zh-CN" sz="2400" noProof="1"/>
              <a:t>s</a:t>
            </a:r>
            <a:r>
              <a:rPr lang="zh-CN" altLang="en-US" sz="2400" noProof="1"/>
              <a:t>在样本中出现的概率与</a:t>
            </a:r>
            <a:r>
              <a:rPr lang="en-US" altLang="zh-CN" sz="2400" noProof="1"/>
              <a:t>p(s)</a:t>
            </a:r>
            <a:r>
              <a:rPr lang="zh-CN" altLang="en-US" sz="2400" noProof="1"/>
              <a:t>成正比：</a:t>
            </a:r>
          </a:p>
          <a:p>
            <a:pPr marL="0" indent="0">
              <a:buFontTx/>
              <a:buNone/>
              <a:defRPr/>
            </a:pPr>
            <a:endParaRPr lang="zh-CN" altLang="en-US" sz="2400" noProof="1"/>
          </a:p>
        </p:txBody>
      </p:sp>
      <p:graphicFrame>
        <p:nvGraphicFramePr>
          <p:cNvPr id="44036" name="对象 1"/>
          <p:cNvGraphicFramePr>
            <a:graphicFrameLocks/>
          </p:cNvGraphicFramePr>
          <p:nvPr/>
        </p:nvGraphicFramePr>
        <p:xfrm>
          <a:off x="1851025" y="2406650"/>
          <a:ext cx="5210175" cy="544513"/>
        </p:xfrm>
        <a:graphic>
          <a:graphicData uri="http://schemas.openxmlformats.org/presentationml/2006/ole">
            <mc:AlternateContent xmlns:mc="http://schemas.openxmlformats.org/markup-compatibility/2006">
              <mc:Choice xmlns:v="urn:schemas-microsoft-com:vml" Requires="v">
                <p:oleObj spid="_x0000_s1124" r:id="rId3" imgW="5232240" imgH="571320" progId="Equation.DSMT4">
                  <p:embed/>
                </p:oleObj>
              </mc:Choice>
              <mc:Fallback>
                <p:oleObj r:id="rId3" imgW="5232240" imgH="571320" progId="Equation.DSMT4">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1025" y="2406650"/>
                        <a:ext cx="5210175"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037" name="对象 7"/>
          <p:cNvGraphicFramePr>
            <a:graphicFrameLocks/>
          </p:cNvGraphicFramePr>
          <p:nvPr/>
        </p:nvGraphicFramePr>
        <p:xfrm>
          <a:off x="1851025" y="4333875"/>
          <a:ext cx="5541963" cy="762000"/>
        </p:xfrm>
        <a:graphic>
          <a:graphicData uri="http://schemas.openxmlformats.org/presentationml/2006/ole">
            <mc:AlternateContent xmlns:mc="http://schemas.openxmlformats.org/markup-compatibility/2006">
              <mc:Choice xmlns:v="urn:schemas-microsoft-com:vml" Requires="v">
                <p:oleObj spid="_x0000_s1125" r:id="rId5" imgW="5562360" imgH="787320" progId="Equation.DSMT4">
                  <p:embed/>
                </p:oleObj>
              </mc:Choice>
              <mc:Fallback>
                <p:oleObj r:id="rId5" imgW="5562360" imgH="787320" progId="Equation.DSMT4">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1025" y="4333875"/>
                        <a:ext cx="55419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86635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合理的分析</a:t>
            </a:r>
          </a:p>
        </p:txBody>
      </p:sp>
      <p:sp>
        <p:nvSpPr>
          <p:cNvPr id="3" name="内容占位符 2"/>
          <p:cNvSpPr>
            <a:spLocks noGrp="1"/>
          </p:cNvSpPr>
          <p:nvPr>
            <p:ph idx="1"/>
          </p:nvPr>
        </p:nvSpPr>
        <p:spPr/>
        <p:txBody>
          <a:bodyPr>
            <a:normAutofit fontScale="85000" lnSpcReduction="10000"/>
          </a:bodyPr>
          <a:lstStyle/>
          <a:p>
            <a:pPr>
              <a:buNone/>
            </a:pPr>
            <a:r>
              <a:rPr lang="zh-CN" altLang="en-US" dirty="0"/>
              <a:t>*所以从直觉上说用所有可能状态的平均效用值来评价一次行动的价值</a:t>
            </a:r>
            <a:r>
              <a:rPr lang="en-US" altLang="zh-CN" dirty="0">
                <a:solidFill>
                  <a:srgbClr val="FF0000"/>
                </a:solidFill>
              </a:rPr>
              <a:t>is WRONG</a:t>
            </a:r>
          </a:p>
          <a:p>
            <a:pPr>
              <a:buNone/>
            </a:pPr>
            <a:r>
              <a:rPr lang="en-US" altLang="zh-CN" dirty="0"/>
              <a:t/>
            </a:r>
            <a:br>
              <a:rPr lang="en-US" altLang="zh-CN" dirty="0"/>
            </a:br>
            <a:r>
              <a:rPr lang="zh-CN" altLang="en-US" dirty="0"/>
              <a:t>在局部观察中</a:t>
            </a:r>
            <a:r>
              <a:rPr lang="en-US" altLang="zh-CN" dirty="0"/>
              <a:t>, </a:t>
            </a:r>
            <a:r>
              <a:rPr lang="zh-CN" altLang="en-US" dirty="0"/>
              <a:t>一个行动的价值取决于</a:t>
            </a:r>
            <a:r>
              <a:rPr lang="zh-CN" altLang="en-US" dirty="0">
                <a:solidFill>
                  <a:srgbClr val="FF0000"/>
                </a:solidFill>
              </a:rPr>
              <a:t>信度状态</a:t>
            </a:r>
            <a:endParaRPr lang="en-US" altLang="zh-CN" dirty="0">
              <a:solidFill>
                <a:srgbClr val="FF0000"/>
              </a:solidFill>
            </a:endParaRPr>
          </a:p>
          <a:p>
            <a:pPr>
              <a:buNone/>
            </a:pPr>
            <a:r>
              <a:rPr lang="en-US" altLang="zh-CN" dirty="0"/>
              <a:t/>
            </a:r>
            <a:br>
              <a:rPr lang="en-US" altLang="zh-CN" dirty="0"/>
            </a:br>
            <a:r>
              <a:rPr lang="zh-CN" altLang="en-US" dirty="0"/>
              <a:t>这样可以在信度状态中生成和搜索博弈树</a:t>
            </a:r>
            <a:endParaRPr lang="en-US" altLang="zh-CN" dirty="0"/>
          </a:p>
          <a:p>
            <a:pPr>
              <a:buNone/>
            </a:pPr>
            <a:r>
              <a:rPr lang="en-US" altLang="zh-CN" dirty="0"/>
              <a:t/>
            </a:r>
            <a:br>
              <a:rPr lang="en-US" altLang="zh-CN" dirty="0"/>
            </a:br>
            <a:r>
              <a:rPr lang="zh-CN" altLang="en-US" dirty="0"/>
              <a:t>以下行为可以帮助生成信度状态：</a:t>
            </a:r>
            <a:r>
              <a:rPr lang="en-US" altLang="zh-CN" dirty="0"/>
              <a:t/>
            </a:r>
            <a:br>
              <a:rPr lang="en-US" altLang="zh-CN" dirty="0"/>
            </a:br>
            <a:r>
              <a:rPr lang="en-US" altLang="zh-CN" dirty="0"/>
              <a:t>	</a:t>
            </a:r>
            <a:r>
              <a:rPr lang="zh-CN" altLang="en-US" dirty="0"/>
              <a:t>打出一张牌来刺探对手</a:t>
            </a:r>
            <a:r>
              <a:rPr lang="en-US" altLang="zh-CN" dirty="0"/>
              <a:t/>
            </a:r>
            <a:br>
              <a:rPr lang="en-US" altLang="zh-CN" dirty="0"/>
            </a:br>
            <a:r>
              <a:rPr lang="en-US" altLang="zh-CN" dirty="0"/>
              <a:t>	</a:t>
            </a:r>
            <a:r>
              <a:rPr lang="zh-CN" altLang="en-US" dirty="0"/>
              <a:t>给合伙人发信号</a:t>
            </a:r>
            <a:r>
              <a:rPr lang="en-US" altLang="zh-CN" dirty="0"/>
              <a:t/>
            </a:r>
            <a:br>
              <a:rPr lang="en-US" altLang="zh-CN" dirty="0"/>
            </a:br>
            <a:r>
              <a:rPr lang="en-US" altLang="zh-CN" dirty="0"/>
              <a:t>	</a:t>
            </a:r>
            <a:r>
              <a:rPr lang="zh-CN" altLang="en-US" dirty="0"/>
              <a:t>靠演技来最小化信息披露</a:t>
            </a:r>
          </a:p>
        </p:txBody>
      </p:sp>
    </p:spTree>
    <p:extLst>
      <p:ext uri="{BB962C8B-B14F-4D97-AF65-F5344CB8AC3E}">
        <p14:creationId xmlns:p14="http://schemas.microsoft.com/office/powerpoint/2010/main" val="42238312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9457"/>
          <p:cNvSpPr>
            <a:spLocks noGrp="1"/>
          </p:cNvSpPr>
          <p:nvPr>
            <p:ph type="title"/>
          </p:nvPr>
        </p:nvSpPr>
        <p:spPr/>
        <p:txBody>
          <a:bodyPr anchor="ctr"/>
          <a:lstStyle/>
          <a:p>
            <a:r>
              <a:rPr lang="zh-CN" altLang="en-US"/>
              <a:t>小结</a:t>
            </a:r>
          </a:p>
        </p:txBody>
      </p:sp>
      <p:sp>
        <p:nvSpPr>
          <p:cNvPr id="19459" name="文本占位符 19458"/>
          <p:cNvSpPr>
            <a:spLocks noGrp="1"/>
          </p:cNvSpPr>
          <p:nvPr>
            <p:ph type="body" idx="1"/>
          </p:nvPr>
        </p:nvSpPr>
        <p:spPr/>
        <p:txBody>
          <a:bodyPr/>
          <a:lstStyle/>
          <a:p>
            <a:r>
              <a:rPr lang="zh-CN" altLang="en-US"/>
              <a:t>游戏展示了</a:t>
            </a:r>
            <a:r>
              <a:rPr lang="en-US" altLang="zh-CN"/>
              <a:t>AI</a:t>
            </a:r>
            <a:r>
              <a:rPr lang="zh-CN" altLang="en-US"/>
              <a:t>的很多重要特点</a:t>
            </a:r>
            <a:endParaRPr lang="en-US" altLang="zh-CN"/>
          </a:p>
          <a:p>
            <a:r>
              <a:rPr lang="zh-CN" altLang="en-US"/>
              <a:t>完美（最优决策）是不可能达到的，必须采取近似方法</a:t>
            </a:r>
            <a:endParaRPr lang="en-US" altLang="zh-CN"/>
          </a:p>
          <a:p>
            <a:endParaRPr lang="en-US" altLang="zh-CN"/>
          </a:p>
        </p:txBody>
      </p:sp>
      <p:sp>
        <p:nvSpPr>
          <p:cNvPr id="2" name="灯片编号占位符 1"/>
          <p:cNvSpPr>
            <a:spLocks noGrp="1"/>
          </p:cNvSpPr>
          <p:nvPr>
            <p:ph type="sldNum" sz="quarter" idx="12"/>
          </p:nvPr>
        </p:nvSpPr>
        <p:spPr/>
        <p:txBody>
          <a:bodyPr/>
          <a:lstStyle/>
          <a:p>
            <a:fld id="{B6F15528-21DE-4FAA-801E-634DDDAF4B2B}" type="slidenum">
              <a:rPr lang="en-US" smtClean="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a:t>
            </a:r>
          </a:p>
        </p:txBody>
      </p:sp>
      <p:sp>
        <p:nvSpPr>
          <p:cNvPr id="3" name="内容占位符 2"/>
          <p:cNvSpPr>
            <a:spLocks noGrp="1"/>
          </p:cNvSpPr>
          <p:nvPr>
            <p:ph idx="1"/>
          </p:nvPr>
        </p:nvSpPr>
        <p:spPr/>
        <p:txBody>
          <a:bodyPr/>
          <a:lstStyle/>
          <a:p>
            <a:r>
              <a:rPr lang="zh-CN" altLang="en-US"/>
              <a:t>采用对抗搜索的思想改进你的五子棋游戏</a:t>
            </a:r>
          </a:p>
        </p:txBody>
      </p:sp>
      <p:sp>
        <p:nvSpPr>
          <p:cNvPr id="4" name="灯片编号占位符 3"/>
          <p:cNvSpPr>
            <a:spLocks noGrp="1"/>
          </p:cNvSpPr>
          <p:nvPr>
            <p:ph type="sldNum" sz="quarter" idx="12"/>
          </p:nvPr>
        </p:nvSpPr>
        <p:spPr/>
        <p:txBody>
          <a:bodyPr/>
          <a:lstStyle/>
          <a:p>
            <a:fld id="{B6F15528-21DE-4FAA-801E-634DDDAF4B2B}" type="slidenum">
              <a:rPr lang="en-US" smtClean="0"/>
              <a:t>80</a:t>
            </a:fld>
            <a:endParaRPr lang="en-US"/>
          </a:p>
        </p:txBody>
      </p:sp>
      <p:sp>
        <p:nvSpPr>
          <p:cNvPr id="5" name="笑脸 4">
            <a:extLst>
              <a:ext uri="{FF2B5EF4-FFF2-40B4-BE49-F238E27FC236}">
                <a16:creationId xmlns:a16="http://schemas.microsoft.com/office/drawing/2014/main" id="{442D7671-307B-694B-8A3C-F9A1BDEEB85E}"/>
              </a:ext>
            </a:extLst>
          </p:cNvPr>
          <p:cNvSpPr/>
          <p:nvPr/>
        </p:nvSpPr>
        <p:spPr>
          <a:xfrm>
            <a:off x="152400" y="152400"/>
            <a:ext cx="838200" cy="762000"/>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633</TotalTime>
  <Words>4007</Words>
  <Application>Microsoft Office PowerPoint</Application>
  <PresentationFormat>全屏显示(4:3)</PresentationFormat>
  <Paragraphs>522</Paragraphs>
  <Slides>80</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80</vt:i4>
      </vt:variant>
    </vt:vector>
  </HeadingPairs>
  <TitlesOfParts>
    <vt:vector size="93" baseType="lpstr">
      <vt:lpstr>黑体</vt:lpstr>
      <vt:lpstr>华文楷体</vt:lpstr>
      <vt:lpstr>隶书</vt:lpstr>
      <vt:lpstr>Arial</vt:lpstr>
      <vt:lpstr>Calibri</vt:lpstr>
      <vt:lpstr>Cambria</vt:lpstr>
      <vt:lpstr>Maiandra GD</vt:lpstr>
      <vt:lpstr>Symbol</vt:lpstr>
      <vt:lpstr>Times New Roman</vt:lpstr>
      <vt:lpstr>Wingdings</vt:lpstr>
      <vt:lpstr>Wingdings 2</vt:lpstr>
      <vt:lpstr>Dragon</vt:lpstr>
      <vt:lpstr>Equation.DSMT4</vt:lpstr>
      <vt:lpstr>搜索问题第3讲</vt:lpstr>
      <vt:lpstr>提纲</vt:lpstr>
      <vt:lpstr>分钱币游戏</vt:lpstr>
      <vt:lpstr>两人对抗游戏</vt:lpstr>
      <vt:lpstr>两人对抗游戏</vt:lpstr>
      <vt:lpstr>中国象棋</vt:lpstr>
      <vt:lpstr>游戏的问题定义</vt:lpstr>
      <vt:lpstr>游戏中的搜索问题</vt:lpstr>
      <vt:lpstr>博弈树搜索（Game tree search）</vt:lpstr>
      <vt:lpstr>博弈树</vt:lpstr>
      <vt:lpstr>Minimax算法</vt:lpstr>
      <vt:lpstr>Minimax算法中的搜索树</vt:lpstr>
      <vt:lpstr>极小极大值原理</vt:lpstr>
      <vt:lpstr>Minimax 算法</vt:lpstr>
      <vt:lpstr>Minimax 算法</vt:lpstr>
      <vt:lpstr>深度受限的Minimax算法</vt:lpstr>
      <vt:lpstr>Minimax 的性能</vt:lpstr>
      <vt:lpstr>最优策略</vt:lpstr>
      <vt:lpstr>课堂练习</vt:lpstr>
      <vt:lpstr>提纲</vt:lpstr>
      <vt:lpstr>α  - β 剪枝</vt:lpstr>
      <vt:lpstr>α-β pruning</vt:lpstr>
      <vt:lpstr>α-β pruning 例子</vt:lpstr>
      <vt:lpstr>α-β pruning 例子</vt:lpstr>
      <vt:lpstr>α-β pruning 例子</vt:lpstr>
      <vt:lpstr>α-β pruning 例子</vt:lpstr>
      <vt:lpstr>α-β pruning 例子</vt:lpstr>
      <vt:lpstr>为什么叫 α-β?</vt:lpstr>
      <vt:lpstr>α−β剪枝技术</vt:lpstr>
      <vt:lpstr>-剪枝</vt:lpstr>
      <vt:lpstr>极小极大过程</vt:lpstr>
      <vt:lpstr>-剪枝过程</vt:lpstr>
      <vt:lpstr>-剪枝算法</vt:lpstr>
      <vt:lpstr>-剪枝算法（续）</vt:lpstr>
      <vt:lpstr>α−β剪枝案例</vt:lpstr>
      <vt:lpstr>例子</vt:lpstr>
      <vt:lpstr>α−β搜索的效率</vt:lpstr>
      <vt:lpstr>α−β的性能</vt:lpstr>
      <vt:lpstr>处理搜索树中的重复状态</vt:lpstr>
      <vt:lpstr>课堂练习</vt:lpstr>
      <vt:lpstr>提纲</vt:lpstr>
      <vt:lpstr>计算资源的限制</vt:lpstr>
      <vt:lpstr>启发式 Minmax (H-Minimax)</vt:lpstr>
      <vt:lpstr>评估函数 Eval</vt:lpstr>
      <vt:lpstr>评估函数 Eval</vt:lpstr>
      <vt:lpstr>More on 评价函数</vt:lpstr>
      <vt:lpstr>题外话: 精确的评价函数并不重要</vt:lpstr>
      <vt:lpstr>截断搜索 Cut-off Search</vt:lpstr>
      <vt:lpstr>地平线效应</vt:lpstr>
      <vt:lpstr>静态搜索 Quiescence Search</vt:lpstr>
      <vt:lpstr>截断搜索</vt:lpstr>
      <vt:lpstr>截断搜索（续）</vt:lpstr>
      <vt:lpstr>国际象棋游戏系统</vt:lpstr>
      <vt:lpstr>对待有限的时间</vt:lpstr>
      <vt:lpstr>对待有限的时间</vt:lpstr>
      <vt:lpstr>现今一些确定性的游戏</vt:lpstr>
      <vt:lpstr>现今一些确定性的游戏</vt:lpstr>
      <vt:lpstr>现今一些确定性的游戏</vt:lpstr>
      <vt:lpstr>AlphaGo: 第一次打败人类in 19x19 Go</vt:lpstr>
      <vt:lpstr>PowerPoint 演示文稿</vt:lpstr>
      <vt:lpstr>人类唯一的一次胜利</vt:lpstr>
      <vt:lpstr>AlphaGo被逼出了bug</vt:lpstr>
      <vt:lpstr>PowerPoint 演示文稿</vt:lpstr>
      <vt:lpstr>提纲</vt:lpstr>
      <vt:lpstr>包含几率因素的游戏</vt:lpstr>
      <vt:lpstr>非确定性游戏概述</vt:lpstr>
      <vt:lpstr>非确定性游戏概述</vt:lpstr>
      <vt:lpstr>期望效用最大化</vt:lpstr>
      <vt:lpstr>期望极小极大值算法</vt:lpstr>
      <vt:lpstr>随机的Two-Player</vt:lpstr>
      <vt:lpstr>题外话：精确的评价函数的重要性</vt:lpstr>
      <vt:lpstr>提纲</vt:lpstr>
      <vt:lpstr>不完整信息的游戏</vt:lpstr>
      <vt:lpstr>Example</vt:lpstr>
      <vt:lpstr>Example</vt:lpstr>
      <vt:lpstr>Example</vt:lpstr>
      <vt:lpstr> 牌类游戏</vt:lpstr>
      <vt:lpstr>合理的分析</vt:lpstr>
      <vt:lpstr>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jinchuan</cp:lastModifiedBy>
  <cp:revision>775</cp:revision>
  <dcterms:created xsi:type="dcterms:W3CDTF">2006-08-16T00:00:00Z</dcterms:created>
  <dcterms:modified xsi:type="dcterms:W3CDTF">2021-06-30T14:36:00Z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