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12"/>
  </p:notesMasterIdLst>
  <p:sldIdLst>
    <p:sldId id="610" r:id="rId3"/>
    <p:sldId id="611" r:id="rId4"/>
    <p:sldId id="673" r:id="rId5"/>
    <p:sldId id="612" r:id="rId6"/>
    <p:sldId id="614" r:id="rId7"/>
    <p:sldId id="674" r:id="rId8"/>
    <p:sldId id="653" r:id="rId9"/>
    <p:sldId id="337" r:id="rId10"/>
    <p:sldId id="383" r:id="rId11"/>
    <p:sldId id="497" r:id="rId12"/>
    <p:sldId id="341" r:id="rId13"/>
    <p:sldId id="367" r:id="rId14"/>
    <p:sldId id="356" r:id="rId15"/>
    <p:sldId id="498" r:id="rId16"/>
    <p:sldId id="538" r:id="rId17"/>
    <p:sldId id="540" r:id="rId18"/>
    <p:sldId id="539" r:id="rId19"/>
    <p:sldId id="660" r:id="rId20"/>
    <p:sldId id="357" r:id="rId21"/>
    <p:sldId id="536" r:id="rId22"/>
    <p:sldId id="551" r:id="rId23"/>
    <p:sldId id="553" r:id="rId24"/>
    <p:sldId id="554" r:id="rId25"/>
    <p:sldId id="555" r:id="rId26"/>
    <p:sldId id="552" r:id="rId27"/>
    <p:sldId id="556" r:id="rId28"/>
    <p:sldId id="672" r:id="rId29"/>
    <p:sldId id="507" r:id="rId30"/>
    <p:sldId id="321" r:id="rId31"/>
    <p:sldId id="322" r:id="rId32"/>
    <p:sldId id="323" r:id="rId33"/>
    <p:sldId id="557" r:id="rId34"/>
    <p:sldId id="558" r:id="rId35"/>
    <p:sldId id="559" r:id="rId36"/>
    <p:sldId id="560" r:id="rId37"/>
    <p:sldId id="561" r:id="rId38"/>
    <p:sldId id="562" r:id="rId39"/>
    <p:sldId id="563" r:id="rId40"/>
    <p:sldId id="564" r:id="rId41"/>
    <p:sldId id="565" r:id="rId42"/>
    <p:sldId id="566" r:id="rId43"/>
    <p:sldId id="567" r:id="rId44"/>
    <p:sldId id="568" r:id="rId45"/>
    <p:sldId id="505" r:id="rId46"/>
    <p:sldId id="506" r:id="rId47"/>
    <p:sldId id="617" r:id="rId48"/>
    <p:sldId id="618" r:id="rId49"/>
    <p:sldId id="272" r:id="rId50"/>
    <p:sldId id="667" r:id="rId51"/>
    <p:sldId id="668" r:id="rId52"/>
    <p:sldId id="670" r:id="rId53"/>
    <p:sldId id="669" r:id="rId54"/>
    <p:sldId id="543" r:id="rId55"/>
    <p:sldId id="657" r:id="rId56"/>
    <p:sldId id="544" r:id="rId57"/>
    <p:sldId id="545" r:id="rId58"/>
    <p:sldId id="616" r:id="rId59"/>
    <p:sldId id="273" r:id="rId60"/>
    <p:sldId id="630" r:id="rId61"/>
    <p:sldId id="624" r:id="rId62"/>
    <p:sldId id="625" r:id="rId63"/>
    <p:sldId id="626" r:id="rId64"/>
    <p:sldId id="627" r:id="rId65"/>
    <p:sldId id="628" r:id="rId66"/>
    <p:sldId id="629" r:id="rId67"/>
    <p:sldId id="607" r:id="rId68"/>
    <p:sldId id="621" r:id="rId69"/>
    <p:sldId id="663" r:id="rId70"/>
    <p:sldId id="609" r:id="rId71"/>
    <p:sldId id="659" r:id="rId72"/>
    <p:sldId id="284" r:id="rId73"/>
    <p:sldId id="570" r:id="rId74"/>
    <p:sldId id="571" r:id="rId75"/>
    <p:sldId id="572" r:id="rId76"/>
    <p:sldId id="573" r:id="rId77"/>
    <p:sldId id="619" r:id="rId78"/>
    <p:sldId id="620" r:id="rId79"/>
    <p:sldId id="662" r:id="rId80"/>
    <p:sldId id="286" r:id="rId81"/>
    <p:sldId id="391" r:id="rId82"/>
    <p:sldId id="658" r:id="rId83"/>
    <p:sldId id="287" r:id="rId84"/>
    <p:sldId id="631" r:id="rId85"/>
    <p:sldId id="671" r:id="rId86"/>
    <p:sldId id="664" r:id="rId87"/>
    <p:sldId id="633" r:id="rId88"/>
    <p:sldId id="665" r:id="rId89"/>
    <p:sldId id="666" r:id="rId90"/>
    <p:sldId id="634" r:id="rId91"/>
    <p:sldId id="635" r:id="rId92"/>
    <p:sldId id="636" r:id="rId93"/>
    <p:sldId id="637" r:id="rId94"/>
    <p:sldId id="638" r:id="rId95"/>
    <p:sldId id="639" r:id="rId96"/>
    <p:sldId id="640" r:id="rId97"/>
    <p:sldId id="641" r:id="rId98"/>
    <p:sldId id="642" r:id="rId99"/>
    <p:sldId id="643" r:id="rId100"/>
    <p:sldId id="644" r:id="rId101"/>
    <p:sldId id="645" r:id="rId102"/>
    <p:sldId id="646" r:id="rId103"/>
    <p:sldId id="647" r:id="rId104"/>
    <p:sldId id="648" r:id="rId105"/>
    <p:sldId id="655" r:id="rId106"/>
    <p:sldId id="656" r:id="rId107"/>
    <p:sldId id="649" r:id="rId108"/>
    <p:sldId id="651" r:id="rId109"/>
    <p:sldId id="650" r:id="rId110"/>
    <p:sldId id="654" r:id="rId1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611"/>
            <p14:sldId id="673"/>
            <p14:sldId id="612"/>
            <p14:sldId id="614"/>
            <p14:sldId id="674"/>
            <p14:sldId id="653"/>
            <p14:sldId id="337"/>
            <p14:sldId id="383"/>
            <p14:sldId id="497"/>
            <p14:sldId id="341"/>
            <p14:sldId id="367"/>
            <p14:sldId id="356"/>
            <p14:sldId id="498"/>
            <p14:sldId id="538"/>
            <p14:sldId id="540"/>
            <p14:sldId id="539"/>
            <p14:sldId id="660"/>
            <p14:sldId id="357"/>
            <p14:sldId id="536"/>
            <p14:sldId id="551"/>
            <p14:sldId id="553"/>
            <p14:sldId id="554"/>
            <p14:sldId id="555"/>
            <p14:sldId id="552"/>
            <p14:sldId id="556"/>
            <p14:sldId id="672"/>
            <p14:sldId id="507"/>
            <p14:sldId id="321"/>
            <p14:sldId id="322"/>
            <p14:sldId id="323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05"/>
            <p14:sldId id="506"/>
            <p14:sldId id="617"/>
            <p14:sldId id="618"/>
            <p14:sldId id="272"/>
            <p14:sldId id="667"/>
            <p14:sldId id="668"/>
            <p14:sldId id="670"/>
            <p14:sldId id="669"/>
            <p14:sldId id="543"/>
            <p14:sldId id="657"/>
            <p14:sldId id="544"/>
            <p14:sldId id="545"/>
            <p14:sldId id="616"/>
            <p14:sldId id="273"/>
            <p14:sldId id="630"/>
            <p14:sldId id="624"/>
            <p14:sldId id="625"/>
            <p14:sldId id="626"/>
            <p14:sldId id="627"/>
            <p14:sldId id="628"/>
            <p14:sldId id="629"/>
            <p14:sldId id="607"/>
            <p14:sldId id="621"/>
            <p14:sldId id="663"/>
            <p14:sldId id="609"/>
            <p14:sldId id="659"/>
          </p14:sldIdLst>
        </p14:section>
        <p14:section name="day 2" id="{752CB450-8413-EE4E-8B73-DBB000DECA8D}">
          <p14:sldIdLst>
            <p14:sldId id="284"/>
            <p14:sldId id="570"/>
            <p14:sldId id="571"/>
            <p14:sldId id="572"/>
            <p14:sldId id="573"/>
            <p14:sldId id="619"/>
            <p14:sldId id="620"/>
            <p14:sldId id="662"/>
            <p14:sldId id="286"/>
            <p14:sldId id="391"/>
            <p14:sldId id="658"/>
            <p14:sldId id="287"/>
            <p14:sldId id="631"/>
            <p14:sldId id="671"/>
            <p14:sldId id="664"/>
            <p14:sldId id="633"/>
            <p14:sldId id="665"/>
            <p14:sldId id="666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  <p14:sldId id="646"/>
            <p14:sldId id="647"/>
            <p14:sldId id="648"/>
            <p14:sldId id="655"/>
            <p14:sldId id="656"/>
            <p14:sldId id="649"/>
            <p14:sldId id="651"/>
            <p14:sldId id="650"/>
            <p14:sldId id="654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8" autoAdjust="0"/>
    <p:restoredTop sz="90071" autoAdjust="0"/>
  </p:normalViewPr>
  <p:slideViewPr>
    <p:cSldViewPr>
      <p:cViewPr varScale="1">
        <p:scale>
          <a:sx n="101" d="100"/>
          <a:sy n="101" d="100"/>
        </p:scale>
        <p:origin x="-1890" y="-102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slide" Target="slides/slide108.xml"/><Relationship Id="rId115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7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  <a:r>
              <a:rPr kumimoji="1" lang="en-US" altLang="zh-CN" dirty="0"/>
              <a:t>5</a:t>
            </a:r>
            <a:r>
              <a:rPr kumimoji="1" lang="zh-CN" altLang="en-US" dirty="0" smtClean="0"/>
              <a:t>分钟</a:t>
            </a:r>
            <a:endParaRPr kumimoji="1" lang="en-US" altLang="zh-CN" dirty="0" smtClean="0"/>
          </a:p>
          <a:p>
            <a:endParaRPr kumimoji="1" lang="en-US" altLang="zh-CN" dirty="0" smtClean="0"/>
          </a:p>
          <a:p>
            <a:r>
              <a:rPr kumimoji="1" lang="zh-CN" altLang="en-US" dirty="0" smtClean="0"/>
              <a:t>转移模型 是 对</a:t>
            </a:r>
            <a:r>
              <a:rPr kumimoji="1" lang="zh-CN" altLang="en-US" baseline="0" dirty="0" smtClean="0"/>
              <a:t> 动作的</a:t>
            </a:r>
            <a:r>
              <a:rPr kumimoji="1" lang="zh-CN" altLang="en-US" dirty="0" smtClean="0"/>
              <a:t>逻辑判断 和输出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67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  <a:r>
              <a:rPr kumimoji="1" lang="en-US" altLang="zh-CN" dirty="0"/>
              <a:t>5</a:t>
            </a:r>
            <a:r>
              <a:rPr kumimoji="1"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36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  <a:r>
              <a:rPr kumimoji="1" lang="en-US" altLang="zh-CN" dirty="0"/>
              <a:t>5</a:t>
            </a:r>
            <a:r>
              <a:rPr kumimoji="1"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83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Strategy </a:t>
            </a:r>
            <a:r>
              <a:rPr kumimoji="1" lang="zh-CN" altLang="en-US" dirty="0"/>
              <a:t>是我们定的策略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69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Fringe</a:t>
            </a:r>
            <a:r>
              <a:rPr kumimoji="1" lang="zh-CN" altLang="en-US" dirty="0"/>
              <a:t>边缘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98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八数码的状态空间大小是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9! / 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除以 </a:t>
            </a:r>
            <a:r>
              <a:rPr lang="en-US" altLang="zh-CN" dirty="0" smtClean="0"/>
              <a:t>2 </a:t>
            </a:r>
            <a:r>
              <a:rPr lang="zh-CN" altLang="en-US" dirty="0" smtClean="0"/>
              <a:t>的原因是：在所有的 </a:t>
            </a:r>
            <a:r>
              <a:rPr lang="en-US" altLang="zh-CN" dirty="0" smtClean="0"/>
              <a:t>9! </a:t>
            </a:r>
            <a:r>
              <a:rPr lang="zh-CN" altLang="en-US" dirty="0" smtClean="0"/>
              <a:t>种可能排列中，只有一半（即 </a:t>
            </a:r>
            <a:r>
              <a:rPr lang="en-US" altLang="zh-CN" dirty="0" smtClean="0"/>
              <a:t>9! / 2</a:t>
            </a:r>
            <a:r>
              <a:rPr lang="zh-CN" altLang="en-US" dirty="0" smtClean="0"/>
              <a:t>）是可以通过滑动方块从初始状态到达的。 另一半状态则永远无法到达，它们构成了一个与“可达状态空间”完全分离的“不可达状态空间”。</a:t>
            </a:r>
          </a:p>
          <a:p>
            <a:endParaRPr lang="zh-CN" altLang="en-US" dirty="0" smtClean="0"/>
          </a:p>
          <a:p>
            <a:r>
              <a:rPr lang="zh-CN" altLang="en-US" dirty="0" smtClean="0"/>
              <a:t>这个结论源于一个重要的数学特性：排列的奇偶性。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PSPACE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是所有可以被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图灵机使用多项式大小空间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解决的问题的集合。</a:t>
            </a:r>
          </a:p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PSPACE-complete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PSPACE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中最难的一类问题。任何一个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PSPACE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中的问题都可以在多项式时间内归约到任何一个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PSPACE-complete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问题。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它被认为比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NP-complete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问题更难（因为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 ⊆ PSPACE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，但反之是否成立尚未知）。如果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≠ PSPACE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（这被认为是极大概率成立的），那么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PSPACE-complete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问题就不可能在多项式时间内解决。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概念定义经典例子</a:t>
            </a:r>
            <a:r>
              <a:rPr lang="en-US" altLang="zh-CN" b="1" dirty="0" smtClean="0">
                <a:effectLst/>
              </a:rPr>
              <a:t>P</a:t>
            </a:r>
            <a:r>
              <a:rPr lang="zh-CN" altLang="en-US" dirty="0" smtClean="0">
                <a:effectLst/>
              </a:rPr>
              <a:t>存在一个</a:t>
            </a:r>
            <a:r>
              <a:rPr lang="zh-CN" altLang="en-US" b="1" dirty="0" smtClean="0">
                <a:effectLst/>
              </a:rPr>
              <a:t>多项式时间</a:t>
            </a:r>
            <a:r>
              <a:rPr lang="zh-CN" altLang="en-US" dirty="0" smtClean="0">
                <a:effectLst/>
              </a:rPr>
              <a:t>算法</a:t>
            </a:r>
            <a:r>
              <a:rPr lang="zh-CN" altLang="en-US" b="1" dirty="0" smtClean="0">
                <a:effectLst/>
              </a:rPr>
              <a:t>解决</a:t>
            </a:r>
            <a:r>
              <a:rPr lang="zh-CN" altLang="en-US" dirty="0" smtClean="0">
                <a:effectLst/>
              </a:rPr>
              <a:t>的</a:t>
            </a:r>
            <a:r>
              <a:rPr lang="zh-CN" altLang="en-US" b="1" dirty="0" smtClean="0">
                <a:effectLst/>
              </a:rPr>
              <a:t>决策问题</a:t>
            </a:r>
            <a:r>
              <a:rPr lang="zh-CN" altLang="en-US" dirty="0" smtClean="0">
                <a:effectLst/>
              </a:rPr>
              <a:t>。排序、最短路径</a:t>
            </a:r>
            <a:r>
              <a:rPr lang="en-US" altLang="zh-CN" b="1" dirty="0" smtClean="0">
                <a:effectLst/>
              </a:rPr>
              <a:t>NP</a:t>
            </a:r>
            <a:r>
              <a:rPr lang="zh-CN" altLang="en-US" dirty="0" smtClean="0">
                <a:effectLst/>
              </a:rPr>
              <a:t>存在一个</a:t>
            </a:r>
            <a:r>
              <a:rPr lang="zh-CN" altLang="en-US" b="1" dirty="0" smtClean="0">
                <a:effectLst/>
              </a:rPr>
              <a:t>多项式时间</a:t>
            </a:r>
            <a:r>
              <a:rPr lang="zh-CN" altLang="en-US" dirty="0" smtClean="0">
                <a:effectLst/>
              </a:rPr>
              <a:t>算法</a:t>
            </a:r>
            <a:r>
              <a:rPr lang="zh-CN" altLang="en-US" b="1" dirty="0" smtClean="0">
                <a:effectLst/>
              </a:rPr>
              <a:t>验证</a:t>
            </a:r>
            <a:r>
              <a:rPr lang="zh-CN" altLang="en-US" dirty="0" smtClean="0">
                <a:effectLst/>
              </a:rPr>
              <a:t>其解的正确性的</a:t>
            </a:r>
            <a:r>
              <a:rPr lang="zh-CN" altLang="en-US" b="1" dirty="0" smtClean="0">
                <a:effectLst/>
              </a:rPr>
              <a:t>决策问题</a:t>
            </a:r>
            <a:r>
              <a:rPr lang="zh-CN" altLang="en-US" dirty="0" smtClean="0">
                <a:effectLst/>
              </a:rPr>
              <a:t>。布尔可满足性问题（</a:t>
            </a:r>
            <a:r>
              <a:rPr lang="en-US" altLang="zh-CN" dirty="0" smtClean="0">
                <a:effectLst/>
              </a:rPr>
              <a:t>SAT</a:t>
            </a:r>
            <a:r>
              <a:rPr lang="zh-CN" altLang="en-US" dirty="0" smtClean="0">
                <a:effectLst/>
              </a:rPr>
              <a:t>）、旅行商问题（</a:t>
            </a:r>
            <a:r>
              <a:rPr lang="en-US" altLang="zh-CN" dirty="0" smtClean="0">
                <a:effectLst/>
              </a:rPr>
              <a:t>TSP</a:t>
            </a:r>
            <a:r>
              <a:rPr lang="zh-CN" altLang="en-US" dirty="0" smtClean="0">
                <a:effectLst/>
              </a:rPr>
              <a:t>的决策版）、数独</a:t>
            </a:r>
            <a:r>
              <a:rPr lang="en-US" altLang="zh-CN" b="1" dirty="0" smtClean="0">
                <a:effectLst/>
              </a:rPr>
              <a:t>NP-hard</a:t>
            </a:r>
            <a:r>
              <a:rPr lang="zh-CN" altLang="en-US" b="1" dirty="0" smtClean="0">
                <a:effectLst/>
              </a:rPr>
              <a:t>一个问题</a:t>
            </a:r>
            <a:r>
              <a:rPr lang="en-US" altLang="zh-CN" b="1" dirty="0" smtClean="0">
                <a:effectLst/>
              </a:rPr>
              <a:t>H</a:t>
            </a:r>
            <a:r>
              <a:rPr lang="zh-CN" altLang="en-US" b="1" dirty="0" smtClean="0">
                <a:effectLst/>
              </a:rPr>
              <a:t>是</a:t>
            </a:r>
            <a:r>
              <a:rPr lang="en-US" altLang="zh-CN" b="1" dirty="0" smtClean="0">
                <a:effectLst/>
              </a:rPr>
              <a:t>NP-hard</a:t>
            </a:r>
            <a:r>
              <a:rPr lang="zh-CN" altLang="en-US" b="1" dirty="0" smtClean="0">
                <a:effectLst/>
              </a:rPr>
              <a:t>的，如果所有</a:t>
            </a:r>
            <a:r>
              <a:rPr lang="en-US" altLang="zh-CN" b="1" dirty="0" smtClean="0">
                <a:effectLst/>
              </a:rPr>
              <a:t>NP</a:t>
            </a:r>
            <a:r>
              <a:rPr lang="zh-CN" altLang="en-US" b="1" dirty="0" smtClean="0">
                <a:effectLst/>
              </a:rPr>
              <a:t>问题都可以在多项式时间内归约到</a:t>
            </a:r>
            <a:r>
              <a:rPr lang="en-US" altLang="zh-CN" b="1" dirty="0" smtClean="0">
                <a:effectLst/>
              </a:rPr>
              <a:t>H</a:t>
            </a:r>
            <a:r>
              <a:rPr lang="zh-CN" altLang="en-US" b="1" dirty="0" smtClean="0">
                <a:effectLst/>
              </a:rPr>
              <a:t>。</a:t>
            </a:r>
            <a:r>
              <a:rPr lang="zh-CN" altLang="en-US" dirty="0" smtClean="0">
                <a:effectLst/>
              </a:rPr>
              <a:t/>
            </a:r>
            <a:br>
              <a:rPr lang="zh-CN" altLang="en-US" dirty="0" smtClean="0">
                <a:effectLst/>
              </a:rPr>
            </a:br>
            <a:r>
              <a:rPr lang="zh-CN" altLang="en-US" b="1" dirty="0" smtClean="0">
                <a:effectLst/>
              </a:rPr>
              <a:t>关键</a:t>
            </a:r>
            <a:r>
              <a:rPr lang="zh-CN" altLang="en-US" dirty="0" smtClean="0">
                <a:effectLst/>
              </a:rPr>
              <a:t>：</a:t>
            </a:r>
            <a:r>
              <a:rPr lang="en-US" altLang="zh-CN" dirty="0" smtClean="0">
                <a:effectLst/>
              </a:rPr>
              <a:t>H</a:t>
            </a:r>
            <a:r>
              <a:rPr lang="zh-CN" altLang="en-US" b="1" dirty="0" smtClean="0">
                <a:effectLst/>
              </a:rPr>
              <a:t>不一定</a:t>
            </a:r>
            <a:r>
              <a:rPr lang="zh-CN" altLang="en-US" dirty="0" smtClean="0">
                <a:effectLst/>
              </a:rPr>
              <a:t>是</a:t>
            </a:r>
            <a:r>
              <a:rPr lang="en-US" altLang="zh-CN" dirty="0" smtClean="0">
                <a:effectLst/>
              </a:rPr>
              <a:t>NP</a:t>
            </a:r>
            <a:r>
              <a:rPr lang="zh-CN" altLang="en-US" dirty="0" smtClean="0">
                <a:effectLst/>
              </a:rPr>
              <a:t>问题本身，它甚至可能不是决策问题（例如优化问题）。它只要求</a:t>
            </a:r>
            <a:r>
              <a:rPr lang="en-US" altLang="zh-CN" dirty="0" smtClean="0">
                <a:effectLst/>
              </a:rPr>
              <a:t>NP</a:t>
            </a:r>
            <a:r>
              <a:rPr lang="zh-CN" altLang="en-US" dirty="0" smtClean="0">
                <a:effectLst/>
              </a:rPr>
              <a:t>问题都能“变成”</a:t>
            </a:r>
            <a:r>
              <a:rPr lang="en-US" altLang="zh-CN" dirty="0" smtClean="0">
                <a:effectLst/>
              </a:rPr>
              <a:t>H</a:t>
            </a:r>
            <a:r>
              <a:rPr lang="zh-CN" altLang="en-US" dirty="0" smtClean="0">
                <a:effectLst/>
              </a:rPr>
              <a:t>问题。</a:t>
            </a:r>
            <a:r>
              <a:rPr lang="en-US" altLang="zh-CN" dirty="0" smtClean="0">
                <a:effectLst/>
              </a:rPr>
              <a:t>SAT</a:t>
            </a:r>
            <a:r>
              <a:rPr lang="zh-CN" altLang="en-US" dirty="0" smtClean="0">
                <a:effectLst/>
              </a:rPr>
              <a:t>问题、</a:t>
            </a:r>
            <a:r>
              <a:rPr lang="en-US" altLang="zh-CN" dirty="0" smtClean="0">
                <a:effectLst/>
              </a:rPr>
              <a:t>TSP</a:t>
            </a:r>
            <a:r>
              <a:rPr lang="zh-CN" altLang="en-US" dirty="0" smtClean="0">
                <a:effectLst/>
              </a:rPr>
              <a:t>的</a:t>
            </a:r>
            <a:r>
              <a:rPr lang="zh-CN" altLang="en-US" b="1" dirty="0" smtClean="0">
                <a:effectLst/>
              </a:rPr>
              <a:t>优化版本</a:t>
            </a:r>
            <a:r>
              <a:rPr lang="zh-CN" altLang="en-US" dirty="0" smtClean="0">
                <a:effectLst/>
              </a:rPr>
              <a:t>（求最短路径长度）</a:t>
            </a:r>
            <a:r>
              <a:rPr lang="en-US" altLang="zh-CN" b="1" dirty="0" smtClean="0">
                <a:effectLst/>
              </a:rPr>
              <a:t>NP-complete</a:t>
            </a:r>
            <a:r>
              <a:rPr lang="zh-CN" altLang="en-US" b="1" dirty="0" smtClean="0">
                <a:effectLst/>
              </a:rPr>
              <a:t>一个问题</a:t>
            </a:r>
            <a:r>
              <a:rPr lang="en-US" altLang="zh-CN" b="1" dirty="0" smtClean="0">
                <a:effectLst/>
              </a:rPr>
              <a:t>C</a:t>
            </a:r>
            <a:r>
              <a:rPr lang="zh-CN" altLang="en-US" b="1" dirty="0" smtClean="0">
                <a:effectLst/>
              </a:rPr>
              <a:t>是</a:t>
            </a:r>
            <a:r>
              <a:rPr lang="en-US" altLang="zh-CN" b="1" dirty="0" smtClean="0">
                <a:effectLst/>
              </a:rPr>
              <a:t>NP-complete</a:t>
            </a:r>
            <a:r>
              <a:rPr lang="zh-CN" altLang="en-US" b="1" dirty="0" smtClean="0">
                <a:effectLst/>
              </a:rPr>
              <a:t>的，如果：</a:t>
            </a:r>
            <a:r>
              <a:rPr lang="zh-CN" altLang="en-US" dirty="0" smtClean="0">
                <a:effectLst/>
              </a:rPr>
              <a:t/>
            </a:r>
            <a:br>
              <a:rPr lang="zh-CN" altLang="en-US" dirty="0" smtClean="0">
                <a:effectLst/>
              </a:rPr>
            </a:br>
            <a:r>
              <a:rPr lang="en-US" altLang="zh-CN" dirty="0" smtClean="0">
                <a:effectLst/>
              </a:rPr>
              <a:t>1. </a:t>
            </a:r>
            <a:r>
              <a:rPr lang="en-US" altLang="zh-CN" b="1" dirty="0" smtClean="0">
                <a:effectLst/>
              </a:rPr>
              <a:t>C ∈ NP</a:t>
            </a:r>
            <a:r>
              <a:rPr lang="zh-CN" altLang="en-US" dirty="0" smtClean="0">
                <a:effectLst/>
              </a:rPr>
              <a:t> </a:t>
            </a:r>
            <a:r>
              <a:rPr lang="en-US" altLang="zh-CN" dirty="0" smtClean="0">
                <a:effectLst/>
              </a:rPr>
              <a:t>(C</a:t>
            </a:r>
            <a:r>
              <a:rPr lang="zh-CN" altLang="en-US" dirty="0" smtClean="0">
                <a:effectLst/>
              </a:rPr>
              <a:t>本身是一个</a:t>
            </a:r>
            <a:r>
              <a:rPr lang="en-US" altLang="zh-CN" dirty="0" smtClean="0">
                <a:effectLst/>
              </a:rPr>
              <a:t>NP</a:t>
            </a:r>
            <a:r>
              <a:rPr lang="zh-CN" altLang="en-US" dirty="0" smtClean="0">
                <a:effectLst/>
              </a:rPr>
              <a:t>问题</a:t>
            </a:r>
            <a:r>
              <a:rPr lang="en-US" altLang="zh-CN" dirty="0" smtClean="0">
                <a:effectLst/>
              </a:rPr>
              <a:t>)</a:t>
            </a:r>
            <a:br>
              <a:rPr lang="en-US" altLang="zh-CN" dirty="0" smtClean="0">
                <a:effectLst/>
              </a:rPr>
            </a:br>
            <a:r>
              <a:rPr lang="en-US" altLang="zh-CN" dirty="0" smtClean="0">
                <a:effectLst/>
              </a:rPr>
              <a:t>2. </a:t>
            </a:r>
            <a:r>
              <a:rPr lang="en-US" altLang="zh-CN" b="1" dirty="0" smtClean="0">
                <a:effectLst/>
              </a:rPr>
              <a:t>C ∈ NP-hard</a:t>
            </a:r>
            <a:r>
              <a:rPr lang="zh-CN" altLang="en-US" dirty="0" smtClean="0">
                <a:effectLst/>
              </a:rPr>
              <a:t> </a:t>
            </a:r>
            <a:r>
              <a:rPr lang="en-US" altLang="zh-CN" dirty="0" smtClean="0">
                <a:effectLst/>
              </a:rPr>
              <a:t>(</a:t>
            </a:r>
            <a:r>
              <a:rPr lang="zh-CN" altLang="en-US" dirty="0" smtClean="0">
                <a:effectLst/>
              </a:rPr>
              <a:t>所有</a:t>
            </a:r>
            <a:r>
              <a:rPr lang="en-US" altLang="zh-CN" dirty="0" smtClean="0">
                <a:effectLst/>
              </a:rPr>
              <a:t>NP</a:t>
            </a:r>
            <a:r>
              <a:rPr lang="zh-CN" altLang="en-US" dirty="0" smtClean="0">
                <a:effectLst/>
              </a:rPr>
              <a:t>问题都能归约到</a:t>
            </a:r>
            <a:r>
              <a:rPr lang="en-US" altLang="zh-CN" dirty="0" smtClean="0">
                <a:effectLst/>
              </a:rPr>
              <a:t>C)</a:t>
            </a:r>
            <a:br>
              <a:rPr lang="en-US" altLang="zh-CN" dirty="0" smtClean="0">
                <a:effectLst/>
              </a:rPr>
            </a:br>
            <a:r>
              <a:rPr lang="zh-CN" altLang="en-US" b="1" dirty="0" smtClean="0">
                <a:effectLst/>
              </a:rPr>
              <a:t>关键</a:t>
            </a:r>
            <a:r>
              <a:rPr lang="zh-CN" altLang="en-US" dirty="0" smtClean="0">
                <a:effectLst/>
              </a:rPr>
              <a:t>：</a:t>
            </a:r>
            <a:r>
              <a:rPr lang="en-US" altLang="zh-CN" dirty="0" smtClean="0">
                <a:effectLst/>
              </a:rPr>
              <a:t>NP-complete</a:t>
            </a:r>
            <a:r>
              <a:rPr lang="zh-CN" altLang="en-US" dirty="0" smtClean="0">
                <a:effectLst/>
              </a:rPr>
              <a:t>是</a:t>
            </a:r>
            <a:r>
              <a:rPr lang="en-US" altLang="zh-CN" dirty="0" smtClean="0">
                <a:effectLst/>
              </a:rPr>
              <a:t>NP</a:t>
            </a:r>
            <a:r>
              <a:rPr lang="zh-CN" altLang="en-US" dirty="0" smtClean="0">
                <a:effectLst/>
              </a:rPr>
              <a:t>和</a:t>
            </a:r>
            <a:r>
              <a:rPr lang="en-US" altLang="zh-CN" dirty="0" smtClean="0">
                <a:effectLst/>
              </a:rPr>
              <a:t>NP-hard</a:t>
            </a:r>
            <a:r>
              <a:rPr lang="zh-CN" altLang="en-US" dirty="0" smtClean="0">
                <a:effectLst/>
              </a:rPr>
              <a:t>的</a:t>
            </a:r>
            <a:r>
              <a:rPr lang="zh-CN" altLang="en-US" b="1" dirty="0" smtClean="0">
                <a:effectLst/>
              </a:rPr>
              <a:t>交集</a:t>
            </a:r>
            <a:r>
              <a:rPr lang="zh-CN" altLang="en-US" dirty="0" smtClean="0">
                <a:effectLst/>
              </a:rPr>
              <a:t>。</a:t>
            </a:r>
            <a:r>
              <a:rPr lang="en-US" altLang="zh-CN" dirty="0" smtClean="0">
                <a:effectLst/>
              </a:rPr>
              <a:t>SAT</a:t>
            </a:r>
            <a:r>
              <a:rPr lang="zh-CN" altLang="en-US" dirty="0" smtClean="0">
                <a:effectLst/>
              </a:rPr>
              <a:t>问题、</a:t>
            </a:r>
            <a:r>
              <a:rPr lang="en-US" altLang="zh-CN" dirty="0" smtClean="0">
                <a:effectLst/>
              </a:rPr>
              <a:t>TSP</a:t>
            </a:r>
            <a:r>
              <a:rPr lang="zh-CN" altLang="en-US" dirty="0" smtClean="0">
                <a:effectLst/>
              </a:rPr>
              <a:t>的</a:t>
            </a:r>
            <a:r>
              <a:rPr lang="zh-CN" altLang="en-US" b="1" dirty="0" smtClean="0">
                <a:effectLst/>
              </a:rPr>
              <a:t>决策版本</a:t>
            </a:r>
            <a:r>
              <a:rPr lang="zh-CN" altLang="en-US" dirty="0" smtClean="0">
                <a:effectLst/>
              </a:rPr>
              <a:t>（是否存在一条路径长度 </a:t>
            </a:r>
            <a:r>
              <a:rPr lang="en-US" altLang="zh-CN" dirty="0" smtClean="0">
                <a:effectLst/>
              </a:rPr>
              <a:t>&lt; K</a:t>
            </a:r>
            <a:r>
              <a:rPr lang="zh-CN" altLang="en-US" dirty="0" smtClean="0">
                <a:effectLst/>
              </a:rPr>
              <a:t>？）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98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注意其中的关键字</a:t>
            </a:r>
            <a:r>
              <a:rPr lang="zh-CN" altLang="en-US" baseline="0" dirty="0" smtClean="0"/>
              <a:t>：</a:t>
            </a:r>
            <a:r>
              <a:rPr lang="zh-CN" altLang="en-US" dirty="0" smtClean="0"/>
              <a:t>一个是解决， 一个是验证。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7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77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2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Crnt</a:t>
            </a:r>
            <a:r>
              <a:rPr kumimoji="1" lang="en-US" altLang="zh-CN" dirty="0"/>
              <a:t> = current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97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45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40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颜色相同的是重复状态？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6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existedNodes</a:t>
            </a:r>
            <a:r>
              <a:rPr lang="zh-CN" altLang="en-US" dirty="0" smtClean="0"/>
              <a:t>目的为了校验是否之前有过此状态，避免重复状态，避免形成环。</a:t>
            </a:r>
            <a:r>
              <a:rPr lang="zh-CN" altLang="en-US" baseline="0" dirty="0" smtClean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75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324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BA42DD-6D94-4698-832B-FD6413A899CA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70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="" xmlns:a16="http://schemas.microsoft.com/office/drawing/2014/main" id="{F1802D9C-DD1A-7542-8A4E-16AEE8586F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B4B67EBE-AB6A-564D-857C-410009D6EBE1}" type="slidenum">
              <a:rPr lang="en-US" altLang="zh-CN" sz="1200"/>
              <a:pPr eaLnBrk="1" hangingPunct="1"/>
              <a:t>106</a:t>
            </a:fld>
            <a:endParaRPr lang="en-US" altLang="zh-CN" sz="1200"/>
          </a:p>
        </p:txBody>
      </p:sp>
      <p:sp>
        <p:nvSpPr>
          <p:cNvPr id="110595" name="Rectangle 2">
            <a:extLst>
              <a:ext uri="{FF2B5EF4-FFF2-40B4-BE49-F238E27FC236}">
                <a16:creationId xmlns="" xmlns:a16="http://schemas.microsoft.com/office/drawing/2014/main" id="{A1191120-C518-7E48-94DE-B5A465329C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="" xmlns:a16="http://schemas.microsoft.com/office/drawing/2014/main" id="{2BEFA547-9F13-7741-8A89-180C1EC4A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1348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="" xmlns:a16="http://schemas.microsoft.com/office/drawing/2014/main" id="{8D6D6E55-C30F-ED45-AC03-E0A690D3BC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3B0F137F-C582-2642-A24E-FBD160838119}" type="slidenum">
              <a:rPr lang="en-US" altLang="zh-CN" sz="1200"/>
              <a:pPr eaLnBrk="1" hangingPunct="1"/>
              <a:t>109</a:t>
            </a:fld>
            <a:endParaRPr lang="en-US" altLang="zh-CN" sz="1200"/>
          </a:p>
        </p:txBody>
      </p:sp>
      <p:sp>
        <p:nvSpPr>
          <p:cNvPr id="113667" name="Rectangle 2">
            <a:extLst>
              <a:ext uri="{FF2B5EF4-FFF2-40B4-BE49-F238E27FC236}">
                <a16:creationId xmlns="" xmlns:a16="http://schemas.microsoft.com/office/drawing/2014/main" id="{74250747-8C83-6148-BC80-7FF95088A9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="" xmlns:a16="http://schemas.microsoft.com/office/drawing/2014/main" id="{E7A3EA0B-0747-9B4D-B1B6-5D20E6913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987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r>
              <a:rPr lang="en-US"/>
              <a:t>14 Jan 2004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r>
              <a:rPr lang="en-US"/>
              <a:t>CS 3243 - Blind Search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43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85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58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266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4993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158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2298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084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581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378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4986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Clr>
                <a:prstClr val="white"/>
              </a:buClr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14 Jan 2004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prstClr val="white"/>
              </a:buClr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CS 3243 - Blind Search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prstClr val="white"/>
              </a:buClr>
            </a:pPr>
            <a:fld id="{9A0DB2DC-4C9A-4742-B13C-FB6460FD3503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buClr>
                  <a:prstClr val="white"/>
                </a:buClr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72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5" cstate="print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5" cstate="print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83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9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9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9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9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obe.ruc.edu.c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tif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3.e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4.e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4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4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4.e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4.e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54.e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54.e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54.em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4.emf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4.emf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4.e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4.emf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54.emf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搜索问题第</a:t>
            </a:r>
            <a:r>
              <a:rPr lang="en-US" altLang="zh-CN" dirty="0"/>
              <a:t>1</a:t>
            </a:r>
            <a:r>
              <a:rPr lang="zh-CN" altLang="en-US" dirty="0"/>
              <a:t>讲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暴力搜索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 smtClean="0"/>
              <a:t>教师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r>
              <a:rPr kumimoji="1" lang="zh-CN" altLang="en-US" dirty="0" smtClean="0"/>
              <a:t>杨刚</a:t>
            </a:r>
            <a:endParaRPr kumimoji="1" lang="en-US" altLang="zh-CN" dirty="0" smtClean="0"/>
          </a:p>
          <a:p>
            <a:r>
              <a:rPr kumimoji="1" lang="en-US" altLang="zh-CN" dirty="0"/>
              <a:t>yanggang</a:t>
            </a:r>
            <a:r>
              <a:rPr kumimoji="1" lang="en-US" altLang="zh-CN" dirty="0" smtClean="0"/>
              <a:t>@ruc.edu.cn</a:t>
            </a:r>
            <a:endParaRPr kumimoji="1" lang="en-US" altLang="zh-CN" dirty="0"/>
          </a:p>
          <a:p>
            <a:endParaRPr kumimoji="1" lang="e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综合设计课程简介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zh-CN" altLang="en-US" dirty="0"/>
              <a:t>通过课程提高学生对计算机学科的认识，培养学生学习计算机的兴趣</a:t>
            </a:r>
            <a:endParaRPr lang="en-US" altLang="zh-CN" dirty="0"/>
          </a:p>
          <a:p>
            <a:r>
              <a:rPr lang="zh-CN" altLang="en-US" dirty="0"/>
              <a:t>以游戏为切入</a:t>
            </a:r>
            <a:endParaRPr lang="en-US" altLang="zh-CN" dirty="0"/>
          </a:p>
          <a:p>
            <a:r>
              <a:rPr kumimoji="1" lang="zh-CN" altLang="en-US" dirty="0"/>
              <a:t>课程内容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盲搜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贪心、爬山、遗传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游戏（对抗搜索）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AI</a:t>
            </a:r>
            <a:r>
              <a:rPr kumimoji="1" lang="zh-CN" altLang="en-US" dirty="0"/>
              <a:t>对抗比赛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="" xmlns:a16="http://schemas.microsoft.com/office/drawing/2014/main" id="{88E189DF-C9CD-8748-848E-6E93E0439971}"/>
              </a:ext>
            </a:extLst>
          </p:cNvPr>
          <p:cNvSpPr txBox="1">
            <a:spLocks/>
          </p:cNvSpPr>
          <p:nvPr/>
        </p:nvSpPr>
        <p:spPr>
          <a:xfrm>
            <a:off x="4724400" y="3200400"/>
            <a:ext cx="4419600" cy="2925763"/>
          </a:xfrm>
          <a:prstGeom prst="rect">
            <a:avLst/>
          </a:prstGeom>
        </p:spPr>
        <p:txBody>
          <a:bodyPr vert="horz" rtlCol="0">
            <a:normAutofit lnSpcReduction="100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涉及内容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数据结构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算法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人工智能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软件工程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14B063BF-4C4E-AF45-8A71-F1AB6FDE89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193" y="4233333"/>
            <a:ext cx="1988807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8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考核和成绩构成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 考勤 </a:t>
            </a:r>
            <a:r>
              <a:rPr lang="en-US" altLang="zh-CN" dirty="0"/>
              <a:t>20</a:t>
            </a:r>
            <a:r>
              <a:rPr lang="zh-CN" altLang="en-US" dirty="0"/>
              <a:t>分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小</a:t>
            </a:r>
            <a:r>
              <a:rPr lang="zh-CN" altLang="en-US" dirty="0"/>
              <a:t>作业</a:t>
            </a:r>
            <a:r>
              <a:rPr lang="en-US" altLang="zh-CN" dirty="0"/>
              <a:t>30</a:t>
            </a:r>
            <a:r>
              <a:rPr lang="zh-CN" altLang="en-US" dirty="0"/>
              <a:t>分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笔试</a:t>
            </a:r>
            <a:r>
              <a:rPr lang="en-US" altLang="zh-CN" dirty="0"/>
              <a:t>20</a:t>
            </a:r>
            <a:r>
              <a:rPr lang="zh-CN" altLang="en-US" dirty="0"/>
              <a:t>分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大</a:t>
            </a:r>
            <a:r>
              <a:rPr lang="zh-CN" altLang="en-US" dirty="0"/>
              <a:t>作业 </a:t>
            </a:r>
            <a:r>
              <a:rPr lang="en-US" altLang="zh-CN" dirty="0"/>
              <a:t>30</a:t>
            </a:r>
            <a:r>
              <a:rPr lang="zh-CN" altLang="en-US" dirty="0" smtClean="0"/>
              <a:t>分。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以此比例形成总分值。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8555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作业简介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00200"/>
            <a:ext cx="8229600" cy="5105400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UniCourse</a:t>
            </a:r>
            <a:r>
              <a:rPr kumimoji="1" lang="en" altLang="zh-CN" dirty="0" smtClean="0"/>
              <a:t>+</a:t>
            </a:r>
            <a:r>
              <a:rPr kumimoji="1" lang="zh-CN" altLang="en-US" dirty="0" smtClean="0"/>
              <a:t>（随堂练、课后练）</a:t>
            </a:r>
            <a:endParaRPr kumimoji="1" lang="en" altLang="zh-CN" dirty="0"/>
          </a:p>
          <a:p>
            <a:r>
              <a:rPr kumimoji="1" lang="en" altLang="zh-CN" dirty="0">
                <a:hlinkClick r:id="rId2"/>
              </a:rPr>
              <a:t>http://obe.ruc.edu.cn</a:t>
            </a:r>
            <a:r>
              <a:rPr kumimoji="1" lang="en" altLang="zh-CN" dirty="0" smtClean="0">
                <a:hlinkClick r:id="rId2"/>
              </a:rPr>
              <a:t>/</a:t>
            </a:r>
            <a:r>
              <a:rPr kumimoji="1" lang="zh-CN" altLang="en-US" dirty="0" smtClean="0"/>
              <a:t>（作业）</a:t>
            </a:r>
            <a:endParaRPr kumimoji="1" lang="en" altLang="zh-CN" dirty="0"/>
          </a:p>
          <a:p>
            <a:r>
              <a:rPr kumimoji="1" lang="zh-CN" altLang="en-US" dirty="0"/>
              <a:t>课件、材料、作业、提交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597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AFB9FF4-CB6F-8F42-A114-9EA9A8AD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作业简介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BAC56D79-F363-814D-A1F6-1DD22DD96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小</a:t>
            </a:r>
            <a:r>
              <a:rPr kumimoji="1" lang="zh-CN" altLang="en-US" dirty="0" smtClean="0"/>
              <a:t>作业一：八数码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kumimoji="1" lang="zh-CN" altLang="en-US" dirty="0" smtClean="0"/>
              <a:t>小作业</a:t>
            </a:r>
            <a:r>
              <a:rPr kumimoji="1" lang="zh-CN" altLang="en-US" dirty="0"/>
              <a:t>二</a:t>
            </a:r>
            <a:r>
              <a:rPr kumimoji="1" lang="zh-CN" altLang="en-US" dirty="0" smtClean="0"/>
              <a:t>：</a:t>
            </a:r>
            <a:r>
              <a:rPr kumimoji="1" lang="zh-CN" altLang="en-US" dirty="0"/>
              <a:t>魔方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大</a:t>
            </a:r>
            <a:r>
              <a:rPr kumimoji="1" lang="zh-CN" altLang="en-US" dirty="0" smtClean="0"/>
              <a:t>作业：</a:t>
            </a:r>
            <a:r>
              <a:rPr kumimoji="1" lang="zh-CN" altLang="en-US" dirty="0"/>
              <a:t>贪吃蛇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4BE2EC1E-23A2-3746-9699-472F60D30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5105400"/>
            <a:ext cx="1422400" cy="1422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78CD16F7-2E9E-4BDF-B17D-82285BE0CD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456" y="3200400"/>
            <a:ext cx="1345166" cy="14224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278152"/>
              </p:ext>
            </p:extLst>
          </p:nvPr>
        </p:nvGraphicFramePr>
        <p:xfrm>
          <a:off x="4318000" y="14478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53200" y="1752600"/>
            <a:ext cx="24383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此作业是面向基础班级。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zh-CN" altLang="en-US" sz="2800" dirty="0"/>
              <a:t>图灵班</a:t>
            </a:r>
            <a:r>
              <a:rPr lang="zh-CN" altLang="en-US" sz="2800" dirty="0" smtClean="0"/>
              <a:t>需要有崇高追求：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zh-CN" altLang="en-US" sz="2800" dirty="0" smtClean="0"/>
              <a:t>更省更高更强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en-US" altLang="zh-CN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90949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 smtClean="0"/>
              <a:t>要将</a:t>
            </a:r>
            <a:endParaRPr lang="en-US" altLang="zh-CN" sz="5400" b="1" dirty="0" smtClean="0"/>
          </a:p>
          <a:p>
            <a:pPr marL="0" indent="0" algn="ctr">
              <a:buNone/>
            </a:pPr>
            <a:r>
              <a:rPr lang="zh-CN" altLang="en-US" sz="7200" b="1" dirty="0" smtClean="0">
                <a:solidFill>
                  <a:srgbClr val="FF0000"/>
                </a:solidFill>
              </a:rPr>
              <a:t>大模型</a:t>
            </a:r>
            <a:endParaRPr lang="en-US" altLang="zh-CN" sz="72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zh-CN" altLang="en-US" sz="5400" b="1" dirty="0" smtClean="0"/>
              <a:t>用作学习辅助工具！</a:t>
            </a:r>
            <a:endParaRPr lang="en-US" altLang="zh-CN" sz="5400" b="1" dirty="0" smtClean="0"/>
          </a:p>
          <a:p>
            <a:pPr marL="0" indent="0" algn="ctr">
              <a:buNone/>
            </a:pPr>
            <a:endParaRPr lang="en-US" altLang="zh-CN" sz="5400" b="1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38400" y="6248400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要仔细阅读理解大模型产生的代码和解释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396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</a:t>
            </a:r>
            <a:r>
              <a:rPr lang="en-US" altLang="zh-CN"/>
              <a:t>0 </a:t>
            </a:r>
            <a:r>
              <a:rPr lang="zh-CN" altLang="en-US"/>
              <a:t>最短路径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0530" y="1931035"/>
            <a:ext cx="5742940" cy="360045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2057400" y="3962400"/>
            <a:ext cx="1524000" cy="1143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3733800" y="3962400"/>
            <a:ext cx="1752600" cy="1143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638800" y="2362200"/>
            <a:ext cx="228600" cy="1447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943600" y="2362200"/>
            <a:ext cx="1066800" cy="1447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9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    </a:t>
            </a:r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有一背包，最多可承重</a:t>
            </a:r>
            <a:r>
              <a:rPr lang="en-US" altLang="zh-CN" dirty="0"/>
              <a:t>W</a:t>
            </a:r>
          </a:p>
          <a:p>
            <a:r>
              <a:rPr lang="zh-CN" altLang="en-US" dirty="0"/>
              <a:t>有</a:t>
            </a:r>
            <a:r>
              <a:rPr lang="en-US" altLang="zh-CN" dirty="0"/>
              <a:t>n</a:t>
            </a:r>
            <a:r>
              <a:rPr lang="zh-CN" altLang="en-US" dirty="0"/>
              <a:t>个货物</a:t>
            </a:r>
            <a:endParaRPr lang="en-US" altLang="zh-CN" dirty="0"/>
          </a:p>
          <a:p>
            <a:pPr lvl="1"/>
            <a:r>
              <a:rPr lang="zh-CN" altLang="en-US" dirty="0"/>
              <a:t>各自的重量分别为</a:t>
            </a:r>
            <a:r>
              <a:rPr lang="en-US" altLang="zh-CN" dirty="0"/>
              <a:t>w</a:t>
            </a:r>
            <a:r>
              <a:rPr lang="en-US" altLang="zh-CN" baseline="-25000" dirty="0"/>
              <a:t>0</a:t>
            </a:r>
            <a:r>
              <a:rPr lang="en-US" altLang="zh-CN" dirty="0"/>
              <a:t>, ......, w</a:t>
            </a:r>
            <a:r>
              <a:rPr lang="en-US" altLang="zh-CN" baseline="-25000" dirty="0"/>
              <a:t>n-1</a:t>
            </a:r>
            <a:endParaRPr lang="en-US" altLang="zh-CN" dirty="0"/>
          </a:p>
          <a:p>
            <a:pPr lvl="1"/>
            <a:r>
              <a:rPr lang="zh-CN" altLang="en-US" dirty="0"/>
              <a:t>各自的价值分别为</a:t>
            </a:r>
            <a:r>
              <a:rPr lang="en-US" altLang="zh-CN" dirty="0"/>
              <a:t>v</a:t>
            </a:r>
            <a:r>
              <a:rPr lang="en-US" altLang="zh-CN" baseline="-25000" dirty="0"/>
              <a:t>0</a:t>
            </a:r>
            <a:r>
              <a:rPr lang="en-US" altLang="zh-CN" dirty="0"/>
              <a:t>, ......, v</a:t>
            </a:r>
            <a:r>
              <a:rPr lang="en-US" altLang="zh-CN" baseline="-25000" dirty="0"/>
              <a:t>n-1</a:t>
            </a:r>
            <a:endParaRPr lang="en-US" altLang="zh-CN" dirty="0"/>
          </a:p>
          <a:p>
            <a:r>
              <a:rPr lang="zh-CN" altLang="en-US" dirty="0"/>
              <a:t>选择哪些货物放入背包，在不超重的情况下，使得背包内货物总价值最大？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489" y="1143000"/>
            <a:ext cx="3070511" cy="26590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2 </a:t>
            </a:r>
            <a:r>
              <a:rPr lang="zh-CN" altLang="en-US" dirty="0"/>
              <a:t>青蛙跳河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077" y="1600200"/>
            <a:ext cx="6462346" cy="13716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76300" y="3581400"/>
            <a:ext cx="75819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目标：请让左右两边河墩上的青蛙交换位置。</a:t>
            </a:r>
            <a:endParaRPr lang="en-US" altLang="zh-CN" sz="2800" dirty="0"/>
          </a:p>
          <a:p>
            <a:r>
              <a:rPr lang="zh-CN" altLang="en-US" sz="2800" dirty="0"/>
              <a:t>规则：</a:t>
            </a:r>
            <a:endParaRPr lang="en-US" altLang="zh-CN" sz="2800" dirty="0"/>
          </a:p>
          <a:p>
            <a:r>
              <a:rPr lang="en-US" altLang="zh-CN" sz="2800" dirty="0"/>
              <a:t>1. </a:t>
            </a:r>
            <a:r>
              <a:rPr lang="zh-CN" altLang="en-US" sz="2800" dirty="0"/>
              <a:t>前面的一个河墩为空，青蛙可直接跳过去；</a:t>
            </a:r>
            <a:endParaRPr lang="en-US" altLang="zh-CN" sz="2800" dirty="0"/>
          </a:p>
          <a:p>
            <a:r>
              <a:rPr lang="en-US" altLang="zh-CN" sz="2800" dirty="0"/>
              <a:t>2. </a:t>
            </a:r>
            <a:r>
              <a:rPr lang="zh-CN" altLang="en-US" sz="2800" dirty="0"/>
              <a:t>前面河墩隔一个是空的，不论隔的是哪种颜色的青蛙，可从它头上跳过去到达空位。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3 </a:t>
            </a:r>
            <a:r>
              <a:rPr lang="zh-CN" altLang="en-US" dirty="0"/>
              <a:t>五子棋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657600" cy="4525963"/>
          </a:xfrm>
        </p:spPr>
        <p:txBody>
          <a:bodyPr/>
          <a:lstStyle/>
          <a:p>
            <a:r>
              <a:rPr lang="zh-CN" altLang="en-US" dirty="0"/>
              <a:t>设计一个人机对抗的五子棋游戏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524000"/>
            <a:ext cx="3276600" cy="4013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现实</a:t>
            </a:r>
            <a:r>
              <a:rPr lang="zh-CN" altLang="en-US" dirty="0" smtClean="0"/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旅行推销员问题</a:t>
            </a:r>
            <a:endParaRPr lang="en-US" altLang="zh-CN" dirty="0"/>
          </a:p>
          <a:p>
            <a:r>
              <a:rPr lang="zh-CN" altLang="en-US" dirty="0"/>
              <a:t>骑士聚会问题</a:t>
            </a:r>
            <a:endParaRPr lang="en-US" altLang="zh-CN" dirty="0"/>
          </a:p>
          <a:p>
            <a:r>
              <a:rPr lang="zh-CN" altLang="en-US" dirty="0"/>
              <a:t>象棋</a:t>
            </a:r>
          </a:p>
          <a:p>
            <a:r>
              <a:rPr lang="zh-CN" altLang="en-US" dirty="0"/>
              <a:t>围棋</a:t>
            </a:r>
          </a:p>
          <a:p>
            <a:r>
              <a:rPr lang="zh-CN" altLang="en-US" dirty="0"/>
              <a:t>各种电脑游戏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76800" y="27432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有没有通用的解决办法？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589964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/>
              <a:t>人机差异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搜索问题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zh-CN" altLang="en-US" dirty="0">
                <a:sym typeface="+mn-ea"/>
              </a:rPr>
              <a:t>搜索概述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盲搜</a:t>
            </a:r>
            <a:endParaRPr lang="en-US" altLang="zh-CN" dirty="0"/>
          </a:p>
          <a:p>
            <a:pPr lvl="1"/>
            <a:r>
              <a:rPr lang="zh-CN" altLang="en-US" dirty="0"/>
              <a:t>深度优先，广度优先等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“</a:t>
            </a:r>
            <a:r>
              <a:rPr lang="zh-CN" altLang="en-US" dirty="0"/>
              <a:t>不盲的</a:t>
            </a:r>
            <a:r>
              <a:rPr lang="en-US" altLang="zh-CN" dirty="0"/>
              <a:t>”</a:t>
            </a:r>
            <a:r>
              <a:rPr lang="zh-CN" altLang="en-US" dirty="0"/>
              <a:t>搜</a:t>
            </a:r>
          </a:p>
          <a:p>
            <a:pPr lvl="1"/>
            <a:r>
              <a:rPr lang="zh-CN" altLang="en-US" sz="2800" dirty="0"/>
              <a:t>爬山算法，遗传算法等</a:t>
            </a:r>
            <a:endParaRPr lang="zh-CN" altLang="en-US" dirty="0"/>
          </a:p>
          <a:p>
            <a:pPr marL="685800" lvl="3" indent="0">
              <a:buNone/>
            </a:pPr>
            <a:endParaRPr lang="zh-CN" altLang="en-US" dirty="0"/>
          </a:p>
          <a:p>
            <a:r>
              <a:rPr lang="zh-CN" altLang="en-US" dirty="0"/>
              <a:t>对抗搜索</a:t>
            </a:r>
          </a:p>
          <a:p>
            <a:pPr lvl="1"/>
            <a:r>
              <a:rPr lang="zh-CN" altLang="en-US" dirty="0"/>
              <a:t>游戏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搜索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不是通过对问题的分析找出问题的</a:t>
            </a:r>
            <a:r>
              <a:rPr lang="zh-CN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计算公式</a:t>
            </a:r>
            <a:r>
              <a:rPr lang="zh-CN" altLang="en-US" dirty="0"/>
              <a:t>进而计算，而是根据问题的性质，找出问题的</a:t>
            </a:r>
            <a:r>
              <a:rPr lang="zh-CN" altLang="en-US" dirty="0">
                <a:solidFill>
                  <a:srgbClr val="FF0000"/>
                </a:solidFill>
              </a:rPr>
              <a:t>状态模型</a:t>
            </a:r>
            <a:r>
              <a:rPr lang="zh-CN" altLang="en-US" dirty="0"/>
              <a:t>，确定包括</a:t>
            </a:r>
            <a:r>
              <a:rPr lang="zh-CN" altLang="en-US" dirty="0">
                <a:solidFill>
                  <a:srgbClr val="FF0000"/>
                </a:solidFill>
              </a:rPr>
              <a:t>目标状态</a:t>
            </a:r>
            <a:r>
              <a:rPr lang="zh-CN" altLang="en-US" dirty="0"/>
              <a:t>在内的各种状态的</a:t>
            </a:r>
            <a:r>
              <a:rPr lang="zh-CN" altLang="en-US" dirty="0">
                <a:solidFill>
                  <a:srgbClr val="FF0000"/>
                </a:solidFill>
              </a:rPr>
              <a:t>生成方法</a:t>
            </a:r>
            <a:r>
              <a:rPr lang="zh-CN" altLang="en-US" dirty="0"/>
              <a:t>，按一定的规律逐一生成</a:t>
            </a:r>
            <a:r>
              <a:rPr lang="zh-CN" altLang="en-US" dirty="0">
                <a:solidFill>
                  <a:srgbClr val="FF0000"/>
                </a:solidFill>
              </a:rPr>
              <a:t>各种可能的状态</a:t>
            </a:r>
            <a:r>
              <a:rPr lang="zh-CN" altLang="en-US" dirty="0"/>
              <a:t>，从中寻找符合要求的目标状态</a:t>
            </a:r>
            <a:endParaRPr lang="en-US" altLang="zh-CN" dirty="0"/>
          </a:p>
          <a:p>
            <a:pPr lvl="1"/>
            <a:r>
              <a:rPr lang="zh-CN" altLang="en-US" dirty="0"/>
              <a:t>程序设计中一种常用策略</a:t>
            </a:r>
            <a:endParaRPr lang="en-US" altLang="zh-CN" dirty="0"/>
          </a:p>
          <a:p>
            <a:pPr lvl="1"/>
            <a:r>
              <a:rPr lang="zh-CN" altLang="en-US" dirty="0"/>
              <a:t>求解难以直接计算的（组合优化）问题</a:t>
            </a:r>
            <a:endParaRPr lang="en-US" altLang="zh-CN" dirty="0"/>
          </a:p>
          <a:p>
            <a:pPr lvl="1"/>
            <a:r>
              <a:rPr lang="zh-CN" altLang="en-US" dirty="0"/>
              <a:t>适应广泛</a:t>
            </a: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7162800" y="634881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发挥机器的优势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搜索：模型定义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搜索问题一般通过以下几个属性来定义：</a:t>
            </a:r>
          </a:p>
          <a:p>
            <a:pPr lvl="1"/>
            <a:r>
              <a:rPr lang="zh-CN" altLang="en-US" dirty="0"/>
              <a:t>状态</a:t>
            </a:r>
          </a:p>
          <a:p>
            <a:pPr lvl="1"/>
            <a:r>
              <a:rPr lang="zh-CN" altLang="en-US" dirty="0"/>
              <a:t>初始状态</a:t>
            </a:r>
          </a:p>
          <a:p>
            <a:pPr lvl="1"/>
            <a:r>
              <a:rPr lang="zh-CN" altLang="en-US" dirty="0"/>
              <a:t>动作</a:t>
            </a:r>
          </a:p>
          <a:p>
            <a:pPr lvl="1"/>
            <a:r>
              <a:rPr lang="zh-CN" altLang="en-US" dirty="0"/>
              <a:t>转移模型</a:t>
            </a:r>
          </a:p>
          <a:p>
            <a:pPr lvl="1"/>
            <a:r>
              <a:rPr lang="zh-CN" altLang="en-US" dirty="0"/>
              <a:t>目标测试</a:t>
            </a:r>
          </a:p>
          <a:p>
            <a:pPr lvl="1"/>
            <a:r>
              <a:rPr lang="zh-CN" altLang="en-US" dirty="0"/>
              <a:t>路径成本（可选）</a:t>
            </a: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" y="836930"/>
            <a:ext cx="4556760" cy="1143000"/>
          </a:xfrm>
        </p:spPr>
        <p:txBody>
          <a:bodyPr/>
          <a:lstStyle/>
          <a:p>
            <a:r>
              <a:rPr lang="zh-CN" altLang="en-US"/>
              <a:t>最短路径问题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25365" y="127000"/>
            <a:ext cx="3503930" cy="219710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378460" y="2548255"/>
            <a:ext cx="8281670" cy="45262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2000" b="1" dirty="0"/>
              <a:t>状态</a:t>
            </a:r>
            <a:r>
              <a:rPr lang="en-US" altLang="zh-CN" sz="2000" dirty="0"/>
              <a:t>:  </a:t>
            </a:r>
            <a:r>
              <a:rPr lang="zh-CN" altLang="en-US" sz="2000" dirty="0"/>
              <a:t>一个节点序列</a:t>
            </a:r>
            <a:r>
              <a:rPr lang="en-US" altLang="zh-CN" sz="2000" dirty="0"/>
              <a:t>,</a:t>
            </a:r>
            <a:r>
              <a:rPr lang="zh-CN" altLang="en-US" sz="2000" dirty="0"/>
              <a:t> 如</a:t>
            </a:r>
            <a:r>
              <a:rPr lang="en-US" altLang="zh-CN" sz="2000" dirty="0"/>
              <a:t>&lt;v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v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v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&gt;,</a:t>
            </a:r>
            <a:r>
              <a:rPr lang="zh-CN" altLang="en-US" sz="2000" dirty="0"/>
              <a:t>表示经过的路径；序列最后一个节点表示当前的位置。</a:t>
            </a:r>
          </a:p>
          <a:p>
            <a:pPr lvl="0"/>
            <a:r>
              <a:rPr lang="zh-CN" altLang="en-US" sz="2000" b="1" dirty="0"/>
              <a:t>初始状态</a:t>
            </a:r>
            <a:r>
              <a:rPr lang="zh-CN" altLang="en-US" sz="2000" dirty="0"/>
              <a:t>：序列只有一个节点，表示出发位置。</a:t>
            </a:r>
          </a:p>
          <a:p>
            <a:pPr lvl="0"/>
            <a:r>
              <a:rPr lang="zh-CN" altLang="en-US" sz="2000" b="1" dirty="0"/>
              <a:t>动作</a:t>
            </a:r>
            <a:r>
              <a:rPr lang="zh-CN" altLang="en-US" sz="2000" dirty="0"/>
              <a:t>：</a:t>
            </a:r>
            <a:r>
              <a:rPr lang="en-US" altLang="zh-CN" sz="2000" dirty="0"/>
              <a:t>move</a:t>
            </a:r>
            <a:r>
              <a:rPr lang="zh-CN" altLang="en-US" sz="2000" dirty="0"/>
              <a:t>（</a:t>
            </a:r>
            <a:r>
              <a:rPr lang="en-US" altLang="zh-CN" sz="2000" dirty="0"/>
              <a:t>v</a:t>
            </a:r>
            <a:r>
              <a:rPr lang="en-US" altLang="zh-CN" sz="2000" baseline="-25000" dirty="0"/>
              <a:t>i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v</a:t>
            </a:r>
            <a:r>
              <a:rPr lang="en-US" altLang="zh-CN" sz="2000" baseline="-25000" dirty="0" err="1"/>
              <a:t>j</a:t>
            </a:r>
            <a:r>
              <a:rPr lang="zh-CN" altLang="en-US" sz="2000" dirty="0"/>
              <a:t>），从一个节点移动到另一个节点。图中须有一条边从</a:t>
            </a:r>
            <a:r>
              <a:rPr lang="en-US" altLang="zh-CN" sz="2000" dirty="0">
                <a:sym typeface="+mn-ea"/>
              </a:rPr>
              <a:t>v</a:t>
            </a:r>
            <a:r>
              <a:rPr lang="en-US" altLang="zh-CN" sz="2000" baseline="-25000" dirty="0">
                <a:sym typeface="+mn-ea"/>
              </a:rPr>
              <a:t>i</a:t>
            </a:r>
            <a:r>
              <a:rPr lang="zh-CN" altLang="en-US" sz="2000" dirty="0">
                <a:sym typeface="+mn-ea"/>
              </a:rPr>
              <a:t>指向</a:t>
            </a:r>
            <a:r>
              <a:rPr lang="en-US" altLang="zh-CN" sz="2000" dirty="0">
                <a:sym typeface="+mn-ea"/>
              </a:rPr>
              <a:t> </a:t>
            </a:r>
            <a:r>
              <a:rPr lang="en-US" altLang="zh-CN" sz="2000" dirty="0" err="1">
                <a:sym typeface="+mn-ea"/>
              </a:rPr>
              <a:t>v</a:t>
            </a:r>
            <a:r>
              <a:rPr lang="en-US" altLang="zh-CN" sz="2000" baseline="-25000" dirty="0" err="1">
                <a:sym typeface="+mn-ea"/>
              </a:rPr>
              <a:t>j</a:t>
            </a:r>
            <a:r>
              <a:rPr lang="en-US" altLang="zh-CN" sz="2000" baseline="-25000" dirty="0">
                <a:sym typeface="+mn-ea"/>
              </a:rPr>
              <a:t> </a:t>
            </a:r>
            <a:r>
              <a:rPr lang="zh-CN" altLang="en-US" sz="2000" baseline="-25000" dirty="0">
                <a:sym typeface="+mn-ea"/>
              </a:rPr>
              <a:t>。</a:t>
            </a:r>
            <a:endParaRPr lang="zh-CN" altLang="en-US" sz="2000" dirty="0"/>
          </a:p>
          <a:p>
            <a:pPr lvl="0"/>
            <a:r>
              <a:rPr lang="zh-CN" altLang="en-US" sz="2000" b="1" dirty="0"/>
              <a:t>转移模型</a:t>
            </a:r>
            <a:r>
              <a:rPr lang="zh-CN" altLang="en-US" sz="2000" dirty="0"/>
              <a:t>：状态</a:t>
            </a:r>
            <a:r>
              <a:rPr lang="en-US" altLang="zh-CN" sz="2000" dirty="0"/>
              <a:t>s, </a:t>
            </a:r>
            <a:r>
              <a:rPr lang="zh-CN" altLang="en-US" sz="2000" dirty="0"/>
              <a:t>接受到动作</a:t>
            </a:r>
            <a:r>
              <a:rPr lang="en-US" altLang="zh-CN" sz="2000" dirty="0">
                <a:sym typeface="+mn-ea"/>
              </a:rPr>
              <a:t>move</a:t>
            </a: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v</a:t>
            </a:r>
            <a:r>
              <a:rPr lang="en-US" altLang="zh-CN" sz="2000" baseline="-25000" dirty="0">
                <a:sym typeface="+mn-ea"/>
              </a:rPr>
              <a:t>i</a:t>
            </a:r>
            <a:r>
              <a:rPr lang="en-US" altLang="zh-CN" sz="2000" dirty="0">
                <a:sym typeface="+mn-ea"/>
              </a:rPr>
              <a:t>, </a:t>
            </a:r>
            <a:r>
              <a:rPr lang="en-US" altLang="zh-CN" sz="2000" dirty="0" err="1">
                <a:sym typeface="+mn-ea"/>
              </a:rPr>
              <a:t>v</a:t>
            </a:r>
            <a:r>
              <a:rPr lang="en-US" altLang="zh-CN" sz="2000" baseline="-25000" dirty="0" err="1">
                <a:sym typeface="+mn-ea"/>
              </a:rPr>
              <a:t>j</a:t>
            </a:r>
            <a:r>
              <a:rPr lang="zh-CN" altLang="en-US" sz="2000" dirty="0">
                <a:sym typeface="+mn-ea"/>
              </a:rPr>
              <a:t>），若</a:t>
            </a:r>
            <a:r>
              <a:rPr lang="en-US" altLang="zh-CN" sz="2000" dirty="0">
                <a:sym typeface="+mn-ea"/>
              </a:rPr>
              <a:t>s</a:t>
            </a:r>
            <a:r>
              <a:rPr lang="zh-CN" altLang="en-US" sz="2000" dirty="0">
                <a:sym typeface="+mn-ea"/>
              </a:rPr>
              <a:t>的最后一个节点等于</a:t>
            </a:r>
            <a:r>
              <a:rPr lang="en-US" altLang="zh-CN" sz="2000" dirty="0">
                <a:sym typeface="+mn-ea"/>
              </a:rPr>
              <a:t>v</a:t>
            </a:r>
            <a:r>
              <a:rPr lang="en-US" altLang="zh-CN" sz="2000" baseline="-25000" dirty="0">
                <a:sym typeface="+mn-ea"/>
              </a:rPr>
              <a:t>i</a:t>
            </a:r>
            <a:r>
              <a:rPr lang="en-US" altLang="zh-CN" sz="2000" dirty="0">
                <a:sym typeface="+mn-ea"/>
              </a:rPr>
              <a:t>,</a:t>
            </a:r>
            <a:r>
              <a:rPr lang="zh-CN" altLang="en-US" sz="2000" dirty="0">
                <a:sym typeface="+mn-ea"/>
              </a:rPr>
              <a:t>则转移到状态</a:t>
            </a:r>
            <a:r>
              <a:rPr lang="en-US" altLang="zh-CN" sz="2000" dirty="0">
                <a:sym typeface="+mn-ea"/>
              </a:rPr>
              <a:t>s'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s'</a:t>
            </a:r>
            <a:r>
              <a:rPr lang="zh-CN" altLang="en-US" sz="2000" dirty="0">
                <a:sym typeface="+mn-ea"/>
              </a:rPr>
              <a:t>是在</a:t>
            </a:r>
            <a:r>
              <a:rPr lang="en-US" altLang="zh-CN" sz="2000" dirty="0">
                <a:sym typeface="+mn-ea"/>
              </a:rPr>
              <a:t>s</a:t>
            </a:r>
            <a:r>
              <a:rPr lang="zh-CN" altLang="en-US" sz="2000" dirty="0">
                <a:sym typeface="+mn-ea"/>
              </a:rPr>
              <a:t>的末尾加上</a:t>
            </a:r>
            <a:r>
              <a:rPr lang="en-US" altLang="zh-CN" sz="2000" dirty="0" err="1">
                <a:sym typeface="+mn-ea"/>
              </a:rPr>
              <a:t>v</a:t>
            </a:r>
            <a:r>
              <a:rPr lang="en-US" altLang="zh-CN" sz="2000" baseline="-25000" dirty="0" err="1">
                <a:sym typeface="+mn-ea"/>
              </a:rPr>
              <a:t>j</a:t>
            </a:r>
            <a:r>
              <a:rPr lang="zh-CN" altLang="en-US" sz="2000" dirty="0">
                <a:sym typeface="+mn-ea"/>
              </a:rPr>
              <a:t>；否则不发生状态改变。</a:t>
            </a:r>
            <a:endParaRPr lang="zh-CN" altLang="en-US" sz="2000" dirty="0"/>
          </a:p>
          <a:p>
            <a:pPr lvl="0"/>
            <a:r>
              <a:rPr lang="zh-CN" altLang="en-US" sz="2000" b="1" dirty="0"/>
              <a:t>目标测试</a:t>
            </a:r>
            <a:r>
              <a:rPr lang="en-US" altLang="zh-CN" sz="2000" dirty="0"/>
              <a:t>: </a:t>
            </a:r>
            <a:r>
              <a:rPr lang="zh-CN" altLang="en-US" sz="2000" dirty="0"/>
              <a:t>有一个目标节点 </a:t>
            </a:r>
            <a:r>
              <a:rPr lang="en-US" altLang="zh-CN" sz="2000" dirty="0" err="1"/>
              <a:t>v</a:t>
            </a:r>
            <a:r>
              <a:rPr lang="en-US" altLang="zh-CN" sz="2000" baseline="-25000" dirty="0" err="1"/>
              <a:t>e</a:t>
            </a:r>
            <a:r>
              <a:rPr lang="en-US" altLang="zh-CN" sz="2000" dirty="0"/>
              <a:t>, </a:t>
            </a:r>
            <a:r>
              <a:rPr lang="zh-CN" altLang="en-US" sz="2000" dirty="0"/>
              <a:t>一个状态是目标状态当且仅当其末尾的节点等于</a:t>
            </a:r>
            <a:r>
              <a:rPr lang="en-US" altLang="zh-CN" sz="2000" dirty="0" err="1">
                <a:sym typeface="+mn-ea"/>
              </a:rPr>
              <a:t>v</a:t>
            </a:r>
            <a:r>
              <a:rPr lang="en-US" altLang="zh-CN" sz="2000" baseline="-25000" dirty="0" err="1">
                <a:sym typeface="+mn-ea"/>
              </a:rPr>
              <a:t>e</a:t>
            </a:r>
            <a:r>
              <a:rPr lang="zh-CN" altLang="en-US" sz="2000" dirty="0"/>
              <a:t>。</a:t>
            </a:r>
          </a:p>
          <a:p>
            <a:pPr lvl="0"/>
            <a:r>
              <a:rPr lang="zh-CN" altLang="en-US" sz="2000" b="1" dirty="0"/>
              <a:t>路径成本</a:t>
            </a:r>
            <a:r>
              <a:rPr lang="zh-CN" altLang="en-US" sz="2000" dirty="0"/>
              <a:t>：一个状态的路径成本等于其序列中每两个前后相邻的节点路径之和。</a:t>
            </a:r>
          </a:p>
        </p:txBody>
      </p:sp>
      <p:sp>
        <p:nvSpPr>
          <p:cNvPr id="5" name="笑脸 4">
            <a:extLst>
              <a:ext uri="{FF2B5EF4-FFF2-40B4-BE49-F238E27FC236}">
                <a16:creationId xmlns="" xmlns:a16="http://schemas.microsoft.com/office/drawing/2014/main" id="{0347B150-9434-774D-B6C5-C0D9A5E228C4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6425" y="713716"/>
            <a:ext cx="4038600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思考：</a:t>
            </a:r>
            <a:endParaRPr lang="en-US" altLang="zh-CN" sz="2800" dirty="0"/>
          </a:p>
          <a:p>
            <a:r>
              <a:rPr lang="en-US" altLang="zh-CN" sz="2800" dirty="0"/>
              <a:t>s=&lt;1,3,4&gt;</a:t>
            </a:r>
          </a:p>
          <a:p>
            <a:r>
              <a:rPr lang="zh-CN" altLang="en-US" sz="2800" dirty="0"/>
              <a:t>接收到动作 </a:t>
            </a:r>
            <a:r>
              <a:rPr lang="en-US" altLang="zh-CN" sz="2800" dirty="0"/>
              <a:t>move(4,2)</a:t>
            </a:r>
            <a:r>
              <a:rPr lang="zh-CN" altLang="en-US" sz="2800" dirty="0"/>
              <a:t>，</a:t>
            </a:r>
            <a:r>
              <a:rPr lang="en-US" altLang="zh-CN" sz="2800" dirty="0"/>
              <a:t>s’ =?</a:t>
            </a:r>
            <a:r>
              <a:rPr lang="zh-CN" altLang="en-US" sz="28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" y="836930"/>
            <a:ext cx="4556760" cy="1143000"/>
          </a:xfrm>
        </p:spPr>
        <p:txBody>
          <a:bodyPr/>
          <a:lstStyle/>
          <a:p>
            <a:r>
              <a:rPr lang="zh-CN" altLang="en-US"/>
              <a:t>四皇后问题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78460" y="2548255"/>
            <a:ext cx="8281670" cy="45262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2000" b="1"/>
              <a:t>状态</a:t>
            </a:r>
            <a:r>
              <a:rPr lang="en-US" altLang="zh-CN" sz="2000"/>
              <a:t>:  </a:t>
            </a:r>
            <a:r>
              <a:rPr lang="zh-CN" altLang="en-US" sz="2000"/>
              <a:t>一个四维向量</a:t>
            </a:r>
            <a:r>
              <a:rPr lang="en-US" altLang="zh-CN" sz="2000"/>
              <a:t>&lt;x</a:t>
            </a:r>
            <a:r>
              <a:rPr lang="en-US" altLang="zh-CN" sz="2000" baseline="-25000"/>
              <a:t>1</a:t>
            </a:r>
            <a:r>
              <a:rPr lang="en-US" altLang="zh-CN" sz="2000"/>
              <a:t>, x</a:t>
            </a:r>
            <a:r>
              <a:rPr lang="en-US" altLang="zh-CN" sz="2000" baseline="-25000"/>
              <a:t>2</a:t>
            </a:r>
            <a:r>
              <a:rPr lang="en-US" altLang="zh-CN" sz="2000"/>
              <a:t>, x</a:t>
            </a:r>
            <a:r>
              <a:rPr lang="en-US" altLang="zh-CN" sz="2000" baseline="-25000"/>
              <a:t>3</a:t>
            </a:r>
            <a:r>
              <a:rPr lang="en-US" altLang="zh-CN" sz="2000"/>
              <a:t>, x</a:t>
            </a:r>
            <a:r>
              <a:rPr lang="en-US" altLang="zh-CN" sz="2000" baseline="-25000"/>
              <a:t>4</a:t>
            </a:r>
            <a:r>
              <a:rPr lang="en-US" altLang="zh-CN" sz="2000"/>
              <a:t>&gt;</a:t>
            </a:r>
            <a:r>
              <a:rPr lang="zh-CN" altLang="en-US" sz="2000"/>
              <a:t> ，表示第</a:t>
            </a:r>
            <a:r>
              <a:rPr lang="en-US" altLang="zh-CN" sz="2000"/>
              <a:t>i</a:t>
            </a:r>
            <a:r>
              <a:rPr lang="zh-CN" altLang="en-US" sz="2000"/>
              <a:t>行皇后放在哪一列。向量中每项取值范围是</a:t>
            </a:r>
            <a:r>
              <a:rPr lang="en-US" altLang="zh-CN" sz="2000"/>
              <a:t>[-1,3]</a:t>
            </a:r>
            <a:r>
              <a:rPr lang="zh-CN" altLang="en-US" sz="2000"/>
              <a:t>，其中</a:t>
            </a:r>
            <a:r>
              <a:rPr lang="en-US" altLang="zh-CN" sz="2000"/>
              <a:t>-1</a:t>
            </a:r>
            <a:r>
              <a:rPr lang="zh-CN" altLang="en-US" sz="2000"/>
              <a:t>表示该行没有皇后。</a:t>
            </a:r>
            <a:r>
              <a:rPr sz="2000"/>
              <a:t>比如上图的状态可描述为&lt;0, 1, 2, 3&gt;</a:t>
            </a:r>
            <a:r>
              <a:rPr lang="zh-CN" sz="2000"/>
              <a:t>。</a:t>
            </a:r>
            <a:endParaRPr sz="2000"/>
          </a:p>
          <a:p>
            <a:pPr lvl="0"/>
            <a:r>
              <a:rPr lang="zh-CN" altLang="en-US" sz="2000" b="1"/>
              <a:t>初始状态</a:t>
            </a:r>
            <a:r>
              <a:rPr lang="zh-CN" altLang="en-US" sz="2000"/>
              <a:t>：可以是任意一个状态。</a:t>
            </a:r>
          </a:p>
          <a:p>
            <a:pPr lvl="0"/>
            <a:r>
              <a:rPr lang="zh-CN" altLang="en-US" sz="2000" b="1"/>
              <a:t>动作：</a:t>
            </a:r>
            <a:r>
              <a:rPr lang="en-US" altLang="zh-CN" sz="2000"/>
              <a:t>set(i, j)</a:t>
            </a:r>
            <a:r>
              <a:rPr lang="zh-CN" altLang="en-US" sz="2000"/>
              <a:t>，将第</a:t>
            </a:r>
            <a:r>
              <a:rPr lang="en-US" altLang="zh-CN" sz="2000"/>
              <a:t>i</a:t>
            </a:r>
            <a:r>
              <a:rPr lang="zh-CN" altLang="en-US" sz="2000"/>
              <a:t>行的皇后放置在第</a:t>
            </a:r>
            <a:r>
              <a:rPr lang="en-US" altLang="zh-CN" sz="2000"/>
              <a:t>j</a:t>
            </a:r>
            <a:r>
              <a:rPr lang="zh-CN" altLang="en-US" sz="2000"/>
              <a:t>列。</a:t>
            </a:r>
            <a:endParaRPr lang="zh-CN" altLang="en-US" sz="2000" b="1"/>
          </a:p>
          <a:p>
            <a:pPr lvl="0"/>
            <a:r>
              <a:rPr lang="zh-CN" altLang="en-US" sz="2000" b="1"/>
              <a:t>转移模型</a:t>
            </a:r>
            <a:r>
              <a:rPr lang="zh-CN" altLang="en-US" sz="2000"/>
              <a:t>：状态</a:t>
            </a:r>
            <a:r>
              <a:rPr lang="en-US" altLang="zh-CN" sz="2000"/>
              <a:t>s</a:t>
            </a:r>
            <a:r>
              <a:rPr lang="zh-CN" altLang="en-US" sz="2000"/>
              <a:t>接收到动作</a:t>
            </a:r>
            <a:r>
              <a:rPr lang="en-US" altLang="zh-CN" sz="2000">
                <a:sym typeface="+mn-ea"/>
              </a:rPr>
              <a:t>set(i, j)</a:t>
            </a:r>
            <a:r>
              <a:rPr lang="zh-CN" altLang="en-US" sz="2000">
                <a:sym typeface="+mn-ea"/>
              </a:rPr>
              <a:t>，则将</a:t>
            </a:r>
            <a:r>
              <a:rPr lang="en-US" altLang="zh-CN" sz="2000">
                <a:sym typeface="+mn-ea"/>
              </a:rPr>
              <a:t>s</a:t>
            </a:r>
            <a:r>
              <a:rPr lang="zh-CN" altLang="en-US" sz="2000">
                <a:sym typeface="+mn-ea"/>
              </a:rPr>
              <a:t>中第</a:t>
            </a:r>
            <a:r>
              <a:rPr lang="en-US" altLang="zh-CN" sz="2000">
                <a:sym typeface="+mn-ea"/>
              </a:rPr>
              <a:t>i</a:t>
            </a:r>
            <a:r>
              <a:rPr lang="zh-CN" altLang="en-US" sz="2000">
                <a:sym typeface="+mn-ea"/>
              </a:rPr>
              <a:t>项的值修改为</a:t>
            </a:r>
            <a:r>
              <a:rPr lang="en-US" altLang="zh-CN" sz="2000">
                <a:sym typeface="+mn-ea"/>
              </a:rPr>
              <a:t>j</a:t>
            </a:r>
            <a:r>
              <a:rPr lang="zh-CN" altLang="en-US" sz="2000">
                <a:sym typeface="+mn-ea"/>
              </a:rPr>
              <a:t>，由此生成一个新的状态</a:t>
            </a:r>
            <a:r>
              <a:rPr lang="en-US" altLang="zh-CN" sz="2000">
                <a:sym typeface="+mn-ea"/>
              </a:rPr>
              <a:t>s'</a:t>
            </a:r>
            <a:endParaRPr lang="zh-CN" altLang="en-US" sz="2000"/>
          </a:p>
          <a:p>
            <a:pPr lvl="0"/>
            <a:r>
              <a:rPr lang="zh-CN" altLang="en-US" sz="2000" b="1"/>
              <a:t>目标测试</a:t>
            </a:r>
            <a:r>
              <a:rPr lang="en-US" altLang="zh-CN" sz="2000"/>
              <a:t>: </a:t>
            </a:r>
            <a:r>
              <a:rPr lang="zh-CN" altLang="en-US" sz="2000"/>
              <a:t>棋盘上有</a:t>
            </a:r>
            <a:r>
              <a:rPr lang="en-US" altLang="zh-CN" sz="2000"/>
              <a:t>4</a:t>
            </a:r>
            <a:r>
              <a:rPr lang="zh-CN" altLang="en-US" sz="2000"/>
              <a:t>个皇后，且所有皇后彼此不能攻击。</a:t>
            </a:r>
          </a:p>
          <a:p>
            <a:pPr lvl="0"/>
            <a:endParaRPr lang="zh-CN" altLang="en-US" sz="2000"/>
          </a:p>
        </p:txBody>
      </p:sp>
      <p:pic>
        <p:nvPicPr>
          <p:cNvPr id="6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97065" y="643890"/>
            <a:ext cx="1362075" cy="1066800"/>
          </a:xfrm>
          <a:prstGeom prst="rect">
            <a:avLst/>
          </a:prstGeom>
        </p:spPr>
      </p:pic>
      <p:sp>
        <p:nvSpPr>
          <p:cNvPr id="5" name="笑脸 4">
            <a:extLst>
              <a:ext uri="{FF2B5EF4-FFF2-40B4-BE49-F238E27FC236}">
                <a16:creationId xmlns="" xmlns:a16="http://schemas.microsoft.com/office/drawing/2014/main" id="{17A4B9D4-5B6E-2C4E-A20E-2CE1DE1E4172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6424" y="713716"/>
            <a:ext cx="6099176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思考：</a:t>
            </a:r>
            <a:endParaRPr lang="en-US" altLang="zh-CN" sz="2800" dirty="0"/>
          </a:p>
          <a:p>
            <a:r>
              <a:rPr lang="en-US" altLang="zh-CN" sz="2800" dirty="0"/>
              <a:t>s=&lt;0,1,2,3&gt;</a:t>
            </a:r>
          </a:p>
          <a:p>
            <a:r>
              <a:rPr lang="zh-CN" altLang="en-US" sz="2800" dirty="0"/>
              <a:t>接受到动作 </a:t>
            </a:r>
            <a:r>
              <a:rPr lang="en-US" altLang="zh-CN" sz="2800" dirty="0"/>
              <a:t>set(1,2)</a:t>
            </a:r>
            <a:r>
              <a:rPr lang="zh-CN" altLang="en-US" sz="2800" dirty="0"/>
              <a:t>，</a:t>
            </a:r>
            <a:r>
              <a:rPr lang="en-US" altLang="zh-CN" sz="2800" dirty="0"/>
              <a:t>s’ =? s’ </a:t>
            </a:r>
            <a:r>
              <a:rPr lang="zh-CN" altLang="en-US" sz="2800" dirty="0"/>
              <a:t>是目标吗</a:t>
            </a:r>
            <a:r>
              <a:rPr lang="zh-CN" altLang="en-US" sz="2800"/>
              <a:t>？  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构造青蛙跳河问题的状态、初始状态、动作、转移模型和目标测试。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827" y="2942590"/>
            <a:ext cx="6462346" cy="1371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87400" y="4730115"/>
            <a:ext cx="739711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目标：请让左右两边河墩上的青蛙交换位置。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规则：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前面的一个河墩为空，青蛙可直接跳过去；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前面河墩隔一个是空的，不论隔的是哪种颜色的青蛙，可从它头上跳过去到达空位。</a:t>
            </a:r>
            <a:endParaRPr lang="zh-CN" altLang="en-US" dirty="0"/>
          </a:p>
        </p:txBody>
      </p:sp>
      <p:sp>
        <p:nvSpPr>
          <p:cNvPr id="8" name="笑脸 7">
            <a:extLst>
              <a:ext uri="{FF2B5EF4-FFF2-40B4-BE49-F238E27FC236}">
                <a16:creationId xmlns="" xmlns:a16="http://schemas.microsoft.com/office/drawing/2014/main" id="{A039C917-3E5C-6345-B372-36A581EE67C6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525" y="228600"/>
            <a:ext cx="2676843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状态模型</a:t>
            </a:r>
            <a:endParaRPr lang="en-US" altLang="zh-CN" dirty="0"/>
          </a:p>
          <a:p>
            <a:r>
              <a:rPr lang="en-US" altLang="zh-CN" dirty="0"/>
              <a:t>7</a:t>
            </a:r>
            <a:r>
              <a:rPr lang="zh-CN" altLang="en-US" dirty="0"/>
              <a:t>维向量  </a:t>
            </a:r>
            <a:r>
              <a:rPr lang="en-US" altLang="zh-CN" dirty="0"/>
              <a:t>&lt;x0,….&gt;</a:t>
            </a:r>
          </a:p>
          <a:p>
            <a:r>
              <a:rPr lang="zh-CN" altLang="en-US" dirty="0"/>
              <a:t>每一项取值 </a:t>
            </a:r>
            <a:r>
              <a:rPr lang="en-US" altLang="zh-CN" dirty="0"/>
              <a:t>0, 1, -1</a:t>
            </a:r>
          </a:p>
          <a:p>
            <a:r>
              <a:rPr lang="en-US" altLang="zh-CN" dirty="0"/>
              <a:t>1 </a:t>
            </a:r>
            <a:r>
              <a:rPr lang="zh-CN" altLang="en-US" dirty="0"/>
              <a:t>绿色</a:t>
            </a:r>
            <a:endParaRPr lang="en-US" altLang="zh-CN" dirty="0"/>
          </a:p>
          <a:p>
            <a:r>
              <a:rPr lang="en-US" altLang="zh-CN" dirty="0"/>
              <a:t>0 </a:t>
            </a:r>
            <a:r>
              <a:rPr lang="zh-CN" altLang="en-US" dirty="0"/>
              <a:t>棕色</a:t>
            </a:r>
            <a:endParaRPr lang="en-US" altLang="zh-CN" dirty="0"/>
          </a:p>
          <a:p>
            <a:r>
              <a:rPr lang="en-US" altLang="zh-CN" dirty="0"/>
              <a:t>-1 </a:t>
            </a:r>
            <a:r>
              <a:rPr lang="zh-CN" altLang="en-US" dirty="0"/>
              <a:t>空位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初始状态 &lt;1,1,1,-1,0,0,0&gt;</a:t>
            </a:r>
          </a:p>
          <a:p>
            <a:endParaRPr lang="zh-CN" altLang="en-US" dirty="0"/>
          </a:p>
          <a:p>
            <a:r>
              <a:rPr lang="zh-CN" altLang="en-US" dirty="0"/>
              <a:t>目标</a:t>
            </a:r>
          </a:p>
          <a:p>
            <a:r>
              <a:rPr lang="zh-CN" altLang="en-US" dirty="0"/>
              <a:t>&lt;000-1111&gt;</a:t>
            </a:r>
          </a:p>
          <a:p>
            <a:endParaRPr lang="zh-CN" altLang="en-US" dirty="0"/>
          </a:p>
          <a:p>
            <a:r>
              <a:rPr lang="zh-CN" altLang="en-US" dirty="0"/>
              <a:t>动作</a:t>
            </a:r>
          </a:p>
          <a:p>
            <a:r>
              <a:rPr lang="zh-CN" altLang="en-US" dirty="0"/>
              <a:t>jump(crntPos, nextPos)</a:t>
            </a:r>
          </a:p>
        </p:txBody>
      </p:sp>
      <p:sp>
        <p:nvSpPr>
          <p:cNvPr id="5" name="椭圆 4"/>
          <p:cNvSpPr/>
          <p:nvPr/>
        </p:nvSpPr>
        <p:spPr>
          <a:xfrm>
            <a:off x="4621936" y="405435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806552" y="107626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563612" y="107626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736236" y="1102944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346537" y="1036296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801170" y="267999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&lt;1,1,1,-1,0,0,0&gt;</a:t>
            </a:r>
          </a:p>
        </p:txBody>
      </p:sp>
      <p:cxnSp>
        <p:nvCxnSpPr>
          <p:cNvPr id="13" name="直接箭头连接符 12"/>
          <p:cNvCxnSpPr>
            <a:stCxn id="5" idx="4"/>
            <a:endCxn id="6" idx="7"/>
          </p:cNvCxnSpPr>
          <p:nvPr/>
        </p:nvCxnSpPr>
        <p:spPr>
          <a:xfrm flipH="1">
            <a:off x="4001674" y="634035"/>
            <a:ext cx="734562" cy="475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400809" y="1364009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&lt;1,1,</a:t>
            </a:r>
            <a:r>
              <a:rPr lang="en-US" altLang="zh-CN" dirty="0"/>
              <a:t>-</a:t>
            </a:r>
            <a:r>
              <a:rPr lang="zh-CN" altLang="en-US" dirty="0"/>
              <a:t>1,1,0,0,0&gt;</a:t>
            </a:r>
          </a:p>
        </p:txBody>
      </p:sp>
      <p:cxnSp>
        <p:nvCxnSpPr>
          <p:cNvPr id="28" name="直接箭头连接符 27"/>
          <p:cNvCxnSpPr>
            <a:stCxn id="5" idx="5"/>
            <a:endCxn id="9" idx="1"/>
          </p:cNvCxnSpPr>
          <p:nvPr/>
        </p:nvCxnSpPr>
        <p:spPr>
          <a:xfrm flipH="1">
            <a:off x="4769714" y="600557"/>
            <a:ext cx="47344" cy="535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5" idx="5"/>
            <a:endCxn id="7" idx="1"/>
          </p:cNvCxnSpPr>
          <p:nvPr/>
        </p:nvCxnSpPr>
        <p:spPr>
          <a:xfrm>
            <a:off x="4817058" y="600557"/>
            <a:ext cx="780032" cy="509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5" idx="5"/>
            <a:endCxn id="10" idx="2"/>
          </p:cNvCxnSpPr>
          <p:nvPr/>
        </p:nvCxnSpPr>
        <p:spPr>
          <a:xfrm>
            <a:off x="4817058" y="600557"/>
            <a:ext cx="1529479" cy="550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637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搜索的过程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搜索基本过程</a:t>
            </a:r>
            <a:endParaRPr lang="en-US" altLang="zh-CN" dirty="0"/>
          </a:p>
          <a:p>
            <a:pPr lvl="1"/>
            <a:r>
              <a:rPr lang="zh-CN" altLang="en-US" dirty="0"/>
              <a:t>一个问题所有可能的状态构成了该问题的</a:t>
            </a:r>
            <a:r>
              <a:rPr lang="zh-CN" altLang="en-US" dirty="0">
                <a:solidFill>
                  <a:srgbClr val="FF0000"/>
                </a:solidFill>
              </a:rPr>
              <a:t>状态空间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离散）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每一个具体的</a:t>
            </a:r>
            <a:r>
              <a:rPr lang="zh-CN" altLang="en-US" dirty="0">
                <a:solidFill>
                  <a:srgbClr val="FF0000"/>
                </a:solidFill>
              </a:rPr>
              <a:t>状态</a:t>
            </a:r>
            <a:r>
              <a:rPr lang="zh-CN" altLang="en-US" dirty="0"/>
              <a:t>是该空间的一个节点</a:t>
            </a:r>
            <a:endParaRPr lang="en-US" altLang="zh-CN" dirty="0"/>
          </a:p>
          <a:p>
            <a:pPr lvl="1"/>
            <a:r>
              <a:rPr lang="zh-CN" altLang="en-US" dirty="0"/>
              <a:t>搜索过程可以看成对由表示状态的</a:t>
            </a:r>
            <a:r>
              <a:rPr lang="zh-CN" altLang="en-US" dirty="0">
                <a:solidFill>
                  <a:srgbClr val="FF0000"/>
                </a:solidFill>
              </a:rPr>
              <a:t>节点</a:t>
            </a:r>
            <a:r>
              <a:rPr lang="zh-CN" altLang="en-US" dirty="0"/>
              <a:t>和表示状态转移（动作）的</a:t>
            </a:r>
            <a:r>
              <a:rPr lang="zh-CN" altLang="en-US" dirty="0">
                <a:solidFill>
                  <a:srgbClr val="FF0000"/>
                </a:solidFill>
              </a:rPr>
              <a:t>弧</a:t>
            </a:r>
            <a:r>
              <a:rPr lang="zh-CN" altLang="en-US" dirty="0"/>
              <a:t>所构成的</a:t>
            </a:r>
            <a:r>
              <a:rPr lang="zh-CN" altLang="en-US" dirty="0">
                <a:solidFill>
                  <a:srgbClr val="FF0000"/>
                </a:solidFill>
              </a:rPr>
              <a:t>有向图</a:t>
            </a:r>
            <a:r>
              <a:rPr lang="zh-CN" altLang="en-US" dirty="0"/>
              <a:t>遍历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搜索方案（</a:t>
            </a:r>
            <a:r>
              <a:rPr lang="en-US" altLang="zh-CN" dirty="0"/>
              <a:t>solution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sz="2800" dirty="0"/>
              <a:t>从初始状态到目标状态的一个动作序列</a:t>
            </a:r>
            <a:endParaRPr lang="en-US" altLang="zh-CN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</a:t>
            </a:r>
            <a:r>
              <a:rPr lang="zh-CN" altLang="en-US"/>
              <a:t>皇后问题的状态空间（</a:t>
            </a:r>
            <a:r>
              <a:rPr lang="en-US" altLang="zh-CN"/>
              <a:t>4</a:t>
            </a:r>
            <a:r>
              <a:rPr lang="zh-CN" altLang="en-US"/>
              <a:t>叉树）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225" y="1807845"/>
            <a:ext cx="7062470" cy="32416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11225" y="5439727"/>
            <a:ext cx="6705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sym typeface="+mn-ea"/>
              </a:rPr>
              <a:t>注意：该状态空间已经去除了部分非目标状态，比如同一行只能有一个皇后。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树</a:t>
            </a:r>
            <a:r>
              <a:rPr lang="zh-CN" altLang="en-US"/>
              <a:t>搜索</a:t>
            </a:r>
            <a:r>
              <a:rPr lang="en-US" altLang="zh-CN"/>
              <a:t>(Tree-Search)</a:t>
            </a:r>
          </a:p>
        </p:txBody>
      </p:sp>
      <p:pic>
        <p:nvPicPr>
          <p:cNvPr id="20484" name="内容占位符 20483"/>
          <p:cNvPicPr>
            <a:picLocks noGrp="1" noChangeAspect="1"/>
          </p:cNvPicPr>
          <p:nvPr>
            <p:ph idx="1"/>
          </p:nvPr>
        </p:nvPicPr>
        <p:blipFill>
          <a:blip r:embed="rId3"/>
          <a:srcRect l="14844" t="37500" r="3125" b="28125"/>
          <a:stretch>
            <a:fillRect/>
          </a:stretch>
        </p:blipFill>
        <p:spPr>
          <a:xfrm>
            <a:off x="1370330" y="1523365"/>
            <a:ext cx="6244590" cy="28562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416050" y="4900930"/>
            <a:ext cx="5988685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ym typeface="+mn-ea"/>
              </a:rPr>
              <a:t>基本思路：通过生成已有状态的后继状态来遍历状态空间，寻找解决方案（</a:t>
            </a:r>
            <a:r>
              <a:rPr lang="en-US" altLang="zh-CN" sz="2400">
                <a:sym typeface="+mn-ea"/>
              </a:rPr>
              <a:t>solution</a:t>
            </a:r>
            <a:r>
              <a:rPr lang="zh-CN" altLang="en-US" sz="2400">
                <a:sym typeface="+mn-ea"/>
              </a:rPr>
              <a:t>）</a:t>
            </a:r>
            <a:endParaRPr lang="en-US" altLang="zh-CN" sz="2400"/>
          </a:p>
          <a:p>
            <a:pPr lvl="1"/>
            <a:endParaRPr lang="zh-CN" altLang="en-US" sz="2400"/>
          </a:p>
        </p:txBody>
      </p:sp>
      <p:sp>
        <p:nvSpPr>
          <p:cNvPr id="5" name="笑脸 4">
            <a:extLst>
              <a:ext uri="{FF2B5EF4-FFF2-40B4-BE49-F238E27FC236}">
                <a16:creationId xmlns="" xmlns:a16="http://schemas.microsoft.com/office/drawing/2014/main" id="{4372D9B4-D107-3E40-9F49-D729175316FE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2150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Tree search example</a:t>
            </a:r>
          </a:p>
        </p:txBody>
      </p:sp>
      <p:pic>
        <p:nvPicPr>
          <p:cNvPr id="21508" name="图片 21507" descr="search-map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" y="1978660"/>
            <a:ext cx="6965315" cy="29006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22910" y="1646555"/>
            <a:ext cx="32042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ym typeface="+mn-ea"/>
              </a:rPr>
              <a:t>寻找从</a:t>
            </a:r>
            <a:r>
              <a:rPr lang="en-US" altLang="zh-CN">
                <a:sym typeface="+mn-ea"/>
              </a:rPr>
              <a:t>Arad </a:t>
            </a:r>
            <a:r>
              <a:rPr lang="zh-CN" altLang="en-US">
                <a:sym typeface="+mn-ea"/>
              </a:rPr>
              <a:t>到 </a:t>
            </a:r>
            <a:r>
              <a:rPr lang="en-US" altLang="zh-CN">
                <a:sym typeface="+mn-ea"/>
              </a:rPr>
              <a:t>Fagaras </a:t>
            </a:r>
            <a:r>
              <a:rPr lang="zh-CN" altLang="en-US">
                <a:sym typeface="+mn-ea"/>
              </a:rPr>
              <a:t>的路径 </a:t>
            </a:r>
            <a:endParaRPr lang="en-US" altLang="zh-CN">
              <a:sym typeface="+mn-ea"/>
            </a:endParaRPr>
          </a:p>
        </p:txBody>
      </p:sp>
      <p:cxnSp>
        <p:nvCxnSpPr>
          <p:cNvPr id="3" name="直线箭头连接符 2"/>
          <p:cNvCxnSpPr/>
          <p:nvPr/>
        </p:nvCxnSpPr>
        <p:spPr>
          <a:xfrm flipV="1">
            <a:off x="1676400" y="4267200"/>
            <a:ext cx="457200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80" name="内容占位符 75779" descr="search-map2c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930" y="1824355"/>
            <a:ext cx="7432675" cy="2816225"/>
          </a:xfrm>
        </p:spPr>
      </p:pic>
      <p:sp>
        <p:nvSpPr>
          <p:cNvPr id="75778" name="标题 7577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Tree search example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4" name="内容占位符 76803" descr="search-map3c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530" y="1671955"/>
            <a:ext cx="7651115" cy="2921000"/>
          </a:xfrm>
        </p:spPr>
      </p:pic>
      <p:sp>
        <p:nvSpPr>
          <p:cNvPr id="76802" name="标题 7680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Tree search example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树搜索的通用框架</a:t>
            </a:r>
          </a:p>
        </p:txBody>
      </p:sp>
      <p:pic>
        <p:nvPicPr>
          <p:cNvPr id="22532" name="内容占位符 22531"/>
          <p:cNvPicPr>
            <a:picLocks noGrp="1" noChangeAspect="1"/>
          </p:cNvPicPr>
          <p:nvPr>
            <p:ph idx="1"/>
          </p:nvPr>
        </p:nvPicPr>
        <p:blipFill>
          <a:blip r:embed="rId3"/>
          <a:srcRect l="14844" t="18750" r="3125" b="9375"/>
          <a:stretch>
            <a:fillRect/>
          </a:stretch>
        </p:blipFill>
        <p:spPr>
          <a:xfrm>
            <a:off x="1554480" y="1600200"/>
            <a:ext cx="6034405" cy="4526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笑脸 3">
            <a:extLst>
              <a:ext uri="{FF2B5EF4-FFF2-40B4-BE49-F238E27FC236}">
                <a16:creationId xmlns="" xmlns:a16="http://schemas.microsoft.com/office/drawing/2014/main" id="{6C65ED47-A5FA-8E4E-BA28-0C244A384D1F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3553"/>
          <p:cNvSpPr>
            <a:spLocks noGrp="1"/>
          </p:cNvSpPr>
          <p:nvPr>
            <p:ph type="title"/>
          </p:nvPr>
        </p:nvSpPr>
        <p:spPr>
          <a:xfrm>
            <a:off x="457200" y="0"/>
            <a:ext cx="8458200" cy="1143000"/>
          </a:xfrm>
        </p:spPr>
        <p:txBody>
          <a:bodyPr anchor="b"/>
          <a:lstStyle/>
          <a:p>
            <a:pPr algn="ctr"/>
            <a:r>
              <a:rPr lang="zh-CN" altLang="en-US" sz="3600"/>
              <a:t>实现细节</a:t>
            </a:r>
            <a:r>
              <a:rPr lang="en-US" altLang="zh-CN" sz="3600"/>
              <a:t>: states vs. nodes</a:t>
            </a:r>
          </a:p>
        </p:txBody>
      </p:sp>
      <p:sp>
        <p:nvSpPr>
          <p:cNvPr id="23555" name="文本占位符 2355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state</a:t>
            </a:r>
            <a:r>
              <a:rPr lang="en-US" altLang="zh-CN" sz="2400" dirty="0"/>
              <a:t> </a:t>
            </a:r>
            <a:r>
              <a:rPr lang="zh-CN" altLang="en-US" sz="2400" dirty="0"/>
              <a:t>是对物理状况的一个描述</a:t>
            </a:r>
            <a:endParaRPr lang="en-US" altLang="zh-CN" sz="2400" dirty="0"/>
          </a:p>
          <a:p>
            <a:pPr>
              <a:lnSpc>
                <a:spcPct val="8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node</a:t>
            </a:r>
            <a:r>
              <a:rPr lang="zh-CN" altLang="en-US" sz="2400" dirty="0"/>
              <a:t>是一个数据结构，构成搜索树的基本单元，可能包括：</a:t>
            </a:r>
          </a:p>
          <a:p>
            <a:pPr lvl="1">
              <a:lnSpc>
                <a:spcPct val="80000"/>
              </a:lnSpc>
            </a:pPr>
            <a:r>
              <a:rPr lang="en-US" altLang="zh-CN" sz="2100" dirty="0"/>
              <a:t>state, parent node, action, path cost, depth</a:t>
            </a:r>
          </a:p>
          <a:p>
            <a:pPr>
              <a:lnSpc>
                <a:spcPct val="80000"/>
              </a:lnSpc>
            </a:pP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>
              <a:lnSpc>
                <a:spcPct val="80000"/>
              </a:lnSpc>
            </a:pPr>
            <a:r>
              <a:rPr lang="en-US" altLang="zh-CN" sz="2400" dirty="0"/>
              <a:t>
</a:t>
            </a:r>
          </a:p>
        </p:txBody>
      </p:sp>
      <p:pic>
        <p:nvPicPr>
          <p:cNvPr id="23556" name="图片 23555" descr="state-vs-n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305" y="3235960"/>
            <a:ext cx="4981575" cy="21240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028085"/>
              </p:ext>
            </p:extLst>
          </p:nvPr>
        </p:nvGraphicFramePr>
        <p:xfrm>
          <a:off x="7467600" y="5410200"/>
          <a:ext cx="1524000" cy="13140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911686" y="5791200"/>
            <a:ext cx="3826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8</a:t>
            </a:r>
            <a:r>
              <a:rPr lang="zh-CN" altLang="en-US" dirty="0" smtClean="0"/>
              <a:t>数码问题： 状态空间的状态数量？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-714" y="6183868"/>
            <a:ext cx="5150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拓展学习：随机给定两个状态，一定有解吗？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再扩展： </a:t>
            </a:r>
            <a:r>
              <a:rPr lang="en-US" altLang="zh-CN" b="1" dirty="0" smtClean="0">
                <a:solidFill>
                  <a:srgbClr val="FF0000"/>
                </a:solidFill>
              </a:rPr>
              <a:t>15</a:t>
            </a:r>
            <a:r>
              <a:rPr lang="zh-CN" altLang="en-US" b="1" dirty="0" smtClean="0">
                <a:solidFill>
                  <a:srgbClr val="FF0000"/>
                </a:solidFill>
              </a:rPr>
              <a:t>数码问题，墙体，</a:t>
            </a:r>
            <a:r>
              <a:rPr lang="en-US" altLang="zh-CN" b="1" dirty="0"/>
              <a:t> PSPACE-complete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2" y="3124200"/>
            <a:ext cx="7164387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835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盲搜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概念：</a:t>
            </a:r>
            <a:r>
              <a:rPr lang="en-US" altLang="zh-CN" dirty="0"/>
              <a:t>blind search or uninformed search</a:t>
            </a:r>
          </a:p>
          <a:p>
            <a:pPr lvl="1"/>
            <a:r>
              <a:rPr lang="zh-CN" altLang="en-US" sz="2800" dirty="0"/>
              <a:t>除问题定义之外，搜索策略不能获得状态的其他信息，只能通过产生新的状态并检测目标状态来解决问题。</a:t>
            </a:r>
            <a:endParaRPr lang="zh-CN" altLang="en-US" dirty="0"/>
          </a:p>
          <a:p>
            <a:r>
              <a:rPr lang="zh-CN" altLang="en-US" dirty="0"/>
              <a:t>策略分类</a:t>
            </a:r>
          </a:p>
          <a:p>
            <a:pPr lvl="1"/>
            <a:r>
              <a:rPr lang="zh-CN" altLang="en-US" dirty="0"/>
              <a:t>根据状态空间中节点展开的顺序来对盲搜策略分类</a:t>
            </a:r>
          </a:p>
          <a:p>
            <a:pPr lvl="2"/>
            <a:r>
              <a:rPr lang="zh-CN" altLang="en-US" dirty="0"/>
              <a:t>广度优先搜索，深度优先搜索，有深度限制的搜索，</a:t>
            </a:r>
            <a:r>
              <a:rPr lang="zh-CN" altLang="en-US" dirty="0">
                <a:sym typeface="+mn-ea"/>
              </a:rPr>
              <a:t>一致代价搜索，</a:t>
            </a:r>
            <a:r>
              <a:rPr lang="zh-CN" altLang="en-US" dirty="0"/>
              <a:t>迭代扩展深优搜索，双向搜索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>
            <a:extLst>
              <a:ext uri="{FF2B5EF4-FFF2-40B4-BE49-F238E27FC236}">
                <a16:creationId xmlns="" xmlns:a16="http://schemas.microsoft.com/office/drawing/2014/main" id="{1EA84026-2E99-F34B-9EE9-33B88C23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334BAEC-84FD-674E-9403-0BD1A57C7C4B}" type="slidenum">
              <a:rPr kumimoji="0" lang="en-US" altLang="zh-CN" sz="1400"/>
              <a:pPr eaLnBrk="1" hangingPunct="1"/>
              <a:t>29</a:t>
            </a:fld>
            <a:endParaRPr kumimoji="0" lang="en-US" altLang="zh-CN" sz="1400"/>
          </a:p>
        </p:txBody>
      </p:sp>
      <p:sp>
        <p:nvSpPr>
          <p:cNvPr id="82946" name="Rectangle 2">
            <a:extLst>
              <a:ext uri="{FF2B5EF4-FFF2-40B4-BE49-F238E27FC236}">
                <a16:creationId xmlns="" xmlns:a16="http://schemas.microsoft.com/office/drawing/2014/main" id="{58BB0218-5D4F-A945-8275-5DD8DCB07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一些基本概念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="" xmlns:a16="http://schemas.microsoft.com/office/drawing/2014/main" id="{2769D210-EC42-5F43-B2DA-640455298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dirty="0"/>
              <a:t>节点深度：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	根节点深度</a:t>
            </a:r>
            <a:r>
              <a:rPr lang="en-US" altLang="zh-CN" dirty="0"/>
              <a:t>=0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其它节点深度</a:t>
            </a:r>
            <a:r>
              <a:rPr lang="en-US" altLang="zh-CN" dirty="0"/>
              <a:t>=</a:t>
            </a:r>
            <a:r>
              <a:rPr lang="zh-CN" altLang="en-US" dirty="0"/>
              <a:t>父节点深度</a:t>
            </a:r>
            <a:r>
              <a:rPr lang="en-US" altLang="zh-CN" dirty="0"/>
              <a:t>+1</a:t>
            </a:r>
          </a:p>
        </p:txBody>
      </p:sp>
      <p:sp>
        <p:nvSpPr>
          <p:cNvPr id="33797" name="Oval 4">
            <a:extLst>
              <a:ext uri="{FF2B5EF4-FFF2-40B4-BE49-F238E27FC236}">
                <a16:creationId xmlns="" xmlns:a16="http://schemas.microsoft.com/office/drawing/2014/main" id="{FFC82FA9-B404-BE4E-A331-46BDFB8F6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814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798" name="Oval 5">
            <a:extLst>
              <a:ext uri="{FF2B5EF4-FFF2-40B4-BE49-F238E27FC236}">
                <a16:creationId xmlns="" xmlns:a16="http://schemas.microsoft.com/office/drawing/2014/main" id="{58984FA4-6539-ED44-929C-16852EFC4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2672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799" name="Oval 6">
            <a:extLst>
              <a:ext uri="{FF2B5EF4-FFF2-40B4-BE49-F238E27FC236}">
                <a16:creationId xmlns="" xmlns:a16="http://schemas.microsoft.com/office/drawing/2014/main" id="{BBD426F4-F692-F640-9095-47D2C6A9C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2672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0" name="Oval 7">
            <a:extLst>
              <a:ext uri="{FF2B5EF4-FFF2-40B4-BE49-F238E27FC236}">
                <a16:creationId xmlns="" xmlns:a16="http://schemas.microsoft.com/office/drawing/2014/main" id="{40910E66-600A-2844-8400-3B6FA366B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1816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1" name="Oval 8">
            <a:extLst>
              <a:ext uri="{FF2B5EF4-FFF2-40B4-BE49-F238E27FC236}">
                <a16:creationId xmlns="" xmlns:a16="http://schemas.microsoft.com/office/drawing/2014/main" id="{04E9A242-BE36-6347-A913-14128332C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816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2" name="Oval 9">
            <a:extLst>
              <a:ext uri="{FF2B5EF4-FFF2-40B4-BE49-F238E27FC236}">
                <a16:creationId xmlns="" xmlns:a16="http://schemas.microsoft.com/office/drawing/2014/main" id="{B2CFC361-FC42-C44F-A94B-79A8132A6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1816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3" name="Oval 10">
            <a:extLst>
              <a:ext uri="{FF2B5EF4-FFF2-40B4-BE49-F238E27FC236}">
                <a16:creationId xmlns="" xmlns:a16="http://schemas.microsoft.com/office/drawing/2014/main" id="{96D3F7E6-304D-4A49-B555-D3B00C97D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1816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4" name="Oval 11">
            <a:extLst>
              <a:ext uri="{FF2B5EF4-FFF2-40B4-BE49-F238E27FC236}">
                <a16:creationId xmlns="" xmlns:a16="http://schemas.microsoft.com/office/drawing/2014/main" id="{AE929C83-95A2-6640-B43A-08484E33E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1816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5" name="Oval 12">
            <a:extLst>
              <a:ext uri="{FF2B5EF4-FFF2-40B4-BE49-F238E27FC236}">
                <a16:creationId xmlns="" xmlns:a16="http://schemas.microsoft.com/office/drawing/2014/main" id="{EA1EF566-1D4F-8749-8C7B-87FA1A763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1816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6" name="Line 13">
            <a:extLst>
              <a:ext uri="{FF2B5EF4-FFF2-40B4-BE49-F238E27FC236}">
                <a16:creationId xmlns="" xmlns:a16="http://schemas.microsoft.com/office/drawing/2014/main" id="{000529C4-305C-AE43-95E5-42745A234E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38100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7" name="Line 14">
            <a:extLst>
              <a:ext uri="{FF2B5EF4-FFF2-40B4-BE49-F238E27FC236}">
                <a16:creationId xmlns="" xmlns:a16="http://schemas.microsoft.com/office/drawing/2014/main" id="{24366C3E-E583-F240-9491-A101E1A43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38100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8" name="Line 15">
            <a:extLst>
              <a:ext uri="{FF2B5EF4-FFF2-40B4-BE49-F238E27FC236}">
                <a16:creationId xmlns="" xmlns:a16="http://schemas.microsoft.com/office/drawing/2014/main" id="{CF8577CE-9243-E84B-89F4-A4B3028A6C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9" name="Line 16">
            <a:extLst>
              <a:ext uri="{FF2B5EF4-FFF2-40B4-BE49-F238E27FC236}">
                <a16:creationId xmlns="" xmlns:a16="http://schemas.microsoft.com/office/drawing/2014/main" id="{2AF3F269-968F-C646-B665-4A4122D269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4958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0" name="Line 17">
            <a:extLst>
              <a:ext uri="{FF2B5EF4-FFF2-40B4-BE49-F238E27FC236}">
                <a16:creationId xmlns="" xmlns:a16="http://schemas.microsoft.com/office/drawing/2014/main" id="{E8B640B2-243B-5A45-B68A-9AA5BFA78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4196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1" name="Line 18">
            <a:extLst>
              <a:ext uri="{FF2B5EF4-FFF2-40B4-BE49-F238E27FC236}">
                <a16:creationId xmlns="" xmlns:a16="http://schemas.microsoft.com/office/drawing/2014/main" id="{5743963E-4B8B-9C49-B7E9-C545FA7077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44196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2" name="Line 19">
            <a:extLst>
              <a:ext uri="{FF2B5EF4-FFF2-40B4-BE49-F238E27FC236}">
                <a16:creationId xmlns="" xmlns:a16="http://schemas.microsoft.com/office/drawing/2014/main" id="{F9EE6EC2-803C-9D43-9724-E02F5FBF44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4196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3" name="Line 20">
            <a:extLst>
              <a:ext uri="{FF2B5EF4-FFF2-40B4-BE49-F238E27FC236}">
                <a16:creationId xmlns="" xmlns:a16="http://schemas.microsoft.com/office/drawing/2014/main" id="{69262AF6-191B-8E4D-B821-34161A4B81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4196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4" name="Oval 22">
            <a:extLst>
              <a:ext uri="{FF2B5EF4-FFF2-40B4-BE49-F238E27FC236}">
                <a16:creationId xmlns="" xmlns:a16="http://schemas.microsoft.com/office/drawing/2014/main" id="{DE438A38-F5CC-FD4C-8550-D3272C145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6096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15" name="Oval 23">
            <a:extLst>
              <a:ext uri="{FF2B5EF4-FFF2-40B4-BE49-F238E27FC236}">
                <a16:creationId xmlns="" xmlns:a16="http://schemas.microsoft.com/office/drawing/2014/main" id="{52F8825E-82F7-DE41-80F6-6CF7D704C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60960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16" name="Line 24">
            <a:extLst>
              <a:ext uri="{FF2B5EF4-FFF2-40B4-BE49-F238E27FC236}">
                <a16:creationId xmlns="" xmlns:a16="http://schemas.microsoft.com/office/drawing/2014/main" id="{1631E73F-E5B0-154E-B756-8C3AB863FE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5334000"/>
            <a:ext cx="228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7" name="Line 25">
            <a:extLst>
              <a:ext uri="{FF2B5EF4-FFF2-40B4-BE49-F238E27FC236}">
                <a16:creationId xmlns="" xmlns:a16="http://schemas.microsoft.com/office/drawing/2014/main" id="{1BE05753-ECD2-C84D-9C92-10D539C12D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3340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8" name="Text Box 27">
            <a:extLst>
              <a:ext uri="{FF2B5EF4-FFF2-40B4-BE49-F238E27FC236}">
                <a16:creationId xmlns="" xmlns:a16="http://schemas.microsoft.com/office/drawing/2014/main" id="{CEB7DE24-8A22-DC49-9A92-CD94ED4D0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429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33819" name="Text Box 28">
            <a:extLst>
              <a:ext uri="{FF2B5EF4-FFF2-40B4-BE49-F238E27FC236}">
                <a16:creationId xmlns="" xmlns:a16="http://schemas.microsoft.com/office/drawing/2014/main" id="{7B9018F3-C990-1C45-B502-2C8D23214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038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1</a:t>
            </a:r>
          </a:p>
        </p:txBody>
      </p:sp>
      <p:sp>
        <p:nvSpPr>
          <p:cNvPr id="33820" name="Text Box 29">
            <a:extLst>
              <a:ext uri="{FF2B5EF4-FFF2-40B4-BE49-F238E27FC236}">
                <a16:creationId xmlns="" xmlns:a16="http://schemas.microsoft.com/office/drawing/2014/main" id="{2C2D40AE-B50C-5C47-A789-D0A1E4981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876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2</a:t>
            </a:r>
          </a:p>
        </p:txBody>
      </p:sp>
      <p:sp>
        <p:nvSpPr>
          <p:cNvPr id="33821" name="Text Box 30">
            <a:extLst>
              <a:ext uri="{FF2B5EF4-FFF2-40B4-BE49-F238E27FC236}">
                <a16:creationId xmlns="" xmlns:a16="http://schemas.microsoft.com/office/drawing/2014/main" id="{F3DA5ED0-FB12-2346-997E-1FEA111A6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867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66295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="" xmlns:a16="http://schemas.microsoft.com/office/drawing/2014/main" id="{2AF749AF-D190-694E-A07A-847ECA6B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5D6A94B2-6A2A-7541-9A40-E84C02DBBF97}" type="slidenum">
              <a:rPr kumimoji="0" lang="en-US" altLang="zh-CN" sz="1400"/>
              <a:pPr eaLnBrk="1" hangingPunct="1"/>
              <a:t>30</a:t>
            </a:fld>
            <a:endParaRPr kumimoji="0" lang="en-US" altLang="zh-CN" sz="1400"/>
          </a:p>
        </p:txBody>
      </p:sp>
      <p:sp>
        <p:nvSpPr>
          <p:cNvPr id="83970" name="Rectangle 2">
            <a:extLst>
              <a:ext uri="{FF2B5EF4-FFF2-40B4-BE49-F238E27FC236}">
                <a16:creationId xmlns="" xmlns:a16="http://schemas.microsoft.com/office/drawing/2014/main" id="{8B89399D-CDD5-1941-8F54-6A7BEDCDE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一些基本概念（续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="" xmlns:a16="http://schemas.microsoft.com/office/drawing/2014/main" id="{DDEAAC33-0B6D-3E43-90AA-9FA77B6AB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路径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	设一节点序列为</a:t>
            </a:r>
            <a:r>
              <a:rPr lang="en-US" altLang="zh-CN" dirty="0"/>
              <a:t>(n</a:t>
            </a:r>
            <a:r>
              <a:rPr lang="en-US" altLang="zh-CN" baseline="-25000" dirty="0"/>
              <a:t>0</a:t>
            </a:r>
            <a:r>
              <a:rPr lang="en-US" altLang="zh-CN" dirty="0"/>
              <a:t>, n</a:t>
            </a:r>
            <a:r>
              <a:rPr lang="en-US" altLang="zh-CN" baseline="-25000" dirty="0"/>
              <a:t>1</a:t>
            </a:r>
            <a:r>
              <a:rPr lang="en-US" altLang="zh-CN" dirty="0"/>
              <a:t>,…,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k</a:t>
            </a:r>
            <a:r>
              <a:rPr lang="en-US" altLang="zh-CN" dirty="0"/>
              <a:t>)</a:t>
            </a:r>
            <a:r>
              <a:rPr lang="zh-CN" altLang="en-US" dirty="0"/>
              <a:t>，对于</a:t>
            </a:r>
            <a:r>
              <a:rPr lang="en-US" altLang="zh-CN" dirty="0" err="1"/>
              <a:t>i</a:t>
            </a:r>
            <a:r>
              <a:rPr lang="en-US" altLang="zh-CN" dirty="0"/>
              <a:t>=1,…,k</a:t>
            </a:r>
            <a:r>
              <a:rPr lang="zh-CN" altLang="en-US" dirty="0"/>
              <a:t>，若节点</a:t>
            </a:r>
            <a:r>
              <a:rPr lang="en-US" altLang="zh-CN" dirty="0"/>
              <a:t>n</a:t>
            </a:r>
            <a:r>
              <a:rPr lang="en-US" altLang="zh-CN" baseline="-25000" dirty="0"/>
              <a:t>i-1</a:t>
            </a:r>
            <a:r>
              <a:rPr lang="zh-CN" altLang="en-US" dirty="0"/>
              <a:t>具有一个后继节点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i</a:t>
            </a:r>
            <a:r>
              <a:rPr lang="zh-CN" altLang="en-US" dirty="0"/>
              <a:t>，则该序列称为从</a:t>
            </a:r>
            <a:r>
              <a:rPr lang="en-US" altLang="zh-CN" dirty="0"/>
              <a:t>n</a:t>
            </a:r>
            <a:r>
              <a:rPr lang="en-US" altLang="zh-CN" baseline="-25000" dirty="0"/>
              <a:t>0</a:t>
            </a:r>
            <a:r>
              <a:rPr lang="zh-CN" altLang="en-US" dirty="0"/>
              <a:t>到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k</a:t>
            </a:r>
            <a:r>
              <a:rPr lang="zh-CN" altLang="en-US" dirty="0"/>
              <a:t>的路径。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路径的耗散值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	一条路径的耗散值等于连接这条路径各节点间所有耗散值的总和。用</a:t>
            </a:r>
            <a:r>
              <a:rPr lang="en-US" altLang="zh-CN" dirty="0"/>
              <a:t>C(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i</a:t>
            </a:r>
            <a:r>
              <a:rPr lang="en-US" altLang="zh-CN" dirty="0"/>
              <a:t>, 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j</a:t>
            </a:r>
            <a:r>
              <a:rPr lang="en-US" altLang="zh-CN" dirty="0"/>
              <a:t>)</a:t>
            </a:r>
            <a:r>
              <a:rPr lang="zh-CN" altLang="zh-CN" dirty="0"/>
              <a:t>表示从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i</a:t>
            </a:r>
            <a:r>
              <a:rPr lang="zh-CN" altLang="en-US" dirty="0"/>
              <a:t>到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j</a:t>
            </a:r>
            <a:r>
              <a:rPr lang="zh-CN" altLang="en-US" dirty="0"/>
              <a:t>的路径的耗散值。</a:t>
            </a:r>
            <a:endParaRPr lang="zh-CN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0644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>
            <a:extLst>
              <a:ext uri="{FF2B5EF4-FFF2-40B4-BE49-F238E27FC236}">
                <a16:creationId xmlns="" xmlns:a16="http://schemas.microsoft.com/office/drawing/2014/main" id="{87570FA1-8DB3-504B-A219-4B647F2B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6B080AFF-A329-B140-A30D-2923DA44C709}" type="slidenum">
              <a:rPr kumimoji="0" lang="en-US" altLang="zh-CN" sz="1400"/>
              <a:pPr eaLnBrk="1" hangingPunct="1"/>
              <a:t>31</a:t>
            </a:fld>
            <a:endParaRPr kumimoji="0" lang="en-US" altLang="zh-CN" sz="1400"/>
          </a:p>
        </p:txBody>
      </p:sp>
      <p:sp>
        <p:nvSpPr>
          <p:cNvPr id="84994" name="Rectangle 2">
            <a:extLst>
              <a:ext uri="{FF2B5EF4-FFF2-40B4-BE49-F238E27FC236}">
                <a16:creationId xmlns="" xmlns:a16="http://schemas.microsoft.com/office/drawing/2014/main" id="{D6C294ED-5D07-4146-8D57-816469B87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一些基本概念（续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="" xmlns:a16="http://schemas.microsoft.com/office/drawing/2014/main" id="{8E2CAA2C-9FF1-3E4E-A456-BEBB617EDD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扩展一个节点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	生成出该节点的所有后继节点，并给出它们之间的耗散值。这一过程称为“扩展一个节点”。</a:t>
            </a:r>
          </a:p>
        </p:txBody>
      </p:sp>
    </p:spTree>
    <p:extLst>
      <p:ext uri="{BB962C8B-B14F-4D97-AF65-F5344CB8AC3E}">
        <p14:creationId xmlns:p14="http://schemas.microsoft.com/office/powerpoint/2010/main" val="67848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图片 32771" descr="dfs-progress0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048000"/>
            <a:ext cx="5181600" cy="3011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0" name="标题 32769"/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zh-CN" altLang="en-US"/>
              <a:t>深度优先搜索</a:t>
            </a:r>
            <a:br>
              <a:rPr lang="zh-CN" altLang="en-US"/>
            </a:br>
            <a:r>
              <a:rPr lang="en-US" altLang="zh-CN"/>
              <a:t>Depth-first search </a:t>
            </a:r>
            <a:r>
              <a:rPr lang="zh-CN" altLang="en-US"/>
              <a:t>（</a:t>
            </a:r>
            <a:r>
              <a:rPr lang="en-US" altLang="zh-CN"/>
              <a:t>DFS</a:t>
            </a:r>
            <a:r>
              <a:rPr lang="zh-CN" altLang="en-US"/>
              <a:t>）</a:t>
            </a:r>
          </a:p>
        </p:txBody>
      </p:sp>
      <p:sp>
        <p:nvSpPr>
          <p:cNvPr id="32771" name="文本占位符 3277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 dirty="0"/>
              <a:t>
</a:t>
            </a:r>
          </a:p>
          <a:p>
            <a:endParaRPr lang="en-US" altLang="zh-CN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8704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87043" name="文本占位符 8704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endParaRPr lang="en-US" altLang="zh-CN" sz="2800"/>
          </a:p>
          <a:p>
            <a:endParaRPr lang="en-US" altLang="zh-CN" sz="2400"/>
          </a:p>
        </p:txBody>
      </p:sp>
      <p:pic>
        <p:nvPicPr>
          <p:cNvPr id="87045" name="图片 87044" descr="dfs-progress02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048000"/>
            <a:ext cx="5181600" cy="300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9" name="图片 88068" descr="dfs-progress03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048000"/>
            <a:ext cx="5181600" cy="297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066" name="标题 8806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88067" name="文本占位符 880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endParaRPr lang="en-US" altLang="zh-CN" sz="2800"/>
          </a:p>
          <a:p>
            <a:endParaRPr lang="en-US" altLang="zh-CN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9" name="图片 93188" descr="dfs-progress04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048000"/>
            <a:ext cx="5181600" cy="2913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187" name="标题 93186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93188" name="文本占位符 9318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endParaRPr lang="en-US" altLang="zh-CN" sz="2800"/>
          </a:p>
          <a:p>
            <a:endParaRPr lang="en-US" altLang="zh-CN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3" name="图片 89092" descr="dfs-progress05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048000"/>
            <a:ext cx="5181600" cy="3011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9090" name="标题 8908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89091" name="文本占位符 8909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r>
              <a:rPr lang="en-US" altLang="zh-CN" sz="2800"/>
              <a:t>
</a:t>
            </a:r>
          </a:p>
          <a:p>
            <a:endParaRPr lang="en-US" altLang="zh-CN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9011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90115" name="文本占位符 901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endParaRPr lang="en-US" altLang="zh-CN" sz="2400"/>
          </a:p>
        </p:txBody>
      </p:sp>
      <p:pic>
        <p:nvPicPr>
          <p:cNvPr id="90118" name="图片 90117" descr="dfs-progress06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048000"/>
            <a:ext cx="5181600" cy="3027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9113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91139" name="文本占位符 9113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endParaRPr lang="en-US" altLang="zh-CN" sz="2400"/>
          </a:p>
        </p:txBody>
      </p:sp>
      <p:pic>
        <p:nvPicPr>
          <p:cNvPr id="91140" name="图片 91139" descr="dfs-progress0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124200"/>
            <a:ext cx="4419600" cy="2568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1142" name="图片 91141" descr="dfs-progress07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048000"/>
            <a:ext cx="5181600" cy="300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9216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92163" name="文本占位符 9216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endParaRPr lang="en-US" altLang="zh-CN" sz="2400"/>
          </a:p>
        </p:txBody>
      </p:sp>
      <p:pic>
        <p:nvPicPr>
          <p:cNvPr id="92164" name="图片 92163" descr="dfs-progress0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124200"/>
            <a:ext cx="4419600" cy="2568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66" name="图片 92165" descr="dfs-progress08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048000"/>
            <a:ext cx="5181600" cy="300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9420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94211" name="文本占位符 942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endParaRPr lang="en-US" altLang="zh-CN" sz="2400"/>
          </a:p>
        </p:txBody>
      </p:sp>
      <p:pic>
        <p:nvPicPr>
          <p:cNvPr id="94212" name="图片 94211" descr="dfs-progress0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124200"/>
            <a:ext cx="4419600" cy="2568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214" name="图片 94213" descr="dfs-progress09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048000"/>
            <a:ext cx="5181600" cy="3027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9523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95235" name="文本占位符 9523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endParaRPr lang="en-US" altLang="zh-CN" sz="2400"/>
          </a:p>
        </p:txBody>
      </p:sp>
      <p:pic>
        <p:nvPicPr>
          <p:cNvPr id="95236" name="图片 95235" descr="dfs-progress0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124200"/>
            <a:ext cx="4419600" cy="2568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238" name="图片 95237" descr="dfs-progress10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048000"/>
            <a:ext cx="5181600" cy="300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9625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96259" name="文本占位符 9625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endParaRPr lang="en-US" altLang="zh-CN" sz="2400"/>
          </a:p>
        </p:txBody>
      </p:sp>
      <p:pic>
        <p:nvPicPr>
          <p:cNvPr id="96260" name="图片 96259" descr="dfs-progress0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124200"/>
            <a:ext cx="4419600" cy="2568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2" name="图片 96261" descr="dfs-progress11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048000"/>
            <a:ext cx="5181600" cy="300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9728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Depth-first search</a:t>
            </a:r>
          </a:p>
        </p:txBody>
      </p:sp>
      <p:sp>
        <p:nvSpPr>
          <p:cNvPr id="97283" name="文本占位符 9728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优先扩展和搜索在搜索树中处于最低层的节点</a:t>
            </a:r>
            <a:r>
              <a:rPr lang="en-US" altLang="zh-CN" sz="2800">
                <a:sym typeface="+mn-ea"/>
              </a:rPr>
              <a:t>
</a:t>
            </a:r>
            <a:endParaRPr lang="en-US" altLang="zh-CN" sz="2400"/>
          </a:p>
        </p:txBody>
      </p:sp>
      <p:pic>
        <p:nvPicPr>
          <p:cNvPr id="97284" name="图片 97283" descr="dfs-progress0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124200"/>
            <a:ext cx="4419600" cy="2568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7286" name="图片 97285" descr="dfs-progress12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048000"/>
            <a:ext cx="5181600" cy="3027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皇后深度优先搜索的简单实现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650" y="1417955"/>
            <a:ext cx="8718550" cy="3163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304800" y="5486400"/>
            <a:ext cx="3931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思考：这个多层循环如何搜索右侧的状态空间树？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32630" y="4815840"/>
            <a:ext cx="4154170" cy="190627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补充</a:t>
            </a:r>
            <a:r>
              <a:rPr lang="en-US" altLang="zh-CN" dirty="0"/>
              <a:t>Queens-Naive-ex.cpp</a:t>
            </a:r>
            <a:r>
              <a:rPr lang="zh-CN" altLang="en-US" dirty="0"/>
              <a:t>，解决</a:t>
            </a:r>
            <a:r>
              <a:rPr lang="en-US" altLang="zh-CN" dirty="0"/>
              <a:t>8</a:t>
            </a:r>
            <a:r>
              <a:rPr lang="zh-CN" altLang="en-US" dirty="0"/>
              <a:t>皇后</a:t>
            </a:r>
            <a:r>
              <a:rPr lang="zh-CN" altLang="en-US" dirty="0" smtClean="0"/>
              <a:t>问题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测试：Ｎ＝２４的情况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笑脸 3">
            <a:extLst>
              <a:ext uri="{FF2B5EF4-FFF2-40B4-BE49-F238E27FC236}">
                <a16:creationId xmlns="" xmlns:a16="http://schemas.microsoft.com/office/drawing/2014/main" id="{FFCC12A7-6F8E-324A-BA1A-95DD8C6C468B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栈</a:t>
            </a:r>
            <a:r>
              <a:rPr kumimoji="1" lang="en-US" altLang="zh-CN" dirty="0"/>
              <a:t> stack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129448"/>
            <a:ext cx="2755900" cy="417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403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栈</a:t>
            </a:r>
            <a:r>
              <a:rPr kumimoji="1" lang="en-US" altLang="zh-CN" dirty="0"/>
              <a:t> stack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特点：</a:t>
            </a:r>
            <a:r>
              <a:rPr kumimoji="1" lang="en-US" altLang="zh-CN" dirty="0"/>
              <a:t>last in, first out (LIFO)</a:t>
            </a:r>
          </a:p>
          <a:p>
            <a:r>
              <a:rPr kumimoji="1" lang="en-US" altLang="zh-CN" dirty="0"/>
              <a:t> </a:t>
            </a:r>
            <a:r>
              <a:rPr kumimoji="1" lang="zh-CN" altLang="en-US" dirty="0"/>
              <a:t>操作</a:t>
            </a:r>
          </a:p>
          <a:p>
            <a:pPr lvl="1"/>
            <a:r>
              <a:rPr kumimoji="1" lang="en-US" altLang="zh-CN" dirty="0"/>
              <a:t>pop</a:t>
            </a:r>
          </a:p>
          <a:p>
            <a:pPr lvl="1"/>
            <a:r>
              <a:rPr kumimoji="1" lang="en-US" altLang="zh-CN" dirty="0"/>
              <a:t>push</a:t>
            </a:r>
          </a:p>
          <a:p>
            <a:pPr lvl="1"/>
            <a:r>
              <a:rPr kumimoji="1" lang="en-US" altLang="zh-CN" dirty="0"/>
              <a:t>top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09800"/>
            <a:ext cx="6408436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11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基于栈的</a:t>
            </a:r>
            <a:r>
              <a:rPr lang="en-US" altLang="zh-CN" dirty="0"/>
              <a:t>DFS</a:t>
            </a:r>
            <a:r>
              <a:rPr lang="zh-CN" altLang="en-US" dirty="0"/>
              <a:t>算法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352" y="1785480"/>
            <a:ext cx="8534400" cy="388414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>
              <a:spcBef>
                <a:spcPct val="20000"/>
              </a:spcBef>
              <a:buClr>
                <a:srgbClr val="51848E"/>
              </a:buClr>
              <a:buSzPct val="50000"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1.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将初始节点压入</a:t>
            </a:r>
            <a:r>
              <a:rPr lang="zh-CN" altLang="en-US" sz="2800" b="1" dirty="0">
                <a:solidFill>
                  <a:srgbClr val="FF0000"/>
                </a:solidFill>
              </a:rPr>
              <a:t>栈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内</a:t>
            </a:r>
            <a:endParaRPr lang="en-US" altLang="zh-CN" sz="2800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spcBef>
                <a:spcPct val="20000"/>
              </a:spcBef>
              <a:buClr>
                <a:srgbClr val="51848E"/>
              </a:buClr>
              <a:buSzPct val="50000"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2.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检查</a:t>
            </a:r>
            <a:r>
              <a:rPr lang="zh-CN" altLang="en-US" sz="2800" b="1" dirty="0">
                <a:solidFill>
                  <a:srgbClr val="FF0000"/>
                </a:solidFill>
              </a:rPr>
              <a:t>栈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是否为空。当</a:t>
            </a:r>
            <a:r>
              <a:rPr lang="zh-CN" altLang="en-US" sz="2800" b="1" dirty="0">
                <a:solidFill>
                  <a:srgbClr val="FF0000"/>
                </a:solidFill>
              </a:rPr>
              <a:t>栈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为空时停止搜索，否则弹出栈顶节点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w</a:t>
            </a:r>
          </a:p>
          <a:p>
            <a:pPr lvl="1">
              <a:spcBef>
                <a:spcPct val="20000"/>
              </a:spcBef>
              <a:buClr>
                <a:srgbClr val="51848E"/>
              </a:buClr>
              <a:buSzPct val="50000"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3.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检查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是否为目标节点。如果是，则输出结果，如果需要得到其他解则转第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步，否则终止搜索。</a:t>
            </a:r>
            <a:endParaRPr lang="en-US" altLang="zh-CN" sz="2800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spcBef>
                <a:spcPct val="20000"/>
              </a:spcBef>
              <a:buClr>
                <a:srgbClr val="51848E"/>
              </a:buClr>
              <a:buSzPct val="50000"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4.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如果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不是目标节点，则扩展该节点，并将生成的新节点压入</a:t>
            </a:r>
            <a:r>
              <a:rPr lang="zh-CN" altLang="en-US" sz="2800" b="1" dirty="0">
                <a:solidFill>
                  <a:srgbClr val="FF0000"/>
                </a:solidFill>
              </a:rPr>
              <a:t>栈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中</a:t>
            </a:r>
            <a:endParaRPr lang="en-US" altLang="zh-CN" sz="2800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spcBef>
                <a:spcPct val="20000"/>
              </a:spcBef>
              <a:buClr>
                <a:srgbClr val="51848E"/>
              </a:buClr>
              <a:buSzPct val="50000"/>
            </a:pP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5.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转到第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</a:rPr>
              <a:t>步</a:t>
            </a:r>
            <a:endParaRPr lang="en-US" altLang="zh-CN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笑脸 4">
            <a:extLst>
              <a:ext uri="{FF2B5EF4-FFF2-40B4-BE49-F238E27FC236}">
                <a16:creationId xmlns="" xmlns:a16="http://schemas.microsoft.com/office/drawing/2014/main" id="{7E6B7DC8-3200-BA4E-AF28-133220B9A56E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600"/>
            <a:ext cx="7628305" cy="4191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648200"/>
            <a:ext cx="2177143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498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1000"/>
            <a:ext cx="6905706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87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课堂练习（</a:t>
            </a:r>
            <a:r>
              <a:rPr lang="en-US" altLang="zh-CN" dirty="0"/>
              <a:t>C</a:t>
            </a:r>
            <a:r>
              <a:rPr lang="zh-CN" altLang="en-US" dirty="0"/>
              <a:t>版）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补充</a:t>
            </a:r>
            <a:r>
              <a:rPr lang="en-US" altLang="zh-CN" dirty="0"/>
              <a:t>QueensDFS-ex.cpp</a:t>
            </a:r>
            <a:r>
              <a:rPr lang="zh-CN" altLang="en-US" dirty="0"/>
              <a:t>中的代码，用</a:t>
            </a:r>
            <a:r>
              <a:rPr lang="en-US" altLang="zh-CN" dirty="0"/>
              <a:t>DFS</a:t>
            </a:r>
            <a:r>
              <a:rPr lang="zh-CN" altLang="en-US" dirty="0"/>
              <a:t>来解决</a:t>
            </a:r>
            <a:r>
              <a:rPr lang="en-US" altLang="zh-CN" dirty="0"/>
              <a:t>8</a:t>
            </a:r>
            <a:r>
              <a:rPr lang="zh-CN" altLang="en-US" dirty="0"/>
              <a:t>皇后问题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笑脸 3">
            <a:extLst>
              <a:ext uri="{FF2B5EF4-FFF2-40B4-BE49-F238E27FC236}">
                <a16:creationId xmlns="" xmlns:a16="http://schemas.microsoft.com/office/drawing/2014/main" id="{FFCC12A7-6F8E-324A-BA1A-95DD8C6C468B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2118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514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下面几页的内容为</a:t>
            </a:r>
            <a:r>
              <a:rPr lang="en-US" altLang="zh-CN" dirty="0"/>
              <a:t>n</a:t>
            </a:r>
            <a:r>
              <a:rPr lang="zh-CN" altLang="en-US" dirty="0"/>
              <a:t>皇后的</a:t>
            </a:r>
            <a:r>
              <a:rPr lang="en-US" altLang="zh-CN" dirty="0"/>
              <a:t>C++</a:t>
            </a:r>
            <a:r>
              <a:rPr lang="zh-CN" altLang="en-US" dirty="0"/>
              <a:t>版本</a:t>
            </a:r>
          </a:p>
        </p:txBody>
      </p:sp>
    </p:spTree>
    <p:extLst>
      <p:ext uri="{BB962C8B-B14F-4D97-AF65-F5344CB8AC3E}">
        <p14:creationId xmlns:p14="http://schemas.microsoft.com/office/powerpoint/2010/main" val="27781126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2400" y="228600"/>
            <a:ext cx="818705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class QueenState</a:t>
            </a:r>
          </a:p>
          <a:p>
            <a:r>
              <a:rPr lang="zh-CN" altLang="en-US" dirty="0"/>
              <a:t>{</a:t>
            </a:r>
          </a:p>
          <a:p>
            <a:r>
              <a:rPr lang="zh-CN" altLang="en-US" dirty="0"/>
              <a:t>public:</a:t>
            </a:r>
          </a:p>
          <a:p>
            <a:r>
              <a:rPr lang="zh-CN" altLang="en-US" dirty="0"/>
              <a:t>    QueenState(int size);</a:t>
            </a:r>
          </a:p>
          <a:p>
            <a:r>
              <a:rPr lang="zh-CN" altLang="en-US" dirty="0"/>
              <a:t>    QueenState(const QueenState &amp; st);</a:t>
            </a:r>
          </a:p>
          <a:p>
            <a:r>
              <a:rPr lang="zh-CN" altLang="en-US" dirty="0"/>
              <a:t>    void placeQueen(int i, int j);//将第i行的皇后放在第j列</a:t>
            </a:r>
          </a:p>
          <a:p>
            <a:r>
              <a:rPr lang="zh-CN" altLang="en-US" dirty="0"/>
              <a:t>    void printState();//打印状态内容</a:t>
            </a:r>
          </a:p>
          <a:p>
            <a:r>
              <a:rPr lang="zh-CN" altLang="en-US" dirty="0"/>
              <a:t>    int getCrntQueenNum(); </a:t>
            </a:r>
            <a:r>
              <a:rPr lang="en-US" altLang="zh-CN" dirty="0"/>
              <a:t>//</a:t>
            </a:r>
            <a:r>
              <a:rPr lang="zh-CN" altLang="en-US" dirty="0"/>
              <a:t>当前棋盘上有多少个皇后</a:t>
            </a:r>
          </a:p>
          <a:p>
            <a:r>
              <a:rPr lang="zh-CN" altLang="en-US" dirty="0"/>
              <a:t>    bool conflict(int i, int j);//在第i行j列放入一个新的皇后，是否与现有皇后冲突</a:t>
            </a:r>
          </a:p>
          <a:p>
            <a:endParaRPr lang="zh-CN" altLang="en-US" dirty="0"/>
          </a:p>
          <a:p>
            <a:r>
              <a:rPr lang="zh-CN" altLang="en-US" dirty="0"/>
              <a:t>    ~QueenState();</a:t>
            </a:r>
          </a:p>
          <a:p>
            <a:r>
              <a:rPr lang="zh-CN" altLang="en-US" dirty="0"/>
              <a:t>private:</a:t>
            </a:r>
          </a:p>
          <a:p>
            <a:r>
              <a:rPr lang="zh-CN" altLang="en-US" dirty="0"/>
              <a:t>    int _size;//棋盘大小，即最多有多少皇后</a:t>
            </a:r>
          </a:p>
          <a:p>
            <a:r>
              <a:rPr lang="zh-CN" altLang="en-US" dirty="0"/>
              <a:t>    int _crntQueenNum;//当前棋盘上有多少皇后</a:t>
            </a:r>
          </a:p>
          <a:p>
            <a:r>
              <a:rPr lang="zh-CN" altLang="en-US" dirty="0"/>
              <a:t>    int * _sln;//皇后在棋盘上的摆放 _sln[i]=j, 表示第i行皇后在第j列</a:t>
            </a:r>
          </a:p>
          <a:p>
            <a:r>
              <a:rPr lang="zh-CN" altLang="en-US" dirty="0"/>
              <a:t>};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1000" y="914400"/>
            <a:ext cx="7848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class </a:t>
            </a:r>
            <a:r>
              <a:rPr lang="en-US" altLang="zh-CN" dirty="0" err="1"/>
              <a:t>QueenNode</a:t>
            </a:r>
            <a:endParaRPr lang="en-US" altLang="zh-CN" dirty="0"/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QueenNode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size);</a:t>
            </a:r>
          </a:p>
          <a:p>
            <a:r>
              <a:rPr lang="en-US" altLang="zh-CN" dirty="0"/>
              <a:t>    ~</a:t>
            </a:r>
            <a:r>
              <a:rPr lang="en-US" altLang="zh-CN" dirty="0" err="1"/>
              <a:t>QueenNode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QueenNode</a:t>
            </a:r>
            <a:r>
              <a:rPr lang="en-US" altLang="zh-CN" dirty="0"/>
              <a:t>(</a:t>
            </a: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QueenNode</a:t>
            </a:r>
            <a:r>
              <a:rPr lang="en-US" altLang="zh-CN" dirty="0"/>
              <a:t> &amp; node);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QueenNode</a:t>
            </a:r>
            <a:r>
              <a:rPr lang="en-US" altLang="zh-CN" dirty="0"/>
              <a:t> </a:t>
            </a:r>
            <a:r>
              <a:rPr lang="en-US" altLang="zh-CN" dirty="0" err="1"/>
              <a:t>createChild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, </a:t>
            </a:r>
            <a:r>
              <a:rPr lang="en-US" altLang="zh-CN" dirty="0" err="1"/>
              <a:t>int</a:t>
            </a:r>
            <a:r>
              <a:rPr lang="en-US" altLang="zh-CN" dirty="0"/>
              <a:t> j);</a:t>
            </a:r>
          </a:p>
          <a:p>
            <a:r>
              <a:rPr lang="en-US" altLang="zh-CN" dirty="0"/>
              <a:t>        //</a:t>
            </a:r>
            <a:r>
              <a:rPr lang="zh-CN" altLang="en-US" dirty="0"/>
              <a:t>通过改变一个皇后的位置来得到一个新的节点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//</a:t>
            </a:r>
            <a:r>
              <a:rPr lang="zh-CN" altLang="en-US" dirty="0"/>
              <a:t>输入参数 </a:t>
            </a:r>
            <a:r>
              <a:rPr lang="en-US" altLang="zh-CN" dirty="0" err="1"/>
              <a:t>i</a:t>
            </a:r>
            <a:r>
              <a:rPr lang="en-US" altLang="zh-CN" dirty="0"/>
              <a:t>, j: </a:t>
            </a:r>
            <a:r>
              <a:rPr lang="zh-CN" altLang="en-US" dirty="0"/>
              <a:t>将第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行的皇后放在第 </a:t>
            </a:r>
            <a:r>
              <a:rPr lang="en-US" altLang="zh-CN" dirty="0"/>
              <a:t>j </a:t>
            </a:r>
            <a:r>
              <a:rPr lang="zh-CN" altLang="en-US" dirty="0"/>
              <a:t>列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QueenState</a:t>
            </a:r>
            <a:r>
              <a:rPr lang="en-US" altLang="zh-CN" dirty="0"/>
              <a:t> &amp; </a:t>
            </a:r>
            <a:r>
              <a:rPr lang="en-US" altLang="zh-CN" dirty="0" err="1"/>
              <a:t>getState</a:t>
            </a:r>
            <a:r>
              <a:rPr lang="en-US" altLang="zh-CN" dirty="0"/>
              <a:t>();</a:t>
            </a:r>
          </a:p>
          <a:p>
            <a:endParaRPr lang="en-US" altLang="zh-CN" dirty="0"/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QueenState</a:t>
            </a:r>
            <a:r>
              <a:rPr lang="en-US" altLang="zh-CN" dirty="0"/>
              <a:t> _state;</a:t>
            </a:r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17659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29920" y="3967480"/>
            <a:ext cx="483044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class DFSQueenSolver : public QueenSolver</a:t>
            </a:r>
          </a:p>
          <a:p>
            <a:r>
              <a:rPr lang="zh-CN" altLang="en-US" dirty="0"/>
              <a:t>{</a:t>
            </a:r>
          </a:p>
          <a:p>
            <a:r>
              <a:rPr lang="zh-CN" altLang="en-US" dirty="0"/>
              <a:t>public:</a:t>
            </a:r>
          </a:p>
          <a:p>
            <a:r>
              <a:rPr lang="zh-CN" altLang="en-US" dirty="0"/>
              <a:t>    DFSQueenSolver(int size);</a:t>
            </a:r>
          </a:p>
          <a:p>
            <a:r>
              <a:rPr lang="zh-CN" altLang="en-US" dirty="0"/>
              <a:t>    ~DFSQueenSolver();</a:t>
            </a:r>
          </a:p>
          <a:p>
            <a:r>
              <a:rPr lang="zh-CN" altLang="en-US" dirty="0"/>
              <a:t>    void solve();</a:t>
            </a:r>
          </a:p>
          <a:p>
            <a:r>
              <a:rPr lang="zh-CN" altLang="en-US" dirty="0"/>
              <a:t>};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9920" y="419100"/>
            <a:ext cx="5645150" cy="25853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class QueenSolver</a:t>
            </a:r>
          </a:p>
          <a:p>
            <a:r>
              <a:rPr lang="zh-CN" altLang="en-US" dirty="0"/>
              <a:t>{</a:t>
            </a:r>
          </a:p>
          <a:p>
            <a:r>
              <a:rPr lang="zh-CN" altLang="en-US" dirty="0"/>
              <a:t>public:</a:t>
            </a:r>
          </a:p>
          <a:p>
            <a:r>
              <a:rPr lang="zh-CN" altLang="en-US" dirty="0"/>
              <a:t>    QueenSolver(int size);</a:t>
            </a:r>
          </a:p>
          <a:p>
            <a:r>
              <a:rPr lang="zh-CN" altLang="en-US" dirty="0"/>
              <a:t>    ~QueenSolver();</a:t>
            </a:r>
          </a:p>
          <a:p>
            <a:r>
              <a:rPr lang="zh-CN" altLang="en-US" dirty="0"/>
              <a:t>    virtual void solve()=0;</a:t>
            </a:r>
          </a:p>
          <a:p>
            <a:r>
              <a:rPr lang="zh-CN" altLang="en-US" dirty="0"/>
              <a:t>protected:</a:t>
            </a:r>
          </a:p>
          <a:p>
            <a:r>
              <a:rPr lang="zh-CN" altLang="en-US" dirty="0"/>
              <a:t>    int _size;</a:t>
            </a:r>
          </a:p>
          <a:p>
            <a:r>
              <a:rPr lang="zh-CN" altLang="en-US" dirty="0"/>
              <a:t>};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1" y="228601"/>
            <a:ext cx="6400800" cy="61863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/>
              <a:t>void </a:t>
            </a:r>
            <a:r>
              <a:rPr lang="en-US" altLang="zh-CN" dirty="0" err="1"/>
              <a:t>DFSQueenSolver</a:t>
            </a:r>
            <a:r>
              <a:rPr lang="en-US" altLang="zh-CN" dirty="0"/>
              <a:t>::solve(){</a:t>
            </a:r>
          </a:p>
          <a:p>
            <a:r>
              <a:rPr lang="en-US" altLang="zh-CN" dirty="0"/>
              <a:t>    stack&lt;</a:t>
            </a:r>
            <a:r>
              <a:rPr lang="en-US" altLang="zh-CN" dirty="0" err="1"/>
              <a:t>QueenNode</a:t>
            </a:r>
            <a:r>
              <a:rPr lang="en-US" altLang="zh-CN" dirty="0"/>
              <a:t>&gt; nodes;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QueenNode</a:t>
            </a:r>
            <a:r>
              <a:rPr lang="en-US" altLang="zh-CN" dirty="0"/>
              <a:t>  n0(this-&gt;_</a:t>
            </a:r>
            <a:r>
              <a:rPr lang="en-US" altLang="zh-CN" dirty="0" err="1"/>
              <a:t>num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nodes.push</a:t>
            </a:r>
            <a:r>
              <a:rPr lang="en-US" altLang="zh-CN" dirty="0"/>
              <a:t>(n0);</a:t>
            </a:r>
          </a:p>
          <a:p>
            <a:r>
              <a:rPr lang="en-US" altLang="zh-CN" dirty="0"/>
              <a:t>    while(!</a:t>
            </a:r>
            <a:r>
              <a:rPr lang="en-US" altLang="zh-CN" dirty="0" err="1"/>
              <a:t>nodes.empty</a:t>
            </a:r>
            <a:r>
              <a:rPr lang="en-US" altLang="zh-CN" dirty="0"/>
              <a:t>()){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QueenNode</a:t>
            </a:r>
            <a:r>
              <a:rPr lang="en-US" altLang="zh-CN" dirty="0"/>
              <a:t> </a:t>
            </a:r>
            <a:r>
              <a:rPr lang="en-US" altLang="zh-CN" dirty="0" err="1"/>
              <a:t>crntNode</a:t>
            </a:r>
            <a:r>
              <a:rPr lang="en-US" altLang="zh-CN" dirty="0"/>
              <a:t> = </a:t>
            </a:r>
            <a:r>
              <a:rPr lang="en-US" altLang="zh-CN" dirty="0" err="1"/>
              <a:t>nodes.top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nodes.pop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QueenState</a:t>
            </a:r>
            <a:r>
              <a:rPr lang="en-US" altLang="zh-CN" dirty="0"/>
              <a:t> </a:t>
            </a:r>
            <a:r>
              <a:rPr lang="en-US" altLang="zh-CN" dirty="0" err="1"/>
              <a:t>st</a:t>
            </a:r>
            <a:r>
              <a:rPr lang="en-US" altLang="zh-CN" dirty="0"/>
              <a:t> = </a:t>
            </a:r>
            <a:r>
              <a:rPr lang="en-US" altLang="zh-CN" dirty="0" err="1"/>
              <a:t>crntNode.getState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  if(</a:t>
            </a:r>
            <a:r>
              <a:rPr lang="en-US" altLang="zh-CN" dirty="0" err="1"/>
              <a:t>st.isTarget</a:t>
            </a:r>
            <a:r>
              <a:rPr lang="en-US" altLang="zh-CN" dirty="0"/>
              <a:t>()){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st.printState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      continue;</a:t>
            </a:r>
          </a:p>
          <a:p>
            <a:r>
              <a:rPr lang="en-US" altLang="zh-CN" dirty="0"/>
              <a:t>        }</a:t>
            </a:r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st.getCrntQueenNum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  for (</a:t>
            </a:r>
            <a:r>
              <a:rPr lang="en-US" altLang="zh-CN" dirty="0" err="1"/>
              <a:t>int</a:t>
            </a:r>
            <a:r>
              <a:rPr lang="en-US" altLang="zh-CN" dirty="0"/>
              <a:t> j=0;j&lt;this-&gt;_</a:t>
            </a:r>
            <a:r>
              <a:rPr lang="en-US" altLang="zh-CN" dirty="0" err="1"/>
              <a:t>num;j</a:t>
            </a:r>
            <a:r>
              <a:rPr lang="en-US" altLang="zh-CN" dirty="0"/>
              <a:t>++){</a:t>
            </a:r>
          </a:p>
          <a:p>
            <a:r>
              <a:rPr lang="en-US" altLang="zh-CN" dirty="0"/>
              <a:t>           if(!</a:t>
            </a:r>
            <a:r>
              <a:rPr lang="en-US" altLang="zh-CN" dirty="0" err="1"/>
              <a:t>st.conflict</a:t>
            </a:r>
            <a:r>
              <a:rPr lang="en-US" altLang="zh-CN" dirty="0"/>
              <a:t>(</a:t>
            </a:r>
            <a:r>
              <a:rPr lang="en-US" altLang="zh-CN" dirty="0" err="1"/>
              <a:t>i,j</a:t>
            </a:r>
            <a:r>
              <a:rPr lang="en-US" altLang="zh-CN" dirty="0"/>
              <a:t>)){</a:t>
            </a:r>
          </a:p>
          <a:p>
            <a:r>
              <a:rPr lang="en-US" altLang="zh-CN" dirty="0"/>
              <a:t>               </a:t>
            </a:r>
            <a:r>
              <a:rPr lang="en-US" altLang="zh-CN" dirty="0" err="1"/>
              <a:t>QueenNode</a:t>
            </a:r>
            <a:r>
              <a:rPr lang="en-US" altLang="zh-CN" dirty="0"/>
              <a:t> child = </a:t>
            </a:r>
            <a:r>
              <a:rPr lang="en-US" altLang="zh-CN" dirty="0" err="1"/>
              <a:t>crntNode.createChild</a:t>
            </a:r>
            <a:r>
              <a:rPr lang="en-US" altLang="zh-CN" dirty="0"/>
              <a:t>(</a:t>
            </a:r>
            <a:r>
              <a:rPr lang="en-US" altLang="zh-CN" dirty="0" err="1"/>
              <a:t>i,j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           </a:t>
            </a:r>
            <a:r>
              <a:rPr lang="en-US" altLang="zh-CN" dirty="0" err="1"/>
              <a:t>nodes.push</a:t>
            </a:r>
            <a:r>
              <a:rPr lang="en-US" altLang="zh-CN" dirty="0"/>
              <a:t>(child);</a:t>
            </a:r>
          </a:p>
          <a:p>
            <a:r>
              <a:rPr lang="en-US" altLang="zh-CN" dirty="0"/>
              <a:t>           }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课堂练习（</a:t>
            </a:r>
            <a:r>
              <a:rPr lang="en-US" altLang="zh-CN" dirty="0"/>
              <a:t>C++</a:t>
            </a:r>
            <a:r>
              <a:rPr lang="zh-CN" altLang="en-US" dirty="0"/>
              <a:t>版）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实现</a:t>
            </a:r>
            <a:r>
              <a:rPr lang="en-US" altLang="zh-CN" dirty="0" err="1"/>
              <a:t>QueenState</a:t>
            </a:r>
            <a:r>
              <a:rPr lang="zh-CN" altLang="en-US" dirty="0"/>
              <a:t>，用</a:t>
            </a:r>
            <a:r>
              <a:rPr lang="en-US" altLang="zh-CN" dirty="0"/>
              <a:t>DFS</a:t>
            </a:r>
            <a:r>
              <a:rPr lang="zh-CN" altLang="en-US" dirty="0"/>
              <a:t>来解决</a:t>
            </a:r>
            <a:r>
              <a:rPr lang="en-US" altLang="zh-CN" dirty="0"/>
              <a:t>8</a:t>
            </a:r>
            <a:r>
              <a:rPr lang="zh-CN" altLang="en-US" dirty="0"/>
              <a:t>皇后</a:t>
            </a:r>
            <a:r>
              <a:rPr lang="zh-CN" altLang="en-US" dirty="0" smtClean="0"/>
              <a:t>问题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递进：利用递归做ＤＦＳ的８皇后问题</a:t>
            </a:r>
            <a:endParaRPr lang="en-US" altLang="zh-CN" dirty="0"/>
          </a:p>
          <a:p>
            <a:r>
              <a:rPr lang="zh-CN" altLang="en-US" dirty="0" smtClean="0">
                <a:solidFill>
                  <a:srgbClr val="FF0000"/>
                </a:solidFill>
              </a:rPr>
              <a:t>递进：图灵班－－利用</a:t>
            </a:r>
            <a:r>
              <a:rPr lang="zh-CN" altLang="en-US" dirty="0">
                <a:solidFill>
                  <a:srgbClr val="FF0000"/>
                </a:solidFill>
              </a:rPr>
              <a:t>位运算极限提升算法</a:t>
            </a:r>
            <a:r>
              <a:rPr lang="zh-CN" altLang="en-US" dirty="0" smtClean="0">
                <a:solidFill>
                  <a:srgbClr val="FF0000"/>
                </a:solidFill>
              </a:rPr>
              <a:t>性能　Ｎ＝２４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空间换时间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最小空间消耗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笑脸 3">
            <a:extLst>
              <a:ext uri="{FF2B5EF4-FFF2-40B4-BE49-F238E27FC236}">
                <a16:creationId xmlns="" xmlns:a16="http://schemas.microsoft.com/office/drawing/2014/main" id="{FFCC12A7-6F8E-324A-BA1A-95DD8C6C468B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64662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  <a:r>
              <a:rPr lang="en-US" altLang="zh-CN" dirty="0"/>
              <a:t>DFS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可能在</a:t>
            </a:r>
            <a:r>
              <a:rPr lang="zh-CN" altLang="en-US" dirty="0">
                <a:solidFill>
                  <a:srgbClr val="FF0000"/>
                </a:solidFill>
              </a:rPr>
              <a:t>初始阶段误入歧途</a:t>
            </a:r>
            <a:r>
              <a:rPr lang="zh-CN" altLang="en-US" dirty="0"/>
              <a:t>，直到搜索到该路径的终点，然后再对其他路径进行搜索</a:t>
            </a:r>
            <a:endParaRPr lang="en-US" altLang="zh-CN" dirty="0"/>
          </a:p>
          <a:p>
            <a:pPr lvl="1"/>
            <a:r>
              <a:rPr lang="zh-CN" altLang="en-US" dirty="0"/>
              <a:t>对于无限状态空间的问题，可能无法结束</a:t>
            </a:r>
            <a:endParaRPr lang="en-US" altLang="zh-CN" dirty="0"/>
          </a:p>
          <a:p>
            <a:pPr lvl="1"/>
            <a:r>
              <a:rPr lang="zh-CN" altLang="en-US" dirty="0"/>
              <a:t>状态空间有限，可能由于进入</a:t>
            </a:r>
            <a:r>
              <a:rPr lang="zh-CN" altLang="en-US" b="1" dirty="0">
                <a:solidFill>
                  <a:srgbClr val="FF0000"/>
                </a:solidFill>
              </a:rPr>
              <a:t>很深的无效路径</a:t>
            </a:r>
            <a:r>
              <a:rPr lang="zh-CN" altLang="en-US" dirty="0"/>
              <a:t>而效率很低</a:t>
            </a:r>
            <a:endParaRPr lang="en-US" altLang="zh-CN" dirty="0"/>
          </a:p>
          <a:p>
            <a:pPr lvl="1"/>
            <a:r>
              <a:rPr lang="zh-CN" altLang="en-US" dirty="0"/>
              <a:t>搜索路径或者结果不唯一时，</a:t>
            </a:r>
            <a:r>
              <a:rPr lang="zh-CN" altLang="en-US" dirty="0">
                <a:solidFill>
                  <a:srgbClr val="FF0000"/>
                </a:solidFill>
              </a:rPr>
              <a:t>不能保证</a:t>
            </a:r>
            <a:r>
              <a:rPr lang="zh-CN" altLang="en-US" dirty="0"/>
              <a:t>找到的结果是所有可能结果中具有</a:t>
            </a:r>
            <a:r>
              <a:rPr lang="zh-CN" altLang="en-US" dirty="0">
                <a:solidFill>
                  <a:srgbClr val="FF0000"/>
                </a:solidFill>
              </a:rPr>
              <a:t>最短搜索路径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zh-CN" altLang="en-US" dirty="0"/>
              <a:t>适用情况</a:t>
            </a:r>
            <a:endParaRPr lang="en-US" altLang="zh-CN" dirty="0"/>
          </a:p>
          <a:p>
            <a:pPr lvl="1"/>
            <a:r>
              <a:rPr lang="zh-CN" altLang="en-US" dirty="0"/>
              <a:t>有限的状态空间</a:t>
            </a:r>
            <a:endParaRPr lang="en-US" altLang="zh-CN" dirty="0"/>
          </a:p>
          <a:p>
            <a:pPr lvl="1"/>
            <a:r>
              <a:rPr lang="zh-CN" altLang="en-US" dirty="0"/>
              <a:t>高度较为均衡的搜索树</a:t>
            </a:r>
            <a:endParaRPr lang="en-US" altLang="zh-CN" dirty="0"/>
          </a:p>
          <a:p>
            <a:pPr lvl="1"/>
            <a:r>
              <a:rPr lang="zh-CN" altLang="en-US" dirty="0"/>
              <a:t>需要对有限状态空间完全遍历的搜索</a:t>
            </a:r>
            <a:endParaRPr lang="en-US" altLang="zh-CN" dirty="0"/>
          </a:p>
          <a:p>
            <a:pPr lvl="1"/>
            <a:r>
              <a:rPr lang="zh-CN" altLang="en-US" dirty="0"/>
              <a:t>不要求寻找搜索步数最少的解的问题</a:t>
            </a:r>
            <a:endParaRPr lang="en-US" altLang="zh-CN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分析</a:t>
            </a:r>
            <a:r>
              <a:rPr kumimoji="1" lang="en-US" altLang="zh-CN" dirty="0"/>
              <a:t>DFS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16386" name="Picture 2" descr="https://www.geeksforgeeks.org/wp-content/uploads/iddfs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09800"/>
            <a:ext cx="8465127" cy="346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7201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4710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dirty="0"/>
              <a:t>Iterative deepening search</a:t>
            </a:r>
          </a:p>
        </p:txBody>
      </p:sp>
      <p:pic>
        <p:nvPicPr>
          <p:cNvPr id="47108" name="图片 47107"/>
          <p:cNvPicPr>
            <a:picLocks noChangeAspect="1"/>
          </p:cNvPicPr>
          <p:nvPr/>
        </p:nvPicPr>
        <p:blipFill>
          <a:blip r:embed="rId2"/>
          <a:srcRect l="14844" t="18750" r="3125" b="51042"/>
          <a:stretch>
            <a:fillRect/>
          </a:stretch>
        </p:blipFill>
        <p:spPr>
          <a:xfrm>
            <a:off x="762000" y="1600200"/>
            <a:ext cx="8001000" cy="2209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60</a:t>
            </a:fld>
            <a:endParaRPr lang="en-US"/>
          </a:p>
        </p:txBody>
      </p:sp>
      <p:sp>
        <p:nvSpPr>
          <p:cNvPr id="2" name="矩形 1"/>
          <p:cNvSpPr/>
          <p:nvPr/>
        </p:nvSpPr>
        <p:spPr>
          <a:xfrm>
            <a:off x="762000" y="4469155"/>
            <a:ext cx="7848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000">
                <a:solidFill>
                  <a:srgbClr val="222222"/>
                </a:solidFill>
                <a:latin typeface="Arial" charset="0"/>
              </a:rPr>
              <a:t>Since iterative deepening visits states multiple times, it may seem wasteful, but it turns out to be not so costly, since in a tree most of the nodes are in the bottom level, so it does not matter much if the upper levels are visited multiple times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662144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481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dirty="0"/>
              <a:t>Iterative deepening DF search </a:t>
            </a:r>
            <a:r>
              <a:rPr lang="en-US" altLang="zh-CN" sz="4000" i="1" dirty="0"/>
              <a:t>l </a:t>
            </a:r>
            <a:r>
              <a:rPr lang="en-US" altLang="zh-CN" sz="4000" dirty="0"/>
              <a:t>=0</a:t>
            </a:r>
          </a:p>
        </p:txBody>
      </p:sp>
      <p:pic>
        <p:nvPicPr>
          <p:cNvPr id="48132" name="图片 48131" descr="ids-progress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57350"/>
            <a:ext cx="7620000" cy="3543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336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4915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dirty="0"/>
              <a:t>Iterative deepening DF search </a:t>
            </a:r>
            <a:r>
              <a:rPr lang="en-US" altLang="zh-CN" sz="4000" i="1" dirty="0"/>
              <a:t>l </a:t>
            </a:r>
            <a:r>
              <a:rPr lang="en-US" altLang="zh-CN" sz="4000" dirty="0"/>
              <a:t>=1</a:t>
            </a:r>
          </a:p>
        </p:txBody>
      </p:sp>
      <p:pic>
        <p:nvPicPr>
          <p:cNvPr id="49156" name="图片 49155" descr="ids-progress2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57350"/>
            <a:ext cx="7620000" cy="3543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512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5017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dirty="0"/>
              <a:t>Iterative deepening DF search </a:t>
            </a:r>
            <a:r>
              <a:rPr lang="en-US" altLang="zh-CN" sz="4000" i="1" dirty="0"/>
              <a:t>l </a:t>
            </a:r>
            <a:r>
              <a:rPr lang="en-US" altLang="zh-CN" sz="4000" dirty="0"/>
              <a:t>=2</a:t>
            </a:r>
          </a:p>
        </p:txBody>
      </p:sp>
      <p:pic>
        <p:nvPicPr>
          <p:cNvPr id="50180" name="图片 50179" descr="ids-progress3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52588"/>
            <a:ext cx="7620000" cy="3552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004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5120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dirty="0"/>
              <a:t>Iterative deepening DF search </a:t>
            </a:r>
            <a:r>
              <a:rPr lang="en-US" altLang="zh-CN" sz="4000" i="1" dirty="0"/>
              <a:t>l </a:t>
            </a:r>
            <a:r>
              <a:rPr lang="en-US" altLang="zh-CN" sz="4000" dirty="0"/>
              <a:t>=3</a:t>
            </a:r>
          </a:p>
        </p:txBody>
      </p:sp>
      <p:pic>
        <p:nvPicPr>
          <p:cNvPr id="51204" name="图片 51203" descr="ids-progress4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57350"/>
            <a:ext cx="7620000" cy="3543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247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5222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dirty="0"/>
              <a:t>Iterative deepening search</a:t>
            </a:r>
          </a:p>
        </p:txBody>
      </p:sp>
      <p:sp>
        <p:nvSpPr>
          <p:cNvPr id="52227" name="文本占位符 522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Number of nodes generated in a </a:t>
            </a:r>
            <a:r>
              <a:rPr lang="en-US" altLang="zh-CN" sz="2400" b="1" dirty="0"/>
              <a:t>depth-limited search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 </a:t>
            </a:r>
            <a:r>
              <a:rPr lang="en-US" altLang="zh-CN" sz="2400" dirty="0"/>
              <a:t>(DLS) to depth </a:t>
            </a:r>
            <a:r>
              <a:rPr lang="en-US" altLang="zh-CN" sz="2400" i="1" dirty="0"/>
              <a:t>d</a:t>
            </a:r>
            <a:r>
              <a:rPr lang="en-US" altLang="zh-CN" sz="2400" dirty="0"/>
              <a:t> with branching factor </a:t>
            </a:r>
            <a:r>
              <a:rPr lang="en-US" altLang="zh-CN" sz="2400" i="1" dirty="0"/>
              <a:t>b</a:t>
            </a:r>
            <a:r>
              <a:rPr lang="en-US" altLang="zh-CN" sz="2400" dirty="0"/>
              <a:t>: </a:t>
            </a:r>
            <a:endParaRPr lang="zh-CN" altLang="en-US" sz="2400" dirty="0"/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 algn="ctr">
              <a:lnSpc>
                <a:spcPct val="80000"/>
              </a:lnSpc>
              <a:buNone/>
            </a:pPr>
            <a:r>
              <a:rPr lang="en-US" altLang="zh-CN" sz="2400" i="1" dirty="0"/>
              <a:t>	N</a:t>
            </a:r>
            <a:r>
              <a:rPr lang="en-US" altLang="zh-CN" sz="2400" i="1" baseline="-25000" dirty="0"/>
              <a:t>DLS</a:t>
            </a:r>
            <a:r>
              <a:rPr lang="en-US" altLang="zh-CN" sz="2400" i="1" dirty="0"/>
              <a:t> = b</a:t>
            </a:r>
            <a:r>
              <a:rPr lang="en-US" altLang="zh-CN" sz="2400" i="1" baseline="30000" dirty="0">
                <a:latin typeface="r"/>
              </a:rPr>
              <a:t>0</a:t>
            </a:r>
            <a:r>
              <a:rPr lang="en-US" altLang="zh-CN" sz="2400" i="1" dirty="0"/>
              <a:t> + b</a:t>
            </a:r>
            <a:r>
              <a:rPr lang="en-US" altLang="zh-CN" sz="2400" i="1" baseline="30000" dirty="0">
                <a:latin typeface="r"/>
              </a:rPr>
              <a:t>1</a:t>
            </a:r>
            <a:r>
              <a:rPr lang="en-US" altLang="zh-CN" sz="2400" i="1" dirty="0"/>
              <a:t> + b</a:t>
            </a:r>
            <a:r>
              <a:rPr lang="en-US" altLang="zh-CN" sz="2400" i="1" baseline="30000" dirty="0">
                <a:latin typeface="r"/>
              </a:rPr>
              <a:t>2</a:t>
            </a:r>
            <a:r>
              <a:rPr lang="en-US" altLang="zh-CN" sz="2400" i="1" dirty="0"/>
              <a:t> + … + b</a:t>
            </a:r>
            <a:r>
              <a:rPr lang="en-US" altLang="zh-CN" sz="2400" i="1" baseline="30000" dirty="0">
                <a:latin typeface="r"/>
              </a:rPr>
              <a:t>d-2</a:t>
            </a:r>
            <a:r>
              <a:rPr lang="en-US" altLang="zh-CN" sz="2400" i="1" dirty="0"/>
              <a:t> + b</a:t>
            </a:r>
            <a:r>
              <a:rPr lang="en-US" altLang="zh-CN" sz="2400" i="1" baseline="30000" dirty="0">
                <a:latin typeface="r"/>
              </a:rPr>
              <a:t>d-1</a:t>
            </a:r>
            <a:r>
              <a:rPr lang="en-US" altLang="zh-CN" sz="2400" i="1" dirty="0"/>
              <a:t> + 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>
                <a:latin typeface="r"/>
              </a:rPr>
              <a:t>d</a:t>
            </a:r>
            <a:r>
              <a:rPr lang="en-US" altLang="zh-CN" sz="2400" dirty="0"/>
              <a:t> </a:t>
            </a:r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Number of nodes generated in </a:t>
            </a:r>
            <a:r>
              <a:rPr lang="en-US" altLang="zh-CN" sz="2400" b="1" dirty="0"/>
              <a:t>an iterative deepening search </a:t>
            </a:r>
            <a:r>
              <a:rPr lang="en-US" altLang="zh-CN" sz="2400" dirty="0"/>
              <a:t>(IDS) to depth </a:t>
            </a:r>
            <a:r>
              <a:rPr lang="en-US" altLang="zh-CN" sz="2400" i="1" dirty="0"/>
              <a:t>d</a:t>
            </a:r>
            <a:r>
              <a:rPr lang="en-US" altLang="zh-CN" sz="2400" dirty="0"/>
              <a:t> with branching factor </a:t>
            </a:r>
            <a:r>
              <a:rPr lang="en-US" altLang="zh-CN" sz="2400" i="1" dirty="0"/>
              <a:t>b</a:t>
            </a:r>
            <a:r>
              <a:rPr lang="en-US" altLang="zh-CN" sz="2400" dirty="0"/>
              <a:t>: </a:t>
            </a:r>
            <a:endParaRPr lang="zh-CN" altLang="en-US" sz="2400" dirty="0"/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 algn="ctr">
              <a:lnSpc>
                <a:spcPct val="80000"/>
              </a:lnSpc>
              <a:buNone/>
            </a:pPr>
            <a:r>
              <a:rPr lang="en-US" altLang="zh-CN" sz="2400" dirty="0"/>
              <a:t>N</a:t>
            </a:r>
            <a:r>
              <a:rPr lang="en-US" altLang="zh-CN" sz="2400" baseline="-25000" dirty="0"/>
              <a:t>IDS</a:t>
            </a:r>
            <a:r>
              <a:rPr lang="en-US" altLang="zh-CN" sz="2400" dirty="0"/>
              <a:t> = (d+1)b</a:t>
            </a:r>
            <a:r>
              <a:rPr lang="en-US" altLang="zh-CN" sz="2400" baseline="30000" dirty="0"/>
              <a:t>0</a:t>
            </a:r>
            <a:r>
              <a:rPr lang="en-US" altLang="zh-CN" sz="2400" dirty="0"/>
              <a:t> + d b^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 + (d-1)b^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 + … + 3b</a:t>
            </a:r>
            <a:r>
              <a:rPr lang="en-US" altLang="zh-CN" sz="2400" baseline="30000" dirty="0"/>
              <a:t>d-2</a:t>
            </a:r>
            <a:r>
              <a:rPr lang="en-US" altLang="zh-CN" sz="2400" dirty="0"/>
              <a:t> +2b</a:t>
            </a:r>
            <a:r>
              <a:rPr lang="en-US" altLang="zh-CN" sz="2400" baseline="30000" dirty="0"/>
              <a:t>d-1</a:t>
            </a:r>
            <a:r>
              <a:rPr lang="en-US" altLang="zh-CN" sz="2400" dirty="0"/>
              <a:t> + 1b</a:t>
            </a:r>
            <a:r>
              <a:rPr lang="en-US" altLang="zh-CN" sz="2400" baseline="30000" dirty="0"/>
              <a:t>d</a:t>
            </a:r>
            <a:r>
              <a:rPr lang="en-US" altLang="zh-CN" sz="2400" dirty="0"/>
              <a:t> </a:t>
            </a:r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>
              <a:lnSpc>
                <a:spcPct val="80000"/>
              </a:lnSpc>
            </a:pPr>
            <a:r>
              <a:rPr lang="en-US" altLang="zh-CN" sz="2400" dirty="0"/>
              <a:t>For </a:t>
            </a:r>
            <a:r>
              <a:rPr lang="en-US" altLang="zh-CN" sz="2400" i="1" dirty="0"/>
              <a:t>b = 10</a:t>
            </a:r>
            <a:r>
              <a:rPr lang="en-US" altLang="zh-CN" sz="2400" dirty="0"/>
              <a:t>, </a:t>
            </a:r>
            <a:r>
              <a:rPr lang="en-US" altLang="zh-CN" sz="2400" i="1" dirty="0"/>
              <a:t>d = 5</a:t>
            </a:r>
            <a:r>
              <a:rPr lang="en-US" altLang="zh-CN" sz="2400" dirty="0"/>
              <a:t>,
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/>
              <a:t>N</a:t>
            </a:r>
            <a:r>
              <a:rPr lang="en-US" altLang="zh-CN" sz="2000" baseline="-25000" dirty="0"/>
              <a:t>DLS </a:t>
            </a:r>
            <a:r>
              <a:rPr lang="en-US" altLang="zh-CN" sz="2000" dirty="0"/>
              <a:t>= 1 + 10 + 100 + 1,000 + 10,000 + 100,000 = 111,111
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/>
              <a:t>N</a:t>
            </a:r>
            <a:r>
              <a:rPr lang="en-US" altLang="zh-CN" sz="2000" baseline="-25000" dirty="0"/>
              <a:t>IDS</a:t>
            </a:r>
            <a:r>
              <a:rPr lang="en-US" altLang="zh-CN" sz="2000" dirty="0"/>
              <a:t> = 6 + 50 + 400 + 3,000 + 20,000 + 100,000 = 123,456
</a:t>
            </a:r>
          </a:p>
          <a:p>
            <a:pPr>
              <a:lnSpc>
                <a:spcPct val="80000"/>
              </a:lnSpc>
            </a:pPr>
            <a:endParaRPr lang="en-US" altLang="zh-CN" sz="2400" dirty="0"/>
          </a:p>
          <a:p>
            <a:pPr>
              <a:lnSpc>
                <a:spcPct val="80000"/>
              </a:lnSpc>
            </a:pPr>
            <a:r>
              <a:rPr lang="en-US" altLang="zh-CN" sz="2400" dirty="0"/>
              <a:t>Overhead = (123,456 - 111,111)/111,111 = 11%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>
                <a:schemeClr val="bg1"/>
              </a:buClr>
            </a:pPr>
            <a:fld id="{9A0DB2DC-4C9A-4742-B13C-FB6460FD3503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15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重复节点的判断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八皇后问题在搜索过程中不会构成环，即搜索过程中不会出现重复的节点。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有些问题，其状态空间所构成的是带有圈的图，在搜索过程中可能生成出重复的节点。如果不处理，搜索会陷入圈中无法进展。</a:t>
            </a:r>
            <a:endParaRPr lang="en-US" altLang="zh-CN" dirty="0"/>
          </a:p>
          <a:p>
            <a:pPr lvl="1"/>
            <a:r>
              <a:rPr lang="zh-CN" altLang="en-US" dirty="0"/>
              <a:t>例如八数码问题</a:t>
            </a: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133600" y="114300"/>
          <a:ext cx="1524000" cy="13140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81000" y="18669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69572" y="36195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286000" y="18669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343400" y="18669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6096000" y="36195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6781800" y="7620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 flipH="1">
            <a:off x="1676400" y="15621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895600" y="1562100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657600" y="1562100"/>
            <a:ext cx="12192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2180823" y="36195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4114800" y="36195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 flipH="1">
            <a:off x="1524000" y="3238500"/>
            <a:ext cx="9144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6" idx="0"/>
          </p:cNvCxnSpPr>
          <p:nvPr/>
        </p:nvCxnSpPr>
        <p:spPr>
          <a:xfrm>
            <a:off x="2895600" y="3238500"/>
            <a:ext cx="47223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657600" y="3238500"/>
            <a:ext cx="685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810000" y="3238500"/>
            <a:ext cx="26670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2796862" y="53340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4980904" y="53340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/>
          </p:nvPr>
        </p:nvGraphicFramePr>
        <p:xfrm>
          <a:off x="7162800" y="5401257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5" name="Straight Arrow Connector 34"/>
          <p:cNvCxnSpPr/>
          <p:nvPr/>
        </p:nvCxnSpPr>
        <p:spPr>
          <a:xfrm flipH="1">
            <a:off x="3810000" y="50292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029200" y="5029200"/>
            <a:ext cx="3048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5638800" y="5029200"/>
            <a:ext cx="1981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1566" y="56388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八数码：初始状态和部分搜索过程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7010400" y="2234416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目标状态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4581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" y="228601"/>
            <a:ext cx="7467599" cy="62478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/>
              <a:t>void </a:t>
            </a:r>
            <a:r>
              <a:rPr lang="en-US" altLang="zh-CN" sz="2000" dirty="0" err="1"/>
              <a:t>BSMSolver</a:t>
            </a:r>
            <a:r>
              <a:rPr lang="en-US" altLang="zh-CN" sz="2000" dirty="0"/>
              <a:t>::solve(){</a:t>
            </a:r>
          </a:p>
          <a:p>
            <a:r>
              <a:rPr lang="en-US" altLang="zh-CN" sz="2000" dirty="0"/>
              <a:t>    stack&lt;</a:t>
            </a:r>
            <a:r>
              <a:rPr lang="en-US" altLang="zh-CN" sz="2000" dirty="0" err="1"/>
              <a:t>BSMNode</a:t>
            </a:r>
            <a:r>
              <a:rPr lang="en-US" altLang="zh-CN" sz="2000" dirty="0"/>
              <a:t>&gt; nodes;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BSMNode</a:t>
            </a:r>
            <a:r>
              <a:rPr lang="en-US" altLang="zh-CN" sz="2000" dirty="0"/>
              <a:t>  n0(this-&gt;_</a:t>
            </a:r>
            <a:r>
              <a:rPr lang="en-US" altLang="zh-CN" sz="2000" dirty="0" err="1"/>
              <a:t>num</a:t>
            </a:r>
            <a:r>
              <a:rPr lang="en-US" altLang="zh-CN" sz="2000" dirty="0"/>
              <a:t>);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FF0000"/>
                </a:solidFill>
              </a:rPr>
              <a:t>vector&lt;</a:t>
            </a:r>
            <a:r>
              <a:rPr lang="en-US" altLang="zh-CN" sz="2000" dirty="0" err="1">
                <a:solidFill>
                  <a:srgbClr val="FF0000"/>
                </a:solidFill>
              </a:rPr>
              <a:t>queenstate</a:t>
            </a:r>
            <a:r>
              <a:rPr lang="en-US" altLang="zh-CN" sz="2000" dirty="0">
                <a:solidFill>
                  <a:srgbClr val="FF0000"/>
                </a:solidFill>
              </a:rPr>
              <a:t>&gt; </a:t>
            </a:r>
            <a:r>
              <a:rPr lang="en-US" altLang="zh-CN" sz="2000" dirty="0" err="1">
                <a:solidFill>
                  <a:srgbClr val="FF0000"/>
                </a:solidFill>
              </a:rPr>
              <a:t>existedNodes</a:t>
            </a:r>
            <a:r>
              <a:rPr lang="en-US" altLang="zh-CN" sz="2000" dirty="0">
                <a:solidFill>
                  <a:srgbClr val="FF0000"/>
                </a:solidFill>
              </a:rPr>
              <a:t>; //vector</a:t>
            </a:r>
            <a:r>
              <a:rPr lang="zh-CN" altLang="en-US" sz="2000" dirty="0">
                <a:solidFill>
                  <a:srgbClr val="FF0000"/>
                </a:solidFill>
              </a:rPr>
              <a:t>为动态数组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    </a:t>
            </a:r>
            <a:r>
              <a:rPr lang="en-US" altLang="zh-CN" sz="2000" dirty="0" err="1">
                <a:solidFill>
                  <a:srgbClr val="FF0000"/>
                </a:solidFill>
              </a:rPr>
              <a:t>nodes.push</a:t>
            </a:r>
            <a:r>
              <a:rPr lang="en-US" altLang="zh-CN" sz="2000" dirty="0">
                <a:solidFill>
                  <a:srgbClr val="FF0000"/>
                </a:solidFill>
              </a:rPr>
              <a:t>(n0);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 err="1">
                <a:solidFill>
                  <a:srgbClr val="FF0000"/>
                </a:solidFill>
              </a:rPr>
              <a:t>existedNodes</a:t>
            </a:r>
            <a:r>
              <a:rPr lang="en-US" altLang="zh-CN" sz="2000" dirty="0" err="1"/>
              <a:t>.pushback</a:t>
            </a:r>
            <a:r>
              <a:rPr lang="en-US" altLang="zh-CN" sz="2000" dirty="0"/>
              <a:t>(n0)</a:t>
            </a:r>
          </a:p>
          <a:p>
            <a:r>
              <a:rPr lang="en-US" altLang="zh-CN" sz="2000" dirty="0"/>
              <a:t>    while(!</a:t>
            </a:r>
            <a:r>
              <a:rPr lang="en-US" altLang="zh-CN" sz="2000" dirty="0" err="1"/>
              <a:t>nodes.empty</a:t>
            </a:r>
            <a:r>
              <a:rPr lang="en-US" altLang="zh-CN" sz="2000" dirty="0"/>
              <a:t>()){</a:t>
            </a:r>
          </a:p>
          <a:p>
            <a:r>
              <a:rPr lang="en-US" altLang="zh-CN" sz="2000" dirty="0"/>
              <a:t>        </a:t>
            </a:r>
            <a:r>
              <a:rPr lang="en-US" altLang="zh-CN" sz="2000" dirty="0" err="1"/>
              <a:t>BSMNode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crntNode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nodes.top</a:t>
            </a:r>
            <a:r>
              <a:rPr lang="en-US" altLang="zh-CN" sz="2000" dirty="0"/>
              <a:t>();</a:t>
            </a:r>
          </a:p>
          <a:p>
            <a:r>
              <a:rPr lang="en-US" altLang="zh-CN" sz="2000" dirty="0"/>
              <a:t>        </a:t>
            </a:r>
            <a:r>
              <a:rPr lang="en-US" altLang="zh-CN" sz="2000" dirty="0" err="1"/>
              <a:t>nodes.pop</a:t>
            </a:r>
            <a:r>
              <a:rPr lang="en-US" altLang="zh-CN" sz="2000" dirty="0"/>
              <a:t>();</a:t>
            </a:r>
          </a:p>
          <a:p>
            <a:r>
              <a:rPr lang="en-US" altLang="zh-CN" sz="2000" dirty="0"/>
              <a:t>        </a:t>
            </a:r>
            <a:r>
              <a:rPr lang="en-US" altLang="zh-CN" sz="2000" dirty="0" err="1"/>
              <a:t>BSMState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st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crntNode.getState</a:t>
            </a:r>
            <a:r>
              <a:rPr lang="en-US" altLang="zh-CN" sz="2000" dirty="0"/>
              <a:t>();</a:t>
            </a:r>
          </a:p>
          <a:p>
            <a:r>
              <a:rPr lang="en-US" altLang="zh-CN" sz="2000" dirty="0"/>
              <a:t>        if(</a:t>
            </a:r>
            <a:r>
              <a:rPr lang="en-US" altLang="zh-CN" sz="2000" dirty="0" err="1"/>
              <a:t>st.isTarget</a:t>
            </a:r>
            <a:r>
              <a:rPr lang="en-US" altLang="zh-CN" sz="2000" dirty="0"/>
              <a:t>()){</a:t>
            </a:r>
          </a:p>
          <a:p>
            <a:r>
              <a:rPr lang="en-US" altLang="zh-CN" sz="2000" dirty="0"/>
              <a:t>              </a:t>
            </a:r>
            <a:r>
              <a:rPr lang="en-US" altLang="zh-CN" sz="2000" dirty="0" err="1"/>
              <a:t>printSolution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st</a:t>
            </a:r>
            <a:r>
              <a:rPr lang="en-US" altLang="zh-CN" sz="2000" dirty="0"/>
              <a:t>);</a:t>
            </a:r>
          </a:p>
          <a:p>
            <a:r>
              <a:rPr lang="en-US" altLang="zh-CN" sz="2000" dirty="0"/>
              <a:t>              break;</a:t>
            </a:r>
          </a:p>
          <a:p>
            <a:r>
              <a:rPr lang="en-US" altLang="zh-CN" sz="2000" dirty="0"/>
              <a:t>        }</a:t>
            </a:r>
          </a:p>
          <a:p>
            <a:r>
              <a:rPr lang="en-US" altLang="zh-CN" sz="2000" dirty="0"/>
              <a:t>       for (</a:t>
            </a:r>
            <a:r>
              <a:rPr lang="en-US" altLang="zh-CN" sz="2000" dirty="0">
                <a:solidFill>
                  <a:srgbClr val="FF0000"/>
                </a:solidFill>
              </a:rPr>
              <a:t>each child of </a:t>
            </a:r>
            <a:r>
              <a:rPr lang="en-US" altLang="zh-CN" sz="2000" dirty="0" err="1">
                <a:solidFill>
                  <a:srgbClr val="FF0000"/>
                </a:solidFill>
              </a:rPr>
              <a:t>crntNode.children</a:t>
            </a:r>
            <a:r>
              <a:rPr lang="en-US" altLang="zh-CN" sz="2000" dirty="0"/>
              <a:t>){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if(!</a:t>
            </a:r>
            <a:r>
              <a:rPr lang="en-US" altLang="zh-CN" sz="2000" dirty="0" err="1">
                <a:solidFill>
                  <a:srgbClr val="FF0000"/>
                </a:solidFill>
              </a:rPr>
              <a:t>checkifrepeat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</a:rPr>
              <a:t>existedNodes</a:t>
            </a:r>
            <a:r>
              <a:rPr lang="en-US" altLang="zh-CN" sz="2000" dirty="0">
                <a:solidFill>
                  <a:srgbClr val="FF0000"/>
                </a:solidFill>
              </a:rPr>
              <a:t>, child)){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	       </a:t>
            </a:r>
            <a:r>
              <a:rPr lang="en-US" altLang="zh-CN" sz="2000" dirty="0" err="1">
                <a:solidFill>
                  <a:srgbClr val="FF0000"/>
                </a:solidFill>
              </a:rPr>
              <a:t>existedNodes.pushback</a:t>
            </a:r>
            <a:r>
              <a:rPr lang="en-US" altLang="zh-CN" sz="2000" dirty="0">
                <a:solidFill>
                  <a:srgbClr val="FF0000"/>
                </a:solidFill>
              </a:rPr>
              <a:t>(child);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	       </a:t>
            </a:r>
            <a:r>
              <a:rPr lang="en-US" altLang="zh-CN" sz="2000" dirty="0" err="1">
                <a:solidFill>
                  <a:srgbClr val="FF0000"/>
                </a:solidFill>
              </a:rPr>
              <a:t>nodes.push</a:t>
            </a:r>
            <a:r>
              <a:rPr lang="en-US" altLang="zh-CN" sz="2000" dirty="0">
                <a:solidFill>
                  <a:srgbClr val="FF0000"/>
                </a:solidFill>
              </a:rPr>
              <a:t>(child)	                 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                }</a:t>
            </a:r>
          </a:p>
          <a:p>
            <a:r>
              <a:rPr lang="en-US" altLang="zh-CN" sz="2000" dirty="0"/>
              <a:t>        }}</a:t>
            </a:r>
          </a:p>
        </p:txBody>
      </p:sp>
    </p:spTree>
    <p:extLst>
      <p:ext uri="{BB962C8B-B14F-4D97-AF65-F5344CB8AC3E}">
        <p14:creationId xmlns:p14="http://schemas.microsoft.com/office/powerpoint/2010/main" val="7998781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重复节点的判断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如何进行两个节点状态之间的比较</a:t>
            </a:r>
            <a:endParaRPr lang="en-US" altLang="zh-CN" dirty="0"/>
          </a:p>
          <a:p>
            <a:pPr lvl="1"/>
            <a:r>
              <a:rPr lang="zh-CN" altLang="en-US" dirty="0"/>
              <a:t>大部分问题，比较容易，逐一比较状态的属性即可</a:t>
            </a:r>
            <a:endParaRPr lang="en-US" altLang="zh-CN" dirty="0"/>
          </a:p>
          <a:p>
            <a:pPr lvl="1"/>
            <a:r>
              <a:rPr lang="zh-CN" altLang="en-US" dirty="0"/>
              <a:t>部分问题，状态描述比较复杂，需要选择适当的方法或采用适当编码技术</a:t>
            </a:r>
            <a:endParaRPr lang="en-US" altLang="zh-CN" dirty="0"/>
          </a:p>
          <a:p>
            <a:r>
              <a:rPr lang="zh-CN" altLang="en-US" dirty="0"/>
              <a:t>如何确定哪些节点需要比较</a:t>
            </a:r>
            <a:endParaRPr lang="en-US" altLang="zh-CN" dirty="0"/>
          </a:p>
          <a:p>
            <a:pPr lvl="1"/>
            <a:r>
              <a:rPr lang="zh-CN" altLang="en-US" dirty="0"/>
              <a:t>对于状态空间小的问题，比较效率影响不大</a:t>
            </a:r>
            <a:endParaRPr lang="en-US" altLang="zh-CN" dirty="0"/>
          </a:p>
          <a:p>
            <a:pPr lvl="1"/>
            <a:r>
              <a:rPr lang="zh-CN" altLang="en-US" dirty="0"/>
              <a:t>状态空间大，比较效率非常重要，尽可能避免不必要的比较</a:t>
            </a:r>
            <a:endParaRPr lang="en-US" altLang="zh-CN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r>
              <a:rPr lang="zh-CN" altLang="en-US" dirty="0"/>
              <a:t>课后作业</a:t>
            </a:r>
            <a:r>
              <a:rPr lang="zh-CN" altLang="en-US" dirty="0" smtClean="0"/>
              <a:t>（小作业）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DFS</a:t>
            </a:r>
            <a:r>
              <a:rPr lang="zh-CN" altLang="en-US" dirty="0"/>
              <a:t>求解八数码问题，注意剔除重复节点</a:t>
            </a:r>
          </a:p>
        </p:txBody>
      </p:sp>
    </p:spTree>
    <p:extLst>
      <p:ext uri="{BB962C8B-B14F-4D97-AF65-F5344CB8AC3E}">
        <p14:creationId xmlns:p14="http://schemas.microsoft.com/office/powerpoint/2010/main" val="15750058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广度优先搜索（</a:t>
            </a:r>
            <a:r>
              <a:rPr lang="en-US" altLang="zh-CN" dirty="0"/>
              <a:t>BFS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节点的生成和扩展是按层次顺序进行的，处于搜索树较浅层次的节点总是先被检查和扩展</a:t>
            </a:r>
            <a:endParaRPr lang="en-US" altLang="zh-CN" dirty="0"/>
          </a:p>
          <a:p>
            <a:r>
              <a:rPr lang="zh-CN" altLang="en-US" dirty="0"/>
              <a:t>节点搜索的先后顺序与它们生成顺序一致</a:t>
            </a:r>
            <a:endParaRPr lang="en-US" altLang="zh-CN" dirty="0"/>
          </a:p>
          <a:p>
            <a:r>
              <a:rPr lang="zh-CN" altLang="en-US" dirty="0"/>
              <a:t>一般使用队列作为存储</a:t>
            </a:r>
            <a:endParaRPr 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662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Breadth-first search</a:t>
            </a:r>
          </a:p>
        </p:txBody>
      </p:sp>
      <p:pic>
        <p:nvPicPr>
          <p:cNvPr id="26628" name="图片 26627" descr="bfs-progress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170430"/>
            <a:ext cx="4267200" cy="2817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624715" y="5540980"/>
            <a:ext cx="1627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/>
              <a:t>状态队列：</a:t>
            </a:r>
            <a:r>
              <a:rPr kumimoji="1" lang="en-US" altLang="zh-CN" sz="2000" dirty="0"/>
              <a:t>A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3" name="内容占位符 83972" descr="bfs-progress2c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00300" y="2552065"/>
            <a:ext cx="4343400" cy="2800350"/>
          </a:xfrm>
        </p:spPr>
      </p:pic>
      <p:sp>
        <p:nvSpPr>
          <p:cNvPr id="83970" name="标题 8396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Breadth-first search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24715" y="5540980"/>
            <a:ext cx="3009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状态队列：</a:t>
            </a:r>
            <a:r>
              <a:rPr kumimoji="1" lang="en-US" altLang="zh-CN" sz="2800" dirty="0"/>
              <a:t> C, B, </a:t>
            </a:r>
            <a:r>
              <a:rPr kumimoji="1" lang="en-US" altLang="zh-CN" sz="2800" strike="dblStrike" dirty="0"/>
              <a:t>A</a:t>
            </a:r>
            <a:endParaRPr kumimoji="1" lang="zh-CN" altLang="en-US" sz="2800" strike="dblStrike" dirty="0"/>
          </a:p>
        </p:txBody>
      </p:sp>
      <p:sp>
        <p:nvSpPr>
          <p:cNvPr id="2" name="文本框 1"/>
          <p:cNvSpPr txBox="1"/>
          <p:nvPr/>
        </p:nvSpPr>
        <p:spPr>
          <a:xfrm>
            <a:off x="3770472" y="630217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front</a:t>
            </a:r>
            <a:endParaRPr kumimoji="1" lang="zh-CN" altLang="en-US" dirty="0"/>
          </a:p>
        </p:txBody>
      </p:sp>
      <p:cxnSp>
        <p:nvCxnSpPr>
          <p:cNvPr id="5" name="直线箭头连接符 4"/>
          <p:cNvCxnSpPr/>
          <p:nvPr/>
        </p:nvCxnSpPr>
        <p:spPr>
          <a:xfrm flipV="1">
            <a:off x="4038600" y="6064200"/>
            <a:ext cx="0" cy="237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5" name="图片 81924" descr="bfs-progress3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795" y="2275205"/>
            <a:ext cx="4343400" cy="2855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22" name="标题 8192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Breadth-first search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1000" y="5540980"/>
            <a:ext cx="3719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状态队列：</a:t>
            </a:r>
            <a:r>
              <a:rPr kumimoji="1" lang="en-US" altLang="zh-CN" sz="2800" dirty="0"/>
              <a:t> E, D, C, </a:t>
            </a:r>
            <a:r>
              <a:rPr kumimoji="1" lang="en-US" altLang="zh-CN" sz="2800" strike="dblStrike" dirty="0"/>
              <a:t>B</a:t>
            </a:r>
            <a:r>
              <a:rPr kumimoji="1" lang="en-US" altLang="zh-CN" sz="2800" dirty="0"/>
              <a:t>, </a:t>
            </a:r>
            <a:r>
              <a:rPr kumimoji="1" lang="en-US" altLang="zh-CN" sz="2800" strike="dblStrike" dirty="0"/>
              <a:t>A</a:t>
            </a:r>
            <a:endParaRPr kumimoji="1" lang="zh-CN" altLang="en-US" sz="2800" strike="dblStrike" dirty="0"/>
          </a:p>
        </p:txBody>
      </p:sp>
      <p:sp>
        <p:nvSpPr>
          <p:cNvPr id="6" name="文本框 5"/>
          <p:cNvSpPr txBox="1"/>
          <p:nvPr/>
        </p:nvSpPr>
        <p:spPr>
          <a:xfrm>
            <a:off x="2932272" y="630217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front</a:t>
            </a:r>
            <a:endParaRPr kumimoji="1" lang="zh-CN" altLang="en-US" dirty="0"/>
          </a:p>
        </p:txBody>
      </p:sp>
      <p:cxnSp>
        <p:nvCxnSpPr>
          <p:cNvPr id="7" name="直线箭头连接符 6"/>
          <p:cNvCxnSpPr/>
          <p:nvPr/>
        </p:nvCxnSpPr>
        <p:spPr>
          <a:xfrm flipV="1">
            <a:off x="3200400" y="6064200"/>
            <a:ext cx="0" cy="237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368600" y="5540980"/>
            <a:ext cx="477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状态队列：</a:t>
            </a:r>
            <a:r>
              <a:rPr kumimoji="1" lang="en-US" altLang="zh-CN" sz="2800" dirty="0"/>
              <a:t> G, F, E, D, </a:t>
            </a:r>
            <a:r>
              <a:rPr kumimoji="1" lang="en-US" altLang="zh-CN" sz="2800" strike="dblStrike" dirty="0"/>
              <a:t>C, B</a:t>
            </a:r>
            <a:r>
              <a:rPr kumimoji="1" lang="en-US" altLang="zh-CN" sz="2800" dirty="0"/>
              <a:t>, </a:t>
            </a:r>
            <a:r>
              <a:rPr kumimoji="1" lang="en-US" altLang="zh-CN" sz="2800" strike="dblStrike" dirty="0"/>
              <a:t>A</a:t>
            </a:r>
            <a:endParaRPr kumimoji="1" lang="zh-CN" altLang="en-US" sz="2800" strike="dblStrike" dirty="0"/>
          </a:p>
        </p:txBody>
      </p:sp>
      <p:sp>
        <p:nvSpPr>
          <p:cNvPr id="9" name="文本框 8"/>
          <p:cNvSpPr txBox="1"/>
          <p:nvPr/>
        </p:nvSpPr>
        <p:spPr>
          <a:xfrm>
            <a:off x="7171812" y="630217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front</a:t>
            </a:r>
            <a:endParaRPr kumimoji="1" lang="zh-CN" altLang="en-US" dirty="0"/>
          </a:p>
        </p:txBody>
      </p:sp>
      <p:cxnSp>
        <p:nvCxnSpPr>
          <p:cNvPr id="10" name="直线箭头连接符 9"/>
          <p:cNvCxnSpPr/>
          <p:nvPr/>
        </p:nvCxnSpPr>
        <p:spPr>
          <a:xfrm flipV="1">
            <a:off x="7439940" y="6064200"/>
            <a:ext cx="0" cy="237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9" name="图片 82948" descr="bfs-progress4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2235835"/>
            <a:ext cx="4648200" cy="278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6" name="标题 8294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Breadth-first search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252565" y="5320050"/>
            <a:ext cx="477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状态队列：</a:t>
            </a:r>
            <a:r>
              <a:rPr kumimoji="1" lang="en-US" altLang="zh-CN" sz="2800" dirty="0"/>
              <a:t> G, F, E, D, </a:t>
            </a:r>
            <a:r>
              <a:rPr kumimoji="1" lang="en-US" altLang="zh-CN" sz="2800" strike="dblStrike" dirty="0"/>
              <a:t>C, B</a:t>
            </a:r>
            <a:r>
              <a:rPr kumimoji="1" lang="en-US" altLang="zh-CN" sz="2800" dirty="0"/>
              <a:t>, </a:t>
            </a:r>
            <a:r>
              <a:rPr kumimoji="1" lang="en-US" altLang="zh-CN" sz="2800" strike="dblStrike" dirty="0"/>
              <a:t>A</a:t>
            </a:r>
            <a:endParaRPr kumimoji="1" lang="zh-CN" altLang="en-US" sz="2800" strike="dblStrike" dirty="0"/>
          </a:p>
        </p:txBody>
      </p:sp>
      <p:sp>
        <p:nvSpPr>
          <p:cNvPr id="2" name="矩形 1"/>
          <p:cNvSpPr/>
          <p:nvPr/>
        </p:nvSpPr>
        <p:spPr>
          <a:xfrm>
            <a:off x="4150413" y="5843270"/>
            <a:ext cx="2555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/>
              <a:t>G, F, E, </a:t>
            </a:r>
            <a:r>
              <a:rPr kumimoji="1" lang="en-US" altLang="zh-CN" sz="2800" strike="dblStrike" dirty="0"/>
              <a:t>D, C, B</a:t>
            </a:r>
            <a:r>
              <a:rPr kumimoji="1" lang="en-US" altLang="zh-CN" sz="2800" dirty="0"/>
              <a:t>, </a:t>
            </a:r>
            <a:r>
              <a:rPr kumimoji="1" lang="en-US" altLang="zh-CN" sz="2800" strike="dblStrike" dirty="0"/>
              <a:t>A</a:t>
            </a:r>
            <a:endParaRPr kumimoji="1" lang="zh-CN" altLang="en-US" sz="2800" strike="dblStrike" dirty="0"/>
          </a:p>
        </p:txBody>
      </p:sp>
      <p:sp>
        <p:nvSpPr>
          <p:cNvPr id="9" name="矩形 8"/>
          <p:cNvSpPr/>
          <p:nvPr/>
        </p:nvSpPr>
        <p:spPr>
          <a:xfrm>
            <a:off x="4150413" y="6294152"/>
            <a:ext cx="2555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/>
              <a:t>G, F, </a:t>
            </a:r>
            <a:r>
              <a:rPr kumimoji="1" lang="en-US" altLang="zh-CN" sz="2800" strike="dblStrike" dirty="0"/>
              <a:t>E, D, C, B</a:t>
            </a:r>
            <a:r>
              <a:rPr kumimoji="1" lang="en-US" altLang="zh-CN" sz="2800" dirty="0"/>
              <a:t>, </a:t>
            </a:r>
            <a:r>
              <a:rPr kumimoji="1" lang="en-US" altLang="zh-CN" sz="2800" strike="dblStrike" dirty="0"/>
              <a:t>A</a:t>
            </a:r>
            <a:endParaRPr kumimoji="1" lang="zh-CN" altLang="en-US" sz="2800" strike="dblStrike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队列</a:t>
            </a:r>
            <a:r>
              <a:rPr kumimoji="1" lang="en-US" altLang="zh-CN" dirty="0"/>
              <a:t> queue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675" y="2667000"/>
            <a:ext cx="52006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297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队列 </a:t>
            </a:r>
            <a:r>
              <a:rPr kumimoji="1" lang="en-US" altLang="zh-CN" dirty="0"/>
              <a:t>queue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特点：先进先出 </a:t>
            </a:r>
            <a:r>
              <a:rPr kumimoji="1" lang="en-US" altLang="zh-CN" dirty="0"/>
              <a:t>first in first out (FIFO)</a:t>
            </a:r>
          </a:p>
          <a:p>
            <a:r>
              <a:rPr kumimoji="1" lang="zh-CN" altLang="en-US" dirty="0"/>
              <a:t>操作</a:t>
            </a:r>
          </a:p>
          <a:p>
            <a:pPr lvl="1"/>
            <a:r>
              <a:rPr kumimoji="1" lang="en-US" altLang="zh-CN" dirty="0" err="1"/>
              <a:t>enqueue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dequeue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667000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172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广度优先搜索算法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00600"/>
            <a:ext cx="8229600" cy="1325563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/>
              <a:t>与</a:t>
            </a:r>
            <a:r>
              <a:rPr lang="en-US" altLang="zh-CN" dirty="0"/>
              <a:t>DFS</a:t>
            </a:r>
            <a:r>
              <a:rPr lang="zh-CN" altLang="en-US" dirty="0"/>
              <a:t>算法非常相似，所不同的只是使用队列作为节点的存储结构</a:t>
            </a:r>
            <a:endParaRPr lang="en-US" altLang="zh-CN" dirty="0"/>
          </a:p>
          <a:p>
            <a:r>
              <a:rPr lang="zh-CN" altLang="en-US" dirty="0"/>
              <a:t>搜索按节点生成的层次进行</a:t>
            </a:r>
            <a:endParaRPr lang="en-US" altLang="zh-CN" dirty="0"/>
          </a:p>
          <a:p>
            <a:r>
              <a:rPr lang="zh-CN" altLang="en-US" dirty="0"/>
              <a:t>保证搜索到的结果具有最短的搜索路径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295400"/>
            <a:ext cx="8382000" cy="3046988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1. </a:t>
            </a:r>
            <a:r>
              <a:rPr lang="zh-CN" altLang="en-US" sz="2400" dirty="0"/>
              <a:t>选择初始节点并保存到队列的尾部</a:t>
            </a:r>
            <a:endParaRPr lang="en-US" altLang="zh-CN" sz="2400" dirty="0"/>
          </a:p>
          <a:p>
            <a:r>
              <a:rPr lang="en-US" sz="2400" dirty="0"/>
              <a:t>2. </a:t>
            </a:r>
            <a:r>
              <a:rPr lang="zh-CN" altLang="en-US" sz="2400" dirty="0"/>
              <a:t>判断队列是否为空，当队列为空时，停止搜索，否则从队列的头部中取出节点</a:t>
            </a:r>
            <a:r>
              <a:rPr lang="en-US" altLang="zh-CN" sz="2400" dirty="0"/>
              <a:t>h</a:t>
            </a:r>
            <a:r>
              <a:rPr lang="zh-CN" altLang="en-US" sz="2400" dirty="0"/>
              <a:t>（即出队操作）</a:t>
            </a:r>
            <a:endParaRPr lang="en-US" altLang="zh-CN" sz="2400" dirty="0"/>
          </a:p>
          <a:p>
            <a:r>
              <a:rPr lang="en-US" sz="2400" dirty="0"/>
              <a:t>3. </a:t>
            </a:r>
            <a:r>
              <a:rPr lang="zh-CN" altLang="en-US" sz="2400" dirty="0"/>
              <a:t>检查</a:t>
            </a:r>
            <a:r>
              <a:rPr lang="en-US" altLang="zh-CN" sz="2400" dirty="0"/>
              <a:t>h</a:t>
            </a:r>
            <a:r>
              <a:rPr lang="zh-CN" altLang="en-US" sz="2400" dirty="0"/>
              <a:t>是否为目标节点。如果</a:t>
            </a:r>
            <a:r>
              <a:rPr lang="en-US" altLang="zh-CN" sz="2400" dirty="0"/>
              <a:t>h</a:t>
            </a:r>
            <a:r>
              <a:rPr lang="zh-CN" altLang="en-US" sz="2400" dirty="0"/>
              <a:t>是目标节点，则输出结果。如果要得到其他解则转到第</a:t>
            </a:r>
            <a:r>
              <a:rPr lang="en-US" altLang="zh-CN" sz="2400" dirty="0"/>
              <a:t>2</a:t>
            </a:r>
            <a:r>
              <a:rPr lang="zh-CN" altLang="en-US" sz="2400" dirty="0"/>
              <a:t>步，否则终止搜索</a:t>
            </a:r>
            <a:endParaRPr lang="en-US" altLang="zh-CN" sz="2400" dirty="0"/>
          </a:p>
          <a:p>
            <a:r>
              <a:rPr lang="en-US" sz="2400" dirty="0"/>
              <a:t>4. </a:t>
            </a:r>
            <a:r>
              <a:rPr lang="zh-CN" altLang="en-US" sz="2400" dirty="0"/>
              <a:t>如果</a:t>
            </a:r>
            <a:r>
              <a:rPr lang="en-US" altLang="zh-CN" sz="2400" dirty="0"/>
              <a:t>h</a:t>
            </a:r>
            <a:r>
              <a:rPr lang="zh-CN" altLang="en-US" sz="2400" dirty="0"/>
              <a:t>不是目标节点，则扩展该节点，将所生成的新节点保存到队列的尾部（即入队操作）</a:t>
            </a:r>
            <a:endParaRPr lang="en-US" altLang="zh-CN" sz="2400" dirty="0"/>
          </a:p>
          <a:p>
            <a:r>
              <a:rPr lang="en-US" altLang="zh-CN" sz="2400" dirty="0"/>
              <a:t>5. </a:t>
            </a:r>
            <a:r>
              <a:rPr lang="zh-CN" altLang="en-US" sz="2400" dirty="0"/>
              <a:t>转到第</a:t>
            </a:r>
            <a:r>
              <a:rPr lang="en-US" altLang="zh-CN" sz="2400" dirty="0"/>
              <a:t>2</a:t>
            </a:r>
            <a:r>
              <a:rPr lang="zh-CN" altLang="en-US" sz="2400" dirty="0"/>
              <a:t>步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4105897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八皇后问题的</a:t>
            </a:r>
            <a:r>
              <a:rPr lang="en-US" altLang="zh-CN" dirty="0"/>
              <a:t>BFS</a:t>
            </a:r>
            <a:r>
              <a:rPr lang="zh-CN" altLang="en-US" dirty="0"/>
              <a:t>解法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与八皇后的</a:t>
            </a:r>
            <a:r>
              <a:rPr lang="en-US" altLang="zh-CN" dirty="0"/>
              <a:t>DFS</a:t>
            </a:r>
            <a:r>
              <a:rPr lang="zh-CN" altLang="en-US" dirty="0"/>
              <a:t>算法非常类似，所不同的是节点的存取放式 </a:t>
            </a:r>
          </a:p>
          <a:p>
            <a:endParaRPr lang="zh-CN" altLang="en-US" dirty="0"/>
          </a:p>
          <a:p>
            <a:r>
              <a:rPr lang="fr-FR" altLang="zh-CN" dirty="0" err="1"/>
              <a:t> </a:t>
            </a:r>
            <a:endParaRPr lang="en-US" altLang="zh-CN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582" y="228600"/>
            <a:ext cx="6905706" cy="55626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267200" y="14478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怎么修改为广度优先？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90600" y="1600200"/>
            <a:ext cx="1676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62000" y="1828800"/>
            <a:ext cx="1143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43000" y="4648200"/>
            <a:ext cx="1143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参考以下关于队列的实现，修改</a:t>
            </a:r>
            <a:r>
              <a:rPr lang="en-US" altLang="zh-CN" dirty="0"/>
              <a:t>QueensDFS-ex.cpp</a:t>
            </a:r>
            <a:r>
              <a:rPr lang="zh-CN" altLang="en-US" dirty="0"/>
              <a:t>。用</a:t>
            </a:r>
            <a:r>
              <a:rPr lang="en-US" altLang="zh-CN" dirty="0"/>
              <a:t>BFS</a:t>
            </a:r>
            <a:r>
              <a:rPr lang="zh-CN" altLang="en-US" dirty="0"/>
              <a:t>来解决</a:t>
            </a:r>
            <a:r>
              <a:rPr lang="en-US" altLang="zh-CN" dirty="0"/>
              <a:t>8</a:t>
            </a:r>
            <a:r>
              <a:rPr lang="zh-CN" altLang="en-US" dirty="0"/>
              <a:t>皇后问题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笑脸 3">
            <a:extLst>
              <a:ext uri="{FF2B5EF4-FFF2-40B4-BE49-F238E27FC236}">
                <a16:creationId xmlns="" xmlns:a16="http://schemas.microsoft.com/office/drawing/2014/main" id="{FFCC12A7-6F8E-324A-BA1A-95DD8C6C468B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48" y="3352800"/>
            <a:ext cx="414337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432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八皇后问题</a:t>
            </a:r>
            <a:r>
              <a:rPr lang="en-US" altLang="zh-CN" dirty="0"/>
              <a:t>BFS</a:t>
            </a:r>
            <a:r>
              <a:rPr lang="zh-CN" altLang="en-US" dirty="0"/>
              <a:t>算法分析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分析队列</a:t>
            </a:r>
            <a:r>
              <a:rPr dirty="0">
                <a:solidFill>
                  <a:srgbClr val="FF0000"/>
                </a:solidFill>
                <a:sym typeface="+mn-ea"/>
              </a:rPr>
              <a:t>queue</a:t>
            </a:r>
            <a:r>
              <a:rPr lang="en-US" dirty="0">
                <a:solidFill>
                  <a:srgbClr val="FF0000"/>
                </a:solidFill>
                <a:sym typeface="+mn-ea"/>
              </a:rPr>
              <a:t>[MAX_NODES]</a:t>
            </a:r>
            <a:r>
              <a:rPr lang="zh-CN" altLang="en-US" dirty="0"/>
              <a:t>的大小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可见与</a:t>
            </a:r>
            <a:r>
              <a:rPr lang="en-US" altLang="zh-CN" dirty="0"/>
              <a:t>DFS</a:t>
            </a:r>
            <a:r>
              <a:rPr lang="zh-CN" altLang="en-US" dirty="0"/>
              <a:t>相比，</a:t>
            </a:r>
            <a:r>
              <a:rPr lang="en-US" altLang="zh-CN" dirty="0"/>
              <a:t>BFS</a:t>
            </a:r>
            <a:r>
              <a:rPr lang="zh-CN" altLang="en-US" dirty="0"/>
              <a:t>使用的</a:t>
            </a:r>
            <a:r>
              <a:rPr lang="zh-CN" altLang="en-US" dirty="0">
                <a:solidFill>
                  <a:srgbClr val="FF0000"/>
                </a:solidFill>
              </a:rPr>
              <a:t>内存空间较大</a:t>
            </a:r>
            <a:r>
              <a:rPr lang="zh-CN" altLang="en-US" dirty="0"/>
              <a:t>，因为对各层节点都同时展开</a:t>
            </a:r>
          </a:p>
          <a:p>
            <a:pPr lvl="1"/>
            <a:r>
              <a:rPr lang="en-US" altLang="zh-CN" dirty="0"/>
              <a:t>DFS</a:t>
            </a:r>
            <a:r>
              <a:rPr lang="zh-CN" altLang="en-US" dirty="0"/>
              <a:t>：空间复杂度</a:t>
            </a:r>
            <a:r>
              <a:rPr lang="en-US" altLang="zh-CN" dirty="0"/>
              <a:t>o(d)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为搜索树的深度</a:t>
            </a:r>
            <a:endParaRPr lang="en-US" altLang="zh-CN" dirty="0"/>
          </a:p>
          <a:p>
            <a:pPr lvl="1"/>
            <a:r>
              <a:rPr lang="en-US" altLang="zh-CN" dirty="0"/>
              <a:t>BFS</a:t>
            </a:r>
            <a:r>
              <a:rPr lang="zh-CN" altLang="en-US" dirty="0"/>
              <a:t>：空间复杂度</a:t>
            </a:r>
            <a:r>
              <a:rPr lang="en-US" altLang="zh-CN" dirty="0"/>
              <a:t>o(n)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为搜索树的节点个数</a:t>
            </a:r>
            <a:endParaRPr lang="en-US" altLang="zh-CN" dirty="0"/>
          </a:p>
          <a:p>
            <a:r>
              <a:rPr lang="zh-CN" altLang="en-US" dirty="0"/>
              <a:t>对于复杂、状态空间大的问题，使用</a:t>
            </a:r>
            <a:r>
              <a:rPr lang="en-US" altLang="zh-CN" dirty="0"/>
              <a:t>BFS</a:t>
            </a:r>
            <a:r>
              <a:rPr lang="zh-CN" altLang="en-US" dirty="0"/>
              <a:t>时有可能由于</a:t>
            </a:r>
            <a:r>
              <a:rPr lang="zh-CN" altLang="en-US" dirty="0">
                <a:solidFill>
                  <a:srgbClr val="FF0000"/>
                </a:solidFill>
              </a:rPr>
              <a:t>组合爆炸</a:t>
            </a:r>
            <a:r>
              <a:rPr lang="zh-CN" altLang="en-US" dirty="0"/>
              <a:t>而产生大量的内存消耗，以致超出计算平台资源的限制，引起搜索失败</a:t>
            </a:r>
            <a:endParaRPr lang="en-US" dirty="0"/>
          </a:p>
        </p:txBody>
      </p:sp>
      <p:sp>
        <p:nvSpPr>
          <p:cNvPr id="4" name="笑脸 3">
            <a:extLst>
              <a:ext uri="{FF2B5EF4-FFF2-40B4-BE49-F238E27FC236}">
                <a16:creationId xmlns="" xmlns:a16="http://schemas.microsoft.com/office/drawing/2014/main" id="{9D0272FE-8376-B84C-837A-8BBED5520182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362200" y="3216850"/>
            <a:ext cx="46378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600" dirty="0"/>
              <a:t>控制</a:t>
            </a:r>
            <a:r>
              <a:rPr kumimoji="1" lang="en-US" altLang="zh-CN" sz="3600" dirty="0"/>
              <a:t>BFS</a:t>
            </a:r>
            <a:r>
              <a:rPr kumimoji="1" lang="zh-CN" altLang="en-US" sz="3600" dirty="0"/>
              <a:t>的搜索深度？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35334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课堂练习：八数码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DFS / BFS</a:t>
            </a:r>
            <a:r>
              <a:rPr kumimoji="1" lang="zh-CN" altLang="en-US" dirty="0"/>
              <a:t>，在多少深度找到</a:t>
            </a:r>
            <a:r>
              <a:rPr kumimoji="1" lang="en-US" altLang="zh-CN" dirty="0"/>
              <a:t>solution?</a:t>
            </a:r>
            <a:endParaRPr kumimoji="1" lang="zh-CN" altLang="en-US" dirty="0"/>
          </a:p>
          <a:p>
            <a:endParaRPr kumimoji="1" lang="zh-CN" altLang="en-US" dirty="0"/>
          </a:p>
        </p:txBody>
      </p:sp>
      <p:graphicFrame>
        <p:nvGraphicFramePr>
          <p:cNvPr id="4" name="Table 1"/>
          <p:cNvGraphicFramePr>
            <a:graphicFrameLocks noGrp="1"/>
          </p:cNvGraphicFramePr>
          <p:nvPr/>
        </p:nvGraphicFramePr>
        <p:xfrm>
          <a:off x="1828800" y="3622860"/>
          <a:ext cx="1524000" cy="13140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8"/>
          <p:cNvGraphicFramePr>
            <a:graphicFrameLocks noGrp="1"/>
          </p:cNvGraphicFramePr>
          <p:nvPr/>
        </p:nvGraphicFramePr>
        <p:xfrm>
          <a:off x="5334000" y="3505200"/>
          <a:ext cx="1524000" cy="142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40"/>
          <p:cNvSpPr txBox="1"/>
          <p:nvPr/>
        </p:nvSpPr>
        <p:spPr>
          <a:xfrm>
            <a:off x="5638800" y="519318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目标状态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TextBox 40"/>
          <p:cNvSpPr txBox="1"/>
          <p:nvPr/>
        </p:nvSpPr>
        <p:spPr>
          <a:xfrm>
            <a:off x="1257300" y="5119448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prstClr val="black"/>
                </a:solidFill>
              </a:rPr>
              <a:t>初始状态</a:t>
            </a:r>
            <a:r>
              <a:rPr lang="zh-CN" altLang="en-US">
                <a:solidFill>
                  <a:prstClr val="black"/>
                </a:solidFill>
              </a:rPr>
              <a:t>（随机分配）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3868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思考，如何设计一个网络爬虫？</a:t>
            </a:r>
          </a:p>
        </p:txBody>
      </p:sp>
      <p:sp>
        <p:nvSpPr>
          <p:cNvPr id="4" name="矩形 3"/>
          <p:cNvSpPr/>
          <p:nvPr/>
        </p:nvSpPr>
        <p:spPr>
          <a:xfrm>
            <a:off x="914400" y="2819400"/>
            <a:ext cx="5410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&lt;a href="https://www.ruc.edu.cn/scienceandtechnology"&gt;理工学部&lt;/a&gt;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15000"/>
            <a:ext cx="68788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拓展：利用大模型辅助，开发一个爬取特定网站网页的爬虫程序，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	</a:t>
            </a:r>
            <a:r>
              <a:rPr lang="zh-CN" altLang="en-US" b="1" dirty="0" smtClean="0">
                <a:solidFill>
                  <a:srgbClr val="FF0000"/>
                </a:solidFill>
              </a:rPr>
              <a:t>注意超级链接的关联。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　</a:t>
            </a:r>
            <a:r>
              <a:rPr lang="zh-CN" altLang="en-US" b="1" dirty="0" smtClean="0">
                <a:solidFill>
                  <a:srgbClr val="FF0000"/>
                </a:solidFill>
              </a:rPr>
              <a:t>　　快速实现，确定使用广搜算法。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92888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课堂练习：爬楼梯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爬楼梯，楼梯有</a:t>
            </a:r>
            <a:r>
              <a:rPr kumimoji="1" lang="en-US" altLang="zh-CN" dirty="0"/>
              <a:t>n</a:t>
            </a:r>
            <a:r>
              <a:rPr kumimoji="1" lang="zh-CN" altLang="en-US" dirty="0"/>
              <a:t>个台阶。每次只能往上爬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个或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个台阶。有几种不同的爬楼梯方案。</a:t>
            </a:r>
          </a:p>
        </p:txBody>
      </p:sp>
      <p:pic>
        <p:nvPicPr>
          <p:cNvPr id="15362" name="Picture 2" descr="tai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78163"/>
            <a:ext cx="33718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4667250" y="3581400"/>
            <a:ext cx="35623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r-IN" altLang="zh-CN" sz="2000" dirty="0" err="1"/>
              <a:t>n</a:t>
            </a:r>
            <a:r>
              <a:rPr lang="en-US" altLang="zh-CN" sz="2000" dirty="0"/>
              <a:t>=</a:t>
            </a:r>
            <a:r>
              <a:rPr lang="mr-IN" altLang="zh-CN" sz="2000" dirty="0"/>
              <a:t>1</a:t>
            </a:r>
            <a:r>
              <a:rPr lang="zh-CN" altLang="en-US" sz="2000" dirty="0"/>
              <a:t> </a:t>
            </a:r>
            <a:r>
              <a:rPr lang="zh-CN" altLang="en-US" sz="2000" dirty="0">
                <a:sym typeface="Wingdings"/>
              </a:rPr>
              <a:t></a:t>
            </a:r>
            <a:r>
              <a:rPr lang="en-US" altLang="zh-CN" sz="2000" dirty="0">
                <a:sym typeface="Wingdings"/>
              </a:rPr>
              <a:t> (1)</a:t>
            </a:r>
          </a:p>
          <a:p>
            <a:r>
              <a:rPr lang="en-US" altLang="zh-CN" sz="2000" dirty="0">
                <a:sym typeface="Wingdings"/>
              </a:rPr>
              <a:t>n=2  (1,1), (2)</a:t>
            </a:r>
          </a:p>
          <a:p>
            <a:r>
              <a:rPr lang="en-US" altLang="zh-CN" sz="2000" dirty="0">
                <a:sym typeface="Wingdings"/>
              </a:rPr>
              <a:t>n=4  (1, 1, 1, 1), (1, 1, 2), (2, 1, 1), (1, 2, 1), (2,2)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362930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4800" y="1305342"/>
            <a:ext cx="8686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/>
              <a:t>G=(V,E)</a:t>
            </a:r>
            <a:r>
              <a:rPr lang="zh-CN" altLang="en-US" sz="2800" dirty="0"/>
              <a:t>是一个带权有向图，把图中顶点集合</a:t>
            </a:r>
            <a:r>
              <a:rPr lang="en-US" altLang="zh-CN" sz="2800" dirty="0"/>
              <a:t>V</a:t>
            </a:r>
            <a:r>
              <a:rPr lang="zh-CN" altLang="en-US" sz="2800" dirty="0"/>
              <a:t>分成两组，第一组为已求出最短路径的顶点集合（用</a:t>
            </a:r>
            <a:r>
              <a:rPr lang="en-US" altLang="zh-CN" sz="2800" dirty="0"/>
              <a:t>S</a:t>
            </a:r>
            <a:r>
              <a:rPr lang="zh-CN" altLang="en-US" sz="2800" dirty="0"/>
              <a:t>表示，初始时</a:t>
            </a:r>
            <a:r>
              <a:rPr lang="en-US" altLang="zh-CN" sz="2800" dirty="0"/>
              <a:t>S</a:t>
            </a:r>
            <a:r>
              <a:rPr lang="zh-CN" altLang="en-US" sz="2800" dirty="0"/>
              <a:t>中只有一个源点，以后每求得一条最短路径 </a:t>
            </a:r>
            <a:r>
              <a:rPr lang="en-US" altLang="zh-CN" sz="2800" dirty="0"/>
              <a:t>, </a:t>
            </a:r>
            <a:r>
              <a:rPr lang="zh-CN" altLang="en-US" sz="2800" dirty="0"/>
              <a:t>就将加入到集合</a:t>
            </a:r>
            <a:r>
              <a:rPr lang="en-US" altLang="zh-CN" sz="2800" dirty="0"/>
              <a:t>S</a:t>
            </a:r>
            <a:r>
              <a:rPr lang="zh-CN" altLang="en-US" sz="2800" dirty="0"/>
              <a:t>中，直到全部顶点都加入到</a:t>
            </a:r>
            <a:r>
              <a:rPr lang="en-US" altLang="zh-CN" sz="2800" dirty="0"/>
              <a:t>S</a:t>
            </a:r>
            <a:r>
              <a:rPr lang="zh-CN" altLang="en-US" sz="2800" dirty="0"/>
              <a:t>中，算法就结束了），第二组为其余未确定最短路径的顶点集合（用</a:t>
            </a:r>
            <a:r>
              <a:rPr lang="en-US" altLang="zh-CN" sz="2800" dirty="0"/>
              <a:t>U</a:t>
            </a:r>
            <a:r>
              <a:rPr lang="zh-CN" altLang="en-US" sz="2800" dirty="0"/>
              <a:t>表示），按最短路径长度的递增次序依次把第二组的顶点加入</a:t>
            </a:r>
            <a:r>
              <a:rPr lang="en-US" altLang="zh-CN" sz="2800" dirty="0"/>
              <a:t>S</a:t>
            </a:r>
            <a:r>
              <a:rPr lang="zh-CN" altLang="en-US" sz="2800" dirty="0"/>
              <a:t>中。在加入的过程中，总保持从源点</a:t>
            </a:r>
            <a:r>
              <a:rPr lang="en-US" altLang="zh-CN" sz="2800" dirty="0"/>
              <a:t>v</a:t>
            </a:r>
            <a:r>
              <a:rPr lang="zh-CN" altLang="en-US" sz="2800" dirty="0"/>
              <a:t>到</a:t>
            </a:r>
            <a:r>
              <a:rPr lang="en-US" altLang="zh-CN" sz="2800" dirty="0"/>
              <a:t>S</a:t>
            </a:r>
            <a:r>
              <a:rPr lang="zh-CN" altLang="en-US" sz="2800" dirty="0"/>
              <a:t>中各顶点的最短路径长度不大于从源点</a:t>
            </a:r>
            <a:r>
              <a:rPr lang="en-US" altLang="zh-CN" sz="2800" dirty="0"/>
              <a:t>v</a:t>
            </a:r>
            <a:r>
              <a:rPr lang="zh-CN" altLang="en-US" sz="2800" dirty="0"/>
              <a:t>到</a:t>
            </a:r>
            <a:r>
              <a:rPr lang="en-US" altLang="zh-CN" sz="2800" dirty="0"/>
              <a:t>U</a:t>
            </a:r>
            <a:r>
              <a:rPr lang="zh-CN" altLang="en-US" sz="2800" dirty="0"/>
              <a:t>中任何顶点的最短路径长度。此外，每个顶点对应一个距离，</a:t>
            </a:r>
            <a:r>
              <a:rPr lang="en-US" altLang="zh-CN" sz="2800" dirty="0"/>
              <a:t>S</a:t>
            </a:r>
            <a:r>
              <a:rPr lang="zh-CN" altLang="en-US" sz="2800" dirty="0"/>
              <a:t>中的顶点的距离就是从</a:t>
            </a:r>
            <a:r>
              <a:rPr lang="en-US" altLang="zh-CN" sz="2800" dirty="0"/>
              <a:t>v</a:t>
            </a:r>
            <a:r>
              <a:rPr lang="zh-CN" altLang="en-US" sz="2800" dirty="0"/>
              <a:t>到此顶点的最短路径长度，</a:t>
            </a:r>
            <a:r>
              <a:rPr lang="en-US" altLang="zh-CN" sz="2800" dirty="0"/>
              <a:t>U</a:t>
            </a:r>
            <a:r>
              <a:rPr lang="zh-CN" altLang="en-US" sz="2800" dirty="0"/>
              <a:t>中的顶点的距离，是从</a:t>
            </a:r>
            <a:r>
              <a:rPr lang="en-US" altLang="zh-CN" sz="2800" dirty="0"/>
              <a:t>v</a:t>
            </a:r>
            <a:r>
              <a:rPr lang="zh-CN" altLang="en-US" sz="2800" dirty="0"/>
              <a:t>到此顶点只包括</a:t>
            </a:r>
            <a:r>
              <a:rPr lang="en-US" altLang="zh-CN" sz="2800" dirty="0"/>
              <a:t>S</a:t>
            </a:r>
            <a:r>
              <a:rPr lang="zh-CN" altLang="en-US" sz="2800" dirty="0"/>
              <a:t>中的顶点为中间顶点的当前最短路径长度。</a:t>
            </a:r>
          </a:p>
        </p:txBody>
      </p:sp>
      <p:sp>
        <p:nvSpPr>
          <p:cNvPr id="3" name="矩形 2"/>
          <p:cNvSpPr/>
          <p:nvPr/>
        </p:nvSpPr>
        <p:spPr>
          <a:xfrm>
            <a:off x="152400" y="457200"/>
            <a:ext cx="868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The </a:t>
            </a:r>
            <a:r>
              <a:rPr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dijkstra</a:t>
            </a:r>
            <a:r>
              <a:rPr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algorithm (</a:t>
            </a:r>
            <a:r>
              <a:rPr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选讲）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86741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4800" y="1305342"/>
            <a:ext cx="86868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a.</a:t>
            </a:r>
            <a:r>
              <a:rPr lang="zh-CN" altLang="en-US" sz="2800" dirty="0"/>
              <a:t>初始时，</a:t>
            </a:r>
            <a:r>
              <a:rPr lang="en-US" altLang="zh-CN" sz="2800" dirty="0"/>
              <a:t>S</a:t>
            </a:r>
            <a:r>
              <a:rPr lang="zh-CN" altLang="en-US" sz="2800" dirty="0"/>
              <a:t>只包含源点，即</a:t>
            </a:r>
            <a:r>
              <a:rPr lang="en-US" altLang="zh-CN" sz="2800" dirty="0"/>
              <a:t>S</a:t>
            </a:r>
            <a:r>
              <a:rPr lang="zh-CN" altLang="en-US" sz="2800" dirty="0"/>
              <a:t>＝</a:t>
            </a:r>
            <a:r>
              <a:rPr lang="en-US" altLang="zh-CN" sz="2800" dirty="0"/>
              <a:t>{v}</a:t>
            </a:r>
            <a:r>
              <a:rPr lang="zh-CN" altLang="en-US" sz="2800" dirty="0"/>
              <a:t>，</a:t>
            </a:r>
            <a:r>
              <a:rPr lang="en-US" altLang="zh-CN" sz="2800" dirty="0"/>
              <a:t>v</a:t>
            </a:r>
            <a:r>
              <a:rPr lang="zh-CN" altLang="en-US" sz="2800" dirty="0"/>
              <a:t>的距离为</a:t>
            </a:r>
            <a:r>
              <a:rPr lang="en-US" altLang="zh-CN" sz="2800" dirty="0"/>
              <a:t>0</a:t>
            </a:r>
            <a:r>
              <a:rPr lang="zh-CN" altLang="en-US" sz="2800" dirty="0"/>
              <a:t>。</a:t>
            </a:r>
            <a:r>
              <a:rPr lang="en-US" altLang="zh-CN" sz="2800" dirty="0"/>
              <a:t>U</a:t>
            </a:r>
            <a:r>
              <a:rPr lang="zh-CN" altLang="en-US" sz="2800" dirty="0"/>
              <a:t>包含除</a:t>
            </a:r>
            <a:r>
              <a:rPr lang="en-US" altLang="zh-CN" sz="2800" dirty="0"/>
              <a:t>v</a:t>
            </a:r>
            <a:r>
              <a:rPr lang="zh-CN" altLang="en-US" sz="2800" dirty="0"/>
              <a:t>外的其他顶点，即</a:t>
            </a:r>
            <a:r>
              <a:rPr lang="en-US" altLang="zh-CN" sz="2800" dirty="0"/>
              <a:t>:U={</a:t>
            </a:r>
            <a:r>
              <a:rPr lang="zh-CN" altLang="en-US" sz="2800" dirty="0"/>
              <a:t>其余顶点</a:t>
            </a:r>
            <a:r>
              <a:rPr lang="en-US" altLang="zh-CN" sz="2800" dirty="0"/>
              <a:t>}</a:t>
            </a:r>
            <a:r>
              <a:rPr lang="zh-CN" altLang="en-US" sz="2800" dirty="0"/>
              <a:t>，若</a:t>
            </a:r>
            <a:r>
              <a:rPr lang="en-US" altLang="zh-CN" sz="2800" dirty="0"/>
              <a:t>v</a:t>
            </a:r>
            <a:r>
              <a:rPr lang="zh-CN" altLang="en-US" sz="2800" dirty="0"/>
              <a:t>与</a:t>
            </a:r>
            <a:r>
              <a:rPr lang="en-US" altLang="zh-CN" sz="2800" dirty="0"/>
              <a:t>U</a:t>
            </a:r>
            <a:r>
              <a:rPr lang="zh-CN" altLang="en-US" sz="2800" dirty="0"/>
              <a:t>中顶点</a:t>
            </a:r>
            <a:r>
              <a:rPr lang="en-US" altLang="zh-CN" sz="2800" dirty="0"/>
              <a:t>u</a:t>
            </a:r>
            <a:r>
              <a:rPr lang="zh-CN" altLang="en-US" sz="2800" dirty="0"/>
              <a:t>有边，则</a:t>
            </a:r>
            <a:r>
              <a:rPr lang="en-US" altLang="zh-CN" sz="2800" dirty="0"/>
              <a:t>&lt;</a:t>
            </a:r>
            <a:r>
              <a:rPr lang="en-US" altLang="zh-CN" sz="2800" dirty="0" err="1"/>
              <a:t>u,v</a:t>
            </a:r>
            <a:r>
              <a:rPr lang="en-US" altLang="zh-CN" sz="2800" dirty="0"/>
              <a:t>&gt;</a:t>
            </a:r>
            <a:r>
              <a:rPr lang="zh-CN" altLang="en-US" sz="2800" dirty="0"/>
              <a:t>正常有权值，若</a:t>
            </a:r>
            <a:r>
              <a:rPr lang="en-US" altLang="zh-CN" sz="2800" dirty="0"/>
              <a:t>u</a:t>
            </a:r>
            <a:r>
              <a:rPr lang="zh-CN" altLang="en-US" sz="2800" dirty="0"/>
              <a:t>不是</a:t>
            </a:r>
            <a:r>
              <a:rPr lang="en-US" altLang="zh-CN" sz="2800" dirty="0"/>
              <a:t>v</a:t>
            </a:r>
            <a:r>
              <a:rPr lang="zh-CN" altLang="en-US" sz="2800" dirty="0"/>
              <a:t>的出边邻接点，则</a:t>
            </a:r>
            <a:r>
              <a:rPr lang="en-US" altLang="zh-CN" sz="2800" dirty="0"/>
              <a:t>&lt;</a:t>
            </a:r>
            <a:r>
              <a:rPr lang="en-US" altLang="zh-CN" sz="2800" dirty="0" err="1"/>
              <a:t>u,v</a:t>
            </a:r>
            <a:r>
              <a:rPr lang="en-US" altLang="zh-CN" sz="2800" dirty="0"/>
              <a:t>&gt;</a:t>
            </a:r>
            <a:r>
              <a:rPr lang="zh-CN" altLang="en-US" sz="2800" dirty="0"/>
              <a:t>权值为∞。</a:t>
            </a:r>
          </a:p>
          <a:p>
            <a:r>
              <a:rPr lang="en-US" altLang="zh-CN" sz="2800" dirty="0"/>
              <a:t>b.</a:t>
            </a:r>
            <a:r>
              <a:rPr lang="zh-CN" altLang="en-US" sz="2800" dirty="0"/>
              <a:t>从</a:t>
            </a:r>
            <a:r>
              <a:rPr lang="en-US" altLang="zh-CN" sz="2800" dirty="0">
                <a:solidFill>
                  <a:srgbClr val="FF0000"/>
                </a:solidFill>
              </a:rPr>
              <a:t>U</a:t>
            </a:r>
            <a:r>
              <a:rPr lang="zh-CN" altLang="en-US" sz="2800" dirty="0">
                <a:solidFill>
                  <a:srgbClr val="FF0000"/>
                </a:solidFill>
              </a:rPr>
              <a:t>中选取一个距离</a:t>
            </a:r>
            <a:r>
              <a:rPr lang="en-US" altLang="zh-CN" sz="2800" dirty="0">
                <a:solidFill>
                  <a:srgbClr val="FF0000"/>
                </a:solidFill>
              </a:rPr>
              <a:t>v</a:t>
            </a:r>
            <a:r>
              <a:rPr lang="zh-CN" altLang="en-US" sz="2800" dirty="0">
                <a:solidFill>
                  <a:srgbClr val="FF0000"/>
                </a:solidFill>
              </a:rPr>
              <a:t>最小的顶点</a:t>
            </a:r>
            <a:r>
              <a:rPr lang="en-US" altLang="zh-CN" sz="2800" dirty="0">
                <a:solidFill>
                  <a:srgbClr val="FF0000"/>
                </a:solidFill>
              </a:rPr>
              <a:t>k</a:t>
            </a:r>
            <a:r>
              <a:rPr lang="zh-CN" altLang="en-US" sz="2800" dirty="0"/>
              <a:t>，把</a:t>
            </a:r>
            <a:r>
              <a:rPr lang="en-US" altLang="zh-CN" sz="2800" dirty="0"/>
              <a:t>k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加入</a:t>
            </a:r>
            <a:r>
              <a:rPr lang="en-US" altLang="zh-CN" sz="2800" dirty="0">
                <a:solidFill>
                  <a:srgbClr val="FF0000"/>
                </a:solidFill>
              </a:rPr>
              <a:t>S</a:t>
            </a:r>
            <a:r>
              <a:rPr lang="zh-CN" altLang="en-US" sz="2800" dirty="0">
                <a:solidFill>
                  <a:srgbClr val="FF0000"/>
                </a:solidFill>
              </a:rPr>
              <a:t>中</a:t>
            </a:r>
            <a:r>
              <a:rPr lang="zh-CN" altLang="en-US" sz="2800" dirty="0"/>
              <a:t>（该选定的距离就是</a:t>
            </a:r>
            <a:r>
              <a:rPr lang="en-US" altLang="zh-CN" sz="2800" dirty="0"/>
              <a:t>v</a:t>
            </a:r>
            <a:r>
              <a:rPr lang="zh-CN" altLang="en-US" sz="2800" dirty="0"/>
              <a:t>到</a:t>
            </a:r>
            <a:r>
              <a:rPr lang="en-US" altLang="zh-CN" sz="2800" dirty="0"/>
              <a:t>k</a:t>
            </a:r>
            <a:r>
              <a:rPr lang="zh-CN" altLang="en-US" sz="2800" dirty="0"/>
              <a:t>的最短路径长度）。</a:t>
            </a:r>
          </a:p>
          <a:p>
            <a:r>
              <a:rPr lang="en-US" altLang="zh-CN" sz="2800" dirty="0"/>
              <a:t>c.</a:t>
            </a:r>
            <a:r>
              <a:rPr lang="zh-CN" altLang="en-US" sz="2800" dirty="0"/>
              <a:t>以</a:t>
            </a:r>
            <a:r>
              <a:rPr lang="en-US" altLang="zh-CN" sz="2800" dirty="0"/>
              <a:t>k</a:t>
            </a:r>
            <a:r>
              <a:rPr lang="zh-CN" altLang="en-US" sz="2800" dirty="0"/>
              <a:t>为新考虑的中间点，修改</a:t>
            </a:r>
            <a:r>
              <a:rPr lang="en-US" altLang="zh-CN" sz="2800" dirty="0"/>
              <a:t>U</a:t>
            </a:r>
            <a:r>
              <a:rPr lang="zh-CN" altLang="en-US" sz="2800" dirty="0"/>
              <a:t>中各顶点的距离；若从源点</a:t>
            </a:r>
            <a:r>
              <a:rPr lang="en-US" altLang="zh-CN" sz="2800" dirty="0"/>
              <a:t>v</a:t>
            </a:r>
            <a:r>
              <a:rPr lang="zh-CN" altLang="en-US" sz="2800" dirty="0"/>
              <a:t>到顶点</a:t>
            </a:r>
            <a:r>
              <a:rPr lang="en-US" altLang="zh-CN" sz="2800" dirty="0"/>
              <a:t>u</a:t>
            </a:r>
            <a:r>
              <a:rPr lang="zh-CN" altLang="en-US" sz="2800" dirty="0"/>
              <a:t>的距离（经过顶点</a:t>
            </a:r>
            <a:r>
              <a:rPr lang="en-US" altLang="zh-CN" sz="2800" dirty="0"/>
              <a:t>k</a:t>
            </a:r>
            <a:r>
              <a:rPr lang="zh-CN" altLang="en-US" sz="2800" dirty="0"/>
              <a:t>）比原来距离（不经过顶点</a:t>
            </a:r>
            <a:r>
              <a:rPr lang="en-US" altLang="zh-CN" sz="2800" dirty="0"/>
              <a:t>k</a:t>
            </a:r>
            <a:r>
              <a:rPr lang="zh-CN" altLang="en-US" sz="2800" dirty="0"/>
              <a:t>）短，则</a:t>
            </a:r>
            <a:r>
              <a:rPr lang="zh-CN" altLang="en-US" sz="2800" dirty="0">
                <a:solidFill>
                  <a:srgbClr val="FF0000"/>
                </a:solidFill>
              </a:rPr>
              <a:t>修改顶点</a:t>
            </a:r>
            <a:r>
              <a:rPr lang="en-US" altLang="zh-CN" sz="2800" dirty="0">
                <a:solidFill>
                  <a:srgbClr val="FF0000"/>
                </a:solidFill>
              </a:rPr>
              <a:t>u</a:t>
            </a:r>
            <a:r>
              <a:rPr lang="zh-CN" altLang="en-US" sz="2800" dirty="0">
                <a:solidFill>
                  <a:srgbClr val="FF0000"/>
                </a:solidFill>
              </a:rPr>
              <a:t>的距离值</a:t>
            </a:r>
            <a:r>
              <a:rPr lang="zh-CN" altLang="en-US" sz="2800" dirty="0"/>
              <a:t>，修改后的距离值的顶点</a:t>
            </a:r>
            <a:r>
              <a:rPr lang="en-US" altLang="zh-CN" sz="2800" dirty="0"/>
              <a:t>k</a:t>
            </a:r>
            <a:r>
              <a:rPr lang="zh-CN" altLang="en-US" sz="2800" dirty="0"/>
              <a:t>的距离加上边上的权。</a:t>
            </a:r>
          </a:p>
          <a:p>
            <a:r>
              <a:rPr lang="en-US" altLang="zh-CN" sz="2800" dirty="0"/>
              <a:t>d.</a:t>
            </a:r>
            <a:r>
              <a:rPr lang="zh-CN" altLang="en-US" sz="2800" dirty="0"/>
              <a:t>重复步骤</a:t>
            </a:r>
            <a:r>
              <a:rPr lang="en-US" altLang="zh-CN" sz="2800" dirty="0"/>
              <a:t>b</a:t>
            </a:r>
            <a:r>
              <a:rPr lang="zh-CN" altLang="en-US" sz="2800" dirty="0"/>
              <a:t>和</a:t>
            </a:r>
            <a:r>
              <a:rPr lang="en-US" altLang="zh-CN" sz="2800" dirty="0"/>
              <a:t>c</a:t>
            </a:r>
            <a:r>
              <a:rPr lang="zh-CN" altLang="en-US" sz="2800" dirty="0"/>
              <a:t>直到所有顶点都包含在</a:t>
            </a:r>
            <a:r>
              <a:rPr lang="en-US" altLang="zh-CN" sz="2800" dirty="0"/>
              <a:t>S</a:t>
            </a:r>
            <a:r>
              <a:rPr lang="zh-CN" altLang="en-US" sz="2800" dirty="0"/>
              <a:t>中。</a:t>
            </a:r>
          </a:p>
        </p:txBody>
      </p:sp>
      <p:sp>
        <p:nvSpPr>
          <p:cNvPr id="3" name="矩形 2"/>
          <p:cNvSpPr/>
          <p:nvPr/>
        </p:nvSpPr>
        <p:spPr>
          <a:xfrm>
            <a:off x="152400" y="457200"/>
            <a:ext cx="868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The </a:t>
            </a:r>
            <a:r>
              <a:rPr lang="en-US" altLang="zh-CN" sz="3200" b="1" dirty="0" err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dijkstra</a:t>
            </a:r>
            <a:r>
              <a:rPr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algorithm (</a:t>
            </a:r>
            <a:r>
              <a:rPr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选讲）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9839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A87EC77A-9637-9243-9E95-73F192C860E9}"/>
              </a:ext>
            </a:extLst>
          </p:cNvPr>
          <p:cNvSpPr/>
          <p:nvPr/>
        </p:nvSpPr>
        <p:spPr>
          <a:xfrm>
            <a:off x="1981200" y="2667000"/>
            <a:ext cx="4114800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灯片编号占位符 5">
            <a:extLst>
              <a:ext uri="{FF2B5EF4-FFF2-40B4-BE49-F238E27FC236}">
                <a16:creationId xmlns="" xmlns:a16="http://schemas.microsoft.com/office/drawing/2014/main" id="{0B26F67B-4CC6-CA49-B3EE-A173D4AB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9A1D51B3-DE89-4B45-BE45-40B5985D379D}" type="slidenum">
              <a:rPr kumimoji="0" lang="en-US" altLang="zh-CN" sz="1400"/>
              <a:pPr eaLnBrk="1" hangingPunct="1"/>
              <a:t>89</a:t>
            </a:fld>
            <a:endParaRPr kumimoji="0" lang="en-US" altLang="zh-CN" sz="1400"/>
          </a:p>
        </p:txBody>
      </p:sp>
      <p:sp>
        <p:nvSpPr>
          <p:cNvPr id="13" name="Rectangle 2">
            <a:extLst>
              <a:ext uri="{FF2B5EF4-FFF2-40B4-BE49-F238E27FC236}">
                <a16:creationId xmlns="" xmlns:a16="http://schemas.microsoft.com/office/drawing/2014/main" id="{36B801C4-802C-5046-B8CE-43CC11FF0A03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zh-CN" altLang="en-US" dirty="0"/>
              <a:t>回溯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="" xmlns:a16="http://schemas.microsoft.com/office/drawing/2014/main" id="{22869C1A-E2EE-A54C-85CB-F34B634D50A4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981200"/>
            <a:ext cx="7696200" cy="411480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例：皇后问题</a:t>
            </a:r>
          </a:p>
        </p:txBody>
      </p:sp>
      <p:graphicFrame>
        <p:nvGraphicFramePr>
          <p:cNvPr id="15" name="Object 4">
            <a:extLst>
              <a:ext uri="{FF2B5EF4-FFF2-40B4-BE49-F238E27FC236}">
                <a16:creationId xmlns="" xmlns:a16="http://schemas.microsoft.com/office/drawing/2014/main" id="{C352E8CC-1B3D-E94B-AAFE-32B22DFC61E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92350" y="2819400"/>
          <a:ext cx="3881438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2" name="文档" r:id="rId3" imgW="41630600" imgH="25323800" progId="Word.Document.8">
                  <p:embed/>
                </p:oleObj>
              </mc:Choice>
              <mc:Fallback>
                <p:oleObj name="文档" r:id="rId3" imgW="41630600" imgH="25323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2819400"/>
                        <a:ext cx="3881438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344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E524DBEE-2EAD-324F-8FA9-7C9D49EA33F5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51" name="灯片编号占位符 3">
            <a:extLst>
              <a:ext uri="{FF2B5EF4-FFF2-40B4-BE49-F238E27FC236}">
                <a16:creationId xmlns="" xmlns:a16="http://schemas.microsoft.com/office/drawing/2014/main" id="{5C9D0FEE-A8E1-3848-BD4F-7E5E3B78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2D176F98-2021-2C49-92BF-A3810BC3EA64}" type="slidenum">
              <a:rPr kumimoji="0" lang="en-US" altLang="zh-CN" sz="1400"/>
              <a:pPr eaLnBrk="1" hangingPunct="1"/>
              <a:t>90</a:t>
            </a:fld>
            <a:endParaRPr kumimoji="0" lang="en-US" altLang="zh-CN" sz="1400"/>
          </a:p>
        </p:txBody>
      </p:sp>
      <p:graphicFrame>
        <p:nvGraphicFramePr>
          <p:cNvPr id="2050" name="Object 2">
            <a:extLst>
              <a:ext uri="{FF2B5EF4-FFF2-40B4-BE49-F238E27FC236}">
                <a16:creationId xmlns="" xmlns:a16="http://schemas.microsoft.com/office/drawing/2014/main" id="{7ADDCB10-18C6-D549-B3AB-5B0BB5714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6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3">
            <a:extLst>
              <a:ext uri="{FF2B5EF4-FFF2-40B4-BE49-F238E27FC236}">
                <a16:creationId xmlns="" xmlns:a16="http://schemas.microsoft.com/office/drawing/2014/main" id="{09FD84B9-E933-5345-93BB-624A7D503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5059" y="21904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采用逐行放皇后</a:t>
            </a:r>
            <a:r>
              <a:rPr kumimoji="1" lang="zh-CN" altLang="en-US" sz="2000"/>
              <a:t>的搜索策略</a:t>
            </a:r>
          </a:p>
        </p:txBody>
      </p:sp>
    </p:spTree>
    <p:extLst>
      <p:ext uri="{BB962C8B-B14F-4D97-AF65-F5344CB8AC3E}">
        <p14:creationId xmlns:p14="http://schemas.microsoft.com/office/powerpoint/2010/main" val="21992241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736092D-B2B6-2C40-833A-A7D80B86712C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75" name="灯片编号占位符 3">
            <a:extLst>
              <a:ext uri="{FF2B5EF4-FFF2-40B4-BE49-F238E27FC236}">
                <a16:creationId xmlns="" xmlns:a16="http://schemas.microsoft.com/office/drawing/2014/main" id="{2B0D099E-C683-964F-80EB-DF71A5C3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E60BAFA4-B725-5E42-9B0F-1C2339C3F644}" type="slidenum">
              <a:rPr kumimoji="0" lang="en-US" altLang="zh-CN" sz="1400"/>
              <a:pPr eaLnBrk="1" hangingPunct="1"/>
              <a:t>91</a:t>
            </a:fld>
            <a:endParaRPr kumimoji="0" lang="en-US" altLang="zh-CN" sz="1400"/>
          </a:p>
        </p:txBody>
      </p:sp>
      <p:graphicFrame>
        <p:nvGraphicFramePr>
          <p:cNvPr id="3074" name="Object 6">
            <a:extLst>
              <a:ext uri="{FF2B5EF4-FFF2-40B4-BE49-F238E27FC236}">
                <a16:creationId xmlns="" xmlns:a16="http://schemas.microsoft.com/office/drawing/2014/main" id="{EE317A58-A69D-4141-A2A4-E9476B32F7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0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 Box 7">
            <a:extLst>
              <a:ext uri="{FF2B5EF4-FFF2-40B4-BE49-F238E27FC236}">
                <a16:creationId xmlns="" xmlns:a16="http://schemas.microsoft.com/office/drawing/2014/main" id="{742EED7B-F9D7-C941-B8A4-EF722875F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3077" name="Text Box 8">
            <a:extLst>
              <a:ext uri="{FF2B5EF4-FFF2-40B4-BE49-F238E27FC236}">
                <a16:creationId xmlns="" xmlns:a16="http://schemas.microsoft.com/office/drawing/2014/main" id="{C707924E-DFEA-0441-82AA-25FA9D2D2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3078" name="Text Box 9">
            <a:extLst>
              <a:ext uri="{FF2B5EF4-FFF2-40B4-BE49-F238E27FC236}">
                <a16:creationId xmlns="" xmlns:a16="http://schemas.microsoft.com/office/drawing/2014/main" id="{D685BBEA-9BB6-7142-814B-7D214867E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((1,1))</a:t>
            </a:r>
            <a:endParaRPr lang="en-US" altLang="zh-CN"/>
          </a:p>
        </p:txBody>
      </p:sp>
      <p:sp>
        <p:nvSpPr>
          <p:cNvPr id="3079" name="Line 10">
            <a:extLst>
              <a:ext uri="{FF2B5EF4-FFF2-40B4-BE49-F238E27FC236}">
                <a16:creationId xmlns="" xmlns:a16="http://schemas.microsoft.com/office/drawing/2014/main" id="{2D35538A-2727-034D-911D-A7E79073BD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" y="12954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5059" y="21904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采用逐行放皇后</a:t>
            </a:r>
            <a:r>
              <a:rPr kumimoji="1" lang="zh-CN" altLang="en-US" sz="2000"/>
              <a:t>的搜索策略</a:t>
            </a:r>
          </a:p>
        </p:txBody>
      </p:sp>
    </p:spTree>
    <p:extLst>
      <p:ext uri="{BB962C8B-B14F-4D97-AF65-F5344CB8AC3E}">
        <p14:creationId xmlns:p14="http://schemas.microsoft.com/office/powerpoint/2010/main" val="27969026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32CF198-CCFB-7245-8E76-8E25C6AC0174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99" name="灯片编号占位符 3">
            <a:extLst>
              <a:ext uri="{FF2B5EF4-FFF2-40B4-BE49-F238E27FC236}">
                <a16:creationId xmlns="" xmlns:a16="http://schemas.microsoft.com/office/drawing/2014/main" id="{AB075DA0-9EE6-5E46-A356-5C6BD49B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7AE3AEAD-BCB7-7A47-B4E9-85068835F30C}" type="slidenum">
              <a:rPr kumimoji="0" lang="en-US" altLang="zh-CN" sz="1400"/>
              <a:pPr eaLnBrk="1" hangingPunct="1"/>
              <a:t>92</a:t>
            </a:fld>
            <a:endParaRPr kumimoji="0" lang="en-US" altLang="zh-CN" sz="1400"/>
          </a:p>
        </p:txBody>
      </p:sp>
      <p:graphicFrame>
        <p:nvGraphicFramePr>
          <p:cNvPr id="4098" name="Object 8">
            <a:extLst>
              <a:ext uri="{FF2B5EF4-FFF2-40B4-BE49-F238E27FC236}">
                <a16:creationId xmlns="" xmlns:a16="http://schemas.microsoft.com/office/drawing/2014/main" id="{AA01E39C-353E-DF4C-B8CB-9569015658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4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9">
            <a:extLst>
              <a:ext uri="{FF2B5EF4-FFF2-40B4-BE49-F238E27FC236}">
                <a16:creationId xmlns="" xmlns:a16="http://schemas.microsoft.com/office/drawing/2014/main" id="{0F1CAFFF-3DC7-D845-B73D-CD365B3CB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4101" name="Text Box 10">
            <a:extLst>
              <a:ext uri="{FF2B5EF4-FFF2-40B4-BE49-F238E27FC236}">
                <a16:creationId xmlns="" xmlns:a16="http://schemas.microsoft.com/office/drawing/2014/main" id="{5311FAFE-7E2D-E548-8557-41FD12572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4102" name="Text Box 12">
            <a:extLst>
              <a:ext uri="{FF2B5EF4-FFF2-40B4-BE49-F238E27FC236}">
                <a16:creationId xmlns="" xmlns:a16="http://schemas.microsoft.com/office/drawing/2014/main" id="{7CDDD739-7B5B-4140-AF8B-354EBD49F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8382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4103" name="Text Box 13">
            <a:extLst>
              <a:ext uri="{FF2B5EF4-FFF2-40B4-BE49-F238E27FC236}">
                <a16:creationId xmlns="" xmlns:a16="http://schemas.microsoft.com/office/drawing/2014/main" id="{0928006C-21CC-F148-ACB3-7B5D5815E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4104" name="Line 14">
            <a:extLst>
              <a:ext uri="{FF2B5EF4-FFF2-40B4-BE49-F238E27FC236}">
                <a16:creationId xmlns="" xmlns:a16="http://schemas.microsoft.com/office/drawing/2014/main" id="{736E47F1-8A9F-AD42-AEB4-CDB203B732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5" name="Text Box 15">
            <a:extLst>
              <a:ext uri="{FF2B5EF4-FFF2-40B4-BE49-F238E27FC236}">
                <a16:creationId xmlns="" xmlns:a16="http://schemas.microsoft.com/office/drawing/2014/main" id="{2C47326D-790E-6641-8C47-9177ACBFC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((1,1) (2,3))</a:t>
            </a:r>
            <a:endParaRPr lang="en-US" altLang="zh-CN"/>
          </a:p>
        </p:txBody>
      </p:sp>
      <p:sp>
        <p:nvSpPr>
          <p:cNvPr id="4106" name="Line 16">
            <a:extLst>
              <a:ext uri="{FF2B5EF4-FFF2-40B4-BE49-F238E27FC236}">
                <a16:creationId xmlns="" xmlns:a16="http://schemas.microsoft.com/office/drawing/2014/main" id="{4AADD228-7D3D-0F4A-8A2B-7906D792F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81000" y="3657600"/>
            <a:ext cx="63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FAIL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15059" y="21904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采用逐行放皇后</a:t>
            </a:r>
            <a:r>
              <a:rPr kumimoji="1" lang="zh-CN" altLang="en-US" sz="2000"/>
              <a:t>的搜索策略</a:t>
            </a:r>
          </a:p>
        </p:txBody>
      </p:sp>
    </p:spTree>
    <p:extLst>
      <p:ext uri="{BB962C8B-B14F-4D97-AF65-F5344CB8AC3E}">
        <p14:creationId xmlns:p14="http://schemas.microsoft.com/office/powerpoint/2010/main" val="96030234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4FCA0765-5042-D847-A805-ABA3E51C09D8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23" name="灯片编号占位符 3">
            <a:extLst>
              <a:ext uri="{FF2B5EF4-FFF2-40B4-BE49-F238E27FC236}">
                <a16:creationId xmlns="" xmlns:a16="http://schemas.microsoft.com/office/drawing/2014/main" id="{2DDED8BB-7461-2541-8C8E-CEF09B2A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BDA67D39-1D04-E240-8167-BADB24E02B61}" type="slidenum">
              <a:rPr kumimoji="0" lang="en-US" altLang="zh-CN" sz="1400"/>
              <a:pPr eaLnBrk="1" hangingPunct="1"/>
              <a:t>93</a:t>
            </a:fld>
            <a:endParaRPr kumimoji="0" lang="en-US" altLang="zh-CN" sz="1400"/>
          </a:p>
        </p:txBody>
      </p:sp>
      <p:graphicFrame>
        <p:nvGraphicFramePr>
          <p:cNvPr id="5122" name="Object 2">
            <a:extLst>
              <a:ext uri="{FF2B5EF4-FFF2-40B4-BE49-F238E27FC236}">
                <a16:creationId xmlns="" xmlns:a16="http://schemas.microsoft.com/office/drawing/2014/main" id="{CE5CE386-2FD3-B845-BA7F-43AA53D491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8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Text Box 3">
            <a:extLst>
              <a:ext uri="{FF2B5EF4-FFF2-40B4-BE49-F238E27FC236}">
                <a16:creationId xmlns="" xmlns:a16="http://schemas.microsoft.com/office/drawing/2014/main" id="{67C4B1AC-5F0F-0249-A5B1-43607502D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5125" name="Text Box 4">
            <a:extLst>
              <a:ext uri="{FF2B5EF4-FFF2-40B4-BE49-F238E27FC236}">
                <a16:creationId xmlns="" xmlns:a16="http://schemas.microsoft.com/office/drawing/2014/main" id="{6B8733E7-4DE2-AA47-9BF7-55404EE18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5126" name="Text Box 6">
            <a:extLst>
              <a:ext uri="{FF2B5EF4-FFF2-40B4-BE49-F238E27FC236}">
                <a16:creationId xmlns="" xmlns:a16="http://schemas.microsoft.com/office/drawing/2014/main" id="{C94D8A91-8B38-2D4C-94A7-175C36AA4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5127" name="Line 7">
            <a:extLst>
              <a:ext uri="{FF2B5EF4-FFF2-40B4-BE49-F238E27FC236}">
                <a16:creationId xmlns="" xmlns:a16="http://schemas.microsoft.com/office/drawing/2014/main" id="{EC39915F-DD98-8142-BE0E-849C1ED2EE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8" name="Text Box 8">
            <a:extLst>
              <a:ext uri="{FF2B5EF4-FFF2-40B4-BE49-F238E27FC236}">
                <a16:creationId xmlns="" xmlns:a16="http://schemas.microsoft.com/office/drawing/2014/main" id="{2B89D47F-8ECD-2F41-92E8-4085D8972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(2,3))</a:t>
            </a:r>
          </a:p>
        </p:txBody>
      </p:sp>
      <p:sp>
        <p:nvSpPr>
          <p:cNvPr id="5129" name="Line 9">
            <a:extLst>
              <a:ext uri="{FF2B5EF4-FFF2-40B4-BE49-F238E27FC236}">
                <a16:creationId xmlns="" xmlns:a16="http://schemas.microsoft.com/office/drawing/2014/main" id="{97458C30-33A0-B048-B6EF-C25EDC1B48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0" name="Line 10">
            <a:extLst>
              <a:ext uri="{FF2B5EF4-FFF2-40B4-BE49-F238E27FC236}">
                <a16:creationId xmlns="" xmlns:a16="http://schemas.microsoft.com/office/drawing/2014/main" id="{361F3C47-2502-9E45-95E5-8134B7BEEC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0892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9127FAB9-784D-1B43-82CC-4091E3139A83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47" name="灯片编号占位符 3">
            <a:extLst>
              <a:ext uri="{FF2B5EF4-FFF2-40B4-BE49-F238E27FC236}">
                <a16:creationId xmlns="" xmlns:a16="http://schemas.microsoft.com/office/drawing/2014/main" id="{A7703EC8-8F3C-DC48-9B3B-855DB0E2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0B93A7E1-EB8A-154D-8678-9019CEF802DE}" type="slidenum">
              <a:rPr kumimoji="0" lang="en-US" altLang="zh-CN" sz="1400"/>
              <a:pPr eaLnBrk="1" hangingPunct="1"/>
              <a:t>94</a:t>
            </a:fld>
            <a:endParaRPr kumimoji="0" lang="en-US" altLang="zh-CN" sz="1400"/>
          </a:p>
        </p:txBody>
      </p:sp>
      <p:graphicFrame>
        <p:nvGraphicFramePr>
          <p:cNvPr id="6146" name="Object 2">
            <a:extLst>
              <a:ext uri="{FF2B5EF4-FFF2-40B4-BE49-F238E27FC236}">
                <a16:creationId xmlns="" xmlns:a16="http://schemas.microsoft.com/office/drawing/2014/main" id="{442B3265-3A1D-CD43-A03D-903C0F012C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2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3">
            <a:extLst>
              <a:ext uri="{FF2B5EF4-FFF2-40B4-BE49-F238E27FC236}">
                <a16:creationId xmlns="" xmlns:a16="http://schemas.microsoft.com/office/drawing/2014/main" id="{BC9020C1-4C4A-1843-B316-3F6410C19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6149" name="Text Box 4">
            <a:extLst>
              <a:ext uri="{FF2B5EF4-FFF2-40B4-BE49-F238E27FC236}">
                <a16:creationId xmlns="" xmlns:a16="http://schemas.microsoft.com/office/drawing/2014/main" id="{425FFBFC-3F44-AE48-A6DF-DA41B262F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6150" name="Text Box 5">
            <a:extLst>
              <a:ext uri="{FF2B5EF4-FFF2-40B4-BE49-F238E27FC236}">
                <a16:creationId xmlns="" xmlns:a16="http://schemas.microsoft.com/office/drawing/2014/main" id="{4E24DE6F-999C-794C-82EC-4AB1452E6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6151" name="Text Box 6">
            <a:extLst>
              <a:ext uri="{FF2B5EF4-FFF2-40B4-BE49-F238E27FC236}">
                <a16:creationId xmlns="" xmlns:a16="http://schemas.microsoft.com/office/drawing/2014/main" id="{7DE21E6A-7393-C24D-AB2C-225B03071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6152" name="Line 7">
            <a:extLst>
              <a:ext uri="{FF2B5EF4-FFF2-40B4-BE49-F238E27FC236}">
                <a16:creationId xmlns="" xmlns:a16="http://schemas.microsoft.com/office/drawing/2014/main" id="{22B21D95-9DF8-5141-8C46-3077A7FB29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Text Box 8">
            <a:extLst>
              <a:ext uri="{FF2B5EF4-FFF2-40B4-BE49-F238E27FC236}">
                <a16:creationId xmlns="" xmlns:a16="http://schemas.microsoft.com/office/drawing/2014/main" id="{E6F2D307-7650-7540-9415-3F1C8E12B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(2,3))</a:t>
            </a:r>
          </a:p>
        </p:txBody>
      </p:sp>
      <p:sp>
        <p:nvSpPr>
          <p:cNvPr id="6154" name="Line 9">
            <a:extLst>
              <a:ext uri="{FF2B5EF4-FFF2-40B4-BE49-F238E27FC236}">
                <a16:creationId xmlns="" xmlns:a16="http://schemas.microsoft.com/office/drawing/2014/main" id="{9968DFAF-036B-7C48-8A00-3E4A63555F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5" name="Line 10">
            <a:extLst>
              <a:ext uri="{FF2B5EF4-FFF2-40B4-BE49-F238E27FC236}">
                <a16:creationId xmlns="" xmlns:a16="http://schemas.microsoft.com/office/drawing/2014/main" id="{8ED29BC2-1AAE-F945-B6C2-F82593393C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6" name="Text Box 11">
            <a:extLst>
              <a:ext uri="{FF2B5EF4-FFF2-40B4-BE49-F238E27FC236}">
                <a16:creationId xmlns="" xmlns:a16="http://schemas.microsoft.com/office/drawing/2014/main" id="{AC2487AA-77F8-4C4A-B3CF-375EF3D60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((1,1) (2,4))</a:t>
            </a:r>
            <a:endParaRPr lang="en-US" altLang="zh-CN"/>
          </a:p>
        </p:txBody>
      </p:sp>
      <p:sp>
        <p:nvSpPr>
          <p:cNvPr id="6157" name="Line 12">
            <a:extLst>
              <a:ext uri="{FF2B5EF4-FFF2-40B4-BE49-F238E27FC236}">
                <a16:creationId xmlns="" xmlns:a16="http://schemas.microsoft.com/office/drawing/2014/main" id="{CD89454E-2DCE-F449-BA86-0C1E80DDA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300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84E1E479-0DDE-7B4A-9DA2-B6031D7C731E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71" name="灯片编号占位符 3">
            <a:extLst>
              <a:ext uri="{FF2B5EF4-FFF2-40B4-BE49-F238E27FC236}">
                <a16:creationId xmlns="" xmlns:a16="http://schemas.microsoft.com/office/drawing/2014/main" id="{24D83EFC-64AF-3643-889B-95626501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71673291-1439-764B-BF39-0BDFF0AA1CE8}" type="slidenum">
              <a:rPr kumimoji="0" lang="en-US" altLang="zh-CN" sz="1400"/>
              <a:pPr eaLnBrk="1" hangingPunct="1"/>
              <a:t>95</a:t>
            </a:fld>
            <a:endParaRPr kumimoji="0" lang="en-US" altLang="zh-CN" sz="1400"/>
          </a:p>
        </p:txBody>
      </p:sp>
      <p:graphicFrame>
        <p:nvGraphicFramePr>
          <p:cNvPr id="7170" name="Object 8">
            <a:extLst>
              <a:ext uri="{FF2B5EF4-FFF2-40B4-BE49-F238E27FC236}">
                <a16:creationId xmlns="" xmlns:a16="http://schemas.microsoft.com/office/drawing/2014/main" id="{05FAAEB7-0AD2-B94D-8871-6EEFE28BB5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6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9">
            <a:extLst>
              <a:ext uri="{FF2B5EF4-FFF2-40B4-BE49-F238E27FC236}">
                <a16:creationId xmlns="" xmlns:a16="http://schemas.microsoft.com/office/drawing/2014/main" id="{60413D20-878B-E943-AC1B-08980514C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7173" name="Text Box 10">
            <a:extLst>
              <a:ext uri="{FF2B5EF4-FFF2-40B4-BE49-F238E27FC236}">
                <a16:creationId xmlns="" xmlns:a16="http://schemas.microsoft.com/office/drawing/2014/main" id="{71909245-977B-8F4C-8826-C03F0B492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7174" name="Text Box 11">
            <a:extLst>
              <a:ext uri="{FF2B5EF4-FFF2-40B4-BE49-F238E27FC236}">
                <a16:creationId xmlns="" xmlns:a16="http://schemas.microsoft.com/office/drawing/2014/main" id="{1CBE5111-AC08-1E48-B714-57B7B24FB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7175" name="Text Box 12">
            <a:extLst>
              <a:ext uri="{FF2B5EF4-FFF2-40B4-BE49-F238E27FC236}">
                <a16:creationId xmlns="" xmlns:a16="http://schemas.microsoft.com/office/drawing/2014/main" id="{564FC0FD-DA3F-DD4F-BC82-5550CFDA6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7176" name="Line 13">
            <a:extLst>
              <a:ext uri="{FF2B5EF4-FFF2-40B4-BE49-F238E27FC236}">
                <a16:creationId xmlns="" xmlns:a16="http://schemas.microsoft.com/office/drawing/2014/main" id="{537EB561-86F0-EE45-AC0B-9F00B14B08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Text Box 14">
            <a:extLst>
              <a:ext uri="{FF2B5EF4-FFF2-40B4-BE49-F238E27FC236}">
                <a16:creationId xmlns="" xmlns:a16="http://schemas.microsoft.com/office/drawing/2014/main" id="{B8D90EBD-6C04-7742-A3E5-C74F8FC4B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(2,3))</a:t>
            </a:r>
          </a:p>
        </p:txBody>
      </p:sp>
      <p:sp>
        <p:nvSpPr>
          <p:cNvPr id="7178" name="Line 15">
            <a:extLst>
              <a:ext uri="{FF2B5EF4-FFF2-40B4-BE49-F238E27FC236}">
                <a16:creationId xmlns="" xmlns:a16="http://schemas.microsoft.com/office/drawing/2014/main" id="{3F5969D8-0118-E246-8173-635DC81E3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9" name="Line 16">
            <a:extLst>
              <a:ext uri="{FF2B5EF4-FFF2-40B4-BE49-F238E27FC236}">
                <a16:creationId xmlns="" xmlns:a16="http://schemas.microsoft.com/office/drawing/2014/main" id="{7F318ED1-EE23-DD47-BE55-3C85EBFF7C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Text Box 17">
            <a:extLst>
              <a:ext uri="{FF2B5EF4-FFF2-40B4-BE49-F238E27FC236}">
                <a16:creationId xmlns="" xmlns:a16="http://schemas.microsoft.com/office/drawing/2014/main" id="{5E3920F7-4D63-8848-B9A2-A64AC61B2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(2,4))</a:t>
            </a:r>
          </a:p>
        </p:txBody>
      </p:sp>
      <p:sp>
        <p:nvSpPr>
          <p:cNvPr id="7181" name="Line 18">
            <a:extLst>
              <a:ext uri="{FF2B5EF4-FFF2-40B4-BE49-F238E27FC236}">
                <a16:creationId xmlns="" xmlns:a16="http://schemas.microsoft.com/office/drawing/2014/main" id="{2A65EE8A-D398-5F4C-9CFC-493440B2C8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2" name="Text Box 19">
            <a:extLst>
              <a:ext uri="{FF2B5EF4-FFF2-40B4-BE49-F238E27FC236}">
                <a16:creationId xmlns="" xmlns:a16="http://schemas.microsoft.com/office/drawing/2014/main" id="{41282810-B307-F647-8FF3-0584F3A78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3716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7183" name="Text Box 20">
            <a:extLst>
              <a:ext uri="{FF2B5EF4-FFF2-40B4-BE49-F238E27FC236}">
                <a16:creationId xmlns="" xmlns:a16="http://schemas.microsoft.com/office/drawing/2014/main" id="{A6518498-32A1-084C-96F7-A260C79D8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((1,1) (2,4) (3.2))</a:t>
            </a:r>
            <a:endParaRPr lang="en-US" altLang="zh-CN"/>
          </a:p>
        </p:txBody>
      </p:sp>
      <p:sp>
        <p:nvSpPr>
          <p:cNvPr id="7184" name="Line 21">
            <a:extLst>
              <a:ext uri="{FF2B5EF4-FFF2-40B4-BE49-F238E27FC236}">
                <a16:creationId xmlns="" xmlns:a16="http://schemas.microsoft.com/office/drawing/2014/main" id="{6AF54ADF-4852-D54A-8671-559B71E126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53934" y="4768334"/>
            <a:ext cx="63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FAIL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4108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644A2868-3645-424D-AAC7-B116E0DEB3A4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95" name="灯片编号占位符 3">
            <a:extLst>
              <a:ext uri="{FF2B5EF4-FFF2-40B4-BE49-F238E27FC236}">
                <a16:creationId xmlns="" xmlns:a16="http://schemas.microsoft.com/office/drawing/2014/main" id="{12BBE15C-EED7-CB44-998D-0C9F076E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29C6570A-420E-1348-9ABD-32E8E61D47EA}" type="slidenum">
              <a:rPr kumimoji="0" lang="en-US" altLang="zh-CN" sz="1400"/>
              <a:pPr eaLnBrk="1" hangingPunct="1"/>
              <a:t>96</a:t>
            </a:fld>
            <a:endParaRPr kumimoji="0" lang="en-US" altLang="zh-CN" sz="1400"/>
          </a:p>
        </p:txBody>
      </p:sp>
      <p:graphicFrame>
        <p:nvGraphicFramePr>
          <p:cNvPr id="8194" name="Object 2">
            <a:extLst>
              <a:ext uri="{FF2B5EF4-FFF2-40B4-BE49-F238E27FC236}">
                <a16:creationId xmlns="" xmlns:a16="http://schemas.microsoft.com/office/drawing/2014/main" id="{786DBB7E-FADF-6848-825F-B9EAFF030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0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3">
            <a:extLst>
              <a:ext uri="{FF2B5EF4-FFF2-40B4-BE49-F238E27FC236}">
                <a16:creationId xmlns="" xmlns:a16="http://schemas.microsoft.com/office/drawing/2014/main" id="{A5B2690B-685B-DD45-A3AD-8C806B017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8197" name="Text Box 4">
            <a:extLst>
              <a:ext uri="{FF2B5EF4-FFF2-40B4-BE49-F238E27FC236}">
                <a16:creationId xmlns="" xmlns:a16="http://schemas.microsoft.com/office/drawing/2014/main" id="{89E52DCC-B038-8C40-AE55-DDDC9C028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8198" name="Text Box 5">
            <a:extLst>
              <a:ext uri="{FF2B5EF4-FFF2-40B4-BE49-F238E27FC236}">
                <a16:creationId xmlns="" xmlns:a16="http://schemas.microsoft.com/office/drawing/2014/main" id="{CC3AA34B-CC2A-D247-95DD-2E4CA07F3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8199" name="Text Box 6">
            <a:extLst>
              <a:ext uri="{FF2B5EF4-FFF2-40B4-BE49-F238E27FC236}">
                <a16:creationId xmlns="" xmlns:a16="http://schemas.microsoft.com/office/drawing/2014/main" id="{B2121D40-65D4-CA4D-BD01-FFCC57952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8200" name="Line 7">
            <a:extLst>
              <a:ext uri="{FF2B5EF4-FFF2-40B4-BE49-F238E27FC236}">
                <a16:creationId xmlns="" xmlns:a16="http://schemas.microsoft.com/office/drawing/2014/main" id="{41BCA049-8999-994E-BA4B-BC95398D75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Text Box 8">
            <a:extLst>
              <a:ext uri="{FF2B5EF4-FFF2-40B4-BE49-F238E27FC236}">
                <a16:creationId xmlns="" xmlns:a16="http://schemas.microsoft.com/office/drawing/2014/main" id="{3E3A646E-4C5A-824D-9F49-B9D458118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(2,3))</a:t>
            </a:r>
          </a:p>
        </p:txBody>
      </p:sp>
      <p:sp>
        <p:nvSpPr>
          <p:cNvPr id="8202" name="Line 9">
            <a:extLst>
              <a:ext uri="{FF2B5EF4-FFF2-40B4-BE49-F238E27FC236}">
                <a16:creationId xmlns="" xmlns:a16="http://schemas.microsoft.com/office/drawing/2014/main" id="{AF8D21E2-3F66-4D46-B626-82A42D233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Line 10">
            <a:extLst>
              <a:ext uri="{FF2B5EF4-FFF2-40B4-BE49-F238E27FC236}">
                <a16:creationId xmlns="" xmlns:a16="http://schemas.microsoft.com/office/drawing/2014/main" id="{79B29E22-2260-EA4B-BC63-0F245358C4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Text Box 11">
            <a:extLst>
              <a:ext uri="{FF2B5EF4-FFF2-40B4-BE49-F238E27FC236}">
                <a16:creationId xmlns="" xmlns:a16="http://schemas.microsoft.com/office/drawing/2014/main" id="{1233507F-E7CA-684D-A8E4-2B60FBE74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(2,4))</a:t>
            </a:r>
          </a:p>
        </p:txBody>
      </p:sp>
      <p:sp>
        <p:nvSpPr>
          <p:cNvPr id="8205" name="Line 12">
            <a:extLst>
              <a:ext uri="{FF2B5EF4-FFF2-40B4-BE49-F238E27FC236}">
                <a16:creationId xmlns="" xmlns:a16="http://schemas.microsoft.com/office/drawing/2014/main" id="{20C78AB6-7813-0C4A-BECF-3198F22B1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6" name="Text Box 14">
            <a:extLst>
              <a:ext uri="{FF2B5EF4-FFF2-40B4-BE49-F238E27FC236}">
                <a16:creationId xmlns="" xmlns:a16="http://schemas.microsoft.com/office/drawing/2014/main" id="{4F700C00-0888-2C49-A04F-346DC29FF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 (3.2))</a:t>
            </a:r>
          </a:p>
        </p:txBody>
      </p:sp>
      <p:sp>
        <p:nvSpPr>
          <p:cNvPr id="8207" name="Line 15">
            <a:extLst>
              <a:ext uri="{FF2B5EF4-FFF2-40B4-BE49-F238E27FC236}">
                <a16:creationId xmlns="" xmlns:a16="http://schemas.microsoft.com/office/drawing/2014/main" id="{8965314B-2D0D-E947-AA60-2A81168995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8" name="Line 16">
            <a:extLst>
              <a:ext uri="{FF2B5EF4-FFF2-40B4-BE49-F238E27FC236}">
                <a16:creationId xmlns="" xmlns:a16="http://schemas.microsoft.com/office/drawing/2014/main" id="{D77A40AB-E9B7-E94E-9FA2-9FF5EB8675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4899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D4122A17-5BA4-E441-9C41-5F99B5805F17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19" name="灯片编号占位符 3">
            <a:extLst>
              <a:ext uri="{FF2B5EF4-FFF2-40B4-BE49-F238E27FC236}">
                <a16:creationId xmlns="" xmlns:a16="http://schemas.microsoft.com/office/drawing/2014/main" id="{97C0817F-96B5-F041-85D3-853F45D1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129D823A-E8DA-D040-ABA7-0676876C9863}" type="slidenum">
              <a:rPr kumimoji="0" lang="en-US" altLang="zh-CN" sz="1400"/>
              <a:pPr eaLnBrk="1" hangingPunct="1"/>
              <a:t>97</a:t>
            </a:fld>
            <a:endParaRPr kumimoji="0" lang="en-US" altLang="zh-CN" sz="1400"/>
          </a:p>
        </p:txBody>
      </p:sp>
      <p:graphicFrame>
        <p:nvGraphicFramePr>
          <p:cNvPr id="9218" name="Object 2">
            <a:extLst>
              <a:ext uri="{FF2B5EF4-FFF2-40B4-BE49-F238E27FC236}">
                <a16:creationId xmlns="" xmlns:a16="http://schemas.microsoft.com/office/drawing/2014/main" id="{1974F89A-AA21-3841-AB94-2297D10BF5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4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3">
            <a:extLst>
              <a:ext uri="{FF2B5EF4-FFF2-40B4-BE49-F238E27FC236}">
                <a16:creationId xmlns="" xmlns:a16="http://schemas.microsoft.com/office/drawing/2014/main" id="{10E7F71F-B422-0745-9D2D-6957AA8E2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9221" name="Text Box 4">
            <a:extLst>
              <a:ext uri="{FF2B5EF4-FFF2-40B4-BE49-F238E27FC236}">
                <a16:creationId xmlns="" xmlns:a16="http://schemas.microsoft.com/office/drawing/2014/main" id="{7389AD9A-12AC-8243-BFEB-9056A02F0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9222" name="Text Box 6">
            <a:extLst>
              <a:ext uri="{FF2B5EF4-FFF2-40B4-BE49-F238E27FC236}">
                <a16:creationId xmlns="" xmlns:a16="http://schemas.microsoft.com/office/drawing/2014/main" id="{9E861A50-C566-9C47-92CB-0BFEBAB1F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9223" name="Line 7">
            <a:extLst>
              <a:ext uri="{FF2B5EF4-FFF2-40B4-BE49-F238E27FC236}">
                <a16:creationId xmlns="" xmlns:a16="http://schemas.microsoft.com/office/drawing/2014/main" id="{18C8F3A7-2840-8243-81CC-B7CB5C811A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" name="Text Box 8">
            <a:extLst>
              <a:ext uri="{FF2B5EF4-FFF2-40B4-BE49-F238E27FC236}">
                <a16:creationId xmlns="" xmlns:a16="http://schemas.microsoft.com/office/drawing/2014/main" id="{46EAC8AA-C793-0E49-BE88-CEA90218D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(2,3))</a:t>
            </a:r>
          </a:p>
        </p:txBody>
      </p:sp>
      <p:sp>
        <p:nvSpPr>
          <p:cNvPr id="9225" name="Line 9">
            <a:extLst>
              <a:ext uri="{FF2B5EF4-FFF2-40B4-BE49-F238E27FC236}">
                <a16:creationId xmlns="" xmlns:a16="http://schemas.microsoft.com/office/drawing/2014/main" id="{E0A36B8E-5851-8A46-89EF-E2D80C8685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6" name="Line 10">
            <a:extLst>
              <a:ext uri="{FF2B5EF4-FFF2-40B4-BE49-F238E27FC236}">
                <a16:creationId xmlns="" xmlns:a16="http://schemas.microsoft.com/office/drawing/2014/main" id="{252E3395-8D8A-7146-A7AD-9D3E24254A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7" name="Text Box 11">
            <a:extLst>
              <a:ext uri="{FF2B5EF4-FFF2-40B4-BE49-F238E27FC236}">
                <a16:creationId xmlns="" xmlns:a16="http://schemas.microsoft.com/office/drawing/2014/main" id="{24FDC2A9-1611-F14A-9553-C4E8D2B7D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(2,4))</a:t>
            </a:r>
          </a:p>
        </p:txBody>
      </p:sp>
      <p:sp>
        <p:nvSpPr>
          <p:cNvPr id="9228" name="Line 12">
            <a:extLst>
              <a:ext uri="{FF2B5EF4-FFF2-40B4-BE49-F238E27FC236}">
                <a16:creationId xmlns="" xmlns:a16="http://schemas.microsoft.com/office/drawing/2014/main" id="{2003C926-6223-2441-9A41-7A4554FC3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9" name="Text Box 14">
            <a:extLst>
              <a:ext uri="{FF2B5EF4-FFF2-40B4-BE49-F238E27FC236}">
                <a16:creationId xmlns="" xmlns:a16="http://schemas.microsoft.com/office/drawing/2014/main" id="{B49C1421-B186-9D4B-9127-DC36E88D5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 (3.2))</a:t>
            </a:r>
          </a:p>
        </p:txBody>
      </p:sp>
      <p:sp>
        <p:nvSpPr>
          <p:cNvPr id="9230" name="Line 15">
            <a:extLst>
              <a:ext uri="{FF2B5EF4-FFF2-40B4-BE49-F238E27FC236}">
                <a16:creationId xmlns="" xmlns:a16="http://schemas.microsoft.com/office/drawing/2014/main" id="{C8FF708D-1D6C-014F-8B96-1DADFBC8DB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1" name="Line 16">
            <a:extLst>
              <a:ext uri="{FF2B5EF4-FFF2-40B4-BE49-F238E27FC236}">
                <a16:creationId xmlns="" xmlns:a16="http://schemas.microsoft.com/office/drawing/2014/main" id="{78D9673D-2D0D-864F-ACD0-29522D51C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2" name="Line 17">
            <a:extLst>
              <a:ext uri="{FF2B5EF4-FFF2-40B4-BE49-F238E27FC236}">
                <a16:creationId xmlns="" xmlns:a16="http://schemas.microsoft.com/office/drawing/2014/main" id="{C69492F9-CEBB-5846-B32A-4521AEDD13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39775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E51B2E46-B7E3-6645-A6FD-C2FC896535E4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43" name="灯片编号占位符 3">
            <a:extLst>
              <a:ext uri="{FF2B5EF4-FFF2-40B4-BE49-F238E27FC236}">
                <a16:creationId xmlns="" xmlns:a16="http://schemas.microsoft.com/office/drawing/2014/main" id="{649661FE-1DC1-8A48-919C-4411D016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3EC1E8F3-F754-9E4F-8EF3-4B0C32978EB5}" type="slidenum">
              <a:rPr kumimoji="0" lang="en-US" altLang="zh-CN" sz="1400"/>
              <a:pPr eaLnBrk="1" hangingPunct="1"/>
              <a:t>98</a:t>
            </a:fld>
            <a:endParaRPr kumimoji="0" lang="en-US" altLang="zh-CN" sz="1400"/>
          </a:p>
        </p:txBody>
      </p:sp>
      <p:graphicFrame>
        <p:nvGraphicFramePr>
          <p:cNvPr id="10242" name="Object 15">
            <a:extLst>
              <a:ext uri="{FF2B5EF4-FFF2-40B4-BE49-F238E27FC236}">
                <a16:creationId xmlns="" xmlns:a16="http://schemas.microsoft.com/office/drawing/2014/main" id="{0789D442-C748-0149-B530-7A8EF167D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8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16">
            <a:extLst>
              <a:ext uri="{FF2B5EF4-FFF2-40B4-BE49-F238E27FC236}">
                <a16:creationId xmlns="" xmlns:a16="http://schemas.microsoft.com/office/drawing/2014/main" id="{42658756-BE5A-1946-AE79-223565A0F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10245" name="Text Box 18">
            <a:extLst>
              <a:ext uri="{FF2B5EF4-FFF2-40B4-BE49-F238E27FC236}">
                <a16:creationId xmlns="" xmlns:a16="http://schemas.microsoft.com/office/drawing/2014/main" id="{45CA0071-5231-5844-A389-408773A14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10246" name="Line 19">
            <a:extLst>
              <a:ext uri="{FF2B5EF4-FFF2-40B4-BE49-F238E27FC236}">
                <a16:creationId xmlns="" xmlns:a16="http://schemas.microsoft.com/office/drawing/2014/main" id="{F7E2D232-F31A-F844-9B13-FD96678D09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Text Box 20">
            <a:extLst>
              <a:ext uri="{FF2B5EF4-FFF2-40B4-BE49-F238E27FC236}">
                <a16:creationId xmlns="" xmlns:a16="http://schemas.microsoft.com/office/drawing/2014/main" id="{6795ACD1-4970-AF42-B616-15F871C1F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(2,3))</a:t>
            </a:r>
          </a:p>
        </p:txBody>
      </p:sp>
      <p:sp>
        <p:nvSpPr>
          <p:cNvPr id="10248" name="Line 21">
            <a:extLst>
              <a:ext uri="{FF2B5EF4-FFF2-40B4-BE49-F238E27FC236}">
                <a16:creationId xmlns="" xmlns:a16="http://schemas.microsoft.com/office/drawing/2014/main" id="{3728E53E-F841-DB4F-BAE6-5AA7DEB11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Line 22">
            <a:extLst>
              <a:ext uri="{FF2B5EF4-FFF2-40B4-BE49-F238E27FC236}">
                <a16:creationId xmlns="" xmlns:a16="http://schemas.microsoft.com/office/drawing/2014/main" id="{F74F27E7-949B-074D-A3F9-7C431CA489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0" name="Text Box 23">
            <a:extLst>
              <a:ext uri="{FF2B5EF4-FFF2-40B4-BE49-F238E27FC236}">
                <a16:creationId xmlns="" xmlns:a16="http://schemas.microsoft.com/office/drawing/2014/main" id="{484CDA03-43B9-F147-8839-44DBE8991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(2,4))</a:t>
            </a:r>
          </a:p>
        </p:txBody>
      </p:sp>
      <p:sp>
        <p:nvSpPr>
          <p:cNvPr id="10251" name="Line 24">
            <a:extLst>
              <a:ext uri="{FF2B5EF4-FFF2-40B4-BE49-F238E27FC236}">
                <a16:creationId xmlns="" xmlns:a16="http://schemas.microsoft.com/office/drawing/2014/main" id="{098CF857-C27B-3A45-9425-E833FB069D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2" name="Text Box 25">
            <a:extLst>
              <a:ext uri="{FF2B5EF4-FFF2-40B4-BE49-F238E27FC236}">
                <a16:creationId xmlns="" xmlns:a16="http://schemas.microsoft.com/office/drawing/2014/main" id="{C106C38C-F17D-2646-ABC7-27ED73056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 (3.2))</a:t>
            </a:r>
          </a:p>
        </p:txBody>
      </p:sp>
      <p:sp>
        <p:nvSpPr>
          <p:cNvPr id="10253" name="Line 26">
            <a:extLst>
              <a:ext uri="{FF2B5EF4-FFF2-40B4-BE49-F238E27FC236}">
                <a16:creationId xmlns="" xmlns:a16="http://schemas.microsoft.com/office/drawing/2014/main" id="{BA08C4F9-6D1D-5B4E-82EE-9DB21D7065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Line 27">
            <a:extLst>
              <a:ext uri="{FF2B5EF4-FFF2-40B4-BE49-F238E27FC236}">
                <a16:creationId xmlns="" xmlns:a16="http://schemas.microsoft.com/office/drawing/2014/main" id="{A4B94201-673C-044D-9ABA-3CAF003504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5" name="Line 28">
            <a:extLst>
              <a:ext uri="{FF2B5EF4-FFF2-40B4-BE49-F238E27FC236}">
                <a16:creationId xmlns="" xmlns:a16="http://schemas.microsoft.com/office/drawing/2014/main" id="{F7CECB54-3839-8B41-A4D6-2E8F83152AF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6" name="Line 29">
            <a:extLst>
              <a:ext uri="{FF2B5EF4-FFF2-40B4-BE49-F238E27FC236}">
                <a16:creationId xmlns="" xmlns:a16="http://schemas.microsoft.com/office/drawing/2014/main" id="{99302BED-8153-A948-8A5B-CFC25DD669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17563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1686B40E-84BC-2E47-A493-23A476272DD4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67" name="灯片编号占位符 3">
            <a:extLst>
              <a:ext uri="{FF2B5EF4-FFF2-40B4-BE49-F238E27FC236}">
                <a16:creationId xmlns="" xmlns:a16="http://schemas.microsoft.com/office/drawing/2014/main" id="{308EBC42-0B15-784B-AF86-A7F6D9AD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B0DDD402-E76E-814B-9A2D-7BF668D40D6B}" type="slidenum">
              <a:rPr kumimoji="0" lang="en-US" altLang="zh-CN" sz="1400"/>
              <a:pPr eaLnBrk="1" hangingPunct="1"/>
              <a:t>99</a:t>
            </a:fld>
            <a:endParaRPr kumimoji="0" lang="en-US" altLang="zh-CN" sz="1400"/>
          </a:p>
        </p:txBody>
      </p:sp>
      <p:graphicFrame>
        <p:nvGraphicFramePr>
          <p:cNvPr id="11266" name="Object 2">
            <a:extLst>
              <a:ext uri="{FF2B5EF4-FFF2-40B4-BE49-F238E27FC236}">
                <a16:creationId xmlns="" xmlns:a16="http://schemas.microsoft.com/office/drawing/2014/main" id="{152E1C45-1B07-2146-977B-63DB70CDDC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2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3">
            <a:extLst>
              <a:ext uri="{FF2B5EF4-FFF2-40B4-BE49-F238E27FC236}">
                <a16:creationId xmlns="" xmlns:a16="http://schemas.microsoft.com/office/drawing/2014/main" id="{A3E3FC30-17AD-0A4B-AB4B-AEAC92DA7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11269" name="Text Box 4">
            <a:extLst>
              <a:ext uri="{FF2B5EF4-FFF2-40B4-BE49-F238E27FC236}">
                <a16:creationId xmlns="" xmlns:a16="http://schemas.microsoft.com/office/drawing/2014/main" id="{0CF4CD71-8CB6-A140-81DC-AC2ACA6D9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11270" name="Line 5">
            <a:extLst>
              <a:ext uri="{FF2B5EF4-FFF2-40B4-BE49-F238E27FC236}">
                <a16:creationId xmlns="" xmlns:a16="http://schemas.microsoft.com/office/drawing/2014/main" id="{E8E56EA0-DA27-6D4E-B3F1-BE83B813E2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Text Box 6">
            <a:extLst>
              <a:ext uri="{FF2B5EF4-FFF2-40B4-BE49-F238E27FC236}">
                <a16:creationId xmlns="" xmlns:a16="http://schemas.microsoft.com/office/drawing/2014/main" id="{7009A2F4-230C-B14D-B477-34903D1AB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(2,3))</a:t>
            </a:r>
          </a:p>
        </p:txBody>
      </p:sp>
      <p:sp>
        <p:nvSpPr>
          <p:cNvPr id="11272" name="Line 7">
            <a:extLst>
              <a:ext uri="{FF2B5EF4-FFF2-40B4-BE49-F238E27FC236}">
                <a16:creationId xmlns="" xmlns:a16="http://schemas.microsoft.com/office/drawing/2014/main" id="{6451115F-81CA-B447-8071-445C2C3909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3" name="Line 8">
            <a:extLst>
              <a:ext uri="{FF2B5EF4-FFF2-40B4-BE49-F238E27FC236}">
                <a16:creationId xmlns="" xmlns:a16="http://schemas.microsoft.com/office/drawing/2014/main" id="{64BB9D6B-2B14-9D4D-B4A5-7A28CE53DC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Text Box 9">
            <a:extLst>
              <a:ext uri="{FF2B5EF4-FFF2-40B4-BE49-F238E27FC236}">
                <a16:creationId xmlns="" xmlns:a16="http://schemas.microsoft.com/office/drawing/2014/main" id="{0810475D-7905-3D4B-AC90-F53E23221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(2,4))</a:t>
            </a:r>
          </a:p>
        </p:txBody>
      </p:sp>
      <p:sp>
        <p:nvSpPr>
          <p:cNvPr id="11275" name="Line 10">
            <a:extLst>
              <a:ext uri="{FF2B5EF4-FFF2-40B4-BE49-F238E27FC236}">
                <a16:creationId xmlns="" xmlns:a16="http://schemas.microsoft.com/office/drawing/2014/main" id="{3CEBF129-601B-DF4D-A9D3-E9763C8E19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6" name="Text Box 11">
            <a:extLst>
              <a:ext uri="{FF2B5EF4-FFF2-40B4-BE49-F238E27FC236}">
                <a16:creationId xmlns="" xmlns:a16="http://schemas.microsoft.com/office/drawing/2014/main" id="{D41E97A5-0E33-094B-8F55-2980E1682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 (3.2))</a:t>
            </a:r>
          </a:p>
        </p:txBody>
      </p:sp>
      <p:sp>
        <p:nvSpPr>
          <p:cNvPr id="11277" name="Line 12">
            <a:extLst>
              <a:ext uri="{FF2B5EF4-FFF2-40B4-BE49-F238E27FC236}">
                <a16:creationId xmlns="" xmlns:a16="http://schemas.microsoft.com/office/drawing/2014/main" id="{F4E36C23-5B0C-4444-B2DA-52D3E5795E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8" name="Line 13">
            <a:extLst>
              <a:ext uri="{FF2B5EF4-FFF2-40B4-BE49-F238E27FC236}">
                <a16:creationId xmlns="" xmlns:a16="http://schemas.microsoft.com/office/drawing/2014/main" id="{46A82E75-07F7-B34B-970A-C2389838E2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9" name="Line 14">
            <a:extLst>
              <a:ext uri="{FF2B5EF4-FFF2-40B4-BE49-F238E27FC236}">
                <a16:creationId xmlns="" xmlns:a16="http://schemas.microsoft.com/office/drawing/2014/main" id="{F9E7AE6E-DA87-A84F-92F3-1FF15484F10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0" name="Line 15">
            <a:extLst>
              <a:ext uri="{FF2B5EF4-FFF2-40B4-BE49-F238E27FC236}">
                <a16:creationId xmlns="" xmlns:a16="http://schemas.microsoft.com/office/drawing/2014/main" id="{339633A0-0D0D-9146-9547-35B77314C6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1" name="Text Box 16">
            <a:extLst>
              <a:ext uri="{FF2B5EF4-FFF2-40B4-BE49-F238E27FC236}">
                <a16:creationId xmlns="" xmlns:a16="http://schemas.microsoft.com/office/drawing/2014/main" id="{1AE1E7B6-7073-1B44-9220-93214BF7C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11282" name="Text Box 17">
            <a:extLst>
              <a:ext uri="{FF2B5EF4-FFF2-40B4-BE49-F238E27FC236}">
                <a16:creationId xmlns="" xmlns:a16="http://schemas.microsoft.com/office/drawing/2014/main" id="{972D458F-1B27-1443-B4F6-865155EAF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((1,2))</a:t>
            </a:r>
            <a:endParaRPr lang="en-US" altLang="zh-CN"/>
          </a:p>
        </p:txBody>
      </p:sp>
      <p:sp>
        <p:nvSpPr>
          <p:cNvPr id="11283" name="Line 18">
            <a:extLst>
              <a:ext uri="{FF2B5EF4-FFF2-40B4-BE49-F238E27FC236}">
                <a16:creationId xmlns="" xmlns:a16="http://schemas.microsoft.com/office/drawing/2014/main" id="{42BBFE25-9B96-294F-9488-6E53BBAB10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76272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865D5900-6ABA-AB42-BB4C-2A58AA3905D4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91" name="灯片编号占位符 3">
            <a:extLst>
              <a:ext uri="{FF2B5EF4-FFF2-40B4-BE49-F238E27FC236}">
                <a16:creationId xmlns="" xmlns:a16="http://schemas.microsoft.com/office/drawing/2014/main" id="{18EA866C-ACC3-C44E-B46D-9984BD11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AC7E2E16-B296-1448-B053-B002A152466E}" type="slidenum">
              <a:rPr kumimoji="0" lang="en-US" altLang="zh-CN" sz="1400"/>
              <a:pPr eaLnBrk="1" hangingPunct="1"/>
              <a:t>100</a:t>
            </a:fld>
            <a:endParaRPr kumimoji="0" lang="en-US" altLang="zh-CN" sz="1400"/>
          </a:p>
        </p:txBody>
      </p:sp>
      <p:graphicFrame>
        <p:nvGraphicFramePr>
          <p:cNvPr id="12290" name="Object 2">
            <a:extLst>
              <a:ext uri="{FF2B5EF4-FFF2-40B4-BE49-F238E27FC236}">
                <a16:creationId xmlns="" xmlns:a16="http://schemas.microsoft.com/office/drawing/2014/main" id="{3BFB2C1F-3CE3-B945-B386-8FA6871C16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6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3">
            <a:extLst>
              <a:ext uri="{FF2B5EF4-FFF2-40B4-BE49-F238E27FC236}">
                <a16:creationId xmlns="" xmlns:a16="http://schemas.microsoft.com/office/drawing/2014/main" id="{B6A34AA8-3A43-BC4A-97FF-F6211AC5C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="" xmlns:a16="http://schemas.microsoft.com/office/drawing/2014/main" id="{9E45214A-486B-824E-8F54-AF5B3E9C4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12294" name="Line 5">
            <a:extLst>
              <a:ext uri="{FF2B5EF4-FFF2-40B4-BE49-F238E27FC236}">
                <a16:creationId xmlns="" xmlns:a16="http://schemas.microsoft.com/office/drawing/2014/main" id="{67F92986-4376-9348-80E0-F23792E3A1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Text Box 6">
            <a:extLst>
              <a:ext uri="{FF2B5EF4-FFF2-40B4-BE49-F238E27FC236}">
                <a16:creationId xmlns="" xmlns:a16="http://schemas.microsoft.com/office/drawing/2014/main" id="{9507506A-18BF-4B44-A0F5-60AD154EB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(2,3))</a:t>
            </a:r>
          </a:p>
        </p:txBody>
      </p:sp>
      <p:sp>
        <p:nvSpPr>
          <p:cNvPr id="12296" name="Line 7">
            <a:extLst>
              <a:ext uri="{FF2B5EF4-FFF2-40B4-BE49-F238E27FC236}">
                <a16:creationId xmlns="" xmlns:a16="http://schemas.microsoft.com/office/drawing/2014/main" id="{F48D9D42-AC22-D642-8325-8A02D6148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Line 8">
            <a:extLst>
              <a:ext uri="{FF2B5EF4-FFF2-40B4-BE49-F238E27FC236}">
                <a16:creationId xmlns="" xmlns:a16="http://schemas.microsoft.com/office/drawing/2014/main" id="{3A9ACF42-1233-9546-865A-68BB6B411A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" name="Text Box 9">
            <a:extLst>
              <a:ext uri="{FF2B5EF4-FFF2-40B4-BE49-F238E27FC236}">
                <a16:creationId xmlns="" xmlns:a16="http://schemas.microsoft.com/office/drawing/2014/main" id="{C501F9B5-0361-AF42-A558-465E87C89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(2,4))</a:t>
            </a:r>
          </a:p>
        </p:txBody>
      </p:sp>
      <p:sp>
        <p:nvSpPr>
          <p:cNvPr id="12299" name="Line 10">
            <a:extLst>
              <a:ext uri="{FF2B5EF4-FFF2-40B4-BE49-F238E27FC236}">
                <a16:creationId xmlns="" xmlns:a16="http://schemas.microsoft.com/office/drawing/2014/main" id="{7A37835D-13F4-F344-8FFE-78DEC599A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0" name="Text Box 11">
            <a:extLst>
              <a:ext uri="{FF2B5EF4-FFF2-40B4-BE49-F238E27FC236}">
                <a16:creationId xmlns="" xmlns:a16="http://schemas.microsoft.com/office/drawing/2014/main" id="{FEF95D7F-2248-5A4B-9C22-AB825AC24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 (3.2))</a:t>
            </a:r>
          </a:p>
        </p:txBody>
      </p:sp>
      <p:sp>
        <p:nvSpPr>
          <p:cNvPr id="12301" name="Line 12">
            <a:extLst>
              <a:ext uri="{FF2B5EF4-FFF2-40B4-BE49-F238E27FC236}">
                <a16:creationId xmlns="" xmlns:a16="http://schemas.microsoft.com/office/drawing/2014/main" id="{92FD60D3-B908-8940-A667-D7CC8E96E2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2" name="Line 13">
            <a:extLst>
              <a:ext uri="{FF2B5EF4-FFF2-40B4-BE49-F238E27FC236}">
                <a16:creationId xmlns="" xmlns:a16="http://schemas.microsoft.com/office/drawing/2014/main" id="{6607FB5F-28A1-C946-84CA-B0118D9223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3" name="Line 14">
            <a:extLst>
              <a:ext uri="{FF2B5EF4-FFF2-40B4-BE49-F238E27FC236}">
                <a16:creationId xmlns="" xmlns:a16="http://schemas.microsoft.com/office/drawing/2014/main" id="{884E25EB-BB2D-7D4F-BEC6-DA16E4174A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4" name="Line 15">
            <a:extLst>
              <a:ext uri="{FF2B5EF4-FFF2-40B4-BE49-F238E27FC236}">
                <a16:creationId xmlns="" xmlns:a16="http://schemas.microsoft.com/office/drawing/2014/main" id="{42116983-9C51-4844-AA90-BD2D3826E0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5" name="Text Box 16">
            <a:extLst>
              <a:ext uri="{FF2B5EF4-FFF2-40B4-BE49-F238E27FC236}">
                <a16:creationId xmlns="" xmlns:a16="http://schemas.microsoft.com/office/drawing/2014/main" id="{20D02EB8-5E6B-1041-9B9B-A47EF28C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12306" name="Text Box 17">
            <a:extLst>
              <a:ext uri="{FF2B5EF4-FFF2-40B4-BE49-F238E27FC236}">
                <a16:creationId xmlns="" xmlns:a16="http://schemas.microsoft.com/office/drawing/2014/main" id="{D85F3F66-0D07-3143-A253-ACF476B09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((1,2))</a:t>
            </a:r>
          </a:p>
        </p:txBody>
      </p:sp>
      <p:sp>
        <p:nvSpPr>
          <p:cNvPr id="12307" name="Line 18">
            <a:extLst>
              <a:ext uri="{FF2B5EF4-FFF2-40B4-BE49-F238E27FC236}">
                <a16:creationId xmlns="" xmlns:a16="http://schemas.microsoft.com/office/drawing/2014/main" id="{33F31BBE-DB76-564D-BA79-3095DB5BE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8" name="Text Box 19">
            <a:extLst>
              <a:ext uri="{FF2B5EF4-FFF2-40B4-BE49-F238E27FC236}">
                <a16:creationId xmlns="" xmlns:a16="http://schemas.microsoft.com/office/drawing/2014/main" id="{EAE4E417-B795-A846-B097-1A190BCD1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12309" name="Text Box 20">
            <a:extLst>
              <a:ext uri="{FF2B5EF4-FFF2-40B4-BE49-F238E27FC236}">
                <a16:creationId xmlns="" xmlns:a16="http://schemas.microsoft.com/office/drawing/2014/main" id="{6E4728B6-98CC-F54A-A048-9636C079C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2004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((1,2) (2,4))</a:t>
            </a:r>
            <a:endParaRPr lang="en-US" altLang="zh-CN"/>
          </a:p>
        </p:txBody>
      </p:sp>
      <p:sp>
        <p:nvSpPr>
          <p:cNvPr id="12310" name="Line 21">
            <a:extLst>
              <a:ext uri="{FF2B5EF4-FFF2-40B4-BE49-F238E27FC236}">
                <a16:creationId xmlns="" xmlns:a16="http://schemas.microsoft.com/office/drawing/2014/main" id="{B324B601-BA4C-9344-A347-D984240B40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3622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46587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45373DC2-EDA2-9C42-9ABE-C2A325CDA6CF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15" name="灯片编号占位符 3">
            <a:extLst>
              <a:ext uri="{FF2B5EF4-FFF2-40B4-BE49-F238E27FC236}">
                <a16:creationId xmlns="" xmlns:a16="http://schemas.microsoft.com/office/drawing/2014/main" id="{34CF8C6C-0DF0-734C-816A-E53E9F61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8849FB9F-D403-2D4D-8838-BEDDC8CB026E}" type="slidenum">
              <a:rPr kumimoji="0" lang="en-US" altLang="zh-CN" sz="1400"/>
              <a:pPr eaLnBrk="1" hangingPunct="1"/>
              <a:t>101</a:t>
            </a:fld>
            <a:endParaRPr kumimoji="0" lang="en-US" altLang="zh-CN" sz="1400"/>
          </a:p>
        </p:txBody>
      </p:sp>
      <p:graphicFrame>
        <p:nvGraphicFramePr>
          <p:cNvPr id="13314" name="Object 2">
            <a:extLst>
              <a:ext uri="{FF2B5EF4-FFF2-40B4-BE49-F238E27FC236}">
                <a16:creationId xmlns="" xmlns:a16="http://schemas.microsoft.com/office/drawing/2014/main" id="{D8258DB8-346A-5049-B06F-6073DFC65D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0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3">
            <a:extLst>
              <a:ext uri="{FF2B5EF4-FFF2-40B4-BE49-F238E27FC236}">
                <a16:creationId xmlns="" xmlns:a16="http://schemas.microsoft.com/office/drawing/2014/main" id="{5A10E859-DE02-AD4E-94A9-9114500E1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13317" name="Text Box 4">
            <a:extLst>
              <a:ext uri="{FF2B5EF4-FFF2-40B4-BE49-F238E27FC236}">
                <a16:creationId xmlns="" xmlns:a16="http://schemas.microsoft.com/office/drawing/2014/main" id="{E4665573-55EE-9243-A4F1-42D3195EE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13318" name="Line 5">
            <a:extLst>
              <a:ext uri="{FF2B5EF4-FFF2-40B4-BE49-F238E27FC236}">
                <a16:creationId xmlns="" xmlns:a16="http://schemas.microsoft.com/office/drawing/2014/main" id="{1A3AC7A3-EF49-5C4B-BE88-AB4D3E94F9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" name="Text Box 6">
            <a:extLst>
              <a:ext uri="{FF2B5EF4-FFF2-40B4-BE49-F238E27FC236}">
                <a16:creationId xmlns="" xmlns:a16="http://schemas.microsoft.com/office/drawing/2014/main" id="{D98D975D-6E31-5249-96D5-8353F2F5F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(2,3))</a:t>
            </a:r>
          </a:p>
        </p:txBody>
      </p:sp>
      <p:sp>
        <p:nvSpPr>
          <p:cNvPr id="13320" name="Line 7">
            <a:extLst>
              <a:ext uri="{FF2B5EF4-FFF2-40B4-BE49-F238E27FC236}">
                <a16:creationId xmlns="" xmlns:a16="http://schemas.microsoft.com/office/drawing/2014/main" id="{B3355F8D-8E87-7D41-AF26-021A496BF9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" name="Line 8">
            <a:extLst>
              <a:ext uri="{FF2B5EF4-FFF2-40B4-BE49-F238E27FC236}">
                <a16:creationId xmlns="" xmlns:a16="http://schemas.microsoft.com/office/drawing/2014/main" id="{DB6418A8-F996-A74B-9BED-B969CC1CD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" name="Text Box 9">
            <a:extLst>
              <a:ext uri="{FF2B5EF4-FFF2-40B4-BE49-F238E27FC236}">
                <a16:creationId xmlns="" xmlns:a16="http://schemas.microsoft.com/office/drawing/2014/main" id="{92530DDB-E290-D74A-AFED-FF490097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(2,4))</a:t>
            </a:r>
          </a:p>
        </p:txBody>
      </p:sp>
      <p:sp>
        <p:nvSpPr>
          <p:cNvPr id="13323" name="Line 10">
            <a:extLst>
              <a:ext uri="{FF2B5EF4-FFF2-40B4-BE49-F238E27FC236}">
                <a16:creationId xmlns="" xmlns:a16="http://schemas.microsoft.com/office/drawing/2014/main" id="{33B88120-5B2D-D249-9F3A-D70F67304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4" name="Text Box 11">
            <a:extLst>
              <a:ext uri="{FF2B5EF4-FFF2-40B4-BE49-F238E27FC236}">
                <a16:creationId xmlns="" xmlns:a16="http://schemas.microsoft.com/office/drawing/2014/main" id="{40E64B06-053D-5A4A-BBF5-334970A0A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 (3.2))</a:t>
            </a:r>
          </a:p>
        </p:txBody>
      </p:sp>
      <p:sp>
        <p:nvSpPr>
          <p:cNvPr id="13325" name="Line 12">
            <a:extLst>
              <a:ext uri="{FF2B5EF4-FFF2-40B4-BE49-F238E27FC236}">
                <a16:creationId xmlns="" xmlns:a16="http://schemas.microsoft.com/office/drawing/2014/main" id="{995CB58B-DD59-244C-9EBC-8902E291C3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6" name="Line 13">
            <a:extLst>
              <a:ext uri="{FF2B5EF4-FFF2-40B4-BE49-F238E27FC236}">
                <a16:creationId xmlns="" xmlns:a16="http://schemas.microsoft.com/office/drawing/2014/main" id="{CEDD36BF-F7B7-954E-A067-202F33CC19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7" name="Line 14">
            <a:extLst>
              <a:ext uri="{FF2B5EF4-FFF2-40B4-BE49-F238E27FC236}">
                <a16:creationId xmlns="" xmlns:a16="http://schemas.microsoft.com/office/drawing/2014/main" id="{A074E08F-E7B2-7344-8995-C5F9B2EC78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8" name="Line 15">
            <a:extLst>
              <a:ext uri="{FF2B5EF4-FFF2-40B4-BE49-F238E27FC236}">
                <a16:creationId xmlns="" xmlns:a16="http://schemas.microsoft.com/office/drawing/2014/main" id="{81C0BFB8-18A3-3546-A5DD-CAF5606890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9" name="Text Box 16">
            <a:extLst>
              <a:ext uri="{FF2B5EF4-FFF2-40B4-BE49-F238E27FC236}">
                <a16:creationId xmlns="" xmlns:a16="http://schemas.microsoft.com/office/drawing/2014/main" id="{968F1FB4-BA2E-334C-B6A7-5351EC108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13330" name="Text Box 17">
            <a:extLst>
              <a:ext uri="{FF2B5EF4-FFF2-40B4-BE49-F238E27FC236}">
                <a16:creationId xmlns="" xmlns:a16="http://schemas.microsoft.com/office/drawing/2014/main" id="{0AB44D91-4545-264C-BC2D-15F0975A4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((1,2))</a:t>
            </a:r>
          </a:p>
        </p:txBody>
      </p:sp>
      <p:sp>
        <p:nvSpPr>
          <p:cNvPr id="13331" name="Line 18">
            <a:extLst>
              <a:ext uri="{FF2B5EF4-FFF2-40B4-BE49-F238E27FC236}">
                <a16:creationId xmlns="" xmlns:a16="http://schemas.microsoft.com/office/drawing/2014/main" id="{06C9D475-5E36-C34C-9F77-7B9FE1680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2" name="Text Box 19">
            <a:extLst>
              <a:ext uri="{FF2B5EF4-FFF2-40B4-BE49-F238E27FC236}">
                <a16:creationId xmlns="" xmlns:a16="http://schemas.microsoft.com/office/drawing/2014/main" id="{2480EB38-0403-4948-AB88-B527CA4C8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13333" name="Text Box 20">
            <a:extLst>
              <a:ext uri="{FF2B5EF4-FFF2-40B4-BE49-F238E27FC236}">
                <a16:creationId xmlns="" xmlns:a16="http://schemas.microsoft.com/office/drawing/2014/main" id="{F2D99097-CDA8-0F41-A3BC-23CF5C6AD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2004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((1,2) (2,4))</a:t>
            </a:r>
          </a:p>
        </p:txBody>
      </p:sp>
      <p:sp>
        <p:nvSpPr>
          <p:cNvPr id="13334" name="Line 21">
            <a:extLst>
              <a:ext uri="{FF2B5EF4-FFF2-40B4-BE49-F238E27FC236}">
                <a16:creationId xmlns="" xmlns:a16="http://schemas.microsoft.com/office/drawing/2014/main" id="{8F0D1EBA-92C2-0942-9BF6-B076B763C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3622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5" name="Text Box 22">
            <a:extLst>
              <a:ext uri="{FF2B5EF4-FFF2-40B4-BE49-F238E27FC236}">
                <a16:creationId xmlns="" xmlns:a16="http://schemas.microsoft.com/office/drawing/2014/main" id="{28E78210-7C3E-314B-B639-3CA7A7779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3716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13336" name="Text Box 23">
            <a:extLst>
              <a:ext uri="{FF2B5EF4-FFF2-40B4-BE49-F238E27FC236}">
                <a16:creationId xmlns="" xmlns:a16="http://schemas.microsoft.com/office/drawing/2014/main" id="{92794CF1-BAAF-F84A-B335-19567D790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4600" y="4267200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((1,2) (2,4) (3,1))</a:t>
            </a:r>
            <a:endParaRPr lang="en-US" altLang="zh-CN"/>
          </a:p>
        </p:txBody>
      </p:sp>
      <p:sp>
        <p:nvSpPr>
          <p:cNvPr id="13337" name="Line 24">
            <a:extLst>
              <a:ext uri="{FF2B5EF4-FFF2-40B4-BE49-F238E27FC236}">
                <a16:creationId xmlns="" xmlns:a16="http://schemas.microsoft.com/office/drawing/2014/main" id="{D0AF0D44-9933-0847-A311-96C712A28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733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69362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EC70C6BA-B04A-CC4A-9A58-3852EEEA29A7}"/>
              </a:ext>
            </a:extLst>
          </p:cNvPr>
          <p:cNvSpPr/>
          <p:nvPr/>
        </p:nvSpPr>
        <p:spPr>
          <a:xfrm>
            <a:off x="4724400" y="1524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339" name="灯片编号占位符 3">
            <a:extLst>
              <a:ext uri="{FF2B5EF4-FFF2-40B4-BE49-F238E27FC236}">
                <a16:creationId xmlns="" xmlns:a16="http://schemas.microsoft.com/office/drawing/2014/main" id="{F119DF0B-F0DC-DA41-A345-A4CD3C2F0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420A10EA-AB6F-EC49-8F9D-EA50DCA802F3}" type="slidenum">
              <a:rPr kumimoji="0" lang="en-US" altLang="zh-CN" sz="1400"/>
              <a:pPr eaLnBrk="1" hangingPunct="1"/>
              <a:t>102</a:t>
            </a:fld>
            <a:endParaRPr kumimoji="0" lang="en-US" altLang="zh-CN" sz="1400"/>
          </a:p>
        </p:txBody>
      </p:sp>
      <p:graphicFrame>
        <p:nvGraphicFramePr>
          <p:cNvPr id="14338" name="Object 2">
            <a:extLst>
              <a:ext uri="{FF2B5EF4-FFF2-40B4-BE49-F238E27FC236}">
                <a16:creationId xmlns="" xmlns:a16="http://schemas.microsoft.com/office/drawing/2014/main" id="{0E3B9A53-14D2-FC43-8075-98349D8FD9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300038"/>
          <a:ext cx="2874963" cy="2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84" name="文档" r:id="rId3" imgW="42545000" imgH="27749500" progId="Word.Document.8">
                  <p:embed/>
                </p:oleObj>
              </mc:Choice>
              <mc:Fallback>
                <p:oleObj name="文档" r:id="rId3" imgW="42545000" imgH="277495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300038"/>
                        <a:ext cx="2874963" cy="2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Text Box 3">
            <a:extLst>
              <a:ext uri="{FF2B5EF4-FFF2-40B4-BE49-F238E27FC236}">
                <a16:creationId xmlns="" xmlns:a16="http://schemas.microsoft.com/office/drawing/2014/main" id="{B2CB594C-5C17-1345-8D2E-97A1E1371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876300"/>
            <a:ext cx="46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 )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="" xmlns:a16="http://schemas.microsoft.com/office/drawing/2014/main" id="{9CB63C81-C292-5841-879F-C549FEBEB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((1,1))</a:t>
            </a:r>
          </a:p>
        </p:txBody>
      </p:sp>
      <p:sp>
        <p:nvSpPr>
          <p:cNvPr id="14342" name="Line 5">
            <a:extLst>
              <a:ext uri="{FF2B5EF4-FFF2-40B4-BE49-F238E27FC236}">
                <a16:creationId xmlns="" xmlns:a16="http://schemas.microsoft.com/office/drawing/2014/main" id="{45F352A5-4206-EF4D-930F-EAC717ABDF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295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" name="Text Box 6">
            <a:extLst>
              <a:ext uri="{FF2B5EF4-FFF2-40B4-BE49-F238E27FC236}">
                <a16:creationId xmlns="" xmlns:a16="http://schemas.microsoft.com/office/drawing/2014/main" id="{FBDEBFDD-193C-A546-A70E-1779ADA5B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(2,3))</a:t>
            </a:r>
          </a:p>
        </p:txBody>
      </p:sp>
      <p:sp>
        <p:nvSpPr>
          <p:cNvPr id="14344" name="Line 7">
            <a:extLst>
              <a:ext uri="{FF2B5EF4-FFF2-40B4-BE49-F238E27FC236}">
                <a16:creationId xmlns="" xmlns:a16="http://schemas.microsoft.com/office/drawing/2014/main" id="{8A65899F-4809-A245-A4D6-3E4928C08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5" name="Line 8">
            <a:extLst>
              <a:ext uri="{FF2B5EF4-FFF2-40B4-BE49-F238E27FC236}">
                <a16:creationId xmlns="" xmlns:a16="http://schemas.microsoft.com/office/drawing/2014/main" id="{525E79D0-A54A-CE48-817E-5E5CC12D9D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" name="Text Box 9">
            <a:extLst>
              <a:ext uri="{FF2B5EF4-FFF2-40B4-BE49-F238E27FC236}">
                <a16:creationId xmlns="" xmlns:a16="http://schemas.microsoft.com/office/drawing/2014/main" id="{686C6CFD-E4D0-3346-9714-495C98C2E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0480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(2,4))</a:t>
            </a:r>
          </a:p>
        </p:txBody>
      </p:sp>
      <p:sp>
        <p:nvSpPr>
          <p:cNvPr id="14347" name="Line 10">
            <a:extLst>
              <a:ext uri="{FF2B5EF4-FFF2-40B4-BE49-F238E27FC236}">
                <a16:creationId xmlns="" xmlns:a16="http://schemas.microsoft.com/office/drawing/2014/main" id="{6B180180-94DF-EA42-8352-B54F4C03F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1295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Text Box 11">
            <a:extLst>
              <a:ext uri="{FF2B5EF4-FFF2-40B4-BE49-F238E27FC236}">
                <a16:creationId xmlns="" xmlns:a16="http://schemas.microsoft.com/office/drawing/2014/main" id="{EF5D8EBE-B608-9745-93D6-3CD1C9CBF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191000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((1,1) (2,4) (3.2))</a:t>
            </a:r>
          </a:p>
        </p:txBody>
      </p:sp>
      <p:sp>
        <p:nvSpPr>
          <p:cNvPr id="14349" name="Line 12">
            <a:extLst>
              <a:ext uri="{FF2B5EF4-FFF2-40B4-BE49-F238E27FC236}">
                <a16:creationId xmlns="" xmlns:a16="http://schemas.microsoft.com/office/drawing/2014/main" id="{5936F99B-329A-D34C-A624-85128635CA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Line 13">
            <a:extLst>
              <a:ext uri="{FF2B5EF4-FFF2-40B4-BE49-F238E27FC236}">
                <a16:creationId xmlns="" xmlns:a16="http://schemas.microsoft.com/office/drawing/2014/main" id="{69F51351-F962-814E-BC91-62BF02096B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3657600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1" name="Line 14">
            <a:extLst>
              <a:ext uri="{FF2B5EF4-FFF2-40B4-BE49-F238E27FC236}">
                <a16:creationId xmlns="" xmlns:a16="http://schemas.microsoft.com/office/drawing/2014/main" id="{55FE5CBE-3324-B94D-86C0-8AB663FCBA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400" y="21336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2" name="Line 15">
            <a:extLst>
              <a:ext uri="{FF2B5EF4-FFF2-40B4-BE49-F238E27FC236}">
                <a16:creationId xmlns="" xmlns:a16="http://schemas.microsoft.com/office/drawing/2014/main" id="{33D362A8-ED63-934A-94C8-ABFC15232E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1447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3" name="Text Box 16">
            <a:extLst>
              <a:ext uri="{FF2B5EF4-FFF2-40B4-BE49-F238E27FC236}">
                <a16:creationId xmlns="" xmlns:a16="http://schemas.microsoft.com/office/drawing/2014/main" id="{E50E412C-56C1-6847-9A4F-60F474BA5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04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14354" name="Text Box 17">
            <a:extLst>
              <a:ext uri="{FF2B5EF4-FFF2-40B4-BE49-F238E27FC236}">
                <a16:creationId xmlns="" xmlns:a16="http://schemas.microsoft.com/office/drawing/2014/main" id="{9F6DE7B9-01D1-6240-97C2-FE34E829B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828800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((1,2))</a:t>
            </a:r>
          </a:p>
        </p:txBody>
      </p:sp>
      <p:sp>
        <p:nvSpPr>
          <p:cNvPr id="14355" name="Line 18">
            <a:extLst>
              <a:ext uri="{FF2B5EF4-FFF2-40B4-BE49-F238E27FC236}">
                <a16:creationId xmlns="" xmlns:a16="http://schemas.microsoft.com/office/drawing/2014/main" id="{CA3BE198-0197-D845-A3F6-B0E687511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371600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6" name="Text Box 19">
            <a:extLst>
              <a:ext uri="{FF2B5EF4-FFF2-40B4-BE49-F238E27FC236}">
                <a16:creationId xmlns="" xmlns:a16="http://schemas.microsoft.com/office/drawing/2014/main" id="{63E05944-8353-D243-9B1E-EE4D43519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8382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14357" name="Text Box 20">
            <a:extLst>
              <a:ext uri="{FF2B5EF4-FFF2-40B4-BE49-F238E27FC236}">
                <a16:creationId xmlns="" xmlns:a16="http://schemas.microsoft.com/office/drawing/2014/main" id="{71825DA0-C8BF-704A-AD65-B6395DB23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200400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((1,2) (2,4))</a:t>
            </a:r>
          </a:p>
        </p:txBody>
      </p:sp>
      <p:sp>
        <p:nvSpPr>
          <p:cNvPr id="14358" name="Line 21">
            <a:extLst>
              <a:ext uri="{FF2B5EF4-FFF2-40B4-BE49-F238E27FC236}">
                <a16:creationId xmlns="" xmlns:a16="http://schemas.microsoft.com/office/drawing/2014/main" id="{D377C8D0-9768-1949-A476-85FAD0E60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3622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9" name="Text Box 22">
            <a:extLst>
              <a:ext uri="{FF2B5EF4-FFF2-40B4-BE49-F238E27FC236}">
                <a16:creationId xmlns="" xmlns:a16="http://schemas.microsoft.com/office/drawing/2014/main" id="{464C2B73-05F6-FD47-8745-AD72A755A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3716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14360" name="Text Box 23">
            <a:extLst>
              <a:ext uri="{FF2B5EF4-FFF2-40B4-BE49-F238E27FC236}">
                <a16:creationId xmlns="" xmlns:a16="http://schemas.microsoft.com/office/drawing/2014/main" id="{8DEEAD8E-0A3F-8D45-A41C-71536992D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4600" y="4267200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/>
              <a:t>((1,2) (2,4) (3,1))</a:t>
            </a:r>
          </a:p>
        </p:txBody>
      </p:sp>
      <p:sp>
        <p:nvSpPr>
          <p:cNvPr id="14361" name="Line 24">
            <a:extLst>
              <a:ext uri="{FF2B5EF4-FFF2-40B4-BE49-F238E27FC236}">
                <a16:creationId xmlns="" xmlns:a16="http://schemas.microsoft.com/office/drawing/2014/main" id="{B7B3CAB9-29CD-7F45-AE87-0F070F1C5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733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2" name="Text Box 25">
            <a:extLst>
              <a:ext uri="{FF2B5EF4-FFF2-40B4-BE49-F238E27FC236}">
                <a16:creationId xmlns="" xmlns:a16="http://schemas.microsoft.com/office/drawing/2014/main" id="{899522A4-4901-DD47-9E79-27B29151B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9050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Arial Black" panose="020B0604020202020204" pitchFamily="34" charset="0"/>
              </a:rPr>
              <a:t>Q</a:t>
            </a:r>
            <a:endParaRPr lang="en-US" altLang="zh-CN"/>
          </a:p>
        </p:txBody>
      </p:sp>
      <p:sp>
        <p:nvSpPr>
          <p:cNvPr id="14363" name="Text Box 26">
            <a:extLst>
              <a:ext uri="{FF2B5EF4-FFF2-40B4-BE49-F238E27FC236}">
                <a16:creationId xmlns="" xmlns:a16="http://schemas.microsoft.com/office/drawing/2014/main" id="{7F43FD83-4796-6945-9718-82A3DEBCD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800" y="5486400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</a:rPr>
              <a:t>((1,2) (2,4) (3,1) (4,3))</a:t>
            </a:r>
            <a:endParaRPr lang="en-US" altLang="zh-CN"/>
          </a:p>
        </p:txBody>
      </p:sp>
      <p:sp>
        <p:nvSpPr>
          <p:cNvPr id="14364" name="Line 27">
            <a:extLst>
              <a:ext uri="{FF2B5EF4-FFF2-40B4-BE49-F238E27FC236}">
                <a16:creationId xmlns="" xmlns:a16="http://schemas.microsoft.com/office/drawing/2014/main" id="{09367B9C-2961-C847-8F85-91F22935F6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87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476783" y="5987534"/>
            <a:ext cx="1066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SUCCESS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165587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>
            <a:extLst>
              <a:ext uri="{FF2B5EF4-FFF2-40B4-BE49-F238E27FC236}">
                <a16:creationId xmlns="" xmlns:a16="http://schemas.microsoft.com/office/drawing/2014/main" id="{D729C72C-2736-2B40-B632-1E15522F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98DFBEA8-1D37-6F4E-B700-7EC14FBE57E9}" type="slidenum">
              <a:rPr kumimoji="0" lang="en-US" altLang="zh-CN" sz="1400"/>
              <a:pPr eaLnBrk="1" hangingPunct="1"/>
              <a:t>103</a:t>
            </a:fld>
            <a:endParaRPr kumimoji="0" lang="en-US" altLang="zh-CN" sz="1400"/>
          </a:p>
        </p:txBody>
      </p:sp>
      <p:sp>
        <p:nvSpPr>
          <p:cNvPr id="78850" name="Rectangle 2">
            <a:extLst>
              <a:ext uri="{FF2B5EF4-FFF2-40B4-BE49-F238E27FC236}">
                <a16:creationId xmlns="" xmlns:a16="http://schemas.microsoft.com/office/drawing/2014/main" id="{DA4EEA59-6C96-2946-9FB8-20FDE9470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/>
              <a:t>递归的思想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="" xmlns:a16="http://schemas.microsoft.com/office/drawing/2014/main" id="{C70FA999-C068-364E-8F14-6C20763285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57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endParaRPr lang="zh-CN" altLang="zh-CN" sz="2800"/>
          </a:p>
        </p:txBody>
      </p:sp>
      <p:sp>
        <p:nvSpPr>
          <p:cNvPr id="25605" name="Oval 4">
            <a:extLst>
              <a:ext uri="{FF2B5EF4-FFF2-40B4-BE49-F238E27FC236}">
                <a16:creationId xmlns="" xmlns:a16="http://schemas.microsoft.com/office/drawing/2014/main" id="{14D1DCBF-376F-5E4F-842D-3C3255B35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438400"/>
            <a:ext cx="228600" cy="228600"/>
          </a:xfrm>
          <a:prstGeom prst="ellipse">
            <a:avLst/>
          </a:prstGeom>
          <a:solidFill>
            <a:schemeClr val="folHlink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06" name="Oval 5">
            <a:extLst>
              <a:ext uri="{FF2B5EF4-FFF2-40B4-BE49-F238E27FC236}">
                <a16:creationId xmlns="" xmlns:a16="http://schemas.microsoft.com/office/drawing/2014/main" id="{87B98637-8701-654C-B611-80C4D0767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276600"/>
            <a:ext cx="228600" cy="228600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07" name="Oval 6">
            <a:extLst>
              <a:ext uri="{FF2B5EF4-FFF2-40B4-BE49-F238E27FC236}">
                <a16:creationId xmlns="" xmlns:a16="http://schemas.microsoft.com/office/drawing/2014/main" id="{BBDDDC26-0CA7-2545-B0A3-E6145F37E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638800"/>
            <a:ext cx="228600" cy="228600"/>
          </a:xfrm>
          <a:prstGeom prst="ellipse">
            <a:avLst/>
          </a:prstGeom>
          <a:solidFill>
            <a:schemeClr val="hlink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08" name="Text Box 7">
            <a:extLst>
              <a:ext uri="{FF2B5EF4-FFF2-40B4-BE49-F238E27FC236}">
                <a16:creationId xmlns="" xmlns:a16="http://schemas.microsoft.com/office/drawing/2014/main" id="{4929E25B-A428-4A46-B20B-BB076CF68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2133600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/>
              <a:t>当前状态</a:t>
            </a:r>
          </a:p>
        </p:txBody>
      </p:sp>
      <p:sp>
        <p:nvSpPr>
          <p:cNvPr id="25609" name="Text Box 8">
            <a:extLst>
              <a:ext uri="{FF2B5EF4-FFF2-40B4-BE49-F238E27FC236}">
                <a16:creationId xmlns="" xmlns:a16="http://schemas.microsoft.com/office/drawing/2014/main" id="{00038ED4-0E02-0D42-8769-3BCC8DB79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562600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/>
              <a:t>目标状态</a:t>
            </a:r>
            <a:r>
              <a:rPr lang="en-US" altLang="zh-CN"/>
              <a:t>g</a:t>
            </a:r>
          </a:p>
        </p:txBody>
      </p:sp>
      <p:sp>
        <p:nvSpPr>
          <p:cNvPr id="25610" name="Line 9">
            <a:extLst>
              <a:ext uri="{FF2B5EF4-FFF2-40B4-BE49-F238E27FC236}">
                <a16:creationId xmlns="" xmlns:a16="http://schemas.microsoft.com/office/drawing/2014/main" id="{3A21078C-5647-2244-80C7-7E3AF9CAC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667000"/>
            <a:ext cx="2286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1" name="Freeform 11">
            <a:extLst>
              <a:ext uri="{FF2B5EF4-FFF2-40B4-BE49-F238E27FC236}">
                <a16:creationId xmlns="" xmlns:a16="http://schemas.microsoft.com/office/drawing/2014/main" id="{6619B2F9-EA47-9542-8CA7-29ECC887EFEB}"/>
              </a:ext>
            </a:extLst>
          </p:cNvPr>
          <p:cNvSpPr>
            <a:spLocks/>
          </p:cNvSpPr>
          <p:nvPr/>
        </p:nvSpPr>
        <p:spPr bwMode="auto">
          <a:xfrm>
            <a:off x="2743200" y="3505200"/>
            <a:ext cx="3124200" cy="2286000"/>
          </a:xfrm>
          <a:custGeom>
            <a:avLst/>
            <a:gdLst>
              <a:gd name="T0" fmla="*/ 0 w 1968"/>
              <a:gd name="T1" fmla="*/ 0 h 1440"/>
              <a:gd name="T2" fmla="*/ 0 w 1968"/>
              <a:gd name="T3" fmla="*/ 2147483647 h 1440"/>
              <a:gd name="T4" fmla="*/ 2147483647 w 1968"/>
              <a:gd name="T5" fmla="*/ 2147483647 h 1440"/>
              <a:gd name="T6" fmla="*/ 2147483647 w 1968"/>
              <a:gd name="T7" fmla="*/ 2147483647 h 1440"/>
              <a:gd name="T8" fmla="*/ 2147483647 w 1968"/>
              <a:gd name="T9" fmla="*/ 2147483647 h 1440"/>
              <a:gd name="T10" fmla="*/ 2147483647 w 1968"/>
              <a:gd name="T11" fmla="*/ 2147483647 h 1440"/>
              <a:gd name="T12" fmla="*/ 2147483647 w 1968"/>
              <a:gd name="T13" fmla="*/ 2147483647 h 14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68"/>
              <a:gd name="T22" fmla="*/ 0 h 1440"/>
              <a:gd name="T23" fmla="*/ 1968 w 1968"/>
              <a:gd name="T24" fmla="*/ 1440 h 14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68" h="1440">
                <a:moveTo>
                  <a:pt x="0" y="0"/>
                </a:moveTo>
                <a:lnTo>
                  <a:pt x="0" y="384"/>
                </a:lnTo>
                <a:lnTo>
                  <a:pt x="816" y="384"/>
                </a:lnTo>
                <a:lnTo>
                  <a:pt x="288" y="1056"/>
                </a:lnTo>
                <a:lnTo>
                  <a:pt x="1104" y="960"/>
                </a:lnTo>
                <a:lnTo>
                  <a:pt x="1152" y="1440"/>
                </a:lnTo>
                <a:lnTo>
                  <a:pt x="1968" y="1392"/>
                </a:lnTo>
              </a:path>
            </a:pathLst>
          </a:custGeom>
          <a:noFill/>
          <a:ln w="5715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2" name="Oval 12">
            <a:extLst>
              <a:ext uri="{FF2B5EF4-FFF2-40B4-BE49-F238E27FC236}">
                <a16:creationId xmlns="" xmlns:a16="http://schemas.microsoft.com/office/drawing/2014/main" id="{9DEA225C-6718-D141-82C6-FE30F7E97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124200"/>
            <a:ext cx="228600" cy="228600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3" name="Oval 13">
            <a:extLst>
              <a:ext uri="{FF2B5EF4-FFF2-40B4-BE49-F238E27FC236}">
                <a16:creationId xmlns="" xmlns:a16="http://schemas.microsoft.com/office/drawing/2014/main" id="{C65D7FB3-907F-294A-A627-4EE595D3C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429000"/>
            <a:ext cx="228600" cy="228600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4" name="Oval 14">
            <a:extLst>
              <a:ext uri="{FF2B5EF4-FFF2-40B4-BE49-F238E27FC236}">
                <a16:creationId xmlns="" xmlns:a16="http://schemas.microsoft.com/office/drawing/2014/main" id="{27DBB908-7C15-2645-97BA-E4CAEF0B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667000"/>
            <a:ext cx="228600" cy="228600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5" name="Line 15">
            <a:extLst>
              <a:ext uri="{FF2B5EF4-FFF2-40B4-BE49-F238E27FC236}">
                <a16:creationId xmlns="" xmlns:a16="http://schemas.microsoft.com/office/drawing/2014/main" id="{9DBD0C61-3A67-854B-A429-80B949142F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2667000"/>
            <a:ext cx="304800" cy="7620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6" name="Line 16">
            <a:extLst>
              <a:ext uri="{FF2B5EF4-FFF2-40B4-BE49-F238E27FC236}">
                <a16:creationId xmlns="" xmlns:a16="http://schemas.microsoft.com/office/drawing/2014/main" id="{BE364902-BB6C-F745-BEFB-B049070B4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667000"/>
            <a:ext cx="609600" cy="4572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7" name="Line 17">
            <a:extLst>
              <a:ext uri="{FF2B5EF4-FFF2-40B4-BE49-F238E27FC236}">
                <a16:creationId xmlns="" xmlns:a16="http://schemas.microsoft.com/office/drawing/2014/main" id="{D75263CB-243A-444E-8771-E4785A583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590800"/>
            <a:ext cx="990600" cy="1524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8" name="Line 18">
            <a:extLst>
              <a:ext uri="{FF2B5EF4-FFF2-40B4-BE49-F238E27FC236}">
                <a16:creationId xmlns="" xmlns:a16="http://schemas.microsoft.com/office/drawing/2014/main" id="{C903293B-D829-7145-852B-5B74BB960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905000"/>
            <a:ext cx="457200" cy="5334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67361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回溯搜索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回溯搜索是深度优先搜索的另一种搜索方式，与前面一般的</a:t>
            </a:r>
            <a:r>
              <a:rPr lang="en-US" altLang="zh-CN" dirty="0"/>
              <a:t>DFS</a:t>
            </a:r>
            <a:r>
              <a:rPr lang="zh-CN" altLang="en-US" dirty="0"/>
              <a:t>搜索略有不同</a:t>
            </a:r>
            <a:endParaRPr lang="en-US" altLang="zh-CN" dirty="0"/>
          </a:p>
          <a:p>
            <a:pPr lvl="1"/>
            <a:r>
              <a:rPr lang="zh-CN" altLang="en-US" dirty="0"/>
              <a:t>对节点扩展时，每次只产生一个后继结点，并继续对这个节点进行回溯搜索</a:t>
            </a:r>
            <a:endParaRPr lang="en-US" altLang="zh-CN" dirty="0"/>
          </a:p>
          <a:p>
            <a:pPr lvl="1"/>
            <a:r>
              <a:rPr lang="zh-CN" altLang="en-US" dirty="0"/>
              <a:t>当一条路径搜索完成后，再返回到生成当前节点的那个节点，看是否可以从该节点再生成新的节点</a:t>
            </a:r>
            <a:endParaRPr lang="en-US" altLang="zh-CN" dirty="0"/>
          </a:p>
          <a:p>
            <a:pPr lvl="1"/>
            <a:r>
              <a:rPr lang="zh-CN" altLang="en-US" dirty="0"/>
              <a:t>重复上过程，直到找到搜索目标或者搜索完全部状态空间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1775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回溯搜索的编程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编程实现简单</a:t>
            </a:r>
            <a:endParaRPr lang="en-US" altLang="zh-CN" dirty="0"/>
          </a:p>
          <a:p>
            <a:pPr lvl="1"/>
            <a:r>
              <a:rPr lang="zh-CN" altLang="en-US" dirty="0"/>
              <a:t>对当前节点的所有后继节点的遍历通过搜索中回溯机制，即函数的递归调用和返回完成</a:t>
            </a:r>
            <a:endParaRPr lang="en-US" altLang="zh-CN" dirty="0"/>
          </a:p>
          <a:p>
            <a:pPr lvl="1"/>
            <a:r>
              <a:rPr lang="zh-CN" altLang="en-US" dirty="0"/>
              <a:t>不需要保存后继节点的栈结构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32660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="" xmlns:a16="http://schemas.microsoft.com/office/drawing/2014/main" id="{B2DBD0E6-9E9F-4345-A76F-0AE28EDB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78F3924C-2040-A642-84B9-56364CFEA344}" type="slidenum">
              <a:rPr kumimoji="0" lang="en-US" altLang="zh-CN" sz="1400"/>
              <a:pPr eaLnBrk="1" hangingPunct="1"/>
              <a:t>106</a:t>
            </a:fld>
            <a:endParaRPr kumimoji="0" lang="en-US" altLang="zh-CN" sz="1400"/>
          </a:p>
        </p:txBody>
      </p:sp>
      <p:sp>
        <p:nvSpPr>
          <p:cNvPr id="71682" name="Rectangle 2">
            <a:extLst>
              <a:ext uri="{FF2B5EF4-FFF2-40B4-BE49-F238E27FC236}">
                <a16:creationId xmlns="" xmlns:a16="http://schemas.microsoft.com/office/drawing/2014/main" id="{46D7ED2E-AD00-C448-AE85-A1984923A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回溯搜索求解</a:t>
            </a:r>
            <a:r>
              <a:rPr lang="en-US" altLang="zh-CN" dirty="0"/>
              <a:t>N</a:t>
            </a:r>
            <a:r>
              <a:rPr lang="zh-CN" altLang="en-US" dirty="0"/>
              <a:t>皇后</a:t>
            </a:r>
          </a:p>
        </p:txBody>
      </p:sp>
      <p:sp>
        <p:nvSpPr>
          <p:cNvPr id="7" name="笑脸 6">
            <a:extLst>
              <a:ext uri="{FF2B5EF4-FFF2-40B4-BE49-F238E27FC236}">
                <a16:creationId xmlns="" xmlns:a16="http://schemas.microsoft.com/office/drawing/2014/main" id="{17A4B9D4-5B6E-2C4E-A20E-2CE1DE1E4172}"/>
              </a:ext>
            </a:extLst>
          </p:cNvPr>
          <p:cNvSpPr/>
          <p:nvPr/>
        </p:nvSpPr>
        <p:spPr>
          <a:xfrm>
            <a:off x="75565" y="89853"/>
            <a:ext cx="685800" cy="635000"/>
          </a:xfrm>
          <a:prstGeom prst="smileyFac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34200" y="359281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注意这个代码是逐列放皇后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75460"/>
            <a:ext cx="5638800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2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F08E026F-36FE-7C46-B559-6C17D35CF7EA}" type="slidenum">
              <a:rPr kumimoji="0" lang="en-US" altLang="zh-CN" sz="1400"/>
              <a:t>107</a:t>
            </a:fld>
            <a:endParaRPr kumimoji="0" lang="en-US" altLang="zh-CN" sz="1400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53340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en-US" altLang="zh-CN" sz="3600" dirty="0"/>
              <a:t>Hanoi</a:t>
            </a:r>
            <a:r>
              <a:rPr lang="zh-CN" altLang="en-US" sz="3600" dirty="0"/>
              <a:t>塔问题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3512498"/>
            <a:ext cx="6038850" cy="2209800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775525"/>
            <a:ext cx="7772400" cy="1102921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课堂练习：请用递归思路写出求解</a:t>
            </a:r>
            <a:r>
              <a:rPr lang="en-US" altLang="zh-CN" sz="2800" dirty="0"/>
              <a:t>Hanoi</a:t>
            </a:r>
            <a:r>
              <a:rPr lang="zh-CN" altLang="en-US" sz="2800" dirty="0"/>
              <a:t>塔问题的代码</a:t>
            </a:r>
          </a:p>
        </p:txBody>
      </p:sp>
    </p:spTree>
    <p:extLst>
      <p:ext uri="{BB962C8B-B14F-4D97-AF65-F5344CB8AC3E}">
        <p14:creationId xmlns:p14="http://schemas.microsoft.com/office/powerpoint/2010/main" val="240667206"/>
      </p:ext>
    </p:extLst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="" xmlns:a16="http://schemas.microsoft.com/office/drawing/2014/main" id="{3394AF12-034A-8D48-B840-A824F2C6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08C5F1EA-8C7D-074C-8225-D6BD5787266C}" type="slidenum">
              <a:rPr kumimoji="0" lang="en-US" altLang="zh-CN" sz="1400"/>
              <a:pPr eaLnBrk="1" hangingPunct="1"/>
              <a:t>108</a:t>
            </a:fld>
            <a:endParaRPr kumimoji="0" lang="en-US" altLang="zh-CN" sz="1400"/>
          </a:p>
        </p:txBody>
      </p:sp>
      <p:sp>
        <p:nvSpPr>
          <p:cNvPr id="72706" name="Rectangle 2">
            <a:extLst>
              <a:ext uri="{FF2B5EF4-FFF2-40B4-BE49-F238E27FC236}">
                <a16:creationId xmlns="" xmlns:a16="http://schemas.microsoft.com/office/drawing/2014/main" id="{E3A1FD4A-59C1-3C42-B376-DC138D932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递归存在的问题</a:t>
            </a:r>
          </a:p>
        </p:txBody>
      </p:sp>
      <p:grpSp>
        <p:nvGrpSpPr>
          <p:cNvPr id="2" name="Group 33">
            <a:extLst>
              <a:ext uri="{FF2B5EF4-FFF2-40B4-BE49-F238E27FC236}">
                <a16:creationId xmlns="" xmlns:a16="http://schemas.microsoft.com/office/drawing/2014/main" id="{AA32E438-01E5-8C4C-BAF6-38A20E081FB7}"/>
              </a:ext>
            </a:extLst>
          </p:cNvPr>
          <p:cNvGrpSpPr>
            <a:grpSpLocks/>
          </p:cNvGrpSpPr>
          <p:nvPr/>
        </p:nvGrpSpPr>
        <p:grpSpPr bwMode="auto">
          <a:xfrm>
            <a:off x="4762500" y="1981200"/>
            <a:ext cx="2149475" cy="3867150"/>
            <a:chOff x="3000" y="1248"/>
            <a:chExt cx="1354" cy="2436"/>
          </a:xfrm>
        </p:grpSpPr>
        <p:sp>
          <p:nvSpPr>
            <p:cNvPr id="28690" name="Oval 4">
              <a:extLst>
                <a:ext uri="{FF2B5EF4-FFF2-40B4-BE49-F238E27FC236}">
                  <a16:creationId xmlns="" xmlns:a16="http://schemas.microsoft.com/office/drawing/2014/main" id="{FBCC7A4E-D911-7442-A784-7396577D9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1584"/>
              <a:ext cx="144" cy="144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91" name="Oval 5">
              <a:extLst>
                <a:ext uri="{FF2B5EF4-FFF2-40B4-BE49-F238E27FC236}">
                  <a16:creationId xmlns="" xmlns:a16="http://schemas.microsoft.com/office/drawing/2014/main" id="{B2159EE4-61A2-C547-B135-18D31291D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" y="2112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92" name="Text Box 7">
              <a:extLst>
                <a:ext uri="{FF2B5EF4-FFF2-40B4-BE49-F238E27FC236}">
                  <a16:creationId xmlns="" xmlns:a16="http://schemas.microsoft.com/office/drawing/2014/main" id="{72C77CDC-22EF-0C4B-8D52-67A39D580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0" y="1392"/>
              <a:ext cx="8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/>
                <a:t>当前状态</a:t>
              </a:r>
            </a:p>
          </p:txBody>
        </p:sp>
        <p:sp>
          <p:nvSpPr>
            <p:cNvPr id="28693" name="Line 9">
              <a:extLst>
                <a:ext uri="{FF2B5EF4-FFF2-40B4-BE49-F238E27FC236}">
                  <a16:creationId xmlns="" xmlns:a16="http://schemas.microsoft.com/office/drawing/2014/main" id="{049D8F03-BAD6-B342-98B4-FAC7C334C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1728"/>
              <a:ext cx="14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4" name="Line 17">
              <a:extLst>
                <a:ext uri="{FF2B5EF4-FFF2-40B4-BE49-F238E27FC236}">
                  <a16:creationId xmlns="" xmlns:a16="http://schemas.microsoft.com/office/drawing/2014/main" id="{4B5B0F8E-5CB4-EF4C-AA31-5E7005673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1248"/>
              <a:ext cx="288" cy="33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Freeform 18">
              <a:extLst>
                <a:ext uri="{FF2B5EF4-FFF2-40B4-BE49-F238E27FC236}">
                  <a16:creationId xmlns="" xmlns:a16="http://schemas.microsoft.com/office/drawing/2014/main" id="{10B5C9BC-DE08-0343-9FA1-B5AE1B4C2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256"/>
              <a:ext cx="516" cy="1428"/>
            </a:xfrm>
            <a:custGeom>
              <a:avLst/>
              <a:gdLst>
                <a:gd name="T0" fmla="*/ 24 w 516"/>
                <a:gd name="T1" fmla="*/ 0 h 1428"/>
                <a:gd name="T2" fmla="*/ 0 w 516"/>
                <a:gd name="T3" fmla="*/ 240 h 1428"/>
                <a:gd name="T4" fmla="*/ 168 w 516"/>
                <a:gd name="T5" fmla="*/ 300 h 1428"/>
                <a:gd name="T6" fmla="*/ 132 w 516"/>
                <a:gd name="T7" fmla="*/ 468 h 1428"/>
                <a:gd name="T8" fmla="*/ 384 w 516"/>
                <a:gd name="T9" fmla="*/ 576 h 1428"/>
                <a:gd name="T10" fmla="*/ 288 w 516"/>
                <a:gd name="T11" fmla="*/ 816 h 1428"/>
                <a:gd name="T12" fmla="*/ 468 w 516"/>
                <a:gd name="T13" fmla="*/ 1008 h 1428"/>
                <a:gd name="T14" fmla="*/ 372 w 516"/>
                <a:gd name="T15" fmla="*/ 1272 h 1428"/>
                <a:gd name="T16" fmla="*/ 516 w 516"/>
                <a:gd name="T17" fmla="*/ 1428 h 14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16"/>
                <a:gd name="T28" fmla="*/ 0 h 1428"/>
                <a:gd name="T29" fmla="*/ 516 w 516"/>
                <a:gd name="T30" fmla="*/ 1428 h 142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16" h="1428">
                  <a:moveTo>
                    <a:pt x="24" y="0"/>
                  </a:moveTo>
                  <a:lnTo>
                    <a:pt x="0" y="240"/>
                  </a:lnTo>
                  <a:lnTo>
                    <a:pt x="168" y="300"/>
                  </a:lnTo>
                  <a:lnTo>
                    <a:pt x="132" y="468"/>
                  </a:lnTo>
                  <a:lnTo>
                    <a:pt x="384" y="576"/>
                  </a:lnTo>
                  <a:lnTo>
                    <a:pt x="288" y="816"/>
                  </a:lnTo>
                  <a:lnTo>
                    <a:pt x="468" y="1008"/>
                  </a:lnTo>
                  <a:lnTo>
                    <a:pt x="372" y="1272"/>
                  </a:lnTo>
                  <a:lnTo>
                    <a:pt x="516" y="142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30">
            <a:extLst>
              <a:ext uri="{FF2B5EF4-FFF2-40B4-BE49-F238E27FC236}">
                <a16:creationId xmlns="" xmlns:a16="http://schemas.microsoft.com/office/drawing/2014/main" id="{EBA6C451-2B3F-1B40-941E-65272E7B3022}"/>
              </a:ext>
            </a:extLst>
          </p:cNvPr>
          <p:cNvGrpSpPr>
            <a:grpSpLocks/>
          </p:cNvGrpSpPr>
          <p:nvPr/>
        </p:nvGrpSpPr>
        <p:grpSpPr bwMode="auto">
          <a:xfrm>
            <a:off x="6819900" y="2019300"/>
            <a:ext cx="1276350" cy="2590800"/>
            <a:chOff x="2436" y="1080"/>
            <a:chExt cx="804" cy="1632"/>
          </a:xfrm>
        </p:grpSpPr>
        <p:sp>
          <p:nvSpPr>
            <p:cNvPr id="28681" name="Oval 20">
              <a:extLst>
                <a:ext uri="{FF2B5EF4-FFF2-40B4-BE49-F238E27FC236}">
                  <a16:creationId xmlns="" xmlns:a16="http://schemas.microsoft.com/office/drawing/2014/main" id="{93AB1E55-2859-0744-AD8A-5EC41D757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132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2" name="Oval 21">
              <a:extLst>
                <a:ext uri="{FF2B5EF4-FFF2-40B4-BE49-F238E27FC236}">
                  <a16:creationId xmlns="" xmlns:a16="http://schemas.microsoft.com/office/drawing/2014/main" id="{010D727F-5F7C-694A-9172-314246394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171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3" name="Oval 22">
              <a:extLst>
                <a:ext uri="{FF2B5EF4-FFF2-40B4-BE49-F238E27FC236}">
                  <a16:creationId xmlns="" xmlns:a16="http://schemas.microsoft.com/office/drawing/2014/main" id="{4F7EBB8D-3EB5-FF42-8C50-4BA58AD25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6" y="2148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4" name="Oval 23">
              <a:extLst>
                <a:ext uri="{FF2B5EF4-FFF2-40B4-BE49-F238E27FC236}">
                  <a16:creationId xmlns="" xmlns:a16="http://schemas.microsoft.com/office/drawing/2014/main" id="{DAC36787-0E42-B342-A20B-5334C5180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" y="2568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5" name="Line 25">
              <a:extLst>
                <a:ext uri="{FF2B5EF4-FFF2-40B4-BE49-F238E27FC236}">
                  <a16:creationId xmlns="" xmlns:a16="http://schemas.microsoft.com/office/drawing/2014/main" id="{9F04BB8F-B325-2D45-9A69-11F9B22521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1080"/>
              <a:ext cx="1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86" name="Line 26">
              <a:extLst>
                <a:ext uri="{FF2B5EF4-FFF2-40B4-BE49-F238E27FC236}">
                  <a16:creationId xmlns="" xmlns:a16="http://schemas.microsoft.com/office/drawing/2014/main" id="{3A04CCD0-DA69-5F4B-83AD-1BDBFE9529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6" y="1464"/>
              <a:ext cx="132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87" name="Line 27">
              <a:extLst>
                <a:ext uri="{FF2B5EF4-FFF2-40B4-BE49-F238E27FC236}">
                  <a16:creationId xmlns="" xmlns:a16="http://schemas.microsoft.com/office/drawing/2014/main" id="{1A1DC98A-58E8-B842-AE60-5D2C1FB7D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2" y="1860"/>
              <a:ext cx="168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88" name="Line 28">
              <a:extLst>
                <a:ext uri="{FF2B5EF4-FFF2-40B4-BE49-F238E27FC236}">
                  <a16:creationId xmlns="" xmlns:a16="http://schemas.microsoft.com/office/drawing/2014/main" id="{D594592D-5BCB-354A-A6A2-C7035DDD9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280"/>
              <a:ext cx="32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89" name="Line 29">
              <a:extLst>
                <a:ext uri="{FF2B5EF4-FFF2-40B4-BE49-F238E27FC236}">
                  <a16:creationId xmlns="" xmlns:a16="http://schemas.microsoft.com/office/drawing/2014/main" id="{76764997-6353-1348-A352-4AC07E7C5A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96" y="1452"/>
              <a:ext cx="396" cy="1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2735" name="Rectangle 31">
            <a:extLst>
              <a:ext uri="{FF2B5EF4-FFF2-40B4-BE49-F238E27FC236}">
                <a16:creationId xmlns="" xmlns:a16="http://schemas.microsoft.com/office/drawing/2014/main" id="{0DE70274-2A3F-7447-9FF2-8A00CCBDE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1905000"/>
            <a:ext cx="7772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</a:pPr>
            <a:r>
              <a:rPr lang="zh-CN" altLang="en-US" sz="3200"/>
              <a:t>问题：</a:t>
            </a:r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90000"/>
              <a:buFontTx/>
              <a:buChar char="–"/>
            </a:pPr>
            <a:r>
              <a:rPr lang="zh-CN" altLang="en-US" sz="2800"/>
              <a:t>深度问题</a:t>
            </a:r>
            <a:endParaRPr lang="zh-CN" altLang="en-US" sz="3200"/>
          </a:p>
        </p:txBody>
      </p:sp>
      <p:sp>
        <p:nvSpPr>
          <p:cNvPr id="72736" name="Rectangle 32">
            <a:extLst>
              <a:ext uri="{FF2B5EF4-FFF2-40B4-BE49-F238E27FC236}">
                <a16:creationId xmlns="" xmlns:a16="http://schemas.microsoft.com/office/drawing/2014/main" id="{CE003B9A-907B-5644-A908-565AD8FA1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2571750"/>
            <a:ext cx="7772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3200"/>
          </a:p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90000"/>
              <a:buFontTx/>
              <a:buChar char="–"/>
            </a:pPr>
            <a:r>
              <a:rPr lang="zh-CN" altLang="en-US" sz="2800"/>
              <a:t>死循环问题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72936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35" grpId="0" build="p" bldLvl="2" autoUpdateAnimBg="0"/>
      <p:bldP spid="72736" grpId="0" build="p" bldLvl="2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="" xmlns:a16="http://schemas.microsoft.com/office/drawing/2014/main" id="{D9FE16B7-43DB-0E42-9056-EB0EC5A0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8F9000BF-7DBF-774A-9070-46BDA17F5F64}" type="slidenum">
              <a:rPr kumimoji="0" lang="en-US" altLang="zh-CN" sz="1400"/>
              <a:pPr eaLnBrk="1" hangingPunct="1"/>
              <a:t>109</a:t>
            </a:fld>
            <a:endParaRPr kumimoji="0" lang="en-US" altLang="zh-CN" sz="1400"/>
          </a:p>
        </p:txBody>
      </p:sp>
      <p:sp>
        <p:nvSpPr>
          <p:cNvPr id="81922" name="Rectangle 2">
            <a:extLst>
              <a:ext uri="{FF2B5EF4-FFF2-40B4-BE49-F238E27FC236}">
                <a16:creationId xmlns="" xmlns:a16="http://schemas.microsoft.com/office/drawing/2014/main" id="{E7F2DC1F-4AEB-B943-BA3C-CDA4A23D0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递归 </a:t>
            </a:r>
            <a:r>
              <a:rPr lang="en-US" altLang="zh-CN" dirty="0"/>
              <a:t>vs. </a:t>
            </a:r>
            <a:r>
              <a:rPr lang="zh-CN" altLang="en-US" dirty="0"/>
              <a:t>图搜索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="" xmlns:a16="http://schemas.microsoft.com/office/drawing/2014/main" id="{6C46F145-03E4-1A43-A223-88C51DC43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724400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lvl="1" eaLnBrk="1" hangingPunct="1"/>
            <a:r>
              <a:rPr lang="zh-CN" altLang="en-US" dirty="0"/>
              <a:t>递归搜索：只保留从初始状态到当前状态的一条路径。</a:t>
            </a:r>
          </a:p>
          <a:p>
            <a:pPr lvl="1" eaLnBrk="1" hangingPunct="1"/>
            <a:r>
              <a:rPr lang="zh-CN" altLang="en-US" dirty="0"/>
              <a:t>图搜索：保留所有已经搜索过的路径。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2411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 bldLvl="2" autoUpdateAnimBg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4553</TotalTime>
  <Words>4369</Words>
  <Application>Microsoft Office PowerPoint</Application>
  <PresentationFormat>全屏显示(4:3)</PresentationFormat>
  <Paragraphs>782</Paragraphs>
  <Slides>109</Slides>
  <Notes>19</Notes>
  <HiddenSlides>1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109</vt:i4>
      </vt:variant>
    </vt:vector>
  </HeadingPairs>
  <TitlesOfParts>
    <vt:vector size="112" baseType="lpstr">
      <vt:lpstr>Dragon</vt:lpstr>
      <vt:lpstr>1_Dragon</vt:lpstr>
      <vt:lpstr>文档</vt:lpstr>
      <vt:lpstr>搜索问题第1讲</vt:lpstr>
      <vt:lpstr>综合设计课程简介</vt:lpstr>
      <vt:lpstr>考核和成绩构成</vt:lpstr>
      <vt:lpstr>作业简介</vt:lpstr>
      <vt:lpstr>作业简介</vt:lpstr>
      <vt:lpstr>PowerPoint 演示文稿</vt:lpstr>
      <vt:lpstr>问题0 最短路径</vt:lpstr>
      <vt:lpstr>问题1    0/1背包</vt:lpstr>
      <vt:lpstr>问题2 青蛙跳河</vt:lpstr>
      <vt:lpstr>问题3 五子棋</vt:lpstr>
      <vt:lpstr>现实问题</vt:lpstr>
      <vt:lpstr>搜索问题</vt:lpstr>
      <vt:lpstr>搜索</vt:lpstr>
      <vt:lpstr>搜索：模型定义</vt:lpstr>
      <vt:lpstr>最短路径问题</vt:lpstr>
      <vt:lpstr>四皇后问题</vt:lpstr>
      <vt:lpstr>课堂练习</vt:lpstr>
      <vt:lpstr>PowerPoint 演示文稿</vt:lpstr>
      <vt:lpstr>搜索的过程</vt:lpstr>
      <vt:lpstr>4皇后问题的状态空间（4叉树）</vt:lpstr>
      <vt:lpstr>树搜索(Tree-Search)</vt:lpstr>
      <vt:lpstr>Tree search example</vt:lpstr>
      <vt:lpstr>Tree search example</vt:lpstr>
      <vt:lpstr>Tree search example</vt:lpstr>
      <vt:lpstr>树搜索的通用框架</vt:lpstr>
      <vt:lpstr>实现细节: states vs. nodes</vt:lpstr>
      <vt:lpstr>PowerPoint 演示文稿</vt:lpstr>
      <vt:lpstr>盲搜</vt:lpstr>
      <vt:lpstr>一些基本概念</vt:lpstr>
      <vt:lpstr>一些基本概念（续1）</vt:lpstr>
      <vt:lpstr>一些基本概念（续1）</vt:lpstr>
      <vt:lpstr>深度优先搜索 Depth-first search （DFS）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8皇后深度优先搜索的简单实现</vt:lpstr>
      <vt:lpstr>课堂练习</vt:lpstr>
      <vt:lpstr>栈 stack</vt:lpstr>
      <vt:lpstr>栈 stack</vt:lpstr>
      <vt:lpstr>基于栈的DFS算法</vt:lpstr>
      <vt:lpstr>PowerPoint 演示文稿</vt:lpstr>
      <vt:lpstr>PowerPoint 演示文稿</vt:lpstr>
      <vt:lpstr>课堂练习（C版）</vt:lpstr>
      <vt:lpstr>下面几页的内容为n皇后的C++版本</vt:lpstr>
      <vt:lpstr>PowerPoint 演示文稿</vt:lpstr>
      <vt:lpstr>PowerPoint 演示文稿</vt:lpstr>
      <vt:lpstr>PowerPoint 演示文稿</vt:lpstr>
      <vt:lpstr>PowerPoint 演示文稿</vt:lpstr>
      <vt:lpstr>课堂练习（C++版）</vt:lpstr>
      <vt:lpstr>分析DFS</vt:lpstr>
      <vt:lpstr>分析DFS</vt:lpstr>
      <vt:lpstr>Iterative deepening search</vt:lpstr>
      <vt:lpstr>Iterative deepening DF search l =0</vt:lpstr>
      <vt:lpstr>Iterative deepening DF search l =1</vt:lpstr>
      <vt:lpstr>Iterative deepening DF search l =2</vt:lpstr>
      <vt:lpstr>Iterative deepening DF search l =3</vt:lpstr>
      <vt:lpstr>Iterative deepening search</vt:lpstr>
      <vt:lpstr>重复节点的判断</vt:lpstr>
      <vt:lpstr>PowerPoint 演示文稿</vt:lpstr>
      <vt:lpstr>PowerPoint 演示文稿</vt:lpstr>
      <vt:lpstr>重复节点的判断</vt:lpstr>
      <vt:lpstr>课后作业（小作业）</vt:lpstr>
      <vt:lpstr>广度优先搜索（BFS）</vt:lpstr>
      <vt:lpstr>Breadth-first search</vt:lpstr>
      <vt:lpstr>Breadth-first search</vt:lpstr>
      <vt:lpstr>Breadth-first search</vt:lpstr>
      <vt:lpstr>Breadth-first search</vt:lpstr>
      <vt:lpstr>队列 queue</vt:lpstr>
      <vt:lpstr>队列 queue</vt:lpstr>
      <vt:lpstr>广度优先搜索算法</vt:lpstr>
      <vt:lpstr>八皇后问题的BFS解法</vt:lpstr>
      <vt:lpstr>PowerPoint 演示文稿</vt:lpstr>
      <vt:lpstr>课堂练习</vt:lpstr>
      <vt:lpstr>八皇后问题BFS算法分析</vt:lpstr>
      <vt:lpstr>PowerPoint 演示文稿</vt:lpstr>
      <vt:lpstr>课堂练习：八数码</vt:lpstr>
      <vt:lpstr>课堂练习</vt:lpstr>
      <vt:lpstr>课堂练习：爬楼梯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递归的思想</vt:lpstr>
      <vt:lpstr>回溯搜索</vt:lpstr>
      <vt:lpstr>回溯搜索的编程</vt:lpstr>
      <vt:lpstr>回溯搜索求解N皇后</vt:lpstr>
      <vt:lpstr>Hanoi塔问题</vt:lpstr>
      <vt:lpstr>递归存在的问题</vt:lpstr>
      <vt:lpstr> 递归 vs. 图搜索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DescFly</cp:lastModifiedBy>
  <cp:revision>790</cp:revision>
  <dcterms:created xsi:type="dcterms:W3CDTF">2006-08-16T00:00:00Z</dcterms:created>
  <dcterms:modified xsi:type="dcterms:W3CDTF">2025-08-26T14:34:19Z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