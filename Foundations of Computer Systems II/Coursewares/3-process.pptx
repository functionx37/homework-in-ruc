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Slides/notesSlide65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26.xml" ContentType="application/vnd.openxmlformats-officedocument.presentationml.notes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27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33.xml" ContentType="application/vnd.openxmlformats-officedocument.presentationml.slid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s/slide42.xml" ContentType="application/vnd.openxmlformats-officedocument.presentationml.slide+xml"/>
  <Override PartName="/ppt/slides/slide50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49.xml" ContentType="application/vnd.openxmlformats-officedocument.presentationml.slide+xml"/>
  <Override PartName="/ppt/theme/theme1.xml" ContentType="application/vnd.openxmlformats-officedocument.theme+xml"/>
  <Override PartName="/ppt/notesSlides/notesSlide9.xml" ContentType="application/vnd.openxmlformats-officedocument.presentationml.notes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55.xml" ContentType="application/vnd.openxmlformats-officedocument.presentationml.slide+xml"/>
  <Override PartName="/ppt/slides/slide84.xml" ContentType="application/vnd.openxmlformats-officedocument.presentationml.slide+xml"/>
  <Override PartName="/ppt/slides/slide28.xml" ContentType="application/vnd.openxmlformats-officedocument.presentationml.slide+xml"/>
  <Override PartName="/ppt/slides/slide73.xml" ContentType="application/vnd.openxmlformats-officedocument.presentationml.slide+xml"/>
  <Override PartName="/ppt/notesSlides/notesSlide29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0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4.xml" ContentType="application/vnd.openxmlformats-officedocument.presentationml.notesSlide+xml"/>
  <Override PartName="/ppt/slides/slide17.xml" ContentType="application/vnd.openxmlformats-officedocument.presentationml.slide+xml"/>
  <Override PartName="/ppt/slides/slide51.xml" ContentType="application/vnd.openxmlformats-officedocument.presentationml.slide+xml"/>
  <Override PartName="/ppt/notesSlides/notesSlide45.xml" ContentType="application/vnd.openxmlformats-officedocument.presentationml.notesSlide+xml"/>
  <Override PartName="/ppt/notesSlides/notesSlide12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25.xml" ContentType="application/vnd.openxmlformats-officedocument.presentationml.notesSlide+xml"/>
  <Override PartName="/ppt/slides/slide4.xml" ContentType="application/vnd.openxmlformats-officedocument.presentationml.slide+xml"/>
  <Override PartName="/ppt/slideLayouts/slideLayout3.xml" ContentType="application/vnd.openxmlformats-officedocument.presentationml.slideLayout+xml"/>
  <Override PartName="/ppt/slides/slide90.xml" ContentType="application/vnd.openxmlformats-officedocument.presentationml.slide+xml"/>
  <Override PartName="/ppt/slides/slide1.xml" ContentType="application/vnd.openxmlformats-officedocument.presentationml.slide+xml"/>
  <Override PartName="/ppt/viewProps.xml" ContentType="application/vnd.openxmlformats-officedocument.presentationml.viewProps+xml"/>
  <Override PartName="/ppt/slides/slide37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19.xml" ContentType="application/vnd.openxmlformats-officedocument.presentationml.notesSlide+xml"/>
  <Override PartName="/ppt/notesSlides/notesSlide46.xml" ContentType="application/vnd.openxmlformats-officedocument.presentationml.notesSlide+xml"/>
  <Override PartName="/ppt/slides/slide69.xml" ContentType="application/vnd.openxmlformats-officedocument.presentationml.slide+xml"/>
  <Override PartName="/ppt/slides/slide64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27.xml" ContentType="application/vnd.openxmlformats-officedocument.presentationml.notesSlide+xml"/>
  <Override PartName="/docProps/app.xml" ContentType="application/vnd.openxmlformats-officedocument.extended-properties+xml"/>
  <Override PartName="/ppt/slides/slide26.xml" ContentType="application/vnd.openxmlformats-officedocument.presentationml.slide+xml"/>
  <Override PartName="/ppt/slides/slide87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85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49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44.xml" ContentType="application/vnd.openxmlformats-officedocument.presentationml.notesSlide+xml"/>
  <Override PartName="/ppt/slides/slide80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81.xml" ContentType="application/vnd.openxmlformats-officedocument.presentationml.slide+xml"/>
  <Override PartName="/ppt/slides/slide41.xml" ContentType="application/vnd.openxmlformats-officedocument.presentationml.slide+xml"/>
  <Override PartName="/ppt/slides/slide1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23.xml" ContentType="application/vnd.openxmlformats-officedocument.presentationml.slide+xml"/>
  <Override PartName="/ppt/slides/slide48.xml" ContentType="application/vnd.openxmlformats-officedocument.presentationml.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slides/slide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4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31.xml" ContentType="application/vnd.openxmlformats-officedocument.presentationml.slide+xml"/>
  <Override PartName="/ppt/slides/slide86.xml" ContentType="application/vnd.openxmlformats-officedocument.presentationml.slide+xml"/>
  <Override PartName="/ppt/slides/slide24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67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79.xml" ContentType="application/vnd.openxmlformats-officedocument.presentationml.slide+xml"/>
  <Override PartName="/ppt/slides/slide89.xml" ContentType="application/vnd.openxmlformats-officedocument.presentationml.slide+xml"/>
  <Override PartName="/ppt/slides/slide77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16.xml" ContentType="application/vnd.openxmlformats-officedocument.presentationml.slide+xml"/>
  <Override PartName="/ppt/slideLayouts/slideLayout2.xml" ContentType="application/vnd.openxmlformats-officedocument.presentationml.slideLayout+xml"/>
  <Override PartName="/ppt/notesSlides/notesSlide18.xml" ContentType="application/vnd.openxmlformats-officedocument.presentationml.notesSlide+xml"/>
  <Override PartName="/ppt/slides/slide30.xml" ContentType="application/vnd.openxmlformats-officedocument.presentationml.slide+xml"/>
  <Override PartName="/ppt/slides/slide88.xml" ContentType="application/vnd.openxmlformats-officedocument.presentationml.slide+xml"/>
  <Override PartName="/ppt/slides/slide63.xml" ContentType="application/vnd.openxmlformats-officedocument.presentationml.slide+xml"/>
  <Override PartName="/ppt/slides/slide22.xml" ContentType="application/vnd.openxmlformats-officedocument.presentationml.slide+xml"/>
  <Override PartName="/ppt/slides/slide72.xml" ContentType="application/vnd.openxmlformats-officedocument.presentationml.slide+xml"/>
  <Override PartName="/ppt/slides/slide75.xml" ContentType="application/vnd.openxmlformats-officedocument.presentationml.slide+xml"/>
  <Override PartName="/ppt/slides/slide45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slides/slide40.xml" ContentType="application/vnd.openxmlformats-officedocument.presentationml.slide+xml"/>
  <Override PartName="/ppt/slides/slide68.xml" ContentType="application/vnd.openxmlformats-officedocument.presentationml.slide+xml"/>
  <Override PartName="/ppt/slides/slide47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62.xml" ContentType="application/vnd.openxmlformats-officedocument.presentationml.slide+xml"/>
  <Override PartName="/ppt/slides/slide52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59.xml" ContentType="application/vnd.openxmlformats-officedocument.presentationml.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66.xml" ContentType="application/vnd.openxmlformats-officedocument.presentationml.slide+xml"/>
  <Override PartName="/ppt/slides/slide65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76.xml" ContentType="application/vnd.openxmlformats-officedocument.presentationml.slide+xml"/>
  <Override PartName="/ppt/slides/slide78.xml" ContentType="application/vnd.openxmlformats-officedocument.presentationml.slide+xml"/>
  <Override PartName="/ppt/notesSlides/notesSlide5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firstSlideNum="1">
  <p:sldMasterIdLst>
    <p:sldMasterId id="2147483648" r:id="rId0"/>
  </p:sldMasterIdLst>
  <p:notesMasterIdLst>
    <p:notesMasterId r:id="rId9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0" r:id="rId85"/>
    <p:sldId id="341" r:id="rId86"/>
    <p:sldId id="342" r:id="rId87"/>
    <p:sldId id="343" r:id="rId88"/>
    <p:sldId id="344" r:id="rId89"/>
    <p:sldId id="345" r:id="rId90"/>
  </p:sldIdLst>
  <p:sldSz cx="9144000" cy="6858000" type="screen4x3"/>
  <p:notesSz cx="6858000" cy="9144000"/>
  <p:defaultTextStyle>
    <a:lvl1pPr marL="0" indent="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1pPr>
    <a:lvl2pPr marL="457200" indent="4572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2pPr>
    <a:lvl3pPr marL="914400" indent="9144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3pPr>
    <a:lvl4pPr marL="1371600" indent="13716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4pPr>
    <a:lvl5pPr marL="1828800" indent="1828800" algn="l" defTabSz="914400" rtl="false" fontAlgn="base">
      <a:lnSpc>
        <a:spcPct val="100000"/>
      </a:lnSpc>
      <a:spcBef>
        <a:spcPts val="0"/>
      </a:spcBef>
      <a:spcAft>
        <a:spcPts val="0"/>
      </a:spcAft>
      <a:buNone/>
      <a:defRPr lang="en-US" sz="2000" b="true" i="false">
        <a:solidFill>
          <a:schemeClr val="dk1"/>
        </a:solidFill>
        <a:latin typeface="Comic Sans MS"/>
        <a:ea typeface="宋体"/>
      </a:defRPr>
    </a:lvl5pPr>
    <a:lvl6pPr>
      <a:defRPr lang="en-US" sz="1800"/>
    </a:lvl6pPr>
    <a:lvl7pPr>
      <a:defRPr lang="en-US" sz="1800"/>
    </a:lvl7pPr>
    <a:lvl8pPr>
      <a:defRPr lang="en-US" sz="1800"/>
    </a:lvl8pPr>
    <a:lvl9pPr>
      <a:defRPr lang="en-US" sz="1800"/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15620"/>
    <p:restoredTop sz="94660"/>
  </p:normalViewPr>
  <p:slideViewPr>
    <p:cSldViewPr>
      <p:cViewPr varScale="true">
        <p:scale>
          <a:sx n="104" d="100"/>
          <a:sy n="104" d="100"/>
        </p:scale>
        <p:origin x="-1236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<Relationships xmlns="http://schemas.openxmlformats.org/package/2006/relationships"><Relationship Id="rId92" Type="http://schemas.openxmlformats.org/officeDocument/2006/relationships/presProps" Target="presProps.xml" /><Relationship Id="rId9" Type="http://schemas.openxmlformats.org/officeDocument/2006/relationships/slide" Target="slides/slide9.xml" /><Relationship Id="rId87" Type="http://schemas.openxmlformats.org/officeDocument/2006/relationships/slide" Target="slides/slide87.xml" /><Relationship Id="rId84" Type="http://schemas.openxmlformats.org/officeDocument/2006/relationships/slide" Target="slides/slide84.xml" /><Relationship Id="rId83" Type="http://schemas.openxmlformats.org/officeDocument/2006/relationships/slide" Target="slides/slide83.xml" /><Relationship Id="rId8" Type="http://schemas.openxmlformats.org/officeDocument/2006/relationships/slide" Target="slides/slide8.xml" /><Relationship Id="rId4" Type="http://schemas.openxmlformats.org/officeDocument/2006/relationships/slide" Target="slides/slide4.xml" /><Relationship Id="rId55" Type="http://schemas.openxmlformats.org/officeDocument/2006/relationships/slide" Target="slides/slide55.xml" /><Relationship Id="rId39" Type="http://schemas.openxmlformats.org/officeDocument/2006/relationships/slide" Target="slides/slide39.xml" /><Relationship Id="rId14" Type="http://schemas.openxmlformats.org/officeDocument/2006/relationships/slide" Target="slides/slide14.xml" /><Relationship Id="rId37" Type="http://schemas.openxmlformats.org/officeDocument/2006/relationships/slide" Target="slides/slide37.xml" /><Relationship Id="rId44" Type="http://schemas.openxmlformats.org/officeDocument/2006/relationships/slide" Target="slides/slide44.xml" /><Relationship Id="rId35" Type="http://schemas.openxmlformats.org/officeDocument/2006/relationships/slide" Target="slides/slide35.xml" /><Relationship Id="rId33" Type="http://schemas.openxmlformats.org/officeDocument/2006/relationships/slide" Target="slides/slide33.xml" /><Relationship Id="rId24" Type="http://schemas.openxmlformats.org/officeDocument/2006/relationships/slide" Target="slides/slide24.xml" /><Relationship Id="rId3" Type="http://schemas.openxmlformats.org/officeDocument/2006/relationships/slide" Target="slides/slide3.xml" /><Relationship Id="rId27" Type="http://schemas.openxmlformats.org/officeDocument/2006/relationships/slide" Target="slides/slide27.xml" /><Relationship Id="rId13" Type="http://schemas.openxmlformats.org/officeDocument/2006/relationships/slide" Target="slides/slide13.xml" /><Relationship Id="rId26" Type="http://schemas.openxmlformats.org/officeDocument/2006/relationships/slide" Target="slides/slide26.xml" /><Relationship Id="rId25" Type="http://schemas.openxmlformats.org/officeDocument/2006/relationships/slide" Target="slides/slide25.xml" /><Relationship Id="rId48" Type="http://schemas.openxmlformats.org/officeDocument/2006/relationships/slide" Target="slides/slide48.xml" /><Relationship Id="rId23" Type="http://schemas.openxmlformats.org/officeDocument/2006/relationships/slide" Target="slides/slide23.xml" /><Relationship Id="rId31" Type="http://schemas.openxmlformats.org/officeDocument/2006/relationships/slide" Target="slides/slide31.xml" /><Relationship Id="rId29" Type="http://schemas.openxmlformats.org/officeDocument/2006/relationships/slide" Target="slides/slide29.xml" /><Relationship Id="rId12" Type="http://schemas.openxmlformats.org/officeDocument/2006/relationships/slide" Target="slides/slide12.xml" /><Relationship Id="rId86" Type="http://schemas.openxmlformats.org/officeDocument/2006/relationships/slide" Target="slides/slide86.xml" /><Relationship Id="rId10" Type="http://schemas.openxmlformats.org/officeDocument/2006/relationships/slide" Target="slides/slide10.xml" /><Relationship Id="rId2" Type="http://schemas.openxmlformats.org/officeDocument/2006/relationships/slide" Target="slides/slide2.xml" /><Relationship Id="rId82" Type="http://schemas.openxmlformats.org/officeDocument/2006/relationships/slide" Target="slides/slide82.xml" /><Relationship Id="rId11" Type="http://schemas.openxmlformats.org/officeDocument/2006/relationships/slide" Target="slides/slide11.xml" /><Relationship Id="rId79" Type="http://schemas.openxmlformats.org/officeDocument/2006/relationships/slide" Target="slides/slide79.xml" /><Relationship Id="rId36" Type="http://schemas.openxmlformats.org/officeDocument/2006/relationships/slide" Target="slides/slide36.xml" /><Relationship Id="rId40" Type="http://schemas.openxmlformats.org/officeDocument/2006/relationships/slide" Target="slides/slide40.xml" /><Relationship Id="rId89" Type="http://schemas.openxmlformats.org/officeDocument/2006/relationships/slide" Target="slides/slide89.xml" /><Relationship Id="rId34" Type="http://schemas.openxmlformats.org/officeDocument/2006/relationships/slide" Target="slides/slide34.xml" /><Relationship Id="rId28" Type="http://schemas.openxmlformats.org/officeDocument/2006/relationships/slide" Target="slides/slide28.xml" /><Relationship Id="rId94" Type="http://schemas.openxmlformats.org/officeDocument/2006/relationships/viewProps" Target="viewProps.xml" /><Relationship Id="rId77" Type="http://schemas.openxmlformats.org/officeDocument/2006/relationships/slide" Target="slides/slide77.xml" /><Relationship Id="rId16" Type="http://schemas.openxmlformats.org/officeDocument/2006/relationships/slide" Target="slides/slide16.xml" /><Relationship Id="rId30" Type="http://schemas.openxmlformats.org/officeDocument/2006/relationships/slide" Target="slides/slide30.xml" /><Relationship Id="rId15" Type="http://schemas.openxmlformats.org/officeDocument/2006/relationships/slide" Target="slides/slide15.xml" /><Relationship Id="rId85" Type="http://schemas.openxmlformats.org/officeDocument/2006/relationships/slide" Target="slides/slide85.xml" /><Relationship Id="rId73" Type="http://schemas.openxmlformats.org/officeDocument/2006/relationships/slide" Target="slides/slide73.xml" /><Relationship Id="rId54" Type="http://schemas.openxmlformats.org/officeDocument/2006/relationships/slide" Target="slides/slide54.xml" /><Relationship Id="rId68" Type="http://schemas.openxmlformats.org/officeDocument/2006/relationships/slide" Target="slides/slide68.xml" /><Relationship Id="rId18" Type="http://schemas.openxmlformats.org/officeDocument/2006/relationships/slide" Target="slides/slide18.xml" /><Relationship Id="rId88" Type="http://schemas.openxmlformats.org/officeDocument/2006/relationships/slide" Target="slides/slide88.xml" /><Relationship Id="rId0" Type="http://schemas.openxmlformats.org/officeDocument/2006/relationships/slideMaster" Target="slideMasters/slideMaster1.xml" /><Relationship Id="rId38" Type="http://schemas.openxmlformats.org/officeDocument/2006/relationships/slide" Target="slides/slide38.xml" /><Relationship Id="rId63" Type="http://schemas.openxmlformats.org/officeDocument/2006/relationships/slide" Target="slides/slide63.xml" /><Relationship Id="rId58" Type="http://schemas.openxmlformats.org/officeDocument/2006/relationships/slide" Target="slides/slide58.xml" /><Relationship Id="rId22" Type="http://schemas.openxmlformats.org/officeDocument/2006/relationships/slide" Target="slides/slide22.xml" /><Relationship Id="rId47" Type="http://schemas.openxmlformats.org/officeDocument/2006/relationships/slide" Target="slides/slide47.xml" /><Relationship Id="rId19" Type="http://schemas.openxmlformats.org/officeDocument/2006/relationships/slide" Target="slides/slide19.xml" /><Relationship Id="rId17" Type="http://schemas.openxmlformats.org/officeDocument/2006/relationships/slide" Target="slides/slide17.xml" /><Relationship Id="rId72" Type="http://schemas.openxmlformats.org/officeDocument/2006/relationships/slide" Target="slides/slide72.xml" /><Relationship Id="rId81" Type="http://schemas.openxmlformats.org/officeDocument/2006/relationships/slide" Target="slides/slide81.xml" /><Relationship Id="rId41" Type="http://schemas.openxmlformats.org/officeDocument/2006/relationships/slide" Target="slides/slide41.xml" /><Relationship Id="rId75" Type="http://schemas.openxmlformats.org/officeDocument/2006/relationships/slide" Target="slides/slide75.xml" /><Relationship Id="rId45" Type="http://schemas.openxmlformats.org/officeDocument/2006/relationships/slide" Target="slides/slide45.xml" /><Relationship Id="rId21" Type="http://schemas.openxmlformats.org/officeDocument/2006/relationships/slide" Target="slides/slide21.xml" /><Relationship Id="rId42" Type="http://schemas.openxmlformats.org/officeDocument/2006/relationships/slide" Target="slides/slide42.xml" /><Relationship Id="rId49" Type="http://schemas.openxmlformats.org/officeDocument/2006/relationships/slide" Target="slides/slide49.xml" /><Relationship Id="rId93" Type="http://schemas.openxmlformats.org/officeDocument/2006/relationships/tableStyles" Target="tableStyles.xml" /><Relationship Id="rId61" Type="http://schemas.openxmlformats.org/officeDocument/2006/relationships/slide" Target="slides/slide61.xml" /><Relationship Id="rId6" Type="http://schemas.openxmlformats.org/officeDocument/2006/relationships/slide" Target="slides/slide6.xml" /><Relationship Id="rId32" Type="http://schemas.openxmlformats.org/officeDocument/2006/relationships/slide" Target="slides/slide32.xml" /><Relationship Id="rId65" Type="http://schemas.openxmlformats.org/officeDocument/2006/relationships/slide" Target="slides/slide65.xml" /><Relationship Id="rId46" Type="http://schemas.openxmlformats.org/officeDocument/2006/relationships/slide" Target="slides/slide46.xml" /><Relationship Id="rId5" Type="http://schemas.openxmlformats.org/officeDocument/2006/relationships/slide" Target="slides/slide5.xml" /><Relationship Id="rId71" Type="http://schemas.openxmlformats.org/officeDocument/2006/relationships/slide" Target="slides/slide71.xml" /><Relationship Id="rId50" Type="http://schemas.openxmlformats.org/officeDocument/2006/relationships/slide" Target="slides/slide50.xml" /><Relationship Id="rId91" Type="http://schemas.openxmlformats.org/officeDocument/2006/relationships/notesMaster" Target="notesMasters/notesMaster1.xml" /><Relationship Id="rId62" Type="http://schemas.openxmlformats.org/officeDocument/2006/relationships/slide" Target="slides/slide62.xml" /><Relationship Id="rId52" Type="http://schemas.openxmlformats.org/officeDocument/2006/relationships/slide" Target="slides/slide52.xml" /><Relationship Id="rId53" Type="http://schemas.openxmlformats.org/officeDocument/2006/relationships/slide" Target="slides/slide53.xml" /><Relationship Id="rId56" Type="http://schemas.openxmlformats.org/officeDocument/2006/relationships/slide" Target="slides/slide56.xml" /><Relationship Id="rId20" Type="http://schemas.openxmlformats.org/officeDocument/2006/relationships/slide" Target="slides/slide20.xml" /><Relationship Id="rId57" Type="http://schemas.openxmlformats.org/officeDocument/2006/relationships/slide" Target="slides/slide57.xml" /><Relationship Id="rId59" Type="http://schemas.openxmlformats.org/officeDocument/2006/relationships/slide" Target="slides/slide59.xml" /><Relationship Id="rId60" Type="http://schemas.openxmlformats.org/officeDocument/2006/relationships/slide" Target="slides/slide60.xml" /><Relationship Id="rId64" Type="http://schemas.openxmlformats.org/officeDocument/2006/relationships/slide" Target="slides/slide64.xml" /><Relationship Id="rId90" Type="http://schemas.openxmlformats.org/officeDocument/2006/relationships/slide" Target="slides/slide90.xml" /><Relationship Id="rId1" Type="http://schemas.openxmlformats.org/officeDocument/2006/relationships/slide" Target="slides/slide1.xml" /><Relationship Id="rId66" Type="http://schemas.openxmlformats.org/officeDocument/2006/relationships/slide" Target="slides/slide66.xml" /><Relationship Id="rId69" Type="http://schemas.openxmlformats.org/officeDocument/2006/relationships/slide" Target="slides/slide69.xml" /><Relationship Id="rId51" Type="http://schemas.openxmlformats.org/officeDocument/2006/relationships/slide" Target="slides/slide51.xml" /><Relationship Id="rId67" Type="http://schemas.openxmlformats.org/officeDocument/2006/relationships/slide" Target="slides/slide67.xml" /><Relationship Id="rId7" Type="http://schemas.openxmlformats.org/officeDocument/2006/relationships/slide" Target="slides/slide7.xml" /><Relationship Id="rId80" Type="http://schemas.openxmlformats.org/officeDocument/2006/relationships/slide" Target="slides/slide80.xml" /><Relationship Id="rId70" Type="http://schemas.openxmlformats.org/officeDocument/2006/relationships/slide" Target="slides/slide70.xml" /><Relationship Id="rId74" Type="http://schemas.openxmlformats.org/officeDocument/2006/relationships/slide" Target="slides/slide74.xml" /><Relationship Id="rId43" Type="http://schemas.openxmlformats.org/officeDocument/2006/relationships/slide" Target="slides/slide43.xml" /><Relationship Id="rId76" Type="http://schemas.openxmlformats.org/officeDocument/2006/relationships/slide" Target="slides/slide76.xml" /><Relationship Id="rId78" Type="http://schemas.openxmlformats.org/officeDocument/2006/relationships/slide" Target="slides/slide7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 noChangeShapeType="true"/>
          </p:cNvSpPr>
          <p:nvPr>
            <p:ph type="hdr" idx="0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3" name="Rectangle 3"/>
          <p:cNvSpPr>
            <a:spLocks noGrp="true" noChangeShapeType="true"/>
          </p:cNvSpPr>
          <p:nvPr>
            <p:ph type="dt" idx="1"/>
          </p:nvPr>
        </p:nvSpPr>
        <p:spPr>
          <a:xfrm>
            <a:off x="3886200" y="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4" name="Rectangle 4"/>
          <p:cNvSpPr>
            <a:spLocks noGrp="true" noChangeShapeType="true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4">
            <a:solidFill>
              <a:srgbClr val="000000"/>
            </a:solidFill>
            <a:round/>
            <a:headEnd/>
            <a:tailEnd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5" name="Rectangle 5"/>
          <p:cNvSpPr>
            <a:spLocks noGrp="true" noChangeShapeType="true"/>
          </p:cNvSpPr>
          <p:nvPr>
            <p:ph type="body" idx="3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1pPr>
            <a:lvl2pPr marL="457200" indent="4572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2pPr>
            <a:lvl3pPr marL="914400" indent="9144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3pPr>
            <a:lvl4pPr marL="1371600" indent="13716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4pPr>
            <a:lvl5pPr marL="1828800" indent="1828800" algn="l" defTabSz="914400" rtl="false" fontAlgn="base">
              <a:lnSpc>
                <a:spcPct val="100000"/>
              </a:lnSpc>
              <a:spcBef>
                <a:spcPct val="30000"/>
              </a:spcBef>
              <a:spcAft>
                <a:spcPts val="0"/>
              </a:spcAft>
              <a:buNone/>
              <a:defRPr sz="1200" b="false" i="false">
                <a:solidFill>
                  <a:schemeClr val="dk1"/>
                </a:solidFill>
                <a:latin typeface="Times New Roman"/>
                <a:ea typeface="宋体"/>
              </a:defRPr>
            </a:lvl5pPr>
          </a:lstStyle>
          <a:p>
            <a:pPr marL="0" lvl="0" indent="0">
              <a:spcBef>
                <a:spcPct val="30000"/>
              </a:spcBef>
              <a:buNone/>
            </a:pPr>
            <a:r>
              <a:rPr lang="en-US"/>
              <a:t>Click to edit Master text styles</a:t>
            </a:r>
            <a:endParaRPr/>
          </a:p>
          <a:p>
            <a:pPr marL="457200" lvl="1" indent="0">
              <a:spcBef>
                <a:spcPct val="30000"/>
              </a:spcBef>
              <a:buNone/>
            </a:pPr>
            <a:r>
              <a:rPr lang="en-US"/>
              <a:t>Second level</a:t>
            </a:r>
            <a:endParaRPr/>
          </a:p>
          <a:p>
            <a:pPr marL="914400" lvl="2" indent="0">
              <a:spcBef>
                <a:spcPct val="30000"/>
              </a:spcBef>
              <a:buNone/>
            </a:pPr>
            <a:r>
              <a:rPr lang="en-US"/>
              <a:t>Third level</a:t>
            </a:r>
            <a:endParaRPr/>
          </a:p>
          <a:p>
            <a:pPr marL="1371600" lvl="3" indent="0">
              <a:spcBef>
                <a:spcPct val="30000"/>
              </a:spcBef>
              <a:buNone/>
            </a:pPr>
            <a:r>
              <a:rPr lang="en-US"/>
              <a:t>Fourth level</a:t>
            </a:r>
            <a:endParaRPr/>
          </a:p>
          <a:p>
            <a:pPr marL="1828800" lvl="4" indent="0">
              <a:spcBef>
                <a:spcPct val="30000"/>
              </a:spcBef>
              <a:buNone/>
            </a:pPr>
            <a:r>
              <a:rPr lang="en-US"/>
              <a:t>Fifth level</a:t>
            </a:r>
            <a:endParaRPr/>
          </a:p>
        </p:txBody>
      </p:sp>
      <p:sp>
        <p:nvSpPr>
          <p:cNvPr id="6" name="Rectangle 6"/>
          <p:cNvSpPr>
            <a:spLocks noGrp="true" noChangeShapeType="true"/>
          </p:cNvSpPr>
          <p:nvPr>
            <p:ph type="ftr" idx="4"/>
          </p:nvPr>
        </p:nvSpPr>
        <p:spPr>
          <a:xfrm>
            <a:off x="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/>
            <a:endParaRPr sz="1400" dirty="false"/>
          </a:p>
        </p:txBody>
      </p:sp>
      <p:sp>
        <p:nvSpPr>
          <p:cNvPr id="7" name="Rectangle 7"/>
          <p:cNvSpPr>
            <a:spLocks noGrp="true" noChangeShapeType="true"/>
          </p:cNvSpPr>
          <p:nvPr>
            <p:ph type="sldNum" idx="5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5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6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7.xml" 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8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9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.xml" 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0.xml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1.xml" 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4.xml" 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5.xml" 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6.xml" 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7.xml" 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8.xml" 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9.xml" 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.xml" /></Relationships>
</file>

<file path=ppt/notesSlides/_rels/notesSlide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0.xml" /></Relationships>
</file>

<file path=ppt/notesSlides/_rels/notesSlide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1.xml" /></Relationships>
</file>

<file path=ppt/notesSlides/_rels/notesSlide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2.xml" /></Relationships>
</file>

<file path=ppt/notesSlides/_rels/notesSlide2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3.xml" /></Relationships>
</file>

<file path=ppt/notesSlides/_rels/notesSlide2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4.xml" /></Relationships>
</file>

<file path=ppt/notesSlides/_rels/notesSlide2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5.xml" /></Relationships>
</file>

<file path=ppt/notesSlides/_rels/notesSlide2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6.xml" /></Relationships>
</file>

<file path=ppt/notesSlides/_rels/notesSlide2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7.xml" /></Relationships>
</file>

<file path=ppt/notesSlides/_rels/notesSlide2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8.xml" /></Relationships>
</file>

<file path=ppt/notesSlides/_rels/notesSlide2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9.xml" /></Relationships>
</file>

<file path=ppt/notesSlides/_rels/notesSlide2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.xml" /></Relationships>
</file>

<file path=ppt/notesSlides/_rels/notesSlide2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0.xml" /></Relationships>
</file>

<file path=ppt/notesSlides/_rels/notesSlide2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1.xml" /></Relationships>
</file>

<file path=ppt/notesSlides/_rels/notesSlide3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2.xml" /></Relationships>
</file>

<file path=ppt/notesSlides/_rels/notesSlide3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3.xml" /></Relationships>
</file>

<file path=ppt/notesSlides/_rels/notesSlide3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4.xml" /></Relationships>
</file>

<file path=ppt/notesSlides/_rels/notesSlide3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5.xml" /></Relationships>
</file>

<file path=ppt/notesSlides/_rels/notesSlide3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6.xml" /></Relationships>
</file>

<file path=ppt/notesSlides/_rels/notesSlide3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7.xml" /></Relationships>
</file>

<file path=ppt/notesSlides/_rels/notesSlide3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8.xml" /></Relationships>
</file>

<file path=ppt/notesSlides/_rels/notesSlide3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9.xml" /></Relationships>
</file>

<file path=ppt/notesSlides/_rels/notesSlide3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0.xml" /></Relationships>
</file>

<file path=ppt/notesSlides/_rels/notesSlide3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1.xml" /></Relationships>
</file>

<file path=ppt/notesSlides/_rels/notesSlide4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2.xml" /></Relationships>
</file>

<file path=ppt/notesSlides/_rels/notesSlide4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3.xml" /></Relationships>
</file>

<file path=ppt/notesSlides/_rels/notesSlide4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7.xml" /></Relationships>
</file>

<file path=ppt/notesSlides/_rels/notesSlide4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8.xml" /></Relationships>
</file>

<file path=ppt/notesSlides/_rels/notesSlide4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.xml" /></Relationships>
</file>

<file path=ppt/notesSlides/_rels/notesSlide4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1.xml" /></Relationships>
</file>

<file path=ppt/notesSlides/_rels/notesSlide4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2.xml" /></Relationships>
</file>

<file path=ppt/notesSlides/_rels/notesSlide4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3.xml" /></Relationships>
</file>

<file path=ppt/notesSlides/_rels/notesSlide4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.xml" /></Relationships>
</file>

<file path=ppt/notesSlides/_rels/notesSlide4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2.xml" /></Relationships>
</file>

<file path=ppt/notesSlides/_rels/notesSlide5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3.xml" /></Relationships>
</file>

<file path=ppt/notesSlides/_rels/notesSlide5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4.xml" /></Relationships>
</file>

<file path=ppt/notesSlides/_rels/notesSlide5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5.xml" /></Relationships>
</file>

<file path=ppt/notesSlides/_rels/notesSlide5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6.xml" /></Relationships>
</file>

<file path=ppt/notesSlides/_rels/notesSlide5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79.xml" /></Relationships>
</file>

<file path=ppt/notesSlides/_rels/notesSlide5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.xml" /></Relationships>
</file>

<file path=ppt/notesSlides/_rels/notesSlide5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0.xml" /></Relationships>
</file>

<file path=ppt/notesSlides/_rels/notesSlide5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1.xml" /></Relationships>
</file>

<file path=ppt/notesSlides/_rels/notesSlide5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2.xml" /></Relationships>
</file>

<file path=ppt/notesSlides/_rels/notesSlide5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3.xml" /></Relationships>
</file>

<file path=ppt/notesSlides/_rels/notesSlide6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4.xml" /></Relationships>
</file>

<file path=ppt/notesSlides/_rels/notesSlide6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5.xml" /></Relationships>
</file>

<file path=ppt/notesSlides/_rels/notesSlide6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6.xml" /></Relationships>
</file>

<file path=ppt/notesSlides/_rels/notesSlide6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7.xml" /></Relationships>
</file>

<file path=ppt/notesSlides/_rels/notesSlide6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8.xml" /></Relationships>
</file>

<file path=ppt/notesSlides/_rels/notesSlide6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9.xml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3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3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3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4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4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4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4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4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51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/>
            <a:r>
              <a:rPr lang="zh-CN"/>
              <a:t>(a++和++a的区别，前者本身的值是a，而后者的值是a+1)</a:t>
            </a:r>
            <a:endParaRPr/>
          </a:p>
          <a:p>
            <a:pPr lvl="0"/>
            <a:r>
              <a:rPr lang="zh-CN"/>
              <a:t>子进程：x=2, x=1</a:t>
            </a:r>
            <a:endParaRPr/>
          </a:p>
          <a:p>
            <a:pPr lvl="0"/>
            <a:r>
              <a:rPr lang="zh-CN"/>
              <a:t>父进程：x=0</a:t>
            </a:r>
            <a:endParaRPr/>
          </a:p>
          <a:p>
            <a:pPr lvl="0"/>
            <a:r>
              <a:rPr lang="zh-CN"/>
              <a:t>3种</a:t>
            </a:r>
            <a:endParaRPr/>
          </a:p>
        </p:txBody>
      </p:sp>
      <p:sp>
        <p:nvSpPr>
          <p:cNvPr id="5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55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/>
            <a:r>
              <a:rPr lang="zh-CN"/>
              <a:t>4个</a:t>
            </a:r>
            <a:endParaRPr/>
          </a:p>
        </p:txBody>
      </p:sp>
      <p:sp>
        <p:nvSpPr>
          <p:cNvPr id="56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  <p:sp>
        <p:nvSpPr>
          <p:cNvPr id="59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/>
            <a:r>
              <a:rPr lang="zh-CN"/>
              <a:t>8个</a:t>
            </a:r>
            <a:endParaRPr/>
          </a:p>
          <a:p>
            <a:pPr lvl="0"/>
            <a:r>
              <a:rPr lang="zh-CN"/>
              <a:t>共4个进程，每个进程在doit()和main()中各输出一个hello</a:t>
            </a:r>
            <a:endParaRPr/>
          </a:p>
        </p:txBody>
      </p:sp>
      <p:sp>
        <p:nvSpPr>
          <p:cNvPr id="60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6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6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6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6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7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7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8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83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/>
            <a:r>
              <a:rPr lang="en-US" b="false" i="false" u="none"/>
              <a:t>A </a:t>
            </a:r>
            <a:endParaRPr/>
          </a:p>
        </p:txBody>
      </p:sp>
      <p:sp>
        <p:nvSpPr>
          <p:cNvPr id="84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8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8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9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9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9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9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>
  <p:cSld>
    <p:spTree>
      <p:nvGrpSpPr>
        <p:cNvPr id="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9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0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>
  <p:cSld>
    <p:spTree>
      <p:nvGrpSpPr>
        <p:cNvPr id="1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0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0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>
  <p:cSld>
    <p:spTree>
      <p:nvGrpSpPr>
        <p:cNvPr id="1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0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0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>
  <p:cSld>
    <p:spTree>
      <p:nvGrpSpPr>
        <p:cNvPr id="10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1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1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>
  <p:cSld>
    <p:spTree>
      <p:nvGrpSpPr>
        <p:cNvPr id="1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1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1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>
  <p:cSld>
    <p:spTree>
      <p:nvGrpSpPr>
        <p:cNvPr id="1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1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2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>
  <p:cSld>
    <p:spTree>
      <p:nvGrpSpPr>
        <p:cNvPr id="1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2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2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>
  <p:cSld>
    <p:spTree>
      <p:nvGrpSpPr>
        <p:cNvPr id="1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2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2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>
  <p:cSld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3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3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>
  <p:cSld>
    <p:spTree>
      <p:nvGrpSpPr>
        <p:cNvPr id="1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3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3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>
  <p:cSld>
    <p:spTree>
      <p:nvGrpSpPr>
        <p:cNvPr id="1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3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4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>
  <p:cSld>
    <p:spTree>
      <p:nvGrpSpPr>
        <p:cNvPr id="1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4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4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>
  <p:cSld>
    <p:spTree>
      <p:nvGrpSpPr>
        <p:cNvPr id="1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4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4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>
  <p:cSld>
    <p:spTree>
      <p:nvGrpSpPr>
        <p:cNvPr id="1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5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5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>
  <p:cSld>
    <p:spTree>
      <p:nvGrpSpPr>
        <p:cNvPr id="1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5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5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>
  <p:cSld>
    <p:spTree>
      <p:nvGrpSpPr>
        <p:cNvPr id="1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5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6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>
  <p:cSld>
    <p:spTree>
      <p:nvGrpSpPr>
        <p:cNvPr id="1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6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6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>
  <p:cSld>
    <p:spTree>
      <p:nvGrpSpPr>
        <p:cNvPr id="1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6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6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>
  <p:cSld>
    <p:spTree>
      <p:nvGrpSpPr>
        <p:cNvPr id="1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7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7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>
  <p:cSld>
    <p:spTree>
      <p:nvGrpSpPr>
        <p:cNvPr id="1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7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7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>
  <p:cSld>
    <p:spTree>
      <p:nvGrpSpPr>
        <p:cNvPr id="1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幻灯片图像占位符 1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79" name="备注占位符 2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 lvl="0"/>
            <a:r>
              <a:rPr lang="en-US" b="false" i="false" u="none"/>
              <a:t>初始化数组后，start = 0, len = n</a:t>
            </a:r>
            <a:endParaRPr/>
          </a:p>
          <a:p>
            <a:pPr lvl="0"/>
            <a:r>
              <a:rPr lang="en-US" b="false" i="false" u="none"/>
              <a:t>子进程分支中，start += len/2, len = len/2</a:t>
            </a:r>
            <a:endParaRPr/>
          </a:p>
        </p:txBody>
      </p:sp>
      <p:sp>
        <p:nvSpPr>
          <p:cNvPr id="180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>
  <p:cSld>
    <p:spTree>
      <p:nvGrpSpPr>
        <p:cNvPr id="1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8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8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>
  <p:cSld>
    <p:spTree>
      <p:nvGrpSpPr>
        <p:cNvPr id="1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8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8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>
  <p:cSld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9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9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>
  <p:cSld>
    <p:spTree>
      <p:nvGrpSpPr>
        <p:cNvPr id="1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9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9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>
  <p:cSld>
    <p:spTree>
      <p:nvGrpSpPr>
        <p:cNvPr id="1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19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0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>
  <p:cSld>
    <p:spTree>
      <p:nvGrpSpPr>
        <p:cNvPr id="2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0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0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>
  <p:cSld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0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0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>
  <p:cSld>
    <p:spTree>
      <p:nvGrpSpPr>
        <p:cNvPr id="20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1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1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>
  <p:cSld>
    <p:spTree>
      <p:nvGrpSpPr>
        <p:cNvPr id="2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1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1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>
  <p:cSld>
    <p:spTree>
      <p:nvGrpSpPr>
        <p:cNvPr id="2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1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2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>
  <p:cSld>
    <p:spTree>
      <p:nvGrpSpPr>
        <p:cNvPr id="2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2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2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>
  <p:cSld>
    <p:spTree>
      <p:nvGrpSpPr>
        <p:cNvPr id="2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2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2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>
  <p:cSld>
    <p:spTree>
      <p:nvGrpSpPr>
        <p:cNvPr id="2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3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3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>
  <p:cSld>
    <p:spTree>
      <p:nvGrpSpPr>
        <p:cNvPr id="2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3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3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>
  <p:cSld>
    <p:spTree>
      <p:nvGrpSpPr>
        <p:cNvPr id="2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3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4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>
  <p:cSld>
    <p:spTree>
      <p:nvGrpSpPr>
        <p:cNvPr id="2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43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44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>
  <p:cSld>
    <p:spTree>
      <p:nvGrpSpPr>
        <p:cNvPr id="2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47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48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>
  <p:cSld>
    <p:spTree>
      <p:nvGrpSpPr>
        <p:cNvPr id="2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51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52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>
  <p:cSld>
    <p:spTree>
      <p:nvGrpSpPr>
        <p:cNvPr id="2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55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56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>
  <p:cSld>
    <p:spTree>
      <p:nvGrpSpPr>
        <p:cNvPr id="2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Rectangle 7"/>
          <p:cNvSpPr txBox="true">
            <a:spLocks noGrp="true" noChangeShapeType="true"/>
          </p:cNvSpPr>
          <p:nvPr>
            <p:ph type="sldNum"/>
          </p:nvPr>
        </p:nvSpPr>
        <p:spPr>
          <a:xfrm>
            <a:off x="3886200" y="8686800"/>
            <a:ext cx="2971800" cy="457200"/>
          </a:xfrm>
          <a:prstGeom prst="rect">
            <a:avLst/>
          </a:prstGeom>
          <a:noFill/>
        </p:spPr>
        <p:txBody>
          <a:bodyPr lIns="91440" tIns="45720" rIns="91440" bIns="45720" anchor="b"/>
          <a:lstStyle/>
          <a:p>
            <a:pPr lvl="0" algn="r"/>
            <a:fld id="{D038279B-FC19-497E-A7D1-5ADD9CAF016F}" type="slidenum">
              <a:rPr lang="zh-CN" sz="12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259" name="Rectangle 2"/>
          <p:cNvSpPr>
            <a:spLocks noGrp="true" noChangeShapeType="true"/>
          </p:cNvSpPr>
          <p:nvPr>
            <p:ph type="sldImg" idx="0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260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and Obje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026"/>
          <p:cNvSpPr>
            <a:spLocks noGrp="true" noChangeShapeType="true"/>
          </p:cNvSpPr>
          <p:nvPr>
            <p:ph type="title" idx="0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/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Shape 1027"/>
          <p:cNvSpPr>
            <a:spLocks noGrp="true" noChangeShapeType="true"/>
          </p:cNvSpPr>
          <p:nvPr>
            <p:ph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/>
              <a:t>Click to edit Master text styles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/>
              <a:t>Second level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/>
              <a:t>Third level</a:t>
            </a:r>
            <a:endParaRPr/>
          </a:p>
          <a:p>
            <a:pPr marL="1600200" lvl="3" indent="-228600">
              <a:spcBef>
                <a:spcPct val="20000"/>
              </a:spcBef>
              <a:buChar char="–"/>
            </a:pPr>
            <a:r>
              <a:rPr lang="en-US"/>
              <a:t>Fourth level</a:t>
            </a:r>
            <a:endParaRPr/>
          </a:p>
          <a:p>
            <a:pPr marL="2057400" lvl="4" indent="-228600">
              <a:spcBef>
                <a:spcPct val="20000"/>
              </a:spcBef>
              <a:buChar char="»"/>
            </a:pPr>
            <a:r>
              <a:rPr lang="en-US"/>
              <a:t>Fifth level</a:t>
            </a:r>
            <a:endParaRPr/>
          </a:p>
        </p:txBody>
      </p:sp>
      <p:sp>
        <p:nvSpPr>
          <p:cNvPr id="4" name="Shape 1028"/>
          <p:cNvSpPr>
            <a:spLocks noGrp="true" noChangeShapeType="true"/>
          </p:cNvSpPr>
          <p:nvPr>
            <p:ph type="dt" idx="2"/>
          </p:nvPr>
        </p:nvSpPr>
        <p:spPr>
          <a:xfrm>
            <a:off x="838200" y="6172200"/>
            <a:ext cx="1524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endParaRPr lang="en-US" sz="1400"/>
          </a:p>
        </p:txBody>
      </p:sp>
      <p:sp>
        <p:nvSpPr>
          <p:cNvPr id="5" name="Shape 1029"/>
          <p:cNvSpPr>
            <a:spLocks noGrp="true" noChangeShapeType="true"/>
          </p:cNvSpPr>
          <p:nvPr>
            <p:ph type="ftr" idx="3"/>
          </p:nvPr>
        </p:nvSpPr>
        <p:spPr>
          <a:xfrm>
            <a:off x="2590800" y="6172200"/>
            <a:ext cx="41148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Compilers Autumn 2002</a:t>
            </a:r>
            <a:endParaRPr/>
          </a:p>
        </p:txBody>
      </p:sp>
      <p:sp>
        <p:nvSpPr>
          <p:cNvPr id="6" name="Shape 1030"/>
          <p:cNvSpPr>
            <a:spLocks noGrp="true" noChangeShapeType="true"/>
          </p:cNvSpPr>
          <p:nvPr>
            <p:ph type="sldNum" idx="4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&lt;#&gt;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showMasterSp="false" type="title">
  <p:cSld name="1_icfp99">
    <p:bg>
      <p:bgPr>
        <a:solidFill>
          <a:schemeClr val="lt1"/>
        </a:solidFill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>
            <a:spLocks noGrp="true" noChangeShapeType="true"/>
          </p:cNvSpPr>
          <p:nvPr>
            <p:ph type="title" idx="0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/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9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342900" lvl="0" indent="-342900">
              <a:spcBef>
                <a:spcPct val="20000"/>
              </a:spcBef>
              <a:buChar char="•"/>
            </a:pPr>
            <a:r>
              <a:rPr lang="en-US"/>
              <a:t>Click to edit Master text styles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/>
              <a:t>Second level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/>
              <a:t>Third level</a:t>
            </a:r>
            <a:endParaRPr/>
          </a:p>
          <a:p>
            <a:pPr marL="1600200" lvl="3" indent="-228600">
              <a:spcBef>
                <a:spcPct val="20000"/>
              </a:spcBef>
              <a:buChar char="–"/>
            </a:pPr>
            <a:r>
              <a:rPr lang="en-US"/>
              <a:t>Fourth level</a:t>
            </a:r>
            <a:endParaRPr/>
          </a:p>
          <a:p>
            <a:pPr marL="2057400" lvl="4" indent="-228600">
              <a:spcBef>
                <a:spcPct val="20000"/>
              </a:spcBef>
              <a:buChar char="»"/>
            </a:pPr>
            <a:r>
              <a:rPr lang="en-US"/>
              <a:t>Fifth level</a:t>
            </a:r>
            <a:endParaRPr/>
          </a:p>
        </p:txBody>
      </p:sp>
      <p:sp>
        <p:nvSpPr>
          <p:cNvPr id="10" name="Rectangle 1028"/>
          <p:cNvSpPr>
            <a:spLocks noGrp="true" noChangeShapeType="true"/>
          </p:cNvSpPr>
          <p:nvPr>
            <p:ph type="dt" idx="2"/>
          </p:nvPr>
        </p:nvSpPr>
        <p:spPr>
          <a:xfrm>
            <a:off x="5334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0" lvl="0" indent="0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*</a:t>
            </a:r>
            <a:endParaRPr/>
          </a:p>
        </p:txBody>
      </p:sp>
      <p:sp>
        <p:nvSpPr>
          <p:cNvPr id="11" name="Rectangle 1029"/>
          <p:cNvSpPr>
            <a:spLocks noGrp="true" noChangeShapeType="true"/>
          </p:cNvSpPr>
          <p:nvPr>
            <p:ph type="ftr" idx="3"/>
          </p:nvPr>
        </p:nvSpPr>
        <p:spPr>
          <a:xfrm>
            <a:off x="2514600" y="6248400"/>
            <a:ext cx="41148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Compilers Autumn 2002</a:t>
            </a:r>
            <a:endParaRPr/>
          </a:p>
        </p:txBody>
      </p:sp>
      <p:sp>
        <p:nvSpPr>
          <p:cNvPr id="12" name="Rectangle 1030"/>
          <p:cNvSpPr>
            <a:spLocks noGrp="true" noChangeShapeType="true"/>
          </p:cNvSpPr>
          <p:nvPr>
            <p:ph type="sldNum" idx="4"/>
          </p:nvPr>
        </p:nvSpPr>
        <p:spPr>
          <a:xfrm>
            <a:off x="67056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/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blank">
  <p:cSld name="Blank Slide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3" Type="http://schemas.openxmlformats.org/officeDocument/2006/relationships/theme" Target="../theme/theme1.xml" /><Relationship Id="rId2" Type="http://schemas.openxmlformats.org/officeDocument/2006/relationships/slideLayout" Target="../slideLayouts/slideLayout3.xml" /><Relationship Id="rId0" Type="http://schemas.openxmlformats.org/officeDocument/2006/relationships/slideLayout" Target="../slideLayouts/slideLayout1.xml" /><Relationship Id="rId1" Type="http://schemas.openxmlformats.org/officeDocument/2006/relationships/slideLayout" Target="../slideLayouts/slideLayout2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true" noChangeShapeType="true"/>
          </p:cNvSpPr>
          <p:nvPr>
            <p:ph type="title" idx="0"/>
          </p:nvPr>
        </p:nvSpPr>
        <p:spPr>
          <a:xfrm>
            <a:off x="457200" y="457200"/>
            <a:ext cx="8077200" cy="914400"/>
          </a:xfrm>
          <a:prstGeom prst="rect">
            <a:avLst/>
          </a:prstGeom>
          <a:noFill/>
        </p:spPr>
        <p:txBody>
          <a:bodyPr lIns="91440" tIns="45720" rIns="91440" bIns="45720" anchor="ctr" anchorCtr="false"/>
          <a:lstStyle/>
          <a:p>
            <a:pPr marL="0" lvl="0" indent="0">
              <a:spcBef>
                <a:spcPts val="0"/>
              </a:spcBef>
              <a:buNone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" name="Rectangle 3"/>
          <p:cNvSpPr>
            <a:spLocks noGrp="true" noChangeShapeType="true"/>
          </p:cNvSpPr>
          <p:nvPr>
            <p:ph type="body" idx="1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/>
              <a:t>Click to edit Master text styles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/>
              <a:t>Second level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/>
              <a:t>Third level</a:t>
            </a:r>
            <a:endParaRPr/>
          </a:p>
          <a:p>
            <a:pPr marL="1600200" lvl="3" indent="-228600">
              <a:spcBef>
                <a:spcPct val="20000"/>
              </a:spcBef>
              <a:buChar char="–"/>
            </a:pPr>
            <a:r>
              <a:rPr lang="en-US"/>
              <a:t>Fourth level</a:t>
            </a:r>
            <a:endParaRPr/>
          </a:p>
          <a:p>
            <a:pPr marL="2057400" lvl="4" indent="-228600">
              <a:spcBef>
                <a:spcPct val="20000"/>
              </a:spcBef>
              <a:buChar char="»"/>
            </a:pPr>
            <a:r>
              <a:rPr lang="en-US"/>
              <a:t>Fifth level</a:t>
            </a:r>
            <a:endParaRPr/>
          </a:p>
        </p:txBody>
      </p:sp>
      <p:sp>
        <p:nvSpPr>
          <p:cNvPr id="4" name="Rectangle 4"/>
          <p:cNvSpPr>
            <a:spLocks noGrp="true" noChangeShapeType="true"/>
          </p:cNvSpPr>
          <p:nvPr>
            <p:ph type="dt" idx="2"/>
          </p:nvPr>
        </p:nvSpPr>
        <p:spPr>
          <a:xfrm>
            <a:off x="838200" y="6172200"/>
            <a:ext cx="1524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*</a:t>
            </a:r>
            <a:endParaRPr/>
          </a:p>
        </p:txBody>
      </p:sp>
      <p:sp>
        <p:nvSpPr>
          <p:cNvPr id="5" name="Rectangle 5"/>
          <p:cNvSpPr>
            <a:spLocks noGrp="true" noChangeShapeType="true"/>
          </p:cNvSpPr>
          <p:nvPr>
            <p:ph type="ftr" idx="3"/>
          </p:nvPr>
        </p:nvSpPr>
        <p:spPr>
          <a:xfrm>
            <a:off x="2590800" y="6172200"/>
            <a:ext cx="41148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zh-CN" sz="1400" b="false" i="false" u="none">
                <a:latin typeface="Times New Roman" pitchFamily="18"/>
              </a:rPr>
              <a:t>Compilers Autumn 2002</a:t>
            </a:r>
            <a:endParaRPr/>
          </a:p>
        </p:txBody>
      </p:sp>
      <p:sp>
        <p:nvSpPr>
          <p:cNvPr id="6" name="Rectangle 6"/>
          <p:cNvSpPr>
            <a:spLocks noGrp="true" noChangeShapeType="true"/>
          </p:cNvSpPr>
          <p:nvPr>
            <p:ph type="sldNum" idx="4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0" indent="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1pPr>
            <a:lvl2pPr marL="457200" indent="4572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2pPr>
            <a:lvl3pPr marL="914400" indent="9144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371600" indent="13716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1828800" indent="1828800" algn="l" defTabSz="914400" rtl="false" fontAlgn="ba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 b="false" i="false" u="none">
                <a:latin typeface="Times New Roman" pitchFamily="18"/>
              </a:rPr>
              <a:t>*</a:t>
            </a:fld>
            <a:endParaRPr/>
          </a:p>
        </p:txBody>
      </p:sp>
      <p:sp>
        <p:nvSpPr>
          <p:cNvPr id="7" name="Line 7"/>
          <p:cNvSpPr>
            <a:spLocks noGrp="true" noChangeShapeType="true"/>
          </p:cNvSpPr>
          <p:nvPr/>
        </p:nvSpPr>
        <p:spPr>
          <a:xfrm>
            <a:off x="457200" y="1371600"/>
            <a:ext cx="8077200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</p:sldLayoutIdLst>
  <p:txStyles>
    <p:titleStyle>
      <a:lvl1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1pPr>
      <a:lvl2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2pPr>
      <a:lvl3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3pPr>
      <a:lvl4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4pPr>
      <a:lvl5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800" b="true" i="false">
          <a:solidFill>
            <a:schemeClr val="dk2"/>
          </a:solidFill>
          <a:latin typeface="Comic Sans MS"/>
        </a:defRPr>
      </a:lvl5pPr>
      <a:lvl6pPr>
        <a:defRPr lang="en-US" sz="1800"/>
      </a:lvl6pPr>
      <a:lvl7pPr>
        <a:defRPr lang="en-US" sz="1800"/>
      </a:lvl7pPr>
      <a:lvl8pPr>
        <a:defRPr lang="en-US" sz="1800"/>
      </a:lvl8pPr>
      <a:lvl9pPr>
        <a:defRPr lang="en-US" sz="1800"/>
      </a:lvl9pPr>
    </p:titleStyle>
    <p:bodyStyle>
      <a:lvl1pPr marL="342900" indent="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•"/>
        <a:defRPr lang="en-US" sz="2800" b="false" i="false">
          <a:solidFill>
            <a:schemeClr val="dk1"/>
          </a:solidFill>
          <a:latin typeface="Comic Sans MS"/>
        </a:defRPr>
      </a:lvl1pPr>
      <a:lvl2pPr marL="742950" indent="4572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–"/>
        <a:defRPr lang="en-US" sz="2400" b="false" i="false">
          <a:solidFill>
            <a:schemeClr val="dk1"/>
          </a:solidFill>
          <a:latin typeface="Comic Sans MS"/>
        </a:defRPr>
      </a:lvl2pPr>
      <a:lvl3pPr marL="1143000" indent="9144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•"/>
        <a:defRPr lang="en-US" sz="2000" b="false" i="false">
          <a:solidFill>
            <a:schemeClr val="dk1"/>
          </a:solidFill>
          <a:latin typeface="Comic Sans MS"/>
        </a:defRPr>
      </a:lvl3pPr>
      <a:lvl4pPr marL="1600200" indent="13716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–"/>
        <a:defRPr lang="en-US" sz="2000" b="false" i="false">
          <a:solidFill>
            <a:schemeClr val="dk1"/>
          </a:solidFill>
          <a:latin typeface="Comic Sans MS"/>
        </a:defRPr>
      </a:lvl4pPr>
      <a:lvl5pPr marL="2057400" indent="1828800" algn="l" defTabSz="914400" rtl="false" fontAlgn="base">
        <a:lnSpc>
          <a:spcPct val="100000"/>
        </a:lnSpc>
        <a:spcBef>
          <a:spcPct val="20000"/>
        </a:spcBef>
        <a:spcAft>
          <a:spcPts val="0"/>
        </a:spcAft>
        <a:buChar char="»"/>
        <a:defRPr lang="en-US" sz="2000" b="false" i="false">
          <a:solidFill>
            <a:schemeClr val="dk1"/>
          </a:solidFill>
          <a:latin typeface="Comic Sans MS"/>
        </a:defRPr>
      </a:lvl5pPr>
      <a:lvl6pPr>
        <a:defRPr lang="en-US" sz="1800"/>
      </a:lvl6pPr>
      <a:lvl7pPr>
        <a:defRPr lang="en-US" sz="1800"/>
      </a:lvl7pPr>
      <a:lvl8pPr>
        <a:defRPr lang="en-US" sz="1800"/>
      </a:lvl8pPr>
      <a:lvl9pPr>
        <a:defRPr lang="en-US" sz="1800"/>
      </a:lvl9pPr>
    </p:bodyStyle>
    <p:otherStyle>
      <a:lvl1pPr marL="0" indent="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1pPr>
      <a:lvl2pPr marL="457200" indent="4572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2pPr>
      <a:lvl3pPr marL="914400" indent="9144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3pPr>
      <a:lvl4pPr marL="1371600" indent="13716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4pPr>
      <a:lvl5pPr marL="1828800" indent="1828800" algn="l" defTabSz="914400" rtl="false" fontAlgn="base">
        <a:lnSpc>
          <a:spcPct val="100000"/>
        </a:lnSpc>
        <a:spcBef>
          <a:spcPts val="0"/>
        </a:spcBef>
        <a:spcAft>
          <a:spcPts val="0"/>
        </a:spcAft>
        <a:buNone/>
        <a:defRPr lang="en-US" sz="2000" b="true" i="false">
          <a:solidFill>
            <a:schemeClr val="dk1"/>
          </a:solidFill>
          <a:latin typeface="Comic Sans MS"/>
          <a:ea typeface="宋体"/>
        </a:defRPr>
      </a:lvl5pPr>
      <a:lvl6pPr>
        <a:defRPr lang="en-US" sz="1800"/>
      </a:lvl6pPr>
      <a:lvl7pPr>
        <a:defRPr lang="en-US" sz="1800"/>
      </a:lvl7pPr>
      <a:lvl8pPr>
        <a:defRPr lang="en-US" sz="1800"/>
      </a:lvl8pPr>
      <a:lvl9pPr>
        <a:defRPr lang="en-US" sz="1800"/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2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7.xml" /><Relationship Id="rId0" Type="http://schemas.openxmlformats.org/officeDocument/2006/relationships/slideLayout" Target="../slideLayouts/slideLayout3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6.xml" /><Relationship Id="rId0" Type="http://schemas.openxmlformats.org/officeDocument/2006/relationships/slideLayout" Target="../slideLayouts/slideLayout3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7.xml" /><Relationship Id="rId0" Type="http://schemas.openxmlformats.org/officeDocument/2006/relationships/slideLayout" Target="../slideLayouts/slideLayout3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6.xml.rels><?xml version="1.0" encoding="UTF-8" standalone="yes"?><Relationships xmlns="http://schemas.openxmlformats.org/package/2006/relationships"><Relationship Id="rId2" Type="http://schemas.openxmlformats.org/officeDocument/2006/relationships/image" Target="media/image12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44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12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48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Relationship Id="rId2" Type="http://schemas.openxmlformats.org/officeDocument/2006/relationships/image" Target="media/image12.png" /><Relationship Id="rId1" Type="http://schemas.openxmlformats.org/officeDocument/2006/relationships/notesSlide" Target="../notesSlides/notesSlide55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7.png" /><Relationship Id="rId0" Type="http://schemas.openxmlformats.org/officeDocument/2006/relationships/slideLayout" Target="../slideLayouts/slideLayout3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3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3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.xml" /><Relationship Id="rId0" Type="http://schemas.openxmlformats.org/officeDocument/2006/relationships/slideLayout" Target="../slideLayouts/slideLayout3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.xml" /><Relationship Id="rId0" Type="http://schemas.openxmlformats.org/officeDocument/2006/relationships/slideLayout" Target="../slideLayouts/slideLayout3.xml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.xml" /><Relationship Id="rId0" Type="http://schemas.openxmlformats.org/officeDocument/2006/relationships/slideLayout" Target="../slideLayouts/slideLayout3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.xml" /><Relationship Id="rId0" Type="http://schemas.openxmlformats.org/officeDocument/2006/relationships/slideLayout" Target="../slideLayouts/slideLayout3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.xml" /><Relationship Id="rId0" Type="http://schemas.openxmlformats.org/officeDocument/2006/relationships/slideLayout" Target="../slideLayouts/slideLayout3.xml" 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8.xml" /><Relationship Id="rId0" Type="http://schemas.openxmlformats.org/officeDocument/2006/relationships/slideLayout" Target="../slideLayouts/slideLayout3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9.xml" /><Relationship Id="rId0" Type="http://schemas.openxmlformats.org/officeDocument/2006/relationships/slideLayout" Target="../slideLayouts/slideLayout3.xml" /></Relationships>
</file>

<file path=ppt/slides/_rels/slide22.xml.rels><?xml version="1.0" encoding="UTF-8" standalone="yes"?><Relationships xmlns="http://schemas.openxmlformats.org/package/2006/relationships"><Relationship Id="rId2" Type="http://schemas.openxmlformats.org/officeDocument/2006/relationships/image" Target="media/image4.png" /><Relationship Id="rId0" Type="http://schemas.openxmlformats.org/officeDocument/2006/relationships/slideLayout" Target="../slideLayouts/slideLayout3.xml" /><Relationship Id="rId1" Type="http://schemas.openxmlformats.org/officeDocument/2006/relationships/image" Target="media/image3.png" /></Relationships>
</file>

<file path=ppt/slides/_rels/slide23.xml.rels><?xml version="1.0" encoding="UTF-8" standalone="yes"?><Relationships xmlns="http://schemas.openxmlformats.org/package/2006/relationships"><Relationship Id="rId2" Type="http://schemas.openxmlformats.org/officeDocument/2006/relationships/image" Target="media/image6.png" /><Relationship Id="rId0" Type="http://schemas.openxmlformats.org/officeDocument/2006/relationships/slideLayout" Target="../slideLayouts/slideLayout3.xml" /><Relationship Id="rId1" Type="http://schemas.openxmlformats.org/officeDocument/2006/relationships/image" Target="media/image5.png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0.xml" /><Relationship Id="rId0" Type="http://schemas.openxmlformats.org/officeDocument/2006/relationships/slideLayout" Target="../slideLayouts/slideLayout3.xml" 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1.xml" /><Relationship Id="rId0" Type="http://schemas.openxmlformats.org/officeDocument/2006/relationships/slideLayout" Target="../slideLayouts/slideLayout3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2.xml" /><Relationship Id="rId0" Type="http://schemas.openxmlformats.org/officeDocument/2006/relationships/slideLayout" Target="../slideLayouts/slideLayout3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7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13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9.png" /><Relationship Id="rId2" Type="http://schemas.openxmlformats.org/officeDocument/2006/relationships/image" Target="media/image8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14.xml" /></Relationships>
</file>

<file path=ppt/slides/_rels/slide29.xml.rels><?xml version="1.0" encoding="UTF-8" standalone="yes"?><Relationships xmlns="http://schemas.openxmlformats.org/package/2006/relationships"><Relationship Id="rId2" Type="http://schemas.openxmlformats.org/officeDocument/2006/relationships/image" Target="media/image10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15.xml" 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7.xml" /><Relationship Id="rId0" Type="http://schemas.openxmlformats.org/officeDocument/2006/relationships/slideLayout" Target="../slideLayouts/slideLayout3.xml" 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8.xml" /><Relationship Id="rId0" Type="http://schemas.openxmlformats.org/officeDocument/2006/relationships/slideLayout" Target="../slideLayouts/slideLayout3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9.xml" /><Relationship Id="rId0" Type="http://schemas.openxmlformats.org/officeDocument/2006/relationships/slideLayout" Target="../slideLayouts/slideLayout3.xml" 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0.xml" /><Relationship Id="rId0" Type="http://schemas.openxmlformats.org/officeDocument/2006/relationships/slideLayout" Target="../slideLayouts/slideLayout3.xml" 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1.xml" /><Relationship Id="rId0" Type="http://schemas.openxmlformats.org/officeDocument/2006/relationships/slideLayout" Target="../slideLayouts/slideLayout3.xml" 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2.xml" /><Relationship Id="rId0" Type="http://schemas.openxmlformats.org/officeDocument/2006/relationships/slideLayout" Target="../slideLayouts/slideLayout3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3.xml" /><Relationship Id="rId0" Type="http://schemas.openxmlformats.org/officeDocument/2006/relationships/slideLayout" Target="../slideLayouts/slideLayout3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4.xml" /><Relationship Id="rId0" Type="http://schemas.openxmlformats.org/officeDocument/2006/relationships/slideLayout" Target="../slideLayouts/slideLayout3.xml" 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5.xml" /><Relationship Id="rId0" Type="http://schemas.openxmlformats.org/officeDocument/2006/relationships/slideLayout" Target="../slideLayouts/slideLayout3.xml" 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6.xml" /><Relationship Id="rId0" Type="http://schemas.openxmlformats.org/officeDocument/2006/relationships/slideLayout" Target="../slideLayouts/slideLayout3.xml" 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8.xml" /><Relationship Id="rId0" Type="http://schemas.openxmlformats.org/officeDocument/2006/relationships/slideLayout" Target="../slideLayouts/slideLayout3.xml" 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9.xml" /><Relationship Id="rId0" Type="http://schemas.openxmlformats.org/officeDocument/2006/relationships/slideLayout" Target="../slideLayouts/slideLayout3.xml" 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0.xml" /><Relationship Id="rId0" Type="http://schemas.openxmlformats.org/officeDocument/2006/relationships/slideLayout" Target="../slideLayouts/slideLayout3.xml" 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1.xml" /><Relationship Id="rId0" Type="http://schemas.openxmlformats.org/officeDocument/2006/relationships/slideLayout" Target="../slideLayouts/slideLayout3.xml" 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2.xml" /><Relationship Id="rId0" Type="http://schemas.openxmlformats.org/officeDocument/2006/relationships/slideLayout" Target="../slideLayouts/slideLayout3.xml" 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3.xml" /><Relationship Id="rId0" Type="http://schemas.openxmlformats.org/officeDocument/2006/relationships/slideLayout" Target="../slideLayouts/slideLayout3.xml" 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4.xml" /><Relationship Id="rId0" Type="http://schemas.openxmlformats.org/officeDocument/2006/relationships/slideLayout" Target="../slideLayouts/slideLayout3.xml" /></Relationships>
</file>

<file path=ppt/slides/_rels/slide47.xml.rels><?xml version="1.0" encoding="UTF-8" standalone="yes"?><Relationships xmlns="http://schemas.openxmlformats.org/package/2006/relationships"><Relationship Id="rId2" Type="http://schemas.openxmlformats.org/officeDocument/2006/relationships/slide" Target="slide44.xml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35.xml" 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6.xml" /><Relationship Id="rId0" Type="http://schemas.openxmlformats.org/officeDocument/2006/relationships/slideLayout" Target="../slideLayouts/slideLayout3.xml" 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7.xml" /><Relationship Id="rId0" Type="http://schemas.openxmlformats.org/officeDocument/2006/relationships/slideLayout" Target="../slideLayouts/slideLayout3.xml" 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8.xml" /><Relationship Id="rId0" Type="http://schemas.openxmlformats.org/officeDocument/2006/relationships/slideLayout" Target="../slideLayouts/slideLayout3.xml" 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9.xml" /><Relationship Id="rId0" Type="http://schemas.openxmlformats.org/officeDocument/2006/relationships/slideLayout" Target="../slideLayouts/slideLayout3.xml" 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0.xml" /><Relationship Id="rId0" Type="http://schemas.openxmlformats.org/officeDocument/2006/relationships/slideLayout" Target="../slideLayouts/slideLayout3.xml" 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1.xml" /><Relationship Id="rId0" Type="http://schemas.openxmlformats.org/officeDocument/2006/relationships/slideLayout" Target="../slideLayouts/slideLayout3.xml" /></Relationships>
</file>

<file path=ppt/slides/_rels/slide5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5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image" Target="media/image11.png" /><Relationship Id="rId0" Type="http://schemas.openxmlformats.org/officeDocument/2006/relationships/slideLayout" Target="../slideLayouts/slideLayout3.xml" 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2.xml" /><Relationship Id="rId0" Type="http://schemas.openxmlformats.org/officeDocument/2006/relationships/slideLayout" Target="../slideLayouts/slideLayout3.xml" 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3.xml" /><Relationship Id="rId0" Type="http://schemas.openxmlformats.org/officeDocument/2006/relationships/slideLayout" Target="../slideLayouts/slideLayout3.xml" /></Relationships>
</file>

<file path=ppt/slides/_rels/slide5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6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5.xml" /><Relationship Id="rId0" Type="http://schemas.openxmlformats.org/officeDocument/2006/relationships/slideLayout" Target="../slideLayouts/slideLayout3.xml" 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6.xml" /><Relationship Id="rId0" Type="http://schemas.openxmlformats.org/officeDocument/2006/relationships/slideLayout" Target="../slideLayouts/slideLayout3.xml" 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7.xml" /><Relationship Id="rId0" Type="http://schemas.openxmlformats.org/officeDocument/2006/relationships/slideLayout" Target="../slideLayouts/slideLayout3.xml" /></Relationships>
</file>

<file path=ppt/slides/_rels/slide6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hyperlink" Target="http://man7.org/linux/man-pages/man3/setbuf.3.html" TargetMode="External"/><Relationship Id="rId0" Type="http://schemas.openxmlformats.org/officeDocument/2006/relationships/slideLayout" Target="../slideLayouts/slideLayout3.xml" /></Relationships>
</file>

<file path=ppt/slides/_rels/slide6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6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6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6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7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7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9.xml" /><Relationship Id="rId0" Type="http://schemas.openxmlformats.org/officeDocument/2006/relationships/slideLayout" Target="../slideLayouts/slideLayout3.xml" 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0.xml" /><Relationship Id="rId0" Type="http://schemas.openxmlformats.org/officeDocument/2006/relationships/slideLayout" Target="../slideLayouts/slideLayout3.xml" 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1.xml" /><Relationship Id="rId0" Type="http://schemas.openxmlformats.org/officeDocument/2006/relationships/slideLayout" Target="../slideLayouts/slideLayout3.xml" /></Relationships>
</file>

<file path=ppt/slides/_rels/slide75.xml.rels><?xml version="1.0" encoding="UTF-8" standalone="yes"?><Relationships xmlns="http://schemas.openxmlformats.org/package/2006/relationships"><Relationship Id="rId3" Type="http://schemas.openxmlformats.org/officeDocument/2006/relationships/image" Target="media/image14.png" /><Relationship Id="rId2" Type="http://schemas.openxmlformats.org/officeDocument/2006/relationships/image" Target="media/image13.png" /><Relationship Id="rId0" Type="http://schemas.openxmlformats.org/officeDocument/2006/relationships/slideLayout" Target="../slideLayouts/slideLayout3.xml" /><Relationship Id="rId1" Type="http://schemas.openxmlformats.org/officeDocument/2006/relationships/notesSlide" Target="../notesSlides/notesSlide52.xml" 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3.xml" /><Relationship Id="rId0" Type="http://schemas.openxmlformats.org/officeDocument/2006/relationships/slideLayout" Target="../slideLayouts/slideLayout3.xml" /></Relationships>
</file>

<file path=ppt/slides/_rels/slide77.xml.rels><?xml version="1.0" encoding="UTF-8" standalone="yes"?><Relationships xmlns="http://schemas.openxmlformats.org/package/2006/relationships"><Relationship Id="rId2" Type="http://schemas.openxmlformats.org/officeDocument/2006/relationships/image" Target="media/image16.png" /><Relationship Id="rId0" Type="http://schemas.openxmlformats.org/officeDocument/2006/relationships/slideLayout" Target="../slideLayouts/slideLayout3.xml" /><Relationship Id="rId1" Type="http://schemas.openxmlformats.org/officeDocument/2006/relationships/image" Target="media/image15.png" /></Relationships>
</file>

<file path=ppt/slides/_rels/slide7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4.xml" /><Relationship Id="rId0" Type="http://schemas.openxmlformats.org/officeDocument/2006/relationships/slideLayout" Target="../slideLayouts/slideLayout3.xml" 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6.xml" /><Relationship Id="rId0" Type="http://schemas.openxmlformats.org/officeDocument/2006/relationships/slideLayout" Target="../slideLayouts/slideLayout3.xml" 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7.xml" /><Relationship Id="rId0" Type="http://schemas.openxmlformats.org/officeDocument/2006/relationships/slideLayout" Target="../slideLayouts/slideLayout3.xml" 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8.xml" /><Relationship Id="rId0" Type="http://schemas.openxmlformats.org/officeDocument/2006/relationships/slideLayout" Target="../slideLayouts/slideLayout3.xml" 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9.xml" /><Relationship Id="rId0" Type="http://schemas.openxmlformats.org/officeDocument/2006/relationships/slideLayout" Target="../slideLayouts/slideLayout3.xml" 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0.xml" /><Relationship Id="rId0" Type="http://schemas.openxmlformats.org/officeDocument/2006/relationships/slideLayout" Target="../slideLayouts/slideLayout3.xml" 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1.xml" /><Relationship Id="rId0" Type="http://schemas.openxmlformats.org/officeDocument/2006/relationships/slideLayout" Target="../slideLayouts/slideLayout3.xml" 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2.xml" /><Relationship Id="rId0" Type="http://schemas.openxmlformats.org/officeDocument/2006/relationships/slideLayout" Target="../slideLayouts/slideLayout3.xml" 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3.xml" /><Relationship Id="rId0" Type="http://schemas.openxmlformats.org/officeDocument/2006/relationships/slideLayout" Target="../slideLayouts/slideLayout3.xml" 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4.xml" /><Relationship Id="rId0" Type="http://schemas.openxmlformats.org/officeDocument/2006/relationships/slideLayout" Target="../slideLayouts/slideLayout3.xml" 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5.xml" /><Relationship Id="rId0" Type="http://schemas.openxmlformats.org/officeDocument/2006/relationships/slideLayout" Target="../slideLayouts/slideLayout3.xml" /></Relationships>
</file>

<file path=ppt/slides/_rels/slide9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30"/>
          <p:cNvSpPr txBox="true">
            <a:spLocks noGrp="true" noChangeShapeType="true"/>
          </p:cNvSpPr>
          <p:nvPr>
            <p:ph type="sldNum"/>
          </p:nvPr>
        </p:nvSpPr>
        <p:spPr>
          <a:xfrm>
            <a:off x="6705600" y="6248400"/>
            <a:ext cx="19050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" name="Rectangle 2"/>
          <p:cNvSpPr>
            <a:spLocks noGrp="true" noChangeShapeType="true"/>
          </p:cNvSpPr>
          <p:nvPr>
            <p:ph type="ctrTitle"/>
          </p:nvPr>
        </p:nvSpPr>
        <p:spPr>
          <a:xfrm>
            <a:off x="685800" y="2133600"/>
            <a:ext cx="7772400" cy="18288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>
              <a:spcBef>
                <a:spcPts val="0"/>
              </a:spcBef>
              <a:buNone/>
            </a:pPr>
            <a:r>
              <a:rPr lang="zh-CN" sz="3200">
                <a:ea typeface="宋体" pitchFamily="2" charset="-122"/>
              </a:rPr>
              <a:t>Exceptional Control Flow II</a:t>
            </a:r>
            <a:br>
              <a:rPr lang="zh-CN" sz="3200">
                <a:ea typeface="宋体" pitchFamily="2" charset="-122"/>
              </a:rPr>
            </a:br>
            <a:r>
              <a:rPr lang="zh-CN" sz="3200">
                <a:ea typeface="宋体" pitchFamily="2" charset="-122"/>
              </a:rPr>
              <a:t>(Process Operations)</a:t>
            </a:r>
            <a:endParaRPr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0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Outline</a:t>
            </a:r>
            <a:endParaRPr/>
          </a:p>
        </p:txBody>
      </p:sp>
      <p:sp>
        <p:nvSpPr>
          <p:cNvPr id="51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>
                <a:ea typeface="宋体" pitchFamily="2" charset="-122"/>
              </a:rPr>
              <a:t>Process id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>
                <a:ea typeface="宋体" pitchFamily="2" charset="-122"/>
              </a:rPr>
              <a:t>Exiting Processes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>
                <a:ea typeface="宋体" pitchFamily="2" charset="-122"/>
              </a:rPr>
              <a:t>Creating Processes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>
                <a:ea typeface="宋体" pitchFamily="2" charset="-122"/>
              </a:rPr>
              <a:t>Reaping Child Processes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>
                <a:ea typeface="宋体" pitchFamily="2" charset="-122"/>
              </a:rPr>
              <a:t>Putting Processes to Sleep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ts val="0"/>
              </a:spcBef>
              <a:buChar char="•"/>
            </a:pPr>
            <a:r>
              <a:rPr lang="en-US">
                <a:ea typeface="宋体" pitchFamily="2" charset="-122"/>
              </a:rPr>
              <a:t>Loading and Running Programs</a:t>
            </a:r>
            <a:endParaRPr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5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Obtaining Process ID</a:t>
            </a:r>
            <a:r>
              <a:rPr lang="en-US">
                <a:latin typeface="Comic Sans MS"/>
                <a:ea typeface="宋体"/>
              </a:rPr>
              <a:t>s</a:t>
            </a:r>
            <a:endParaRPr/>
          </a:p>
        </p:txBody>
      </p:sp>
      <p:sp>
        <p:nvSpPr>
          <p:cNvPr id="15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458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 b="true">
                <a:latin typeface="Courier New"/>
                <a:ea typeface="宋体"/>
              </a:rPr>
              <a:t>Process ID (</a:t>
            </a:r>
            <a:r>
              <a:rPr lang="en-US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PID)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>
                <a:latin typeface="Comic Sans MS"/>
                <a:ea typeface="宋体"/>
              </a:rPr>
              <a:t>每个进程有一个唯一的正整数</a:t>
            </a:r>
            <a:r>
              <a:rPr lang="en-US">
                <a:latin typeface="Comic Sans MS"/>
                <a:ea typeface="宋体"/>
              </a:rPr>
              <a:t>PID</a:t>
            </a:r>
            <a:endParaRPr/>
          </a:p>
          <a:p>
            <a:pPr marL="0" lvl="0">
              <a:spcBef>
                <a:spcPct val="20000"/>
              </a:spcBef>
              <a:buNone/>
            </a:pPr>
            <a:endParaRPr lang="en-US" sz="2400" b="true">
              <a:latin typeface="Courier New"/>
              <a:ea typeface="宋体"/>
            </a:endParaRPr>
          </a:p>
        </p:txBody>
      </p:sp>
      <p:sp>
        <p:nvSpPr>
          <p:cNvPr id="154" name="Group 4"/>
          <p:cNvSpPr txBox="true"/>
          <p:nvPr/>
        </p:nvSpPr>
        <p:spPr>
          <a:xfrm rot="0" flipH="false" flipV="false">
            <a:off x="571500" y="3026572"/>
            <a:ext cx="8001000" cy="1905000"/>
          </a:xfrm>
        </p:spPr>
        <p:txBody>
          <a:bodyPr/>
          <a:lstStyle/>
          <a:p>
            <a:pPr marL="0" lvl="0" indent="0" algn="l" defTabSz="914400">
              <a:lnSpc>
                <a:spcPct val="100000"/>
              </a:lnSpc>
              <a:spcBef>
                <a:spcPct val="20000"/>
              </a:spcBef>
              <a:spcAft>
                <a:spcPct val="1"/>
              </a:spcAft>
              <a:buClrTx/>
              <a:buSzTx/>
              <a:buFontTx/>
              <a:buNone/>
            </a:pP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#include &lt;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unistd.h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&gt;</a:t>
            </a:r>
            <a:endParaRPr/>
          </a:p>
          <a:p>
            <a:pPr marL="0" lvl="0" indent="0" algn="l" defTabSz="914400">
              <a:lnSpc>
                <a:spcPct val="100000"/>
              </a:lnSpc>
              <a:spcBef>
                <a:spcPct val="20000"/>
              </a:spcBef>
              <a:spcAft>
                <a:spcPct val="1"/>
              </a:spcAft>
              <a:buClrTx/>
              <a:buSzTx/>
              <a:buFontTx/>
              <a:buNone/>
            </a:pP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#include &lt;sys/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types.h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&gt;</a:t>
            </a:r>
            <a:endParaRPr/>
          </a:p>
          <a:p>
            <a:pPr marL="0" lvl="0" indent="0" algn="l" defTabSz="914400">
              <a:lnSpc>
                <a:spcPct val="100000"/>
              </a:lnSpc>
              <a:spcBef>
                <a:spcPct val="20000"/>
              </a:spcBef>
              <a:spcAft>
                <a:spcPct val="1"/>
              </a:spcAft>
              <a:buClrTx/>
              <a:buSzTx/>
              <a:buFontTx/>
              <a:buNone/>
            </a:pP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pid_t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 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getpid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(void);  </a:t>
            </a:r>
            <a:r>
              <a:rPr lang="en-US" sz="2000" b="true">
                <a:solidFill>
                  <a:srgbClr val="0070C0">
                    <a:alpha val="100000"/>
                  </a:srgbClr>
                </a:solidFill>
                <a:effectLst/>
                <a:latin typeface="Courier New"/>
                <a:ea typeface="宋体"/>
                <a:cs typeface="Courier New"/>
              </a:rPr>
              <a:t>//</a:t>
            </a:r>
            <a:r>
              <a:rPr lang="zh-CN" sz="2000" b="true">
                <a:solidFill>
                  <a:srgbClr val="0070C0">
                    <a:alpha val="100000"/>
                  </a:srgbClr>
                </a:solidFill>
                <a:effectLst/>
                <a:latin typeface="Courier New"/>
                <a:ea typeface="宋体"/>
                <a:cs typeface="Courier New"/>
              </a:rPr>
              <a:t>获取当前进程的</a:t>
            </a:r>
            <a:r>
              <a:rPr lang="en-US" sz="2000" b="true">
                <a:solidFill>
                  <a:srgbClr val="0070C0">
                    <a:alpha val="100000"/>
                  </a:srgbClr>
                </a:solidFill>
                <a:effectLst/>
                <a:latin typeface="Courier New"/>
                <a:ea typeface="宋体"/>
                <a:cs typeface="Courier New"/>
              </a:rPr>
              <a:t>pid</a:t>
            </a:r>
            <a:endParaRPr/>
          </a:p>
          <a:p>
            <a:pPr marL="0" lvl="0" indent="0" algn="l" defTabSz="914400">
              <a:lnSpc>
                <a:spcPct val="100000"/>
              </a:lnSpc>
              <a:spcBef>
                <a:spcPct val="20000"/>
              </a:spcBef>
              <a:spcAft>
                <a:spcPct val="1"/>
              </a:spcAft>
              <a:buClrTx/>
              <a:buSzTx/>
              <a:buFontTx/>
              <a:buNone/>
            </a:pP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pid_t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 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getppid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effectLst/>
                <a:latin typeface="Courier New"/>
                <a:ea typeface="宋体"/>
                <a:cs typeface="Courier New"/>
              </a:rPr>
              <a:t>(void); </a:t>
            </a:r>
            <a:r>
              <a:rPr lang="en-US" sz="2000" b="true">
                <a:solidFill>
                  <a:srgbClr val="0070c0">
                    <a:alpha val="100000"/>
                  </a:srgbClr>
                </a:solidFill>
                <a:effectLst/>
                <a:latin typeface="Courier New"/>
                <a:ea typeface="宋体"/>
                <a:cs typeface="Courier New"/>
              </a:rPr>
              <a:t>//</a:t>
            </a:r>
            <a:r>
              <a:rPr lang="zh-CN" sz="2000" b="true">
                <a:solidFill>
                  <a:srgbClr val="0070c0">
                    <a:alpha val="100000"/>
                  </a:srgbClr>
                </a:solidFill>
                <a:effectLst/>
                <a:latin typeface="Courier New"/>
                <a:ea typeface="宋体"/>
                <a:cs typeface="Courier New"/>
              </a:rPr>
              <a:t>获取当前进程的父进程的</a:t>
            </a:r>
            <a:r>
              <a:rPr lang="en-US" sz="2000" b="true">
                <a:solidFill>
                  <a:srgbClr val="0070c0">
                    <a:alpha val="100000"/>
                  </a:srgbClr>
                </a:solidFill>
                <a:effectLst/>
                <a:latin typeface="Courier New"/>
                <a:ea typeface="宋体"/>
                <a:cs typeface="Courier New"/>
              </a:rPr>
              <a:t>pid</a:t>
            </a:r>
            <a:endParaRPr/>
          </a:p>
          <a:p>
            <a:pPr marL="0" lvl="0" indent="0" algn="r" defTabSz="914400">
              <a:lnSpc>
                <a:spcPct val="100000"/>
              </a:lnSpc>
              <a:spcBef>
                <a:spcPct val="20000"/>
              </a:spcBef>
              <a:spcAft>
                <a:spcPct val="1"/>
              </a:spcAft>
              <a:buClrTx/>
              <a:buSzTx/>
              <a:buFontTx/>
              <a:buNone/>
            </a:pPr>
            <a:endParaRPr lang="en-US" sz="2000" b="false">
              <a:solidFill>
                <a:srgbClr val="FF0000">
                  <a:alpha val="100000"/>
                </a:srgbClr>
              </a:solidFill>
              <a:effectLst/>
              <a:latin typeface="Comic Sans MS"/>
              <a:ea typeface="宋体"/>
            </a:endParaRPr>
          </a:p>
        </p:txBody>
      </p:sp>
      <p:sp>
        <p:nvSpPr>
          <p:cNvPr id="155" name="Rectangle 3"/>
          <p:cNvSpPr txBox="true">
            <a:spLocks noGrp="true" noChangeShapeType="true"/>
          </p:cNvSpPr>
          <p:nvPr/>
        </p:nvSpPr>
        <p:spPr>
          <a:xfrm rot="0" flipH="false" flipV="false">
            <a:off x="533400" y="4749758"/>
            <a:ext cx="8001000" cy="1270042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400" b="false" i="false">
                <a:solidFill>
                  <a:srgbClr val="000000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000" b="false" i="false">
                <a:solidFill>
                  <a:srgbClr val="000000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1800" b="false" i="false">
                <a:solidFill>
                  <a:srgbClr val="000000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1800" b="false" i="false">
                <a:solidFill>
                  <a:srgbClr val="000000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lang="en-US" sz="1800" b="false" i="false">
                <a:solidFill>
                  <a:srgbClr val="000000"/>
                </a:solidFill>
                <a:latin typeface="Comic Sans MS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4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en-US" sz="20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</a:rPr>
              <a:t>pid_t</a:t>
            </a:r>
            <a:endParaRPr lang="en-US" sz="2400" b="false" i="false">
              <a:solidFill>
                <a:srgbClr val="000000">
                  <a:alpha val="100000"/>
                </a:srgbClr>
              </a:solidFill>
              <a:latin typeface="Comic Sans MS"/>
              <a:ea typeface="宋体"/>
            </a:endParaRPr>
          </a:p>
          <a:p>
            <a:pPr marL="742950" lvl="1" indent="-28575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0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zh-CN" sz="20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</a:rPr>
              <a:t>在</a:t>
            </a:r>
            <a:r>
              <a:rPr lang="en-US" sz="20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</a:rPr>
              <a:t>types.h</a:t>
            </a:r>
            <a:r>
              <a:rPr lang="zh-CN" sz="20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</a:rPr>
              <a:t>中定义</a:t>
            </a:r>
            <a:endParaRPr/>
          </a:p>
          <a:p>
            <a:pPr marL="742950" lvl="1" indent="-28575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0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en-US" sz="20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Linux</a:t>
            </a:r>
            <a:r>
              <a:rPr lang="zh-CN" sz="20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中就是</a:t>
            </a:r>
            <a:r>
              <a:rPr lang="en-US" sz="20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int</a:t>
            </a:r>
            <a:endParaRPr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2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03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States of a Process</a:t>
            </a:r>
            <a:endParaRPr/>
          </a:p>
        </p:txBody>
      </p:sp>
      <p:sp>
        <p:nvSpPr>
          <p:cNvPr id="204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458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</a:rPr>
              <a:t>New (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</a:rPr>
              <a:t>新建</a:t>
            </a: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</a:rPr>
              <a:t>)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</a:rPr>
              <a:t>：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</a:rPr>
              <a:t>进程正在初始化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Running (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运行</a:t>
            </a: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)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：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进程正在</a:t>
            </a: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CPU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上执行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Ready (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就绪</a:t>
            </a: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)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进程等待被执行，且迟早</a:t>
            </a:r>
            <a:r>
              <a:rPr lang="en-US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(</a:t>
            </a: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也许一万年</a:t>
            </a:r>
            <a:r>
              <a:rPr lang="en-US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)</a:t>
            </a: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会被调度执行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Stopped (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暂停</a:t>
            </a: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)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进程暂停执行，且永远都不会被调度</a:t>
            </a: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(</a:t>
            </a: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除非转为</a:t>
            </a: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Ready)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Blocked (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阻塞</a:t>
            </a: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)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400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进程等待外部事件</a:t>
            </a:r>
            <a:r>
              <a:rPr lang="en-US" sz="2400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(</a:t>
            </a:r>
            <a:r>
              <a:rPr lang="zh-CN" sz="2400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如</a:t>
            </a:r>
            <a:r>
              <a:rPr lang="en-US" sz="2400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I/O</a:t>
            </a:r>
            <a:r>
              <a:rPr lang="zh-CN" sz="2400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完成</a:t>
            </a:r>
            <a:r>
              <a:rPr lang="en-US" sz="2400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)</a:t>
            </a:r>
            <a:r>
              <a:rPr lang="zh-CN" sz="2400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而停止执行，</a:t>
            </a: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且永远都不会被调度</a:t>
            </a: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(</a:t>
            </a: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除非事件完成、转为</a:t>
            </a:r>
            <a:r>
              <a:rPr lang="zh-CN" sz="24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Ready)</a:t>
            </a:r>
            <a:endParaRPr/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Terminated (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终止</a:t>
            </a: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)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：</a:t>
            </a:r>
            <a:r>
              <a:rPr lang="zh-CN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进程永久停止执行</a:t>
            </a: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2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States of a process</a:t>
            </a:r>
            <a:endParaRPr/>
          </a:p>
        </p:txBody>
      </p:sp>
      <p:sp>
        <p:nvSpPr>
          <p:cNvPr id="256" name="内容占位符 2"/>
          <p:cNvSpPr>
            <a:spLocks noGrp="true" noChangeShapeType="true"/>
          </p:cNvSpPr>
          <p:nvPr>
            <p:ph type="obj"/>
          </p:nvPr>
        </p:nvSpPr>
        <p:spPr>
          <a:xfrm rot="0" flipH="false" flipV="false">
            <a:off x="419100" y="1449295"/>
            <a:ext cx="8305800" cy="9144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>
                <a:ea typeface="宋体" pitchFamily="2" charset="-122"/>
              </a:rPr>
              <a:t>进程的状态转移</a:t>
            </a:r>
            <a:endParaRPr/>
          </a:p>
        </p:txBody>
      </p:sp>
      <p:sp>
        <p:nvSpPr>
          <p:cNvPr id="257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58" name=""/>
          <p:cNvSpPr txBox="true"/>
          <p:nvPr/>
        </p:nvSpPr>
        <p:spPr>
          <a:xfrm rot="0" flipH="false" flipV="false">
            <a:off x="548488" y="5575299"/>
            <a:ext cx="71501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 b="false"/>
              <a:t>SIGSTOP</a:t>
            </a:r>
            <a:r>
              <a:rPr lang="zh-CN" b="false"/>
              <a:t>、</a:t>
            </a:r>
            <a:r>
              <a:rPr lang="en-US" b="false"/>
              <a:t>SIGCONT</a:t>
            </a:r>
            <a:r>
              <a:rPr lang="zh-CN" b="false"/>
              <a:t>、</a:t>
            </a:r>
            <a:r>
              <a:rPr lang="en-US" b="false"/>
              <a:t>SIGTERM</a:t>
            </a:r>
            <a:r>
              <a:rPr lang="zh-CN" b="false"/>
              <a:t>等是</a:t>
            </a:r>
            <a:r>
              <a:rPr lang="en-US" b="false"/>
              <a:t>Signal</a:t>
            </a:r>
            <a:endParaRPr/>
          </a:p>
          <a:p>
            <a:pPr>
              <a:buNone/>
            </a:pPr>
            <a:r>
              <a:rPr lang="en-US" b="false"/>
              <a:t>Signal:OS</a:t>
            </a:r>
            <a:r>
              <a:rPr lang="zh-CN" b="false"/>
              <a:t>提供的一种</a:t>
            </a:r>
            <a:r>
              <a:rPr lang="en-US" b="false"/>
              <a:t>software interrupt</a:t>
            </a:r>
            <a:r>
              <a:rPr lang="zh-CN" b="false"/>
              <a:t>机制，之后课程会讲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false" flipV="false">
            <a:off x="1908642" y="3425291"/>
            <a:ext cx="1563303" cy="758417"/>
          </a:xfrm>
          <a:prstGeom prst="ellipse">
            <a:avLst/>
          </a:prstGeom>
          <a:noFill/>
          <a:ln w="19050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txBody>
          <a:bodyPr anchor="ctr"/>
          <a:p>
            <a:pPr algn="ctr">
              <a:buNone/>
            </a:pPr>
            <a:r>
              <a:rPr lang="en-US"/>
              <a:t>Ready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false" flipV="false">
            <a:off x="5052367" y="3425291"/>
            <a:ext cx="1563303" cy="758417"/>
          </a:xfrm>
          <a:prstGeom prst="ellipse">
            <a:avLst/>
          </a:prstGeom>
          <a:noFill/>
          <a:ln w="19050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txBody>
          <a:bodyPr anchor="ctr"/>
          <a:p>
            <a:pPr algn="ctr">
              <a:buNone/>
            </a:pPr>
            <a:r>
              <a:rPr lang="en-US"/>
              <a:t>Running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false" flipV="false">
            <a:off x="3471945" y="4580290"/>
            <a:ext cx="1563303" cy="758417"/>
          </a:xfrm>
          <a:prstGeom prst="ellipse">
            <a:avLst/>
          </a:prstGeom>
          <a:noFill/>
          <a:ln w="19050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txBody>
          <a:bodyPr anchor="ctr"/>
          <a:p>
            <a:pPr algn="ctr">
              <a:buNone/>
            </a:pPr>
            <a:r>
              <a:rPr lang="en-US"/>
              <a:t>Blocked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false" flipV="false">
            <a:off x="3484645" y="2205094"/>
            <a:ext cx="1563303" cy="758417"/>
          </a:xfrm>
          <a:prstGeom prst="ellipse">
            <a:avLst/>
          </a:prstGeom>
          <a:noFill/>
          <a:ln w="19050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txBody>
          <a:bodyPr anchor="ctr"/>
          <a:p>
            <a:pPr algn="ctr">
              <a:buNone/>
            </a:pPr>
            <a:r>
              <a:rPr lang="en-US"/>
              <a:t>Stopped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false" flipV="false">
            <a:off x="228220" y="2315630"/>
            <a:ext cx="1563303" cy="758417"/>
          </a:xfrm>
          <a:prstGeom prst="ellipse">
            <a:avLst/>
          </a:prstGeom>
          <a:noFill/>
          <a:ln w="19050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txBody>
          <a:bodyPr anchor="ctr"/>
          <a:p>
            <a:pPr algn="ctr">
              <a:buNone/>
            </a:pPr>
            <a:r>
              <a:rPr lang="en-US"/>
              <a:t>New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false" flipV="false">
            <a:off x="6741070" y="2315630"/>
            <a:ext cx="1563303" cy="758417"/>
          </a:xfrm>
          <a:prstGeom prst="ellipse">
            <a:avLst/>
          </a:prstGeom>
          <a:noFill/>
          <a:ln w="19050">
            <a:solidFill>
              <a:schemeClr val="tx1">
                <a:alpha val="100000"/>
              </a:schemeClr>
            </a:solidFill>
            <a:prstDash val="solid"/>
            <a:miter lim="800000"/>
          </a:ln>
        </p:spPr>
        <p:txBody>
          <a:bodyPr anchor="ctr"/>
          <a:p>
            <a:pPr algn="ctr">
              <a:buNone/>
            </a:pPr>
            <a:r>
              <a:rPr lang="en-US"/>
              <a:t>Terminated</a:t>
            </a:r>
            <a:endParaRPr/>
          </a:p>
        </p:txBody>
      </p:sp>
      <p:cxnSp>
        <p:nvCxnSpPr>
          <p:cNvPr id="265" name=""/>
          <p:cNvCxnSpPr>
            <a:stCxn id="263" idx="4"/>
            <a:endCxn id="259" idx="2"/>
          </p:cNvCxnSpPr>
          <p:nvPr/>
        </p:nvCxnSpPr>
        <p:spPr>
          <a:xfrm rot="5400000" flipH="false" flipV="true">
            <a:off x="1095375" y="2989319"/>
            <a:ext cx="730250" cy="901700"/>
          </a:xfrm>
          <a:prstGeom prst="curvedConnector2">
            <a:avLst/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266" name=""/>
          <p:cNvCxnSpPr>
            <a:stCxn id="259" idx="5"/>
            <a:endCxn id="260" idx="3"/>
          </p:cNvCxnSpPr>
          <p:nvPr/>
        </p:nvCxnSpPr>
        <p:spPr>
          <a:xfrm rot="0" flipH="false" flipV="false">
            <a:off x="3244850" y="4067761"/>
            <a:ext cx="2038350" cy="8466"/>
          </a:xfrm>
          <a:prstGeom prst="curvedConnector2">
            <a:avLst/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267" name=""/>
          <p:cNvCxnSpPr>
            <a:stCxn id="260" idx="1"/>
            <a:endCxn id="259" idx="7"/>
          </p:cNvCxnSpPr>
          <p:nvPr/>
        </p:nvCxnSpPr>
        <p:spPr>
          <a:xfrm rot="0" flipH="true" flipV="false">
            <a:off x="3244850" y="3534361"/>
            <a:ext cx="2038350" cy="8466"/>
          </a:xfrm>
          <a:prstGeom prst="curvedConnector2">
            <a:avLst/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268" name=""/>
          <p:cNvCxnSpPr>
            <a:stCxn id="260" idx="0"/>
            <a:endCxn id="262" idx="6"/>
          </p:cNvCxnSpPr>
          <p:nvPr/>
        </p:nvCxnSpPr>
        <p:spPr>
          <a:xfrm rot="5400000" flipH="true" flipV="false">
            <a:off x="5022850" y="2611494"/>
            <a:ext cx="838200" cy="787400"/>
          </a:xfrm>
          <a:prstGeom prst="curvedConnector2">
            <a:avLst/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269" name=""/>
          <p:cNvCxnSpPr>
            <a:stCxn id="262" idx="2"/>
            <a:endCxn id="259" idx="0"/>
          </p:cNvCxnSpPr>
          <p:nvPr/>
        </p:nvCxnSpPr>
        <p:spPr>
          <a:xfrm rot="0" flipH="true" flipV="false">
            <a:off x="2692400" y="2586094"/>
            <a:ext cx="793749" cy="838200"/>
          </a:xfrm>
          <a:prstGeom prst="curvedConnector2">
            <a:avLst/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270" name=""/>
          <p:cNvCxnSpPr>
            <a:stCxn id="260" idx="4"/>
            <a:endCxn id="261" idx="6"/>
          </p:cNvCxnSpPr>
          <p:nvPr/>
        </p:nvCxnSpPr>
        <p:spPr>
          <a:xfrm rot="5400000" flipH="false" flipV="false">
            <a:off x="5048250" y="4173594"/>
            <a:ext cx="774700" cy="800099"/>
          </a:xfrm>
          <a:prstGeom prst="curvedConnector2">
            <a:avLst/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271" name=""/>
          <p:cNvCxnSpPr>
            <a:stCxn id="261" idx="2"/>
            <a:endCxn id="259" idx="4"/>
          </p:cNvCxnSpPr>
          <p:nvPr/>
        </p:nvCxnSpPr>
        <p:spPr>
          <a:xfrm rot="0" flipH="true" flipV="true">
            <a:off x="2692400" y="4186294"/>
            <a:ext cx="781050" cy="774700"/>
          </a:xfrm>
          <a:prstGeom prst="curvedConnector2">
            <a:avLst/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272" name=""/>
          <p:cNvCxnSpPr>
            <a:stCxn id="260" idx="6"/>
            <a:endCxn id="264" idx="4"/>
          </p:cNvCxnSpPr>
          <p:nvPr/>
        </p:nvCxnSpPr>
        <p:spPr>
          <a:xfrm rot="0" flipH="false" flipV="true">
            <a:off x="6616700" y="3073400"/>
            <a:ext cx="908050" cy="730250"/>
          </a:xfrm>
          <a:prstGeom prst="curvedConnector2">
            <a:avLst/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sp>
        <p:nvSpPr>
          <p:cNvPr id="273" name=""/>
          <p:cNvSpPr txBox="true"/>
          <p:nvPr/>
        </p:nvSpPr>
        <p:spPr>
          <a:xfrm rot="0" flipH="false" flipV="false">
            <a:off x="5616423" y="4580290"/>
            <a:ext cx="1965476" cy="3937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I/O initiate... </a:t>
            </a:r>
            <a:endParaRPr/>
          </a:p>
        </p:txBody>
      </p:sp>
      <p:sp>
        <p:nvSpPr>
          <p:cNvPr id="274" name=""/>
          <p:cNvSpPr txBox="true"/>
          <p:nvPr/>
        </p:nvSpPr>
        <p:spPr>
          <a:xfrm rot="0" flipH="false" flipV="false">
            <a:off x="1503445" y="4565799"/>
            <a:ext cx="1968500" cy="3937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I/O done... </a:t>
            </a:r>
            <a:endParaRPr/>
          </a:p>
        </p:txBody>
      </p:sp>
      <p:sp>
        <p:nvSpPr>
          <p:cNvPr id="275" name=""/>
          <p:cNvSpPr txBox="true"/>
          <p:nvPr/>
        </p:nvSpPr>
        <p:spPr>
          <a:xfrm rot="0" flipH="false" flipV="false">
            <a:off x="3572822" y="3989740"/>
            <a:ext cx="1866900" cy="3937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Scheduled </a:t>
            </a:r>
            <a:endParaRPr/>
          </a:p>
        </p:txBody>
      </p:sp>
      <p:sp>
        <p:nvSpPr>
          <p:cNvPr id="276" name=""/>
          <p:cNvSpPr txBox="true"/>
          <p:nvPr/>
        </p:nvSpPr>
        <p:spPr>
          <a:xfrm rot="0" flipH="false" flipV="false">
            <a:off x="3470123" y="3186169"/>
            <a:ext cx="1968500" cy="3937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Descheduled </a:t>
            </a:r>
            <a:endParaRPr/>
          </a:p>
        </p:txBody>
      </p:sp>
      <p:sp>
        <p:nvSpPr>
          <p:cNvPr id="277" name=""/>
          <p:cNvSpPr txBox="true"/>
          <p:nvPr/>
        </p:nvSpPr>
        <p:spPr>
          <a:xfrm rot="0" flipH="false" flipV="false">
            <a:off x="5185532" y="2792469"/>
            <a:ext cx="1968500" cy="3937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SIGSTOP... </a:t>
            </a:r>
            <a:endParaRPr/>
          </a:p>
        </p:txBody>
      </p:sp>
      <p:sp>
        <p:nvSpPr>
          <p:cNvPr id="278" name=""/>
          <p:cNvSpPr txBox="true"/>
          <p:nvPr/>
        </p:nvSpPr>
        <p:spPr>
          <a:xfrm rot="0" flipH="false" flipV="false">
            <a:off x="2260600" y="2792469"/>
            <a:ext cx="1968500" cy="3937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SIGCONT </a:t>
            </a:r>
            <a:endParaRPr/>
          </a:p>
        </p:txBody>
      </p:sp>
      <p:sp>
        <p:nvSpPr>
          <p:cNvPr id="279" name=""/>
          <p:cNvSpPr txBox="true"/>
          <p:nvPr/>
        </p:nvSpPr>
        <p:spPr>
          <a:xfrm rot="0" flipH="false" flipV="false">
            <a:off x="228220" y="3623073"/>
            <a:ext cx="1968500" cy="3937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initialized </a:t>
            </a:r>
            <a:endParaRPr/>
          </a:p>
        </p:txBody>
      </p:sp>
      <p:sp>
        <p:nvSpPr>
          <p:cNvPr id="280" name=""/>
          <p:cNvSpPr txBox="true"/>
          <p:nvPr/>
        </p:nvSpPr>
        <p:spPr>
          <a:xfrm rot="0" flipH="false" flipV="false">
            <a:off x="6615670" y="3383019"/>
            <a:ext cx="2527300" cy="698500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p>
            <a:pPr>
              <a:buNone/>
            </a:pPr>
            <a:r>
              <a:rPr lang="en-US"/>
              <a:t>SIGTERM,</a:t>
            </a:r>
            <a:endParaRPr/>
          </a:p>
          <a:p>
            <a:pPr>
              <a:buNone/>
            </a:pPr>
            <a:r>
              <a:rPr lang="en-US"/>
              <a:t>SIGKILL,exit()... </a:t>
            </a:r>
            <a:endParaRPr/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35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States of a process</a:t>
            </a:r>
            <a:endParaRPr/>
          </a:p>
        </p:txBody>
      </p:sp>
      <p:sp>
        <p:nvSpPr>
          <p:cNvPr id="336" name="Rectangle 3"/>
          <p:cNvSpPr>
            <a:spLocks noGrp="true" noChangeShapeType="true"/>
          </p:cNvSpPr>
          <p:nvPr>
            <p:ph type="body"/>
          </p:nvPr>
        </p:nvSpPr>
        <p:spPr>
          <a:xfrm rot="0" flipH="false" flipV="false">
            <a:off x="320268" y="1600200"/>
            <a:ext cx="8595131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30000"/>
              </a:lnSpc>
              <a:spcBef>
                <a:spcPct val="20000"/>
              </a:spcBef>
              <a:buChar char="•"/>
            </a:pPr>
            <a:r>
              <a:rPr lang="zh-CN" sz="2600">
                <a:latin typeface="Comic Sans MS"/>
                <a:ea typeface="宋体"/>
              </a:rPr>
              <a:t>终止</a:t>
            </a:r>
            <a:r>
              <a:rPr lang="en-US" sz="2600">
                <a:latin typeface="Comic Sans MS"/>
                <a:ea typeface="宋体"/>
              </a:rPr>
              <a:t>(</a:t>
            </a:r>
            <a:r>
              <a:rPr lang="en-US" sz="2600">
                <a:latin typeface="Comic Sans MS"/>
                <a:ea typeface="宋体"/>
              </a:rPr>
              <a:t>terminate)</a:t>
            </a:r>
            <a:r>
              <a:rPr lang="zh-CN" sz="2600">
                <a:latin typeface="Comic Sans MS"/>
                <a:ea typeface="宋体"/>
              </a:rPr>
              <a:t>意味着回收进程的一切资源</a:t>
            </a:r>
            <a:endParaRPr/>
          </a:p>
          <a:p>
            <a:pPr marL="342900" lvl="0" indent="-342900">
              <a:lnSpc>
                <a:spcPct val="130000"/>
              </a:lnSpc>
              <a:spcBef>
                <a:spcPct val="20000"/>
              </a:spcBef>
              <a:buChar char="•"/>
            </a:pPr>
            <a:r>
              <a:rPr lang="zh-CN" sz="2600">
                <a:latin typeface="Comic Sans MS"/>
                <a:ea typeface="宋体"/>
              </a:rPr>
              <a:t>进程如何被终止</a:t>
            </a:r>
            <a:endParaRPr/>
          </a:p>
          <a:p>
            <a:pPr marL="742950" lvl="1" indent="-285750">
              <a:lnSpc>
                <a:spcPct val="130000"/>
              </a:lnSpc>
              <a:spcBef>
                <a:spcPct val="20000"/>
              </a:spcBef>
              <a:buChar char="–"/>
            </a:pPr>
            <a:r>
              <a:rPr lang="zh-CN" sz="2200" b="false">
                <a:latin typeface="Comic Sans MS"/>
                <a:ea typeface="宋体"/>
              </a:rPr>
              <a:t>接收到一个可以终止进程的</a:t>
            </a:r>
            <a:r>
              <a:rPr lang="en-US" sz="2200" b="false">
                <a:latin typeface="Comic Sans MS"/>
                <a:ea typeface="宋体"/>
              </a:rPr>
              <a:t> </a:t>
            </a:r>
            <a:r>
              <a:rPr lang="en-US" sz="22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signal</a:t>
            </a:r>
            <a:r>
              <a:rPr lang="zh-CN" sz="22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，如</a:t>
            </a:r>
            <a:r>
              <a:rPr lang="en-US" sz="22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SIGTERM</a:t>
            </a:r>
            <a:endParaRPr/>
          </a:p>
          <a:p>
            <a:pPr marL="742950" lvl="1" indent="-285750">
              <a:lnSpc>
                <a:spcPct val="130000"/>
              </a:lnSpc>
              <a:spcBef>
                <a:spcPct val="20000"/>
              </a:spcBef>
              <a:buChar char="–"/>
            </a:pPr>
            <a:r>
              <a:rPr lang="zh-CN" sz="2200" b="false">
                <a:latin typeface="Comic Sans MS"/>
                <a:ea typeface="宋体"/>
              </a:rPr>
              <a:t>从</a:t>
            </a:r>
            <a:r>
              <a:rPr lang="en-US" sz="2200" b="false">
                <a:latin typeface="Comic Sans MS"/>
                <a:ea typeface="宋体"/>
              </a:rPr>
              <a:t>main</a:t>
            </a:r>
            <a:r>
              <a:rPr lang="zh-CN" sz="2200" b="false">
                <a:latin typeface="Comic Sans MS"/>
                <a:ea typeface="宋体"/>
              </a:rPr>
              <a:t>函数返回</a:t>
            </a:r>
            <a:endParaRPr/>
          </a:p>
          <a:p>
            <a:pPr marL="742950" lvl="1" indent="-285750">
              <a:lnSpc>
                <a:spcPct val="130000"/>
              </a:lnSpc>
              <a:spcBef>
                <a:spcPct val="20000"/>
              </a:spcBef>
              <a:buChar char="–"/>
            </a:pPr>
            <a:r>
              <a:rPr lang="zh-CN" sz="2200" b="false">
                <a:latin typeface="Comic Sans MS"/>
                <a:ea typeface="宋体"/>
              </a:rPr>
              <a:t>调用</a:t>
            </a:r>
            <a:r>
              <a:rPr lang="en-US" sz="2200" b="false">
                <a:latin typeface="Comic Sans MS"/>
                <a:ea typeface="宋体"/>
              </a:rPr>
              <a:t> </a:t>
            </a:r>
            <a:r>
              <a:rPr lang="en-US" sz="1800" b="true">
                <a:latin typeface="Courier New"/>
                <a:ea typeface="宋体"/>
              </a:rPr>
              <a:t>exit</a:t>
            </a:r>
            <a:r>
              <a:rPr lang="en-US" sz="2200" b="false">
                <a:latin typeface="Courier"/>
                <a:ea typeface="宋体"/>
              </a:rPr>
              <a:t> </a:t>
            </a:r>
            <a:r>
              <a:rPr lang="zh-CN" sz="2200" b="false">
                <a:latin typeface="Courier"/>
                <a:ea typeface="宋体"/>
              </a:rPr>
              <a:t>系统调用</a:t>
            </a:r>
            <a:endParaRPr/>
          </a:p>
          <a:p>
            <a:pPr marL="742950" lvl="1" indent="-285750">
              <a:lnSpc>
                <a:spcPct val="130000"/>
              </a:lnSpc>
              <a:spcBef>
                <a:spcPct val="20000"/>
              </a:spcBef>
              <a:buChar char="–"/>
            </a:pPr>
            <a:r>
              <a:rPr lang="zh-CN" sz="2200" b="false">
                <a:latin typeface="Courier"/>
                <a:ea typeface="宋体"/>
              </a:rPr>
              <a:t>父进程被终止</a:t>
            </a:r>
            <a:endParaRPr/>
          </a:p>
          <a:p>
            <a:pPr marL="742950" lvl="1" indent="-285750">
              <a:lnSpc>
                <a:spcPct val="130000"/>
              </a:lnSpc>
              <a:spcBef>
                <a:spcPct val="20000"/>
              </a:spcBef>
              <a:buChar char="–"/>
            </a:pPr>
            <a:r>
              <a:rPr lang="en-US" sz="2200" b="false">
                <a:latin typeface="Courier"/>
                <a:ea typeface="宋体"/>
              </a:rPr>
              <a:t>OS</a:t>
            </a:r>
            <a:r>
              <a:rPr lang="zh-CN" sz="2200" b="false">
                <a:latin typeface="Courier"/>
                <a:ea typeface="宋体"/>
              </a:rPr>
              <a:t>被关闭</a:t>
            </a:r>
            <a:endParaRPr/>
          </a:p>
        </p:txBody>
      </p:sp>
      <p:pic>
        <p:nvPicPr>
          <p:cNvPr id="337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3948296" y="4175760"/>
            <a:ext cx="4709085" cy="1630680"/>
          </a:xfrm>
          <a:prstGeom prst="rect"/>
        </p:spPr>
      </p:pic>
      <p:cxnSp>
        <p:nvCxnSpPr>
          <p:cNvPr id="338" name=""/>
          <p:cNvCxnSpPr/>
          <p:nvPr/>
        </p:nvCxnSpPr>
        <p:spPr>
          <a:xfrm rot="0" flipH="false" flipV="false">
            <a:off x="6543322" y="4358475"/>
            <a:ext cx="915802" cy="0"/>
          </a:xfrm>
          <a:prstGeom prst="straightConnector1"/>
          <a:ln w="25400">
            <a:solidFill>
              <a:srgbClr val="FF0000">
                <a:alpha val="100000"/>
              </a:srgbClr>
            </a:solidFill>
            <a:prstDash val="sysDash"/>
            <a:headEnd/>
            <a:tailEnd type="triangle"/>
          </a:ln>
        </p:spPr>
      </p:cxnSp>
      <p:cxnSp>
        <p:nvCxnSpPr>
          <p:cNvPr id="339" name=""/>
          <p:cNvCxnSpPr/>
          <p:nvPr/>
        </p:nvCxnSpPr>
        <p:spPr>
          <a:xfrm rot="0" flipH="false" flipV="true">
            <a:off x="5696265" y="4606669"/>
            <a:ext cx="1862859" cy="333102"/>
          </a:xfrm>
          <a:prstGeom prst="straightConnector1"/>
          <a:ln w="25400">
            <a:solidFill>
              <a:srgbClr val="FF0000">
                <a:alpha val="100000"/>
              </a:srgbClr>
            </a:solidFill>
            <a:prstDash val="sysDash"/>
            <a:headEnd/>
            <a:tailEnd type="triangle"/>
          </a:ln>
        </p:spPr>
      </p:cxnSp>
      <p:sp>
        <p:nvSpPr>
          <p:cNvPr id="340" name=""/>
          <p:cNvSpPr txBox="true"/>
          <p:nvPr/>
        </p:nvSpPr>
        <p:spPr>
          <a:xfrm rot="0" flipH="false" flipV="false">
            <a:off x="884421" y="5927725"/>
            <a:ext cx="6127750" cy="488950"/>
          </a:xfrm>
          <a:prstGeom prst="rect"/>
        </p:spPr>
        <p:txBody>
          <a:bodyPr>
            <a:spAutoFit/>
          </a:bodyPr>
          <a:p>
            <a:pPr lvl="0">
              <a:lnSpc>
                <a:spcPct val="130000"/>
              </a:lnSpc>
              <a:buNone/>
            </a:pPr>
            <a:r>
              <a:rPr lang="en-US" sz="2000" b="false"/>
              <a:t>Running</a:t>
            </a:r>
            <a:r>
              <a:rPr lang="zh-CN" sz="2000" b="false"/>
              <a:t>状态</a:t>
            </a:r>
            <a:r>
              <a:rPr lang="zh-CN" sz="2000" b="false"/>
              <a:t>之外的</a:t>
            </a:r>
            <a:r>
              <a:rPr lang="zh-CN" sz="2000" b="false"/>
              <a:t>进程可以被终止吗？</a:t>
            </a:r>
            <a:endParaRPr/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24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States of a process</a:t>
            </a:r>
            <a:endParaRPr/>
          </a:p>
        </p:txBody>
      </p:sp>
      <p:sp>
        <p:nvSpPr>
          <p:cNvPr id="425" name="Rectangle 3"/>
          <p:cNvSpPr>
            <a:spLocks noGrp="true" noChangeShapeType="true"/>
          </p:cNvSpPr>
          <p:nvPr>
            <p:ph type="body"/>
          </p:nvPr>
        </p:nvSpPr>
        <p:spPr>
          <a:xfrm rot="0" flipH="false" flipV="false">
            <a:off x="320268" y="1600200"/>
            <a:ext cx="8595131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30000"/>
              </a:lnSpc>
              <a:spcBef>
                <a:spcPct val="20000"/>
              </a:spcBef>
              <a:buChar char="•"/>
            </a:pPr>
            <a:r>
              <a:rPr lang="en-US" sz="2400">
                <a:latin typeface="Comic Sans MS"/>
                <a:ea typeface="宋体"/>
              </a:rPr>
              <a:t>Stop</a:t>
            </a:r>
            <a:r>
              <a:rPr lang="zh-CN" sz="2400">
                <a:latin typeface="Comic Sans MS"/>
                <a:ea typeface="宋体"/>
              </a:rPr>
              <a:t>意味着暂停执行和调度，除非收到</a:t>
            </a:r>
            <a:r>
              <a:rPr lang="en-US" sz="2400">
                <a:latin typeface="Comic Sans MS"/>
                <a:ea typeface="宋体"/>
              </a:rPr>
              <a:t>SIGCONT signal</a:t>
            </a:r>
            <a:endParaRPr/>
          </a:p>
        </p:txBody>
      </p:sp>
      <p:pic>
        <p:nvPicPr>
          <p:cNvPr id="426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754938" y="2476500"/>
            <a:ext cx="7481724" cy="2590800"/>
          </a:xfrm>
          <a:prstGeom prst="rect"/>
        </p:spPr>
      </p:pic>
      <p:cxnSp>
        <p:nvCxnSpPr>
          <p:cNvPr id="427" name=""/>
          <p:cNvCxnSpPr/>
          <p:nvPr/>
        </p:nvCxnSpPr>
        <p:spPr>
          <a:xfrm rot="0" flipH="false" flipV="true">
            <a:off x="3282601" y="3120918"/>
            <a:ext cx="646611" cy="444137"/>
          </a:xfrm>
          <a:prstGeom prst="straightConnector1"/>
          <a:ln w="25400">
            <a:solidFill>
              <a:srgbClr val="FF0000">
                <a:alpha val="100000"/>
              </a:srgbClr>
            </a:solidFill>
            <a:prstDash val="sysDash"/>
            <a:headEnd/>
            <a:tailEnd type="triangle"/>
          </a:ln>
        </p:spPr>
      </p:cxnSp>
      <p:sp>
        <p:nvSpPr>
          <p:cNvPr id="428" name=""/>
          <p:cNvSpPr txBox="true"/>
          <p:nvPr/>
        </p:nvSpPr>
        <p:spPr>
          <a:xfrm rot="0" flipH="false" flipV="false">
            <a:off x="1051560" y="5530850"/>
            <a:ext cx="6127750" cy="488950"/>
          </a:xfrm>
          <a:prstGeom prst="rect"/>
        </p:spPr>
        <p:txBody>
          <a:bodyPr>
            <a:spAutoFit/>
          </a:bodyPr>
          <a:p>
            <a:pPr lvl="0">
              <a:lnSpc>
                <a:spcPct val="130000"/>
              </a:lnSpc>
              <a:buNone/>
            </a:pPr>
            <a:r>
              <a:rPr lang="en-US" sz="2000" b="false"/>
              <a:t>Running</a:t>
            </a:r>
            <a:r>
              <a:rPr lang="zh-CN" sz="2000" b="false"/>
              <a:t>状态</a:t>
            </a:r>
            <a:r>
              <a:rPr lang="zh-CN" sz="2000" b="false"/>
              <a:t>之外的</a:t>
            </a:r>
            <a:r>
              <a:rPr lang="zh-CN" sz="2000" b="false"/>
              <a:t>进程可以被</a:t>
            </a:r>
            <a:r>
              <a:rPr lang="en-US" sz="2000" b="false"/>
              <a:t>Stop</a:t>
            </a:r>
            <a:r>
              <a:rPr lang="zh-CN" sz="2000" b="false"/>
              <a:t>吗？</a:t>
            </a:r>
            <a:endParaRPr/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50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06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States of a process</a:t>
            </a:r>
            <a:endParaRPr/>
          </a:p>
        </p:txBody>
      </p:sp>
      <p:sp>
        <p:nvSpPr>
          <p:cNvPr id="507" name="Rectangle 3"/>
          <p:cNvSpPr>
            <a:spLocks noGrp="true" noChangeShapeType="true"/>
          </p:cNvSpPr>
          <p:nvPr>
            <p:ph type="body"/>
          </p:nvPr>
        </p:nvSpPr>
        <p:spPr>
          <a:xfrm rot="0" flipH="false" flipV="false">
            <a:off x="320268" y="1600200"/>
            <a:ext cx="8595131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30000"/>
              </a:lnSpc>
              <a:spcBef>
                <a:spcPct val="20000"/>
              </a:spcBef>
              <a:buChar char="•"/>
            </a:pPr>
            <a:r>
              <a:rPr lang="zh-CN" sz="2400">
                <a:latin typeface="Comic Sans MS"/>
                <a:ea typeface="宋体"/>
              </a:rPr>
              <a:t>进程不能直接从</a:t>
            </a:r>
            <a:r>
              <a:rPr lang="en-US" sz="2400">
                <a:latin typeface="Comic Sans MS"/>
                <a:ea typeface="宋体"/>
              </a:rPr>
              <a:t>Blocked</a:t>
            </a:r>
            <a:r>
              <a:rPr lang="zh-CN" sz="2400">
                <a:latin typeface="Comic Sans MS"/>
                <a:ea typeface="宋体"/>
              </a:rPr>
              <a:t>或</a:t>
            </a:r>
            <a:r>
              <a:rPr lang="en-US" sz="2400">
                <a:latin typeface="Comic Sans MS"/>
                <a:ea typeface="宋体"/>
              </a:rPr>
              <a:t>Stopped</a:t>
            </a:r>
            <a:r>
              <a:rPr lang="zh-CN" sz="2400">
                <a:latin typeface="Comic Sans MS"/>
                <a:ea typeface="宋体"/>
              </a:rPr>
              <a:t>状态进入</a:t>
            </a:r>
            <a:r>
              <a:rPr lang="en-US" sz="2400">
                <a:latin typeface="Comic Sans MS"/>
                <a:ea typeface="宋体"/>
              </a:rPr>
              <a:t>Running</a:t>
            </a:r>
            <a:r>
              <a:rPr lang="zh-CN" sz="2400">
                <a:latin typeface="Comic Sans MS"/>
                <a:ea typeface="宋体"/>
              </a:rPr>
              <a:t>状态</a:t>
            </a:r>
            <a:endParaRPr/>
          </a:p>
          <a:p>
            <a:pPr marL="342900" lvl="0" indent="-342900">
              <a:lnSpc>
                <a:spcPct val="130000"/>
              </a:lnSpc>
              <a:spcBef>
                <a:spcPct val="20000"/>
              </a:spcBef>
              <a:buChar char="•"/>
            </a:pPr>
            <a:r>
              <a:rPr lang="zh-CN" sz="2400">
                <a:latin typeface="Comic Sans MS"/>
                <a:ea typeface="宋体"/>
              </a:rPr>
              <a:t>必须先进入</a:t>
            </a:r>
            <a:r>
              <a:rPr lang="en-US" sz="2400">
                <a:latin typeface="Comic Sans MS"/>
                <a:ea typeface="宋体"/>
              </a:rPr>
              <a:t>Ready</a:t>
            </a:r>
            <a:r>
              <a:rPr lang="zh-CN" sz="2400">
                <a:latin typeface="Comic Sans MS"/>
                <a:ea typeface="宋体"/>
              </a:rPr>
              <a:t>状态，等待</a:t>
            </a:r>
            <a:r>
              <a:rPr lang="en-US" sz="2400">
                <a:latin typeface="Comic Sans MS"/>
                <a:ea typeface="宋体"/>
              </a:rPr>
              <a:t>OS</a:t>
            </a:r>
            <a:r>
              <a:rPr lang="zh-CN" sz="2400">
                <a:latin typeface="Comic Sans MS"/>
                <a:ea typeface="宋体"/>
              </a:rPr>
              <a:t>调度</a:t>
            </a:r>
            <a:endParaRPr/>
          </a:p>
          <a:p>
            <a:pPr marL="342900" lvl="0" indent="-342900">
              <a:lnSpc>
                <a:spcPct val="130000"/>
              </a:lnSpc>
              <a:spcBef>
                <a:spcPct val="20000"/>
              </a:spcBef>
              <a:buChar char="•"/>
            </a:pPr>
            <a:r>
              <a:rPr lang="zh-CN" sz="2400"/>
              <a:t>否则进程就可以不进入</a:t>
            </a:r>
            <a:r>
              <a:rPr lang="en-US" sz="2400"/>
              <a:t>ready</a:t>
            </a:r>
            <a:r>
              <a:rPr lang="zh-CN" sz="2400"/>
              <a:t>队列，这等于跳过了</a:t>
            </a:r>
            <a:r>
              <a:rPr lang="en-US" sz="2400"/>
              <a:t>OS</a:t>
            </a:r>
            <a:r>
              <a:rPr lang="zh-CN" sz="2400"/>
              <a:t>的进程调度机制，会造成调度混乱和不公平</a:t>
            </a:r>
            <a:endParaRPr/>
          </a:p>
          <a:p>
            <a:pPr marL="342900" lvl="0" indent="-342900">
              <a:lnSpc>
                <a:spcPct val="130000"/>
              </a:lnSpc>
              <a:spcBef>
                <a:spcPct val="20000"/>
              </a:spcBef>
              <a:buChar char="•"/>
            </a:pPr>
            <a:endParaRPr lang="zh-CN">
              <a:latin typeface="Comic Sans MS"/>
              <a:ea typeface="宋体"/>
            </a:endParaRPr>
          </a:p>
        </p:txBody>
      </p:sp>
      <p:pic>
        <p:nvPicPr>
          <p:cNvPr id="508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457200" y="3810000"/>
            <a:ext cx="7481724" cy="2590800"/>
          </a:xfrm>
          <a:prstGeom prst="rect"/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5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States of a process</a:t>
            </a:r>
            <a:endParaRPr/>
          </a:p>
        </p:txBody>
      </p:sp>
      <p:sp>
        <p:nvSpPr>
          <p:cNvPr id="547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>
                <a:ea typeface="宋体" pitchFamily="2" charset="-122"/>
              </a:rPr>
              <a:t>进程的状态转移</a:t>
            </a:r>
            <a:endParaRPr/>
          </a:p>
        </p:txBody>
      </p:sp>
      <p:sp>
        <p:nvSpPr>
          <p:cNvPr id="548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549" name="Picture 4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219200" y="2438400"/>
            <a:ext cx="6362700" cy="3429000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true">
            <a:spLocks noGrp="true" noChangeShapeType="true"/>
          </p:cNvSpPr>
          <p:nvPr/>
        </p:nvSpPr>
        <p:spPr>
          <a:xfrm>
            <a:off x="457200" y="457200"/>
            <a:ext cx="8077200" cy="9144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/>
                </a:solidFill>
                <a:latin typeface="Comic Sans MS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tru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en-US"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Linux</a:t>
            </a:r>
            <a:r>
              <a:rPr lang="zh-CN"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进程状态</a:t>
            </a:r>
            <a:endParaRPr/>
          </a:p>
        </p:txBody>
      </p:sp>
      <p:pic>
        <p:nvPicPr>
          <p:cNvPr id="6" name="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2984470" y="104503"/>
            <a:ext cx="6016137" cy="6648993"/>
          </a:xfrm>
          <a:prstGeom prst="rect"/>
        </p:spPr>
      </p:pic>
      <p:sp>
        <p:nvSpPr>
          <p:cNvPr id="7" name=""/>
          <p:cNvSpPr txBox="true"/>
          <p:nvPr/>
        </p:nvSpPr>
        <p:spPr>
          <a:xfrm rot="0" flipH="false" flipV="false">
            <a:off x="542109" y="1619794"/>
            <a:ext cx="3213100" cy="16129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R: Running or Ready</a:t>
            </a:r>
            <a:endParaRPr/>
          </a:p>
          <a:p>
            <a:pPr>
              <a:buNone/>
            </a:pPr>
            <a:r>
              <a:rPr lang="en-US"/>
              <a:t>T: Stopped</a:t>
            </a:r>
            <a:endParaRPr/>
          </a:p>
          <a:p>
            <a:pPr>
              <a:buNone/>
            </a:pPr>
            <a:r>
              <a:rPr lang="en-US"/>
              <a:t>Z: Zombie (terminating)</a:t>
            </a:r>
            <a:endParaRPr/>
          </a:p>
          <a:p>
            <a:pPr>
              <a:buNone/>
            </a:pPr>
            <a:r>
              <a:rPr lang="en-US"/>
              <a:t>S: Interruptible Sleep</a:t>
            </a:r>
            <a:endParaRPr/>
          </a:p>
          <a:p>
            <a:pPr>
              <a:buNone/>
            </a:pPr>
            <a:r>
              <a:rPr lang="en-US"/>
              <a:t>D: Uninterruptible Sleep</a:t>
            </a:r>
            <a:endParaRPr/>
          </a:p>
        </p:txBody>
      </p:sp>
      <p:sp>
        <p:nvSpPr>
          <p:cNvPr id="8" name=""/>
          <p:cNvSpPr txBox="true"/>
          <p:nvPr/>
        </p:nvSpPr>
        <p:spPr>
          <a:xfrm rot="0" flipH="false" flipV="false">
            <a:off x="694509" y="3990703"/>
            <a:ext cx="2908300" cy="13081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Linux 4.14</a:t>
            </a:r>
            <a:r>
              <a:rPr lang="zh-CN"/>
              <a:t>之后，内核线程有一个额外的状态</a:t>
            </a:r>
            <a:r>
              <a:rPr lang="en-US"/>
              <a:t>I (idle)</a:t>
            </a:r>
            <a:r>
              <a:rPr lang="zh-CN"/>
              <a:t>，相当于用户进程的</a:t>
            </a:r>
            <a:r>
              <a:rPr lang="en-US"/>
              <a:t>S</a:t>
            </a:r>
            <a:r>
              <a:rPr lang="zh-CN"/>
              <a:t>状态</a:t>
            </a:r>
            <a:endParaRPr/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Linux</a:t>
            </a:r>
            <a:r>
              <a:rPr lang="zh-CN" sz="2800" b="tru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进程状态</a:t>
            </a:r>
            <a:endParaRPr/>
          </a:p>
        </p:txBody>
      </p:sp>
      <p:sp>
        <p:nvSpPr>
          <p:cNvPr id="11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>
                <a:latin typeface="Comic Sans MS"/>
                <a:ea typeface="宋体"/>
              </a:rPr>
              <a:t>用</a:t>
            </a:r>
            <a:r>
              <a:rPr lang="en-US">
                <a:latin typeface="Comic Sans MS"/>
                <a:ea typeface="宋体"/>
              </a:rPr>
              <a:t>top</a:t>
            </a:r>
            <a:r>
              <a:rPr lang="zh-CN">
                <a:latin typeface="Comic Sans MS"/>
                <a:ea typeface="宋体"/>
              </a:rPr>
              <a:t>、</a:t>
            </a:r>
            <a:r>
              <a:rPr lang="en-US">
                <a:latin typeface="Comic Sans MS"/>
                <a:ea typeface="宋体"/>
              </a:rPr>
              <a:t>ps</a:t>
            </a:r>
            <a:r>
              <a:rPr lang="zh-CN">
                <a:latin typeface="Comic Sans MS"/>
                <a:ea typeface="宋体"/>
              </a:rPr>
              <a:t>等命令查看进程状态</a:t>
            </a:r>
            <a:endParaRPr/>
          </a:p>
        </p:txBody>
      </p:sp>
      <p:sp>
        <p:nvSpPr>
          <p:cNvPr id="1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13" name="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 rot="0" flipH="false" flipV="false">
            <a:off x="1227908" y="2241385"/>
            <a:ext cx="6230982" cy="4388015"/>
          </a:xfrm>
          <a:prstGeom prst="rect"/>
        </p:spPr>
      </p:pic>
      <p:sp>
        <p:nvSpPr>
          <p:cNvPr id="14" name=""/>
          <p:cNvSpPr/>
          <p:nvPr/>
        </p:nvSpPr>
        <p:spPr>
          <a:xfrm rot="0">
            <a:off x="3984171" y="2919549"/>
            <a:ext cx="280851" cy="3762102"/>
          </a:xfrm>
          <a:prstGeom prst="rect">
            <a:avLst/>
          </a:prstGeom>
          <a:noFill/>
          <a:ln w="28575">
            <a:solidFill>
              <a:srgbClr val="FF0000">
                <a:alpha val="100000"/>
              </a:srgbClr>
            </a:solidFill>
            <a:prstDash val="sysDot"/>
            <a:miter lim="800000"/>
          </a:ln>
        </p:spPr>
        <p:txBody>
          <a:bodyPr anchor="ctr"/>
          <a:p>
            <a:pPr algn="ctr"/>
            <a:endParaRPr/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>
                <a:ea typeface="宋体" pitchFamily="2" charset="-122"/>
              </a:rPr>
              <a:t>Thread</a:t>
            </a:r>
            <a:endParaRPr/>
          </a:p>
        </p:txBody>
      </p:sp>
      <p:sp>
        <p:nvSpPr>
          <p:cNvPr id="17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在同一个进程空间的多个指令流（控制流）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共享很多进程资源，变量可以互相访问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切换开销较小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将在“并行”部分详细介绍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 lang="en-US" sz="2400" b="false">
              <a:latin typeface="Comic Sans MS"/>
              <a:ea typeface="宋体"/>
            </a:endParaRPr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Linux</a:t>
            </a:r>
            <a:r>
              <a:rPr lang="zh-CN" sz="2400" b="false">
                <a:latin typeface="Comic Sans MS"/>
                <a:ea typeface="宋体"/>
              </a:rPr>
              <a:t>上的线程是通过共享地址空间的进程实现的，线程相当于</a:t>
            </a:r>
            <a:r>
              <a:rPr lang="en-US" sz="2400" b="false">
                <a:latin typeface="Comic Sans MS"/>
                <a:ea typeface="宋体"/>
              </a:rPr>
              <a:t>lightweight process</a:t>
            </a:r>
            <a:r>
              <a:rPr lang="zh-CN" sz="2400" b="false">
                <a:latin typeface="Comic Sans MS"/>
                <a:ea typeface="宋体"/>
              </a:rPr>
              <a:t>，被内核调度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 lang="en-US" sz="2400" b="false">
              <a:latin typeface="Comic Sans MS"/>
              <a:ea typeface="宋体"/>
            </a:endParaRPr>
          </a:p>
        </p:txBody>
      </p:sp>
      <p:sp>
        <p:nvSpPr>
          <p:cNvPr id="18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Linux Thread</a:t>
            </a:r>
            <a:r>
              <a:rPr lang="zh-CN" b="true">
                <a:latin typeface="Comic Sans MS"/>
                <a:ea typeface="宋体"/>
              </a:rPr>
              <a:t>的两种实现</a:t>
            </a:r>
            <a:endParaRPr/>
          </a:p>
        </p:txBody>
      </p:sp>
      <p:sp>
        <p:nvSpPr>
          <p:cNvPr id="21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pthread (POSIX Thread)</a:t>
            </a:r>
            <a:r>
              <a:rPr lang="zh-CN"/>
              <a:t>是</a:t>
            </a:r>
            <a:r>
              <a:rPr lang="en-US"/>
              <a:t>Unix-like</a:t>
            </a:r>
            <a:r>
              <a:rPr lang="zh-CN"/>
              <a:t>系统的标准线程接口，但</a:t>
            </a:r>
            <a:r>
              <a:rPr lang="en-US"/>
              <a:t>Linux</a:t>
            </a:r>
            <a:r>
              <a:rPr lang="zh-CN"/>
              <a:t>对其实现并不完善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 lang="en-US"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LinuxThreads</a:t>
            </a:r>
            <a:endParaRPr/>
          </a:p>
          <a:p>
            <a:pPr lvl="1" indent="-342900">
              <a:spcBef>
                <a:spcPct val="20000"/>
              </a:spcBef>
              <a:buSzPct val="100000"/>
              <a:buChar char="•"/>
            </a:pPr>
            <a:r>
              <a:rPr lang="en-US"/>
              <a:t>Linux 2.4 (2000</a:t>
            </a:r>
            <a:r>
              <a:rPr lang="zh-CN"/>
              <a:t>年</a:t>
            </a:r>
            <a:r>
              <a:rPr lang="en-US"/>
              <a:t>)</a:t>
            </a:r>
            <a:r>
              <a:rPr lang="zh-CN"/>
              <a:t>之前的实现</a:t>
            </a:r>
            <a:endParaRPr/>
          </a:p>
          <a:p>
            <a:pPr lvl="1" indent="-342900">
              <a:spcBef>
                <a:spcPct val="20000"/>
              </a:spcBef>
              <a:buSzPct val="100000"/>
              <a:buChar char="•"/>
            </a:pPr>
            <a:r>
              <a:rPr lang="zh-CN"/>
              <a:t>对</a:t>
            </a:r>
            <a:r>
              <a:rPr lang="en-US"/>
              <a:t>pthread</a:t>
            </a:r>
            <a:r>
              <a:rPr lang="zh-CN"/>
              <a:t>的兼容较差，</a:t>
            </a:r>
            <a:r>
              <a:rPr lang="en-US"/>
              <a:t>getpid()</a:t>
            </a:r>
            <a:r>
              <a:rPr lang="zh-CN"/>
              <a:t>返回不同的</a:t>
            </a:r>
            <a:r>
              <a:rPr lang="en-US"/>
              <a:t>pid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NPTL (Native POSIX Threads Library)</a:t>
            </a:r>
            <a:endParaRPr/>
          </a:p>
          <a:p>
            <a:pPr lvl="1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Linux 2.4</a:t>
            </a:r>
            <a:r>
              <a:rPr lang="zh-CN" sz="2400" b="false">
                <a:latin typeface="Comic Sans MS"/>
                <a:ea typeface="宋体"/>
              </a:rPr>
              <a:t>及以后的实现</a:t>
            </a:r>
            <a:endParaRPr/>
          </a:p>
          <a:p>
            <a:pPr lvl="1" indent="-342900">
              <a:spcBef>
                <a:spcPct val="20000"/>
              </a:spcBef>
              <a:buSzPct val="100000"/>
              <a:buChar char="•"/>
            </a:pPr>
            <a:r>
              <a:rPr lang="zh-CN" sz="2400" b="false">
                <a:latin typeface="Comic Sans MS"/>
                <a:ea typeface="宋体"/>
              </a:rPr>
              <a:t>对</a:t>
            </a:r>
            <a:r>
              <a:rPr lang="en-US" sz="2400" b="false">
                <a:latin typeface="Comic Sans MS"/>
                <a:ea typeface="宋体"/>
              </a:rPr>
              <a:t>pthread</a:t>
            </a:r>
            <a:r>
              <a:rPr lang="zh-CN" sz="2400" b="false">
                <a:latin typeface="Comic Sans MS"/>
                <a:ea typeface="宋体"/>
              </a:rPr>
              <a:t>兼容更好，采用</a:t>
            </a:r>
            <a:r>
              <a:rPr lang="en-US" sz="2400" b="false">
                <a:latin typeface="Comic Sans MS"/>
                <a:ea typeface="宋体"/>
              </a:rPr>
              <a:t>thread group</a:t>
            </a:r>
            <a:r>
              <a:rPr lang="zh-CN" sz="2400" b="false">
                <a:latin typeface="Comic Sans MS"/>
                <a:ea typeface="宋体"/>
              </a:rPr>
              <a:t>将统一进程的线程放在同一组，</a:t>
            </a:r>
            <a:r>
              <a:rPr lang="en-US" sz="2400" b="false">
                <a:latin typeface="Comic Sans MS"/>
                <a:ea typeface="宋体"/>
              </a:rPr>
              <a:t>getpid()</a:t>
            </a:r>
            <a:r>
              <a:rPr lang="zh-CN" sz="2400" b="false">
                <a:latin typeface="Comic Sans MS"/>
                <a:ea typeface="宋体"/>
              </a:rPr>
              <a:t>返回父进程的</a:t>
            </a:r>
            <a:r>
              <a:rPr lang="en-US" sz="2400" b="false">
                <a:latin typeface="Comic Sans MS"/>
                <a:ea typeface="宋体"/>
              </a:rPr>
              <a:t>p</a:t>
            </a:r>
            <a:r>
              <a:rPr lang="en-US" sz="2400" b="false">
                <a:latin typeface="Comic Sans MS"/>
                <a:ea typeface="宋体"/>
              </a:rPr>
              <a:t>id</a:t>
            </a:r>
            <a:endParaRPr/>
          </a:p>
        </p:txBody>
      </p:sp>
      <p:sp>
        <p:nvSpPr>
          <p:cNvPr id="2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如何创建和初始化进程？</a:t>
            </a:r>
            <a:endParaRPr/>
          </a:p>
        </p:txBody>
      </p:sp>
      <p:sp>
        <p:nvSpPr>
          <p:cNvPr id="25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ea typeface="宋体" pitchFamily="2" charset="-122"/>
              </a:rPr>
              <a:t>建一个空的数据结构，再填充每个域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ea typeface="宋体" pitchFamily="2" charset="-122"/>
              </a:rPr>
              <a:t>复制（内核init进程是所有进程的祖先，pid=1）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fork()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创建新进程（子进程），由父进程复制而来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两个进程都从fork返回</a:t>
            </a:r>
            <a:endParaRPr/>
          </a:p>
          <a:p>
            <a:pPr marL="1600200" lvl="3" indent="-22860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父进程返回创建的子进程PID</a:t>
            </a:r>
            <a:endParaRPr/>
          </a:p>
          <a:p>
            <a:pPr marL="1600200" lvl="3" indent="-22860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子进程返回0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>
                <a:ea typeface="宋体" pitchFamily="2" charset="-122"/>
              </a:rPr>
              <a:t>exec(…)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参数传进来一个program，更换当前进程的code和data，执行传进来的program指令</a:t>
            </a:r>
            <a:endParaRPr/>
          </a:p>
        </p:txBody>
      </p:sp>
      <p:sp>
        <p:nvSpPr>
          <p:cNvPr id="26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15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9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30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533400" y="1600200"/>
            <a:ext cx="7848600" cy="18288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ea typeface="宋体" pitchFamily="2" charset="-122"/>
              </a:rPr>
              <a:t>A parent process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creates a new running child process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by calling the </a:t>
            </a:r>
            <a:r>
              <a:rPr lang="en-US" b="true" i="false" u="none">
                <a:latin typeface="Courier New" pitchFamily="49"/>
                <a:ea typeface="宋体" pitchFamily="2" charset="-122"/>
              </a:rPr>
              <a:t>fork</a:t>
            </a:r>
            <a:r>
              <a:rPr lang="en-US" b="false" i="false" u="none">
                <a:ea typeface="宋体" pitchFamily="2" charset="-122"/>
              </a:rPr>
              <a:t> function</a:t>
            </a:r>
            <a:endParaRPr/>
          </a:p>
        </p:txBody>
      </p:sp>
      <p:graphicFrame>
        <p:nvGraphicFramePr>
          <p:cNvPr id="31" name="Group 4"/>
          <p:cNvGraphicFramePr/>
          <p:nvPr>
            <p:ph sz="half" idx="4294967295"/>
          </p:nvPr>
        </p:nvGraphicFramePr>
        <p:xfrm>
          <a:off x="457200" y="3810000"/>
          <a:ext cx="8001000" cy="1524000"/>
        </p:xfrm>
        <a:graphic>
          <a:graphicData uri="http://schemas.openxmlformats.org/drawingml/2006/table">
            <a:tbl>
              <a:tblPr/>
              <a:tblGrid>
                <a:gridCol w="80010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1524000">
                <a:tc>
                  <a:txBody>
                    <a:bodyPr/>
                    <a:lstStyle/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zh-CN" altLang="en-US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#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include &lt;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unistd.h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#include &lt;sys/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types.h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pid_t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 fork(void);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Returns: 0 to child, PID of child to parent, -1 on error</a:t>
                      </a:r>
                      <a:endParaRPr kumimoji="false" lang="zh-CN" altLang="en-US" sz="1800" b="false" i="false" u="none" strike="noStrike" cap="none" normalizeH="false" baseline="0" dirty="false">
                        <a:ln>
                          <a:noFill/>
                        </a:ln>
                        <a:solidFill>
                          <a:srgbClr val="FF0000"/>
                        </a:solidFill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4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35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458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父进程和新创建的子进程有不同的</a:t>
            </a:r>
            <a:r>
              <a:rPr lang="zh-CN">
                <a:latin typeface="Comic Sans MS"/>
                <a:ea typeface="宋体"/>
              </a:rPr>
              <a:t>PID</a:t>
            </a:r>
            <a:endParaRPr/>
          </a:p>
          <a:p>
            <a:pPr marL="342900" lvl="0" indent="-342900">
              <a:lnSpc>
                <a:spcPct val="120000"/>
              </a:lnSpc>
              <a:buChar char="•"/>
            </a:pPr>
            <a:r>
              <a:rPr lang="en-US">
                <a:latin typeface="Comic Sans MS"/>
                <a:ea typeface="宋体"/>
              </a:rPr>
              <a:t>子进程</a:t>
            </a:r>
            <a:r>
              <a:rPr lang="en-US">
                <a:latin typeface="Comic Sans MS"/>
                <a:ea typeface="宋体"/>
              </a:rPr>
              <a:t>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>
              <a:lnSpc>
                <a:spcPct val="120000"/>
              </a:lnSpc>
              <a:buChar char="–"/>
            </a:pPr>
            <a:r>
              <a:rPr lang="zh-CN" b="false">
                <a:latin typeface="Comic Sans MS"/>
                <a:ea typeface="宋体"/>
              </a:rPr>
              <a:t>得到一份父进程虚拟机地址空间的完全拷贝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1143000" lvl="2" indent="-228600">
              <a:lnSpc>
                <a:spcPct val="120000"/>
              </a:lnSpc>
              <a:buChar char="•"/>
            </a:pPr>
            <a:r>
              <a:rPr lang="zh-CN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包括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text</a:t>
            </a:r>
            <a:r>
              <a:rPr lang="en-US" b="false">
                <a:latin typeface="Comic Sans MS"/>
                <a:ea typeface="宋体"/>
              </a:rPr>
              <a:t>, 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data</a:t>
            </a:r>
            <a:r>
              <a:rPr lang="en-US" b="false">
                <a:latin typeface="Comic Sans MS"/>
                <a:ea typeface="宋体"/>
              </a:rPr>
              <a:t>, 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bss </a:t>
            </a:r>
            <a:r>
              <a:rPr lang="en-US" b="false">
                <a:latin typeface="Comic Sans MS"/>
                <a:ea typeface="宋体"/>
              </a:rPr>
              <a:t>segments, 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heap</a:t>
            </a:r>
            <a:r>
              <a:rPr lang="en-US" b="false">
                <a:latin typeface="Comic Sans MS"/>
                <a:ea typeface="宋体"/>
              </a:rPr>
              <a:t>, </a:t>
            </a:r>
            <a:r>
              <a:rPr lang="zh-CN" b="false">
                <a:latin typeface="Comic Sans MS"/>
                <a:ea typeface="宋体"/>
              </a:rPr>
              <a:t>和</a:t>
            </a:r>
            <a:r>
              <a:rPr lang="en-US" b="false">
                <a:latin typeface="Comic Sans MS"/>
                <a:ea typeface="宋体"/>
              </a:rPr>
              <a:t>user 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stack</a:t>
            </a:r>
            <a:endParaRPr/>
          </a:p>
          <a:p>
            <a:pPr marL="1143000" lvl="2" indent="-228600">
              <a:lnSpc>
                <a:spcPct val="120000"/>
              </a:lnSpc>
              <a:buChar char="•"/>
            </a:pPr>
            <a:r>
              <a:rPr lang="zh-CN" b="true" u="sng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只是地址空间的拷贝，不是内容的拷贝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1143000" lvl="2" indent="-228600">
              <a:lnSpc>
                <a:spcPct val="120000"/>
              </a:lnSpc>
              <a:buChar char="•"/>
            </a:pPr>
            <a:r>
              <a:rPr lang="zh-CN" b="true" u="sng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父子进程对内存的修改采用</a:t>
            </a:r>
            <a:r>
              <a:rPr lang="en-US" b="true" u="sng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copy-on-write</a:t>
            </a:r>
            <a:r>
              <a:rPr lang="zh-CN" b="true" u="sng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，互相不可见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>
              <a:lnSpc>
                <a:spcPct val="120000"/>
              </a:lnSpc>
              <a:buChar char="–"/>
            </a:pPr>
            <a:r>
              <a:rPr lang="zh-CN" b="false">
                <a:latin typeface="Comic Sans MS"/>
                <a:ea typeface="宋体"/>
              </a:rPr>
              <a:t>同时也得到父进程已打开的文件描述符（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 file descriptors </a:t>
            </a:r>
            <a:r>
              <a:rPr lang="zh-CN" b="false">
                <a:latin typeface="Comic Sans MS"/>
                <a:ea typeface="宋体"/>
              </a:rPr>
              <a:t>）的完全拷贝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1143000" lvl="2" indent="-228600">
              <a:lnSpc>
                <a:spcPct val="120000"/>
              </a:lnSpc>
              <a:buChar char="•"/>
            </a:pPr>
            <a:r>
              <a:rPr lang="en-US" b="false">
                <a:latin typeface="Comic Sans MS"/>
                <a:ea typeface="宋体"/>
              </a:rPr>
              <a:t>意味着子进程可以直接读</a:t>
            </a:r>
            <a:r>
              <a:rPr lang="en-US" b="false">
                <a:latin typeface="Comic Sans MS"/>
                <a:ea typeface="宋体"/>
              </a:rPr>
              <a:t>/</a:t>
            </a:r>
            <a:r>
              <a:rPr lang="en-US" b="false">
                <a:latin typeface="Comic Sans MS"/>
                <a:ea typeface="宋体"/>
              </a:rPr>
              <a:t>写父进程中已经打开的任何文件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39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>
                <a:ea typeface="宋体" pitchFamily="2" charset="-122"/>
              </a:rPr>
              <a:t>Called </a:t>
            </a:r>
            <a:r>
              <a:rPr lang="en-US" sz="2400" b="false" i="false" u="sng">
                <a:solidFill>
                  <a:srgbClr val="FF0000"/>
                </a:solidFill>
                <a:ea typeface="宋体" pitchFamily="2" charset="-122"/>
              </a:rPr>
              <a:t>once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sz="2000">
                <a:ea typeface="宋体" pitchFamily="2" charset="-122"/>
              </a:rPr>
              <a:t>In the parent process 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 b="false" i="false" u="none">
                <a:ea typeface="宋体" pitchFamily="2" charset="-122"/>
              </a:rPr>
              <a:t>Returns </a:t>
            </a:r>
            <a:r>
              <a:rPr lang="en-US" sz="2400" b="false" i="false" u="sng">
                <a:solidFill>
                  <a:srgbClr val="FF0000"/>
                </a:solidFill>
                <a:ea typeface="宋体" pitchFamily="2" charset="-122"/>
              </a:rPr>
              <a:t>twice</a:t>
            </a:r>
            <a:r>
              <a:rPr lang="en-US" sz="2400" b="false" i="false" u="none">
                <a:ea typeface="宋体" pitchFamily="2" charset="-122"/>
              </a:rPr>
              <a:t>: 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sz="2000" b="false" i="false" u="none">
                <a:ea typeface="宋体" pitchFamily="2" charset="-122"/>
              </a:rPr>
              <a:t>In the parent process</a:t>
            </a:r>
            <a:endParaRPr/>
          </a:p>
          <a:p>
            <a:pPr marL="1143000" lvl="2" indent="-2286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1800" b="false" i="false" u="none">
                <a:ea typeface="宋体" pitchFamily="2" charset="-122"/>
              </a:rPr>
              <a:t>Return the </a:t>
            </a:r>
            <a:r>
              <a:rPr lang="en-US" sz="1800" b="false" i="false" u="none">
                <a:solidFill>
                  <a:srgbClr val="FF0000"/>
                </a:solidFill>
                <a:ea typeface="宋体" pitchFamily="2" charset="-122"/>
              </a:rPr>
              <a:t>PID</a:t>
            </a:r>
            <a:r>
              <a:rPr lang="en-US" sz="1800" b="false" i="false" u="none">
                <a:ea typeface="宋体" pitchFamily="2" charset="-122"/>
              </a:rPr>
              <a:t> of the child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sz="2000" b="false" i="false" u="none">
                <a:ea typeface="宋体" pitchFamily="2" charset="-122"/>
              </a:rPr>
              <a:t>In the newly created child process.</a:t>
            </a:r>
            <a:endParaRPr/>
          </a:p>
          <a:p>
            <a:pPr marL="1143000" lvl="2" indent="-2286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1800" b="false" i="false" u="none">
                <a:ea typeface="宋体" pitchFamily="2" charset="-122"/>
              </a:rPr>
              <a:t>Return </a:t>
            </a:r>
            <a:r>
              <a:rPr lang="en-US" sz="1800" b="false" i="false" u="none">
                <a:solidFill>
                  <a:srgbClr val="FF0000"/>
                </a:solidFill>
                <a:ea typeface="宋体" pitchFamily="2" charset="-122"/>
              </a:rPr>
              <a:t>0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sz="2400" b="false" i="false" u="none">
                <a:ea typeface="宋体" pitchFamily="2" charset="-122"/>
              </a:rPr>
              <a:t>The return value provides an unambiguous way 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sz="2000" b="false" i="false" u="none">
                <a:ea typeface="宋体" pitchFamily="2" charset="-122"/>
              </a:rPr>
              <a:t>whether the program is executing in the parent or the child.</a:t>
            </a:r>
            <a:endParaRPr/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4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Concurrent execution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The instructions in their logical control flows can be 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interleaved</a:t>
            </a:r>
            <a:r>
              <a:rPr lang="en-US" b="false">
                <a:latin typeface="Comic Sans MS"/>
                <a:ea typeface="宋体"/>
              </a:rPr>
              <a:t> by the kernel in an </a:t>
            </a:r>
            <a:r>
              <a:rPr lang="en-US" b="false">
                <a:latin typeface="Comic Sans MS"/>
                <a:ea typeface="宋体"/>
              </a:rPr>
              <a:t>arbitrary way</a:t>
            </a:r>
            <a:r>
              <a:rPr lang="en-US" b="false">
                <a:latin typeface="Comic Sans MS"/>
                <a:ea typeface="宋体"/>
              </a:rPr>
              <a:t>. 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We can never make assumptions about the interleaving of the instructions in different processes.</a:t>
            </a:r>
            <a:endParaRPr/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p="http://schemas.openxmlformats.org/presentationml/2006/main">
  <p:cSld>
    <p:spTree>
      <p:nvGrpSpPr>
        <p:cNvPr id="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6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47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 #include "csapp.h"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2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3 int main()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4 {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5 		pid_t pid;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6 		int x = 1;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7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8 		pid = </a:t>
            </a:r>
            <a:r>
              <a:rPr lang="en-US" sz="1800" b="true" i="false" u="none" strike="noStrik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f</a:t>
            </a:r>
            <a:r>
              <a:rPr lang="en-US" sz="1800" b="true" i="fals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ork</a:t>
            </a: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();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9 		if (pid == 0) { </a:t>
            </a:r>
            <a:r>
              <a:rPr lang="en-US" sz="1800" b="true" i="fals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</a:rPr>
              <a:t>/* child */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10 		printf("child : x=%d\n", ++x);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11 		</a:t>
            </a:r>
            <a:r>
              <a:rPr lang="en-US" sz="1800" b="true" i="false">
                <a:solidFill>
                  <a:srgbClr val="9900CC">
                    <a:alpha val="100000"/>
                  </a:srgbClr>
                </a:solidFill>
                <a:latin typeface="Courier New"/>
                <a:ea typeface="宋体"/>
              </a:rPr>
              <a:t>exit(0);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12 	}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13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14 	</a:t>
            </a:r>
            <a:r>
              <a:rPr lang="en-US" sz="1800" b="true" i="fals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</a:rPr>
              <a:t>/* parent */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15 	printf("parent: x=%d\n", --x);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16 	exit(0);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8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17 }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4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55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b="false" u="sng">
                <a:latin typeface="Comic Sans MS"/>
                <a:ea typeface="宋体"/>
              </a:rPr>
              <a:t>Duplicate</a:t>
            </a:r>
            <a:r>
              <a:rPr lang="en-US">
                <a:latin typeface="Comic Sans MS"/>
                <a:ea typeface="宋体"/>
              </a:rPr>
              <a:t> but </a:t>
            </a:r>
            <a:r>
              <a:rPr lang="en-US" b="false" u="sng">
                <a:latin typeface="Comic Sans MS"/>
                <a:ea typeface="宋体"/>
              </a:rPr>
              <a:t>separate</a:t>
            </a:r>
            <a:r>
              <a:rPr lang="en-US">
                <a:latin typeface="Comic Sans MS"/>
                <a:ea typeface="宋体"/>
              </a:rPr>
              <a:t> address spaces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 </a:t>
            </a:r>
            <a:r>
              <a:rPr lang="en-US" b="false">
                <a:latin typeface="Comic Sans MS"/>
                <a:ea typeface="宋体"/>
              </a:rPr>
              <a:t>Local variable </a:t>
            </a:r>
            <a:r>
              <a:rPr lang="en-US" b="true">
                <a:latin typeface="Courier New"/>
                <a:ea typeface="宋体"/>
              </a:rPr>
              <a:t>x</a:t>
            </a:r>
            <a:r>
              <a:rPr lang="en-US" b="false">
                <a:latin typeface="Courier"/>
                <a:ea typeface="宋体"/>
              </a:rPr>
              <a:t> </a:t>
            </a:r>
            <a:r>
              <a:rPr lang="en-US" b="false">
                <a:latin typeface="Comic Sans MS"/>
                <a:ea typeface="宋体"/>
              </a:rPr>
              <a:t>has a value of 1 in both the parent and the child when the </a:t>
            </a:r>
            <a:r>
              <a:rPr lang="en-US" b="true">
                <a:latin typeface="Courier New"/>
                <a:ea typeface="宋体"/>
              </a:rPr>
              <a:t>fork</a:t>
            </a:r>
            <a:r>
              <a:rPr lang="en-US" b="false">
                <a:latin typeface="Courier"/>
                <a:ea typeface="宋体"/>
              </a:rPr>
              <a:t> </a:t>
            </a:r>
            <a:r>
              <a:rPr lang="en-US" b="false">
                <a:latin typeface="Comic Sans MS"/>
                <a:ea typeface="宋体"/>
              </a:rPr>
              <a:t>function returns in line 8</a:t>
            </a:r>
            <a:endParaRPr/>
          </a:p>
          <a:p>
            <a:pPr lvl="1" indent="-228600">
              <a:lnSpc>
                <a:spcPct val="120000"/>
              </a:lnSpc>
              <a:buChar char="–"/>
            </a:pPr>
            <a:r>
              <a:rPr lang="en-US" b="false">
                <a:latin typeface="Comic Sans MS"/>
                <a:ea typeface="宋体"/>
              </a:rPr>
              <a:t>Any subsequent changes that a parent or child makes to </a:t>
            </a:r>
            <a:r>
              <a:rPr lang="en-US" b="true">
                <a:latin typeface="Courier New"/>
                <a:ea typeface="宋体"/>
              </a:rPr>
              <a:t>x are </a:t>
            </a:r>
            <a:r>
              <a:rPr lang="en-US" b="false">
                <a:latin typeface="Comic Sans MS"/>
                <a:ea typeface="宋体"/>
              </a:rPr>
              <a:t>private</a:t>
            </a:r>
            <a:r>
              <a:rPr lang="en-US" b="false">
                <a:latin typeface="Comic Sans MS"/>
                <a:ea typeface="宋体"/>
              </a:rPr>
              <a:t> </a:t>
            </a:r>
            <a:endParaRPr/>
          </a:p>
          <a:p>
            <a:pPr marL="1600200" lvl="3" indent="-22860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not reflected in the memory of the other process</a:t>
            </a:r>
            <a:r>
              <a:rPr lang="en-US" b="false">
                <a:latin typeface="Comic Sans MS"/>
                <a:ea typeface="宋体"/>
              </a:rPr>
              <a:t> </a:t>
            </a:r>
            <a:endParaRPr/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p="http://schemas.openxmlformats.org/presentationml/2006/main">
  <p:cSld>
    <p:spTree>
      <p:nvGrpSpPr>
        <p:cNvPr id="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59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Shared</a:t>
            </a:r>
            <a:r>
              <a:rPr lang="en-US" b="false">
                <a:latin typeface="Comic Sans MS"/>
                <a:ea typeface="宋体"/>
              </a:rPr>
              <a:t> files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Like </a:t>
            </a:r>
            <a:r>
              <a:rPr lang="en-US" sz="2000" b="true">
                <a:latin typeface="Courier New"/>
                <a:ea typeface="宋体"/>
              </a:rPr>
              <a:t>stdout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Communication between child and parent</a:t>
            </a:r>
            <a:endParaRPr/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6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63" name="Picture 4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28600" y="1905000"/>
            <a:ext cx="8132762" cy="4610100"/>
          </a:xfrm>
          <a:prstGeom prst="rect">
            <a:avLst/>
          </a:prstGeom>
          <a:noFill/>
        </p:spPr>
      </p:pic>
      <p:pic>
        <p:nvPicPr>
          <p:cNvPr id="64" name="Picture 4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267200" y="1447800"/>
            <a:ext cx="4876800" cy="1219200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67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68" name="Picture 4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93687" y="1905000"/>
            <a:ext cx="7697787" cy="4800600"/>
          </a:xfrm>
          <a:prstGeom prst="rect">
            <a:avLst/>
          </a:prstGeom>
          <a:noFill/>
        </p:spPr>
      </p:pic>
      <p:pic>
        <p:nvPicPr>
          <p:cNvPr id="69" name="Picture 4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298950" y="1447800"/>
            <a:ext cx="4813300" cy="1219200"/>
          </a:xfrm>
          <a:prstGeom prst="rect">
            <a:avLst/>
          </a:prstGeom>
          <a:noFill/>
        </p:spPr>
      </p:pic>
      <p:sp>
        <p:nvSpPr>
          <p:cNvPr id="70" name="矩形 2"/>
          <p:cNvSpPr>
            <a:spLocks noGrp="true" noChangeShapeType="true"/>
          </p:cNvSpPr>
          <p:nvPr/>
        </p:nvSpPr>
        <p:spPr>
          <a:xfrm>
            <a:off x="1676400" y="5334000"/>
            <a:ext cx="2286000" cy="304800"/>
          </a:xfrm>
          <a:prstGeom prst="rect">
            <a:avLst/>
          </a:prstGeom>
          <a:noFill/>
          <a:ln w="19050">
            <a:solidFill>
              <a:srgbClr val="22228B"/>
            </a:solidFill>
            <a:round/>
            <a:headEnd/>
            <a:tailEnd/>
          </a:ln>
        </p:spPr>
        <p:txBody>
          <a:bodyPr lIns="91440" tIns="45720" rIns="91440" bIns="45720" anchor="ctr" anchorCtr="false"/>
          <a:lstStyle/>
          <a:p>
            <a:pPr/>
            <a:endParaRPr sz="1400" dirty="false"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73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74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77724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 #include "csapp.h"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2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3 int main()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4 {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5 		</a:t>
            </a:r>
            <a:r>
              <a:rPr lang="en-US" sz="1800" b="true" i="false" u="none" strike="noStrik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f</a:t>
            </a:r>
            <a:r>
              <a:rPr lang="en-US" sz="1800" b="true" i="fals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ork()</a:t>
            </a: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;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6 		printf("hello!\n");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7 		exit(0);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8 }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endParaRPr lang="en-US" sz="1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(a) Calls fork </a:t>
            </a:r>
            <a:r>
              <a:rPr lang="en-US" sz="1800" b="true" i="fals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once</a:t>
            </a: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.     (b) Prints </a:t>
            </a:r>
            <a:r>
              <a:rPr lang="en-US" sz="1800" b="true" i="fals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two</a:t>
            </a:r>
            <a:r>
              <a:rPr lang="en-US" sz="1800" b="true" i="fals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 output lines.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</p:txBody>
      </p:sp>
      <p:sp>
        <p:nvSpPr>
          <p:cNvPr id="75" name="Line 401"/>
          <p:cNvSpPr>
            <a:spLocks noGrp="true" noChangeShapeType="true"/>
          </p:cNvSpPr>
          <p:nvPr/>
        </p:nvSpPr>
        <p:spPr>
          <a:xfrm flipV="true">
            <a:off x="5595937" y="3505200"/>
            <a:ext cx="14478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76" name="Line 403"/>
          <p:cNvSpPr>
            <a:spLocks noGrp="true" noChangeShapeType="true"/>
          </p:cNvSpPr>
          <p:nvPr/>
        </p:nvSpPr>
        <p:spPr>
          <a:xfrm flipH="true" flipV="true">
            <a:off x="5976937" y="3124200"/>
            <a:ext cx="0" cy="3810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77" name="Line 406"/>
          <p:cNvSpPr>
            <a:spLocks noGrp="true" noChangeShapeType="true"/>
          </p:cNvSpPr>
          <p:nvPr/>
        </p:nvSpPr>
        <p:spPr>
          <a:xfrm flipV="true">
            <a:off x="5976937" y="3124200"/>
            <a:ext cx="10668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78" name="Text Box 407"/>
          <p:cNvSpPr txBox="true">
            <a:spLocks noGrp="true" noChangeShapeType="true"/>
          </p:cNvSpPr>
          <p:nvPr/>
        </p:nvSpPr>
        <p:spPr>
          <a:xfrm>
            <a:off x="6096000" y="320040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79" name="Text Box 408"/>
          <p:cNvSpPr txBox="true">
            <a:spLocks noGrp="true" noChangeShapeType="true"/>
          </p:cNvSpPr>
          <p:nvPr/>
        </p:nvSpPr>
        <p:spPr>
          <a:xfrm>
            <a:off x="6096000" y="281940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80" name="Text Box 412"/>
          <p:cNvSpPr txBox="true">
            <a:spLocks noGrp="true" noChangeShapeType="true"/>
          </p:cNvSpPr>
          <p:nvPr/>
        </p:nvSpPr>
        <p:spPr>
          <a:xfrm>
            <a:off x="5637212" y="342900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灯片编号占位符 7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83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84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76200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1 #include "csapp.h"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2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3 int main()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4 {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5 		</a:t>
            </a:r>
            <a:r>
              <a:rPr lang="en-US" sz="1800" b="true" i="false" u="none" strike="noStrik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f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ork();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6 		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f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ork();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7 		printf("hello!\n");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8 		exit(0);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9 }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endParaRPr lang="en-US" sz="1800" b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(c) Calls fork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twice</a:t>
            </a: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.    (d) Prints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four</a:t>
            </a: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 output lines.</a:t>
            </a:r>
            <a:endParaRPr lang="en-US" sz="24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</p:txBody>
      </p:sp>
      <p:sp>
        <p:nvSpPr>
          <p:cNvPr id="85" name="Line 391"/>
          <p:cNvSpPr>
            <a:spLocks noGrp="true" noChangeShapeType="true"/>
          </p:cNvSpPr>
          <p:nvPr/>
        </p:nvSpPr>
        <p:spPr>
          <a:xfrm flipV="true">
            <a:off x="5786437" y="2971800"/>
            <a:ext cx="0" cy="685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86" name="Line 392"/>
          <p:cNvSpPr>
            <a:spLocks noGrp="true" noChangeShapeType="true"/>
          </p:cNvSpPr>
          <p:nvPr/>
        </p:nvSpPr>
        <p:spPr>
          <a:xfrm>
            <a:off x="5405437" y="3657600"/>
            <a:ext cx="19812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87" name="Line 393"/>
          <p:cNvSpPr>
            <a:spLocks noGrp="true" noChangeShapeType="true"/>
          </p:cNvSpPr>
          <p:nvPr/>
        </p:nvSpPr>
        <p:spPr>
          <a:xfrm flipV="true">
            <a:off x="5786437" y="2971800"/>
            <a:ext cx="16002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88" name="Line 394"/>
          <p:cNvSpPr>
            <a:spLocks noGrp="true" noChangeShapeType="true"/>
          </p:cNvSpPr>
          <p:nvPr/>
        </p:nvSpPr>
        <p:spPr>
          <a:xfrm flipV="true">
            <a:off x="6319837" y="3352800"/>
            <a:ext cx="0" cy="304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89" name="Line 395"/>
          <p:cNvSpPr>
            <a:spLocks noGrp="true" noChangeShapeType="true"/>
          </p:cNvSpPr>
          <p:nvPr/>
        </p:nvSpPr>
        <p:spPr>
          <a:xfrm flipV="true">
            <a:off x="6319837" y="2667000"/>
            <a:ext cx="0" cy="304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90" name="Line 396"/>
          <p:cNvSpPr>
            <a:spLocks noGrp="true" noChangeShapeType="true"/>
          </p:cNvSpPr>
          <p:nvPr/>
        </p:nvSpPr>
        <p:spPr>
          <a:xfrm flipV="true">
            <a:off x="6319837" y="2667000"/>
            <a:ext cx="10668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91" name="Line 397"/>
          <p:cNvSpPr>
            <a:spLocks noGrp="true" noChangeShapeType="true"/>
          </p:cNvSpPr>
          <p:nvPr/>
        </p:nvSpPr>
        <p:spPr>
          <a:xfrm flipV="true">
            <a:off x="6319837" y="3352800"/>
            <a:ext cx="10668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92" name="Text Box 398"/>
          <p:cNvSpPr txBox="true">
            <a:spLocks noGrp="true" noChangeShapeType="true"/>
          </p:cNvSpPr>
          <p:nvPr/>
        </p:nvSpPr>
        <p:spPr>
          <a:xfrm>
            <a:off x="6438900" y="339725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93" name="Text Box 399"/>
          <p:cNvSpPr txBox="true">
            <a:spLocks noGrp="true" noChangeShapeType="true"/>
          </p:cNvSpPr>
          <p:nvPr/>
        </p:nvSpPr>
        <p:spPr>
          <a:xfrm>
            <a:off x="6438900" y="309245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94" name="Text Box 400"/>
          <p:cNvSpPr txBox="true">
            <a:spLocks noGrp="true" noChangeShapeType="true"/>
          </p:cNvSpPr>
          <p:nvPr/>
        </p:nvSpPr>
        <p:spPr>
          <a:xfrm>
            <a:off x="6438900" y="271145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95" name="Text Box 401"/>
          <p:cNvSpPr txBox="true">
            <a:spLocks noGrp="true" noChangeShapeType="true"/>
          </p:cNvSpPr>
          <p:nvPr/>
        </p:nvSpPr>
        <p:spPr>
          <a:xfrm>
            <a:off x="6438900" y="240665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96" name="Text Box 403"/>
          <p:cNvSpPr txBox="true">
            <a:spLocks noGrp="true" noChangeShapeType="true"/>
          </p:cNvSpPr>
          <p:nvPr/>
        </p:nvSpPr>
        <p:spPr>
          <a:xfrm>
            <a:off x="5375275" y="362585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  <p:sp>
        <p:nvSpPr>
          <p:cNvPr id="97" name="Text Box 415"/>
          <p:cNvSpPr txBox="true">
            <a:spLocks noGrp="true" noChangeShapeType="true"/>
          </p:cNvSpPr>
          <p:nvPr/>
        </p:nvSpPr>
        <p:spPr>
          <a:xfrm>
            <a:off x="6248400" y="362585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  <p:sp>
        <p:nvSpPr>
          <p:cNvPr id="98" name="Text Box 415"/>
          <p:cNvSpPr txBox="true">
            <a:spLocks noGrp="true" noChangeShapeType="true"/>
          </p:cNvSpPr>
          <p:nvPr/>
        </p:nvSpPr>
        <p:spPr>
          <a:xfrm>
            <a:off x="6248400" y="290830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灯片编号占位符 7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01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Fork</a:t>
            </a:r>
            <a:endParaRPr/>
          </a:p>
        </p:txBody>
      </p:sp>
      <p:sp>
        <p:nvSpPr>
          <p:cNvPr id="102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686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 #include "csapp.h"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2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3 int main()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4 {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5 		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fork();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6 		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fork();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7 		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fork();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8 		printf("hello!\n");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9 		exit(0);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10 }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endParaRPr lang="en-US" sz="1800"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(e) Calls fork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three</a:t>
            </a:r>
            <a:r>
              <a:rPr lang="en-US" sz="1800" b="true">
                <a:latin typeface="Courier New"/>
                <a:ea typeface="宋体"/>
              </a:rPr>
              <a:t> times.  (f) Prints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eight</a:t>
            </a:r>
            <a:r>
              <a:rPr lang="en-US" sz="1800" b="true">
                <a:latin typeface="Courier New"/>
                <a:ea typeface="宋体"/>
              </a:rPr>
              <a:t> output lines.</a:t>
            </a:r>
            <a:endParaRPr/>
          </a:p>
        </p:txBody>
      </p:sp>
      <p:sp>
        <p:nvSpPr>
          <p:cNvPr id="103" name="Line 441"/>
          <p:cNvSpPr>
            <a:spLocks noGrp="true" noChangeShapeType="true"/>
          </p:cNvSpPr>
          <p:nvPr/>
        </p:nvSpPr>
        <p:spPr>
          <a:xfrm flipV="true">
            <a:off x="6697662" y="3752850"/>
            <a:ext cx="0" cy="685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04" name="Line 442"/>
          <p:cNvSpPr>
            <a:spLocks noGrp="true" noChangeShapeType="true"/>
          </p:cNvSpPr>
          <p:nvPr/>
        </p:nvSpPr>
        <p:spPr>
          <a:xfrm>
            <a:off x="5554662" y="4470400"/>
            <a:ext cx="27432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05" name="Line 443"/>
          <p:cNvSpPr>
            <a:spLocks noGrp="true" noChangeShapeType="true"/>
          </p:cNvSpPr>
          <p:nvPr/>
        </p:nvSpPr>
        <p:spPr>
          <a:xfrm flipV="true">
            <a:off x="6697662" y="3752850"/>
            <a:ext cx="16002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06" name="Line 444"/>
          <p:cNvSpPr>
            <a:spLocks noGrp="true" noChangeShapeType="true"/>
          </p:cNvSpPr>
          <p:nvPr/>
        </p:nvSpPr>
        <p:spPr>
          <a:xfrm flipV="true">
            <a:off x="7231062" y="4133850"/>
            <a:ext cx="0" cy="304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07" name="Line 445"/>
          <p:cNvSpPr>
            <a:spLocks noGrp="true" noChangeShapeType="true"/>
          </p:cNvSpPr>
          <p:nvPr/>
        </p:nvSpPr>
        <p:spPr>
          <a:xfrm flipV="true">
            <a:off x="7231062" y="3448050"/>
            <a:ext cx="0" cy="304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08" name="Line 446"/>
          <p:cNvSpPr>
            <a:spLocks noGrp="true" noChangeShapeType="true"/>
          </p:cNvSpPr>
          <p:nvPr/>
        </p:nvSpPr>
        <p:spPr>
          <a:xfrm flipV="true">
            <a:off x="7231062" y="3448050"/>
            <a:ext cx="10668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09" name="Line 447"/>
          <p:cNvSpPr>
            <a:spLocks noGrp="true" noChangeShapeType="true"/>
          </p:cNvSpPr>
          <p:nvPr/>
        </p:nvSpPr>
        <p:spPr>
          <a:xfrm flipV="true">
            <a:off x="7231062" y="4133850"/>
            <a:ext cx="10668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10" name="Text Box 448"/>
          <p:cNvSpPr txBox="true">
            <a:spLocks noGrp="true" noChangeShapeType="true"/>
          </p:cNvSpPr>
          <p:nvPr/>
        </p:nvSpPr>
        <p:spPr>
          <a:xfrm>
            <a:off x="7350125" y="417830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111" name="Text Box 449"/>
          <p:cNvSpPr txBox="true">
            <a:spLocks noGrp="true" noChangeShapeType="true"/>
          </p:cNvSpPr>
          <p:nvPr/>
        </p:nvSpPr>
        <p:spPr>
          <a:xfrm>
            <a:off x="7350125" y="387350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112" name="Text Box 450"/>
          <p:cNvSpPr txBox="true">
            <a:spLocks noGrp="true" noChangeShapeType="true"/>
          </p:cNvSpPr>
          <p:nvPr/>
        </p:nvSpPr>
        <p:spPr>
          <a:xfrm>
            <a:off x="7350125" y="349250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113" name="Text Box 451"/>
          <p:cNvSpPr txBox="true">
            <a:spLocks noGrp="true" noChangeShapeType="true"/>
          </p:cNvSpPr>
          <p:nvPr/>
        </p:nvSpPr>
        <p:spPr>
          <a:xfrm>
            <a:off x="7350125" y="318770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114" name="Text Box 452"/>
          <p:cNvSpPr txBox="true">
            <a:spLocks noGrp="true" noChangeShapeType="true"/>
          </p:cNvSpPr>
          <p:nvPr/>
        </p:nvSpPr>
        <p:spPr>
          <a:xfrm>
            <a:off x="6286500" y="440690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  <p:sp>
        <p:nvSpPr>
          <p:cNvPr id="115" name="Text Box 453"/>
          <p:cNvSpPr txBox="true">
            <a:spLocks noGrp="true" noChangeShapeType="true"/>
          </p:cNvSpPr>
          <p:nvPr/>
        </p:nvSpPr>
        <p:spPr>
          <a:xfrm>
            <a:off x="7162800" y="440690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  <p:sp>
        <p:nvSpPr>
          <p:cNvPr id="116" name="Line 454"/>
          <p:cNvSpPr>
            <a:spLocks noGrp="true" noChangeShapeType="true"/>
          </p:cNvSpPr>
          <p:nvPr/>
        </p:nvSpPr>
        <p:spPr>
          <a:xfrm flipV="true">
            <a:off x="5859462" y="3022600"/>
            <a:ext cx="0" cy="1447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117" name="Line 455"/>
          <p:cNvSpPr>
            <a:spLocks noGrp="true" noChangeShapeType="true"/>
          </p:cNvSpPr>
          <p:nvPr/>
        </p:nvSpPr>
        <p:spPr>
          <a:xfrm>
            <a:off x="5859462" y="3022600"/>
            <a:ext cx="24384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118" name="Line 456"/>
          <p:cNvSpPr>
            <a:spLocks noGrp="true" noChangeShapeType="true"/>
          </p:cNvSpPr>
          <p:nvPr/>
        </p:nvSpPr>
        <p:spPr>
          <a:xfrm flipV="true">
            <a:off x="6697662" y="2336800"/>
            <a:ext cx="0" cy="685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19" name="Line 457"/>
          <p:cNvSpPr>
            <a:spLocks noGrp="true" noChangeShapeType="true"/>
          </p:cNvSpPr>
          <p:nvPr/>
        </p:nvSpPr>
        <p:spPr>
          <a:xfrm flipV="true">
            <a:off x="6697662" y="2336800"/>
            <a:ext cx="16002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20" name="Line 458"/>
          <p:cNvSpPr>
            <a:spLocks noGrp="true" noChangeShapeType="true"/>
          </p:cNvSpPr>
          <p:nvPr/>
        </p:nvSpPr>
        <p:spPr>
          <a:xfrm flipV="true">
            <a:off x="7231062" y="2717800"/>
            <a:ext cx="0" cy="304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21" name="Line 459"/>
          <p:cNvSpPr>
            <a:spLocks noGrp="true" noChangeShapeType="true"/>
          </p:cNvSpPr>
          <p:nvPr/>
        </p:nvSpPr>
        <p:spPr>
          <a:xfrm flipV="true">
            <a:off x="7231062" y="2032000"/>
            <a:ext cx="0" cy="30480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22" name="Line 460"/>
          <p:cNvSpPr>
            <a:spLocks noGrp="true" noChangeShapeType="true"/>
          </p:cNvSpPr>
          <p:nvPr/>
        </p:nvSpPr>
        <p:spPr>
          <a:xfrm flipV="true">
            <a:off x="7231062" y="2032000"/>
            <a:ext cx="10668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23" name="Line 461"/>
          <p:cNvSpPr>
            <a:spLocks noGrp="true" noChangeShapeType="true"/>
          </p:cNvSpPr>
          <p:nvPr/>
        </p:nvSpPr>
        <p:spPr>
          <a:xfrm flipV="true">
            <a:off x="7231062" y="2717800"/>
            <a:ext cx="1066800" cy="0"/>
          </a:xfrm>
          <a:prstGeom prst="line">
            <a:avLst/>
          </a:prstGeom>
          <a:noFill/>
          <a:ln w="12700">
            <a:solidFill>
              <a:schemeClr val="dk1"/>
            </a:solidFill>
            <a:round/>
            <a:headEnd/>
            <a:tailEnd type="triangle" w="med" len="med"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  <p:sp>
        <p:nvSpPr>
          <p:cNvPr id="124" name="Text Box 462"/>
          <p:cNvSpPr txBox="true">
            <a:spLocks noGrp="true" noChangeShapeType="true"/>
          </p:cNvSpPr>
          <p:nvPr/>
        </p:nvSpPr>
        <p:spPr>
          <a:xfrm>
            <a:off x="7350125" y="276225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125" name="Text Box 463"/>
          <p:cNvSpPr txBox="true">
            <a:spLocks noGrp="true" noChangeShapeType="true"/>
          </p:cNvSpPr>
          <p:nvPr/>
        </p:nvSpPr>
        <p:spPr>
          <a:xfrm>
            <a:off x="7350125" y="245745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126" name="Text Box 464"/>
          <p:cNvSpPr txBox="true">
            <a:spLocks noGrp="true" noChangeShapeType="true"/>
          </p:cNvSpPr>
          <p:nvPr/>
        </p:nvSpPr>
        <p:spPr>
          <a:xfrm>
            <a:off x="7350125" y="207645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127" name="Text Box 465"/>
          <p:cNvSpPr txBox="true">
            <a:spLocks noGrp="true" noChangeShapeType="true"/>
          </p:cNvSpPr>
          <p:nvPr/>
        </p:nvSpPr>
        <p:spPr>
          <a:xfrm>
            <a:off x="7350125" y="1771650"/>
            <a:ext cx="795337" cy="3365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hello</a:t>
            </a:r>
            <a:endParaRPr/>
          </a:p>
        </p:txBody>
      </p:sp>
      <p:sp>
        <p:nvSpPr>
          <p:cNvPr id="128" name="Text Box 466"/>
          <p:cNvSpPr txBox="true">
            <a:spLocks noGrp="true" noChangeShapeType="true"/>
          </p:cNvSpPr>
          <p:nvPr/>
        </p:nvSpPr>
        <p:spPr>
          <a:xfrm>
            <a:off x="5554662" y="440690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  <p:sp>
        <p:nvSpPr>
          <p:cNvPr id="129" name="Text Box 415"/>
          <p:cNvSpPr txBox="true">
            <a:spLocks noGrp="true" noChangeShapeType="true"/>
          </p:cNvSpPr>
          <p:nvPr/>
        </p:nvSpPr>
        <p:spPr>
          <a:xfrm>
            <a:off x="7124700" y="370840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  <p:sp>
        <p:nvSpPr>
          <p:cNvPr id="130" name="Text Box 415"/>
          <p:cNvSpPr txBox="true">
            <a:spLocks noGrp="true" noChangeShapeType="true"/>
          </p:cNvSpPr>
          <p:nvPr/>
        </p:nvSpPr>
        <p:spPr>
          <a:xfrm>
            <a:off x="7200900" y="228600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  <p:sp>
        <p:nvSpPr>
          <p:cNvPr id="131" name="Text Box 452"/>
          <p:cNvSpPr txBox="true">
            <a:spLocks noGrp="true" noChangeShapeType="true"/>
          </p:cNvSpPr>
          <p:nvPr/>
        </p:nvSpPr>
        <p:spPr>
          <a:xfrm>
            <a:off x="6286500" y="298450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  <p:sp>
        <p:nvSpPr>
          <p:cNvPr id="132" name="Text Box 453"/>
          <p:cNvSpPr txBox="true">
            <a:spLocks noGrp="true" noChangeShapeType="true"/>
          </p:cNvSpPr>
          <p:nvPr/>
        </p:nvSpPr>
        <p:spPr>
          <a:xfrm>
            <a:off x="7200900" y="2984500"/>
            <a:ext cx="800100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fork</a:t>
            </a:r>
            <a:endParaRPr/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135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36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137" name="Picture 3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57200" y="1600200"/>
            <a:ext cx="8218487" cy="4495800"/>
          </a:xfrm>
          <a:prstGeom prst="rect">
            <a:avLst/>
          </a:prstGeom>
          <a:noFill/>
        </p:spPr>
      </p:pic>
      <p:sp>
        <p:nvSpPr>
          <p:cNvPr id="138" name="文本框 1"/>
          <p:cNvSpPr txBox="true">
            <a:spLocks noGrp="true" noChangeShapeType="true"/>
          </p:cNvSpPr>
          <p:nvPr/>
        </p:nvSpPr>
        <p:spPr>
          <a:xfrm>
            <a:off x="533400" y="6172200"/>
            <a:ext cx="5729287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2000" b="true" i="false" u="none">
                <a:ea typeface="宋体" pitchFamily="2" charset="-122"/>
              </a:rPr>
              <a:t>C.共多少种输出可能?（假设每行一定完整输出）</a:t>
            </a:r>
            <a:endParaRPr/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141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4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143" name="Picture 3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81000" y="1600200"/>
            <a:ext cx="8218487" cy="1671637"/>
          </a:xfrm>
          <a:prstGeom prst="rect">
            <a:avLst/>
          </a:prstGeom>
          <a:noFill/>
        </p:spPr>
      </p:pic>
      <p:pic>
        <p:nvPicPr>
          <p:cNvPr id="144" name="Picture 3"/>
          <p:cNvPicPr>
            <a:picLocks noGrp="true" noChangeAspect="true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" y="3276600"/>
            <a:ext cx="8286750" cy="2667000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147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/>
            <a:endParaRPr sz="1400" dirty="false"/>
          </a:p>
        </p:txBody>
      </p:sp>
      <p:sp>
        <p:nvSpPr>
          <p:cNvPr id="148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149" name="Picture 3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4400" y="1447800"/>
            <a:ext cx="7577137" cy="5181600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15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5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Zombie</a:t>
            </a:r>
            <a:endParaRPr/>
          </a:p>
        </p:txBody>
      </p:sp>
      <p:sp>
        <p:nvSpPr>
          <p:cNvPr id="159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zh-CN">
                <a:ea typeface="宋体" pitchFamily="2" charset="-122"/>
              </a:rPr>
              <a:t>Kernel并不会在进程终止后立刻将其清理掉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zh-CN">
                <a:ea typeface="宋体" pitchFamily="2" charset="-122"/>
              </a:rPr>
              <a:t>已终止的进程一般会保持在terminated状态，直到被其parent收割（reaped）</a:t>
            </a:r>
            <a:endParaRPr/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1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6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Zombie</a:t>
            </a:r>
            <a:endParaRPr/>
          </a:p>
        </p:txBody>
      </p:sp>
      <p:sp>
        <p:nvSpPr>
          <p:cNvPr id="16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父进程收割已终止的子进程</a:t>
            </a:r>
            <a:r>
              <a:rPr lang="zh-CN">
                <a:latin typeface="Comic Sans MS"/>
                <a:ea typeface="宋体"/>
              </a:rPr>
              <a:t>时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zh-CN">
                <a:latin typeface="Comic Sans MS"/>
                <a:ea typeface="宋体"/>
              </a:rPr>
              <a:t>内核首先把子进程</a:t>
            </a:r>
            <a:r>
              <a:rPr lang="zh-CN">
                <a:latin typeface="Comic Sans MS"/>
                <a:ea typeface="宋体"/>
              </a:rPr>
              <a:t>的</a:t>
            </a:r>
            <a:r>
              <a:rPr lang="zh-CN">
                <a:latin typeface="Comic Sans MS"/>
                <a:ea typeface="宋体"/>
              </a:rPr>
              <a:t>exit status</a:t>
            </a:r>
            <a:r>
              <a:rPr lang="zh-CN">
                <a:latin typeface="Comic Sans MS"/>
                <a:ea typeface="宋体"/>
              </a:rPr>
              <a:t>发送给父进程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zh-CN">
                <a:latin typeface="Comic Sans MS"/>
                <a:ea typeface="宋体"/>
              </a:rPr>
              <a:t>然后抛弃已经终止的进程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已终止但未被收割的进程称为</a:t>
            </a:r>
            <a:r>
              <a:rPr lang="zh-CN" sz="32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zombie</a:t>
            </a:r>
            <a:r>
              <a:rPr lang="zh-CN" sz="3200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进程</a:t>
            </a:r>
            <a:endParaRPr/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1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66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Zombie</a:t>
            </a:r>
            <a:endParaRPr/>
          </a:p>
        </p:txBody>
      </p:sp>
      <p:sp>
        <p:nvSpPr>
          <p:cNvPr id="167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如果父进程退出时没有收割</a:t>
            </a:r>
            <a:r>
              <a:rPr lang="en-US">
                <a:latin typeface="Comic Sans MS"/>
                <a:ea typeface="宋体"/>
              </a:rPr>
              <a:t>zombie</a:t>
            </a:r>
            <a:r>
              <a:rPr lang="zh-CN">
                <a:latin typeface="Comic Sans MS"/>
                <a:ea typeface="宋体"/>
              </a:rPr>
              <a:t>子进程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true">
                <a:solidFill>
                  <a:schemeClr val="tx1">
                    <a:alpha val="100000"/>
                  </a:schemeClr>
                </a:solidFill>
                <a:latin typeface="Courier New"/>
                <a:ea typeface="宋体"/>
              </a:rPr>
              <a:t>这些</a:t>
            </a:r>
            <a:r>
              <a:rPr lang="en-US" b="true">
                <a:solidFill>
                  <a:schemeClr val="tx1">
                    <a:alpha val="100000"/>
                  </a:schemeClr>
                </a:solidFill>
                <a:latin typeface="Courier New"/>
                <a:ea typeface="宋体"/>
              </a:rPr>
              <a:t>zombie</a:t>
            </a:r>
            <a:r>
              <a:rPr lang="zh-CN" b="true">
                <a:solidFill>
                  <a:schemeClr val="tx1">
                    <a:alpha val="100000"/>
                  </a:schemeClr>
                </a:solidFill>
                <a:latin typeface="Courier New"/>
                <a:ea typeface="宋体"/>
              </a:rPr>
              <a:t>将由</a:t>
            </a:r>
            <a:r>
              <a:rPr lang="en-US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init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 </a:t>
            </a:r>
            <a:r>
              <a:rPr lang="zh-CN" b="false">
                <a:solidFill>
                  <a:schemeClr val="tx1">
                    <a:alpha val="100000"/>
                  </a:schemeClr>
                </a:solidFill>
                <a:latin typeface="Comic Sans MS"/>
                <a:ea typeface="宋体"/>
              </a:rPr>
              <a:t>进程负责收割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en-US" b="true">
                <a:latin typeface="Courier New"/>
                <a:ea typeface="宋体"/>
              </a:rPr>
              <a:t>init</a:t>
            </a:r>
            <a:r>
              <a:rPr lang="en-US" b="false">
                <a:latin typeface="Courier"/>
                <a:ea typeface="宋体"/>
              </a:rPr>
              <a:t> </a:t>
            </a:r>
            <a:r>
              <a:rPr lang="en-US" b="false">
                <a:latin typeface="Comic Sans MS"/>
                <a:ea typeface="宋体"/>
              </a:rPr>
              <a:t>process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PID</a:t>
            </a:r>
            <a:r>
              <a:rPr lang="zh-CN" b="false">
                <a:latin typeface="Comic Sans MS"/>
                <a:ea typeface="宋体"/>
              </a:rPr>
              <a:t>为</a:t>
            </a:r>
            <a:r>
              <a:rPr lang="en-US" b="false">
                <a:latin typeface="Comic Sans MS"/>
                <a:ea typeface="宋体"/>
              </a:rPr>
              <a:t>1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由内核在启动时创建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除非</a:t>
            </a:r>
            <a:r>
              <a:rPr lang="en-US" b="false">
                <a:latin typeface="Comic Sans MS"/>
                <a:ea typeface="宋体"/>
              </a:rPr>
              <a:t>OS</a:t>
            </a:r>
            <a:r>
              <a:rPr lang="zh-CN" b="false">
                <a:latin typeface="Comic Sans MS"/>
                <a:ea typeface="宋体"/>
              </a:rPr>
              <a:t>关闭，否则</a:t>
            </a:r>
            <a:r>
              <a:rPr lang="zh-CN" b="false">
                <a:latin typeface="Comic Sans MS"/>
                <a:ea typeface="宋体"/>
              </a:rPr>
              <a:t>永远不会终止</a:t>
            </a:r>
            <a:endParaRPr/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1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70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Zombie</a:t>
            </a:r>
            <a:endParaRPr/>
          </a:p>
        </p:txBody>
      </p:sp>
      <p:sp>
        <p:nvSpPr>
          <p:cNvPr id="171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长期运行的程序（例如</a:t>
            </a:r>
            <a:r>
              <a:rPr lang="en-US">
                <a:latin typeface="Comic Sans MS"/>
                <a:ea typeface="宋体"/>
              </a:rPr>
              <a:t>shells</a:t>
            </a:r>
            <a:r>
              <a:rPr lang="en-US">
                <a:latin typeface="Comic Sans MS"/>
                <a:ea typeface="宋体"/>
              </a:rPr>
              <a:t>或</a:t>
            </a:r>
            <a:r>
              <a:rPr lang="en-US">
                <a:latin typeface="Comic Sans MS"/>
                <a:ea typeface="宋体"/>
              </a:rPr>
              <a:t>servers</a:t>
            </a:r>
            <a:r>
              <a:rPr lang="en-US">
                <a:latin typeface="Comic Sans MS"/>
                <a:ea typeface="宋体"/>
              </a:rPr>
              <a:t>），应该总是收割他们的</a:t>
            </a:r>
            <a:r>
              <a:rPr lang="en-US">
                <a:latin typeface="Comic Sans MS"/>
                <a:ea typeface="宋体"/>
              </a:rPr>
              <a:t>zombie</a:t>
            </a:r>
            <a:r>
              <a:rPr lang="zh-CN">
                <a:latin typeface="Comic Sans MS"/>
                <a:ea typeface="宋体"/>
              </a:rPr>
              <a:t>子进程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即使</a:t>
            </a:r>
            <a:r>
              <a:rPr lang="en-US">
                <a:latin typeface="Comic Sans MS"/>
                <a:ea typeface="宋体"/>
              </a:rPr>
              <a:t>zombie</a:t>
            </a:r>
            <a:r>
              <a:rPr lang="en-US">
                <a:latin typeface="Comic Sans MS"/>
                <a:ea typeface="宋体"/>
              </a:rPr>
              <a:t>不在运行，没有消耗</a:t>
            </a:r>
            <a:r>
              <a:rPr lang="en-US">
                <a:latin typeface="Comic Sans MS"/>
                <a:ea typeface="宋体"/>
              </a:rPr>
              <a:t>CPU</a:t>
            </a:r>
            <a:r>
              <a:rPr lang="en-US">
                <a:latin typeface="Comic Sans MS"/>
                <a:ea typeface="宋体"/>
              </a:rPr>
              <a:t>资源，他们也消耗了系统的内存资源</a:t>
            </a:r>
            <a:endParaRPr/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p="http://schemas.openxmlformats.org/presentationml/2006/main">
  <p:cSld>
    <p:spTree>
      <p:nvGrpSpPr>
        <p:cNvPr id="1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174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ea typeface="宋体" pitchFamily="2" charset="-122"/>
              </a:rPr>
              <a:t>进程阻塞的原因不包括________。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>
                <a:ea typeface="宋体" pitchFamily="2" charset="-122"/>
              </a:rPr>
              <a:t>A. 时间片切换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>
                <a:ea typeface="宋体" pitchFamily="2" charset="-122"/>
              </a:rPr>
              <a:t>B. 等待I/O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>
                <a:ea typeface="宋体" pitchFamily="2" charset="-122"/>
              </a:rPr>
              <a:t>C. 进程sleep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>
                <a:ea typeface="宋体" pitchFamily="2" charset="-122"/>
              </a:rPr>
              <a:t>D. 等待解锁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175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35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17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7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Wait_pid</a:t>
            </a:r>
            <a:endParaRPr/>
          </a:p>
        </p:txBody>
      </p:sp>
      <p:graphicFrame>
        <p:nvGraphicFramePr>
          <p:cNvPr id="179" name="Group 3"/>
          <p:cNvGraphicFramePr/>
          <p:nvPr>
            <p:ph sz="half" idx="4294967295"/>
          </p:nvPr>
        </p:nvGraphicFramePr>
        <p:xfrm rot="0" flipH="false" flipV="false">
          <a:off x="457200" y="2717074"/>
          <a:ext cx="8229600" cy="2362200"/>
        </p:xfrm>
        <a:graphic>
          <a:graphicData uri="http://schemas.openxmlformats.org/drawingml/2006/table">
            <a:tbl>
              <a:tblPr/>
              <a:tblGrid>
                <a:gridCol w="82296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2362200">
                <a:tc>
                  <a:txBody>
                    <a:bodyPr/>
                    <a:lstStyle/>
                    <a:p>
                      <a:pPr marL="0" lvl="0" indent="0" algn="l" defTabSz="914400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#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include &lt;sys/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types.h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&gt;</a:t>
                      </a:r>
                      <a:endParaRPr/>
                    </a:p>
                    <a:p>
                      <a:pPr marL="0" lvl="0" indent="0" algn="l" defTabSz="914400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#include &lt;sys/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wait.h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&gt;</a:t>
                      </a:r>
                      <a:endParaRPr/>
                    </a:p>
                    <a:p>
                      <a:pPr marL="0" lvl="0" indent="0" algn="l" defTabSz="914400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pid_t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waitpid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(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pid_t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pid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,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*status,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options);</a:t>
                      </a:r>
                      <a:endParaRPr/>
                    </a:p>
                    <a:p>
                      <a:pPr marL="0" lvl="0" indent="0" algn="r" defTabSz="914400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800" b="false">
                          <a:solidFill>
                            <a:srgbClr val="FF0000">
                              <a:alpha val="100000"/>
                            </a:srgbClr>
                          </a:solidFill>
                          <a:effectLst/>
                          <a:latin typeface="Comic Sans MS"/>
                          <a:ea typeface="宋体"/>
                        </a:rPr>
                        <a:t>Returns: PID of child if OK, 0 (if WNOHANG) or -1 on error</a:t>
                      </a:r>
                      <a:endParaRPr lang="zh-CN" sz="1800" b="false" i="false" u="none" strike="noStrike" baseline="0">
                        <a:ln>
                          <a:noFill/>
                        </a:ln>
                        <a:solidFill>
                          <a:srgbClr val="FF0000">
                            <a:alpha val="100000"/>
                          </a:srgbClr>
                        </a:solidFill>
                        <a:latin typeface="Comic Sans MS"/>
                        <a:ea typeface="宋体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  <p:sp>
        <p:nvSpPr>
          <p:cNvPr id="180" name=""/>
          <p:cNvSpPr txBox="true"/>
          <p:nvPr/>
        </p:nvSpPr>
        <p:spPr>
          <a:xfrm rot="0">
            <a:off x="457200" y="1691640"/>
            <a:ext cx="3841750" cy="4572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 sz="2400" b="false"/>
              <a:t>进程如何等待子进程终止？</a:t>
            </a:r>
            <a:endParaRPr/>
          </a:p>
        </p:txBody>
      </p:sp>
    </p:spTree>
  </p:cSld>
  <p:clrMapOvr>
    <a:masterClrMapping/>
  </p:clrMapOvr>
  <p:transition/>
</p:sld>
</file>

<file path=ppt/slides/slide36.xml><?xml version="1.0" encoding="utf-8"?>
<p:sld xmlns:a="http://schemas.openxmlformats.org/drawingml/2006/main" xmlns:p="http://schemas.openxmlformats.org/presentationml/2006/main">
  <p:cSld>
    <p:spTree>
      <p:nvGrpSpPr>
        <p:cNvPr id="1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83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Wait_pid</a:t>
            </a:r>
            <a:endParaRPr/>
          </a:p>
        </p:txBody>
      </p:sp>
      <p:sp>
        <p:nvSpPr>
          <p:cNvPr id="184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86000"/>
            <a:ext cx="8077200" cy="38862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algn="l" defTabSz="914400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800" b="false">
                <a:solidFill>
                  <a:schemeClr val="dk1">
                    <a:alpha val="100000"/>
                  </a:schemeClr>
                </a:solidFill>
                <a:latin typeface="Comic Sans MS"/>
              </a:rPr>
              <a:t>Wait-set: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4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pid &gt; 0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1143000" lvl="2" indent="-228600" algn="l" defTabSz="914400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等待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pid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为该值的子进程终</a:t>
            </a: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止并被收割</a:t>
            </a:r>
            <a:endParaRPr lang="en-US" sz="20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42900" lvl="0" indent="-342900" algn="l" defTabSz="914400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24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pid = -1</a:t>
            </a:r>
            <a:r>
              <a:rPr lang="zh-CN" sz="24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、</a:t>
            </a:r>
            <a:endParaRPr/>
          </a:p>
          <a:p>
            <a:pPr lvl="2" indent="-342900" algn="l" defTabSz="914400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zh-CN" sz="2000" b="false">
                <a:solidFill>
                  <a:schemeClr val="dk1">
                    <a:alpha val="100000"/>
                  </a:schemeClr>
                </a:solidFill>
                <a:latin typeface="Comic Sans MS"/>
                <a:ea typeface="宋体"/>
              </a:rPr>
              <a:t>等待该进程的所有子进程终止并被收割</a:t>
            </a:r>
            <a:endParaRPr/>
          </a:p>
        </p:txBody>
      </p:sp>
      <p:sp>
        <p:nvSpPr>
          <p:cNvPr id="185" name="Rectangle 1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pid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, int *status, int options);</a:t>
            </a:r>
            <a:endParaRPr/>
          </a:p>
        </p:txBody>
      </p:sp>
    </p:spTree>
  </p:cSld>
  <p:clrMapOvr>
    <a:masterClrMapping/>
  </p:clrMapOvr>
  <p:transition/>
</p:sld>
</file>

<file path=ppt/slides/slide37.xml><?xml version="1.0" encoding="utf-8"?>
<p:sld xmlns:a="http://schemas.openxmlformats.org/drawingml/2006/main" xmlns:p="http://schemas.openxmlformats.org/presentationml/2006/main">
  <p:cSld>
    <p:spTree>
      <p:nvGrpSpPr>
        <p:cNvPr id="1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8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189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09800"/>
            <a:ext cx="8077200" cy="4191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options = 0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waitpid</a:t>
            </a:r>
            <a:r>
              <a:rPr lang="zh-CN" b="false">
                <a:latin typeface="Comic Sans MS"/>
                <a:ea typeface="宋体"/>
              </a:rPr>
              <a:t>的调用进程进入挂起状态，直到它的</a:t>
            </a:r>
            <a:r>
              <a:rPr lang="zh-CN" b="false">
                <a:latin typeface="Comic Sans MS"/>
                <a:ea typeface="宋体"/>
              </a:rPr>
              <a:t>wait-set</a:t>
            </a:r>
            <a:r>
              <a:rPr lang="zh-CN" b="false">
                <a:latin typeface="Comic Sans MS"/>
                <a:ea typeface="宋体"/>
              </a:rPr>
              <a:t>中的一个</a:t>
            </a:r>
            <a:r>
              <a:rPr lang="zh-CN" b="false">
                <a:latin typeface="Comic Sans MS"/>
                <a:ea typeface="宋体"/>
              </a:rPr>
              <a:t>child process</a:t>
            </a:r>
            <a:r>
              <a:rPr lang="zh-CN" b="false">
                <a:latin typeface="Comic Sans MS"/>
                <a:ea typeface="宋体"/>
              </a:rPr>
              <a:t>终止了；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如果</a:t>
            </a:r>
            <a:r>
              <a:rPr lang="zh-CN" b="false">
                <a:latin typeface="Comic Sans MS"/>
                <a:ea typeface="宋体"/>
              </a:rPr>
              <a:t>wait-set</a:t>
            </a:r>
            <a:r>
              <a:rPr lang="zh-CN" b="false">
                <a:latin typeface="Comic Sans MS"/>
                <a:ea typeface="宋体"/>
              </a:rPr>
              <a:t>中的一个进程在进行</a:t>
            </a:r>
            <a:r>
              <a:rPr lang="zh-CN" b="false">
                <a:latin typeface="Comic Sans MS"/>
                <a:ea typeface="宋体"/>
              </a:rPr>
              <a:t>waitpid</a:t>
            </a:r>
            <a:r>
              <a:rPr lang="zh-CN" b="false">
                <a:latin typeface="Comic Sans MS"/>
                <a:ea typeface="宋体"/>
              </a:rPr>
              <a:t>调用的时候已经终止了，那么</a:t>
            </a:r>
            <a:r>
              <a:rPr lang="zh-CN" b="false">
                <a:latin typeface="Comic Sans MS"/>
                <a:ea typeface="宋体"/>
              </a:rPr>
              <a:t>waitpid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立刻</a:t>
            </a:r>
            <a:r>
              <a:rPr lang="zh-CN" b="false">
                <a:latin typeface="Comic Sans MS"/>
                <a:ea typeface="宋体"/>
              </a:rPr>
              <a:t>返回；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Waitpid</a:t>
            </a:r>
            <a:r>
              <a:rPr lang="zh-CN" b="false">
                <a:latin typeface="Comic Sans MS"/>
                <a:ea typeface="宋体"/>
              </a:rPr>
              <a:t>返回</a:t>
            </a:r>
            <a:r>
              <a:rPr lang="zh-CN" b="false">
                <a:latin typeface="Comic Sans MS"/>
                <a:ea typeface="宋体"/>
              </a:rPr>
              <a:t>已经终止的</a:t>
            </a:r>
            <a:r>
              <a:rPr lang="zh-CN" b="false">
                <a:latin typeface="Comic Sans MS"/>
                <a:ea typeface="宋体"/>
              </a:rPr>
              <a:t>child process</a:t>
            </a:r>
            <a:r>
              <a:rPr lang="zh-CN" b="false">
                <a:latin typeface="Comic Sans MS"/>
                <a:ea typeface="宋体"/>
              </a:rPr>
              <a:t>的</a:t>
            </a:r>
            <a:r>
              <a:rPr lang="zh-CN" b="false">
                <a:latin typeface="Comic Sans MS"/>
                <a:ea typeface="宋体"/>
              </a:rPr>
              <a:t>PID</a:t>
            </a:r>
            <a:endParaRPr/>
          </a:p>
        </p:txBody>
      </p:sp>
      <p:sp>
        <p:nvSpPr>
          <p:cNvPr id="190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*status, int 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options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);</a:t>
            </a:r>
            <a:endParaRPr/>
          </a:p>
        </p:txBody>
      </p:sp>
    </p:spTree>
  </p:cSld>
  <p:clrMapOvr>
    <a:masterClrMapping/>
  </p:clrMapOvr>
  <p:transition/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19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93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194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09800"/>
            <a:ext cx="8077200" cy="35814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options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WNOHANG: </a:t>
            </a:r>
            <a:r>
              <a:rPr lang="zh-CN" b="false">
                <a:latin typeface="Comic Sans MS"/>
                <a:ea typeface="宋体"/>
              </a:rPr>
              <a:t>如果</a:t>
            </a:r>
            <a:r>
              <a:rPr lang="zh-CN" b="false">
                <a:latin typeface="Comic Sans MS"/>
                <a:ea typeface="宋体"/>
              </a:rPr>
              <a:t>wait-set</a:t>
            </a:r>
            <a:r>
              <a:rPr lang="zh-CN" b="false">
                <a:latin typeface="Comic Sans MS"/>
                <a:ea typeface="宋体"/>
              </a:rPr>
              <a:t>中的任何子进程都还没有终止，那么立即返回，返回值为</a:t>
            </a:r>
            <a:r>
              <a:rPr lang="zh-CN" b="false">
                <a:latin typeface="Comic Sans MS"/>
                <a:ea typeface="宋体"/>
              </a:rPr>
              <a:t>0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如果在等待子进程终止的过程的同时，还希望做些有用的工作，这个选项会有用</a:t>
            </a:r>
            <a:endParaRPr/>
          </a:p>
        </p:txBody>
      </p:sp>
      <p:sp>
        <p:nvSpPr>
          <p:cNvPr id="195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*status, int 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options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);</a:t>
            </a:r>
            <a:endParaRPr/>
          </a:p>
        </p:txBody>
      </p:sp>
    </p:spTree>
  </p:cSld>
  <p:clrMapOvr>
    <a:masterClrMapping/>
  </p:clrMapOvr>
  <p:transition/>
</p:sld>
</file>

<file path=ppt/slides/slide39.xml><?xml version="1.0" encoding="utf-8"?>
<p:sld xmlns:a="http://schemas.openxmlformats.org/drawingml/2006/main" xmlns:p="http://schemas.openxmlformats.org/presentationml/2006/main">
  <p:cSld>
    <p:spTree>
      <p:nvGrpSpPr>
        <p:cNvPr id="1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19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199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09800"/>
            <a:ext cx="8077200" cy="35814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options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WUNTRACED</a:t>
            </a:r>
            <a:r>
              <a:rPr lang="zh-CN" b="false">
                <a:latin typeface="Comic Sans MS"/>
                <a:ea typeface="宋体"/>
              </a:rPr>
              <a:t>: </a:t>
            </a:r>
            <a:r>
              <a:rPr lang="zh-CN" b="false">
                <a:latin typeface="Comic Sans MS"/>
                <a:ea typeface="宋体"/>
              </a:rPr>
              <a:t>将调用</a:t>
            </a:r>
            <a:r>
              <a:rPr lang="zh-CN" b="false">
                <a:latin typeface="Comic Sans MS"/>
                <a:ea typeface="宋体"/>
              </a:rPr>
              <a:t>waitpid</a:t>
            </a:r>
            <a:r>
              <a:rPr lang="zh-CN" b="false">
                <a:latin typeface="Comic Sans MS"/>
                <a:ea typeface="宋体"/>
              </a:rPr>
              <a:t>的进程挂起，直到</a:t>
            </a:r>
            <a:r>
              <a:rPr lang="zh-CN" b="false">
                <a:latin typeface="Comic Sans MS"/>
                <a:ea typeface="宋体"/>
              </a:rPr>
              <a:t>wait-set</a:t>
            </a:r>
            <a:r>
              <a:rPr lang="zh-CN" b="false">
                <a:latin typeface="Comic Sans MS"/>
                <a:ea typeface="宋体"/>
              </a:rPr>
              <a:t>中的一个子进程已经变成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已终止或者被停止</a:t>
            </a:r>
            <a:r>
              <a:rPr lang="zh-CN" b="false">
                <a:latin typeface="Comic Sans MS"/>
                <a:ea typeface="宋体"/>
              </a:rPr>
              <a:t>。返回已终止或已停止的子进程</a:t>
            </a:r>
            <a:r>
              <a:rPr lang="zh-CN" b="false">
                <a:latin typeface="Comic Sans MS"/>
                <a:ea typeface="宋体"/>
              </a:rPr>
              <a:t>PID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Default option</a:t>
            </a:r>
            <a:r>
              <a:rPr lang="zh-CN" b="false">
                <a:latin typeface="Comic Sans MS"/>
                <a:ea typeface="宋体"/>
              </a:rPr>
              <a:t>仅当子进程终止时返回</a:t>
            </a:r>
            <a:endParaRPr/>
          </a:p>
        </p:txBody>
      </p:sp>
      <p:sp>
        <p:nvSpPr>
          <p:cNvPr id="200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*status, int 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options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);</a:t>
            </a:r>
            <a:endParaRPr/>
          </a:p>
        </p:txBody>
      </p:sp>
    </p:spTree>
  </p:cSld>
  <p:clrMapOvr>
    <a:masterClrMapping/>
  </p:clrMapOvr>
  <p:transition/>
</p:sld>
</file>

<file path=ppt/slides/slide40.xml><?xml version="1.0" encoding="utf-8"?>
<p:sld xmlns:a="http://schemas.openxmlformats.org/drawingml/2006/main" xmlns:p="http://schemas.openxmlformats.org/presentationml/2006/main">
  <p:cSld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07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208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09800"/>
            <a:ext cx="8077200" cy="35814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ea typeface="宋体" pitchFamily="2" charset="-122"/>
              </a:rPr>
              <a:t>options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WCONTINUED</a:t>
            </a:r>
            <a:r>
              <a:rPr lang="zh-CN" b="false" i="false" u="none">
                <a:ea typeface="宋体" pitchFamily="2" charset="-122"/>
              </a:rPr>
              <a:t>: 将调用waitpid的进程挂起，直到wait-set中的一个正在运行的</a:t>
            </a:r>
            <a:r>
              <a:rPr lang="en-US" b="false" i="false" u="none">
                <a:solidFill>
                  <a:srgbClr val="FF0000"/>
                </a:solidFill>
                <a:ea typeface="宋体" pitchFamily="2" charset="-122"/>
              </a:rPr>
              <a:t>子进程终止</a:t>
            </a:r>
            <a:r>
              <a:rPr lang="zh-CN" b="false" i="false" u="none">
                <a:ea typeface="宋体" pitchFamily="2" charset="-122"/>
              </a:rPr>
              <a:t>，或者等待集合中一个</a:t>
            </a:r>
            <a:r>
              <a:rPr lang="en-US" b="false" i="false" u="none">
                <a:solidFill>
                  <a:srgbClr val="FF0000"/>
                </a:solidFill>
                <a:ea typeface="宋体" pitchFamily="2" charset="-122"/>
              </a:rPr>
              <a:t>被停止的进程收到SIGCONT信号</a:t>
            </a:r>
            <a:r>
              <a:rPr lang="zh-CN" b="false" i="false" u="none">
                <a:ea typeface="宋体" pitchFamily="2" charset="-122"/>
              </a:rPr>
              <a:t>重新开始。</a:t>
            </a:r>
            <a:endParaRPr/>
          </a:p>
        </p:txBody>
      </p:sp>
      <p:sp>
        <p:nvSpPr>
          <p:cNvPr id="209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*status, int 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options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);</a:t>
            </a:r>
            <a:endParaRPr/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p="http://schemas.openxmlformats.org/presentationml/2006/main">
  <p:cSld>
    <p:spTree>
      <p:nvGrpSpPr>
        <p:cNvPr id="2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1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21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09800"/>
            <a:ext cx="8077200" cy="35814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options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WUNTRACED</a:t>
            </a:r>
            <a:r>
              <a:rPr lang="en-US" b="false">
                <a:latin typeface="Comic Sans MS"/>
                <a:ea typeface="宋体"/>
              </a:rPr>
              <a:t> | </a:t>
            </a:r>
            <a:r>
              <a:rPr lang="en-US" b="false">
                <a:latin typeface="Comic Sans MS"/>
                <a:ea typeface="宋体"/>
              </a:rPr>
              <a:t>WNOHANG</a:t>
            </a:r>
            <a:r>
              <a:rPr lang="zh-CN" b="false">
                <a:latin typeface="Comic Sans MS"/>
                <a:ea typeface="宋体"/>
              </a:rPr>
              <a:t> : </a:t>
            </a:r>
            <a:r>
              <a:rPr lang="zh-CN" b="false">
                <a:latin typeface="Comic Sans MS"/>
                <a:ea typeface="宋体"/>
              </a:rPr>
              <a:t>立刻返回。如果等待集合中的进程都没有被停止或终止，则返回</a:t>
            </a:r>
            <a:r>
              <a:rPr lang="zh-CN" b="false">
                <a:latin typeface="Comic Sans MS"/>
                <a:ea typeface="宋体"/>
              </a:rPr>
              <a:t>0</a:t>
            </a:r>
            <a:r>
              <a:rPr lang="zh-CN" b="false">
                <a:latin typeface="Comic Sans MS"/>
                <a:ea typeface="宋体"/>
              </a:rPr>
              <a:t>；如果有一个停止或终止，则返回该进程的</a:t>
            </a:r>
            <a:r>
              <a:rPr lang="zh-CN" b="false">
                <a:latin typeface="Comic Sans MS"/>
                <a:ea typeface="宋体"/>
              </a:rPr>
              <a:t>PID</a:t>
            </a:r>
            <a:endParaRPr/>
          </a:p>
        </p:txBody>
      </p:sp>
      <p:sp>
        <p:nvSpPr>
          <p:cNvPr id="214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*status, int 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options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);</a:t>
            </a:r>
            <a:endParaRPr/>
          </a:p>
        </p:txBody>
      </p:sp>
    </p:spTree>
  </p:cSld>
  <p:clrMapOvr>
    <a:masterClrMapping/>
  </p:clrMapOvr>
  <p:transition/>
</p:sld>
</file>

<file path=ppt/slides/slide42.xml><?xml version="1.0" encoding="utf-8"?>
<p:sld xmlns:a="http://schemas.openxmlformats.org/drawingml/2006/main" xmlns:p="http://schemas.openxmlformats.org/presentationml/2006/main">
  <p:cSld>
    <p:spTree>
      <p:nvGrpSpPr>
        <p:cNvPr id="2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17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218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09800"/>
            <a:ext cx="8077200" cy="42672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zh-CN">
                <a:latin typeface="Comic Sans MS"/>
                <a:ea typeface="宋体"/>
              </a:rPr>
              <a:t>用于查看被收割子进程的退出状态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status</a:t>
            </a:r>
            <a:r>
              <a:rPr lang="en-US" b="false">
                <a:solidFill>
                  <a:srgbClr val="FF0000">
                    <a:alpha val="100000"/>
                  </a:srgbClr>
                </a:solidFill>
                <a:latin typeface="Courier"/>
                <a:ea typeface="宋体"/>
              </a:rPr>
              <a:t> </a:t>
            </a:r>
            <a:r>
              <a:rPr lang="zh-CN" b="false">
                <a:solidFill>
                  <a:schemeClr val="tx1">
                    <a:alpha val="100000"/>
                  </a:schemeClr>
                </a:solidFill>
                <a:latin typeface="Courier"/>
                <a:ea typeface="宋体"/>
              </a:rPr>
              <a:t>为</a:t>
            </a:r>
            <a:r>
              <a:rPr lang="en-US" b="false">
                <a:latin typeface="Comic Sans MS"/>
                <a:ea typeface="宋体"/>
              </a:rPr>
              <a:t>non-NULL</a:t>
            </a:r>
            <a:r>
              <a:rPr lang="en-US" b="false">
                <a:latin typeface="Comic Sans MS"/>
                <a:ea typeface="宋体"/>
              </a:rPr>
              <a:t> 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true">
                <a:latin typeface="Courier New"/>
                <a:ea typeface="宋体"/>
              </a:rPr>
              <a:t>wait.h</a:t>
            </a:r>
            <a:r>
              <a:rPr lang="en-US" b="false">
                <a:latin typeface="Courier"/>
                <a:ea typeface="宋体"/>
              </a:rPr>
              <a:t> </a:t>
            </a:r>
            <a:r>
              <a:rPr lang="zh-CN" b="false">
                <a:latin typeface="Courier"/>
                <a:ea typeface="宋体"/>
              </a:rPr>
              <a:t>中定义了一些帮助解析</a:t>
            </a:r>
            <a:r>
              <a:rPr lang="en-US" b="false">
                <a:latin typeface="Courier"/>
                <a:ea typeface="宋体"/>
              </a:rPr>
              <a:t>status</a:t>
            </a:r>
            <a:r>
              <a:rPr lang="zh-CN" b="false">
                <a:latin typeface="Courier"/>
                <a:ea typeface="宋体"/>
              </a:rPr>
              <a:t>的宏</a:t>
            </a:r>
            <a:endParaRPr/>
          </a:p>
        </p:txBody>
      </p:sp>
      <p:sp>
        <p:nvSpPr>
          <p:cNvPr id="219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status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, int options);</a:t>
            </a:r>
            <a:endParaRPr/>
          </a:p>
        </p:txBody>
      </p:sp>
    </p:spTree>
  </p:cSld>
  <p:clrMapOvr>
    <a:masterClrMapping/>
  </p:clrMapOvr>
  <p:transition/>
</p:sld>
</file>

<file path=ppt/slides/slide43.xml><?xml version="1.0" encoding="utf-8"?>
<p:sld xmlns:a="http://schemas.openxmlformats.org/drawingml/2006/main" xmlns:p="http://schemas.openxmlformats.org/presentationml/2006/main">
  <p:cSld>
    <p:spTree>
      <p:nvGrpSpPr>
        <p:cNvPr id="2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2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22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86000"/>
            <a:ext cx="8077200" cy="3810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10000"/>
              </a:lnSpc>
              <a:spcBef>
                <a:spcPct val="20000"/>
              </a:spcBef>
              <a:buChar char="•"/>
            </a:pPr>
            <a:r>
              <a:rPr lang="en-US" b="true" i="false" u="none">
                <a:latin typeface="Courier New" pitchFamily="49"/>
                <a:ea typeface="宋体" pitchFamily="2" charset="-122"/>
              </a:rPr>
              <a:t>WIFEXITED(status)</a:t>
            </a:r>
            <a:endParaRPr lang="en-US"/>
          </a:p>
          <a:p>
            <a:pPr marL="742950" lvl="1" indent="-285750">
              <a:lnSpc>
                <a:spcPct val="11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Returns true if the child terminated normally</a:t>
            </a:r>
            <a:endParaRPr/>
          </a:p>
          <a:p>
            <a:pPr marL="1143000" lvl="2" indent="-228600">
              <a:lnSpc>
                <a:spcPct val="110000"/>
              </a:lnSpc>
              <a:spcBef>
                <a:spcPct val="20000"/>
              </a:spcBef>
              <a:buChar char="•"/>
            </a:pPr>
            <a:r>
              <a:rPr lang="en-US" b="false" i="false" u="none">
                <a:ea typeface="宋体" pitchFamily="2" charset="-122"/>
              </a:rPr>
              <a:t>via a call to </a:t>
            </a:r>
            <a:r>
              <a:rPr lang="en-US" b="true" i="false" u="none">
                <a:latin typeface="Courier New" pitchFamily="49"/>
                <a:ea typeface="宋体" pitchFamily="2" charset="-122"/>
              </a:rPr>
              <a:t>exit</a:t>
            </a:r>
            <a:r>
              <a:rPr lang="en-US" b="false" i="false" u="none">
                <a:latin typeface="Courier" charset="1"/>
                <a:ea typeface="宋体" pitchFamily="2" charset="-122"/>
              </a:rPr>
              <a:t> </a:t>
            </a:r>
            <a:r>
              <a:rPr lang="en-US" b="false" i="false" u="none">
                <a:ea typeface="宋体" pitchFamily="2" charset="-122"/>
              </a:rPr>
              <a:t>or a return.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en-US" b="true" i="false" u="none">
                <a:latin typeface="Courier New" pitchFamily="49"/>
                <a:ea typeface="宋体" pitchFamily="2" charset="-122"/>
              </a:rPr>
              <a:t>WEXITSTATUS(status)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Returns the </a:t>
            </a:r>
            <a:r>
              <a:rPr lang="en-US" b="false" i="false" u="none">
                <a:solidFill>
                  <a:srgbClr val="FF0000"/>
                </a:solidFill>
                <a:ea typeface="宋体" pitchFamily="2" charset="-122"/>
              </a:rPr>
              <a:t>exit status </a:t>
            </a:r>
            <a:r>
              <a:rPr lang="en-US" b="false" i="false" u="none">
                <a:ea typeface="宋体" pitchFamily="2" charset="-122"/>
              </a:rPr>
              <a:t>of a normally terminated child.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This status is only defined if </a:t>
            </a:r>
            <a:r>
              <a:rPr lang="en-US" b="true" i="false" u="none">
                <a:latin typeface="Courier New" pitchFamily="49"/>
                <a:ea typeface="宋体" pitchFamily="2" charset="-122"/>
              </a:rPr>
              <a:t>WIFEXITED </a:t>
            </a:r>
            <a:r>
              <a:rPr lang="en-US" b="false" i="false" u="none">
                <a:ea typeface="宋体" pitchFamily="2" charset="-122"/>
              </a:rPr>
              <a:t>returned true.</a:t>
            </a:r>
            <a:endParaRPr/>
          </a:p>
        </p:txBody>
      </p:sp>
      <p:sp>
        <p:nvSpPr>
          <p:cNvPr id="224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status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, int options);</a:t>
            </a:r>
            <a:endParaRPr/>
          </a:p>
        </p:txBody>
      </p:sp>
    </p:spTree>
  </p:cSld>
  <p:clrMapOvr>
    <a:masterClrMapping/>
  </p:clrMapOvr>
  <p:transition/>
</p:sld>
</file>

<file path=ppt/slides/slide44.xml><?xml version="1.0" encoding="utf-8"?>
<p:sld xmlns:a="http://schemas.openxmlformats.org/drawingml/2006/main" xmlns:p="http://schemas.openxmlformats.org/presentationml/2006/main">
  <p:cSld>
    <p:spTree>
      <p:nvGrpSpPr>
        <p:cNvPr id="2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27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228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86000"/>
            <a:ext cx="8077200" cy="3810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10000"/>
              </a:lnSpc>
              <a:spcBef>
                <a:spcPct val="20000"/>
              </a:spcBef>
              <a:buChar char="•"/>
            </a:pPr>
            <a:r>
              <a:rPr lang="en-US" b="true" i="false" u="none">
                <a:latin typeface="Courier New" pitchFamily="49"/>
                <a:ea typeface="宋体" pitchFamily="2" charset="-122"/>
              </a:rPr>
              <a:t>WIFSIGNALED(status)</a:t>
            </a:r>
            <a:endParaRPr/>
          </a:p>
          <a:p>
            <a:pPr marL="742950" lvl="1" indent="-285750">
              <a:lnSpc>
                <a:spcPct val="110000"/>
              </a:lnSpc>
              <a:spcBef>
                <a:spcPct val="20000"/>
              </a:spcBef>
              <a:buChar char="–"/>
            </a:pPr>
            <a:r>
              <a:rPr lang="en-US">
                <a:ea typeface="宋体" pitchFamily="2" charset="-122"/>
              </a:rPr>
              <a:t>Returns true if the child process terminated because of a </a:t>
            </a:r>
            <a:r>
              <a:rPr lang="en-US">
                <a:solidFill>
                  <a:srgbClr val="FF0000"/>
                </a:solidFill>
                <a:ea typeface="宋体" pitchFamily="2" charset="-122"/>
              </a:rPr>
              <a:t>signal</a:t>
            </a:r>
            <a:r>
              <a:rPr lang="en-US">
                <a:ea typeface="宋体" pitchFamily="2" charset="-122"/>
              </a:rPr>
              <a:t> that was not caught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en-US" b="true" i="false" u="none">
                <a:latin typeface="Courier New" pitchFamily="49"/>
                <a:ea typeface="宋体" pitchFamily="2" charset="-122"/>
              </a:rPr>
              <a:t>WTERMSIG(status)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Returns the </a:t>
            </a:r>
            <a:r>
              <a:rPr lang="en-US" b="false" i="false" u="none">
                <a:solidFill>
                  <a:srgbClr val="FF0000"/>
                </a:solidFill>
                <a:ea typeface="宋体" pitchFamily="2" charset="-122"/>
              </a:rPr>
              <a:t>number of the signal </a:t>
            </a:r>
            <a:r>
              <a:rPr lang="en-US" b="false" i="false" u="none">
                <a:ea typeface="宋体" pitchFamily="2" charset="-122"/>
              </a:rPr>
              <a:t>that caused the child process to terminate.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This status is only defined if </a:t>
            </a:r>
            <a:r>
              <a:rPr lang="en-US" b="true" i="false" u="none">
                <a:latin typeface="Courier New" pitchFamily="49"/>
                <a:ea typeface="宋体" pitchFamily="2" charset="-122"/>
              </a:rPr>
              <a:t>WIFSIGNALED</a:t>
            </a:r>
            <a:r>
              <a:rPr lang="en-US" b="false" i="false" u="none">
                <a:ea typeface="宋体" pitchFamily="2" charset="-122"/>
              </a:rPr>
              <a:t> returned true.</a:t>
            </a:r>
            <a:endParaRPr/>
          </a:p>
        </p:txBody>
      </p:sp>
      <p:sp>
        <p:nvSpPr>
          <p:cNvPr id="229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status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, int options);</a:t>
            </a:r>
            <a:endParaRPr/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p="http://schemas.openxmlformats.org/presentationml/2006/main">
  <p:cSld>
    <p:spTree>
      <p:nvGrpSpPr>
        <p:cNvPr id="2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3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23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86000"/>
            <a:ext cx="8077200" cy="38862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10000"/>
              </a:lnSpc>
              <a:spcBef>
                <a:spcPct val="20000"/>
              </a:spcBef>
              <a:buChar char="•"/>
            </a:pPr>
            <a:r>
              <a:rPr lang="en-US" b="true" i="false" u="none">
                <a:latin typeface="Courier New" pitchFamily="49"/>
                <a:ea typeface="宋体" pitchFamily="2" charset="-122"/>
              </a:rPr>
              <a:t>WIFSTOPPED(status)</a:t>
            </a:r>
            <a:endParaRPr/>
          </a:p>
          <a:p>
            <a:pPr marL="742950" lvl="1" indent="-285750">
              <a:lnSpc>
                <a:spcPct val="110000"/>
              </a:lnSpc>
              <a:spcBef>
                <a:spcPct val="20000"/>
              </a:spcBef>
              <a:buChar char="–"/>
            </a:pPr>
            <a:r>
              <a:rPr lang="en-US">
                <a:ea typeface="宋体" pitchFamily="2" charset="-122"/>
              </a:rPr>
              <a:t>Returns true if the child that caused the return is currently </a:t>
            </a:r>
            <a:r>
              <a:rPr lang="en-US">
                <a:solidFill>
                  <a:srgbClr val="FF0000"/>
                </a:solidFill>
                <a:ea typeface="宋体" pitchFamily="2" charset="-122"/>
              </a:rPr>
              <a:t>stopped</a:t>
            </a:r>
            <a:r>
              <a:rPr lang="en-US">
                <a:ea typeface="宋体" pitchFamily="2" charset="-122"/>
              </a:rPr>
              <a:t>.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 b="true" i="false" u="none">
                <a:latin typeface="Courier New" pitchFamily="49"/>
                <a:ea typeface="宋体" pitchFamily="2" charset="-122"/>
              </a:rPr>
              <a:t>WSTOPSIG(status)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Returns the </a:t>
            </a:r>
            <a:r>
              <a:rPr lang="en-US" b="false" i="false" u="none">
                <a:solidFill>
                  <a:srgbClr val="FF0000"/>
                </a:solidFill>
                <a:ea typeface="宋体" pitchFamily="2" charset="-122"/>
              </a:rPr>
              <a:t>number of the signal </a:t>
            </a:r>
            <a:r>
              <a:rPr lang="en-US" b="false" i="false" u="none">
                <a:ea typeface="宋体" pitchFamily="2" charset="-122"/>
              </a:rPr>
              <a:t>that caused the child to stop. 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This status is only defined if </a:t>
            </a:r>
            <a:r>
              <a:rPr lang="en-US" b="true" i="false" u="none">
                <a:latin typeface="Courier New" pitchFamily="49"/>
                <a:ea typeface="宋体" pitchFamily="2" charset="-122"/>
              </a:rPr>
              <a:t>WIFSTOPPED</a:t>
            </a:r>
            <a:r>
              <a:rPr lang="en-US" b="false" i="false" u="none">
                <a:ea typeface="宋体" pitchFamily="2" charset="-122"/>
              </a:rPr>
              <a:t> returned true.</a:t>
            </a:r>
            <a:endParaRPr/>
          </a:p>
        </p:txBody>
      </p:sp>
      <p:sp>
        <p:nvSpPr>
          <p:cNvPr id="234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status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, int options);</a:t>
            </a:r>
            <a:endParaRPr/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p="http://schemas.openxmlformats.org/presentationml/2006/main">
  <p:cSld>
    <p:spTree>
      <p:nvGrpSpPr>
        <p:cNvPr id="2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37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Wait_pid Function</a:t>
            </a:r>
            <a:endParaRPr/>
          </a:p>
        </p:txBody>
      </p:sp>
      <p:sp>
        <p:nvSpPr>
          <p:cNvPr id="238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2286000"/>
            <a:ext cx="8077200" cy="38862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10000"/>
              </a:lnSpc>
              <a:spcBef>
                <a:spcPct val="20000"/>
              </a:spcBef>
              <a:buChar char="•"/>
            </a:pPr>
            <a:r>
              <a:rPr lang="en-US" b="true">
                <a:latin typeface="Courier New"/>
                <a:ea typeface="宋体"/>
              </a:rPr>
              <a:t>WIFCONTINUED(status)</a:t>
            </a:r>
            <a:endParaRPr/>
          </a:p>
          <a:p>
            <a:pPr marL="742950" lvl="1" indent="-285750">
              <a:lnSpc>
                <a:spcPct val="110000"/>
              </a:lnSpc>
              <a:spcBef>
                <a:spcPct val="20000"/>
              </a:spcBef>
              <a:buChar char="–"/>
            </a:pPr>
            <a:r>
              <a:rPr lang="en-US">
                <a:latin typeface="Comic Sans MS"/>
                <a:ea typeface="宋体"/>
              </a:rPr>
              <a:t>Returns true if the child was restarted by receipt of a SIGCONT signal</a:t>
            </a:r>
            <a:endParaRPr/>
          </a:p>
          <a:p>
            <a:pPr marL="0" lvl="0">
              <a:lnSpc>
                <a:spcPct val="120000"/>
              </a:lnSpc>
              <a:spcBef>
                <a:spcPct val="20000"/>
              </a:spcBef>
              <a:buNone/>
            </a:pPr>
            <a:endParaRPr lang="en-US" b="true">
              <a:latin typeface="Courier New"/>
              <a:ea typeface="宋体"/>
            </a:endParaRPr>
          </a:p>
        </p:txBody>
      </p:sp>
      <p:sp>
        <p:nvSpPr>
          <p:cNvPr id="239" name="Rectangle 4"/>
          <p:cNvSpPr>
            <a:spLocks noGrp="true" noChangeShapeType="true"/>
          </p:cNvSpPr>
          <p:nvPr/>
        </p:nvSpPr>
        <p:spPr>
          <a:xfrm>
            <a:off x="533400" y="1676400"/>
            <a:ext cx="8001000" cy="40005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pid_t waitpid(pid_t pid, int *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status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, int options);</a:t>
            </a:r>
            <a:endParaRPr/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4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Wait_pid</a:t>
            </a:r>
            <a:endParaRPr/>
          </a:p>
        </p:txBody>
      </p:sp>
      <p:sp>
        <p:nvSpPr>
          <p:cNvPr id="24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endParaRPr/>
          </a:p>
          <a:p>
            <a:pPr marL="514350" lvl="0" indent="-457200">
              <a:lnSpc>
                <a:spcPct val="120000"/>
              </a:lnSpc>
              <a:spcBef>
                <a:spcPct val="20000"/>
              </a:spcBef>
              <a:buFont typeface="Wingdings" charset="2"/>
              <a:buChar char="l"/>
            </a:pPr>
            <a:r>
              <a:rPr lang="en-US" b="false">
                <a:latin typeface="Comic Sans MS"/>
                <a:ea typeface="宋体"/>
              </a:rPr>
              <a:t>Error conditions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如果当前进程没有子进程</a:t>
            </a:r>
            <a:endParaRPr/>
          </a:p>
          <a:p>
            <a:pPr marL="1143000" lvl="2" indent="-2286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zh-CN" b="false">
                <a:latin typeface="Comic Sans MS"/>
                <a:ea typeface="宋体"/>
              </a:rPr>
              <a:t>返回</a:t>
            </a:r>
            <a:r>
              <a:rPr lang="en-US" b="false">
                <a:latin typeface="Comic Sans MS"/>
                <a:ea typeface="宋体"/>
              </a:rPr>
              <a:t> –1</a:t>
            </a:r>
            <a:r>
              <a:rPr lang="zh-CN" b="false">
                <a:latin typeface="Comic Sans MS"/>
                <a:ea typeface="宋体"/>
              </a:rPr>
              <a:t>，并设置</a:t>
            </a:r>
            <a:r>
              <a:rPr lang="en-US" b="true">
                <a:latin typeface="Courier New"/>
                <a:ea typeface="宋体"/>
              </a:rPr>
              <a:t>errno</a:t>
            </a:r>
            <a:r>
              <a:rPr lang="zh-CN" b="true">
                <a:latin typeface="Courier New"/>
                <a:ea typeface="宋体"/>
              </a:rPr>
              <a:t>为</a:t>
            </a:r>
            <a:r>
              <a:rPr lang="en-US" b="true">
                <a:solidFill>
                  <a:schemeClr val="tx1">
                    <a:alpha val="100000"/>
                  </a:schemeClr>
                </a:solidFill>
                <a:latin typeface="Courier New"/>
                <a:ea typeface="宋体"/>
              </a:rPr>
              <a:t>ECHILD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如果该函数的执行被</a:t>
            </a:r>
            <a:r>
              <a:rPr lang="en-US" b="false">
                <a:latin typeface="Comic Sans MS"/>
                <a:ea typeface="宋体"/>
              </a:rPr>
              <a:t>signal</a:t>
            </a:r>
            <a:r>
              <a:rPr lang="zh-CN" b="false">
                <a:latin typeface="Comic Sans MS"/>
                <a:ea typeface="宋体"/>
              </a:rPr>
              <a:t>中断</a:t>
            </a:r>
            <a:endParaRPr/>
          </a:p>
          <a:p>
            <a:pPr marL="1143000" lvl="2" indent="-2286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zh-CN" b="false">
                <a:latin typeface="Comic Sans MS"/>
                <a:ea typeface="宋体"/>
              </a:rPr>
              <a:t>返回</a:t>
            </a:r>
            <a:r>
              <a:rPr lang="en-US" b="false">
                <a:latin typeface="Comic Sans MS"/>
                <a:ea typeface="宋体"/>
              </a:rPr>
              <a:t>–1 </a:t>
            </a:r>
            <a:r>
              <a:rPr lang="zh-CN" b="false">
                <a:latin typeface="Comic Sans MS"/>
                <a:ea typeface="宋体"/>
              </a:rPr>
              <a:t>，并设置</a:t>
            </a:r>
            <a:r>
              <a:rPr lang="en-US" b="true">
                <a:latin typeface="Courier New"/>
                <a:ea typeface="宋体"/>
              </a:rPr>
              <a:t>errno</a:t>
            </a:r>
            <a:r>
              <a:rPr lang="zh-CN" b="true">
                <a:latin typeface="Courier New"/>
                <a:ea typeface="宋体"/>
              </a:rPr>
              <a:t>为</a:t>
            </a:r>
            <a:r>
              <a:rPr lang="en-US" b="true">
                <a:latin typeface="Courier New"/>
                <a:ea typeface="宋体"/>
              </a:rPr>
              <a:t>EINTR</a:t>
            </a:r>
            <a:endParaRPr/>
          </a:p>
        </p:txBody>
      </p:sp>
      <p:sp>
        <p:nvSpPr>
          <p:cNvPr id="244" name="矩形 1"/>
          <p:cNvSpPr>
            <a:spLocks noGrp="true" noChangeShapeType="true"/>
          </p:cNvSpPr>
          <p:nvPr/>
        </p:nvSpPr>
        <p:spPr>
          <a:xfrm>
            <a:off x="7848600" y="5495925"/>
            <a:ext cx="492125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sng">
                <a:solidFill>
                  <a:schemeClr val="hlink"/>
                </a:solidFill>
                <a:latin typeface="Courier New" pitchFamily="49"/>
                <a:ea typeface="宋体" pitchFamily="2" charset="-122"/>
                <a:hlinkClick r:id="rId2" action="ppaction://hlinksldjump"/>
              </a:rPr>
              <a:t>&gt;&gt;</a:t>
            </a:r>
            <a:endParaRPr/>
          </a:p>
        </p:txBody>
      </p:sp>
      <p:sp>
        <p:nvSpPr>
          <p:cNvPr id="245" name="Rectangle 1"/>
          <p:cNvSpPr>
            <a:spLocks noGrp="true" noChangeShapeType="true"/>
          </p:cNvSpPr>
          <p:nvPr/>
        </p:nvSpPr>
        <p:spPr>
          <a:xfrm>
            <a:off x="533400" y="1676400"/>
            <a:ext cx="8001000" cy="393700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pid_t</a:t>
            </a:r>
            <a:r>
              <a:rPr lang="en-US" sz="2000" b="true">
                <a:latin typeface="Courier New"/>
                <a:ea typeface="宋体"/>
              </a:rPr>
              <a:t> waitpid(pid_t </a:t>
            </a:r>
            <a:r>
              <a:rPr lang="en-US" sz="2000" b="true">
                <a:solidFill>
                  <a:schemeClr val="tx1">
                    <a:alpha val="100000"/>
                  </a:schemeClr>
                </a:solidFill>
                <a:latin typeface="Courier New"/>
                <a:ea typeface="宋体"/>
              </a:rPr>
              <a:t>pid</a:t>
            </a:r>
            <a:r>
              <a:rPr lang="en-US" sz="2000" b="true">
                <a:latin typeface="Courier New"/>
                <a:ea typeface="宋体"/>
              </a:rPr>
              <a:t>, int *status, int options);</a:t>
            </a:r>
            <a:endParaRPr/>
          </a:p>
        </p:txBody>
      </p:sp>
    </p:spTree>
  </p:cSld>
  <p:clrMapOvr>
    <a:masterClrMapping/>
  </p:clrMapOvr>
  <p:transition/>
</p:sld>
</file>

<file path=ppt/slides/slide48.xml><?xml version="1.0" encoding="utf-8"?>
<p:sld xmlns:a="http://schemas.openxmlformats.org/drawingml/2006/main" xmlns:p="http://schemas.openxmlformats.org/presentationml/2006/main">
  <p:cSld>
    <p:spTree>
      <p:nvGrpSpPr>
        <p:cNvPr id="2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4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Wait_pid (Nondeterministic)</a:t>
            </a:r>
            <a:endParaRPr/>
          </a:p>
        </p:txBody>
      </p:sp>
      <p:sp>
        <p:nvSpPr>
          <p:cNvPr id="249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3810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 #include "csapp.h"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2 #define N 2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3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4 int main()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5 {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6   int status, i;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7   pid_t pid;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8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9   </a:t>
            </a:r>
            <a:r>
              <a:rPr lang="en-US" sz="18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</a:rPr>
              <a:t>/* Parent creates N children */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10  for (i = 0; i &lt; N; i++)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11    if ((pid = fork()) == 0) /* child */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12	      exit(100+i);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13</a:t>
            </a:r>
            <a:endParaRPr/>
          </a:p>
        </p:txBody>
      </p:sp>
    </p:spTree>
  </p:cSld>
  <p:clrMapOvr>
    <a:masterClrMapping/>
  </p:clrMapOvr>
  <p:transition/>
</p:sld>
</file>

<file path=ppt/slides/slide49.xml><?xml version="1.0" encoding="utf-8"?>
<p:sld xmlns:a="http://schemas.openxmlformats.org/drawingml/2006/main" xmlns:p="http://schemas.openxmlformats.org/presentationml/2006/main">
  <p:cSld>
    <p:spTree>
      <p:nvGrpSpPr>
        <p:cNvPr id="2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5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Wait_pid (Nondeterministic)</a:t>
            </a:r>
            <a:endParaRPr/>
          </a:p>
        </p:txBody>
      </p:sp>
      <p:sp>
        <p:nvSpPr>
          <p:cNvPr id="25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381000" y="1600200"/>
            <a:ext cx="8153400" cy="48768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14  </a:t>
            </a:r>
            <a:r>
              <a:rPr lang="en-US" sz="18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Parent reaps N chds. in no particular order */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15  while ((pid = waitpid(-1, &amp;status, 0)) &gt; 0) {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16    if (WIFEXITED(status))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17      printf("child %d terminated normally with exit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18            status=%d\n", pid, WEXITSTATUS(status));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19    else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20      printf("child %d terminated abnormally\n", pid);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21  }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22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23  </a:t>
            </a:r>
            <a:r>
              <a:rPr lang="en-US" sz="18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The only normal term. is if there no more chds. */</a:t>
            </a:r>
            <a:endParaRPr lang="en-US" sz="1800"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24  if (errno != ECHILD)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25    unix_error("waitpid error");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26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27  exit(0);</a:t>
            </a:r>
            <a:endParaRPr/>
          </a:p>
          <a:p>
            <a:pPr marL="342900" lvl="0" indent="-342900">
              <a:lnSpc>
                <a:spcPct val="8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28}</a:t>
            </a:r>
            <a:endParaRPr/>
          </a:p>
        </p:txBody>
      </p:sp>
    </p:spTree>
  </p:cSld>
  <p:clrMapOvr>
    <a:masterClrMapping/>
  </p:clrMapOvr>
  <p:transition/>
</p:sld>
</file>

<file path=ppt/slides/slide50.xml><?xml version="1.0" encoding="utf-8"?>
<p:sld xmlns:a="http://schemas.openxmlformats.org/drawingml/2006/main" xmlns:p="http://schemas.openxmlformats.org/presentationml/2006/main">
  <p:cSld>
    <p:spTree>
      <p:nvGrpSpPr>
        <p:cNvPr id="2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83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Wait_pid (Nondeterministic)</a:t>
            </a:r>
            <a:endParaRPr/>
          </a:p>
        </p:txBody>
      </p:sp>
      <p:cxnSp>
        <p:nvCxnSpPr>
          <p:cNvPr id="284" name=""/>
          <p:cNvCxnSpPr/>
          <p:nvPr/>
        </p:nvCxnSpPr>
        <p:spPr>
          <a:xfrm rot="0" flipH="false" flipV="false">
            <a:off x="764370" y="3742802"/>
            <a:ext cx="7462860" cy="11410"/>
          </a:xfrm>
          <a:prstGeom prst="straightConnector1"/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285" name=""/>
          <p:cNvCxnSpPr/>
          <p:nvPr/>
        </p:nvCxnSpPr>
        <p:spPr>
          <a:xfrm rot="0" flipH="false" flipV="true">
            <a:off x="1486040" y="2476183"/>
            <a:ext cx="2282196" cy="1255207"/>
          </a:xfrm>
          <a:prstGeom prst="bentConnector3">
            <a:avLst>
              <a:gd name="adj1" fmla="val -501"/>
            </a:avLst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286" name=""/>
          <p:cNvCxnSpPr/>
          <p:nvPr/>
        </p:nvCxnSpPr>
        <p:spPr>
          <a:xfrm rot="0" flipH="false" flipV="false">
            <a:off x="3197688" y="3742802"/>
            <a:ext cx="1894222" cy="1118276"/>
          </a:xfrm>
          <a:prstGeom prst="bentConnector3">
            <a:avLst>
              <a:gd name="adj1" fmla="val 602"/>
            </a:avLst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sp>
        <p:nvSpPr>
          <p:cNvPr id="287" name=""/>
          <p:cNvSpPr txBox="true"/>
          <p:nvPr/>
        </p:nvSpPr>
        <p:spPr>
          <a:xfrm rot="0" flipH="false" flipV="false">
            <a:off x="920890" y="3337690"/>
            <a:ext cx="5651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i=0</a:t>
            </a:r>
            <a:endParaRPr/>
          </a:p>
        </p:txBody>
      </p:sp>
      <p:sp>
        <p:nvSpPr>
          <p:cNvPr id="288" name=""/>
          <p:cNvSpPr txBox="true"/>
          <p:nvPr/>
        </p:nvSpPr>
        <p:spPr>
          <a:xfrm rot="0" flipH="false" flipV="false">
            <a:off x="2662967" y="3360512"/>
            <a:ext cx="5651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i=1</a:t>
            </a:r>
            <a:endParaRPr/>
          </a:p>
        </p:txBody>
      </p:sp>
      <p:sp>
        <p:nvSpPr>
          <p:cNvPr id="289" name=""/>
          <p:cNvSpPr txBox="true"/>
          <p:nvPr/>
        </p:nvSpPr>
        <p:spPr>
          <a:xfrm rot="0" flipH="false" flipV="false">
            <a:off x="3768236" y="2279333"/>
            <a:ext cx="13144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exit(100)</a:t>
            </a:r>
            <a:endParaRPr/>
          </a:p>
        </p:txBody>
      </p:sp>
      <p:sp>
        <p:nvSpPr>
          <p:cNvPr id="290" name=""/>
          <p:cNvSpPr txBox="true"/>
          <p:nvPr/>
        </p:nvSpPr>
        <p:spPr>
          <a:xfrm rot="0" flipH="false" flipV="false">
            <a:off x="5091910" y="4664228"/>
            <a:ext cx="13144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exit(101)</a:t>
            </a:r>
            <a:endParaRPr/>
          </a:p>
        </p:txBody>
      </p:sp>
      <p:sp>
        <p:nvSpPr>
          <p:cNvPr id="291" name=""/>
          <p:cNvSpPr txBox="true"/>
          <p:nvPr/>
        </p:nvSpPr>
        <p:spPr>
          <a:xfrm rot="0" flipH="false" flipV="false">
            <a:off x="2344563" y="2097899"/>
            <a:ext cx="5651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i=0</a:t>
            </a:r>
            <a:endParaRPr/>
          </a:p>
        </p:txBody>
      </p:sp>
      <p:sp>
        <p:nvSpPr>
          <p:cNvPr id="292" name=""/>
          <p:cNvSpPr txBox="true"/>
          <p:nvPr/>
        </p:nvSpPr>
        <p:spPr>
          <a:xfrm rot="0" flipH="false" flipV="false">
            <a:off x="3953512" y="4467378"/>
            <a:ext cx="56515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i=1</a:t>
            </a:r>
            <a:endParaRPr/>
          </a:p>
        </p:txBody>
      </p:sp>
      <p:sp>
        <p:nvSpPr>
          <p:cNvPr id="293" name=""/>
          <p:cNvSpPr txBox="true"/>
          <p:nvPr/>
        </p:nvSpPr>
        <p:spPr>
          <a:xfrm rot="0" flipH="false" flipV="false">
            <a:off x="6777957" y="3252130"/>
            <a:ext cx="1231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waitpid()</a:t>
            </a:r>
            <a:endParaRPr/>
          </a:p>
        </p:txBody>
      </p:sp>
    </p:spTree>
  </p:cSld>
  <p:clrMapOvr>
    <a:masterClrMapping/>
  </p:clrMapOvr>
  <p:transition/>
</p:sld>
</file>

<file path=ppt/slides/slide51.xml><?xml version="1.0" encoding="utf-8"?>
<p:sld xmlns:a="http://schemas.openxmlformats.org/drawingml/2006/main" xmlns:p="http://schemas.openxmlformats.org/presentationml/2006/main">
  <p:cSld>
    <p:spTree>
      <p:nvGrpSpPr>
        <p:cNvPr id="29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296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Wait_pid (Nondeterministic)</a:t>
            </a:r>
            <a:endParaRPr/>
          </a:p>
        </p:txBody>
      </p:sp>
      <p:sp>
        <p:nvSpPr>
          <p:cNvPr id="297" name="Rectangle 3"/>
          <p:cNvSpPr>
            <a:spLocks noGrp="true" noChangeShapeType="true"/>
          </p:cNvSpPr>
          <p:nvPr>
            <p:ph type="body"/>
          </p:nvPr>
        </p:nvSpPr>
        <p:spPr>
          <a:xfrm rot="0" flipH="false" flipV="false">
            <a:off x="297446" y="1600200"/>
            <a:ext cx="8541753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40000"/>
              </a:lnSpc>
              <a:spcBef>
                <a:spcPct val="20000"/>
              </a:spcBef>
              <a:buNone/>
            </a:pPr>
            <a:r>
              <a:rPr lang="en-US" sz="2000" b="true">
                <a:latin typeface="Courier New"/>
                <a:ea typeface="宋体"/>
              </a:rPr>
              <a:t>unix&gt;./waitpid1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None/>
            </a:pPr>
            <a:r>
              <a:rPr lang="en-US" sz="2000" b="true">
                <a:latin typeface="Courier New"/>
                <a:ea typeface="宋体"/>
              </a:rPr>
              <a:t>child 22966 terminated normally with exit status=100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None/>
            </a:pPr>
            <a:r>
              <a:rPr lang="en-US" sz="2000" b="true">
                <a:latin typeface="Courier New"/>
                <a:ea typeface="宋体"/>
              </a:rPr>
              <a:t>child 22967 terminated normally with exit status=101</a:t>
            </a: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None/>
            </a:pPr>
            <a:endParaRPr/>
          </a:p>
          <a:p>
            <a:pPr marL="342900" lvl="0" indent="-342900">
              <a:lnSpc>
                <a:spcPct val="140000"/>
              </a:lnSpc>
              <a:spcBef>
                <a:spcPct val="20000"/>
              </a:spcBef>
              <a:buChar char="•"/>
            </a:pPr>
            <a:r>
              <a:rPr lang="en-US" b="false">
                <a:latin typeface="Comic Sans MS"/>
                <a:ea typeface="宋体"/>
              </a:rPr>
              <a:t>There is no reaping order, every order is correct</a:t>
            </a:r>
            <a:endParaRPr/>
          </a:p>
          <a:p>
            <a:pPr marL="742950" lvl="1" indent="-285750">
              <a:lnSpc>
                <a:spcPct val="140000"/>
              </a:lnSpc>
              <a:spcBef>
                <a:spcPct val="20000"/>
              </a:spcBef>
              <a:buChar char="–"/>
            </a:pPr>
            <a:r>
              <a:rPr lang="en-US" b="false">
                <a:latin typeface="Comic Sans MS"/>
                <a:ea typeface="宋体"/>
              </a:rPr>
              <a:t>Nondeterministic behavior for concurrency</a:t>
            </a:r>
            <a:endParaRPr/>
          </a:p>
        </p:txBody>
      </p:sp>
    </p:spTree>
  </p:cSld>
  <p:clrMapOvr>
    <a:masterClrMapping/>
  </p:clrMapOvr>
  <p:transition/>
</p:sld>
</file>

<file path=ppt/slides/slide52.xml><?xml version="1.0" encoding="utf-8"?>
<p:sld xmlns:a="http://schemas.openxmlformats.org/drawingml/2006/main" xmlns:p="http://schemas.openxmlformats.org/presentationml/2006/main">
  <p:cSld>
    <p:spTree>
      <p:nvGrpSpPr>
        <p:cNvPr id="29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00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Wait_pid (Deterministic)</a:t>
            </a:r>
            <a:endParaRPr/>
          </a:p>
        </p:txBody>
      </p:sp>
      <p:sp>
        <p:nvSpPr>
          <p:cNvPr id="301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381000" y="1447800"/>
            <a:ext cx="8077200" cy="47244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 #include "csapp.h"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2 #define N 2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3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4 int main()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5 {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6   int status, i;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7   </a:t>
            </a:r>
            <a:r>
              <a:rPr lang="en-US" sz="1800" b="true">
                <a:solidFill>
                  <a:srgbClr val="FF0000">
                    <a:alpha val="100000"/>
                  </a:srgbClr>
                </a:solidFill>
                <a:latin typeface="Courier New"/>
                <a:ea typeface="宋体"/>
              </a:rPr>
              <a:t>pid_t pid[N]</a:t>
            </a:r>
            <a:r>
              <a:rPr lang="en-US" sz="1800" b="true">
                <a:latin typeface="Courier New"/>
                <a:ea typeface="宋体"/>
              </a:rPr>
              <a:t>, retpid;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8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9   </a:t>
            </a:r>
            <a:r>
              <a:rPr lang="en-US" sz="18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</a:rPr>
              <a:t>/* Parent creates N children */</a:t>
            </a:r>
            <a:endParaRPr lang="en-US" sz="1800"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10  for (i = 0; i &lt; N; i++)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11    if ((pid[i] = fork()) == 0) </a:t>
            </a:r>
            <a:r>
              <a:rPr lang="en-US" sz="18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</a:rPr>
              <a:t>/* Child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12      exit(100+i);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13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14  </a:t>
            </a:r>
            <a:r>
              <a:rPr lang="en-US" sz="1800" b="true">
                <a:solidFill>
                  <a:srgbClr val="00B050">
                    <a:alpha val="100000"/>
                  </a:srgbClr>
                </a:solidFill>
                <a:latin typeface="Courier New"/>
                <a:ea typeface="宋体"/>
              </a:rPr>
              <a:t>/* Parent reaps N children in order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>
                <a:latin typeface="Courier New"/>
                <a:ea typeface="宋体"/>
              </a:rPr>
              <a:t>15  i = 0;</a:t>
            </a:r>
            <a:endParaRPr/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p="http://schemas.openxmlformats.org/presentationml/2006/main">
  <p:cSld>
    <p:spTree>
      <p:nvGrpSpPr>
        <p:cNvPr id="3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04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latin typeface="Comic Sans MS"/>
                <a:ea typeface="宋体"/>
              </a:rPr>
              <a:t>Wait_pid (Deterministic)</a:t>
            </a:r>
            <a:endParaRPr/>
          </a:p>
        </p:txBody>
      </p:sp>
      <p:sp>
        <p:nvSpPr>
          <p:cNvPr id="305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304800" y="1600200"/>
            <a:ext cx="8686800" cy="47244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15  while ((retpid = waitpid(</a:t>
            </a:r>
            <a:r>
              <a:rPr lang="en-US" sz="18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pid[i++]</a:t>
            </a:r>
            <a:r>
              <a:rPr lang="en-US" sz="1800" b="true" i="false" u="none">
                <a:latin typeface="Courier New" pitchFamily="49"/>
                <a:ea typeface="宋体" pitchFamily="2" charset="-122"/>
              </a:rPr>
              <a:t>, &amp;status, 0)) &gt; 0) {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16    if (WIFEXITED(status))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18      printf("child %d terminated normally with exit 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19            status=%d\n", retpid, WEXITSTATUS(status));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20    else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21      printf("child %d terminated abnormally\n", retpid);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22  }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23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24  </a:t>
            </a:r>
            <a:r>
              <a:rPr lang="en-US" sz="18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The only normal term. is if there are no more chds. */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25  if (errno != ECHILD)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26    unix_error("waitpid error");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27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28  exit(0);</a:t>
            </a:r>
            <a:endParaRPr/>
          </a:p>
          <a:p>
            <a:pPr marL="381000" lvl="0" indent="-3810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29}</a:t>
            </a:r>
            <a:endParaRPr/>
          </a:p>
        </p:txBody>
      </p:sp>
    </p:spTree>
  </p:cSld>
  <p:clrMapOvr>
    <a:masterClrMapping/>
  </p:clrMapOvr>
  <p:transition/>
</p:sld>
</file>

<file path=ppt/slides/slide54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30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>
                <a:ea typeface="宋体" pitchFamily="2" charset="-122"/>
              </a:rPr>
              <a:t>wait</a:t>
            </a:r>
            <a:endParaRPr/>
          </a:p>
        </p:txBody>
      </p:sp>
      <p:sp>
        <p:nvSpPr>
          <p:cNvPr id="308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4114800"/>
            <a:ext cx="8305800" cy="19050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wait(&amp;status)是waitpid的简化版，相当于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>
                <a:ea typeface="宋体" pitchFamily="2" charset="-122"/>
              </a:rPr>
              <a:t>waitpid(-1, &amp;status, 0);</a:t>
            </a:r>
            <a:endParaRPr/>
          </a:p>
        </p:txBody>
      </p:sp>
      <p:sp>
        <p:nvSpPr>
          <p:cNvPr id="309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graphicFrame>
        <p:nvGraphicFramePr>
          <p:cNvPr id="310" name="Group 3"/>
          <p:cNvGraphicFramePr/>
          <p:nvPr/>
        </p:nvGraphicFramePr>
        <p:xfrm>
          <a:off x="533400" y="1600200"/>
          <a:ext cx="8229600" cy="2362200"/>
        </p:xfrm>
        <a:graphic>
          <a:graphicData uri="http://schemas.openxmlformats.org/drawingml/2006/table">
            <a:tbl>
              <a:tblPr/>
              <a:tblGrid>
                <a:gridCol w="82296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2362200">
                <a:tc>
                  <a:txBody>
                    <a:bodyPr/>
                    <a:lstStyle/>
                    <a:p>
                      <a:pPr marL="0" lvl="0" indent="0" algn="l" defTabSz="914400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#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include &lt;sys/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types.h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&gt;</a:t>
                      </a:r>
                      <a:endParaRPr/>
                    </a:p>
                    <a:p>
                      <a:pPr marL="0" lvl="0" indent="0" algn="l" defTabSz="914400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#include &lt;sys/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wait.h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&gt;</a:t>
                      </a:r>
                      <a:endParaRPr/>
                    </a:p>
                    <a:p>
                      <a:pPr marL="0" lvl="0" indent="0" algn="l" defTabSz="914400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endParaRPr lang="en-US" sz="2000" b="true">
                        <a:solidFill>
                          <a:schemeClr val="tx1">
                            <a:alpha val="100000"/>
                          </a:schemeClr>
                        </a:solidFill>
                        <a:effectLst/>
                        <a:latin typeface="Courier New"/>
                        <a:ea typeface="宋体"/>
                        <a:cs typeface="Courier New"/>
                      </a:endParaRPr>
                    </a:p>
                    <a:p>
                      <a:pPr marL="0" lvl="0" indent="0" algn="l" defTabSz="914400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pid_t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wait(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*status);</a:t>
                      </a:r>
                      <a:endParaRPr lang="en-US" sz="2000" b="true" i="false" u="none" strike="noStrike" baseline="0">
                        <a:ln>
                          <a:noFill/>
                        </a:ln>
                        <a:solidFill>
                          <a:schemeClr val="tx1">
                            <a:alpha val="100000"/>
                          </a:schemeClr>
                        </a:solidFill>
                        <a:latin typeface="Comic Sans MS"/>
                        <a:ea typeface="宋体"/>
                      </a:endParaRPr>
                    </a:p>
                    <a:p>
                      <a:pPr marL="0" lvl="0" indent="0" algn="r" defTabSz="914400">
                        <a:lnSpc>
                          <a:spcPct val="13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800" b="false">
                          <a:solidFill>
                            <a:srgbClr val="FF0000">
                              <a:alpha val="100000"/>
                            </a:srgbClr>
                          </a:solidFill>
                          <a:effectLst/>
                          <a:latin typeface="Comic Sans MS"/>
                          <a:ea typeface="宋体"/>
                        </a:rPr>
                        <a:t>Returns: PID of child if OK, 0 (if WNOHANG) or -1 on error</a:t>
                      </a:r>
                      <a:endParaRPr lang="zh-CN" sz="1800" b="false" i="false" u="none" strike="noStrike" baseline="0">
                        <a:ln>
                          <a:noFill/>
                        </a:ln>
                        <a:solidFill>
                          <a:srgbClr val="FF0000">
                            <a:alpha val="100000"/>
                          </a:srgbClr>
                        </a:solidFill>
                        <a:latin typeface="Comic Sans MS"/>
                        <a:ea typeface="宋体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55.xml><?xml version="1.0" encoding="utf-8"?>
<p:sld xmlns:a="http://schemas.openxmlformats.org/drawingml/2006/main" xmlns:p="http://schemas.openxmlformats.org/presentationml/2006/main">
  <p:cSld>
    <p:spTree>
      <p:nvGrpSpPr>
        <p:cNvPr id="3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313" name="内容占位符 2"/>
          <p:cNvSpPr>
            <a:spLocks noGrp="true" noChangeShapeType="true"/>
          </p:cNvSpPr>
          <p:nvPr>
            <p:ph type="obj"/>
          </p:nvPr>
        </p:nvSpPr>
        <p:spPr>
          <a:xfrm rot="0" flipH="false" flipV="false">
            <a:off x="533400" y="1447800"/>
            <a:ext cx="8610600" cy="4276669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SzPct val="100000"/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Consider the following program: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int main() {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int status;
</a:t>
            </a: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pid_t pid;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printf("Hello\n");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pid = fork();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printf("%d\n", !pid);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if(pid!=0){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	if (waitpid(-1, &amp;status, 0) &gt; 0) {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		if (WIFEXITED(status) != 0)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			printf("%d\n", WEXITSTATUS(status)); } }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printf("Bye\n");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	exit(2);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381000" lvl="0" indent="-381000" algn="l" defTabSz="914400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  <a:defRPr lang="en-US" sz="28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r>
              <a:rPr lang="en-US" sz="1800" b="true">
                <a:solidFill>
                  <a:schemeClr val="dk1">
                    <a:alpha val="100000"/>
                  </a:schemeClr>
                </a:solidFill>
                <a:latin typeface="Courier New"/>
                <a:ea typeface="宋体"/>
              </a:rPr>
              <a:t>} </a:t>
            </a:r>
            <a:endParaRPr lang="en-US" sz="2800" b="false" i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  <a:p>
            <a:pPr marL="742950" lvl="1" indent="-28575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SzPct val="100000"/>
              <a:buChar char="–"/>
              <a:defRPr lang="en-US" sz="2400" b="false" i="false">
                <a:solidFill>
                  <a:schemeClr val="dk1">
                    <a:alpha val="100000"/>
                  </a:schemeClr>
                </a:solidFill>
                <a:latin typeface="Comic Sans MS"/>
              </a:defRPr>
            </a:pPr>
            <a:endParaRPr lang="en-US" sz="2400" b="false">
              <a:solidFill>
                <a:schemeClr val="dk1">
                  <a:alpha val="100000"/>
                </a:schemeClr>
              </a:solidFill>
              <a:latin typeface="Comic Sans MS"/>
            </a:endParaRPr>
          </a:p>
        </p:txBody>
      </p:sp>
      <p:sp>
        <p:nvSpPr>
          <p:cNvPr id="314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15" name="矩形 4"/>
          <p:cNvSpPr>
            <a:spLocks noGrp="true" noChangeShapeType="true"/>
          </p:cNvSpPr>
          <p:nvPr/>
        </p:nvSpPr>
        <p:spPr>
          <a:xfrm rot="0" flipH="false" flipV="false">
            <a:off x="829469" y="5626100"/>
            <a:ext cx="7334250" cy="69850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>
                <a:latin typeface="Comic Sans MS"/>
                <a:ea typeface="宋体"/>
              </a:rPr>
              <a:t>A. How many output lines does this program generate? 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>
                <a:latin typeface="Comic Sans MS"/>
                <a:ea typeface="宋体"/>
              </a:rPr>
              <a:t>B. What is one possible ordering of these output lines?</a:t>
            </a:r>
            <a:r>
              <a:rPr lang="en-US" sz="2000" b="true">
                <a:latin typeface="Comic Sans MS"/>
                <a:ea typeface="宋体"/>
              </a:rPr>
              <a:t> </a:t>
            </a:r>
            <a:endParaRPr/>
          </a:p>
        </p:txBody>
      </p:sp>
    </p:spTree>
  </p:cSld>
  <p:clrMapOvr>
    <a:masterClrMapping/>
  </p:clrMapOvr>
  <p:transition/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>
                <a:ea typeface="宋体" pitchFamily="2" charset="-122"/>
              </a:rPr>
              <a:t>练习答案</a:t>
            </a:r>
            <a:endParaRPr/>
          </a:p>
        </p:txBody>
      </p:sp>
      <p:pic>
        <p:nvPicPr>
          <p:cNvPr id="318" name="内容占位符 3"/>
          <p:cNvPicPr>
            <a:picLocks noGrp="true" noChangeAspect="true"/>
          </p:cNvPicPr>
          <p:nvPr>
            <p:ph type="obj"/>
          </p:nvPr>
        </p:nvPicPr>
        <p:blipFill>
          <a:blip r:embed="rId1"/>
          <a:srcRect l="0" t="0" r="0" b="0"/>
          <a:stretch>
            <a:fillRect/>
          </a:stretch>
        </p:blipFill>
        <p:spPr>
          <a:xfrm>
            <a:off x="341312" y="1676400"/>
            <a:ext cx="8308975" cy="3276600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slides/slide57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3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21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Putting Process to Sleep</a:t>
            </a:r>
            <a:endParaRPr/>
          </a:p>
        </p:txBody>
      </p:sp>
      <p:sp>
        <p:nvSpPr>
          <p:cNvPr id="322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3581400"/>
            <a:ext cx="7924800" cy="2514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sleep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挂起一个进程一段时间；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如果请求的时间量已经到了，则返回</a:t>
            </a:r>
            <a:r>
              <a:rPr lang="zh-CN" b="false">
                <a:latin typeface="Comic Sans MS"/>
                <a:ea typeface="宋体"/>
              </a:rPr>
              <a:t>0</a:t>
            </a:r>
            <a:r>
              <a:rPr lang="zh-CN" b="false">
                <a:latin typeface="Comic Sans MS"/>
                <a:ea typeface="宋体"/>
              </a:rPr>
              <a:t>；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否则返回剩下还要休眠的秒数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 sz="1600" b="false">
                <a:latin typeface="Comic Sans MS"/>
                <a:ea typeface="宋体"/>
              </a:rPr>
              <a:t>如果</a:t>
            </a:r>
            <a:r>
              <a:rPr lang="en-US" sz="1600" b="false">
                <a:latin typeface="Comic Sans MS"/>
                <a:ea typeface="宋体"/>
              </a:rPr>
              <a:t>sleep</a:t>
            </a:r>
            <a:r>
              <a:rPr lang="en-US" sz="1600" b="false">
                <a:latin typeface="Comic Sans MS"/>
                <a:ea typeface="宋体"/>
              </a:rPr>
              <a:t>函数被一个信号中断而过早返回时，会没有休眠足够的</a:t>
            </a:r>
            <a:r>
              <a:rPr lang="zh-CN" sz="1600" b="false">
                <a:latin typeface="Comic Sans MS"/>
                <a:ea typeface="宋体"/>
              </a:rPr>
              <a:t>时间</a:t>
            </a:r>
            <a:r>
              <a:rPr lang="en-US" sz="1600" b="false">
                <a:latin typeface="Comic Sans MS"/>
                <a:ea typeface="宋体"/>
              </a:rPr>
              <a:t>而提前返回。</a:t>
            </a:r>
            <a:endParaRPr/>
          </a:p>
        </p:txBody>
      </p:sp>
      <p:graphicFrame>
        <p:nvGraphicFramePr>
          <p:cNvPr id="323" name="Group 4"/>
          <p:cNvGraphicFramePr/>
          <p:nvPr>
            <p:ph sz="half" idx="4294967295"/>
          </p:nvPr>
        </p:nvGraphicFramePr>
        <p:xfrm>
          <a:off x="457200" y="1600200"/>
          <a:ext cx="7924800" cy="1785982"/>
        </p:xfrm>
        <a:graphic>
          <a:graphicData uri="http://schemas.openxmlformats.org/drawingml/2006/table">
            <a:tbl>
              <a:tblPr/>
              <a:tblGrid>
                <a:gridCol w="79248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1785938">
                <a:tc>
                  <a:txBody>
                    <a:bodyPr/>
                    <a:lstStyle/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zh-CN" altLang="en-US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#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include &lt;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unistd.h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unsigned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 sleep(unsigned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secs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Returns: seconds left to sleep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 pause(void);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Always returns -1</a:t>
                      </a:r>
                      <a:endParaRPr kumimoji="false" lang="zh-CN" altLang="en-US" sz="1800" b="false" i="false" u="none" strike="noStrike" cap="none" normalizeH="false" baseline="0" dirty="false">
                        <a:ln>
                          <a:noFill/>
                        </a:ln>
                        <a:solidFill>
                          <a:srgbClr val="FF0000"/>
                        </a:solidFill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T="45647" marB="4564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58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3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26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Putting Process to Sleep</a:t>
            </a:r>
            <a:endParaRPr/>
          </a:p>
        </p:txBody>
      </p:sp>
      <p:sp>
        <p:nvSpPr>
          <p:cNvPr id="327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3581400"/>
            <a:ext cx="7924800" cy="2514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latin typeface="Comic Sans MS"/>
                <a:ea typeface="宋体"/>
              </a:rPr>
              <a:t>pause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b="false">
                <a:latin typeface="Comic Sans MS"/>
                <a:ea typeface="宋体"/>
              </a:rPr>
              <a:t>让调用函数的进程休眠，直到该进程收到一个信号</a:t>
            </a:r>
            <a:endParaRPr/>
          </a:p>
        </p:txBody>
      </p:sp>
      <p:graphicFrame>
        <p:nvGraphicFramePr>
          <p:cNvPr id="328" name="Group 4"/>
          <p:cNvGraphicFramePr/>
          <p:nvPr>
            <p:ph sz="half" idx="4294967295"/>
          </p:nvPr>
        </p:nvGraphicFramePr>
        <p:xfrm>
          <a:off x="457200" y="1600200"/>
          <a:ext cx="7924800" cy="1785982"/>
        </p:xfrm>
        <a:graphic>
          <a:graphicData uri="http://schemas.openxmlformats.org/drawingml/2006/table">
            <a:tbl>
              <a:tblPr/>
              <a:tblGrid>
                <a:gridCol w="79248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1785938">
                <a:tc>
                  <a:txBody>
                    <a:bodyPr/>
                    <a:lstStyle/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zh-CN" altLang="en-US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#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include &lt;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unistd.h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&gt;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unsigned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 sleep(unsigned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 </a:t>
                      </a: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secs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Returns: seconds left to sleep</a:t>
                      </a:r>
                      <a:endParaRPr/>
                    </a:p>
                    <a:p>
                      <a:pPr marL="0" marR="0" lvl="0" indent="0" algn="l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2000" b="true" i="false" u="none" strike="noStrike" cap="none" normalizeH="false" baseline="0" dirty="false" err="tru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int</a:t>
                      </a:r>
                      <a:r>
                        <a:rPr kumimoji="false" lang="en-US" altLang="zh-CN" sz="2000" b="true" i="false" u="none" strike="noStrike" cap="none" normalizeH="false" baseline="0" dirty="false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" pitchFamily="49" charset="0"/>
                          <a:ea typeface="宋体" pitchFamily="2" charset="-122"/>
                          <a:cs typeface="Courier New" pitchFamily="49" charset="0"/>
                        </a:rPr>
                        <a:t> pause(void);</a:t>
                      </a:r>
                      <a:endParaRPr/>
                    </a:p>
                    <a:p>
                      <a:pPr marL="0" marR="0" lvl="0" indent="0" algn="r" defTabSz="914400" rtl="false" eaLnBrk="false" fontAlgn="base" latinLnBrk="false" hangingPunct="false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false" lang="en-US" altLang="zh-CN" sz="1800" b="false" i="false" u="none" strike="noStrike" cap="none" normalizeH="false" baseline="0" dirty="false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Comic Sans MS" pitchFamily="66" charset="0"/>
                          <a:ea typeface="宋体" pitchFamily="2" charset="-122"/>
                        </a:rPr>
                        <a:t>Always returns -1</a:t>
                      </a:r>
                      <a:endParaRPr kumimoji="false" lang="zh-CN" altLang="en-US" sz="1800" b="false" i="false" u="none" strike="noStrike" cap="none" normalizeH="false" baseline="0" dirty="false">
                        <a:ln>
                          <a:noFill/>
                        </a:ln>
                        <a:solidFill>
                          <a:srgbClr val="FF0000"/>
                        </a:solidFill>
                        <a:latin typeface="Comic Sans MS" pitchFamily="66" charset="0"/>
                        <a:ea typeface="宋体" pitchFamily="2" charset="-122"/>
                      </a:endParaRPr>
                    </a:p>
                  </a:txBody>
                  <a:tcPr marT="45647" marB="4564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59.xml><?xml version="1.0" encoding="utf-8"?>
<p:sld xmlns:a="http://schemas.openxmlformats.org/drawingml/2006/main" xmlns:p="http://schemas.openxmlformats.org/presentationml/2006/main">
  <p:cSld>
    <p:spTree>
      <p:nvGrpSpPr>
        <p:cNvPr id="3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331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ea typeface="宋体" pitchFamily="2" charset="-122"/>
              </a:rPr>
              <a:t>Write a wrapper function for sleep, called snooze, with the following interface: 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>
                <a:ea typeface="宋体" pitchFamily="2" charset="-122"/>
              </a:rPr>
              <a:t>	</a:t>
            </a:r>
            <a:r>
              <a:rPr lang="en-US">
                <a:solidFill>
                  <a:srgbClr val="FF0000"/>
                </a:solidFill>
                <a:ea typeface="宋体" pitchFamily="2" charset="-122"/>
              </a:rPr>
              <a:t>unsigned int snooze(unsigned int secs); 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The snooze function behaves exactly as the sleep function, except that it prints a message describing how long the process actually slept: 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b="false" i="true" u="none">
                <a:ea typeface="宋体" pitchFamily="2" charset="-122"/>
              </a:rPr>
              <a:t>Slept for 4 of 5 secs.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b="false" i="true" u="none">
                <a:ea typeface="宋体" pitchFamily="2" charset="-122"/>
              </a:rPr>
              <a:t>（考虑到sleep可能收到信号提前返回） </a:t>
            </a:r>
            <a:endParaRPr lang="en-US"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33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60.xml><?xml version="1.0" encoding="utf-8"?>
<p:sld xmlns:a="http://schemas.openxmlformats.org/drawingml/2006/main" xmlns:p="http://schemas.openxmlformats.org/presentationml/2006/main">
  <p:cSld>
    <p:spTree>
      <p:nvGrpSpPr>
        <p:cNvPr id="3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练习答案</a:t>
            </a:r>
            <a:endParaRPr/>
          </a:p>
        </p:txBody>
      </p:sp>
      <p:sp>
        <p:nvSpPr>
          <p:cNvPr id="343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ct val="20000"/>
              </a:spcBef>
              <a:buNone/>
            </a:pPr>
            <a:r>
              <a:rPr lang="en-US">
                <a:ea typeface="宋体" pitchFamily="2" charset="-122"/>
              </a:rPr>
              <a:t>unsigned int snooze(unsigned int secs) { </a:t>
            </a:r>
            <a:endParaRPr/>
          </a:p>
          <a:p>
            <a:pPr marL="0" lvl="0" indent="0">
              <a:spcBef>
                <a:spcPct val="20000"/>
              </a:spcBef>
              <a:buNone/>
            </a:pPr>
            <a:r>
              <a:rPr lang="en-US">
                <a:ea typeface="宋体" pitchFamily="2" charset="-122"/>
              </a:rPr>
              <a:t>	unsigned int rc = sleep(secs);</a:t>
            </a:r>
            <a:br>
              <a:rPr lang="en-US">
                <a:ea typeface="宋体" pitchFamily="2" charset="-122"/>
              </a:rPr>
            </a:br>
            <a:r>
              <a:rPr lang="en-US">
                <a:ea typeface="宋体" pitchFamily="2" charset="-122"/>
              </a:rPr>
              <a:t>	printf("Slept for %u of %u secs.\n", secs - rc, secs); </a:t>
            </a:r>
            <a:endParaRPr/>
          </a:p>
          <a:p>
            <a:pPr marL="0" lvl="0" indent="0">
              <a:spcBef>
                <a:spcPct val="20000"/>
              </a:spcBef>
              <a:buNone/>
            </a:pPr>
            <a:r>
              <a:rPr lang="en-US">
                <a:ea typeface="宋体" pitchFamily="2" charset="-122"/>
              </a:rPr>
              <a:t>	return rc; </a:t>
            </a:r>
            <a:endParaRPr/>
          </a:p>
          <a:p>
            <a:pPr marL="0" lvl="0" indent="0">
              <a:spcBef>
                <a:spcPct val="20000"/>
              </a:spcBef>
              <a:buNone/>
            </a:pPr>
            <a:r>
              <a:rPr lang="en-US">
                <a:ea typeface="宋体" pitchFamily="2" charset="-122"/>
              </a:rPr>
              <a:t>} </a:t>
            </a:r>
            <a:endParaRPr/>
          </a:p>
          <a:p>
            <a:pPr marL="0" lvl="0" indent="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344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61.xml><?xml version="1.0" encoding="utf-8"?>
<p:sld xmlns:a="http://schemas.openxmlformats.org/drawingml/2006/main" xmlns:p="http://schemas.openxmlformats.org/presentationml/2006/main">
  <p:cSld>
    <p:spTree>
      <p:nvGrpSpPr>
        <p:cNvPr id="3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课堂练习</a:t>
            </a:r>
            <a:endParaRPr/>
          </a:p>
        </p:txBody>
      </p:sp>
      <p:sp>
        <p:nvSpPr>
          <p:cNvPr id="347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一个进程初始化一个长度为</a:t>
            </a:r>
            <a:r>
              <a:rPr lang="en-US" b="false">
                <a:latin typeface="Comic Sans MS"/>
                <a:ea typeface="宋体"/>
              </a:rPr>
              <a:t>n</a:t>
            </a:r>
            <a:r>
              <a:rPr lang="en-US" b="false">
                <a:latin typeface="Comic Sans MS"/>
                <a:ea typeface="宋体"/>
              </a:rPr>
              <a:t>的整形数组</a:t>
            </a:r>
            <a:r>
              <a:rPr lang="en-US" b="false">
                <a:latin typeface="Comic Sans MS"/>
                <a:ea typeface="宋体"/>
              </a:rPr>
              <a:t>arr</a:t>
            </a:r>
            <a:r>
              <a:rPr lang="en-US" b="false">
                <a:latin typeface="Comic Sans MS"/>
                <a:ea typeface="宋体"/>
              </a:rPr>
              <a:t>，然后创建一个子进程，父进程和子进程再各自创建一个进程（共</a:t>
            </a:r>
            <a:r>
              <a:rPr lang="en-US" b="false">
                <a:latin typeface="Comic Sans MS"/>
                <a:ea typeface="宋体"/>
              </a:rPr>
              <a:t>4</a:t>
            </a:r>
            <a:r>
              <a:rPr lang="en-US" b="false">
                <a:latin typeface="Comic Sans MS"/>
                <a:ea typeface="宋体"/>
              </a:rPr>
              <a:t>个进程），每个进程打印这个整形数组的</a:t>
            </a:r>
            <a:r>
              <a:rPr lang="en-US" b="false">
                <a:latin typeface="Comic Sans MS"/>
                <a:ea typeface="宋体"/>
              </a:rPr>
              <a:t>1/4</a:t>
            </a:r>
            <a:r>
              <a:rPr lang="en-US" b="false">
                <a:latin typeface="Comic Sans MS"/>
                <a:ea typeface="宋体"/>
              </a:rPr>
              <a:t>（不重复，且将整个数组打印完成，不需要考虑打印</a:t>
            </a:r>
            <a:r>
              <a:rPr lang="zh-CN" b="false">
                <a:latin typeface="Comic Sans MS"/>
                <a:ea typeface="宋体"/>
              </a:rPr>
              <a:t>顺序</a:t>
            </a:r>
            <a:r>
              <a:rPr lang="en-US" b="false">
                <a:latin typeface="Comic Sans MS"/>
                <a:ea typeface="宋体"/>
              </a:rPr>
              <a:t>；假设</a:t>
            </a:r>
            <a:r>
              <a:rPr lang="en-US" b="false">
                <a:latin typeface="Comic Sans MS"/>
                <a:ea typeface="宋体"/>
              </a:rPr>
              <a:t>n</a:t>
            </a:r>
            <a:r>
              <a:rPr lang="en-US" b="false">
                <a:latin typeface="Comic Sans MS"/>
                <a:ea typeface="宋体"/>
              </a:rPr>
              <a:t>能够被</a:t>
            </a:r>
            <a:r>
              <a:rPr lang="en-US" b="false">
                <a:latin typeface="Comic Sans MS"/>
                <a:ea typeface="宋体"/>
              </a:rPr>
              <a:t>4</a:t>
            </a:r>
            <a:r>
              <a:rPr lang="en-US" b="false">
                <a:latin typeface="Comic Sans MS"/>
                <a:ea typeface="宋体"/>
              </a:rPr>
              <a:t>整除）。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请写出代码</a:t>
            </a:r>
            <a:r>
              <a:rPr lang="en-US" b="false">
                <a:latin typeface="Comic Sans MS"/>
                <a:ea typeface="宋体"/>
              </a:rPr>
              <a:t>/</a:t>
            </a:r>
            <a:r>
              <a:rPr lang="en-US" b="false">
                <a:latin typeface="Comic Sans MS"/>
                <a:ea typeface="宋体"/>
              </a:rPr>
              <a:t>伪代码</a:t>
            </a:r>
            <a:endParaRPr/>
          </a:p>
        </p:txBody>
      </p:sp>
      <p:sp>
        <p:nvSpPr>
          <p:cNvPr id="348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 spd="slow"/>
</p:sld>
</file>

<file path=ppt/slides/slide62.xml><?xml version="1.0" encoding="utf-8"?>
<p:sld xmlns:a="http://schemas.openxmlformats.org/drawingml/2006/main" xmlns:p="http://schemas.openxmlformats.org/presentationml/2006/main">
  <p:cSld>
    <p:spTree>
      <p:nvGrpSpPr>
        <p:cNvPr id="3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51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>
                <a:latin typeface="Comic Sans MS"/>
                <a:ea typeface="宋体"/>
              </a:rPr>
              <a:t>练习答案</a:t>
            </a:r>
            <a:endParaRPr/>
          </a:p>
        </p:txBody>
      </p:sp>
      <p:cxnSp>
        <p:nvCxnSpPr>
          <p:cNvPr id="352" name=""/>
          <p:cNvCxnSpPr/>
          <p:nvPr/>
        </p:nvCxnSpPr>
        <p:spPr>
          <a:xfrm rot="0" flipH="false" flipV="true">
            <a:off x="319269" y="4632858"/>
            <a:ext cx="7999249" cy="0"/>
          </a:xfrm>
          <a:prstGeom prst="straightConnector1"/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353" name=""/>
          <p:cNvCxnSpPr/>
          <p:nvPr/>
        </p:nvCxnSpPr>
        <p:spPr>
          <a:xfrm rot="0" flipH="false" flipV="true">
            <a:off x="1577328" y="3434706"/>
            <a:ext cx="6664012" cy="1175328"/>
          </a:xfrm>
          <a:prstGeom prst="bentConnector3">
            <a:avLst>
              <a:gd name="adj1" fmla="val -1"/>
            </a:avLst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354" name=""/>
          <p:cNvCxnSpPr/>
          <p:nvPr/>
        </p:nvCxnSpPr>
        <p:spPr>
          <a:xfrm rot="0" flipH="false" flipV="false">
            <a:off x="3288976" y="4621448"/>
            <a:ext cx="4918132" cy="1209563"/>
          </a:xfrm>
          <a:prstGeom prst="bentConnector3">
            <a:avLst>
              <a:gd name="adj1" fmla="val -117"/>
            </a:avLst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sp>
        <p:nvSpPr>
          <p:cNvPr id="355" name=""/>
          <p:cNvSpPr txBox="true"/>
          <p:nvPr/>
        </p:nvSpPr>
        <p:spPr>
          <a:xfrm rot="0" flipH="false" flipV="false">
            <a:off x="319269" y="3911534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start=0</a:t>
            </a:r>
            <a:endParaRPr/>
          </a:p>
          <a:p>
            <a:pPr>
              <a:buNone/>
            </a:pPr>
            <a:r>
              <a:rPr lang="en-US"/>
              <a:t>len=8</a:t>
            </a:r>
            <a:endParaRPr/>
          </a:p>
        </p:txBody>
      </p:sp>
      <p:sp>
        <p:nvSpPr>
          <p:cNvPr id="356" name=""/>
          <p:cNvSpPr txBox="true"/>
          <p:nvPr/>
        </p:nvSpPr>
        <p:spPr>
          <a:xfrm rot="0" flipH="false" flipV="false">
            <a:off x="1738678" y="2713382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start=4</a:t>
            </a:r>
            <a:endParaRPr/>
          </a:p>
          <a:p>
            <a:pPr>
              <a:buNone/>
            </a:pPr>
            <a:r>
              <a:rPr lang="en-US"/>
              <a:t>len=4</a:t>
            </a:r>
            <a:endParaRPr/>
          </a:p>
        </p:txBody>
      </p:sp>
      <p:cxnSp>
        <p:nvCxnSpPr>
          <p:cNvPr id="357" name=""/>
          <p:cNvCxnSpPr/>
          <p:nvPr/>
        </p:nvCxnSpPr>
        <p:spPr>
          <a:xfrm rot="0" flipH="false" flipV="true">
            <a:off x="3288976" y="2131806"/>
            <a:ext cx="4940954" cy="1289439"/>
          </a:xfrm>
          <a:prstGeom prst="bentConnector3">
            <a:avLst>
              <a:gd name="adj1" fmla="val 115"/>
            </a:avLst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sp>
        <p:nvSpPr>
          <p:cNvPr id="358" name=""/>
          <p:cNvSpPr txBox="true"/>
          <p:nvPr/>
        </p:nvSpPr>
        <p:spPr>
          <a:xfrm rot="0" flipH="false" flipV="false">
            <a:off x="1829086" y="3911534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start=0</a:t>
            </a:r>
            <a:endParaRPr/>
          </a:p>
          <a:p>
            <a:pPr>
              <a:buNone/>
            </a:pPr>
            <a:r>
              <a:rPr lang="en-US"/>
              <a:t>len=4</a:t>
            </a:r>
            <a:endParaRPr/>
          </a:p>
        </p:txBody>
      </p:sp>
      <p:sp>
        <p:nvSpPr>
          <p:cNvPr id="359" name=""/>
          <p:cNvSpPr txBox="true"/>
          <p:nvPr/>
        </p:nvSpPr>
        <p:spPr>
          <a:xfrm rot="0" flipH="false" flipV="false">
            <a:off x="2426484" y="63500"/>
            <a:ext cx="5556250" cy="10033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/>
              <a:t>每次</a:t>
            </a:r>
            <a:r>
              <a:rPr lang="en-US"/>
              <a:t>fork</a:t>
            </a:r>
            <a:r>
              <a:rPr lang="zh-CN"/>
              <a:t>后</a:t>
            </a:r>
            <a:r>
              <a:rPr lang="zh-CN"/>
              <a:t>：</a:t>
            </a:r>
            <a:endParaRPr/>
          </a:p>
          <a:p>
            <a:pPr>
              <a:buNone/>
            </a:pPr>
            <a:r>
              <a:rPr lang="zh-CN"/>
              <a:t>子进程中</a:t>
            </a:r>
            <a:r>
              <a:rPr lang="en-US"/>
              <a:t>start+=len/2;</a:t>
            </a:r>
            <a:r>
              <a:rPr lang="en-US"/>
              <a:t>len/=2;</a:t>
            </a:r>
            <a:endParaRPr/>
          </a:p>
          <a:p>
            <a:pPr>
              <a:buNone/>
            </a:pPr>
            <a:r>
              <a:rPr lang="zh-CN"/>
              <a:t>父进程中</a:t>
            </a:r>
            <a:r>
              <a:rPr lang="en-US"/>
              <a:t>len/=2</a:t>
            </a:r>
            <a:endParaRPr/>
          </a:p>
        </p:txBody>
      </p:sp>
      <p:sp>
        <p:nvSpPr>
          <p:cNvPr id="360" name=""/>
          <p:cNvSpPr txBox="true"/>
          <p:nvPr/>
        </p:nvSpPr>
        <p:spPr>
          <a:xfrm rot="0" flipH="false" flipV="false">
            <a:off x="3550325" y="1419845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start=6</a:t>
            </a:r>
            <a:endParaRPr/>
          </a:p>
          <a:p>
            <a:pPr>
              <a:buNone/>
            </a:pPr>
            <a:r>
              <a:rPr lang="en-US"/>
              <a:t>len=2</a:t>
            </a:r>
            <a:endParaRPr/>
          </a:p>
        </p:txBody>
      </p:sp>
      <p:sp>
        <p:nvSpPr>
          <p:cNvPr id="361" name=""/>
          <p:cNvSpPr txBox="true"/>
          <p:nvPr/>
        </p:nvSpPr>
        <p:spPr>
          <a:xfrm rot="0" flipH="false" flipV="false">
            <a:off x="3550325" y="2713382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start=4</a:t>
            </a:r>
            <a:endParaRPr/>
          </a:p>
          <a:p>
            <a:pPr>
              <a:buNone/>
            </a:pPr>
            <a:r>
              <a:rPr lang="en-US"/>
              <a:t>len=2</a:t>
            </a:r>
            <a:endParaRPr/>
          </a:p>
        </p:txBody>
      </p:sp>
      <p:sp>
        <p:nvSpPr>
          <p:cNvPr id="362" name=""/>
          <p:cNvSpPr txBox="true"/>
          <p:nvPr/>
        </p:nvSpPr>
        <p:spPr>
          <a:xfrm rot="0" flipH="false" flipV="false">
            <a:off x="3550325" y="3911534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start=0</a:t>
            </a:r>
            <a:endParaRPr/>
          </a:p>
          <a:p>
            <a:pPr>
              <a:buNone/>
            </a:pPr>
            <a:r>
              <a:rPr lang="en-US"/>
              <a:t>len=2</a:t>
            </a:r>
            <a:endParaRPr/>
          </a:p>
        </p:txBody>
      </p:sp>
      <p:sp>
        <p:nvSpPr>
          <p:cNvPr id="363" name=""/>
          <p:cNvSpPr txBox="true"/>
          <p:nvPr/>
        </p:nvSpPr>
        <p:spPr>
          <a:xfrm rot="0" flipH="false" flipV="false">
            <a:off x="3550325" y="5132511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start=2</a:t>
            </a:r>
            <a:endParaRPr/>
          </a:p>
          <a:p>
            <a:pPr>
              <a:buNone/>
            </a:pPr>
            <a:r>
              <a:rPr lang="en-US"/>
              <a:t>len=2</a:t>
            </a:r>
            <a:endParaRPr/>
          </a:p>
        </p:txBody>
      </p:sp>
      <p:sp>
        <p:nvSpPr>
          <p:cNvPr id="364" name=""/>
          <p:cNvSpPr txBox="true"/>
          <p:nvPr/>
        </p:nvSpPr>
        <p:spPr>
          <a:xfrm rot="0" flipH="false" flipV="false">
            <a:off x="255769" y="2319682"/>
            <a:ext cx="6223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n=8</a:t>
            </a:r>
            <a:endParaRPr/>
          </a:p>
        </p:txBody>
      </p:sp>
      <p:sp>
        <p:nvSpPr>
          <p:cNvPr id="365" name=""/>
          <p:cNvSpPr txBox="true"/>
          <p:nvPr/>
        </p:nvSpPr>
        <p:spPr>
          <a:xfrm rot="0" flipH="false" flipV="false">
            <a:off x="1020461" y="6172200"/>
            <a:ext cx="29718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>
                <a:solidFill>
                  <a:srgbClr val="FF0000">
                    <a:alpha val="100000"/>
                  </a:srgbClr>
                </a:solidFill>
              </a:rPr>
              <a:t>如果要控制打印顺序呢？</a:t>
            </a:r>
            <a:endParaRPr/>
          </a:p>
        </p:txBody>
      </p:sp>
      <p:sp>
        <p:nvSpPr>
          <p:cNvPr id="366" name=""/>
          <p:cNvSpPr txBox="true"/>
          <p:nvPr/>
        </p:nvSpPr>
        <p:spPr>
          <a:xfrm rot="0" flipH="false" flipV="false">
            <a:off x="8381799" y="4413184"/>
            <a:ext cx="469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p0</a:t>
            </a:r>
            <a:endParaRPr/>
          </a:p>
        </p:txBody>
      </p:sp>
      <p:sp>
        <p:nvSpPr>
          <p:cNvPr id="367" name=""/>
          <p:cNvSpPr txBox="true"/>
          <p:nvPr/>
        </p:nvSpPr>
        <p:spPr>
          <a:xfrm rot="0" flipH="false" flipV="false">
            <a:off x="8318518" y="3215032"/>
            <a:ext cx="469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p1</a:t>
            </a:r>
            <a:endParaRPr/>
          </a:p>
        </p:txBody>
      </p:sp>
      <p:sp>
        <p:nvSpPr>
          <p:cNvPr id="368" name=""/>
          <p:cNvSpPr txBox="true"/>
          <p:nvPr/>
        </p:nvSpPr>
        <p:spPr>
          <a:xfrm rot="0" flipH="false" flipV="false">
            <a:off x="8381799" y="5611336"/>
            <a:ext cx="469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p2</a:t>
            </a:r>
            <a:endParaRPr/>
          </a:p>
        </p:txBody>
      </p:sp>
      <p:sp>
        <p:nvSpPr>
          <p:cNvPr id="369" name=""/>
          <p:cNvSpPr txBox="true"/>
          <p:nvPr/>
        </p:nvSpPr>
        <p:spPr>
          <a:xfrm rot="0" flipH="false" flipV="false">
            <a:off x="8381799" y="1921495"/>
            <a:ext cx="469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p3</a:t>
            </a:r>
            <a:endParaRPr/>
          </a:p>
        </p:txBody>
      </p:sp>
    </p:spTree>
  </p:cSld>
  <p:clrMapOvr>
    <a:masterClrMapping/>
  </p:clrMapOvr>
  <p:transition/>
</p:sld>
</file>

<file path=ppt/slides/slide63.xml><?xml version="1.0" encoding="utf-8"?>
<p:sld xmlns:a="http://schemas.openxmlformats.org/drawingml/2006/main" xmlns:p="http://schemas.openxmlformats.org/presentationml/2006/main">
  <p:cSld>
    <p:spTree>
      <p:nvGrpSpPr>
        <p:cNvPr id="3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37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>
                <a:latin typeface="Comic Sans MS"/>
                <a:ea typeface="宋体"/>
              </a:rPr>
              <a:t>练习答案</a:t>
            </a:r>
            <a:endParaRPr/>
          </a:p>
        </p:txBody>
      </p:sp>
      <p:cxnSp>
        <p:nvCxnSpPr>
          <p:cNvPr id="373" name=""/>
          <p:cNvCxnSpPr/>
          <p:nvPr/>
        </p:nvCxnSpPr>
        <p:spPr>
          <a:xfrm rot="0" flipH="false" flipV="true">
            <a:off x="319269" y="4632858"/>
            <a:ext cx="7999249" cy="0"/>
          </a:xfrm>
          <a:prstGeom prst="straightConnector1"/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374" name=""/>
          <p:cNvCxnSpPr/>
          <p:nvPr/>
        </p:nvCxnSpPr>
        <p:spPr>
          <a:xfrm rot="0" flipH="false" flipV="true">
            <a:off x="1577328" y="3434706"/>
            <a:ext cx="6664012" cy="1175328"/>
          </a:xfrm>
          <a:prstGeom prst="bentConnector3">
            <a:avLst>
              <a:gd name="adj1" fmla="val -1"/>
            </a:avLst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cxnSp>
        <p:nvCxnSpPr>
          <p:cNvPr id="375" name=""/>
          <p:cNvCxnSpPr/>
          <p:nvPr/>
        </p:nvCxnSpPr>
        <p:spPr>
          <a:xfrm rot="0" flipH="false" flipV="false">
            <a:off x="3288976" y="4621448"/>
            <a:ext cx="4918132" cy="1209563"/>
          </a:xfrm>
          <a:prstGeom prst="bentConnector3">
            <a:avLst>
              <a:gd name="adj1" fmla="val -117"/>
            </a:avLst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sp>
        <p:nvSpPr>
          <p:cNvPr id="376" name=""/>
          <p:cNvSpPr txBox="true"/>
          <p:nvPr/>
        </p:nvSpPr>
        <p:spPr>
          <a:xfrm rot="0" flipH="false" flipV="false">
            <a:off x="319269" y="3911534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start=0</a:t>
            </a:r>
            <a:endParaRPr/>
          </a:p>
          <a:p>
            <a:pPr>
              <a:buNone/>
            </a:pPr>
            <a:r>
              <a:rPr lang="en-US"/>
              <a:t>len=8</a:t>
            </a:r>
            <a:endParaRPr/>
          </a:p>
        </p:txBody>
      </p:sp>
      <p:sp>
        <p:nvSpPr>
          <p:cNvPr id="377" name=""/>
          <p:cNvSpPr txBox="true"/>
          <p:nvPr/>
        </p:nvSpPr>
        <p:spPr>
          <a:xfrm rot="0" flipH="false" flipV="false">
            <a:off x="1738678" y="2713382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start=4</a:t>
            </a:r>
            <a:endParaRPr/>
          </a:p>
          <a:p>
            <a:pPr>
              <a:buNone/>
            </a:pPr>
            <a:r>
              <a:rPr lang="en-US"/>
              <a:t>len=4</a:t>
            </a:r>
            <a:endParaRPr/>
          </a:p>
        </p:txBody>
      </p:sp>
      <p:cxnSp>
        <p:nvCxnSpPr>
          <p:cNvPr id="378" name=""/>
          <p:cNvCxnSpPr/>
          <p:nvPr/>
        </p:nvCxnSpPr>
        <p:spPr>
          <a:xfrm rot="0" flipH="false" flipV="true">
            <a:off x="3288976" y="2131806"/>
            <a:ext cx="4940954" cy="1289439"/>
          </a:xfrm>
          <a:prstGeom prst="bentConnector3">
            <a:avLst>
              <a:gd name="adj1" fmla="val 115"/>
            </a:avLst>
          </a:prstGeom>
          <a:ln w="25400">
            <a:solidFill>
              <a:srgbClr val="000000">
                <a:alpha val="100000"/>
              </a:srgbClr>
            </a:solidFill>
            <a:prstDash val="solid"/>
            <a:headEnd/>
            <a:tailEnd type="triangle"/>
          </a:ln>
        </p:spPr>
      </p:cxnSp>
      <p:sp>
        <p:nvSpPr>
          <p:cNvPr id="379" name=""/>
          <p:cNvSpPr txBox="true"/>
          <p:nvPr/>
        </p:nvSpPr>
        <p:spPr>
          <a:xfrm rot="0" flipH="false" flipV="false">
            <a:off x="1829086" y="3911534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start=0</a:t>
            </a:r>
            <a:endParaRPr/>
          </a:p>
          <a:p>
            <a:pPr>
              <a:buNone/>
            </a:pPr>
            <a:r>
              <a:rPr lang="en-US"/>
              <a:t>len=4</a:t>
            </a:r>
            <a:endParaRPr/>
          </a:p>
        </p:txBody>
      </p:sp>
      <p:sp>
        <p:nvSpPr>
          <p:cNvPr id="380" name=""/>
          <p:cNvSpPr txBox="true"/>
          <p:nvPr/>
        </p:nvSpPr>
        <p:spPr>
          <a:xfrm rot="0" flipH="false" flipV="false">
            <a:off x="2762268" y="431108"/>
            <a:ext cx="5556250" cy="3937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/>
              <a:t>使用</a:t>
            </a:r>
            <a:r>
              <a:rPr lang="en-US"/>
              <a:t>waitpid</a:t>
            </a:r>
            <a:r>
              <a:rPr lang="zh-CN"/>
              <a:t>等待子进程结束</a:t>
            </a:r>
            <a:endParaRPr/>
          </a:p>
        </p:txBody>
      </p:sp>
      <p:sp>
        <p:nvSpPr>
          <p:cNvPr id="381" name=""/>
          <p:cNvSpPr txBox="true"/>
          <p:nvPr/>
        </p:nvSpPr>
        <p:spPr>
          <a:xfrm rot="0" flipH="false" flipV="false">
            <a:off x="3550325" y="1419845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start=6</a:t>
            </a:r>
            <a:endParaRPr/>
          </a:p>
          <a:p>
            <a:pPr>
              <a:buNone/>
            </a:pPr>
            <a:r>
              <a:rPr lang="en-US"/>
              <a:t>len=2</a:t>
            </a:r>
            <a:endParaRPr/>
          </a:p>
        </p:txBody>
      </p:sp>
      <p:sp>
        <p:nvSpPr>
          <p:cNvPr id="382" name=""/>
          <p:cNvSpPr txBox="true"/>
          <p:nvPr/>
        </p:nvSpPr>
        <p:spPr>
          <a:xfrm rot="0" flipH="false" flipV="false">
            <a:off x="3550325" y="2713382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start=4</a:t>
            </a:r>
            <a:endParaRPr/>
          </a:p>
          <a:p>
            <a:pPr>
              <a:buNone/>
            </a:pPr>
            <a:r>
              <a:rPr lang="en-US"/>
              <a:t>len=2</a:t>
            </a:r>
            <a:endParaRPr/>
          </a:p>
        </p:txBody>
      </p:sp>
      <p:sp>
        <p:nvSpPr>
          <p:cNvPr id="383" name=""/>
          <p:cNvSpPr txBox="true"/>
          <p:nvPr/>
        </p:nvSpPr>
        <p:spPr>
          <a:xfrm rot="0" flipH="false" flipV="false">
            <a:off x="3550325" y="3911534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start=0</a:t>
            </a:r>
            <a:endParaRPr/>
          </a:p>
          <a:p>
            <a:pPr>
              <a:buNone/>
            </a:pPr>
            <a:r>
              <a:rPr lang="en-US"/>
              <a:t>len=2</a:t>
            </a:r>
            <a:endParaRPr/>
          </a:p>
        </p:txBody>
      </p:sp>
      <p:sp>
        <p:nvSpPr>
          <p:cNvPr id="384" name=""/>
          <p:cNvSpPr txBox="true"/>
          <p:nvPr/>
        </p:nvSpPr>
        <p:spPr>
          <a:xfrm rot="0" flipH="false" flipV="false">
            <a:off x="3550325" y="5132511"/>
            <a:ext cx="111760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start=2</a:t>
            </a:r>
            <a:endParaRPr/>
          </a:p>
          <a:p>
            <a:pPr>
              <a:buNone/>
            </a:pPr>
            <a:r>
              <a:rPr lang="en-US"/>
              <a:t>len=2</a:t>
            </a:r>
            <a:endParaRPr/>
          </a:p>
        </p:txBody>
      </p:sp>
      <p:sp>
        <p:nvSpPr>
          <p:cNvPr id="385" name=""/>
          <p:cNvSpPr txBox="true"/>
          <p:nvPr/>
        </p:nvSpPr>
        <p:spPr>
          <a:xfrm rot="0" flipH="false" flipV="false">
            <a:off x="255769" y="2319682"/>
            <a:ext cx="6223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n=8</a:t>
            </a:r>
            <a:endParaRPr/>
          </a:p>
        </p:txBody>
      </p:sp>
      <p:sp>
        <p:nvSpPr>
          <p:cNvPr id="386" name=""/>
          <p:cNvSpPr txBox="true"/>
          <p:nvPr/>
        </p:nvSpPr>
        <p:spPr>
          <a:xfrm rot="0" flipH="false" flipV="false">
            <a:off x="463226" y="6007100"/>
            <a:ext cx="7188200" cy="6985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/>
              <a:t>只能保证</a:t>
            </a:r>
            <a:r>
              <a:rPr lang="en-US"/>
              <a:t>print</a:t>
            </a:r>
            <a:r>
              <a:rPr lang="zh-CN"/>
              <a:t>的顺序</a:t>
            </a:r>
            <a:r>
              <a:rPr lang="en-US"/>
              <a:t>p3-&gt;p1-&gt;p0; p2-&gt;p0</a:t>
            </a:r>
            <a:endParaRPr/>
          </a:p>
          <a:p>
            <a:pPr>
              <a:buNone/>
            </a:pPr>
            <a:r>
              <a:rPr lang="zh-CN"/>
              <a:t>如何解决？</a:t>
            </a:r>
            <a:endParaRPr/>
          </a:p>
        </p:txBody>
      </p:sp>
      <p:sp>
        <p:nvSpPr>
          <p:cNvPr id="387" name=""/>
          <p:cNvSpPr txBox="true"/>
          <p:nvPr/>
        </p:nvSpPr>
        <p:spPr>
          <a:xfrm rot="0" flipH="false" flipV="false">
            <a:off x="8381799" y="4413184"/>
            <a:ext cx="469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p0</a:t>
            </a:r>
            <a:endParaRPr/>
          </a:p>
        </p:txBody>
      </p:sp>
      <p:sp>
        <p:nvSpPr>
          <p:cNvPr id="388" name=""/>
          <p:cNvSpPr txBox="true"/>
          <p:nvPr/>
        </p:nvSpPr>
        <p:spPr>
          <a:xfrm rot="0" flipH="false" flipV="false">
            <a:off x="8318518" y="3215032"/>
            <a:ext cx="469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p1</a:t>
            </a:r>
            <a:endParaRPr/>
          </a:p>
        </p:txBody>
      </p:sp>
      <p:sp>
        <p:nvSpPr>
          <p:cNvPr id="389" name=""/>
          <p:cNvSpPr txBox="true"/>
          <p:nvPr/>
        </p:nvSpPr>
        <p:spPr>
          <a:xfrm rot="0" flipH="false" flipV="false">
            <a:off x="8381799" y="5611336"/>
            <a:ext cx="469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p2</a:t>
            </a:r>
            <a:endParaRPr/>
          </a:p>
        </p:txBody>
      </p:sp>
      <p:sp>
        <p:nvSpPr>
          <p:cNvPr id="390" name=""/>
          <p:cNvSpPr txBox="true"/>
          <p:nvPr/>
        </p:nvSpPr>
        <p:spPr>
          <a:xfrm rot="0" flipH="false" flipV="false">
            <a:off x="8381799" y="1921495"/>
            <a:ext cx="469900" cy="3937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p3</a:t>
            </a:r>
            <a:endParaRPr/>
          </a:p>
        </p:txBody>
      </p:sp>
      <p:sp>
        <p:nvSpPr>
          <p:cNvPr id="391" name=""/>
          <p:cNvSpPr txBox="true"/>
          <p:nvPr/>
        </p:nvSpPr>
        <p:spPr>
          <a:xfrm rot="0" flipH="false" flipV="false">
            <a:off x="4909334" y="1724645"/>
            <a:ext cx="1733550" cy="3937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print...</a:t>
            </a:r>
            <a:endParaRPr/>
          </a:p>
        </p:txBody>
      </p:sp>
      <p:sp>
        <p:nvSpPr>
          <p:cNvPr id="392" name=""/>
          <p:cNvSpPr txBox="true"/>
          <p:nvPr/>
        </p:nvSpPr>
        <p:spPr>
          <a:xfrm rot="0" flipH="false" flipV="false">
            <a:off x="5748042" y="3018182"/>
            <a:ext cx="1733550" cy="3937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print...</a:t>
            </a:r>
            <a:endParaRPr/>
          </a:p>
        </p:txBody>
      </p:sp>
      <p:sp>
        <p:nvSpPr>
          <p:cNvPr id="393" name=""/>
          <p:cNvSpPr txBox="true"/>
          <p:nvPr/>
        </p:nvSpPr>
        <p:spPr>
          <a:xfrm rot="0" flipH="false" flipV="false">
            <a:off x="6781381" y="4216334"/>
            <a:ext cx="1733550" cy="3937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print...</a:t>
            </a:r>
            <a:endParaRPr/>
          </a:p>
        </p:txBody>
      </p:sp>
      <p:sp>
        <p:nvSpPr>
          <p:cNvPr id="394" name=""/>
          <p:cNvSpPr txBox="true"/>
          <p:nvPr/>
        </p:nvSpPr>
        <p:spPr>
          <a:xfrm rot="0" flipH="false" flipV="false">
            <a:off x="5658087" y="5405123"/>
            <a:ext cx="1733550" cy="3937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/>
              <a:t>print...</a:t>
            </a:r>
            <a:endParaRPr/>
          </a:p>
        </p:txBody>
      </p:sp>
    </p:spTree>
  </p:cSld>
  <p:clrMapOvr>
    <a:masterClrMapping/>
  </p:clrMapOvr>
  <p:transition/>
</p:sld>
</file>

<file path=ppt/slides/slide64.xml><?xml version="1.0" encoding="utf-8"?>
<p:sld xmlns:a="http://schemas.openxmlformats.org/drawingml/2006/main" xmlns:p="http://schemas.openxmlformats.org/presentationml/2006/main">
  <p:cSld>
    <p:spTree>
      <p:nvGrpSpPr>
        <p:cNvPr id="3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父进程与子进程</a:t>
            </a:r>
            <a:endParaRPr/>
          </a:p>
        </p:txBody>
      </p:sp>
      <p:sp>
        <p:nvSpPr>
          <p:cNvPr id="397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父进程等待子进程结束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>
                <a:ea typeface="宋体" pitchFamily="2" charset="-122"/>
              </a:rPr>
              <a:t>Waitpid()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子进程等待父进程结束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b="false" i="false" u="none">
                <a:ea typeface="宋体" pitchFamily="2" charset="-122"/>
              </a:rPr>
              <a:t>轮询（polling）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While (getppid() != 1)</a:t>
            </a:r>
            <a:endParaRPr/>
          </a:p>
          <a:p>
            <a:pPr marL="1600200" lvl="3" indent="-228600">
              <a:spcBef>
                <a:spcPct val="20000"/>
              </a:spcBef>
              <a:buSzPct val="100000"/>
              <a:buChar char="–"/>
            </a:pPr>
            <a:r>
              <a:rPr lang="en-US" b="false" i="false" u="none">
                <a:ea typeface="宋体" pitchFamily="2" charset="-122"/>
              </a:rPr>
              <a:t>sleep(1);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zh-CN" b="false" i="false" u="none">
                <a:ea typeface="宋体" pitchFamily="2" charset="-122"/>
              </a:rPr>
              <a:t>getppid()返回父进程PID，永远成功返回</a:t>
            </a:r>
            <a:endParaRPr/>
          </a:p>
          <a:p>
            <a:pPr marL="1600200" lvl="3" indent="-228600">
              <a:spcBef>
                <a:spcPct val="20000"/>
              </a:spcBef>
              <a:buSzPct val="100000"/>
              <a:buChar char="–"/>
            </a:pPr>
            <a:r>
              <a:rPr lang="en-US" b="false" i="false" u="none">
                <a:ea typeface="宋体" pitchFamily="2" charset="-122"/>
              </a:rPr>
              <a:t>PID=1: ？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或者采用效率更高的信号机制</a:t>
            </a:r>
            <a:endParaRPr/>
          </a:p>
        </p:txBody>
      </p:sp>
      <p:sp>
        <p:nvSpPr>
          <p:cNvPr id="398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3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竞争条件</a:t>
            </a:r>
            <a:endParaRPr/>
          </a:p>
        </p:txBody>
      </p:sp>
      <p:sp>
        <p:nvSpPr>
          <p:cNvPr id="401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449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000" b="false" i="false" u="none">
                <a:ea typeface="宋体" pitchFamily="2" charset="-122"/>
              </a:rPr>
              <a:t>子进程和父进程各输出一个字符串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000" b="false" i="false" u="none">
                <a:ea typeface="宋体" pitchFamily="2" charset="-122"/>
              </a:rPr>
              <a:t>static void charatatime(char *);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000" b="false" i="false" u="none">
                <a:ea typeface="宋体" pitchFamily="2" charset="-122"/>
              </a:rPr>
              <a:t>int main(void) {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1800" b="false" i="false" u="none">
                <a:ea typeface="宋体" pitchFamily="2" charset="-122"/>
              </a:rPr>
              <a:t>pid_t pid;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1800" b="false" i="false" u="none">
                <a:ea typeface="宋体" pitchFamily="2" charset="-122"/>
              </a:rPr>
              <a:t>if((pid=fork()) &lt; 0) {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600" b="false" i="false" u="none">
                <a:ea typeface="宋体" pitchFamily="2" charset="-122"/>
              </a:rPr>
              <a:t>err_sys(“fork error”);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1800" b="false" i="false" u="none">
                <a:ea typeface="宋体" pitchFamily="2" charset="-122"/>
              </a:rPr>
              <a:t>}else if (pid == 0) {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600" b="false" i="false" u="none">
                <a:ea typeface="宋体" pitchFamily="2" charset="-122"/>
              </a:rPr>
              <a:t>charatatime(“output form child\n”);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1800" b="false" i="false" u="none">
                <a:ea typeface="宋体" pitchFamily="2" charset="-122"/>
              </a:rPr>
              <a:t>}else {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600" b="false" i="false" u="none">
                <a:ea typeface="宋体" pitchFamily="2" charset="-122"/>
              </a:rPr>
              <a:t>charatatime(“output form parant\n”);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1800" b="false" i="false" u="none">
                <a:ea typeface="宋体" pitchFamily="2" charset="-122"/>
              </a:rPr>
              <a:t>}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1800" b="false" i="false" u="none">
                <a:ea typeface="宋体" pitchFamily="2" charset="-122"/>
              </a:rPr>
              <a:t>exit(0);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000" b="false" i="false" u="none">
                <a:ea typeface="宋体" pitchFamily="2" charset="-122"/>
              </a:rPr>
              <a:t>}</a:t>
            </a:r>
            <a:endParaRPr/>
          </a:p>
        </p:txBody>
      </p:sp>
      <p:sp>
        <p:nvSpPr>
          <p:cNvPr id="40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03" name="矩形 4"/>
          <p:cNvSpPr>
            <a:spLocks noGrp="true" noChangeShapeType="true"/>
          </p:cNvSpPr>
          <p:nvPr/>
        </p:nvSpPr>
        <p:spPr>
          <a:xfrm rot="0" flipH="false" flipV="false">
            <a:off x="4495800" y="2523988"/>
            <a:ext cx="4343400" cy="234950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false">
                <a:latin typeface="Comic Sans MS"/>
                <a:ea typeface="宋体"/>
              </a:rPr>
              <a:t>// char at a time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false">
                <a:latin typeface="Comic Sans MS"/>
                <a:ea typeface="宋体"/>
              </a:rPr>
              <a:t>static void charatatime(char *str) {</a:t>
            </a:r>
            <a:endParaRPr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800" b="false">
                <a:latin typeface="Comic Sans MS"/>
                <a:ea typeface="宋体"/>
              </a:rPr>
              <a:t>char *ptr;</a:t>
            </a:r>
            <a:endParaRPr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800" b="false">
                <a:latin typeface="Comic Sans MS"/>
                <a:ea typeface="宋体"/>
              </a:rPr>
              <a:t>int c;</a:t>
            </a:r>
            <a:endParaRPr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800" b="false">
                <a:latin typeface="Comic Sans MS"/>
                <a:ea typeface="宋体"/>
              </a:rPr>
              <a:t>setbuf(stdout, </a:t>
            </a:r>
            <a:r>
              <a:rPr lang="en-US" sz="18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NULL</a:t>
            </a:r>
            <a:r>
              <a:rPr lang="en-US" sz="1800" b="false">
                <a:latin typeface="Comic Sans MS"/>
                <a:ea typeface="宋体"/>
              </a:rPr>
              <a:t>);</a:t>
            </a:r>
            <a:endParaRPr/>
          </a:p>
          <a:p>
            <a:pPr marL="457200" lvl="1" indent="0">
              <a:spcBef>
                <a:spcPts val="0"/>
              </a:spcBef>
              <a:buNone/>
            </a:pPr>
            <a:r>
              <a:rPr lang="en-US" sz="1800" b="false">
                <a:latin typeface="Comic Sans MS"/>
                <a:ea typeface="宋体"/>
              </a:rPr>
              <a:t>for(ptr=str; (c=*ptr++)!=0;)</a:t>
            </a:r>
            <a:endParaRPr/>
          </a:p>
          <a:p>
            <a:pPr marL="914400" lvl="2" indent="0">
              <a:spcBef>
                <a:spcPts val="0"/>
              </a:spcBef>
              <a:buNone/>
            </a:pPr>
            <a:r>
              <a:rPr lang="en-US" sz="1600" b="false">
                <a:latin typeface="Comic Sans MS"/>
                <a:ea typeface="宋体"/>
              </a:rPr>
              <a:t>putc(c, stdout);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false">
                <a:latin typeface="Comic Sans MS"/>
                <a:ea typeface="宋体"/>
              </a:rPr>
              <a:t>}</a:t>
            </a:r>
            <a:endParaRPr/>
          </a:p>
        </p:txBody>
      </p:sp>
      <p:sp>
        <p:nvSpPr>
          <p:cNvPr id="404" name="矩形 1"/>
          <p:cNvSpPr>
            <a:spLocks noGrp="true" noChangeShapeType="true"/>
          </p:cNvSpPr>
          <p:nvPr/>
        </p:nvSpPr>
        <p:spPr>
          <a:xfrm rot="0" flipH="false" flipV="false">
            <a:off x="4106182" y="5213350"/>
            <a:ext cx="4648200" cy="118745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1800" b="true">
                <a:latin typeface="Comic Sans MS"/>
                <a:ea typeface="宋体"/>
              </a:rPr>
              <a:t>s</a:t>
            </a:r>
            <a:r>
              <a:rPr lang="zh-CN" sz="1800" b="true">
                <a:latin typeface="Comic Sans MS"/>
                <a:ea typeface="宋体"/>
              </a:rPr>
              <a:t>etbuf(): </a:t>
            </a:r>
            <a:r>
              <a:rPr lang="zh-CN" sz="1800" b="true">
                <a:latin typeface="Comic Sans MS"/>
                <a:ea typeface="宋体"/>
              </a:rPr>
              <a:t>三种</a:t>
            </a:r>
            <a:r>
              <a:rPr lang="zh-CN" sz="1800" b="true">
                <a:latin typeface="Comic Sans MS"/>
                <a:ea typeface="宋体"/>
              </a:rPr>
              <a:t>buffer</a:t>
            </a:r>
            <a:r>
              <a:rPr lang="zh-CN" sz="1800" b="true">
                <a:latin typeface="Comic Sans MS"/>
                <a:ea typeface="宋体"/>
              </a:rPr>
              <a:t>方式：</a:t>
            </a:r>
            <a:r>
              <a:rPr lang="zh-CN" sz="1800" b="true">
                <a:latin typeface="Comic Sans MS"/>
                <a:ea typeface="宋体"/>
              </a:rPr>
              <a:t>unbuffered, block buffered, and line buffered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zh-CN" sz="1800" b="true" u="sng">
                <a:solidFill>
                  <a:schemeClr val="hlink">
                    <a:alpha val="100000"/>
                  </a:schemeClr>
                </a:solidFill>
                <a:latin typeface="Comic Sans MS"/>
                <a:ea typeface="宋体"/>
                <a:hlinkClick r:id="rId1"/>
              </a:rPr>
              <a:t>http://man7.org/linux/man-pages/man3/setbuf.3.html</a:t>
            </a:r>
            <a:endParaRPr/>
          </a:p>
        </p:txBody>
      </p:sp>
    </p:spTree>
  </p:cSld>
  <p:clrMapOvr>
    <a:masterClrMapping/>
  </p:clrMapOvr>
  <p:transition/>
</p:sld>
</file>

<file path=ppt/slides/slide66.xml><?xml version="1.0" encoding="utf-8"?>
<p:sld xmlns:a="http://schemas.openxmlformats.org/drawingml/2006/main" xmlns:p="http://schemas.openxmlformats.org/presentationml/2006/main">
  <p:cSld>
    <p:spTree>
      <p:nvGrpSpPr>
        <p:cNvPr id="4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竞争条件</a:t>
            </a:r>
            <a:endParaRPr/>
          </a:p>
        </p:txBody>
      </p:sp>
      <p:sp>
        <p:nvSpPr>
          <p:cNvPr id="407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55626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000" b="false" i="false" u="none">
                <a:ea typeface="宋体" pitchFamily="2" charset="-122"/>
              </a:rPr>
              <a:t>输出结果：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#./a.out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ooutput from child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utput from parent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#./a.out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output from child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output from parent</a:t>
            </a:r>
            <a:endParaRPr/>
          </a:p>
        </p:txBody>
      </p:sp>
      <p:sp>
        <p:nvSpPr>
          <p:cNvPr id="408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09" name="文本框 4"/>
          <p:cNvSpPr txBox="true">
            <a:spLocks noGrp="true" noChangeShapeType="true"/>
          </p:cNvSpPr>
          <p:nvPr/>
        </p:nvSpPr>
        <p:spPr>
          <a:xfrm>
            <a:off x="5064125" y="2532062"/>
            <a:ext cx="4114800" cy="2555875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ea typeface="宋体" pitchFamily="2" charset="-122"/>
              </a:rPr>
              <a:t>为什么？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ea typeface="宋体" pitchFamily="2" charset="-122"/>
              </a:rPr>
              <a:t>怎么改进程序？子-&gt;父；父-&gt;子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ea typeface="宋体" pitchFamily="2" charset="-122"/>
              </a:rPr>
              <a:t>假设有以下宏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ea typeface="宋体" pitchFamily="2" charset="-122"/>
              </a:rPr>
              <a:t>TELL_PARENT(pid_t)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ea typeface="宋体" pitchFamily="2" charset="-122"/>
              </a:rPr>
              <a:t>WAIT_PARENT()：阻塞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ea typeface="宋体" pitchFamily="2" charset="-122"/>
              </a:rPr>
              <a:t>TELL_CHILD(pid_t)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ea typeface="宋体" pitchFamily="2" charset="-122"/>
              </a:rPr>
              <a:t>WAIT_CHILD()：阻塞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ea typeface="宋体" pitchFamily="2" charset="-122"/>
              </a:rPr>
              <a:t>来互相通信</a:t>
            </a:r>
            <a:endParaRPr/>
          </a:p>
        </p:txBody>
      </p:sp>
    </p:spTree>
  </p:cSld>
  <p:clrMapOvr>
    <a:masterClrMapping/>
  </p:clrMapOvr>
  <p:transition/>
</p:sld>
</file>

<file path=ppt/slides/slide67.xml><?xml version="1.0" encoding="utf-8"?>
<p:sld xmlns:a="http://schemas.openxmlformats.org/drawingml/2006/main" xmlns:p="http://schemas.openxmlformats.org/presentationml/2006/main">
  <p:cSld>
    <p:spTree>
      <p:nvGrpSpPr>
        <p:cNvPr id="4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竞争条件</a:t>
            </a:r>
            <a:endParaRPr/>
          </a:p>
        </p:txBody>
      </p:sp>
      <p:sp>
        <p:nvSpPr>
          <p:cNvPr id="412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 i="false" u="none">
                <a:ea typeface="宋体" pitchFamily="2" charset="-122"/>
              </a:rPr>
              <a:t>先子后父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 i="false" u="none">
                <a:ea typeface="宋体" pitchFamily="2" charset="-122"/>
              </a:rPr>
              <a:t>int main(void) {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pid_t pid;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if((pid=fork()) &lt; 0) {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ea typeface="宋体" pitchFamily="2" charset="-122"/>
              </a:rPr>
              <a:t>err_sys(“fork error”);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}else if (pid == 0) {</a:t>
            </a:r>
            <a:endParaRPr lang="en-US" sz="1600"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ea typeface="宋体" pitchFamily="2" charset="-122"/>
              </a:rPr>
              <a:t>charatatime(“output form child\n”);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solidFill>
                  <a:srgbClr val="FF0000"/>
                </a:solidFill>
                <a:ea typeface="宋体" pitchFamily="2" charset="-122"/>
              </a:rPr>
              <a:t>TELL_PARANT(getppid());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}else {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600" b="false" i="false" u="none">
                <a:solidFill>
                  <a:srgbClr val="FF0000"/>
                </a:solidFill>
                <a:ea typeface="宋体" pitchFamily="2" charset="-122"/>
              </a:rPr>
              <a:t>WAIT_CHILD();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ea typeface="宋体" pitchFamily="2" charset="-122"/>
              </a:rPr>
              <a:t>charatatime(“output form parant\n”);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}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exit(0);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sz="2400" b="false" i="false" u="none">
                <a:ea typeface="宋体" pitchFamily="2" charset="-122"/>
              </a:rPr>
              <a:t>}</a:t>
            </a:r>
            <a:endParaRPr/>
          </a:p>
        </p:txBody>
      </p:sp>
      <p:sp>
        <p:nvSpPr>
          <p:cNvPr id="413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68.xml><?xml version="1.0" encoding="utf-8"?>
<p:sld xmlns:a="http://schemas.openxmlformats.org/drawingml/2006/main" xmlns:p="http://schemas.openxmlformats.org/presentationml/2006/main">
  <p:cSld>
    <p:spTree>
      <p:nvGrpSpPr>
        <p:cNvPr id="4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竞争条件</a:t>
            </a:r>
            <a:endParaRPr/>
          </a:p>
        </p:txBody>
      </p:sp>
      <p:sp>
        <p:nvSpPr>
          <p:cNvPr id="416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 i="false" u="none">
                <a:ea typeface="宋体" pitchFamily="2" charset="-122"/>
              </a:rPr>
              <a:t>先父后子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 i="false" u="none">
                <a:ea typeface="宋体" pitchFamily="2" charset="-122"/>
              </a:rPr>
              <a:t>int main(void) {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pid_t pid;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if((pid=fork()) &lt; 0) {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ea typeface="宋体" pitchFamily="2" charset="-122"/>
              </a:rPr>
              <a:t>err_sys(“fork error”);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}else if (pid == 0) {</a:t>
            </a:r>
            <a:endParaRPr lang="en-US" sz="1600"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solidFill>
                  <a:srgbClr val="FF0000"/>
                </a:solidFill>
                <a:ea typeface="宋体" pitchFamily="2" charset="-122"/>
              </a:rPr>
              <a:t>WAIT_PARENT();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ea typeface="宋体" pitchFamily="2" charset="-122"/>
              </a:rPr>
              <a:t>charatatime(“output form child\n”);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}else {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ea typeface="宋体" pitchFamily="2" charset="-122"/>
              </a:rPr>
              <a:t>charatatime(“output form parant\n”);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solidFill>
                  <a:srgbClr val="FF0000"/>
                </a:solidFill>
                <a:ea typeface="宋体" pitchFamily="2" charset="-122"/>
              </a:rPr>
              <a:t>TELL_CHILD(pid);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}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exit(0);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sz="2400" b="false" i="false" u="none">
                <a:ea typeface="宋体" pitchFamily="2" charset="-122"/>
              </a:rPr>
              <a:t>}</a:t>
            </a:r>
            <a:endParaRPr/>
          </a:p>
        </p:txBody>
      </p:sp>
      <p:sp>
        <p:nvSpPr>
          <p:cNvPr id="417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69.xml><?xml version="1.0" encoding="utf-8"?>
<p:sld xmlns:a="http://schemas.openxmlformats.org/drawingml/2006/main" xmlns:p="http://schemas.openxmlformats.org/presentationml/2006/main">
  <p:cSld>
    <p:spTree>
      <p:nvGrpSpPr>
        <p:cNvPr id="4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竞争条件</a:t>
            </a:r>
            <a:endParaRPr/>
          </a:p>
        </p:txBody>
      </p:sp>
      <p:sp>
        <p:nvSpPr>
          <p:cNvPr id="420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对于前面先父后子的程序，用</a:t>
            </a:r>
            <a:r>
              <a:rPr lang="en-US" sz="2400" b="false">
                <a:latin typeface="Comic Sans MS"/>
                <a:ea typeface="宋体"/>
              </a:rPr>
              <a:t>$./a.out</a:t>
            </a:r>
            <a:r>
              <a:rPr lang="en-US" sz="2400" b="false">
                <a:latin typeface="Comic Sans MS"/>
                <a:ea typeface="宋体"/>
              </a:rPr>
              <a:t>输出一次是正确的。但是用下列方式执行多次，输出就不正确了。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$</a:t>
            </a:r>
            <a:r>
              <a:rPr lang="en-US" sz="24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.</a:t>
            </a:r>
            <a:r>
              <a:rPr lang="en-US" sz="24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/a.out;./a.out;./a.out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output from parent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ooutput from parent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ouotput from child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put from parent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output from child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utput from child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>
                <a:latin typeface="Comic Sans MS"/>
                <a:ea typeface="宋体"/>
              </a:rPr>
              <a:t>原因是什么？怎么样才能改正错误？如果先子后父，会不会有上述问题？</a:t>
            </a:r>
            <a:endParaRPr/>
          </a:p>
        </p:txBody>
      </p:sp>
      <p:sp>
        <p:nvSpPr>
          <p:cNvPr id="421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70.xml><?xml version="1.0" encoding="utf-8"?>
<p:sld xmlns:a="http://schemas.openxmlformats.org/drawingml/2006/main" xmlns:p="http://schemas.openxmlformats.org/presentationml/2006/main">
  <p:cSld>
    <p:spTree>
      <p:nvGrpSpPr>
        <p:cNvPr id="4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竞争条件</a:t>
            </a:r>
            <a:endParaRPr/>
          </a:p>
        </p:txBody>
      </p:sp>
      <p:sp>
        <p:nvSpPr>
          <p:cNvPr id="431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原因：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Shell一行执行多个命令，当父进程结束，就开始执行下一个命令，不管子进程是否执行完。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因此child的数据会与parent的随机交叉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 i="false" u="none">
                <a:ea typeface="宋体" pitchFamily="2" charset="-122"/>
              </a:rPr>
              <a:t>先子后父，不会交叉</a:t>
            </a:r>
            <a:endParaRPr/>
          </a:p>
        </p:txBody>
      </p:sp>
      <p:sp>
        <p:nvSpPr>
          <p:cNvPr id="43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71.xml><?xml version="1.0" encoding="utf-8"?>
<p:sld xmlns:a="http://schemas.openxmlformats.org/drawingml/2006/main" xmlns:p="http://schemas.openxmlformats.org/presentationml/2006/main">
  <p:cSld>
    <p:spTree>
      <p:nvGrpSpPr>
        <p:cNvPr id="4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 i="false" u="none">
                <a:ea typeface="宋体" pitchFamily="2" charset="-122"/>
              </a:rPr>
              <a:t>竞争条件</a:t>
            </a:r>
            <a:endParaRPr/>
          </a:p>
        </p:txBody>
      </p:sp>
      <p:sp>
        <p:nvSpPr>
          <p:cNvPr id="435" name="内容占位符 2"/>
          <p:cNvSpPr>
            <a:spLocks noGrp="true" noChangeShapeType="true"/>
          </p:cNvSpPr>
          <p:nvPr>
            <p:ph type="obj"/>
          </p:nvPr>
        </p:nvSpPr>
        <p:spPr>
          <a:xfrm rot="0" flipH="false" flipV="false">
            <a:off x="457200" y="1390650"/>
            <a:ext cx="8305800" cy="5435177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sz="2400" b="false" i="false" u="none">
                <a:ea typeface="宋体" pitchFamily="2" charset="-122"/>
              </a:rPr>
              <a:t>int main(void) {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pid_t pid;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if((pid=fork()) &lt; 0) {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ea typeface="宋体" pitchFamily="2" charset="-122"/>
              </a:rPr>
              <a:t>err_sys(“fork error”);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}else if (pid == 0) {</a:t>
            </a:r>
            <a:endParaRPr lang="en-US" sz="1600"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solidFill>
                  <a:srgbClr val="FF0000"/>
                </a:solidFill>
                <a:ea typeface="宋体" pitchFamily="2" charset="-122"/>
              </a:rPr>
              <a:t>WAIT_PARENT();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ea typeface="宋体" pitchFamily="2" charset="-122"/>
              </a:rPr>
              <a:t>charatatime(“output form child\n”);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solidFill>
                  <a:srgbClr val="FF0000"/>
                </a:solidFill>
                <a:ea typeface="宋体" pitchFamily="2" charset="-122"/>
              </a:rPr>
              <a:t>TELL_PARENT(getppid());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}else {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ea typeface="宋体" pitchFamily="2" charset="-122"/>
              </a:rPr>
              <a:t>charatatime(“output form parant\n”);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solidFill>
                  <a:srgbClr val="FF0000"/>
                </a:solidFill>
                <a:ea typeface="宋体" pitchFamily="2" charset="-122"/>
              </a:rPr>
              <a:t>TELL_CHILD(pid);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sz="1800" b="false" i="false" u="none">
                <a:solidFill>
                  <a:srgbClr val="FF0000"/>
                </a:solidFill>
                <a:ea typeface="宋体" pitchFamily="2" charset="-122"/>
              </a:rPr>
              <a:t>WAIT_CHILD();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}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en-US" sz="2000" b="false" i="false" u="none">
                <a:ea typeface="宋体" pitchFamily="2" charset="-122"/>
              </a:rPr>
              <a:t>exit(0);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zh-CN" sz="2400" b="false" i="false" u="none">
                <a:ea typeface="宋体" pitchFamily="2" charset="-122"/>
              </a:rPr>
              <a:t>}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endParaRPr/>
          </a:p>
        </p:txBody>
      </p:sp>
      <p:sp>
        <p:nvSpPr>
          <p:cNvPr id="436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72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4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39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Loading and Running</a:t>
            </a:r>
            <a:endParaRPr/>
          </a:p>
        </p:txBody>
      </p:sp>
      <p:sp>
        <p:nvSpPr>
          <p:cNvPr id="440" name="Rectangle 3"/>
          <p:cNvSpPr>
            <a:spLocks noGrp="true" noChangeShapeType="true"/>
          </p:cNvSpPr>
          <p:nvPr>
            <p:ph type="body"/>
          </p:nvPr>
        </p:nvSpPr>
        <p:spPr>
          <a:xfrm rot="0" flipH="false" flipV="false">
            <a:off x="228600" y="3098800"/>
            <a:ext cx="8686800" cy="3276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4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18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18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18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zh-CN" sz="2800">
                <a:latin typeface="Comic Sans MS"/>
                <a:ea typeface="宋体"/>
              </a:rPr>
              <a:t>在当前进程中装载一个新程序并运行：</a:t>
            </a:r>
            <a:r>
              <a:rPr lang="en-US" sz="2800">
                <a:latin typeface="Comic Sans MS"/>
                <a:ea typeface="宋体"/>
              </a:rPr>
              <a:t>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sz="2400" b="false">
                <a:latin typeface="Comic Sans MS"/>
                <a:ea typeface="宋体"/>
              </a:rPr>
              <a:t>可执行文件</a:t>
            </a:r>
            <a:r>
              <a:rPr lang="en-US" sz="2400" b="false">
                <a:latin typeface="Comic Sans MS"/>
                <a:ea typeface="宋体"/>
              </a:rPr>
              <a:t> </a:t>
            </a:r>
            <a:r>
              <a:rPr lang="en-US" sz="2400" b="true">
                <a:latin typeface="Courier New"/>
                <a:ea typeface="宋体"/>
              </a:rPr>
              <a:t>filename</a:t>
            </a:r>
            <a:r>
              <a:rPr lang="en-US" sz="2400" b="false">
                <a:latin typeface="Courier"/>
                <a:ea typeface="宋体"/>
              </a:rPr>
              <a:t>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sz="2400" b="false">
                <a:latin typeface="Comic Sans MS"/>
                <a:ea typeface="宋体"/>
              </a:rPr>
              <a:t>argument list </a:t>
            </a:r>
            <a:r>
              <a:rPr lang="en-US" sz="2400" b="true">
                <a:latin typeface="Courier New"/>
                <a:ea typeface="宋体"/>
              </a:rPr>
              <a:t>argv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sz="2400" b="false">
                <a:latin typeface="Comic Sans MS"/>
                <a:ea typeface="宋体"/>
              </a:rPr>
              <a:t>environment variable list </a:t>
            </a:r>
            <a:r>
              <a:rPr lang="en-US" sz="2400" b="true">
                <a:latin typeface="Courier New"/>
                <a:ea typeface="宋体"/>
              </a:rPr>
              <a:t>envp</a:t>
            </a:r>
            <a:r>
              <a:rPr lang="en-US" sz="2400" b="false">
                <a:latin typeface="Comic Sans MS"/>
                <a:ea typeface="宋体"/>
              </a:rPr>
              <a:t>.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zh-CN" sz="2400" b="false">
                <a:latin typeface="Comic Sans MS"/>
                <a:ea typeface="宋体"/>
              </a:rPr>
              <a:t>只有当出错时才返回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zh-CN" sz="2000" b="false">
                <a:latin typeface="Comic Sans MS"/>
                <a:ea typeface="宋体"/>
              </a:rPr>
              <a:t>例如无法找到</a:t>
            </a:r>
            <a:r>
              <a:rPr lang="en-US" sz="2000" b="false">
                <a:latin typeface="Comic Sans MS"/>
                <a:ea typeface="宋体"/>
              </a:rPr>
              <a:t> </a:t>
            </a:r>
            <a:r>
              <a:rPr lang="en-US" sz="2000" b="true">
                <a:latin typeface="Courier New"/>
                <a:ea typeface="宋体"/>
              </a:rPr>
              <a:t>filename</a:t>
            </a:r>
            <a:r>
              <a:rPr lang="en-US" sz="2000" b="false">
                <a:latin typeface="Comic Sans MS"/>
                <a:ea typeface="宋体"/>
              </a:rPr>
              <a:t>. </a:t>
            </a:r>
            <a:endParaRPr/>
          </a:p>
          <a:p>
            <a:pPr marL="342900" lvl="0" indent="-342900">
              <a:spcBef>
                <a:spcPct val="20000"/>
              </a:spcBef>
              <a:buChar char="•"/>
            </a:pPr>
            <a:r>
              <a:rPr lang="en-US" sz="2800" b="false">
                <a:latin typeface="Comic Sans MS"/>
                <a:ea typeface="宋体"/>
              </a:rPr>
              <a:t>The </a:t>
            </a:r>
            <a:r>
              <a:rPr lang="en-US" sz="2800" b="true">
                <a:latin typeface="Courier New"/>
                <a:ea typeface="宋体"/>
              </a:rPr>
              <a:t>Execve</a:t>
            </a:r>
            <a:r>
              <a:rPr lang="en-US" sz="3200" b="false">
                <a:latin typeface="Courier"/>
                <a:ea typeface="宋体"/>
              </a:rPr>
              <a:t> </a:t>
            </a:r>
            <a:r>
              <a:rPr lang="en-US" sz="2800" b="false">
                <a:latin typeface="Comic Sans MS"/>
                <a:ea typeface="宋体"/>
              </a:rPr>
              <a:t>is called </a:t>
            </a:r>
            <a:r>
              <a:rPr lang="en-US" sz="3200" b="false">
                <a:latin typeface="Comic Sans MS"/>
                <a:ea typeface="宋体"/>
              </a:rPr>
              <a:t>once</a:t>
            </a:r>
            <a:r>
              <a:rPr lang="en-US" sz="3200" b="false">
                <a:latin typeface="Comic Sans MS"/>
                <a:ea typeface="宋体"/>
              </a:rPr>
              <a:t> </a:t>
            </a:r>
            <a:r>
              <a:rPr lang="en-US" sz="2800" b="false">
                <a:latin typeface="Comic Sans MS"/>
                <a:ea typeface="宋体"/>
              </a:rPr>
              <a:t>and </a:t>
            </a:r>
            <a:r>
              <a:rPr lang="en-US" sz="32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never</a:t>
            </a:r>
            <a:r>
              <a:rPr lang="en-US" sz="2800" b="false">
                <a:solidFill>
                  <a:srgbClr val="FF0000">
                    <a:alpha val="100000"/>
                  </a:srgbClr>
                </a:solidFill>
                <a:latin typeface="Comic Sans MS"/>
                <a:ea typeface="宋体"/>
              </a:rPr>
              <a:t> </a:t>
            </a:r>
            <a:r>
              <a:rPr lang="en-US" sz="2800" b="false">
                <a:latin typeface="Comic Sans MS"/>
                <a:ea typeface="宋体"/>
              </a:rPr>
              <a:t>returns</a:t>
            </a:r>
            <a:endParaRPr/>
          </a:p>
        </p:txBody>
      </p:sp>
      <p:graphicFrame>
        <p:nvGraphicFramePr>
          <p:cNvPr id="441" name="Group 10"/>
          <p:cNvGraphicFramePr/>
          <p:nvPr>
            <p:ph sz="half" idx="4294967295"/>
          </p:nvPr>
        </p:nvGraphicFramePr>
        <p:xfrm rot="0" flipH="false" flipV="false">
          <a:off x="457200" y="1441450"/>
          <a:ext cx="8153400" cy="1676400"/>
        </p:xfrm>
        <a:graphic>
          <a:graphicData uri="http://schemas.openxmlformats.org/drawingml/2006/table">
            <a:tbl>
              <a:tblPr/>
              <a:tblGrid>
                <a:gridCol w="81534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1676400">
                <a:tc>
                  <a:txBody>
                    <a:bodyPr/>
                    <a:lstStyle/>
                    <a:p>
                      <a:pPr marL="0" lvl="0" indent="0" algn="l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#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include &lt;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unistd.h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&gt;</a:t>
                      </a:r>
                      <a:endParaRPr/>
                    </a:p>
                    <a:p>
                      <a:pPr marL="0" lvl="0" indent="0" algn="l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execve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(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const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char *filename,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const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char *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argv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[],
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         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const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char *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envp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[]);</a:t>
                      </a:r>
                      <a:endParaRPr/>
                    </a:p>
                    <a:p>
                      <a:pPr marL="0" lvl="0" indent="0" algn="r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800" b="false">
                          <a:solidFill>
                            <a:srgbClr val="FF0000">
                              <a:alpha val="100000"/>
                            </a:srgbClr>
                          </a:solidFill>
                          <a:effectLst/>
                          <a:latin typeface="Comic Sans MS"/>
                          <a:ea typeface="宋体"/>
                        </a:rPr>
                        <a:t>does not return if OK, returns -1 on error</a:t>
                      </a:r>
                      <a:endParaRPr/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73.xml><?xml version="1.0" encoding="utf-8"?>
<p:sld xmlns:a="http://schemas.openxmlformats.org/drawingml/2006/main" xmlns:p="http://schemas.openxmlformats.org/presentationml/2006/main">
  <p:cSld>
    <p:spTree>
      <p:nvGrpSpPr>
        <p:cNvPr id="4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44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Loading and Running</a:t>
            </a:r>
            <a:endParaRPr/>
          </a:p>
        </p:txBody>
      </p:sp>
      <p:sp>
        <p:nvSpPr>
          <p:cNvPr id="445" name="Rectangle 379"/>
          <p:cNvSpPr>
            <a:spLocks noGrp="true" noChangeShapeType="true"/>
          </p:cNvSpPr>
          <p:nvPr/>
        </p:nvSpPr>
        <p:spPr>
          <a:xfrm>
            <a:off x="609600" y="5048250"/>
            <a:ext cx="11430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envp</a:t>
            </a:r>
            <a:endParaRPr/>
          </a:p>
        </p:txBody>
      </p:sp>
      <p:sp>
        <p:nvSpPr>
          <p:cNvPr id="446" name="Rectangle 385"/>
          <p:cNvSpPr>
            <a:spLocks noGrp="true" noChangeShapeType="true"/>
          </p:cNvSpPr>
          <p:nvPr/>
        </p:nvSpPr>
        <p:spPr>
          <a:xfrm>
            <a:off x="2898775" y="5962650"/>
            <a:ext cx="1749425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envp[n-1]</a:t>
            </a:r>
            <a:endParaRPr/>
          </a:p>
        </p:txBody>
      </p:sp>
      <p:sp>
        <p:nvSpPr>
          <p:cNvPr id="447" name="Rectangle 386"/>
          <p:cNvSpPr>
            <a:spLocks noGrp="true" noChangeShapeType="true"/>
          </p:cNvSpPr>
          <p:nvPr/>
        </p:nvSpPr>
        <p:spPr>
          <a:xfrm>
            <a:off x="2898775" y="5657850"/>
            <a:ext cx="1749425" cy="304800"/>
          </a:xfrm>
          <a:prstGeom prst="rect">
            <a:avLst/>
          </a:prstGeom>
          <a:solidFill>
            <a:srgbClr val="C0C0C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vert="vert" wrap="none" anchor="ctr" anchorCtr="false"/>
          <a:lstStyle/>
          <a:p>
            <a:pPr lvl="0" hangingPunct="true"/>
            <a:r>
              <a:rPr lang="en-US" sz="1200">
                <a:solidFill>
                  <a:srgbClr val="000000"/>
                </a:solidFill>
                <a:latin typeface="Courier New" pitchFamily="49"/>
              </a:rPr>
              <a:t>...</a:t>
            </a:r>
            <a:endParaRPr/>
          </a:p>
        </p:txBody>
      </p:sp>
      <p:sp>
        <p:nvSpPr>
          <p:cNvPr id="448" name="Rectangle 387"/>
          <p:cNvSpPr>
            <a:spLocks noGrp="true" noChangeShapeType="true"/>
          </p:cNvSpPr>
          <p:nvPr/>
        </p:nvSpPr>
        <p:spPr>
          <a:xfrm>
            <a:off x="2898775" y="5048250"/>
            <a:ext cx="1749425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envp[0]</a:t>
            </a:r>
            <a:endParaRPr/>
          </a:p>
        </p:txBody>
      </p:sp>
      <p:sp>
        <p:nvSpPr>
          <p:cNvPr id="449" name="Rectangle 388"/>
          <p:cNvSpPr>
            <a:spLocks noGrp="true" noChangeShapeType="true"/>
          </p:cNvSpPr>
          <p:nvPr/>
        </p:nvSpPr>
        <p:spPr>
          <a:xfrm>
            <a:off x="2898775" y="5353050"/>
            <a:ext cx="1749425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envp[1]</a:t>
            </a:r>
            <a:endParaRPr/>
          </a:p>
        </p:txBody>
      </p:sp>
      <p:sp>
        <p:nvSpPr>
          <p:cNvPr id="450" name="Rectangle 389"/>
          <p:cNvSpPr>
            <a:spLocks noGrp="true" noChangeShapeType="true"/>
          </p:cNvSpPr>
          <p:nvPr/>
        </p:nvSpPr>
        <p:spPr>
          <a:xfrm>
            <a:off x="2898775" y="6267450"/>
            <a:ext cx="1749425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NULL</a:t>
            </a:r>
            <a:endParaRPr/>
          </a:p>
        </p:txBody>
      </p:sp>
      <p:sp>
        <p:nvSpPr>
          <p:cNvPr id="451" name="Rectangle 390"/>
          <p:cNvSpPr>
            <a:spLocks noGrp="true" noChangeShapeType="true"/>
          </p:cNvSpPr>
          <p:nvPr/>
        </p:nvSpPr>
        <p:spPr>
          <a:xfrm>
            <a:off x="5791200" y="5048250"/>
            <a:ext cx="22860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"PWD=/usr/droh"</a:t>
            </a:r>
            <a:endParaRPr/>
          </a:p>
        </p:txBody>
      </p:sp>
      <p:sp>
        <p:nvSpPr>
          <p:cNvPr id="452" name="Rectangle 391"/>
          <p:cNvSpPr>
            <a:spLocks noGrp="true" noChangeShapeType="true"/>
          </p:cNvSpPr>
          <p:nvPr/>
        </p:nvSpPr>
        <p:spPr>
          <a:xfrm>
            <a:off x="5791200" y="5505450"/>
            <a:ext cx="2130425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"PRINTER=iron"</a:t>
            </a:r>
            <a:endParaRPr/>
          </a:p>
        </p:txBody>
      </p:sp>
      <p:sp>
        <p:nvSpPr>
          <p:cNvPr id="453" name="Rectangle 392"/>
          <p:cNvSpPr>
            <a:spLocks noGrp="true" noChangeShapeType="true"/>
          </p:cNvSpPr>
          <p:nvPr/>
        </p:nvSpPr>
        <p:spPr>
          <a:xfrm>
            <a:off x="5791200" y="6267450"/>
            <a:ext cx="16764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"USER=droh"</a:t>
            </a:r>
            <a:endParaRPr/>
          </a:p>
        </p:txBody>
      </p:sp>
      <p:sp>
        <p:nvSpPr>
          <p:cNvPr id="454" name="Line 394"/>
          <p:cNvSpPr>
            <a:spLocks noGrp="true" noChangeShapeType="true"/>
          </p:cNvSpPr>
          <p:nvPr/>
        </p:nvSpPr>
        <p:spPr>
          <a:xfrm flipV="true">
            <a:off x="4648200" y="5200650"/>
            <a:ext cx="11430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55" name="Line 395"/>
          <p:cNvSpPr>
            <a:spLocks noGrp="true" noChangeShapeType="true"/>
          </p:cNvSpPr>
          <p:nvPr/>
        </p:nvSpPr>
        <p:spPr>
          <a:xfrm>
            <a:off x="4648200" y="5505450"/>
            <a:ext cx="1143000" cy="1524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56" name="Line 396"/>
          <p:cNvSpPr>
            <a:spLocks noGrp="true" noChangeShapeType="true"/>
          </p:cNvSpPr>
          <p:nvPr/>
        </p:nvSpPr>
        <p:spPr>
          <a:xfrm>
            <a:off x="4648200" y="6115050"/>
            <a:ext cx="1143000" cy="3048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57" name="Text Box 398"/>
          <p:cNvSpPr txBox="true">
            <a:spLocks noGrp="true" noChangeShapeType="true"/>
          </p:cNvSpPr>
          <p:nvPr/>
        </p:nvSpPr>
        <p:spPr>
          <a:xfrm>
            <a:off x="3359150" y="4711700"/>
            <a:ext cx="917575" cy="3365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envp[]</a:t>
            </a:r>
            <a:endParaRPr/>
          </a:p>
        </p:txBody>
      </p:sp>
      <p:sp>
        <p:nvSpPr>
          <p:cNvPr id="458" name="Line 404"/>
          <p:cNvSpPr>
            <a:spLocks noGrp="true" noChangeShapeType="true"/>
          </p:cNvSpPr>
          <p:nvPr/>
        </p:nvSpPr>
        <p:spPr>
          <a:xfrm flipV="true">
            <a:off x="1755775" y="5200650"/>
            <a:ext cx="11430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59" name="Rectangle 379"/>
          <p:cNvSpPr>
            <a:spLocks noGrp="true" noChangeShapeType="true"/>
          </p:cNvSpPr>
          <p:nvPr/>
        </p:nvSpPr>
        <p:spPr>
          <a:xfrm>
            <a:off x="609600" y="2971800"/>
            <a:ext cx="11430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argv</a:t>
            </a:r>
            <a:endParaRPr/>
          </a:p>
        </p:txBody>
      </p:sp>
      <p:sp>
        <p:nvSpPr>
          <p:cNvPr id="460" name="Rectangle 385"/>
          <p:cNvSpPr>
            <a:spLocks noGrp="true" noChangeShapeType="true"/>
          </p:cNvSpPr>
          <p:nvPr/>
        </p:nvSpPr>
        <p:spPr>
          <a:xfrm>
            <a:off x="2895600" y="3886200"/>
            <a:ext cx="17526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argv[argc-1]</a:t>
            </a:r>
            <a:endParaRPr/>
          </a:p>
        </p:txBody>
      </p:sp>
      <p:sp>
        <p:nvSpPr>
          <p:cNvPr id="461" name="Rectangle 386"/>
          <p:cNvSpPr>
            <a:spLocks noGrp="true" noChangeShapeType="true"/>
          </p:cNvSpPr>
          <p:nvPr/>
        </p:nvSpPr>
        <p:spPr>
          <a:xfrm>
            <a:off x="2895600" y="3581400"/>
            <a:ext cx="1752600" cy="304800"/>
          </a:xfrm>
          <a:prstGeom prst="rect">
            <a:avLst/>
          </a:prstGeom>
          <a:solidFill>
            <a:srgbClr val="C0C0C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 vert="vert" wrap="none" anchor="ctr" anchorCtr="false"/>
          <a:lstStyle/>
          <a:p>
            <a:pPr lvl="0" hangingPunct="true"/>
            <a:r>
              <a:rPr lang="en-US" sz="1200">
                <a:solidFill>
                  <a:srgbClr val="000000"/>
                </a:solidFill>
                <a:latin typeface="Courier New" pitchFamily="49"/>
              </a:rPr>
              <a:t>...</a:t>
            </a:r>
            <a:endParaRPr/>
          </a:p>
        </p:txBody>
      </p:sp>
      <p:sp>
        <p:nvSpPr>
          <p:cNvPr id="462" name="Rectangle 387"/>
          <p:cNvSpPr>
            <a:spLocks noGrp="true" noChangeShapeType="true"/>
          </p:cNvSpPr>
          <p:nvPr/>
        </p:nvSpPr>
        <p:spPr>
          <a:xfrm>
            <a:off x="2895600" y="2971800"/>
            <a:ext cx="17526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argv[0]</a:t>
            </a:r>
            <a:endParaRPr/>
          </a:p>
        </p:txBody>
      </p:sp>
      <p:sp>
        <p:nvSpPr>
          <p:cNvPr id="463" name="Rectangle 388"/>
          <p:cNvSpPr>
            <a:spLocks noGrp="true" noChangeShapeType="true"/>
          </p:cNvSpPr>
          <p:nvPr/>
        </p:nvSpPr>
        <p:spPr>
          <a:xfrm>
            <a:off x="2895600" y="3276600"/>
            <a:ext cx="17526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argv[1]</a:t>
            </a:r>
            <a:endParaRPr/>
          </a:p>
        </p:txBody>
      </p:sp>
      <p:sp>
        <p:nvSpPr>
          <p:cNvPr id="464" name="Rectangle 389"/>
          <p:cNvSpPr>
            <a:spLocks noGrp="true" noChangeShapeType="true"/>
          </p:cNvSpPr>
          <p:nvPr/>
        </p:nvSpPr>
        <p:spPr>
          <a:xfrm>
            <a:off x="2895600" y="4191000"/>
            <a:ext cx="17526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NULL</a:t>
            </a:r>
            <a:endParaRPr/>
          </a:p>
        </p:txBody>
      </p:sp>
      <p:sp>
        <p:nvSpPr>
          <p:cNvPr id="465" name="Rectangle 390"/>
          <p:cNvSpPr>
            <a:spLocks noGrp="true" noChangeShapeType="true"/>
          </p:cNvSpPr>
          <p:nvPr/>
        </p:nvSpPr>
        <p:spPr>
          <a:xfrm>
            <a:off x="5791200" y="2971800"/>
            <a:ext cx="16764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"ls"</a:t>
            </a:r>
            <a:endParaRPr/>
          </a:p>
        </p:txBody>
      </p:sp>
      <p:sp>
        <p:nvSpPr>
          <p:cNvPr id="466" name="Rectangle 391"/>
          <p:cNvSpPr>
            <a:spLocks noGrp="true" noChangeShapeType="true"/>
          </p:cNvSpPr>
          <p:nvPr/>
        </p:nvSpPr>
        <p:spPr>
          <a:xfrm>
            <a:off x="5791200" y="3429000"/>
            <a:ext cx="16764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"-lt"</a:t>
            </a:r>
            <a:endParaRPr/>
          </a:p>
        </p:txBody>
      </p:sp>
      <p:sp>
        <p:nvSpPr>
          <p:cNvPr id="467" name="Rectangle 392"/>
          <p:cNvSpPr>
            <a:spLocks noGrp="true" noChangeShapeType="true"/>
          </p:cNvSpPr>
          <p:nvPr/>
        </p:nvSpPr>
        <p:spPr>
          <a:xfrm>
            <a:off x="5791200" y="4191000"/>
            <a:ext cx="2209800" cy="3048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</p:spPr>
        <p:txBody>
          <a:bodyPr wrap="none" anchor="ctr" anchorCtr="false"/>
          <a:lstStyle/>
          <a:p>
            <a:pPr lvl="0" hangingPunct="true"/>
            <a:r>
              <a:rPr lang="en-US" sz="1800" b="false" i="false" u="none">
                <a:solidFill>
                  <a:srgbClr val="000000"/>
                </a:solidFill>
                <a:latin typeface="Courier New" pitchFamily="49"/>
              </a:rPr>
              <a:t>"/usr/include"</a:t>
            </a:r>
            <a:endParaRPr/>
          </a:p>
        </p:txBody>
      </p:sp>
      <p:sp>
        <p:nvSpPr>
          <p:cNvPr id="468" name="Line 394"/>
          <p:cNvSpPr>
            <a:spLocks noGrp="true" noChangeShapeType="true"/>
          </p:cNvSpPr>
          <p:nvPr/>
        </p:nvSpPr>
        <p:spPr>
          <a:xfrm flipV="true">
            <a:off x="4648200" y="3124200"/>
            <a:ext cx="11430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69" name="Line 395"/>
          <p:cNvSpPr>
            <a:spLocks noGrp="true" noChangeShapeType="true"/>
          </p:cNvSpPr>
          <p:nvPr/>
        </p:nvSpPr>
        <p:spPr>
          <a:xfrm>
            <a:off x="4648200" y="3429000"/>
            <a:ext cx="1143000" cy="1524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70" name="Line 396"/>
          <p:cNvSpPr>
            <a:spLocks noGrp="true" noChangeShapeType="true"/>
          </p:cNvSpPr>
          <p:nvPr/>
        </p:nvSpPr>
        <p:spPr>
          <a:xfrm>
            <a:off x="4648200" y="4038600"/>
            <a:ext cx="1143000" cy="3048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71" name="Text Box 398"/>
          <p:cNvSpPr txBox="true">
            <a:spLocks noGrp="true" noChangeShapeType="true"/>
          </p:cNvSpPr>
          <p:nvPr/>
        </p:nvSpPr>
        <p:spPr>
          <a:xfrm>
            <a:off x="3352800" y="2571750"/>
            <a:ext cx="1108075" cy="400050"/>
          </a:xfrm>
          <a:prstGeom prst="rect">
            <a:avLst/>
          </a:prstGeom>
          <a:noFill/>
        </p:spPr>
        <p:txBody>
          <a:bodyPr wrap="none" anchor="ctr" anchorCtr="false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argv[]</a:t>
            </a:r>
            <a:endParaRPr/>
          </a:p>
        </p:txBody>
      </p:sp>
      <p:sp>
        <p:nvSpPr>
          <p:cNvPr id="472" name="Line 403"/>
          <p:cNvSpPr>
            <a:spLocks noGrp="true" noChangeShapeType="true"/>
          </p:cNvSpPr>
          <p:nvPr/>
        </p:nvSpPr>
        <p:spPr>
          <a:xfrm flipV="true">
            <a:off x="1752600" y="3124200"/>
            <a:ext cx="1143000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 type="triangle" w="med" len="med"/>
          </a:ln>
        </p:spPr>
        <p:txBody>
          <a:bodyPr wrap="none" anchor="ctr" anchorCtr="false"/>
          <a:lstStyle/>
          <a:p>
            <a:pPr/>
            <a:endParaRPr sz="1400" dirty="false"/>
          </a:p>
        </p:txBody>
      </p:sp>
      <p:sp>
        <p:nvSpPr>
          <p:cNvPr id="473" name="Rectangle 1"/>
          <p:cNvSpPr>
            <a:spLocks noGrp="true" noChangeShapeType="true"/>
          </p:cNvSpPr>
          <p:nvPr/>
        </p:nvSpPr>
        <p:spPr>
          <a:xfrm>
            <a:off x="609600" y="1600200"/>
            <a:ext cx="7620000" cy="757237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int execve(const char *filename, const char *</a:t>
            </a:r>
            <a:r>
              <a:rPr lang="en-US" sz="18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argv</a:t>
            </a:r>
            <a:r>
              <a:rPr lang="en-US" sz="1800" b="true" i="false" u="none">
                <a:latin typeface="Courier New" pitchFamily="49"/>
                <a:ea typeface="宋体" pitchFamily="2" charset="-122"/>
              </a:rPr>
              <a:t>[], </a:t>
            </a:r>
            <a:br>
              <a:rPr lang="en-US" sz="1800" b="true" i="false" u="none">
                <a:latin typeface="Courier New" pitchFamily="49"/>
                <a:ea typeface="宋体" pitchFamily="2" charset="-122"/>
              </a:rPr>
            </a:br>
            <a:r>
              <a:rPr lang="en-US" sz="1800" b="true" i="false" u="none">
                <a:latin typeface="Courier New" pitchFamily="49"/>
                <a:ea typeface="宋体" pitchFamily="2" charset="-122"/>
              </a:rPr>
              <a:t>           const char *</a:t>
            </a:r>
            <a:r>
              <a:rPr lang="en-US" sz="18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envp</a:t>
            </a:r>
            <a:r>
              <a:rPr lang="en-US" sz="1800" b="true" i="false" u="none">
                <a:latin typeface="Courier New" pitchFamily="49"/>
                <a:ea typeface="宋体" pitchFamily="2" charset="-122"/>
              </a:rPr>
              <a:t>[]);</a:t>
            </a:r>
            <a:endParaRPr/>
          </a:p>
        </p:txBody>
      </p:sp>
    </p:spTree>
  </p:cSld>
  <p:clrMapOvr>
    <a:masterClrMapping/>
  </p:clrMapOvr>
  <p:transition/>
</p:sld>
</file>

<file path=ppt/slides/slide74.xml><?xml version="1.0" encoding="utf-8"?>
<p:sld xmlns:a="http://schemas.openxmlformats.org/drawingml/2006/main" xmlns:p="http://schemas.openxmlformats.org/presentationml/2006/main">
  <p:cSld>
    <p:spTree>
      <p:nvGrpSpPr>
        <p:cNvPr id="4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76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Loading and Running</a:t>
            </a:r>
            <a:endParaRPr/>
          </a:p>
        </p:txBody>
      </p:sp>
      <p:sp>
        <p:nvSpPr>
          <p:cNvPr id="477" name="Rectangle 1"/>
          <p:cNvSpPr>
            <a:spLocks noGrp="true" noChangeShapeType="true"/>
          </p:cNvSpPr>
          <p:nvPr/>
        </p:nvSpPr>
        <p:spPr>
          <a:xfrm>
            <a:off x="609600" y="1600200"/>
            <a:ext cx="7620000" cy="757237"/>
          </a:xfrm>
          <a:prstGeom prst="rect">
            <a:avLst/>
          </a:prstGeom>
          <a:solidFill>
            <a:srgbClr val="FFFFCC"/>
          </a:solidFill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lnSpc>
                <a:spcPct val="120000"/>
              </a:lnSpc>
              <a:spcBef>
                <a:spcPct val="20000"/>
              </a:spcBef>
              <a:buNone/>
            </a:pPr>
            <a:r>
              <a:rPr lang="en-US" sz="1800" b="true" i="false" u="none">
                <a:latin typeface="Courier New" pitchFamily="49"/>
                <a:ea typeface="宋体" pitchFamily="2" charset="-122"/>
              </a:rPr>
              <a:t>int execve(const char *filename, const char *</a:t>
            </a:r>
            <a:r>
              <a:rPr lang="en-US" sz="18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argv</a:t>
            </a:r>
            <a:r>
              <a:rPr lang="en-US" sz="1800" b="true" i="false" u="none">
                <a:latin typeface="Courier New" pitchFamily="49"/>
                <a:ea typeface="宋体" pitchFamily="2" charset="-122"/>
              </a:rPr>
              <a:t>[], </a:t>
            </a:r>
            <a:br>
              <a:rPr lang="en-US" sz="1800" b="true" i="false" u="none">
                <a:latin typeface="Courier New" pitchFamily="49"/>
                <a:ea typeface="宋体" pitchFamily="2" charset="-122"/>
              </a:rPr>
            </a:br>
            <a:r>
              <a:rPr lang="en-US" sz="1800" b="true" i="false" u="none">
                <a:latin typeface="Courier New" pitchFamily="49"/>
                <a:ea typeface="宋体" pitchFamily="2" charset="-122"/>
              </a:rPr>
              <a:t>           const char *</a:t>
            </a:r>
            <a:r>
              <a:rPr lang="en-US" sz="18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envp</a:t>
            </a:r>
            <a:r>
              <a:rPr lang="en-US" sz="1800" b="true" i="false" u="none">
                <a:latin typeface="Courier New" pitchFamily="49"/>
                <a:ea typeface="宋体" pitchFamily="2" charset="-122"/>
              </a:rPr>
              <a:t>[]);</a:t>
            </a:r>
            <a:endParaRPr/>
          </a:p>
        </p:txBody>
      </p:sp>
      <p:sp>
        <p:nvSpPr>
          <p:cNvPr id="478" name=""/>
          <p:cNvSpPr txBox="true"/>
          <p:nvPr/>
        </p:nvSpPr>
        <p:spPr>
          <a:xfrm rot="0" flipH="false" flipV="false">
            <a:off x="663575" y="2586037"/>
            <a:ext cx="7816850" cy="6985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en-US"/>
              <a:t>execve</a:t>
            </a:r>
            <a:r>
              <a:rPr lang="zh-CN"/>
              <a:t>重新</a:t>
            </a:r>
            <a:r>
              <a:rPr lang="en-US"/>
              <a:t>set-up user stack</a:t>
            </a:r>
            <a:r>
              <a:rPr lang="zh-CN"/>
              <a:t>并将控制流转到一个新的</a:t>
            </a:r>
            <a:r>
              <a:rPr lang="en-US"/>
              <a:t>main</a:t>
            </a:r>
            <a:r>
              <a:rPr lang="zh-CN"/>
              <a:t>函数：</a:t>
            </a:r>
            <a:endParaRPr/>
          </a:p>
          <a:p>
            <a:pPr>
              <a:buNone/>
            </a:pPr>
            <a:r>
              <a:rPr lang="en-US"/>
              <a:t>int main(int argc, char **argv, char **envp);</a:t>
            </a:r>
            <a:endParaRPr/>
          </a:p>
        </p:txBody>
      </p:sp>
    </p:spTree>
  </p:cSld>
  <p:clrMapOvr>
    <a:masterClrMapping/>
  </p:clrMapOvr>
  <p:transition/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81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152400" y="201612"/>
            <a:ext cx="6921500" cy="1120775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r>
              <a:rPr lang="en-US" sz="2400" b="false" i="false" u="none">
                <a:ea typeface="宋体" pitchFamily="2" charset="-122"/>
              </a:rPr>
              <a:t>The user </a:t>
            </a:r>
            <a:r>
              <a:rPr lang="en-US" sz="2400" b="false" i="false" u="none">
                <a:ea typeface="宋体" pitchFamily="2" charset="-122"/>
              </a:rPr>
              <a:t>stack</a:t>
            </a:r>
            <a:r>
              <a:rPr lang="en-US" sz="2400" b="false" i="false" u="none">
                <a:ea typeface="宋体" pitchFamily="2" charset="-122"/>
              </a:rPr>
              <a:t> when a new program starts</a:t>
            </a:r>
            <a:endParaRPr/>
          </a:p>
        </p:txBody>
      </p:sp>
      <p:pic>
        <p:nvPicPr>
          <p:cNvPr id="482" name="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 flipH="false" flipV="false">
            <a:off x="3210077" y="1474607"/>
            <a:ext cx="5933923" cy="4793899"/>
          </a:xfrm>
          <a:prstGeom prst="rect"/>
        </p:spPr>
      </p:pic>
      <p:pic>
        <p:nvPicPr>
          <p:cNvPr id="483" name="图片 1"/>
          <p:cNvPicPr>
            <a:picLocks noGrp="true" noChangeAspect="true"/>
          </p:cNvPicPr>
          <p:nvPr/>
        </p:nvPicPr>
        <p:blipFill>
          <a:blip r:embed="rId3"/>
          <a:srcRect/>
          <a:stretch>
            <a:fillRect/>
          </a:stretch>
        </p:blipFill>
        <p:spPr>
          <a:xfrm rot="0" flipH="false" flipV="false">
            <a:off x="152400" y="1474607"/>
            <a:ext cx="4419600" cy="2880512"/>
          </a:xfrm>
          <a:prstGeom prst="rect">
            <a:avLst/>
          </a:prstGeom>
          <a:noFill/>
        </p:spPr>
      </p:pic>
      <p:sp>
        <p:nvSpPr>
          <p:cNvPr id="484" name=""/>
          <p:cNvSpPr txBox="true"/>
          <p:nvPr/>
        </p:nvSpPr>
        <p:spPr>
          <a:xfrm rot="0" flipH="false" flipV="false">
            <a:off x="483326" y="4872446"/>
            <a:ext cx="2597694" cy="698500"/>
          </a:xfrm>
          <a:prstGeom prst="rect">
            <a:avLst/>
          </a:prstGeom>
          <a:ln w="6350">
            <a:prstDash val="solid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/>
              <a:t>系统全局变量</a:t>
            </a:r>
            <a:r>
              <a:rPr lang="en-US"/>
              <a:t>environ</a:t>
            </a:r>
            <a:r>
              <a:rPr lang="zh-CN"/>
              <a:t>指向</a:t>
            </a:r>
            <a:r>
              <a:rPr lang="en-US"/>
              <a:t>envp[0]</a:t>
            </a:r>
            <a:endParaRPr/>
          </a:p>
        </p:txBody>
      </p:sp>
      <p:sp>
        <p:nvSpPr>
          <p:cNvPr id="485" name=""/>
          <p:cNvSpPr txBox="true"/>
          <p:nvPr/>
        </p:nvSpPr>
        <p:spPr>
          <a:xfrm rot="0" flipH="false" flipV="false">
            <a:off x="6858000" y="5094696"/>
            <a:ext cx="1403350" cy="33655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pPr>
              <a:buNone/>
            </a:pPr>
            <a:r>
              <a:rPr lang="zh-CN" sz="1600"/>
              <a:t>系统启动函数</a:t>
            </a:r>
            <a:endParaRPr/>
          </a:p>
        </p:txBody>
      </p:sp>
    </p:spTree>
  </p:cSld>
  <p:clrMapOvr>
    <a:masterClrMapping/>
  </p:clrMapOvr>
  <p:transition/>
</p:sld>
</file>

<file path=ppt/slides/slide76.xml><?xml version="1.0" encoding="utf-8"?>
<p:sld xmlns:p="http://schemas.openxmlformats.org/presentationml/2006/main" xmlns:a16="http://schemas.microsoft.com/office/drawing/2014/main" xmlns:a="http://schemas.openxmlformats.org/drawingml/2006/main" xmlns:mc="http://schemas.openxmlformats.org/markup-compatibility/2006" mc:Ignorable="a16">
  <p:cSld>
    <p:spTree>
      <p:nvGrpSpPr>
        <p:cNvPr id="4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灯片编号占位符 6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488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>
                <a:latin typeface="Comic Sans MS"/>
                <a:ea typeface="宋体"/>
              </a:rPr>
              <a:t>修改</a:t>
            </a:r>
            <a:r>
              <a:rPr lang="en-US">
                <a:latin typeface="Comic Sans MS"/>
                <a:ea typeface="宋体"/>
              </a:rPr>
              <a:t>environment variables</a:t>
            </a:r>
            <a:endParaRPr/>
          </a:p>
        </p:txBody>
      </p:sp>
      <p:graphicFrame>
        <p:nvGraphicFramePr>
          <p:cNvPr id="489" name="Group 11"/>
          <p:cNvGraphicFramePr/>
          <p:nvPr>
            <p:ph sz="half" idx="4294967295"/>
          </p:nvPr>
        </p:nvGraphicFramePr>
        <p:xfrm>
          <a:off x="533400" y="1600200"/>
          <a:ext cx="7924800" cy="3584575"/>
        </p:xfrm>
        <a:graphic>
          <a:graphicData uri="http://schemas.openxmlformats.org/drawingml/2006/table">
            <a:tbl>
              <a:tblPr/>
              <a:tblGrid>
                <a:gridCol w="7924800">
                  <a:extLst>
                    <a:ext uri="{9D8B030D-6E8A-4147-A177-3AD203B41FA5}">
                      <a16:colId val="1"/>
                    </a:ext>
                  </a:extLst>
                </a:gridCol>
              </a:tblGrid>
              <a:tr h="3584575">
                <a:tc>
                  <a:txBody>
                    <a:bodyPr/>
                    <a:lstStyle/>
                    <a:p>
                      <a:pPr marL="0" lvl="0" indent="0" algn="l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zh-CN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#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include &lt;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unistd.h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&gt;</a:t>
                      </a:r>
                      <a:endParaRPr/>
                    </a:p>
                    <a:p>
                      <a:pPr marL="0" lvl="0" indent="0" algn="l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char *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>
                            <a:outerShdw blurRad="38100" dist="38100" dir="2700000" sx="100000" sy="1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urier New"/>
                          <a:ea typeface="宋体"/>
                          <a:cs typeface="Courier New"/>
                        </a:rPr>
                        <a:t>getenv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(const char *name);</a:t>
                      </a:r>
                      <a:endParaRPr/>
                    </a:p>
                    <a:p>
                      <a:pPr marL="0" lvl="0" indent="0" algn="r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800" b="false">
                          <a:solidFill>
                            <a:srgbClr val="FF0000">
                              <a:alpha val="100000"/>
                            </a:srgbClr>
                          </a:solidFill>
                          <a:effectLst/>
                          <a:latin typeface="Comic Sans MS"/>
                          <a:ea typeface="宋体"/>
                          <a:cs typeface="Times New Roman"/>
                        </a:rPr>
                        <a:t>Returns: </a:t>
                      </a:r>
                      <a:r>
                        <a:rPr lang="en-US" sz="1800" b="false">
                          <a:solidFill>
                            <a:srgbClr val="FF0000">
                              <a:alpha val="100000"/>
                            </a:srgbClr>
                          </a:solidFill>
                          <a:effectLst/>
                          <a:latin typeface="Comic Sans MS"/>
                          <a:ea typeface="宋体"/>
                          <a:cs typeface="Times New Roman"/>
                        </a:rPr>
                        <a:t>ptr</a:t>
                      </a:r>
                      <a:r>
                        <a:rPr lang="en-US" sz="1800" b="false">
                          <a:solidFill>
                            <a:srgbClr val="FF0000">
                              <a:alpha val="100000"/>
                            </a:srgbClr>
                          </a:solidFill>
                          <a:effectLst/>
                          <a:latin typeface="Comic Sans MS"/>
                          <a:ea typeface="宋体"/>
                          <a:cs typeface="Times New Roman"/>
                        </a:rPr>
                        <a:t> to name if exists, NULL if no match.</a:t>
                      </a:r>
                      <a:endParaRPr/>
                    </a:p>
                    <a:p>
                      <a:pPr marL="0" lvl="0" indent="0" algn="l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>
                            <a:outerShdw blurRad="38100" dist="38100" dir="2700000" sx="100000" sy="1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urier New"/>
                          <a:ea typeface="宋体"/>
                          <a:cs typeface="Courier New"/>
                        </a:rPr>
                        <a:t>setenv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(const char *name, const char *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newvalue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,
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         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int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 overwrite); </a:t>
                      </a:r>
                      <a:r>
                        <a:rPr lang="en-US" sz="2400" b="fals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Times New Roman"/>
                          <a:ea typeface="宋体"/>
                          <a:cs typeface="Times New Roman"/>
                        </a:rPr>
                        <a:t>   </a:t>
                      </a:r>
                      <a:endParaRPr/>
                    </a:p>
                    <a:p>
                      <a:pPr marL="0" lvl="0" indent="0" algn="r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400" b="fals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Times New Roman"/>
                          <a:ea typeface="宋体"/>
                          <a:cs typeface="Times New Roman"/>
                        </a:rPr>
                        <a:t>                                   </a:t>
                      </a:r>
                      <a:r>
                        <a:rPr lang="en-US" sz="1800" b="false">
                          <a:solidFill>
                            <a:srgbClr val="FF0000">
                              <a:alpha val="100000"/>
                            </a:srgbClr>
                          </a:solidFill>
                          <a:effectLst/>
                          <a:latin typeface="Comic Sans MS"/>
                          <a:ea typeface="宋体"/>
                          <a:cs typeface="Times New Roman"/>
                        </a:rPr>
                        <a:t>Returns: 0 on success, -1 on error.</a:t>
                      </a:r>
                      <a:endParaRPr lang="en-US" sz="2400" b="false" i="false" u="none" strike="noStrike" baseline="0">
                        <a:ln>
                          <a:noFill/>
                        </a:ln>
                        <a:solidFill>
                          <a:srgbClr val="FF0000">
                            <a:alpha val="100000"/>
                          </a:srgbClr>
                        </a:solidFill>
                        <a:latin typeface="Comic Sans MS"/>
                        <a:ea typeface="宋体"/>
                        <a:cs typeface="Times New Roman"/>
                      </a:endParaRPr>
                    </a:p>
                    <a:p>
                      <a:pPr marL="0" lvl="0" indent="0" algn="l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void 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>
                            <a:outerShdw blurRad="38100" dist="38100" dir="2700000" sx="100000" sy="1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urier New"/>
                          <a:ea typeface="宋体"/>
                          <a:cs typeface="Courier New"/>
                        </a:rPr>
                        <a:t>unsetenv</a:t>
                      </a:r>
                      <a:r>
                        <a:rPr lang="en-US" sz="2000" b="tru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Courier New"/>
                          <a:ea typeface="宋体"/>
                          <a:cs typeface="Courier New"/>
                        </a:rPr>
                        <a:t>(const char *name);</a:t>
                      </a:r>
                      <a:endParaRPr/>
                    </a:p>
                    <a:p>
                      <a:pPr marL="0" lvl="0" indent="0" algn="r" defTabSz="914400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1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2400" b="false">
                          <a:solidFill>
                            <a:schemeClr val="tx1">
                              <a:alpha val="100000"/>
                            </a:schemeClr>
                          </a:solidFill>
                          <a:effectLst/>
                          <a:latin typeface="Times New Roman"/>
                          <a:ea typeface="宋体"/>
                          <a:cs typeface="Times New Roman"/>
                        </a:rPr>
                        <a:t>                                   </a:t>
                      </a:r>
                      <a:r>
                        <a:rPr lang="en-US" sz="1800" b="false">
                          <a:solidFill>
                            <a:srgbClr val="FF0000">
                              <a:alpha val="100000"/>
                            </a:srgbClr>
                          </a:solidFill>
                          <a:effectLst/>
                          <a:latin typeface="Comic Sans MS"/>
                          <a:ea typeface="宋体"/>
                          <a:cs typeface="Times New Roman"/>
                        </a:rPr>
                        <a:t>Returns: nothing.</a:t>
                      </a:r>
                      <a:endParaRPr/>
                    </a:p>
                  </a:txBody>
                  <a:tcPr marT="45722" marB="4572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</a:tbl>
          </a:graphicData>
        </a:graphic>
      </p:graphicFrame>
    </p:spTree>
  </p:cSld>
  <p:clrMapOvr>
    <a:masterClrMapping/>
  </p:clrMapOvr>
  <p:transition/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4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b="true">
                <a:latin typeface="Comic Sans MS"/>
                <a:ea typeface="宋体"/>
              </a:rPr>
              <a:t>Exec family funcs </a:t>
            </a:r>
            <a:endParaRPr/>
          </a:p>
        </p:txBody>
      </p:sp>
      <p:sp>
        <p:nvSpPr>
          <p:cNvPr id="492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pic>
        <p:nvPicPr>
          <p:cNvPr id="493" name="Picture 4"/>
          <p:cNvPicPr>
            <a:picLocks noGrp="true" noChangeAspect="true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09600" y="1470025"/>
            <a:ext cx="6792912" cy="5380037"/>
          </a:xfrm>
          <a:prstGeom prst="rect">
            <a:avLst/>
          </a:prstGeom>
          <a:noFill/>
        </p:spPr>
      </p:pic>
      <p:pic>
        <p:nvPicPr>
          <p:cNvPr id="494" name="Picture 4"/>
          <p:cNvPicPr>
            <a:picLocks noGrp="true" noChangeAspect="true"/>
          </p:cNvPicPr>
          <p:nvPr/>
        </p:nvPicPr>
        <p:blipFill>
          <a:blip r:embed="rId2"/>
          <a:srcRect/>
          <a:stretch>
            <a:fillRect/>
          </a:stretch>
        </p:blipFill>
        <p:spPr>
          <a:xfrm rot="0" flipH="false" flipV="false">
            <a:off x="4151312" y="223839"/>
            <a:ext cx="4813300" cy="1139825"/>
          </a:xfrm>
          <a:prstGeom prst="rect">
            <a:avLst/>
          </a:prstGeom>
          <a:noFill/>
        </p:spPr>
      </p:pic>
      <p:sp>
        <p:nvSpPr>
          <p:cNvPr id="495" name="矩形 1"/>
          <p:cNvSpPr>
            <a:spLocks noGrp="true" noChangeShapeType="true"/>
          </p:cNvSpPr>
          <p:nvPr/>
        </p:nvSpPr>
        <p:spPr>
          <a:xfrm rot="0" flipH="false" flipV="false">
            <a:off x="5840412" y="3402807"/>
            <a:ext cx="3124200" cy="730250"/>
          </a:xfrm>
          <a:prstGeom prst="rect">
            <a:avLst/>
          </a:prstGeom>
          <a:noFill/>
        </p:spPr>
        <p:txBody>
          <a:bodyPr lIns="91440" tIns="45720" rIns="91440" bIns="45720">
            <a:spAutoFit/>
          </a:bodyPr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zh-CN" sz="1400" b="true">
                <a:solidFill>
                  <a:srgbClr val="333333">
                    <a:alpha val="100000"/>
                  </a:srgbClr>
                </a:solidFill>
                <a:latin typeface="Microsoft YaHei"/>
                <a:ea typeface="Microsoft YaHei"/>
              </a:rPr>
              <a:t>wc统计文件的行数、字数、字节数</a:t>
            </a:r>
            <a:endParaRPr/>
          </a:p>
          <a:p>
            <a:pPr marL="0" lvl="0" indent="0">
              <a:spcBef>
                <a:spcPts val="0"/>
              </a:spcBef>
              <a:buNone/>
            </a:pPr>
            <a:r>
              <a:rPr lang="zh-CN" sz="1400" b="true">
                <a:solidFill>
                  <a:srgbClr val="333333">
                    <a:alpha val="100000"/>
                  </a:srgbClr>
                </a:solidFill>
                <a:latin typeface="Microsoft YaHei"/>
                <a:ea typeface="Microsoft YaHei"/>
              </a:rPr>
              <a:t>一个字被定义为由空白、跳格或换行字符分隔的字符串</a:t>
            </a:r>
            <a:endParaRPr/>
          </a:p>
        </p:txBody>
      </p:sp>
    </p:spTree>
  </p:cSld>
  <p:clrMapOvr>
    <a:masterClrMapping/>
  </p:clrMapOvr>
  <p:transition/>
</p:sld>
</file>

<file path=ppt/slides/slide78.xml><?xml version="1.0" encoding="utf-8"?>
<p:sld xmlns:a="http://schemas.openxmlformats.org/drawingml/2006/main" xmlns:p="http://schemas.openxmlformats.org/presentationml/2006/main">
  <p:cSld>
    <p:spTree>
      <p:nvGrpSpPr>
        <p:cNvPr id="4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 i="false" u="none">
                <a:ea typeface="宋体" pitchFamily="2" charset="-122"/>
              </a:rPr>
              <a:t>Why? Motivating the API</a:t>
            </a:r>
            <a:endParaRPr/>
          </a:p>
        </p:txBody>
      </p:sp>
      <p:sp>
        <p:nvSpPr>
          <p:cNvPr id="498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>
                <a:latin typeface="Comic Sans MS"/>
                <a:ea typeface="宋体"/>
              </a:rPr>
              <a:t>为什么采用</a:t>
            </a:r>
            <a:r>
              <a:rPr lang="en-US">
                <a:latin typeface="Comic Sans MS"/>
                <a:ea typeface="宋体"/>
              </a:rPr>
              <a:t>fork</a:t>
            </a:r>
            <a:r>
              <a:rPr lang="en-US">
                <a:latin typeface="Comic Sans MS"/>
                <a:ea typeface="宋体"/>
              </a:rPr>
              <a:t>和</a:t>
            </a:r>
            <a:r>
              <a:rPr lang="en-US">
                <a:latin typeface="Comic Sans MS"/>
                <a:ea typeface="宋体"/>
              </a:rPr>
              <a:t>exec</a:t>
            </a:r>
            <a:r>
              <a:rPr lang="en-US">
                <a:latin typeface="Comic Sans MS"/>
                <a:ea typeface="宋体"/>
              </a:rPr>
              <a:t>的组合来创建进程？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在</a:t>
            </a:r>
            <a:r>
              <a:rPr lang="en-US" b="false">
                <a:latin typeface="Comic Sans MS"/>
                <a:ea typeface="宋体"/>
              </a:rPr>
              <a:t>shell</a:t>
            </a:r>
            <a:r>
              <a:rPr lang="zh-CN" b="false">
                <a:latin typeface="Comic Sans MS"/>
                <a:ea typeface="宋体"/>
              </a:rPr>
              <a:t>和</a:t>
            </a:r>
            <a:r>
              <a:rPr lang="en-US" b="false">
                <a:latin typeface="Comic Sans MS"/>
                <a:ea typeface="宋体"/>
              </a:rPr>
              <a:t>web server</a:t>
            </a:r>
            <a:r>
              <a:rPr lang="zh-CN" b="false">
                <a:latin typeface="Comic Sans MS"/>
                <a:ea typeface="宋体"/>
              </a:rPr>
              <a:t>等程序中很常见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r>
              <a:rPr lang="zh-CN" b="false">
                <a:latin typeface="Comic Sans MS"/>
                <a:ea typeface="宋体"/>
              </a:rPr>
              <a:t>在</a:t>
            </a:r>
            <a:r>
              <a:rPr lang="zh-CN" b="false">
                <a:latin typeface="Comic Sans MS"/>
                <a:ea typeface="宋体"/>
              </a:rPr>
              <a:t>Unix Shell</a:t>
            </a:r>
            <a:r>
              <a:rPr lang="zh-CN" b="false">
                <a:latin typeface="Comic Sans MS"/>
                <a:ea typeface="宋体"/>
              </a:rPr>
              <a:t>程序</a:t>
            </a:r>
            <a:r>
              <a:rPr lang="zh-CN" b="false">
                <a:latin typeface="Comic Sans MS"/>
                <a:ea typeface="宋体"/>
              </a:rPr>
              <a:t>中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Shell</a:t>
            </a:r>
            <a:r>
              <a:rPr lang="en-US" b="false">
                <a:latin typeface="Comic Sans MS"/>
                <a:ea typeface="宋体"/>
              </a:rPr>
              <a:t>进程（父进程）先</a:t>
            </a:r>
            <a:r>
              <a:rPr lang="en-US" b="false">
                <a:latin typeface="Comic Sans MS"/>
                <a:ea typeface="宋体"/>
              </a:rPr>
              <a:t>fork</a:t>
            </a:r>
            <a:r>
              <a:rPr lang="en-US" b="false">
                <a:latin typeface="Comic Sans MS"/>
                <a:ea typeface="宋体"/>
              </a:rPr>
              <a:t>出一个子进程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然后子进程</a:t>
            </a:r>
            <a:r>
              <a:rPr lang="en-US" b="false">
                <a:latin typeface="Comic Sans MS"/>
                <a:ea typeface="宋体"/>
              </a:rPr>
              <a:t>exec</a:t>
            </a:r>
            <a:r>
              <a:rPr lang="en-US" b="false">
                <a:latin typeface="Comic Sans MS"/>
                <a:ea typeface="宋体"/>
              </a:rPr>
              <a:t>执行用户输入的命令</a:t>
            </a:r>
            <a:r>
              <a:rPr lang="en-US" b="false">
                <a:latin typeface="Comic Sans MS"/>
                <a:ea typeface="宋体"/>
              </a:rPr>
              <a:t>/</a:t>
            </a:r>
            <a:r>
              <a:rPr lang="en-US" b="false">
                <a:latin typeface="Comic Sans MS"/>
                <a:ea typeface="宋体"/>
              </a:rPr>
              <a:t>程序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父进程</a:t>
            </a:r>
            <a:r>
              <a:rPr lang="en-US" b="false">
                <a:latin typeface="Comic Sans MS"/>
                <a:ea typeface="宋体"/>
              </a:rPr>
              <a:t>wait</a:t>
            </a:r>
            <a:r>
              <a:rPr lang="en-US" b="false">
                <a:latin typeface="Comic Sans MS"/>
                <a:ea typeface="宋体"/>
              </a:rPr>
              <a:t>，直到子进程结束（前端模式）</a:t>
            </a:r>
            <a:endParaRPr/>
          </a:p>
          <a:p>
            <a:pPr marL="1143000" lvl="2" indent="-2286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父进程不</a:t>
            </a:r>
            <a:r>
              <a:rPr lang="en-US" b="false">
                <a:latin typeface="Comic Sans MS"/>
                <a:ea typeface="宋体"/>
              </a:rPr>
              <a:t>wait</a:t>
            </a:r>
            <a:r>
              <a:rPr lang="en-US" b="false">
                <a:latin typeface="Comic Sans MS"/>
                <a:ea typeface="宋体"/>
              </a:rPr>
              <a:t>，可以继续输入其他命令（后端模式</a:t>
            </a:r>
            <a:r>
              <a:rPr lang="en-US" b="false">
                <a:latin typeface="Comic Sans MS"/>
                <a:ea typeface="宋体"/>
              </a:rPr>
              <a:t>&amp;</a:t>
            </a:r>
            <a:r>
              <a:rPr lang="en-US" b="false">
                <a:latin typeface="Comic Sans MS"/>
                <a:ea typeface="宋体"/>
              </a:rPr>
              <a:t>）</a:t>
            </a:r>
            <a:endParaRPr/>
          </a:p>
          <a:p>
            <a:pPr marL="742950" lvl="1" indent="-285750">
              <a:spcBef>
                <a:spcPct val="20000"/>
              </a:spcBef>
              <a:buSzPct val="100000"/>
              <a:buChar char="–"/>
            </a:pP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>
                <a:latin typeface="Comic Sans MS"/>
                <a:ea typeface="宋体"/>
              </a:rPr>
              <a:t>Lab1: </a:t>
            </a:r>
            <a:r>
              <a:rPr lang="en-US" b="false">
                <a:latin typeface="Comic Sans MS"/>
                <a:ea typeface="宋体"/>
              </a:rPr>
              <a:t>写一个自己的</a:t>
            </a:r>
            <a:r>
              <a:rPr lang="en-US" b="false">
                <a:latin typeface="Comic Sans MS"/>
                <a:ea typeface="宋体"/>
              </a:rPr>
              <a:t>Shell</a:t>
            </a:r>
            <a:r>
              <a:rPr lang="en-US" b="false">
                <a:latin typeface="Comic Sans MS"/>
                <a:ea typeface="宋体"/>
              </a:rPr>
              <a:t>程序，核心就是</a:t>
            </a:r>
            <a:r>
              <a:rPr lang="en-US" b="false">
                <a:latin typeface="Comic Sans MS"/>
                <a:ea typeface="宋体"/>
              </a:rPr>
              <a:t>fork</a:t>
            </a:r>
            <a:r>
              <a:rPr lang="en-US" b="false">
                <a:latin typeface="Comic Sans MS"/>
                <a:ea typeface="宋体"/>
              </a:rPr>
              <a:t>和</a:t>
            </a:r>
            <a:r>
              <a:rPr lang="en-US" b="false">
                <a:latin typeface="Comic Sans MS"/>
                <a:ea typeface="宋体"/>
              </a:rPr>
              <a:t>exec</a:t>
            </a:r>
            <a:endParaRPr/>
          </a:p>
        </p:txBody>
      </p:sp>
      <p:sp>
        <p:nvSpPr>
          <p:cNvPr id="499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</p:spTree>
  </p:cSld>
  <p:clrMapOvr>
    <a:masterClrMapping/>
  </p:clrMapOvr>
  <p:transition/>
</p:sld>
</file>

<file path=ppt/slides/slide79.xml><?xml version="1.0" encoding="utf-8"?>
<p:sld xmlns:a="http://schemas.openxmlformats.org/drawingml/2006/main" xmlns:p="http://schemas.openxmlformats.org/presentationml/2006/main">
  <p:cSld>
    <p:spTree>
      <p:nvGrpSpPr>
        <p:cNvPr id="5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02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Unix Shell</a:t>
            </a:r>
            <a:endParaRPr/>
          </a:p>
        </p:txBody>
      </p:sp>
      <p:sp>
        <p:nvSpPr>
          <p:cNvPr id="503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>
                <a:ea typeface="宋体" pitchFamily="2" charset="-122"/>
              </a:rPr>
              <a:t>An interactive application-level program that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en-US">
                <a:ea typeface="宋体" pitchFamily="2" charset="-122"/>
              </a:rPr>
              <a:t>runs other program on behalf of the user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 b="false" i="false" u="none">
                <a:ea typeface="宋体" pitchFamily="2" charset="-122"/>
              </a:rPr>
              <a:t>Variants: sh, csh, tcsh, ksh, bash</a:t>
            </a:r>
            <a:endParaRPr/>
          </a:p>
          <a:p>
            <a:pPr marL="342900" lvl="0" indent="-342900">
              <a:lnSpc>
                <a:spcPct val="120000"/>
              </a:lnSpc>
              <a:spcBef>
                <a:spcPct val="20000"/>
              </a:spcBef>
              <a:buChar char="•"/>
            </a:pPr>
            <a:r>
              <a:rPr lang="en-US" b="false" i="false" u="none">
                <a:ea typeface="宋体" pitchFamily="2" charset="-122"/>
              </a:rPr>
              <a:t>Performs a sequence of read/evaluate steps and terminate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Read</a:t>
            </a:r>
            <a:r>
              <a:rPr lang="en-US" b="false" i="false" u="none">
                <a:ea typeface="宋体" pitchFamily="2" charset="-122"/>
              </a:rPr>
              <a:t>: reads a command line from the user</a:t>
            </a:r>
            <a:endParaRPr/>
          </a:p>
          <a:p>
            <a:pPr marL="742950" lvl="1" indent="-285750">
              <a:lnSpc>
                <a:spcPct val="12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Evaluate</a:t>
            </a:r>
            <a:r>
              <a:rPr lang="en-US" b="false" i="false" u="none">
                <a:ea typeface="宋体" pitchFamily="2" charset="-122"/>
              </a:rPr>
              <a:t>: parses the command line and runs programs on behalf of the user </a:t>
            </a:r>
            <a:endParaRPr/>
          </a:p>
        </p:txBody>
      </p:sp>
    </p:spTree>
  </p:cSld>
  <p:clrMapOvr>
    <a:masterClrMapping/>
  </p:clrMapOvr>
  <p:transition/>
</p:sld>
</file>

<file path=ppt/slides/slide80.xml><?xml version="1.0" encoding="utf-8"?>
<p:sld xmlns:a="http://schemas.openxmlformats.org/drawingml/2006/main" xmlns:p="http://schemas.openxmlformats.org/presentationml/2006/main">
  <p:cSld>
    <p:spTree>
      <p:nvGrpSpPr>
        <p:cNvPr id="50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11" name="Rectangle 2"/>
          <p:cNvSpPr>
            <a:spLocks noGrp="true" noChangeShapeType="true"/>
          </p:cNvSpPr>
          <p:nvPr>
            <p:ph type="body"/>
          </p:nvPr>
        </p:nvSpPr>
        <p:spPr>
          <a:xfrm>
            <a:off x="381000" y="304800"/>
            <a:ext cx="8458200" cy="6324600"/>
          </a:xfrm>
          <a:prstGeom prst="rect">
            <a:avLst/>
          </a:prstGeom>
          <a:solidFill>
            <a:schemeClr val="lt1"/>
          </a:solidFill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The main routine for a simple shell program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  #include "csapp.h"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  #define MAXARGS 128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4 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function prototypes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5  void eval(char*cmdline);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6  int parseline(const char *cmdline, char **argv);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7  int builtin_command(char **argv);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8</a:t>
            </a:r>
            <a:endParaRPr/>
          </a:p>
        </p:txBody>
      </p:sp>
    </p:spTree>
  </p:cSld>
  <p:clrMapOvr>
    <a:masterClrMapping/>
  </p:clrMapOvr>
  <p:transition/>
</p:sld>
</file>

<file path=ppt/slides/slide81.xml><?xml version="1.0" encoding="utf-8"?>
<p:sld xmlns:a="http://schemas.openxmlformats.org/drawingml/2006/main" xmlns:p="http://schemas.openxmlformats.org/presentationml/2006/main">
  <p:cSld>
    <p:spTree>
      <p:nvGrpSpPr>
        <p:cNvPr id="5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14" name="Rectangle 2"/>
          <p:cNvSpPr>
            <a:spLocks noGrp="true" noChangeShapeType="true"/>
          </p:cNvSpPr>
          <p:nvPr>
            <p:ph type="body"/>
          </p:nvPr>
        </p:nvSpPr>
        <p:spPr>
          <a:xfrm>
            <a:off x="381000" y="533400"/>
            <a:ext cx="8458200" cy="6096000"/>
          </a:xfrm>
          <a:prstGeom prst="rect">
            <a:avLst/>
          </a:prstGeom>
          <a:solidFill>
            <a:schemeClr val="lt1"/>
          </a:solidFill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9  int main()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10 {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11   char cmdline[MAXLINE];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command line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12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13   while (1) {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14    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read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15     printf("&gt; ");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16     Fgets(cmdline, MAXLINE, stdin);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17     if (feof(stdin))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18       exit(0);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19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20    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evaluate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21     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eval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(cmdline);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22   }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23 }</a:t>
            </a:r>
            <a:endParaRPr/>
          </a:p>
        </p:txBody>
      </p:sp>
    </p:spTree>
  </p:cSld>
  <p:clrMapOvr>
    <a:masterClrMapping/>
  </p:clrMapOvr>
  <p:transition/>
</p:sld>
</file>

<file path=ppt/slides/slide82.xml><?xml version="1.0" encoding="utf-8"?>
<p:sld xmlns:a="http://schemas.openxmlformats.org/drawingml/2006/main" xmlns:p="http://schemas.openxmlformats.org/presentationml/2006/main">
  <p:cSld>
    <p:spTree>
      <p:nvGrpSpPr>
        <p:cNvPr id="5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17" name="Rectangle 2"/>
          <p:cNvSpPr>
            <a:spLocks noGrp="true" noChangeShapeType="true"/>
          </p:cNvSpPr>
          <p:nvPr>
            <p:ph type="body"/>
          </p:nvPr>
        </p:nvSpPr>
        <p:spPr>
          <a:xfrm>
            <a:off x="381000" y="304800"/>
            <a:ext cx="8458200" cy="6324600"/>
          </a:xfrm>
          <a:prstGeom prst="rect">
            <a:avLst/>
          </a:prstGeom>
          <a:solidFill>
            <a:schemeClr val="lt1"/>
          </a:solidFill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 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eval - evaluate a command line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  void 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eval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(char *cmdline)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  {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4    char *argv[MAXARGS];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argv for execve()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5    char buf[MAXLINE];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holds modified cmd line */</a:t>
            </a:r>
            <a:endParaRPr lang="en-US" sz="2000"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6    int bg;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should the job run in bg or fg?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7    pid_t pid;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process id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8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9    strcpy(buf, cmdline);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10   bg = 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parseline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(buf, argv);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11   if (argv[0] == NULL)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12     return;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ignore empty lines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13</a:t>
            </a:r>
            <a:endParaRPr/>
          </a:p>
        </p:txBody>
      </p:sp>
    </p:spTree>
  </p:cSld>
  <p:clrMapOvr>
    <a:masterClrMapping/>
  </p:clrMapOvr>
  <p:transition/>
</p:sld>
</file>

<file path=ppt/slides/slide83.xml><?xml version="1.0" encoding="utf-8"?>
<p:sld xmlns:a="http://schemas.openxmlformats.org/drawingml/2006/main" xmlns:p="http://schemas.openxmlformats.org/presentationml/2006/main">
  <p:cSld>
    <p:spTree>
      <p:nvGrpSpPr>
        <p:cNvPr id="5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20" name="Rectangle 2"/>
          <p:cNvSpPr>
            <a:spLocks noGrp="true" noChangeShapeType="true"/>
          </p:cNvSpPr>
          <p:nvPr>
            <p:ph type="body"/>
          </p:nvPr>
        </p:nvSpPr>
        <p:spPr>
          <a:xfrm rot="0" flipH="false" flipV="false">
            <a:off x="228600" y="2094411"/>
            <a:ext cx="8686800" cy="4534988"/>
          </a:xfrm>
          <a:prstGeom prst="rect">
            <a:avLst/>
          </a:prstGeom>
          <a:solidFill>
            <a:schemeClr val="lt1"/>
          </a:solidFill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 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parse the cmd line and build the argv array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  int 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parseline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(const char *cmdline, char **argv)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  {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4    char *delim;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first space delimiter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5    int argc;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number of args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6    int bg;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background job?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7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8    buf[strlen(buf)-1] = ’ ’;</a:t>
            </a:r>
            <a:br>
              <a:rPr lang="en-US" sz="2000" b="true" i="false" u="none">
                <a:latin typeface="Courier New" pitchFamily="49"/>
                <a:ea typeface="宋体" pitchFamily="2" charset="-122"/>
              </a:rPr>
            </a:br>
            <a:r>
              <a:rPr lang="en-US" sz="2000" b="true" i="false" u="none">
                <a:latin typeface="Courier New" pitchFamily="49"/>
                <a:ea typeface="宋体" pitchFamily="2" charset="-122"/>
              </a:rPr>
              <a:t>  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replace trailing ’\n’ with space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12   while (*buf &amp;&amp; (*buf == ’ ’))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ignore spaces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13     buf++;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14</a:t>
            </a:r>
            <a:endParaRPr/>
          </a:p>
        </p:txBody>
      </p:sp>
      <p:sp>
        <p:nvSpPr>
          <p:cNvPr id="521" name="Rectangle 3"/>
          <p:cNvSpPr txBox="true">
            <a:spLocks noGrp="true" noChangeShapeType="true"/>
          </p:cNvSpPr>
          <p:nvPr/>
        </p:nvSpPr>
        <p:spPr>
          <a:xfrm rot="0" flipH="false" flipV="false">
            <a:off x="152400" y="0"/>
            <a:ext cx="8077200" cy="2133600"/>
          </a:xfrm>
          <a:prstGeom prst="rect">
            <a:avLst/>
          </a:prstGeom>
          <a:noFill/>
          <a:ln>
            <a:extLst/>
          </a:ln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rgbClr val="000000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000" b="false" i="false">
                <a:solidFill>
                  <a:srgbClr val="000000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000" b="false" i="false">
                <a:solidFill>
                  <a:srgbClr val="000000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lang="en-US" sz="2000" b="false" i="false">
                <a:solidFill>
                  <a:srgbClr val="000000"/>
                </a:solidFill>
                <a:latin typeface="Comic Sans MS"/>
              </a:defRPr>
            </a:lvl5pPr>
            <a:lvl6pPr>
              <a:defRPr lang="en-US" sz="1800"/>
            </a:lvl6pPr>
            <a:lvl7pPr>
              <a:defRPr lang="en-US" sz="1800"/>
            </a:lvl7pPr>
            <a:lvl8pPr>
              <a:defRPr lang="en-US" sz="1800"/>
            </a:lvl8pPr>
            <a:lvl9pPr>
              <a:defRPr lang="en-US" sz="1800"/>
            </a:lvl9pPr>
          </a:lstStyle>
          <a:p>
            <a:pPr marL="342900" lvl="0" indent="-34290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lang="en-US" sz="28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en-US" sz="28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Parses the space separated command-line arguments and b</a:t>
            </a:r>
            <a:r>
              <a:rPr lang="en-US" sz="28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uilds the </a:t>
            </a:r>
            <a:r>
              <a:rPr lang="en-US" sz="24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</a:rPr>
              <a:t>argv</a:t>
            </a:r>
            <a:r>
              <a:rPr lang="en-US" sz="28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 </a:t>
            </a:r>
            <a:r>
              <a:rPr lang="en-US" sz="28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vector</a:t>
            </a:r>
            <a:endParaRPr/>
          </a:p>
          <a:p>
            <a:pPr marL="742950" lvl="1" indent="-285750" algn="l" defTabSz="9144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lang="en-US" sz="2400" b="false" i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defRPr>
            </a:pPr>
            <a:r>
              <a:rPr lang="en-US" sz="2400" b="false">
                <a:solidFill>
                  <a:srgbClr val="000000">
                    <a:alpha val="100000"/>
                  </a:srgbClr>
                </a:solidFill>
                <a:latin typeface="Comic Sans MS"/>
                <a:ea typeface="宋体"/>
              </a:rPr>
              <a:t>which will eventually be passed to </a:t>
            </a:r>
            <a:r>
              <a:rPr lang="en-US" sz="2400" b="true">
                <a:solidFill>
                  <a:srgbClr val="000000">
                    <a:alpha val="100000"/>
                  </a:srgbClr>
                </a:solidFill>
                <a:latin typeface="Courier New"/>
                <a:ea typeface="宋体"/>
              </a:rPr>
              <a:t>execve</a:t>
            </a:r>
            <a:endParaRPr lang="en-US" sz="2400" b="false" i="false">
              <a:solidFill>
                <a:srgbClr val="000000">
                  <a:alpha val="100000"/>
                </a:srgbClr>
              </a:solidFill>
              <a:latin typeface="Comic Sans MS"/>
              <a:ea typeface="宋体"/>
            </a:endParaRPr>
          </a:p>
        </p:txBody>
      </p:sp>
    </p:spTree>
  </p:cSld>
  <p:clrMapOvr>
    <a:masterClrMapping/>
  </p:clrMapOvr>
  <p:transition/>
</p:sld>
</file>

<file path=ppt/slides/slide84.xml><?xml version="1.0" encoding="utf-8"?>
<p:sld xmlns:a="http://schemas.openxmlformats.org/drawingml/2006/main" xmlns:p="http://schemas.openxmlformats.org/presentationml/2006/main">
  <p:cSld>
    <p:spTree>
      <p:nvGrpSpPr>
        <p:cNvPr id="5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24" name="Rectangle 2"/>
          <p:cNvSpPr>
            <a:spLocks noGrp="true" noChangeShapeType="true"/>
          </p:cNvSpPr>
          <p:nvPr>
            <p:ph type="body"/>
          </p:nvPr>
        </p:nvSpPr>
        <p:spPr>
          <a:xfrm>
            <a:off x="152400" y="228600"/>
            <a:ext cx="8915400" cy="6324600"/>
          </a:xfrm>
          <a:prstGeom prst="rect">
            <a:avLst/>
          </a:prstGeom>
          <a:solidFill>
            <a:schemeClr val="lt1"/>
          </a:solidFill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12   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build the argv list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13    argc = 0;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14    while ((delim = strchr(buf, ’ ’))) {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15      argv[argc++] = buf;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16      *delim = ’\0’;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replace space with ’\0’*/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17      buf = delim + 1;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18      while (*buf &amp;&amp; (*buf == ’ ’))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ignore spaces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19        buf++;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20    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21    argv[argc] = NULL;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set the end of argv list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22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23    if (argc == 0)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ignore blank line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24      return 1;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25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26   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should the job run in the background?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27    if ((bg = (*argv[argc-1] == ’&amp;’)) != 0)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28      argv[--argc] = NULL;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29    return 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bg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30 }</a:t>
            </a:r>
            <a:endParaRPr/>
          </a:p>
        </p:txBody>
      </p:sp>
    </p:spTree>
  </p:cSld>
  <p:clrMapOvr>
    <a:masterClrMapping/>
  </p:clrMapOvr>
  <p:transition/>
</p:sld>
</file>

<file path=ppt/slides/slide85.xml><?xml version="1.0" encoding="utf-8"?>
<p:sld xmlns:a="http://schemas.openxmlformats.org/drawingml/2006/main" xmlns:p="http://schemas.openxmlformats.org/presentationml/2006/main">
  <p:cSld>
    <p:spTree>
      <p:nvGrpSpPr>
        <p:cNvPr id="5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27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Parsing command line</a:t>
            </a:r>
            <a:endParaRPr/>
          </a:p>
        </p:txBody>
      </p:sp>
      <p:sp>
        <p:nvSpPr>
          <p:cNvPr id="528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Char char="•"/>
            </a:pPr>
            <a:r>
              <a:rPr lang="en-US">
                <a:ea typeface="宋体" pitchFamily="2" charset="-122"/>
              </a:rPr>
              <a:t>The first argument is assumed to be 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either the name of a </a:t>
            </a:r>
            <a:r>
              <a:rPr lang="en-US" b="false" i="false" u="none">
                <a:solidFill>
                  <a:srgbClr val="FF0000"/>
                </a:solidFill>
                <a:ea typeface="宋体" pitchFamily="2" charset="-122"/>
              </a:rPr>
              <a:t>built-in</a:t>
            </a:r>
            <a:r>
              <a:rPr lang="en-US" b="false" i="false" u="none">
                <a:ea typeface="宋体" pitchFamily="2" charset="-122"/>
              </a:rPr>
              <a:t> shell command 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 b="false" i="false" u="none">
                <a:ea typeface="宋体" pitchFamily="2" charset="-122"/>
              </a:rPr>
              <a:t>that is interpreted immediately</a:t>
            </a:r>
            <a:endParaRPr/>
          </a:p>
          <a:p>
            <a:pPr marL="742950" lvl="1" indent="-285750"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or an </a:t>
            </a:r>
            <a:r>
              <a:rPr lang="en-US" b="true" i="false" u="none">
                <a:solidFill>
                  <a:srgbClr val="FF0000"/>
                </a:solidFill>
                <a:ea typeface="宋体" pitchFamily="2" charset="-122"/>
              </a:rPr>
              <a:t>executable object </a:t>
            </a:r>
            <a:r>
              <a:rPr lang="en-US" b="true" i="false" u="none">
                <a:solidFill>
                  <a:srgbClr val="FF0000"/>
                </a:solidFill>
                <a:ea typeface="宋体" pitchFamily="2" charset="-122"/>
              </a:rPr>
              <a:t>file</a:t>
            </a:r>
            <a:endParaRPr/>
          </a:p>
          <a:p>
            <a:pPr marL="1143000" lvl="2" indent="-228600">
              <a:spcBef>
                <a:spcPct val="20000"/>
              </a:spcBef>
              <a:buChar char="•"/>
            </a:pPr>
            <a:r>
              <a:rPr lang="en-US" b="false" i="false" u="none">
                <a:ea typeface="宋体" pitchFamily="2" charset="-122"/>
              </a:rPr>
              <a:t>that will be loaded and run in the context of </a:t>
            </a:r>
            <a:br>
              <a:rPr lang="en-US" b="false" i="false" u="none">
                <a:ea typeface="宋体" pitchFamily="2" charset="-122"/>
              </a:rPr>
            </a:br>
            <a:r>
              <a:rPr lang="en-US" b="false" i="false" u="none">
                <a:ea typeface="宋体" pitchFamily="2" charset="-122"/>
              </a:rPr>
              <a:t>a new </a:t>
            </a:r>
            <a:r>
              <a:rPr lang="en-US" b="false" i="false" u="none">
                <a:ea typeface="宋体" pitchFamily="2" charset="-122"/>
              </a:rPr>
              <a:t>child</a:t>
            </a:r>
            <a:r>
              <a:rPr lang="en-US" b="false" i="false" u="none">
                <a:ea typeface="宋体" pitchFamily="2" charset="-122"/>
              </a:rPr>
              <a:t> process</a:t>
            </a:r>
            <a:endParaRPr/>
          </a:p>
        </p:txBody>
      </p:sp>
    </p:spTree>
  </p:cSld>
  <p:clrMapOvr>
    <a:masterClrMapping/>
  </p:clrMapOvr>
  <p:transition/>
</p:sld>
</file>

<file path=ppt/slides/slide86.xml><?xml version="1.0" encoding="utf-8"?>
<p:sld xmlns:a="http://schemas.openxmlformats.org/drawingml/2006/main" xmlns:p="http://schemas.openxmlformats.org/presentationml/2006/main">
  <p:cSld>
    <p:spTree>
      <p:nvGrpSpPr>
        <p:cNvPr id="5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31" name="Rectangle 2"/>
          <p:cNvSpPr>
            <a:spLocks noGrp="true" noChangeShapeType="true"/>
          </p:cNvSpPr>
          <p:nvPr>
            <p:ph type="body"/>
          </p:nvPr>
        </p:nvSpPr>
        <p:spPr>
          <a:xfrm>
            <a:off x="228600" y="304800"/>
            <a:ext cx="8763000" cy="2743200"/>
          </a:xfrm>
          <a:prstGeom prst="rect">
            <a:avLst/>
          </a:prstGeom>
          <a:solidFill>
            <a:schemeClr val="lt1"/>
          </a:solidFill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14   if (!</a:t>
            </a:r>
            <a:r>
              <a:rPr lang="en-US" sz="2000" b="true" i="false" u="none">
                <a:solidFill>
                  <a:srgbClr val="FF0000"/>
                </a:solidFill>
                <a:latin typeface="Courier New" pitchFamily="49"/>
                <a:ea typeface="宋体" pitchFamily="2" charset="-122"/>
              </a:rPr>
              <a:t>builtin_command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(argv)) {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15     if ((pid = Fork()) == 0) {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execute in child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16       if (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execve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(argv[0], argv, environ) &lt; 0) {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17         printf("%s: Command not found.\n", argv[0]);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18         exit(0);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19       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20     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21	</a:t>
            </a:r>
            <a:endParaRPr/>
          </a:p>
        </p:txBody>
      </p:sp>
    </p:spTree>
  </p:cSld>
  <p:clrMapOvr>
    <a:masterClrMapping/>
  </p:clrMapOvr>
  <p:transition/>
</p:sld>
</file>

<file path=ppt/slides/slide87.xml><?xml version="1.0" encoding="utf-8"?>
<p:sld xmlns:a="http://schemas.openxmlformats.org/drawingml/2006/main" xmlns:p="http://schemas.openxmlformats.org/presentationml/2006/main">
  <p:cSld>
    <p:spTree>
      <p:nvGrpSpPr>
        <p:cNvPr id="5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34" name="Rectangle 2"/>
          <p:cNvSpPr>
            <a:spLocks noGrp="true" noChangeShapeType="true"/>
          </p:cNvSpPr>
          <p:nvPr>
            <p:ph type="body"/>
          </p:nvPr>
        </p:nvSpPr>
        <p:spPr>
          <a:xfrm>
            <a:off x="228600" y="304800"/>
            <a:ext cx="8763000" cy="2743200"/>
          </a:xfrm>
          <a:prstGeom prst="rect">
            <a:avLst/>
          </a:prstGeom>
          <a:solidFill>
            <a:schemeClr val="lt1"/>
          </a:solidFill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14   if (!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builtin_command</a:t>
            </a: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(argv)) {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15     if ((pid = Fork()) == 0) { /* execute in child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16       if (execve(argv[0], argv, environ) &lt; 0) {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17         printf("%s: Command not found.\n", argv[0]);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18         exit(0);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19       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20     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21	</a:t>
            </a:r>
            <a:endParaRPr/>
          </a:p>
        </p:txBody>
      </p:sp>
      <p:sp>
        <p:nvSpPr>
          <p:cNvPr id="535" name="Rectangle 2"/>
          <p:cNvSpPr txBox="true">
            <a:spLocks noGrp="true" noChangeShapeType="true"/>
          </p:cNvSpPr>
          <p:nvPr/>
        </p:nvSpPr>
        <p:spPr>
          <a:xfrm>
            <a:off x="228600" y="3200400"/>
            <a:ext cx="8763000" cy="3581400"/>
          </a:xfrm>
          <a:prstGeom prst="rect">
            <a:avLst/>
          </a:prstGeom>
          <a:solidFill>
            <a:srgbClr val="F2F2F2"/>
          </a:solidFill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34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if 1st arg is a builtin command, </a:t>
            </a:r>
            <a:b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</a:b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    run it and return true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35 int 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builtin_command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(char **argv)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36 {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37   if (!strcmp(argv[0], "quit"))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quit command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38     exit(0);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39   if (!strcmp(argv[0], "&amp;"))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ignore singleton &amp;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40     return 1;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41   return 0;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not a builtin command */</a:t>
            </a:r>
            <a:endParaRPr/>
          </a:p>
          <a:p>
            <a:pPr marL="342900" lvl="0" indent="-342900"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42 }</a:t>
            </a:r>
            <a:endParaRPr/>
          </a:p>
        </p:txBody>
      </p:sp>
      <p:sp>
        <p:nvSpPr>
          <p:cNvPr id="536" name="Straight Connector 2"/>
          <p:cNvSpPr>
            <a:spLocks noGrp="true" noChangeShapeType="true"/>
          </p:cNvSpPr>
          <p:nvPr/>
        </p:nvSpPr>
        <p:spPr>
          <a:xfrm>
            <a:off x="304800" y="3124200"/>
            <a:ext cx="8686800" cy="0"/>
          </a:xfrm>
          <a:prstGeom prst="line">
            <a:avLst/>
          </a:prstGeom>
          <a:noFill/>
          <a:ln w="9524">
            <a:solidFill>
              <a:schemeClr val="dk1"/>
            </a:solidFill>
            <a:round/>
            <a:headEnd/>
            <a:tailEnd/>
          </a:ln>
        </p:spPr>
        <p:txBody>
          <a:bodyPr lIns="91440" tIns="45720" rIns="91440" bIns="45720"/>
          <a:lstStyle/>
          <a:p>
            <a:pPr/>
            <a:endParaRPr sz="1400" dirty="false"/>
          </a:p>
        </p:txBody>
      </p:sp>
    </p:spTree>
  </p:cSld>
  <p:clrMapOvr>
    <a:masterClrMapping/>
  </p:clrMapOvr>
  <p:transition/>
</p:sld>
</file>

<file path=ppt/slides/slide88.xml><?xml version="1.0" encoding="utf-8"?>
<p:sld xmlns:a="http://schemas.openxmlformats.org/drawingml/2006/main" xmlns:p="http://schemas.openxmlformats.org/presentationml/2006/main">
  <p:cSld>
    <p:spTree>
      <p:nvGrpSpPr>
        <p:cNvPr id="5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39" name="Rectangle 2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>
                <a:ea typeface="宋体" pitchFamily="2" charset="-122"/>
              </a:rPr>
              <a:t>Foreground and Background</a:t>
            </a:r>
            <a:endParaRPr/>
          </a:p>
        </p:txBody>
      </p:sp>
      <p:sp>
        <p:nvSpPr>
          <p:cNvPr id="540" name="Rectangle 3"/>
          <p:cNvSpPr>
            <a:spLocks noGrp="true" noChangeShapeType="true"/>
          </p:cNvSpPr>
          <p:nvPr>
            <p:ph type="body"/>
          </p:nvPr>
        </p:nvSpPr>
        <p:spPr>
          <a:xfrm>
            <a:off x="457200" y="1600200"/>
            <a:ext cx="80772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>
                <a:ea typeface="宋体" pitchFamily="2" charset="-122"/>
              </a:rPr>
              <a:t>If the last argument is a “&amp;” character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parseline returns 1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indicating the program should be executed in the </a:t>
            </a:r>
            <a:r>
              <a:rPr lang="en-US" b="false" i="false" u="none">
                <a:ea typeface="宋体" pitchFamily="2" charset="-122"/>
              </a:rPr>
              <a:t>background 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false" i="false" u="none">
                <a:ea typeface="宋体" pitchFamily="2" charset="-122"/>
              </a:rPr>
              <a:t>(the shell returns to the top of the loop and waits for the next command)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Char char="•"/>
            </a:pPr>
            <a:r>
              <a:rPr lang="en-US" b="false" i="false" u="none">
                <a:ea typeface="宋体" pitchFamily="2" charset="-122"/>
              </a:rPr>
              <a:t>Otherwise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parseline returns 0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Char char="–"/>
            </a:pPr>
            <a:r>
              <a:rPr lang="en-US" b="false" i="false" u="none">
                <a:ea typeface="宋体" pitchFamily="2" charset="-122"/>
              </a:rPr>
              <a:t>indicating the program should be run in the </a:t>
            </a:r>
            <a:r>
              <a:rPr lang="en-US" b="false" i="false" u="none">
                <a:ea typeface="宋体" pitchFamily="2" charset="-122"/>
              </a:rPr>
              <a:t>foreground</a:t>
            </a:r>
            <a:r>
              <a:rPr lang="en-US" b="false" i="false" u="none">
                <a:ea typeface="宋体" pitchFamily="2" charset="-122"/>
              </a:rPr>
              <a:t> </a:t>
            </a:r>
            <a:endParaRPr/>
          </a:p>
          <a:p>
            <a:pPr marL="742950" lvl="1" indent="-28575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false" i="false" u="none">
                <a:ea typeface="宋体" pitchFamily="2" charset="-122"/>
              </a:rPr>
              <a:t>(the shell waits for it to complete) </a:t>
            </a:r>
            <a:endParaRPr/>
          </a:p>
        </p:txBody>
      </p:sp>
    </p:spTree>
  </p:cSld>
  <p:clrMapOvr>
    <a:masterClrMapping/>
  </p:clrMapOvr>
  <p:transition/>
</p:sld>
</file>

<file path=ppt/slides/slide89.xml><?xml version="1.0" encoding="utf-8"?>
<p:sld xmlns:a="http://schemas.openxmlformats.org/drawingml/2006/main" xmlns:p="http://schemas.openxmlformats.org/presentationml/2006/main">
  <p:cSld>
    <p:spTree>
      <p:nvGrpSpPr>
        <p:cNvPr id="5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灯片编号占位符 5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43" name="Rectangle 2"/>
          <p:cNvSpPr>
            <a:spLocks noGrp="true" noChangeShapeType="true"/>
          </p:cNvSpPr>
          <p:nvPr>
            <p:ph type="body"/>
          </p:nvPr>
        </p:nvSpPr>
        <p:spPr>
          <a:xfrm>
            <a:off x="228600" y="3048000"/>
            <a:ext cx="8915400" cy="3733800"/>
          </a:xfrm>
          <a:prstGeom prst="rect">
            <a:avLst/>
          </a:prstGeom>
          <a:solidFill>
            <a:schemeClr val="lt1"/>
          </a:solidFill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22    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parent waits for foreground job to terminate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23     if (!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bg</a:t>
            </a:r>
            <a:r>
              <a:rPr lang="en-US" sz="2000" b="true" i="false" u="none">
                <a:latin typeface="Courier New" pitchFamily="49"/>
                <a:ea typeface="宋体" pitchFamily="2" charset="-122"/>
              </a:rPr>
              <a:t>) { </a:t>
            </a:r>
            <a:r>
              <a:rPr lang="en-US" sz="2000" b="true" i="false" u="none">
                <a:solidFill>
                  <a:srgbClr val="00B050"/>
                </a:solidFill>
                <a:latin typeface="Courier New" pitchFamily="49"/>
                <a:ea typeface="宋体" pitchFamily="2" charset="-122"/>
              </a:rPr>
              <a:t>/* foreground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24       int status;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25       if (waitpid(pid, &amp;status, 0) &lt; 0)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26         unix_error("waitfg: waitpid error");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27     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28     else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29       printf("%d %s", pid, cmdline);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30   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31   return;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latin typeface="Courier New" pitchFamily="49"/>
                <a:ea typeface="宋体" pitchFamily="2" charset="-122"/>
              </a:rPr>
              <a:t>32 }</a:t>
            </a:r>
            <a:endParaRPr/>
          </a:p>
        </p:txBody>
      </p:sp>
      <p:sp>
        <p:nvSpPr>
          <p:cNvPr id="544" name="Rectangle 2"/>
          <p:cNvSpPr txBox="true">
            <a:spLocks noGrp="true" noChangeShapeType="true"/>
          </p:cNvSpPr>
          <p:nvPr/>
        </p:nvSpPr>
        <p:spPr>
          <a:xfrm>
            <a:off x="228600" y="304800"/>
            <a:ext cx="8763000" cy="2743200"/>
          </a:xfrm>
          <a:prstGeom prst="rect">
            <a:avLst/>
          </a:prstGeom>
          <a:solidFill>
            <a:schemeClr val="lt1"/>
          </a:solidFill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14   if (!builtin_command(argv)) {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15     if ((pid = Fork()) == 0) { /* execute in child */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16       if (execve(argv[0], argv, environ) &lt; 0) {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17         printf("%s: Command not found.\n", argv[0]);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18         exit(0);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19       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20     }</a:t>
            </a:r>
            <a:endParaRPr/>
          </a:p>
          <a:p>
            <a:pPr marL="342900" lvl="0" indent="-342900">
              <a:lnSpc>
                <a:spcPct val="90000"/>
              </a:lnSpc>
              <a:spcBef>
                <a:spcPct val="20000"/>
              </a:spcBef>
              <a:buNone/>
            </a:pPr>
            <a:r>
              <a:rPr lang="en-US" sz="2000" b="true" i="false" u="none">
                <a:solidFill>
                  <a:srgbClr val="D9D9D9"/>
                </a:solidFill>
                <a:latin typeface="Courier New" pitchFamily="49"/>
                <a:ea typeface="宋体" pitchFamily="2" charset="-122"/>
              </a:rPr>
              <a:t>21	</a:t>
            </a:r>
            <a:endParaRPr/>
          </a:p>
        </p:txBody>
      </p:sp>
    </p:spTree>
  </p:cSld>
  <p:clrMapOvr>
    <a:masterClrMapping/>
  </p:clrMapOvr>
  <p:transition/>
</p:sld>
</file>

<file path=ppt/slides/slide90.xml><?xml version="1.0" encoding="utf-8"?>
<p:sld xmlns:a="http://schemas.openxmlformats.org/drawingml/2006/main" xmlns:p="http://schemas.openxmlformats.org/presentationml/2006/main">
  <p:cSld>
    <p:spTree>
      <p:nvGrpSpPr>
        <p:cNvPr id="5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标题 1"/>
          <p:cNvSpPr>
            <a:spLocks noGrp="true" noChangeShapeType="true"/>
          </p:cNvSpPr>
          <p:nvPr>
            <p:ph type="title"/>
          </p:nvPr>
        </p:nvSpPr>
        <p:spPr>
          <a:xfrm>
            <a:off x="457200" y="457200"/>
            <a:ext cx="8077200" cy="914400"/>
          </a:xfrm>
          <a:prstGeom prst="rect">
            <a:avLst/>
          </a:prstGeom>
        </p:spPr>
        <p:txBody>
          <a:bodyPr lIns="91440" tIns="45720" rIns="91440" bIns="45720" anchor="ctr" anchorCtr="false"/>
          <a:lstStyle>
            <a:lvl1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1pPr>
            <a:lvl2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2pPr>
            <a:lvl3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3pPr>
            <a:lvl4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4pPr>
            <a:lvl5pPr marL="0" indent="0" algn="l" defTabSz="914400" rtl="false" fontAlgn="bas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true" i="false">
                <a:solidFill>
                  <a:schemeClr val="dk2"/>
                </a:solidFill>
                <a:latin typeface="Comic Sans MS"/>
              </a:defRPr>
            </a:lvl5pPr>
          </a:lstStyle>
          <a:p>
            <a:pPr marL="0" lvl="0" indent="0">
              <a:spcBef>
                <a:spcPts val="0"/>
              </a:spcBef>
              <a:buNone/>
            </a:pPr>
            <a:r>
              <a:rPr lang="en-US" b="true">
                <a:latin typeface="Comic Sans MS"/>
                <a:ea typeface="宋体"/>
              </a:rPr>
              <a:t>homework 1 &amp; 2</a:t>
            </a:r>
            <a:endParaRPr/>
          </a:p>
        </p:txBody>
      </p:sp>
      <p:sp>
        <p:nvSpPr>
          <p:cNvPr id="552" name="内容占位符 2"/>
          <p:cNvSpPr>
            <a:spLocks noGrp="true" noChangeShapeType="true"/>
          </p:cNvSpPr>
          <p:nvPr>
            <p:ph type="obj"/>
          </p:nvPr>
        </p:nvSpPr>
        <p:spPr>
          <a:xfrm>
            <a:off x="457200" y="1600200"/>
            <a:ext cx="8305800" cy="441960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提交时间：一周内</a:t>
            </a:r>
            <a:endParaRPr/>
          </a:p>
          <a:p>
            <a:pPr marL="342900" lvl="0" indent="-342900">
              <a:spcBef>
                <a:spcPct val="20000"/>
              </a:spcBef>
              <a:buSzPct val="100000"/>
              <a:buChar char="•"/>
            </a:pPr>
            <a:r>
              <a:rPr lang="en-US" b="false" i="false" u="none">
                <a:ea typeface="宋体" pitchFamily="2" charset="-122"/>
              </a:rPr>
              <a:t>obe.ruc.edu.cn上传电子版</a:t>
            </a:r>
            <a:endParaRPr/>
          </a:p>
        </p:txBody>
      </p:sp>
      <p:sp>
        <p:nvSpPr>
          <p:cNvPr id="553" name="幻灯片编号占位符 3"/>
          <p:cNvSpPr txBox="true">
            <a:spLocks noGrp="true" noChangeShapeType="true"/>
          </p:cNvSpPr>
          <p:nvPr>
            <p:ph type="sldNum"/>
          </p:nvPr>
        </p:nvSpPr>
        <p:spPr>
          <a:xfrm>
            <a:off x="6934200" y="6172200"/>
            <a:ext cx="1295400" cy="457200"/>
          </a:xfrm>
          <a:prstGeom prst="rect">
            <a:avLst/>
          </a:prstGeom>
          <a:noFill/>
        </p:spPr>
        <p:txBody>
          <a:bodyPr lIns="91440" tIns="45720" rIns="91440" bIns="45720"/>
          <a:lstStyle>
            <a:lvl1pPr marL="342900" indent="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800" b="false" i="false">
                <a:solidFill>
                  <a:schemeClr val="dk1"/>
                </a:solidFill>
                <a:latin typeface="Comic Sans MS"/>
              </a:defRPr>
            </a:lvl1pPr>
            <a:lvl2pPr marL="742950" indent="4572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400" b="false" i="false">
                <a:solidFill>
                  <a:schemeClr val="dk1"/>
                </a:solidFill>
                <a:latin typeface="Comic Sans MS"/>
              </a:defRPr>
            </a:lvl2pPr>
            <a:lvl3pPr marL="1143000" indent="9144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•"/>
              <a:defRPr sz="2000" b="false" i="false">
                <a:solidFill>
                  <a:schemeClr val="dk1"/>
                </a:solidFill>
                <a:latin typeface="Comic Sans MS"/>
              </a:defRPr>
            </a:lvl3pPr>
            <a:lvl4pPr marL="1600200" indent="13716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–"/>
              <a:defRPr sz="2000" b="false" i="false">
                <a:solidFill>
                  <a:schemeClr val="dk1"/>
                </a:solidFill>
                <a:latin typeface="Comic Sans MS"/>
              </a:defRPr>
            </a:lvl4pPr>
            <a:lvl5pPr marL="2057400" indent="1828800" algn="l" defTabSz="914400" rtl="false" fontAlgn="base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har char="»"/>
              <a:defRPr sz="2000" b="false" i="false">
                <a:solidFill>
                  <a:schemeClr val="dk1"/>
                </a:solidFill>
                <a:latin typeface="Comic Sans MS"/>
              </a:defRPr>
            </a:lvl5pPr>
          </a:lstStyle>
          <a:p>
            <a:pPr marL="0" lvl="0" indent="0" algn="r">
              <a:spcBef>
                <a:spcPts val="0"/>
              </a:spcBef>
              <a:buNone/>
            </a:pPr>
            <a:fld id="{D038279B-FC19-497E-A7D1-5ADD9CAF016F}" type="slidenum">
              <a:rPr lang="zh-CN" sz="1400">
                <a:latin typeface="Times New Roman" pitchFamily="18"/>
                <a:ea typeface="宋体" pitchFamily="2" charset="-122"/>
              </a:rPr>
              <a:t>*</a:t>
            </a:fld>
            <a:endParaRPr/>
          </a:p>
        </p:txBody>
      </p:sp>
      <p:sp>
        <p:nvSpPr>
          <p:cNvPr id="554" name="文本框 1"/>
          <p:cNvSpPr txBox="true">
            <a:spLocks noGrp="true" noChangeShapeType="true"/>
          </p:cNvSpPr>
          <p:nvPr/>
        </p:nvSpPr>
        <p:spPr>
          <a:xfrm>
            <a:off x="6604000" y="6946900"/>
            <a:ext cx="18415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endParaRPr sz="1400" dirty="false"/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icfp99">
  <a:themeElements>
    <a:clrScheme name="Default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0000FF"/>
      </a:hlink>
      <a:folHlink>
        <a:srgbClr val="B2B2B2"/>
      </a:folHlink>
    </a:clrScheme>
    <a:fontScheme name="default">
      <a:majorFont>
        <a:latin typeface="Comic Sans MS"/>
        <a:ea typeface=""/>
        <a:cs typeface=""/>
      </a:majorFont>
      <a:minorFont>
        <a:latin typeface="宋体"/>
        <a:ea typeface=""/>
        <a:cs typeface=""/>
      </a:minorFont>
    </a:fontScheme>
    <a:fmtScheme name="Default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AAAAAA"/>
      </a:accent3>
      <a:accent4>
        <a:srgbClr val="DCDCDC"/>
      </a:accent4>
      <a:accent5>
        <a:srgbClr val="DBF1FA"/>
      </a:accent5>
      <a:accent6>
        <a:srgbClr val="4B9DCA"/>
      </a:accent6>
      <a:hlink>
        <a:srgbClr val="CCCCFF"/>
      </a:hlink>
      <a:folHlink>
        <a:srgbClr val="B2B2B2"/>
      </a:folHlink>
    </a:clrScheme>
    <a:fontScheme name="default">
      <a:majorFont>
        <a:latin typeface="Comic Sans MS"/>
        <a:ea typeface=""/>
        <a:cs typeface=""/>
      </a:majorFont>
      <a:minorFont>
        <a:latin typeface="宋体"/>
        <a:ea typeface=""/>
        <a:cs typeface=""/>
      </a:minorFont>
    </a:fontScheme>
    <a:fmtScheme name="Default">
      <a:fillStyleLst>
        <a:solidFill>
          <a:schemeClr val="phClr"/>
        </a:solidFill>
        <a:gradFill rotWithShape="true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true"/>
        </a:gradFill>
        <a:gradFill rotWithShape="true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false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false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false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true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true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2026-03-03T17:26:32Z</dcterms:created>
  <dcterms:modified xsi:type="dcterms:W3CDTF">2026-03-03T17:26:32Z</dcterms:modified>
</cp:coreProperties>
</file>