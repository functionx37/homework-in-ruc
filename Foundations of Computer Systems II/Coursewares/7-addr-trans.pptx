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Slides/notesSlide26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2.xml" ContentType="application/vnd.openxmlformats-officedocument.presentationml.notesSlide+xml"/>
  <Override PartName="/ppt/theme/theme2.xml" ContentType="application/vnd.openxmlformats-officedocument.theme+xml"/>
  <Override PartName="/ppt/slides/slide97.xml" ContentType="application/vnd.openxmlformats-officedocument.presentationml.slide+xml"/>
  <Override PartName="/ppt/slides/slide83.xml" ContentType="application/vnd.openxmlformats-officedocument.presentationml.slide+xml"/>
  <Override PartName="/ppt/slides/slide18.xml" ContentType="application/vnd.openxmlformats-officedocument.presentationml.slide+xml"/>
  <Override PartName="/ppt/slides/slide106.xml" ContentType="application/vnd.openxmlformats-officedocument.presentationml.slide+xml"/>
  <Override PartName="/ppt/slides/slide4.xml" ContentType="application/vnd.openxmlformats-officedocument.presentationml.slide+xml"/>
  <Override PartName="/ppt/slides/slide7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54.xml" ContentType="application/vnd.openxmlformats-officedocument.presentationml.slide+xml"/>
  <Override PartName="/ppt/slides/slide30.xml" ContentType="application/vnd.openxmlformats-officedocument.presentationml.slide+xml"/>
  <Override PartName="/ppt/slides/slide66.xml" ContentType="application/vnd.openxmlformats-officedocument.presentationml.slide+xml"/>
  <Override PartName="/ppt/slides/slide105.xml" ContentType="application/vnd.openxmlformats-officedocument.presentationml.slide+xml"/>
  <Override PartName="/ppt/slides/slide67.xml" ContentType="application/vnd.openxmlformats-officedocument.presentationml.slide+xml"/>
  <Override PartName="/ppt/slides/slide11.xml" ContentType="application/vnd.openxmlformats-officedocument.presentationml.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slides/slide60.xml" ContentType="application/vnd.openxmlformats-officedocument.presentationml.slide+xml"/>
  <Override PartName="/ppt/slides/slide63.xml" ContentType="application/vnd.openxmlformats-officedocument.presentationml.slide+xml"/>
  <Override PartName="/ppt/slides/slide88.xml" ContentType="application/vnd.openxmlformats-officedocument.presentationml.slide+xml"/>
  <Override PartName="/ppt/presProps.xml" ContentType="application/vnd.openxmlformats-officedocument.presentationml.presProps+xml"/>
  <Override PartName="/ppt/notesSlides/notesSlide5.xml" ContentType="application/vnd.openxmlformats-officedocument.presentationml.notesSlide+xml"/>
  <Override PartName="/ppt/slides/slide78.xml" ContentType="application/vnd.openxmlformats-officedocument.presentationml.slide+xml"/>
  <Override PartName="/ppt/slides/slide9.xml" ContentType="application/vnd.openxmlformats-officedocument.presentationml.slide+xml"/>
  <Override PartName="/ppt/slides/slide121.xml" ContentType="application/vnd.openxmlformats-officedocument.presentationml.slide+xml"/>
  <Override PartName="/ppt/slides/slide89.xml" ContentType="application/vnd.openxmlformats-officedocument.presentationml.slide+xml"/>
  <Override PartName="/ppt/slides/slide91.xml" ContentType="application/vnd.openxmlformats-officedocument.presentationml.slide+xml"/>
  <Override PartName="/ppt/slides/slide111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99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slides/slide119.xml" ContentType="application/vnd.openxmlformats-officedocument.presentationml.slide+xml"/>
  <Override PartName="/ppt/slides/slide11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7.xml" ContentType="application/vnd.openxmlformats-officedocument.presentationml.slide+xml"/>
  <Override PartName="/ppt/slides/slide94.xml" ContentType="application/vnd.openxmlformats-officedocument.presentationml.slide+xml"/>
  <Override PartName="/ppt/slides/slide26.xml" ContentType="application/vnd.openxmlformats-officedocument.presentationml.slide+xml"/>
  <Override PartName="/ppt/slides/slide57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95.xml" ContentType="application/vnd.openxmlformats-officedocument.presentationml.slide+xml"/>
  <Override PartName="/ppt/slides/slide39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28.xml" ContentType="application/vnd.openxmlformats-officedocument.presentationml.slide+xml"/>
  <Override PartName="/ppt/slides/slide107.xml" ContentType="application/vnd.openxmlformats-officedocument.presentationml.slide+xml"/>
  <Override PartName="/ppt/slides/slide126.xml" ContentType="application/vnd.openxmlformats-officedocument.presentationml.slide+xml"/>
  <Override PartName="/ppt/slides/slide5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8.xml" ContentType="application/vnd.openxmlformats-officedocument.presentationml.notesSlide+xml"/>
  <Override PartName="/ppt/slides/slide85.xml" ContentType="application/vnd.openxmlformats-officedocument.presentationml.slide+xml"/>
  <Override PartName="/ppt/slides/slide53.xml" ContentType="application/vnd.openxmlformats-officedocument.presentationml.slide+xml"/>
  <Override PartName="/ppt/slides/slide70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20.xml" ContentType="application/vnd.openxmlformats-officedocument.presentationml.slide+xml"/>
  <Override PartName="/ppt/slides/slide71.xml" ContentType="application/vnd.openxmlformats-officedocument.presentationml.slide+xml"/>
  <Override PartName="/ppt/slides/slide2.xml" ContentType="application/vnd.openxmlformats-officedocument.presentationml.slide+xml"/>
  <Override PartName="/ppt/slides/slide115.xml" ContentType="application/vnd.openxmlformats-officedocument.presentationml.slide+xml"/>
  <Override PartName="/ppt/slides/slide27.xml" ContentType="application/vnd.openxmlformats-officedocument.presentationml.slide+xml"/>
  <Override PartName="/ppt/tableStyles.xml" ContentType="application/vnd.openxmlformats-officedocument.presentationml.tableStyles+xml"/>
  <Override PartName="/ppt/slides/slide34.xml" ContentType="application/vnd.openxmlformats-officedocument.presentationml.slide+xml"/>
  <Override PartName="/ppt/slides/slide50.xml" ContentType="application/vnd.openxmlformats-officedocument.presentationml.slide+xml"/>
  <Override PartName="/ppt/slides/slide42.xml" ContentType="application/vnd.openxmlformats-officedocument.presentationml.slide+xml"/>
  <Override PartName="/ppt/slides/slide72.xml" ContentType="application/vnd.openxmlformats-officedocument.presentationml.slide+xml"/>
  <Override PartName="/ppt/notesSlides/notesSlide18.xml" ContentType="application/vnd.openxmlformats-officedocument.presentationml.notesSlide+xml"/>
  <Override PartName="/ppt/slideLayouts/slideLayout2.xml" ContentType="application/vnd.openxmlformats-officedocument.presentationml.slideLayout+xml"/>
  <Override PartName="/ppt/notesSlides/notesSlide9.xml" ContentType="application/vnd.openxmlformats-officedocument.presentationml.notesSlide+xml"/>
  <Override PartName="/ppt/slides/slide92.xml" ContentType="application/vnd.openxmlformats-officedocument.presentationml.slide+xml"/>
  <Override PartName="/ppt/slides/slide79.xml" ContentType="application/vnd.openxmlformats-officedocument.presentationml.slide+xml"/>
  <Override PartName="/ppt/slides/slide118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55.xml" ContentType="application/vnd.openxmlformats-officedocument.presentationml.slide+xml"/>
  <Override PartName="/ppt/slides/slide19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52.xml" ContentType="application/vnd.openxmlformats-officedocument.presentationml.slide+xml"/>
  <Override PartName="/ppt/notesSlides/notesSlide35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23.xml" ContentType="application/vnd.openxmlformats-officedocument.presentationml.notesSlide+xml"/>
  <Override PartName="/ppt/slides/slide51.xml" ContentType="application/vnd.openxmlformats-officedocument.presentationml.slide+xml"/>
  <Override PartName="/ppt/slides/slide22.xml" ContentType="application/vnd.openxmlformats-officedocument.presentationml.slide+xml"/>
  <Override PartName="/ppt/theme/theme1.xml" ContentType="application/vnd.openxmlformats-officedocument.theme+xml"/>
  <Override PartName="/ppt/slides/slide49.xml" ContentType="application/vnd.openxmlformats-officedocument.presentationml.slide+xml"/>
  <Override PartName="/ppt/slides/slide117.xml" ContentType="application/vnd.openxmlformats-officedocument.presentationml.slide+xml"/>
  <Override PartName="/ppt/slides/slide123.xml" ContentType="application/vnd.openxmlformats-officedocument.presentationml.slide+xml"/>
  <Override PartName="/ppt/slides/slide75.xml" ContentType="application/vnd.openxmlformats-officedocument.presentationml.slide+xml"/>
  <Override PartName="/ppt/slides/slide32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61.xml" ContentType="application/vnd.openxmlformats-officedocument.presentationml.slide+xml"/>
  <Override PartName="/ppt/slides/slide114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14.xml" ContentType="application/vnd.openxmlformats-officedocument.presentationml.slide+xml"/>
  <Override PartName="/ppt/slides/slide86.xml" ContentType="application/vnd.openxmlformats-officedocument.presentationml.slide+xml"/>
  <Override PartName="/ppt/slides/slide31.xml" ContentType="application/vnd.openxmlformats-officedocument.presentationml.slide+xml"/>
  <Override PartName="/ppt/slides/slide7.xml" ContentType="application/vnd.openxmlformats-officedocument.presentationml.slide+xml"/>
  <Override PartName="/ppt/slides/slide90.xml" ContentType="application/vnd.openxmlformats-officedocument.presentationml.slide+xml"/>
  <Override PartName="/ppt/slides/slide1.xml" ContentType="application/vnd.openxmlformats-officedocument.presentationml.slide+xml"/>
  <Override PartName="/ppt/viewProps.xml" ContentType="application/vnd.openxmlformats-officedocument.presentationml.viewProps+xml"/>
  <Override PartName="/ppt/slideLayouts/slideLayout3.xml" ContentType="application/vnd.openxmlformats-officedocument.presentationml.slideLayout+xml"/>
  <Override PartName="/ppt/slides/slide69.xml" ContentType="application/vnd.openxmlformats-officedocument.presentationml.slide+xml"/>
  <Override PartName="/ppt/slides/slide64.xml" ContentType="application/vnd.openxmlformats-officedocument.presentationml.slide+xml"/>
  <Override PartName="/ppt/slides/slide36.xml" ContentType="application/vnd.openxmlformats-officedocument.presentationml.slide+xml"/>
  <Override PartName="/ppt/notesSlides/notesSlide32.xml" ContentType="application/vnd.openxmlformats-officedocument.presentationml.notesSlide+xml"/>
  <Override PartName="/ppt/slideLayouts/slideLayout8.xml" ContentType="application/vnd.openxmlformats-officedocument.presentationml.slideLayout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41.xml" ContentType="application/vnd.openxmlformats-officedocument.presentationml.slide+xml"/>
  <Override PartName="/ppt/slides/slide58.xml" ContentType="application/vnd.openxmlformats-officedocument.presentationml.slide+xml"/>
  <Override PartName="/ppt/slides/slide21.xml" ContentType="application/vnd.openxmlformats-officedocument.presentationml.slide+xml"/>
  <Override PartName="/ppt/slides/slide84.xml" ContentType="application/vnd.openxmlformats-officedocument.presentationml.slide+xml"/>
  <Override PartName="/ppt/slides/slide96.xml" ContentType="application/vnd.openxmlformats-officedocument.presentationml.slide+xml"/>
  <Override PartName="/ppt/slides/slide93.xml" ContentType="application/vnd.openxmlformats-officedocument.presentationml.slide+xml"/>
  <Override PartName="/ppt/slides/slide122.xml" ContentType="application/vnd.openxmlformats-officedocument.presentationml.slide+xml"/>
  <Override PartName="/ppt/slides/slide77.xml" ContentType="application/vnd.openxmlformats-officedocument.presentationml.slide+xml"/>
  <Override PartName="/ppt/slides/slide101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125.xml" ContentType="application/vnd.openxmlformats-officedocument.presentationml.slide+xml"/>
  <Override PartName="/ppt/slides/slide113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104.xml" ContentType="application/vnd.openxmlformats-officedocument.presentationml.slide+xml"/>
  <Override PartName="/ppt/slides/slide29.xml" ContentType="application/vnd.openxmlformats-officedocument.presentationml.slide+xml"/>
  <Override PartName="/ppt/slides/slide124.xml" ContentType="application/vnd.openxmlformats-officedocument.presentationml.slide+xml"/>
  <Override PartName="/ppt/slides/slide103.xml" ContentType="application/vnd.openxmlformats-officedocument.presentationml.slide+xml"/>
  <Override PartName="/ppt/slides/slide12.xml" ContentType="application/vnd.openxmlformats-officedocument.presentationml.slide+xml"/>
  <Override PartName="/ppt/slides/slide112.xml" ContentType="application/vnd.openxmlformats-officedocument.presentationml.slide+xml"/>
  <Override PartName="/ppt/slides/slide81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102.xml" ContentType="application/vnd.openxmlformats-officedocument.presentationml.slide+xml"/>
  <Override PartName="/ppt/slides/slide109.xml" ContentType="application/vnd.openxmlformats-officedocument.presentationml.slide+xml"/>
  <Override PartName="/ppt/slides/slide45.xml" ContentType="application/vnd.openxmlformats-officedocument.presentationml.slide+xml"/>
  <Override PartName="/ppt/slides/slide35.xml" ContentType="application/vnd.openxmlformats-officedocument.presentationml.slide+xml"/>
  <Override PartName="/ppt/slides/slide23.xml" ContentType="application/vnd.openxmlformats-officedocument.presentationml.slide+xml"/>
  <Override PartName="/ppt/slides/slide48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43.xml" ContentType="application/vnd.openxmlformats-officedocument.presentationml.slide+xml"/>
  <Override PartName="/ppt/slides/slide108.xml" ContentType="application/vnd.openxmlformats-officedocument.presentationml.slide+xml"/>
  <Override PartName="/ppt/slides/slide17.xml" ContentType="application/vnd.openxmlformats-officedocument.presentationml.slide+xml"/>
  <Override PartName="/ppt/slides/slide24.xml" ContentType="application/vnd.openxmlformats-officedocument.presentationml.slide+xml"/>
  <Override PartName="/ppt/slideLayouts/slideLayout12.xml" ContentType="application/vnd.openxmlformats-officedocument.presentationml.slideLayout+xml"/>
  <Override PartName="/ppt/slides/slide56.xml" ContentType="application/vnd.openxmlformats-officedocument.presentationml.slide+xml"/>
  <Override PartName="/ppt/slides/slide33.xml" ContentType="application/vnd.openxmlformats-officedocument.presentationml.slide+xml"/>
  <Override PartName="/ppt/slides/slide82.xml" ContentType="application/vnd.openxmlformats-officedocument.presentationml.slide+xml"/>
  <Override PartName="/ppt/slides/slide37.xml" ContentType="application/vnd.openxmlformats-officedocument.presentationml.slide+xml"/>
  <Override PartName="/ppt/slides/slide3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38.xml" ContentType="application/vnd.openxmlformats-officedocument.presentationml.slide+xml"/>
  <Override PartName="/ppt/slides/slide74.xml" ContentType="application/vnd.openxmlformats-officedocument.presentationml.slide+xml"/>
  <Override PartName="/ppt/slides/slide68.xml" ContentType="application/vnd.openxmlformats-officedocument.presentationml.slide+xml"/>
  <Override PartName="/ppt/slides/slide40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docProps/app.xml" ContentType="application/vnd.openxmlformats-officedocument.extended-properties+xml"/>
  <Override PartName="/ppt/notesSlides/notesSlide25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44.xml" ContentType="application/vnd.openxmlformats-officedocument.presentationml.slide+xml"/>
  <Override PartName="/docProps/core.xml" ContentType="application/vnd.openxmlformats-package.core-properties+xml"/>
  <Override PartName="/ppt/slideLayouts/slideLayout7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110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14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s/slide13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120.xml" ContentType="application/vnd.openxmlformats-officedocument.presentationml.slide+xml"/>
  <Override PartName="/ppt/slideLayouts/slideLayout9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p15="http://schemas.microsoft.com/office/powerpoint/2012/main" xmlns:a="http://schemas.openxmlformats.org/drawingml/2006/main" xmlns:p="http://schemas.openxmlformats.org/presentationml/2006/main" xmlns:r="http://schemas.openxmlformats.org/officeDocument/2006/relationships" xmlns:mc="http://schemas.openxmlformats.org/markup-compatibility/2006" firstSlideNum="1" mc:Ignorable="p15">
  <p:sldMasterIdLst>
    <p:sldMasterId id="2147483648" r:id="rId0"/>
  </p:sldMasterIdLst>
  <p:notesMasterIdLst>
    <p:notesMasterId r:id="rId127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2" r:id="rId77"/>
    <p:sldId id="333" r:id="rId78"/>
    <p:sldId id="334" r:id="rId79"/>
    <p:sldId id="335" r:id="rId80"/>
    <p:sldId id="336" r:id="rId81"/>
    <p:sldId id="337" r:id="rId82"/>
    <p:sldId id="338" r:id="rId83"/>
    <p:sldId id="339" r:id="rId84"/>
    <p:sldId id="340" r:id="rId85"/>
    <p:sldId id="341" r:id="rId86"/>
    <p:sldId id="342" r:id="rId87"/>
    <p:sldId id="343" r:id="rId88"/>
    <p:sldId id="344" r:id="rId89"/>
    <p:sldId id="345" r:id="rId90"/>
    <p:sldId id="346" r:id="rId91"/>
    <p:sldId id="347" r:id="rId92"/>
    <p:sldId id="348" r:id="rId93"/>
    <p:sldId id="349" r:id="rId94"/>
    <p:sldId id="350" r:id="rId95"/>
    <p:sldId id="351" r:id="rId96"/>
    <p:sldId id="352" r:id="rId97"/>
    <p:sldId id="353" r:id="rId98"/>
    <p:sldId id="354" r:id="rId99"/>
    <p:sldId id="355" r:id="rId100"/>
    <p:sldId id="356" r:id="rId101"/>
    <p:sldId id="357" r:id="rId102"/>
    <p:sldId id="358" r:id="rId103"/>
    <p:sldId id="359" r:id="rId104"/>
    <p:sldId id="360" r:id="rId105"/>
    <p:sldId id="361" r:id="rId106"/>
    <p:sldId id="362" r:id="rId107"/>
    <p:sldId id="363" r:id="rId108"/>
    <p:sldId id="364" r:id="rId109"/>
    <p:sldId id="365" r:id="rId110"/>
    <p:sldId id="366" r:id="rId111"/>
    <p:sldId id="367" r:id="rId112"/>
    <p:sldId id="368" r:id="rId113"/>
    <p:sldId id="369" r:id="rId114"/>
    <p:sldId id="370" r:id="rId115"/>
    <p:sldId id="371" r:id="rId116"/>
    <p:sldId id="372" r:id="rId117"/>
    <p:sldId id="373" r:id="rId118"/>
    <p:sldId id="374" r:id="rId119"/>
    <p:sldId id="375" r:id="rId120"/>
    <p:sldId id="376" r:id="rId121"/>
    <p:sldId id="377" r:id="rId122"/>
    <p:sldId id="378" r:id="rId123"/>
    <p:sldId id="379" r:id="rId124"/>
    <p:sldId id="380" r:id="rId125"/>
    <p:sldId id="381" r:id="rId126"/>
  </p:sldIdLst>
  <p:sldSz cx="9144000" cy="6858000" type="screen4x3"/>
  <p:notesSz cx="6858000" cy="9144000"/>
  <p:defaultTextStyle>
    <a:defPPr>
      <a:defRPr lang="en-US"/>
    </a:defPPr>
    <a:lvl1pPr algn="l" rtl="false" eaLnBrk="false" fontAlgn="base" hangingPunct="false">
      <a:spcBef>
        <a:spcPct val="1"/>
      </a:spcBef>
      <a:spcAft>
        <a:spcPct val="1"/>
      </a:spcAft>
      <a:defRPr sz="2000" b="true" kern="1200">
        <a:solidFill>
          <a:schemeClr val="tx1"/>
        </a:solidFill>
        <a:latin typeface="Comic Sans MS" panose="030F0902030302020204" charset="0"/>
        <a:ea typeface="宋体" charset="-122"/>
        <a:cs typeface="+mn-cs"/>
      </a:defRPr>
    </a:lvl1pPr>
    <a:lvl2pPr marL="457200" algn="l" rtl="false" eaLnBrk="false" fontAlgn="base" hangingPunct="false">
      <a:spcBef>
        <a:spcPct val="1"/>
      </a:spcBef>
      <a:spcAft>
        <a:spcPct val="1"/>
      </a:spcAft>
      <a:defRPr sz="2000" b="true" kern="1200">
        <a:solidFill>
          <a:schemeClr val="tx1"/>
        </a:solidFill>
        <a:latin typeface="Comic Sans MS" panose="030F0902030302020204" charset="0"/>
        <a:ea typeface="宋体" charset="-122"/>
        <a:cs typeface="+mn-cs"/>
      </a:defRPr>
    </a:lvl2pPr>
    <a:lvl3pPr marL="914400" algn="l" rtl="false" eaLnBrk="false" fontAlgn="base" hangingPunct="false">
      <a:spcBef>
        <a:spcPct val="1"/>
      </a:spcBef>
      <a:spcAft>
        <a:spcPct val="1"/>
      </a:spcAft>
      <a:defRPr sz="2000" b="true" kern="1200">
        <a:solidFill>
          <a:schemeClr val="tx1"/>
        </a:solidFill>
        <a:latin typeface="Comic Sans MS" panose="030F0902030302020204" charset="0"/>
        <a:ea typeface="宋体" charset="-122"/>
        <a:cs typeface="+mn-cs"/>
      </a:defRPr>
    </a:lvl3pPr>
    <a:lvl4pPr marL="1371600" algn="l" rtl="false" eaLnBrk="false" fontAlgn="base" hangingPunct="false">
      <a:spcBef>
        <a:spcPct val="1"/>
      </a:spcBef>
      <a:spcAft>
        <a:spcPct val="1"/>
      </a:spcAft>
      <a:defRPr sz="2000" b="true" kern="1200">
        <a:solidFill>
          <a:schemeClr val="tx1"/>
        </a:solidFill>
        <a:latin typeface="Comic Sans MS" panose="030F0902030302020204" charset="0"/>
        <a:ea typeface="宋体" charset="-122"/>
        <a:cs typeface="+mn-cs"/>
      </a:defRPr>
    </a:lvl4pPr>
    <a:lvl5pPr marL="1828800" algn="l" rtl="false" eaLnBrk="false" fontAlgn="base" hangingPunct="false">
      <a:spcBef>
        <a:spcPct val="1"/>
      </a:spcBef>
      <a:spcAft>
        <a:spcPct val="1"/>
      </a:spcAft>
      <a:defRPr sz="2000" b="true" kern="1200">
        <a:solidFill>
          <a:schemeClr val="tx1"/>
        </a:solidFill>
        <a:latin typeface="Comic Sans MS" panose="030F0902030302020204" charset="0"/>
        <a:ea typeface="宋体" charset="-122"/>
        <a:cs typeface="+mn-cs"/>
      </a:defRPr>
    </a:lvl5pPr>
    <a:lvl6pPr marL="2286000" algn="l" defTabSz="914400" rtl="false" eaLnBrk="true" latinLnBrk="false" hangingPunct="true">
      <a:defRPr sz="2000" b="true" kern="1200">
        <a:solidFill>
          <a:schemeClr val="tx1"/>
        </a:solidFill>
        <a:latin typeface="Comic Sans MS" panose="030F0902030302020204" charset="0"/>
        <a:ea typeface="宋体" charset="-122"/>
        <a:cs typeface="+mn-cs"/>
      </a:defRPr>
    </a:lvl6pPr>
    <a:lvl7pPr marL="2743200" algn="l" defTabSz="914400" rtl="false" eaLnBrk="true" latinLnBrk="false" hangingPunct="true">
      <a:defRPr sz="2000" b="true" kern="1200">
        <a:solidFill>
          <a:schemeClr val="tx1"/>
        </a:solidFill>
        <a:latin typeface="Comic Sans MS" panose="030F0902030302020204" charset="0"/>
        <a:ea typeface="宋体" charset="-122"/>
        <a:cs typeface="+mn-cs"/>
      </a:defRPr>
    </a:lvl7pPr>
    <a:lvl8pPr marL="3200400" algn="l" defTabSz="914400" rtl="false" eaLnBrk="true" latinLnBrk="false" hangingPunct="true">
      <a:defRPr sz="2000" b="true" kern="1200">
        <a:solidFill>
          <a:schemeClr val="tx1"/>
        </a:solidFill>
        <a:latin typeface="Comic Sans MS" panose="030F0902030302020204" charset="0"/>
        <a:ea typeface="宋体" charset="-122"/>
        <a:cs typeface="+mn-cs"/>
      </a:defRPr>
    </a:lvl8pPr>
    <a:lvl9pPr marL="3657600" algn="l" defTabSz="914400" rtl="false" eaLnBrk="true" latinLnBrk="false" hangingPunct="true">
      <a:defRPr sz="2000" b="true" kern="1200">
        <a:solidFill>
          <a:schemeClr val="tx1"/>
        </a:solidFill>
        <a:latin typeface="Comic Sans MS" panose="030F0902030302020204" charset="0"/>
        <a:ea typeface="宋体" charset="-122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p="http://schemas.openxmlformats.org/presentationml/2006/main">
  <p:showPr showNarration="true">
    <p:present/>
    <p:sldAll/>
    <p:penClr>
      <a:srgbClr val="FF0000"/>
    </p:penClr>
    <p:extLst>
      <p:ext uri="{EC167BDD-8182-4AB7-AECC-EB403E3ABB37}"/>
      <p:ext uri="{2FDB2607-1784-4EEB-B798-7EB5836EED8A}"/>
    </p:extLst>
  </p:showPr>
  <p:clrMru>
    <a:srgbClr val="9900CC"/>
    <a:srgbClr val="00CC66"/>
    <a:srgbClr val="FF0000"/>
  </p:clrMru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p="http://schemas.openxmlformats.org/presentationml/2006/main">
  <p:normalViewPr>
    <p:restoredLeft sz="25925"/>
    <p:restoredTop sz="89678"/>
  </p:normalViewPr>
  <p:slideViewPr>
    <p:cSldViewPr>
      <p:cViewPr varScale="true">
        <p:scale>
          <a:sx n="105" d="100"/>
          <a:sy n="105" d="100"/>
        </p:scale>
        <p:origin x="1200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6200" cy="76200"/>
</p:viewPr>
</file>

<file path=ppt/_rels/presentation.xml.rels><?xml version="1.0" encoding="UTF-8" standalone="yes"?><Relationships xmlns="http://schemas.openxmlformats.org/package/2006/relationships"><Relationship Id="rId99" Type="http://schemas.openxmlformats.org/officeDocument/2006/relationships/slide" Target="slides/slide99.xml" /><Relationship Id="rId98" Type="http://schemas.openxmlformats.org/officeDocument/2006/relationships/slide" Target="slides/slide98.xml" /><Relationship Id="rId95" Type="http://schemas.openxmlformats.org/officeDocument/2006/relationships/slide" Target="slides/slide95.xml" /><Relationship Id="rId94" Type="http://schemas.openxmlformats.org/officeDocument/2006/relationships/slide" Target="slides/slide94.xml" /><Relationship Id="rId92" Type="http://schemas.openxmlformats.org/officeDocument/2006/relationships/slide" Target="slides/slide92.xml" /><Relationship Id="rId9" Type="http://schemas.openxmlformats.org/officeDocument/2006/relationships/slide" Target="slides/slide9.xml" /><Relationship Id="rId88" Type="http://schemas.openxmlformats.org/officeDocument/2006/relationships/slide" Target="slides/slide88.xml" /><Relationship Id="rId87" Type="http://schemas.openxmlformats.org/officeDocument/2006/relationships/slide" Target="slides/slide87.xml" /><Relationship Id="rId85" Type="http://schemas.openxmlformats.org/officeDocument/2006/relationships/slide" Target="slides/slide85.xml" /><Relationship Id="rId82" Type="http://schemas.openxmlformats.org/officeDocument/2006/relationships/slide" Target="slides/slide82.xml" /><Relationship Id="rId81" Type="http://schemas.openxmlformats.org/officeDocument/2006/relationships/slide" Target="slides/slide81.xml" /><Relationship Id="rId80" Type="http://schemas.openxmlformats.org/officeDocument/2006/relationships/slide" Target="slides/slide80.xml" /><Relationship Id="rId78" Type="http://schemas.openxmlformats.org/officeDocument/2006/relationships/slide" Target="slides/slide78.xml" /><Relationship Id="rId77" Type="http://schemas.openxmlformats.org/officeDocument/2006/relationships/slide" Target="slides/slide77.xml" /><Relationship Id="rId76" Type="http://schemas.openxmlformats.org/officeDocument/2006/relationships/slide" Target="slides/slide76.xml" /><Relationship Id="rId71" Type="http://schemas.openxmlformats.org/officeDocument/2006/relationships/slide" Target="slides/slide71.xml" /><Relationship Id="rId70" Type="http://schemas.openxmlformats.org/officeDocument/2006/relationships/slide" Target="slides/slide70.xml" /><Relationship Id="rId90" Type="http://schemas.openxmlformats.org/officeDocument/2006/relationships/slide" Target="slides/slide90.xml" /><Relationship Id="rId69" Type="http://schemas.openxmlformats.org/officeDocument/2006/relationships/slide" Target="slides/slide69.xml" /><Relationship Id="rId67" Type="http://schemas.openxmlformats.org/officeDocument/2006/relationships/slide" Target="slides/slide67.xml" /><Relationship Id="rId66" Type="http://schemas.openxmlformats.org/officeDocument/2006/relationships/slide" Target="slides/slide66.xml" /><Relationship Id="rId89" Type="http://schemas.openxmlformats.org/officeDocument/2006/relationships/slide" Target="slides/slide89.xml" /><Relationship Id="rId65" Type="http://schemas.openxmlformats.org/officeDocument/2006/relationships/slide" Target="slides/slide65.xml" /><Relationship Id="rId63" Type="http://schemas.openxmlformats.org/officeDocument/2006/relationships/slide" Target="slides/slide63.xml" /><Relationship Id="rId62" Type="http://schemas.openxmlformats.org/officeDocument/2006/relationships/slide" Target="slides/slide62.xml" /><Relationship Id="rId60" Type="http://schemas.openxmlformats.org/officeDocument/2006/relationships/slide" Target="slides/slide60.xml" /><Relationship Id="rId59" Type="http://schemas.openxmlformats.org/officeDocument/2006/relationships/slide" Target="slides/slide59.xml" /><Relationship Id="rId91" Type="http://schemas.openxmlformats.org/officeDocument/2006/relationships/slide" Target="slides/slide91.xml" /><Relationship Id="rId58" Type="http://schemas.openxmlformats.org/officeDocument/2006/relationships/slide" Target="slides/slide58.xml" /><Relationship Id="rId57" Type="http://schemas.openxmlformats.org/officeDocument/2006/relationships/slide" Target="slides/slide57.xml" /><Relationship Id="rId55" Type="http://schemas.openxmlformats.org/officeDocument/2006/relationships/slide" Target="slides/slide55.xml" /><Relationship Id="rId68" Type="http://schemas.openxmlformats.org/officeDocument/2006/relationships/slide" Target="slides/slide68.xml" /><Relationship Id="rId54" Type="http://schemas.openxmlformats.org/officeDocument/2006/relationships/slide" Target="slides/slide54.xml" /><Relationship Id="rId52" Type="http://schemas.openxmlformats.org/officeDocument/2006/relationships/slide" Target="slides/slide52.xml" /><Relationship Id="rId51" Type="http://schemas.openxmlformats.org/officeDocument/2006/relationships/slide" Target="slides/slide51.xml" /><Relationship Id="rId120" Type="http://schemas.openxmlformats.org/officeDocument/2006/relationships/slide" Target="slides/slide120.xml" /><Relationship Id="rId72" Type="http://schemas.openxmlformats.org/officeDocument/2006/relationships/slide" Target="slides/slide72.xml" /><Relationship Id="rId18" Type="http://schemas.openxmlformats.org/officeDocument/2006/relationships/slide" Target="slides/slide18.xml" /><Relationship Id="rId128" Type="http://schemas.openxmlformats.org/officeDocument/2006/relationships/presProps" Target="presProps.xml" /><Relationship Id="rId25" Type="http://schemas.openxmlformats.org/officeDocument/2006/relationships/slide" Target="slides/slide25.xml" /><Relationship Id="rId126" Type="http://schemas.openxmlformats.org/officeDocument/2006/relationships/slide" Target="slides/slide126.xml" /><Relationship Id="rId73" Type="http://schemas.openxmlformats.org/officeDocument/2006/relationships/slide" Target="slides/slide73.xml" /><Relationship Id="rId31" Type="http://schemas.openxmlformats.org/officeDocument/2006/relationships/slide" Target="slides/slide31.xml" /><Relationship Id="rId129" Type="http://schemas.openxmlformats.org/officeDocument/2006/relationships/tableStyles" Target="tableStyles.xml" /><Relationship Id="rId121" Type="http://schemas.openxmlformats.org/officeDocument/2006/relationships/slide" Target="slides/slide121.xml" /><Relationship Id="rId118" Type="http://schemas.openxmlformats.org/officeDocument/2006/relationships/slide" Target="slides/slide118.xml" /><Relationship Id="rId97" Type="http://schemas.openxmlformats.org/officeDocument/2006/relationships/slide" Target="slides/slide97.xml" /><Relationship Id="rId116" Type="http://schemas.openxmlformats.org/officeDocument/2006/relationships/slide" Target="slides/slide116.xml" /><Relationship Id="rId107" Type="http://schemas.openxmlformats.org/officeDocument/2006/relationships/slide" Target="slides/slide107.xml" /><Relationship Id="rId22" Type="http://schemas.openxmlformats.org/officeDocument/2006/relationships/slide" Target="slides/slide22.xml" /><Relationship Id="rId49" Type="http://schemas.openxmlformats.org/officeDocument/2006/relationships/slide" Target="slides/slide49.xml" /><Relationship Id="rId79" Type="http://schemas.openxmlformats.org/officeDocument/2006/relationships/slide" Target="slides/slide79.xml" /><Relationship Id="rId6" Type="http://schemas.openxmlformats.org/officeDocument/2006/relationships/slide" Target="slides/slide6.xml" /><Relationship Id="rId117" Type="http://schemas.openxmlformats.org/officeDocument/2006/relationships/slide" Target="slides/slide117.xml" /><Relationship Id="rId127" Type="http://schemas.openxmlformats.org/officeDocument/2006/relationships/notesMaster" Target="notesMasters/notesMaster1.xml" /><Relationship Id="rId123" Type="http://schemas.openxmlformats.org/officeDocument/2006/relationships/slide" Target="slides/slide123.xml" /><Relationship Id="rId119" Type="http://schemas.openxmlformats.org/officeDocument/2006/relationships/slide" Target="slides/slide119.xml" /><Relationship Id="rId115" Type="http://schemas.openxmlformats.org/officeDocument/2006/relationships/slide" Target="slides/slide115.xml" /><Relationship Id="rId8" Type="http://schemas.openxmlformats.org/officeDocument/2006/relationships/slide" Target="slides/slide8.xml" /><Relationship Id="rId61" Type="http://schemas.openxmlformats.org/officeDocument/2006/relationships/slide" Target="slides/slide61.xml" /><Relationship Id="rId114" Type="http://schemas.openxmlformats.org/officeDocument/2006/relationships/slide" Target="slides/slide114.xml" /><Relationship Id="rId14" Type="http://schemas.openxmlformats.org/officeDocument/2006/relationships/slide" Target="slides/slide14.xml" /><Relationship Id="rId26" Type="http://schemas.openxmlformats.org/officeDocument/2006/relationships/slide" Target="slides/slide26.xml" /><Relationship Id="rId86" Type="http://schemas.openxmlformats.org/officeDocument/2006/relationships/slide" Target="slides/slide86.xml" /><Relationship Id="rId7" Type="http://schemas.openxmlformats.org/officeDocument/2006/relationships/slide" Target="slides/slide7.xml" /><Relationship Id="rId1" Type="http://schemas.openxmlformats.org/officeDocument/2006/relationships/slide" Target="slides/slide1.xml" /><Relationship Id="rId64" Type="http://schemas.openxmlformats.org/officeDocument/2006/relationships/slide" Target="slides/slide64.xml" /><Relationship Id="rId36" Type="http://schemas.openxmlformats.org/officeDocument/2006/relationships/slide" Target="slides/slide36.xml" /><Relationship Id="rId10" Type="http://schemas.openxmlformats.org/officeDocument/2006/relationships/slide" Target="slides/slide10.xml" /><Relationship Id="rId84" Type="http://schemas.openxmlformats.org/officeDocument/2006/relationships/slide" Target="slides/slide84.xml" /><Relationship Id="rId0" Type="http://schemas.openxmlformats.org/officeDocument/2006/relationships/slideMaster" Target="slideMasters/slideMaster1.xml" /><Relationship Id="rId41" Type="http://schemas.openxmlformats.org/officeDocument/2006/relationships/slide" Target="slides/slide41.xml" /><Relationship Id="rId21" Type="http://schemas.openxmlformats.org/officeDocument/2006/relationships/slide" Target="slides/slide21.xml" /><Relationship Id="rId100" Type="http://schemas.openxmlformats.org/officeDocument/2006/relationships/slide" Target="slides/slide100.xml" /><Relationship Id="rId32" Type="http://schemas.openxmlformats.org/officeDocument/2006/relationships/slide" Target="slides/slide32.xml" /><Relationship Id="rId96" Type="http://schemas.openxmlformats.org/officeDocument/2006/relationships/slide" Target="slides/slide96.xml" /><Relationship Id="rId93" Type="http://schemas.openxmlformats.org/officeDocument/2006/relationships/slide" Target="slides/slide93.xml" /><Relationship Id="rId122" Type="http://schemas.openxmlformats.org/officeDocument/2006/relationships/slide" Target="slides/slide122.xml" /><Relationship Id="rId101" Type="http://schemas.openxmlformats.org/officeDocument/2006/relationships/slide" Target="slides/slide101.xml" /><Relationship Id="rId113" Type="http://schemas.openxmlformats.org/officeDocument/2006/relationships/slide" Target="slides/slide113.xml" /><Relationship Id="rId12" Type="http://schemas.openxmlformats.org/officeDocument/2006/relationships/slide" Target="slides/slide12.xml" /><Relationship Id="rId104" Type="http://schemas.openxmlformats.org/officeDocument/2006/relationships/slide" Target="slides/slide104.xml" /><Relationship Id="rId11" Type="http://schemas.openxmlformats.org/officeDocument/2006/relationships/slide" Target="slides/slide11.xml" /><Relationship Id="rId124" Type="http://schemas.openxmlformats.org/officeDocument/2006/relationships/slide" Target="slides/slide124.xml" /><Relationship Id="rId130" Type="http://schemas.openxmlformats.org/officeDocument/2006/relationships/viewProps" Target="viewProps.xml" /><Relationship Id="rId106" Type="http://schemas.openxmlformats.org/officeDocument/2006/relationships/slide" Target="slides/slide106.xml" /><Relationship Id="rId105" Type="http://schemas.openxmlformats.org/officeDocument/2006/relationships/slide" Target="slides/slide105.xml" /><Relationship Id="rId20" Type="http://schemas.openxmlformats.org/officeDocument/2006/relationships/slide" Target="slides/slide20.xml" /><Relationship Id="rId75" Type="http://schemas.openxmlformats.org/officeDocument/2006/relationships/slide" Target="slides/slide75.xml" /><Relationship Id="rId111" Type="http://schemas.openxmlformats.org/officeDocument/2006/relationships/slide" Target="slides/slide111.xml" /><Relationship Id="rId103" Type="http://schemas.openxmlformats.org/officeDocument/2006/relationships/slide" Target="slides/slide103.xml" /><Relationship Id="rId29" Type="http://schemas.openxmlformats.org/officeDocument/2006/relationships/slide" Target="slides/slide29.xml" /><Relationship Id="rId112" Type="http://schemas.openxmlformats.org/officeDocument/2006/relationships/slide" Target="slides/slide112.xml" /><Relationship Id="rId102" Type="http://schemas.openxmlformats.org/officeDocument/2006/relationships/slide" Target="slides/slide102.xml" /><Relationship Id="rId109" Type="http://schemas.openxmlformats.org/officeDocument/2006/relationships/slide" Target="slides/slide109.xml" /><Relationship Id="rId35" Type="http://schemas.openxmlformats.org/officeDocument/2006/relationships/slide" Target="slides/slide35.xml" /><Relationship Id="rId48" Type="http://schemas.openxmlformats.org/officeDocument/2006/relationships/slide" Target="slides/slide48.xml" /><Relationship Id="rId110" Type="http://schemas.openxmlformats.org/officeDocument/2006/relationships/slide" Target="slides/slide110.xml" /><Relationship Id="rId16" Type="http://schemas.openxmlformats.org/officeDocument/2006/relationships/slide" Target="slides/slide16.xml" /><Relationship Id="rId27" Type="http://schemas.openxmlformats.org/officeDocument/2006/relationships/slide" Target="slides/slide27.xml" /><Relationship Id="rId43" Type="http://schemas.openxmlformats.org/officeDocument/2006/relationships/slide" Target="slides/slide43.xml" /><Relationship Id="rId108" Type="http://schemas.openxmlformats.org/officeDocument/2006/relationships/slide" Target="slides/slide108.xml" /><Relationship Id="rId17" Type="http://schemas.openxmlformats.org/officeDocument/2006/relationships/slide" Target="slides/slide17.xml" /><Relationship Id="rId19" Type="http://schemas.openxmlformats.org/officeDocument/2006/relationships/slide" Target="slides/slide19.xml" /><Relationship Id="rId15" Type="http://schemas.openxmlformats.org/officeDocument/2006/relationships/slide" Target="slides/slide15.xml" /><Relationship Id="rId2" Type="http://schemas.openxmlformats.org/officeDocument/2006/relationships/slide" Target="slides/slide2.xml" /><Relationship Id="rId23" Type="http://schemas.openxmlformats.org/officeDocument/2006/relationships/slide" Target="slides/slide23.xml" /><Relationship Id="rId24" Type="http://schemas.openxmlformats.org/officeDocument/2006/relationships/slide" Target="slides/slide24.xml" /><Relationship Id="rId56" Type="http://schemas.openxmlformats.org/officeDocument/2006/relationships/slide" Target="slides/slide56.xml" /><Relationship Id="rId5" Type="http://schemas.openxmlformats.org/officeDocument/2006/relationships/slide" Target="slides/slide5.xml" /><Relationship Id="rId28" Type="http://schemas.openxmlformats.org/officeDocument/2006/relationships/slide" Target="slides/slide28.xml" /><Relationship Id="rId30" Type="http://schemas.openxmlformats.org/officeDocument/2006/relationships/slide" Target="slides/slide30.xml" /><Relationship Id="rId33" Type="http://schemas.openxmlformats.org/officeDocument/2006/relationships/slide" Target="slides/slide33.xml" /><Relationship Id="rId13" Type="http://schemas.openxmlformats.org/officeDocument/2006/relationships/slide" Target="slides/slide13.xml" /><Relationship Id="rId34" Type="http://schemas.openxmlformats.org/officeDocument/2006/relationships/slide" Target="slides/slide34.xml" /><Relationship Id="rId40" Type="http://schemas.openxmlformats.org/officeDocument/2006/relationships/slide" Target="slides/slide40.xml" /><Relationship Id="rId37" Type="http://schemas.openxmlformats.org/officeDocument/2006/relationships/slide" Target="slides/slide37.xml" /><Relationship Id="rId3" Type="http://schemas.openxmlformats.org/officeDocument/2006/relationships/slide" Target="slides/slide3.xml" /><Relationship Id="rId38" Type="http://schemas.openxmlformats.org/officeDocument/2006/relationships/slide" Target="slides/slide38.xml" /><Relationship Id="rId42" Type="http://schemas.openxmlformats.org/officeDocument/2006/relationships/slide" Target="slides/slide42.xml" /><Relationship Id="rId39" Type="http://schemas.openxmlformats.org/officeDocument/2006/relationships/slide" Target="slides/slide39.xml" /><Relationship Id="rId83" Type="http://schemas.openxmlformats.org/officeDocument/2006/relationships/slide" Target="slides/slide83.xml" /><Relationship Id="rId74" Type="http://schemas.openxmlformats.org/officeDocument/2006/relationships/slide" Target="slides/slide74.xml" /><Relationship Id="rId53" Type="http://schemas.openxmlformats.org/officeDocument/2006/relationships/slide" Target="slides/slide53.xml" /><Relationship Id="rId125" Type="http://schemas.openxmlformats.org/officeDocument/2006/relationships/slide" Target="slides/slide125.xml" /><Relationship Id="rId4" Type="http://schemas.openxmlformats.org/officeDocument/2006/relationships/slide" Target="slides/slide4.xml" /><Relationship Id="rId44" Type="http://schemas.openxmlformats.org/officeDocument/2006/relationships/slide" Target="slides/slide44.xml" /><Relationship Id="rId45" Type="http://schemas.openxmlformats.org/officeDocument/2006/relationships/slide" Target="slides/slide45.xml" /><Relationship Id="rId46" Type="http://schemas.openxmlformats.org/officeDocument/2006/relationships/slide" Target="slides/slide46.xml" /><Relationship Id="rId47" Type="http://schemas.openxmlformats.org/officeDocument/2006/relationships/slide" Target="slides/slide47.xml" /><Relationship Id="rId50" Type="http://schemas.openxmlformats.org/officeDocument/2006/relationships/slide" Target="slides/slide50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true" noChangeArrowheads="true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false" compatLnSpc="true"/>
          <a:lstStyle>
            <a:lvl1pPr>
              <a:defRPr sz="1200" b="false">
                <a:latin typeface="Times New Roman" panose="02020603050405020304" charset="0"/>
                <a:ea typeface="宋体" charset="-122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Rectangle 3"/>
          <p:cNvSpPr>
            <a:spLocks noGrp="true" noChangeArrowheads="true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false" compatLnSpc="true"/>
          <a:lstStyle>
            <a:lvl1pPr algn="r">
              <a:defRPr sz="1200" b="false">
                <a:latin typeface="Times New Roman" panose="02020603050405020304" charset="0"/>
                <a:ea typeface="宋体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"/>
          <p:cNvSpPr>
            <a:spLocks noGrp="true" noRot="true" noChangeAspect="true" noChangeArrowheads="true" noTextEdit="true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/>
          </a:extLst>
        </p:spPr>
        <p:txBody>
          <a:bodyPr/>
          <a:p/>
        </p:txBody>
      </p:sp>
      <p:sp>
        <p:nvSpPr>
          <p:cNvPr id="5" name="Rectangle 5"/>
          <p:cNvSpPr>
            <a:spLocks noGrp="true" noChangeArrowheads="true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false" compatLnSpc="true"/>
          <a:lstStyle/>
          <a:p>
            <a:pPr lvl="0"/>
            <a:r>
              <a:rPr lang="en-US" altLang="zh-CN" noProof="false"/>
              <a:t>Click to edit Master text styles</a:t>
            </a:r>
            <a:endParaRPr/>
          </a:p>
          <a:p>
            <a:pPr lvl="1"/>
            <a:r>
              <a:rPr lang="en-US" altLang="zh-CN" noProof="false"/>
              <a:t>Second level</a:t>
            </a:r>
            <a:endParaRPr/>
          </a:p>
          <a:p>
            <a:pPr lvl="2"/>
            <a:r>
              <a:rPr lang="en-US" altLang="zh-CN" noProof="false"/>
              <a:t>Third level</a:t>
            </a:r>
            <a:endParaRPr/>
          </a:p>
          <a:p>
            <a:pPr lvl="3"/>
            <a:r>
              <a:rPr lang="en-US" altLang="zh-CN" noProof="false"/>
              <a:t>Fourth level</a:t>
            </a:r>
            <a:endParaRPr/>
          </a:p>
          <a:p>
            <a:pPr lvl="4"/>
            <a:r>
              <a:rPr lang="en-US" altLang="zh-CN" noProof="false"/>
              <a:t>Fifth level</a:t>
            </a:r>
            <a:endParaRPr/>
          </a:p>
        </p:txBody>
      </p:sp>
      <p:sp>
        <p:nvSpPr>
          <p:cNvPr id="6" name="Rectangle 6"/>
          <p:cNvSpPr>
            <a:spLocks noGrp="true" noChangeArrowheads="true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false" compatLnSpc="true"/>
          <a:lstStyle>
            <a:lvl1pPr>
              <a:defRPr sz="1200" b="false">
                <a:latin typeface="Times New Roman" panose="02020603050405020304" charset="0"/>
                <a:ea typeface="宋体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/>
          <p:cNvSpPr>
            <a:spLocks noGrp="true" noChangeArrowheads="true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false" compatLnSpc="true"/>
          <a:lstStyle>
            <a:lvl1pPr algn="r">
              <a:defRPr sz="1200" b="false">
                <a:latin typeface="Times New Roman" panose="02020603050405020304" charset="0"/>
              </a:defRPr>
            </a:lvl1pPr>
          </a:lstStyle>
          <a:p>
            <a:pPr/>
            <a:fld id="{449CF617-9902-334A-9C6C-EF00630F7CCA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false" eaLnBrk="false" fontAlgn="base" hangingPunct="false">
      <a:spcBef>
        <a:spcPct val="30000"/>
      </a:spcBef>
      <a:spcAft>
        <a:spcPct val="1"/>
      </a:spcAft>
      <a:defRPr kumimoji="true" sz="1200" kern="1200">
        <a:solidFill>
          <a:schemeClr val="tx1"/>
        </a:solidFill>
        <a:latin typeface="Times New Roman" panose="02020603050405020304" charset="0"/>
        <a:ea typeface="宋体" charset="-122"/>
        <a:cs typeface="宋体" charset="0"/>
      </a:defRPr>
    </a:lvl1pPr>
    <a:lvl2pPr marL="457200" algn="l" rtl="false" eaLnBrk="false" fontAlgn="base" hangingPunct="false">
      <a:spcBef>
        <a:spcPct val="30000"/>
      </a:spcBef>
      <a:spcAft>
        <a:spcPct val="1"/>
      </a:spcAft>
      <a:defRPr kumimoji="true" sz="1200" kern="1200">
        <a:solidFill>
          <a:schemeClr val="tx1"/>
        </a:solidFill>
        <a:latin typeface="Times New Roman" panose="02020603050405020304" charset="0"/>
        <a:ea typeface="宋体" charset="-122"/>
        <a:cs typeface="+mn-cs"/>
      </a:defRPr>
    </a:lvl2pPr>
    <a:lvl3pPr marL="914400" algn="l" rtl="false" eaLnBrk="false" fontAlgn="base" hangingPunct="false">
      <a:spcBef>
        <a:spcPct val="30000"/>
      </a:spcBef>
      <a:spcAft>
        <a:spcPct val="1"/>
      </a:spcAft>
      <a:defRPr kumimoji="true" sz="1200" kern="1200">
        <a:solidFill>
          <a:schemeClr val="tx1"/>
        </a:solidFill>
        <a:latin typeface="Times New Roman" panose="02020603050405020304" charset="0"/>
        <a:ea typeface="宋体" charset="-122"/>
        <a:cs typeface="+mn-cs"/>
      </a:defRPr>
    </a:lvl3pPr>
    <a:lvl4pPr marL="1371600" algn="l" rtl="false" eaLnBrk="false" fontAlgn="base" hangingPunct="false">
      <a:spcBef>
        <a:spcPct val="30000"/>
      </a:spcBef>
      <a:spcAft>
        <a:spcPct val="1"/>
      </a:spcAft>
      <a:defRPr kumimoji="true" sz="1200" kern="1200">
        <a:solidFill>
          <a:schemeClr val="tx1"/>
        </a:solidFill>
        <a:latin typeface="Times New Roman" panose="02020603050405020304" charset="0"/>
        <a:ea typeface="宋体" charset="-122"/>
        <a:cs typeface="+mn-cs"/>
      </a:defRPr>
    </a:lvl4pPr>
    <a:lvl5pPr marL="1828800" algn="l" rtl="false" eaLnBrk="false" fontAlgn="base" hangingPunct="false">
      <a:spcBef>
        <a:spcPct val="30000"/>
      </a:spcBef>
      <a:spcAft>
        <a:spcPct val="1"/>
      </a:spcAft>
      <a:defRPr kumimoji="true" sz="1200" kern="1200">
        <a:solidFill>
          <a:schemeClr val="tx1"/>
        </a:solidFill>
        <a:latin typeface="Times New Roman" panose="02020603050405020304" charset="0"/>
        <a:ea typeface="宋体" charset="-122"/>
        <a:cs typeface="+mn-cs"/>
      </a:defRPr>
    </a:lvl5pPr>
    <a:lvl6pPr marL="22860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.xml" 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0.xml" 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02.xml" 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04.xml" 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11.xml" 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13.xml" 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15.xml" 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18.xml" 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19.xml" 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.xml" 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0.xml" 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4.xml" 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1.xml" 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2.xml" 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3.xml" 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4.xml" 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5.xml" /></Relationships>
</file>

<file path=ppt/notesSlides/_rels/notesSlide1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7.xml" /></Relationships>
</file>

<file path=ppt/notesSlides/_rels/notesSlide1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8.xml" /></Relationships>
</file>

<file path=ppt/notesSlides/_rels/notesSlide2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9.xml" /></Relationships>
</file>

<file path=ppt/notesSlides/_rels/notesSlide2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0.xml" /></Relationships>
</file>

<file path=ppt/notesSlides/_rels/notesSlide2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1.xml" /></Relationships>
</file>

<file path=ppt/notesSlides/_rels/notesSlide2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4.xml" /></Relationships>
</file>

<file path=ppt/notesSlides/_rels/notesSlide2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5.xml" /></Relationships>
</file>

<file path=ppt/notesSlides/_rels/notesSlide2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6.xml" /></Relationships>
</file>

<file path=ppt/notesSlides/_rels/notesSlide2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7.xml" /></Relationships>
</file>

<file path=ppt/notesSlides/_rels/notesSlide2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8.xml" /></Relationships>
</file>

<file path=ppt/notesSlides/_rels/notesSlide2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9.xml" /></Relationships>
</file>

<file path=ppt/notesSlides/_rels/notesSlide2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68.xml" /></Relationships>
</file>

<file path=ppt/notesSlides/_rels/notesSlide3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70.xml" /></Relationships>
</file>

<file path=ppt/notesSlides/_rels/notesSlide3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71.xml" /></Relationships>
</file>

<file path=ppt/notesSlides/_rels/notesSlide3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78.xml" /></Relationships>
</file>

<file path=ppt/notesSlides/_rels/notesSlide3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79.xml" /></Relationships>
</file>

<file path=ppt/notesSlides/_rels/notesSlide3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80.xml" /></Relationships>
</file>

<file path=ppt/notesSlides/_rels/notesSlide3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81.xml" /></Relationships>
</file>

<file path=ppt/notesSlides/_rels/notesSlide3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82.xml" /></Relationships>
</file>

<file path=ppt/notesSlides/_rels/notesSlide3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83.xml" /></Relationships>
</file>

<file path=ppt/notesSlides/_rels/notesSlide3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84.xml" /></Relationships>
</file>

<file path=ppt/notesSlides/_rels/notesSlide3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85.xml" /></Relationships>
</file>

<file path=ppt/notesSlides/_rels/notesSlide4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86.xml" /></Relationships>
</file>

<file path=ppt/notesSlides/_rels/notesSlide4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87.xml" /></Relationships>
</file>

<file path=ppt/notesSlides/_rels/notesSlide4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88.xml" /></Relationships>
</file>

<file path=ppt/notesSlides/_rels/notesSlide4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89.xml" /></Relationships>
</file>

<file path=ppt/notesSlides/_rels/notesSlide4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90.xml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AF2A28A4-590E-4946-81EF-F42B8741BC2B}" type="slidenum">
              <a:rPr lang="zh-CN" altLang="en-US" sz="1200" b="false">
                <a:latin typeface="Times New Roman" panose="02020603050405020304" charset="0"/>
              </a:rPr>
              <a:t>1</a:t>
            </a:fld>
            <a:endParaRPr lang="en-US" altLang="zh-CN" sz="1200" b="false">
              <a:latin typeface="Times New Roman" panose="02020603050405020304" charset="0"/>
            </a:endParaRPr>
          </a:p>
        </p:txBody>
      </p:sp>
      <p:sp>
        <p:nvSpPr>
          <p:cNvPr id="3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4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panose="02020603050405020304" charset="0"/>
              <a:ea typeface="宋体" charset="-122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AF2A28A4-590E-4946-81EF-F42B8741BC2B}" type="slidenum">
              <a:rPr lang="zh-CN" altLang="en-US" sz="1200" b="false">
                <a:latin typeface="Times New Roman" panose="02020603050405020304" charset="0"/>
              </a:rPr>
              <a:t>11</a:t>
            </a:fld>
            <a:endParaRPr lang="en-US" altLang="zh-CN" sz="1200" b="false">
              <a:latin typeface="Times New Roman" panose="02020603050405020304" charset="0"/>
            </a:endParaRPr>
          </a:p>
        </p:txBody>
      </p:sp>
      <p:sp>
        <p:nvSpPr>
          <p:cNvPr id="7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8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panose="02020603050405020304" charset="0"/>
              <a:ea typeface="宋体" charset="-122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AF2A28A4-590E-4946-81EF-F42B8741BC2B}" type="slidenum">
              <a:rPr lang="zh-CN" altLang="en-US" sz="1200" b="false">
                <a:latin typeface="Times New Roman" panose="02020603050405020304" charset="0"/>
              </a:rPr>
              <a:t>106</a:t>
            </a:fld>
            <a:endParaRPr lang="en-US" altLang="zh-CN" sz="1200" b="false">
              <a:latin typeface="Times New Roman" panose="02020603050405020304" charset="0"/>
            </a:endParaRPr>
          </a:p>
        </p:txBody>
      </p:sp>
      <p:sp>
        <p:nvSpPr>
          <p:cNvPr id="11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2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panose="02020603050405020304" charset="0"/>
              <a:ea typeface="宋体" charset="-122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05CFEAFB-5213-A94C-82B9-202B0B3C4698}" type="slidenum">
              <a:rPr lang="zh-CN" altLang="en-US" sz="1200" b="false">
                <a:latin typeface="Times New Roman" panose="02020603050405020304" charset="0"/>
              </a:rPr>
              <a:t>108</a:t>
            </a:fld>
            <a:endParaRPr lang="en-US" altLang="zh-CN" sz="1200" b="false">
              <a:latin typeface="Times New Roman" panose="02020603050405020304" charset="0"/>
            </a:endParaRPr>
          </a:p>
        </p:txBody>
      </p:sp>
      <p:sp>
        <p:nvSpPr>
          <p:cNvPr id="15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6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panose="02020603050405020304" charset="0"/>
              <a:ea typeface="宋体" charset="-122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D0E8DCBB-A2D5-1C4B-B526-BF1CD32B9AC2}" type="slidenum">
              <a:rPr lang="zh-CN" altLang="en-US" sz="1200" b="false">
                <a:latin typeface="Times New Roman" panose="02020603050405020304" charset="0"/>
              </a:rPr>
              <a:t>115</a:t>
            </a:fld>
            <a:endParaRPr lang="en-US" altLang="zh-CN" sz="1200" b="false">
              <a:latin typeface="Times New Roman" panose="02020603050405020304" charset="0"/>
            </a:endParaRPr>
          </a:p>
        </p:txBody>
      </p:sp>
      <p:sp>
        <p:nvSpPr>
          <p:cNvPr id="19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20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panose="02020603050405020304" charset="0"/>
              <a:ea typeface="宋体" charset="-122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E55237BC-8593-814A-9138-F6B5E4E29F04}" type="slidenum">
              <a:rPr lang="zh-CN" altLang="en-US" sz="1200" b="false">
                <a:latin typeface="Times New Roman" panose="02020603050405020304" charset="0"/>
              </a:rPr>
              <a:t>117</a:t>
            </a:fld>
            <a:endParaRPr lang="en-US" altLang="zh-CN" sz="1200" b="false">
              <a:latin typeface="Times New Roman" panose="02020603050405020304" charset="0"/>
            </a:endParaRPr>
          </a:p>
        </p:txBody>
      </p:sp>
      <p:sp>
        <p:nvSpPr>
          <p:cNvPr id="23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24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panose="02020603050405020304" charset="0"/>
              <a:ea typeface="宋体" charset="-122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"/>
          <p:cNvSpPr/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p>
            <a:pPr/>
            <a:r>
              <a:rPr lang="en-US">
                <a:latin typeface="Arial"/>
                <a:ea typeface="Microsoft YaHei"/>
              </a:rPr>
              <a:t>Page dictionary index</a:t>
            </a:r>
            <a:r>
              <a:rPr lang="zh-CN">
                <a:latin typeface="Arial"/>
                <a:ea typeface="Microsoft YaHei"/>
              </a:rPr>
              <a:t>实际上就是</a:t>
            </a:r>
            <a:r>
              <a:rPr lang="en-US">
                <a:latin typeface="Arial"/>
                <a:ea typeface="Microsoft YaHei"/>
              </a:rPr>
              <a:t>VPN</a:t>
            </a:r>
            <a:r>
              <a:rPr lang="zh-CN">
                <a:latin typeface="Arial"/>
                <a:ea typeface="Microsoft YaHei"/>
              </a:rPr>
              <a:t>的一段</a:t>
            </a:r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"/>
          <p:cNvSpPr/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p>
            <a:pPr/>
            <a:r>
              <a:rPr lang="en-US">
                <a:latin typeface="Arial"/>
                <a:ea typeface="Microsoft YaHei"/>
              </a:rPr>
              <a:t>PD Index0</a:t>
            </a:r>
            <a:r>
              <a:rPr lang="zh-CN">
                <a:latin typeface="Arial"/>
                <a:ea typeface="Microsoft YaHei"/>
              </a:rPr>
              <a:t>也称为</a:t>
            </a:r>
            <a:r>
              <a:rPr lang="en-US">
                <a:latin typeface="Arial"/>
                <a:ea typeface="Microsoft YaHei"/>
              </a:rPr>
              <a:t>VPN1</a:t>
            </a:r>
            <a:r>
              <a:rPr lang="en-US">
                <a:latin typeface="Arial"/>
                <a:ea typeface="Microsoft YaHei"/>
              </a:rPr>
              <a:t>，</a:t>
            </a:r>
            <a:r>
              <a:rPr lang="en-US">
                <a:latin typeface="Arial"/>
                <a:ea typeface="Microsoft YaHei"/>
              </a:rPr>
              <a:t>PD Index1</a:t>
            </a:r>
            <a:r>
              <a:rPr lang="zh-CN">
                <a:latin typeface="Arial"/>
                <a:ea typeface="Microsoft YaHei"/>
              </a:rPr>
              <a:t>也称为</a:t>
            </a:r>
            <a:r>
              <a:rPr lang="en-US">
                <a:latin typeface="Arial"/>
                <a:ea typeface="Microsoft YaHei"/>
              </a:rPr>
              <a:t>VPN1...</a:t>
            </a:r>
            <a:endParaRPr/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16F6424F-4E42-7D4C-A84F-82A952738611}" type="slidenum">
              <a:rPr lang="zh-CN" altLang="en-US" sz="1200" b="false">
                <a:latin typeface="Times New Roman" panose="02020603050405020304" charset="0"/>
              </a:rPr>
              <a:t>118</a:t>
            </a:fld>
            <a:endParaRPr lang="en-US" altLang="zh-CN" sz="1200" b="false">
              <a:latin typeface="Times New Roman" panose="02020603050405020304" charset="0"/>
            </a:endParaRPr>
          </a:p>
        </p:txBody>
      </p:sp>
      <p:sp>
        <p:nvSpPr>
          <p:cNvPr id="31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2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panose="02020603050405020304" charset="0"/>
              <a:ea typeface="宋体" charset="-122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9FEBA713-CB3E-3C49-B195-2577D869E7B0}" type="slidenum">
              <a:rPr lang="zh-CN" altLang="en-US" sz="1200" b="false">
                <a:latin typeface="Times New Roman" panose="02020603050405020304" charset="0"/>
              </a:rPr>
              <a:t>2</a:t>
            </a:fld>
            <a:endParaRPr lang="en-US" altLang="zh-CN" sz="1200" b="false">
              <a:latin typeface="Times New Roman" panose="02020603050405020304" charset="0"/>
            </a:endParaRPr>
          </a:p>
        </p:txBody>
      </p:sp>
      <p:sp>
        <p:nvSpPr>
          <p:cNvPr id="35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6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panose="02020603050405020304" charset="0"/>
              <a:ea typeface="宋体" charset="-122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"/>
          <p:cNvSpPr/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p>
            <a:pPr/>
            <a:r>
              <a:rPr lang="zh-CN">
                <a:latin typeface="Arial"/>
                <a:ea typeface="Microsoft YaHei"/>
              </a:rPr>
              <a:t>限制了每个</a:t>
            </a:r>
            <a:r>
              <a:rPr lang="en-US">
                <a:latin typeface="Arial"/>
                <a:ea typeface="Microsoft YaHei"/>
              </a:rPr>
              <a:t>segment</a:t>
            </a:r>
            <a:r>
              <a:rPr lang="zh-CN">
                <a:latin typeface="Arial"/>
                <a:ea typeface="Microsoft YaHei"/>
              </a:rPr>
              <a:t>的大小只能是</a:t>
            </a:r>
            <a:r>
              <a:rPr lang="en-US">
                <a:latin typeface="Arial"/>
                <a:ea typeface="Microsoft YaHei"/>
              </a:rPr>
              <a:t>4KB</a:t>
            </a:r>
            <a:r>
              <a:rPr lang="zh-CN">
                <a:latin typeface="Arial"/>
                <a:ea typeface="Microsoft YaHei"/>
              </a:rPr>
              <a:t>，不够灵活</a:t>
            </a:r>
            <a:endParaRPr/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AF2A28A4-590E-4946-81EF-F42B8741BC2B}" type="slidenum">
              <a:rPr lang="zh-CN" altLang="en-US" sz="1200" b="false">
                <a:latin typeface="Times New Roman" panose="02020603050405020304" charset="0"/>
              </a:rPr>
              <a:t>32</a:t>
            </a:fld>
            <a:endParaRPr lang="en-US" altLang="zh-CN" sz="1200" b="false">
              <a:latin typeface="Times New Roman" panose="02020603050405020304" charset="0"/>
            </a:endParaRPr>
          </a:p>
        </p:txBody>
      </p:sp>
      <p:sp>
        <p:nvSpPr>
          <p:cNvPr id="41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42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panose="02020603050405020304" charset="0"/>
              <a:ea typeface="宋体" charset="-122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9E2EF30F-CCB9-ED49-B023-3A8744C3C0FF}" type="slidenum">
              <a:rPr lang="zh-CN" altLang="en-US" sz="1200" b="false">
                <a:latin typeface="Times New Roman" panose="02020603050405020304" charset="0"/>
              </a:rPr>
              <a:t>40</a:t>
            </a:fld>
            <a:endParaRPr lang="en-US" altLang="zh-CN" sz="1200" b="false">
              <a:latin typeface="Times New Roman" panose="02020603050405020304" charset="0"/>
            </a:endParaRPr>
          </a:p>
        </p:txBody>
      </p:sp>
      <p:sp>
        <p:nvSpPr>
          <p:cNvPr id="45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46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panose="02020603050405020304" charset="0"/>
              <a:ea typeface="宋体" charset="-122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>
  <p:cSld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C7577C84-B670-2F41-8D8B-132185196F2B}" type="slidenum">
              <a:rPr lang="zh-CN" altLang="en-US" sz="1200" b="false">
                <a:latin typeface="Times New Roman" panose="02020603050405020304" charset="0"/>
              </a:rPr>
              <a:t>45</a:t>
            </a:fld>
            <a:endParaRPr lang="en-US" altLang="zh-CN" sz="1200" b="false">
              <a:latin typeface="Times New Roman" panose="02020603050405020304" charset="0"/>
            </a:endParaRPr>
          </a:p>
        </p:txBody>
      </p:sp>
      <p:sp>
        <p:nvSpPr>
          <p:cNvPr id="49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50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panose="02020603050405020304" charset="0"/>
              <a:ea typeface="宋体" charset="-122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>
  <p:cSld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0486B90F-6763-E44E-BD5F-1D4523B2F875}" type="slidenum">
              <a:rPr lang="zh-CN" altLang="en-US" sz="1200" b="false">
                <a:latin typeface="Times New Roman" panose="02020603050405020304" charset="0"/>
              </a:rPr>
              <a:t>46</a:t>
            </a:fld>
            <a:endParaRPr lang="en-US" altLang="zh-CN" sz="1200" b="false">
              <a:latin typeface="Times New Roman" panose="02020603050405020304" charset="0"/>
            </a:endParaRPr>
          </a:p>
        </p:txBody>
      </p:sp>
      <p:sp>
        <p:nvSpPr>
          <p:cNvPr id="53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54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panose="02020603050405020304" charset="0"/>
              <a:ea typeface="宋体" charset="-122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>
  <p:cSld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58159839-32DB-104A-B778-12AAC6C832E1}" type="slidenum">
              <a:rPr lang="zh-CN" altLang="en-US" sz="1200" b="false">
                <a:latin typeface="Times New Roman" panose="02020603050405020304" charset="0"/>
              </a:rPr>
              <a:t>47</a:t>
            </a:fld>
            <a:endParaRPr lang="en-US" altLang="zh-CN" sz="1200" b="false">
              <a:latin typeface="Times New Roman" panose="02020603050405020304" charset="0"/>
            </a:endParaRPr>
          </a:p>
        </p:txBody>
      </p:sp>
      <p:sp>
        <p:nvSpPr>
          <p:cNvPr id="57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58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panose="02020603050405020304" charset="0"/>
              <a:ea typeface="宋体" charset="-122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>
  <p:cSld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454B76B1-30D9-204D-B422-14B331B905AA}" type="slidenum">
              <a:rPr lang="zh-CN" altLang="en-US" sz="1200" b="false">
                <a:latin typeface="Times New Roman" panose="02020603050405020304" charset="0"/>
              </a:rPr>
              <a:t>48</a:t>
            </a:fld>
            <a:endParaRPr lang="en-US" altLang="zh-CN" sz="1200" b="false">
              <a:latin typeface="Times New Roman" panose="02020603050405020304" charset="0"/>
            </a:endParaRPr>
          </a:p>
        </p:txBody>
      </p:sp>
      <p:sp>
        <p:nvSpPr>
          <p:cNvPr id="61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62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panose="02020603050405020304" charset="0"/>
              <a:ea typeface="宋体" charset="-122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>
  <p:cSld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C0A7FF0D-DC39-BD40-A484-FB601813A55E}" type="slidenum">
              <a:rPr lang="zh-CN" altLang="en-US" sz="1200" b="false">
                <a:latin typeface="Times New Roman" panose="02020603050405020304" charset="0"/>
              </a:rPr>
              <a:t>49</a:t>
            </a:fld>
            <a:endParaRPr lang="en-US" altLang="zh-CN" sz="1200" b="false">
              <a:latin typeface="Times New Roman" panose="02020603050405020304" charset="0"/>
            </a:endParaRPr>
          </a:p>
        </p:txBody>
      </p:sp>
      <p:sp>
        <p:nvSpPr>
          <p:cNvPr id="65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66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panose="02020603050405020304" charset="0"/>
              <a:ea typeface="宋体" charset="-122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>
  <p:cSld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92FD29A7-14FA-1444-A59A-3B1C5EC9E433}" type="slidenum">
              <a:rPr lang="zh-CN" altLang="en-US" sz="1200" b="false">
                <a:latin typeface="Times New Roman" panose="02020603050405020304" charset="0"/>
              </a:rPr>
              <a:t>50</a:t>
            </a:fld>
            <a:endParaRPr lang="en-US" altLang="zh-CN" sz="1200" b="false">
              <a:latin typeface="Times New Roman" panose="02020603050405020304" charset="0"/>
            </a:endParaRPr>
          </a:p>
        </p:txBody>
      </p:sp>
      <p:sp>
        <p:nvSpPr>
          <p:cNvPr id="69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70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panose="02020603050405020304" charset="0"/>
              <a:ea typeface="宋体" charset="-122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>
  <p:cSld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881B1D68-FE37-0A49-8DD8-AE523058D2E7}" type="slidenum">
              <a:rPr lang="zh-CN" altLang="en-US" sz="1200" b="false">
                <a:latin typeface="Times New Roman" panose="02020603050405020304" charset="0"/>
              </a:rPr>
              <a:t>51</a:t>
            </a:fld>
            <a:endParaRPr lang="en-US" altLang="zh-CN" sz="1200" b="false">
              <a:latin typeface="Times New Roman" panose="02020603050405020304" charset="0"/>
            </a:endParaRPr>
          </a:p>
        </p:txBody>
      </p:sp>
      <p:sp>
        <p:nvSpPr>
          <p:cNvPr id="73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74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panose="02020603050405020304" charset="0"/>
              <a:ea typeface="宋体" charset="-122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>
  <p:cSld>
    <p:spTree>
      <p:nvGrpSpPr>
        <p:cNvPr id="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6C605F08-6F0B-814D-A6A2-55E5B82EE42E}" type="slidenum">
              <a:rPr lang="zh-CN" altLang="en-US" sz="1200" b="false">
                <a:latin typeface="Times New Roman" panose="02020603050405020304" charset="0"/>
              </a:rPr>
              <a:t>52</a:t>
            </a:fld>
            <a:endParaRPr lang="en-US" altLang="zh-CN" sz="1200" b="false">
              <a:latin typeface="Times New Roman" panose="02020603050405020304" charset="0"/>
            </a:endParaRPr>
          </a:p>
        </p:txBody>
      </p:sp>
      <p:sp>
        <p:nvSpPr>
          <p:cNvPr id="77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78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panose="02020603050405020304" charset="0"/>
              <a:ea typeface="宋体" charset="-122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>
  <p:cSld>
    <p:spTree>
      <p:nvGrpSpPr>
        <p:cNvPr id="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B0E711D4-5035-E841-B94E-65B3A7F652DE}" type="slidenum">
              <a:rPr lang="zh-CN" altLang="en-US" sz="1200" b="false">
                <a:latin typeface="Times New Roman" panose="02020603050405020304" charset="0"/>
              </a:rPr>
              <a:t>53</a:t>
            </a:fld>
            <a:endParaRPr lang="en-US" altLang="zh-CN" sz="1200" b="false">
              <a:latin typeface="Times New Roman" panose="02020603050405020304" charset="0"/>
            </a:endParaRPr>
          </a:p>
        </p:txBody>
      </p:sp>
      <p:sp>
        <p:nvSpPr>
          <p:cNvPr id="81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82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panose="02020603050405020304" charset="0"/>
              <a:ea typeface="宋体" charset="-122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>
  <p:cSld>
    <p:spTree>
      <p:nvGrpSpPr>
        <p:cNvPr id="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80569535-1812-8343-B1F9-F137376BA50C}" type="slidenum">
              <a:rPr lang="zh-CN" altLang="en-US" sz="1200" b="false">
                <a:latin typeface="Times New Roman" panose="02020603050405020304" charset="0"/>
              </a:rPr>
              <a:t>56</a:t>
            </a:fld>
            <a:endParaRPr lang="en-US" altLang="zh-CN" sz="1200" b="false">
              <a:latin typeface="Times New Roman" panose="02020603050405020304" charset="0"/>
            </a:endParaRPr>
          </a:p>
        </p:txBody>
      </p:sp>
      <p:sp>
        <p:nvSpPr>
          <p:cNvPr id="85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86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panose="02020603050405020304" charset="0"/>
              <a:ea typeface="宋体" charset="-122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>
  <p:cSld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2540B59D-C987-164B-8B2D-0BA9FFED05FC}" type="slidenum">
              <a:rPr lang="zh-CN" altLang="en-US" sz="1200" b="false">
                <a:latin typeface="Times New Roman" panose="02020603050405020304" charset="0"/>
              </a:rPr>
              <a:t>57</a:t>
            </a:fld>
            <a:endParaRPr lang="en-US" altLang="zh-CN" sz="1200" b="false">
              <a:latin typeface="Times New Roman" panose="02020603050405020304" charset="0"/>
            </a:endParaRPr>
          </a:p>
        </p:txBody>
      </p:sp>
      <p:sp>
        <p:nvSpPr>
          <p:cNvPr id="89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90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panose="02020603050405020304" charset="0"/>
              <a:ea typeface="宋体" charset="-122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>
  <p:cSld>
    <p:spTree>
      <p:nvGrpSpPr>
        <p:cNvPr id="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22DA7E7F-1191-3349-9AE8-EE6C8F81ACFA}" type="slidenum">
              <a:rPr lang="zh-CN" altLang="en-US" sz="1200" b="false">
                <a:latin typeface="Times New Roman" panose="02020603050405020304" charset="0"/>
              </a:rPr>
              <a:t>58</a:t>
            </a:fld>
            <a:endParaRPr lang="en-US" altLang="zh-CN" sz="1200" b="false">
              <a:latin typeface="Times New Roman" panose="02020603050405020304" charset="0"/>
            </a:endParaRPr>
          </a:p>
        </p:txBody>
      </p:sp>
      <p:sp>
        <p:nvSpPr>
          <p:cNvPr id="93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94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panose="02020603050405020304" charset="0"/>
              <a:ea typeface="宋体" charset="-122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>
  <p:cSld>
    <p:spTree>
      <p:nvGrpSpPr>
        <p:cNvPr id="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5D63B8CA-E412-EF49-A6CD-1CA6905441AB}" type="slidenum">
              <a:rPr lang="zh-CN" altLang="en-US" sz="1200" b="false">
                <a:latin typeface="Times New Roman" panose="02020603050405020304" charset="0"/>
              </a:rPr>
              <a:t>59</a:t>
            </a:fld>
            <a:endParaRPr lang="en-US" altLang="zh-CN" sz="1200" b="false">
              <a:latin typeface="Times New Roman" panose="02020603050405020304" charset="0"/>
            </a:endParaRPr>
          </a:p>
        </p:txBody>
      </p:sp>
      <p:sp>
        <p:nvSpPr>
          <p:cNvPr id="97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98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panose="02020603050405020304" charset="0"/>
              <a:ea typeface="宋体" charset="-122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>
  <p:cSld>
    <p:spTree>
      <p:nvGrpSpPr>
        <p:cNvPr id="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D3FE6E2C-1170-AB41-89A1-17C69A542F4A}" type="slidenum">
              <a:rPr lang="zh-CN" altLang="en-US" sz="1200" b="false">
                <a:latin typeface="Times New Roman" panose="02020603050405020304" charset="0"/>
              </a:rPr>
              <a:t>60</a:t>
            </a:fld>
            <a:endParaRPr lang="en-US" altLang="zh-CN" sz="1200" b="false">
              <a:latin typeface="Times New Roman" panose="02020603050405020304" charset="0"/>
            </a:endParaRPr>
          </a:p>
        </p:txBody>
      </p:sp>
      <p:sp>
        <p:nvSpPr>
          <p:cNvPr id="101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02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panose="02020603050405020304" charset="0"/>
              <a:ea typeface="宋体" charset="-122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>
  <p:cSld>
    <p:spTree>
      <p:nvGrpSpPr>
        <p:cNvPr id="1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78DC102B-E7A2-4F46-8DA2-BD06F9AFF49F}" type="slidenum">
              <a:rPr lang="zh-CN" altLang="en-US" sz="1200" b="false">
                <a:latin typeface="Times New Roman" panose="02020603050405020304" charset="0"/>
              </a:rPr>
              <a:t>61</a:t>
            </a:fld>
            <a:endParaRPr lang="en-US" altLang="zh-CN" sz="1200" b="false">
              <a:latin typeface="Times New Roman" panose="02020603050405020304" charset="0"/>
            </a:endParaRPr>
          </a:p>
        </p:txBody>
      </p:sp>
      <p:sp>
        <p:nvSpPr>
          <p:cNvPr id="105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06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panose="02020603050405020304" charset="0"/>
              <a:ea typeface="宋体" charset="-122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>
  <p:cSld>
    <p:spTree>
      <p:nvGrpSpPr>
        <p:cNvPr id="10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AF2A28A4-590E-4946-81EF-F42B8741BC2B}" type="slidenum">
              <a:rPr lang="zh-CN" altLang="en-US" sz="1200" b="false">
                <a:latin typeface="Times New Roman" panose="02020603050405020304" charset="0"/>
              </a:rPr>
              <a:t>71</a:t>
            </a:fld>
            <a:endParaRPr lang="en-US" altLang="zh-CN" sz="1200" b="false">
              <a:latin typeface="Times New Roman" panose="02020603050405020304" charset="0"/>
            </a:endParaRPr>
          </a:p>
        </p:txBody>
      </p:sp>
      <p:sp>
        <p:nvSpPr>
          <p:cNvPr id="109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10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panose="02020603050405020304" charset="0"/>
              <a:ea typeface="宋体" charset="-122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>
  <p:cSld>
    <p:spTree>
      <p:nvGrpSpPr>
        <p:cNvPr id="1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69235B29-C1AC-1C4A-AD4D-7C8AE82EE803}" type="slidenum">
              <a:rPr lang="zh-CN" altLang="en-US" sz="1200" b="false">
                <a:latin typeface="Times New Roman" panose="02020603050405020304" charset="0"/>
              </a:rPr>
              <a:t>74</a:t>
            </a:fld>
            <a:endParaRPr lang="en-US" altLang="zh-CN" sz="1200" b="false">
              <a:latin typeface="Times New Roman" panose="02020603050405020304" charset="0"/>
            </a:endParaRPr>
          </a:p>
        </p:txBody>
      </p:sp>
      <p:sp>
        <p:nvSpPr>
          <p:cNvPr id="113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14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panose="02020603050405020304" charset="0"/>
              <a:ea typeface="宋体" charset="-122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>
  <p:cSld>
    <p:spTree>
      <p:nvGrpSpPr>
        <p:cNvPr id="1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529F7F00-3847-334C-BDC3-7F97939F3358}" type="slidenum">
              <a:rPr lang="zh-CN" altLang="en-US" sz="1200" b="false">
                <a:latin typeface="Times New Roman" panose="02020603050405020304" charset="0"/>
              </a:rPr>
              <a:t>75</a:t>
            </a:fld>
            <a:endParaRPr lang="en-US" altLang="zh-CN" sz="1200" b="false">
              <a:latin typeface="Times New Roman" panose="02020603050405020304" charset="0"/>
            </a:endParaRPr>
          </a:p>
        </p:txBody>
      </p:sp>
      <p:sp>
        <p:nvSpPr>
          <p:cNvPr id="117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18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panose="02020603050405020304" charset="0"/>
              <a:ea typeface="宋体" charset="-122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>
  <p:cSld>
    <p:spTree>
      <p:nvGrpSpPr>
        <p:cNvPr id="1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B84C9A9E-6184-2747-820D-9409F3C87E44}" type="slidenum">
              <a:rPr lang="zh-CN" altLang="en-US" sz="1200" b="false">
                <a:latin typeface="Times New Roman" panose="02020603050405020304" charset="0"/>
              </a:rPr>
              <a:t>83</a:t>
            </a:fld>
            <a:endParaRPr lang="en-US" altLang="zh-CN" sz="1200" b="false">
              <a:latin typeface="Times New Roman" panose="02020603050405020304" charset="0"/>
            </a:endParaRPr>
          </a:p>
        </p:txBody>
      </p:sp>
      <p:sp>
        <p:nvSpPr>
          <p:cNvPr id="121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22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hangingPunct="true"/>
            <a:r>
              <a:rPr lang="zh-CN">
                <a:latin typeface="Times New Roman"/>
                <a:ea typeface="宋体"/>
              </a:rPr>
              <a:t>组相连：</a:t>
            </a:r>
            <a:r>
              <a:rPr lang="en-US">
                <a:latin typeface="Times New Roman"/>
                <a:ea typeface="宋体"/>
              </a:rPr>
              <a:t>cache</a:t>
            </a:r>
            <a:r>
              <a:rPr lang="zh-CN">
                <a:latin typeface="Times New Roman"/>
                <a:ea typeface="宋体"/>
              </a:rPr>
              <a:t>分为</a:t>
            </a:r>
            <a:r>
              <a:rPr lang="en-US">
                <a:latin typeface="Times New Roman"/>
                <a:ea typeface="宋体"/>
              </a:rPr>
              <a:t>n</a:t>
            </a:r>
            <a:r>
              <a:rPr lang="zh-CN">
                <a:latin typeface="Times New Roman"/>
                <a:ea typeface="宋体"/>
              </a:rPr>
              <a:t>组</a:t>
            </a:r>
            <a:r>
              <a:rPr lang="en-US">
                <a:latin typeface="Times New Roman"/>
                <a:ea typeface="宋体"/>
              </a:rPr>
              <a:t>(set)</a:t>
            </a:r>
            <a:r>
              <a:rPr lang="zh-CN">
                <a:latin typeface="Times New Roman"/>
                <a:ea typeface="宋体"/>
              </a:rPr>
              <a:t>，内存</a:t>
            </a:r>
            <a:r>
              <a:rPr lang="en-US">
                <a:latin typeface="Times New Roman"/>
                <a:ea typeface="宋体"/>
              </a:rPr>
              <a:t>page</a:t>
            </a:r>
            <a:r>
              <a:rPr lang="zh-CN">
                <a:latin typeface="Times New Roman"/>
                <a:ea typeface="宋体"/>
              </a:rPr>
              <a:t>直接映射到</a:t>
            </a:r>
            <a:r>
              <a:rPr lang="en-US">
                <a:latin typeface="Times New Roman"/>
                <a:ea typeface="宋体"/>
              </a:rPr>
              <a:t>set</a:t>
            </a:r>
            <a:r>
              <a:rPr lang="zh-CN">
                <a:latin typeface="Times New Roman"/>
                <a:ea typeface="宋体"/>
              </a:rPr>
              <a:t>，但</a:t>
            </a:r>
            <a:r>
              <a:rPr lang="en-US">
                <a:latin typeface="Times New Roman"/>
                <a:ea typeface="宋体"/>
              </a:rPr>
              <a:t>set</a:t>
            </a:r>
            <a:r>
              <a:rPr lang="zh-CN">
                <a:latin typeface="Times New Roman"/>
                <a:ea typeface="宋体"/>
              </a:rPr>
              <a:t>内采用全相连，</a:t>
            </a:r>
            <a:r>
              <a:rPr lang="en-US">
                <a:latin typeface="Times New Roman"/>
                <a:ea typeface="宋体"/>
              </a:rPr>
              <a:t>page</a:t>
            </a:r>
            <a:r>
              <a:rPr lang="zh-CN">
                <a:latin typeface="Times New Roman"/>
                <a:ea typeface="宋体"/>
              </a:rPr>
              <a:t>灵活映射到</a:t>
            </a:r>
            <a:r>
              <a:rPr lang="en-US">
                <a:latin typeface="Times New Roman"/>
                <a:ea typeface="宋体"/>
              </a:rPr>
              <a:t>set</a:t>
            </a:r>
            <a:r>
              <a:rPr lang="zh-CN">
                <a:latin typeface="Times New Roman"/>
                <a:ea typeface="宋体"/>
              </a:rPr>
              <a:t>内某个</a:t>
            </a:r>
            <a:r>
              <a:rPr lang="en-US">
                <a:latin typeface="Times New Roman"/>
                <a:ea typeface="宋体"/>
              </a:rPr>
              <a:t>slot</a:t>
            </a:r>
            <a:r>
              <a:rPr lang="zh-CN">
                <a:latin typeface="Times New Roman"/>
                <a:ea typeface="宋体"/>
              </a:rPr>
              <a:t>。</a:t>
            </a:r>
            <a:endParaRPr/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>
  <p:cSld>
    <p:spTree>
      <p:nvGrpSpPr>
        <p:cNvPr id="1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6F230A94-027D-244B-93BA-0672D2F47580}" type="slidenum">
              <a:rPr lang="zh-CN" altLang="en-US" sz="1200" b="false">
                <a:latin typeface="Times New Roman" panose="02020603050405020304" charset="0"/>
              </a:rPr>
              <a:t>84</a:t>
            </a:fld>
            <a:endParaRPr lang="en-US" altLang="zh-CN" sz="1200" b="false">
              <a:latin typeface="Times New Roman" panose="02020603050405020304" charset="0"/>
            </a:endParaRPr>
          </a:p>
        </p:txBody>
      </p:sp>
      <p:sp>
        <p:nvSpPr>
          <p:cNvPr id="125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26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panose="02020603050405020304" charset="0"/>
              <a:ea typeface="宋体" charset="-122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>
  <p:cSld>
    <p:spTree>
      <p:nvGrpSpPr>
        <p:cNvPr id="1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CBBC4B57-A885-BD43-BF61-A13C1D0C1230}" type="slidenum">
              <a:rPr lang="zh-CN" altLang="en-US" sz="1200" b="false">
                <a:latin typeface="Times New Roman" panose="02020603050405020304" charset="0"/>
              </a:rPr>
              <a:t>85</a:t>
            </a:fld>
            <a:endParaRPr lang="en-US" altLang="zh-CN" sz="1200" b="false">
              <a:latin typeface="Times New Roman" panose="02020603050405020304" charset="0"/>
            </a:endParaRPr>
          </a:p>
        </p:txBody>
      </p:sp>
      <p:sp>
        <p:nvSpPr>
          <p:cNvPr id="129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30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panose="02020603050405020304" charset="0"/>
              <a:ea typeface="宋体" charset="-122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>
  <p:cSld>
    <p:spTree>
      <p:nvGrpSpPr>
        <p:cNvPr id="1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ED5B34BA-994D-014D-B7A6-EDBDF3281DFD}" type="slidenum">
              <a:rPr lang="zh-CN" altLang="en-US" sz="1200" b="false">
                <a:latin typeface="Times New Roman" panose="02020603050405020304" charset="0"/>
              </a:rPr>
              <a:t>86</a:t>
            </a:fld>
            <a:endParaRPr lang="en-US" altLang="zh-CN" sz="1200" b="false">
              <a:latin typeface="Times New Roman" panose="02020603050405020304" charset="0"/>
            </a:endParaRPr>
          </a:p>
        </p:txBody>
      </p:sp>
      <p:sp>
        <p:nvSpPr>
          <p:cNvPr id="133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34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panose="02020603050405020304" charset="0"/>
              <a:ea typeface="宋体" charset="-122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>
  <p:cSld>
    <p:spTree>
      <p:nvGrpSpPr>
        <p:cNvPr id="1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214A432F-8E32-D848-A4DC-97D2E98B6BD1}" type="slidenum">
              <a:rPr lang="zh-CN" altLang="en-US" sz="1200" b="false">
                <a:latin typeface="Times New Roman" panose="02020603050405020304" charset="0"/>
              </a:rPr>
              <a:t>87</a:t>
            </a:fld>
            <a:endParaRPr lang="en-US" altLang="zh-CN" sz="1200" b="false">
              <a:latin typeface="Times New Roman" panose="02020603050405020304" charset="0"/>
            </a:endParaRPr>
          </a:p>
        </p:txBody>
      </p:sp>
      <p:sp>
        <p:nvSpPr>
          <p:cNvPr id="137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38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panose="02020603050405020304" charset="0"/>
              <a:ea typeface="宋体" charset="-122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>
  <p:cSld>
    <p:spTree>
      <p:nvGrpSpPr>
        <p:cNvPr id="1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00431962-ADEB-0247-90EE-EBAE68F09092}" type="slidenum">
              <a:rPr lang="zh-CN" altLang="en-US" sz="1200" b="false">
                <a:latin typeface="Times New Roman" panose="02020603050405020304" charset="0"/>
              </a:rPr>
              <a:t>88</a:t>
            </a:fld>
            <a:endParaRPr lang="en-US" altLang="zh-CN" sz="1200" b="false">
              <a:latin typeface="Times New Roman" panose="02020603050405020304" charset="0"/>
            </a:endParaRPr>
          </a:p>
        </p:txBody>
      </p:sp>
      <p:sp>
        <p:nvSpPr>
          <p:cNvPr id="141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42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panose="02020603050405020304" charset="0"/>
              <a:ea typeface="宋体" charset="-122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>
  <p:cSld>
    <p:spTree>
      <p:nvGrpSpPr>
        <p:cNvPr id="1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084051B7-969B-2744-84D9-ADE23D3EC63A}" type="slidenum">
              <a:rPr lang="zh-CN" altLang="en-US" sz="1200" b="false">
                <a:latin typeface="Times New Roman" panose="02020603050405020304" charset="0"/>
              </a:rPr>
              <a:t>90</a:t>
            </a:fld>
            <a:endParaRPr lang="en-US" altLang="zh-CN" sz="1200" b="false">
              <a:latin typeface="Times New Roman" panose="02020603050405020304" charset="0"/>
            </a:endParaRPr>
          </a:p>
        </p:txBody>
      </p:sp>
      <p:sp>
        <p:nvSpPr>
          <p:cNvPr id="145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46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panose="02020603050405020304" charset="0"/>
              <a:ea typeface="宋体" charset="-122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>
  <p:cSld>
    <p:spTree>
      <p:nvGrpSpPr>
        <p:cNvPr id="1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4F564257-A212-A74B-8E2E-D8F7D7B7E518}" type="slidenum">
              <a:rPr lang="zh-CN" altLang="en-US" sz="1200" b="false">
                <a:latin typeface="Times New Roman" panose="02020603050405020304" charset="0"/>
              </a:rPr>
              <a:t>91</a:t>
            </a:fld>
            <a:endParaRPr lang="en-US" altLang="zh-CN" sz="1200" b="false">
              <a:latin typeface="Times New Roman" panose="02020603050405020304" charset="0"/>
            </a:endParaRPr>
          </a:p>
        </p:txBody>
      </p:sp>
      <p:sp>
        <p:nvSpPr>
          <p:cNvPr id="149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50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hangingPunct="true"/>
            <a:r>
              <a:rPr lang="zh-CN">
                <a:latin typeface="Times New Roman"/>
                <a:ea typeface="宋体"/>
              </a:rPr>
              <a:t>进一步考虑</a:t>
            </a:r>
            <a:r>
              <a:rPr lang="en-US">
                <a:latin typeface="Times New Roman"/>
                <a:ea typeface="宋体"/>
              </a:rPr>
              <a:t>cache</a:t>
            </a:r>
            <a:r>
              <a:rPr lang="zh-CN">
                <a:latin typeface="Times New Roman"/>
                <a:ea typeface="宋体"/>
              </a:rPr>
              <a:t>的存在，</a:t>
            </a:r>
            <a:r>
              <a:rPr lang="en-US">
                <a:latin typeface="Times New Roman"/>
                <a:ea typeface="宋体"/>
              </a:rPr>
              <a:t>16line</a:t>
            </a:r>
            <a:r>
              <a:rPr lang="zh-CN">
                <a:latin typeface="Times New Roman"/>
                <a:ea typeface="宋体"/>
              </a:rPr>
              <a:t>：一共</a:t>
            </a:r>
            <a:r>
              <a:rPr lang="en-US">
                <a:latin typeface="Times New Roman"/>
                <a:ea typeface="宋体"/>
              </a:rPr>
              <a:t>16</a:t>
            </a:r>
            <a:r>
              <a:rPr lang="zh-CN">
                <a:latin typeface="Times New Roman"/>
                <a:ea typeface="宋体"/>
              </a:rPr>
              <a:t>个</a:t>
            </a:r>
            <a:r>
              <a:rPr lang="en-US">
                <a:latin typeface="Times New Roman"/>
                <a:ea typeface="宋体"/>
              </a:rPr>
              <a:t>cache line</a:t>
            </a:r>
            <a:endParaRPr/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>
  <p:cSld>
    <p:spTree>
      <p:nvGrpSpPr>
        <p:cNvPr id="1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E01344DC-31EA-BF48-89FA-647D2CE8266D}" type="slidenum">
              <a:rPr lang="zh-CN" altLang="en-US" sz="1200" b="false">
                <a:latin typeface="Times New Roman" panose="02020603050405020304" charset="0"/>
              </a:rPr>
              <a:t>92</a:t>
            </a:fld>
            <a:endParaRPr lang="en-US" altLang="zh-CN" sz="1200" b="false">
              <a:latin typeface="Times New Roman" panose="02020603050405020304" charset="0"/>
            </a:endParaRPr>
          </a:p>
        </p:txBody>
      </p:sp>
      <p:sp>
        <p:nvSpPr>
          <p:cNvPr id="153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54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panose="02020603050405020304" charset="0"/>
              <a:ea typeface="宋体" charset="-122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>
  <p:cSld>
    <p:spTree>
      <p:nvGrpSpPr>
        <p:cNvPr id="1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6B768E0D-2CC4-BC4C-87BA-6638C9DD1435}" type="slidenum">
              <a:rPr lang="zh-CN" altLang="en-US" sz="1200" b="false">
                <a:latin typeface="Times New Roman" panose="02020603050405020304" charset="0"/>
              </a:rPr>
              <a:t>93</a:t>
            </a:fld>
            <a:endParaRPr lang="en-US" altLang="zh-CN" sz="1200" b="false">
              <a:latin typeface="Times New Roman" panose="02020603050405020304" charset="0"/>
            </a:endParaRPr>
          </a:p>
        </p:txBody>
      </p:sp>
      <p:sp>
        <p:nvSpPr>
          <p:cNvPr id="157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58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panose="02020603050405020304" charset="0"/>
              <a:ea typeface="宋体" charset="-122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>
  <p:cSld>
    <p:spTree>
      <p:nvGrpSpPr>
        <p:cNvPr id="1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2332F8F3-55CD-2845-819D-5C6E2E8D0184}" type="slidenum">
              <a:rPr lang="zh-CN" altLang="en-US" sz="1200" b="false">
                <a:latin typeface="Times New Roman" panose="02020603050405020304" charset="0"/>
              </a:rPr>
              <a:t>94</a:t>
            </a:fld>
            <a:endParaRPr lang="en-US" altLang="zh-CN" sz="1200" b="false">
              <a:latin typeface="Times New Roman" panose="02020603050405020304" charset="0"/>
            </a:endParaRPr>
          </a:p>
        </p:txBody>
      </p:sp>
      <p:sp>
        <p:nvSpPr>
          <p:cNvPr id="161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62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panose="02020603050405020304" charset="0"/>
              <a:ea typeface="宋体" charset="-122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>
  <p:cSld>
    <p:spTree>
      <p:nvGrpSpPr>
        <p:cNvPr id="1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C3C607A3-D24B-8B4D-8641-448944908CC8}" type="slidenum">
              <a:rPr lang="zh-CN" altLang="en-US" sz="1200" b="false">
                <a:latin typeface="Times New Roman" panose="02020603050405020304" charset="0"/>
              </a:rPr>
              <a:t>95</a:t>
            </a:fld>
            <a:endParaRPr lang="en-US" altLang="zh-CN" sz="1200" b="false">
              <a:latin typeface="Times New Roman" panose="02020603050405020304" charset="0"/>
            </a:endParaRPr>
          </a:p>
        </p:txBody>
      </p:sp>
      <p:sp>
        <p:nvSpPr>
          <p:cNvPr id="165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66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panose="02020603050405020304" charset="0"/>
              <a:ea typeface="宋体" charset="-122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>
  <p:cSld>
    <p:spTree>
      <p:nvGrpSpPr>
        <p:cNvPr id="1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"/>
          <p:cNvSpPr/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p>
            <a:pPr/>
            <a:r>
              <a:rPr lang="zh-CN">
                <a:latin typeface="Arial"/>
                <a:ea typeface="Microsoft YaHei"/>
              </a:rPr>
              <a:t>组相连，</a:t>
            </a:r>
            <a:r>
              <a:rPr lang="en-US">
                <a:latin typeface="Arial"/>
                <a:ea typeface="Microsoft YaHei"/>
              </a:rPr>
              <a:t>VPN</a:t>
            </a:r>
            <a:r>
              <a:rPr lang="zh-CN">
                <a:latin typeface="Arial"/>
                <a:ea typeface="Microsoft YaHei"/>
              </a:rPr>
              <a:t>相同的在同一个组，组内可能存在冲突的</a:t>
            </a:r>
            <a:r>
              <a:rPr lang="en-US">
                <a:latin typeface="Arial"/>
                <a:ea typeface="Microsoft YaHei"/>
              </a:rPr>
              <a:t>VPN</a:t>
            </a:r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showMasterSp="false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6"/>
          <p:cNvSpPr>
            <a:spLocks noGrp="true" noChangeArrowheads="true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 algn="ctr">
              <a:defRPr/>
            </a:lvl1pPr>
          </a:lstStyle>
          <a:p>
            <a:pPr/>
            <a:r>
              <a:rPr lang="en-US" altLang="zh-CN"/>
              <a:t>Click to edit Master title style</a:t>
            </a:r>
            <a:endParaRPr/>
          </a:p>
        </p:txBody>
      </p:sp>
      <p:sp>
        <p:nvSpPr>
          <p:cNvPr id="3" name="Rectangle 1027"/>
          <p:cNvSpPr>
            <a:spLocks noGrp="true" noChangeArrowheads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/>
            <a:r>
              <a:rPr lang="en-US" altLang="zh-CN"/>
              <a:t>Click to edit Master subtitle style</a:t>
            </a:r>
            <a:endParaRPr/>
          </a:p>
        </p:txBody>
      </p:sp>
      <p:sp>
        <p:nvSpPr>
          <p:cNvPr id="4" name="Rectangle 1028"/>
          <p:cNvSpPr>
            <a:spLocks noGrp="true" noChangeArrowheads="true"/>
          </p:cNvSpPr>
          <p:nvPr>
            <p:ph type="dt" sz="half" idx="10"/>
          </p:nvPr>
        </p:nvSpPr>
        <p:spPr>
          <a:xfrm>
            <a:off x="5334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/>
            <a:fld id="{6A4D09CF-1C9E-0642-870F-CC6586760726}" type="datetime1">
              <a:rPr lang="zh-CN" altLang="en-US"/>
              <a:t>2024/3/25</a:t>
            </a:fld>
            <a:endParaRPr lang="en-US" altLang="zh-CN"/>
          </a:p>
        </p:txBody>
      </p:sp>
      <p:sp>
        <p:nvSpPr>
          <p:cNvPr id="5" name="Rectangle 1029"/>
          <p:cNvSpPr>
            <a:spLocks noGrp="true" noChangeArrowheads="true"/>
          </p:cNvSpPr>
          <p:nvPr>
            <p:ph type="ftr" sz="quarter" idx="11"/>
          </p:nvPr>
        </p:nvSpPr>
        <p:spPr>
          <a:xfrm>
            <a:off x="2514600" y="6248400"/>
            <a:ext cx="4114800" cy="457200"/>
          </a:xfrm>
        </p:spPr>
        <p:txBody>
          <a:bodyPr/>
          <a:lstStyle>
            <a:lvl1pPr>
              <a:defRPr/>
            </a:lvl1pPr>
          </a:lstStyle>
          <a:p>
            <a:pPr/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6" name="Rectangle 1030"/>
          <p:cNvSpPr>
            <a:spLocks noGrp="true" noChangeArrowheads="true"/>
          </p:cNvSpPr>
          <p:nvPr>
            <p:ph type="sldNum" sz="quarter" idx="12"/>
          </p:nvPr>
        </p:nvSpPr>
        <p:spPr>
          <a:xfrm>
            <a:off x="67056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/>
            <a:fld id="{905379D9-9395-EE46-ACE7-7B37EC23CBC0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标题和内容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9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10" name="Rectangle 4"/>
          <p:cNvSpPr>
            <a:spLocks noGrp="true" noChangeArrowheads="true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/>
            <a:fld id="{13E6C63E-0FBA-B54D-8CDD-8CAE90BE5D5E}" type="datetime1">
              <a:rPr lang="zh-CN" altLang="en-US"/>
              <a:t>2024/3/25</a:t>
            </a:fld>
            <a:endParaRPr lang="en-US" altLang="zh-CN"/>
          </a:p>
        </p:txBody>
      </p:sp>
      <p:sp>
        <p:nvSpPr>
          <p:cNvPr id="11" name="Rectangle 5"/>
          <p:cNvSpPr>
            <a:spLocks noGrp="true" noChangeArrowheads="true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12" name="Rectangle 6"/>
          <p:cNvSpPr>
            <a:spLocks noGrp="true" noChangeArrowheads="true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/>
            <a:fld id="{EF0B01C9-CC9E-4042-87A9-F49D20F0019F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节标题"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标题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28" name="文本占位符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</p:txBody>
      </p:sp>
      <p:sp>
        <p:nvSpPr>
          <p:cNvPr id="29" name="Rectangle 4"/>
          <p:cNvSpPr>
            <a:spLocks noGrp="true" noChangeArrowheads="true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/>
            <a:fld id="{6B4AECA3-7E3E-0741-8773-C9F48DC0ADFA}" type="datetime1">
              <a:rPr lang="zh-CN" altLang="en-US"/>
              <a:t>2024/3/25</a:t>
            </a:fld>
            <a:endParaRPr lang="en-US" altLang="zh-CN"/>
          </a:p>
        </p:txBody>
      </p:sp>
      <p:sp>
        <p:nvSpPr>
          <p:cNvPr id="30" name="Rectangle 5"/>
          <p:cNvSpPr>
            <a:spLocks noGrp="true" noChangeArrowheads="true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31" name="Rectangle 6"/>
          <p:cNvSpPr>
            <a:spLocks noGrp="true" noChangeArrowheads="true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/>
            <a:fld id="{8327609C-0355-7F41-BD5D-C8065EDFE379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两栏内容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34" name="内容占位符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767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35" name="内容占位符 3"/>
          <p:cNvSpPr>
            <a:spLocks noGrp="true"/>
          </p:cNvSpPr>
          <p:nvPr>
            <p:ph sz="half" idx="2"/>
          </p:nvPr>
        </p:nvSpPr>
        <p:spPr>
          <a:xfrm>
            <a:off x="4686300" y="1600200"/>
            <a:ext cx="40767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36" name="Rectangle 4"/>
          <p:cNvSpPr>
            <a:spLocks noGrp="true" noChangeArrowheads="true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/>
            <a:fld id="{D9F14194-E26D-064C-A3C9-6A14E09CC501}" type="datetime1">
              <a:rPr lang="zh-CN" altLang="en-US"/>
              <a:t>2024/3/25</a:t>
            </a:fld>
            <a:endParaRPr lang="en-US" altLang="zh-CN"/>
          </a:p>
        </p:txBody>
      </p:sp>
      <p:sp>
        <p:nvSpPr>
          <p:cNvPr id="37" name="Rectangle 5"/>
          <p:cNvSpPr>
            <a:spLocks noGrp="true" noChangeArrowheads="true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38" name="Rectangle 6"/>
          <p:cNvSpPr>
            <a:spLocks noGrp="true" noChangeArrowheads="true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/>
            <a:fld id="{17D6D618-14FB-7B49-B5BE-D7F2661AA526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比较"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标题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41" name="文本占位符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</p:txBody>
      </p:sp>
      <p:sp>
        <p:nvSpPr>
          <p:cNvPr id="42" name="内容占位符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43" name="文本占位符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</p:txBody>
      </p:sp>
      <p:sp>
        <p:nvSpPr>
          <p:cNvPr id="44" name="内容占位符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45" name="Rectangle 4"/>
          <p:cNvSpPr>
            <a:spLocks noGrp="true" noChangeArrowheads="true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/>
            <a:fld id="{35527B96-6341-C74B-8CD4-28BB59DA8A27}" type="datetime1">
              <a:rPr lang="zh-CN" altLang="en-US"/>
              <a:t>2024/3/25</a:t>
            </a:fld>
            <a:endParaRPr lang="en-US" altLang="zh-CN"/>
          </a:p>
        </p:txBody>
      </p:sp>
      <p:sp>
        <p:nvSpPr>
          <p:cNvPr id="46" name="Rectangle 5"/>
          <p:cNvSpPr>
            <a:spLocks noGrp="true" noChangeArrowheads="true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47" name="Rectangle 6"/>
          <p:cNvSpPr>
            <a:spLocks noGrp="true" noChangeArrowheads="true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/>
            <a:fld id="{D6CAD880-F1A7-DC4B-827B-596F0470B4CB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仅标题"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50" name="Rectangle 4"/>
          <p:cNvSpPr>
            <a:spLocks noGrp="true" noChangeArrowheads="true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/>
            <a:fld id="{3488279C-A77C-1E4E-B0D5-1C9559B93068}" type="datetime1">
              <a:rPr lang="zh-CN" altLang="en-US"/>
              <a:t>2024/3/25</a:t>
            </a:fld>
            <a:endParaRPr lang="en-US" altLang="zh-CN"/>
          </a:p>
        </p:txBody>
      </p:sp>
      <p:sp>
        <p:nvSpPr>
          <p:cNvPr id="51" name="Rectangle 5"/>
          <p:cNvSpPr>
            <a:spLocks noGrp="true" noChangeArrowheads="true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52" name="Rectangle 6"/>
          <p:cNvSpPr>
            <a:spLocks noGrp="true" noChangeArrowheads="true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/>
            <a:fld id="{6B79E5F5-9F90-BB44-8BE1-DA3E621BD33B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空白"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4"/>
          <p:cNvSpPr>
            <a:spLocks noGrp="true" noChangeArrowheads="true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/>
            <a:fld id="{86174481-42BE-1D4C-B0FE-31C595C920A2}" type="datetime1">
              <a:rPr lang="zh-CN" altLang="en-US"/>
              <a:t>2024/3/25</a:t>
            </a:fld>
            <a:endParaRPr lang="en-US" altLang="zh-CN"/>
          </a:p>
        </p:txBody>
      </p:sp>
      <p:sp>
        <p:nvSpPr>
          <p:cNvPr id="55" name="Rectangle 5"/>
          <p:cNvSpPr>
            <a:spLocks noGrp="true" noChangeArrowheads="true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56" name="Rectangle 6"/>
          <p:cNvSpPr>
            <a:spLocks noGrp="true" noChangeArrowheads="true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/>
            <a:fld id="{0A82E43B-562F-5C46-9929-D86253063752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内容与标题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标题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59" name="内容占位符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60" name="文本占位符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</p:txBody>
      </p:sp>
      <p:sp>
        <p:nvSpPr>
          <p:cNvPr id="61" name="Rectangle 4"/>
          <p:cNvSpPr>
            <a:spLocks noGrp="true" noChangeArrowheads="true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/>
            <a:fld id="{F0AA78E5-81EC-4445-940A-79E697C1AD70}" type="datetime1">
              <a:rPr lang="zh-CN" altLang="en-US"/>
              <a:t>2024/3/25</a:t>
            </a:fld>
            <a:endParaRPr lang="en-US" altLang="zh-CN"/>
          </a:p>
        </p:txBody>
      </p:sp>
      <p:sp>
        <p:nvSpPr>
          <p:cNvPr id="62" name="Rectangle 5"/>
          <p:cNvSpPr>
            <a:spLocks noGrp="true" noChangeArrowheads="true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63" name="Rectangle 6"/>
          <p:cNvSpPr>
            <a:spLocks noGrp="true" noChangeArrowheads="true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/>
            <a:fld id="{4A0C1142-1340-6A47-AFF6-3C8B2FA521C4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图片与标题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标题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66" name="图片占位符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false"/>
          </a:p>
        </p:txBody>
      </p:sp>
      <p:sp>
        <p:nvSpPr>
          <p:cNvPr id="67" name="文本占位符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</p:txBody>
      </p:sp>
      <p:sp>
        <p:nvSpPr>
          <p:cNvPr id="68" name="Rectangle 4"/>
          <p:cNvSpPr>
            <a:spLocks noGrp="true" noChangeArrowheads="true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/>
            <a:fld id="{F7FFB4B7-F71B-6E47-A5BA-732BD9C2DC94}" type="datetime1">
              <a:rPr lang="zh-CN" altLang="en-US"/>
              <a:t>2024/3/25</a:t>
            </a:fld>
            <a:endParaRPr lang="en-US" altLang="zh-CN"/>
          </a:p>
        </p:txBody>
      </p:sp>
      <p:sp>
        <p:nvSpPr>
          <p:cNvPr id="69" name="Rectangle 5"/>
          <p:cNvSpPr>
            <a:spLocks noGrp="true" noChangeArrowheads="true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70" name="Rectangle 6"/>
          <p:cNvSpPr>
            <a:spLocks noGrp="true" noChangeArrowheads="true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/>
            <a:fld id="{4D76DB15-2F71-A941-AE6B-BD2965B14267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标题和竖排文字"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73" name="竖排文字占位符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74" name="Rectangle 4"/>
          <p:cNvSpPr>
            <a:spLocks noGrp="true" noChangeArrowheads="true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/>
            <a:fld id="{0A43075C-D138-BA4D-95F6-DC68E2011949}" type="datetime1">
              <a:rPr lang="zh-CN" altLang="en-US"/>
              <a:t>2024/3/25</a:t>
            </a:fld>
            <a:endParaRPr lang="en-US" altLang="zh-CN"/>
          </a:p>
        </p:txBody>
      </p:sp>
      <p:sp>
        <p:nvSpPr>
          <p:cNvPr id="75" name="Rectangle 5"/>
          <p:cNvSpPr>
            <a:spLocks noGrp="true" noChangeArrowheads="true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76" name="Rectangle 6"/>
          <p:cNvSpPr>
            <a:spLocks noGrp="true" noChangeArrowheads="true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/>
            <a:fld id="{2B6FC2BC-30A9-2346-AD65-372C69F8D6DA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垂直排列标题与文本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竖排标题 1"/>
          <p:cNvSpPr>
            <a:spLocks noGrp="true"/>
          </p:cNvSpPr>
          <p:nvPr>
            <p:ph type="title" orient="vert"/>
          </p:nvPr>
        </p:nvSpPr>
        <p:spPr>
          <a:xfrm>
            <a:off x="6686550" y="457200"/>
            <a:ext cx="2076450" cy="5562600"/>
          </a:xfrm>
        </p:spPr>
        <p:txBody>
          <a:bodyPr vert="eaVert"/>
          <a:lstStyle/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15" name="竖排文字占位符 2"/>
          <p:cNvSpPr>
            <a:spLocks noGrp="true"/>
          </p:cNvSpPr>
          <p:nvPr>
            <p:ph type="body" orient="vert" idx="1"/>
          </p:nvPr>
        </p:nvSpPr>
        <p:spPr>
          <a:xfrm>
            <a:off x="457200" y="457200"/>
            <a:ext cx="6076950" cy="55626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16" name="Rectangle 4"/>
          <p:cNvSpPr>
            <a:spLocks noGrp="true" noChangeArrowheads="true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/>
            <a:fld id="{1CA7CE61-4759-BD4A-932A-0F00D7E6D661}" type="datetime1">
              <a:rPr lang="zh-CN" altLang="en-US"/>
              <a:t>2024/3/25</a:t>
            </a:fld>
            <a:endParaRPr lang="en-US" altLang="zh-CN"/>
          </a:p>
        </p:txBody>
      </p:sp>
      <p:sp>
        <p:nvSpPr>
          <p:cNvPr id="17" name="Rectangle 5"/>
          <p:cNvSpPr>
            <a:spLocks noGrp="true" noChangeArrowheads="true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18" name="Rectangle 6"/>
          <p:cNvSpPr>
            <a:spLocks noGrp="true" noChangeArrowheads="true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/>
            <a:fld id="{6C318BE0-1126-CD46-B5C1-5738878BC693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p="http://schemas.openxmlformats.org/presentationml/2006/main" type="txAndObj">
  <p:cSld name="标题，文本与内容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true"/>
          </p:cNvSpPr>
          <p:nvPr>
            <p:ph type="title"/>
          </p:nvPr>
        </p:nvSpPr>
        <p:spPr>
          <a:xfrm>
            <a:off x="457200" y="457200"/>
            <a:ext cx="8077200" cy="914400"/>
          </a:xfrm>
        </p:spPr>
        <p:txBody>
          <a:bodyPr/>
          <a:lstStyle/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21" name="文本占位符 2"/>
          <p:cNvSpPr>
            <a:spLocks noGrp="true"/>
          </p:cNvSpPr>
          <p:nvPr>
            <p:ph type="body" sz="half" idx="1"/>
          </p:nvPr>
        </p:nvSpPr>
        <p:spPr>
          <a:xfrm>
            <a:off x="457200" y="1600200"/>
            <a:ext cx="4076700" cy="4419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22" name="内容占位符 3"/>
          <p:cNvSpPr>
            <a:spLocks noGrp="true"/>
          </p:cNvSpPr>
          <p:nvPr>
            <p:ph sz="half" idx="2"/>
          </p:nvPr>
        </p:nvSpPr>
        <p:spPr>
          <a:xfrm>
            <a:off x="4686300" y="1600200"/>
            <a:ext cx="4076700" cy="4419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23" name="Rectangle 4"/>
          <p:cNvSpPr>
            <a:spLocks noGrp="true" noChangeArrowheads="true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/>
            <a:fld id="{FA669415-1DB3-684E-B538-DCF86F5D3E6B}" type="datetime1">
              <a:rPr lang="zh-CN" altLang="en-US"/>
              <a:t>2024/3/25</a:t>
            </a:fld>
            <a:endParaRPr lang="en-US" altLang="zh-CN"/>
          </a:p>
        </p:txBody>
      </p:sp>
      <p:sp>
        <p:nvSpPr>
          <p:cNvPr id="24" name="Rectangle 5"/>
          <p:cNvSpPr>
            <a:spLocks noGrp="true" noChangeArrowheads="true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25" name="Rectangle 6"/>
          <p:cNvSpPr>
            <a:spLocks noGrp="true" noChangeArrowheads="true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/>
            <a:fld id="{0635C9DF-017C-6F45-AD87-9140F63E4B4A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9" Type="http://schemas.openxmlformats.org/officeDocument/2006/relationships/slideLayout" Target="../slideLayouts/slideLayout10.xml" /><Relationship Id="rId6" Type="http://schemas.openxmlformats.org/officeDocument/2006/relationships/slideLayout" Target="../slideLayouts/slideLayout7.xml" /><Relationship Id="rId5" Type="http://schemas.openxmlformats.org/officeDocument/2006/relationships/slideLayout" Target="../slideLayouts/slideLayout6.xml" /><Relationship Id="rId4" Type="http://schemas.openxmlformats.org/officeDocument/2006/relationships/slideLayout" Target="../slideLayouts/slideLayout5.xml" /><Relationship Id="rId3" Type="http://schemas.openxmlformats.org/officeDocument/2006/relationships/slideLayout" Target="../slideLayouts/slideLayout4.xml" /><Relationship Id="rId1" Type="http://schemas.openxmlformats.org/officeDocument/2006/relationships/slideLayout" Target="../slideLayouts/slideLayout2.xml" /><Relationship Id="rId0" Type="http://schemas.openxmlformats.org/officeDocument/2006/relationships/slideLayout" Target="../slideLayouts/slideLayout1.xml" /><Relationship Id="rId7" Type="http://schemas.openxmlformats.org/officeDocument/2006/relationships/slideLayout" Target="../slideLayouts/slideLayout8.xml" /><Relationship Id="rId11" Type="http://schemas.openxmlformats.org/officeDocument/2006/relationships/slideLayout" Target="../slideLayouts/slideLayout12.xml" /><Relationship Id="rId8" Type="http://schemas.openxmlformats.org/officeDocument/2006/relationships/slideLayout" Target="../slideLayouts/slideLayout9.xml" /><Relationship Id="rId2" Type="http://schemas.openxmlformats.org/officeDocument/2006/relationships/slideLayout" Target="../slideLayouts/slideLayout3.xml" /><Relationship Id="rId10" Type="http://schemas.openxmlformats.org/officeDocument/2006/relationships/slideLayout" Target="../slideLayouts/slideLayout11.xml" /><Relationship Id="rId12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true" noChangeArrowheads="true"/>
          </p:cNvSpPr>
          <p:nvPr>
            <p:ph type="title"/>
          </p:nvPr>
        </p:nvSpPr>
        <p:spPr bwMode="auto">
          <a:xfrm>
            <a:off x="457200" y="457200"/>
            <a:ext cx="80772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vert="horz" wrap="square" lIns="91440" tIns="45720" rIns="91440" bIns="45720" numCol="1" anchor="ctr" anchorCtr="false" compatLnSpc="true"/>
          <a:lstStyle/>
          <a:p>
            <a:pPr lvl="0"/>
            <a:r>
              <a:rPr lang="en-US" altLang="zh-CN"/>
              <a:t>Click to edit Master title style</a:t>
            </a:r>
            <a:endParaRPr/>
          </a:p>
        </p:txBody>
      </p:sp>
      <p:sp>
        <p:nvSpPr>
          <p:cNvPr id="3" name="Rectangle 3"/>
          <p:cNvSpPr>
            <a:spLocks noGrp="true" noChangeArrowheads="true"/>
          </p:cNvSpPr>
          <p:nvPr>
            <p:ph type="body" idx="1"/>
          </p:nvPr>
        </p:nvSpPr>
        <p:spPr bwMode="auto">
          <a:xfrm>
            <a:off x="457200" y="1600200"/>
            <a:ext cx="83058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vert="horz" wrap="square" lIns="91440" tIns="45720" rIns="91440" bIns="45720" numCol="1" anchor="t" anchorCtr="false" compatLnSpc="true"/>
          <a:lstStyle/>
          <a:p>
            <a:pPr lvl="0"/>
            <a:r>
              <a:rPr lang="en-US" altLang="zh-CN"/>
              <a:t>Click to edit Master text styles</a:t>
            </a:r>
            <a:endParaRPr/>
          </a:p>
          <a:p>
            <a:pPr lvl="1"/>
            <a:r>
              <a:rPr lang="en-US" altLang="zh-CN"/>
              <a:t>Second level</a:t>
            </a:r>
            <a:endParaRPr/>
          </a:p>
          <a:p>
            <a:pPr lvl="2"/>
            <a:r>
              <a:rPr lang="en-US" altLang="zh-CN"/>
              <a:t>Third level</a:t>
            </a:r>
            <a:endParaRPr/>
          </a:p>
          <a:p>
            <a:pPr lvl="3"/>
            <a:r>
              <a:rPr lang="en-US" altLang="zh-CN"/>
              <a:t>Fourth level</a:t>
            </a:r>
            <a:endParaRPr/>
          </a:p>
          <a:p>
            <a:pPr lvl="4"/>
            <a:r>
              <a:rPr lang="en-US" altLang="zh-CN"/>
              <a:t>Fifth level</a:t>
            </a:r>
            <a:endParaRPr/>
          </a:p>
        </p:txBody>
      </p:sp>
      <p:sp>
        <p:nvSpPr>
          <p:cNvPr id="4" name="Rectangle 4"/>
          <p:cNvSpPr>
            <a:spLocks noGrp="true" noChangeArrowheads="true"/>
          </p:cNvSpPr>
          <p:nvPr>
            <p:ph type="dt" sz="half" idx="2"/>
          </p:nvPr>
        </p:nvSpPr>
        <p:spPr bwMode="auto">
          <a:xfrm>
            <a:off x="838200" y="6172200"/>
            <a:ext cx="1524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false" compatLnSpc="true"/>
          <a:lstStyle>
            <a:lvl1pPr>
              <a:defRPr sz="1400" b="false">
                <a:latin typeface="Times New Roman" panose="02020603050405020304" charset="0"/>
              </a:defRPr>
            </a:lvl1pPr>
          </a:lstStyle>
          <a:p>
            <a:pPr/>
            <a:fld id="{44C98997-F6C5-F64D-9D3D-3300C17D9BB3}" type="datetime1">
              <a:rPr lang="zh-CN" altLang="en-US"/>
              <a:t>2024/3/25</a:t>
            </a:fld>
            <a:endParaRPr lang="en-US" altLang="zh-CN"/>
          </a:p>
        </p:txBody>
      </p:sp>
      <p:sp>
        <p:nvSpPr>
          <p:cNvPr id="5" name="Rectangle 5"/>
          <p:cNvSpPr>
            <a:spLocks noGrp="true" noChangeArrowheads="true"/>
          </p:cNvSpPr>
          <p:nvPr>
            <p:ph type="ftr" sz="quarter" idx="3"/>
          </p:nvPr>
        </p:nvSpPr>
        <p:spPr bwMode="auto">
          <a:xfrm>
            <a:off x="2590800" y="6172200"/>
            <a:ext cx="4114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false" compatLnSpc="true"/>
          <a:lstStyle>
            <a:lvl1pPr algn="ctr">
              <a:defRPr sz="1400" b="false">
                <a:latin typeface="Times New Roman" panose="02020603050405020304" charset="0"/>
              </a:defRPr>
            </a:lvl1pPr>
          </a:lstStyle>
          <a:p>
            <a:pPr/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6" name="Rectangle 6"/>
          <p:cNvSpPr>
            <a:spLocks noGrp="true" noChangeArrowheads="true"/>
          </p:cNvSpPr>
          <p:nvPr>
            <p:ph type="sldNum" sz="quarter" idx="4"/>
          </p:nvPr>
        </p:nvSpPr>
        <p:spPr bwMode="auto">
          <a:xfrm>
            <a:off x="6934200" y="6172200"/>
            <a:ext cx="12954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false" compatLnSpc="true"/>
          <a:lstStyle>
            <a:lvl1pPr algn="r">
              <a:defRPr sz="1400" b="false">
                <a:latin typeface="Times New Roman" panose="02020603050405020304" charset="0"/>
              </a:defRPr>
            </a:lvl1pPr>
          </a:lstStyle>
          <a:p>
            <a:pPr/>
            <a:fld id="{F8EEA136-A61B-D442-8B1B-5491C92D8425}" type="slidenum">
              <a:rPr lang="zh-CN" altLang="en-US"/>
              <a:t>‹#›</a:t>
            </a:fld>
            <a:endParaRPr lang="en-US" altLang="zh-CN"/>
          </a:p>
        </p:txBody>
      </p:sp>
      <p:sp>
        <p:nvSpPr>
          <p:cNvPr id="7" name="Line 7"/>
          <p:cNvSpPr>
            <a:spLocks noChangeShapeType="true"/>
          </p:cNvSpPr>
          <p:nvPr/>
        </p:nvSpPr>
        <p:spPr bwMode="auto">
          <a:xfrm>
            <a:off x="457200" y="1371600"/>
            <a:ext cx="80772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  <a:extLst>
            <a:ext uri="{909E8E84-426E-40DD-AFC4-6F175D3DCCD1}"/>
          </a:extLst>
        </p:spPr>
        <p:txBody>
          <a:bodyPr wrap="none" anchor="ctr"/>
          <a:lstStyle/>
          <a:p>
            <a:pPr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false" ftr="false" dt="false"/>
  <p:txStyles>
    <p:titleStyle>
      <a:lvl1pPr algn="l" rtl="false" eaLnBrk="false" fontAlgn="base" hangingPunct="false">
        <a:spcBef>
          <a:spcPct val="1"/>
        </a:spcBef>
        <a:spcAft>
          <a:spcPct val="1"/>
        </a:spcAft>
        <a:defRPr sz="2800" b="true">
          <a:solidFill>
            <a:schemeClr val="tx2"/>
          </a:solidFill>
          <a:latin typeface="+mj-lt"/>
          <a:ea typeface="宋体" charset="0"/>
          <a:cs typeface="宋体" charset="0"/>
        </a:defRPr>
      </a:lvl1pPr>
      <a:lvl2pPr algn="l" rtl="false" eaLnBrk="false" fontAlgn="base" hangingPunct="false">
        <a:spcBef>
          <a:spcPct val="1"/>
        </a:spcBef>
        <a:spcAft>
          <a:spcPct val="1"/>
        </a:spcAft>
        <a:defRPr sz="2800" b="true">
          <a:solidFill>
            <a:schemeClr val="tx2"/>
          </a:solidFill>
          <a:latin typeface="Comic Sans MS" panose="030F0902030302020204" charset="0"/>
          <a:ea typeface="宋体" charset="0"/>
          <a:cs typeface="宋体" charset="0"/>
        </a:defRPr>
      </a:lvl2pPr>
      <a:lvl3pPr algn="l" rtl="false" eaLnBrk="false" fontAlgn="base" hangingPunct="false">
        <a:spcBef>
          <a:spcPct val="1"/>
        </a:spcBef>
        <a:spcAft>
          <a:spcPct val="1"/>
        </a:spcAft>
        <a:defRPr sz="2800" b="true">
          <a:solidFill>
            <a:schemeClr val="tx2"/>
          </a:solidFill>
          <a:latin typeface="Comic Sans MS" panose="030F0902030302020204" charset="0"/>
          <a:ea typeface="宋体" charset="0"/>
          <a:cs typeface="宋体" charset="0"/>
        </a:defRPr>
      </a:lvl3pPr>
      <a:lvl4pPr algn="l" rtl="false" eaLnBrk="false" fontAlgn="base" hangingPunct="false">
        <a:spcBef>
          <a:spcPct val="1"/>
        </a:spcBef>
        <a:spcAft>
          <a:spcPct val="1"/>
        </a:spcAft>
        <a:defRPr sz="2800" b="true">
          <a:solidFill>
            <a:schemeClr val="tx2"/>
          </a:solidFill>
          <a:latin typeface="Comic Sans MS" panose="030F0902030302020204" charset="0"/>
          <a:ea typeface="宋体" charset="0"/>
          <a:cs typeface="宋体" charset="0"/>
        </a:defRPr>
      </a:lvl4pPr>
      <a:lvl5pPr algn="l" rtl="false" eaLnBrk="false" fontAlgn="base" hangingPunct="false">
        <a:spcBef>
          <a:spcPct val="1"/>
        </a:spcBef>
        <a:spcAft>
          <a:spcPct val="1"/>
        </a:spcAft>
        <a:defRPr sz="2800" b="true">
          <a:solidFill>
            <a:schemeClr val="tx2"/>
          </a:solidFill>
          <a:latin typeface="Comic Sans MS" panose="030F0902030302020204" charset="0"/>
          <a:ea typeface="宋体" charset="0"/>
          <a:cs typeface="宋体" charset="0"/>
        </a:defRPr>
      </a:lvl5pPr>
      <a:lvl6pPr marL="457200" algn="l" rtl="false" eaLnBrk="false" fontAlgn="base" hangingPunct="false">
        <a:spcBef>
          <a:spcPct val="1"/>
        </a:spcBef>
        <a:spcAft>
          <a:spcPct val="1"/>
        </a:spcAft>
        <a:defRPr sz="2800" b="true">
          <a:solidFill>
            <a:schemeClr val="tx2"/>
          </a:solidFill>
          <a:latin typeface="Comic Sans MS" panose="030F0902030302020204" charset="0"/>
        </a:defRPr>
      </a:lvl6pPr>
      <a:lvl7pPr marL="914400" algn="l" rtl="false" eaLnBrk="false" fontAlgn="base" hangingPunct="false">
        <a:spcBef>
          <a:spcPct val="1"/>
        </a:spcBef>
        <a:spcAft>
          <a:spcPct val="1"/>
        </a:spcAft>
        <a:defRPr sz="2800" b="true">
          <a:solidFill>
            <a:schemeClr val="tx2"/>
          </a:solidFill>
          <a:latin typeface="Comic Sans MS" panose="030F0902030302020204" charset="0"/>
        </a:defRPr>
      </a:lvl7pPr>
      <a:lvl8pPr marL="1371600" algn="l" rtl="false" eaLnBrk="false" fontAlgn="base" hangingPunct="false">
        <a:spcBef>
          <a:spcPct val="1"/>
        </a:spcBef>
        <a:spcAft>
          <a:spcPct val="1"/>
        </a:spcAft>
        <a:defRPr sz="2800" b="true">
          <a:solidFill>
            <a:schemeClr val="tx2"/>
          </a:solidFill>
          <a:latin typeface="Comic Sans MS" panose="030F0902030302020204" charset="0"/>
        </a:defRPr>
      </a:lvl8pPr>
      <a:lvl9pPr marL="1828800" algn="l" rtl="false" eaLnBrk="false" fontAlgn="base" hangingPunct="false">
        <a:spcBef>
          <a:spcPct val="1"/>
        </a:spcBef>
        <a:spcAft>
          <a:spcPct val="1"/>
        </a:spcAft>
        <a:defRPr sz="2800" b="true">
          <a:solidFill>
            <a:schemeClr val="tx2"/>
          </a:solidFill>
          <a:latin typeface="Comic Sans MS" panose="030F0902030302020204" charset="0"/>
        </a:defRPr>
      </a:lvl9pPr>
    </p:titleStyle>
    <p:bodyStyle>
      <a:lvl1pPr marL="342900" indent="-342900" algn="l" rtl="false" eaLnBrk="false" fontAlgn="base" hangingPunct="false">
        <a:spcBef>
          <a:spcPct val="20000"/>
        </a:spcBef>
        <a:spcAft>
          <a:spcPct val="1"/>
        </a:spcAft>
        <a:buChar char="•"/>
        <a:defRPr kumimoji="true" sz="2800">
          <a:solidFill>
            <a:schemeClr val="tx1"/>
          </a:solidFill>
          <a:latin typeface="+mn-lt"/>
          <a:ea typeface="宋体" charset="0"/>
          <a:cs typeface="宋体" charset="0"/>
        </a:defRPr>
      </a:lvl1pPr>
      <a:lvl2pPr marL="742950" indent="-285750" algn="l" rtl="false" eaLnBrk="false" fontAlgn="base" hangingPunct="false">
        <a:spcBef>
          <a:spcPct val="20000"/>
        </a:spcBef>
        <a:spcAft>
          <a:spcPct val="1"/>
        </a:spcAft>
        <a:buChar char="–"/>
        <a:defRPr kumimoji="true" sz="2400">
          <a:solidFill>
            <a:schemeClr val="tx1"/>
          </a:solidFill>
          <a:latin typeface="+mn-lt"/>
          <a:ea typeface="宋体" charset="0"/>
        </a:defRPr>
      </a:lvl2pPr>
      <a:lvl3pPr marL="1143000" indent="-228600" algn="l" rtl="false" eaLnBrk="false" fontAlgn="base" hangingPunct="false">
        <a:spcBef>
          <a:spcPct val="20000"/>
        </a:spcBef>
        <a:spcAft>
          <a:spcPct val="1"/>
        </a:spcAft>
        <a:buChar char="•"/>
        <a:defRPr kumimoji="true" sz="2000">
          <a:solidFill>
            <a:schemeClr val="tx1"/>
          </a:solidFill>
          <a:latin typeface="+mn-lt"/>
          <a:ea typeface="宋体" charset="0"/>
        </a:defRPr>
      </a:lvl3pPr>
      <a:lvl4pPr marL="1600200" indent="-228600" algn="l" rtl="false" eaLnBrk="false" fontAlgn="base" hangingPunct="false">
        <a:spcBef>
          <a:spcPct val="20000"/>
        </a:spcBef>
        <a:spcAft>
          <a:spcPct val="1"/>
        </a:spcAft>
        <a:buChar char="–"/>
        <a:defRPr kumimoji="true" sz="2000">
          <a:solidFill>
            <a:schemeClr val="tx1"/>
          </a:solidFill>
          <a:latin typeface="+mn-lt"/>
          <a:ea typeface="宋体" charset="0"/>
        </a:defRPr>
      </a:lvl4pPr>
      <a:lvl5pPr marL="2057400" indent="-228600" algn="l" rtl="false" eaLnBrk="false" fontAlgn="base" hangingPunct="false">
        <a:spcBef>
          <a:spcPct val="20000"/>
        </a:spcBef>
        <a:spcAft>
          <a:spcPct val="1"/>
        </a:spcAft>
        <a:buChar char="»"/>
        <a:defRPr kumimoji="true" sz="2000">
          <a:solidFill>
            <a:schemeClr val="tx1"/>
          </a:solidFill>
          <a:latin typeface="+mn-lt"/>
          <a:ea typeface="宋体" charset="0"/>
        </a:defRPr>
      </a:lvl5pPr>
      <a:lvl6pPr marL="2514600" indent="-228600" algn="l" rtl="false" eaLnBrk="false" fontAlgn="base" hangingPunct="false">
        <a:spcBef>
          <a:spcPct val="20000"/>
        </a:spcBef>
        <a:spcAft>
          <a:spcPct val="1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false" eaLnBrk="false" fontAlgn="base" hangingPunct="false">
        <a:spcBef>
          <a:spcPct val="20000"/>
        </a:spcBef>
        <a:spcAft>
          <a:spcPct val="1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false" eaLnBrk="false" fontAlgn="base" hangingPunct="false">
        <a:spcBef>
          <a:spcPct val="20000"/>
        </a:spcBef>
        <a:spcAft>
          <a:spcPct val="1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false" eaLnBrk="false" fontAlgn="base" hangingPunct="false">
        <a:spcBef>
          <a:spcPct val="20000"/>
        </a:spcBef>
        <a:spcAft>
          <a:spcPct val="1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.xml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0.xml" /><Relationship Id="rId0" Type="http://schemas.openxmlformats.org/officeDocument/2006/relationships/slideLayout" Target="../slideLayouts/slideLayout2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6.xml.rels><?xml version="1.0" encoding="UTF-8" standalone="yes"?><Relationships xmlns="http://schemas.openxmlformats.org/package/2006/relationships"><Relationship Id="rId2" Type="http://schemas.openxmlformats.org/officeDocument/2006/relationships/image" Target="media/image31.png" /><Relationship Id="rId0" Type="http://schemas.openxmlformats.org/officeDocument/2006/relationships/slideLayout" Target="../slideLayouts/slideLayout2.xml" /><Relationship Id="rId1" Type="http://schemas.openxmlformats.org/officeDocument/2006/relationships/image" Target="media/image3.png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36.png" /><Relationship Id="rId0" Type="http://schemas.openxmlformats.org/officeDocument/2006/relationships/slideLayout" Target="../slideLayouts/slideLayout2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41.png" /><Relationship Id="rId0" Type="http://schemas.openxmlformats.org/officeDocument/2006/relationships/slideLayout" Target="../slideLayouts/slideLayout2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.xml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png" /><Relationship Id="rId0" Type="http://schemas.openxmlformats.org/officeDocument/2006/relationships/slideLayout" Target="../slideLayouts/slideLayout2.xml" /></Relationships>
</file>

<file path=ppt/slides/_rels/slide12.xml.rels><?xml version="1.0" encoding="UTF-8" standalone="yes"?><Relationships xmlns="http://schemas.openxmlformats.org/package/2006/relationships"><Relationship Id="rId2" Type="http://schemas.openxmlformats.org/officeDocument/2006/relationships/image" Target="media/image12.png" /><Relationship Id="rId0" Type="http://schemas.openxmlformats.org/officeDocument/2006/relationships/slideLayout" Target="../slideLayouts/slideLayout2.xml" /><Relationship Id="rId1" Type="http://schemas.openxmlformats.org/officeDocument/2006/relationships/image" Target="media/image11.png" /></Relationships>
</file>

<file path=ppt/slides/_rels/slide13.xml.rels><?xml version="1.0" encoding="UTF-8" standalone="yes"?><Relationships xmlns="http://schemas.openxmlformats.org/package/2006/relationships"><Relationship Id="rId2" Type="http://schemas.openxmlformats.org/officeDocument/2006/relationships/image" Target="media/image12.png" /><Relationship Id="rId0" Type="http://schemas.openxmlformats.org/officeDocument/2006/relationships/slideLayout" Target="../slideLayouts/slideLayout2.xml" /><Relationship Id="rId3" Type="http://schemas.openxmlformats.org/officeDocument/2006/relationships/image" Target="media/image11.png" /><Relationship Id="rId1" Type="http://schemas.openxmlformats.org/officeDocument/2006/relationships/image" Target="media/image19.png" /></Relationships>
</file>

<file path=ppt/slides/_rels/slide14.xml.rels><?xml version="1.0" encoding="UTF-8" standalone="yes"?><Relationships xmlns="http://schemas.openxmlformats.org/package/2006/relationships"><Relationship Id="rId2" Type="http://schemas.openxmlformats.org/officeDocument/2006/relationships/image" Target="media/image11.png" /><Relationship Id="rId3" Type="http://schemas.openxmlformats.org/officeDocument/2006/relationships/image" Target="media/image12.png" /><Relationship Id="rId0" Type="http://schemas.openxmlformats.org/officeDocument/2006/relationships/slideLayout" Target="../slideLayouts/slideLayout2.xml" /><Relationship Id="rId1" Type="http://schemas.openxmlformats.org/officeDocument/2006/relationships/image" Target="media/image19.png" /></Relationships>
</file>

<file path=ppt/slides/_rels/slide15.xml.rels><?xml version="1.0" encoding="UTF-8" standalone="yes"?><Relationships xmlns="http://schemas.openxmlformats.org/package/2006/relationships"><Relationship Id="rId3" Type="http://schemas.openxmlformats.org/officeDocument/2006/relationships/image" Target="media/image12.png" /><Relationship Id="rId2" Type="http://schemas.openxmlformats.org/officeDocument/2006/relationships/image" Target="media/image11.png" /><Relationship Id="rId0" Type="http://schemas.openxmlformats.org/officeDocument/2006/relationships/slideLayout" Target="../slideLayouts/slideLayout2.xml" /><Relationship Id="rId1" Type="http://schemas.openxmlformats.org/officeDocument/2006/relationships/image" Target="media/image19.png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20.png" /><Relationship Id="rId0" Type="http://schemas.openxmlformats.org/officeDocument/2006/relationships/slideLayout" Target="../slideLayouts/slideLayout2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media/image21.png" /><Relationship Id="rId0" Type="http://schemas.openxmlformats.org/officeDocument/2006/relationships/slideLayout" Target="../slideLayouts/slideLayout2.xml" /></Relationships>
</file>

<file path=ppt/slides/_rels/slide18.xml.rels><?xml version="1.0" encoding="UTF-8" standalone="yes"?><Relationships xmlns="http://schemas.openxmlformats.org/package/2006/relationships"><Relationship Id="rId3" Type="http://schemas.openxmlformats.org/officeDocument/2006/relationships/image" Target="media/image19.png" /><Relationship Id="rId2" Type="http://schemas.openxmlformats.org/officeDocument/2006/relationships/image" Target="media/image12.png" /><Relationship Id="rId0" Type="http://schemas.openxmlformats.org/officeDocument/2006/relationships/slideLayout" Target="../slideLayouts/slideLayout2.xml" /><Relationship Id="rId1" Type="http://schemas.openxmlformats.org/officeDocument/2006/relationships/image" Target="media/image22.png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image" Target="media/image23.png" /><Relationship Id="rId0" Type="http://schemas.openxmlformats.org/officeDocument/2006/relationships/slideLayout" Target="../slideLayouts/slideLayout2.xml" 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1.xml" /><Relationship Id="rId0" Type="http://schemas.openxmlformats.org/officeDocument/2006/relationships/slideLayout" Target="../slideLayouts/slideLayout2.xml" 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22.xml.rels><?xml version="1.0" encoding="UTF-8" standalone="yes"?><Relationships xmlns="http://schemas.openxmlformats.org/package/2006/relationships"><Relationship Id="rId2" Type="http://schemas.openxmlformats.org/officeDocument/2006/relationships/image" Target="media/image24.png" /><Relationship Id="rId0" Type="http://schemas.openxmlformats.org/officeDocument/2006/relationships/slideLayout" Target="../slideLayouts/slideLayout2.xml" /><Relationship Id="rId1" Type="http://schemas.openxmlformats.org/officeDocument/2006/relationships/image" Target="media/image12.png" /></Relationships>
</file>

<file path=ppt/slides/_rels/slide23.xml.rels><?xml version="1.0" encoding="UTF-8" standalone="yes"?><Relationships xmlns="http://schemas.openxmlformats.org/package/2006/relationships"><Relationship Id="rId2" Type="http://schemas.openxmlformats.org/officeDocument/2006/relationships/image" Target="media/image24.png" /><Relationship Id="rId0" Type="http://schemas.openxmlformats.org/officeDocument/2006/relationships/slideLayout" Target="../slideLayouts/slideLayout2.xml" /><Relationship Id="rId1" Type="http://schemas.openxmlformats.org/officeDocument/2006/relationships/image" Target="media/image12.png" 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image" Target="media/image24.png" /><Relationship Id="rId0" Type="http://schemas.openxmlformats.org/officeDocument/2006/relationships/slideLayout" Target="../slideLayouts/slideLayout2.xml" 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image" Target="media/image25.png" /><Relationship Id="rId0" Type="http://schemas.openxmlformats.org/officeDocument/2006/relationships/slideLayout" Target="../slideLayouts/slideLayout2.xml" /></Relationships>
</file>

<file path=ppt/slides/_rels/slide2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2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2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image" Target="media/image26.png" /><Relationship Id="rId0" Type="http://schemas.openxmlformats.org/officeDocument/2006/relationships/slideLayout" Target="../slideLayouts/slideLayout2.xml" /></Relationships>
</file>

<file path=ppt/slides/_rels/slide3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3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3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3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2.xml" /><Relationship Id="rId0" Type="http://schemas.openxmlformats.org/officeDocument/2006/relationships/slideLayout" Target="../slideLayouts/slideLayout1.xml" 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image" Target="media/image27.png" /><Relationship Id="rId0" Type="http://schemas.openxmlformats.org/officeDocument/2006/relationships/slideLayout" Target="../slideLayouts/slideLayout2.xml" 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image" Target="media/image28.png" /><Relationship Id="rId0" Type="http://schemas.openxmlformats.org/officeDocument/2006/relationships/slideLayout" Target="../slideLayouts/slideLayout2.xml" /></Relationships>
</file>

<file path=ppt/slides/_rels/slide3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image" Target="media/image28.png" /><Relationship Id="rId0" Type="http://schemas.openxmlformats.org/officeDocument/2006/relationships/slideLayout" Target="../slideLayouts/slideLayout2.xml" 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image" Target="media/image29.png" /><Relationship Id="rId0" Type="http://schemas.openxmlformats.org/officeDocument/2006/relationships/slideLayout" Target="../slideLayouts/slideLayout2.xml" 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image" Target="media/image30.png" /><Relationship Id="rId0" Type="http://schemas.openxmlformats.org/officeDocument/2006/relationships/slideLayout" Target="../slideLayouts/slideLayout2.xml" 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3.xml" /><Relationship Id="rId0" Type="http://schemas.openxmlformats.org/officeDocument/2006/relationships/slideLayout" Target="../slideLayouts/slideLayout2.xml" 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4.xml" /><Relationship Id="rId0" Type="http://schemas.openxmlformats.org/officeDocument/2006/relationships/slideLayout" Target="../slideLayouts/slideLayout2.xml" 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5.xml" /><Relationship Id="rId0" Type="http://schemas.openxmlformats.org/officeDocument/2006/relationships/slideLayout" Target="../slideLayouts/slideLayout2.xml" 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6.xml" /><Relationship Id="rId0" Type="http://schemas.openxmlformats.org/officeDocument/2006/relationships/slideLayout" Target="../slideLayouts/slideLayout2.xml" 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7.xml" /><Relationship Id="rId0" Type="http://schemas.openxmlformats.org/officeDocument/2006/relationships/slideLayout" Target="../slideLayouts/slideLayout2.xml" /></Relationships>
</file>

<file path=ppt/slides/_rels/slide4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47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8.xml" /><Relationship Id="rId0" Type="http://schemas.openxmlformats.org/officeDocument/2006/relationships/slideLayout" Target="../slideLayouts/slideLayout2.xml" /></Relationships>
</file>

<file path=ppt/slides/_rels/slide48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9.xml" /><Relationship Id="rId0" Type="http://schemas.openxmlformats.org/officeDocument/2006/relationships/slideLayout" Target="../slideLayouts/slideLayout12.xml" /></Relationships>
</file>

<file path=ppt/slides/_rels/slide49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0.xml" /><Relationship Id="rId0" Type="http://schemas.openxmlformats.org/officeDocument/2006/relationships/slideLayout" Target="../slideLayouts/slideLayout2.xml" /></Relationships>
</file>

<file path=ppt/slides/_rels/slide50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1.xml" /><Relationship Id="rId0" Type="http://schemas.openxmlformats.org/officeDocument/2006/relationships/slideLayout" Target="../slideLayouts/slideLayout2.xml" /></Relationships>
</file>

<file path=ppt/slides/_rels/slide5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2.xml" /><Relationship Id="rId0" Type="http://schemas.openxmlformats.org/officeDocument/2006/relationships/slideLayout" Target="../slideLayouts/slideLayout12.xml" /></Relationships>
</file>

<file path=ppt/slides/_rels/slide5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5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54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3.xml" /><Relationship Id="rId0" Type="http://schemas.openxmlformats.org/officeDocument/2006/relationships/slideLayout" Target="../slideLayouts/slideLayout2.xml" /></Relationships>
</file>

<file path=ppt/slides/_rels/slide55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4.xml" /><Relationship Id="rId0" Type="http://schemas.openxmlformats.org/officeDocument/2006/relationships/slideLayout" Target="../slideLayouts/slideLayout2.xml" /></Relationships>
</file>

<file path=ppt/slides/_rels/slide56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5.xml" /><Relationship Id="rId0" Type="http://schemas.openxmlformats.org/officeDocument/2006/relationships/slideLayout" Target="../slideLayouts/slideLayout2.xml" /></Relationships>
</file>

<file path=ppt/slides/_rels/slide57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6.xml" /><Relationship Id="rId0" Type="http://schemas.openxmlformats.org/officeDocument/2006/relationships/slideLayout" Target="../slideLayouts/slideLayout2.xml" /></Relationships>
</file>

<file path=ppt/slides/_rels/slide58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7.xml" /><Relationship Id="rId0" Type="http://schemas.openxmlformats.org/officeDocument/2006/relationships/slideLayout" Target="../slideLayouts/slideLayout2.xml" /></Relationships>
</file>

<file path=ppt/slides/_rels/slide59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8.xml" /><Relationship Id="rId0" Type="http://schemas.openxmlformats.org/officeDocument/2006/relationships/slideLayout" Target="../slideLayouts/slideLayout7.xml" /></Relationships>
</file>

<file path=ppt/slides/_rels/slide6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61.xml.rels><?xml version="1.0" encoding="UTF-8" standalone="yes"?><Relationships xmlns="http://schemas.openxmlformats.org/package/2006/relationships"><Relationship Id="rId1" Type="http://schemas.openxmlformats.org/officeDocument/2006/relationships/image" Target="media/image32.png" /><Relationship Id="rId0" Type="http://schemas.openxmlformats.org/officeDocument/2006/relationships/slideLayout" Target="../slideLayouts/slideLayout2.xml" /></Relationships>
</file>

<file path=ppt/slides/_rels/slide62.xml.rels><?xml version="1.0" encoding="UTF-8" standalone="yes"?><Relationships xmlns="http://schemas.openxmlformats.org/package/2006/relationships"><Relationship Id="rId1" Type="http://schemas.openxmlformats.org/officeDocument/2006/relationships/image" Target="media/image33.png" /><Relationship Id="rId0" Type="http://schemas.openxmlformats.org/officeDocument/2006/relationships/slideLayout" Target="../slideLayouts/slideLayout2.xml" /></Relationships>
</file>

<file path=ppt/slides/_rels/slide63.xml.rels><?xml version="1.0" encoding="UTF-8" standalone="yes"?><Relationships xmlns="http://schemas.openxmlformats.org/package/2006/relationships"><Relationship Id="rId1" Type="http://schemas.openxmlformats.org/officeDocument/2006/relationships/image" Target="media/image34.png" /><Relationship Id="rId0" Type="http://schemas.openxmlformats.org/officeDocument/2006/relationships/slideLayout" Target="../slideLayouts/slideLayout2.xml" /></Relationships>
</file>

<file path=ppt/slides/_rels/slide64.xml.rels><?xml version="1.0" encoding="UTF-8" standalone="yes"?><Relationships xmlns="http://schemas.openxmlformats.org/package/2006/relationships"><Relationship Id="rId1" Type="http://schemas.openxmlformats.org/officeDocument/2006/relationships/image" Target="media/image35.png" /><Relationship Id="rId0" Type="http://schemas.openxmlformats.org/officeDocument/2006/relationships/slideLayout" Target="../slideLayouts/slideLayout2.xml" /></Relationships>
</file>

<file path=ppt/slides/_rels/slide6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6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6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68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9.xml" /><Relationship Id="rId0" Type="http://schemas.openxmlformats.org/officeDocument/2006/relationships/slideLayout" Target="../slideLayouts/slideLayout1.xml" /></Relationships>
</file>

<file path=ppt/slides/_rels/slide6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70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0.xml" /><Relationship Id="rId0" Type="http://schemas.openxmlformats.org/officeDocument/2006/relationships/slideLayout" Target="../slideLayouts/slideLayout7.xml" /></Relationships>
</file>

<file path=ppt/slides/_rels/slide7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1.xml" /><Relationship Id="rId0" Type="http://schemas.openxmlformats.org/officeDocument/2006/relationships/slideLayout" Target="../slideLayouts/slideLayout7.xml" /></Relationships>
</file>

<file path=ppt/slides/_rels/slide72.xml.rels><?xml version="1.0" encoding="UTF-8" standalone="yes"?><Relationships xmlns="http://schemas.openxmlformats.org/package/2006/relationships"><Relationship Id="rId2" Type="http://schemas.openxmlformats.org/officeDocument/2006/relationships/image" Target="media/image38.png" /><Relationship Id="rId0" Type="http://schemas.openxmlformats.org/officeDocument/2006/relationships/slideLayout" Target="../slideLayouts/slideLayout2.xml" /><Relationship Id="rId1" Type="http://schemas.openxmlformats.org/officeDocument/2006/relationships/image" Target="media/image37.png" /></Relationships>
</file>

<file path=ppt/slides/_rels/slide73.xml.rels><?xml version="1.0" encoding="UTF-8" standalone="yes"?><Relationships xmlns="http://schemas.openxmlformats.org/package/2006/relationships"><Relationship Id="rId2" Type="http://schemas.openxmlformats.org/officeDocument/2006/relationships/image" Target="media/image38.png" /><Relationship Id="rId0" Type="http://schemas.openxmlformats.org/officeDocument/2006/relationships/slideLayout" Target="../slideLayouts/slideLayout2.xml" /><Relationship Id="rId1" Type="http://schemas.openxmlformats.org/officeDocument/2006/relationships/image" Target="media/image37.png" /></Relationships>
</file>

<file path=ppt/slides/_rels/slide7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7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7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7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78.xml.rels><?xml version="1.0" encoding="UTF-8" standalone="yes"?><Relationships xmlns="http://schemas.openxmlformats.org/package/2006/relationships"><Relationship Id="rId3" Type="http://schemas.openxmlformats.org/officeDocument/2006/relationships/image" Target="media/image40.png" /><Relationship Id="rId2" Type="http://schemas.openxmlformats.org/officeDocument/2006/relationships/image" Target="media/image39.png" /><Relationship Id="rId0" Type="http://schemas.openxmlformats.org/officeDocument/2006/relationships/slideLayout" Target="../slideLayouts/slideLayout2.xml" /><Relationship Id="rId1" Type="http://schemas.openxmlformats.org/officeDocument/2006/relationships/notesSlide" Target="../notesSlides/notesSlide32.xml" /></Relationships>
</file>

<file path=ppt/slides/_rels/slide79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3.xml" /><Relationship Id="rId0" Type="http://schemas.openxmlformats.org/officeDocument/2006/relationships/slideLayout" Target="../slideLayouts/slideLayout2.xml" /></Relationships>
</file>

<file path=ppt/slides/_rels/slide80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4.xml" /><Relationship Id="rId0" Type="http://schemas.openxmlformats.org/officeDocument/2006/relationships/slideLayout" Target="../slideLayouts/slideLayout2.xml" /></Relationships>
</file>

<file path=ppt/slides/_rels/slide8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5.xml" /><Relationship Id="rId0" Type="http://schemas.openxmlformats.org/officeDocument/2006/relationships/slideLayout" Target="../slideLayouts/slideLayout2.xml" /></Relationships>
</file>

<file path=ppt/slides/_rels/slide8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6.xml" /><Relationship Id="rId0" Type="http://schemas.openxmlformats.org/officeDocument/2006/relationships/slideLayout" Target="../slideLayouts/slideLayout2.xml" /></Relationships>
</file>

<file path=ppt/slides/_rels/slide83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7.xml" /><Relationship Id="rId0" Type="http://schemas.openxmlformats.org/officeDocument/2006/relationships/slideLayout" Target="../slideLayouts/slideLayout2.xml" /></Relationships>
</file>

<file path=ppt/slides/_rels/slide84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8.xml" /><Relationship Id="rId0" Type="http://schemas.openxmlformats.org/officeDocument/2006/relationships/slideLayout" Target="../slideLayouts/slideLayout2.xml" /></Relationships>
</file>

<file path=ppt/slides/_rels/slide85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9.xml" /><Relationship Id="rId0" Type="http://schemas.openxmlformats.org/officeDocument/2006/relationships/slideLayout" Target="../slideLayouts/slideLayout2.xml" /></Relationships>
</file>

<file path=ppt/slides/_rels/slide86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40.xml" /><Relationship Id="rId0" Type="http://schemas.openxmlformats.org/officeDocument/2006/relationships/slideLayout" Target="../slideLayouts/slideLayout2.xml" /></Relationships>
</file>

<file path=ppt/slides/_rels/slide87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41.xml" /><Relationship Id="rId0" Type="http://schemas.openxmlformats.org/officeDocument/2006/relationships/slideLayout" Target="../slideLayouts/slideLayout2.xml" /></Relationships>
</file>

<file path=ppt/slides/_rels/slide88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42.xml" /><Relationship Id="rId0" Type="http://schemas.openxmlformats.org/officeDocument/2006/relationships/slideLayout" Target="../slideLayouts/slideLayout2.xml" /></Relationships>
</file>

<file path=ppt/slides/_rels/slide89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43.xml" /><Relationship Id="rId0" Type="http://schemas.openxmlformats.org/officeDocument/2006/relationships/slideLayout" Target="../slideLayouts/slideLayout2.xml" /></Relationships>
</file>

<file path=ppt/slides/_rels/slide90.xml.rels><?xml version="1.0" encoding="UTF-8" standalone="yes"?><Relationships xmlns="http://schemas.openxmlformats.org/package/2006/relationships"><Relationship Id="rId2" Type="http://schemas.openxmlformats.org/officeDocument/2006/relationships/image" Target="media/image42.png" /><Relationship Id="rId0" Type="http://schemas.openxmlformats.org/officeDocument/2006/relationships/slideLayout" Target="../slideLayouts/slideLayout2.xml" /><Relationship Id="rId1" Type="http://schemas.openxmlformats.org/officeDocument/2006/relationships/notesSlide" Target="../notesSlides/notesSlide44.xml" /></Relationships>
</file>

<file path=ppt/slides/_rels/slide91.xml.rels><?xml version="1.0" encoding="UTF-8" standalone="yes"?><Relationships xmlns="http://schemas.openxmlformats.org/package/2006/relationships"><Relationship Id="rId1" Type="http://schemas.openxmlformats.org/officeDocument/2006/relationships/image" Target="media/image43.png" /><Relationship Id="rId0" Type="http://schemas.openxmlformats.org/officeDocument/2006/relationships/slideLayout" Target="../slideLayouts/slideLayout2.xml" /></Relationships>
</file>

<file path=ppt/slides/_rels/slide92.xml.rels><?xml version="1.0" encoding="UTF-8" standalone="yes"?><Relationships xmlns="http://schemas.openxmlformats.org/package/2006/relationships"><Relationship Id="rId1" Type="http://schemas.openxmlformats.org/officeDocument/2006/relationships/image" Target="media/image44.png" /><Relationship Id="rId0" Type="http://schemas.openxmlformats.org/officeDocument/2006/relationships/slideLayout" Target="../slideLayouts/slideLayout2.xml" /></Relationships>
</file>

<file path=ppt/slides/_rels/slide9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94.xml.rels><?xml version="1.0" encoding="UTF-8" standalone="yes"?><Relationships xmlns="http://schemas.openxmlformats.org/package/2006/relationships"><Relationship Id="rId1" Type="http://schemas.openxmlformats.org/officeDocument/2006/relationships/image" Target="media/image45.png" /><Relationship Id="rId0" Type="http://schemas.openxmlformats.org/officeDocument/2006/relationships/slideLayout" Target="../slideLayouts/slideLayout2.xml" /></Relationships>
</file>

<file path=ppt/slides/_rels/slide95.xml.rels><?xml version="1.0" encoding="UTF-8" standalone="yes"?><Relationships xmlns="http://schemas.openxmlformats.org/package/2006/relationships"><Relationship Id="rId1" Type="http://schemas.openxmlformats.org/officeDocument/2006/relationships/image" Target="media/image45.png" /><Relationship Id="rId0" Type="http://schemas.openxmlformats.org/officeDocument/2006/relationships/slideLayout" Target="../slideLayouts/slideLayout2.xml" /></Relationships>
</file>

<file path=ppt/slides/_rels/slide96.xml.rels><?xml version="1.0" encoding="UTF-8" standalone="yes"?><Relationships xmlns="http://schemas.openxmlformats.org/package/2006/relationships"><Relationship Id="rId2" Type="http://schemas.openxmlformats.org/officeDocument/2006/relationships/image" Target="media/image47.png" /><Relationship Id="rId0" Type="http://schemas.openxmlformats.org/officeDocument/2006/relationships/slideLayout" Target="../slideLayouts/slideLayout2.xml" /><Relationship Id="rId1" Type="http://schemas.openxmlformats.org/officeDocument/2006/relationships/image" Target="media/image46.jpg" /></Relationships>
</file>

<file path=ppt/slides/_rels/slide97.xml.rels><?xml version="1.0" encoding="UTF-8" standalone="yes"?><Relationships xmlns="http://schemas.openxmlformats.org/package/2006/relationships"><Relationship Id="rId1" Type="http://schemas.openxmlformats.org/officeDocument/2006/relationships/image" Target="media/image48.jpg" /><Relationship Id="rId0" Type="http://schemas.openxmlformats.org/officeDocument/2006/relationships/slideLayout" Target="../slideLayouts/slideLayout2.xml" /></Relationships>
</file>

<file path=ppt/slides/_rels/slide98.xml.rels><?xml version="1.0" encoding="UTF-8" standalone="yes"?><Relationships xmlns="http://schemas.openxmlformats.org/package/2006/relationships"><Relationship Id="rId1" Type="http://schemas.openxmlformats.org/officeDocument/2006/relationships/image" Target="media/image45.png" /><Relationship Id="rId0" Type="http://schemas.openxmlformats.org/officeDocument/2006/relationships/slideLayout" Target="../slideLayouts/slideLayout2.xml" /></Relationships>
</file>

<file path=ppt/slides/_rels/slide9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10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10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10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.xml" /><Relationship Id="rId0" Type="http://schemas.openxmlformats.org/officeDocument/2006/relationships/slideLayout" Target="../slideLayouts/slideLayout1.xml" /></Relationships>
</file>

<file path=ppt/slides/_rels/slide10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104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4.xml" /><Relationship Id="rId0" Type="http://schemas.openxmlformats.org/officeDocument/2006/relationships/slideLayout" Target="../slideLayouts/slideLayout2.xml" /></Relationships>
</file>

<file path=ppt/slides/_rels/slide10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10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107.xml.rels><?xml version="1.0" encoding="UTF-8" standalone="yes"?><Relationships xmlns="http://schemas.openxmlformats.org/package/2006/relationships"><Relationship Id="rId2" Type="http://schemas.openxmlformats.org/officeDocument/2006/relationships/image" Target="media/image2.png" /><Relationship Id="rId0" Type="http://schemas.openxmlformats.org/officeDocument/2006/relationships/slideLayout" Target="../slideLayouts/slideLayout2.xml" /><Relationship Id="rId1" Type="http://schemas.openxmlformats.org/officeDocument/2006/relationships/image" Target="media/image1.png" /></Relationships>
</file>

<file path=ppt/slides/_rels/slide10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10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1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11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5.xml" /><Relationship Id="rId0" Type="http://schemas.openxmlformats.org/officeDocument/2006/relationships/slideLayout" Target="../slideLayouts/slideLayout2.xml" /></Relationships>
</file>

<file path=ppt/slides/_rels/slide112.xml.rels><?xml version="1.0" encoding="UTF-8" standalone="yes"?><Relationships xmlns="http://schemas.openxmlformats.org/package/2006/relationships"><Relationship Id="rId1" Type="http://schemas.openxmlformats.org/officeDocument/2006/relationships/image" Target="media/image4.png" /><Relationship Id="rId0" Type="http://schemas.openxmlformats.org/officeDocument/2006/relationships/slideLayout" Target="../slideLayouts/slideLayout2.xml" /></Relationships>
</file>

<file path=ppt/slides/_rels/slide113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6.xml" /><Relationship Id="rId0" Type="http://schemas.openxmlformats.org/officeDocument/2006/relationships/slideLayout" Target="../slideLayouts/slideLayout2.xml" /></Relationships>
</file>

<file path=ppt/slides/_rels/slide114.xml.rels><?xml version="1.0" encoding="UTF-8" standalone="yes"?><Relationships xmlns="http://schemas.openxmlformats.org/package/2006/relationships"><Relationship Id="rId1" Type="http://schemas.openxmlformats.org/officeDocument/2006/relationships/image" Target="media/image5.png" /><Relationship Id="rId0" Type="http://schemas.openxmlformats.org/officeDocument/2006/relationships/slideLayout" Target="../slideLayouts/slideLayout2.xml" /></Relationships>
</file>

<file path=ppt/slides/_rels/slide115.xml.rels><?xml version="1.0" encoding="UTF-8" standalone="yes"?><Relationships xmlns="http://schemas.openxmlformats.org/package/2006/relationships"><Relationship Id="rId2" Type="http://schemas.openxmlformats.org/officeDocument/2006/relationships/image" Target="media/image6.png" /><Relationship Id="rId0" Type="http://schemas.openxmlformats.org/officeDocument/2006/relationships/slideLayout" Target="../slideLayouts/slideLayout2.xml" /><Relationship Id="rId1" Type="http://schemas.openxmlformats.org/officeDocument/2006/relationships/notesSlide" Target="../notesSlides/notesSlide7.xml" /></Relationships>
</file>

<file path=ppt/slides/_rels/slide116.xml.rels><?xml version="1.0" encoding="UTF-8" standalone="yes"?><Relationships xmlns="http://schemas.openxmlformats.org/package/2006/relationships"><Relationship Id="rId1" Type="http://schemas.openxmlformats.org/officeDocument/2006/relationships/image" Target="media/image7.png" /><Relationship Id="rId0" Type="http://schemas.openxmlformats.org/officeDocument/2006/relationships/slideLayout" Target="../slideLayouts/slideLayout2.xml" /></Relationships>
</file>

<file path=ppt/slides/_rels/slide117.xml.rels><?xml version="1.0" encoding="UTF-8" standalone="yes"?><Relationships xmlns="http://schemas.openxmlformats.org/package/2006/relationships"><Relationship Id="rId1" Type="http://schemas.openxmlformats.org/officeDocument/2006/relationships/image" Target="media/image8.png" /><Relationship Id="rId0" Type="http://schemas.openxmlformats.org/officeDocument/2006/relationships/slideLayout" Target="../slideLayouts/slideLayout2.xml" /></Relationships>
</file>

<file path=ppt/slides/_rels/slide118.xml.rels><?xml version="1.0" encoding="UTF-8" standalone="yes"?><Relationships xmlns="http://schemas.openxmlformats.org/package/2006/relationships"><Relationship Id="rId2" Type="http://schemas.openxmlformats.org/officeDocument/2006/relationships/image" Target="media/image9.png" /><Relationship Id="rId0" Type="http://schemas.openxmlformats.org/officeDocument/2006/relationships/slideLayout" Target="../slideLayouts/slideLayout2.xml" /><Relationship Id="rId1" Type="http://schemas.openxmlformats.org/officeDocument/2006/relationships/notesSlide" Target="../notesSlides/notesSlide8.xml" /></Relationships>
</file>

<file path=ppt/slides/_rels/slide119.xml.rels><?xml version="1.0" encoding="UTF-8" standalone="yes"?><Relationships xmlns="http://schemas.openxmlformats.org/package/2006/relationships"><Relationship Id="rId2" Type="http://schemas.openxmlformats.org/officeDocument/2006/relationships/image" Target="media/image10.png" /><Relationship Id="rId0" Type="http://schemas.openxmlformats.org/officeDocument/2006/relationships/slideLayout" Target="../slideLayouts/slideLayout2.xml" /><Relationship Id="rId1" Type="http://schemas.openxmlformats.org/officeDocument/2006/relationships/notesSlide" Target="../notesSlides/notesSlide9.xml" /></Relationships>
</file>

<file path=ppt/slides/_rels/slide1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1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122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2.xml" /></Relationships>
</file>

<file path=ppt/slides/_rels/slide123.xml.rels><?xml version="1.0" encoding="UTF-8" standalone="yes"?><Relationships xmlns="http://schemas.openxmlformats.org/package/2006/relationships"><Relationship Id="rId2" Type="http://schemas.openxmlformats.org/officeDocument/2006/relationships/image" Target="media/image15.png" /><Relationship Id="rId0" Type="http://schemas.openxmlformats.org/officeDocument/2006/relationships/slideLayout" Target="../slideLayouts/slideLayout2.xml" /><Relationship Id="rId1" Type="http://schemas.openxmlformats.org/officeDocument/2006/relationships/image" Target="media/image14.png" /></Relationships>
</file>

<file path=ppt/slides/_rels/slide124.xml.rels><?xml version="1.0" encoding="UTF-8" standalone="yes"?><Relationships xmlns="http://schemas.openxmlformats.org/package/2006/relationships"><Relationship Id="rId2" Type="http://schemas.openxmlformats.org/officeDocument/2006/relationships/image" Target="media/image17.png" /><Relationship Id="rId0" Type="http://schemas.openxmlformats.org/officeDocument/2006/relationships/slideLayout" Target="../slideLayouts/slideLayout2.xml" /><Relationship Id="rId1" Type="http://schemas.openxmlformats.org/officeDocument/2006/relationships/image" Target="media/image16.png" /></Relationships>
</file>

<file path=ppt/slides/_rels/slide125.xml.rels><?xml version="1.0" encoding="UTF-8" standalone="yes"?><Relationships xmlns="http://schemas.openxmlformats.org/package/2006/relationships"><Relationship Id="rId1" Type="http://schemas.openxmlformats.org/officeDocument/2006/relationships/image" Target="media/image18.png" /><Relationship Id="rId0" Type="http://schemas.openxmlformats.org/officeDocument/2006/relationships/slideLayout" Target="../slideLayouts/slideLayout2.xml" /></Relationships>
</file>

<file path=ppt/slides/_rels/slide12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30"/>
          <p:cNvSpPr>
            <a:spLocks noGrp="true" noChangeArrowheads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E7B7DA43-96DB-7E4A-A97B-E0F2190F5788}" type="slidenum">
              <a:rPr lang="zh-CN" altLang="en-US" sz="1400" b="false">
                <a:latin typeface="Times New Roman" panose="02020603050405020304" charset="0"/>
              </a:rPr>
              <a:t>1</a:t>
            </a:fld>
            <a:endParaRPr lang="en-US" altLang="zh-CN" sz="1400" b="false">
              <a:latin typeface="Times New Roman" panose="02020603050405020304" charset="0"/>
            </a:endParaRPr>
          </a:p>
        </p:txBody>
      </p:sp>
      <p:sp>
        <p:nvSpPr>
          <p:cNvPr id="3" name="Rectangle 2"/>
          <p:cNvSpPr>
            <a:spLocks noGrp="true" noChangeArrowheads="true"/>
          </p:cNvSpPr>
          <p:nvPr>
            <p:ph type="ctrTitle"/>
          </p:nvPr>
        </p:nvSpPr>
        <p:spPr>
          <a:xfrm>
            <a:off x="685800" y="2133600"/>
            <a:ext cx="7772400" cy="1828800"/>
          </a:xfrm>
        </p:spPr>
        <p:txBody>
          <a:bodyPr/>
          <a:lstStyle/>
          <a:p>
            <a:pPr/>
            <a:r>
              <a:rPr lang="en-US" altLang="zh-CN" sz="3200" dirty="false">
                <a:ea typeface="宋体" charset="-122"/>
              </a:rPr>
              <a:t>Virtual Memory</a:t>
            </a:r>
            <a:r>
              <a:rPr lang="zh-CN" altLang="en-US" sz="3200" dirty="false">
                <a:ea typeface="宋体" charset="-122"/>
              </a:rPr>
              <a:t> </a:t>
            </a:r>
            <a:r>
              <a:rPr lang="en-US" altLang="zh-CN" sz="3200" dirty="false">
                <a:ea typeface="宋体" charset="-122"/>
              </a:rPr>
              <a:t>(II)</a:t>
            </a:r>
            <a:br>
              <a:rPr lang="en-US" altLang="zh-CN" sz="3200" dirty="false">
                <a:ea typeface="宋体" charset="-122"/>
              </a:rPr>
            </a:br>
            <a:br>
              <a:rPr lang="en-US" altLang="zh-CN" sz="3200" dirty="false">
                <a:ea typeface="宋体" charset="-122"/>
              </a:rPr>
            </a:br>
            <a:r>
              <a:rPr lang="en-US" altLang="zh-CN" sz="3200" dirty="false">
                <a:ea typeface="宋体" charset="-122"/>
              </a:rPr>
              <a:t>Address Translation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2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D9C8DFB4-20CD-734A-A7EC-400D8E9870DF}" type="slidenum">
              <a:rPr lang="zh-CN" altLang="en-US" sz="1400" b="false">
                <a:latin typeface="Times New Roman" panose="02020603050405020304" charset="0"/>
              </a:rPr>
              <a:t>2</a:t>
            </a:fld>
            <a:endParaRPr lang="en-US" altLang="zh-CN" sz="1400" b="false">
              <a:latin typeface="Times New Roman" panose="02020603050405020304" charset="0"/>
            </a:endParaRPr>
          </a:p>
        </p:txBody>
      </p:sp>
      <p:sp>
        <p:nvSpPr>
          <p:cNvPr id="264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Outline</a:t>
            </a:r>
            <a:endParaRPr/>
          </a:p>
        </p:txBody>
      </p:sp>
      <p:sp>
        <p:nvSpPr>
          <p:cNvPr id="265" name="Rectangle 3"/>
          <p:cNvSpPr>
            <a:spLocks noGrp="true" noChangeArrowheads="true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kumimoji="false" lang="en-US" altLang="zh-CN" dirty="false">
                <a:ea typeface="宋体" charset="-122"/>
              </a:rPr>
              <a:t>Overview</a:t>
            </a:r>
            <a:endParaRPr/>
          </a:p>
          <a:p>
            <a:pPr/>
            <a:r>
              <a:rPr kumimoji="false" lang="en-US" altLang="zh-CN" dirty="false">
                <a:ea typeface="宋体" charset="-122"/>
              </a:rPr>
              <a:t>Segmentation</a:t>
            </a:r>
            <a:endParaRPr/>
          </a:p>
          <a:p>
            <a:pPr/>
            <a:r>
              <a:rPr kumimoji="false" lang="en-US" altLang="zh-CN" dirty="false">
                <a:ea typeface="宋体" charset="-122"/>
              </a:rPr>
              <a:t>Paging: Introduction</a:t>
            </a:r>
            <a:endParaRPr/>
          </a:p>
          <a:p>
            <a:pPr/>
            <a:r>
              <a:rPr kumimoji="false" lang="en-US" altLang="zh-CN" dirty="false">
                <a:ea typeface="宋体" charset="-122"/>
              </a:rPr>
              <a:t>Paging: Faster Translations (TLBs)</a:t>
            </a:r>
            <a:endParaRPr/>
          </a:p>
          <a:p>
            <a:pPr/>
            <a:r>
              <a:rPr kumimoji="false" lang="en-US" altLang="zh-CN" dirty="false">
                <a:ea typeface="宋体" charset="-122"/>
              </a:rPr>
              <a:t>Paging: </a:t>
            </a:r>
            <a:r>
              <a:rPr kumimoji="false" lang="en-US" altLang="zh-CN">
                <a:ea typeface="宋体" charset="-122"/>
              </a:rPr>
              <a:t>Smaller Tables</a:t>
            </a:r>
            <a:endParaRPr kumimoji="false" lang="en-US" altLang="zh-CN" dirty="false">
              <a:ea typeface="宋体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3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kumimoji="true" lang="en-US" altLang="zh-CN" dirty="false"/>
              <a:t>Overview</a:t>
            </a:r>
            <a:endParaRPr kumimoji="true" lang="zh-CN" altLang="en-US" dirty="false"/>
          </a:p>
        </p:txBody>
      </p:sp>
      <p:sp>
        <p:nvSpPr>
          <p:cNvPr id="321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>
              <a:buChar char="•"/>
            </a:pPr>
            <a:r>
              <a:rPr lang="en-US"/>
              <a:t>Address Translation</a:t>
            </a:r>
            <a:endParaRPr/>
          </a:p>
          <a:p>
            <a:pPr lvl="1">
              <a:buChar char="–"/>
            </a:pPr>
            <a:r>
              <a:rPr lang="en-US"/>
              <a:t>Process</a:t>
            </a:r>
            <a:r>
              <a:rPr lang="zh-CN"/>
              <a:t>看到、使用的地址都是</a:t>
            </a:r>
            <a:r>
              <a:rPr lang="en-US"/>
              <a:t>virtual address</a:t>
            </a:r>
            <a:endParaRPr/>
          </a:p>
          <a:p>
            <a:pPr lvl="1">
              <a:buChar char="–"/>
            </a:pPr>
            <a:r>
              <a:rPr lang="zh-CN"/>
              <a:t>真正访问硬件前，需要转化为</a:t>
            </a:r>
            <a:r>
              <a:rPr lang="en-US"/>
              <a:t>physical address</a:t>
            </a:r>
            <a:endParaRPr/>
          </a:p>
          <a:p>
            <a:pPr lvl="1">
              <a:buChar char="–"/>
            </a:pPr>
            <a:endParaRPr lang="en-US"/>
          </a:p>
          <a:p>
            <a:pPr lvl="1">
              <a:buChar char="–"/>
            </a:pPr>
            <a:r>
              <a:rPr lang="zh-CN"/>
              <a:t>建立一个从</a:t>
            </a:r>
            <a:r>
              <a:rPr lang="en-US"/>
              <a:t>virtual address space</a:t>
            </a:r>
            <a:r>
              <a:rPr lang="zh-CN"/>
              <a:t>到</a:t>
            </a:r>
            <a:r>
              <a:rPr lang="en-US"/>
              <a:t>physical address space</a:t>
            </a:r>
            <a:r>
              <a:rPr lang="zh-CN"/>
              <a:t>的映射</a:t>
            </a:r>
            <a:endParaRPr/>
          </a:p>
          <a:p>
            <a:pPr lvl="1">
              <a:buChar char="–"/>
            </a:pPr>
            <a:endParaRPr lang="zh-CN"/>
          </a:p>
        </p:txBody>
      </p:sp>
      <p:sp>
        <p:nvSpPr>
          <p:cNvPr id="322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EF0B01C9-CC9E-4042-87A9-F49D20F0019F}" type="slidenum">
              <a:rPr lang="zh-CN" altLang="en-US" smtClean="false"/>
              <a:t>3</a:t>
            </a:fld>
            <a:endParaRPr lang="en-US" alt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3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kumimoji="true" lang="en-US" altLang="zh-CN" dirty="false"/>
              <a:t>Overview</a:t>
            </a:r>
            <a:endParaRPr kumimoji="true" lang="zh-CN" altLang="en-US" dirty="false"/>
          </a:p>
        </p:txBody>
      </p:sp>
      <p:sp>
        <p:nvSpPr>
          <p:cNvPr id="372" name="内容占位符 2"/>
          <p:cNvSpPr>
            <a:spLocks noGrp="true"/>
          </p:cNvSpPr>
          <p:nvPr>
            <p:ph idx="1"/>
          </p:nvPr>
        </p:nvSpPr>
        <p:spPr>
          <a:xfrm>
            <a:off x="457200" y="1600200"/>
            <a:ext cx="8686800" cy="4419600"/>
          </a:xfrm>
        </p:spPr>
        <p:txBody>
          <a:bodyPr/>
          <a:lstStyle/>
          <a:p>
            <a:pPr>
              <a:buChar char="•"/>
            </a:pPr>
            <a:r>
              <a:rPr lang="en-US"/>
              <a:t>Address Translation</a:t>
            </a:r>
            <a:r>
              <a:rPr lang="zh-CN"/>
              <a:t>背后的操作是什么？</a:t>
            </a:r>
            <a:endParaRPr lang="en-US"/>
          </a:p>
          <a:p>
            <a:pPr lvl="1">
              <a:buChar char="–"/>
            </a:pPr>
            <a:r>
              <a:rPr lang="en-US"/>
              <a:t>Transparent</a:t>
            </a:r>
            <a:endParaRPr/>
          </a:p>
          <a:p>
            <a:pPr lvl="2">
              <a:buChar char="•"/>
            </a:pPr>
            <a:r>
              <a:rPr lang="zh-CN"/>
              <a:t>程序无需关心物理地址</a:t>
            </a:r>
            <a:endParaRPr/>
          </a:p>
          <a:p>
            <a:pPr lvl="1">
              <a:buChar char="–"/>
            </a:pPr>
            <a:r>
              <a:rPr lang="en-US"/>
              <a:t>Efficient </a:t>
            </a:r>
            <a:endParaRPr/>
          </a:p>
          <a:p>
            <a:pPr lvl="2">
              <a:buChar char="•"/>
            </a:pPr>
            <a:r>
              <a:rPr lang="zh-CN"/>
              <a:t>速度要很快，因为访存是个很常见的操作</a:t>
            </a:r>
            <a:endParaRPr lang="en-US"/>
          </a:p>
          <a:p>
            <a:pPr lvl="1">
              <a:buChar char="–"/>
            </a:pPr>
            <a:r>
              <a:rPr lang="zh-CN"/>
              <a:t>所以，要借用快速的硬件</a:t>
            </a:r>
            <a:endParaRPr lang="en-US"/>
          </a:p>
          <a:p>
            <a:pPr lvl="2">
              <a:buChar char="•"/>
            </a:pPr>
            <a:r>
              <a:rPr lang="en-US"/>
              <a:t>MMU</a:t>
            </a:r>
            <a:r>
              <a:rPr lang="zh-CN"/>
              <a:t>：</a:t>
            </a:r>
            <a:r>
              <a:rPr lang="en-US"/>
              <a:t>Memory Management Unit</a:t>
            </a:r>
            <a:endParaRPr/>
          </a:p>
          <a:p>
            <a:pPr lvl="2">
              <a:buChar char="•"/>
            </a:pPr>
            <a:r>
              <a:rPr lang="en-US"/>
              <a:t>Load/store</a:t>
            </a:r>
            <a:r>
              <a:rPr lang="zh-CN"/>
              <a:t>指令时，</a:t>
            </a:r>
            <a:r>
              <a:rPr lang="en-US"/>
              <a:t>CPU</a:t>
            </a:r>
            <a:r>
              <a:rPr lang="zh-CN"/>
              <a:t>利用</a:t>
            </a:r>
            <a:r>
              <a:rPr lang="en-US"/>
              <a:t>MMU</a:t>
            </a:r>
            <a:r>
              <a:rPr lang="zh-CN"/>
              <a:t>去做</a:t>
            </a:r>
            <a:r>
              <a:rPr lang="en-US"/>
              <a:t>address translation</a:t>
            </a:r>
            <a:endParaRPr/>
          </a:p>
          <a:p>
            <a:pPr lvl="2">
              <a:buChar char="•"/>
            </a:pPr>
            <a:r>
              <a:rPr lang="zh-CN"/>
              <a:t>但</a:t>
            </a:r>
            <a:r>
              <a:rPr lang="en-US"/>
              <a:t>OS</a:t>
            </a:r>
            <a:r>
              <a:rPr lang="zh-CN"/>
              <a:t>软件也有参与，因为</a:t>
            </a:r>
            <a:r>
              <a:rPr lang="en-US"/>
              <a:t>MMU</a:t>
            </a:r>
            <a:r>
              <a:rPr lang="zh-CN"/>
              <a:t>做地址翻译的元数据要放在内存里，这块内存空间是</a:t>
            </a:r>
            <a:r>
              <a:rPr lang="en-US"/>
              <a:t>OS</a:t>
            </a:r>
            <a:r>
              <a:rPr lang="zh-CN"/>
              <a:t>管理和提供的（</a:t>
            </a:r>
            <a:r>
              <a:rPr lang="en-US"/>
              <a:t>MMU</a:t>
            </a:r>
            <a:r>
              <a:rPr lang="zh-CN"/>
              <a:t>是</a:t>
            </a:r>
            <a:r>
              <a:rPr lang="en-US"/>
              <a:t>CPU</a:t>
            </a:r>
            <a:r>
              <a:rPr lang="zh-CN"/>
              <a:t>的一部分）</a:t>
            </a:r>
            <a:endParaRPr lang="en-US"/>
          </a:p>
          <a:p>
            <a:pPr lvl="1">
              <a:buChar char="–"/>
            </a:pPr>
            <a:r>
              <a:rPr lang="zh-CN"/>
              <a:t>进程没有权限访问</a:t>
            </a:r>
            <a:r>
              <a:rPr lang="en-US"/>
              <a:t>PA</a:t>
            </a:r>
            <a:r>
              <a:rPr lang="zh-CN"/>
              <a:t>，但也不是借用</a:t>
            </a:r>
            <a:r>
              <a:rPr lang="en-US"/>
              <a:t>system call</a:t>
            </a:r>
            <a:r>
              <a:rPr lang="zh-CN"/>
              <a:t>陷入内核态获取权限（因为太慢），而是</a:t>
            </a:r>
            <a:r>
              <a:rPr lang="en-US"/>
              <a:t>CPU</a:t>
            </a:r>
            <a:r>
              <a:rPr lang="zh-CN"/>
              <a:t>直接用硬件解决</a:t>
            </a:r>
            <a:endParaRPr lang="zh-CN"/>
          </a:p>
        </p:txBody>
      </p:sp>
      <p:sp>
        <p:nvSpPr>
          <p:cNvPr id="373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EF0B01C9-CC9E-4042-87A9-F49D20F0019F}" type="slidenum">
              <a:rPr lang="zh-CN" altLang="en-US" smtClean="false"/>
              <a:t>6</a:t>
            </a:fld>
            <a:endParaRPr lang="en-US" alt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6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kumimoji="true" lang="en-US" altLang="zh-CN" dirty="false"/>
              <a:t>Overview</a:t>
            </a:r>
            <a:endParaRPr kumimoji="true" lang="zh-CN" altLang="en-US" dirty="false"/>
          </a:p>
        </p:txBody>
      </p:sp>
      <p:sp>
        <p:nvSpPr>
          <p:cNvPr id="700" name="内容占位符 2"/>
          <p:cNvSpPr>
            <a:spLocks noGrp="true"/>
          </p:cNvSpPr>
          <p:nvPr>
            <p:ph idx="1"/>
          </p:nvPr>
        </p:nvSpPr>
        <p:spPr>
          <a:xfrm>
            <a:off x="457200" y="1600200"/>
            <a:ext cx="8077200" cy="4419600"/>
          </a:xfrm>
        </p:spPr>
        <p:txBody>
          <a:bodyPr/>
          <a:lstStyle/>
          <a:p>
            <a:pPr>
              <a:buChar char="•"/>
            </a:pPr>
            <a:r>
              <a:rPr lang="zh-CN"/>
              <a:t>具体的硬件解决方案</a:t>
            </a:r>
            <a:endParaRPr lang="en-US"/>
          </a:p>
          <a:p>
            <a:pPr lvl="1">
              <a:buChar char="–"/>
            </a:pPr>
            <a:r>
              <a:rPr lang="en-US"/>
              <a:t>1950</a:t>
            </a:r>
            <a:r>
              <a:rPr lang="en-US"/>
              <a:t>’</a:t>
            </a:r>
            <a:r>
              <a:rPr lang="en-US"/>
              <a:t>s</a:t>
            </a:r>
            <a:r>
              <a:rPr lang="zh-CN"/>
              <a:t>：</a:t>
            </a:r>
            <a:r>
              <a:rPr lang="en-US"/>
              <a:t>base and bounds/dynamic relocation</a:t>
            </a:r>
            <a:endParaRPr/>
          </a:p>
          <a:p>
            <a:pPr lvl="1">
              <a:buChar char="–"/>
            </a:pPr>
            <a:r>
              <a:rPr lang="zh-CN"/>
              <a:t>将一个进程的内存空间映射到一段连续的物理内存上</a:t>
            </a:r>
            <a:endParaRPr/>
          </a:p>
          <a:p>
            <a:pPr lvl="1">
              <a:buChar char="–"/>
            </a:pPr>
            <a:r>
              <a:rPr lang="zh-CN"/>
              <a:t>需要两个硬件寄存器：</a:t>
            </a:r>
            <a:endParaRPr lang="en-US"/>
          </a:p>
          <a:p>
            <a:pPr lvl="2">
              <a:buChar char="•"/>
            </a:pPr>
            <a:r>
              <a:rPr lang="en-US"/>
              <a:t>Base</a:t>
            </a:r>
            <a:endParaRPr/>
          </a:p>
          <a:p>
            <a:pPr lvl="2">
              <a:buChar char="•"/>
            </a:pPr>
            <a:r>
              <a:rPr lang="en-US"/>
              <a:t>Bounds</a:t>
            </a:r>
            <a:endParaRPr/>
          </a:p>
          <a:p>
            <a:pPr lvl="1">
              <a:buChar char="–"/>
            </a:pPr>
            <a:r>
              <a:rPr lang="zh-CN"/>
              <a:t>能够找到对应的物理内存，而且限制用户只能访问自己的内存空间（</a:t>
            </a:r>
            <a:r>
              <a:rPr lang="en-US"/>
              <a:t>bound</a:t>
            </a:r>
            <a:r>
              <a:rPr lang="zh-CN"/>
              <a:t>之内）</a:t>
            </a:r>
            <a:endParaRPr lang="zh-CN"/>
          </a:p>
        </p:txBody>
      </p:sp>
      <p:sp>
        <p:nvSpPr>
          <p:cNvPr id="701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EF0B01C9-CC9E-4042-87A9-F49D20F0019F}" type="slidenum">
              <a:rPr lang="zh-CN" altLang="en-US" smtClean="false"/>
              <a:t>7</a:t>
            </a:fld>
            <a:endParaRPr lang="en-US" alt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kumimoji="true" lang="en-US" altLang="zh-CN" dirty="false"/>
              <a:t>Overview</a:t>
            </a:r>
            <a:endParaRPr kumimoji="true" lang="zh-CN" altLang="en-US" dirty="false"/>
          </a:p>
        </p:txBody>
      </p:sp>
      <p:sp>
        <p:nvSpPr>
          <p:cNvPr id="978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EF0B01C9-CC9E-4042-87A9-F49D20F0019F}" type="slidenum">
              <a:rPr lang="zh-CN" altLang="en-US" smtClean="false"/>
              <a:t>5</a:t>
            </a:fld>
            <a:endParaRPr lang="en-US" altLang="zh-CN"/>
          </a:p>
        </p:txBody>
      </p:sp>
      <p:pic>
        <p:nvPicPr>
          <p:cNvPr id="979" name="图片 4"/>
          <p:cNvPicPr>
            <a:picLocks noChangeAspect="true"/>
          </p:cNvPicPr>
          <p:nvPr/>
        </p:nvPicPr>
        <p:blipFill>
          <a:blip r:embed="rId1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1828800" y="2279583"/>
            <a:ext cx="2984976" cy="4349817"/>
          </a:xfrm>
          <a:prstGeom prst="rect">
            <a:avLst/>
          </a:prstGeom>
        </p:spPr>
      </p:pic>
      <p:pic>
        <p:nvPicPr>
          <p:cNvPr id="980" name="图片 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6808893" y="0"/>
            <a:ext cx="2193823" cy="6858000"/>
          </a:xfrm>
          <a:prstGeom prst="rect">
            <a:avLst/>
          </a:prstGeom>
        </p:spPr>
      </p:pic>
      <p:sp>
        <p:nvSpPr>
          <p:cNvPr id="981" name="矩形 6"/>
          <p:cNvSpPr/>
          <p:nvPr/>
        </p:nvSpPr>
        <p:spPr>
          <a:xfrm>
            <a:off x="5750408" y="5728207"/>
            <a:ext cx="118974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/>
            <a:r>
              <a:rPr kumimoji="true" lang="en-US" altLang="zh-CN" dirty="false"/>
              <a:t>Virtual </a:t>
            </a:r>
            <a:endParaRPr/>
          </a:p>
          <a:p>
            <a:pPr/>
            <a:r>
              <a:rPr kumimoji="true" lang="en-US" altLang="zh-CN" dirty="false"/>
              <a:t>Address</a:t>
            </a:r>
            <a:endParaRPr lang="zh-CN" altLang="en-US" dirty="false"/>
          </a:p>
        </p:txBody>
      </p:sp>
      <p:sp>
        <p:nvSpPr>
          <p:cNvPr id="982" name="矩形 7"/>
          <p:cNvSpPr/>
          <p:nvPr/>
        </p:nvSpPr>
        <p:spPr>
          <a:xfrm>
            <a:off x="600951" y="5660028"/>
            <a:ext cx="118974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/>
            <a:r>
              <a:rPr kumimoji="true" lang="en-US" altLang="zh-CN" dirty="false"/>
              <a:t>Physical</a:t>
            </a:r>
            <a:endParaRPr/>
          </a:p>
          <a:p>
            <a:pPr/>
            <a:r>
              <a:rPr kumimoji="true" lang="en-US" altLang="zh-CN" dirty="false"/>
              <a:t>Address</a:t>
            </a:r>
            <a:endParaRPr lang="zh-CN" altLang="en-US" dirty="false"/>
          </a:p>
        </p:txBody>
      </p:sp>
      <p:sp>
        <p:nvSpPr>
          <p:cNvPr id="983" name=""/>
          <p:cNvSpPr txBox="true"/>
          <p:nvPr/>
        </p:nvSpPr>
        <p:spPr>
          <a:xfrm rot="0" flipH="false" flipV="false">
            <a:off x="978501" y="1476342"/>
            <a:ext cx="4216037" cy="393700"/>
          </a:xfrm>
          <a:prstGeom prst="rect">
            <a:avLst/>
          </a:prstGeom>
          <a:ln w="6350">
            <a:prstDash val="solid"/>
          </a:ln>
        </p:spPr>
        <p:txBody>
          <a:bodyPr wrap="square">
            <a:spAutoFit/>
          </a:bodyPr>
          <a:lstStyle/>
          <a:p>
            <a:pPr/>
            <a:r>
              <a:rPr lang="en-US"/>
              <a:t>Base=32KB, </a:t>
            </a:r>
            <a:r>
              <a:rPr lang="en-US"/>
              <a:t>Bound=16KB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kumimoji="true" lang="en-US" altLang="zh-CN" dirty="false"/>
              <a:t>Overview</a:t>
            </a:r>
            <a:endParaRPr kumimoji="true" lang="zh-CN" altLang="en-US" dirty="false"/>
          </a:p>
        </p:txBody>
      </p:sp>
      <p:sp>
        <p:nvSpPr>
          <p:cNvPr id="1029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/>
            <a:r>
              <a:rPr kumimoji="true" lang="en-US" altLang="zh-CN" dirty="false"/>
              <a:t>An example</a:t>
            </a:r>
            <a:endParaRPr/>
          </a:p>
          <a:p>
            <a:pPr/>
            <a:endParaRPr lang="en-US" altLang="zh-CN" dirty="false"/>
          </a:p>
          <a:p>
            <a:pPr/>
            <a:endParaRPr kumimoji="true" lang="en-US" altLang="zh-CN" dirty="false"/>
          </a:p>
          <a:p>
            <a:pPr lvl="1"/>
            <a:r>
              <a:rPr lang="en-US" altLang="zh-CN" dirty="false"/>
              <a:t>PC=128</a:t>
            </a:r>
            <a:endParaRPr/>
          </a:p>
          <a:p>
            <a:pPr lvl="1"/>
            <a:r>
              <a:rPr lang="zh-CN" altLang="en-US" dirty="false"/>
              <a:t>取指令：</a:t>
            </a:r>
            <a:r>
              <a:rPr lang="en-US" altLang="zh-CN" dirty="false"/>
              <a:t>PA=</a:t>
            </a:r>
            <a:r>
              <a:rPr lang="en-US" altLang="zh-CN" dirty="false" err="true"/>
              <a:t>PC+base</a:t>
            </a:r>
            <a:r>
              <a:rPr lang="en-US" altLang="zh-CN" dirty="false"/>
              <a:t> = 128+32K = 32896</a:t>
            </a:r>
            <a:endParaRPr/>
          </a:p>
          <a:p>
            <a:pPr lvl="1"/>
            <a:r>
              <a:rPr kumimoji="true" lang="zh-CN" altLang="en-US" dirty="false"/>
              <a:t>硬件按照</a:t>
            </a:r>
            <a:r>
              <a:rPr kumimoji="true" lang="en-US" altLang="zh-CN" dirty="false"/>
              <a:t>P</a:t>
            </a:r>
            <a:r>
              <a:rPr lang="en-US" altLang="zh-CN" dirty="false"/>
              <a:t>A</a:t>
            </a:r>
            <a:r>
              <a:rPr lang="zh-CN" altLang="en-US" dirty="false"/>
              <a:t>去取指令，放到</a:t>
            </a:r>
            <a:r>
              <a:rPr lang="en-US" altLang="zh-CN" dirty="false"/>
              <a:t>CPU</a:t>
            </a:r>
            <a:r>
              <a:rPr lang="zh-CN" altLang="en-US" dirty="false"/>
              <a:t>里的指令寄存器</a:t>
            </a:r>
            <a:endParaRPr lang="en-US" altLang="zh-CN" dirty="false"/>
          </a:p>
          <a:p>
            <a:pPr lvl="1"/>
            <a:r>
              <a:rPr kumimoji="true" lang="en-US" altLang="zh-CN" dirty="false"/>
              <a:t>CPU</a:t>
            </a:r>
            <a:r>
              <a:rPr kumimoji="true" lang="zh-CN" altLang="en-US" dirty="false"/>
              <a:t>执行该指令</a:t>
            </a:r>
            <a:endParaRPr kumimoji="true" lang="en-US" altLang="zh-CN" dirty="false"/>
          </a:p>
          <a:p>
            <a:pPr lvl="1"/>
            <a:r>
              <a:rPr lang="zh-CN" altLang="en-US" dirty="false"/>
              <a:t>取</a:t>
            </a:r>
            <a:r>
              <a:rPr kumimoji="true" lang="zh-CN" altLang="en-US" dirty="false"/>
              <a:t>数字的地址</a:t>
            </a:r>
            <a:r>
              <a:rPr kumimoji="true" lang="en-US" altLang="zh-CN" dirty="false"/>
              <a:t>=0+%</a:t>
            </a:r>
            <a:r>
              <a:rPr kumimoji="true" lang="en-US" altLang="zh-CN" dirty="false" err="true"/>
              <a:t>ebx+base</a:t>
            </a:r>
            <a:endParaRPr kumimoji="true" lang="en-US" altLang="zh-CN" dirty="false"/>
          </a:p>
          <a:p>
            <a:pPr lvl="1"/>
            <a:r>
              <a:rPr lang="en-US" altLang="zh-CN" dirty="false"/>
              <a:t>…</a:t>
            </a:r>
            <a:endParaRPr kumimoji="true" lang="en-US" altLang="zh-CN" dirty="false"/>
          </a:p>
          <a:p>
            <a:pPr lvl="1"/>
            <a:endParaRPr kumimoji="true" lang="zh-CN" altLang="en-US" dirty="false"/>
          </a:p>
        </p:txBody>
      </p:sp>
      <p:sp>
        <p:nvSpPr>
          <p:cNvPr id="1030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EF0B01C9-CC9E-4042-87A9-F49D20F0019F}" type="slidenum">
              <a:rPr lang="zh-CN" altLang="en-US" smtClean="false"/>
              <a:t>8</a:t>
            </a:fld>
            <a:endParaRPr lang="en-US" altLang="zh-CN"/>
          </a:p>
        </p:txBody>
      </p:sp>
      <p:pic>
        <p:nvPicPr>
          <p:cNvPr id="1031" name="图片 4"/>
          <p:cNvPicPr>
            <a:picLocks noChangeAspect="true"/>
          </p:cNvPicPr>
          <p:nvPr/>
        </p:nvPicPr>
        <p:blipFill>
          <a:blip r:embed="rId1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2057400" y="2286000"/>
            <a:ext cx="3670300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11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kumimoji="true" lang="en-US" altLang="zh-CN" dirty="false"/>
              <a:t>Overview</a:t>
            </a:r>
            <a:endParaRPr kumimoji="true" lang="zh-CN" altLang="en-US" dirty="false"/>
          </a:p>
        </p:txBody>
      </p:sp>
      <p:sp>
        <p:nvSpPr>
          <p:cNvPr id="1129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/>
            <a:r>
              <a:rPr lang="zh-CN" altLang="en-US" dirty="false"/>
              <a:t>对于其中的</a:t>
            </a:r>
            <a:r>
              <a:rPr lang="en-US" altLang="zh-CN" dirty="false"/>
              <a:t>bounds</a:t>
            </a:r>
            <a:endParaRPr/>
          </a:p>
          <a:p>
            <a:pPr lvl="1"/>
            <a:r>
              <a:rPr lang="zh-CN" altLang="en-US" dirty="false"/>
              <a:t>硬件在访问内存前，首先检查是否越界</a:t>
            </a:r>
            <a:endParaRPr lang="en-US" altLang="zh-CN" dirty="false"/>
          </a:p>
          <a:p>
            <a:pPr lvl="1"/>
            <a:r>
              <a:rPr kumimoji="true" lang="zh-CN" altLang="en-US" dirty="false"/>
              <a:t>如果不越界，正常访问</a:t>
            </a:r>
            <a:endParaRPr kumimoji="true" lang="en-US" altLang="zh-CN" dirty="false"/>
          </a:p>
          <a:p>
            <a:pPr lvl="1"/>
            <a:r>
              <a:rPr lang="zh-CN" altLang="en-US" dirty="false"/>
              <a:t>如果越界，则</a:t>
            </a:r>
            <a:r>
              <a:rPr lang="en-US" altLang="zh-CN" dirty="false"/>
              <a:t>CPU</a:t>
            </a:r>
            <a:r>
              <a:rPr lang="zh-CN" altLang="en-US" dirty="false"/>
              <a:t>会抛出</a:t>
            </a:r>
            <a:r>
              <a:rPr lang="en-US" altLang="zh-CN" dirty="false"/>
              <a:t>exception</a:t>
            </a:r>
            <a:r>
              <a:rPr lang="zh-CN" altLang="en-US" dirty="false"/>
              <a:t>，然后进入</a:t>
            </a:r>
            <a:r>
              <a:rPr lang="en-US" altLang="zh-CN" dirty="false"/>
              <a:t>exception</a:t>
            </a:r>
            <a:r>
              <a:rPr lang="zh-CN" altLang="en-US" dirty="false"/>
              <a:t> </a:t>
            </a:r>
            <a:r>
              <a:rPr lang="en-US" altLang="zh-CN" dirty="false"/>
              <a:t>handler</a:t>
            </a:r>
            <a:r>
              <a:rPr lang="zh-CN" altLang="en-US" dirty="false"/>
              <a:t>的代码</a:t>
            </a:r>
            <a:endParaRPr lang="en-US" altLang="zh-CN" dirty="false"/>
          </a:p>
          <a:p>
            <a:pPr lvl="1"/>
            <a:r>
              <a:rPr kumimoji="true" lang="zh-CN" altLang="en-US" dirty="false"/>
              <a:t>一般该进程会被终止</a:t>
            </a:r>
            <a:endParaRPr/>
          </a:p>
        </p:txBody>
      </p:sp>
      <p:sp>
        <p:nvSpPr>
          <p:cNvPr id="1130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EF0B01C9-CC9E-4042-87A9-F49D20F0019F}" type="slidenum">
              <a:rPr lang="zh-CN" altLang="en-US" smtClean="false"/>
              <a:t>9</a:t>
            </a:fld>
            <a:endParaRPr lang="en-US" altLang="zh-C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8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0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kumimoji="true" lang="en-US" altLang="zh-CN" dirty="false"/>
              <a:t>Overview</a:t>
            </a:r>
            <a:endParaRPr kumimoji="true" lang="zh-CN" altLang="en-US" dirty="false"/>
          </a:p>
        </p:txBody>
      </p:sp>
      <p:sp>
        <p:nvSpPr>
          <p:cNvPr id="1901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/>
            <a:r>
              <a:rPr kumimoji="true" lang="en-US" altLang="zh-CN" dirty="false"/>
              <a:t>Example Translations</a:t>
            </a:r>
            <a:endParaRPr/>
          </a:p>
          <a:p>
            <a:pPr lvl="1"/>
            <a:r>
              <a:rPr lang="en-US" altLang="zh-CN" dirty="false"/>
              <a:t>process</a:t>
            </a:r>
            <a:r>
              <a:rPr lang="zh-CN" altLang="en-US" dirty="false"/>
              <a:t>的地址空间是</a:t>
            </a:r>
            <a:r>
              <a:rPr lang="en-US" altLang="zh-CN" dirty="false"/>
              <a:t>4KB</a:t>
            </a:r>
            <a:endParaRPr/>
          </a:p>
          <a:p>
            <a:pPr lvl="1"/>
            <a:r>
              <a:rPr lang="zh-CN" altLang="en-US" dirty="false"/>
              <a:t>位于物理地址</a:t>
            </a:r>
            <a:r>
              <a:rPr lang="en-US" altLang="zh-CN" dirty="false"/>
              <a:t>16KB</a:t>
            </a:r>
            <a:endParaRPr kumimoji="true" lang="zh-CN" altLang="en-US" dirty="false"/>
          </a:p>
        </p:txBody>
      </p:sp>
      <p:sp>
        <p:nvSpPr>
          <p:cNvPr id="1902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EF0B01C9-CC9E-4042-87A9-F49D20F0019F}" type="slidenum">
              <a:rPr lang="zh-CN" altLang="en-US" smtClean="false"/>
              <a:t>10</a:t>
            </a:fld>
            <a:endParaRPr lang="en-US" altLang="zh-CN"/>
          </a:p>
        </p:txBody>
      </p:sp>
      <p:pic>
        <p:nvPicPr>
          <p:cNvPr id="1903" name="图片 4"/>
          <p:cNvPicPr>
            <a:picLocks noChangeAspect="true"/>
          </p:cNvPicPr>
          <p:nvPr/>
        </p:nvPicPr>
        <p:blipFill>
          <a:blip r:embed="rId1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990600" y="3581400"/>
            <a:ext cx="6362700" cy="1498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30"/>
          <p:cNvSpPr>
            <a:spLocks noGrp="true" noChangeArrowheads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E7B7DA43-96DB-7E4A-A97B-E0F2190F5788}" type="slidenum">
              <a:rPr lang="zh-CN" altLang="en-US" sz="1400" b="false">
                <a:latin typeface="Times New Roman" panose="02020603050405020304" charset="0"/>
              </a:rPr>
              <a:t>11</a:t>
            </a:fld>
            <a:endParaRPr lang="en-US" altLang="zh-CN" sz="1400" b="false">
              <a:latin typeface="Times New Roman" panose="02020603050405020304" charset="0"/>
            </a:endParaRPr>
          </a:p>
        </p:txBody>
      </p:sp>
      <p:sp>
        <p:nvSpPr>
          <p:cNvPr id="6" name="Rectangle 2"/>
          <p:cNvSpPr>
            <a:spLocks noGrp="true" noChangeArrowheads="true"/>
          </p:cNvSpPr>
          <p:nvPr>
            <p:ph type="ctrTitle"/>
          </p:nvPr>
        </p:nvSpPr>
        <p:spPr>
          <a:xfrm>
            <a:off x="685800" y="2133600"/>
            <a:ext cx="7772400" cy="1828800"/>
          </a:xfrm>
        </p:spPr>
        <p:txBody>
          <a:bodyPr/>
          <a:lstStyle/>
          <a:p>
            <a:pPr/>
            <a:r>
              <a:rPr lang="en-US" sz="3200">
                <a:latin typeface="Comic Sans MS"/>
                <a:ea typeface="宋体"/>
                <a:cs typeface="宋体"/>
              </a:rPr>
              <a:t>Segmentation</a:t>
            </a:r>
            <a:endParaRPr/>
          </a:p>
          <a:p>
            <a:pPr/>
            <a:r>
              <a:rPr lang="en-US" sz="3200">
                <a:latin typeface="Comic Sans MS"/>
                <a:ea typeface="宋体"/>
                <a:cs typeface="宋体"/>
              </a:rPr>
              <a:t>(OSTEP Section 16)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 dirty="false">
                <a:ea typeface="宋体" charset="-122"/>
              </a:rPr>
              <a:t>Segmentation</a:t>
            </a:r>
            <a:endParaRPr kumimoji="true" lang="zh-CN" altLang="en-US" dirty="false"/>
          </a:p>
        </p:txBody>
      </p:sp>
      <p:sp>
        <p:nvSpPr>
          <p:cNvPr id="52" name="内容占位符 2"/>
          <p:cNvSpPr>
            <a:spLocks noGrp="true"/>
          </p:cNvSpPr>
          <p:nvPr>
            <p:ph idx="1"/>
          </p:nvPr>
        </p:nvSpPr>
        <p:spPr>
          <a:xfrm>
            <a:off x="457200" y="1600200"/>
            <a:ext cx="5410200" cy="4419600"/>
          </a:xfrm>
        </p:spPr>
        <p:txBody>
          <a:bodyPr/>
          <a:lstStyle/>
          <a:p>
            <a:pPr>
              <a:buChar char="•"/>
            </a:pPr>
            <a:r>
              <a:rPr lang="zh-CN"/>
              <a:t>前面所述</a:t>
            </a:r>
            <a:r>
              <a:rPr lang="en-US"/>
              <a:t>base-bounds</a:t>
            </a:r>
            <a:r>
              <a:rPr lang="zh-CN"/>
              <a:t>方法的问题</a:t>
            </a:r>
            <a:endParaRPr lang="en-US"/>
          </a:p>
          <a:p>
            <a:pPr lvl="1">
              <a:buChar char="–"/>
            </a:pPr>
            <a:r>
              <a:rPr lang="en-US"/>
              <a:t>heap</a:t>
            </a:r>
            <a:r>
              <a:rPr lang="zh-CN"/>
              <a:t>和</a:t>
            </a:r>
            <a:r>
              <a:rPr lang="en-US"/>
              <a:t>stack</a:t>
            </a:r>
            <a:r>
              <a:rPr lang="zh-CN"/>
              <a:t>区域之间的未使用空间也要占用物理内存</a:t>
            </a:r>
            <a:endParaRPr lang="en-US"/>
          </a:p>
          <a:p>
            <a:pPr lvl="1">
              <a:buChar char="–"/>
            </a:pPr>
            <a:r>
              <a:rPr lang="zh-CN"/>
              <a:t>严重浪费</a:t>
            </a:r>
            <a:endParaRPr lang="zh-CN"/>
          </a:p>
        </p:txBody>
      </p:sp>
      <p:sp>
        <p:nvSpPr>
          <p:cNvPr id="53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EF0B01C9-CC9E-4042-87A9-F49D20F0019F}" type="slidenum">
              <a:rPr lang="zh-CN" altLang="en-US" smtClean="false"/>
              <a:t>12</a:t>
            </a:fld>
            <a:endParaRPr lang="en-US" altLang="zh-CN"/>
          </a:p>
        </p:txBody>
      </p:sp>
      <p:pic>
        <p:nvPicPr>
          <p:cNvPr id="54" name="图片 4"/>
          <p:cNvPicPr>
            <a:picLocks noChangeAspect="true"/>
          </p:cNvPicPr>
          <p:nvPr/>
        </p:nvPicPr>
        <p:blipFill>
          <a:blip r:embed="rId1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5943600" y="1829602"/>
            <a:ext cx="2984976" cy="434981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 dirty="false">
                <a:ea typeface="宋体" charset="-122"/>
              </a:rPr>
              <a:t>Segmentation</a:t>
            </a:r>
            <a:endParaRPr kumimoji="true" lang="zh-CN" altLang="en-US" dirty="false"/>
          </a:p>
        </p:txBody>
      </p:sp>
      <p:sp>
        <p:nvSpPr>
          <p:cNvPr id="175" name="内容占位符 2"/>
          <p:cNvSpPr>
            <a:spLocks noGrp="true"/>
          </p:cNvSpPr>
          <p:nvPr>
            <p:ph idx="1"/>
          </p:nvPr>
        </p:nvSpPr>
        <p:spPr>
          <a:xfrm>
            <a:off x="457200" y="1600200"/>
            <a:ext cx="5181600" cy="4419600"/>
          </a:xfrm>
        </p:spPr>
        <p:txBody>
          <a:bodyPr/>
          <a:lstStyle/>
          <a:p>
            <a:pPr>
              <a:buChar char="•"/>
            </a:pPr>
            <a:r>
              <a:rPr lang="zh-CN"/>
              <a:t>解决思路</a:t>
            </a:r>
            <a:endParaRPr lang="en-US"/>
          </a:p>
          <a:p>
            <a:pPr lvl="1">
              <a:buChar char="–"/>
            </a:pPr>
            <a:r>
              <a:rPr lang="zh-CN"/>
              <a:t>不再把整个</a:t>
            </a:r>
            <a:r>
              <a:rPr lang="en-US"/>
              <a:t>process</a:t>
            </a:r>
            <a:r>
              <a:rPr lang="zh-CN"/>
              <a:t>的内存空间映射为一段连续的物理内存</a:t>
            </a:r>
            <a:endParaRPr/>
          </a:p>
          <a:p>
            <a:pPr lvl="1">
              <a:buChar char="–"/>
            </a:pPr>
            <a:r>
              <a:rPr lang="zh-CN"/>
              <a:t>而是每个区域分别进行映射</a:t>
            </a:r>
            <a:endParaRPr lang="en-US"/>
          </a:p>
          <a:p>
            <a:pPr lvl="2">
              <a:buChar char="•"/>
            </a:pPr>
            <a:r>
              <a:rPr lang="en-US"/>
              <a:t>Code</a:t>
            </a:r>
            <a:endParaRPr/>
          </a:p>
          <a:p>
            <a:pPr lvl="2">
              <a:buChar char="•"/>
            </a:pPr>
            <a:r>
              <a:rPr lang="en-US"/>
              <a:t>Heap</a:t>
            </a:r>
            <a:endParaRPr/>
          </a:p>
          <a:p>
            <a:pPr lvl="2">
              <a:buChar char="•"/>
            </a:pPr>
            <a:r>
              <a:rPr lang="en-US"/>
              <a:t>Stack</a:t>
            </a:r>
            <a:endParaRPr/>
          </a:p>
          <a:p>
            <a:pPr lvl="2">
              <a:buChar char="•"/>
            </a:pPr>
            <a:endParaRPr lang="zh-CN"/>
          </a:p>
        </p:txBody>
      </p:sp>
      <p:sp>
        <p:nvSpPr>
          <p:cNvPr id="176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EF0B01C9-CC9E-4042-87A9-F49D20F0019F}" type="slidenum">
              <a:rPr lang="zh-CN" altLang="en-US" smtClean="false"/>
              <a:t>13</a:t>
            </a:fld>
            <a:endParaRPr lang="en-US" altLang="zh-CN"/>
          </a:p>
        </p:txBody>
      </p:sp>
      <p:pic>
        <p:nvPicPr>
          <p:cNvPr id="177" name="图片 4"/>
          <p:cNvPicPr>
            <a:picLocks noChangeAspect="true"/>
          </p:cNvPicPr>
          <p:nvPr/>
        </p:nvPicPr>
        <p:blipFill>
          <a:blip r:embed="rId1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3247839" y="3336214"/>
            <a:ext cx="2311400" cy="3521786"/>
          </a:xfrm>
          <a:prstGeom prst="rect">
            <a:avLst/>
          </a:prstGeom>
        </p:spPr>
      </p:pic>
      <p:pic>
        <p:nvPicPr>
          <p:cNvPr id="178" name="图片 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6558242" y="685800"/>
            <a:ext cx="2047315" cy="6172200"/>
          </a:xfrm>
          <a:prstGeom prst="rect">
            <a:avLst/>
          </a:prstGeom>
        </p:spPr>
      </p:pic>
      <p:sp>
        <p:nvSpPr>
          <p:cNvPr id="179" name="矩形 6"/>
          <p:cNvSpPr/>
          <p:nvPr/>
        </p:nvSpPr>
        <p:spPr>
          <a:xfrm>
            <a:off x="5496984" y="5894457"/>
            <a:ext cx="118974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/>
            <a:r>
              <a:rPr kumimoji="true" lang="en-US" altLang="zh-CN" dirty="false"/>
              <a:t>Virtual </a:t>
            </a:r>
            <a:endParaRPr/>
          </a:p>
          <a:p>
            <a:pPr/>
            <a:r>
              <a:rPr kumimoji="true" lang="en-US" altLang="zh-CN" dirty="false"/>
              <a:t>Address</a:t>
            </a:r>
            <a:endParaRPr lang="zh-CN" altLang="en-US" dirty="false"/>
          </a:p>
        </p:txBody>
      </p:sp>
      <p:sp>
        <p:nvSpPr>
          <p:cNvPr id="180" name="矩形 7"/>
          <p:cNvSpPr/>
          <p:nvPr/>
        </p:nvSpPr>
        <p:spPr>
          <a:xfrm>
            <a:off x="2058090" y="6008571"/>
            <a:ext cx="118974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/>
            <a:r>
              <a:rPr kumimoji="true" lang="en-US" altLang="zh-CN" dirty="false"/>
              <a:t>Physical</a:t>
            </a:r>
            <a:endParaRPr/>
          </a:p>
          <a:p>
            <a:pPr/>
            <a:r>
              <a:rPr kumimoji="true" lang="en-US" altLang="zh-CN" dirty="false"/>
              <a:t>Address</a:t>
            </a:r>
            <a:endParaRPr lang="zh-CN" altLang="en-US" dirty="false"/>
          </a:p>
        </p:txBody>
      </p:sp>
      <p:cxnSp>
        <p:nvCxnSpPr>
          <p:cNvPr id="181" name=""/>
          <p:cNvCxnSpPr/>
          <p:nvPr/>
        </p:nvCxnSpPr>
        <p:spPr>
          <a:xfrm rot="0" flipH="true" flipV="false">
            <a:off x="5218611" y="1423851"/>
            <a:ext cx="2050868" cy="3716382"/>
          </a:xfrm>
          <a:prstGeom prst="straightConnector1"/>
          <a:ln w="25400">
            <a:solidFill>
              <a:srgbClr val="ff0000">
                <a:alpha val="100000"/>
              </a:srgbClr>
            </a:solidFill>
            <a:prstDash val="solid"/>
            <a:headEnd/>
            <a:tailEnd type="triangle"/>
          </a:ln>
        </p:spPr>
      </p:cxnSp>
      <p:cxnSp>
        <p:nvCxnSpPr>
          <p:cNvPr id="182" name=""/>
          <p:cNvCxnSpPr/>
          <p:nvPr/>
        </p:nvCxnSpPr>
        <p:spPr>
          <a:xfrm rot="0" flipH="true" flipV="false">
            <a:off x="5218611" y="2749731"/>
            <a:ext cx="2011680" cy="2508068"/>
          </a:xfrm>
          <a:prstGeom prst="straightConnector1"/>
          <a:ln w="25400">
            <a:solidFill>
              <a:srgbClr val="ff0000">
                <a:alpha val="100000"/>
              </a:srgbClr>
            </a:solidFill>
            <a:prstDash val="solid"/>
            <a:headEnd/>
            <a:tailEnd type="triangle"/>
          </a:ln>
        </p:spPr>
      </p:cxnSp>
      <p:cxnSp>
        <p:nvCxnSpPr>
          <p:cNvPr id="183" name=""/>
          <p:cNvCxnSpPr/>
          <p:nvPr/>
        </p:nvCxnSpPr>
        <p:spPr>
          <a:xfrm rot="0" flipH="true" flipV="true">
            <a:off x="5205549" y="4852851"/>
            <a:ext cx="2024742" cy="1143000"/>
          </a:xfrm>
          <a:prstGeom prst="straightConnector1"/>
          <a:ln w="25400">
            <a:solidFill>
              <a:srgbClr val="ff0000">
                <a:alpha val="100000"/>
              </a:srgbClr>
            </a:solidFill>
            <a:prstDash val="solid"/>
            <a:headEnd/>
            <a:tailEnd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 dirty="false">
                <a:ea typeface="宋体" charset="-122"/>
              </a:rPr>
              <a:t>Segmentation</a:t>
            </a:r>
            <a:endParaRPr kumimoji="true" lang="zh-CN" altLang="en-US" dirty="false"/>
          </a:p>
        </p:txBody>
      </p:sp>
      <p:sp>
        <p:nvSpPr>
          <p:cNvPr id="219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>
              <a:buChar char="•"/>
            </a:pPr>
            <a:r>
              <a:rPr lang="en-US"/>
              <a:t>Example 1</a:t>
            </a:r>
            <a:r>
              <a:rPr lang="zh-CN"/>
              <a:t>：</a:t>
            </a:r>
            <a:r>
              <a:rPr lang="en-US"/>
              <a:t>VA=100</a:t>
            </a:r>
            <a:endParaRPr lang="en-US"/>
          </a:p>
          <a:p>
            <a:pPr lvl="1">
              <a:buChar char="–"/>
            </a:pPr>
            <a:r>
              <a:rPr lang="zh-CN"/>
              <a:t>在</a:t>
            </a:r>
            <a:r>
              <a:rPr lang="en-US"/>
              <a:t>Code</a:t>
            </a:r>
            <a:r>
              <a:rPr lang="zh-CN"/>
              <a:t>区域</a:t>
            </a:r>
            <a:endParaRPr/>
          </a:p>
          <a:p>
            <a:pPr lvl="1">
              <a:buChar char="–"/>
            </a:pPr>
            <a:r>
              <a:rPr lang="en-US"/>
              <a:t>PA=32K+100=32868</a:t>
            </a:r>
            <a:endParaRPr/>
          </a:p>
          <a:p>
            <a:pPr>
              <a:buChar char="•"/>
            </a:pPr>
            <a:r>
              <a:rPr lang="en-US"/>
              <a:t>Example 2: VA=7K</a:t>
            </a:r>
            <a:endParaRPr/>
          </a:p>
          <a:p>
            <a:pPr lvl="1">
              <a:buChar char="–"/>
            </a:pPr>
            <a:r>
              <a:rPr lang="zh-CN"/>
              <a:t>不在任何一个</a:t>
            </a:r>
            <a:r>
              <a:rPr lang="en-US"/>
              <a:t>segment</a:t>
            </a:r>
            <a:r>
              <a:rPr lang="zh-CN"/>
              <a:t>内</a:t>
            </a:r>
            <a:endParaRPr lang="en-US"/>
          </a:p>
          <a:p>
            <a:pPr lvl="1">
              <a:buChar char="–"/>
            </a:pPr>
            <a:r>
              <a:rPr lang="en-US"/>
              <a:t>Segmentation fault</a:t>
            </a:r>
            <a:endParaRPr lang="zh-CN"/>
          </a:p>
        </p:txBody>
      </p:sp>
      <p:sp>
        <p:nvSpPr>
          <p:cNvPr id="220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EF0B01C9-CC9E-4042-87A9-F49D20F0019F}" type="slidenum">
              <a:rPr lang="zh-CN" altLang="en-US" smtClean="false"/>
              <a:t>14</a:t>
            </a:fld>
            <a:endParaRPr lang="en-US" altLang="zh-CN"/>
          </a:p>
        </p:txBody>
      </p:sp>
      <p:pic>
        <p:nvPicPr>
          <p:cNvPr id="221" name="图片 4"/>
          <p:cNvPicPr>
            <a:picLocks noChangeAspect="true"/>
          </p:cNvPicPr>
          <p:nvPr/>
        </p:nvPicPr>
        <p:blipFill>
          <a:blip r:embed="rId1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914400" y="4895850"/>
            <a:ext cx="2993907" cy="1276350"/>
          </a:xfrm>
          <a:prstGeom prst="rect">
            <a:avLst/>
          </a:prstGeom>
        </p:spPr>
      </p:pic>
      <p:pic>
        <p:nvPicPr>
          <p:cNvPr id="222" name="图片 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6877242" y="457200"/>
            <a:ext cx="2047315" cy="6172200"/>
          </a:xfrm>
          <a:prstGeom prst="rect">
            <a:avLst/>
          </a:prstGeom>
        </p:spPr>
      </p:pic>
      <p:pic>
        <p:nvPicPr>
          <p:cNvPr id="223" name="图片 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4734656" y="3134957"/>
            <a:ext cx="2311400" cy="352178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 dirty="false">
                <a:ea typeface="宋体" charset="-122"/>
              </a:rPr>
              <a:t>Segmentation</a:t>
            </a:r>
            <a:endParaRPr kumimoji="true" lang="zh-CN" altLang="en-US" dirty="false"/>
          </a:p>
        </p:txBody>
      </p:sp>
      <p:sp>
        <p:nvSpPr>
          <p:cNvPr id="226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>
              <a:buChar char="•"/>
            </a:pPr>
            <a:r>
              <a:rPr lang="en-US"/>
              <a:t>Example 3: VA=4200</a:t>
            </a:r>
            <a:endParaRPr/>
          </a:p>
          <a:p>
            <a:pPr lvl="1">
              <a:buChar char="–"/>
            </a:pPr>
            <a:r>
              <a:rPr lang="zh-CN"/>
              <a:t>在</a:t>
            </a:r>
            <a:r>
              <a:rPr lang="en-US"/>
              <a:t>Heap</a:t>
            </a:r>
            <a:r>
              <a:rPr lang="zh-CN"/>
              <a:t>区域</a:t>
            </a:r>
            <a:endParaRPr/>
          </a:p>
          <a:p>
            <a:pPr lvl="1">
              <a:buChar char="–"/>
            </a:pPr>
            <a:r>
              <a:rPr lang="en-US"/>
              <a:t>VA=4K+104=heap</a:t>
            </a:r>
            <a:r>
              <a:rPr lang="zh-CN"/>
              <a:t>区域偏移</a:t>
            </a:r>
            <a:r>
              <a:rPr lang="en-US"/>
              <a:t>104</a:t>
            </a:r>
            <a:endParaRPr/>
          </a:p>
          <a:p>
            <a:pPr lvl="2">
              <a:buChar char="•"/>
            </a:pPr>
            <a:r>
              <a:rPr lang="en-US"/>
              <a:t>&lt;2K (size)</a:t>
            </a:r>
            <a:r>
              <a:rPr lang="zh-CN"/>
              <a:t>，合法</a:t>
            </a:r>
            <a:endParaRPr/>
          </a:p>
          <a:p>
            <a:pPr lvl="1">
              <a:buChar char="–"/>
            </a:pPr>
            <a:r>
              <a:rPr lang="en-US"/>
              <a:t>PA=34K+104=34920</a:t>
            </a:r>
            <a:endParaRPr lang="zh-CN"/>
          </a:p>
        </p:txBody>
      </p:sp>
      <p:sp>
        <p:nvSpPr>
          <p:cNvPr id="227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EF0B01C9-CC9E-4042-87A9-F49D20F0019F}" type="slidenum">
              <a:rPr lang="zh-CN" altLang="en-US" smtClean="false"/>
              <a:t>15</a:t>
            </a:fld>
            <a:endParaRPr lang="en-US" altLang="zh-CN"/>
          </a:p>
        </p:txBody>
      </p:sp>
      <p:pic>
        <p:nvPicPr>
          <p:cNvPr id="228" name="图片 4"/>
          <p:cNvPicPr>
            <a:picLocks noChangeAspect="true"/>
          </p:cNvPicPr>
          <p:nvPr/>
        </p:nvPicPr>
        <p:blipFill>
          <a:blip r:embed="rId1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914400" y="4895850"/>
            <a:ext cx="2993907" cy="1276350"/>
          </a:xfrm>
          <a:prstGeom prst="rect">
            <a:avLst/>
          </a:prstGeom>
        </p:spPr>
      </p:pic>
      <p:pic>
        <p:nvPicPr>
          <p:cNvPr id="229" name="图片 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4734656" y="3134957"/>
            <a:ext cx="2311400" cy="3521786"/>
          </a:xfrm>
          <a:prstGeom prst="rect">
            <a:avLst/>
          </a:prstGeom>
        </p:spPr>
      </p:pic>
      <p:pic>
        <p:nvPicPr>
          <p:cNvPr id="230" name="图片 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6848747" y="457200"/>
            <a:ext cx="2047315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 dirty="false">
                <a:ea typeface="宋体" charset="-122"/>
              </a:rPr>
              <a:t>Segmentation</a:t>
            </a:r>
            <a:endParaRPr kumimoji="true" lang="zh-CN" altLang="en-US" dirty="false"/>
          </a:p>
        </p:txBody>
      </p:sp>
      <p:sp>
        <p:nvSpPr>
          <p:cNvPr id="233" name="内容占位符 2"/>
          <p:cNvSpPr>
            <a:spLocks noGrp="true"/>
          </p:cNvSpPr>
          <p:nvPr>
            <p:ph idx="1"/>
          </p:nvPr>
        </p:nvSpPr>
        <p:spPr>
          <a:xfrm>
            <a:off x="457200" y="1600200"/>
            <a:ext cx="6172200" cy="4419600"/>
          </a:xfrm>
        </p:spPr>
        <p:txBody>
          <a:bodyPr/>
          <a:lstStyle/>
          <a:p>
            <a:pPr>
              <a:buChar char="•"/>
            </a:pPr>
            <a:r>
              <a:rPr lang="zh-CN"/>
              <a:t>以上例子中是人工计算</a:t>
            </a:r>
            <a:r>
              <a:rPr lang="en-US"/>
              <a:t>VA-&gt;</a:t>
            </a:r>
            <a:r>
              <a:rPr lang="en-US"/>
              <a:t>PA</a:t>
            </a:r>
            <a:endParaRPr lang="en-US"/>
          </a:p>
          <a:p>
            <a:pPr>
              <a:buChar char="•"/>
            </a:pPr>
            <a:r>
              <a:rPr lang="zh-CN"/>
              <a:t>那么</a:t>
            </a:r>
            <a:r>
              <a:rPr lang="en-US"/>
              <a:t>CPU</a:t>
            </a:r>
            <a:r>
              <a:rPr lang="zh-CN"/>
              <a:t>拿到一个</a:t>
            </a:r>
            <a:r>
              <a:rPr lang="en-US"/>
              <a:t>VA</a:t>
            </a:r>
            <a:r>
              <a:rPr lang="zh-CN"/>
              <a:t>，怎么知道它是属于那个</a:t>
            </a:r>
            <a:r>
              <a:rPr lang="en-US"/>
              <a:t>segment</a:t>
            </a:r>
            <a:r>
              <a:rPr lang="zh-CN"/>
              <a:t>呢？</a:t>
            </a:r>
            <a:endParaRPr/>
          </a:p>
        </p:txBody>
      </p:sp>
      <p:sp>
        <p:nvSpPr>
          <p:cNvPr id="234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EF0B01C9-CC9E-4042-87A9-F49D20F0019F}" type="slidenum">
              <a:rPr lang="zh-CN" altLang="en-US" smtClean="false"/>
              <a:t>16</a:t>
            </a:fld>
            <a:endParaRPr lang="en-US" altLang="zh-CN"/>
          </a:p>
        </p:txBody>
      </p:sp>
      <p:pic>
        <p:nvPicPr>
          <p:cNvPr id="235" name="图片 4"/>
          <p:cNvPicPr>
            <a:picLocks noChangeAspect="true"/>
          </p:cNvPicPr>
          <p:nvPr/>
        </p:nvPicPr>
        <p:blipFill>
          <a:blip r:embed="rId1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914400" y="4895850"/>
            <a:ext cx="2993907" cy="1276350"/>
          </a:xfrm>
          <a:prstGeom prst="rect">
            <a:avLst/>
          </a:prstGeom>
        </p:spPr>
      </p:pic>
      <p:pic>
        <p:nvPicPr>
          <p:cNvPr id="236" name="图片 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4734656" y="3134957"/>
            <a:ext cx="2311400" cy="3521786"/>
          </a:xfrm>
          <a:prstGeom prst="rect">
            <a:avLst/>
          </a:prstGeom>
        </p:spPr>
      </p:pic>
      <p:pic>
        <p:nvPicPr>
          <p:cNvPr id="237" name="图片 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6848747" y="457200"/>
            <a:ext cx="2047315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 dirty="false">
                <a:ea typeface="宋体" charset="-122"/>
              </a:rPr>
              <a:t>Segmentation</a:t>
            </a:r>
            <a:endParaRPr kumimoji="true" lang="zh-CN" altLang="en-US" dirty="false"/>
          </a:p>
        </p:txBody>
      </p:sp>
      <p:sp>
        <p:nvSpPr>
          <p:cNvPr id="240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>
              <a:buChar char="•"/>
            </a:pPr>
            <a:r>
              <a:rPr lang="en-US"/>
              <a:t>#1. explicit approach</a:t>
            </a:r>
            <a:endParaRPr/>
          </a:p>
          <a:p>
            <a:pPr lvl="1">
              <a:buChar char="–"/>
            </a:pPr>
            <a:r>
              <a:rPr lang="zh-CN"/>
              <a:t>在</a:t>
            </a:r>
            <a:r>
              <a:rPr lang="en-US"/>
              <a:t>VA</a:t>
            </a:r>
            <a:r>
              <a:rPr lang="zh-CN"/>
              <a:t>中预留几个</a:t>
            </a:r>
            <a:r>
              <a:rPr lang="en-US"/>
              <a:t>bits</a:t>
            </a:r>
            <a:r>
              <a:rPr lang="zh-CN"/>
              <a:t>标记属于哪个</a:t>
            </a:r>
            <a:r>
              <a:rPr lang="en-US"/>
              <a:t>segment</a:t>
            </a:r>
            <a:endParaRPr/>
          </a:p>
          <a:p>
            <a:pPr lvl="1">
              <a:buChar char="–"/>
            </a:pPr>
            <a:r>
              <a:rPr lang="zh-CN"/>
              <a:t>例如</a:t>
            </a:r>
            <a:r>
              <a:rPr lang="en-US"/>
              <a:t>VAX/VMS</a:t>
            </a:r>
            <a:r>
              <a:rPr lang="zh-CN"/>
              <a:t>系统</a:t>
            </a:r>
            <a:endParaRPr lang="en-US"/>
          </a:p>
          <a:p>
            <a:pPr lvl="1">
              <a:buChar char="–"/>
            </a:pPr>
            <a:r>
              <a:rPr lang="zh-CN"/>
              <a:t>如果有</a:t>
            </a:r>
            <a:r>
              <a:rPr lang="en-US"/>
              <a:t>3</a:t>
            </a:r>
            <a:r>
              <a:rPr lang="zh-CN"/>
              <a:t>个</a:t>
            </a:r>
            <a:r>
              <a:rPr lang="en-US"/>
              <a:t>segment</a:t>
            </a:r>
            <a:r>
              <a:rPr lang="zh-CN"/>
              <a:t>，那么需要</a:t>
            </a:r>
            <a:r>
              <a:rPr lang="en-US"/>
              <a:t>2</a:t>
            </a:r>
            <a:r>
              <a:rPr lang="zh-CN"/>
              <a:t>个</a:t>
            </a:r>
            <a:r>
              <a:rPr lang="en-US"/>
              <a:t>bits</a:t>
            </a:r>
            <a:endParaRPr/>
          </a:p>
          <a:p>
            <a:pPr lvl="2">
              <a:buChar char="•"/>
            </a:pPr>
            <a:r>
              <a:rPr lang="zh-CN"/>
              <a:t>最高两位</a:t>
            </a:r>
            <a:r>
              <a:rPr lang="en-US"/>
              <a:t>00-&gt;code;</a:t>
            </a:r>
            <a:r>
              <a:rPr lang="en-US"/>
              <a:t>01-&gt;heap; </a:t>
            </a:r>
            <a:r>
              <a:rPr lang="en-US"/>
              <a:t>1x-&gt;stack</a:t>
            </a:r>
            <a:endParaRPr/>
          </a:p>
        </p:txBody>
      </p:sp>
      <p:sp>
        <p:nvSpPr>
          <p:cNvPr id="241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EF0B01C9-CC9E-4042-87A9-F49D20F0019F}" type="slidenum">
              <a:rPr lang="zh-CN" altLang="en-US" smtClean="false"/>
              <a:t>17</a:t>
            </a:fld>
            <a:endParaRPr lang="en-US" altLang="zh-CN"/>
          </a:p>
        </p:txBody>
      </p:sp>
      <p:pic>
        <p:nvPicPr>
          <p:cNvPr id="242" name="图片 4"/>
          <p:cNvPicPr>
            <a:picLocks noChangeAspect="true"/>
          </p:cNvPicPr>
          <p:nvPr/>
        </p:nvPicPr>
        <p:blipFill>
          <a:blip r:embed="rId1">
            <a:extLst>
              <a:ext uri="{28A0092B-C50C-407E-A947-70E740481C1C}"/>
            </a:extLst>
          </a:blip>
          <a:stretch>
            <a:fillRect/>
          </a:stretch>
        </p:blipFill>
        <p:spPr>
          <a:xfrm rot="0" flipH="false" flipV="false">
            <a:off x="1926313" y="4335350"/>
            <a:ext cx="4635500" cy="11811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VAX/VMS</a:t>
            </a:r>
            <a:endParaRPr lang="zh-CN"/>
          </a:p>
        </p:txBody>
      </p:sp>
      <p:sp>
        <p:nvSpPr>
          <p:cNvPr id="245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>
              <a:buChar char="•"/>
            </a:pPr>
            <a:r>
              <a:rPr lang="en-US" sz="2400"/>
              <a:t>VAX/VMS (Virtual Address eXtension/Virtual Memory System) </a:t>
            </a:r>
            <a:r>
              <a:rPr lang="zh-CN" sz="2400"/>
              <a:t>是</a:t>
            </a:r>
            <a:r>
              <a:rPr lang="en-US" sz="2400"/>
              <a:t>DEC</a:t>
            </a:r>
            <a:r>
              <a:rPr lang="zh-CN" sz="2400"/>
              <a:t>公司研发的一个支持多任务和虚拟内存的操作系统，运行在其研发的</a:t>
            </a:r>
            <a:r>
              <a:rPr lang="en-US" sz="2400"/>
              <a:t>VAX</a:t>
            </a:r>
            <a:r>
              <a:rPr lang="zh-CN" sz="2400"/>
              <a:t>小型机上</a:t>
            </a:r>
            <a:endParaRPr/>
          </a:p>
          <a:p>
            <a:pPr>
              <a:buChar char="•"/>
            </a:pPr>
            <a:r>
              <a:rPr lang="en-US" sz="2400"/>
              <a:t>DEC 1998</a:t>
            </a:r>
            <a:r>
              <a:rPr lang="zh-CN" sz="2400"/>
              <a:t>年被</a:t>
            </a:r>
            <a:r>
              <a:rPr lang="en-US" sz="2400"/>
              <a:t>Compaq</a:t>
            </a:r>
            <a:r>
              <a:rPr lang="zh-CN" sz="2400"/>
              <a:t>收购，</a:t>
            </a:r>
            <a:r>
              <a:rPr lang="en-US" sz="2400"/>
              <a:t>Compaq 2002</a:t>
            </a:r>
            <a:r>
              <a:rPr lang="zh-CN" sz="2400"/>
              <a:t>年被</a:t>
            </a:r>
            <a:r>
              <a:rPr lang="en-US" sz="2400"/>
              <a:t>HP</a:t>
            </a:r>
            <a:r>
              <a:rPr lang="zh-CN" sz="2400"/>
              <a:t>收购</a:t>
            </a:r>
            <a:endParaRPr/>
          </a:p>
          <a:p>
            <a:pPr>
              <a:buChar char="•"/>
            </a:pPr>
            <a:endParaRPr lang="en-US" sz="2400"/>
          </a:p>
          <a:p>
            <a:pPr>
              <a:buChar char="•"/>
            </a:pPr>
            <a:r>
              <a:rPr lang="en-US" sz="2400"/>
              <a:t>VAX</a:t>
            </a:r>
            <a:r>
              <a:rPr lang="zh-CN" sz="2400"/>
              <a:t>前身是</a:t>
            </a:r>
            <a:r>
              <a:rPr lang="en-US" sz="2400"/>
              <a:t>PDP</a:t>
            </a:r>
            <a:r>
              <a:rPr lang="zh-CN" sz="2400"/>
              <a:t>小型机，</a:t>
            </a:r>
            <a:r>
              <a:rPr lang="en-US" sz="2400"/>
              <a:t>Unix</a:t>
            </a:r>
            <a:r>
              <a:rPr lang="zh-CN" sz="2400"/>
              <a:t>最早就是在</a:t>
            </a:r>
            <a:r>
              <a:rPr lang="en-US" sz="2400"/>
              <a:t>PDP-11</a:t>
            </a:r>
            <a:r>
              <a:rPr lang="zh-CN" sz="2400"/>
              <a:t>上开发的</a:t>
            </a:r>
            <a:endParaRPr/>
          </a:p>
        </p:txBody>
      </p:sp>
      <p:sp>
        <p:nvSpPr>
          <p:cNvPr id="246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EF0B01C9-CC9E-4042-87A9-F49D20F0019F}" type="slidenum">
              <a:rPr lang="zh-CN" altLang="en-US" smtClean="false"/>
              <a:t>17</a:t>
            </a:fld>
            <a:endParaRPr lang="en-US" altLang="zh-CN"/>
          </a:p>
        </p:txBody>
      </p:sp>
      <p:sp>
        <p:nvSpPr>
          <p:cNvPr id="247" name=""/>
          <p:cNvSpPr txBox="true"/>
          <p:nvPr/>
        </p:nvSpPr>
        <p:spPr>
          <a:xfrm rot="0" flipH="false" flipV="false">
            <a:off x="457200" y="176348"/>
            <a:ext cx="1193800" cy="393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zh-CN">
                <a:solidFill>
                  <a:schemeClr val="bg1">
                    <a:lumMod val="65000"/>
                    <a:alpha val="100000"/>
                  </a:schemeClr>
                </a:solidFill>
              </a:rPr>
              <a:t>扩展内容</a:t>
            </a:r>
            <a:endParaRPr/>
          </a:p>
        </p:txBody>
      </p:sp>
      <p:pic>
        <p:nvPicPr>
          <p:cNvPr id="248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 rot="0" flipH="false" flipV="false">
            <a:off x="1054100" y="4226560"/>
            <a:ext cx="3127204" cy="2174240"/>
          </a:xfrm>
          <a:prstGeom prst="rect"/>
        </p:spPr>
      </p:pic>
      <p:sp>
        <p:nvSpPr>
          <p:cNvPr id="249" name=""/>
          <p:cNvSpPr txBox="true"/>
          <p:nvPr/>
        </p:nvSpPr>
        <p:spPr>
          <a:xfrm rot="0" flipH="false" flipV="false">
            <a:off x="4368800" y="5012327"/>
            <a:ext cx="3575050" cy="393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en-US"/>
              <a:t>PDP-11/20 at EPFL, 1970s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 dirty="false">
                <a:ea typeface="宋体" charset="-122"/>
              </a:rPr>
              <a:t>Segmentation</a:t>
            </a:r>
            <a:endParaRPr kumimoji="true" lang="zh-CN" altLang="en-US" dirty="false"/>
          </a:p>
        </p:txBody>
      </p:sp>
      <p:sp>
        <p:nvSpPr>
          <p:cNvPr id="252" name="内容占位符 2"/>
          <p:cNvSpPr>
            <a:spLocks noGrp="true"/>
          </p:cNvSpPr>
          <p:nvPr>
            <p:ph idx="1"/>
          </p:nvPr>
        </p:nvSpPr>
        <p:spPr>
          <a:xfrm>
            <a:off x="457200" y="1600200"/>
            <a:ext cx="6223000" cy="4419600"/>
          </a:xfrm>
        </p:spPr>
        <p:txBody>
          <a:bodyPr/>
          <a:lstStyle/>
          <a:p>
            <a:pPr>
              <a:buChar char="•"/>
            </a:pPr>
            <a:r>
              <a:rPr lang="en-US"/>
              <a:t>14</a:t>
            </a:r>
            <a:r>
              <a:rPr lang="zh-CN"/>
              <a:t>位</a:t>
            </a:r>
            <a:r>
              <a:rPr lang="en-US"/>
              <a:t>VA</a:t>
            </a:r>
            <a:r>
              <a:rPr lang="zh-CN"/>
              <a:t>：</a:t>
            </a:r>
            <a:endParaRPr lang="en-US"/>
          </a:p>
          <a:p>
            <a:pPr lvl="1">
              <a:buChar char="–"/>
            </a:pPr>
            <a:r>
              <a:rPr lang="zh-CN"/>
              <a:t>前</a:t>
            </a:r>
            <a:r>
              <a:rPr lang="en-US"/>
              <a:t>2</a:t>
            </a:r>
            <a:r>
              <a:rPr lang="zh-CN"/>
              <a:t>位为</a:t>
            </a:r>
            <a:r>
              <a:rPr lang="en-US"/>
              <a:t>segment</a:t>
            </a:r>
            <a:r>
              <a:rPr lang="zh-CN"/>
              <a:t>，后</a:t>
            </a:r>
            <a:r>
              <a:rPr lang="en-US"/>
              <a:t>12</a:t>
            </a:r>
            <a:r>
              <a:rPr lang="zh-CN"/>
              <a:t>位为</a:t>
            </a:r>
            <a:r>
              <a:rPr lang="en-US"/>
              <a:t>segment</a:t>
            </a:r>
            <a:r>
              <a:rPr lang="zh-CN"/>
              <a:t>内的</a:t>
            </a:r>
            <a:r>
              <a:rPr lang="en-US"/>
              <a:t>offset</a:t>
            </a:r>
            <a:endParaRPr/>
          </a:p>
          <a:p>
            <a:pPr>
              <a:buChar char="•"/>
            </a:pPr>
            <a:r>
              <a:rPr lang="en-US"/>
              <a:t>Example:</a:t>
            </a:r>
            <a:endParaRPr/>
          </a:p>
          <a:p>
            <a:pPr lvl="1">
              <a:buChar char="–"/>
            </a:pPr>
            <a:r>
              <a:rPr lang="en-US"/>
              <a:t>VA = 4200 = 4K + 104</a:t>
            </a:r>
            <a:endParaRPr/>
          </a:p>
          <a:p>
            <a:pPr lvl="1">
              <a:buChar char="–"/>
            </a:pPr>
            <a:r>
              <a:rPr lang="zh-CN"/>
              <a:t>前两位是</a:t>
            </a:r>
            <a:r>
              <a:rPr lang="en-US"/>
              <a:t>01</a:t>
            </a:r>
            <a:r>
              <a:rPr lang="zh-CN"/>
              <a:t>，是</a:t>
            </a:r>
            <a:r>
              <a:rPr lang="en-US"/>
              <a:t>heap</a:t>
            </a:r>
            <a:endParaRPr/>
          </a:p>
          <a:p>
            <a:pPr lvl="1">
              <a:buChar char="–"/>
            </a:pPr>
            <a:r>
              <a:rPr lang="en-US"/>
              <a:t>PA = 34K+104</a:t>
            </a:r>
            <a:endParaRPr/>
          </a:p>
        </p:txBody>
      </p:sp>
      <p:sp>
        <p:nvSpPr>
          <p:cNvPr id="253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EF0B01C9-CC9E-4042-87A9-F49D20F0019F}" type="slidenum">
              <a:rPr lang="zh-CN" altLang="en-US" smtClean="false"/>
              <a:t>18</a:t>
            </a:fld>
            <a:endParaRPr lang="en-US" altLang="zh-CN"/>
          </a:p>
        </p:txBody>
      </p:sp>
      <p:pic>
        <p:nvPicPr>
          <p:cNvPr id="254" name="图片 4"/>
          <p:cNvPicPr>
            <a:picLocks noChangeAspect="true"/>
          </p:cNvPicPr>
          <p:nvPr/>
        </p:nvPicPr>
        <p:blipFill>
          <a:blip r:embed="rId1">
            <a:extLst>
              <a:ext uri="{28A0092B-C50C-407E-A947-70E740481C1C}"/>
            </a:extLst>
          </a:blip>
          <a:stretch>
            <a:fillRect/>
          </a:stretch>
        </p:blipFill>
        <p:spPr>
          <a:xfrm rot="0" flipH="false" flipV="false">
            <a:off x="1436189" y="5019675"/>
            <a:ext cx="4622800" cy="1257300"/>
          </a:xfrm>
          <a:prstGeom prst="rect">
            <a:avLst/>
          </a:prstGeom>
        </p:spPr>
      </p:pic>
      <p:pic>
        <p:nvPicPr>
          <p:cNvPr id="255" name="图片 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6715225" y="457200"/>
            <a:ext cx="2047315" cy="6172200"/>
          </a:xfrm>
          <a:prstGeom prst="rect">
            <a:avLst/>
          </a:prstGeom>
        </p:spPr>
      </p:pic>
      <p:pic>
        <p:nvPicPr>
          <p:cNvPr id="256" name="图片 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/>
            </a:extLst>
          </a:blip>
          <a:stretch>
            <a:fillRect/>
          </a:stretch>
        </p:blipFill>
        <p:spPr>
          <a:xfrm rot="0" flipH="false" flipV="false">
            <a:off x="4495800" y="3971925"/>
            <a:ext cx="2500086" cy="10477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 dirty="false">
                <a:ea typeface="宋体" charset="-122"/>
              </a:rPr>
              <a:t>Segmentation</a:t>
            </a:r>
            <a:endParaRPr kumimoji="true" lang="zh-CN" altLang="en-US" dirty="false"/>
          </a:p>
        </p:txBody>
      </p:sp>
      <p:sp>
        <p:nvSpPr>
          <p:cNvPr id="259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/>
            <a:r>
              <a:rPr kumimoji="true" lang="en-US" altLang="zh-CN" dirty="false"/>
              <a:t>Code</a:t>
            </a:r>
            <a:endParaRPr/>
          </a:p>
          <a:p>
            <a:pPr lvl="1"/>
            <a:r>
              <a:rPr lang="en-US" altLang="zh-CN" dirty="false"/>
              <a:t>SEG MASK would be set to 0x3000</a:t>
            </a:r>
            <a:endParaRPr/>
          </a:p>
          <a:p>
            <a:pPr lvl="1"/>
            <a:r>
              <a:rPr lang="en-US" altLang="zh-CN" dirty="false"/>
              <a:t>SEG SHIFT to 12</a:t>
            </a:r>
            <a:endParaRPr/>
          </a:p>
          <a:p>
            <a:pPr lvl="1"/>
            <a:r>
              <a:rPr lang="en-US" altLang="zh-CN" dirty="false"/>
              <a:t>OFFSET MASK to 0xFFF. </a:t>
            </a:r>
            <a:endParaRPr/>
          </a:p>
          <a:p>
            <a:pPr lvl="1"/>
            <a:endParaRPr kumimoji="true" lang="en-US" altLang="zh-CN" dirty="false"/>
          </a:p>
          <a:p>
            <a:pPr lvl="1"/>
            <a:endParaRPr kumimoji="true" lang="zh-CN" altLang="en-US" dirty="false"/>
          </a:p>
        </p:txBody>
      </p:sp>
      <p:sp>
        <p:nvSpPr>
          <p:cNvPr id="260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EF0B01C9-CC9E-4042-87A9-F49D20F0019F}" type="slidenum">
              <a:rPr lang="zh-CN" altLang="en-US" smtClean="false"/>
              <a:t>19</a:t>
            </a:fld>
            <a:endParaRPr lang="en-US" altLang="zh-CN"/>
          </a:p>
        </p:txBody>
      </p:sp>
      <p:pic>
        <p:nvPicPr>
          <p:cNvPr id="261" name="图片 4"/>
          <p:cNvPicPr>
            <a:picLocks noChangeAspect="true"/>
          </p:cNvPicPr>
          <p:nvPr/>
        </p:nvPicPr>
        <p:blipFill>
          <a:blip r:embed="rId1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774700" y="3517900"/>
            <a:ext cx="7670800" cy="25781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>
  <p:cSld>
    <p:spTree>
      <p:nvGrpSpPr>
        <p:cNvPr id="2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 dirty="false">
                <a:ea typeface="宋体" charset="-122"/>
              </a:rPr>
              <a:t>Segmentation</a:t>
            </a:r>
            <a:endParaRPr kumimoji="true" lang="zh-CN" altLang="en-US" dirty="false"/>
          </a:p>
        </p:txBody>
      </p:sp>
      <p:sp>
        <p:nvSpPr>
          <p:cNvPr id="268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/>
            <a:r>
              <a:rPr lang="zh-CN" altLang="en-US" dirty="false"/>
              <a:t>由于</a:t>
            </a:r>
            <a:r>
              <a:rPr lang="en-US" altLang="zh-CN" dirty="false"/>
              <a:t>2</a:t>
            </a:r>
            <a:r>
              <a:rPr lang="zh-CN" altLang="en-US" dirty="false"/>
              <a:t>个</a:t>
            </a:r>
            <a:r>
              <a:rPr lang="en-US" altLang="zh-CN" dirty="false"/>
              <a:t>bit</a:t>
            </a:r>
            <a:r>
              <a:rPr lang="zh-CN" altLang="en-US" dirty="false"/>
              <a:t>，</a:t>
            </a:r>
            <a:r>
              <a:rPr lang="en-US" altLang="zh-CN" dirty="false"/>
              <a:t>3</a:t>
            </a:r>
            <a:r>
              <a:rPr lang="zh-CN" altLang="en-US" dirty="false"/>
              <a:t>个</a:t>
            </a:r>
            <a:r>
              <a:rPr lang="en-US" altLang="zh-CN" dirty="false"/>
              <a:t>segment</a:t>
            </a:r>
            <a:endParaRPr/>
          </a:p>
          <a:p>
            <a:pPr lvl="1"/>
            <a:r>
              <a:rPr lang="zh-CN" altLang="en-US" dirty="false"/>
              <a:t>浪费了一个状态</a:t>
            </a:r>
            <a:endParaRPr lang="en-US" altLang="zh-CN" dirty="false"/>
          </a:p>
          <a:p>
            <a:pPr lvl="1"/>
            <a:r>
              <a:rPr lang="zh-CN" altLang="en-US" dirty="false"/>
              <a:t>因此，有些系统将</a:t>
            </a:r>
            <a:r>
              <a:rPr lang="en-US" altLang="zh-CN" dirty="false"/>
              <a:t>code</a:t>
            </a:r>
            <a:r>
              <a:rPr lang="zh-CN" altLang="en-US" dirty="false"/>
              <a:t>和</a:t>
            </a:r>
            <a:r>
              <a:rPr lang="en-US" altLang="zh-CN" dirty="false"/>
              <a:t>heap</a:t>
            </a:r>
            <a:r>
              <a:rPr lang="zh-CN" altLang="en-US" dirty="false"/>
              <a:t>放在一个</a:t>
            </a:r>
            <a:r>
              <a:rPr lang="en-US" altLang="zh-CN" dirty="false"/>
              <a:t>segment</a:t>
            </a:r>
            <a:r>
              <a:rPr lang="zh-CN" altLang="en-US" dirty="false"/>
              <a:t>，因此只用</a:t>
            </a:r>
            <a:r>
              <a:rPr lang="en-US" altLang="zh-CN" dirty="false"/>
              <a:t>1</a:t>
            </a:r>
            <a:r>
              <a:rPr lang="zh-CN" altLang="en-US" dirty="false"/>
              <a:t>个</a:t>
            </a:r>
            <a:r>
              <a:rPr lang="en-US" altLang="zh-CN" dirty="false"/>
              <a:t>bit</a:t>
            </a:r>
            <a:endParaRPr/>
          </a:p>
        </p:txBody>
      </p:sp>
      <p:sp>
        <p:nvSpPr>
          <p:cNvPr id="269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EF0B01C9-CC9E-4042-87A9-F49D20F0019F}" type="slidenum">
              <a:rPr lang="zh-CN" altLang="en-US" smtClean="false"/>
              <a:t>20</a:t>
            </a:fld>
            <a:endParaRPr lang="en-US" altLang="zh-CN"/>
          </a:p>
        </p:txBody>
      </p:sp>
      <p:sp>
        <p:nvSpPr>
          <p:cNvPr id="270" name=""/>
          <p:cNvSpPr txBox="true"/>
          <p:nvPr/>
        </p:nvSpPr>
        <p:spPr>
          <a:xfrm rot="0" flipH="false" flipV="false">
            <a:off x="1097280" y="4970417"/>
            <a:ext cx="7050998" cy="393700"/>
          </a:xfrm>
          <a:prstGeom prst="rect">
            <a:avLst/>
          </a:prstGeom>
          <a:ln w="6350">
            <a:prstDash val="solid"/>
          </a:ln>
        </p:spPr>
        <p:txBody>
          <a:bodyPr wrap="square">
            <a:spAutoFit/>
          </a:bodyPr>
          <a:lstStyle/>
          <a:p>
            <a:pPr/>
            <a:r>
              <a:rPr lang="en-US"/>
              <a:t>Explicit segmentation</a:t>
            </a:r>
            <a:r>
              <a:rPr lang="zh-CN"/>
              <a:t>对地址空间利用率有什么影响？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>
  <p:cSld>
    <p:spTree>
      <p:nvGrpSpPr>
        <p:cNvPr id="2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 dirty="false">
                <a:ea typeface="宋体" charset="-122"/>
              </a:rPr>
              <a:t>Segmentation</a:t>
            </a:r>
            <a:endParaRPr kumimoji="true" lang="zh-CN" altLang="en-US" dirty="false"/>
          </a:p>
        </p:txBody>
      </p:sp>
      <p:sp>
        <p:nvSpPr>
          <p:cNvPr id="273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>
              <a:buChar char="•"/>
            </a:pPr>
            <a:r>
              <a:rPr lang="en-US"/>
              <a:t>#2. </a:t>
            </a:r>
            <a:r>
              <a:rPr lang="en-US" b="true"/>
              <a:t>implicit </a:t>
            </a:r>
            <a:r>
              <a:rPr lang="en-US"/>
              <a:t>approach </a:t>
            </a:r>
            <a:endParaRPr/>
          </a:p>
          <a:p>
            <a:pPr lvl="1">
              <a:buChar char="–"/>
            </a:pPr>
            <a:r>
              <a:rPr lang="zh-CN"/>
              <a:t>硬件通过看地址如何形成的，来判断属于那个</a:t>
            </a:r>
            <a:r>
              <a:rPr lang="en-US"/>
              <a:t>segment</a:t>
            </a:r>
            <a:endParaRPr/>
          </a:p>
          <a:p>
            <a:pPr lvl="1">
              <a:buChar char="–"/>
            </a:pPr>
            <a:r>
              <a:rPr lang="zh-CN"/>
              <a:t>例如，通过</a:t>
            </a:r>
            <a:r>
              <a:rPr lang="en-US"/>
              <a:t>PC</a:t>
            </a:r>
            <a:r>
              <a:rPr lang="zh-CN"/>
              <a:t>形成的地址，那就是在</a:t>
            </a:r>
            <a:r>
              <a:rPr lang="en-US"/>
              <a:t>code</a:t>
            </a:r>
            <a:r>
              <a:rPr lang="zh-CN"/>
              <a:t>段内</a:t>
            </a:r>
            <a:endParaRPr lang="en-US"/>
          </a:p>
          <a:p>
            <a:pPr lvl="1">
              <a:buChar char="–"/>
            </a:pPr>
            <a:r>
              <a:rPr lang="zh-CN"/>
              <a:t>如果通过</a:t>
            </a:r>
            <a:r>
              <a:rPr lang="en-US"/>
              <a:t>stack pointer</a:t>
            </a:r>
            <a:r>
              <a:rPr lang="zh-CN"/>
              <a:t>，那就是在</a:t>
            </a:r>
            <a:r>
              <a:rPr lang="en-US"/>
              <a:t>stack</a:t>
            </a:r>
            <a:r>
              <a:rPr lang="zh-CN"/>
              <a:t>段</a:t>
            </a:r>
            <a:endParaRPr lang="en-US"/>
          </a:p>
          <a:p>
            <a:pPr lvl="1">
              <a:buChar char="–"/>
            </a:pPr>
            <a:r>
              <a:rPr lang="zh-CN"/>
              <a:t>其他的地址都在</a:t>
            </a:r>
            <a:r>
              <a:rPr lang="en-US"/>
              <a:t>heap</a:t>
            </a:r>
            <a:r>
              <a:rPr lang="zh-CN"/>
              <a:t>段</a:t>
            </a:r>
            <a:endParaRPr lang="en-US"/>
          </a:p>
          <a:p>
            <a:pPr>
              <a:buChar char="•"/>
            </a:pPr>
            <a:endParaRPr lang="zh-CN"/>
          </a:p>
        </p:txBody>
      </p:sp>
      <p:sp>
        <p:nvSpPr>
          <p:cNvPr id="274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EF0B01C9-CC9E-4042-87A9-F49D20F0019F}" type="slidenum">
              <a:rPr lang="zh-CN" altLang="en-US" smtClean="false"/>
              <a:t>21</a:t>
            </a:fld>
            <a:endParaRPr lang="en-US" altLang="zh-CN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 dirty="false">
                <a:ea typeface="宋体" charset="-122"/>
              </a:rPr>
              <a:t>Segmentation</a:t>
            </a:r>
            <a:endParaRPr kumimoji="true" lang="zh-CN" altLang="en-US" dirty="false"/>
          </a:p>
        </p:txBody>
      </p:sp>
      <p:sp>
        <p:nvSpPr>
          <p:cNvPr id="277" name="内容占位符 2"/>
          <p:cNvSpPr>
            <a:spLocks noGrp="true"/>
          </p:cNvSpPr>
          <p:nvPr>
            <p:ph idx="1"/>
          </p:nvPr>
        </p:nvSpPr>
        <p:spPr>
          <a:xfrm>
            <a:off x="457200" y="1600200"/>
            <a:ext cx="6172200" cy="4419600"/>
          </a:xfrm>
        </p:spPr>
        <p:txBody>
          <a:bodyPr/>
          <a:lstStyle/>
          <a:p>
            <a:pPr/>
            <a:r>
              <a:rPr kumimoji="true" lang="en-US" altLang="zh-CN" sz="2400" dirty="false"/>
              <a:t>Stack</a:t>
            </a:r>
            <a:r>
              <a:rPr kumimoji="true" lang="zh-CN" altLang="en-US" sz="2400" dirty="false"/>
              <a:t>段怎么办？</a:t>
            </a:r>
            <a:endParaRPr kumimoji="true" lang="en-US" altLang="zh-CN" sz="2400" dirty="false"/>
          </a:p>
          <a:p>
            <a:pPr lvl="1"/>
            <a:r>
              <a:rPr lang="zh-CN" altLang="en-US" sz="2000" dirty="false"/>
              <a:t>它的空间倒着增长</a:t>
            </a:r>
            <a:endParaRPr lang="en-US" altLang="zh-CN" sz="2000" dirty="false"/>
          </a:p>
          <a:p>
            <a:pPr lvl="1"/>
            <a:r>
              <a:rPr kumimoji="true" lang="zh-CN" altLang="en-US" sz="2000" dirty="false"/>
              <a:t>最小的地址不确定</a:t>
            </a:r>
            <a:endParaRPr kumimoji="true" lang="en-US" altLang="zh-CN" sz="2000" dirty="false"/>
          </a:p>
          <a:p>
            <a:pPr/>
            <a:r>
              <a:rPr lang="en-US" altLang="zh-CN" sz="2400" dirty="false"/>
              <a:t>Solution</a:t>
            </a:r>
            <a:endParaRPr/>
          </a:p>
          <a:p>
            <a:pPr lvl="1"/>
            <a:r>
              <a:rPr lang="zh-CN" altLang="en-US" sz="2000" dirty="false"/>
              <a:t>首先需要硬件多一点支持，记录</a:t>
            </a:r>
            <a:r>
              <a:rPr lang="en-US" altLang="zh-CN" sz="2000" dirty="false"/>
              <a:t>segment</a:t>
            </a:r>
            <a:r>
              <a:rPr lang="zh-CN" altLang="en-US" sz="2000" dirty="false"/>
              <a:t>的地址是否负增长</a:t>
            </a:r>
            <a:endParaRPr lang="en-US" altLang="zh-CN" sz="2000" dirty="false"/>
          </a:p>
          <a:p>
            <a:pPr lvl="1"/>
            <a:r>
              <a:rPr kumimoji="true" lang="zh-CN" altLang="en-US" sz="2000" dirty="false"/>
              <a:t>如果是负增长，那么</a:t>
            </a:r>
            <a:r>
              <a:rPr kumimoji="true" lang="en-US" altLang="zh-CN" sz="2000" dirty="false"/>
              <a:t>Pa</a:t>
            </a:r>
            <a:r>
              <a:rPr kumimoji="true" lang="zh-CN" altLang="en-US" sz="2000" dirty="false"/>
              <a:t>计算方法有些区别</a:t>
            </a:r>
            <a:endParaRPr/>
          </a:p>
        </p:txBody>
      </p:sp>
      <p:sp>
        <p:nvSpPr>
          <p:cNvPr id="278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EF0B01C9-CC9E-4042-87A9-F49D20F0019F}" type="slidenum">
              <a:rPr lang="zh-CN" altLang="en-US" smtClean="false"/>
              <a:t>22</a:t>
            </a:fld>
            <a:endParaRPr lang="en-US" altLang="zh-CN"/>
          </a:p>
        </p:txBody>
      </p:sp>
      <p:pic>
        <p:nvPicPr>
          <p:cNvPr id="279" name="图片 4"/>
          <p:cNvPicPr>
            <a:picLocks noChangeAspect="true"/>
          </p:cNvPicPr>
          <p:nvPr/>
        </p:nvPicPr>
        <p:blipFill>
          <a:blip r:embed="rId1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6715225" y="457200"/>
            <a:ext cx="2047315" cy="6172200"/>
          </a:xfrm>
          <a:prstGeom prst="rect">
            <a:avLst/>
          </a:prstGeom>
        </p:spPr>
      </p:pic>
      <p:pic>
        <p:nvPicPr>
          <p:cNvPr id="280" name="图片 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996787" y="4795836"/>
            <a:ext cx="5093026" cy="121514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16="http://schemas.microsoft.com/office/drawing/2014/main" xmlns:a="http://schemas.openxmlformats.org/drawingml/2006/main" xmlns:p="http://schemas.openxmlformats.org/presentationml/2006/main" xmlns:r="http://schemas.openxmlformats.org/officeDocument/2006/relationships" xmlns:mc="http://schemas.openxmlformats.org/markup-compatibility/2006" mc:Ignorable="a16">
  <p:cSld>
    <p:spTree>
      <p:nvGrpSpPr>
        <p:cNvPr id="2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 dirty="false">
                <a:ea typeface="宋体" charset="-122"/>
              </a:rPr>
              <a:t>Segmentation</a:t>
            </a:r>
            <a:endParaRPr kumimoji="true" lang="zh-CN" altLang="en-US" dirty="false"/>
          </a:p>
        </p:txBody>
      </p:sp>
      <p:sp>
        <p:nvSpPr>
          <p:cNvPr id="283" name="内容占位符 2"/>
          <p:cNvSpPr>
            <a:spLocks noGrp="true"/>
          </p:cNvSpPr>
          <p:nvPr>
            <p:ph idx="1"/>
          </p:nvPr>
        </p:nvSpPr>
        <p:spPr>
          <a:xfrm rot="0" flipH="false" flipV="false">
            <a:off x="216063" y="1613263"/>
            <a:ext cx="6477000" cy="4419600"/>
          </a:xfrm>
        </p:spPr>
        <p:txBody>
          <a:bodyPr/>
          <a:lstStyle/>
          <a:p>
            <a:pPr>
              <a:buChar char="•"/>
            </a:pPr>
            <a:r>
              <a:rPr lang="en-US" sz="2400"/>
              <a:t>Stack</a:t>
            </a:r>
            <a:r>
              <a:rPr lang="zh-CN" sz="2400"/>
              <a:t>的起始地址为</a:t>
            </a:r>
            <a:r>
              <a:rPr lang="en-US" sz="2400"/>
              <a:t>16KB-1 (0x3FFF)</a:t>
            </a:r>
            <a:endParaRPr lang="en-US" sz="2400"/>
          </a:p>
          <a:p>
            <a:pPr marL="0" indent="0">
              <a:buNone/>
            </a:pPr>
            <a:endParaRPr lang="zh-CN" sz="2400"/>
          </a:p>
          <a:p>
            <a:pPr>
              <a:buChar char="•"/>
            </a:pPr>
            <a:r>
              <a:rPr lang="en-US" sz="2400"/>
              <a:t>Stack</a:t>
            </a:r>
            <a:r>
              <a:rPr lang="zh-CN" sz="2400"/>
              <a:t>中第</a:t>
            </a:r>
            <a:r>
              <a:rPr lang="en-US" sz="2400"/>
              <a:t>n (n</a:t>
            </a:r>
            <a:r>
              <a:rPr lang="zh-CN" sz="2400"/>
              <a:t>从</a:t>
            </a:r>
            <a:r>
              <a:rPr lang="en-US" sz="2400"/>
              <a:t>1</a:t>
            </a:r>
            <a:r>
              <a:rPr lang="zh-CN" sz="2400"/>
              <a:t>开始</a:t>
            </a:r>
            <a:r>
              <a:rPr lang="en-US" sz="2400"/>
              <a:t>) </a:t>
            </a:r>
            <a:r>
              <a:rPr lang="zh-CN" sz="2400"/>
              <a:t>个字节的</a:t>
            </a:r>
            <a:r>
              <a:rPr lang="en-US" sz="2400"/>
              <a:t>Va</a:t>
            </a:r>
            <a:r>
              <a:rPr lang="zh-CN" sz="2400"/>
              <a:t>为</a:t>
            </a:r>
            <a:r>
              <a:rPr lang="en-US" sz="2400"/>
              <a:t>0x4000-n</a:t>
            </a:r>
            <a:r>
              <a:rPr lang="zh-CN" sz="2400"/>
              <a:t>，例如第</a:t>
            </a:r>
            <a:r>
              <a:rPr lang="en-US" sz="2400"/>
              <a:t>2</a:t>
            </a:r>
            <a:r>
              <a:rPr lang="zh-CN" sz="2400"/>
              <a:t>个</a:t>
            </a:r>
            <a:r>
              <a:rPr lang="zh-CN" sz="2400"/>
              <a:t>特字节的</a:t>
            </a:r>
            <a:r>
              <a:rPr lang="en-US" sz="2400"/>
              <a:t>Va</a:t>
            </a:r>
            <a:r>
              <a:rPr lang="zh-CN" sz="2400"/>
              <a:t>为：</a:t>
            </a:r>
            <a:endParaRPr/>
          </a:p>
          <a:p>
            <a:pPr>
              <a:buChar char="•"/>
            </a:pPr>
            <a:endParaRPr lang="zh-CN" sz="2400"/>
          </a:p>
          <a:p>
            <a:pPr>
              <a:buChar char="•"/>
            </a:pPr>
            <a:r>
              <a:rPr lang="en-US" sz="2400"/>
              <a:t>Va</a:t>
            </a:r>
            <a:r>
              <a:rPr lang="zh-CN" sz="2400"/>
              <a:t>中的</a:t>
            </a:r>
            <a:r>
              <a:rPr lang="en-US" sz="2400"/>
              <a:t>intra-</a:t>
            </a:r>
            <a:r>
              <a:rPr lang="en-US" sz="2400"/>
              <a:t>segment offset</a:t>
            </a:r>
            <a:r>
              <a:rPr lang="zh-CN" sz="2400"/>
              <a:t>与</a:t>
            </a:r>
            <a:r>
              <a:rPr lang="en-US" sz="2400"/>
              <a:t>n</a:t>
            </a:r>
            <a:r>
              <a:rPr lang="zh-CN" sz="2400"/>
              <a:t>的关系：</a:t>
            </a:r>
            <a:endParaRPr/>
          </a:p>
          <a:p>
            <a:pPr lvl="1">
              <a:buChar char="•"/>
            </a:pPr>
            <a:r>
              <a:rPr lang="en-US" sz="2400"/>
              <a:t>n = MaxSegSize - offset</a:t>
            </a:r>
            <a:endParaRPr/>
          </a:p>
          <a:p>
            <a:pPr lvl="0">
              <a:buChar char="•"/>
            </a:pPr>
            <a:r>
              <a:rPr lang="zh-CN" sz="2400"/>
              <a:t>地址翻译时：</a:t>
            </a:r>
            <a:endParaRPr/>
          </a:p>
          <a:p>
            <a:pPr lvl="1">
              <a:buChar char="•"/>
            </a:pPr>
            <a:r>
              <a:rPr lang="en-US" sz="2400"/>
              <a:t>Pa = Base-n = Base-MaxSegSize+Offset</a:t>
            </a:r>
            <a:endParaRPr/>
          </a:p>
        </p:txBody>
      </p:sp>
      <p:sp>
        <p:nvSpPr>
          <p:cNvPr id="284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EF0B01C9-CC9E-4042-87A9-F49D20F0019F}" type="slidenum">
              <a:rPr lang="zh-CN" altLang="en-US" smtClean="false"/>
              <a:t>22</a:t>
            </a:fld>
            <a:endParaRPr lang="en-US" altLang="zh-CN"/>
          </a:p>
        </p:txBody>
      </p:sp>
      <p:pic>
        <p:nvPicPr>
          <p:cNvPr id="285" name="图片 4"/>
          <p:cNvPicPr>
            <a:picLocks noChangeAspect="true"/>
          </p:cNvPicPr>
          <p:nvPr/>
        </p:nvPicPr>
        <p:blipFill>
          <a:blip r:embed="rId1">
            <a:extLst>
              <a:ext uri="{28A0092B-C50C-407E-A947-70E740481C1C}"/>
            </a:extLst>
          </a:blip>
          <a:stretch>
            <a:fillRect/>
          </a:stretch>
        </p:blipFill>
        <p:spPr>
          <a:xfrm rot="0" flipH="false" flipV="false">
            <a:off x="7096686" y="342900"/>
            <a:ext cx="2047313" cy="6172200"/>
          </a:xfrm>
          <a:prstGeom prst="rect">
            <a:avLst/>
          </a:prstGeom>
        </p:spPr>
      </p:pic>
      <p:pic>
        <p:nvPicPr>
          <p:cNvPr id="286" name="图片 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/>
            </a:extLst>
          </a:blip>
          <a:stretch>
            <a:fillRect/>
          </a:stretch>
        </p:blipFill>
        <p:spPr>
          <a:xfrm rot="0" flipH="false" flipV="false">
            <a:off x="908050" y="5564630"/>
            <a:ext cx="5093026" cy="1215141"/>
          </a:xfrm>
          <a:prstGeom prst="rect">
            <a:avLst/>
          </a:prstGeom>
        </p:spPr>
      </p:pic>
      <p:graphicFrame>
        <p:nvGraphicFramePr>
          <p:cNvPr id="287" name=""/>
          <p:cNvGraphicFramePr/>
          <p:nvPr/>
        </p:nvGraphicFramePr>
        <p:xfrm rot="0" flipH="false" flipV="false">
          <a:off x="819313" y="2071552"/>
          <a:ext cx="5270500" cy="381000"/>
        </p:xfrm>
        <a:graphic>
          <a:graphicData uri="http://schemas.openxmlformats.org/drawingml/2006/table">
            <a:tbl>
              <a:tblPr firstRow="true" bandRow="true">
                <a:tableStyleId>{5C22544A-7EE6-4342-B048-85BDC9FD1C3A}</a:tableStyleId>
              </a:tblPr>
              <a:tblGrid>
                <a:gridCol w="387444">
                  <a:extLst>
                    <a:ext uri="{9D8B030D-6E8A-4147-A177-3AD203B41FA5}">
                      <a16:colId val="1"/>
                    </a:ext>
                  </a:extLst>
                </a:gridCol>
                <a:gridCol w="387444">
                  <a:extLst>
                    <a:ext uri="{9D8B030D-6E8A-4147-A177-3AD203B41FA5}">
                      <a16:colId val="2"/>
                    </a:ext>
                  </a:extLst>
                </a:gridCol>
                <a:gridCol w="387444">
                  <a:extLst>
                    <a:ext uri="{9D8B030D-6E8A-4147-A177-3AD203B41FA5}">
                      <a16:colId val="3"/>
                    </a:ext>
                  </a:extLst>
                </a:gridCol>
                <a:gridCol w="387444">
                  <a:extLst>
                    <a:ext uri="{9D8B030D-6E8A-4147-A177-3AD203B41FA5}">
                      <a16:colId val="4"/>
                    </a:ext>
                  </a:extLst>
                </a:gridCol>
                <a:gridCol w="387444">
                  <a:extLst>
                    <a:ext uri="{9D8B030D-6E8A-4147-A177-3AD203B41FA5}">
                      <a16:colId val="5"/>
                    </a:ext>
                  </a:extLst>
                </a:gridCol>
                <a:gridCol w="387444">
                  <a:extLst>
                    <a:ext uri="{9D8B030D-6E8A-4147-A177-3AD203B41FA5}">
                      <a16:colId val="6"/>
                    </a:ext>
                  </a:extLst>
                </a:gridCol>
                <a:gridCol w="375144">
                  <a:extLst>
                    <a:ext uri="{9D8B030D-6E8A-4147-A177-3AD203B41FA5}">
                      <a16:colId val="7"/>
                    </a:ext>
                  </a:extLst>
                </a:gridCol>
                <a:gridCol w="375144">
                  <a:extLst>
                    <a:ext uri="{9D8B030D-6E8A-4147-A177-3AD203B41FA5}">
                      <a16:colId val="8"/>
                    </a:ext>
                  </a:extLst>
                </a:gridCol>
                <a:gridCol w="368994">
                  <a:extLst>
                    <a:ext uri="{9D8B030D-6E8A-4147-A177-3AD203B41FA5}">
                      <a16:colId val="9"/>
                    </a:ext>
                  </a:extLst>
                </a:gridCol>
                <a:gridCol w="368994">
                  <a:extLst>
                    <a:ext uri="{9D8B030D-6E8A-4147-A177-3AD203B41FA5}">
                      <a16:colId val="10"/>
                    </a:ext>
                  </a:extLst>
                </a:gridCol>
                <a:gridCol w="362844">
                  <a:extLst>
                    <a:ext uri="{9D8B030D-6E8A-4147-A177-3AD203B41FA5}">
                      <a16:colId val="11"/>
                    </a:ext>
                  </a:extLst>
                </a:gridCol>
                <a:gridCol w="362844">
                  <a:extLst>
                    <a:ext uri="{9D8B030D-6E8A-4147-A177-3AD203B41FA5}">
                      <a16:colId val="12"/>
                    </a:ext>
                  </a:extLst>
                </a:gridCol>
                <a:gridCol w="362844">
                  <a:extLst>
                    <a:ext uri="{9D8B030D-6E8A-4147-A177-3AD203B41FA5}">
                      <a16:colId val="13"/>
                    </a:ext>
                  </a:extLst>
                </a:gridCol>
                <a:gridCol w="362844">
                  <a:extLst>
                    <a:ext uri="{9D8B030D-6E8A-4147-A177-3AD203B41FA5}">
                      <a16:colId val="1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/>
                      <a:r>
                        <a:rPr lang="en-US">
                          <a:solidFill>
                            <a:schemeClr val="tx1">
                              <a:alpha val="100000"/>
                            </a:schemeClr>
                          </a:solidFill>
                        </a:rPr>
                        <a:t>1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tx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tx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tx1">
                          <a:alpha val="100000"/>
                        </a:schemeClr>
                      </a:solidFill>
                    </a:lnT>
                    <a:lnB w="38100" cmpd="sng">
                      <a:solidFill>
                        <a:schemeClr val="tx1">
                          <a:alpha val="100000"/>
                        </a:schemeClr>
                      </a:solidFill>
                    </a:lnB>
                    <a:solidFill>
                      <a:srgbClr val="FFC0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>
                          <a:solidFill>
                            <a:schemeClr val="tx1">
                              <a:alpha val="100000"/>
                            </a:schemeClr>
                          </a:solidFill>
                        </a:rPr>
                        <a:t>1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tx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tx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tx1">
                          <a:alpha val="100000"/>
                        </a:schemeClr>
                      </a:solidFill>
                    </a:lnT>
                    <a:lnB w="38100" cmpd="sng">
                      <a:solidFill>
                        <a:schemeClr val="tx1">
                          <a:alpha val="100000"/>
                        </a:schemeClr>
                      </a:solidFill>
                    </a:lnB>
                    <a:solidFill>
                      <a:srgbClr val="FFC0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>
                          <a:solidFill>
                            <a:schemeClr val="tx1">
                              <a:alpha val="100000"/>
                            </a:schemeClr>
                          </a:solidFill>
                        </a:rPr>
                        <a:t>1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tx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tx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tx1">
                          <a:alpha val="100000"/>
                        </a:schemeClr>
                      </a:solidFill>
                    </a:lnT>
                    <a:lnB w="38100" cmpd="sng">
                      <a:solidFill>
                        <a:schemeClr val="tx1">
                          <a:alpha val="100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>
                          <a:solidFill>
                            <a:schemeClr val="tx1">
                              <a:alpha val="100000"/>
                            </a:schemeClr>
                          </a:solidFill>
                        </a:rPr>
                        <a:t>1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tx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tx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tx1">
                          <a:alpha val="100000"/>
                        </a:schemeClr>
                      </a:solidFill>
                    </a:lnT>
                    <a:lnB w="38100" cmpd="sng">
                      <a:solidFill>
                        <a:schemeClr val="tx1">
                          <a:alpha val="100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>
                          <a:solidFill>
                            <a:schemeClr val="tx1">
                              <a:alpha val="100000"/>
                            </a:schemeClr>
                          </a:solidFill>
                        </a:rPr>
                        <a:t>1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tx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tx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tx1">
                          <a:alpha val="100000"/>
                        </a:schemeClr>
                      </a:solidFill>
                    </a:lnT>
                    <a:lnB w="38100" cmpd="sng">
                      <a:solidFill>
                        <a:schemeClr val="tx1">
                          <a:alpha val="100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>
                          <a:solidFill>
                            <a:schemeClr val="tx1">
                              <a:alpha val="100000"/>
                            </a:schemeClr>
                          </a:solidFill>
                        </a:rPr>
                        <a:t>1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tx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tx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tx1">
                          <a:alpha val="100000"/>
                        </a:schemeClr>
                      </a:solidFill>
                    </a:lnT>
                    <a:lnB w="38100" cmpd="sng">
                      <a:solidFill>
                        <a:schemeClr val="tx1">
                          <a:alpha val="100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>
                          <a:solidFill>
                            <a:schemeClr val="tx1">
                              <a:alpha val="100000"/>
                            </a:schemeClr>
                          </a:solidFill>
                        </a:rPr>
                        <a:t>1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tx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tx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tx1">
                          <a:alpha val="100000"/>
                        </a:schemeClr>
                      </a:solidFill>
                    </a:lnT>
                    <a:lnB w="38100" cmpd="sng">
                      <a:solidFill>
                        <a:schemeClr val="tx1">
                          <a:alpha val="100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>
                          <a:solidFill>
                            <a:schemeClr val="tx1">
                              <a:alpha val="100000"/>
                            </a:schemeClr>
                          </a:solidFill>
                        </a:rPr>
                        <a:t>1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tx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tx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tx1">
                          <a:alpha val="100000"/>
                        </a:schemeClr>
                      </a:solidFill>
                    </a:lnT>
                    <a:lnB w="38100" cmpd="sng">
                      <a:solidFill>
                        <a:schemeClr val="tx1">
                          <a:alpha val="100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>
                          <a:solidFill>
                            <a:schemeClr val="tx1">
                              <a:alpha val="100000"/>
                            </a:schemeClr>
                          </a:solidFill>
                        </a:rPr>
                        <a:t>1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tx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tx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tx1">
                          <a:alpha val="100000"/>
                        </a:schemeClr>
                      </a:solidFill>
                    </a:lnT>
                    <a:lnB w="38100" cmpd="sng">
                      <a:solidFill>
                        <a:schemeClr val="tx1">
                          <a:alpha val="100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>
                          <a:solidFill>
                            <a:schemeClr val="tx1">
                              <a:alpha val="100000"/>
                            </a:schemeClr>
                          </a:solidFill>
                        </a:rPr>
                        <a:t>1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tx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tx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tx1">
                          <a:alpha val="100000"/>
                        </a:schemeClr>
                      </a:solidFill>
                    </a:lnT>
                    <a:lnB w="38100" cmpd="sng">
                      <a:solidFill>
                        <a:schemeClr val="tx1">
                          <a:alpha val="100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>
                          <a:solidFill>
                            <a:schemeClr val="tx1">
                              <a:alpha val="100000"/>
                            </a:schemeClr>
                          </a:solidFill>
                        </a:rPr>
                        <a:t>1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tx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tx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tx1">
                          <a:alpha val="100000"/>
                        </a:schemeClr>
                      </a:solidFill>
                    </a:lnT>
                    <a:lnB w="38100" cmpd="sng">
                      <a:solidFill>
                        <a:schemeClr val="tx1">
                          <a:alpha val="100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>
                          <a:solidFill>
                            <a:schemeClr val="tx1">
                              <a:alpha val="100000"/>
                            </a:schemeClr>
                          </a:solidFill>
                        </a:rPr>
                        <a:t>1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tx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tx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tx1">
                          <a:alpha val="100000"/>
                        </a:schemeClr>
                      </a:solidFill>
                    </a:lnT>
                    <a:lnB w="38100" cmpd="sng">
                      <a:solidFill>
                        <a:schemeClr val="tx1">
                          <a:alpha val="100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>
                          <a:solidFill>
                            <a:schemeClr val="tx1">
                              <a:alpha val="100000"/>
                            </a:schemeClr>
                          </a:solidFill>
                        </a:rPr>
                        <a:t>1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tx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tx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tx1">
                          <a:alpha val="100000"/>
                        </a:schemeClr>
                      </a:solidFill>
                    </a:lnT>
                    <a:lnB w="38100" cmpd="sng">
                      <a:solidFill>
                        <a:schemeClr val="tx1">
                          <a:alpha val="100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>
                          <a:solidFill>
                            <a:schemeClr val="tx1">
                              <a:alpha val="100000"/>
                            </a:schemeClr>
                          </a:solidFill>
                        </a:rPr>
                        <a:t>1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tx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tx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tx1">
                          <a:alpha val="100000"/>
                        </a:schemeClr>
                      </a:solidFill>
                    </a:lnT>
                    <a:lnB w="38100" cmpd="sng">
                      <a:solidFill>
                        <a:schemeClr val="tx1">
                          <a:alpha val="100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</a:tbl>
          </a:graphicData>
        </a:graphic>
      </p:graphicFrame>
      <p:graphicFrame>
        <p:nvGraphicFramePr>
          <p:cNvPr id="288" name=""/>
          <p:cNvGraphicFramePr/>
          <p:nvPr/>
        </p:nvGraphicFramePr>
        <p:xfrm rot="0" flipH="false" flipV="false">
          <a:off x="819313" y="3352800"/>
          <a:ext cx="5270500" cy="381000"/>
        </p:xfrm>
        <a:graphic>
          <a:graphicData uri="http://schemas.openxmlformats.org/drawingml/2006/table">
            <a:tbl>
              <a:tblPr firstRow="true" bandRow="true">
                <a:tableStyleId>{5C22544A-7EE6-4342-B048-85BDC9FD1C3A}</a:tableStyleId>
              </a:tblPr>
              <a:tblGrid>
                <a:gridCol w="387444">
                  <a:extLst>
                    <a:ext uri="{9D8B030D-6E8A-4147-A177-3AD203B41FA5}">
                      <a16:colId val="1"/>
                    </a:ext>
                  </a:extLst>
                </a:gridCol>
                <a:gridCol w="387444">
                  <a:extLst>
                    <a:ext uri="{9D8B030D-6E8A-4147-A177-3AD203B41FA5}">
                      <a16:colId val="2"/>
                    </a:ext>
                  </a:extLst>
                </a:gridCol>
                <a:gridCol w="387444">
                  <a:extLst>
                    <a:ext uri="{9D8B030D-6E8A-4147-A177-3AD203B41FA5}">
                      <a16:colId val="3"/>
                    </a:ext>
                  </a:extLst>
                </a:gridCol>
                <a:gridCol w="387444">
                  <a:extLst>
                    <a:ext uri="{9D8B030D-6E8A-4147-A177-3AD203B41FA5}">
                      <a16:colId val="4"/>
                    </a:ext>
                  </a:extLst>
                </a:gridCol>
                <a:gridCol w="387444">
                  <a:extLst>
                    <a:ext uri="{9D8B030D-6E8A-4147-A177-3AD203B41FA5}">
                      <a16:colId val="5"/>
                    </a:ext>
                  </a:extLst>
                </a:gridCol>
                <a:gridCol w="387444">
                  <a:extLst>
                    <a:ext uri="{9D8B030D-6E8A-4147-A177-3AD203B41FA5}">
                      <a16:colId val="6"/>
                    </a:ext>
                  </a:extLst>
                </a:gridCol>
                <a:gridCol w="375144">
                  <a:extLst>
                    <a:ext uri="{9D8B030D-6E8A-4147-A177-3AD203B41FA5}">
                      <a16:colId val="7"/>
                    </a:ext>
                  </a:extLst>
                </a:gridCol>
                <a:gridCol w="375144">
                  <a:extLst>
                    <a:ext uri="{9D8B030D-6E8A-4147-A177-3AD203B41FA5}">
                      <a16:colId val="8"/>
                    </a:ext>
                  </a:extLst>
                </a:gridCol>
                <a:gridCol w="368994">
                  <a:extLst>
                    <a:ext uri="{9D8B030D-6E8A-4147-A177-3AD203B41FA5}">
                      <a16:colId val="9"/>
                    </a:ext>
                  </a:extLst>
                </a:gridCol>
                <a:gridCol w="368994">
                  <a:extLst>
                    <a:ext uri="{9D8B030D-6E8A-4147-A177-3AD203B41FA5}">
                      <a16:colId val="10"/>
                    </a:ext>
                  </a:extLst>
                </a:gridCol>
                <a:gridCol w="362844">
                  <a:extLst>
                    <a:ext uri="{9D8B030D-6E8A-4147-A177-3AD203B41FA5}">
                      <a16:colId val="11"/>
                    </a:ext>
                  </a:extLst>
                </a:gridCol>
                <a:gridCol w="362844">
                  <a:extLst>
                    <a:ext uri="{9D8B030D-6E8A-4147-A177-3AD203B41FA5}">
                      <a16:colId val="12"/>
                    </a:ext>
                  </a:extLst>
                </a:gridCol>
                <a:gridCol w="362844">
                  <a:extLst>
                    <a:ext uri="{9D8B030D-6E8A-4147-A177-3AD203B41FA5}">
                      <a16:colId val="13"/>
                    </a:ext>
                  </a:extLst>
                </a:gridCol>
                <a:gridCol w="362844">
                  <a:extLst>
                    <a:ext uri="{9D8B030D-6E8A-4147-A177-3AD203B41FA5}">
                      <a16:colId val="1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/>
                      <a:r>
                        <a:rPr lang="en-US">
                          <a:solidFill>
                            <a:schemeClr val="tx1">
                              <a:alpha val="100000"/>
                            </a:schemeClr>
                          </a:solidFill>
                        </a:rPr>
                        <a:t>1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tx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tx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tx1">
                          <a:alpha val="100000"/>
                        </a:schemeClr>
                      </a:solidFill>
                    </a:lnT>
                    <a:lnB w="38100" cmpd="sng">
                      <a:solidFill>
                        <a:schemeClr val="tx1">
                          <a:alpha val="100000"/>
                        </a:schemeClr>
                      </a:solidFill>
                    </a:lnB>
                    <a:solidFill>
                      <a:srgbClr val="FFC0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>
                          <a:solidFill>
                            <a:schemeClr val="tx1">
                              <a:alpha val="100000"/>
                            </a:schemeClr>
                          </a:solidFill>
                        </a:rPr>
                        <a:t>1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tx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tx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tx1">
                          <a:alpha val="100000"/>
                        </a:schemeClr>
                      </a:solidFill>
                    </a:lnT>
                    <a:lnB w="38100" cmpd="sng">
                      <a:solidFill>
                        <a:schemeClr val="tx1">
                          <a:alpha val="100000"/>
                        </a:schemeClr>
                      </a:solidFill>
                    </a:lnB>
                    <a:solidFill>
                      <a:srgbClr val="FFC0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>
                          <a:solidFill>
                            <a:schemeClr val="tx1">
                              <a:alpha val="100000"/>
                            </a:schemeClr>
                          </a:solidFill>
                        </a:rPr>
                        <a:t>1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tx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tx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tx1">
                          <a:alpha val="100000"/>
                        </a:schemeClr>
                      </a:solidFill>
                    </a:lnT>
                    <a:lnB w="38100" cmpd="sng">
                      <a:solidFill>
                        <a:schemeClr val="tx1">
                          <a:alpha val="100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>
                          <a:solidFill>
                            <a:schemeClr val="tx1">
                              <a:alpha val="100000"/>
                            </a:schemeClr>
                          </a:solidFill>
                        </a:rPr>
                        <a:t>1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tx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tx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tx1">
                          <a:alpha val="100000"/>
                        </a:schemeClr>
                      </a:solidFill>
                    </a:lnT>
                    <a:lnB w="38100" cmpd="sng">
                      <a:solidFill>
                        <a:schemeClr val="tx1">
                          <a:alpha val="100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>
                          <a:solidFill>
                            <a:schemeClr val="tx1">
                              <a:alpha val="100000"/>
                            </a:schemeClr>
                          </a:solidFill>
                        </a:rPr>
                        <a:t>1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tx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tx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tx1">
                          <a:alpha val="100000"/>
                        </a:schemeClr>
                      </a:solidFill>
                    </a:lnT>
                    <a:lnB w="38100" cmpd="sng">
                      <a:solidFill>
                        <a:schemeClr val="tx1">
                          <a:alpha val="100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>
                          <a:solidFill>
                            <a:schemeClr val="tx1">
                              <a:alpha val="100000"/>
                            </a:schemeClr>
                          </a:solidFill>
                        </a:rPr>
                        <a:t>1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tx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tx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tx1">
                          <a:alpha val="100000"/>
                        </a:schemeClr>
                      </a:solidFill>
                    </a:lnT>
                    <a:lnB w="38100" cmpd="sng">
                      <a:solidFill>
                        <a:schemeClr val="tx1">
                          <a:alpha val="100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>
                          <a:solidFill>
                            <a:schemeClr val="tx1">
                              <a:alpha val="100000"/>
                            </a:schemeClr>
                          </a:solidFill>
                        </a:rPr>
                        <a:t>1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tx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tx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tx1">
                          <a:alpha val="100000"/>
                        </a:schemeClr>
                      </a:solidFill>
                    </a:lnT>
                    <a:lnB w="38100" cmpd="sng">
                      <a:solidFill>
                        <a:schemeClr val="tx1">
                          <a:alpha val="100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>
                          <a:solidFill>
                            <a:schemeClr val="tx1">
                              <a:alpha val="100000"/>
                            </a:schemeClr>
                          </a:solidFill>
                        </a:rPr>
                        <a:t>1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tx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tx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tx1">
                          <a:alpha val="100000"/>
                        </a:schemeClr>
                      </a:solidFill>
                    </a:lnT>
                    <a:lnB w="38100" cmpd="sng">
                      <a:solidFill>
                        <a:schemeClr val="tx1">
                          <a:alpha val="100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>
                          <a:solidFill>
                            <a:schemeClr val="tx1">
                              <a:alpha val="100000"/>
                            </a:schemeClr>
                          </a:solidFill>
                        </a:rPr>
                        <a:t>1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tx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tx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tx1">
                          <a:alpha val="100000"/>
                        </a:schemeClr>
                      </a:solidFill>
                    </a:lnT>
                    <a:lnB w="38100" cmpd="sng">
                      <a:solidFill>
                        <a:schemeClr val="tx1">
                          <a:alpha val="100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>
                          <a:solidFill>
                            <a:schemeClr val="tx1">
                              <a:alpha val="100000"/>
                            </a:schemeClr>
                          </a:solidFill>
                        </a:rPr>
                        <a:t>1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tx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tx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tx1">
                          <a:alpha val="100000"/>
                        </a:schemeClr>
                      </a:solidFill>
                    </a:lnT>
                    <a:lnB w="38100" cmpd="sng">
                      <a:solidFill>
                        <a:schemeClr val="tx1">
                          <a:alpha val="100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>
                          <a:solidFill>
                            <a:schemeClr val="tx1">
                              <a:alpha val="100000"/>
                            </a:schemeClr>
                          </a:solidFill>
                        </a:rPr>
                        <a:t>1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tx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tx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tx1">
                          <a:alpha val="100000"/>
                        </a:schemeClr>
                      </a:solidFill>
                    </a:lnT>
                    <a:lnB w="38100" cmpd="sng">
                      <a:solidFill>
                        <a:schemeClr val="tx1">
                          <a:alpha val="100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>
                          <a:solidFill>
                            <a:schemeClr val="tx1">
                              <a:alpha val="100000"/>
                            </a:schemeClr>
                          </a:solidFill>
                        </a:rPr>
                        <a:t>1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tx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tx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tx1">
                          <a:alpha val="100000"/>
                        </a:schemeClr>
                      </a:solidFill>
                    </a:lnT>
                    <a:lnB w="38100" cmpd="sng">
                      <a:solidFill>
                        <a:schemeClr val="tx1">
                          <a:alpha val="100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>
                          <a:solidFill>
                            <a:schemeClr val="tx1">
                              <a:alpha val="100000"/>
                            </a:schemeClr>
                          </a:solidFill>
                        </a:rPr>
                        <a:t>1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tx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tx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tx1">
                          <a:alpha val="100000"/>
                        </a:schemeClr>
                      </a:solidFill>
                    </a:lnT>
                    <a:lnB w="38100" cmpd="sng">
                      <a:solidFill>
                        <a:schemeClr val="tx1">
                          <a:alpha val="100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>
                          <a:solidFill>
                            <a:schemeClr val="tx1">
                              <a:alpha val="100000"/>
                            </a:schemeClr>
                          </a:solidFill>
                        </a:rPr>
                        <a:t>0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tx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tx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tx1">
                          <a:alpha val="100000"/>
                        </a:schemeClr>
                      </a:solidFill>
                    </a:lnT>
                    <a:lnB w="38100" cmpd="sng">
                      <a:solidFill>
                        <a:schemeClr val="tx1">
                          <a:alpha val="100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 dirty="false">
                <a:ea typeface="宋体" charset="-122"/>
              </a:rPr>
              <a:t>Segmentation</a:t>
            </a:r>
            <a:endParaRPr kumimoji="true" lang="zh-CN" altLang="en-US" dirty="false"/>
          </a:p>
        </p:txBody>
      </p:sp>
      <p:sp>
        <p:nvSpPr>
          <p:cNvPr id="291" name="内容占位符 2"/>
          <p:cNvSpPr>
            <a:spLocks noGrp="true"/>
          </p:cNvSpPr>
          <p:nvPr>
            <p:ph idx="1"/>
          </p:nvPr>
        </p:nvSpPr>
        <p:spPr>
          <a:xfrm>
            <a:off x="457200" y="1600200"/>
            <a:ext cx="6324600" cy="4419600"/>
          </a:xfrm>
        </p:spPr>
        <p:txBody>
          <a:bodyPr/>
          <a:lstStyle/>
          <a:p>
            <a:pPr>
              <a:buChar char="•"/>
            </a:pPr>
            <a:r>
              <a:rPr lang="en-US" sz="2400"/>
              <a:t>Example: </a:t>
            </a:r>
            <a:r>
              <a:rPr lang="en-US" sz="2400"/>
              <a:t>VA=15KB</a:t>
            </a:r>
            <a:r>
              <a:rPr lang="zh-CN" sz="2400"/>
              <a:t>的</a:t>
            </a:r>
            <a:r>
              <a:rPr lang="zh-CN" sz="2400"/>
              <a:t>负增长</a:t>
            </a:r>
            <a:r>
              <a:rPr lang="zh-CN" sz="2400"/>
              <a:t>地址翻译</a:t>
            </a:r>
            <a:endParaRPr/>
          </a:p>
          <a:p>
            <a:pPr lvl="1">
              <a:buChar char="–"/>
            </a:pPr>
            <a:r>
              <a:rPr lang="en-US" sz="2000"/>
              <a:t>15KB = 11</a:t>
            </a:r>
            <a:r>
              <a:rPr lang="zh-CN" sz="2000"/>
              <a:t> </a:t>
            </a:r>
            <a:r>
              <a:rPr lang="en-US" sz="2000"/>
              <a:t>1100</a:t>
            </a:r>
            <a:r>
              <a:rPr lang="zh-CN" sz="2000"/>
              <a:t> </a:t>
            </a:r>
            <a:r>
              <a:rPr lang="en-US" sz="2000"/>
              <a:t>0000</a:t>
            </a:r>
            <a:r>
              <a:rPr lang="zh-CN" sz="2000"/>
              <a:t> </a:t>
            </a:r>
            <a:r>
              <a:rPr lang="en-US" sz="2000"/>
              <a:t>0000 (</a:t>
            </a:r>
            <a:r>
              <a:rPr lang="en-US" sz="2000"/>
              <a:t>0x3C00)</a:t>
            </a:r>
            <a:endParaRPr/>
          </a:p>
          <a:p>
            <a:pPr lvl="1">
              <a:buChar char="–"/>
            </a:pPr>
            <a:r>
              <a:rPr lang="zh-CN" sz="2000"/>
              <a:t>最高的两位</a:t>
            </a:r>
            <a:r>
              <a:rPr lang="en-US" sz="2000"/>
              <a:t>11</a:t>
            </a:r>
            <a:r>
              <a:rPr lang="zh-CN" sz="2000"/>
              <a:t>确定是</a:t>
            </a:r>
            <a:r>
              <a:rPr lang="en-US" sz="2000"/>
              <a:t>stack segment</a:t>
            </a:r>
            <a:endParaRPr/>
          </a:p>
          <a:p>
            <a:pPr lvl="1">
              <a:buChar char="–"/>
            </a:pPr>
            <a:r>
              <a:rPr lang="en-US" sz="2000"/>
              <a:t>intra-segment offset = 1100 0000 0000 = 3K</a:t>
            </a:r>
            <a:endParaRPr/>
          </a:p>
          <a:p>
            <a:pPr lvl="1">
              <a:buChar char="–"/>
            </a:pPr>
            <a:r>
              <a:rPr lang="en-US" sz="2000"/>
              <a:t>max segment size</a:t>
            </a:r>
            <a:r>
              <a:rPr lang="zh-CN" sz="2000"/>
              <a:t>为</a:t>
            </a:r>
            <a:r>
              <a:rPr lang="en-US" sz="2000"/>
              <a:t>4KB</a:t>
            </a:r>
            <a:endParaRPr/>
          </a:p>
          <a:p>
            <a:pPr lvl="1">
              <a:buChar char="–"/>
            </a:pPr>
            <a:r>
              <a:rPr lang="zh-CN" sz="2000"/>
              <a:t>实际的</a:t>
            </a:r>
            <a:r>
              <a:rPr lang="en-US" sz="2000"/>
              <a:t>stack</a:t>
            </a:r>
            <a:r>
              <a:rPr lang="zh-CN" sz="2000"/>
              <a:t>偏移量</a:t>
            </a:r>
            <a:r>
              <a:rPr lang="en-US" sz="2000"/>
              <a:t>n = 4KB-3KB = 1KB</a:t>
            </a:r>
            <a:endParaRPr/>
          </a:p>
          <a:p>
            <a:pPr lvl="1">
              <a:buChar char="–"/>
            </a:pPr>
            <a:r>
              <a:rPr lang="en-US" sz="2000"/>
              <a:t>PA=2</a:t>
            </a:r>
            <a:r>
              <a:rPr lang="en-US" sz="2000"/>
              <a:t>8KB-1KB=27KB</a:t>
            </a:r>
            <a:r>
              <a:rPr lang="zh-CN" sz="2000"/>
              <a:t> </a:t>
            </a:r>
            <a:endParaRPr lang="zh-CN" sz="2000"/>
          </a:p>
        </p:txBody>
      </p:sp>
      <p:sp>
        <p:nvSpPr>
          <p:cNvPr id="292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EF0B01C9-CC9E-4042-87A9-F49D20F0019F}" type="slidenum">
              <a:rPr lang="zh-CN" altLang="en-US" smtClean="false"/>
              <a:t>23</a:t>
            </a:fld>
            <a:endParaRPr lang="en-US" altLang="zh-CN"/>
          </a:p>
        </p:txBody>
      </p:sp>
      <p:pic>
        <p:nvPicPr>
          <p:cNvPr id="293" name="图片 5"/>
          <p:cNvPicPr>
            <a:picLocks noChangeAspect="true"/>
          </p:cNvPicPr>
          <p:nvPr/>
        </p:nvPicPr>
        <p:blipFill>
          <a:blip r:embed="rId1">
            <a:extLst>
              <a:ext uri="{28A0092B-C50C-407E-A947-70E740481C1C}"/>
            </a:extLst>
          </a:blip>
          <a:stretch>
            <a:fillRect/>
          </a:stretch>
        </p:blipFill>
        <p:spPr>
          <a:xfrm rot="0" flipH="false" flipV="false">
            <a:off x="1688774" y="4534808"/>
            <a:ext cx="5093026" cy="1215141"/>
          </a:xfrm>
          <a:prstGeom prst="rect">
            <a:avLst/>
          </a:prstGeom>
        </p:spPr>
      </p:pic>
      <p:sp>
        <p:nvSpPr>
          <p:cNvPr id="294" name=""/>
          <p:cNvSpPr txBox="true"/>
          <p:nvPr/>
        </p:nvSpPr>
        <p:spPr>
          <a:xfrm rot="0" flipH="false" flipV="false">
            <a:off x="1904184" y="6019800"/>
            <a:ext cx="5187950" cy="393700"/>
          </a:xfrm>
          <a:prstGeom prst="rect">
            <a:avLst/>
          </a:prstGeom>
          <a:ln w="6350">
            <a:prstDash val="solid"/>
          </a:ln>
        </p:spPr>
        <p:txBody>
          <a:bodyPr wrap="square">
            <a:spAutoFit/>
          </a:bodyPr>
          <a:lstStyle/>
          <a:p>
            <a:pPr/>
            <a:r>
              <a:rPr lang="en-US"/>
              <a:t>(</a:t>
            </a:r>
            <a:r>
              <a:rPr lang="zh-CN"/>
              <a:t>实际上</a:t>
            </a:r>
            <a:r>
              <a:rPr lang="en-US"/>
              <a:t>base</a:t>
            </a:r>
            <a:r>
              <a:rPr lang="zh-CN"/>
              <a:t>是</a:t>
            </a:r>
            <a:r>
              <a:rPr lang="en-US"/>
              <a:t>28KB-1, Pa</a:t>
            </a:r>
            <a:r>
              <a:rPr lang="zh-CN"/>
              <a:t>是</a:t>
            </a:r>
            <a:r>
              <a:rPr lang="en-US"/>
              <a:t>27KB-1)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 dirty="false">
                <a:ea typeface="宋体" charset="-122"/>
              </a:rPr>
              <a:t>Segmentation</a:t>
            </a:r>
            <a:endParaRPr kumimoji="true" lang="zh-CN" altLang="en-US" dirty="false"/>
          </a:p>
        </p:txBody>
      </p:sp>
      <p:sp>
        <p:nvSpPr>
          <p:cNvPr id="297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/>
            <a:r>
              <a:rPr kumimoji="true" lang="en-US" altLang="zh-CN" dirty="false"/>
              <a:t>Support for sharing</a:t>
            </a:r>
            <a:endParaRPr/>
          </a:p>
          <a:p>
            <a:pPr lvl="1"/>
            <a:r>
              <a:rPr lang="zh-CN" altLang="en-US" dirty="false"/>
              <a:t>进程之间共享一部分内存</a:t>
            </a:r>
            <a:endParaRPr lang="en-US" altLang="zh-CN" dirty="false"/>
          </a:p>
          <a:p>
            <a:pPr lvl="2"/>
            <a:r>
              <a:rPr kumimoji="true" lang="zh-CN" altLang="en-US" dirty="false"/>
              <a:t>例如代码库（共享代码）</a:t>
            </a:r>
            <a:endParaRPr kumimoji="true" lang="en-US" altLang="zh-CN" dirty="false"/>
          </a:p>
          <a:p>
            <a:pPr lvl="1"/>
            <a:r>
              <a:rPr kumimoji="true" lang="en-US" altLang="zh-CN" dirty="false"/>
              <a:t>Sharing</a:t>
            </a:r>
            <a:r>
              <a:rPr kumimoji="true" lang="zh-CN" altLang="en-US" dirty="false"/>
              <a:t>需要硬件提供一点额外的支持</a:t>
            </a:r>
            <a:endParaRPr kumimoji="true" lang="en-US" altLang="zh-CN" dirty="false"/>
          </a:p>
          <a:p>
            <a:pPr lvl="2"/>
            <a:r>
              <a:rPr lang="zh-CN" altLang="en-US" dirty="false"/>
              <a:t>标记</a:t>
            </a:r>
            <a:r>
              <a:rPr lang="en-US" altLang="zh-CN" dirty="false"/>
              <a:t>segment</a:t>
            </a:r>
            <a:r>
              <a:rPr lang="zh-CN" altLang="en-US" dirty="false"/>
              <a:t>的权限（</a:t>
            </a:r>
            <a:r>
              <a:rPr lang="en-US" altLang="zh-CN" dirty="false"/>
              <a:t>R/W/E</a:t>
            </a:r>
            <a:r>
              <a:rPr lang="zh-CN" altLang="en-US" dirty="false"/>
              <a:t>）</a:t>
            </a:r>
            <a:endParaRPr lang="en-US" altLang="zh-CN" dirty="false"/>
          </a:p>
          <a:p>
            <a:pPr lvl="2"/>
            <a:r>
              <a:rPr lang="zh-CN" altLang="en-US" dirty="false"/>
              <a:t>例如</a:t>
            </a:r>
            <a:r>
              <a:rPr lang="en-US" altLang="zh-CN" dirty="false"/>
              <a:t>code segment</a:t>
            </a:r>
            <a:r>
              <a:rPr lang="zh-CN" altLang="en-US" dirty="false"/>
              <a:t>可读可执行，但不可写；</a:t>
            </a:r>
            <a:r>
              <a:rPr lang="en-US" altLang="zh-CN" dirty="false"/>
              <a:t>heap</a:t>
            </a:r>
            <a:r>
              <a:rPr lang="zh-CN" altLang="en-US" dirty="false"/>
              <a:t>和</a:t>
            </a:r>
            <a:r>
              <a:rPr lang="en-US" altLang="zh-CN" dirty="false"/>
              <a:t>stack</a:t>
            </a:r>
            <a:r>
              <a:rPr lang="zh-CN" altLang="en-US" dirty="false"/>
              <a:t>不可执行</a:t>
            </a:r>
            <a:endParaRPr lang="en-US" altLang="zh-CN" dirty="false"/>
          </a:p>
          <a:p>
            <a:pPr lvl="2"/>
            <a:endParaRPr kumimoji="true" lang="zh-CN" altLang="en-US" dirty="false"/>
          </a:p>
        </p:txBody>
      </p:sp>
      <p:sp>
        <p:nvSpPr>
          <p:cNvPr id="298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EF0B01C9-CC9E-4042-87A9-F49D20F0019F}" type="slidenum">
              <a:rPr lang="zh-CN" altLang="en-US" smtClean="false"/>
              <a:t>24</a:t>
            </a:fld>
            <a:endParaRPr lang="en-US" altLang="zh-CN" dirty="false"/>
          </a:p>
        </p:txBody>
      </p:sp>
      <p:pic>
        <p:nvPicPr>
          <p:cNvPr id="299" name="图片 4"/>
          <p:cNvPicPr>
            <a:picLocks noChangeAspect="true"/>
          </p:cNvPicPr>
          <p:nvPr/>
        </p:nvPicPr>
        <p:blipFill rotWithShape="true">
          <a:blip r:embed="rId1">
            <a:extLst>
              <a:ext uri="{28A0092B-C50C-407E-A947-70E740481C1C}"/>
            </a:extLst>
          </a:blip>
          <a:srcRect t="5737"/>
          <a:stretch>
            <a:fillRect/>
          </a:stretch>
        </p:blipFill>
        <p:spPr>
          <a:xfrm>
            <a:off x="1130300" y="4572000"/>
            <a:ext cx="6959600" cy="125188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>
  <p:cSld>
    <p:spTree>
      <p:nvGrpSpPr>
        <p:cNvPr id="3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 dirty="false">
                <a:ea typeface="宋体" charset="-122"/>
              </a:rPr>
              <a:t>Segmentation</a:t>
            </a:r>
            <a:endParaRPr kumimoji="true" lang="zh-CN" altLang="en-US" dirty="false"/>
          </a:p>
        </p:txBody>
      </p:sp>
      <p:sp>
        <p:nvSpPr>
          <p:cNvPr id="302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 altLang="zh-CN" dirty="false"/>
              <a:t>Fine-grained vs. Coarse-grained Segmentation </a:t>
            </a:r>
            <a:endParaRPr/>
          </a:p>
          <a:p>
            <a:pPr lvl="1"/>
            <a:r>
              <a:rPr lang="en-US" altLang="zh-CN" dirty="false"/>
              <a:t>Coarse-grained</a:t>
            </a:r>
            <a:endParaRPr/>
          </a:p>
          <a:p>
            <a:pPr lvl="2"/>
            <a:r>
              <a:rPr kumimoji="true" lang="en-US" altLang="zh-CN" dirty="false"/>
              <a:t>Code, heap, stack</a:t>
            </a:r>
            <a:endParaRPr/>
          </a:p>
          <a:p>
            <a:pPr lvl="1"/>
            <a:r>
              <a:rPr lang="en-US" altLang="zh-CN" dirty="false"/>
              <a:t>Fine-grained</a:t>
            </a:r>
            <a:endParaRPr/>
          </a:p>
          <a:p>
            <a:pPr lvl="2"/>
            <a:r>
              <a:rPr lang="zh-CN" altLang="en-US" dirty="false"/>
              <a:t>例如</a:t>
            </a:r>
            <a:r>
              <a:rPr lang="en-US" altLang="zh-CN" dirty="false"/>
              <a:t>Multics</a:t>
            </a:r>
            <a:endParaRPr/>
          </a:p>
          <a:p>
            <a:pPr lvl="2"/>
            <a:r>
              <a:rPr lang="zh-CN" altLang="en-US" dirty="false"/>
              <a:t>需要更大空间记录</a:t>
            </a:r>
            <a:r>
              <a:rPr lang="en-US" altLang="zh-CN" dirty="false"/>
              <a:t>segment</a:t>
            </a:r>
            <a:r>
              <a:rPr lang="zh-CN" altLang="en-US" dirty="false"/>
              <a:t>状态</a:t>
            </a:r>
            <a:endParaRPr lang="en-US" altLang="zh-CN" dirty="false"/>
          </a:p>
          <a:p>
            <a:pPr lvl="2"/>
            <a:r>
              <a:rPr kumimoji="true" lang="en-US" altLang="zh-CN" dirty="false"/>
              <a:t>Segment table</a:t>
            </a:r>
            <a:r>
              <a:rPr kumimoji="true" lang="zh-CN" altLang="en-US" dirty="false"/>
              <a:t>，放在</a:t>
            </a:r>
            <a:r>
              <a:rPr kumimoji="true" lang="en-US" altLang="zh-CN" dirty="false"/>
              <a:t>memory</a:t>
            </a:r>
            <a:r>
              <a:rPr kumimoji="true" lang="zh-CN" altLang="en-US" dirty="false"/>
              <a:t>中</a:t>
            </a:r>
            <a:endParaRPr kumimoji="true" lang="en-US" altLang="zh-CN" dirty="false"/>
          </a:p>
          <a:p>
            <a:pPr lvl="2"/>
            <a:r>
              <a:rPr lang="zh-CN" altLang="en-US" dirty="false"/>
              <a:t>如早期计算机</a:t>
            </a:r>
            <a:r>
              <a:rPr lang="en-US" altLang="zh-CN" dirty="false"/>
              <a:t>Burroughs B5000</a:t>
            </a:r>
            <a:r>
              <a:rPr lang="zh-CN" altLang="en-US" dirty="false"/>
              <a:t>支持上千个</a:t>
            </a:r>
            <a:r>
              <a:rPr lang="en-US" altLang="zh-CN" dirty="false"/>
              <a:t>segments</a:t>
            </a:r>
            <a:r>
              <a:rPr lang="zh-CN" altLang="en-US" dirty="false"/>
              <a:t>，</a:t>
            </a:r>
            <a:r>
              <a:rPr lang="en-US" altLang="zh-CN" dirty="false"/>
              <a:t>compiler</a:t>
            </a:r>
            <a:r>
              <a:rPr lang="zh-CN" altLang="en-US" dirty="false"/>
              <a:t>决策把</a:t>
            </a:r>
            <a:r>
              <a:rPr lang="en-US" altLang="zh-CN" dirty="false"/>
              <a:t>code</a:t>
            </a:r>
            <a:r>
              <a:rPr lang="zh-CN" altLang="en-US" dirty="false"/>
              <a:t>和</a:t>
            </a:r>
            <a:r>
              <a:rPr lang="en-US" altLang="zh-CN" dirty="false"/>
              <a:t>data</a:t>
            </a:r>
            <a:r>
              <a:rPr lang="zh-CN" altLang="en-US" dirty="false"/>
              <a:t>放到这些</a:t>
            </a:r>
            <a:r>
              <a:rPr lang="en-US" altLang="zh-CN" dirty="false"/>
              <a:t>segments</a:t>
            </a:r>
            <a:r>
              <a:rPr lang="zh-CN" altLang="en-US" dirty="false"/>
              <a:t>中</a:t>
            </a:r>
            <a:endParaRPr lang="en-US" altLang="zh-CN" dirty="false"/>
          </a:p>
        </p:txBody>
      </p:sp>
      <p:sp>
        <p:nvSpPr>
          <p:cNvPr id="303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EF0B01C9-CC9E-4042-87A9-F49D20F0019F}" type="slidenum">
              <a:rPr lang="zh-CN" altLang="en-US" smtClean="false"/>
              <a:t>25</a:t>
            </a:fld>
            <a:endParaRPr lang="en-US" altLang="zh-CN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>
  <p:cSld>
    <p:spTree>
      <p:nvGrpSpPr>
        <p:cNvPr id="30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Multics</a:t>
            </a:r>
            <a:endParaRPr lang="zh-CN"/>
          </a:p>
        </p:txBody>
      </p:sp>
      <p:sp>
        <p:nvSpPr>
          <p:cNvPr id="306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>
              <a:buChar char="•"/>
            </a:pPr>
            <a:r>
              <a:rPr lang="en-US" sz="2400"/>
              <a:t>Multics</a:t>
            </a:r>
            <a:r>
              <a:rPr lang="zh-CN" sz="2400"/>
              <a:t>是</a:t>
            </a:r>
            <a:r>
              <a:rPr lang="en-US" sz="2400"/>
              <a:t>MIT, </a:t>
            </a:r>
            <a:r>
              <a:rPr lang="en-US" sz="2400"/>
              <a:t>GE, </a:t>
            </a:r>
            <a:r>
              <a:rPr lang="en-US" sz="2400"/>
              <a:t>AT&amp;T</a:t>
            </a:r>
            <a:r>
              <a:rPr lang="zh-CN" sz="2400"/>
              <a:t>贝尔实验室合作的</a:t>
            </a:r>
            <a:r>
              <a:rPr lang="en-US" sz="2400"/>
              <a:t>OS</a:t>
            </a:r>
            <a:r>
              <a:rPr lang="zh-CN" sz="2400"/>
              <a:t>研究项目</a:t>
            </a:r>
            <a:endParaRPr/>
          </a:p>
          <a:p>
            <a:pPr>
              <a:buChar char="•"/>
            </a:pPr>
            <a:r>
              <a:rPr lang="en-US" sz="2400"/>
              <a:t>1964</a:t>
            </a:r>
            <a:r>
              <a:rPr lang="zh-CN" sz="2400"/>
              <a:t>年</a:t>
            </a:r>
            <a:r>
              <a:rPr lang="en-US" sz="2400"/>
              <a:t>-1970</a:t>
            </a:r>
            <a:r>
              <a:rPr lang="zh-CN" sz="2400"/>
              <a:t>年，提出了很多对现代</a:t>
            </a:r>
            <a:r>
              <a:rPr lang="en-US" sz="2400"/>
              <a:t>OS</a:t>
            </a:r>
            <a:r>
              <a:rPr lang="zh-CN" sz="2400"/>
              <a:t>影响深远的技术</a:t>
            </a:r>
            <a:endParaRPr/>
          </a:p>
          <a:p>
            <a:pPr>
              <a:buChar char="•"/>
            </a:pPr>
            <a:endParaRPr lang="en-US" sz="2400"/>
          </a:p>
          <a:p>
            <a:pPr>
              <a:buChar char="•"/>
            </a:pPr>
            <a:r>
              <a:rPr lang="zh-CN" sz="2400"/>
              <a:t>贝尔实验室在</a:t>
            </a:r>
            <a:r>
              <a:rPr lang="en-US" sz="2400"/>
              <a:t>Multics</a:t>
            </a:r>
            <a:r>
              <a:rPr lang="zh-CN" sz="2400"/>
              <a:t>基础上，于</a:t>
            </a:r>
            <a:r>
              <a:rPr lang="en-US" sz="2400"/>
              <a:t>1969</a:t>
            </a:r>
            <a:r>
              <a:rPr lang="zh-CN" sz="2400"/>
              <a:t>年开始研发</a:t>
            </a:r>
            <a:r>
              <a:rPr lang="en-US" sz="2400"/>
              <a:t>Unix</a:t>
            </a:r>
            <a:endParaRPr/>
          </a:p>
          <a:p>
            <a:pPr>
              <a:buChar char="•"/>
            </a:pPr>
            <a:r>
              <a:rPr lang="en-US" sz="2400"/>
              <a:t>Unix</a:t>
            </a:r>
            <a:r>
              <a:rPr lang="zh-CN" sz="2400"/>
              <a:t>的</a:t>
            </a:r>
            <a:r>
              <a:rPr lang="en-US" sz="2400"/>
              <a:t>epoch time</a:t>
            </a:r>
            <a:r>
              <a:rPr lang="zh-CN" sz="2400"/>
              <a:t>是</a:t>
            </a:r>
            <a:r>
              <a:rPr lang="en-US" sz="2400"/>
              <a:t>1970-01-01 00:00:00 </a:t>
            </a:r>
            <a:r>
              <a:rPr lang="en-US" sz="2400"/>
              <a:t>UTC</a:t>
            </a:r>
            <a:endParaRPr/>
          </a:p>
          <a:p>
            <a:pPr>
              <a:buChar char="•"/>
            </a:pPr>
            <a:r>
              <a:rPr lang="en-US" sz="2400"/>
              <a:t>Unix</a:t>
            </a:r>
            <a:r>
              <a:rPr lang="zh-CN" sz="2400"/>
              <a:t>最早运行在</a:t>
            </a:r>
            <a:r>
              <a:rPr lang="en-US" sz="2400"/>
              <a:t>PDP</a:t>
            </a:r>
            <a:r>
              <a:rPr lang="zh-CN" sz="2400"/>
              <a:t>和</a:t>
            </a:r>
            <a:r>
              <a:rPr lang="en-US" sz="2400"/>
              <a:t>VAX</a:t>
            </a:r>
            <a:r>
              <a:rPr lang="zh-CN" sz="2400"/>
              <a:t>小型</a:t>
            </a:r>
            <a:r>
              <a:rPr lang="zh-CN" sz="2400"/>
              <a:t>计算机上</a:t>
            </a:r>
            <a:r>
              <a:rPr lang="en-US" sz="2400"/>
              <a:t> </a:t>
            </a:r>
            <a:endParaRPr/>
          </a:p>
          <a:p>
            <a:pPr>
              <a:buChar char="•"/>
            </a:pPr>
            <a:r>
              <a:rPr lang="en-US" sz="2400"/>
              <a:t>1970s</a:t>
            </a:r>
            <a:r>
              <a:rPr lang="zh-CN" sz="2400"/>
              <a:t>，在研发</a:t>
            </a:r>
            <a:r>
              <a:rPr lang="en-US" sz="2400"/>
              <a:t>Unix</a:t>
            </a:r>
            <a:r>
              <a:rPr lang="zh-CN" sz="2400"/>
              <a:t>过程中，研发了</a:t>
            </a:r>
            <a:r>
              <a:rPr lang="en-US" sz="2400"/>
              <a:t>C</a:t>
            </a:r>
            <a:r>
              <a:rPr lang="zh-CN" sz="2400"/>
              <a:t>语言</a:t>
            </a:r>
            <a:endParaRPr/>
          </a:p>
        </p:txBody>
      </p:sp>
      <p:sp>
        <p:nvSpPr>
          <p:cNvPr id="307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EF0B01C9-CC9E-4042-87A9-F49D20F0019F}" type="slidenum">
              <a:rPr lang="zh-CN" altLang="en-US" smtClean="false"/>
              <a:t>17</a:t>
            </a:fld>
            <a:endParaRPr lang="en-US" altLang="zh-CN"/>
          </a:p>
        </p:txBody>
      </p:sp>
      <p:sp>
        <p:nvSpPr>
          <p:cNvPr id="308" name=""/>
          <p:cNvSpPr txBox="true"/>
          <p:nvPr/>
        </p:nvSpPr>
        <p:spPr>
          <a:xfrm rot="0" flipH="false" flipV="false">
            <a:off x="457200" y="176348"/>
            <a:ext cx="1193800" cy="393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zh-CN">
                <a:solidFill>
                  <a:schemeClr val="bg1">
                    <a:lumMod val="65000"/>
                    <a:alpha val="100000"/>
                  </a:schemeClr>
                </a:solidFill>
              </a:rPr>
              <a:t>扩展内容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>
  <p:cSld>
    <p:spTree>
      <p:nvGrpSpPr>
        <p:cNvPr id="3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 dirty="false">
                <a:ea typeface="宋体" charset="-122"/>
              </a:rPr>
              <a:t>Segmentation</a:t>
            </a:r>
            <a:endParaRPr kumimoji="true" lang="zh-CN" altLang="en-US" dirty="false"/>
          </a:p>
        </p:txBody>
      </p:sp>
      <p:sp>
        <p:nvSpPr>
          <p:cNvPr id="311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>
              <a:buChar char="•"/>
            </a:pPr>
            <a:r>
              <a:rPr lang="en-US"/>
              <a:t>OS</a:t>
            </a:r>
            <a:r>
              <a:rPr lang="zh-CN"/>
              <a:t> </a:t>
            </a:r>
            <a:r>
              <a:rPr lang="en-US"/>
              <a:t>Support</a:t>
            </a:r>
            <a:endParaRPr/>
          </a:p>
          <a:p>
            <a:pPr lvl="1">
              <a:buChar char="–"/>
            </a:pPr>
            <a:r>
              <a:rPr lang="en-US"/>
              <a:t>#1. context switch</a:t>
            </a:r>
            <a:endParaRPr/>
          </a:p>
          <a:p>
            <a:pPr lvl="2">
              <a:buChar char="•"/>
            </a:pPr>
            <a:r>
              <a:rPr lang="zh-CN"/>
              <a:t>每个进程的每个</a:t>
            </a:r>
            <a:r>
              <a:rPr lang="en-US"/>
              <a:t>segment</a:t>
            </a:r>
            <a:r>
              <a:rPr lang="zh-CN"/>
              <a:t>的</a:t>
            </a:r>
            <a:r>
              <a:rPr lang="en-US"/>
              <a:t>base, bounds</a:t>
            </a:r>
            <a:r>
              <a:rPr lang="zh-CN"/>
              <a:t>等信息需要在切换时保存和恢复</a:t>
            </a:r>
            <a:endParaRPr lang="en-US"/>
          </a:p>
          <a:p>
            <a:pPr lvl="1">
              <a:buChar char="–"/>
            </a:pPr>
            <a:r>
              <a:rPr lang="en-US"/>
              <a:t>#2. free space management</a:t>
            </a:r>
            <a:endParaRPr/>
          </a:p>
          <a:p>
            <a:pPr lvl="2">
              <a:buChar char="•"/>
            </a:pPr>
            <a:r>
              <a:rPr lang="zh-CN"/>
              <a:t>随着进程创建和结束，产生物理内存的</a:t>
            </a:r>
            <a:r>
              <a:rPr lang="en-US"/>
              <a:t>external </a:t>
            </a:r>
            <a:r>
              <a:rPr lang="en-US"/>
              <a:t>fragmentation</a:t>
            </a:r>
            <a:r>
              <a:rPr lang="zh-CN"/>
              <a:t>问题</a:t>
            </a:r>
            <a:endParaRPr/>
          </a:p>
          <a:p>
            <a:pPr lvl="2">
              <a:buChar char="•"/>
            </a:pPr>
            <a:r>
              <a:rPr lang="zh-CN"/>
              <a:t>需要进行物理内存的</a:t>
            </a:r>
            <a:r>
              <a:rPr lang="en-US"/>
              <a:t>Compaction</a:t>
            </a:r>
            <a:r>
              <a:rPr lang="zh-CN"/>
              <a:t>操作，这需要停止所有进程的执行，并修改各个进程中的</a:t>
            </a:r>
            <a:r>
              <a:rPr lang="en-US"/>
              <a:t>base</a:t>
            </a:r>
            <a:r>
              <a:rPr lang="zh-CN"/>
              <a:t>和</a:t>
            </a:r>
            <a:r>
              <a:rPr lang="en-US"/>
              <a:t>bounds</a:t>
            </a:r>
            <a:endParaRPr/>
          </a:p>
        </p:txBody>
      </p:sp>
      <p:sp>
        <p:nvSpPr>
          <p:cNvPr id="312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EF0B01C9-CC9E-4042-87A9-F49D20F0019F}" type="slidenum">
              <a:rPr lang="zh-CN" altLang="en-US" smtClean="false"/>
              <a:t>26</a:t>
            </a:fld>
            <a:endParaRPr lang="en-US" altLang="zh-CN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 dirty="false">
                <a:ea typeface="宋体" charset="-122"/>
              </a:rPr>
              <a:t>Segmentation</a:t>
            </a:r>
            <a:endParaRPr kumimoji="true" lang="zh-CN" altLang="en-US" dirty="false"/>
          </a:p>
        </p:txBody>
      </p:sp>
      <p:sp>
        <p:nvSpPr>
          <p:cNvPr id="315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 altLang="zh-CN" dirty="false"/>
              <a:t>OS</a:t>
            </a:r>
            <a:r>
              <a:rPr lang="zh-CN" altLang="en-US" dirty="false"/>
              <a:t> </a:t>
            </a:r>
            <a:r>
              <a:rPr lang="en-US" altLang="zh-CN" dirty="false"/>
              <a:t>Support</a:t>
            </a:r>
            <a:endParaRPr/>
          </a:p>
          <a:p>
            <a:pPr lvl="1"/>
            <a:r>
              <a:rPr lang="en-US" altLang="zh-CN" dirty="false"/>
              <a:t>#2. free space management</a:t>
            </a:r>
            <a:endParaRPr/>
          </a:p>
          <a:p>
            <a:pPr lvl="2"/>
            <a:r>
              <a:rPr lang="en-US" altLang="zh-CN" dirty="false"/>
              <a:t>Compaction</a:t>
            </a:r>
            <a:r>
              <a:rPr lang="zh-CN" altLang="en-US" dirty="false"/>
              <a:t>操作：</a:t>
            </a:r>
            <a:r>
              <a:rPr lang="en-US" altLang="zh-CN" dirty="false"/>
              <a:t>expensive</a:t>
            </a:r>
            <a:endParaRPr/>
          </a:p>
          <a:p>
            <a:pPr/>
            <a:endParaRPr kumimoji="true" lang="zh-CN" altLang="en-US" dirty="false"/>
          </a:p>
        </p:txBody>
      </p:sp>
      <p:sp>
        <p:nvSpPr>
          <p:cNvPr id="316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EF0B01C9-CC9E-4042-87A9-F49D20F0019F}" type="slidenum">
              <a:rPr lang="zh-CN" altLang="en-US" smtClean="false"/>
              <a:t>27</a:t>
            </a:fld>
            <a:endParaRPr lang="en-US" altLang="zh-CN"/>
          </a:p>
        </p:txBody>
      </p:sp>
      <p:pic>
        <p:nvPicPr>
          <p:cNvPr id="317" name="图片 4"/>
          <p:cNvPicPr>
            <a:picLocks noChangeAspect="true"/>
          </p:cNvPicPr>
          <p:nvPr/>
        </p:nvPicPr>
        <p:blipFill>
          <a:blip r:embed="rId1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1676399" y="2895600"/>
            <a:ext cx="5496697" cy="3886200"/>
          </a:xfrm>
          <a:prstGeom prst="rect">
            <a:avLst/>
          </a:prstGeom>
        </p:spPr>
      </p:pic>
      <p:sp>
        <p:nvSpPr>
          <p:cNvPr id="318" name=""/>
          <p:cNvSpPr/>
          <p:nvPr/>
        </p:nvSpPr>
        <p:spPr>
          <a:xfrm rot="0">
            <a:off x="4114800" y="4336869"/>
            <a:ext cx="666205" cy="574765"/>
          </a:xfrm>
          <a:prstGeom prst="rightArrow">
            <a:avLst/>
          </a:prstGeom>
          <a:solidFill>
            <a:schemeClr val="accent1">
              <a:alpha val="100000"/>
            </a:scheme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p>
            <a:pPr algn="ctr"/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>
  <p:cSld>
    <p:spTree>
      <p:nvGrpSpPr>
        <p:cNvPr id="3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 dirty="false">
                <a:ea typeface="宋体" charset="-122"/>
              </a:rPr>
              <a:t>Segmentation</a:t>
            </a:r>
            <a:endParaRPr kumimoji="true" lang="zh-CN" altLang="en-US" dirty="false"/>
          </a:p>
        </p:txBody>
      </p:sp>
      <p:sp>
        <p:nvSpPr>
          <p:cNvPr id="325" name="内容占位符 2"/>
          <p:cNvSpPr>
            <a:spLocks noGrp="true"/>
          </p:cNvSpPr>
          <p:nvPr>
            <p:ph idx="1"/>
          </p:nvPr>
        </p:nvSpPr>
        <p:spPr>
          <a:xfrm>
            <a:off x="457200" y="1600200"/>
            <a:ext cx="8305800" cy="3200400"/>
          </a:xfrm>
        </p:spPr>
        <p:txBody>
          <a:bodyPr/>
          <a:lstStyle/>
          <a:p>
            <a:pPr>
              <a:buChar char="•"/>
            </a:pPr>
            <a:r>
              <a:rPr lang="en-US"/>
              <a:t>OS</a:t>
            </a:r>
            <a:r>
              <a:rPr lang="zh-CN"/>
              <a:t> </a:t>
            </a:r>
            <a:r>
              <a:rPr lang="en-US"/>
              <a:t>Support</a:t>
            </a:r>
            <a:endParaRPr/>
          </a:p>
          <a:p>
            <a:pPr lvl="1">
              <a:buChar char="–"/>
            </a:pPr>
            <a:r>
              <a:rPr lang="en-US"/>
              <a:t>#2. free space management</a:t>
            </a:r>
            <a:endParaRPr/>
          </a:p>
          <a:p>
            <a:pPr lvl="2">
              <a:buChar char="•"/>
            </a:pPr>
            <a:r>
              <a:rPr lang="zh-CN"/>
              <a:t>维护物理内存的</a:t>
            </a:r>
            <a:r>
              <a:rPr lang="en-US"/>
              <a:t>Free list (</a:t>
            </a:r>
            <a:r>
              <a:rPr lang="en-US"/>
              <a:t>malloc</a:t>
            </a:r>
            <a:r>
              <a:rPr lang="zh-CN"/>
              <a:t>也是类似问题</a:t>
            </a:r>
            <a:r>
              <a:rPr lang="en-US"/>
              <a:t>)</a:t>
            </a:r>
            <a:endParaRPr/>
          </a:p>
          <a:p>
            <a:pPr lvl="3">
              <a:buChar char="–"/>
            </a:pPr>
            <a:r>
              <a:rPr lang="en-US" b="true"/>
              <a:t>best-fit </a:t>
            </a:r>
            <a:endParaRPr lang="en-US"/>
          </a:p>
          <a:p>
            <a:pPr lvl="3">
              <a:buChar char="–"/>
            </a:pPr>
            <a:r>
              <a:rPr lang="en-US" b="true"/>
              <a:t>worst-fit </a:t>
            </a:r>
            <a:endParaRPr lang="en-US"/>
          </a:p>
          <a:p>
            <a:pPr lvl="3">
              <a:buChar char="–"/>
            </a:pPr>
            <a:r>
              <a:rPr lang="en-US" b="true"/>
              <a:t>first-fit </a:t>
            </a:r>
            <a:endParaRPr lang="en-US"/>
          </a:p>
          <a:p>
            <a:pPr lvl="3">
              <a:buChar char="–"/>
            </a:pPr>
            <a:r>
              <a:rPr lang="en-US" b="true"/>
              <a:t>buddy algorithm </a:t>
            </a:r>
            <a:endParaRPr lang="en-US"/>
          </a:p>
          <a:p>
            <a:pPr lvl="3">
              <a:buChar char="–"/>
            </a:pPr>
            <a:r>
              <a:rPr lang="en-US"/>
              <a:t>… </a:t>
            </a:r>
            <a:r>
              <a:rPr lang="zh-CN"/>
              <a:t>上百个策略</a:t>
            </a:r>
            <a:endParaRPr lang="en-US"/>
          </a:p>
          <a:p>
            <a:pPr>
              <a:buChar char="•"/>
            </a:pPr>
            <a:endParaRPr lang="zh-CN"/>
          </a:p>
        </p:txBody>
      </p:sp>
      <p:sp>
        <p:nvSpPr>
          <p:cNvPr id="326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EF0B01C9-CC9E-4042-87A9-F49D20F0019F}" type="slidenum">
              <a:rPr lang="zh-CN" altLang="en-US" smtClean="false"/>
              <a:t>28</a:t>
            </a:fld>
            <a:endParaRPr lang="en-US" altLang="zh-CN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>
  <p:cSld>
    <p:spTree>
      <p:nvGrpSpPr>
        <p:cNvPr id="3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Segmentation</a:t>
            </a:r>
            <a:endParaRPr kumimoji="true" lang="zh-CN" altLang="en-US" dirty="false"/>
          </a:p>
        </p:txBody>
      </p:sp>
      <p:sp>
        <p:nvSpPr>
          <p:cNvPr id="329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>
              <a:buChar char="•"/>
            </a:pPr>
            <a:r>
              <a:rPr lang="en-US">
                <a:latin typeface="Comic Sans MS"/>
                <a:ea typeface="宋体"/>
                <a:cs typeface="宋体"/>
              </a:rPr>
              <a:t>Segmentation</a:t>
            </a:r>
            <a:r>
              <a:rPr lang="zh-CN">
                <a:latin typeface="Comic Sans MS"/>
                <a:ea typeface="宋体"/>
                <a:cs typeface="宋体"/>
              </a:rPr>
              <a:t>的局限性：</a:t>
            </a:r>
            <a:endParaRPr lang="en-US"/>
          </a:p>
          <a:p>
            <a:pPr lvl="1">
              <a:buChar char="–"/>
            </a:pPr>
            <a:r>
              <a:rPr lang="zh-CN"/>
              <a:t>空间回收开销</a:t>
            </a:r>
            <a:endParaRPr/>
          </a:p>
          <a:p>
            <a:pPr lvl="1">
              <a:buChar char="–"/>
            </a:pPr>
            <a:r>
              <a:rPr lang="zh-CN"/>
              <a:t>不够灵活</a:t>
            </a:r>
            <a:r>
              <a:rPr lang="en-US"/>
              <a:t> </a:t>
            </a:r>
            <a:endParaRPr/>
          </a:p>
          <a:p>
            <a:pPr lvl="2">
              <a:buChar char="•"/>
            </a:pPr>
            <a:r>
              <a:rPr lang="zh-CN"/>
              <a:t>如果一个进程的</a:t>
            </a:r>
            <a:r>
              <a:rPr lang="en-US"/>
              <a:t>heap segment</a:t>
            </a:r>
            <a:r>
              <a:rPr lang="zh-CN"/>
              <a:t>非常</a:t>
            </a:r>
            <a:r>
              <a:rPr lang="en-US"/>
              <a:t>sparse</a:t>
            </a:r>
            <a:r>
              <a:rPr lang="zh-CN"/>
              <a:t>，却依然要占用很大的一块内存</a:t>
            </a:r>
            <a:r>
              <a:rPr lang="en-US"/>
              <a:t> </a:t>
            </a:r>
            <a:endParaRPr/>
          </a:p>
          <a:p>
            <a:pPr>
              <a:buChar char="•"/>
            </a:pPr>
            <a:endParaRPr lang="zh-CN"/>
          </a:p>
        </p:txBody>
      </p:sp>
      <p:sp>
        <p:nvSpPr>
          <p:cNvPr id="330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EF0B01C9-CC9E-4042-87A9-F49D20F0019F}" type="slidenum">
              <a:rPr lang="zh-CN" altLang="en-US" smtClean="false"/>
              <a:t>29</a:t>
            </a:fld>
            <a:endParaRPr lang="en-US" altLang="zh-CN"/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16="http://schemas.microsoft.com/office/drawing/2014/main" xmlns:a="http://schemas.openxmlformats.org/drawingml/2006/main" xmlns:mc="http://schemas.openxmlformats.org/markup-compatibility/2006" mc:Ignorable="a16">
  <p:cSld>
    <p:spTree>
      <p:nvGrpSpPr>
        <p:cNvPr id="3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kumimoji="true" lang="zh-CN" altLang="en-US" dirty="false"/>
              <a:t>课堂练习</a:t>
            </a:r>
            <a:endParaRPr/>
          </a:p>
        </p:txBody>
      </p:sp>
      <p:sp>
        <p:nvSpPr>
          <p:cNvPr id="333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/>
            <a:r>
              <a:rPr kumimoji="true" lang="zh-CN" altLang="en-US" sz="2400" dirty="false"/>
              <a:t>一个计算机虚拟内存空间大小为</a:t>
            </a:r>
            <a:r>
              <a:rPr kumimoji="true" lang="en-US" altLang="zh-CN" sz="2400" dirty="false"/>
              <a:t>1MB</a:t>
            </a:r>
            <a:r>
              <a:rPr kumimoji="true" lang="zh-CN" altLang="en-US" sz="2400" dirty="false"/>
              <a:t>，物理内存空间大小为</a:t>
            </a:r>
            <a:r>
              <a:rPr kumimoji="true" lang="en-US" altLang="zh-CN" sz="2400" dirty="false"/>
              <a:t>8MB</a:t>
            </a:r>
            <a:r>
              <a:rPr lang="zh-CN" altLang="en-US" sz="2400" dirty="false"/>
              <a:t>。虚存空间依次分为</a:t>
            </a:r>
            <a:r>
              <a:rPr lang="en-US" altLang="zh-CN" sz="2400" dirty="false"/>
              <a:t>4</a:t>
            </a:r>
            <a:r>
              <a:rPr lang="zh-CN" altLang="en-US" sz="2400" dirty="false"/>
              <a:t>个</a:t>
            </a:r>
            <a:r>
              <a:rPr lang="en-US" altLang="zh-CN" sz="2400" dirty="false"/>
              <a:t>segment</a:t>
            </a:r>
            <a:r>
              <a:rPr lang="zh-CN" altLang="en-US" sz="2400" dirty="false"/>
              <a:t>（</a:t>
            </a:r>
            <a:r>
              <a:rPr lang="en-US" altLang="zh-CN" sz="2400" dirty="false"/>
              <a:t>code, data, heap, stack</a:t>
            </a:r>
            <a:r>
              <a:rPr lang="zh-CN" altLang="en-US" sz="2400" dirty="false"/>
              <a:t>），采用</a:t>
            </a:r>
            <a:r>
              <a:rPr lang="en-US" altLang="zh-CN" sz="2400" dirty="false"/>
              <a:t>segmentation</a:t>
            </a:r>
            <a:r>
              <a:rPr lang="zh-CN" altLang="en-US" sz="2400" dirty="false"/>
              <a:t>内存管理，用</a:t>
            </a:r>
            <a:r>
              <a:rPr lang="en-US" altLang="zh-CN" sz="2400" dirty="false" err="true"/>
              <a:t>Va</a:t>
            </a:r>
            <a:r>
              <a:rPr lang="zh-CN" altLang="en-US" sz="2400" dirty="false"/>
              <a:t>最高两位标记</a:t>
            </a:r>
            <a:r>
              <a:rPr lang="en-US" altLang="zh-CN" sz="2400" dirty="false"/>
              <a:t>segment</a:t>
            </a:r>
            <a:r>
              <a:rPr lang="zh-CN" altLang="en-US" sz="2400" dirty="false"/>
              <a:t>，有寄存器记录下列信息：</a:t>
            </a:r>
            <a:endParaRPr lang="en-US" altLang="zh-CN" sz="2400" dirty="false"/>
          </a:p>
          <a:p>
            <a:pPr/>
            <a:endParaRPr kumimoji="true" lang="en-US" altLang="zh-CN" sz="2400" dirty="false"/>
          </a:p>
          <a:p>
            <a:pPr/>
            <a:endParaRPr lang="en-US" altLang="zh-CN" sz="2400" dirty="false"/>
          </a:p>
          <a:p>
            <a:pPr/>
            <a:endParaRPr kumimoji="true" lang="en-US" altLang="zh-CN" sz="2400" dirty="false"/>
          </a:p>
          <a:p>
            <a:pPr/>
            <a:endParaRPr lang="en-US" altLang="zh-CN" sz="2400" dirty="false"/>
          </a:p>
          <a:p>
            <a:pPr/>
            <a:endParaRPr lang="en-US" altLang="zh-CN" sz="2400" dirty="false"/>
          </a:p>
          <a:p>
            <a:pPr lvl="1"/>
            <a:r>
              <a:rPr lang="en-US" altLang="zh-CN" sz="2000" dirty="false"/>
              <a:t>1</a:t>
            </a:r>
            <a:r>
              <a:rPr lang="zh-CN" altLang="en-US" sz="2000" dirty="false"/>
              <a:t>）</a:t>
            </a:r>
            <a:r>
              <a:rPr lang="en-US" altLang="zh-CN" sz="2000" dirty="false" err="true"/>
              <a:t>Va</a:t>
            </a:r>
            <a:r>
              <a:rPr lang="zh-CN" altLang="en-US" sz="2000" dirty="false"/>
              <a:t>地址多少位？</a:t>
            </a:r>
            <a:endParaRPr lang="en-US" altLang="zh-CN" sz="2000" dirty="false"/>
          </a:p>
          <a:p>
            <a:pPr lvl="1"/>
            <a:r>
              <a:rPr kumimoji="true" lang="en-US" altLang="zh-CN" sz="2000" dirty="false"/>
              <a:t>2</a:t>
            </a:r>
            <a:r>
              <a:rPr kumimoji="true" lang="zh-CN" altLang="en-US" sz="2000" dirty="false"/>
              <a:t>）</a:t>
            </a:r>
            <a:r>
              <a:rPr kumimoji="true" lang="en-US" altLang="zh-CN" sz="2000" dirty="false"/>
              <a:t>VA=2KB</a:t>
            </a:r>
            <a:r>
              <a:rPr kumimoji="true" lang="zh-CN" altLang="en-US" sz="2000" dirty="false"/>
              <a:t>，</a:t>
            </a:r>
            <a:r>
              <a:rPr kumimoji="true" lang="en-US" altLang="zh-CN" sz="2000" dirty="false"/>
              <a:t>520KB</a:t>
            </a:r>
            <a:r>
              <a:rPr kumimoji="true" lang="zh-CN" altLang="en-US" sz="2000" dirty="false"/>
              <a:t>，</a:t>
            </a:r>
            <a:r>
              <a:rPr kumimoji="true" lang="en-US" altLang="zh-CN" sz="2000" dirty="false"/>
              <a:t>1010K</a:t>
            </a:r>
            <a:r>
              <a:rPr lang="en-US" altLang="zh-CN" sz="2000" dirty="false"/>
              <a:t>B</a:t>
            </a:r>
            <a:r>
              <a:rPr lang="zh-CN" altLang="en-US" sz="2000" dirty="false"/>
              <a:t>，求对应</a:t>
            </a:r>
            <a:r>
              <a:rPr lang="en-US" altLang="zh-CN" sz="2000" dirty="false"/>
              <a:t>PA</a:t>
            </a:r>
            <a:r>
              <a:rPr lang="zh-CN" altLang="en-US" sz="2000" dirty="false"/>
              <a:t>（写出计算过程，每个转换中的</a:t>
            </a:r>
            <a:r>
              <a:rPr lang="en-US" altLang="zh-CN" sz="2000" dirty="false"/>
              <a:t>segment</a:t>
            </a:r>
            <a:r>
              <a:rPr lang="zh-CN" altLang="en-US" sz="2000" dirty="false"/>
              <a:t>编号，</a:t>
            </a:r>
            <a:r>
              <a:rPr lang="en-US" altLang="zh-CN" sz="2000" dirty="false"/>
              <a:t>offset</a:t>
            </a:r>
            <a:r>
              <a:rPr lang="zh-CN" altLang="en-US" sz="2000" dirty="false"/>
              <a:t>）</a:t>
            </a:r>
            <a:endParaRPr kumimoji="true" lang="zh-CN" altLang="en-US" sz="2000" dirty="false"/>
          </a:p>
        </p:txBody>
      </p:sp>
      <p:sp>
        <p:nvSpPr>
          <p:cNvPr id="334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EF0B01C9-CC9E-4042-87A9-F49D20F0019F}" type="slidenum">
              <a:rPr lang="zh-CN" altLang="en-US" smtClean="false"/>
              <a:t>30</a:t>
            </a:fld>
            <a:endParaRPr lang="en-US" altLang="zh-CN"/>
          </a:p>
        </p:txBody>
      </p:sp>
      <p:graphicFrame>
        <p:nvGraphicFramePr>
          <p:cNvPr id="335" name="表格 4"/>
          <p:cNvGraphicFramePr/>
          <p:nvPr/>
        </p:nvGraphicFramePr>
        <p:xfrm>
          <a:off x="1219200" y="3200400"/>
          <a:ext cx="4876800" cy="1854200"/>
        </p:xfrm>
        <a:graphic>
          <a:graphicData uri="http://schemas.openxmlformats.org/drawingml/2006/table">
            <a:tbl>
              <a:tblPr firstRow="true" bandRow="true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val="1"/>
                    </a:ext>
                  </a:extLst>
                </a:gridCol>
                <a:gridCol w="1219200">
                  <a:extLst>
                    <a:ext uri="{9D8B030D-6E8A-4147-A177-3AD203B41FA5}">
                      <a16:colId val="2"/>
                    </a:ext>
                  </a:extLst>
                </a:gridCol>
                <a:gridCol w="1219200">
                  <a:extLst>
                    <a:ext uri="{9D8B030D-6E8A-4147-A177-3AD203B41FA5}">
                      <a16:colId val="3"/>
                    </a:ext>
                  </a:extLst>
                </a:gridCol>
                <a:gridCol w="1219200">
                  <a:extLst>
                    <a:ext uri="{9D8B030D-6E8A-4147-A177-3AD203B41FA5}">
                      <a16:colId val="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/>
                      <a:r>
                        <a:rPr lang="en-US" altLang="zh-CN" dirty="false"/>
                        <a:t>segment</a:t>
                      </a:r>
                      <a:endParaRPr lang="zh-CN" altLang="en-US" dirty="fals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altLang="zh-CN" dirty="false"/>
                        <a:t>base</a:t>
                      </a:r>
                      <a:endParaRPr lang="zh-CN" altLang="en-US" dirty="fals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altLang="zh-CN" dirty="false"/>
                        <a:t>size</a:t>
                      </a:r>
                      <a:endParaRPr lang="zh-CN" altLang="en-US" dirty="fals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altLang="zh-CN" dirty="false"/>
                        <a:t>positive</a:t>
                      </a:r>
                      <a:endParaRPr lang="zh-CN" altLang="en-US" dirty="false"/>
                    </a:p>
                  </a:txBody>
                  <a:tcPr/>
                </a:tc>
                <a:extLst>
                  <a:ext uri="{0D108BD9-81ED-4DB2-BD59-A6C34878D82A}">
                    <a16:rowId val="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/>
                      <a:r>
                        <a:rPr lang="en-US" altLang="zh-CN" dirty="false"/>
                        <a:t>code</a:t>
                      </a:r>
                      <a:endParaRPr lang="zh-CN" altLang="en-US" dirty="fals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altLang="zh-CN" dirty="false"/>
                        <a:t>1MB</a:t>
                      </a:r>
                      <a:endParaRPr lang="zh-CN" altLang="en-US" dirty="fals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altLang="zh-CN" dirty="false"/>
                        <a:t>4KB</a:t>
                      </a:r>
                      <a:endParaRPr lang="zh-CN" altLang="en-US" dirty="fals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altLang="zh-CN" dirty="false"/>
                        <a:t>1</a:t>
                      </a:r>
                      <a:endParaRPr lang="zh-CN" altLang="en-US" dirty="false"/>
                    </a:p>
                  </a:txBody>
                  <a:tcPr/>
                </a:tc>
                <a:extLst>
                  <a:ext uri="{0D108BD9-81ED-4DB2-BD59-A6C34878D82A}">
                    <a16:rowId val="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/>
                      <a:r>
                        <a:rPr lang="en-US" altLang="zh-CN" dirty="false"/>
                        <a:t>data</a:t>
                      </a:r>
                      <a:endParaRPr lang="zh-CN" altLang="en-US" dirty="fals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altLang="zh-CN" dirty="false"/>
                        <a:t>7MB</a:t>
                      </a:r>
                      <a:endParaRPr lang="zh-CN" altLang="en-US" dirty="fals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altLang="zh-CN" dirty="false"/>
                        <a:t>2KB</a:t>
                      </a:r>
                      <a:endParaRPr lang="zh-CN" altLang="en-US" dirty="fals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altLang="zh-CN" dirty="false"/>
                        <a:t>1</a:t>
                      </a:r>
                      <a:endParaRPr lang="zh-CN" altLang="en-US" dirty="false"/>
                    </a:p>
                  </a:txBody>
                  <a:tcPr/>
                </a:tc>
                <a:extLst>
                  <a:ext uri="{0D108BD9-81ED-4DB2-BD59-A6C34878D82A}">
                    <a16:rowId val="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/>
                      <a:r>
                        <a:rPr lang="en-US" altLang="zh-CN" dirty="false"/>
                        <a:t>heap</a:t>
                      </a:r>
                      <a:endParaRPr lang="zh-CN" altLang="en-US" dirty="fals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altLang="zh-CN" dirty="false"/>
                        <a:t>2MB</a:t>
                      </a:r>
                      <a:endParaRPr lang="zh-CN" altLang="en-US" dirty="fals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altLang="zh-CN" dirty="false"/>
                        <a:t>8KB</a:t>
                      </a:r>
                      <a:endParaRPr lang="zh-CN" altLang="en-US" dirty="fals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altLang="zh-CN" dirty="false"/>
                        <a:t>1</a:t>
                      </a:r>
                      <a:endParaRPr lang="zh-CN" altLang="en-US" dirty="false"/>
                    </a:p>
                  </a:txBody>
                  <a:tcPr/>
                </a:tc>
                <a:extLst>
                  <a:ext uri="{0D108BD9-81ED-4DB2-BD59-A6C34878D82A}">
                    <a16:rowId val="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/>
                      <a:r>
                        <a:rPr lang="en-US" altLang="zh-CN" dirty="false"/>
                        <a:t>stack</a:t>
                      </a:r>
                      <a:endParaRPr lang="zh-CN" altLang="en-US" dirty="fals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altLang="zh-CN" dirty="false"/>
                        <a:t>3MB</a:t>
                      </a:r>
                      <a:endParaRPr lang="zh-CN" altLang="en-US" dirty="fals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altLang="zh-CN" dirty="false"/>
                        <a:t>16KB</a:t>
                      </a:r>
                      <a:endParaRPr lang="zh-CN" altLang="en-US" dirty="fals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altLang="zh-CN" dirty="false"/>
                        <a:t>0</a:t>
                      </a:r>
                      <a:endParaRPr lang="zh-CN" altLang="en-US" dirty="false"/>
                    </a:p>
                  </a:txBody>
                  <a:tcPr/>
                </a:tc>
                <a:extLst>
                  <a:ext uri="{0D108BD9-81ED-4DB2-BD59-A6C34878D82A}">
                    <a16:rowId val="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p="http://schemas.openxmlformats.org/presentationml/2006/main" xmlns:a16="http://schemas.microsoft.com/office/drawing/2014/main" xmlns:a="http://schemas.openxmlformats.org/drawingml/2006/main" xmlns:mc="http://schemas.openxmlformats.org/markup-compatibility/2006" mc:Ignorable="a16">
  <p:cSld>
    <p:spTree>
      <p:nvGrpSpPr>
        <p:cNvPr id="3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kumimoji="true" lang="zh-CN" altLang="en-US" dirty="false"/>
              <a:t>练习答案</a:t>
            </a:r>
            <a:endParaRPr/>
          </a:p>
        </p:txBody>
      </p:sp>
      <p:sp>
        <p:nvSpPr>
          <p:cNvPr id="338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>
              <a:buChar char="•"/>
            </a:pPr>
            <a:r>
              <a:rPr lang="en-US"/>
              <a:t>1</a:t>
            </a:r>
            <a:r>
              <a:rPr lang="zh-CN"/>
              <a:t>）</a:t>
            </a:r>
            <a:r>
              <a:rPr lang="en-US"/>
              <a:t>VA</a:t>
            </a:r>
            <a:r>
              <a:rPr lang="zh-CN"/>
              <a:t>：</a:t>
            </a:r>
            <a:r>
              <a:rPr lang="en-US"/>
              <a:t>20-bit</a:t>
            </a:r>
            <a:endParaRPr/>
          </a:p>
          <a:p>
            <a:pPr>
              <a:buChar char="•"/>
            </a:pPr>
            <a:r>
              <a:rPr lang="en-US"/>
              <a:t>2</a:t>
            </a:r>
            <a:r>
              <a:rPr lang="zh-CN"/>
              <a:t>）地址计算</a:t>
            </a:r>
            <a:endParaRPr lang="en-US"/>
          </a:p>
          <a:p>
            <a:pPr lvl="1">
              <a:buChar char="–"/>
            </a:pPr>
            <a:r>
              <a:rPr lang="en-US"/>
              <a:t>VA=2K</a:t>
            </a:r>
            <a:r>
              <a:rPr lang="zh-CN"/>
              <a:t>，</a:t>
            </a:r>
            <a:r>
              <a:rPr lang="en-US"/>
              <a:t>segment=00</a:t>
            </a:r>
            <a:r>
              <a:rPr lang="zh-CN"/>
              <a:t>，</a:t>
            </a:r>
            <a:r>
              <a:rPr lang="en-US"/>
              <a:t>code</a:t>
            </a:r>
            <a:r>
              <a:rPr lang="zh-CN"/>
              <a:t>段，</a:t>
            </a:r>
            <a:r>
              <a:rPr lang="en-US"/>
              <a:t>offset=2K</a:t>
            </a:r>
            <a:r>
              <a:rPr lang="zh-CN"/>
              <a:t>，</a:t>
            </a:r>
            <a:r>
              <a:rPr lang="en-US"/>
              <a:t>PA=1MB+2KB</a:t>
            </a:r>
            <a:endParaRPr/>
          </a:p>
          <a:p>
            <a:pPr lvl="1">
              <a:buChar char="–"/>
            </a:pPr>
            <a:r>
              <a:rPr lang="en-US"/>
              <a:t>VA=520K</a:t>
            </a:r>
            <a:r>
              <a:rPr lang="zh-CN"/>
              <a:t>，</a:t>
            </a:r>
            <a:r>
              <a:rPr lang="en-US"/>
              <a:t>segment=10</a:t>
            </a:r>
            <a:r>
              <a:rPr lang="zh-CN"/>
              <a:t>，</a:t>
            </a:r>
            <a:r>
              <a:rPr lang="en-US"/>
              <a:t>heap</a:t>
            </a:r>
            <a:r>
              <a:rPr lang="zh-CN"/>
              <a:t>段，</a:t>
            </a:r>
            <a:r>
              <a:rPr lang="en-US"/>
              <a:t>offset=8K</a:t>
            </a:r>
            <a:r>
              <a:rPr lang="zh-CN"/>
              <a:t>，内存访问越界</a:t>
            </a:r>
            <a:endParaRPr lang="en-US"/>
          </a:p>
          <a:p>
            <a:pPr lvl="1">
              <a:buChar char="–"/>
            </a:pPr>
            <a:r>
              <a:rPr lang="en-US"/>
              <a:t>VA=1010K</a:t>
            </a:r>
            <a:r>
              <a:rPr lang="zh-CN"/>
              <a:t>，</a:t>
            </a:r>
            <a:r>
              <a:rPr lang="en-US"/>
              <a:t>segment=11</a:t>
            </a:r>
            <a:r>
              <a:rPr lang="zh-CN"/>
              <a:t>，</a:t>
            </a:r>
            <a:r>
              <a:rPr lang="en-US"/>
              <a:t>stack</a:t>
            </a:r>
            <a:r>
              <a:rPr lang="zh-CN"/>
              <a:t>段，负增长，</a:t>
            </a:r>
            <a:r>
              <a:rPr lang="en-US"/>
              <a:t>segment</a:t>
            </a:r>
            <a:r>
              <a:rPr lang="zh-CN"/>
              <a:t>最大可能大小是</a:t>
            </a:r>
            <a:r>
              <a:rPr lang="en-US"/>
              <a:t>1MB/4=256KB</a:t>
            </a:r>
            <a:r>
              <a:rPr lang="zh-CN"/>
              <a:t>，</a:t>
            </a:r>
            <a:endParaRPr/>
          </a:p>
          <a:p>
            <a:pPr lvl="1">
              <a:buChar char="–"/>
            </a:pPr>
            <a:r>
              <a:rPr lang="en-US"/>
              <a:t>n = 256K-(1010-768)K=14KB</a:t>
            </a:r>
            <a:r>
              <a:rPr lang="zh-CN"/>
              <a:t>，</a:t>
            </a:r>
            <a:r>
              <a:rPr lang="en-US"/>
              <a:t>PA=3MB-14KB</a:t>
            </a:r>
            <a:endParaRPr/>
          </a:p>
        </p:txBody>
      </p:sp>
      <p:sp>
        <p:nvSpPr>
          <p:cNvPr id="339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EF0B01C9-CC9E-4042-87A9-F49D20F0019F}" type="slidenum">
              <a:rPr lang="zh-CN" altLang="en-US" smtClean="false"/>
              <a:t>31</a:t>
            </a:fld>
            <a:endParaRPr lang="en-US" altLang="zh-CN"/>
          </a:p>
        </p:txBody>
      </p:sp>
      <p:graphicFrame>
        <p:nvGraphicFramePr>
          <p:cNvPr id="340" name="表格 4"/>
          <p:cNvGraphicFramePr/>
          <p:nvPr/>
        </p:nvGraphicFramePr>
        <p:xfrm rot="0" flipH="false" flipV="false">
          <a:off x="3886200" y="235131"/>
          <a:ext cx="4876800" cy="1841500"/>
        </p:xfrm>
        <a:graphic>
          <a:graphicData uri="http://schemas.openxmlformats.org/drawingml/2006/table">
            <a:tbl>
              <a:tblPr firstRow="true" bandRow="true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val="1"/>
                    </a:ext>
                  </a:extLst>
                </a:gridCol>
                <a:gridCol w="1219200">
                  <a:extLst>
                    <a:ext uri="{9D8B030D-6E8A-4147-A177-3AD203B41FA5}">
                      <a16:colId val="2"/>
                    </a:ext>
                  </a:extLst>
                </a:gridCol>
                <a:gridCol w="1219200">
                  <a:extLst>
                    <a:ext uri="{9D8B030D-6E8A-4147-A177-3AD203B41FA5}">
                      <a16:colId val="3"/>
                    </a:ext>
                  </a:extLst>
                </a:gridCol>
                <a:gridCol w="1219200">
                  <a:extLst>
                    <a:ext uri="{9D8B030D-6E8A-4147-A177-3AD203B41FA5}">
                      <a16:colId val="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/>
                      <a:r>
                        <a:rPr lang="en-US" altLang="zh-CN" dirty="false"/>
                        <a:t>segment</a:t>
                      </a:r>
                      <a:endParaRPr lang="zh-CN" altLang="en-US" dirty="fals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altLang="zh-CN" dirty="false"/>
                        <a:t>base</a:t>
                      </a:r>
                      <a:endParaRPr lang="zh-CN" altLang="en-US" dirty="fals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altLang="zh-CN" dirty="false"/>
                        <a:t>size</a:t>
                      </a:r>
                      <a:endParaRPr lang="zh-CN" altLang="en-US" dirty="fals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altLang="zh-CN" dirty="false"/>
                        <a:t>positive</a:t>
                      </a:r>
                      <a:endParaRPr lang="zh-CN" altLang="en-US" dirty="false"/>
                    </a:p>
                  </a:txBody>
                  <a:tcPr/>
                </a:tc>
                <a:extLst>
                  <a:ext uri="{0D108BD9-81ED-4DB2-BD59-A6C34878D82A}">
                    <a16:rowId val="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code (00)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altLang="zh-CN" dirty="false"/>
                        <a:t>1MB</a:t>
                      </a:r>
                      <a:endParaRPr lang="zh-CN" altLang="en-US" dirty="fals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altLang="zh-CN" dirty="false"/>
                        <a:t>4KB</a:t>
                      </a:r>
                      <a:endParaRPr lang="zh-CN" altLang="en-US" dirty="fals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altLang="zh-CN" dirty="false"/>
                        <a:t>1</a:t>
                      </a:r>
                      <a:endParaRPr lang="zh-CN" altLang="en-US" dirty="false"/>
                    </a:p>
                  </a:txBody>
                  <a:tcPr/>
                </a:tc>
                <a:extLst>
                  <a:ext uri="{0D108BD9-81ED-4DB2-BD59-A6C34878D82A}">
                    <a16:rowId val="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data (01)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altLang="zh-CN" dirty="false"/>
                        <a:t>7MB</a:t>
                      </a:r>
                      <a:endParaRPr lang="zh-CN" altLang="en-US" dirty="fals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altLang="zh-CN" dirty="false"/>
                        <a:t>2KB</a:t>
                      </a:r>
                      <a:endParaRPr lang="zh-CN" altLang="en-US" dirty="fals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altLang="zh-CN" dirty="false"/>
                        <a:t>1</a:t>
                      </a:r>
                      <a:endParaRPr lang="zh-CN" altLang="en-US" dirty="false"/>
                    </a:p>
                  </a:txBody>
                  <a:tcPr/>
                </a:tc>
                <a:extLst>
                  <a:ext uri="{0D108BD9-81ED-4DB2-BD59-A6C34878D82A}">
                    <a16:rowId val="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heap (10)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altLang="zh-CN" dirty="false"/>
                        <a:t>2MB</a:t>
                      </a:r>
                      <a:endParaRPr lang="zh-CN" altLang="en-US" dirty="fals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altLang="zh-CN" dirty="false"/>
                        <a:t>8KB</a:t>
                      </a:r>
                      <a:endParaRPr lang="zh-CN" altLang="en-US" dirty="fals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altLang="zh-CN" dirty="false"/>
                        <a:t>1</a:t>
                      </a:r>
                      <a:endParaRPr lang="zh-CN" altLang="en-US" dirty="false"/>
                    </a:p>
                  </a:txBody>
                  <a:tcPr/>
                </a:tc>
                <a:extLst>
                  <a:ext uri="{0D108BD9-81ED-4DB2-BD59-A6C34878D82A}">
                    <a16:rowId val="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stack (11)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altLang="zh-CN" dirty="false"/>
                        <a:t>3MB</a:t>
                      </a:r>
                      <a:endParaRPr lang="zh-CN" altLang="en-US" dirty="fals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altLang="zh-CN" dirty="false"/>
                        <a:t>16KB</a:t>
                      </a:r>
                      <a:endParaRPr lang="zh-CN" altLang="en-US" dirty="fals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altLang="zh-CN" dirty="false"/>
                        <a:t>0</a:t>
                      </a:r>
                      <a:endParaRPr lang="zh-CN" altLang="en-US" dirty="false"/>
                    </a:p>
                  </a:txBody>
                  <a:tcPr/>
                </a:tc>
                <a:extLst>
                  <a:ext uri="{0D108BD9-81ED-4DB2-BD59-A6C34878D82A}">
                    <a16:rowId val="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>
  <p:cSld>
    <p:spTree>
      <p:nvGrpSpPr>
        <p:cNvPr id="3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Rectangle 1030"/>
          <p:cNvSpPr>
            <a:spLocks noGrp="true" noChangeArrowheads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E7B7DA43-96DB-7E4A-A97B-E0F2190F5788}" type="slidenum">
              <a:rPr lang="zh-CN" altLang="en-US" sz="1400" b="false">
                <a:latin typeface="Times New Roman" panose="02020603050405020304" charset="0"/>
              </a:rPr>
              <a:t>32</a:t>
            </a:fld>
            <a:endParaRPr lang="en-US" altLang="zh-CN" sz="1400" b="false">
              <a:latin typeface="Times New Roman" panose="02020603050405020304" charset="0"/>
            </a:endParaRPr>
          </a:p>
        </p:txBody>
      </p:sp>
      <p:sp>
        <p:nvSpPr>
          <p:cNvPr id="343" name="Rectangle 2"/>
          <p:cNvSpPr>
            <a:spLocks noGrp="true" noChangeArrowheads="true"/>
          </p:cNvSpPr>
          <p:nvPr>
            <p:ph type="ctrTitle"/>
          </p:nvPr>
        </p:nvSpPr>
        <p:spPr>
          <a:xfrm>
            <a:off x="685800" y="2133600"/>
            <a:ext cx="7772400" cy="1828800"/>
          </a:xfrm>
        </p:spPr>
        <p:txBody>
          <a:bodyPr/>
          <a:lstStyle/>
          <a:p>
            <a:pPr/>
            <a:r>
              <a:rPr lang="en-US" sz="3200">
                <a:latin typeface="Comic Sans MS"/>
                <a:ea typeface="宋体"/>
                <a:cs typeface="宋体"/>
              </a:rPr>
              <a:t>Paging</a:t>
            </a:r>
            <a:r>
              <a:rPr lang="en-US" sz="3200">
                <a:latin typeface="Comic Sans MS"/>
                <a:ea typeface="宋体"/>
                <a:cs typeface="宋体"/>
              </a:rPr>
              <a:t>: Introduction</a:t>
            </a:r>
            <a:endParaRPr lang="en-US" sz="3200">
              <a:latin typeface="Comic Sans MS"/>
              <a:ea typeface="宋体"/>
              <a:cs typeface="宋体"/>
            </a:endParaRPr>
          </a:p>
          <a:p>
            <a:pPr/>
            <a:r>
              <a:rPr lang="en-US" sz="3200">
                <a:latin typeface="Comic Sans MS"/>
                <a:ea typeface="宋体"/>
                <a:cs typeface="宋体"/>
              </a:rPr>
              <a:t>(OSTEP Section 18)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kumimoji="true" lang="en-US" altLang="zh-CN" dirty="false"/>
              <a:t>Paging</a:t>
            </a:r>
            <a:endParaRPr kumimoji="true" lang="zh-CN" altLang="en-US" dirty="false"/>
          </a:p>
        </p:txBody>
      </p:sp>
      <p:sp>
        <p:nvSpPr>
          <p:cNvPr id="346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>
              <a:buChar char="•"/>
            </a:pPr>
            <a:r>
              <a:rPr lang="en-US" sz="2400"/>
              <a:t>VA-&gt;PA</a:t>
            </a:r>
            <a:r>
              <a:rPr lang="zh-CN" sz="2400"/>
              <a:t>的另一种方式（</a:t>
            </a:r>
            <a:r>
              <a:rPr lang="en-US" sz="2400"/>
              <a:t>segmentation</a:t>
            </a:r>
            <a:r>
              <a:rPr lang="zh-CN" sz="2400"/>
              <a:t>之外）</a:t>
            </a:r>
            <a:endParaRPr lang="en-US"/>
          </a:p>
          <a:p>
            <a:pPr>
              <a:buChar char="•"/>
            </a:pPr>
            <a:r>
              <a:rPr lang="en-US" sz="2400"/>
              <a:t>Page: </a:t>
            </a:r>
            <a:r>
              <a:rPr lang="zh-CN" sz="2400"/>
              <a:t>固定大小，作为映射的单位</a:t>
            </a:r>
            <a:endParaRPr/>
          </a:p>
          <a:p>
            <a:pPr lvl="1">
              <a:buChar char="–"/>
            </a:pPr>
            <a:r>
              <a:rPr lang="en-US" sz="2000"/>
              <a:t>e.g., 64B</a:t>
            </a:r>
            <a:r>
              <a:rPr lang="zh-CN" sz="2000"/>
              <a:t>的地址空间，</a:t>
            </a:r>
            <a:r>
              <a:rPr lang="en-US" sz="2000"/>
              <a:t>page</a:t>
            </a:r>
            <a:r>
              <a:rPr lang="zh-CN" sz="2000"/>
              <a:t>大小为</a:t>
            </a:r>
            <a:r>
              <a:rPr lang="en-US" sz="2000"/>
              <a:t>16B</a:t>
            </a:r>
            <a:endParaRPr lang="zh-CN"/>
          </a:p>
        </p:txBody>
      </p:sp>
      <p:sp>
        <p:nvSpPr>
          <p:cNvPr id="347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EF0B01C9-CC9E-4042-87A9-F49D20F0019F}" type="slidenum">
              <a:rPr lang="zh-CN" altLang="en-US" smtClean="false"/>
              <a:t>33</a:t>
            </a:fld>
            <a:endParaRPr lang="en-US" altLang="zh-CN"/>
          </a:p>
        </p:txBody>
      </p:sp>
      <p:pic>
        <p:nvPicPr>
          <p:cNvPr id="348" name="图片 4"/>
          <p:cNvPicPr>
            <a:picLocks noChangeAspect="true"/>
          </p:cNvPicPr>
          <p:nvPr/>
        </p:nvPicPr>
        <p:blipFill>
          <a:blip r:embed="rId1">
            <a:extLst>
              <a:ext uri="{28A0092B-C50C-407E-A947-70E740481C1C}"/>
            </a:extLst>
          </a:blip>
          <a:stretch>
            <a:fillRect/>
          </a:stretch>
        </p:blipFill>
        <p:spPr>
          <a:xfrm rot="0" flipH="false" flipV="false">
            <a:off x="1847850" y="2841474"/>
            <a:ext cx="5086350" cy="2484989"/>
          </a:xfrm>
          <a:prstGeom prst="rect">
            <a:avLst/>
          </a:prstGeom>
        </p:spPr>
      </p:pic>
      <p:sp>
        <p:nvSpPr>
          <p:cNvPr id="349" name=""/>
          <p:cNvSpPr txBox="true"/>
          <p:nvPr/>
        </p:nvSpPr>
        <p:spPr>
          <a:xfrm rot="0" flipH="false" flipV="false">
            <a:off x="653143" y="5353050"/>
            <a:ext cx="7352211" cy="825500"/>
          </a:xfrm>
          <a:prstGeom prst="rect"/>
        </p:spPr>
        <p:txBody>
          <a:bodyPr>
            <a:spAutoFit/>
          </a:bodyPr>
          <a:p>
            <a:pPr marL="0" lvl="0" indent="0">
              <a:buNone/>
            </a:pPr>
            <a:r>
              <a:rPr lang="zh-CN" sz="2400"/>
              <a:t>应用：早期计算机</a:t>
            </a:r>
            <a:r>
              <a:rPr lang="en-US" sz="2400"/>
              <a:t>Atlas (</a:t>
            </a:r>
            <a:r>
              <a:rPr lang="en-US" sz="2400"/>
              <a:t>1962, </a:t>
            </a:r>
            <a:r>
              <a:rPr lang="zh-CN" sz="2400"/>
              <a:t>最早采用</a:t>
            </a:r>
            <a:r>
              <a:rPr lang="en-US" sz="2400"/>
              <a:t>paging</a:t>
            </a:r>
            <a:r>
              <a:rPr lang="zh-CN" sz="2400"/>
              <a:t>的计算机</a:t>
            </a:r>
            <a:r>
              <a:rPr lang="en-US" sz="2400"/>
              <a:t>,</a:t>
            </a:r>
            <a:r>
              <a:rPr lang="zh-CN" sz="2400"/>
              <a:t>英国</a:t>
            </a:r>
            <a:r>
              <a:rPr lang="en-US" sz="2400"/>
              <a:t>)</a:t>
            </a:r>
            <a:endParaRPr sz="2800">
              <a:solidFill>
                <a:schemeClr val="tx1">
                  <a:alpha val="100000"/>
                </a:schemeClr>
              </a:solidFill>
              <a:latin typeface="Comic Sans MS"/>
              <a:ea typeface="宋体"/>
              <a:cs typeface="宋体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kumimoji="true" lang="en-US" altLang="zh-CN" dirty="false"/>
              <a:t>Paging</a:t>
            </a:r>
            <a:endParaRPr kumimoji="true" lang="zh-CN" altLang="en-US" dirty="false"/>
          </a:p>
        </p:txBody>
      </p:sp>
      <p:sp>
        <p:nvSpPr>
          <p:cNvPr id="352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/>
            <a:r>
              <a:rPr kumimoji="true" lang="en-US" altLang="zh-CN" dirty="false" err="true"/>
              <a:t>Va</a:t>
            </a:r>
            <a:r>
              <a:rPr kumimoji="true" lang="zh-CN" altLang="en-US" dirty="false"/>
              <a:t>空间</a:t>
            </a:r>
            <a:r>
              <a:rPr kumimoji="true" lang="en-US" altLang="zh-CN" dirty="false"/>
              <a:t>64B</a:t>
            </a:r>
            <a:r>
              <a:rPr kumimoji="true" lang="zh-CN" altLang="en-US" dirty="false"/>
              <a:t>，</a:t>
            </a:r>
            <a:r>
              <a:rPr kumimoji="true" lang="en-US" altLang="zh-CN" dirty="false"/>
              <a:t>Pa</a:t>
            </a:r>
            <a:r>
              <a:rPr kumimoji="true" lang="zh-CN" altLang="en-US" dirty="false"/>
              <a:t>空间</a:t>
            </a:r>
            <a:r>
              <a:rPr kumimoji="true" lang="en-US" altLang="zh-CN" dirty="false"/>
              <a:t>128B</a:t>
            </a:r>
            <a:endParaRPr kumimoji="true" lang="zh-CN" altLang="en-US" dirty="false"/>
          </a:p>
        </p:txBody>
      </p:sp>
      <p:sp>
        <p:nvSpPr>
          <p:cNvPr id="353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EF0B01C9-CC9E-4042-87A9-F49D20F0019F}" type="slidenum">
              <a:rPr lang="zh-CN" altLang="en-US" smtClean="false"/>
              <a:t>34</a:t>
            </a:fld>
            <a:endParaRPr lang="en-US" altLang="zh-CN"/>
          </a:p>
        </p:txBody>
      </p:sp>
      <p:pic>
        <p:nvPicPr>
          <p:cNvPr id="354" name="图片 4"/>
          <p:cNvPicPr>
            <a:picLocks noChangeAspect="true"/>
          </p:cNvPicPr>
          <p:nvPr/>
        </p:nvPicPr>
        <p:blipFill>
          <a:blip r:embed="rId1">
            <a:extLst>
              <a:ext uri="{28A0092B-C50C-407E-A947-70E740481C1C}"/>
            </a:extLst>
          </a:blip>
          <a:stretch>
            <a:fillRect/>
          </a:stretch>
        </p:blipFill>
        <p:spPr>
          <a:xfrm rot="0" flipH="false" flipV="false">
            <a:off x="830786" y="2170611"/>
            <a:ext cx="5109341" cy="4325700"/>
          </a:xfrm>
          <a:prstGeom prst="rect">
            <a:avLst/>
          </a:prstGeom>
        </p:spPr>
      </p:pic>
      <p:sp>
        <p:nvSpPr>
          <p:cNvPr id="355" name=""/>
          <p:cNvSpPr txBox="true"/>
          <p:nvPr/>
        </p:nvSpPr>
        <p:spPr>
          <a:xfrm rot="0" flipH="false" flipV="false">
            <a:off x="5047707" y="3810000"/>
            <a:ext cx="3060700" cy="1308100"/>
          </a:xfrm>
          <a:prstGeom prst="rect">
            <a:avLst/>
          </a:prstGeom>
          <a:ln w="6350">
            <a:prstDash val="solid"/>
          </a:ln>
        </p:spPr>
        <p:txBody>
          <a:bodyPr wrap="square">
            <a:spAutoFit/>
          </a:bodyPr>
          <a:lstStyle/>
          <a:p>
            <a:pPr/>
            <a:r>
              <a:rPr lang="zh-CN"/>
              <a:t>在</a:t>
            </a:r>
            <a:r>
              <a:rPr lang="en-US"/>
              <a:t>paging</a:t>
            </a:r>
            <a:r>
              <a:rPr lang="zh-CN"/>
              <a:t>系统中，物理内存中的</a:t>
            </a:r>
            <a:r>
              <a:rPr lang="en-US"/>
              <a:t>page</a:t>
            </a:r>
            <a:r>
              <a:rPr lang="zh-CN"/>
              <a:t>一般称为</a:t>
            </a:r>
            <a:r>
              <a:rPr lang="en-US"/>
              <a:t>page frame</a:t>
            </a:r>
            <a:r>
              <a:rPr lang="zh-CN"/>
              <a:t>或</a:t>
            </a:r>
            <a:r>
              <a:rPr lang="en-US"/>
              <a:t>physical  frame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>
  <p:cSld>
    <p:spTree>
      <p:nvGrpSpPr>
        <p:cNvPr id="3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kumimoji="true" lang="en-US" altLang="zh-CN"/>
              <a:t>Paging</a:t>
            </a:r>
            <a:endParaRPr kumimoji="true" lang="zh-CN" altLang="en-US"/>
          </a:p>
        </p:txBody>
      </p:sp>
      <p:sp>
        <p:nvSpPr>
          <p:cNvPr id="358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>
              <a:buChar char="•"/>
            </a:pPr>
            <a:r>
              <a:rPr lang="en-US"/>
              <a:t>Paging</a:t>
            </a:r>
            <a:r>
              <a:rPr lang="zh-CN"/>
              <a:t>的优点：</a:t>
            </a:r>
            <a:endParaRPr lang="en-US"/>
          </a:p>
          <a:p>
            <a:pPr lvl="1">
              <a:buChar char="–"/>
            </a:pPr>
            <a:r>
              <a:rPr lang="en-US"/>
              <a:t>#1.</a:t>
            </a:r>
            <a:r>
              <a:rPr lang="zh-CN"/>
              <a:t> </a:t>
            </a:r>
            <a:r>
              <a:rPr lang="en-US"/>
              <a:t>Flexibility</a:t>
            </a:r>
            <a:endParaRPr/>
          </a:p>
          <a:p>
            <a:pPr lvl="2">
              <a:buChar char="•"/>
            </a:pPr>
            <a:r>
              <a:rPr lang="zh-CN"/>
              <a:t>能够应对大块稀疏空间的问题，不会浪费物理内存</a:t>
            </a:r>
            <a:endParaRPr/>
          </a:p>
          <a:p>
            <a:pPr lvl="1">
              <a:buChar char="–"/>
            </a:pPr>
            <a:r>
              <a:rPr lang="en-US"/>
              <a:t>#2. simplicity (free-space management)</a:t>
            </a:r>
            <a:endParaRPr/>
          </a:p>
          <a:p>
            <a:pPr lvl="2">
              <a:buChar char="•"/>
            </a:pPr>
            <a:r>
              <a:rPr lang="zh-CN"/>
              <a:t>分配内存时按</a:t>
            </a:r>
            <a:r>
              <a:rPr lang="en-US"/>
              <a:t>page</a:t>
            </a:r>
            <a:r>
              <a:rPr lang="zh-CN"/>
              <a:t>对齐，不存在大小不规则的</a:t>
            </a:r>
            <a:r>
              <a:rPr lang="en-US"/>
              <a:t>free space</a:t>
            </a:r>
            <a:endParaRPr/>
          </a:p>
          <a:p>
            <a:pPr lvl="2">
              <a:buChar char="•"/>
            </a:pPr>
            <a:r>
              <a:rPr lang="zh-CN"/>
              <a:t>连续的</a:t>
            </a:r>
            <a:r>
              <a:rPr lang="en-US"/>
              <a:t>VA</a:t>
            </a:r>
            <a:r>
              <a:rPr lang="zh-CN"/>
              <a:t>不需要对应连续的</a:t>
            </a:r>
            <a:r>
              <a:rPr lang="en-US"/>
              <a:t>PA</a:t>
            </a:r>
            <a:endParaRPr/>
          </a:p>
          <a:p>
            <a:pPr lvl="2">
              <a:buChar char="•"/>
            </a:pPr>
            <a:r>
              <a:rPr lang="zh-CN"/>
              <a:t>所以，只需要维护所有的</a:t>
            </a:r>
            <a:r>
              <a:rPr lang="en-US"/>
              <a:t>free page</a:t>
            </a:r>
            <a:r>
              <a:rPr lang="zh-CN"/>
              <a:t>，就不需要</a:t>
            </a:r>
            <a:r>
              <a:rPr lang="en-US"/>
              <a:t>compaction</a:t>
            </a:r>
            <a:endParaRPr/>
          </a:p>
        </p:txBody>
      </p:sp>
      <p:sp>
        <p:nvSpPr>
          <p:cNvPr id="359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EF0B01C9-CC9E-4042-87A9-F49D20F0019F}" type="slidenum">
              <a:rPr lang="zh-CN" altLang="en-US" smtClean="false"/>
              <a:t>35</a:t>
            </a:fld>
            <a:endParaRPr lang="en-US" altLang="zh-CN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kumimoji="true" lang="en-US" altLang="zh-CN"/>
              <a:t>Paging</a:t>
            </a:r>
            <a:endParaRPr kumimoji="true" lang="zh-CN" altLang="en-US"/>
          </a:p>
        </p:txBody>
      </p:sp>
      <p:sp>
        <p:nvSpPr>
          <p:cNvPr id="362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>
              <a:buChar char="•"/>
            </a:pPr>
            <a:r>
              <a:rPr lang="en-US"/>
              <a:t>Paging</a:t>
            </a:r>
            <a:r>
              <a:rPr lang="zh-CN"/>
              <a:t>的缺点</a:t>
            </a:r>
            <a:endParaRPr lang="en-US"/>
          </a:p>
          <a:p>
            <a:pPr lvl="1">
              <a:buChar char="–"/>
            </a:pPr>
            <a:r>
              <a:rPr lang="en-US"/>
              <a:t>VA-&gt;PA</a:t>
            </a:r>
            <a:r>
              <a:rPr lang="zh-CN"/>
              <a:t>映射信息比较多（比</a:t>
            </a:r>
            <a:r>
              <a:rPr lang="en-US"/>
              <a:t>segmentation</a:t>
            </a:r>
            <a:r>
              <a:rPr lang="zh-CN"/>
              <a:t>多很多）</a:t>
            </a:r>
            <a:endParaRPr lang="en-US"/>
          </a:p>
          <a:p>
            <a:pPr lvl="1">
              <a:buChar char="–"/>
            </a:pPr>
            <a:r>
              <a:rPr lang="en-US"/>
              <a:t>Page Table</a:t>
            </a:r>
            <a:endParaRPr/>
          </a:p>
          <a:p>
            <a:pPr lvl="2">
              <a:buChar char="•"/>
            </a:pPr>
            <a:r>
              <a:rPr lang="en-US"/>
              <a:t>(Virtual Page 0 → Physical Frame 3)</a:t>
            </a:r>
            <a:endParaRPr/>
          </a:p>
          <a:p>
            <a:pPr lvl="2">
              <a:buChar char="•"/>
            </a:pPr>
            <a:r>
              <a:rPr lang="en-US"/>
              <a:t>(VP 1 → PF 7)</a:t>
            </a:r>
            <a:endParaRPr/>
          </a:p>
          <a:p>
            <a:pPr lvl="2">
              <a:buChar char="•"/>
            </a:pPr>
            <a:r>
              <a:rPr lang="en-US"/>
              <a:t>(VP 2 → PF 5)</a:t>
            </a:r>
            <a:endParaRPr/>
          </a:p>
          <a:p>
            <a:pPr lvl="2">
              <a:buChar char="•"/>
            </a:pPr>
            <a:r>
              <a:rPr lang="en-US"/>
              <a:t>(VP 3 → PF 2). </a:t>
            </a:r>
            <a:endParaRPr/>
          </a:p>
          <a:p>
            <a:pPr lvl="1">
              <a:buChar char="–"/>
            </a:pPr>
            <a:endParaRPr lang="zh-CN"/>
          </a:p>
        </p:txBody>
      </p:sp>
      <p:sp>
        <p:nvSpPr>
          <p:cNvPr id="363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EF0B01C9-CC9E-4042-87A9-F49D20F0019F}" type="slidenum">
              <a:rPr lang="zh-CN" altLang="en-US" smtClean="false"/>
              <a:t>36</a:t>
            </a:fld>
            <a:endParaRPr lang="en-US" altLang="zh-CN"/>
          </a:p>
        </p:txBody>
      </p:sp>
      <p:pic>
        <p:nvPicPr>
          <p:cNvPr id="364" name="图片 4"/>
          <p:cNvPicPr>
            <a:picLocks noChangeAspect="true"/>
          </p:cNvPicPr>
          <p:nvPr/>
        </p:nvPicPr>
        <p:blipFill>
          <a:blip r:embed="rId1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3886200" y="3352800"/>
            <a:ext cx="3807372" cy="322342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kumimoji="true" lang="en-US" altLang="zh-CN"/>
              <a:t>Paging</a:t>
            </a:r>
            <a:endParaRPr kumimoji="true" lang="zh-CN" altLang="en-US"/>
          </a:p>
        </p:txBody>
      </p:sp>
      <p:sp>
        <p:nvSpPr>
          <p:cNvPr id="367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>
              <a:buChar char="•"/>
            </a:pPr>
            <a:r>
              <a:rPr lang="en-US"/>
              <a:t>Page Table</a:t>
            </a:r>
            <a:endParaRPr/>
          </a:p>
          <a:p>
            <a:pPr lvl="1">
              <a:buChar char="–"/>
            </a:pPr>
            <a:r>
              <a:rPr lang="zh-CN"/>
              <a:t>每个进程一个</a:t>
            </a:r>
            <a:endParaRPr/>
          </a:p>
          <a:p>
            <a:pPr lvl="1">
              <a:buChar char="–"/>
            </a:pPr>
            <a:r>
              <a:rPr lang="zh-CN"/>
              <a:t>一个数组，</a:t>
            </a:r>
            <a:r>
              <a:rPr lang="en-US"/>
              <a:t>index</a:t>
            </a:r>
            <a:r>
              <a:rPr lang="zh-CN"/>
              <a:t>为</a:t>
            </a:r>
            <a:r>
              <a:rPr lang="en-US"/>
              <a:t>VPN (virtual page number), </a:t>
            </a:r>
            <a:r>
              <a:rPr lang="en-US"/>
              <a:t>content</a:t>
            </a:r>
            <a:r>
              <a:rPr lang="zh-CN"/>
              <a:t>为</a:t>
            </a:r>
            <a:r>
              <a:rPr lang="en-US"/>
              <a:t>PA (</a:t>
            </a:r>
            <a:r>
              <a:rPr lang="en-US" b="false"/>
              <a:t>linear page table)</a:t>
            </a:r>
            <a:endParaRPr/>
          </a:p>
          <a:p>
            <a:pPr lvl="1">
              <a:buChar char="–"/>
            </a:pPr>
            <a:r>
              <a:rPr lang="en-US"/>
              <a:t>VPN</a:t>
            </a:r>
            <a:r>
              <a:rPr lang="en-US"/>
              <a:t>: </a:t>
            </a:r>
            <a:endParaRPr/>
          </a:p>
          <a:p>
            <a:pPr lvl="2">
              <a:buChar char="•"/>
            </a:pPr>
            <a:r>
              <a:rPr lang="en-US"/>
              <a:t>E.g., VA</a:t>
            </a:r>
            <a:r>
              <a:rPr lang="zh-CN"/>
              <a:t>空间</a:t>
            </a:r>
            <a:r>
              <a:rPr lang="en-US"/>
              <a:t>64 bytes</a:t>
            </a:r>
            <a:r>
              <a:rPr lang="zh-CN"/>
              <a:t>，</a:t>
            </a:r>
            <a:r>
              <a:rPr lang="en-US"/>
              <a:t>VA</a:t>
            </a:r>
            <a:r>
              <a:rPr lang="zh-CN"/>
              <a:t> </a:t>
            </a:r>
            <a:r>
              <a:rPr lang="en-US"/>
              <a:t>6</a:t>
            </a:r>
            <a:r>
              <a:rPr lang="zh-CN"/>
              <a:t>位</a:t>
            </a:r>
            <a:endParaRPr lang="en-US"/>
          </a:p>
          <a:p>
            <a:pPr lvl="2">
              <a:buChar char="•"/>
            </a:pPr>
            <a:r>
              <a:rPr lang="en-US"/>
              <a:t>Page</a:t>
            </a:r>
            <a:r>
              <a:rPr lang="zh-CN"/>
              <a:t>大小</a:t>
            </a:r>
            <a:r>
              <a:rPr lang="en-US"/>
              <a:t>16B</a:t>
            </a:r>
            <a:r>
              <a:rPr lang="zh-CN"/>
              <a:t>，</a:t>
            </a:r>
            <a:r>
              <a:rPr lang="en-US"/>
              <a:t>offset 4</a:t>
            </a:r>
            <a:r>
              <a:rPr lang="zh-CN"/>
              <a:t>位</a:t>
            </a:r>
            <a:endParaRPr lang="en-US"/>
          </a:p>
          <a:p>
            <a:pPr lvl="2">
              <a:buChar char="•"/>
            </a:pPr>
            <a:r>
              <a:rPr lang="en-US"/>
              <a:t>VPN</a:t>
            </a:r>
            <a:r>
              <a:rPr lang="zh-CN"/>
              <a:t>：</a:t>
            </a:r>
            <a:r>
              <a:rPr lang="en-US"/>
              <a:t>2</a:t>
            </a:r>
            <a:r>
              <a:rPr lang="zh-CN"/>
              <a:t>位，一共</a:t>
            </a:r>
            <a:r>
              <a:rPr lang="en-US"/>
              <a:t>4</a:t>
            </a:r>
            <a:r>
              <a:rPr lang="zh-CN"/>
              <a:t>个</a:t>
            </a:r>
            <a:endParaRPr lang="en-US"/>
          </a:p>
          <a:p>
            <a:pPr lvl="1">
              <a:buChar char="–"/>
            </a:pPr>
            <a:endParaRPr lang="zh-CN"/>
          </a:p>
        </p:txBody>
      </p:sp>
      <p:sp>
        <p:nvSpPr>
          <p:cNvPr id="368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EF0B01C9-CC9E-4042-87A9-F49D20F0019F}" type="slidenum">
              <a:rPr lang="zh-CN" altLang="en-US" smtClean="false"/>
              <a:t>37</a:t>
            </a:fld>
            <a:endParaRPr lang="en-US" altLang="zh-CN"/>
          </a:p>
        </p:txBody>
      </p:sp>
      <p:pic>
        <p:nvPicPr>
          <p:cNvPr id="369" name="图片 5"/>
          <p:cNvPicPr>
            <a:picLocks noChangeAspect="true"/>
          </p:cNvPicPr>
          <p:nvPr/>
        </p:nvPicPr>
        <p:blipFill>
          <a:blip r:embed="rId1">
            <a:extLst>
              <a:ext uri="{28A0092B-C50C-407E-A947-70E740481C1C}"/>
            </a:extLst>
          </a:blip>
          <a:stretch>
            <a:fillRect/>
          </a:stretch>
        </p:blipFill>
        <p:spPr>
          <a:xfrm rot="0" flipH="false" flipV="false">
            <a:off x="2000250" y="4925310"/>
            <a:ext cx="2609850" cy="1017678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kumimoji="true" lang="en-US" altLang="zh-CN"/>
              <a:t>Paging</a:t>
            </a:r>
            <a:endParaRPr kumimoji="true" lang="zh-CN" altLang="en-US"/>
          </a:p>
        </p:txBody>
      </p:sp>
      <p:sp>
        <p:nvSpPr>
          <p:cNvPr id="376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>
              <a:buChar char="•"/>
            </a:pPr>
            <a:r>
              <a:rPr lang="en-US"/>
              <a:t>Address translation</a:t>
            </a:r>
            <a:endParaRPr/>
          </a:p>
          <a:p>
            <a:pPr lvl="1">
              <a:buChar char="–"/>
            </a:pPr>
            <a:r>
              <a:rPr lang="en-US"/>
              <a:t>VPN -&gt; PFN (physical frame number)</a:t>
            </a:r>
            <a:endParaRPr/>
          </a:p>
          <a:p>
            <a:pPr lvl="1">
              <a:buChar char="–"/>
            </a:pPr>
            <a:r>
              <a:rPr lang="en-US"/>
              <a:t>Intra-page offset</a:t>
            </a:r>
            <a:r>
              <a:rPr lang="zh-CN"/>
              <a:t>不变</a:t>
            </a:r>
            <a:endParaRPr/>
          </a:p>
        </p:txBody>
      </p:sp>
      <p:sp>
        <p:nvSpPr>
          <p:cNvPr id="377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EF0B01C9-CC9E-4042-87A9-F49D20F0019F}" type="slidenum">
              <a:rPr lang="zh-CN" altLang="en-US" smtClean="false"/>
              <a:t>38</a:t>
            </a:fld>
            <a:endParaRPr lang="en-US" altLang="zh-CN"/>
          </a:p>
        </p:txBody>
      </p:sp>
      <p:pic>
        <p:nvPicPr>
          <p:cNvPr id="378" name="图片 4"/>
          <p:cNvPicPr>
            <a:picLocks noChangeAspect="true"/>
          </p:cNvPicPr>
          <p:nvPr/>
        </p:nvPicPr>
        <p:blipFill>
          <a:blip r:embed="rId1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2705100" y="3170138"/>
            <a:ext cx="3810000" cy="3446124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>
  <p:cSld>
    <p:spTree>
      <p:nvGrpSpPr>
        <p:cNvPr id="3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C4D4BC38-9B98-C44C-9D36-609EFF6C247A}" type="slidenum">
              <a:rPr lang="zh-CN" altLang="en-US" sz="1400" b="false">
                <a:latin typeface="Times New Roman" panose="02020603050405020304" charset="0"/>
              </a:rPr>
              <a:t>40</a:t>
            </a:fld>
            <a:endParaRPr lang="en-US" altLang="zh-CN" sz="1400" b="false">
              <a:latin typeface="Times New Roman" panose="02020603050405020304" charset="0"/>
            </a:endParaRPr>
          </a:p>
        </p:txBody>
      </p:sp>
      <p:sp>
        <p:nvSpPr>
          <p:cNvPr id="381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Address Translation</a:t>
            </a:r>
            <a:endParaRPr/>
          </a:p>
        </p:txBody>
      </p:sp>
      <p:grpSp>
        <p:nvGrpSpPr>
          <p:cNvPr id="382" name="Group 34"/>
          <p:cNvGrpSpPr/>
          <p:nvPr/>
        </p:nvGrpSpPr>
        <p:grpSpPr>
          <a:xfrm>
            <a:off x="609600" y="1524000"/>
            <a:ext cx="7937500" cy="4421188"/>
            <a:chOff x="384" y="1344"/>
            <a:chExt cx="5000" cy="1977"/>
          </a:xfrm>
        </p:grpSpPr>
        <p:sp>
          <p:nvSpPr>
            <p:cNvPr id="383" name="Rectangle 5"/>
            <p:cNvSpPr>
              <a:spLocks noChangeArrowheads="true"/>
            </p:cNvSpPr>
            <p:nvPr/>
          </p:nvSpPr>
          <p:spPr bwMode="auto">
            <a:xfrm>
              <a:off x="544" y="1817"/>
              <a:ext cx="792" cy="14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63500" tIns="25400" rIns="63500" bIns="25400" anchor="ctr">
              <a:spAutoFit/>
            </a:bodyPr>
            <a:lstStyle/>
            <a:p>
              <a:pPr algn="ctr">
                <a:lnSpc>
                  <a:spcPct val="92000"/>
                </a:lnSpc>
                <a:defRPr/>
              </a:pPr>
              <a:r>
                <a:rPr lang="en-US" altLang="zh-CN" sz="1800">
                  <a:latin typeface="Helvetica" pitchFamily="34" charset="0"/>
                  <a:ea typeface="宋体" charset="-122"/>
                </a:rPr>
                <a:t>Processor</a:t>
              </a:r>
              <a:endParaRPr/>
            </a:p>
          </p:txBody>
        </p:sp>
        <p:sp>
          <p:nvSpPr>
            <p:cNvPr id="384" name="Rectangle 6"/>
            <p:cNvSpPr>
              <a:spLocks noChangeArrowheads="true"/>
            </p:cNvSpPr>
            <p:nvPr/>
          </p:nvSpPr>
          <p:spPr bwMode="auto">
            <a:xfrm>
              <a:off x="1732" y="2144"/>
              <a:ext cx="880" cy="352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</a:ln>
          </p:spPr>
          <p:txBody>
            <a:bodyPr lIns="63500" tIns="25400" rIns="63500" bIns="25400" anchor="ctr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>
                <a:lnSpc>
                  <a:spcPct val="88000"/>
                </a:lnSpc>
              </a:pPr>
              <a:r>
                <a:rPr lang="en-US" altLang="zh-CN" sz="1800">
                  <a:latin typeface="Helvetica" pitchFamily="34" charset="0"/>
                </a:rPr>
                <a:t>Hardware</a:t>
              </a:r>
              <a:endParaRPr/>
            </a:p>
            <a:p>
              <a:pPr algn="ctr">
                <a:lnSpc>
                  <a:spcPct val="88000"/>
                </a:lnSpc>
              </a:pPr>
              <a:r>
                <a:rPr lang="en-US" altLang="zh-CN" sz="1800">
                  <a:latin typeface="Helvetica" pitchFamily="34" charset="0"/>
                </a:rPr>
                <a:t>Addr Trans</a:t>
              </a:r>
              <a:endParaRPr/>
            </a:p>
            <a:p>
              <a:pPr algn="ctr">
                <a:lnSpc>
                  <a:spcPct val="88000"/>
                </a:lnSpc>
              </a:pPr>
              <a:r>
                <a:rPr lang="en-US" altLang="zh-CN" sz="1800">
                  <a:latin typeface="Helvetica" pitchFamily="34" charset="0"/>
                </a:rPr>
                <a:t>Mechanism</a:t>
              </a:r>
              <a:endParaRPr/>
            </a:p>
          </p:txBody>
        </p:sp>
        <p:sp>
          <p:nvSpPr>
            <p:cNvPr id="385" name="Rectangle 7"/>
            <p:cNvSpPr>
              <a:spLocks noChangeArrowheads="true"/>
            </p:cNvSpPr>
            <p:nvPr/>
          </p:nvSpPr>
          <p:spPr bwMode="auto">
            <a:xfrm>
              <a:off x="3300" y="1622"/>
              <a:ext cx="608" cy="2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xtLst>
              <a:ext uri="{909E8E84-426E-40DD-AFC4-6F175D3DCCD1}"/>
            </a:extLst>
          </p:spPr>
          <p:txBody>
            <a:bodyPr wrap="none" lIns="63500" tIns="25400" rIns="63500" bIns="25400" anchor="ctr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>
                <a:lnSpc>
                  <a:spcPct val="88000"/>
                </a:lnSpc>
              </a:pPr>
              <a:r>
                <a:rPr lang="en-US" altLang="zh-CN" sz="1800">
                  <a:latin typeface="Helvetica" pitchFamily="34" charset="0"/>
                </a:rPr>
                <a:t>fault</a:t>
              </a:r>
              <a:endParaRPr/>
            </a:p>
            <a:p>
              <a:pPr algn="ctr">
                <a:lnSpc>
                  <a:spcPct val="88000"/>
                </a:lnSpc>
              </a:pPr>
              <a:r>
                <a:rPr lang="en-US" altLang="zh-CN" sz="1800">
                  <a:latin typeface="Helvetica" pitchFamily="34" charset="0"/>
                </a:rPr>
                <a:t>handler</a:t>
              </a:r>
              <a:endParaRPr/>
            </a:p>
          </p:txBody>
        </p:sp>
        <p:sp>
          <p:nvSpPr>
            <p:cNvPr id="386" name="Rectangle 8"/>
            <p:cNvSpPr>
              <a:spLocks noChangeArrowheads="true"/>
            </p:cNvSpPr>
            <p:nvPr/>
          </p:nvSpPr>
          <p:spPr bwMode="auto">
            <a:xfrm>
              <a:off x="3304" y="2214"/>
              <a:ext cx="640" cy="2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xtLst>
              <a:ext uri="{909E8E84-426E-40DD-AFC4-6F175D3DCCD1}"/>
            </a:extLst>
          </p:spPr>
          <p:txBody>
            <a:bodyPr wrap="none" lIns="63500" tIns="25400" rIns="63500" bIns="25400" anchor="ctr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>
                <a:lnSpc>
                  <a:spcPct val="88000"/>
                </a:lnSpc>
              </a:pPr>
              <a:r>
                <a:rPr lang="en-US" altLang="zh-CN" sz="1800">
                  <a:latin typeface="Helvetica" pitchFamily="34" charset="0"/>
                </a:rPr>
                <a:t>Main</a:t>
              </a:r>
              <a:endParaRPr/>
            </a:p>
            <a:p>
              <a:pPr algn="ctr">
                <a:lnSpc>
                  <a:spcPct val="88000"/>
                </a:lnSpc>
              </a:pPr>
              <a:r>
                <a:rPr lang="en-US" altLang="zh-CN" sz="1800">
                  <a:latin typeface="Helvetica" pitchFamily="34" charset="0"/>
                </a:rPr>
                <a:t>Memory</a:t>
              </a:r>
              <a:endParaRPr/>
            </a:p>
          </p:txBody>
        </p:sp>
        <p:sp>
          <p:nvSpPr>
            <p:cNvPr id="387" name="Rectangle 9"/>
            <p:cNvSpPr>
              <a:spLocks noChangeArrowheads="true"/>
            </p:cNvSpPr>
            <p:nvPr/>
          </p:nvSpPr>
          <p:spPr bwMode="auto">
            <a:xfrm>
              <a:off x="4420" y="2212"/>
              <a:ext cx="856" cy="2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xtLst>
              <a:ext uri="{909E8E84-426E-40DD-AFC4-6F175D3DCCD1}"/>
            </a:extLst>
          </p:spPr>
          <p:txBody>
            <a:bodyPr lIns="63500" tIns="25400" rIns="63500" bIns="25400" anchor="ctr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>
                <a:lnSpc>
                  <a:spcPct val="88000"/>
                </a:lnSpc>
              </a:pPr>
              <a:r>
                <a:rPr lang="en-US" altLang="zh-CN" sz="1800">
                  <a:latin typeface="Helvetica" pitchFamily="34" charset="0"/>
                </a:rPr>
                <a:t>Secondary memory</a:t>
              </a:r>
              <a:endParaRPr/>
            </a:p>
          </p:txBody>
        </p:sp>
        <p:sp>
          <p:nvSpPr>
            <p:cNvPr id="388" name="Rectangle 10"/>
            <p:cNvSpPr>
              <a:spLocks noChangeArrowheads="true"/>
            </p:cNvSpPr>
            <p:nvPr/>
          </p:nvSpPr>
          <p:spPr bwMode="auto">
            <a:xfrm>
              <a:off x="3172" y="2068"/>
              <a:ext cx="2176" cy="512"/>
            </a:xfrm>
            <a:prstGeom prst="rect">
              <a:avLst/>
            </a:prstGeom>
            <a:noFill/>
            <a:ln w="12700">
              <a:pattFill prst="dkUpDiag">
                <a:fgClr>
                  <a:schemeClr val="tx1"/>
                </a:fgClr>
                <a:bgClr>
                  <a:schemeClr val="bg1"/>
                </a:bgClr>
              </a:pattFill>
              <a:miter lim="800000"/>
            </a:ln>
            <a:extLst>
              <a:ext uri="{909E8E84-426E-40DD-AFC4-6F175D3DCCD1}"/>
            </a:extLst>
          </p:spPr>
          <p:txBody>
            <a:bodyPr wrap="none" anchor="ctr"/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/>
              <a:endParaRPr lang="zh-CN" altLang="en-US"/>
            </a:p>
          </p:txBody>
        </p:sp>
        <p:sp>
          <p:nvSpPr>
            <p:cNvPr id="389" name="Line 11"/>
            <p:cNvSpPr>
              <a:spLocks noChangeShapeType="true"/>
            </p:cNvSpPr>
            <p:nvPr/>
          </p:nvSpPr>
          <p:spPr bwMode="auto">
            <a:xfrm>
              <a:off x="3964" y="2200"/>
              <a:ext cx="4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/>
            </a:extLst>
          </p:spPr>
          <p:txBody>
            <a:bodyPr wrap="none" anchor="ctr"/>
            <a:lstStyle/>
            <a:p>
              <a:pPr/>
              <a:endParaRPr lang="zh-CN" altLang="en-US"/>
            </a:p>
          </p:txBody>
        </p:sp>
        <p:sp>
          <p:nvSpPr>
            <p:cNvPr id="390" name="Line 12"/>
            <p:cNvSpPr>
              <a:spLocks noChangeShapeType="true"/>
            </p:cNvSpPr>
            <p:nvPr/>
          </p:nvSpPr>
          <p:spPr bwMode="auto">
            <a:xfrm flipH="true">
              <a:off x="3952" y="2440"/>
              <a:ext cx="4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/>
            </a:extLst>
          </p:spPr>
          <p:txBody>
            <a:bodyPr wrap="none" anchor="ctr"/>
            <a:lstStyle/>
            <a:p>
              <a:pPr/>
              <a:endParaRPr lang="zh-CN" altLang="en-US"/>
            </a:p>
          </p:txBody>
        </p:sp>
        <p:sp>
          <p:nvSpPr>
            <p:cNvPr id="391" name="Line 13"/>
            <p:cNvSpPr>
              <a:spLocks noChangeShapeType="true"/>
            </p:cNvSpPr>
            <p:nvPr/>
          </p:nvSpPr>
          <p:spPr bwMode="auto">
            <a:xfrm>
              <a:off x="2652" y="2440"/>
              <a:ext cx="6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/>
            </a:extLst>
          </p:spPr>
          <p:txBody>
            <a:bodyPr wrap="none" anchor="ctr"/>
            <a:lstStyle/>
            <a:p>
              <a:pPr/>
              <a:endParaRPr lang="zh-CN" altLang="en-US"/>
            </a:p>
          </p:txBody>
        </p:sp>
        <p:sp>
          <p:nvSpPr>
            <p:cNvPr id="392" name="Line 14"/>
            <p:cNvSpPr>
              <a:spLocks noChangeShapeType="true"/>
            </p:cNvSpPr>
            <p:nvPr/>
          </p:nvSpPr>
          <p:spPr bwMode="auto">
            <a:xfrm>
              <a:off x="2652" y="2248"/>
              <a:ext cx="25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/>
            </a:extLst>
          </p:spPr>
          <p:txBody>
            <a:bodyPr wrap="none" anchor="ctr"/>
            <a:lstStyle/>
            <a:p>
              <a:pPr/>
              <a:endParaRPr lang="zh-CN" altLang="en-US"/>
            </a:p>
          </p:txBody>
        </p:sp>
        <p:sp>
          <p:nvSpPr>
            <p:cNvPr id="393" name="Line 15"/>
            <p:cNvSpPr>
              <a:spLocks noChangeShapeType="true"/>
            </p:cNvSpPr>
            <p:nvPr/>
          </p:nvSpPr>
          <p:spPr bwMode="auto">
            <a:xfrm flipV="true">
              <a:off x="2904" y="1768"/>
              <a:ext cx="0" cy="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/>
            </a:extLst>
          </p:spPr>
          <p:txBody>
            <a:bodyPr wrap="none" anchor="ctr"/>
            <a:lstStyle/>
            <a:p>
              <a:pPr/>
              <a:endParaRPr lang="zh-CN" altLang="en-US"/>
            </a:p>
          </p:txBody>
        </p:sp>
        <p:sp>
          <p:nvSpPr>
            <p:cNvPr id="394" name="Line 16"/>
            <p:cNvSpPr>
              <a:spLocks noChangeShapeType="true"/>
            </p:cNvSpPr>
            <p:nvPr/>
          </p:nvSpPr>
          <p:spPr bwMode="auto">
            <a:xfrm>
              <a:off x="2904" y="1768"/>
              <a:ext cx="3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/>
            </a:extLst>
          </p:spPr>
          <p:txBody>
            <a:bodyPr wrap="none" anchor="ctr"/>
            <a:lstStyle/>
            <a:p>
              <a:pPr/>
              <a:endParaRPr lang="zh-CN" altLang="en-US"/>
            </a:p>
          </p:txBody>
        </p:sp>
        <p:sp>
          <p:nvSpPr>
            <p:cNvPr id="395" name="Line 17"/>
            <p:cNvSpPr>
              <a:spLocks noChangeShapeType="true"/>
            </p:cNvSpPr>
            <p:nvPr/>
          </p:nvSpPr>
          <p:spPr bwMode="auto">
            <a:xfrm flipV="true">
              <a:off x="3940" y="1773"/>
              <a:ext cx="853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/>
            </a:extLst>
          </p:spPr>
          <p:txBody>
            <a:bodyPr wrap="none" anchor="ctr"/>
            <a:lstStyle/>
            <a:p>
              <a:pPr/>
              <a:endParaRPr lang="zh-CN" altLang="en-US"/>
            </a:p>
          </p:txBody>
        </p:sp>
        <p:sp>
          <p:nvSpPr>
            <p:cNvPr id="396" name="Line 18"/>
            <p:cNvSpPr>
              <a:spLocks noChangeShapeType="true"/>
            </p:cNvSpPr>
            <p:nvPr/>
          </p:nvSpPr>
          <p:spPr bwMode="auto">
            <a:xfrm>
              <a:off x="4792" y="1777"/>
              <a:ext cx="0" cy="35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/>
            </a:extLst>
          </p:spPr>
          <p:txBody>
            <a:bodyPr wrap="none" anchor="ctr"/>
            <a:lstStyle/>
            <a:p>
              <a:pPr/>
              <a:endParaRPr lang="zh-CN" altLang="en-US"/>
            </a:p>
          </p:txBody>
        </p:sp>
        <p:sp>
          <p:nvSpPr>
            <p:cNvPr id="397" name="Line 19"/>
            <p:cNvSpPr>
              <a:spLocks noChangeShapeType="true"/>
            </p:cNvSpPr>
            <p:nvPr/>
          </p:nvSpPr>
          <p:spPr bwMode="auto">
            <a:xfrm flipH="true">
              <a:off x="920" y="1992"/>
              <a:ext cx="0" cy="3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/>
            </a:extLst>
          </p:spPr>
          <p:txBody>
            <a:bodyPr wrap="none" anchor="ctr"/>
            <a:lstStyle/>
            <a:p>
              <a:pPr/>
              <a:endParaRPr lang="zh-CN" altLang="en-US"/>
            </a:p>
          </p:txBody>
        </p:sp>
        <p:sp>
          <p:nvSpPr>
            <p:cNvPr id="398" name="Line 20"/>
            <p:cNvSpPr>
              <a:spLocks noChangeShapeType="true"/>
            </p:cNvSpPr>
            <p:nvPr/>
          </p:nvSpPr>
          <p:spPr bwMode="auto">
            <a:xfrm flipV="true">
              <a:off x="920" y="2320"/>
              <a:ext cx="8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/>
            </a:extLst>
          </p:spPr>
          <p:txBody>
            <a:bodyPr wrap="none" anchor="ctr"/>
            <a:lstStyle/>
            <a:p>
              <a:pPr/>
              <a:endParaRPr lang="zh-CN" altLang="en-US"/>
            </a:p>
          </p:txBody>
        </p:sp>
        <p:sp>
          <p:nvSpPr>
            <p:cNvPr id="399" name="Rectangle 21"/>
            <p:cNvSpPr>
              <a:spLocks noChangeArrowheads="true"/>
            </p:cNvSpPr>
            <p:nvPr/>
          </p:nvSpPr>
          <p:spPr bwMode="auto">
            <a:xfrm>
              <a:off x="1144" y="2368"/>
              <a:ext cx="160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lIns="63500" tIns="25400" rIns="63500" bIns="25400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 sz="1800">
                  <a:solidFill>
                    <a:srgbClr val="FF0000"/>
                  </a:solidFill>
                  <a:latin typeface="Helvetica" pitchFamily="34" charset="0"/>
                </a:rPr>
                <a:t>a</a:t>
              </a:r>
              <a:endParaRPr/>
            </a:p>
          </p:txBody>
        </p:sp>
        <p:sp>
          <p:nvSpPr>
            <p:cNvPr id="400" name="Rectangle 22"/>
            <p:cNvSpPr>
              <a:spLocks noChangeArrowheads="true"/>
            </p:cNvSpPr>
            <p:nvPr/>
          </p:nvSpPr>
          <p:spPr bwMode="auto">
            <a:xfrm>
              <a:off x="2836" y="2512"/>
              <a:ext cx="194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lIns="63500" tIns="25400" rIns="63500" bIns="25400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 sz="1800">
                  <a:solidFill>
                    <a:srgbClr val="9900CC"/>
                  </a:solidFill>
                  <a:latin typeface="Helvetica" pitchFamily="34" charset="0"/>
                </a:rPr>
                <a:t>a'</a:t>
              </a:r>
              <a:endParaRPr/>
            </a:p>
          </p:txBody>
        </p:sp>
        <p:sp>
          <p:nvSpPr>
            <p:cNvPr id="401" name="Rectangle 23"/>
            <p:cNvSpPr>
              <a:spLocks noChangeArrowheads="true"/>
            </p:cNvSpPr>
            <p:nvPr/>
          </p:nvSpPr>
          <p:spPr bwMode="auto">
            <a:xfrm>
              <a:off x="2672" y="2056"/>
              <a:ext cx="199" cy="1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63500" tIns="25400" rIns="63500" bIns="25400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zh-CN" altLang="en-US" sz="1800">
                  <a:effectLst>
                    <a:outerShdw blurRad="38100" dist="38100" dir="2700000" algn="tl">
                      <a:srgbClr val="C0C0C0"/>
                    </a:outerShdw>
                  </a:effectLst>
                  <a:latin typeface="Helvetica" pitchFamily="34" charset="0"/>
                  <a:sym typeface="Symbol" charset="2"/>
                </a:rPr>
                <a:t></a:t>
              </a:r>
              <a:endParaRPr/>
            </a:p>
          </p:txBody>
        </p:sp>
        <p:sp>
          <p:nvSpPr>
            <p:cNvPr id="402" name="Rectangle 24"/>
            <p:cNvSpPr>
              <a:spLocks noChangeArrowheads="true"/>
            </p:cNvSpPr>
            <p:nvPr/>
          </p:nvSpPr>
          <p:spPr bwMode="auto">
            <a:xfrm>
              <a:off x="3296" y="1344"/>
              <a:ext cx="843" cy="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63500" tIns="25400" rIns="63500" bIns="25400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 i="true">
                  <a:effectLst>
                    <a:outerShdw blurRad="38100" dist="38100" dir="2700000" algn="tl">
                      <a:srgbClr val="C0C0C0"/>
                    </a:outerShdw>
                  </a:effectLst>
                  <a:latin typeface="Helvetica" pitchFamily="34" charset="0"/>
                </a:rPr>
                <a:t>page fault</a:t>
              </a:r>
              <a:endParaRPr/>
            </a:p>
          </p:txBody>
        </p:sp>
        <p:sp>
          <p:nvSpPr>
            <p:cNvPr id="403" name="Line 25"/>
            <p:cNvSpPr>
              <a:spLocks noChangeShapeType="true"/>
            </p:cNvSpPr>
            <p:nvPr/>
          </p:nvSpPr>
          <p:spPr bwMode="auto">
            <a:xfrm flipH="true">
              <a:off x="3064" y="1468"/>
              <a:ext cx="248" cy="2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/>
            </a:extLst>
          </p:spPr>
          <p:txBody>
            <a:bodyPr wrap="none" anchor="ctr"/>
            <a:lstStyle/>
            <a:p>
              <a:pPr/>
              <a:endParaRPr lang="zh-CN" altLang="en-US"/>
            </a:p>
          </p:txBody>
        </p:sp>
        <p:sp>
          <p:nvSpPr>
            <p:cNvPr id="404" name="Rectangle 26"/>
            <p:cNvSpPr>
              <a:spLocks noChangeArrowheads="true"/>
            </p:cNvSpPr>
            <p:nvPr/>
          </p:nvSpPr>
          <p:spPr bwMode="auto">
            <a:xfrm>
              <a:off x="2688" y="2912"/>
              <a:ext cx="1248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lIns="63500" tIns="25400" rIns="63500" bIns="25400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 sz="1800">
                  <a:solidFill>
                    <a:srgbClr val="9900CC"/>
                  </a:solidFill>
                  <a:latin typeface="Helvetica" pitchFamily="34" charset="0"/>
                </a:rPr>
                <a:t>physical address</a:t>
              </a:r>
              <a:endParaRPr/>
            </a:p>
          </p:txBody>
        </p:sp>
        <p:sp>
          <p:nvSpPr>
            <p:cNvPr id="405" name="Line 27"/>
            <p:cNvSpPr>
              <a:spLocks noChangeShapeType="true"/>
            </p:cNvSpPr>
            <p:nvPr/>
          </p:nvSpPr>
          <p:spPr bwMode="auto">
            <a:xfrm flipH="true" flipV="true">
              <a:off x="3024" y="2676"/>
              <a:ext cx="260" cy="1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/>
            </a:extLst>
          </p:spPr>
          <p:txBody>
            <a:bodyPr wrap="none" anchor="ctr"/>
            <a:lstStyle/>
            <a:p>
              <a:pPr/>
              <a:endParaRPr lang="zh-CN" altLang="en-US"/>
            </a:p>
          </p:txBody>
        </p:sp>
        <p:sp>
          <p:nvSpPr>
            <p:cNvPr id="406" name="Line 28"/>
            <p:cNvSpPr>
              <a:spLocks noChangeShapeType="true"/>
            </p:cNvSpPr>
            <p:nvPr/>
          </p:nvSpPr>
          <p:spPr bwMode="auto">
            <a:xfrm>
              <a:off x="4196" y="2468"/>
              <a:ext cx="240" cy="3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/>
            </a:extLst>
          </p:spPr>
          <p:txBody>
            <a:bodyPr wrap="none" anchor="ctr"/>
            <a:lstStyle/>
            <a:p>
              <a:pPr/>
              <a:endParaRPr lang="zh-CN" altLang="en-US"/>
            </a:p>
          </p:txBody>
        </p:sp>
        <p:sp>
          <p:nvSpPr>
            <p:cNvPr id="407" name="Rectangle 29"/>
            <p:cNvSpPr>
              <a:spLocks noChangeArrowheads="true"/>
            </p:cNvSpPr>
            <p:nvPr/>
          </p:nvSpPr>
          <p:spPr bwMode="auto">
            <a:xfrm>
              <a:off x="4416" y="2809"/>
              <a:ext cx="968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lIns="63500" tIns="25400" rIns="63500" bIns="25400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 sz="1800">
                  <a:latin typeface="Helvetica" pitchFamily="34" charset="0"/>
                </a:rPr>
                <a:t>OS performs</a:t>
              </a:r>
              <a:endParaRPr/>
            </a:p>
            <a:p>
              <a:pPr>
                <a:lnSpc>
                  <a:spcPct val="85000"/>
                </a:lnSpc>
              </a:pPr>
              <a:r>
                <a:rPr lang="en-US" altLang="zh-CN" sz="1800">
                  <a:latin typeface="Helvetica" pitchFamily="34" charset="0"/>
                </a:rPr>
                <a:t>this transfer</a:t>
              </a:r>
              <a:endParaRPr/>
            </a:p>
            <a:p>
              <a:pPr>
                <a:lnSpc>
                  <a:spcPct val="85000"/>
                </a:lnSpc>
              </a:pPr>
              <a:r>
                <a:rPr lang="en-US" altLang="zh-CN" sz="1800">
                  <a:latin typeface="Helvetica" pitchFamily="34" charset="0"/>
                </a:rPr>
                <a:t>(only if miss)</a:t>
              </a:r>
              <a:endParaRPr/>
            </a:p>
          </p:txBody>
        </p:sp>
        <p:sp>
          <p:nvSpPr>
            <p:cNvPr id="408" name="Rectangle 30"/>
            <p:cNvSpPr>
              <a:spLocks noChangeArrowheads="true"/>
            </p:cNvSpPr>
            <p:nvPr/>
          </p:nvSpPr>
          <p:spPr bwMode="auto">
            <a:xfrm>
              <a:off x="384" y="2856"/>
              <a:ext cx="111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lIns="63500" tIns="25400" rIns="63500" bIns="25400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 sz="1800">
                  <a:solidFill>
                    <a:srgbClr val="FF0000"/>
                  </a:solidFill>
                  <a:latin typeface="Helvetica" pitchFamily="34" charset="0"/>
                </a:rPr>
                <a:t>virtual address</a:t>
              </a:r>
              <a:endParaRPr/>
            </a:p>
          </p:txBody>
        </p:sp>
        <p:sp>
          <p:nvSpPr>
            <p:cNvPr id="409" name="Line 31"/>
            <p:cNvSpPr>
              <a:spLocks noChangeShapeType="true"/>
            </p:cNvSpPr>
            <p:nvPr/>
          </p:nvSpPr>
          <p:spPr bwMode="auto">
            <a:xfrm flipV="true">
              <a:off x="816" y="2544"/>
              <a:ext cx="336" cy="26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/>
            </a:extLst>
          </p:spPr>
          <p:txBody>
            <a:bodyPr wrap="none" anchor="ctr"/>
            <a:lstStyle/>
            <a:p>
              <a:pPr/>
              <a:endParaRPr lang="zh-CN" altLang="en-US"/>
            </a:p>
          </p:txBody>
        </p:sp>
        <p:sp>
          <p:nvSpPr>
            <p:cNvPr id="410" name="Line 32"/>
            <p:cNvSpPr>
              <a:spLocks noChangeShapeType="true"/>
            </p:cNvSpPr>
            <p:nvPr/>
          </p:nvSpPr>
          <p:spPr bwMode="auto">
            <a:xfrm flipV="true">
              <a:off x="2112" y="2632"/>
              <a:ext cx="0" cy="28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/>
            </a:extLst>
          </p:spPr>
          <p:txBody>
            <a:bodyPr wrap="none" lIns="90487" tIns="44450" rIns="90487" bIns="44450" anchor="ctr"/>
            <a:lstStyle/>
            <a:p>
              <a:pPr/>
              <a:endParaRPr lang="zh-CN" altLang="en-US"/>
            </a:p>
          </p:txBody>
        </p:sp>
        <p:sp>
          <p:nvSpPr>
            <p:cNvPr id="411" name="Rectangle 33"/>
            <p:cNvSpPr>
              <a:spLocks noChangeArrowheads="true"/>
            </p:cNvSpPr>
            <p:nvPr/>
          </p:nvSpPr>
          <p:spPr bwMode="auto">
            <a:xfrm>
              <a:off x="1656" y="2985"/>
              <a:ext cx="1856" cy="3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  <a:defRPr/>
              </a:pPr>
              <a:r>
                <a:rPr lang="en-US" altLang="zh-CN" sz="1800" dirty="false">
                  <a:latin typeface="Helvetica" pitchFamily="34" charset="0"/>
                  <a:ea typeface="宋体" charset="-122"/>
                </a:rPr>
                <a:t>part of the </a:t>
              </a:r>
              <a:endParaRPr/>
            </a:p>
            <a:p>
              <a:pPr>
                <a:lnSpc>
                  <a:spcPct val="85000"/>
                </a:lnSpc>
                <a:defRPr/>
              </a:pPr>
              <a:r>
                <a:rPr lang="en-US" altLang="zh-CN" sz="1800" dirty="false">
                  <a:latin typeface="Helvetica" pitchFamily="34" charset="0"/>
                  <a:ea typeface="宋体" charset="-122"/>
                </a:rPr>
                <a:t>on-chip</a:t>
              </a:r>
              <a:endParaRPr/>
            </a:p>
            <a:p>
              <a:pPr>
                <a:lnSpc>
                  <a:spcPct val="85000"/>
                </a:lnSpc>
                <a:defRPr/>
              </a:pPr>
              <a:r>
                <a:rPr lang="en-US" altLang="zh-CN" sz="1800" dirty="false">
                  <a:latin typeface="Helvetica" pitchFamily="34" charset="0"/>
                  <a:ea typeface="宋体" charset="-122"/>
                </a:rPr>
                <a:t>memory </a:t>
              </a:r>
              <a:r>
                <a:rPr lang="en-US" altLang="zh-CN" sz="1800" dirty="false" err="true">
                  <a:latin typeface="Helvetica" pitchFamily="34" charset="0"/>
                  <a:ea typeface="宋体" charset="-122"/>
                </a:rPr>
                <a:t>mgmt</a:t>
              </a:r>
              <a:r>
                <a:rPr lang="en-US" altLang="zh-CN" sz="1800" dirty="false">
                  <a:latin typeface="Helvetica" pitchFamily="34" charset="0"/>
                  <a:ea typeface="宋体" charset="-122"/>
                </a:rPr>
                <a:t> unit </a:t>
              </a:r>
              <a:r>
                <a:rPr lang="en-US" altLang="zh-CN" sz="1800" dirty="false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elvetica" pitchFamily="34" charset="0"/>
                  <a:ea typeface="宋体" charset="-122"/>
                </a:rPr>
                <a:t>(MMU</a:t>
              </a:r>
              <a:r>
                <a:rPr lang="en-US" altLang="zh-CN" sz="1800" dirty="false">
                  <a:latin typeface="Helvetica" pitchFamily="34" charset="0"/>
                  <a:ea typeface="宋体" charset="-122"/>
                </a:rPr>
                <a:t>)</a:t>
              </a:r>
              <a:endParaRPr/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>
  <p:cSld>
    <p:spTree>
      <p:nvGrpSpPr>
        <p:cNvPr id="4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FC4B6DE4-C1EA-4748-81EF-C35B90850274}" type="slidenum">
              <a:rPr lang="zh-CN" altLang="en-US" sz="1400" b="false">
                <a:latin typeface="Times New Roman" panose="02020603050405020304" charset="0"/>
              </a:rPr>
              <a:t>45</a:t>
            </a:fld>
            <a:endParaRPr lang="en-US" altLang="zh-CN" sz="1400" b="false">
              <a:latin typeface="Times New Roman" panose="02020603050405020304" charset="0"/>
            </a:endParaRPr>
          </a:p>
        </p:txBody>
      </p:sp>
      <p:sp>
        <p:nvSpPr>
          <p:cNvPr id="414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Address Translation</a:t>
            </a:r>
            <a:endParaRPr/>
          </a:p>
        </p:txBody>
      </p:sp>
      <p:sp>
        <p:nvSpPr>
          <p:cNvPr id="415" name="Rectangle 3"/>
          <p:cNvSpPr>
            <a:spLocks noGrp="true" noChangeArrowheads="true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kumimoji="false" lang="en-US" altLang="zh-CN">
                <a:ea typeface="宋体" charset="-122"/>
              </a:rPr>
              <a:t>Basic Parameters</a:t>
            </a:r>
            <a:endParaRPr/>
          </a:p>
          <a:p>
            <a:pPr lvl="1"/>
            <a:r>
              <a:rPr kumimoji="false" lang="en-US" altLang="zh-CN">
                <a:solidFill>
                  <a:srgbClr val="FF0000"/>
                </a:solidFill>
                <a:ea typeface="宋体" charset="-122"/>
              </a:rPr>
              <a:t>N</a:t>
            </a:r>
            <a:r>
              <a:rPr kumimoji="false" lang="en-US" altLang="zh-CN">
                <a:ea typeface="宋体" charset="-122"/>
              </a:rPr>
              <a:t> = 2</a:t>
            </a:r>
            <a:r>
              <a:rPr kumimoji="false" lang="en-US" altLang="zh-CN" baseline="30000">
                <a:solidFill>
                  <a:srgbClr val="FF0000"/>
                </a:solidFill>
                <a:ea typeface="宋体" charset="-122"/>
              </a:rPr>
              <a:t>n</a:t>
            </a:r>
            <a:r>
              <a:rPr kumimoji="false" lang="en-US" altLang="zh-CN">
                <a:solidFill>
                  <a:srgbClr val="FF0000"/>
                </a:solidFill>
                <a:ea typeface="宋体" charset="-122"/>
              </a:rPr>
              <a:t> </a:t>
            </a:r>
            <a:r>
              <a:rPr kumimoji="false" lang="en-US" altLang="zh-CN">
                <a:ea typeface="宋体" charset="-122"/>
              </a:rPr>
              <a:t>= Virtual address limit</a:t>
            </a:r>
            <a:endParaRPr/>
          </a:p>
          <a:p>
            <a:pPr lvl="1"/>
            <a:r>
              <a:rPr kumimoji="false" lang="en-US" altLang="zh-CN">
                <a:solidFill>
                  <a:srgbClr val="9900CC"/>
                </a:solidFill>
                <a:ea typeface="宋体" charset="-122"/>
              </a:rPr>
              <a:t>M</a:t>
            </a:r>
            <a:r>
              <a:rPr kumimoji="false" lang="en-US" altLang="zh-CN">
                <a:ea typeface="宋体" charset="-122"/>
              </a:rPr>
              <a:t> = 2</a:t>
            </a:r>
            <a:r>
              <a:rPr kumimoji="false" lang="en-US" altLang="zh-CN" baseline="30000">
                <a:solidFill>
                  <a:srgbClr val="9900CC"/>
                </a:solidFill>
                <a:ea typeface="宋体" charset="-122"/>
              </a:rPr>
              <a:t>m</a:t>
            </a:r>
            <a:r>
              <a:rPr kumimoji="false" lang="en-US" altLang="zh-CN">
                <a:ea typeface="宋体" charset="-122"/>
              </a:rPr>
              <a:t> = Physical address limit</a:t>
            </a:r>
            <a:endParaRPr/>
          </a:p>
          <a:p>
            <a:pPr lvl="1"/>
            <a:r>
              <a:rPr kumimoji="false" lang="en-US" altLang="zh-CN">
                <a:solidFill>
                  <a:srgbClr val="00B0F0"/>
                </a:solidFill>
                <a:ea typeface="宋体" charset="-122"/>
              </a:rPr>
              <a:t>P</a:t>
            </a:r>
            <a:r>
              <a:rPr kumimoji="false" lang="en-US" altLang="zh-CN">
                <a:solidFill>
                  <a:srgbClr val="000000"/>
                </a:solidFill>
                <a:ea typeface="宋体" charset="-122"/>
              </a:rPr>
              <a:t> = 2</a:t>
            </a:r>
            <a:r>
              <a:rPr kumimoji="false" lang="en-US" altLang="zh-CN" baseline="30000">
                <a:solidFill>
                  <a:srgbClr val="00B0F0"/>
                </a:solidFill>
                <a:ea typeface="宋体" charset="-122"/>
              </a:rPr>
              <a:t>p</a:t>
            </a:r>
            <a:r>
              <a:rPr kumimoji="false" lang="en-US" altLang="zh-CN">
                <a:solidFill>
                  <a:srgbClr val="000000"/>
                </a:solidFill>
                <a:ea typeface="宋体" charset="-122"/>
              </a:rPr>
              <a:t> = page size (bytes).  </a:t>
            </a:r>
            <a:endParaRPr/>
          </a:p>
          <a:p>
            <a:pPr lvl="1"/>
            <a:endParaRPr kumimoji="false" lang="zh-CN" altLang="en-US" sz="2000">
              <a:ea typeface="宋体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>
  <p:cSld>
    <p:spTree>
      <p:nvGrpSpPr>
        <p:cNvPr id="4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136AEE8E-F7CE-9949-9DC0-B8E11E5E433A}" type="slidenum">
              <a:rPr lang="zh-CN" altLang="en-US" sz="1400" b="false">
                <a:latin typeface="Times New Roman" panose="02020603050405020304" charset="0"/>
              </a:rPr>
              <a:t>46</a:t>
            </a:fld>
            <a:endParaRPr lang="en-US" altLang="zh-CN" sz="1400" b="false">
              <a:latin typeface="Times New Roman" panose="02020603050405020304" charset="0"/>
            </a:endParaRPr>
          </a:p>
        </p:txBody>
      </p:sp>
      <p:sp>
        <p:nvSpPr>
          <p:cNvPr id="418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Address Translation</a:t>
            </a:r>
            <a:endParaRPr/>
          </a:p>
        </p:txBody>
      </p:sp>
      <p:grpSp>
        <p:nvGrpSpPr>
          <p:cNvPr id="419" name="Group 24"/>
          <p:cNvGrpSpPr/>
          <p:nvPr/>
        </p:nvGrpSpPr>
        <p:grpSpPr>
          <a:xfrm>
            <a:off x="671512" y="1770063"/>
            <a:ext cx="7643812" cy="3338611"/>
            <a:chOff x="423" y="1115"/>
            <a:chExt cx="4815" cy="1834"/>
          </a:xfrm>
        </p:grpSpPr>
        <p:sp>
          <p:nvSpPr>
            <p:cNvPr id="420" name="Rectangle 5"/>
            <p:cNvSpPr>
              <a:spLocks noChangeArrowheads="true"/>
            </p:cNvSpPr>
            <p:nvPr/>
          </p:nvSpPr>
          <p:spPr bwMode="auto">
            <a:xfrm>
              <a:off x="436" y="1325"/>
              <a:ext cx="2008" cy="232"/>
            </a:xfrm>
            <a:prstGeom prst="rect">
              <a:avLst/>
            </a:prstGeom>
            <a:solidFill>
              <a:srgbClr val="FF99CC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en-US" altLang="zh-CN" sz="1800" b="false">
                  <a:latin typeface="Helvetica" pitchFamily="34" charset="0"/>
                </a:rPr>
                <a:t>virtual page number</a:t>
              </a:r>
              <a:endParaRPr/>
            </a:p>
          </p:txBody>
        </p:sp>
        <p:sp>
          <p:nvSpPr>
            <p:cNvPr id="421" name="Rectangle 6"/>
            <p:cNvSpPr>
              <a:spLocks noChangeArrowheads="true"/>
            </p:cNvSpPr>
            <p:nvPr/>
          </p:nvSpPr>
          <p:spPr bwMode="auto">
            <a:xfrm>
              <a:off x="2452" y="1325"/>
              <a:ext cx="1384" cy="232"/>
            </a:xfrm>
            <a:prstGeom prst="rect">
              <a:avLst/>
            </a:prstGeom>
            <a:solidFill>
              <a:srgbClr val="66FFFF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en-US" altLang="zh-CN" sz="1800" b="false">
                  <a:latin typeface="Helvetica" pitchFamily="34" charset="0"/>
                </a:rPr>
                <a:t>page offset</a:t>
              </a:r>
              <a:endParaRPr/>
            </a:p>
          </p:txBody>
        </p:sp>
        <p:sp>
          <p:nvSpPr>
            <p:cNvPr id="422" name="Rectangle 7"/>
            <p:cNvSpPr>
              <a:spLocks noChangeArrowheads="true"/>
            </p:cNvSpPr>
            <p:nvPr/>
          </p:nvSpPr>
          <p:spPr bwMode="auto">
            <a:xfrm>
              <a:off x="3895" y="1307"/>
              <a:ext cx="1149" cy="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/>
              <a:r>
                <a:rPr lang="en-US" altLang="zh-CN" sz="1800">
                  <a:solidFill>
                    <a:srgbClr val="FF0000"/>
                  </a:solidFill>
                  <a:latin typeface="Helvetica" pitchFamily="34" charset="0"/>
                </a:rPr>
                <a:t>virtual address</a:t>
              </a:r>
              <a:endParaRPr/>
            </a:p>
          </p:txBody>
        </p:sp>
        <p:sp>
          <p:nvSpPr>
            <p:cNvPr id="423" name="Rectangle 8"/>
            <p:cNvSpPr>
              <a:spLocks noChangeArrowheads="true"/>
            </p:cNvSpPr>
            <p:nvPr/>
          </p:nvSpPr>
          <p:spPr bwMode="auto">
            <a:xfrm>
              <a:off x="628" y="2717"/>
              <a:ext cx="1816" cy="232"/>
            </a:xfrm>
            <a:prstGeom prst="rect">
              <a:avLst/>
            </a:prstGeom>
            <a:solidFill>
              <a:srgbClr val="CC99FF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en-US" altLang="zh-CN" sz="1800" b="false">
                  <a:latin typeface="Helvetica" pitchFamily="34" charset="0"/>
                </a:rPr>
                <a:t>physical page number</a:t>
              </a:r>
              <a:endParaRPr/>
            </a:p>
          </p:txBody>
        </p:sp>
        <p:sp>
          <p:nvSpPr>
            <p:cNvPr id="424" name="Rectangle 9"/>
            <p:cNvSpPr>
              <a:spLocks noChangeArrowheads="true"/>
            </p:cNvSpPr>
            <p:nvPr/>
          </p:nvSpPr>
          <p:spPr bwMode="auto">
            <a:xfrm>
              <a:off x="2452" y="2717"/>
              <a:ext cx="1384" cy="232"/>
            </a:xfrm>
            <a:prstGeom prst="rect">
              <a:avLst/>
            </a:prstGeom>
            <a:solidFill>
              <a:srgbClr val="66FFFF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en-US" altLang="zh-CN" sz="1800" b="false">
                  <a:latin typeface="Helvetica" pitchFamily="34" charset="0"/>
                </a:rPr>
                <a:t>page offset</a:t>
              </a:r>
              <a:endParaRPr/>
            </a:p>
          </p:txBody>
        </p:sp>
        <p:sp>
          <p:nvSpPr>
            <p:cNvPr id="425" name="Rectangle 10"/>
            <p:cNvSpPr>
              <a:spLocks noChangeArrowheads="true"/>
            </p:cNvSpPr>
            <p:nvPr/>
          </p:nvSpPr>
          <p:spPr bwMode="auto">
            <a:xfrm>
              <a:off x="3943" y="2699"/>
              <a:ext cx="1295" cy="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/>
              <a:r>
                <a:rPr lang="en-US" altLang="zh-CN" sz="1800">
                  <a:solidFill>
                    <a:srgbClr val="9900CC"/>
                  </a:solidFill>
                  <a:latin typeface="Helvetica" pitchFamily="34" charset="0"/>
                </a:rPr>
                <a:t>physical address</a:t>
              </a:r>
              <a:endParaRPr/>
            </a:p>
          </p:txBody>
        </p:sp>
        <p:sp>
          <p:nvSpPr>
            <p:cNvPr id="426" name="Line 11"/>
            <p:cNvSpPr>
              <a:spLocks noChangeShapeType="true"/>
            </p:cNvSpPr>
            <p:nvPr/>
          </p:nvSpPr>
          <p:spPr bwMode="auto">
            <a:xfrm>
              <a:off x="3216" y="1565"/>
              <a:ext cx="0" cy="10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/>
            </a:extLst>
          </p:spPr>
          <p:txBody>
            <a:bodyPr wrap="none" anchor="ctr"/>
            <a:lstStyle/>
            <a:p>
              <a:pPr/>
              <a:endParaRPr lang="zh-CN" altLang="en-US"/>
            </a:p>
          </p:txBody>
        </p:sp>
        <p:sp>
          <p:nvSpPr>
            <p:cNvPr id="427" name="Rectangle 12"/>
            <p:cNvSpPr>
              <a:spLocks noChangeArrowheads="true"/>
            </p:cNvSpPr>
            <p:nvPr/>
          </p:nvSpPr>
          <p:spPr bwMode="auto">
            <a:xfrm>
              <a:off x="3735" y="2507"/>
              <a:ext cx="194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/>
              <a:r>
                <a:rPr lang="en-US" altLang="zh-CN" sz="1800" b="false">
                  <a:latin typeface="Helvetica" pitchFamily="34" charset="0"/>
                </a:rPr>
                <a:t>0</a:t>
              </a:r>
              <a:endParaRPr/>
            </a:p>
          </p:txBody>
        </p:sp>
        <p:sp>
          <p:nvSpPr>
            <p:cNvPr id="428" name="Rectangle 13"/>
            <p:cNvSpPr>
              <a:spLocks noChangeArrowheads="true"/>
            </p:cNvSpPr>
            <p:nvPr/>
          </p:nvSpPr>
          <p:spPr bwMode="auto">
            <a:xfrm>
              <a:off x="2439" y="2507"/>
              <a:ext cx="37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/>
              <a:r>
                <a:rPr lang="en-US" sz="1800" b="false">
                  <a:solidFill>
                    <a:srgbClr val="00B0F0">
                      <a:alpha val="100000"/>
                    </a:srgbClr>
                  </a:solidFill>
                  <a:latin typeface="Helvetica"/>
                  <a:ea typeface="宋体"/>
                  <a:cs typeface="+mn-cs"/>
                </a:rPr>
                <a:t>P</a:t>
              </a:r>
              <a:r>
                <a:rPr lang="en-US" sz="1800" b="false">
                  <a:latin typeface="Helvetica"/>
                  <a:ea typeface="宋体"/>
                  <a:cs typeface="+mn-cs"/>
                </a:rPr>
                <a:t>–1</a:t>
              </a:r>
              <a:endParaRPr/>
            </a:p>
          </p:txBody>
        </p:sp>
        <p:sp>
          <p:nvSpPr>
            <p:cNvPr id="429" name="Oval 14"/>
            <p:cNvSpPr>
              <a:spLocks noChangeArrowheads="true"/>
            </p:cNvSpPr>
            <p:nvPr/>
          </p:nvSpPr>
          <p:spPr bwMode="auto">
            <a:xfrm>
              <a:off x="820" y="1997"/>
              <a:ext cx="1528" cy="280"/>
            </a:xfrm>
            <a:prstGeom prst="ellipse">
              <a:avLst/>
            </a:prstGeom>
            <a:solidFill>
              <a:srgbClr val="FFFF00">
                <a:alpha val="50195"/>
              </a:srgbClr>
            </a:solidFill>
            <a:ln w="12700">
              <a:solidFill>
                <a:schemeClr val="tx1"/>
              </a:solidFill>
              <a:round/>
            </a:ln>
          </p:spPr>
          <p:txBody>
            <a:bodyPr wrap="none" lIns="90487" tIns="44450" rIns="90487" bIns="44450" anchor="ctr"/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en-US" altLang="zh-CN" sz="1800" b="false">
                  <a:latin typeface="Helvetica" pitchFamily="34" charset="0"/>
                </a:rPr>
                <a:t>address translation</a:t>
              </a:r>
              <a:endParaRPr/>
            </a:p>
          </p:txBody>
        </p:sp>
        <p:sp>
          <p:nvSpPr>
            <p:cNvPr id="430" name="Rectangle 15"/>
            <p:cNvSpPr>
              <a:spLocks noChangeArrowheads="true"/>
            </p:cNvSpPr>
            <p:nvPr/>
          </p:nvSpPr>
          <p:spPr bwMode="auto">
            <a:xfrm>
              <a:off x="2247" y="2507"/>
              <a:ext cx="21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/>
              <a:r>
                <a:rPr lang="en-US" sz="1800" b="false">
                  <a:solidFill>
                    <a:srgbClr val="00B0F0">
                      <a:alpha val="100000"/>
                    </a:srgbClr>
                  </a:solidFill>
                  <a:latin typeface="Helvetica"/>
                  <a:ea typeface="宋体"/>
                  <a:cs typeface="+mn-cs"/>
                </a:rPr>
                <a:t>P</a:t>
              </a:r>
              <a:endParaRPr/>
            </a:p>
          </p:txBody>
        </p:sp>
        <p:sp>
          <p:nvSpPr>
            <p:cNvPr id="431" name="Rectangle 16"/>
            <p:cNvSpPr>
              <a:spLocks noChangeArrowheads="true"/>
            </p:cNvSpPr>
            <p:nvPr/>
          </p:nvSpPr>
          <p:spPr bwMode="auto">
            <a:xfrm>
              <a:off x="615" y="2507"/>
              <a:ext cx="396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/>
              <a:r>
                <a:rPr lang="en-US" sz="1800" b="false">
                  <a:solidFill>
                    <a:srgbClr val="9900CC">
                      <a:alpha val="100000"/>
                    </a:srgbClr>
                  </a:solidFill>
                  <a:latin typeface="Helvetica"/>
                  <a:ea typeface="宋体"/>
                  <a:cs typeface="+mn-cs"/>
                </a:rPr>
                <a:t>M</a:t>
              </a:r>
              <a:r>
                <a:rPr lang="en-US" sz="1800" b="false">
                  <a:latin typeface="Helvetica"/>
                  <a:ea typeface="宋体"/>
                  <a:cs typeface="+mn-cs"/>
                </a:rPr>
                <a:t>–1</a:t>
              </a:r>
              <a:endParaRPr/>
            </a:p>
          </p:txBody>
        </p:sp>
        <p:sp>
          <p:nvSpPr>
            <p:cNvPr id="432" name="Rectangle 17"/>
            <p:cNvSpPr>
              <a:spLocks noChangeArrowheads="true"/>
            </p:cNvSpPr>
            <p:nvPr/>
          </p:nvSpPr>
          <p:spPr bwMode="auto">
            <a:xfrm>
              <a:off x="423" y="1115"/>
              <a:ext cx="380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/>
              <a:r>
                <a:rPr lang="en-US" sz="1800" b="false">
                  <a:solidFill>
                    <a:srgbClr val="FF0000">
                      <a:alpha val="100000"/>
                    </a:srgbClr>
                  </a:solidFill>
                  <a:latin typeface="Helvetica"/>
                  <a:ea typeface="宋体"/>
                  <a:cs typeface="+mn-cs"/>
                </a:rPr>
                <a:t>N</a:t>
              </a:r>
              <a:r>
                <a:rPr lang="en-US" sz="1800" b="false">
                  <a:latin typeface="Helvetica"/>
                  <a:ea typeface="宋体"/>
                  <a:cs typeface="+mn-cs"/>
                </a:rPr>
                <a:t>–1</a:t>
              </a:r>
              <a:endParaRPr/>
            </a:p>
          </p:txBody>
        </p:sp>
        <p:sp>
          <p:nvSpPr>
            <p:cNvPr id="433" name="Rectangle 18"/>
            <p:cNvSpPr>
              <a:spLocks noChangeArrowheads="true"/>
            </p:cNvSpPr>
            <p:nvPr/>
          </p:nvSpPr>
          <p:spPr bwMode="auto">
            <a:xfrm>
              <a:off x="3645" y="1115"/>
              <a:ext cx="194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/>
              <a:r>
                <a:rPr lang="en-US" altLang="zh-CN" sz="1800" b="false">
                  <a:latin typeface="Helvetica" pitchFamily="34" charset="0"/>
                </a:rPr>
                <a:t>0</a:t>
              </a:r>
              <a:endParaRPr/>
            </a:p>
          </p:txBody>
        </p:sp>
        <p:sp>
          <p:nvSpPr>
            <p:cNvPr id="434" name="Rectangle 19"/>
            <p:cNvSpPr>
              <a:spLocks noChangeArrowheads="true"/>
            </p:cNvSpPr>
            <p:nvPr/>
          </p:nvSpPr>
          <p:spPr bwMode="auto">
            <a:xfrm>
              <a:off x="2397" y="1115"/>
              <a:ext cx="37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/>
              <a:r>
                <a:rPr lang="en-US" sz="1800" b="false">
                  <a:solidFill>
                    <a:srgbClr val="00B0F0">
                      <a:alpha val="100000"/>
                    </a:srgbClr>
                  </a:solidFill>
                  <a:latin typeface="Helvetica"/>
                  <a:ea typeface="宋体"/>
                  <a:cs typeface="+mn-cs"/>
                </a:rPr>
                <a:t>P</a:t>
              </a:r>
              <a:r>
                <a:rPr lang="en-US" sz="1800" b="false">
                  <a:latin typeface="Helvetica"/>
                  <a:ea typeface="宋体"/>
                  <a:cs typeface="+mn-cs"/>
                </a:rPr>
                <a:t>–1</a:t>
              </a:r>
              <a:endParaRPr/>
            </a:p>
          </p:txBody>
        </p:sp>
        <p:sp>
          <p:nvSpPr>
            <p:cNvPr id="435" name="Rectangle 20"/>
            <p:cNvSpPr>
              <a:spLocks noChangeArrowheads="true"/>
            </p:cNvSpPr>
            <p:nvPr/>
          </p:nvSpPr>
          <p:spPr bwMode="auto">
            <a:xfrm>
              <a:off x="2199" y="1115"/>
              <a:ext cx="21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/>
              <a:r>
                <a:rPr lang="en-US" sz="1800" b="false">
                  <a:solidFill>
                    <a:srgbClr val="00B0F0">
                      <a:alpha val="100000"/>
                    </a:srgbClr>
                  </a:solidFill>
                  <a:latin typeface="Helvetica"/>
                  <a:ea typeface="宋体"/>
                  <a:cs typeface="+mn-cs"/>
                </a:rPr>
                <a:t>P</a:t>
              </a:r>
              <a:endParaRPr/>
            </a:p>
          </p:txBody>
        </p:sp>
        <p:sp>
          <p:nvSpPr>
            <p:cNvPr id="436" name="Line 21"/>
            <p:cNvSpPr>
              <a:spLocks noChangeShapeType="true"/>
            </p:cNvSpPr>
            <p:nvPr/>
          </p:nvSpPr>
          <p:spPr bwMode="auto">
            <a:xfrm>
              <a:off x="1584" y="1565"/>
              <a:ext cx="0" cy="4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/>
            </a:extLst>
          </p:spPr>
          <p:txBody>
            <a:bodyPr wrap="none" anchor="ctr"/>
            <a:lstStyle/>
            <a:p>
              <a:pPr/>
              <a:endParaRPr lang="zh-CN" altLang="en-US"/>
            </a:p>
          </p:txBody>
        </p:sp>
        <p:sp>
          <p:nvSpPr>
            <p:cNvPr id="437" name="Line 22"/>
            <p:cNvSpPr>
              <a:spLocks noChangeShapeType="true"/>
            </p:cNvSpPr>
            <p:nvPr/>
          </p:nvSpPr>
          <p:spPr bwMode="auto">
            <a:xfrm>
              <a:off x="1584" y="2277"/>
              <a:ext cx="0" cy="4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/>
            </a:extLst>
          </p:spPr>
          <p:txBody>
            <a:bodyPr wrap="none" anchor="ctr"/>
            <a:lstStyle/>
            <a:p>
              <a:pPr/>
              <a:endParaRPr lang="zh-CN" altLang="en-US"/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>
  <p:cSld>
    <p:spTree>
      <p:nvGrpSpPr>
        <p:cNvPr id="4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90448078-B1DB-9341-81B9-B46AFE67B30C}" type="slidenum">
              <a:rPr lang="zh-CN" altLang="en-US" sz="1400" b="false">
                <a:latin typeface="Times New Roman" panose="02020603050405020304" charset="0"/>
              </a:rPr>
              <a:t>47</a:t>
            </a:fld>
            <a:endParaRPr lang="en-US" altLang="zh-CN" sz="1400" b="false">
              <a:latin typeface="Times New Roman" panose="02020603050405020304" charset="0"/>
            </a:endParaRPr>
          </a:p>
        </p:txBody>
      </p:sp>
      <p:sp>
        <p:nvSpPr>
          <p:cNvPr id="440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Address Translation</a:t>
            </a:r>
            <a:endParaRPr/>
          </a:p>
        </p:txBody>
      </p:sp>
      <p:sp>
        <p:nvSpPr>
          <p:cNvPr id="441" name="Rectangle 3"/>
          <p:cNvSpPr>
            <a:spLocks noGrp="true" noChangeArrowheads="true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kumimoji="false" lang="en-US" altLang="zh-CN">
                <a:ea typeface="宋体" charset="-122"/>
              </a:rPr>
              <a:t>Basic Parameters</a:t>
            </a:r>
            <a:endParaRPr/>
          </a:p>
          <a:p>
            <a:pPr lvl="1"/>
            <a:r>
              <a:rPr kumimoji="false" lang="en-US" altLang="zh-CN" b="true">
                <a:solidFill>
                  <a:srgbClr val="FF0000"/>
                </a:solidFill>
                <a:ea typeface="宋体" charset="-122"/>
              </a:rPr>
              <a:t>N</a:t>
            </a:r>
            <a:r>
              <a:rPr kumimoji="false" lang="en-US" altLang="zh-CN">
                <a:ea typeface="宋体" charset="-122"/>
              </a:rPr>
              <a:t> = 2</a:t>
            </a:r>
            <a:r>
              <a:rPr kumimoji="false" lang="en-US" altLang="zh-CN" baseline="30000">
                <a:solidFill>
                  <a:srgbClr val="FF0000"/>
                </a:solidFill>
                <a:ea typeface="宋体" charset="-122"/>
              </a:rPr>
              <a:t>n</a:t>
            </a:r>
            <a:r>
              <a:rPr kumimoji="false" lang="en-US" altLang="zh-CN">
                <a:solidFill>
                  <a:srgbClr val="FF0000"/>
                </a:solidFill>
                <a:ea typeface="宋体" charset="-122"/>
              </a:rPr>
              <a:t> </a:t>
            </a:r>
            <a:r>
              <a:rPr kumimoji="false" lang="en-US" altLang="zh-CN">
                <a:ea typeface="宋体" charset="-122"/>
              </a:rPr>
              <a:t>= Virtual address limit</a:t>
            </a:r>
            <a:endParaRPr/>
          </a:p>
          <a:p>
            <a:pPr lvl="1"/>
            <a:r>
              <a:rPr kumimoji="false" lang="en-US" altLang="zh-CN" b="true">
                <a:solidFill>
                  <a:srgbClr val="9900CC"/>
                </a:solidFill>
                <a:ea typeface="宋体" charset="-122"/>
              </a:rPr>
              <a:t>M</a:t>
            </a:r>
            <a:r>
              <a:rPr kumimoji="false" lang="en-US" altLang="zh-CN">
                <a:ea typeface="宋体" charset="-122"/>
              </a:rPr>
              <a:t> = 2</a:t>
            </a:r>
            <a:r>
              <a:rPr kumimoji="false" lang="en-US" altLang="zh-CN" baseline="30000">
                <a:solidFill>
                  <a:srgbClr val="9900CC"/>
                </a:solidFill>
                <a:ea typeface="宋体" charset="-122"/>
              </a:rPr>
              <a:t>m</a:t>
            </a:r>
            <a:r>
              <a:rPr kumimoji="false" lang="en-US" altLang="zh-CN">
                <a:ea typeface="宋体" charset="-122"/>
              </a:rPr>
              <a:t> = Physical address limit</a:t>
            </a:r>
            <a:endParaRPr/>
          </a:p>
          <a:p>
            <a:pPr lvl="1"/>
            <a:r>
              <a:rPr kumimoji="false" lang="en-US" altLang="zh-CN" b="true">
                <a:solidFill>
                  <a:srgbClr val="00B0F0"/>
                </a:solidFill>
                <a:ea typeface="宋体" charset="-122"/>
              </a:rPr>
              <a:t>P</a:t>
            </a:r>
            <a:r>
              <a:rPr kumimoji="false" lang="en-US" altLang="zh-CN">
                <a:solidFill>
                  <a:srgbClr val="000000"/>
                </a:solidFill>
                <a:ea typeface="宋体" charset="-122"/>
              </a:rPr>
              <a:t> = 2</a:t>
            </a:r>
            <a:r>
              <a:rPr kumimoji="false" lang="en-US" altLang="zh-CN" baseline="30000">
                <a:solidFill>
                  <a:srgbClr val="00B0F0"/>
                </a:solidFill>
                <a:ea typeface="宋体" charset="-122"/>
              </a:rPr>
              <a:t>p</a:t>
            </a:r>
            <a:r>
              <a:rPr kumimoji="false" lang="en-US" altLang="zh-CN">
                <a:solidFill>
                  <a:srgbClr val="000000"/>
                </a:solidFill>
                <a:ea typeface="宋体" charset="-122"/>
              </a:rPr>
              <a:t> = page size (bytes).  </a:t>
            </a:r>
            <a:endParaRPr/>
          </a:p>
          <a:p>
            <a:pPr/>
            <a:r>
              <a:rPr kumimoji="false" lang="en-US" altLang="zh-CN">
                <a:ea typeface="宋体" charset="-122"/>
              </a:rPr>
              <a:t>Components of the virtual address (VA)</a:t>
            </a:r>
            <a:endParaRPr/>
          </a:p>
          <a:p>
            <a:pPr lvl="1"/>
            <a:r>
              <a:rPr kumimoji="false" lang="en-US" altLang="zh-CN" b="true">
                <a:solidFill>
                  <a:srgbClr val="00B0F0"/>
                </a:solidFill>
                <a:ea typeface="宋体" charset="-122"/>
              </a:rPr>
              <a:t>VPO</a:t>
            </a:r>
            <a:r>
              <a:rPr kumimoji="false" lang="en-US" altLang="zh-CN">
                <a:ea typeface="宋体" charset="-122"/>
              </a:rPr>
              <a:t>: Virtual page offset </a:t>
            </a:r>
            <a:endParaRPr/>
          </a:p>
          <a:p>
            <a:pPr lvl="1"/>
            <a:r>
              <a:rPr kumimoji="false" lang="en-US" altLang="zh-CN" b="true">
                <a:solidFill>
                  <a:srgbClr val="FF0000"/>
                </a:solidFill>
                <a:ea typeface="宋体" charset="-122"/>
              </a:rPr>
              <a:t>VPN</a:t>
            </a:r>
            <a:r>
              <a:rPr kumimoji="false" lang="en-US" altLang="zh-CN">
                <a:ea typeface="宋体" charset="-122"/>
              </a:rPr>
              <a:t>: Virtual page number </a:t>
            </a:r>
            <a:endParaRPr/>
          </a:p>
          <a:p>
            <a:pPr/>
            <a:r>
              <a:rPr kumimoji="false" lang="en-US" altLang="zh-CN">
                <a:ea typeface="宋体" charset="-122"/>
              </a:rPr>
              <a:t>Components of the physical address (PA)</a:t>
            </a:r>
            <a:endParaRPr/>
          </a:p>
          <a:p>
            <a:pPr lvl="1"/>
            <a:r>
              <a:rPr kumimoji="false" lang="en-US" altLang="zh-CN" b="true">
                <a:solidFill>
                  <a:srgbClr val="00B0F0"/>
                </a:solidFill>
                <a:ea typeface="宋体" charset="-122"/>
              </a:rPr>
              <a:t>PPO</a:t>
            </a:r>
            <a:r>
              <a:rPr kumimoji="false" lang="en-US" altLang="zh-CN">
                <a:ea typeface="宋体" charset="-122"/>
              </a:rPr>
              <a:t>: Physical page offset (same as VPO)</a:t>
            </a:r>
            <a:endParaRPr/>
          </a:p>
          <a:p>
            <a:pPr lvl="1"/>
            <a:r>
              <a:rPr kumimoji="false" lang="en-US" altLang="zh-CN" b="true">
                <a:solidFill>
                  <a:srgbClr val="9900CC"/>
                </a:solidFill>
                <a:ea typeface="宋体" charset="-122"/>
              </a:rPr>
              <a:t>PPN</a:t>
            </a:r>
            <a:r>
              <a:rPr kumimoji="false" lang="en-US" altLang="zh-CN" b="true">
                <a:ea typeface="宋体" charset="-122"/>
              </a:rPr>
              <a:t>:</a:t>
            </a:r>
            <a:r>
              <a:rPr kumimoji="false" lang="en-US" altLang="zh-CN">
                <a:ea typeface="宋体" charset="-122"/>
              </a:rPr>
              <a:t> Physical page number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>
  <p:cSld>
    <p:spTree>
      <p:nvGrpSpPr>
        <p:cNvPr id="4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B2325D63-EBA1-084E-A8A0-DCBCE27EAEB7}" type="slidenum">
              <a:rPr lang="zh-CN" altLang="en-US" sz="1400" b="false">
                <a:latin typeface="Times New Roman" panose="02020603050405020304" charset="0"/>
              </a:rPr>
              <a:t>48</a:t>
            </a:fld>
            <a:endParaRPr lang="en-US" altLang="zh-CN" sz="1400" b="false">
              <a:latin typeface="Times New Roman" panose="02020603050405020304" charset="0"/>
            </a:endParaRPr>
          </a:p>
        </p:txBody>
      </p:sp>
      <p:sp>
        <p:nvSpPr>
          <p:cNvPr id="444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Address Translation via Page Table</a:t>
            </a:r>
            <a:endParaRPr/>
          </a:p>
        </p:txBody>
      </p:sp>
      <p:grpSp>
        <p:nvGrpSpPr>
          <p:cNvPr id="445" name=""/>
          <p:cNvGrpSpPr/>
          <p:nvPr/>
        </p:nvGrpSpPr>
        <p:grpSpPr>
          <a:xfrm>
            <a:off x="228600" y="1524000"/>
            <a:ext cx="8456611" cy="4851844"/>
            <a:chOff x="228600" y="1524000"/>
            <a:chExt cx="8456611" cy="4851844"/>
          </a:xfrm>
        </p:grpSpPr>
        <p:sp>
          <p:nvSpPr>
            <p:cNvPr id="446" name="Rectangle 23"/>
            <p:cNvSpPr>
              <a:spLocks noChangeArrowheads="true"/>
            </p:cNvSpPr>
            <p:nvPr/>
          </p:nvSpPr>
          <p:spPr bwMode="auto">
            <a:xfrm rot="0" flipH="false" flipV="false">
              <a:off x="3210108" y="2342434"/>
              <a:ext cx="3191294" cy="324575"/>
            </a:xfrm>
            <a:prstGeom prst="rect">
              <a:avLst/>
            </a:prstGeom>
            <a:solidFill>
              <a:srgbClr val="FF99CC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en-US" altLang="zh-CN" sz="1800" b="false">
                  <a:latin typeface="Helvetica" pitchFamily="34" charset="0"/>
                </a:rPr>
                <a:t>virtual page number (VPN)</a:t>
              </a:r>
              <a:endParaRPr/>
            </a:p>
          </p:txBody>
        </p:sp>
        <p:sp>
          <p:nvSpPr>
            <p:cNvPr id="447" name="Rectangle 24"/>
            <p:cNvSpPr>
              <a:spLocks noChangeArrowheads="true"/>
            </p:cNvSpPr>
            <p:nvPr/>
          </p:nvSpPr>
          <p:spPr bwMode="auto">
            <a:xfrm rot="0" flipH="false" flipV="false">
              <a:off x="6414116" y="2342434"/>
              <a:ext cx="2199577" cy="324575"/>
            </a:xfrm>
            <a:prstGeom prst="rect">
              <a:avLst/>
            </a:prstGeom>
            <a:solidFill>
              <a:srgbClr val="66FFFF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en-US" altLang="zh-CN" sz="1800" b="false">
                  <a:latin typeface="Helvetica" pitchFamily="34" charset="0"/>
                </a:rPr>
                <a:t>page offset</a:t>
              </a:r>
              <a:endParaRPr/>
            </a:p>
          </p:txBody>
        </p:sp>
        <p:sp>
          <p:nvSpPr>
            <p:cNvPr id="448" name="Rectangle 25"/>
            <p:cNvSpPr>
              <a:spLocks noChangeArrowheads="true"/>
            </p:cNvSpPr>
            <p:nvPr/>
          </p:nvSpPr>
          <p:spPr bwMode="auto">
            <a:xfrm rot="0" flipH="false" flipV="false">
              <a:off x="4740594" y="1712869"/>
              <a:ext cx="1805433" cy="365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/>
              <a:r>
                <a:rPr lang="en-US" altLang="zh-CN" sz="1800">
                  <a:latin typeface="Helvetica" pitchFamily="34" charset="0"/>
                </a:rPr>
                <a:t>virtual address</a:t>
              </a:r>
              <a:endParaRPr/>
            </a:p>
          </p:txBody>
        </p:sp>
        <p:sp>
          <p:nvSpPr>
            <p:cNvPr id="449" name="Rectangle 26"/>
            <p:cNvSpPr>
              <a:spLocks noChangeArrowheads="true"/>
            </p:cNvSpPr>
            <p:nvPr/>
          </p:nvSpPr>
          <p:spPr bwMode="auto">
            <a:xfrm rot="0" flipH="false" flipV="false">
              <a:off x="3210108" y="5431498"/>
              <a:ext cx="3115008" cy="324575"/>
            </a:xfrm>
            <a:prstGeom prst="rect">
              <a:avLst/>
            </a:prstGeom>
            <a:solidFill>
              <a:srgbClr val="CC99FF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en-US" altLang="zh-CN" sz="1800" b="false">
                  <a:latin typeface="Helvetica" pitchFamily="34" charset="0"/>
                </a:rPr>
                <a:t>physical page number (PPN)</a:t>
              </a:r>
              <a:endParaRPr/>
            </a:p>
          </p:txBody>
        </p:sp>
        <p:sp>
          <p:nvSpPr>
            <p:cNvPr id="450" name="Rectangle 27"/>
            <p:cNvSpPr>
              <a:spLocks noChangeArrowheads="true"/>
            </p:cNvSpPr>
            <p:nvPr/>
          </p:nvSpPr>
          <p:spPr bwMode="auto">
            <a:xfrm rot="0" flipH="false" flipV="false">
              <a:off x="6337830" y="5431498"/>
              <a:ext cx="2199577" cy="324575"/>
            </a:xfrm>
            <a:prstGeom prst="rect">
              <a:avLst/>
            </a:prstGeom>
            <a:solidFill>
              <a:srgbClr val="66FFFF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en-US" altLang="zh-CN" sz="1800" b="false">
                  <a:latin typeface="Helvetica" pitchFamily="34" charset="0"/>
                </a:rPr>
                <a:t>page offset</a:t>
              </a:r>
              <a:endParaRPr/>
            </a:p>
          </p:txBody>
        </p:sp>
        <p:sp>
          <p:nvSpPr>
            <p:cNvPr id="451" name="Rectangle 28"/>
            <p:cNvSpPr>
              <a:spLocks noChangeArrowheads="true"/>
            </p:cNvSpPr>
            <p:nvPr/>
          </p:nvSpPr>
          <p:spPr bwMode="auto">
            <a:xfrm rot="0" flipH="false" flipV="false">
              <a:off x="4588022" y="6012096"/>
              <a:ext cx="2037469" cy="3637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/>
              <a:r>
                <a:rPr lang="en-US" altLang="zh-CN" sz="1800">
                  <a:latin typeface="Helvetica" pitchFamily="34" charset="0"/>
                </a:rPr>
                <a:t>physical address</a:t>
              </a:r>
              <a:endParaRPr/>
            </a:p>
          </p:txBody>
        </p:sp>
        <p:sp>
          <p:nvSpPr>
            <p:cNvPr id="452" name="Line 29"/>
            <p:cNvSpPr>
              <a:spLocks noChangeShapeType="true"/>
            </p:cNvSpPr>
            <p:nvPr/>
          </p:nvSpPr>
          <p:spPr bwMode="auto">
            <a:xfrm rot="0" flipH="false" flipV="false">
              <a:off x="7628334" y="2678201"/>
              <a:ext cx="0" cy="27085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/>
            </a:extLst>
          </p:spPr>
          <p:txBody>
            <a:bodyPr wrap="none" anchor="ctr"/>
            <a:lstStyle/>
            <a:p>
              <a:pPr/>
              <a:endParaRPr lang="zh-CN" altLang="en-US"/>
            </a:p>
          </p:txBody>
        </p:sp>
        <p:sp>
          <p:nvSpPr>
            <p:cNvPr id="453" name="Rectangle 30"/>
            <p:cNvSpPr>
              <a:spLocks noChangeArrowheads="true"/>
            </p:cNvSpPr>
            <p:nvPr/>
          </p:nvSpPr>
          <p:spPr bwMode="auto">
            <a:xfrm rot="0" flipH="false" flipV="false">
              <a:off x="8376889" y="5139100"/>
              <a:ext cx="308322" cy="3637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/>
              <a:r>
                <a:rPr lang="en-US" altLang="zh-CN" sz="1800" b="false">
                  <a:latin typeface="Helvetica" pitchFamily="34" charset="0"/>
                </a:rPr>
                <a:t>0</a:t>
              </a:r>
              <a:endParaRPr/>
            </a:p>
          </p:txBody>
        </p:sp>
        <p:sp>
          <p:nvSpPr>
            <p:cNvPr id="454" name="Rectangle 31"/>
            <p:cNvSpPr>
              <a:spLocks noChangeArrowheads="true"/>
            </p:cNvSpPr>
            <p:nvPr/>
          </p:nvSpPr>
          <p:spPr bwMode="auto">
            <a:xfrm rot="0" flipH="false" flipV="false">
              <a:off x="6317169" y="5139100"/>
              <a:ext cx="589626" cy="3679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/>
              <a:r>
                <a:rPr lang="en-US" sz="1800" b="false">
                  <a:latin typeface="Helvetica"/>
                  <a:ea typeface="宋体"/>
                  <a:cs typeface="+mn-cs"/>
                </a:rPr>
                <a:t>P–1</a:t>
              </a:r>
              <a:endParaRPr/>
            </a:p>
          </p:txBody>
        </p:sp>
        <p:sp>
          <p:nvSpPr>
            <p:cNvPr id="455" name="Rectangle 32"/>
            <p:cNvSpPr>
              <a:spLocks noChangeArrowheads="true"/>
            </p:cNvSpPr>
            <p:nvPr/>
          </p:nvSpPr>
          <p:spPr bwMode="auto">
            <a:xfrm rot="0" flipH="false" flipV="false">
              <a:off x="6012026" y="5139100"/>
              <a:ext cx="335340" cy="3679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/>
              <a:r>
                <a:rPr lang="en-US" sz="1800" b="false">
                  <a:latin typeface="Helvetica"/>
                  <a:ea typeface="宋体"/>
                  <a:cs typeface="+mn-cs"/>
                </a:rPr>
                <a:t>P</a:t>
              </a:r>
              <a:endParaRPr/>
            </a:p>
          </p:txBody>
        </p:sp>
        <p:sp>
          <p:nvSpPr>
            <p:cNvPr id="456" name="Rectangle 33"/>
            <p:cNvSpPr>
              <a:spLocks noChangeArrowheads="true"/>
            </p:cNvSpPr>
            <p:nvPr/>
          </p:nvSpPr>
          <p:spPr bwMode="auto">
            <a:xfrm rot="0" flipH="false" flipV="false">
              <a:off x="3418304" y="5139100"/>
              <a:ext cx="627769" cy="3679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/>
              <a:r>
                <a:rPr lang="en-US" sz="1800" b="false">
                  <a:latin typeface="Helvetica"/>
                  <a:ea typeface="宋体"/>
                  <a:cs typeface="+mn-cs"/>
                </a:rPr>
                <a:t>M–1</a:t>
              </a:r>
              <a:endParaRPr/>
            </a:p>
          </p:txBody>
        </p:sp>
        <p:sp>
          <p:nvSpPr>
            <p:cNvPr id="457" name="Rectangle 34"/>
            <p:cNvSpPr>
              <a:spLocks noChangeArrowheads="true"/>
            </p:cNvSpPr>
            <p:nvPr/>
          </p:nvSpPr>
          <p:spPr bwMode="auto">
            <a:xfrm rot="0" flipH="false" flipV="false">
              <a:off x="3189447" y="2048637"/>
              <a:ext cx="602340" cy="3679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/>
              <a:r>
                <a:rPr lang="en-US" sz="1800" b="false">
                  <a:latin typeface="Helvetica"/>
                  <a:ea typeface="宋体"/>
                  <a:cs typeface="+mn-cs"/>
                </a:rPr>
                <a:t>N–1</a:t>
              </a:r>
              <a:endParaRPr/>
            </a:p>
          </p:txBody>
        </p:sp>
        <p:sp>
          <p:nvSpPr>
            <p:cNvPr id="458" name="Rectangle 35"/>
            <p:cNvSpPr>
              <a:spLocks noChangeArrowheads="true"/>
            </p:cNvSpPr>
            <p:nvPr/>
          </p:nvSpPr>
          <p:spPr bwMode="auto">
            <a:xfrm rot="0" flipH="false" flipV="false">
              <a:off x="8310139" y="2048637"/>
              <a:ext cx="308322" cy="3637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/>
              <a:r>
                <a:rPr lang="en-US" altLang="zh-CN" sz="1800" b="false">
                  <a:latin typeface="Helvetica" pitchFamily="34" charset="0"/>
                </a:rPr>
                <a:t>0</a:t>
              </a:r>
              <a:endParaRPr/>
            </a:p>
          </p:txBody>
        </p:sp>
        <p:sp>
          <p:nvSpPr>
            <p:cNvPr id="459" name="Rectangle 36"/>
            <p:cNvSpPr>
              <a:spLocks noChangeArrowheads="true"/>
            </p:cNvSpPr>
            <p:nvPr/>
          </p:nvSpPr>
          <p:spPr bwMode="auto">
            <a:xfrm rot="0" flipH="false" flipV="false">
              <a:off x="6326705" y="2048637"/>
              <a:ext cx="589626" cy="3679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/>
              <a:r>
                <a:rPr lang="en-US" sz="1800" b="false">
                  <a:latin typeface="Helvetica"/>
                  <a:ea typeface="宋体"/>
                  <a:cs typeface="+mn-cs"/>
                </a:rPr>
                <a:t>P–1</a:t>
              </a:r>
              <a:endParaRPr/>
            </a:p>
          </p:txBody>
        </p:sp>
        <p:sp>
          <p:nvSpPr>
            <p:cNvPr id="460" name="Rectangle 37"/>
            <p:cNvSpPr>
              <a:spLocks noChangeArrowheads="true"/>
            </p:cNvSpPr>
            <p:nvPr/>
          </p:nvSpPr>
          <p:spPr bwMode="auto">
            <a:xfrm rot="0" flipH="false" flipV="false">
              <a:off x="6012026" y="2048637"/>
              <a:ext cx="335340" cy="3679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/>
              <a:r>
                <a:rPr lang="en-US" sz="1800" b="false">
                  <a:latin typeface="Helvetica"/>
                  <a:ea typeface="宋体"/>
                  <a:cs typeface="+mn-cs"/>
                </a:rPr>
                <a:t>P</a:t>
              </a:r>
              <a:endParaRPr/>
            </a:p>
          </p:txBody>
        </p:sp>
        <p:sp>
          <p:nvSpPr>
            <p:cNvPr id="461" name="Rectangle 38"/>
            <p:cNvSpPr>
              <a:spLocks noChangeArrowheads="true"/>
            </p:cNvSpPr>
            <p:nvPr/>
          </p:nvSpPr>
          <p:spPr bwMode="auto">
            <a:xfrm rot="0" flipH="false" flipV="false">
              <a:off x="228600" y="1524000"/>
              <a:ext cx="2647757" cy="651949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</a:ln>
          </p:spPr>
          <p:txBody>
            <a:bodyPr lIns="90487" tIns="44450" rIns="90487" bIns="44450" anchor="ctr">
              <a:spAutoFit/>
            </a:bodyPr>
            <a:lstStyle/>
            <a:p>
              <a:pPr algn="ctr">
                <a:defRPr/>
              </a:pPr>
              <a:r>
                <a:rPr lang="en-US" altLang="zh-CN" sz="1800" b="false" dirty="false">
                  <a:latin typeface="Helvetica" pitchFamily="34" charset="0"/>
                  <a:ea typeface="宋体" charset="-122"/>
                </a:rPr>
                <a:t>page table base register</a:t>
              </a:r>
              <a:endParaRPr/>
            </a:p>
            <a:p>
              <a:pPr algn="ctr">
                <a:defRPr/>
              </a:pPr>
              <a:r>
                <a:rPr lang="en-US" altLang="zh-CN" sz="1800" b="false" dirty="false">
                  <a:latin typeface="Helvetica" pitchFamily="34" charset="0"/>
                  <a:ea typeface="宋体" charset="-122"/>
                </a:rPr>
                <a:t>(</a:t>
              </a:r>
              <a:r>
                <a:rPr lang="en-US" altLang="zh-CN" sz="1800" b="false" dirty="false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elvetica" pitchFamily="34" charset="0"/>
                  <a:ea typeface="宋体" charset="-122"/>
                </a:rPr>
                <a:t>PTBR</a:t>
              </a:r>
              <a:r>
                <a:rPr lang="en-US" altLang="zh-CN" sz="1800" b="false" dirty="false">
                  <a:latin typeface="Helvetica" pitchFamily="34" charset="0"/>
                  <a:ea typeface="宋体" charset="-122"/>
                </a:rPr>
                <a:t>)</a:t>
              </a:r>
              <a:endParaRPr/>
            </a:p>
          </p:txBody>
        </p:sp>
        <p:sp>
          <p:nvSpPr>
            <p:cNvPr id="462" name="Rectangle 39"/>
            <p:cNvSpPr>
              <a:spLocks noChangeArrowheads="true"/>
            </p:cNvSpPr>
            <p:nvPr/>
          </p:nvSpPr>
          <p:spPr bwMode="auto">
            <a:xfrm rot="0" flipH="false" flipV="false">
              <a:off x="4430682" y="3282583"/>
              <a:ext cx="2809864" cy="19026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/>
              <a:endParaRPr lang="zh-CN" altLang="en-US"/>
            </a:p>
          </p:txBody>
        </p:sp>
        <p:sp>
          <p:nvSpPr>
            <p:cNvPr id="463" name="Rectangle 40"/>
            <p:cNvSpPr>
              <a:spLocks noChangeArrowheads="true"/>
            </p:cNvSpPr>
            <p:nvPr/>
          </p:nvSpPr>
          <p:spPr bwMode="auto">
            <a:xfrm rot="0" flipH="false" flipV="false">
              <a:off x="4430682" y="3484044"/>
              <a:ext cx="2809864" cy="190268"/>
            </a:xfrm>
            <a:prstGeom prst="rect">
              <a:avLst/>
            </a:prstGeom>
            <a:solidFill>
              <a:srgbClr val="FFFF00">
                <a:alpha val="50195"/>
              </a:srgbClr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/>
              <a:endParaRPr lang="zh-CN" altLang="en-US"/>
            </a:p>
          </p:txBody>
        </p:sp>
        <p:sp>
          <p:nvSpPr>
            <p:cNvPr id="464" name="Rectangle 41"/>
            <p:cNvSpPr>
              <a:spLocks noChangeArrowheads="true"/>
            </p:cNvSpPr>
            <p:nvPr/>
          </p:nvSpPr>
          <p:spPr bwMode="auto">
            <a:xfrm rot="0" flipH="false" flipV="false">
              <a:off x="4430682" y="3685505"/>
              <a:ext cx="2809864" cy="19026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/>
              <a:endParaRPr lang="zh-CN" altLang="en-US"/>
            </a:p>
          </p:txBody>
        </p:sp>
        <p:sp>
          <p:nvSpPr>
            <p:cNvPr id="465" name="Rectangle 42"/>
            <p:cNvSpPr>
              <a:spLocks noChangeArrowheads="true"/>
            </p:cNvSpPr>
            <p:nvPr/>
          </p:nvSpPr>
          <p:spPr bwMode="auto">
            <a:xfrm rot="0" flipH="false" flipV="false">
              <a:off x="4430682" y="3886966"/>
              <a:ext cx="2809864" cy="19026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/>
              <a:endParaRPr lang="zh-CN" altLang="en-US"/>
            </a:p>
          </p:txBody>
        </p:sp>
        <p:sp>
          <p:nvSpPr>
            <p:cNvPr id="466" name="Oval 43"/>
            <p:cNvSpPr>
              <a:spLocks noChangeArrowheads="true"/>
            </p:cNvSpPr>
            <p:nvPr/>
          </p:nvSpPr>
          <p:spPr bwMode="auto">
            <a:xfrm rot="0" flipH="false" flipV="false">
              <a:off x="5117255" y="3551198"/>
              <a:ext cx="63571" cy="5596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/>
              <a:endParaRPr lang="zh-CN" altLang="en-US"/>
            </a:p>
          </p:txBody>
        </p:sp>
        <p:sp>
          <p:nvSpPr>
            <p:cNvPr id="467" name="Line 44"/>
            <p:cNvSpPr>
              <a:spLocks noChangeShapeType="true"/>
            </p:cNvSpPr>
            <p:nvPr/>
          </p:nvSpPr>
          <p:spPr bwMode="auto">
            <a:xfrm rot="0" flipH="false" flipV="false">
              <a:off x="5149041" y="3607159"/>
              <a:ext cx="0" cy="181314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/>
            </a:extLst>
          </p:spPr>
          <p:txBody>
            <a:bodyPr wrap="none" anchor="ctr"/>
            <a:lstStyle/>
            <a:p>
              <a:pPr/>
              <a:endParaRPr lang="zh-CN" altLang="en-US"/>
            </a:p>
          </p:txBody>
        </p:sp>
        <p:sp>
          <p:nvSpPr>
            <p:cNvPr id="468" name="Line 45"/>
            <p:cNvSpPr>
              <a:spLocks noChangeShapeType="true"/>
            </p:cNvSpPr>
            <p:nvPr/>
          </p:nvSpPr>
          <p:spPr bwMode="auto">
            <a:xfrm rot="0" flipH="true" flipV="false">
              <a:off x="2746035" y="4888673"/>
              <a:ext cx="68657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/>
            </a:extLst>
          </p:spPr>
          <p:txBody>
            <a:bodyPr wrap="none" anchor="ctr"/>
            <a:lstStyle/>
            <a:p>
              <a:pPr/>
              <a:endParaRPr lang="zh-CN" altLang="en-US"/>
            </a:p>
          </p:txBody>
        </p:sp>
        <p:sp>
          <p:nvSpPr>
            <p:cNvPr id="469" name="Rectangle 46"/>
            <p:cNvSpPr>
              <a:spLocks noChangeArrowheads="true"/>
            </p:cNvSpPr>
            <p:nvPr/>
          </p:nvSpPr>
          <p:spPr bwMode="auto">
            <a:xfrm rot="0" flipH="false" flipV="false">
              <a:off x="1296602" y="4620059"/>
              <a:ext cx="1646504" cy="9219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487" tIns="44450" rIns="90487" bIns="44450">
              <a:spAutoFit/>
            </a:bodyPr>
            <a:lstStyle/>
            <a:p>
              <a:pPr>
                <a:defRPr/>
              </a:pPr>
              <a:r>
                <a:rPr lang="en-US" altLang="zh-CN" sz="1800" b="false" dirty="false">
                  <a:latin typeface="Helvetica" pitchFamily="34" charset="0"/>
                  <a:ea typeface="宋体" charset="-122"/>
                </a:rPr>
                <a:t>if </a:t>
              </a:r>
              <a:r>
                <a:rPr lang="en-US" altLang="zh-CN" sz="1800" b="false" dirty="false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elvetica" pitchFamily="34" charset="0"/>
                  <a:ea typeface="宋体" charset="-122"/>
                </a:rPr>
                <a:t>valid</a:t>
              </a:r>
              <a:r>
                <a:rPr lang="en-US" altLang="zh-CN" sz="1800" b="false" dirty="false">
                  <a:latin typeface="Helvetica" pitchFamily="34" charset="0"/>
                  <a:ea typeface="宋体" charset="-122"/>
                </a:rPr>
                <a:t>=0</a:t>
              </a:r>
              <a:endParaRPr/>
            </a:p>
            <a:p>
              <a:pPr>
                <a:defRPr/>
              </a:pPr>
              <a:r>
                <a:rPr lang="en-US" altLang="zh-CN" sz="1800" b="false" dirty="false">
                  <a:latin typeface="Helvetica" pitchFamily="34" charset="0"/>
                  <a:ea typeface="宋体" charset="-122"/>
                </a:rPr>
                <a:t>then page</a:t>
              </a:r>
              <a:endParaRPr/>
            </a:p>
            <a:p>
              <a:pPr>
                <a:defRPr/>
              </a:pPr>
              <a:r>
                <a:rPr lang="en-US" altLang="zh-CN" sz="1800" b="false" dirty="false">
                  <a:latin typeface="Helvetica" pitchFamily="34" charset="0"/>
                  <a:ea typeface="宋体" charset="-122"/>
                </a:rPr>
                <a:t>not in memory</a:t>
              </a:r>
              <a:endParaRPr/>
            </a:p>
          </p:txBody>
        </p:sp>
        <p:sp>
          <p:nvSpPr>
            <p:cNvPr id="470" name="Rectangle 47"/>
            <p:cNvSpPr>
              <a:spLocks noChangeArrowheads="true"/>
            </p:cNvSpPr>
            <p:nvPr/>
          </p:nvSpPr>
          <p:spPr bwMode="auto">
            <a:xfrm rot="0" flipH="false" flipV="false">
              <a:off x="3046411" y="2959407"/>
              <a:ext cx="657966" cy="3679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487" tIns="44450" rIns="90487" bIns="44450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/>
              <a:r>
                <a:rPr lang="en-US" altLang="zh-CN" sz="1800" b="false">
                  <a:effectLst>
                    <a:outerShdw blurRad="38100" dist="38100" dir="2700000" algn="tl">
                      <a:srgbClr val="C0C0C0"/>
                    </a:outerShdw>
                  </a:effectLst>
                  <a:latin typeface="Helvetica" pitchFamily="34" charset="0"/>
                </a:rPr>
                <a:t>valid</a:t>
              </a:r>
              <a:endParaRPr/>
            </a:p>
          </p:txBody>
        </p:sp>
        <p:sp>
          <p:nvSpPr>
            <p:cNvPr id="471" name="Rectangle 48"/>
            <p:cNvSpPr>
              <a:spLocks noChangeArrowheads="true"/>
            </p:cNvSpPr>
            <p:nvPr/>
          </p:nvSpPr>
          <p:spPr bwMode="auto">
            <a:xfrm rot="0" flipH="false" flipV="false">
              <a:off x="4500611" y="2941220"/>
              <a:ext cx="3135669" cy="3679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/>
              <a:r>
                <a:rPr lang="en-US" altLang="zh-CN" sz="1800" b="false">
                  <a:latin typeface="Helvetica" pitchFamily="34" charset="0"/>
                </a:rPr>
                <a:t>physical page number (</a:t>
              </a:r>
              <a:r>
                <a:rPr lang="en-US" altLang="zh-CN" sz="1800" b="false">
                  <a:solidFill>
                    <a:srgbClr val="7030A0"/>
                  </a:solidFill>
                  <a:latin typeface="Helvetica" pitchFamily="34" charset="0"/>
                </a:rPr>
                <a:t>PPN</a:t>
              </a:r>
              <a:r>
                <a:rPr lang="en-US" altLang="zh-CN" sz="1800" b="false">
                  <a:latin typeface="Helvetica" pitchFamily="34" charset="0"/>
                </a:rPr>
                <a:t>)</a:t>
              </a:r>
              <a:endParaRPr/>
            </a:p>
          </p:txBody>
        </p:sp>
        <p:sp>
          <p:nvSpPr>
            <p:cNvPr id="472" name="Line 49"/>
            <p:cNvSpPr>
              <a:spLocks noChangeShapeType="true"/>
            </p:cNvSpPr>
            <p:nvPr/>
          </p:nvSpPr>
          <p:spPr bwMode="auto">
            <a:xfrm rot="0" flipH="false" flipV="false">
              <a:off x="1525460" y="2135377"/>
              <a:ext cx="0" cy="118732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/>
            </a:extLst>
          </p:spPr>
          <p:txBody>
            <a:bodyPr wrap="none" anchor="ctr"/>
            <a:lstStyle/>
            <a:p>
              <a:pPr/>
              <a:endParaRPr lang="zh-CN" altLang="en-US"/>
            </a:p>
          </p:txBody>
        </p:sp>
        <p:sp>
          <p:nvSpPr>
            <p:cNvPr id="473" name="Line 50"/>
            <p:cNvSpPr>
              <a:spLocks noChangeShapeType="true"/>
            </p:cNvSpPr>
            <p:nvPr/>
          </p:nvSpPr>
          <p:spPr bwMode="auto">
            <a:xfrm rot="0" flipH="false" flipV="true">
              <a:off x="1525460" y="3289687"/>
              <a:ext cx="1556090" cy="167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/>
            </a:extLst>
          </p:spPr>
          <p:txBody>
            <a:bodyPr wrap="none" anchor="ctr"/>
            <a:lstStyle/>
            <a:p>
              <a:pPr/>
              <a:endParaRPr lang="zh-CN" altLang="en-US"/>
            </a:p>
          </p:txBody>
        </p:sp>
        <p:sp>
          <p:nvSpPr>
            <p:cNvPr id="474" name="Rectangle 51"/>
            <p:cNvSpPr>
              <a:spLocks noChangeArrowheads="true"/>
            </p:cNvSpPr>
            <p:nvPr/>
          </p:nvSpPr>
          <p:spPr bwMode="auto">
            <a:xfrm rot="0" flipH="false" flipV="false">
              <a:off x="3057536" y="3282583"/>
              <a:ext cx="673858" cy="19026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/>
              <a:endParaRPr lang="zh-CN" altLang="en-US"/>
            </a:p>
          </p:txBody>
        </p:sp>
        <p:sp>
          <p:nvSpPr>
            <p:cNvPr id="475" name="Rectangle 52"/>
            <p:cNvSpPr>
              <a:spLocks noChangeArrowheads="true"/>
            </p:cNvSpPr>
            <p:nvPr/>
          </p:nvSpPr>
          <p:spPr bwMode="auto">
            <a:xfrm rot="0" flipH="false" flipV="false">
              <a:off x="3057536" y="3484044"/>
              <a:ext cx="673858" cy="190268"/>
            </a:xfrm>
            <a:prstGeom prst="rect">
              <a:avLst/>
            </a:prstGeom>
            <a:solidFill>
              <a:srgbClr val="FFFF00">
                <a:alpha val="50195"/>
              </a:srgbClr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/>
              <a:endParaRPr lang="zh-CN" altLang="en-US"/>
            </a:p>
          </p:txBody>
        </p:sp>
        <p:sp>
          <p:nvSpPr>
            <p:cNvPr id="476" name="Rectangle 53"/>
            <p:cNvSpPr>
              <a:spLocks noChangeArrowheads="true"/>
            </p:cNvSpPr>
            <p:nvPr/>
          </p:nvSpPr>
          <p:spPr bwMode="auto">
            <a:xfrm rot="0" flipH="false" flipV="false">
              <a:off x="3057536" y="3685505"/>
              <a:ext cx="673858" cy="19026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/>
              <a:endParaRPr lang="zh-CN" altLang="en-US"/>
            </a:p>
          </p:txBody>
        </p:sp>
        <p:sp>
          <p:nvSpPr>
            <p:cNvPr id="477" name="Rectangle 54"/>
            <p:cNvSpPr>
              <a:spLocks noChangeArrowheads="true"/>
            </p:cNvSpPr>
            <p:nvPr/>
          </p:nvSpPr>
          <p:spPr bwMode="auto">
            <a:xfrm rot="0" flipH="false" flipV="false">
              <a:off x="3057536" y="3886966"/>
              <a:ext cx="673858" cy="19026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/>
              <a:endParaRPr lang="zh-CN" altLang="en-US"/>
            </a:p>
          </p:txBody>
        </p:sp>
        <p:sp>
          <p:nvSpPr>
            <p:cNvPr id="478" name="Rectangle 55"/>
            <p:cNvSpPr>
              <a:spLocks noChangeArrowheads="true"/>
            </p:cNvSpPr>
            <p:nvPr/>
          </p:nvSpPr>
          <p:spPr bwMode="auto">
            <a:xfrm rot="0" flipH="false" flipV="false">
              <a:off x="3744109" y="3282583"/>
              <a:ext cx="673858" cy="19026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/>
              <a:endParaRPr lang="zh-CN" altLang="en-US"/>
            </a:p>
          </p:txBody>
        </p:sp>
        <p:sp>
          <p:nvSpPr>
            <p:cNvPr id="479" name="Rectangle 56"/>
            <p:cNvSpPr>
              <a:spLocks noChangeArrowheads="true"/>
            </p:cNvSpPr>
            <p:nvPr/>
          </p:nvSpPr>
          <p:spPr bwMode="auto">
            <a:xfrm rot="0" flipH="false" flipV="false">
              <a:off x="3744109" y="3484044"/>
              <a:ext cx="673858" cy="190268"/>
            </a:xfrm>
            <a:prstGeom prst="rect">
              <a:avLst/>
            </a:prstGeom>
            <a:solidFill>
              <a:srgbClr val="FFFF00">
                <a:alpha val="50195"/>
              </a:srgbClr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/>
              <a:endParaRPr lang="zh-CN" altLang="en-US"/>
            </a:p>
          </p:txBody>
        </p:sp>
        <p:sp>
          <p:nvSpPr>
            <p:cNvPr id="480" name="Rectangle 57"/>
            <p:cNvSpPr>
              <a:spLocks noChangeArrowheads="true"/>
            </p:cNvSpPr>
            <p:nvPr/>
          </p:nvSpPr>
          <p:spPr bwMode="auto">
            <a:xfrm rot="0" flipH="false" flipV="false">
              <a:off x="3744109" y="3685505"/>
              <a:ext cx="673858" cy="19026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/>
              <a:endParaRPr lang="zh-CN" altLang="en-US"/>
            </a:p>
          </p:txBody>
        </p:sp>
        <p:sp>
          <p:nvSpPr>
            <p:cNvPr id="481" name="Rectangle 58"/>
            <p:cNvSpPr>
              <a:spLocks noChangeArrowheads="true"/>
            </p:cNvSpPr>
            <p:nvPr/>
          </p:nvSpPr>
          <p:spPr bwMode="auto">
            <a:xfrm rot="0" flipH="false" flipV="false">
              <a:off x="3744109" y="3886966"/>
              <a:ext cx="673858" cy="19026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/>
              <a:endParaRPr lang="zh-CN" altLang="en-US"/>
            </a:p>
          </p:txBody>
        </p:sp>
        <p:sp>
          <p:nvSpPr>
            <p:cNvPr id="482" name="Line 59"/>
            <p:cNvSpPr>
              <a:spLocks noChangeShapeType="true"/>
            </p:cNvSpPr>
            <p:nvPr/>
          </p:nvSpPr>
          <p:spPr bwMode="auto">
            <a:xfrm rot="0" flipH="false" flipV="false">
              <a:off x="3432608" y="3632342"/>
              <a:ext cx="0" cy="125633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/>
            </a:extLst>
          </p:spPr>
          <p:txBody>
            <a:bodyPr wrap="none" anchor="ctr"/>
            <a:lstStyle/>
            <a:p>
              <a:pPr/>
              <a:endParaRPr lang="zh-CN" altLang="en-US"/>
            </a:p>
          </p:txBody>
        </p:sp>
        <p:sp>
          <p:nvSpPr>
            <p:cNvPr id="483" name="Oval 60"/>
            <p:cNvSpPr>
              <a:spLocks noChangeArrowheads="true"/>
            </p:cNvSpPr>
            <p:nvPr/>
          </p:nvSpPr>
          <p:spPr bwMode="auto">
            <a:xfrm rot="0" flipH="false" flipV="false">
              <a:off x="3391287" y="3551198"/>
              <a:ext cx="63571" cy="5596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/>
              <a:endParaRPr lang="zh-CN" altLang="en-US"/>
            </a:p>
          </p:txBody>
        </p:sp>
        <p:sp>
          <p:nvSpPr>
            <p:cNvPr id="484" name="Rectangle 61"/>
            <p:cNvSpPr>
              <a:spLocks noChangeArrowheads="true"/>
            </p:cNvSpPr>
            <p:nvPr/>
          </p:nvSpPr>
          <p:spPr bwMode="auto">
            <a:xfrm rot="0" flipH="false" flipV="false">
              <a:off x="3661466" y="2944018"/>
              <a:ext cx="901127" cy="3679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487" tIns="44450" rIns="90487" bIns="44450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/>
              <a:r>
                <a:rPr lang="en-US" altLang="zh-CN" sz="1800" b="false">
                  <a:effectLst>
                    <a:outerShdw blurRad="38100" dist="38100" dir="2700000" algn="tl">
                      <a:srgbClr val="C0C0C0"/>
                    </a:outerShdw>
                  </a:effectLst>
                  <a:latin typeface="Helvetica" pitchFamily="34" charset="0"/>
                </a:rPr>
                <a:t>access</a:t>
              </a:r>
              <a:endParaRPr/>
            </a:p>
          </p:txBody>
        </p:sp>
        <p:sp>
          <p:nvSpPr>
            <p:cNvPr id="485" name="Text Box 62"/>
            <p:cNvSpPr txBox="true">
              <a:spLocks noChangeArrowheads="true"/>
            </p:cNvSpPr>
            <p:nvPr/>
          </p:nvSpPr>
          <p:spPr bwMode="auto">
            <a:xfrm rot="0" flipH="false" flipV="false">
              <a:off x="1671675" y="3581013"/>
              <a:ext cx="1449432" cy="642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/>
              <a:r>
                <a:rPr lang="en-US" altLang="zh-CN" sz="1800" b="false">
                  <a:solidFill>
                    <a:srgbClr val="FF0000"/>
                  </a:solidFill>
                  <a:latin typeface="Helvetica" pitchFamily="34" charset="0"/>
                </a:rPr>
                <a:t>VPN</a:t>
              </a:r>
              <a:r>
                <a:rPr lang="en-US" altLang="zh-CN" sz="1800" b="false">
                  <a:latin typeface="Helvetica" pitchFamily="34" charset="0"/>
                </a:rPr>
                <a:t> acts as</a:t>
              </a:r>
              <a:endParaRPr/>
            </a:p>
            <a:p>
              <a:pPr/>
              <a:r>
                <a:rPr lang="en-US" altLang="zh-CN" sz="1800" b="false">
                  <a:latin typeface="Helvetica" pitchFamily="34" charset="0"/>
                </a:rPr>
                <a:t>table index</a:t>
              </a:r>
              <a:endParaRPr/>
            </a:p>
          </p:txBody>
        </p:sp>
        <p:sp>
          <p:nvSpPr>
            <p:cNvPr id="486" name="Line 63"/>
            <p:cNvSpPr>
              <a:spLocks noChangeShapeType="true"/>
            </p:cNvSpPr>
            <p:nvPr/>
          </p:nvSpPr>
          <p:spPr bwMode="auto">
            <a:xfrm rot="0" flipH="true" flipV="false">
              <a:off x="2137337" y="2672605"/>
              <a:ext cx="1614718" cy="60438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/>
            </a:extLst>
          </p:spPr>
          <p:txBody>
            <a:bodyPr wrap="none" lIns="90487" tIns="44450" rIns="90487" bIns="44450" anchor="ctr"/>
            <a:lstStyle/>
            <a:p>
              <a:pPr/>
              <a:endParaRPr lang="zh-CN" altLang="en-US"/>
            </a:p>
          </p:txBody>
        </p:sp>
        <p:sp>
          <p:nvSpPr>
            <p:cNvPr id="487" name="Line 64"/>
            <p:cNvSpPr>
              <a:spLocks noChangeShapeType="true"/>
            </p:cNvSpPr>
            <p:nvPr/>
          </p:nvSpPr>
          <p:spPr bwMode="auto">
            <a:xfrm rot="0" flipH="false" flipV="false">
              <a:off x="2137337" y="3264396"/>
              <a:ext cx="0" cy="36794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/>
            </a:extLst>
          </p:spPr>
          <p:txBody>
            <a:bodyPr wrap="none" lIns="90487" tIns="44450" rIns="90487" bIns="44450" anchor="ctr"/>
            <a:lstStyle/>
            <a:p>
              <a:pPr/>
              <a:endParaRPr lang="zh-CN" altLang="en-US"/>
            </a:p>
          </p:txBody>
        </p:sp>
        <p:sp>
          <p:nvSpPr>
            <p:cNvPr id="488" name="Line 65"/>
            <p:cNvSpPr>
              <a:spLocks noChangeShapeType="true"/>
            </p:cNvSpPr>
            <p:nvPr/>
          </p:nvSpPr>
          <p:spPr bwMode="auto">
            <a:xfrm rot="0" flipH="false" flipV="true">
              <a:off x="2137337" y="3632342"/>
              <a:ext cx="909073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/>
            </a:extLst>
          </p:spPr>
          <p:txBody>
            <a:bodyPr wrap="none" lIns="90487" tIns="44450" rIns="90487" bIns="44450" anchor="ctr"/>
            <a:lstStyle/>
            <a:p>
              <a:pPr/>
              <a:endParaRPr lang="zh-CN" altLang="en-US"/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>
  <p:cSld>
    <p:spTree>
      <p:nvGrpSpPr>
        <p:cNvPr id="4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r>
              <a:rPr lang="zh-CN"/>
              <a:t>回顾</a:t>
            </a:r>
            <a:r>
              <a:rPr lang="en-US"/>
              <a:t> - CPU register</a:t>
            </a:r>
            <a:endParaRPr/>
          </a:p>
        </p:txBody>
      </p:sp>
      <p:sp>
        <p:nvSpPr>
          <p:cNvPr id="491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pPr>
              <a:buChar char="•"/>
            </a:pPr>
            <a:r>
              <a:rPr lang="zh-CN"/>
              <a:t>可以被</a:t>
            </a:r>
            <a:r>
              <a:rPr lang="en-US"/>
              <a:t>CPU</a:t>
            </a:r>
            <a:r>
              <a:rPr lang="zh-CN"/>
              <a:t>直接访问，通过</a:t>
            </a:r>
            <a:r>
              <a:rPr lang="en-US"/>
              <a:t>load/store</a:t>
            </a:r>
            <a:r>
              <a:rPr lang="zh-CN"/>
              <a:t>与</a:t>
            </a:r>
            <a:r>
              <a:rPr lang="en-US"/>
              <a:t>main memory</a:t>
            </a:r>
            <a:r>
              <a:rPr lang="zh-CN"/>
              <a:t>交换数据</a:t>
            </a:r>
            <a:endParaRPr/>
          </a:p>
          <a:p>
            <a:pPr>
              <a:buChar char="•"/>
            </a:pPr>
            <a:r>
              <a:rPr lang="zh-CN"/>
              <a:t>每个</a:t>
            </a:r>
            <a:r>
              <a:rPr lang="en-US"/>
              <a:t>CPU core</a:t>
            </a:r>
            <a:r>
              <a:rPr lang="zh-CN"/>
              <a:t>都有独立的</a:t>
            </a:r>
            <a:r>
              <a:rPr lang="en-US"/>
              <a:t>register</a:t>
            </a:r>
            <a:endParaRPr/>
          </a:p>
          <a:p>
            <a:pPr>
              <a:buChar char="•"/>
            </a:pPr>
            <a:r>
              <a:rPr lang="zh-CN"/>
              <a:t>每个</a:t>
            </a:r>
            <a:r>
              <a:rPr lang="en-US"/>
              <a:t>process / kernel-level thread</a:t>
            </a:r>
            <a:r>
              <a:rPr lang="zh-CN"/>
              <a:t>都独占一组完整的</a:t>
            </a:r>
            <a:r>
              <a:rPr lang="en-US"/>
              <a:t>register</a:t>
            </a:r>
            <a:endParaRPr/>
          </a:p>
          <a:p>
            <a:pPr>
              <a:buChar char="•"/>
            </a:pPr>
            <a:r>
              <a:rPr lang="en-US"/>
              <a:t>hyper-threading / simultaneous multi-threading</a:t>
            </a:r>
            <a:r>
              <a:rPr lang="zh-CN"/>
              <a:t>：一个</a:t>
            </a:r>
            <a:r>
              <a:rPr lang="en-US"/>
              <a:t>CPU core</a:t>
            </a:r>
            <a:r>
              <a:rPr lang="zh-CN"/>
              <a:t>有多组独立的</a:t>
            </a:r>
            <a:r>
              <a:rPr lang="en-US"/>
              <a:t>register (</a:t>
            </a:r>
            <a:r>
              <a:rPr lang="zh-CN"/>
              <a:t>以及</a:t>
            </a:r>
            <a:r>
              <a:rPr lang="en-US"/>
              <a:t>exception</a:t>
            </a:r>
            <a:r>
              <a:rPr lang="zh-CN"/>
              <a:t>等相关硬件</a:t>
            </a:r>
            <a:r>
              <a:rPr lang="en-US"/>
              <a:t>)</a:t>
            </a:r>
            <a:r>
              <a:rPr lang="zh-CN"/>
              <a:t>，可以允许多个</a:t>
            </a:r>
            <a:r>
              <a:rPr lang="en-US"/>
              <a:t>process / kernel-level thread</a:t>
            </a:r>
            <a:r>
              <a:rPr lang="zh-CN"/>
              <a:t>驻留在</a:t>
            </a:r>
            <a:r>
              <a:rPr lang="en-US"/>
              <a:t>CPU</a:t>
            </a:r>
            <a:r>
              <a:rPr lang="zh-CN"/>
              <a:t>中，加速了</a:t>
            </a:r>
            <a:r>
              <a:rPr lang="en-US"/>
              <a:t>context switch</a:t>
            </a:r>
            <a:endParaRPr/>
          </a:p>
        </p:txBody>
      </p:sp>
      <p:sp>
        <p:nvSpPr>
          <p:cNvPr id="492" name="Rectangle 6"/>
          <p:cNvSpPr>
            <a:spLocks noGrp="true" noChangeArrowheads="true"/>
          </p:cNvSpPr>
          <p:nvPr>
            <p:ph type="sldNum" sz="quarter" idx="12"/>
          </p:nvPr>
        </p:nvSpPr>
        <p:spPr/>
        <p:txBody>
          <a:bodyPr/>
          <a:p>
            <a:pPr/>
            <a:fld id="{EF0B01C9-CC9E-4042-87A9-F49D20F0019F}" type="slidenum">
              <a:rPr lang="zh-CN" altLang="en-US"/>
              <a:t>‹#›</a:t>
            </a:fld>
            <a:endParaRPr lang="en-US" altLang="zh-CN"/>
          </a:p>
        </p:txBody>
      </p:sp>
    </p:spTree>
  </p:cSld>
</p:sld>
</file>

<file path=ppt/slides/slide47.xml><?xml version="1.0" encoding="utf-8"?>
<p:sld xmlns:a="http://schemas.openxmlformats.org/drawingml/2006/main" xmlns:p="http://schemas.openxmlformats.org/presentationml/2006/main">
  <p:cSld>
    <p:spTree>
      <p:nvGrpSpPr>
        <p:cNvPr id="4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2B6A051C-8BF2-7149-B351-84942997B361}" type="slidenum">
              <a:rPr lang="zh-CN" altLang="en-US" sz="1400" b="false">
                <a:latin typeface="Times New Roman" panose="02020603050405020304" charset="0"/>
              </a:rPr>
              <a:t>49</a:t>
            </a:fld>
            <a:endParaRPr lang="en-US" altLang="zh-CN" sz="1400" b="false">
              <a:latin typeface="Times New Roman" panose="02020603050405020304" charset="0"/>
            </a:endParaRPr>
          </a:p>
        </p:txBody>
      </p:sp>
      <p:sp>
        <p:nvSpPr>
          <p:cNvPr id="495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Simple Memory System Example</a:t>
            </a:r>
            <a:endParaRPr/>
          </a:p>
        </p:txBody>
      </p:sp>
      <p:sp>
        <p:nvSpPr>
          <p:cNvPr id="496" name="Rectangle 3"/>
          <p:cNvSpPr>
            <a:spLocks noGrp="true" noChangeArrowheads="true"/>
          </p:cNvSpPr>
          <p:nvPr>
            <p:ph type="body" idx="1"/>
          </p:nvPr>
        </p:nvSpPr>
        <p:spPr>
          <a:xfrm>
            <a:off x="457200" y="1600200"/>
            <a:ext cx="8305800" cy="1905000"/>
          </a:xfrm>
        </p:spPr>
        <p:txBody>
          <a:bodyPr/>
          <a:lstStyle/>
          <a:p>
            <a:pPr>
              <a:buChar char="•"/>
            </a:pPr>
            <a:r>
              <a:rPr lang="en-US">
                <a:latin typeface="Comic Sans MS"/>
                <a:ea typeface="宋体"/>
                <a:cs typeface="宋体"/>
              </a:rPr>
              <a:t>Addressing</a:t>
            </a:r>
            <a:endParaRPr/>
          </a:p>
          <a:p>
            <a:pPr lvl="1">
              <a:buChar char="–"/>
            </a:pPr>
            <a:r>
              <a:rPr lang="en-US">
                <a:latin typeface="Comic Sans MS"/>
                <a:ea typeface="宋体"/>
              </a:rPr>
              <a:t>14-bit virtual addresses</a:t>
            </a:r>
            <a:endParaRPr/>
          </a:p>
          <a:p>
            <a:pPr lvl="1">
              <a:buChar char="–"/>
            </a:pPr>
            <a:r>
              <a:rPr lang="en-US">
                <a:latin typeface="Comic Sans MS"/>
                <a:ea typeface="宋体"/>
              </a:rPr>
              <a:t>12-bit physical address</a:t>
            </a:r>
            <a:endParaRPr/>
          </a:p>
          <a:p>
            <a:pPr lvl="1">
              <a:buChar char="–"/>
            </a:pPr>
            <a:r>
              <a:rPr lang="en-US">
                <a:latin typeface="Comic Sans MS"/>
                <a:ea typeface="宋体"/>
              </a:rPr>
              <a:t>Page size = 64B (6-bit page offset)</a:t>
            </a:r>
            <a:endParaRPr/>
          </a:p>
        </p:txBody>
      </p:sp>
      <p:grpSp>
        <p:nvGrpSpPr>
          <p:cNvPr id="497" name="Group 4"/>
          <p:cNvGrpSpPr/>
          <p:nvPr/>
        </p:nvGrpSpPr>
        <p:grpSpPr>
          <a:xfrm>
            <a:off x="960438" y="3702050"/>
            <a:ext cx="6840537" cy="2546350"/>
            <a:chOff x="605" y="1776"/>
            <a:chExt cx="4309" cy="2046"/>
          </a:xfrm>
        </p:grpSpPr>
        <p:grpSp>
          <p:nvGrpSpPr>
            <p:cNvPr id="498" name="Group 5"/>
            <p:cNvGrpSpPr/>
            <p:nvPr/>
          </p:nvGrpSpPr>
          <p:grpSpPr>
            <a:xfrm>
              <a:off x="605" y="1776"/>
              <a:ext cx="4298" cy="384"/>
              <a:chOff x="605" y="1776"/>
              <a:chExt cx="4298" cy="384"/>
            </a:xfrm>
          </p:grpSpPr>
          <p:grpSp>
            <p:nvGrpSpPr>
              <p:cNvPr id="499" name="Group 6"/>
              <p:cNvGrpSpPr/>
              <p:nvPr/>
            </p:nvGrpSpPr>
            <p:grpSpPr>
              <a:xfrm>
                <a:off x="605" y="1776"/>
                <a:ext cx="307" cy="384"/>
                <a:chOff x="605" y="1776"/>
                <a:chExt cx="307" cy="384"/>
              </a:xfrm>
            </p:grpSpPr>
            <p:sp>
              <p:nvSpPr>
                <p:cNvPr id="500" name="Rectangle 7"/>
                <p:cNvSpPr>
                  <a:spLocks noChangeArrowheads="true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FF99CC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501" name="Rectangle 8"/>
                <p:cNvSpPr>
                  <a:spLocks noChangeArrowheads="true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13</a:t>
                  </a:r>
                  <a:endParaRPr/>
                </a:p>
              </p:txBody>
            </p:sp>
          </p:grpSp>
          <p:grpSp>
            <p:nvGrpSpPr>
              <p:cNvPr id="502" name="Group 9"/>
              <p:cNvGrpSpPr/>
              <p:nvPr/>
            </p:nvGrpSpPr>
            <p:grpSpPr>
              <a:xfrm>
                <a:off x="912" y="1776"/>
                <a:ext cx="307" cy="384"/>
                <a:chOff x="605" y="1776"/>
                <a:chExt cx="307" cy="384"/>
              </a:xfrm>
            </p:grpSpPr>
            <p:sp>
              <p:nvSpPr>
                <p:cNvPr id="503" name="Rectangle 10"/>
                <p:cNvSpPr>
                  <a:spLocks noChangeArrowheads="true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FF99CC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504" name="Rectangle 11"/>
                <p:cNvSpPr>
                  <a:spLocks noChangeArrowheads="true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12</a:t>
                  </a:r>
                  <a:endParaRPr/>
                </a:p>
              </p:txBody>
            </p:sp>
          </p:grpSp>
          <p:grpSp>
            <p:nvGrpSpPr>
              <p:cNvPr id="505" name="Group 12"/>
              <p:cNvGrpSpPr/>
              <p:nvPr/>
            </p:nvGrpSpPr>
            <p:grpSpPr>
              <a:xfrm>
                <a:off x="1219" y="1776"/>
                <a:ext cx="307" cy="384"/>
                <a:chOff x="605" y="1776"/>
                <a:chExt cx="307" cy="384"/>
              </a:xfrm>
            </p:grpSpPr>
            <p:sp>
              <p:nvSpPr>
                <p:cNvPr id="506" name="Rectangle 13"/>
                <p:cNvSpPr>
                  <a:spLocks noChangeArrowheads="true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FF99CC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507" name="Rectangle 14"/>
                <p:cNvSpPr>
                  <a:spLocks noChangeArrowheads="true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11</a:t>
                  </a:r>
                  <a:endParaRPr/>
                </a:p>
              </p:txBody>
            </p:sp>
          </p:grpSp>
          <p:grpSp>
            <p:nvGrpSpPr>
              <p:cNvPr id="508" name="Group 15"/>
              <p:cNvGrpSpPr/>
              <p:nvPr/>
            </p:nvGrpSpPr>
            <p:grpSpPr>
              <a:xfrm>
                <a:off x="1526" y="1776"/>
                <a:ext cx="307" cy="384"/>
                <a:chOff x="605" y="1776"/>
                <a:chExt cx="307" cy="384"/>
              </a:xfrm>
            </p:grpSpPr>
            <p:sp>
              <p:nvSpPr>
                <p:cNvPr id="509" name="Rectangle 16"/>
                <p:cNvSpPr>
                  <a:spLocks noChangeArrowheads="true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FF99CC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510" name="Rectangle 17"/>
                <p:cNvSpPr>
                  <a:spLocks noChangeArrowheads="true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10</a:t>
                  </a:r>
                  <a:endParaRPr/>
                </a:p>
              </p:txBody>
            </p:sp>
          </p:grpSp>
          <p:grpSp>
            <p:nvGrpSpPr>
              <p:cNvPr id="511" name="Group 18"/>
              <p:cNvGrpSpPr/>
              <p:nvPr/>
            </p:nvGrpSpPr>
            <p:grpSpPr>
              <a:xfrm>
                <a:off x="1833" y="1776"/>
                <a:ext cx="307" cy="384"/>
                <a:chOff x="605" y="1776"/>
                <a:chExt cx="307" cy="384"/>
              </a:xfrm>
            </p:grpSpPr>
            <p:sp>
              <p:nvSpPr>
                <p:cNvPr id="512" name="Rectangle 19"/>
                <p:cNvSpPr>
                  <a:spLocks noChangeArrowheads="true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FF99CC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513" name="Rectangle 20"/>
                <p:cNvSpPr>
                  <a:spLocks noChangeArrowheads="true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9</a:t>
                  </a:r>
                  <a:endParaRPr/>
                </a:p>
              </p:txBody>
            </p:sp>
          </p:grpSp>
          <p:grpSp>
            <p:nvGrpSpPr>
              <p:cNvPr id="514" name="Group 21"/>
              <p:cNvGrpSpPr/>
              <p:nvPr/>
            </p:nvGrpSpPr>
            <p:grpSpPr>
              <a:xfrm>
                <a:off x="2140" y="1776"/>
                <a:ext cx="307" cy="384"/>
                <a:chOff x="605" y="1776"/>
                <a:chExt cx="307" cy="384"/>
              </a:xfrm>
            </p:grpSpPr>
            <p:sp>
              <p:nvSpPr>
                <p:cNvPr id="515" name="Rectangle 22"/>
                <p:cNvSpPr>
                  <a:spLocks noChangeArrowheads="true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FF99CC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516" name="Rectangle 23"/>
                <p:cNvSpPr>
                  <a:spLocks noChangeArrowheads="true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8</a:t>
                  </a:r>
                  <a:endParaRPr/>
                </a:p>
              </p:txBody>
            </p:sp>
          </p:grpSp>
          <p:grpSp>
            <p:nvGrpSpPr>
              <p:cNvPr id="517" name="Group 24"/>
              <p:cNvGrpSpPr/>
              <p:nvPr/>
            </p:nvGrpSpPr>
            <p:grpSpPr>
              <a:xfrm>
                <a:off x="2447" y="1776"/>
                <a:ext cx="307" cy="384"/>
                <a:chOff x="605" y="1776"/>
                <a:chExt cx="307" cy="384"/>
              </a:xfrm>
            </p:grpSpPr>
            <p:sp>
              <p:nvSpPr>
                <p:cNvPr id="518" name="Rectangle 25"/>
                <p:cNvSpPr>
                  <a:spLocks noChangeArrowheads="true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FF99CC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519" name="Rectangle 26"/>
                <p:cNvSpPr>
                  <a:spLocks noChangeArrowheads="true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7</a:t>
                  </a:r>
                  <a:endParaRPr/>
                </a:p>
              </p:txBody>
            </p:sp>
          </p:grpSp>
          <p:grpSp>
            <p:nvGrpSpPr>
              <p:cNvPr id="520" name="Group 27"/>
              <p:cNvGrpSpPr/>
              <p:nvPr/>
            </p:nvGrpSpPr>
            <p:grpSpPr>
              <a:xfrm>
                <a:off x="2754" y="1776"/>
                <a:ext cx="307" cy="384"/>
                <a:chOff x="605" y="1776"/>
                <a:chExt cx="307" cy="384"/>
              </a:xfrm>
            </p:grpSpPr>
            <p:sp>
              <p:nvSpPr>
                <p:cNvPr id="521" name="Rectangle 28"/>
                <p:cNvSpPr>
                  <a:spLocks noChangeArrowheads="true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FF99CC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522" name="Rectangle 29"/>
                <p:cNvSpPr>
                  <a:spLocks noChangeArrowheads="true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6</a:t>
                  </a:r>
                  <a:endParaRPr/>
                </a:p>
              </p:txBody>
            </p:sp>
          </p:grpSp>
          <p:grpSp>
            <p:nvGrpSpPr>
              <p:cNvPr id="523" name="Group 30"/>
              <p:cNvGrpSpPr/>
              <p:nvPr/>
            </p:nvGrpSpPr>
            <p:grpSpPr>
              <a:xfrm>
                <a:off x="3061" y="1776"/>
                <a:ext cx="307" cy="384"/>
                <a:chOff x="605" y="1776"/>
                <a:chExt cx="307" cy="384"/>
              </a:xfrm>
            </p:grpSpPr>
            <p:sp>
              <p:nvSpPr>
                <p:cNvPr id="524" name="Rectangle 31"/>
                <p:cNvSpPr>
                  <a:spLocks noChangeArrowheads="true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525" name="Rectangle 32"/>
                <p:cNvSpPr>
                  <a:spLocks noChangeArrowheads="true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5</a:t>
                  </a:r>
                  <a:endParaRPr/>
                </a:p>
              </p:txBody>
            </p:sp>
          </p:grpSp>
          <p:grpSp>
            <p:nvGrpSpPr>
              <p:cNvPr id="526" name="Group 33"/>
              <p:cNvGrpSpPr/>
              <p:nvPr/>
            </p:nvGrpSpPr>
            <p:grpSpPr>
              <a:xfrm>
                <a:off x="3368" y="1776"/>
                <a:ext cx="307" cy="384"/>
                <a:chOff x="605" y="1776"/>
                <a:chExt cx="307" cy="384"/>
              </a:xfrm>
            </p:grpSpPr>
            <p:sp>
              <p:nvSpPr>
                <p:cNvPr id="527" name="Rectangle 34"/>
                <p:cNvSpPr>
                  <a:spLocks noChangeArrowheads="true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528" name="Rectangle 35"/>
                <p:cNvSpPr>
                  <a:spLocks noChangeArrowheads="true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4</a:t>
                  </a:r>
                  <a:endParaRPr/>
                </a:p>
              </p:txBody>
            </p:sp>
          </p:grpSp>
          <p:grpSp>
            <p:nvGrpSpPr>
              <p:cNvPr id="529" name="Group 36"/>
              <p:cNvGrpSpPr/>
              <p:nvPr/>
            </p:nvGrpSpPr>
            <p:grpSpPr>
              <a:xfrm>
                <a:off x="3675" y="1776"/>
                <a:ext cx="307" cy="384"/>
                <a:chOff x="605" y="1776"/>
                <a:chExt cx="307" cy="384"/>
              </a:xfrm>
            </p:grpSpPr>
            <p:sp>
              <p:nvSpPr>
                <p:cNvPr id="530" name="Rectangle 37"/>
                <p:cNvSpPr>
                  <a:spLocks noChangeArrowheads="true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531" name="Rectangle 38"/>
                <p:cNvSpPr>
                  <a:spLocks noChangeArrowheads="true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3</a:t>
                  </a:r>
                  <a:endParaRPr/>
                </a:p>
              </p:txBody>
            </p:sp>
          </p:grpSp>
          <p:grpSp>
            <p:nvGrpSpPr>
              <p:cNvPr id="532" name="Group 39"/>
              <p:cNvGrpSpPr/>
              <p:nvPr/>
            </p:nvGrpSpPr>
            <p:grpSpPr>
              <a:xfrm>
                <a:off x="3982" y="1776"/>
                <a:ext cx="307" cy="384"/>
                <a:chOff x="605" y="1776"/>
                <a:chExt cx="307" cy="384"/>
              </a:xfrm>
            </p:grpSpPr>
            <p:sp>
              <p:nvSpPr>
                <p:cNvPr id="533" name="Rectangle 40"/>
                <p:cNvSpPr>
                  <a:spLocks noChangeArrowheads="true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534" name="Rectangle 41"/>
                <p:cNvSpPr>
                  <a:spLocks noChangeArrowheads="true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2</a:t>
                  </a:r>
                  <a:endParaRPr/>
                </a:p>
              </p:txBody>
            </p:sp>
          </p:grpSp>
          <p:grpSp>
            <p:nvGrpSpPr>
              <p:cNvPr id="535" name="Group 42"/>
              <p:cNvGrpSpPr/>
              <p:nvPr/>
            </p:nvGrpSpPr>
            <p:grpSpPr>
              <a:xfrm>
                <a:off x="4289" y="1776"/>
                <a:ext cx="307" cy="384"/>
                <a:chOff x="605" y="1776"/>
                <a:chExt cx="307" cy="384"/>
              </a:xfrm>
            </p:grpSpPr>
            <p:sp>
              <p:nvSpPr>
                <p:cNvPr id="536" name="Rectangle 43"/>
                <p:cNvSpPr>
                  <a:spLocks noChangeArrowheads="true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537" name="Rectangle 44"/>
                <p:cNvSpPr>
                  <a:spLocks noChangeArrowheads="true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1</a:t>
                  </a:r>
                  <a:endParaRPr/>
                </a:p>
              </p:txBody>
            </p:sp>
          </p:grpSp>
          <p:grpSp>
            <p:nvGrpSpPr>
              <p:cNvPr id="538" name="Group 45"/>
              <p:cNvGrpSpPr/>
              <p:nvPr/>
            </p:nvGrpSpPr>
            <p:grpSpPr>
              <a:xfrm>
                <a:off x="4596" y="1776"/>
                <a:ext cx="307" cy="384"/>
                <a:chOff x="605" y="1776"/>
                <a:chExt cx="307" cy="384"/>
              </a:xfrm>
            </p:grpSpPr>
            <p:sp>
              <p:nvSpPr>
                <p:cNvPr id="539" name="Rectangle 46"/>
                <p:cNvSpPr>
                  <a:spLocks noChangeArrowheads="true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540" name="Rectangle 47"/>
                <p:cNvSpPr>
                  <a:spLocks noChangeArrowheads="true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0</a:t>
                  </a:r>
                  <a:endParaRPr/>
                </a:p>
              </p:txBody>
            </p:sp>
          </p:grpSp>
        </p:grpSp>
        <p:grpSp>
          <p:nvGrpSpPr>
            <p:cNvPr id="541" name="Group 48"/>
            <p:cNvGrpSpPr/>
            <p:nvPr/>
          </p:nvGrpSpPr>
          <p:grpSpPr>
            <a:xfrm>
              <a:off x="1219" y="2880"/>
              <a:ext cx="3684" cy="384"/>
              <a:chOff x="1219" y="2880"/>
              <a:chExt cx="3684" cy="384"/>
            </a:xfrm>
          </p:grpSpPr>
          <p:grpSp>
            <p:nvGrpSpPr>
              <p:cNvPr id="542" name="Group 49"/>
              <p:cNvGrpSpPr/>
              <p:nvPr/>
            </p:nvGrpSpPr>
            <p:grpSpPr>
              <a:xfrm>
                <a:off x="1219" y="2880"/>
                <a:ext cx="307" cy="384"/>
                <a:chOff x="605" y="1776"/>
                <a:chExt cx="307" cy="384"/>
              </a:xfrm>
            </p:grpSpPr>
            <p:sp>
              <p:nvSpPr>
                <p:cNvPr id="543" name="Rectangle 50"/>
                <p:cNvSpPr>
                  <a:spLocks noChangeArrowheads="true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CC99FF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544" name="Rectangle 51"/>
                <p:cNvSpPr>
                  <a:spLocks noChangeArrowheads="true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11</a:t>
                  </a:r>
                  <a:endParaRPr/>
                </a:p>
              </p:txBody>
            </p:sp>
          </p:grpSp>
          <p:grpSp>
            <p:nvGrpSpPr>
              <p:cNvPr id="545" name="Group 52"/>
              <p:cNvGrpSpPr/>
              <p:nvPr/>
            </p:nvGrpSpPr>
            <p:grpSpPr>
              <a:xfrm>
                <a:off x="1526" y="2880"/>
                <a:ext cx="307" cy="384"/>
                <a:chOff x="605" y="1776"/>
                <a:chExt cx="307" cy="384"/>
              </a:xfrm>
            </p:grpSpPr>
            <p:sp>
              <p:nvSpPr>
                <p:cNvPr id="546" name="Rectangle 53"/>
                <p:cNvSpPr>
                  <a:spLocks noChangeArrowheads="true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CC99FF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547" name="Rectangle 54"/>
                <p:cNvSpPr>
                  <a:spLocks noChangeArrowheads="true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10</a:t>
                  </a:r>
                  <a:endParaRPr/>
                </a:p>
              </p:txBody>
            </p:sp>
          </p:grpSp>
          <p:grpSp>
            <p:nvGrpSpPr>
              <p:cNvPr id="548" name="Group 55"/>
              <p:cNvGrpSpPr/>
              <p:nvPr/>
            </p:nvGrpSpPr>
            <p:grpSpPr>
              <a:xfrm>
                <a:off x="1833" y="2880"/>
                <a:ext cx="307" cy="384"/>
                <a:chOff x="605" y="1776"/>
                <a:chExt cx="307" cy="384"/>
              </a:xfrm>
            </p:grpSpPr>
            <p:sp>
              <p:nvSpPr>
                <p:cNvPr id="549" name="Rectangle 56"/>
                <p:cNvSpPr>
                  <a:spLocks noChangeArrowheads="true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CC99FF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550" name="Rectangle 57"/>
                <p:cNvSpPr>
                  <a:spLocks noChangeArrowheads="true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9</a:t>
                  </a:r>
                  <a:endParaRPr/>
                </a:p>
              </p:txBody>
            </p:sp>
          </p:grpSp>
          <p:grpSp>
            <p:nvGrpSpPr>
              <p:cNvPr id="551" name="Group 58"/>
              <p:cNvGrpSpPr/>
              <p:nvPr/>
            </p:nvGrpSpPr>
            <p:grpSpPr>
              <a:xfrm>
                <a:off x="2140" y="2880"/>
                <a:ext cx="307" cy="384"/>
                <a:chOff x="605" y="1776"/>
                <a:chExt cx="307" cy="384"/>
              </a:xfrm>
            </p:grpSpPr>
            <p:sp>
              <p:nvSpPr>
                <p:cNvPr id="552" name="Rectangle 59"/>
                <p:cNvSpPr>
                  <a:spLocks noChangeArrowheads="true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CC99FF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553" name="Rectangle 60"/>
                <p:cNvSpPr>
                  <a:spLocks noChangeArrowheads="true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8</a:t>
                  </a:r>
                  <a:endParaRPr/>
                </a:p>
              </p:txBody>
            </p:sp>
          </p:grpSp>
          <p:grpSp>
            <p:nvGrpSpPr>
              <p:cNvPr id="554" name="Group 61"/>
              <p:cNvGrpSpPr/>
              <p:nvPr/>
            </p:nvGrpSpPr>
            <p:grpSpPr>
              <a:xfrm>
                <a:off x="2447" y="2880"/>
                <a:ext cx="307" cy="384"/>
                <a:chOff x="605" y="1776"/>
                <a:chExt cx="307" cy="384"/>
              </a:xfrm>
            </p:grpSpPr>
            <p:sp>
              <p:nvSpPr>
                <p:cNvPr id="555" name="Rectangle 62"/>
                <p:cNvSpPr>
                  <a:spLocks noChangeArrowheads="true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CC99FF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556" name="Rectangle 63"/>
                <p:cNvSpPr>
                  <a:spLocks noChangeArrowheads="true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7</a:t>
                  </a:r>
                  <a:endParaRPr/>
                </a:p>
              </p:txBody>
            </p:sp>
          </p:grpSp>
          <p:grpSp>
            <p:nvGrpSpPr>
              <p:cNvPr id="557" name="Group 64"/>
              <p:cNvGrpSpPr/>
              <p:nvPr/>
            </p:nvGrpSpPr>
            <p:grpSpPr>
              <a:xfrm>
                <a:off x="2754" y="2880"/>
                <a:ext cx="307" cy="384"/>
                <a:chOff x="605" y="1776"/>
                <a:chExt cx="307" cy="384"/>
              </a:xfrm>
            </p:grpSpPr>
            <p:sp>
              <p:nvSpPr>
                <p:cNvPr id="558" name="Rectangle 65"/>
                <p:cNvSpPr>
                  <a:spLocks noChangeArrowheads="true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CC99FF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559" name="Rectangle 66"/>
                <p:cNvSpPr>
                  <a:spLocks noChangeArrowheads="true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6</a:t>
                  </a:r>
                  <a:endParaRPr/>
                </a:p>
              </p:txBody>
            </p:sp>
          </p:grpSp>
          <p:grpSp>
            <p:nvGrpSpPr>
              <p:cNvPr id="560" name="Group 67"/>
              <p:cNvGrpSpPr/>
              <p:nvPr/>
            </p:nvGrpSpPr>
            <p:grpSpPr>
              <a:xfrm>
                <a:off x="3061" y="2880"/>
                <a:ext cx="307" cy="384"/>
                <a:chOff x="605" y="1776"/>
                <a:chExt cx="307" cy="384"/>
              </a:xfrm>
            </p:grpSpPr>
            <p:sp>
              <p:nvSpPr>
                <p:cNvPr id="561" name="Rectangle 68"/>
                <p:cNvSpPr>
                  <a:spLocks noChangeArrowheads="true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562" name="Rectangle 69"/>
                <p:cNvSpPr>
                  <a:spLocks noChangeArrowheads="true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5</a:t>
                  </a:r>
                  <a:endParaRPr/>
                </a:p>
              </p:txBody>
            </p:sp>
          </p:grpSp>
          <p:grpSp>
            <p:nvGrpSpPr>
              <p:cNvPr id="563" name="Group 70"/>
              <p:cNvGrpSpPr/>
              <p:nvPr/>
            </p:nvGrpSpPr>
            <p:grpSpPr>
              <a:xfrm>
                <a:off x="3368" y="2880"/>
                <a:ext cx="307" cy="384"/>
                <a:chOff x="605" y="1776"/>
                <a:chExt cx="307" cy="384"/>
              </a:xfrm>
            </p:grpSpPr>
            <p:sp>
              <p:nvSpPr>
                <p:cNvPr id="564" name="Rectangle 71"/>
                <p:cNvSpPr>
                  <a:spLocks noChangeArrowheads="true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565" name="Rectangle 72"/>
                <p:cNvSpPr>
                  <a:spLocks noChangeArrowheads="true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4</a:t>
                  </a:r>
                  <a:endParaRPr/>
                </a:p>
              </p:txBody>
            </p:sp>
          </p:grpSp>
          <p:grpSp>
            <p:nvGrpSpPr>
              <p:cNvPr id="566" name="Group 73"/>
              <p:cNvGrpSpPr/>
              <p:nvPr/>
            </p:nvGrpSpPr>
            <p:grpSpPr>
              <a:xfrm>
                <a:off x="3675" y="2880"/>
                <a:ext cx="307" cy="384"/>
                <a:chOff x="605" y="1776"/>
                <a:chExt cx="307" cy="384"/>
              </a:xfrm>
            </p:grpSpPr>
            <p:sp>
              <p:nvSpPr>
                <p:cNvPr id="567" name="Rectangle 74"/>
                <p:cNvSpPr>
                  <a:spLocks noChangeArrowheads="true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568" name="Rectangle 75"/>
                <p:cNvSpPr>
                  <a:spLocks noChangeArrowheads="true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3</a:t>
                  </a:r>
                  <a:endParaRPr/>
                </a:p>
              </p:txBody>
            </p:sp>
          </p:grpSp>
          <p:grpSp>
            <p:nvGrpSpPr>
              <p:cNvPr id="569" name="Group 76"/>
              <p:cNvGrpSpPr/>
              <p:nvPr/>
            </p:nvGrpSpPr>
            <p:grpSpPr>
              <a:xfrm>
                <a:off x="3982" y="2880"/>
                <a:ext cx="307" cy="384"/>
                <a:chOff x="605" y="1776"/>
                <a:chExt cx="307" cy="384"/>
              </a:xfrm>
            </p:grpSpPr>
            <p:sp>
              <p:nvSpPr>
                <p:cNvPr id="570" name="Rectangle 77"/>
                <p:cNvSpPr>
                  <a:spLocks noChangeArrowheads="true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571" name="Rectangle 78"/>
                <p:cNvSpPr>
                  <a:spLocks noChangeArrowheads="true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2</a:t>
                  </a:r>
                  <a:endParaRPr/>
                </a:p>
              </p:txBody>
            </p:sp>
          </p:grpSp>
          <p:grpSp>
            <p:nvGrpSpPr>
              <p:cNvPr id="572" name="Group 79"/>
              <p:cNvGrpSpPr/>
              <p:nvPr/>
            </p:nvGrpSpPr>
            <p:grpSpPr>
              <a:xfrm>
                <a:off x="4289" y="2880"/>
                <a:ext cx="307" cy="384"/>
                <a:chOff x="605" y="1776"/>
                <a:chExt cx="307" cy="384"/>
              </a:xfrm>
            </p:grpSpPr>
            <p:sp>
              <p:nvSpPr>
                <p:cNvPr id="573" name="Rectangle 80"/>
                <p:cNvSpPr>
                  <a:spLocks noChangeArrowheads="true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574" name="Rectangle 81"/>
                <p:cNvSpPr>
                  <a:spLocks noChangeArrowheads="true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1</a:t>
                  </a:r>
                  <a:endParaRPr/>
                </a:p>
              </p:txBody>
            </p:sp>
          </p:grpSp>
          <p:grpSp>
            <p:nvGrpSpPr>
              <p:cNvPr id="575" name="Group 82"/>
              <p:cNvGrpSpPr/>
              <p:nvPr/>
            </p:nvGrpSpPr>
            <p:grpSpPr>
              <a:xfrm>
                <a:off x="4596" y="2880"/>
                <a:ext cx="307" cy="384"/>
                <a:chOff x="605" y="1776"/>
                <a:chExt cx="307" cy="384"/>
              </a:xfrm>
            </p:grpSpPr>
            <p:sp>
              <p:nvSpPr>
                <p:cNvPr id="576" name="Rectangle 83"/>
                <p:cNvSpPr>
                  <a:spLocks noChangeArrowheads="true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solidFill>
                  <a:srgbClr val="66FFFF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577" name="Rectangle 84"/>
                <p:cNvSpPr>
                  <a:spLocks noChangeArrowheads="true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0</a:t>
                  </a:r>
                  <a:endParaRPr/>
                </a:p>
              </p:txBody>
            </p:sp>
          </p:grpSp>
        </p:grpSp>
        <p:grpSp>
          <p:nvGrpSpPr>
            <p:cNvPr id="578" name="Group 85"/>
            <p:cNvGrpSpPr/>
            <p:nvPr/>
          </p:nvGrpSpPr>
          <p:grpSpPr>
            <a:xfrm>
              <a:off x="3061" y="2261"/>
              <a:ext cx="1842" cy="270"/>
              <a:chOff x="3061" y="2261"/>
              <a:chExt cx="1842" cy="270"/>
            </a:xfrm>
          </p:grpSpPr>
          <p:sp>
            <p:nvSpPr>
              <p:cNvPr id="579" name="Line 86"/>
              <p:cNvSpPr>
                <a:spLocks noChangeShapeType="true"/>
              </p:cNvSpPr>
              <p:nvPr/>
            </p:nvSpPr>
            <p:spPr bwMode="auto">
              <a:xfrm>
                <a:off x="3061" y="2352"/>
                <a:ext cx="184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xtLst>
                <a:ext uri="{909E8E84-426E-40DD-AFC4-6F175D3DCCD1}"/>
              </a:extLst>
            </p:spPr>
            <p:txBody>
              <a:bodyPr wrap="none" lIns="90487" tIns="44450" rIns="90487" bIns="44450"/>
              <a:lstStyle/>
              <a:p>
                <a:pPr/>
                <a:endParaRPr lang="zh-CN" altLang="en-US"/>
              </a:p>
            </p:txBody>
          </p:sp>
          <p:sp>
            <p:nvSpPr>
              <p:cNvPr id="580" name="Text Box 87"/>
              <p:cNvSpPr txBox="true">
                <a:spLocks noChangeArrowheads="true"/>
              </p:cNvSpPr>
              <p:nvPr/>
            </p:nvSpPr>
            <p:spPr bwMode="auto">
              <a:xfrm>
                <a:off x="3770" y="2261"/>
                <a:ext cx="418" cy="27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/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800">
                    <a:solidFill>
                      <a:schemeClr val="tx2"/>
                    </a:solidFill>
                    <a:latin typeface="Helvetica" pitchFamily="34" charset="0"/>
                  </a:rPr>
                  <a:t>VPO</a:t>
                </a:r>
                <a:endParaRPr/>
              </a:p>
            </p:txBody>
          </p:sp>
        </p:grpSp>
        <p:grpSp>
          <p:nvGrpSpPr>
            <p:cNvPr id="581" name="Group 88"/>
            <p:cNvGrpSpPr/>
            <p:nvPr/>
          </p:nvGrpSpPr>
          <p:grpSpPr>
            <a:xfrm>
              <a:off x="3072" y="3312"/>
              <a:ext cx="1842" cy="270"/>
              <a:chOff x="3061" y="2261"/>
              <a:chExt cx="1842" cy="270"/>
            </a:xfrm>
          </p:grpSpPr>
          <p:sp>
            <p:nvSpPr>
              <p:cNvPr id="582" name="Line 89"/>
              <p:cNvSpPr>
                <a:spLocks noChangeShapeType="true"/>
              </p:cNvSpPr>
              <p:nvPr/>
            </p:nvSpPr>
            <p:spPr bwMode="auto">
              <a:xfrm>
                <a:off x="3061" y="2352"/>
                <a:ext cx="184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xtLst>
                <a:ext uri="{909E8E84-426E-40DD-AFC4-6F175D3DCCD1}"/>
              </a:extLst>
            </p:spPr>
            <p:txBody>
              <a:bodyPr wrap="none" lIns="90487" tIns="44450" rIns="90487" bIns="44450"/>
              <a:lstStyle/>
              <a:p>
                <a:pPr/>
                <a:endParaRPr lang="zh-CN" altLang="en-US"/>
              </a:p>
            </p:txBody>
          </p:sp>
          <p:sp>
            <p:nvSpPr>
              <p:cNvPr id="583" name="Text Box 90"/>
              <p:cNvSpPr txBox="true">
                <a:spLocks noChangeArrowheads="true"/>
              </p:cNvSpPr>
              <p:nvPr/>
            </p:nvSpPr>
            <p:spPr bwMode="auto">
              <a:xfrm>
                <a:off x="3770" y="2261"/>
                <a:ext cx="418" cy="27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/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800">
                    <a:solidFill>
                      <a:schemeClr val="tx2"/>
                    </a:solidFill>
                    <a:latin typeface="Helvetica" pitchFamily="34" charset="0"/>
                  </a:rPr>
                  <a:t>PPO</a:t>
                </a:r>
                <a:endParaRPr/>
              </a:p>
            </p:txBody>
          </p:sp>
        </p:grpSp>
        <p:grpSp>
          <p:nvGrpSpPr>
            <p:cNvPr id="584" name="Group 91"/>
            <p:cNvGrpSpPr/>
            <p:nvPr/>
          </p:nvGrpSpPr>
          <p:grpSpPr>
            <a:xfrm>
              <a:off x="1248" y="3312"/>
              <a:ext cx="1842" cy="270"/>
              <a:chOff x="3061" y="2261"/>
              <a:chExt cx="1842" cy="270"/>
            </a:xfrm>
          </p:grpSpPr>
          <p:sp>
            <p:nvSpPr>
              <p:cNvPr id="585" name="Line 92"/>
              <p:cNvSpPr>
                <a:spLocks noChangeShapeType="true"/>
              </p:cNvSpPr>
              <p:nvPr/>
            </p:nvSpPr>
            <p:spPr bwMode="auto">
              <a:xfrm>
                <a:off x="3061" y="2352"/>
                <a:ext cx="184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xtLst>
                <a:ext uri="{909E8E84-426E-40DD-AFC4-6F175D3DCCD1}"/>
              </a:extLst>
            </p:spPr>
            <p:txBody>
              <a:bodyPr wrap="none" lIns="90487" tIns="44450" rIns="90487" bIns="44450"/>
              <a:lstStyle/>
              <a:p>
                <a:pPr/>
                <a:endParaRPr lang="zh-CN" altLang="en-US"/>
              </a:p>
            </p:txBody>
          </p:sp>
          <p:sp>
            <p:nvSpPr>
              <p:cNvPr id="586" name="Text Box 93"/>
              <p:cNvSpPr txBox="true">
                <a:spLocks noChangeArrowheads="true"/>
              </p:cNvSpPr>
              <p:nvPr/>
            </p:nvSpPr>
            <p:spPr bwMode="auto">
              <a:xfrm>
                <a:off x="3770" y="2261"/>
                <a:ext cx="410" cy="27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/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800">
                    <a:solidFill>
                      <a:schemeClr val="tx2"/>
                    </a:solidFill>
                    <a:latin typeface="Helvetica" pitchFamily="34" charset="0"/>
                  </a:rPr>
                  <a:t>PPN</a:t>
                </a:r>
                <a:endParaRPr/>
              </a:p>
            </p:txBody>
          </p:sp>
        </p:grpSp>
        <p:grpSp>
          <p:nvGrpSpPr>
            <p:cNvPr id="587" name="Group 94"/>
            <p:cNvGrpSpPr/>
            <p:nvPr/>
          </p:nvGrpSpPr>
          <p:grpSpPr>
            <a:xfrm>
              <a:off x="605" y="2256"/>
              <a:ext cx="2467" cy="270"/>
              <a:chOff x="3061" y="2261"/>
              <a:chExt cx="1842" cy="270"/>
            </a:xfrm>
          </p:grpSpPr>
          <p:sp>
            <p:nvSpPr>
              <p:cNvPr id="588" name="Line 95"/>
              <p:cNvSpPr>
                <a:spLocks noChangeShapeType="true"/>
              </p:cNvSpPr>
              <p:nvPr/>
            </p:nvSpPr>
            <p:spPr bwMode="auto">
              <a:xfrm>
                <a:off x="3061" y="2352"/>
                <a:ext cx="184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xtLst>
                <a:ext uri="{909E8E84-426E-40DD-AFC4-6F175D3DCCD1}"/>
              </a:extLst>
            </p:spPr>
            <p:txBody>
              <a:bodyPr wrap="none" lIns="90487" tIns="44450" rIns="90487" bIns="44450"/>
              <a:lstStyle/>
              <a:p>
                <a:pPr/>
                <a:endParaRPr lang="zh-CN" altLang="en-US"/>
              </a:p>
            </p:txBody>
          </p:sp>
          <p:sp>
            <p:nvSpPr>
              <p:cNvPr id="589" name="Text Box 96"/>
              <p:cNvSpPr txBox="true">
                <a:spLocks noChangeArrowheads="true"/>
              </p:cNvSpPr>
              <p:nvPr/>
            </p:nvSpPr>
            <p:spPr bwMode="auto">
              <a:xfrm>
                <a:off x="3770" y="2261"/>
                <a:ext cx="306" cy="27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/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800">
                    <a:solidFill>
                      <a:schemeClr val="tx2"/>
                    </a:solidFill>
                    <a:latin typeface="Helvetica" pitchFamily="34" charset="0"/>
                  </a:rPr>
                  <a:t>VPN</a:t>
                </a:r>
                <a:endParaRPr/>
              </a:p>
            </p:txBody>
          </p:sp>
        </p:grpSp>
        <p:sp>
          <p:nvSpPr>
            <p:cNvPr id="590" name="Text Box 97"/>
            <p:cNvSpPr txBox="true">
              <a:spLocks noChangeArrowheads="true"/>
            </p:cNvSpPr>
            <p:nvPr/>
          </p:nvSpPr>
          <p:spPr bwMode="auto">
            <a:xfrm>
              <a:off x="1020" y="2530"/>
              <a:ext cx="1546" cy="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</a:pPr>
              <a:r>
                <a:rPr lang="en-US" altLang="zh-CN" sz="1800" b="false">
                  <a:solidFill>
                    <a:schemeClr val="tx2"/>
                  </a:solidFill>
                  <a:latin typeface="Helvetica" pitchFamily="34" charset="0"/>
                </a:rPr>
                <a:t>(Virtual Page Number)</a:t>
              </a:r>
              <a:endParaRPr/>
            </a:p>
          </p:txBody>
        </p:sp>
        <p:sp>
          <p:nvSpPr>
            <p:cNvPr id="591" name="Text Box 98"/>
            <p:cNvSpPr txBox="true">
              <a:spLocks noChangeArrowheads="true"/>
            </p:cNvSpPr>
            <p:nvPr/>
          </p:nvSpPr>
          <p:spPr bwMode="auto">
            <a:xfrm>
              <a:off x="3158" y="2523"/>
              <a:ext cx="1418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</a:pPr>
              <a:r>
                <a:rPr lang="en-US" altLang="zh-CN" sz="1800" b="false">
                  <a:solidFill>
                    <a:schemeClr val="tx2"/>
                  </a:solidFill>
                  <a:latin typeface="Helvetica" pitchFamily="34" charset="0"/>
                </a:rPr>
                <a:t>(Virtual Page Offset)</a:t>
              </a:r>
              <a:endParaRPr/>
            </a:p>
          </p:txBody>
        </p:sp>
        <p:sp>
          <p:nvSpPr>
            <p:cNvPr id="592" name="Text Box 99"/>
            <p:cNvSpPr txBox="true">
              <a:spLocks noChangeArrowheads="true"/>
            </p:cNvSpPr>
            <p:nvPr/>
          </p:nvSpPr>
          <p:spPr bwMode="auto">
            <a:xfrm>
              <a:off x="1344" y="3531"/>
              <a:ext cx="1671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</a:pPr>
              <a:r>
                <a:rPr lang="en-US" altLang="zh-CN" sz="1800" b="false">
                  <a:solidFill>
                    <a:schemeClr val="tx2"/>
                  </a:solidFill>
                  <a:latin typeface="Helvetica" pitchFamily="34" charset="0"/>
                </a:rPr>
                <a:t>(Physical Page Number)</a:t>
              </a:r>
              <a:endParaRPr/>
            </a:p>
          </p:txBody>
        </p:sp>
        <p:sp>
          <p:nvSpPr>
            <p:cNvPr id="593" name="Text Box 100"/>
            <p:cNvSpPr txBox="true">
              <a:spLocks noChangeArrowheads="true"/>
            </p:cNvSpPr>
            <p:nvPr/>
          </p:nvSpPr>
          <p:spPr bwMode="auto">
            <a:xfrm>
              <a:off x="3191" y="3552"/>
              <a:ext cx="1543" cy="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30000"/>
                </a:spcBef>
              </a:pPr>
              <a:r>
                <a:rPr lang="en-US" altLang="zh-CN" sz="1800" b="false">
                  <a:solidFill>
                    <a:schemeClr val="tx2"/>
                  </a:solidFill>
                  <a:latin typeface="Helvetica" pitchFamily="34" charset="0"/>
                </a:rPr>
                <a:t>(Physical Page Offset)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p="http://schemas.openxmlformats.org/presentationml/2006/main" xmlns:a16="http://schemas.microsoft.com/office/drawing/2014/main" xmlns:a="http://schemas.openxmlformats.org/drawingml/2006/main" xmlns:mc="http://schemas.openxmlformats.org/markup-compatibility/2006" mc:Ignorable="a16">
  <p:cSld>
    <p:spTree>
      <p:nvGrpSpPr>
        <p:cNvPr id="5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灯片编号占位符 6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5313FA56-C49C-BE46-B6A1-8C003C913F75}" type="slidenum">
              <a:rPr lang="zh-CN" altLang="en-US" sz="1400" b="false">
                <a:latin typeface="Times New Roman" panose="02020603050405020304" charset="0"/>
              </a:rPr>
              <a:t>50</a:t>
            </a:fld>
            <a:endParaRPr lang="en-US" altLang="zh-CN" sz="1400" b="false">
              <a:latin typeface="Times New Roman" panose="02020603050405020304" charset="0"/>
            </a:endParaRPr>
          </a:p>
        </p:txBody>
      </p:sp>
      <p:sp>
        <p:nvSpPr>
          <p:cNvPr id="596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Simple Memory System Page Table</a:t>
            </a:r>
            <a:endParaRPr/>
          </a:p>
        </p:txBody>
      </p:sp>
      <p:sp>
        <p:nvSpPr>
          <p:cNvPr id="597" name="Rectangle 3"/>
          <p:cNvSpPr>
            <a:spLocks noGrp="true" noChangeArrowheads="true"/>
          </p:cNvSpPr>
          <p:nvPr>
            <p:ph type="body" sz="half" idx="1"/>
          </p:nvPr>
        </p:nvSpPr>
        <p:spPr>
          <a:xfrm>
            <a:off x="457200" y="1600200"/>
            <a:ext cx="7543800" cy="533400"/>
          </a:xfrm>
        </p:spPr>
        <p:txBody>
          <a:bodyPr/>
          <a:lstStyle/>
          <a:p>
            <a:pPr/>
            <a:r>
              <a:rPr kumimoji="false" lang="en-US" altLang="zh-CN" sz="2400">
                <a:ea typeface="宋体" charset="-122"/>
              </a:rPr>
              <a:t>Only show first 16 entries</a:t>
            </a:r>
            <a:endParaRPr kumimoji="false" lang="zh-CN" altLang="en-US" sz="2400">
              <a:ea typeface="宋体" charset="-122"/>
            </a:endParaRPr>
          </a:p>
        </p:txBody>
      </p:sp>
      <p:graphicFrame>
        <p:nvGraphicFramePr>
          <p:cNvPr id="598" name="Group 177"/>
          <p:cNvGraphicFramePr/>
          <p:nvPr>
            <p:ph sz="half" idx="2"/>
          </p:nvPr>
        </p:nvGraphicFramePr>
        <p:xfrm>
          <a:off x="533400" y="2590800"/>
          <a:ext cx="3795713" cy="3378201"/>
        </p:xfrm>
        <a:graphic>
          <a:graphicData uri="http://schemas.openxmlformats.org/drawingml/2006/table">
            <a:tbl>
              <a:tblPr/>
              <a:tblGrid>
                <a:gridCol w="1160463">
                  <a:extLst>
                    <a:ext uri="{9D8B030D-6E8A-4147-A177-3AD203B41FA5}">
                      <a16:colId val="1"/>
                    </a:ext>
                  </a:extLst>
                </a:gridCol>
                <a:gridCol w="1646237">
                  <a:extLst>
                    <a:ext uri="{9D8B030D-6E8A-4147-A177-3AD203B41FA5}">
                      <a16:colId val="2"/>
                    </a:ext>
                  </a:extLst>
                </a:gridCol>
                <a:gridCol w="989013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363538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endParaRPr kumimoji="false" lang="en-US" altLang="zh-CN" sz="1800" b="tru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charset="0"/>
                        <a:ea typeface="宋体" charset="-122"/>
                      </a:endParaRPr>
                    </a:p>
                  </a:txBody>
                  <a:tcPr marL="90487" marR="90487" marT="44458" marB="4445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PPN</a:t>
                      </a:r>
                      <a:endParaRPr/>
                    </a:p>
                  </a:txBody>
                  <a:tcPr marL="90487" marR="90487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Valid</a:t>
                      </a:r>
                      <a:endParaRPr/>
                    </a:p>
                  </a:txBody>
                  <a:tcPr marL="90487" marR="90487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363538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00</a:t>
                      </a:r>
                      <a:endParaRPr/>
                    </a:p>
                  </a:txBody>
                  <a:tcPr marL="90487" marR="90487" marT="44458" marB="4445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28</a:t>
                      </a:r>
                      <a:endParaRPr/>
                    </a:p>
                  </a:txBody>
                  <a:tcPr marL="90487" marR="90487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</a:t>
                      </a:r>
                      <a:endParaRPr/>
                    </a:p>
                  </a:txBody>
                  <a:tcPr marL="90487" marR="90487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365125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01</a:t>
                      </a:r>
                      <a:endParaRPr/>
                    </a:p>
                  </a:txBody>
                  <a:tcPr marL="90487" marR="90487" marT="44458" marB="4445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</a:t>
                      </a:r>
                      <a:endParaRPr/>
                    </a:p>
                  </a:txBody>
                  <a:tcPr marL="90487" marR="90487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381000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02</a:t>
                      </a:r>
                      <a:endParaRPr/>
                    </a:p>
                  </a:txBody>
                  <a:tcPr marL="90487" marR="90487" marT="44458" marB="4445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33</a:t>
                      </a:r>
                      <a:endParaRPr/>
                    </a:p>
                  </a:txBody>
                  <a:tcPr marL="90487" marR="90487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</a:t>
                      </a:r>
                      <a:endParaRPr/>
                    </a:p>
                  </a:txBody>
                  <a:tcPr marL="90487" marR="90487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381000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03</a:t>
                      </a:r>
                      <a:endParaRPr/>
                    </a:p>
                  </a:txBody>
                  <a:tcPr marL="90487" marR="90487" marT="44458" marB="4445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02</a:t>
                      </a:r>
                      <a:endParaRPr/>
                    </a:p>
                  </a:txBody>
                  <a:tcPr marL="90487" marR="90487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</a:t>
                      </a:r>
                      <a:endParaRPr/>
                    </a:p>
                  </a:txBody>
                  <a:tcPr marL="90487" marR="90487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381000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04</a:t>
                      </a:r>
                      <a:endParaRPr/>
                    </a:p>
                  </a:txBody>
                  <a:tcPr marL="90487" marR="90487" marT="44458" marB="4445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</a:t>
                      </a:r>
                      <a:endParaRPr/>
                    </a:p>
                  </a:txBody>
                  <a:tcPr marL="90487" marR="90487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381000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05</a:t>
                      </a:r>
                      <a:endParaRPr/>
                    </a:p>
                  </a:txBody>
                  <a:tcPr marL="90487" marR="90487" marT="44458" marB="4445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16</a:t>
                      </a:r>
                      <a:endParaRPr/>
                    </a:p>
                  </a:txBody>
                  <a:tcPr marL="90487" marR="90487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</a:t>
                      </a:r>
                      <a:endParaRPr/>
                    </a:p>
                  </a:txBody>
                  <a:tcPr marL="90487" marR="90487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  <a:tr h="381000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06</a:t>
                      </a:r>
                      <a:endParaRPr/>
                    </a:p>
                  </a:txBody>
                  <a:tcPr marL="90487" marR="90487" marT="44458" marB="4445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</a:t>
                      </a:r>
                      <a:endParaRPr/>
                    </a:p>
                  </a:txBody>
                  <a:tcPr marL="90487" marR="90487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val="8"/>
                  </a:ext>
                </a:extLst>
              </a:tr>
              <a:tr h="381000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07</a:t>
                      </a:r>
                      <a:endParaRPr/>
                    </a:p>
                  </a:txBody>
                  <a:tcPr marL="90487" marR="90487" marT="44458" marB="4445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</a:t>
                      </a:r>
                      <a:endParaRPr/>
                    </a:p>
                  </a:txBody>
                  <a:tcPr marL="90487" marR="90487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val="9"/>
                  </a:ext>
                </a:extLst>
              </a:tr>
            </a:tbl>
          </a:graphicData>
        </a:graphic>
      </p:graphicFrame>
      <p:graphicFrame>
        <p:nvGraphicFramePr>
          <p:cNvPr id="599" name="表格 1"/>
          <p:cNvGraphicFramePr/>
          <p:nvPr/>
        </p:nvGraphicFramePr>
        <p:xfrm>
          <a:off x="5199063" y="2590800"/>
          <a:ext cx="3563937" cy="3378201"/>
        </p:xfrm>
        <a:graphic>
          <a:graphicData uri="http://schemas.openxmlformats.org/drawingml/2006/table">
            <a:tbl>
              <a:tblPr/>
              <a:tblGrid>
                <a:gridCol w="969962">
                  <a:extLst>
                    <a:ext uri="{9D8B030D-6E8A-4147-A177-3AD203B41FA5}">
                      <a16:colId val="1"/>
                    </a:ext>
                  </a:extLst>
                </a:gridCol>
                <a:gridCol w="1466850">
                  <a:extLst>
                    <a:ext uri="{9D8B030D-6E8A-4147-A177-3AD203B41FA5}">
                      <a16:colId val="2"/>
                    </a:ext>
                  </a:extLst>
                </a:gridCol>
                <a:gridCol w="1127125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363538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endParaRPr kumimoji="false" lang="en-US" altLang="zh-CN" sz="1800" b="tru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charset="0"/>
                        <a:ea typeface="宋体" charset="-122"/>
                      </a:endParaRPr>
                    </a:p>
                  </a:txBody>
                  <a:tcPr marL="90499" marR="90499" marT="44458" marB="4445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PPN</a:t>
                      </a:r>
                      <a:endParaRPr/>
                    </a:p>
                  </a:txBody>
                  <a:tcPr marL="90499" marR="90499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Valid</a:t>
                      </a:r>
                      <a:endParaRPr/>
                    </a:p>
                  </a:txBody>
                  <a:tcPr marL="90499" marR="90499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363538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08</a:t>
                      </a:r>
                      <a:endParaRPr/>
                    </a:p>
                  </a:txBody>
                  <a:tcPr marL="90499" marR="90499" marT="44458" marB="4445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13</a:t>
                      </a:r>
                      <a:endParaRPr/>
                    </a:p>
                  </a:txBody>
                  <a:tcPr marL="90499" marR="90499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</a:t>
                      </a:r>
                      <a:endParaRPr/>
                    </a:p>
                  </a:txBody>
                  <a:tcPr marL="90499" marR="90499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365125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09</a:t>
                      </a:r>
                      <a:endParaRPr/>
                    </a:p>
                  </a:txBody>
                  <a:tcPr marL="90499" marR="90499" marT="44458" marB="4445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17</a:t>
                      </a:r>
                      <a:endParaRPr/>
                    </a:p>
                  </a:txBody>
                  <a:tcPr marL="90499" marR="90499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</a:t>
                      </a:r>
                      <a:endParaRPr/>
                    </a:p>
                  </a:txBody>
                  <a:tcPr marL="90499" marR="90499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381000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0A</a:t>
                      </a:r>
                      <a:endParaRPr/>
                    </a:p>
                  </a:txBody>
                  <a:tcPr marL="90499" marR="90499" marT="44458" marB="4445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09</a:t>
                      </a:r>
                      <a:endParaRPr/>
                    </a:p>
                  </a:txBody>
                  <a:tcPr marL="90499" marR="90499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</a:t>
                      </a:r>
                      <a:endParaRPr/>
                    </a:p>
                  </a:txBody>
                  <a:tcPr marL="90499" marR="90499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381000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0B</a:t>
                      </a:r>
                      <a:endParaRPr/>
                    </a:p>
                  </a:txBody>
                  <a:tcPr marL="90499" marR="90499" marT="44458" marB="4445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99" marR="90499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</a:t>
                      </a:r>
                      <a:endParaRPr/>
                    </a:p>
                  </a:txBody>
                  <a:tcPr marL="90499" marR="90499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381000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0C</a:t>
                      </a:r>
                      <a:endParaRPr/>
                    </a:p>
                  </a:txBody>
                  <a:tcPr marL="90499" marR="90499" marT="44458" marB="4445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99" marR="90499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</a:t>
                      </a:r>
                      <a:endParaRPr/>
                    </a:p>
                  </a:txBody>
                  <a:tcPr marL="90499" marR="90499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381000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0D</a:t>
                      </a:r>
                      <a:endParaRPr/>
                    </a:p>
                  </a:txBody>
                  <a:tcPr marL="90499" marR="90499" marT="44458" marB="4445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2D</a:t>
                      </a:r>
                      <a:endParaRPr/>
                    </a:p>
                  </a:txBody>
                  <a:tcPr marL="90499" marR="90499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</a:t>
                      </a:r>
                      <a:endParaRPr/>
                    </a:p>
                  </a:txBody>
                  <a:tcPr marL="90499" marR="90499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  <a:tr h="381000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0E</a:t>
                      </a:r>
                      <a:endParaRPr/>
                    </a:p>
                  </a:txBody>
                  <a:tcPr marL="90499" marR="90499" marT="44458" marB="4445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11</a:t>
                      </a:r>
                      <a:endParaRPr/>
                    </a:p>
                  </a:txBody>
                  <a:tcPr marL="90499" marR="90499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</a:t>
                      </a:r>
                      <a:endParaRPr/>
                    </a:p>
                  </a:txBody>
                  <a:tcPr marL="90499" marR="90499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val="8"/>
                  </a:ext>
                </a:extLst>
              </a:tr>
              <a:tr h="381000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0F</a:t>
                      </a:r>
                      <a:endParaRPr/>
                    </a:p>
                  </a:txBody>
                  <a:tcPr marL="90499" marR="90499" marT="44458" marB="4445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0D</a:t>
                      </a:r>
                      <a:endParaRPr/>
                    </a:p>
                  </a:txBody>
                  <a:tcPr marL="90499" marR="90499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</a:t>
                      </a:r>
                      <a:endParaRPr/>
                    </a:p>
                  </a:txBody>
                  <a:tcPr marL="90499" marR="90499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val="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>
  <p:cSld>
    <p:spTree>
      <p:nvGrpSpPr>
        <p:cNvPr id="6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88D54820-4502-E64C-A4F1-BB6359C4505A}" type="slidenum">
              <a:rPr lang="zh-CN" altLang="en-US" sz="1400" b="false">
                <a:latin typeface="Times New Roman" panose="02020603050405020304" charset="0"/>
              </a:rPr>
              <a:t>51</a:t>
            </a:fld>
            <a:endParaRPr lang="en-US" altLang="zh-CN" sz="1400" b="false">
              <a:latin typeface="Times New Roman" panose="02020603050405020304" charset="0"/>
            </a:endParaRPr>
          </a:p>
        </p:txBody>
      </p:sp>
      <p:sp>
        <p:nvSpPr>
          <p:cNvPr id="602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>
                <a:latin typeface="Comic Sans MS"/>
                <a:ea typeface="宋体"/>
                <a:cs typeface="宋体"/>
              </a:rPr>
              <a:t>课堂</a:t>
            </a:r>
            <a:r>
              <a:rPr lang="en-US">
                <a:latin typeface="Comic Sans MS"/>
                <a:ea typeface="宋体"/>
                <a:cs typeface="宋体"/>
              </a:rPr>
              <a:t>练习</a:t>
            </a:r>
            <a:r>
              <a:rPr lang="en-US">
                <a:latin typeface="Comic Sans MS"/>
                <a:ea typeface="宋体"/>
                <a:cs typeface="宋体"/>
              </a:rPr>
              <a:t>：</a:t>
            </a:r>
            <a:r>
              <a:rPr lang="en-US">
                <a:latin typeface="Comic Sans MS"/>
                <a:ea typeface="宋体"/>
                <a:cs typeface="宋体"/>
              </a:rPr>
              <a:t>Address Translation</a:t>
            </a:r>
            <a:endParaRPr/>
          </a:p>
        </p:txBody>
      </p:sp>
      <p:sp>
        <p:nvSpPr>
          <p:cNvPr id="603" name="Rectangle 102"/>
          <p:cNvSpPr>
            <a:spLocks noChangeArrowheads="true"/>
          </p:cNvSpPr>
          <p:nvPr/>
        </p:nvSpPr>
        <p:spPr bwMode="auto">
          <a:xfrm>
            <a:off x="644525" y="1524000"/>
            <a:ext cx="3200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r>
              <a:rPr lang="en-US" altLang="zh-CN" b="false"/>
              <a:t>Virtual Address: 0x</a:t>
            </a:r>
            <a:r>
              <a:rPr lang="en-US" altLang="zh-CN" b="false">
                <a:solidFill>
                  <a:srgbClr val="FF0000"/>
                </a:solidFill>
              </a:rPr>
              <a:t>0</a:t>
            </a:r>
            <a:r>
              <a:rPr lang="en-US" altLang="zh-CN" b="false">
                <a:solidFill>
                  <a:srgbClr val="00B0F0"/>
                </a:solidFill>
              </a:rPr>
              <a:t>3</a:t>
            </a:r>
            <a:r>
              <a:rPr lang="en-US" altLang="zh-CN" b="false">
                <a:solidFill>
                  <a:srgbClr val="FFC000"/>
                </a:solidFill>
              </a:rPr>
              <a:t>D</a:t>
            </a:r>
            <a:r>
              <a:rPr lang="en-US" altLang="zh-CN" b="false">
                <a:solidFill>
                  <a:srgbClr val="00B050"/>
                </a:solidFill>
              </a:rPr>
              <a:t>4</a:t>
            </a:r>
            <a:endParaRPr lang="zh-CN" altLang="en-US" b="false">
              <a:solidFill>
                <a:srgbClr val="00B050"/>
              </a:solidFill>
            </a:endParaRPr>
          </a:p>
        </p:txBody>
      </p:sp>
      <p:grpSp>
        <p:nvGrpSpPr>
          <p:cNvPr id="604" name="Group 106"/>
          <p:cNvGrpSpPr/>
          <p:nvPr/>
        </p:nvGrpSpPr>
        <p:grpSpPr>
          <a:xfrm>
            <a:off x="796925" y="1941513"/>
            <a:ext cx="487363" cy="609600"/>
            <a:chOff x="629" y="1176"/>
            <a:chExt cx="307" cy="384"/>
          </a:xfrm>
          <a:noFill/>
        </p:grpSpPr>
        <p:sp>
          <p:nvSpPr>
            <p:cNvPr id="605" name="Rectangle 107"/>
            <p:cNvSpPr>
              <a:spLocks noChangeArrowheads="true"/>
            </p:cNvSpPr>
            <p:nvPr/>
          </p:nvSpPr>
          <p:spPr bwMode="auto">
            <a:xfrm>
              <a:off x="629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90000"/>
                </a:lnSpc>
                <a:spcBef>
                  <a:spcPct val="30000"/>
                </a:spcBef>
                <a:defRPr/>
              </a:pPr>
              <a:endParaRPr lang="zh-CN" altLang="en-US" sz="1800">
                <a:solidFill>
                  <a:schemeClr val="tx2"/>
                </a:solidFill>
                <a:latin typeface="Helvetica" pitchFamily="34" charset="0"/>
                <a:ea typeface="宋体" charset="-122"/>
              </a:endParaRPr>
            </a:p>
          </p:txBody>
        </p:sp>
        <p:sp>
          <p:nvSpPr>
            <p:cNvPr id="606" name="Rectangle 108"/>
            <p:cNvSpPr>
              <a:spLocks noChangeArrowheads="true"/>
            </p:cNvSpPr>
            <p:nvPr/>
          </p:nvSpPr>
          <p:spPr bwMode="auto">
            <a:xfrm>
              <a:off x="629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90000"/>
                </a:lnSpc>
                <a:spcBef>
                  <a:spcPct val="30000"/>
                </a:spcBef>
                <a:defRPr/>
              </a:pPr>
              <a:r>
                <a:rPr lang="en-US" altLang="zh-CN" sz="1400">
                  <a:solidFill>
                    <a:schemeClr val="tx2"/>
                  </a:solidFill>
                  <a:latin typeface="Helvetica" pitchFamily="34" charset="0"/>
                  <a:ea typeface="宋体" charset="-122"/>
                </a:rPr>
                <a:t>13</a:t>
              </a:r>
              <a:endParaRPr/>
            </a:p>
          </p:txBody>
        </p:sp>
      </p:grpSp>
      <p:grpSp>
        <p:nvGrpSpPr>
          <p:cNvPr id="607" name="Group 109"/>
          <p:cNvGrpSpPr/>
          <p:nvPr/>
        </p:nvGrpSpPr>
        <p:grpSpPr>
          <a:xfrm>
            <a:off x="1284288" y="1941513"/>
            <a:ext cx="487363" cy="609600"/>
            <a:chOff x="936" y="1176"/>
            <a:chExt cx="307" cy="384"/>
          </a:xfrm>
          <a:noFill/>
        </p:grpSpPr>
        <p:sp>
          <p:nvSpPr>
            <p:cNvPr id="608" name="Rectangle 110"/>
            <p:cNvSpPr>
              <a:spLocks noChangeArrowheads="true"/>
            </p:cNvSpPr>
            <p:nvPr/>
          </p:nvSpPr>
          <p:spPr bwMode="auto">
            <a:xfrm>
              <a:off x="936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90000"/>
                </a:lnSpc>
                <a:spcBef>
                  <a:spcPct val="30000"/>
                </a:spcBef>
                <a:defRPr/>
              </a:pPr>
              <a:endParaRPr lang="zh-CN" altLang="en-US" sz="1800">
                <a:solidFill>
                  <a:schemeClr val="tx2"/>
                </a:solidFill>
                <a:latin typeface="Helvetica" pitchFamily="34" charset="0"/>
                <a:ea typeface="宋体" charset="-122"/>
              </a:endParaRPr>
            </a:p>
          </p:txBody>
        </p:sp>
        <p:sp>
          <p:nvSpPr>
            <p:cNvPr id="609" name="Rectangle 111"/>
            <p:cNvSpPr>
              <a:spLocks noChangeArrowheads="true"/>
            </p:cNvSpPr>
            <p:nvPr/>
          </p:nvSpPr>
          <p:spPr bwMode="auto">
            <a:xfrm>
              <a:off x="936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90000"/>
                </a:lnSpc>
                <a:spcBef>
                  <a:spcPct val="30000"/>
                </a:spcBef>
                <a:defRPr/>
              </a:pPr>
              <a:r>
                <a:rPr lang="en-US" altLang="zh-CN" sz="1400">
                  <a:solidFill>
                    <a:schemeClr val="tx2"/>
                  </a:solidFill>
                  <a:latin typeface="Helvetica" pitchFamily="34" charset="0"/>
                  <a:ea typeface="宋体" charset="-122"/>
                </a:rPr>
                <a:t>12</a:t>
              </a:r>
              <a:endParaRPr/>
            </a:p>
          </p:txBody>
        </p:sp>
      </p:grpSp>
      <p:grpSp>
        <p:nvGrpSpPr>
          <p:cNvPr id="610" name="Group 112"/>
          <p:cNvGrpSpPr/>
          <p:nvPr/>
        </p:nvGrpSpPr>
        <p:grpSpPr>
          <a:xfrm>
            <a:off x="1771650" y="1941513"/>
            <a:ext cx="487363" cy="609600"/>
            <a:chOff x="1243" y="1176"/>
            <a:chExt cx="307" cy="384"/>
          </a:xfrm>
          <a:noFill/>
        </p:grpSpPr>
        <p:sp>
          <p:nvSpPr>
            <p:cNvPr id="611" name="Rectangle 113"/>
            <p:cNvSpPr>
              <a:spLocks noChangeArrowheads="true"/>
            </p:cNvSpPr>
            <p:nvPr/>
          </p:nvSpPr>
          <p:spPr bwMode="auto">
            <a:xfrm>
              <a:off x="1243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90000"/>
                </a:lnSpc>
                <a:spcBef>
                  <a:spcPct val="30000"/>
                </a:spcBef>
                <a:defRPr/>
              </a:pPr>
              <a:endParaRPr lang="zh-CN" altLang="en-US" sz="1800">
                <a:solidFill>
                  <a:schemeClr val="tx2"/>
                </a:solidFill>
                <a:latin typeface="Helvetica" pitchFamily="34" charset="0"/>
                <a:ea typeface="宋体" charset="-122"/>
              </a:endParaRPr>
            </a:p>
          </p:txBody>
        </p:sp>
        <p:sp>
          <p:nvSpPr>
            <p:cNvPr id="612" name="Rectangle 114"/>
            <p:cNvSpPr>
              <a:spLocks noChangeArrowheads="true"/>
            </p:cNvSpPr>
            <p:nvPr/>
          </p:nvSpPr>
          <p:spPr bwMode="auto">
            <a:xfrm>
              <a:off x="1243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90000"/>
                </a:lnSpc>
                <a:spcBef>
                  <a:spcPct val="30000"/>
                </a:spcBef>
                <a:defRPr/>
              </a:pPr>
              <a:r>
                <a:rPr lang="en-US" altLang="zh-CN" sz="1400">
                  <a:solidFill>
                    <a:schemeClr val="tx2"/>
                  </a:solidFill>
                  <a:latin typeface="Helvetica" pitchFamily="34" charset="0"/>
                  <a:ea typeface="宋体" charset="-122"/>
                </a:rPr>
                <a:t>11</a:t>
              </a:r>
              <a:endParaRPr/>
            </a:p>
          </p:txBody>
        </p:sp>
      </p:grpSp>
      <p:grpSp>
        <p:nvGrpSpPr>
          <p:cNvPr id="613" name="Group 115"/>
          <p:cNvGrpSpPr/>
          <p:nvPr/>
        </p:nvGrpSpPr>
        <p:grpSpPr>
          <a:xfrm>
            <a:off x="2259013" y="1941513"/>
            <a:ext cx="487363" cy="609600"/>
            <a:chOff x="1550" y="1176"/>
            <a:chExt cx="307" cy="384"/>
          </a:xfrm>
          <a:noFill/>
        </p:grpSpPr>
        <p:sp>
          <p:nvSpPr>
            <p:cNvPr id="614" name="Rectangle 116"/>
            <p:cNvSpPr>
              <a:spLocks noChangeArrowheads="true"/>
            </p:cNvSpPr>
            <p:nvPr/>
          </p:nvSpPr>
          <p:spPr bwMode="auto">
            <a:xfrm>
              <a:off x="1550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/>
            <a:p>
              <a:pPr>
                <a:defRPr/>
              </a:pPr>
              <a:endParaRPr lang="zh-CN" altLang="en-US">
                <a:latin typeface="Comic Sans MS" panose="030F0902030302020204" charset="0"/>
                <a:ea typeface="宋体" charset="-122"/>
              </a:endParaRPr>
            </a:p>
          </p:txBody>
        </p:sp>
        <p:sp>
          <p:nvSpPr>
            <p:cNvPr id="615" name="Rectangle 117"/>
            <p:cNvSpPr>
              <a:spLocks noChangeArrowheads="true"/>
            </p:cNvSpPr>
            <p:nvPr/>
          </p:nvSpPr>
          <p:spPr bwMode="auto">
            <a:xfrm>
              <a:off x="1550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90000"/>
                </a:lnSpc>
                <a:spcBef>
                  <a:spcPct val="30000"/>
                </a:spcBef>
                <a:defRPr/>
              </a:pPr>
              <a:r>
                <a:rPr lang="en-US" altLang="zh-CN" sz="1400">
                  <a:solidFill>
                    <a:schemeClr val="tx2"/>
                  </a:solidFill>
                  <a:latin typeface="Helvetica" pitchFamily="34" charset="0"/>
                  <a:ea typeface="宋体" charset="-122"/>
                </a:rPr>
                <a:t>10</a:t>
              </a:r>
              <a:endParaRPr/>
            </a:p>
          </p:txBody>
        </p:sp>
      </p:grpSp>
      <p:grpSp>
        <p:nvGrpSpPr>
          <p:cNvPr id="616" name="Group 118"/>
          <p:cNvGrpSpPr/>
          <p:nvPr/>
        </p:nvGrpSpPr>
        <p:grpSpPr>
          <a:xfrm>
            <a:off x="2746375" y="1941513"/>
            <a:ext cx="487363" cy="609600"/>
            <a:chOff x="1857" y="1176"/>
            <a:chExt cx="307" cy="384"/>
          </a:xfrm>
          <a:noFill/>
        </p:grpSpPr>
        <p:sp>
          <p:nvSpPr>
            <p:cNvPr id="617" name="Rectangle 119"/>
            <p:cNvSpPr>
              <a:spLocks noChangeArrowheads="true"/>
            </p:cNvSpPr>
            <p:nvPr/>
          </p:nvSpPr>
          <p:spPr bwMode="auto">
            <a:xfrm>
              <a:off x="1857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/>
            <a:p>
              <a:pPr>
                <a:defRPr/>
              </a:pPr>
              <a:endParaRPr lang="zh-CN" altLang="en-US">
                <a:latin typeface="Comic Sans MS" panose="030F0902030302020204" charset="0"/>
                <a:ea typeface="宋体" charset="-122"/>
              </a:endParaRPr>
            </a:p>
          </p:txBody>
        </p:sp>
        <p:sp>
          <p:nvSpPr>
            <p:cNvPr id="618" name="Rectangle 120"/>
            <p:cNvSpPr>
              <a:spLocks noChangeArrowheads="true"/>
            </p:cNvSpPr>
            <p:nvPr/>
          </p:nvSpPr>
          <p:spPr bwMode="auto">
            <a:xfrm>
              <a:off x="1857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90000"/>
                </a:lnSpc>
                <a:spcBef>
                  <a:spcPct val="30000"/>
                </a:spcBef>
                <a:defRPr/>
              </a:pPr>
              <a:r>
                <a:rPr lang="en-US" altLang="zh-CN" sz="1400">
                  <a:solidFill>
                    <a:schemeClr val="tx2"/>
                  </a:solidFill>
                  <a:latin typeface="Helvetica" pitchFamily="34" charset="0"/>
                  <a:ea typeface="宋体" charset="-122"/>
                </a:rPr>
                <a:t>9</a:t>
              </a:r>
              <a:endParaRPr/>
            </a:p>
          </p:txBody>
        </p:sp>
      </p:grpSp>
      <p:grpSp>
        <p:nvGrpSpPr>
          <p:cNvPr id="619" name="Group 121"/>
          <p:cNvGrpSpPr/>
          <p:nvPr/>
        </p:nvGrpSpPr>
        <p:grpSpPr>
          <a:xfrm>
            <a:off x="3233738" y="1941513"/>
            <a:ext cx="487363" cy="609600"/>
            <a:chOff x="2164" y="1176"/>
            <a:chExt cx="307" cy="384"/>
          </a:xfrm>
          <a:noFill/>
        </p:grpSpPr>
        <p:sp>
          <p:nvSpPr>
            <p:cNvPr id="620" name="Rectangle 122"/>
            <p:cNvSpPr>
              <a:spLocks noChangeArrowheads="true"/>
            </p:cNvSpPr>
            <p:nvPr/>
          </p:nvSpPr>
          <p:spPr bwMode="auto">
            <a:xfrm>
              <a:off x="2164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/>
            <a:p>
              <a:pPr>
                <a:defRPr/>
              </a:pPr>
              <a:endParaRPr lang="zh-CN" altLang="en-US">
                <a:latin typeface="Comic Sans MS" panose="030F0902030302020204" charset="0"/>
                <a:ea typeface="宋体" charset="-122"/>
              </a:endParaRPr>
            </a:p>
          </p:txBody>
        </p:sp>
        <p:sp>
          <p:nvSpPr>
            <p:cNvPr id="621" name="Rectangle 123"/>
            <p:cNvSpPr>
              <a:spLocks noChangeArrowheads="true"/>
            </p:cNvSpPr>
            <p:nvPr/>
          </p:nvSpPr>
          <p:spPr bwMode="auto">
            <a:xfrm>
              <a:off x="2164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90000"/>
                </a:lnSpc>
                <a:spcBef>
                  <a:spcPct val="30000"/>
                </a:spcBef>
                <a:defRPr/>
              </a:pPr>
              <a:r>
                <a:rPr lang="en-US" altLang="zh-CN" sz="1400">
                  <a:solidFill>
                    <a:schemeClr val="tx2"/>
                  </a:solidFill>
                  <a:latin typeface="Helvetica" pitchFamily="34" charset="0"/>
                  <a:ea typeface="宋体" charset="-122"/>
                </a:rPr>
                <a:t>8</a:t>
              </a:r>
              <a:endParaRPr/>
            </a:p>
          </p:txBody>
        </p:sp>
      </p:grpSp>
      <p:grpSp>
        <p:nvGrpSpPr>
          <p:cNvPr id="622" name="Group 124"/>
          <p:cNvGrpSpPr/>
          <p:nvPr/>
        </p:nvGrpSpPr>
        <p:grpSpPr>
          <a:xfrm>
            <a:off x="3721100" y="1941513"/>
            <a:ext cx="487363" cy="609600"/>
            <a:chOff x="2471" y="1176"/>
            <a:chExt cx="307" cy="384"/>
          </a:xfrm>
          <a:noFill/>
        </p:grpSpPr>
        <p:sp>
          <p:nvSpPr>
            <p:cNvPr id="623" name="Rectangle 125"/>
            <p:cNvSpPr>
              <a:spLocks noChangeArrowheads="true"/>
            </p:cNvSpPr>
            <p:nvPr/>
          </p:nvSpPr>
          <p:spPr bwMode="auto">
            <a:xfrm>
              <a:off x="2471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/>
            <a:p>
              <a:pPr>
                <a:defRPr/>
              </a:pPr>
              <a:endParaRPr lang="zh-CN" altLang="en-US">
                <a:latin typeface="Comic Sans MS" panose="030F0902030302020204" charset="0"/>
                <a:ea typeface="宋体" charset="-122"/>
              </a:endParaRPr>
            </a:p>
          </p:txBody>
        </p:sp>
        <p:sp>
          <p:nvSpPr>
            <p:cNvPr id="624" name="Rectangle 126"/>
            <p:cNvSpPr>
              <a:spLocks noChangeArrowheads="true"/>
            </p:cNvSpPr>
            <p:nvPr/>
          </p:nvSpPr>
          <p:spPr bwMode="auto">
            <a:xfrm>
              <a:off x="2471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90000"/>
                </a:lnSpc>
                <a:spcBef>
                  <a:spcPct val="30000"/>
                </a:spcBef>
                <a:defRPr/>
              </a:pPr>
              <a:r>
                <a:rPr lang="en-US" altLang="zh-CN" sz="1400">
                  <a:solidFill>
                    <a:schemeClr val="tx2"/>
                  </a:solidFill>
                  <a:latin typeface="Helvetica" pitchFamily="34" charset="0"/>
                  <a:ea typeface="宋体" charset="-122"/>
                </a:rPr>
                <a:t>7</a:t>
              </a:r>
              <a:endParaRPr/>
            </a:p>
          </p:txBody>
        </p:sp>
      </p:grpSp>
      <p:grpSp>
        <p:nvGrpSpPr>
          <p:cNvPr id="625" name="Group 127"/>
          <p:cNvGrpSpPr/>
          <p:nvPr/>
        </p:nvGrpSpPr>
        <p:grpSpPr>
          <a:xfrm>
            <a:off x="4208463" y="1941513"/>
            <a:ext cx="487363" cy="609600"/>
            <a:chOff x="2778" y="1176"/>
            <a:chExt cx="307" cy="384"/>
          </a:xfrm>
          <a:noFill/>
        </p:grpSpPr>
        <p:sp>
          <p:nvSpPr>
            <p:cNvPr id="626" name="Rectangle 128"/>
            <p:cNvSpPr>
              <a:spLocks noChangeArrowheads="true"/>
            </p:cNvSpPr>
            <p:nvPr/>
          </p:nvSpPr>
          <p:spPr bwMode="auto">
            <a:xfrm>
              <a:off x="2778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/>
            <a:p>
              <a:pPr>
                <a:defRPr/>
              </a:pPr>
              <a:endParaRPr lang="zh-CN" altLang="en-US">
                <a:latin typeface="Comic Sans MS" panose="030F0902030302020204" charset="0"/>
                <a:ea typeface="宋体" charset="-122"/>
              </a:endParaRPr>
            </a:p>
          </p:txBody>
        </p:sp>
        <p:sp>
          <p:nvSpPr>
            <p:cNvPr id="627" name="Rectangle 129"/>
            <p:cNvSpPr>
              <a:spLocks noChangeArrowheads="true"/>
            </p:cNvSpPr>
            <p:nvPr/>
          </p:nvSpPr>
          <p:spPr bwMode="auto">
            <a:xfrm>
              <a:off x="2778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90000"/>
                </a:lnSpc>
                <a:spcBef>
                  <a:spcPct val="30000"/>
                </a:spcBef>
                <a:defRPr/>
              </a:pPr>
              <a:r>
                <a:rPr lang="en-US" altLang="zh-CN" sz="1400">
                  <a:solidFill>
                    <a:schemeClr val="tx2"/>
                  </a:solidFill>
                  <a:latin typeface="Helvetica" pitchFamily="34" charset="0"/>
                  <a:ea typeface="宋体" charset="-122"/>
                </a:rPr>
                <a:t>6</a:t>
              </a:r>
              <a:endParaRPr/>
            </a:p>
          </p:txBody>
        </p:sp>
      </p:grpSp>
      <p:grpSp>
        <p:nvGrpSpPr>
          <p:cNvPr id="628" name="Group 130"/>
          <p:cNvGrpSpPr/>
          <p:nvPr/>
        </p:nvGrpSpPr>
        <p:grpSpPr>
          <a:xfrm>
            <a:off x="4695825" y="1941513"/>
            <a:ext cx="487363" cy="609600"/>
            <a:chOff x="3085" y="1176"/>
            <a:chExt cx="307" cy="384"/>
          </a:xfrm>
          <a:noFill/>
        </p:grpSpPr>
        <p:sp>
          <p:nvSpPr>
            <p:cNvPr id="629" name="Rectangle 131"/>
            <p:cNvSpPr>
              <a:spLocks noChangeArrowheads="true"/>
            </p:cNvSpPr>
            <p:nvPr/>
          </p:nvSpPr>
          <p:spPr bwMode="auto">
            <a:xfrm>
              <a:off x="3085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/>
            <a:p>
              <a:pPr>
                <a:defRPr/>
              </a:pPr>
              <a:endParaRPr lang="zh-CN" altLang="en-US">
                <a:latin typeface="Comic Sans MS" panose="030F0902030302020204" charset="0"/>
                <a:ea typeface="宋体" charset="-122"/>
              </a:endParaRPr>
            </a:p>
          </p:txBody>
        </p:sp>
        <p:sp>
          <p:nvSpPr>
            <p:cNvPr id="630" name="Rectangle 132"/>
            <p:cNvSpPr>
              <a:spLocks noChangeArrowheads="true"/>
            </p:cNvSpPr>
            <p:nvPr/>
          </p:nvSpPr>
          <p:spPr bwMode="auto">
            <a:xfrm>
              <a:off x="3085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90000"/>
                </a:lnSpc>
                <a:spcBef>
                  <a:spcPct val="30000"/>
                </a:spcBef>
                <a:defRPr/>
              </a:pPr>
              <a:r>
                <a:rPr lang="en-US" altLang="zh-CN" sz="1400">
                  <a:solidFill>
                    <a:schemeClr val="tx2"/>
                  </a:solidFill>
                  <a:latin typeface="Helvetica" pitchFamily="34" charset="0"/>
                  <a:ea typeface="宋体" charset="-122"/>
                </a:rPr>
                <a:t>5</a:t>
              </a:r>
              <a:endParaRPr/>
            </a:p>
          </p:txBody>
        </p:sp>
      </p:grpSp>
      <p:grpSp>
        <p:nvGrpSpPr>
          <p:cNvPr id="631" name="Group 133"/>
          <p:cNvGrpSpPr/>
          <p:nvPr/>
        </p:nvGrpSpPr>
        <p:grpSpPr>
          <a:xfrm>
            <a:off x="5183188" y="1941513"/>
            <a:ext cx="487363" cy="609600"/>
            <a:chOff x="3392" y="1176"/>
            <a:chExt cx="307" cy="384"/>
          </a:xfrm>
          <a:noFill/>
        </p:grpSpPr>
        <p:sp>
          <p:nvSpPr>
            <p:cNvPr id="632" name="Rectangle 134"/>
            <p:cNvSpPr>
              <a:spLocks noChangeArrowheads="true"/>
            </p:cNvSpPr>
            <p:nvPr/>
          </p:nvSpPr>
          <p:spPr bwMode="auto">
            <a:xfrm>
              <a:off x="3392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/>
            <a:p>
              <a:pPr>
                <a:defRPr/>
              </a:pPr>
              <a:endParaRPr lang="zh-CN" altLang="en-US">
                <a:latin typeface="Comic Sans MS" panose="030F0902030302020204" charset="0"/>
                <a:ea typeface="宋体" charset="-122"/>
              </a:endParaRPr>
            </a:p>
          </p:txBody>
        </p:sp>
        <p:sp>
          <p:nvSpPr>
            <p:cNvPr id="633" name="Rectangle 135"/>
            <p:cNvSpPr>
              <a:spLocks noChangeArrowheads="true"/>
            </p:cNvSpPr>
            <p:nvPr/>
          </p:nvSpPr>
          <p:spPr bwMode="auto">
            <a:xfrm>
              <a:off x="3392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90000"/>
                </a:lnSpc>
                <a:spcBef>
                  <a:spcPct val="30000"/>
                </a:spcBef>
                <a:defRPr/>
              </a:pPr>
              <a:r>
                <a:rPr lang="en-US" altLang="zh-CN" sz="1400">
                  <a:solidFill>
                    <a:schemeClr val="tx2"/>
                  </a:solidFill>
                  <a:latin typeface="Helvetica" pitchFamily="34" charset="0"/>
                  <a:ea typeface="宋体" charset="-122"/>
                </a:rPr>
                <a:t>4</a:t>
              </a:r>
              <a:endParaRPr/>
            </a:p>
          </p:txBody>
        </p:sp>
      </p:grpSp>
      <p:grpSp>
        <p:nvGrpSpPr>
          <p:cNvPr id="634" name="Group 136"/>
          <p:cNvGrpSpPr/>
          <p:nvPr/>
        </p:nvGrpSpPr>
        <p:grpSpPr>
          <a:xfrm>
            <a:off x="5670550" y="1941513"/>
            <a:ext cx="487363" cy="609600"/>
            <a:chOff x="3699" y="1176"/>
            <a:chExt cx="307" cy="384"/>
          </a:xfrm>
          <a:noFill/>
        </p:grpSpPr>
        <p:sp>
          <p:nvSpPr>
            <p:cNvPr id="635" name="Rectangle 137"/>
            <p:cNvSpPr>
              <a:spLocks noChangeArrowheads="true"/>
            </p:cNvSpPr>
            <p:nvPr/>
          </p:nvSpPr>
          <p:spPr bwMode="auto">
            <a:xfrm>
              <a:off x="3699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/>
            <a:p>
              <a:pPr>
                <a:defRPr/>
              </a:pPr>
              <a:endParaRPr lang="zh-CN" altLang="en-US">
                <a:latin typeface="Comic Sans MS" panose="030F0902030302020204" charset="0"/>
                <a:ea typeface="宋体" charset="-122"/>
              </a:endParaRPr>
            </a:p>
          </p:txBody>
        </p:sp>
        <p:sp>
          <p:nvSpPr>
            <p:cNvPr id="636" name="Rectangle 138"/>
            <p:cNvSpPr>
              <a:spLocks noChangeArrowheads="true"/>
            </p:cNvSpPr>
            <p:nvPr/>
          </p:nvSpPr>
          <p:spPr bwMode="auto">
            <a:xfrm>
              <a:off x="3699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90000"/>
                </a:lnSpc>
                <a:spcBef>
                  <a:spcPct val="30000"/>
                </a:spcBef>
                <a:defRPr/>
              </a:pPr>
              <a:r>
                <a:rPr lang="en-US" altLang="zh-CN" sz="1400">
                  <a:solidFill>
                    <a:schemeClr val="tx2"/>
                  </a:solidFill>
                  <a:latin typeface="Helvetica" pitchFamily="34" charset="0"/>
                  <a:ea typeface="宋体" charset="-122"/>
                </a:rPr>
                <a:t>3</a:t>
              </a:r>
              <a:endParaRPr/>
            </a:p>
          </p:txBody>
        </p:sp>
      </p:grpSp>
      <p:grpSp>
        <p:nvGrpSpPr>
          <p:cNvPr id="637" name="Group 139"/>
          <p:cNvGrpSpPr/>
          <p:nvPr/>
        </p:nvGrpSpPr>
        <p:grpSpPr>
          <a:xfrm>
            <a:off x="6157913" y="1941513"/>
            <a:ext cx="487363" cy="609600"/>
            <a:chOff x="4006" y="1176"/>
            <a:chExt cx="307" cy="384"/>
          </a:xfrm>
          <a:noFill/>
        </p:grpSpPr>
        <p:sp>
          <p:nvSpPr>
            <p:cNvPr id="638" name="Rectangle 140"/>
            <p:cNvSpPr>
              <a:spLocks noChangeArrowheads="true"/>
            </p:cNvSpPr>
            <p:nvPr/>
          </p:nvSpPr>
          <p:spPr bwMode="auto">
            <a:xfrm>
              <a:off x="4006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/>
            <a:p>
              <a:pPr>
                <a:defRPr/>
              </a:pPr>
              <a:endParaRPr lang="zh-CN" altLang="en-US">
                <a:latin typeface="Comic Sans MS" panose="030F0902030302020204" charset="0"/>
                <a:ea typeface="宋体" charset="-122"/>
              </a:endParaRPr>
            </a:p>
          </p:txBody>
        </p:sp>
        <p:sp>
          <p:nvSpPr>
            <p:cNvPr id="639" name="Rectangle 141"/>
            <p:cNvSpPr>
              <a:spLocks noChangeArrowheads="true"/>
            </p:cNvSpPr>
            <p:nvPr/>
          </p:nvSpPr>
          <p:spPr bwMode="auto">
            <a:xfrm>
              <a:off x="4006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90000"/>
                </a:lnSpc>
                <a:spcBef>
                  <a:spcPct val="30000"/>
                </a:spcBef>
                <a:defRPr/>
              </a:pPr>
              <a:r>
                <a:rPr lang="en-US" altLang="zh-CN" sz="1400">
                  <a:solidFill>
                    <a:schemeClr val="tx2"/>
                  </a:solidFill>
                  <a:latin typeface="Helvetica" pitchFamily="34" charset="0"/>
                  <a:ea typeface="宋体" charset="-122"/>
                </a:rPr>
                <a:t>2</a:t>
              </a:r>
              <a:endParaRPr/>
            </a:p>
          </p:txBody>
        </p:sp>
      </p:grpSp>
      <p:grpSp>
        <p:nvGrpSpPr>
          <p:cNvPr id="640" name="Group 142"/>
          <p:cNvGrpSpPr/>
          <p:nvPr/>
        </p:nvGrpSpPr>
        <p:grpSpPr>
          <a:xfrm>
            <a:off x="6645275" y="1941513"/>
            <a:ext cx="487363" cy="609600"/>
            <a:chOff x="4313" y="1176"/>
            <a:chExt cx="307" cy="384"/>
          </a:xfrm>
          <a:noFill/>
        </p:grpSpPr>
        <p:sp>
          <p:nvSpPr>
            <p:cNvPr id="641" name="Rectangle 143"/>
            <p:cNvSpPr>
              <a:spLocks noChangeArrowheads="true"/>
            </p:cNvSpPr>
            <p:nvPr/>
          </p:nvSpPr>
          <p:spPr bwMode="auto">
            <a:xfrm>
              <a:off x="4313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/>
            <a:p>
              <a:pPr>
                <a:defRPr/>
              </a:pPr>
              <a:endParaRPr lang="zh-CN" altLang="en-US">
                <a:latin typeface="Comic Sans MS" panose="030F0902030302020204" charset="0"/>
                <a:ea typeface="宋体" charset="-122"/>
              </a:endParaRPr>
            </a:p>
          </p:txBody>
        </p:sp>
        <p:sp>
          <p:nvSpPr>
            <p:cNvPr id="642" name="Rectangle 144"/>
            <p:cNvSpPr>
              <a:spLocks noChangeArrowheads="true"/>
            </p:cNvSpPr>
            <p:nvPr/>
          </p:nvSpPr>
          <p:spPr bwMode="auto">
            <a:xfrm>
              <a:off x="4313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90000"/>
                </a:lnSpc>
                <a:spcBef>
                  <a:spcPct val="30000"/>
                </a:spcBef>
                <a:defRPr/>
              </a:pPr>
              <a:r>
                <a:rPr lang="en-US" altLang="zh-CN" sz="1400">
                  <a:solidFill>
                    <a:schemeClr val="tx2"/>
                  </a:solidFill>
                  <a:latin typeface="Helvetica" pitchFamily="34" charset="0"/>
                  <a:ea typeface="宋体" charset="-122"/>
                </a:rPr>
                <a:t>1</a:t>
              </a:r>
              <a:endParaRPr/>
            </a:p>
          </p:txBody>
        </p:sp>
      </p:grpSp>
      <p:grpSp>
        <p:nvGrpSpPr>
          <p:cNvPr id="643" name="Group 145"/>
          <p:cNvGrpSpPr/>
          <p:nvPr/>
        </p:nvGrpSpPr>
        <p:grpSpPr>
          <a:xfrm>
            <a:off x="7132638" y="1941513"/>
            <a:ext cx="487363" cy="609600"/>
            <a:chOff x="4620" y="1176"/>
            <a:chExt cx="307" cy="384"/>
          </a:xfrm>
          <a:noFill/>
        </p:grpSpPr>
        <p:sp>
          <p:nvSpPr>
            <p:cNvPr id="644" name="Rectangle 146"/>
            <p:cNvSpPr>
              <a:spLocks noChangeArrowheads="true"/>
            </p:cNvSpPr>
            <p:nvPr/>
          </p:nvSpPr>
          <p:spPr bwMode="auto">
            <a:xfrm>
              <a:off x="4620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/>
            <a:p>
              <a:pPr>
                <a:defRPr/>
              </a:pPr>
              <a:endParaRPr lang="zh-CN" altLang="en-US">
                <a:latin typeface="Comic Sans MS" panose="030F0902030302020204" charset="0"/>
                <a:ea typeface="宋体" charset="-122"/>
              </a:endParaRPr>
            </a:p>
          </p:txBody>
        </p:sp>
        <p:sp>
          <p:nvSpPr>
            <p:cNvPr id="645" name="Rectangle 147"/>
            <p:cNvSpPr>
              <a:spLocks noChangeArrowheads="true"/>
            </p:cNvSpPr>
            <p:nvPr/>
          </p:nvSpPr>
          <p:spPr bwMode="auto">
            <a:xfrm>
              <a:off x="4620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90000"/>
                </a:lnSpc>
                <a:spcBef>
                  <a:spcPct val="30000"/>
                </a:spcBef>
                <a:defRPr/>
              </a:pPr>
              <a:r>
                <a:rPr lang="en-US" altLang="zh-CN" sz="1400">
                  <a:solidFill>
                    <a:schemeClr val="tx2"/>
                  </a:solidFill>
                  <a:latin typeface="Helvetica" pitchFamily="34" charset="0"/>
                  <a:ea typeface="宋体" charset="-122"/>
                </a:rPr>
                <a:t>0</a:t>
              </a:r>
              <a:endParaRPr/>
            </a:p>
          </p:txBody>
        </p:sp>
      </p:grpSp>
      <p:grpSp>
        <p:nvGrpSpPr>
          <p:cNvPr id="646" name="Group 148"/>
          <p:cNvGrpSpPr/>
          <p:nvPr/>
        </p:nvGrpSpPr>
        <p:grpSpPr>
          <a:xfrm>
            <a:off x="4695825" y="2711450"/>
            <a:ext cx="2924175" cy="336550"/>
            <a:chOff x="3085" y="1661"/>
            <a:chExt cx="1842" cy="212"/>
          </a:xfrm>
          <a:noFill/>
        </p:grpSpPr>
        <p:sp>
          <p:nvSpPr>
            <p:cNvPr id="647" name="Line 149"/>
            <p:cNvSpPr>
              <a:spLocks noChangeShapeType="true"/>
            </p:cNvSpPr>
            <p:nvPr/>
          </p:nvSpPr>
          <p:spPr bwMode="auto">
            <a:xfrm>
              <a:off x="3085" y="1752"/>
              <a:ext cx="1842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  <p:txBody>
            <a:bodyPr wrap="none" lIns="90487" tIns="44450" rIns="90487" bIns="44450"/>
            <a:lstStyle/>
            <a:p>
              <a:pPr>
                <a:defRPr/>
              </a:pPr>
              <a:endParaRPr lang="zh-CN" altLang="en-US">
                <a:latin typeface="Comic Sans MS" panose="030F0902030302020204" charset="0"/>
                <a:ea typeface="宋体" charset="-122"/>
              </a:endParaRPr>
            </a:p>
          </p:txBody>
        </p:sp>
        <p:sp>
          <p:nvSpPr>
            <p:cNvPr id="648" name="Text Box 150"/>
            <p:cNvSpPr txBox="true">
              <a:spLocks noChangeArrowheads="true"/>
            </p:cNvSpPr>
            <p:nvPr/>
          </p:nvSpPr>
          <p:spPr bwMode="auto">
            <a:xfrm>
              <a:off x="3794" y="1661"/>
              <a:ext cx="418" cy="2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90487" tIns="44450" rIns="90487" bIns="44450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defRPr/>
              </a:pPr>
              <a:r>
                <a:rPr lang="en-US" altLang="zh-CN" sz="1800">
                  <a:solidFill>
                    <a:schemeClr val="tx2"/>
                  </a:solidFill>
                  <a:latin typeface="Helvetica" pitchFamily="34" charset="0"/>
                </a:rPr>
                <a:t>VPO</a:t>
              </a:r>
              <a:endParaRPr/>
            </a:p>
          </p:txBody>
        </p:sp>
      </p:grpSp>
      <p:grpSp>
        <p:nvGrpSpPr>
          <p:cNvPr id="649" name="Group 151"/>
          <p:cNvGrpSpPr/>
          <p:nvPr/>
        </p:nvGrpSpPr>
        <p:grpSpPr>
          <a:xfrm>
            <a:off x="796925" y="2703513"/>
            <a:ext cx="3916363" cy="336550"/>
            <a:chOff x="629" y="1656"/>
            <a:chExt cx="2467" cy="212"/>
          </a:xfrm>
          <a:noFill/>
        </p:grpSpPr>
        <p:sp>
          <p:nvSpPr>
            <p:cNvPr id="650" name="Line 152"/>
            <p:cNvSpPr>
              <a:spLocks noChangeShapeType="true"/>
            </p:cNvSpPr>
            <p:nvPr/>
          </p:nvSpPr>
          <p:spPr bwMode="auto">
            <a:xfrm>
              <a:off x="629" y="1747"/>
              <a:ext cx="2467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  <p:txBody>
            <a:bodyPr wrap="none" lIns="90487" tIns="44450" rIns="90487" bIns="44450"/>
            <a:lstStyle/>
            <a:p>
              <a:pPr>
                <a:defRPr/>
              </a:pPr>
              <a:endParaRPr lang="zh-CN" altLang="en-US">
                <a:latin typeface="Comic Sans MS" panose="030F0902030302020204" charset="0"/>
                <a:ea typeface="宋体" charset="-122"/>
              </a:endParaRPr>
            </a:p>
          </p:txBody>
        </p:sp>
        <p:sp>
          <p:nvSpPr>
            <p:cNvPr id="651" name="Text Box 153"/>
            <p:cNvSpPr txBox="true">
              <a:spLocks noChangeArrowheads="true"/>
            </p:cNvSpPr>
            <p:nvPr/>
          </p:nvSpPr>
          <p:spPr bwMode="auto">
            <a:xfrm>
              <a:off x="1579" y="1656"/>
              <a:ext cx="409" cy="2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90487" tIns="44450" rIns="90487" bIns="44450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defRPr/>
              </a:pPr>
              <a:r>
                <a:rPr lang="en-US" altLang="zh-CN" sz="1800" dirty="false">
                  <a:solidFill>
                    <a:schemeClr val="tx2"/>
                  </a:solidFill>
                  <a:latin typeface="Helvetica" pitchFamily="34" charset="0"/>
                </a:rPr>
                <a:t>VPN</a:t>
              </a:r>
              <a:endParaRPr/>
            </a:p>
          </p:txBody>
        </p:sp>
      </p:grpSp>
      <p:sp>
        <p:nvSpPr>
          <p:cNvPr id="652" name="Rectangle 175"/>
          <p:cNvSpPr>
            <a:spLocks noChangeArrowheads="true"/>
          </p:cNvSpPr>
          <p:nvPr/>
        </p:nvSpPr>
        <p:spPr bwMode="auto">
          <a:xfrm>
            <a:off x="685800" y="3336925"/>
            <a:ext cx="7848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>
              <a:lnSpc>
                <a:spcPct val="140000"/>
              </a:lnSpc>
            </a:pPr>
            <a:r>
              <a:rPr lang="en-US" altLang="zh-CN" b="false"/>
              <a:t>VPN: </a:t>
            </a:r>
            <a:r>
              <a:rPr lang="en-US" altLang="zh-CN" u="sng"/>
              <a:t>      </a:t>
            </a:r>
            <a:r>
              <a:rPr lang="en-US" altLang="zh-CN"/>
              <a:t>  </a:t>
            </a:r>
            <a:r>
              <a:rPr lang="en-US" altLang="zh-CN" b="false"/>
              <a:t>VPO: </a:t>
            </a:r>
            <a:r>
              <a:rPr lang="en-US" altLang="zh-CN" b="false" u="sng"/>
              <a:t>        </a:t>
            </a:r>
            <a:r>
              <a:rPr lang="en-US" altLang="zh-CN" b="false"/>
              <a:t>             	Page Fault? </a:t>
            </a:r>
            <a:r>
              <a:rPr lang="en-US" altLang="zh-CN" u="sng"/>
              <a:t>      </a:t>
            </a:r>
            <a:r>
              <a:rPr lang="en-US" altLang="zh-CN">
                <a:solidFill>
                  <a:schemeClr val="bg1"/>
                </a:solidFill>
              </a:rPr>
              <a:t>d</a:t>
            </a:r>
            <a:endParaRPr/>
          </a:p>
        </p:txBody>
      </p:sp>
      <p:sp>
        <p:nvSpPr>
          <p:cNvPr id="653" name="Rectangle 176"/>
          <p:cNvSpPr>
            <a:spLocks noChangeArrowheads="true"/>
          </p:cNvSpPr>
          <p:nvPr/>
        </p:nvSpPr>
        <p:spPr bwMode="auto">
          <a:xfrm>
            <a:off x="708025" y="5257800"/>
            <a:ext cx="61706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>
              <a:lnSpc>
                <a:spcPct val="140000"/>
              </a:lnSpc>
            </a:pPr>
            <a:r>
              <a:rPr lang="en-US" altLang="zh-CN" b="false"/>
              <a:t>PPN: </a:t>
            </a:r>
            <a:r>
              <a:rPr lang="en-US" altLang="zh-CN" u="sng"/>
              <a:t>     </a:t>
            </a:r>
            <a:r>
              <a:rPr lang="en-US" altLang="zh-CN" b="false"/>
              <a:t>    PPO: </a:t>
            </a:r>
            <a:r>
              <a:rPr lang="en-US" altLang="zh-CN" u="sng"/>
              <a:t>      </a:t>
            </a:r>
            <a:r>
              <a:rPr lang="en-US" altLang="zh-CN" b="false"/>
              <a:t>		PA: </a:t>
            </a:r>
            <a:r>
              <a:rPr lang="en-US" altLang="zh-CN" u="sng"/>
              <a:t>      </a:t>
            </a:r>
            <a:endParaRPr/>
          </a:p>
        </p:txBody>
      </p:sp>
      <p:grpSp>
        <p:nvGrpSpPr>
          <p:cNvPr id="654" name="Group 179"/>
          <p:cNvGrpSpPr/>
          <p:nvPr/>
        </p:nvGrpSpPr>
        <p:grpSpPr>
          <a:xfrm>
            <a:off x="1779588" y="4006850"/>
            <a:ext cx="5848350" cy="609600"/>
            <a:chOff x="1219" y="2880"/>
            <a:chExt cx="3684" cy="384"/>
          </a:xfrm>
        </p:grpSpPr>
        <p:grpSp>
          <p:nvGrpSpPr>
            <p:cNvPr id="655" name="Group 180"/>
            <p:cNvGrpSpPr/>
            <p:nvPr/>
          </p:nvGrpSpPr>
          <p:grpSpPr>
            <a:xfrm>
              <a:off x="1219" y="2880"/>
              <a:ext cx="307" cy="384"/>
              <a:chOff x="605" y="1776"/>
              <a:chExt cx="307" cy="384"/>
            </a:xfrm>
          </p:grpSpPr>
          <p:sp>
            <p:nvSpPr>
              <p:cNvPr id="656" name="Rectangle 181"/>
              <p:cNvSpPr>
                <a:spLocks noChangeArrowheads="true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/>
              </a:extLst>
            </p:spPr>
            <p:txBody>
              <a:bodyPr wrap="none" lIns="90487" tIns="44450" rIns="90487" bIns="44450" anchor="ctr"/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/>
                <a:endParaRPr lang="zh-CN" altLang="en-US"/>
              </a:p>
            </p:txBody>
          </p:sp>
          <p:sp>
            <p:nvSpPr>
              <p:cNvPr id="657" name="Rectangle 182"/>
              <p:cNvSpPr>
                <a:spLocks noChangeArrowheads="true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lIns="90487" tIns="44450" rIns="90487" bIns="44450" anchor="ctr"/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pitchFamily="34" charset="0"/>
                  </a:rPr>
                  <a:t>11</a:t>
                </a:r>
                <a:endParaRPr/>
              </a:p>
            </p:txBody>
          </p:sp>
        </p:grpSp>
        <p:grpSp>
          <p:nvGrpSpPr>
            <p:cNvPr id="658" name="Group 183"/>
            <p:cNvGrpSpPr/>
            <p:nvPr/>
          </p:nvGrpSpPr>
          <p:grpSpPr>
            <a:xfrm>
              <a:off x="1526" y="2880"/>
              <a:ext cx="307" cy="384"/>
              <a:chOff x="605" y="1776"/>
              <a:chExt cx="307" cy="384"/>
            </a:xfrm>
          </p:grpSpPr>
          <p:sp>
            <p:nvSpPr>
              <p:cNvPr id="659" name="Rectangle 184"/>
              <p:cNvSpPr>
                <a:spLocks noChangeArrowheads="true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/>
              </a:extLst>
            </p:spPr>
            <p:txBody>
              <a:bodyPr wrap="none" lIns="90487" tIns="44450" rIns="90487" bIns="44450" anchor="ctr"/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/>
                <a:endParaRPr lang="zh-CN" altLang="en-US"/>
              </a:p>
            </p:txBody>
          </p:sp>
          <p:sp>
            <p:nvSpPr>
              <p:cNvPr id="660" name="Rectangle 185"/>
              <p:cNvSpPr>
                <a:spLocks noChangeArrowheads="true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lIns="90487" tIns="44450" rIns="90487" bIns="44450" anchor="ctr"/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pitchFamily="34" charset="0"/>
                  </a:rPr>
                  <a:t>10</a:t>
                </a:r>
                <a:endParaRPr/>
              </a:p>
            </p:txBody>
          </p:sp>
        </p:grpSp>
        <p:grpSp>
          <p:nvGrpSpPr>
            <p:cNvPr id="661" name="Group 186"/>
            <p:cNvGrpSpPr/>
            <p:nvPr/>
          </p:nvGrpSpPr>
          <p:grpSpPr>
            <a:xfrm>
              <a:off x="1833" y="2880"/>
              <a:ext cx="307" cy="384"/>
              <a:chOff x="605" y="1776"/>
              <a:chExt cx="307" cy="384"/>
            </a:xfrm>
          </p:grpSpPr>
          <p:sp>
            <p:nvSpPr>
              <p:cNvPr id="662" name="Rectangle 187"/>
              <p:cNvSpPr>
                <a:spLocks noChangeArrowheads="true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/>
              </a:extLst>
            </p:spPr>
            <p:txBody>
              <a:bodyPr wrap="none" lIns="90487" tIns="44450" rIns="90487" bIns="44450" anchor="ctr"/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/>
                <a:endParaRPr lang="zh-CN" altLang="en-US"/>
              </a:p>
            </p:txBody>
          </p:sp>
          <p:sp>
            <p:nvSpPr>
              <p:cNvPr id="663" name="Rectangle 188"/>
              <p:cNvSpPr>
                <a:spLocks noChangeArrowheads="true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lIns="90487" tIns="44450" rIns="90487" bIns="44450" anchor="ctr"/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pitchFamily="34" charset="0"/>
                  </a:rPr>
                  <a:t>9</a:t>
                </a:r>
                <a:endParaRPr/>
              </a:p>
            </p:txBody>
          </p:sp>
        </p:grpSp>
        <p:grpSp>
          <p:nvGrpSpPr>
            <p:cNvPr id="664" name="Group 189"/>
            <p:cNvGrpSpPr/>
            <p:nvPr/>
          </p:nvGrpSpPr>
          <p:grpSpPr>
            <a:xfrm>
              <a:off x="2140" y="2880"/>
              <a:ext cx="307" cy="384"/>
              <a:chOff x="605" y="1776"/>
              <a:chExt cx="307" cy="384"/>
            </a:xfrm>
          </p:grpSpPr>
          <p:sp>
            <p:nvSpPr>
              <p:cNvPr id="665" name="Rectangle 190"/>
              <p:cNvSpPr>
                <a:spLocks noChangeArrowheads="true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/>
              </a:extLst>
            </p:spPr>
            <p:txBody>
              <a:bodyPr wrap="none" lIns="90487" tIns="44450" rIns="90487" bIns="44450" anchor="ctr"/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/>
                <a:endParaRPr lang="zh-CN" altLang="en-US"/>
              </a:p>
            </p:txBody>
          </p:sp>
          <p:sp>
            <p:nvSpPr>
              <p:cNvPr id="666" name="Rectangle 191"/>
              <p:cNvSpPr>
                <a:spLocks noChangeArrowheads="true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lIns="90487" tIns="44450" rIns="90487" bIns="44450" anchor="ctr"/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pitchFamily="34" charset="0"/>
                  </a:rPr>
                  <a:t>8</a:t>
                </a:r>
                <a:endParaRPr/>
              </a:p>
            </p:txBody>
          </p:sp>
        </p:grpSp>
        <p:grpSp>
          <p:nvGrpSpPr>
            <p:cNvPr id="667" name="Group 192"/>
            <p:cNvGrpSpPr/>
            <p:nvPr/>
          </p:nvGrpSpPr>
          <p:grpSpPr>
            <a:xfrm>
              <a:off x="2447" y="2880"/>
              <a:ext cx="307" cy="384"/>
              <a:chOff x="605" y="1776"/>
              <a:chExt cx="307" cy="384"/>
            </a:xfrm>
          </p:grpSpPr>
          <p:sp>
            <p:nvSpPr>
              <p:cNvPr id="668" name="Rectangle 193"/>
              <p:cNvSpPr>
                <a:spLocks noChangeArrowheads="true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/>
              </a:extLst>
            </p:spPr>
            <p:txBody>
              <a:bodyPr wrap="none" lIns="90487" tIns="44450" rIns="90487" bIns="44450" anchor="ctr"/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/>
                <a:endParaRPr lang="zh-CN" altLang="en-US"/>
              </a:p>
            </p:txBody>
          </p:sp>
          <p:sp>
            <p:nvSpPr>
              <p:cNvPr id="669" name="Rectangle 194"/>
              <p:cNvSpPr>
                <a:spLocks noChangeArrowheads="true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lIns="90487" tIns="44450" rIns="90487" bIns="44450" anchor="ctr"/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pitchFamily="34" charset="0"/>
                  </a:rPr>
                  <a:t>7</a:t>
                </a:r>
                <a:endParaRPr/>
              </a:p>
            </p:txBody>
          </p:sp>
        </p:grpSp>
        <p:grpSp>
          <p:nvGrpSpPr>
            <p:cNvPr id="670" name="Group 195"/>
            <p:cNvGrpSpPr/>
            <p:nvPr/>
          </p:nvGrpSpPr>
          <p:grpSpPr>
            <a:xfrm>
              <a:off x="2754" y="2880"/>
              <a:ext cx="307" cy="384"/>
              <a:chOff x="605" y="1776"/>
              <a:chExt cx="307" cy="384"/>
            </a:xfrm>
          </p:grpSpPr>
          <p:sp>
            <p:nvSpPr>
              <p:cNvPr id="671" name="Rectangle 196"/>
              <p:cNvSpPr>
                <a:spLocks noChangeArrowheads="true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/>
              </a:extLst>
            </p:spPr>
            <p:txBody>
              <a:bodyPr wrap="none" lIns="90487" tIns="44450" rIns="90487" bIns="44450" anchor="ctr"/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/>
                <a:endParaRPr lang="zh-CN" altLang="en-US"/>
              </a:p>
            </p:txBody>
          </p:sp>
          <p:sp>
            <p:nvSpPr>
              <p:cNvPr id="672" name="Rectangle 197"/>
              <p:cNvSpPr>
                <a:spLocks noChangeArrowheads="true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lIns="90487" tIns="44450" rIns="90487" bIns="44450" anchor="ctr"/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pitchFamily="34" charset="0"/>
                  </a:rPr>
                  <a:t>6</a:t>
                </a:r>
                <a:endParaRPr/>
              </a:p>
            </p:txBody>
          </p:sp>
        </p:grpSp>
        <p:grpSp>
          <p:nvGrpSpPr>
            <p:cNvPr id="673" name="Group 198"/>
            <p:cNvGrpSpPr/>
            <p:nvPr/>
          </p:nvGrpSpPr>
          <p:grpSpPr>
            <a:xfrm>
              <a:off x="3061" y="2880"/>
              <a:ext cx="307" cy="384"/>
              <a:chOff x="605" y="1776"/>
              <a:chExt cx="307" cy="384"/>
            </a:xfrm>
          </p:grpSpPr>
          <p:sp>
            <p:nvSpPr>
              <p:cNvPr id="674" name="Rectangle 199"/>
              <p:cNvSpPr>
                <a:spLocks noChangeArrowheads="true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/>
              </a:extLst>
            </p:spPr>
            <p:txBody>
              <a:bodyPr wrap="none" lIns="90487" tIns="44450" rIns="90487" bIns="44450" anchor="ctr"/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/>
                <a:endParaRPr lang="zh-CN" altLang="en-US"/>
              </a:p>
            </p:txBody>
          </p:sp>
          <p:sp>
            <p:nvSpPr>
              <p:cNvPr id="675" name="Rectangle 200"/>
              <p:cNvSpPr>
                <a:spLocks noChangeArrowheads="true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lIns="90487" tIns="44450" rIns="90487" bIns="44450" anchor="ctr"/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pitchFamily="34" charset="0"/>
                  </a:rPr>
                  <a:t>5</a:t>
                </a:r>
                <a:endParaRPr/>
              </a:p>
            </p:txBody>
          </p:sp>
        </p:grpSp>
        <p:grpSp>
          <p:nvGrpSpPr>
            <p:cNvPr id="676" name="Group 201"/>
            <p:cNvGrpSpPr/>
            <p:nvPr/>
          </p:nvGrpSpPr>
          <p:grpSpPr>
            <a:xfrm>
              <a:off x="3368" y="2880"/>
              <a:ext cx="307" cy="384"/>
              <a:chOff x="605" y="1776"/>
              <a:chExt cx="307" cy="384"/>
            </a:xfrm>
          </p:grpSpPr>
          <p:sp>
            <p:nvSpPr>
              <p:cNvPr id="677" name="Rectangle 202"/>
              <p:cNvSpPr>
                <a:spLocks noChangeArrowheads="true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/>
              </a:extLst>
            </p:spPr>
            <p:txBody>
              <a:bodyPr wrap="none" lIns="90487" tIns="44450" rIns="90487" bIns="44450" anchor="ctr"/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/>
                <a:endParaRPr lang="zh-CN" altLang="en-US"/>
              </a:p>
            </p:txBody>
          </p:sp>
          <p:sp>
            <p:nvSpPr>
              <p:cNvPr id="678" name="Rectangle 203"/>
              <p:cNvSpPr>
                <a:spLocks noChangeArrowheads="true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lIns="90487" tIns="44450" rIns="90487" bIns="44450" anchor="ctr"/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pitchFamily="34" charset="0"/>
                  </a:rPr>
                  <a:t>4</a:t>
                </a:r>
                <a:endParaRPr/>
              </a:p>
            </p:txBody>
          </p:sp>
        </p:grpSp>
        <p:grpSp>
          <p:nvGrpSpPr>
            <p:cNvPr id="679" name="Group 204"/>
            <p:cNvGrpSpPr/>
            <p:nvPr/>
          </p:nvGrpSpPr>
          <p:grpSpPr>
            <a:xfrm>
              <a:off x="3675" y="2880"/>
              <a:ext cx="307" cy="384"/>
              <a:chOff x="605" y="1776"/>
              <a:chExt cx="307" cy="384"/>
            </a:xfrm>
          </p:grpSpPr>
          <p:sp>
            <p:nvSpPr>
              <p:cNvPr id="680" name="Rectangle 205"/>
              <p:cNvSpPr>
                <a:spLocks noChangeArrowheads="true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/>
              </a:extLst>
            </p:spPr>
            <p:txBody>
              <a:bodyPr wrap="none" lIns="90487" tIns="44450" rIns="90487" bIns="44450" anchor="ctr"/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/>
                <a:endParaRPr lang="zh-CN" altLang="en-US"/>
              </a:p>
            </p:txBody>
          </p:sp>
          <p:sp>
            <p:nvSpPr>
              <p:cNvPr id="681" name="Rectangle 206"/>
              <p:cNvSpPr>
                <a:spLocks noChangeArrowheads="true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lIns="90487" tIns="44450" rIns="90487" bIns="44450" anchor="ctr"/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pitchFamily="34" charset="0"/>
                  </a:rPr>
                  <a:t>3</a:t>
                </a:r>
                <a:endParaRPr/>
              </a:p>
            </p:txBody>
          </p:sp>
        </p:grpSp>
        <p:grpSp>
          <p:nvGrpSpPr>
            <p:cNvPr id="682" name="Group 207"/>
            <p:cNvGrpSpPr/>
            <p:nvPr/>
          </p:nvGrpSpPr>
          <p:grpSpPr>
            <a:xfrm>
              <a:off x="3982" y="2880"/>
              <a:ext cx="307" cy="384"/>
              <a:chOff x="605" y="1776"/>
              <a:chExt cx="307" cy="384"/>
            </a:xfrm>
          </p:grpSpPr>
          <p:sp>
            <p:nvSpPr>
              <p:cNvPr id="683" name="Rectangle 208"/>
              <p:cNvSpPr>
                <a:spLocks noChangeArrowheads="true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/>
              </a:extLst>
            </p:spPr>
            <p:txBody>
              <a:bodyPr wrap="none" lIns="90487" tIns="44450" rIns="90487" bIns="44450" anchor="ctr"/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/>
                <a:endParaRPr lang="zh-CN" altLang="en-US"/>
              </a:p>
            </p:txBody>
          </p:sp>
          <p:sp>
            <p:nvSpPr>
              <p:cNvPr id="684" name="Rectangle 209"/>
              <p:cNvSpPr>
                <a:spLocks noChangeArrowheads="true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lIns="90487" tIns="44450" rIns="90487" bIns="44450" anchor="ctr"/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pitchFamily="34" charset="0"/>
                  </a:rPr>
                  <a:t>2</a:t>
                </a:r>
                <a:endParaRPr/>
              </a:p>
            </p:txBody>
          </p:sp>
        </p:grpSp>
        <p:grpSp>
          <p:nvGrpSpPr>
            <p:cNvPr id="685" name="Group 210"/>
            <p:cNvGrpSpPr/>
            <p:nvPr/>
          </p:nvGrpSpPr>
          <p:grpSpPr>
            <a:xfrm>
              <a:off x="4289" y="2880"/>
              <a:ext cx="307" cy="384"/>
              <a:chOff x="605" y="1776"/>
              <a:chExt cx="307" cy="384"/>
            </a:xfrm>
          </p:grpSpPr>
          <p:sp>
            <p:nvSpPr>
              <p:cNvPr id="686" name="Rectangle 211"/>
              <p:cNvSpPr>
                <a:spLocks noChangeArrowheads="true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/>
              </a:extLst>
            </p:spPr>
            <p:txBody>
              <a:bodyPr wrap="none" lIns="90487" tIns="44450" rIns="90487" bIns="44450" anchor="ctr"/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/>
                <a:endParaRPr lang="zh-CN" altLang="en-US"/>
              </a:p>
            </p:txBody>
          </p:sp>
          <p:sp>
            <p:nvSpPr>
              <p:cNvPr id="687" name="Rectangle 212"/>
              <p:cNvSpPr>
                <a:spLocks noChangeArrowheads="true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lIns="90487" tIns="44450" rIns="90487" bIns="44450" anchor="ctr"/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pitchFamily="34" charset="0"/>
                  </a:rPr>
                  <a:t>1</a:t>
                </a:r>
                <a:endParaRPr/>
              </a:p>
            </p:txBody>
          </p:sp>
        </p:grpSp>
        <p:grpSp>
          <p:nvGrpSpPr>
            <p:cNvPr id="688" name="Group 213"/>
            <p:cNvGrpSpPr/>
            <p:nvPr/>
          </p:nvGrpSpPr>
          <p:grpSpPr>
            <a:xfrm>
              <a:off x="4596" y="2880"/>
              <a:ext cx="307" cy="384"/>
              <a:chOff x="605" y="1776"/>
              <a:chExt cx="307" cy="384"/>
            </a:xfrm>
          </p:grpSpPr>
          <p:sp>
            <p:nvSpPr>
              <p:cNvPr id="689" name="Rectangle 214"/>
              <p:cNvSpPr>
                <a:spLocks noChangeArrowheads="true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/>
              </a:extLst>
            </p:spPr>
            <p:txBody>
              <a:bodyPr wrap="none" lIns="90487" tIns="44450" rIns="90487" bIns="44450" anchor="ctr"/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/>
                <a:endParaRPr lang="zh-CN" altLang="en-US"/>
              </a:p>
            </p:txBody>
          </p:sp>
          <p:sp>
            <p:nvSpPr>
              <p:cNvPr id="690" name="Rectangle 215"/>
              <p:cNvSpPr>
                <a:spLocks noChangeArrowheads="true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lIns="90487" tIns="44450" rIns="90487" bIns="44450" anchor="ctr"/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pitchFamily="34" charset="0"/>
                  </a:rPr>
                  <a:t>0</a:t>
                </a:r>
                <a:endParaRPr/>
              </a:p>
            </p:txBody>
          </p:sp>
        </p:grpSp>
      </p:grpSp>
      <p:grpSp>
        <p:nvGrpSpPr>
          <p:cNvPr id="691" name="Group 216"/>
          <p:cNvGrpSpPr/>
          <p:nvPr/>
        </p:nvGrpSpPr>
        <p:grpSpPr>
          <a:xfrm>
            <a:off x="4721225" y="4692650"/>
            <a:ext cx="2924175" cy="336550"/>
            <a:chOff x="3061" y="2261"/>
            <a:chExt cx="1842" cy="212"/>
          </a:xfrm>
        </p:grpSpPr>
        <p:sp>
          <p:nvSpPr>
            <p:cNvPr id="692" name="Line 217"/>
            <p:cNvSpPr>
              <a:spLocks noChangeShapeType="true"/>
            </p:cNvSpPr>
            <p:nvPr/>
          </p:nvSpPr>
          <p:spPr bwMode="auto">
            <a:xfrm>
              <a:off x="3061" y="2352"/>
              <a:ext cx="18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/>
            </a:extLst>
          </p:spPr>
          <p:txBody>
            <a:bodyPr wrap="none" lIns="90487" tIns="44450" rIns="90487" bIns="44450"/>
            <a:lstStyle/>
            <a:p>
              <a:pPr/>
              <a:endParaRPr lang="zh-CN" altLang="en-US"/>
            </a:p>
          </p:txBody>
        </p:sp>
        <p:sp>
          <p:nvSpPr>
            <p:cNvPr id="693" name="Text Box 218"/>
            <p:cNvSpPr txBox="true">
              <a:spLocks noChangeArrowheads="true"/>
            </p:cNvSpPr>
            <p:nvPr/>
          </p:nvSpPr>
          <p:spPr bwMode="auto">
            <a:xfrm>
              <a:off x="3770" y="2261"/>
              <a:ext cx="418" cy="2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/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</a:pPr>
              <a:r>
                <a:rPr lang="en-US" altLang="zh-CN" sz="1800">
                  <a:solidFill>
                    <a:schemeClr val="tx2"/>
                  </a:solidFill>
                  <a:latin typeface="Helvetica" pitchFamily="34" charset="0"/>
                </a:rPr>
                <a:t>PPO</a:t>
              </a:r>
              <a:endParaRPr/>
            </a:p>
          </p:txBody>
        </p:sp>
      </p:grpSp>
      <p:grpSp>
        <p:nvGrpSpPr>
          <p:cNvPr id="694" name="Group 219"/>
          <p:cNvGrpSpPr/>
          <p:nvPr/>
        </p:nvGrpSpPr>
        <p:grpSpPr>
          <a:xfrm>
            <a:off x="1825625" y="4692650"/>
            <a:ext cx="2924175" cy="336550"/>
            <a:chOff x="3061" y="2261"/>
            <a:chExt cx="1842" cy="212"/>
          </a:xfrm>
        </p:grpSpPr>
        <p:sp>
          <p:nvSpPr>
            <p:cNvPr id="695" name="Line 220"/>
            <p:cNvSpPr>
              <a:spLocks noChangeShapeType="true"/>
            </p:cNvSpPr>
            <p:nvPr/>
          </p:nvSpPr>
          <p:spPr bwMode="auto">
            <a:xfrm>
              <a:off x="3061" y="2352"/>
              <a:ext cx="18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/>
            </a:extLst>
          </p:spPr>
          <p:txBody>
            <a:bodyPr wrap="none" lIns="90487" tIns="44450" rIns="90487" bIns="44450"/>
            <a:lstStyle/>
            <a:p>
              <a:pPr/>
              <a:endParaRPr lang="zh-CN" altLang="en-US"/>
            </a:p>
          </p:txBody>
        </p:sp>
        <p:sp>
          <p:nvSpPr>
            <p:cNvPr id="696" name="Text Box 221"/>
            <p:cNvSpPr txBox="true">
              <a:spLocks noChangeArrowheads="true"/>
            </p:cNvSpPr>
            <p:nvPr/>
          </p:nvSpPr>
          <p:spPr bwMode="auto">
            <a:xfrm>
              <a:off x="3770" y="2261"/>
              <a:ext cx="410" cy="2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/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</a:pPr>
              <a:r>
                <a:rPr lang="en-US" altLang="zh-CN" sz="1800">
                  <a:solidFill>
                    <a:schemeClr val="tx2"/>
                  </a:solidFill>
                  <a:latin typeface="Helvetica" pitchFamily="34" charset="0"/>
                </a:rPr>
                <a:t>PPN</a:t>
              </a:r>
              <a:endParaRPr/>
            </a:p>
          </p:txBody>
        </p:sp>
      </p:grpSp>
      <p:cxnSp>
        <p:nvCxnSpPr>
          <p:cNvPr id="697" name="Straight Connector 2"/>
          <p:cNvCxnSpPr>
            <a:cxnSpLocks noChangeShapeType="true"/>
          </p:cNvCxnSpPr>
          <p:nvPr/>
        </p:nvCxnSpPr>
        <p:spPr bwMode="auto">
          <a:xfrm>
            <a:off x="4695825" y="1724025"/>
            <a:ext cx="0" cy="36861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</a:ln>
          <a:extLst>
            <a:ext uri="{909E8E84-426E-40DD-AFC4-6F175D3DCCD1}"/>
          </a:extLst>
        </p:spPr>
      </p:cxn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>
  <p:cSld>
    <p:spTree>
      <p:nvGrpSpPr>
        <p:cNvPr id="7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8ACEDDC3-0CEE-5B45-B92E-A3D3264BA092}" type="slidenum">
              <a:rPr lang="zh-CN" altLang="en-US" sz="1400" b="false">
                <a:latin typeface="Times New Roman" panose="02020603050405020304" charset="0"/>
              </a:rPr>
              <a:t>52</a:t>
            </a:fld>
            <a:endParaRPr lang="en-US" altLang="zh-CN" sz="1400" b="false">
              <a:latin typeface="Times New Roman" panose="02020603050405020304" charset="0"/>
            </a:endParaRPr>
          </a:p>
        </p:txBody>
      </p:sp>
      <p:sp>
        <p:nvSpPr>
          <p:cNvPr id="704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>
                <a:latin typeface="Comic Sans MS"/>
                <a:ea typeface="宋体"/>
                <a:cs typeface="宋体"/>
              </a:rPr>
              <a:t>课堂练习</a:t>
            </a:r>
            <a:r>
              <a:rPr lang="zh-CN">
                <a:latin typeface="Comic Sans MS"/>
                <a:ea typeface="宋体"/>
                <a:cs typeface="宋体"/>
              </a:rPr>
              <a:t>答案</a:t>
            </a:r>
            <a:endParaRPr lang="en-US">
              <a:latin typeface="Comic Sans MS"/>
              <a:ea typeface="宋体"/>
              <a:cs typeface="宋体"/>
            </a:endParaRPr>
          </a:p>
        </p:txBody>
      </p:sp>
      <p:sp>
        <p:nvSpPr>
          <p:cNvPr id="705" name="Rectangle 102"/>
          <p:cNvSpPr>
            <a:spLocks noChangeArrowheads="true"/>
          </p:cNvSpPr>
          <p:nvPr/>
        </p:nvSpPr>
        <p:spPr bwMode="auto">
          <a:xfrm>
            <a:off x="644525" y="1524000"/>
            <a:ext cx="3200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r>
              <a:rPr lang="en-US" altLang="zh-CN" b="false"/>
              <a:t>Virtual Address: 0x</a:t>
            </a:r>
            <a:r>
              <a:rPr lang="en-US" altLang="zh-CN" b="false">
                <a:solidFill>
                  <a:srgbClr val="FF0000"/>
                </a:solidFill>
              </a:rPr>
              <a:t>0</a:t>
            </a:r>
            <a:r>
              <a:rPr lang="en-US" altLang="zh-CN" b="false">
                <a:solidFill>
                  <a:srgbClr val="00B0F0"/>
                </a:solidFill>
              </a:rPr>
              <a:t>3</a:t>
            </a:r>
            <a:r>
              <a:rPr lang="en-US" altLang="zh-CN" b="false">
                <a:solidFill>
                  <a:srgbClr val="FFC000"/>
                </a:solidFill>
              </a:rPr>
              <a:t>D</a:t>
            </a:r>
            <a:r>
              <a:rPr lang="en-US" altLang="zh-CN" b="false">
                <a:solidFill>
                  <a:srgbClr val="00B050"/>
                </a:solidFill>
              </a:rPr>
              <a:t>4</a:t>
            </a:r>
            <a:endParaRPr lang="zh-CN" altLang="en-US" b="false">
              <a:solidFill>
                <a:srgbClr val="00B050"/>
              </a:solidFill>
            </a:endParaRPr>
          </a:p>
        </p:txBody>
      </p:sp>
      <p:grpSp>
        <p:nvGrpSpPr>
          <p:cNvPr id="706" name="Group 106"/>
          <p:cNvGrpSpPr/>
          <p:nvPr/>
        </p:nvGrpSpPr>
        <p:grpSpPr>
          <a:xfrm>
            <a:off x="796925" y="1941513"/>
            <a:ext cx="487363" cy="609600"/>
            <a:chOff x="629" y="1176"/>
            <a:chExt cx="307" cy="384"/>
          </a:xfrm>
          <a:noFill/>
        </p:grpSpPr>
        <p:sp>
          <p:nvSpPr>
            <p:cNvPr id="707" name="Rectangle 107"/>
            <p:cNvSpPr>
              <a:spLocks noChangeArrowheads="true"/>
            </p:cNvSpPr>
            <p:nvPr/>
          </p:nvSpPr>
          <p:spPr bwMode="auto">
            <a:xfrm>
              <a:off x="629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90000"/>
                </a:lnSpc>
                <a:spcBef>
                  <a:spcPct val="30000"/>
                </a:spcBef>
                <a:defRPr/>
              </a:pPr>
              <a:endParaRPr lang="zh-CN" altLang="en-US" sz="1800">
                <a:solidFill>
                  <a:schemeClr val="tx2"/>
                </a:solidFill>
                <a:latin typeface="Helvetica" pitchFamily="34" charset="0"/>
                <a:ea typeface="宋体" charset="-122"/>
              </a:endParaRPr>
            </a:p>
          </p:txBody>
        </p:sp>
        <p:sp>
          <p:nvSpPr>
            <p:cNvPr id="708" name="Rectangle 108"/>
            <p:cNvSpPr>
              <a:spLocks noChangeArrowheads="true"/>
            </p:cNvSpPr>
            <p:nvPr/>
          </p:nvSpPr>
          <p:spPr bwMode="auto">
            <a:xfrm>
              <a:off x="629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90000"/>
                </a:lnSpc>
                <a:spcBef>
                  <a:spcPct val="30000"/>
                </a:spcBef>
                <a:defRPr/>
              </a:pPr>
              <a:r>
                <a:rPr lang="en-US" altLang="zh-CN" sz="1400">
                  <a:solidFill>
                    <a:schemeClr val="tx2"/>
                  </a:solidFill>
                  <a:latin typeface="Helvetica" pitchFamily="34" charset="0"/>
                  <a:ea typeface="宋体" charset="-122"/>
                </a:rPr>
                <a:t>13</a:t>
              </a:r>
              <a:endParaRPr/>
            </a:p>
          </p:txBody>
        </p:sp>
      </p:grpSp>
      <p:grpSp>
        <p:nvGrpSpPr>
          <p:cNvPr id="709" name="Group 109"/>
          <p:cNvGrpSpPr/>
          <p:nvPr/>
        </p:nvGrpSpPr>
        <p:grpSpPr>
          <a:xfrm>
            <a:off x="1284288" y="1941513"/>
            <a:ext cx="487363" cy="609600"/>
            <a:chOff x="936" y="1176"/>
            <a:chExt cx="307" cy="384"/>
          </a:xfrm>
          <a:noFill/>
        </p:grpSpPr>
        <p:sp>
          <p:nvSpPr>
            <p:cNvPr id="710" name="Rectangle 110"/>
            <p:cNvSpPr>
              <a:spLocks noChangeArrowheads="true"/>
            </p:cNvSpPr>
            <p:nvPr/>
          </p:nvSpPr>
          <p:spPr bwMode="auto">
            <a:xfrm>
              <a:off x="936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90000"/>
                </a:lnSpc>
                <a:spcBef>
                  <a:spcPct val="30000"/>
                </a:spcBef>
                <a:defRPr/>
              </a:pPr>
              <a:endParaRPr lang="zh-CN" altLang="en-US" sz="1800">
                <a:solidFill>
                  <a:schemeClr val="tx2"/>
                </a:solidFill>
                <a:latin typeface="Helvetica" pitchFamily="34" charset="0"/>
                <a:ea typeface="宋体" charset="-122"/>
              </a:endParaRPr>
            </a:p>
          </p:txBody>
        </p:sp>
        <p:sp>
          <p:nvSpPr>
            <p:cNvPr id="711" name="Rectangle 111"/>
            <p:cNvSpPr>
              <a:spLocks noChangeArrowheads="true"/>
            </p:cNvSpPr>
            <p:nvPr/>
          </p:nvSpPr>
          <p:spPr bwMode="auto">
            <a:xfrm>
              <a:off x="936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90000"/>
                </a:lnSpc>
                <a:spcBef>
                  <a:spcPct val="30000"/>
                </a:spcBef>
                <a:defRPr/>
              </a:pPr>
              <a:r>
                <a:rPr lang="en-US" altLang="zh-CN" sz="1400">
                  <a:solidFill>
                    <a:schemeClr val="tx2"/>
                  </a:solidFill>
                  <a:latin typeface="Helvetica" pitchFamily="34" charset="0"/>
                  <a:ea typeface="宋体" charset="-122"/>
                </a:rPr>
                <a:t>12</a:t>
              </a:r>
              <a:endParaRPr/>
            </a:p>
          </p:txBody>
        </p:sp>
      </p:grpSp>
      <p:grpSp>
        <p:nvGrpSpPr>
          <p:cNvPr id="712" name="Group 112"/>
          <p:cNvGrpSpPr/>
          <p:nvPr/>
        </p:nvGrpSpPr>
        <p:grpSpPr>
          <a:xfrm>
            <a:off x="1771650" y="1941513"/>
            <a:ext cx="487363" cy="609600"/>
            <a:chOff x="1243" y="1176"/>
            <a:chExt cx="307" cy="384"/>
          </a:xfrm>
          <a:noFill/>
        </p:grpSpPr>
        <p:sp>
          <p:nvSpPr>
            <p:cNvPr id="713" name="Rectangle 113"/>
            <p:cNvSpPr>
              <a:spLocks noChangeArrowheads="true"/>
            </p:cNvSpPr>
            <p:nvPr/>
          </p:nvSpPr>
          <p:spPr bwMode="auto">
            <a:xfrm>
              <a:off x="1243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90000"/>
                </a:lnSpc>
                <a:spcBef>
                  <a:spcPct val="30000"/>
                </a:spcBef>
                <a:defRPr/>
              </a:pPr>
              <a:endParaRPr lang="zh-CN" altLang="en-US" sz="1800">
                <a:solidFill>
                  <a:schemeClr val="tx2"/>
                </a:solidFill>
                <a:latin typeface="Helvetica" pitchFamily="34" charset="0"/>
                <a:ea typeface="宋体" charset="-122"/>
              </a:endParaRPr>
            </a:p>
          </p:txBody>
        </p:sp>
        <p:sp>
          <p:nvSpPr>
            <p:cNvPr id="714" name="Rectangle 114"/>
            <p:cNvSpPr>
              <a:spLocks noChangeArrowheads="true"/>
            </p:cNvSpPr>
            <p:nvPr/>
          </p:nvSpPr>
          <p:spPr bwMode="auto">
            <a:xfrm>
              <a:off x="1243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90000"/>
                </a:lnSpc>
                <a:spcBef>
                  <a:spcPct val="30000"/>
                </a:spcBef>
                <a:defRPr/>
              </a:pPr>
              <a:r>
                <a:rPr lang="en-US" altLang="zh-CN" sz="1400">
                  <a:solidFill>
                    <a:schemeClr val="tx2"/>
                  </a:solidFill>
                  <a:latin typeface="Helvetica" pitchFamily="34" charset="0"/>
                  <a:ea typeface="宋体" charset="-122"/>
                </a:rPr>
                <a:t>11</a:t>
              </a:r>
              <a:endParaRPr/>
            </a:p>
          </p:txBody>
        </p:sp>
      </p:grpSp>
      <p:grpSp>
        <p:nvGrpSpPr>
          <p:cNvPr id="715" name="Group 115"/>
          <p:cNvGrpSpPr/>
          <p:nvPr/>
        </p:nvGrpSpPr>
        <p:grpSpPr>
          <a:xfrm>
            <a:off x="2259013" y="1941513"/>
            <a:ext cx="487363" cy="609600"/>
            <a:chOff x="1550" y="1176"/>
            <a:chExt cx="307" cy="384"/>
          </a:xfrm>
          <a:noFill/>
        </p:grpSpPr>
        <p:sp>
          <p:nvSpPr>
            <p:cNvPr id="716" name="Rectangle 116"/>
            <p:cNvSpPr>
              <a:spLocks noChangeArrowheads="true"/>
            </p:cNvSpPr>
            <p:nvPr/>
          </p:nvSpPr>
          <p:spPr bwMode="auto">
            <a:xfrm>
              <a:off x="1550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/>
            <a:p>
              <a:pPr>
                <a:defRPr/>
              </a:pPr>
              <a:endParaRPr lang="zh-CN" altLang="en-US">
                <a:latin typeface="Comic Sans MS" panose="030F0902030302020204" charset="0"/>
                <a:ea typeface="宋体" charset="-122"/>
              </a:endParaRPr>
            </a:p>
          </p:txBody>
        </p:sp>
        <p:sp>
          <p:nvSpPr>
            <p:cNvPr id="717" name="Rectangle 117"/>
            <p:cNvSpPr>
              <a:spLocks noChangeArrowheads="true"/>
            </p:cNvSpPr>
            <p:nvPr/>
          </p:nvSpPr>
          <p:spPr bwMode="auto">
            <a:xfrm>
              <a:off x="1550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90000"/>
                </a:lnSpc>
                <a:spcBef>
                  <a:spcPct val="30000"/>
                </a:spcBef>
                <a:defRPr/>
              </a:pPr>
              <a:r>
                <a:rPr lang="en-US" altLang="zh-CN" sz="1400">
                  <a:solidFill>
                    <a:schemeClr val="tx2"/>
                  </a:solidFill>
                  <a:latin typeface="Helvetica" pitchFamily="34" charset="0"/>
                  <a:ea typeface="宋体" charset="-122"/>
                </a:rPr>
                <a:t>10</a:t>
              </a:r>
              <a:endParaRPr/>
            </a:p>
          </p:txBody>
        </p:sp>
      </p:grpSp>
      <p:grpSp>
        <p:nvGrpSpPr>
          <p:cNvPr id="718" name="Group 118"/>
          <p:cNvGrpSpPr/>
          <p:nvPr/>
        </p:nvGrpSpPr>
        <p:grpSpPr>
          <a:xfrm>
            <a:off x="2746375" y="1941513"/>
            <a:ext cx="487363" cy="609600"/>
            <a:chOff x="1857" y="1176"/>
            <a:chExt cx="307" cy="384"/>
          </a:xfrm>
          <a:noFill/>
        </p:grpSpPr>
        <p:sp>
          <p:nvSpPr>
            <p:cNvPr id="719" name="Rectangle 119"/>
            <p:cNvSpPr>
              <a:spLocks noChangeArrowheads="true"/>
            </p:cNvSpPr>
            <p:nvPr/>
          </p:nvSpPr>
          <p:spPr bwMode="auto">
            <a:xfrm>
              <a:off x="1857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/>
            <a:p>
              <a:pPr>
                <a:defRPr/>
              </a:pPr>
              <a:endParaRPr lang="zh-CN" altLang="en-US">
                <a:latin typeface="Comic Sans MS" panose="030F0902030302020204" charset="0"/>
                <a:ea typeface="宋体" charset="-122"/>
              </a:endParaRPr>
            </a:p>
          </p:txBody>
        </p:sp>
        <p:sp>
          <p:nvSpPr>
            <p:cNvPr id="720" name="Rectangle 120"/>
            <p:cNvSpPr>
              <a:spLocks noChangeArrowheads="true"/>
            </p:cNvSpPr>
            <p:nvPr/>
          </p:nvSpPr>
          <p:spPr bwMode="auto">
            <a:xfrm>
              <a:off x="1857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90000"/>
                </a:lnSpc>
                <a:spcBef>
                  <a:spcPct val="30000"/>
                </a:spcBef>
                <a:defRPr/>
              </a:pPr>
              <a:r>
                <a:rPr lang="en-US" altLang="zh-CN" sz="1400">
                  <a:solidFill>
                    <a:schemeClr val="tx2"/>
                  </a:solidFill>
                  <a:latin typeface="Helvetica" pitchFamily="34" charset="0"/>
                  <a:ea typeface="宋体" charset="-122"/>
                </a:rPr>
                <a:t>9</a:t>
              </a:r>
              <a:endParaRPr/>
            </a:p>
          </p:txBody>
        </p:sp>
      </p:grpSp>
      <p:grpSp>
        <p:nvGrpSpPr>
          <p:cNvPr id="721" name="Group 121"/>
          <p:cNvGrpSpPr/>
          <p:nvPr/>
        </p:nvGrpSpPr>
        <p:grpSpPr>
          <a:xfrm>
            <a:off x="3233738" y="1941513"/>
            <a:ext cx="487363" cy="609600"/>
            <a:chOff x="2164" y="1176"/>
            <a:chExt cx="307" cy="384"/>
          </a:xfrm>
          <a:noFill/>
        </p:grpSpPr>
        <p:sp>
          <p:nvSpPr>
            <p:cNvPr id="722" name="Rectangle 122"/>
            <p:cNvSpPr>
              <a:spLocks noChangeArrowheads="true"/>
            </p:cNvSpPr>
            <p:nvPr/>
          </p:nvSpPr>
          <p:spPr bwMode="auto">
            <a:xfrm>
              <a:off x="2164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/>
            <a:p>
              <a:pPr>
                <a:defRPr/>
              </a:pPr>
              <a:endParaRPr lang="zh-CN" altLang="en-US">
                <a:latin typeface="Comic Sans MS" panose="030F0902030302020204" charset="0"/>
                <a:ea typeface="宋体" charset="-122"/>
              </a:endParaRPr>
            </a:p>
          </p:txBody>
        </p:sp>
        <p:sp>
          <p:nvSpPr>
            <p:cNvPr id="723" name="Rectangle 123"/>
            <p:cNvSpPr>
              <a:spLocks noChangeArrowheads="true"/>
            </p:cNvSpPr>
            <p:nvPr/>
          </p:nvSpPr>
          <p:spPr bwMode="auto">
            <a:xfrm>
              <a:off x="2164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90000"/>
                </a:lnSpc>
                <a:spcBef>
                  <a:spcPct val="30000"/>
                </a:spcBef>
                <a:defRPr/>
              </a:pPr>
              <a:r>
                <a:rPr lang="en-US" altLang="zh-CN" sz="1400">
                  <a:solidFill>
                    <a:schemeClr val="tx2"/>
                  </a:solidFill>
                  <a:latin typeface="Helvetica" pitchFamily="34" charset="0"/>
                  <a:ea typeface="宋体" charset="-122"/>
                </a:rPr>
                <a:t>8</a:t>
              </a:r>
              <a:endParaRPr/>
            </a:p>
          </p:txBody>
        </p:sp>
      </p:grpSp>
      <p:grpSp>
        <p:nvGrpSpPr>
          <p:cNvPr id="724" name="Group 124"/>
          <p:cNvGrpSpPr/>
          <p:nvPr/>
        </p:nvGrpSpPr>
        <p:grpSpPr>
          <a:xfrm>
            <a:off x="3721100" y="1941513"/>
            <a:ext cx="487363" cy="609600"/>
            <a:chOff x="2471" y="1176"/>
            <a:chExt cx="307" cy="384"/>
          </a:xfrm>
          <a:noFill/>
        </p:grpSpPr>
        <p:sp>
          <p:nvSpPr>
            <p:cNvPr id="725" name="Rectangle 125"/>
            <p:cNvSpPr>
              <a:spLocks noChangeArrowheads="true"/>
            </p:cNvSpPr>
            <p:nvPr/>
          </p:nvSpPr>
          <p:spPr bwMode="auto">
            <a:xfrm>
              <a:off x="2471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/>
            <a:p>
              <a:pPr>
                <a:defRPr/>
              </a:pPr>
              <a:endParaRPr lang="zh-CN" altLang="en-US">
                <a:latin typeface="Comic Sans MS" panose="030F0902030302020204" charset="0"/>
                <a:ea typeface="宋体" charset="-122"/>
              </a:endParaRPr>
            </a:p>
          </p:txBody>
        </p:sp>
        <p:sp>
          <p:nvSpPr>
            <p:cNvPr id="726" name="Rectangle 126"/>
            <p:cNvSpPr>
              <a:spLocks noChangeArrowheads="true"/>
            </p:cNvSpPr>
            <p:nvPr/>
          </p:nvSpPr>
          <p:spPr bwMode="auto">
            <a:xfrm>
              <a:off x="2471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90000"/>
                </a:lnSpc>
                <a:spcBef>
                  <a:spcPct val="30000"/>
                </a:spcBef>
                <a:defRPr/>
              </a:pPr>
              <a:r>
                <a:rPr lang="en-US" altLang="zh-CN" sz="1400">
                  <a:solidFill>
                    <a:schemeClr val="tx2"/>
                  </a:solidFill>
                  <a:latin typeface="Helvetica" pitchFamily="34" charset="0"/>
                  <a:ea typeface="宋体" charset="-122"/>
                </a:rPr>
                <a:t>7</a:t>
              </a:r>
              <a:endParaRPr/>
            </a:p>
          </p:txBody>
        </p:sp>
      </p:grpSp>
      <p:grpSp>
        <p:nvGrpSpPr>
          <p:cNvPr id="727" name="Group 127"/>
          <p:cNvGrpSpPr/>
          <p:nvPr/>
        </p:nvGrpSpPr>
        <p:grpSpPr>
          <a:xfrm>
            <a:off x="4208463" y="1941513"/>
            <a:ext cx="487363" cy="609600"/>
            <a:chOff x="2778" y="1176"/>
            <a:chExt cx="307" cy="384"/>
          </a:xfrm>
          <a:noFill/>
        </p:grpSpPr>
        <p:sp>
          <p:nvSpPr>
            <p:cNvPr id="728" name="Rectangle 128"/>
            <p:cNvSpPr>
              <a:spLocks noChangeArrowheads="true"/>
            </p:cNvSpPr>
            <p:nvPr/>
          </p:nvSpPr>
          <p:spPr bwMode="auto">
            <a:xfrm>
              <a:off x="2778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/>
            <a:p>
              <a:pPr>
                <a:defRPr/>
              </a:pPr>
              <a:endParaRPr lang="zh-CN" altLang="en-US">
                <a:latin typeface="Comic Sans MS" panose="030F0902030302020204" charset="0"/>
                <a:ea typeface="宋体" charset="-122"/>
              </a:endParaRPr>
            </a:p>
          </p:txBody>
        </p:sp>
        <p:sp>
          <p:nvSpPr>
            <p:cNvPr id="729" name="Rectangle 129"/>
            <p:cNvSpPr>
              <a:spLocks noChangeArrowheads="true"/>
            </p:cNvSpPr>
            <p:nvPr/>
          </p:nvSpPr>
          <p:spPr bwMode="auto">
            <a:xfrm>
              <a:off x="2778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90000"/>
                </a:lnSpc>
                <a:spcBef>
                  <a:spcPct val="30000"/>
                </a:spcBef>
                <a:defRPr/>
              </a:pPr>
              <a:r>
                <a:rPr lang="en-US" altLang="zh-CN" sz="1400">
                  <a:solidFill>
                    <a:schemeClr val="tx2"/>
                  </a:solidFill>
                  <a:latin typeface="Helvetica" pitchFamily="34" charset="0"/>
                  <a:ea typeface="宋体" charset="-122"/>
                </a:rPr>
                <a:t>6</a:t>
              </a:r>
              <a:endParaRPr/>
            </a:p>
          </p:txBody>
        </p:sp>
      </p:grpSp>
      <p:grpSp>
        <p:nvGrpSpPr>
          <p:cNvPr id="730" name="Group 130"/>
          <p:cNvGrpSpPr/>
          <p:nvPr/>
        </p:nvGrpSpPr>
        <p:grpSpPr>
          <a:xfrm>
            <a:off x="4695825" y="1941513"/>
            <a:ext cx="487363" cy="609600"/>
            <a:chOff x="3085" y="1176"/>
            <a:chExt cx="307" cy="384"/>
          </a:xfrm>
          <a:noFill/>
        </p:grpSpPr>
        <p:sp>
          <p:nvSpPr>
            <p:cNvPr id="731" name="Rectangle 131"/>
            <p:cNvSpPr>
              <a:spLocks noChangeArrowheads="true"/>
            </p:cNvSpPr>
            <p:nvPr/>
          </p:nvSpPr>
          <p:spPr bwMode="auto">
            <a:xfrm>
              <a:off x="3085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/>
            <a:p>
              <a:pPr>
                <a:defRPr/>
              </a:pPr>
              <a:endParaRPr lang="zh-CN" altLang="en-US">
                <a:latin typeface="Comic Sans MS" panose="030F0902030302020204" charset="0"/>
                <a:ea typeface="宋体" charset="-122"/>
              </a:endParaRPr>
            </a:p>
          </p:txBody>
        </p:sp>
        <p:sp>
          <p:nvSpPr>
            <p:cNvPr id="732" name="Rectangle 132"/>
            <p:cNvSpPr>
              <a:spLocks noChangeArrowheads="true"/>
            </p:cNvSpPr>
            <p:nvPr/>
          </p:nvSpPr>
          <p:spPr bwMode="auto">
            <a:xfrm>
              <a:off x="3085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90000"/>
                </a:lnSpc>
                <a:spcBef>
                  <a:spcPct val="30000"/>
                </a:spcBef>
                <a:defRPr/>
              </a:pPr>
              <a:r>
                <a:rPr lang="en-US" altLang="zh-CN" sz="1400">
                  <a:solidFill>
                    <a:schemeClr val="tx2"/>
                  </a:solidFill>
                  <a:latin typeface="Helvetica" pitchFamily="34" charset="0"/>
                  <a:ea typeface="宋体" charset="-122"/>
                </a:rPr>
                <a:t>5</a:t>
              </a:r>
              <a:endParaRPr/>
            </a:p>
          </p:txBody>
        </p:sp>
      </p:grpSp>
      <p:grpSp>
        <p:nvGrpSpPr>
          <p:cNvPr id="733" name="Group 133"/>
          <p:cNvGrpSpPr/>
          <p:nvPr/>
        </p:nvGrpSpPr>
        <p:grpSpPr>
          <a:xfrm>
            <a:off x="5183188" y="1941513"/>
            <a:ext cx="487363" cy="609600"/>
            <a:chOff x="3392" y="1176"/>
            <a:chExt cx="307" cy="384"/>
          </a:xfrm>
          <a:noFill/>
        </p:grpSpPr>
        <p:sp>
          <p:nvSpPr>
            <p:cNvPr id="734" name="Rectangle 134"/>
            <p:cNvSpPr>
              <a:spLocks noChangeArrowheads="true"/>
            </p:cNvSpPr>
            <p:nvPr/>
          </p:nvSpPr>
          <p:spPr bwMode="auto">
            <a:xfrm>
              <a:off x="3392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/>
            <a:p>
              <a:pPr>
                <a:defRPr/>
              </a:pPr>
              <a:endParaRPr lang="zh-CN" altLang="en-US">
                <a:latin typeface="Comic Sans MS" panose="030F0902030302020204" charset="0"/>
                <a:ea typeface="宋体" charset="-122"/>
              </a:endParaRPr>
            </a:p>
          </p:txBody>
        </p:sp>
        <p:sp>
          <p:nvSpPr>
            <p:cNvPr id="735" name="Rectangle 135"/>
            <p:cNvSpPr>
              <a:spLocks noChangeArrowheads="true"/>
            </p:cNvSpPr>
            <p:nvPr/>
          </p:nvSpPr>
          <p:spPr bwMode="auto">
            <a:xfrm>
              <a:off x="3392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90000"/>
                </a:lnSpc>
                <a:spcBef>
                  <a:spcPct val="30000"/>
                </a:spcBef>
                <a:defRPr/>
              </a:pPr>
              <a:r>
                <a:rPr lang="en-US" altLang="zh-CN" sz="1400">
                  <a:solidFill>
                    <a:schemeClr val="tx2"/>
                  </a:solidFill>
                  <a:latin typeface="Helvetica" pitchFamily="34" charset="0"/>
                  <a:ea typeface="宋体" charset="-122"/>
                </a:rPr>
                <a:t>4</a:t>
              </a:r>
              <a:endParaRPr/>
            </a:p>
          </p:txBody>
        </p:sp>
      </p:grpSp>
      <p:grpSp>
        <p:nvGrpSpPr>
          <p:cNvPr id="736" name="Group 136"/>
          <p:cNvGrpSpPr/>
          <p:nvPr/>
        </p:nvGrpSpPr>
        <p:grpSpPr>
          <a:xfrm>
            <a:off x="5670550" y="1941513"/>
            <a:ext cx="487363" cy="609600"/>
            <a:chOff x="3699" y="1176"/>
            <a:chExt cx="307" cy="384"/>
          </a:xfrm>
          <a:noFill/>
        </p:grpSpPr>
        <p:sp>
          <p:nvSpPr>
            <p:cNvPr id="737" name="Rectangle 137"/>
            <p:cNvSpPr>
              <a:spLocks noChangeArrowheads="true"/>
            </p:cNvSpPr>
            <p:nvPr/>
          </p:nvSpPr>
          <p:spPr bwMode="auto">
            <a:xfrm>
              <a:off x="3699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/>
            <a:p>
              <a:pPr>
                <a:defRPr/>
              </a:pPr>
              <a:endParaRPr lang="zh-CN" altLang="en-US">
                <a:latin typeface="Comic Sans MS" panose="030F0902030302020204" charset="0"/>
                <a:ea typeface="宋体" charset="-122"/>
              </a:endParaRPr>
            </a:p>
          </p:txBody>
        </p:sp>
        <p:sp>
          <p:nvSpPr>
            <p:cNvPr id="738" name="Rectangle 138"/>
            <p:cNvSpPr>
              <a:spLocks noChangeArrowheads="true"/>
            </p:cNvSpPr>
            <p:nvPr/>
          </p:nvSpPr>
          <p:spPr bwMode="auto">
            <a:xfrm>
              <a:off x="3699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90000"/>
                </a:lnSpc>
                <a:spcBef>
                  <a:spcPct val="30000"/>
                </a:spcBef>
                <a:defRPr/>
              </a:pPr>
              <a:r>
                <a:rPr lang="en-US" altLang="zh-CN" sz="1400">
                  <a:solidFill>
                    <a:schemeClr val="tx2"/>
                  </a:solidFill>
                  <a:latin typeface="Helvetica" pitchFamily="34" charset="0"/>
                  <a:ea typeface="宋体" charset="-122"/>
                </a:rPr>
                <a:t>3</a:t>
              </a:r>
              <a:endParaRPr/>
            </a:p>
          </p:txBody>
        </p:sp>
      </p:grpSp>
      <p:grpSp>
        <p:nvGrpSpPr>
          <p:cNvPr id="739" name="Group 139"/>
          <p:cNvGrpSpPr/>
          <p:nvPr/>
        </p:nvGrpSpPr>
        <p:grpSpPr>
          <a:xfrm>
            <a:off x="6157913" y="1941513"/>
            <a:ext cx="487363" cy="609600"/>
            <a:chOff x="4006" y="1176"/>
            <a:chExt cx="307" cy="384"/>
          </a:xfrm>
          <a:noFill/>
        </p:grpSpPr>
        <p:sp>
          <p:nvSpPr>
            <p:cNvPr id="740" name="Rectangle 140"/>
            <p:cNvSpPr>
              <a:spLocks noChangeArrowheads="true"/>
            </p:cNvSpPr>
            <p:nvPr/>
          </p:nvSpPr>
          <p:spPr bwMode="auto">
            <a:xfrm>
              <a:off x="4006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/>
            <a:p>
              <a:pPr>
                <a:defRPr/>
              </a:pPr>
              <a:endParaRPr lang="zh-CN" altLang="en-US">
                <a:latin typeface="Comic Sans MS" panose="030F0902030302020204" charset="0"/>
                <a:ea typeface="宋体" charset="-122"/>
              </a:endParaRPr>
            </a:p>
          </p:txBody>
        </p:sp>
        <p:sp>
          <p:nvSpPr>
            <p:cNvPr id="741" name="Rectangle 141"/>
            <p:cNvSpPr>
              <a:spLocks noChangeArrowheads="true"/>
            </p:cNvSpPr>
            <p:nvPr/>
          </p:nvSpPr>
          <p:spPr bwMode="auto">
            <a:xfrm>
              <a:off x="4006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90000"/>
                </a:lnSpc>
                <a:spcBef>
                  <a:spcPct val="30000"/>
                </a:spcBef>
                <a:defRPr/>
              </a:pPr>
              <a:r>
                <a:rPr lang="en-US" altLang="zh-CN" sz="1400">
                  <a:solidFill>
                    <a:schemeClr val="tx2"/>
                  </a:solidFill>
                  <a:latin typeface="Helvetica" pitchFamily="34" charset="0"/>
                  <a:ea typeface="宋体" charset="-122"/>
                </a:rPr>
                <a:t>2</a:t>
              </a:r>
              <a:endParaRPr/>
            </a:p>
          </p:txBody>
        </p:sp>
      </p:grpSp>
      <p:grpSp>
        <p:nvGrpSpPr>
          <p:cNvPr id="742" name="Group 142"/>
          <p:cNvGrpSpPr/>
          <p:nvPr/>
        </p:nvGrpSpPr>
        <p:grpSpPr>
          <a:xfrm>
            <a:off x="6645275" y="1941513"/>
            <a:ext cx="487363" cy="609600"/>
            <a:chOff x="4313" y="1176"/>
            <a:chExt cx="307" cy="384"/>
          </a:xfrm>
          <a:noFill/>
        </p:grpSpPr>
        <p:sp>
          <p:nvSpPr>
            <p:cNvPr id="743" name="Rectangle 143"/>
            <p:cNvSpPr>
              <a:spLocks noChangeArrowheads="true"/>
            </p:cNvSpPr>
            <p:nvPr/>
          </p:nvSpPr>
          <p:spPr bwMode="auto">
            <a:xfrm>
              <a:off x="4313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/>
            <a:p>
              <a:pPr>
                <a:defRPr/>
              </a:pPr>
              <a:endParaRPr lang="zh-CN" altLang="en-US">
                <a:latin typeface="Comic Sans MS" panose="030F0902030302020204" charset="0"/>
                <a:ea typeface="宋体" charset="-122"/>
              </a:endParaRPr>
            </a:p>
          </p:txBody>
        </p:sp>
        <p:sp>
          <p:nvSpPr>
            <p:cNvPr id="744" name="Rectangle 144"/>
            <p:cNvSpPr>
              <a:spLocks noChangeArrowheads="true"/>
            </p:cNvSpPr>
            <p:nvPr/>
          </p:nvSpPr>
          <p:spPr bwMode="auto">
            <a:xfrm>
              <a:off x="4313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90000"/>
                </a:lnSpc>
                <a:spcBef>
                  <a:spcPct val="30000"/>
                </a:spcBef>
                <a:defRPr/>
              </a:pPr>
              <a:r>
                <a:rPr lang="en-US" altLang="zh-CN" sz="1400">
                  <a:solidFill>
                    <a:schemeClr val="tx2"/>
                  </a:solidFill>
                  <a:latin typeface="Helvetica" pitchFamily="34" charset="0"/>
                  <a:ea typeface="宋体" charset="-122"/>
                </a:rPr>
                <a:t>1</a:t>
              </a:r>
              <a:endParaRPr/>
            </a:p>
          </p:txBody>
        </p:sp>
      </p:grpSp>
      <p:grpSp>
        <p:nvGrpSpPr>
          <p:cNvPr id="745" name="Group 145"/>
          <p:cNvGrpSpPr/>
          <p:nvPr/>
        </p:nvGrpSpPr>
        <p:grpSpPr>
          <a:xfrm>
            <a:off x="7132638" y="1941513"/>
            <a:ext cx="487363" cy="609600"/>
            <a:chOff x="4620" y="1176"/>
            <a:chExt cx="307" cy="384"/>
          </a:xfrm>
          <a:noFill/>
        </p:grpSpPr>
        <p:sp>
          <p:nvSpPr>
            <p:cNvPr id="746" name="Rectangle 146"/>
            <p:cNvSpPr>
              <a:spLocks noChangeArrowheads="true"/>
            </p:cNvSpPr>
            <p:nvPr/>
          </p:nvSpPr>
          <p:spPr bwMode="auto">
            <a:xfrm>
              <a:off x="4620" y="1368"/>
              <a:ext cx="307" cy="19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/>
            <a:p>
              <a:pPr>
                <a:defRPr/>
              </a:pPr>
              <a:endParaRPr lang="zh-CN" altLang="en-US">
                <a:latin typeface="Comic Sans MS" panose="030F0902030302020204" charset="0"/>
                <a:ea typeface="宋体" charset="-122"/>
              </a:endParaRPr>
            </a:p>
          </p:txBody>
        </p:sp>
        <p:sp>
          <p:nvSpPr>
            <p:cNvPr id="747" name="Rectangle 147"/>
            <p:cNvSpPr>
              <a:spLocks noChangeArrowheads="true"/>
            </p:cNvSpPr>
            <p:nvPr/>
          </p:nvSpPr>
          <p:spPr bwMode="auto">
            <a:xfrm>
              <a:off x="4620" y="1176"/>
              <a:ext cx="307" cy="19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90000"/>
                </a:lnSpc>
                <a:spcBef>
                  <a:spcPct val="30000"/>
                </a:spcBef>
                <a:defRPr/>
              </a:pPr>
              <a:r>
                <a:rPr lang="en-US" altLang="zh-CN" sz="1400">
                  <a:solidFill>
                    <a:schemeClr val="tx2"/>
                  </a:solidFill>
                  <a:latin typeface="Helvetica" pitchFamily="34" charset="0"/>
                  <a:ea typeface="宋体" charset="-122"/>
                </a:rPr>
                <a:t>0</a:t>
              </a:r>
              <a:endParaRPr/>
            </a:p>
          </p:txBody>
        </p:sp>
      </p:grpSp>
      <p:grpSp>
        <p:nvGrpSpPr>
          <p:cNvPr id="748" name="Group 148"/>
          <p:cNvGrpSpPr/>
          <p:nvPr/>
        </p:nvGrpSpPr>
        <p:grpSpPr>
          <a:xfrm>
            <a:off x="4695825" y="2711450"/>
            <a:ext cx="2924175" cy="336550"/>
            <a:chOff x="3085" y="1661"/>
            <a:chExt cx="1842" cy="212"/>
          </a:xfrm>
          <a:noFill/>
        </p:grpSpPr>
        <p:sp>
          <p:nvSpPr>
            <p:cNvPr id="749" name="Line 149"/>
            <p:cNvSpPr>
              <a:spLocks noChangeShapeType="true"/>
            </p:cNvSpPr>
            <p:nvPr/>
          </p:nvSpPr>
          <p:spPr bwMode="auto">
            <a:xfrm>
              <a:off x="3085" y="1752"/>
              <a:ext cx="1842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  <p:txBody>
            <a:bodyPr wrap="none" lIns="90487" tIns="44450" rIns="90487" bIns="44450"/>
            <a:lstStyle/>
            <a:p>
              <a:pPr>
                <a:defRPr/>
              </a:pPr>
              <a:endParaRPr lang="zh-CN" altLang="en-US">
                <a:latin typeface="Comic Sans MS" panose="030F0902030302020204" charset="0"/>
                <a:ea typeface="宋体" charset="-122"/>
              </a:endParaRPr>
            </a:p>
          </p:txBody>
        </p:sp>
        <p:sp>
          <p:nvSpPr>
            <p:cNvPr id="750" name="Text Box 150"/>
            <p:cNvSpPr txBox="true">
              <a:spLocks noChangeArrowheads="true"/>
            </p:cNvSpPr>
            <p:nvPr/>
          </p:nvSpPr>
          <p:spPr bwMode="auto">
            <a:xfrm>
              <a:off x="3794" y="1661"/>
              <a:ext cx="418" cy="2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90487" tIns="44450" rIns="90487" bIns="44450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defRPr/>
              </a:pPr>
              <a:r>
                <a:rPr lang="en-US" altLang="zh-CN" sz="1800">
                  <a:solidFill>
                    <a:schemeClr val="tx2"/>
                  </a:solidFill>
                  <a:latin typeface="Helvetica" pitchFamily="34" charset="0"/>
                </a:rPr>
                <a:t>VPO</a:t>
              </a:r>
              <a:endParaRPr/>
            </a:p>
          </p:txBody>
        </p:sp>
      </p:grpSp>
      <p:grpSp>
        <p:nvGrpSpPr>
          <p:cNvPr id="751" name="Group 151"/>
          <p:cNvGrpSpPr/>
          <p:nvPr/>
        </p:nvGrpSpPr>
        <p:grpSpPr>
          <a:xfrm>
            <a:off x="796925" y="2703513"/>
            <a:ext cx="3916363" cy="336550"/>
            <a:chOff x="629" y="1656"/>
            <a:chExt cx="2467" cy="212"/>
          </a:xfrm>
          <a:noFill/>
        </p:grpSpPr>
        <p:sp>
          <p:nvSpPr>
            <p:cNvPr id="752" name="Line 152"/>
            <p:cNvSpPr>
              <a:spLocks noChangeShapeType="true"/>
            </p:cNvSpPr>
            <p:nvPr/>
          </p:nvSpPr>
          <p:spPr bwMode="auto">
            <a:xfrm>
              <a:off x="629" y="1747"/>
              <a:ext cx="2467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  <p:txBody>
            <a:bodyPr wrap="none" lIns="90487" tIns="44450" rIns="90487" bIns="44450"/>
            <a:lstStyle/>
            <a:p>
              <a:pPr>
                <a:defRPr/>
              </a:pPr>
              <a:endParaRPr lang="zh-CN" altLang="en-US">
                <a:latin typeface="Comic Sans MS" panose="030F0902030302020204" charset="0"/>
                <a:ea typeface="宋体" charset="-122"/>
              </a:endParaRPr>
            </a:p>
          </p:txBody>
        </p:sp>
        <p:sp>
          <p:nvSpPr>
            <p:cNvPr id="753" name="Text Box 153"/>
            <p:cNvSpPr txBox="true">
              <a:spLocks noChangeArrowheads="true"/>
            </p:cNvSpPr>
            <p:nvPr/>
          </p:nvSpPr>
          <p:spPr bwMode="auto">
            <a:xfrm>
              <a:off x="1579" y="1656"/>
              <a:ext cx="409" cy="2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90487" tIns="44450" rIns="90487" bIns="44450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defRPr/>
              </a:pPr>
              <a:r>
                <a:rPr lang="en-US" altLang="zh-CN" sz="1800" dirty="false">
                  <a:solidFill>
                    <a:schemeClr val="tx2"/>
                  </a:solidFill>
                  <a:latin typeface="Helvetica" pitchFamily="34" charset="0"/>
                </a:rPr>
                <a:t>VPN</a:t>
              </a:r>
              <a:endParaRPr/>
            </a:p>
          </p:txBody>
        </p:sp>
      </p:grpSp>
      <p:sp>
        <p:nvSpPr>
          <p:cNvPr id="754" name="Text Box 160"/>
          <p:cNvSpPr txBox="true">
            <a:spLocks noChangeArrowheads="true"/>
          </p:cNvSpPr>
          <p:nvPr/>
        </p:nvSpPr>
        <p:spPr bwMode="auto">
          <a:xfrm>
            <a:off x="7189788" y="2252663"/>
            <a:ext cx="381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/>
            <a:r>
              <a:rPr lang="zh-CN" altLang="en-US" sz="1600">
                <a:solidFill>
                  <a:srgbClr val="00B050"/>
                </a:solidFill>
                <a:latin typeface="Helvetica" pitchFamily="34" charset="0"/>
              </a:rPr>
              <a:t>0</a:t>
            </a:r>
            <a:endParaRPr/>
          </a:p>
        </p:txBody>
      </p:sp>
      <p:sp>
        <p:nvSpPr>
          <p:cNvPr id="755" name="Text Box 161"/>
          <p:cNvSpPr txBox="true">
            <a:spLocks noChangeArrowheads="true"/>
          </p:cNvSpPr>
          <p:nvPr/>
        </p:nvSpPr>
        <p:spPr bwMode="auto">
          <a:xfrm>
            <a:off x="6656388" y="2252663"/>
            <a:ext cx="381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/>
            <a:r>
              <a:rPr lang="zh-CN" altLang="en-US" sz="1600">
                <a:solidFill>
                  <a:srgbClr val="00B050"/>
                </a:solidFill>
                <a:latin typeface="Helvetica" pitchFamily="34" charset="0"/>
              </a:rPr>
              <a:t>0</a:t>
            </a:r>
            <a:endParaRPr/>
          </a:p>
        </p:txBody>
      </p:sp>
      <p:sp>
        <p:nvSpPr>
          <p:cNvPr id="756" name="Text Box 162"/>
          <p:cNvSpPr txBox="true">
            <a:spLocks noChangeArrowheads="true"/>
          </p:cNvSpPr>
          <p:nvPr/>
        </p:nvSpPr>
        <p:spPr bwMode="auto">
          <a:xfrm>
            <a:off x="6199188" y="2252663"/>
            <a:ext cx="381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/>
            <a:r>
              <a:rPr lang="zh-CN" altLang="en-US" sz="1600">
                <a:solidFill>
                  <a:srgbClr val="00B050"/>
                </a:solidFill>
                <a:latin typeface="Helvetica" pitchFamily="34" charset="0"/>
              </a:rPr>
              <a:t>1</a:t>
            </a:r>
            <a:endParaRPr/>
          </a:p>
        </p:txBody>
      </p:sp>
      <p:sp>
        <p:nvSpPr>
          <p:cNvPr id="757" name="Text Box 163"/>
          <p:cNvSpPr txBox="true">
            <a:spLocks noChangeArrowheads="true"/>
          </p:cNvSpPr>
          <p:nvPr/>
        </p:nvSpPr>
        <p:spPr bwMode="auto">
          <a:xfrm>
            <a:off x="5741988" y="2252663"/>
            <a:ext cx="381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/>
            <a:r>
              <a:rPr lang="zh-CN" altLang="en-US" sz="1600">
                <a:solidFill>
                  <a:srgbClr val="00B050"/>
                </a:solidFill>
                <a:latin typeface="Helvetica" pitchFamily="34" charset="0"/>
              </a:rPr>
              <a:t>0</a:t>
            </a:r>
            <a:endParaRPr/>
          </a:p>
        </p:txBody>
      </p:sp>
      <p:sp>
        <p:nvSpPr>
          <p:cNvPr id="758" name="Text Box 164"/>
          <p:cNvSpPr txBox="true">
            <a:spLocks noChangeArrowheads="true"/>
          </p:cNvSpPr>
          <p:nvPr/>
        </p:nvSpPr>
        <p:spPr bwMode="auto">
          <a:xfrm>
            <a:off x="5208588" y="2252663"/>
            <a:ext cx="381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/>
            <a:r>
              <a:rPr lang="zh-CN" altLang="en-US" sz="1600">
                <a:solidFill>
                  <a:srgbClr val="FFC000"/>
                </a:solidFill>
                <a:latin typeface="Helvetica" pitchFamily="34" charset="0"/>
              </a:rPr>
              <a:t>1</a:t>
            </a:r>
            <a:endParaRPr/>
          </a:p>
        </p:txBody>
      </p:sp>
      <p:sp>
        <p:nvSpPr>
          <p:cNvPr id="759" name="Text Box 165"/>
          <p:cNvSpPr txBox="true">
            <a:spLocks noChangeArrowheads="true"/>
          </p:cNvSpPr>
          <p:nvPr/>
        </p:nvSpPr>
        <p:spPr bwMode="auto">
          <a:xfrm>
            <a:off x="4751388" y="2252663"/>
            <a:ext cx="381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/>
            <a:r>
              <a:rPr lang="zh-CN" altLang="en-US" sz="1600">
                <a:solidFill>
                  <a:srgbClr val="FFC000"/>
                </a:solidFill>
                <a:latin typeface="Helvetica" pitchFamily="34" charset="0"/>
              </a:rPr>
              <a:t>0</a:t>
            </a:r>
            <a:endParaRPr/>
          </a:p>
        </p:txBody>
      </p:sp>
      <p:sp>
        <p:nvSpPr>
          <p:cNvPr id="760" name="Text Box 166"/>
          <p:cNvSpPr txBox="true">
            <a:spLocks noChangeArrowheads="true"/>
          </p:cNvSpPr>
          <p:nvPr/>
        </p:nvSpPr>
        <p:spPr bwMode="auto">
          <a:xfrm>
            <a:off x="4217988" y="2252663"/>
            <a:ext cx="381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/>
            <a:r>
              <a:rPr lang="zh-CN" altLang="en-US" sz="1600">
                <a:solidFill>
                  <a:srgbClr val="FFC000"/>
                </a:solidFill>
                <a:latin typeface="Helvetica" pitchFamily="34" charset="0"/>
              </a:rPr>
              <a:t>1</a:t>
            </a:r>
            <a:endParaRPr/>
          </a:p>
        </p:txBody>
      </p:sp>
      <p:sp>
        <p:nvSpPr>
          <p:cNvPr id="761" name="Text Box 167"/>
          <p:cNvSpPr txBox="true">
            <a:spLocks noChangeArrowheads="true"/>
          </p:cNvSpPr>
          <p:nvPr/>
        </p:nvSpPr>
        <p:spPr bwMode="auto">
          <a:xfrm>
            <a:off x="3760788" y="2252663"/>
            <a:ext cx="381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/>
            <a:r>
              <a:rPr lang="zh-CN" altLang="en-US" sz="1600">
                <a:solidFill>
                  <a:srgbClr val="FFC000"/>
                </a:solidFill>
                <a:latin typeface="Helvetica" pitchFamily="34" charset="0"/>
              </a:rPr>
              <a:t>1</a:t>
            </a:r>
            <a:endParaRPr/>
          </a:p>
        </p:txBody>
      </p:sp>
      <p:sp>
        <p:nvSpPr>
          <p:cNvPr id="762" name="Text Box 168"/>
          <p:cNvSpPr txBox="true">
            <a:spLocks noChangeArrowheads="true"/>
          </p:cNvSpPr>
          <p:nvPr/>
        </p:nvSpPr>
        <p:spPr bwMode="auto">
          <a:xfrm>
            <a:off x="3303588" y="2252663"/>
            <a:ext cx="381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/>
            <a:r>
              <a:rPr lang="zh-CN" altLang="en-US" sz="1600">
                <a:solidFill>
                  <a:srgbClr val="00B0F0"/>
                </a:solidFill>
                <a:latin typeface="Helvetica" pitchFamily="34" charset="0"/>
              </a:rPr>
              <a:t>1</a:t>
            </a:r>
            <a:endParaRPr/>
          </a:p>
        </p:txBody>
      </p:sp>
      <p:sp>
        <p:nvSpPr>
          <p:cNvPr id="763" name="Text Box 169"/>
          <p:cNvSpPr txBox="true">
            <a:spLocks noChangeArrowheads="true"/>
          </p:cNvSpPr>
          <p:nvPr/>
        </p:nvSpPr>
        <p:spPr bwMode="auto">
          <a:xfrm>
            <a:off x="2770188" y="2252663"/>
            <a:ext cx="381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/>
            <a:r>
              <a:rPr lang="zh-CN" altLang="en-US" sz="1600">
                <a:solidFill>
                  <a:srgbClr val="00B0F0"/>
                </a:solidFill>
                <a:latin typeface="Helvetica" pitchFamily="34" charset="0"/>
              </a:rPr>
              <a:t>1</a:t>
            </a:r>
            <a:endParaRPr/>
          </a:p>
        </p:txBody>
      </p:sp>
      <p:sp>
        <p:nvSpPr>
          <p:cNvPr id="764" name="Text Box 170"/>
          <p:cNvSpPr txBox="true">
            <a:spLocks noChangeArrowheads="true"/>
          </p:cNvSpPr>
          <p:nvPr/>
        </p:nvSpPr>
        <p:spPr bwMode="auto">
          <a:xfrm>
            <a:off x="2312988" y="2252663"/>
            <a:ext cx="381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/>
            <a:r>
              <a:rPr lang="zh-CN" altLang="en-US" sz="1600">
                <a:solidFill>
                  <a:srgbClr val="00B0F0"/>
                </a:solidFill>
                <a:latin typeface="Helvetica" pitchFamily="34" charset="0"/>
              </a:rPr>
              <a:t>0</a:t>
            </a:r>
            <a:endParaRPr/>
          </a:p>
        </p:txBody>
      </p:sp>
      <p:sp>
        <p:nvSpPr>
          <p:cNvPr id="765" name="Text Box 171"/>
          <p:cNvSpPr txBox="true">
            <a:spLocks noChangeArrowheads="true"/>
          </p:cNvSpPr>
          <p:nvPr/>
        </p:nvSpPr>
        <p:spPr bwMode="auto">
          <a:xfrm>
            <a:off x="1779588" y="2252663"/>
            <a:ext cx="381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/>
            <a:r>
              <a:rPr lang="zh-CN" altLang="en-US" sz="1600">
                <a:solidFill>
                  <a:srgbClr val="00B0F0"/>
                </a:solidFill>
                <a:latin typeface="Helvetica" pitchFamily="34" charset="0"/>
              </a:rPr>
              <a:t>0</a:t>
            </a:r>
            <a:endParaRPr/>
          </a:p>
        </p:txBody>
      </p:sp>
      <p:sp>
        <p:nvSpPr>
          <p:cNvPr id="766" name="Text Box 172"/>
          <p:cNvSpPr txBox="true">
            <a:spLocks noChangeArrowheads="true"/>
          </p:cNvSpPr>
          <p:nvPr/>
        </p:nvSpPr>
        <p:spPr bwMode="auto">
          <a:xfrm>
            <a:off x="1322388" y="2252663"/>
            <a:ext cx="381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/>
            <a:r>
              <a:rPr lang="zh-CN" altLang="en-US" sz="1600">
                <a:solidFill>
                  <a:srgbClr val="FF0000"/>
                </a:solidFill>
                <a:latin typeface="Helvetica" pitchFamily="34" charset="0"/>
              </a:rPr>
              <a:t>0</a:t>
            </a:r>
            <a:endParaRPr/>
          </a:p>
        </p:txBody>
      </p:sp>
      <p:sp>
        <p:nvSpPr>
          <p:cNvPr id="767" name="Text Box 173"/>
          <p:cNvSpPr txBox="true">
            <a:spLocks noChangeArrowheads="true"/>
          </p:cNvSpPr>
          <p:nvPr/>
        </p:nvSpPr>
        <p:spPr bwMode="auto">
          <a:xfrm>
            <a:off x="865188" y="2252663"/>
            <a:ext cx="381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/>
            <a:r>
              <a:rPr lang="zh-CN" altLang="en-US" sz="1600">
                <a:solidFill>
                  <a:srgbClr val="FF0000"/>
                </a:solidFill>
                <a:latin typeface="Helvetica" pitchFamily="34" charset="0"/>
              </a:rPr>
              <a:t>0</a:t>
            </a:r>
            <a:endParaRPr/>
          </a:p>
        </p:txBody>
      </p:sp>
      <p:sp>
        <p:nvSpPr>
          <p:cNvPr id="768" name="Rectangle 176"/>
          <p:cNvSpPr>
            <a:spLocks noChangeArrowheads="true"/>
          </p:cNvSpPr>
          <p:nvPr/>
        </p:nvSpPr>
        <p:spPr bwMode="auto">
          <a:xfrm>
            <a:off x="708025" y="5257800"/>
            <a:ext cx="6054725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>
              <a:lnSpc>
                <a:spcPct val="140000"/>
              </a:lnSpc>
            </a:pPr>
            <a:r>
              <a:rPr lang="en-US" altLang="zh-CN" b="false"/>
              <a:t>PPN: </a:t>
            </a:r>
            <a:r>
              <a:rPr lang="en-US" altLang="zh-CN" u="sng">
                <a:solidFill>
                  <a:srgbClr val="9900CC"/>
                </a:solidFill>
              </a:rPr>
              <a:t>0x0D</a:t>
            </a:r>
            <a:r>
              <a:rPr lang="en-US" altLang="zh-CN" b="false"/>
              <a:t>    VPO: </a:t>
            </a:r>
            <a:r>
              <a:rPr lang="en-US" altLang="zh-CN" u="sng"/>
              <a:t>0x14</a:t>
            </a:r>
            <a:r>
              <a:rPr lang="en-US" altLang="zh-CN" b="false"/>
              <a:t>          		PA: </a:t>
            </a:r>
            <a:r>
              <a:rPr lang="en-US" altLang="zh-CN" b="false" u="sng"/>
              <a:t>0x</a:t>
            </a:r>
            <a:r>
              <a:rPr lang="en-US" altLang="zh-CN" b="false" u="sng">
                <a:solidFill>
                  <a:srgbClr val="00B0F0"/>
                </a:solidFill>
              </a:rPr>
              <a:t>3</a:t>
            </a:r>
            <a:r>
              <a:rPr lang="en-US" altLang="zh-CN" b="false" u="sng">
                <a:solidFill>
                  <a:srgbClr val="FFC000"/>
                </a:solidFill>
              </a:rPr>
              <a:t>5</a:t>
            </a:r>
            <a:r>
              <a:rPr lang="en-US" altLang="zh-CN" b="false" u="sng">
                <a:solidFill>
                  <a:srgbClr val="00B050"/>
                </a:solidFill>
              </a:rPr>
              <a:t>4</a:t>
            </a:r>
            <a:endParaRPr/>
          </a:p>
        </p:txBody>
      </p:sp>
      <p:grpSp>
        <p:nvGrpSpPr>
          <p:cNvPr id="769" name="Group 179"/>
          <p:cNvGrpSpPr/>
          <p:nvPr/>
        </p:nvGrpSpPr>
        <p:grpSpPr>
          <a:xfrm>
            <a:off x="1779588" y="4006850"/>
            <a:ext cx="5848350" cy="609600"/>
            <a:chOff x="1219" y="2880"/>
            <a:chExt cx="3684" cy="384"/>
          </a:xfrm>
        </p:grpSpPr>
        <p:grpSp>
          <p:nvGrpSpPr>
            <p:cNvPr id="770" name="Group 180"/>
            <p:cNvGrpSpPr/>
            <p:nvPr/>
          </p:nvGrpSpPr>
          <p:grpSpPr>
            <a:xfrm>
              <a:off x="1219" y="2880"/>
              <a:ext cx="307" cy="384"/>
              <a:chOff x="605" y="1776"/>
              <a:chExt cx="307" cy="384"/>
            </a:xfrm>
          </p:grpSpPr>
          <p:sp>
            <p:nvSpPr>
              <p:cNvPr id="771" name="Rectangle 181"/>
              <p:cNvSpPr>
                <a:spLocks noChangeArrowheads="true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/>
              </a:extLst>
            </p:spPr>
            <p:txBody>
              <a:bodyPr wrap="none" lIns="90487" tIns="44450" rIns="90487" bIns="44450" anchor="ctr"/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/>
                <a:endParaRPr lang="zh-CN" altLang="en-US"/>
              </a:p>
            </p:txBody>
          </p:sp>
          <p:sp>
            <p:nvSpPr>
              <p:cNvPr id="772" name="Rectangle 182"/>
              <p:cNvSpPr>
                <a:spLocks noChangeArrowheads="true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lIns="90487" tIns="44450" rIns="90487" bIns="44450" anchor="ctr"/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pitchFamily="34" charset="0"/>
                  </a:rPr>
                  <a:t>11</a:t>
                </a:r>
                <a:endParaRPr/>
              </a:p>
            </p:txBody>
          </p:sp>
        </p:grpSp>
        <p:grpSp>
          <p:nvGrpSpPr>
            <p:cNvPr id="773" name="Group 183"/>
            <p:cNvGrpSpPr/>
            <p:nvPr/>
          </p:nvGrpSpPr>
          <p:grpSpPr>
            <a:xfrm>
              <a:off x="1526" y="2880"/>
              <a:ext cx="307" cy="384"/>
              <a:chOff x="605" y="1776"/>
              <a:chExt cx="307" cy="384"/>
            </a:xfrm>
          </p:grpSpPr>
          <p:sp>
            <p:nvSpPr>
              <p:cNvPr id="774" name="Rectangle 184"/>
              <p:cNvSpPr>
                <a:spLocks noChangeArrowheads="true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/>
              </a:extLst>
            </p:spPr>
            <p:txBody>
              <a:bodyPr wrap="none" lIns="90487" tIns="44450" rIns="90487" bIns="44450" anchor="ctr"/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/>
                <a:endParaRPr lang="zh-CN" altLang="en-US"/>
              </a:p>
            </p:txBody>
          </p:sp>
          <p:sp>
            <p:nvSpPr>
              <p:cNvPr id="775" name="Rectangle 185"/>
              <p:cNvSpPr>
                <a:spLocks noChangeArrowheads="true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lIns="90487" tIns="44450" rIns="90487" bIns="44450" anchor="ctr"/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pitchFamily="34" charset="0"/>
                  </a:rPr>
                  <a:t>10</a:t>
                </a:r>
                <a:endParaRPr/>
              </a:p>
            </p:txBody>
          </p:sp>
        </p:grpSp>
        <p:grpSp>
          <p:nvGrpSpPr>
            <p:cNvPr id="776" name="Group 186"/>
            <p:cNvGrpSpPr/>
            <p:nvPr/>
          </p:nvGrpSpPr>
          <p:grpSpPr>
            <a:xfrm>
              <a:off x="1833" y="2880"/>
              <a:ext cx="307" cy="384"/>
              <a:chOff x="605" y="1776"/>
              <a:chExt cx="307" cy="384"/>
            </a:xfrm>
          </p:grpSpPr>
          <p:sp>
            <p:nvSpPr>
              <p:cNvPr id="777" name="Rectangle 187"/>
              <p:cNvSpPr>
                <a:spLocks noChangeArrowheads="true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/>
              </a:extLst>
            </p:spPr>
            <p:txBody>
              <a:bodyPr wrap="none" lIns="90487" tIns="44450" rIns="90487" bIns="44450" anchor="ctr"/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/>
                <a:endParaRPr lang="zh-CN" altLang="en-US"/>
              </a:p>
            </p:txBody>
          </p:sp>
          <p:sp>
            <p:nvSpPr>
              <p:cNvPr id="778" name="Rectangle 188"/>
              <p:cNvSpPr>
                <a:spLocks noChangeArrowheads="true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lIns="90487" tIns="44450" rIns="90487" bIns="44450" anchor="ctr"/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pitchFamily="34" charset="0"/>
                  </a:rPr>
                  <a:t>9</a:t>
                </a:r>
                <a:endParaRPr/>
              </a:p>
            </p:txBody>
          </p:sp>
        </p:grpSp>
        <p:grpSp>
          <p:nvGrpSpPr>
            <p:cNvPr id="779" name="Group 189"/>
            <p:cNvGrpSpPr/>
            <p:nvPr/>
          </p:nvGrpSpPr>
          <p:grpSpPr>
            <a:xfrm>
              <a:off x="2140" y="2880"/>
              <a:ext cx="307" cy="384"/>
              <a:chOff x="605" y="1776"/>
              <a:chExt cx="307" cy="384"/>
            </a:xfrm>
          </p:grpSpPr>
          <p:sp>
            <p:nvSpPr>
              <p:cNvPr id="780" name="Rectangle 190"/>
              <p:cNvSpPr>
                <a:spLocks noChangeArrowheads="true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/>
              </a:extLst>
            </p:spPr>
            <p:txBody>
              <a:bodyPr wrap="none" lIns="90487" tIns="44450" rIns="90487" bIns="44450" anchor="ctr"/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/>
                <a:endParaRPr lang="zh-CN" altLang="en-US"/>
              </a:p>
            </p:txBody>
          </p:sp>
          <p:sp>
            <p:nvSpPr>
              <p:cNvPr id="781" name="Rectangle 191"/>
              <p:cNvSpPr>
                <a:spLocks noChangeArrowheads="true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lIns="90487" tIns="44450" rIns="90487" bIns="44450" anchor="ctr"/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pitchFamily="34" charset="0"/>
                  </a:rPr>
                  <a:t>8</a:t>
                </a:r>
                <a:endParaRPr/>
              </a:p>
            </p:txBody>
          </p:sp>
        </p:grpSp>
        <p:grpSp>
          <p:nvGrpSpPr>
            <p:cNvPr id="782" name="Group 192"/>
            <p:cNvGrpSpPr/>
            <p:nvPr/>
          </p:nvGrpSpPr>
          <p:grpSpPr>
            <a:xfrm>
              <a:off x="2447" y="2880"/>
              <a:ext cx="307" cy="384"/>
              <a:chOff x="605" y="1776"/>
              <a:chExt cx="307" cy="384"/>
            </a:xfrm>
          </p:grpSpPr>
          <p:sp>
            <p:nvSpPr>
              <p:cNvPr id="783" name="Rectangle 193"/>
              <p:cNvSpPr>
                <a:spLocks noChangeArrowheads="true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/>
              </a:extLst>
            </p:spPr>
            <p:txBody>
              <a:bodyPr wrap="none" lIns="90487" tIns="44450" rIns="90487" bIns="44450" anchor="ctr"/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/>
                <a:endParaRPr lang="zh-CN" altLang="en-US"/>
              </a:p>
            </p:txBody>
          </p:sp>
          <p:sp>
            <p:nvSpPr>
              <p:cNvPr id="784" name="Rectangle 194"/>
              <p:cNvSpPr>
                <a:spLocks noChangeArrowheads="true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lIns="90487" tIns="44450" rIns="90487" bIns="44450" anchor="ctr"/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pitchFamily="34" charset="0"/>
                  </a:rPr>
                  <a:t>7</a:t>
                </a:r>
                <a:endParaRPr/>
              </a:p>
            </p:txBody>
          </p:sp>
        </p:grpSp>
        <p:grpSp>
          <p:nvGrpSpPr>
            <p:cNvPr id="785" name="Group 195"/>
            <p:cNvGrpSpPr/>
            <p:nvPr/>
          </p:nvGrpSpPr>
          <p:grpSpPr>
            <a:xfrm>
              <a:off x="2754" y="2880"/>
              <a:ext cx="307" cy="384"/>
              <a:chOff x="605" y="1776"/>
              <a:chExt cx="307" cy="384"/>
            </a:xfrm>
          </p:grpSpPr>
          <p:sp>
            <p:nvSpPr>
              <p:cNvPr id="786" name="Rectangle 196"/>
              <p:cNvSpPr>
                <a:spLocks noChangeArrowheads="true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/>
              </a:extLst>
            </p:spPr>
            <p:txBody>
              <a:bodyPr wrap="none" lIns="90487" tIns="44450" rIns="90487" bIns="44450" anchor="ctr"/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/>
                <a:endParaRPr lang="zh-CN" altLang="en-US"/>
              </a:p>
            </p:txBody>
          </p:sp>
          <p:sp>
            <p:nvSpPr>
              <p:cNvPr id="787" name="Rectangle 197"/>
              <p:cNvSpPr>
                <a:spLocks noChangeArrowheads="true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lIns="90487" tIns="44450" rIns="90487" bIns="44450" anchor="ctr"/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pitchFamily="34" charset="0"/>
                  </a:rPr>
                  <a:t>6</a:t>
                </a:r>
                <a:endParaRPr/>
              </a:p>
            </p:txBody>
          </p:sp>
        </p:grpSp>
        <p:grpSp>
          <p:nvGrpSpPr>
            <p:cNvPr id="788" name="Group 198"/>
            <p:cNvGrpSpPr/>
            <p:nvPr/>
          </p:nvGrpSpPr>
          <p:grpSpPr>
            <a:xfrm>
              <a:off x="3061" y="2880"/>
              <a:ext cx="307" cy="384"/>
              <a:chOff x="605" y="1776"/>
              <a:chExt cx="307" cy="384"/>
            </a:xfrm>
          </p:grpSpPr>
          <p:sp>
            <p:nvSpPr>
              <p:cNvPr id="789" name="Rectangle 199"/>
              <p:cNvSpPr>
                <a:spLocks noChangeArrowheads="true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/>
              </a:extLst>
            </p:spPr>
            <p:txBody>
              <a:bodyPr wrap="none" lIns="90487" tIns="44450" rIns="90487" bIns="44450" anchor="ctr"/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/>
                <a:endParaRPr lang="zh-CN" altLang="en-US"/>
              </a:p>
            </p:txBody>
          </p:sp>
          <p:sp>
            <p:nvSpPr>
              <p:cNvPr id="790" name="Rectangle 200"/>
              <p:cNvSpPr>
                <a:spLocks noChangeArrowheads="true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lIns="90487" tIns="44450" rIns="90487" bIns="44450" anchor="ctr"/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pitchFamily="34" charset="0"/>
                  </a:rPr>
                  <a:t>5</a:t>
                </a:r>
                <a:endParaRPr/>
              </a:p>
            </p:txBody>
          </p:sp>
        </p:grpSp>
        <p:grpSp>
          <p:nvGrpSpPr>
            <p:cNvPr id="791" name="Group 201"/>
            <p:cNvGrpSpPr/>
            <p:nvPr/>
          </p:nvGrpSpPr>
          <p:grpSpPr>
            <a:xfrm>
              <a:off x="3368" y="2880"/>
              <a:ext cx="307" cy="384"/>
              <a:chOff x="605" y="1776"/>
              <a:chExt cx="307" cy="384"/>
            </a:xfrm>
          </p:grpSpPr>
          <p:sp>
            <p:nvSpPr>
              <p:cNvPr id="792" name="Rectangle 202"/>
              <p:cNvSpPr>
                <a:spLocks noChangeArrowheads="true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/>
              </a:extLst>
            </p:spPr>
            <p:txBody>
              <a:bodyPr wrap="none" lIns="90487" tIns="44450" rIns="90487" bIns="44450" anchor="ctr"/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/>
                <a:endParaRPr lang="zh-CN" altLang="en-US"/>
              </a:p>
            </p:txBody>
          </p:sp>
          <p:sp>
            <p:nvSpPr>
              <p:cNvPr id="793" name="Rectangle 203"/>
              <p:cNvSpPr>
                <a:spLocks noChangeArrowheads="true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lIns="90487" tIns="44450" rIns="90487" bIns="44450" anchor="ctr"/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pitchFamily="34" charset="0"/>
                  </a:rPr>
                  <a:t>4</a:t>
                </a:r>
                <a:endParaRPr/>
              </a:p>
            </p:txBody>
          </p:sp>
        </p:grpSp>
        <p:grpSp>
          <p:nvGrpSpPr>
            <p:cNvPr id="794" name="Group 204"/>
            <p:cNvGrpSpPr/>
            <p:nvPr/>
          </p:nvGrpSpPr>
          <p:grpSpPr>
            <a:xfrm>
              <a:off x="3675" y="2880"/>
              <a:ext cx="307" cy="384"/>
              <a:chOff x="605" y="1776"/>
              <a:chExt cx="307" cy="384"/>
            </a:xfrm>
          </p:grpSpPr>
          <p:sp>
            <p:nvSpPr>
              <p:cNvPr id="795" name="Rectangle 205"/>
              <p:cNvSpPr>
                <a:spLocks noChangeArrowheads="true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/>
              </a:extLst>
            </p:spPr>
            <p:txBody>
              <a:bodyPr wrap="none" lIns="90487" tIns="44450" rIns="90487" bIns="44450" anchor="ctr"/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/>
                <a:endParaRPr lang="zh-CN" altLang="en-US"/>
              </a:p>
            </p:txBody>
          </p:sp>
          <p:sp>
            <p:nvSpPr>
              <p:cNvPr id="796" name="Rectangle 206"/>
              <p:cNvSpPr>
                <a:spLocks noChangeArrowheads="true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lIns="90487" tIns="44450" rIns="90487" bIns="44450" anchor="ctr"/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pitchFamily="34" charset="0"/>
                  </a:rPr>
                  <a:t>3</a:t>
                </a:r>
                <a:endParaRPr/>
              </a:p>
            </p:txBody>
          </p:sp>
        </p:grpSp>
        <p:grpSp>
          <p:nvGrpSpPr>
            <p:cNvPr id="797" name="Group 207"/>
            <p:cNvGrpSpPr/>
            <p:nvPr/>
          </p:nvGrpSpPr>
          <p:grpSpPr>
            <a:xfrm>
              <a:off x="3982" y="2880"/>
              <a:ext cx="307" cy="384"/>
              <a:chOff x="605" y="1776"/>
              <a:chExt cx="307" cy="384"/>
            </a:xfrm>
          </p:grpSpPr>
          <p:sp>
            <p:nvSpPr>
              <p:cNvPr id="798" name="Rectangle 208"/>
              <p:cNvSpPr>
                <a:spLocks noChangeArrowheads="true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/>
              </a:extLst>
            </p:spPr>
            <p:txBody>
              <a:bodyPr wrap="none" lIns="90487" tIns="44450" rIns="90487" bIns="44450" anchor="ctr"/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/>
                <a:endParaRPr lang="zh-CN" altLang="en-US"/>
              </a:p>
            </p:txBody>
          </p:sp>
          <p:sp>
            <p:nvSpPr>
              <p:cNvPr id="799" name="Rectangle 209"/>
              <p:cNvSpPr>
                <a:spLocks noChangeArrowheads="true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lIns="90487" tIns="44450" rIns="90487" bIns="44450" anchor="ctr"/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pitchFamily="34" charset="0"/>
                  </a:rPr>
                  <a:t>2</a:t>
                </a:r>
                <a:endParaRPr/>
              </a:p>
            </p:txBody>
          </p:sp>
        </p:grpSp>
        <p:grpSp>
          <p:nvGrpSpPr>
            <p:cNvPr id="800" name="Group 210"/>
            <p:cNvGrpSpPr/>
            <p:nvPr/>
          </p:nvGrpSpPr>
          <p:grpSpPr>
            <a:xfrm>
              <a:off x="4289" y="2880"/>
              <a:ext cx="307" cy="384"/>
              <a:chOff x="605" y="1776"/>
              <a:chExt cx="307" cy="384"/>
            </a:xfrm>
          </p:grpSpPr>
          <p:sp>
            <p:nvSpPr>
              <p:cNvPr id="801" name="Rectangle 211"/>
              <p:cNvSpPr>
                <a:spLocks noChangeArrowheads="true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/>
              </a:extLst>
            </p:spPr>
            <p:txBody>
              <a:bodyPr wrap="none" lIns="90487" tIns="44450" rIns="90487" bIns="44450" anchor="ctr"/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/>
                <a:endParaRPr lang="zh-CN" altLang="en-US"/>
              </a:p>
            </p:txBody>
          </p:sp>
          <p:sp>
            <p:nvSpPr>
              <p:cNvPr id="802" name="Rectangle 212"/>
              <p:cNvSpPr>
                <a:spLocks noChangeArrowheads="true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lIns="90487" tIns="44450" rIns="90487" bIns="44450" anchor="ctr"/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pitchFamily="34" charset="0"/>
                  </a:rPr>
                  <a:t>1</a:t>
                </a:r>
                <a:endParaRPr/>
              </a:p>
            </p:txBody>
          </p:sp>
        </p:grpSp>
        <p:grpSp>
          <p:nvGrpSpPr>
            <p:cNvPr id="803" name="Group 213"/>
            <p:cNvGrpSpPr/>
            <p:nvPr/>
          </p:nvGrpSpPr>
          <p:grpSpPr>
            <a:xfrm>
              <a:off x="4596" y="2880"/>
              <a:ext cx="307" cy="384"/>
              <a:chOff x="605" y="1776"/>
              <a:chExt cx="307" cy="384"/>
            </a:xfrm>
          </p:grpSpPr>
          <p:sp>
            <p:nvSpPr>
              <p:cNvPr id="804" name="Rectangle 214"/>
              <p:cNvSpPr>
                <a:spLocks noChangeArrowheads="true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/>
              </a:extLst>
            </p:spPr>
            <p:txBody>
              <a:bodyPr wrap="none" lIns="90487" tIns="44450" rIns="90487" bIns="44450" anchor="ctr"/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/>
                <a:endParaRPr lang="zh-CN" altLang="en-US"/>
              </a:p>
            </p:txBody>
          </p:sp>
          <p:sp>
            <p:nvSpPr>
              <p:cNvPr id="805" name="Rectangle 215"/>
              <p:cNvSpPr>
                <a:spLocks noChangeArrowheads="true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lIns="90487" tIns="44450" rIns="90487" bIns="44450" anchor="ctr"/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pitchFamily="34" charset="0"/>
                  </a:rPr>
                  <a:t>0</a:t>
                </a:r>
                <a:endParaRPr/>
              </a:p>
            </p:txBody>
          </p:sp>
        </p:grpSp>
      </p:grpSp>
      <p:grpSp>
        <p:nvGrpSpPr>
          <p:cNvPr id="806" name="Group 216"/>
          <p:cNvGrpSpPr/>
          <p:nvPr/>
        </p:nvGrpSpPr>
        <p:grpSpPr>
          <a:xfrm>
            <a:off x="4721225" y="4692650"/>
            <a:ext cx="2924175" cy="336550"/>
            <a:chOff x="3061" y="2261"/>
            <a:chExt cx="1842" cy="212"/>
          </a:xfrm>
        </p:grpSpPr>
        <p:sp>
          <p:nvSpPr>
            <p:cNvPr id="807" name="Line 217"/>
            <p:cNvSpPr>
              <a:spLocks noChangeShapeType="true"/>
            </p:cNvSpPr>
            <p:nvPr/>
          </p:nvSpPr>
          <p:spPr bwMode="auto">
            <a:xfrm>
              <a:off x="3061" y="2352"/>
              <a:ext cx="18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/>
            </a:extLst>
          </p:spPr>
          <p:txBody>
            <a:bodyPr wrap="none" lIns="90487" tIns="44450" rIns="90487" bIns="44450"/>
            <a:lstStyle/>
            <a:p>
              <a:pPr/>
              <a:endParaRPr lang="zh-CN" altLang="en-US"/>
            </a:p>
          </p:txBody>
        </p:sp>
        <p:sp>
          <p:nvSpPr>
            <p:cNvPr id="808" name="Text Box 218"/>
            <p:cNvSpPr txBox="true">
              <a:spLocks noChangeArrowheads="true"/>
            </p:cNvSpPr>
            <p:nvPr/>
          </p:nvSpPr>
          <p:spPr bwMode="auto">
            <a:xfrm>
              <a:off x="3770" y="2261"/>
              <a:ext cx="418" cy="2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/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</a:pPr>
              <a:r>
                <a:rPr lang="en-US" altLang="zh-CN" sz="1800">
                  <a:solidFill>
                    <a:schemeClr val="tx2"/>
                  </a:solidFill>
                  <a:latin typeface="Helvetica" pitchFamily="34" charset="0"/>
                </a:rPr>
                <a:t>PPO</a:t>
              </a:r>
              <a:endParaRPr/>
            </a:p>
          </p:txBody>
        </p:sp>
      </p:grpSp>
      <p:grpSp>
        <p:nvGrpSpPr>
          <p:cNvPr id="809" name="Group 219"/>
          <p:cNvGrpSpPr/>
          <p:nvPr/>
        </p:nvGrpSpPr>
        <p:grpSpPr>
          <a:xfrm>
            <a:off x="1825625" y="4692650"/>
            <a:ext cx="2924175" cy="336550"/>
            <a:chOff x="3061" y="2261"/>
            <a:chExt cx="1842" cy="212"/>
          </a:xfrm>
        </p:grpSpPr>
        <p:sp>
          <p:nvSpPr>
            <p:cNvPr id="810" name="Line 220"/>
            <p:cNvSpPr>
              <a:spLocks noChangeShapeType="true"/>
            </p:cNvSpPr>
            <p:nvPr/>
          </p:nvSpPr>
          <p:spPr bwMode="auto">
            <a:xfrm>
              <a:off x="3061" y="2352"/>
              <a:ext cx="18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/>
            </a:extLst>
          </p:spPr>
          <p:txBody>
            <a:bodyPr wrap="none" lIns="90487" tIns="44450" rIns="90487" bIns="44450"/>
            <a:lstStyle/>
            <a:p>
              <a:pPr/>
              <a:endParaRPr lang="zh-CN" altLang="en-US"/>
            </a:p>
          </p:txBody>
        </p:sp>
        <p:sp>
          <p:nvSpPr>
            <p:cNvPr id="811" name="Text Box 221"/>
            <p:cNvSpPr txBox="true">
              <a:spLocks noChangeArrowheads="true"/>
            </p:cNvSpPr>
            <p:nvPr/>
          </p:nvSpPr>
          <p:spPr bwMode="auto">
            <a:xfrm>
              <a:off x="3770" y="2261"/>
              <a:ext cx="410" cy="2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/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</a:pPr>
              <a:r>
                <a:rPr lang="en-US" altLang="zh-CN" sz="1800">
                  <a:solidFill>
                    <a:schemeClr val="tx2"/>
                  </a:solidFill>
                  <a:latin typeface="Helvetica" pitchFamily="34" charset="0"/>
                </a:rPr>
                <a:t>PPN</a:t>
              </a:r>
              <a:endParaRPr/>
            </a:p>
          </p:txBody>
        </p:sp>
      </p:grpSp>
      <p:sp>
        <p:nvSpPr>
          <p:cNvPr id="812" name="Text Box 231"/>
          <p:cNvSpPr txBox="true">
            <a:spLocks noChangeArrowheads="true"/>
          </p:cNvSpPr>
          <p:nvPr/>
        </p:nvSpPr>
        <p:spPr bwMode="auto">
          <a:xfrm>
            <a:off x="7265988" y="4311650"/>
            <a:ext cx="2968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/>
            <a:r>
              <a:rPr lang="zh-CN" altLang="en-US" sz="1600">
                <a:solidFill>
                  <a:srgbClr val="00B050"/>
                </a:solidFill>
                <a:latin typeface="Helvetica" pitchFamily="34" charset="0"/>
              </a:rPr>
              <a:t>0</a:t>
            </a:r>
            <a:endParaRPr/>
          </a:p>
        </p:txBody>
      </p:sp>
      <p:sp>
        <p:nvSpPr>
          <p:cNvPr id="813" name="Text Box 232"/>
          <p:cNvSpPr txBox="true">
            <a:spLocks noChangeArrowheads="true"/>
          </p:cNvSpPr>
          <p:nvPr/>
        </p:nvSpPr>
        <p:spPr bwMode="auto">
          <a:xfrm>
            <a:off x="6732588" y="4311650"/>
            <a:ext cx="2968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/>
            <a:r>
              <a:rPr lang="zh-CN" altLang="en-US" sz="1600">
                <a:solidFill>
                  <a:srgbClr val="00B050"/>
                </a:solidFill>
                <a:latin typeface="Helvetica" pitchFamily="34" charset="0"/>
              </a:rPr>
              <a:t>0</a:t>
            </a:r>
            <a:endParaRPr/>
          </a:p>
        </p:txBody>
      </p:sp>
      <p:sp>
        <p:nvSpPr>
          <p:cNvPr id="814" name="Text Box 233"/>
          <p:cNvSpPr txBox="true">
            <a:spLocks noChangeArrowheads="true"/>
          </p:cNvSpPr>
          <p:nvPr/>
        </p:nvSpPr>
        <p:spPr bwMode="auto">
          <a:xfrm>
            <a:off x="6275388" y="4311650"/>
            <a:ext cx="2968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/>
            <a:r>
              <a:rPr lang="zh-CN" altLang="en-US" sz="1600">
                <a:solidFill>
                  <a:srgbClr val="00B050"/>
                </a:solidFill>
                <a:latin typeface="Helvetica" pitchFamily="34" charset="0"/>
              </a:rPr>
              <a:t>1</a:t>
            </a:r>
            <a:endParaRPr/>
          </a:p>
        </p:txBody>
      </p:sp>
      <p:sp>
        <p:nvSpPr>
          <p:cNvPr id="815" name="Text Box 234"/>
          <p:cNvSpPr txBox="true">
            <a:spLocks noChangeArrowheads="true"/>
          </p:cNvSpPr>
          <p:nvPr/>
        </p:nvSpPr>
        <p:spPr bwMode="auto">
          <a:xfrm>
            <a:off x="5749925" y="4311650"/>
            <a:ext cx="296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/>
            <a:r>
              <a:rPr lang="zh-CN" altLang="en-US" sz="1600">
                <a:solidFill>
                  <a:srgbClr val="00B050"/>
                </a:solidFill>
                <a:latin typeface="Helvetica" pitchFamily="34" charset="0"/>
              </a:rPr>
              <a:t>0</a:t>
            </a:r>
            <a:endParaRPr/>
          </a:p>
        </p:txBody>
      </p:sp>
      <p:sp>
        <p:nvSpPr>
          <p:cNvPr id="816" name="Text Box 235"/>
          <p:cNvSpPr txBox="true">
            <a:spLocks noChangeArrowheads="true"/>
          </p:cNvSpPr>
          <p:nvPr/>
        </p:nvSpPr>
        <p:spPr bwMode="auto">
          <a:xfrm>
            <a:off x="5284788" y="4311650"/>
            <a:ext cx="2968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/>
            <a:r>
              <a:rPr lang="zh-CN" altLang="en-US" sz="1600">
                <a:solidFill>
                  <a:srgbClr val="FFC000"/>
                </a:solidFill>
                <a:latin typeface="Helvetica" pitchFamily="34" charset="0"/>
              </a:rPr>
              <a:t>1</a:t>
            </a:r>
            <a:endParaRPr/>
          </a:p>
        </p:txBody>
      </p:sp>
      <p:sp>
        <p:nvSpPr>
          <p:cNvPr id="817" name="Text Box 236"/>
          <p:cNvSpPr txBox="true">
            <a:spLocks noChangeArrowheads="true"/>
          </p:cNvSpPr>
          <p:nvPr/>
        </p:nvSpPr>
        <p:spPr bwMode="auto">
          <a:xfrm>
            <a:off x="4827588" y="4311650"/>
            <a:ext cx="2968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/>
            <a:r>
              <a:rPr lang="zh-CN" altLang="en-US" sz="1600">
                <a:solidFill>
                  <a:srgbClr val="FFC000"/>
                </a:solidFill>
                <a:latin typeface="Helvetica" pitchFamily="34" charset="0"/>
              </a:rPr>
              <a:t>0</a:t>
            </a:r>
            <a:endParaRPr/>
          </a:p>
        </p:txBody>
      </p:sp>
      <p:sp>
        <p:nvSpPr>
          <p:cNvPr id="818" name="Text Box 237"/>
          <p:cNvSpPr txBox="true">
            <a:spLocks noChangeArrowheads="true"/>
          </p:cNvSpPr>
          <p:nvPr/>
        </p:nvSpPr>
        <p:spPr bwMode="auto">
          <a:xfrm>
            <a:off x="4294188" y="4311650"/>
            <a:ext cx="2968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/>
            <a:r>
              <a:rPr lang="zh-CN" altLang="en-US" sz="1600">
                <a:solidFill>
                  <a:srgbClr val="FFC000"/>
                </a:solidFill>
                <a:latin typeface="Helvetica" pitchFamily="34" charset="0"/>
              </a:rPr>
              <a:t>1</a:t>
            </a:r>
            <a:endParaRPr/>
          </a:p>
        </p:txBody>
      </p:sp>
      <p:sp>
        <p:nvSpPr>
          <p:cNvPr id="819" name="Text Box 238"/>
          <p:cNvSpPr txBox="true">
            <a:spLocks noChangeArrowheads="true"/>
          </p:cNvSpPr>
          <p:nvPr/>
        </p:nvSpPr>
        <p:spPr bwMode="auto">
          <a:xfrm>
            <a:off x="3836988" y="4311650"/>
            <a:ext cx="2968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/>
            <a:r>
              <a:rPr lang="zh-CN" altLang="en-US" sz="1600">
                <a:solidFill>
                  <a:srgbClr val="FFC000"/>
                </a:solidFill>
                <a:latin typeface="Helvetica" pitchFamily="34" charset="0"/>
              </a:rPr>
              <a:t>0</a:t>
            </a:r>
            <a:endParaRPr/>
          </a:p>
        </p:txBody>
      </p:sp>
      <p:sp>
        <p:nvSpPr>
          <p:cNvPr id="820" name="Text Box 239"/>
          <p:cNvSpPr txBox="true">
            <a:spLocks noChangeArrowheads="true"/>
          </p:cNvSpPr>
          <p:nvPr/>
        </p:nvSpPr>
        <p:spPr bwMode="auto">
          <a:xfrm>
            <a:off x="3311525" y="4311650"/>
            <a:ext cx="296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/>
            <a:r>
              <a:rPr lang="zh-CN" altLang="en-US" sz="1600">
                <a:solidFill>
                  <a:srgbClr val="00B0F0"/>
                </a:solidFill>
                <a:latin typeface="Helvetica" pitchFamily="34" charset="0"/>
              </a:rPr>
              <a:t>1</a:t>
            </a:r>
            <a:endParaRPr/>
          </a:p>
        </p:txBody>
      </p:sp>
      <p:sp>
        <p:nvSpPr>
          <p:cNvPr id="821" name="Text Box 240"/>
          <p:cNvSpPr txBox="true">
            <a:spLocks noChangeArrowheads="true"/>
          </p:cNvSpPr>
          <p:nvPr/>
        </p:nvSpPr>
        <p:spPr bwMode="auto">
          <a:xfrm>
            <a:off x="2846388" y="4311650"/>
            <a:ext cx="2968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/>
            <a:r>
              <a:rPr lang="zh-CN" altLang="en-US" sz="1600">
                <a:solidFill>
                  <a:srgbClr val="00B0F0"/>
                </a:solidFill>
                <a:latin typeface="Helvetica" pitchFamily="34" charset="0"/>
              </a:rPr>
              <a:t>1</a:t>
            </a:r>
            <a:endParaRPr/>
          </a:p>
        </p:txBody>
      </p:sp>
      <p:sp>
        <p:nvSpPr>
          <p:cNvPr id="822" name="Text Box 241"/>
          <p:cNvSpPr txBox="true">
            <a:spLocks noChangeArrowheads="true"/>
          </p:cNvSpPr>
          <p:nvPr/>
        </p:nvSpPr>
        <p:spPr bwMode="auto">
          <a:xfrm>
            <a:off x="2389188" y="4311650"/>
            <a:ext cx="2968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/>
            <a:r>
              <a:rPr lang="zh-CN" altLang="en-US" sz="1600">
                <a:solidFill>
                  <a:srgbClr val="00B0F0"/>
                </a:solidFill>
                <a:latin typeface="Helvetica" pitchFamily="34" charset="0"/>
              </a:rPr>
              <a:t>0</a:t>
            </a:r>
            <a:endParaRPr/>
          </a:p>
        </p:txBody>
      </p:sp>
      <p:sp>
        <p:nvSpPr>
          <p:cNvPr id="823" name="Text Box 242"/>
          <p:cNvSpPr txBox="true">
            <a:spLocks noChangeArrowheads="true"/>
          </p:cNvSpPr>
          <p:nvPr/>
        </p:nvSpPr>
        <p:spPr bwMode="auto">
          <a:xfrm>
            <a:off x="1855788" y="4311650"/>
            <a:ext cx="2968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/>
            <a:r>
              <a:rPr lang="zh-CN" altLang="en-US" sz="1600">
                <a:solidFill>
                  <a:srgbClr val="00B0F0"/>
                </a:solidFill>
                <a:latin typeface="Helvetica" pitchFamily="34" charset="0"/>
              </a:rPr>
              <a:t>0</a:t>
            </a:r>
            <a:endParaRPr/>
          </a:p>
        </p:txBody>
      </p:sp>
      <p:cxnSp>
        <p:nvCxnSpPr>
          <p:cNvPr id="824" name="Straight Connector 2"/>
          <p:cNvCxnSpPr>
            <a:cxnSpLocks noChangeShapeType="true"/>
          </p:cNvCxnSpPr>
          <p:nvPr/>
        </p:nvCxnSpPr>
        <p:spPr bwMode="auto">
          <a:xfrm>
            <a:off x="4695825" y="1724025"/>
            <a:ext cx="0" cy="36861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</a:ln>
          <a:extLst>
            <a:ext uri="{909E8E84-426E-40DD-AFC4-6F175D3DCCD1}"/>
          </a:extLst>
        </p:spPr>
      </p:cxnSp>
      <p:sp>
        <p:nvSpPr>
          <p:cNvPr id="825" name="Rectangle 175"/>
          <p:cNvSpPr>
            <a:spLocks noChangeArrowheads="true"/>
          </p:cNvSpPr>
          <p:nvPr/>
        </p:nvSpPr>
        <p:spPr bwMode="auto">
          <a:xfrm>
            <a:off x="685800" y="3336925"/>
            <a:ext cx="7848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>
              <a:lnSpc>
                <a:spcPct val="140000"/>
              </a:lnSpc>
            </a:pPr>
            <a:r>
              <a:rPr lang="en-US" altLang="zh-CN" b="false"/>
              <a:t>VPN: </a:t>
            </a:r>
            <a:r>
              <a:rPr lang="en-US" altLang="zh-CN" u="sng">
                <a:solidFill>
                  <a:srgbClr val="FF0000"/>
                </a:solidFill>
              </a:rPr>
              <a:t>0x0f</a:t>
            </a:r>
            <a:r>
              <a:rPr lang="en-US" altLang="zh-CN"/>
              <a:t>  </a:t>
            </a:r>
            <a:r>
              <a:rPr lang="en-US" altLang="zh-CN" b="false"/>
              <a:t>VPO: </a:t>
            </a:r>
            <a:r>
              <a:rPr lang="en-US" altLang="zh-CN" u="sng"/>
              <a:t>0x14</a:t>
            </a:r>
            <a:r>
              <a:rPr lang="en-US" altLang="zh-CN" b="false"/>
              <a:t>                	Page Fault? </a:t>
            </a:r>
            <a:r>
              <a:rPr lang="en-US" altLang="zh-CN" u="sng"/>
              <a:t> No </a:t>
            </a:r>
            <a:r>
              <a:rPr lang="en-US" altLang="zh-CN">
                <a:solidFill>
                  <a:schemeClr val="bg1"/>
                </a:solidFill>
              </a:rPr>
              <a:t>d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p="http://schemas.openxmlformats.org/presentationml/2006/main" xmlns:a16="http://schemas.microsoft.com/office/drawing/2014/main" xmlns:a="http://schemas.openxmlformats.org/drawingml/2006/main" xmlns:mc="http://schemas.openxmlformats.org/markup-compatibility/2006" mc:Ignorable="a16">
  <p:cSld>
    <p:spTree>
      <p:nvGrpSpPr>
        <p:cNvPr id="8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灯片编号占位符 6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F0279AAB-CCFA-224F-B487-C7D88B2744E8}" type="slidenum">
              <a:rPr lang="zh-CN" altLang="en-US" sz="1400" b="false">
                <a:latin typeface="Times New Roman" panose="02020603050405020304" charset="0"/>
              </a:rPr>
              <a:t>53</a:t>
            </a:fld>
            <a:endParaRPr lang="en-US" altLang="zh-CN" sz="1400" b="false">
              <a:latin typeface="Times New Roman" panose="02020603050405020304" charset="0"/>
            </a:endParaRPr>
          </a:p>
        </p:txBody>
      </p:sp>
      <p:sp>
        <p:nvSpPr>
          <p:cNvPr id="828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>
                <a:latin typeface="Comic Sans MS"/>
                <a:ea typeface="宋体"/>
                <a:cs typeface="宋体"/>
              </a:rPr>
              <a:t>课堂练习</a:t>
            </a:r>
            <a:r>
              <a:rPr lang="zh-CN">
                <a:latin typeface="Comic Sans MS"/>
                <a:ea typeface="宋体"/>
                <a:cs typeface="宋体"/>
              </a:rPr>
              <a:t>答案</a:t>
            </a:r>
            <a:endParaRPr/>
          </a:p>
        </p:txBody>
      </p:sp>
      <p:sp>
        <p:nvSpPr>
          <p:cNvPr id="829" name="Rectangle 3"/>
          <p:cNvSpPr>
            <a:spLocks noGrp="true" noChangeArrowheads="true"/>
          </p:cNvSpPr>
          <p:nvPr>
            <p:ph type="body" sz="half" idx="1"/>
          </p:nvPr>
        </p:nvSpPr>
        <p:spPr>
          <a:xfrm>
            <a:off x="457200" y="1600200"/>
            <a:ext cx="7543800" cy="533400"/>
          </a:xfrm>
        </p:spPr>
        <p:txBody>
          <a:bodyPr/>
          <a:lstStyle/>
          <a:p>
            <a:pPr/>
            <a:r>
              <a:rPr kumimoji="false" lang="en-US" altLang="zh-CN" sz="2400">
                <a:ea typeface="宋体" charset="-122"/>
              </a:rPr>
              <a:t>Only show first 16 entries</a:t>
            </a:r>
            <a:endParaRPr kumimoji="false" lang="zh-CN" altLang="en-US" sz="2400">
              <a:ea typeface="宋体" charset="-122"/>
            </a:endParaRPr>
          </a:p>
        </p:txBody>
      </p:sp>
      <p:graphicFrame>
        <p:nvGraphicFramePr>
          <p:cNvPr id="830" name="Group 177"/>
          <p:cNvGraphicFramePr/>
          <p:nvPr>
            <p:ph sz="half" idx="2"/>
          </p:nvPr>
        </p:nvGraphicFramePr>
        <p:xfrm>
          <a:off x="533400" y="2590800"/>
          <a:ext cx="3795713" cy="3378201"/>
        </p:xfrm>
        <a:graphic>
          <a:graphicData uri="http://schemas.openxmlformats.org/drawingml/2006/table">
            <a:tbl>
              <a:tblPr/>
              <a:tblGrid>
                <a:gridCol w="1160463">
                  <a:extLst>
                    <a:ext uri="{9D8B030D-6E8A-4147-A177-3AD203B41FA5}">
                      <a16:colId val="1"/>
                    </a:ext>
                  </a:extLst>
                </a:gridCol>
                <a:gridCol w="1646237">
                  <a:extLst>
                    <a:ext uri="{9D8B030D-6E8A-4147-A177-3AD203B41FA5}">
                      <a16:colId val="2"/>
                    </a:ext>
                  </a:extLst>
                </a:gridCol>
                <a:gridCol w="989013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363538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endParaRPr kumimoji="false" lang="en-US" altLang="zh-CN" sz="1800" b="tru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charset="0"/>
                        <a:ea typeface="宋体" charset="-122"/>
                      </a:endParaRPr>
                    </a:p>
                  </a:txBody>
                  <a:tcPr marL="90487" marR="90487" marT="44458" marB="4445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PPN</a:t>
                      </a:r>
                      <a:endParaRPr/>
                    </a:p>
                  </a:txBody>
                  <a:tcPr marL="90487" marR="90487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Valid</a:t>
                      </a:r>
                      <a:endParaRPr/>
                    </a:p>
                  </a:txBody>
                  <a:tcPr marL="90487" marR="90487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363538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00</a:t>
                      </a:r>
                      <a:endParaRPr/>
                    </a:p>
                  </a:txBody>
                  <a:tcPr marL="90487" marR="90487" marT="44458" marB="4445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28</a:t>
                      </a:r>
                      <a:endParaRPr/>
                    </a:p>
                  </a:txBody>
                  <a:tcPr marL="90487" marR="90487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</a:t>
                      </a:r>
                      <a:endParaRPr/>
                    </a:p>
                  </a:txBody>
                  <a:tcPr marL="90487" marR="90487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365125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01</a:t>
                      </a:r>
                      <a:endParaRPr/>
                    </a:p>
                  </a:txBody>
                  <a:tcPr marL="90487" marR="90487" marT="44458" marB="4445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</a:t>
                      </a:r>
                      <a:endParaRPr/>
                    </a:p>
                  </a:txBody>
                  <a:tcPr marL="90487" marR="90487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381000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02</a:t>
                      </a:r>
                      <a:endParaRPr/>
                    </a:p>
                  </a:txBody>
                  <a:tcPr marL="90487" marR="90487" marT="44458" marB="4445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33</a:t>
                      </a:r>
                      <a:endParaRPr/>
                    </a:p>
                  </a:txBody>
                  <a:tcPr marL="90487" marR="90487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</a:t>
                      </a:r>
                      <a:endParaRPr/>
                    </a:p>
                  </a:txBody>
                  <a:tcPr marL="90487" marR="90487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381000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03</a:t>
                      </a:r>
                      <a:endParaRPr/>
                    </a:p>
                  </a:txBody>
                  <a:tcPr marL="90487" marR="90487" marT="44458" marB="4445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02</a:t>
                      </a:r>
                      <a:endParaRPr/>
                    </a:p>
                  </a:txBody>
                  <a:tcPr marL="90487" marR="90487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</a:t>
                      </a:r>
                      <a:endParaRPr/>
                    </a:p>
                  </a:txBody>
                  <a:tcPr marL="90487" marR="90487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381000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04</a:t>
                      </a:r>
                      <a:endParaRPr/>
                    </a:p>
                  </a:txBody>
                  <a:tcPr marL="90487" marR="90487" marT="44458" marB="4445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</a:t>
                      </a:r>
                      <a:endParaRPr/>
                    </a:p>
                  </a:txBody>
                  <a:tcPr marL="90487" marR="90487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381000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05</a:t>
                      </a:r>
                      <a:endParaRPr/>
                    </a:p>
                  </a:txBody>
                  <a:tcPr marL="90487" marR="90487" marT="44458" marB="4445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16</a:t>
                      </a:r>
                      <a:endParaRPr/>
                    </a:p>
                  </a:txBody>
                  <a:tcPr marL="90487" marR="90487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</a:t>
                      </a:r>
                      <a:endParaRPr/>
                    </a:p>
                  </a:txBody>
                  <a:tcPr marL="90487" marR="90487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  <a:tr h="381000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06</a:t>
                      </a:r>
                      <a:endParaRPr/>
                    </a:p>
                  </a:txBody>
                  <a:tcPr marL="90487" marR="90487" marT="44458" marB="4445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</a:t>
                      </a:r>
                      <a:endParaRPr/>
                    </a:p>
                  </a:txBody>
                  <a:tcPr marL="90487" marR="90487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val="8"/>
                  </a:ext>
                </a:extLst>
              </a:tr>
              <a:tr h="381000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07</a:t>
                      </a:r>
                      <a:endParaRPr/>
                    </a:p>
                  </a:txBody>
                  <a:tcPr marL="90487" marR="90487" marT="44458" marB="4445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</a:t>
                      </a:r>
                      <a:endParaRPr/>
                    </a:p>
                  </a:txBody>
                  <a:tcPr marL="90487" marR="90487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val="9"/>
                  </a:ext>
                </a:extLst>
              </a:tr>
            </a:tbl>
          </a:graphicData>
        </a:graphic>
      </p:graphicFrame>
      <p:graphicFrame>
        <p:nvGraphicFramePr>
          <p:cNvPr id="831" name="表格 1"/>
          <p:cNvGraphicFramePr/>
          <p:nvPr/>
        </p:nvGraphicFramePr>
        <p:xfrm>
          <a:off x="5199063" y="2590800"/>
          <a:ext cx="3563937" cy="3378201"/>
        </p:xfrm>
        <a:graphic>
          <a:graphicData uri="http://schemas.openxmlformats.org/drawingml/2006/table">
            <a:tbl>
              <a:tblPr/>
              <a:tblGrid>
                <a:gridCol w="969962">
                  <a:extLst>
                    <a:ext uri="{9D8B030D-6E8A-4147-A177-3AD203B41FA5}">
                      <a16:colId val="1"/>
                    </a:ext>
                  </a:extLst>
                </a:gridCol>
                <a:gridCol w="1466850">
                  <a:extLst>
                    <a:ext uri="{9D8B030D-6E8A-4147-A177-3AD203B41FA5}">
                      <a16:colId val="2"/>
                    </a:ext>
                  </a:extLst>
                </a:gridCol>
                <a:gridCol w="1127125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363538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endParaRPr kumimoji="false" lang="en-US" altLang="zh-CN" sz="1800" b="tru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charset="0"/>
                        <a:ea typeface="宋体" charset="-122"/>
                      </a:endParaRPr>
                    </a:p>
                  </a:txBody>
                  <a:tcPr marL="90499" marR="90499" marT="44458" marB="4445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PPN</a:t>
                      </a:r>
                      <a:endParaRPr/>
                    </a:p>
                  </a:txBody>
                  <a:tcPr marL="90499" marR="90499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Valid</a:t>
                      </a:r>
                      <a:endParaRPr/>
                    </a:p>
                  </a:txBody>
                  <a:tcPr marL="90499" marR="90499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363538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08</a:t>
                      </a:r>
                      <a:endParaRPr/>
                    </a:p>
                  </a:txBody>
                  <a:tcPr marL="90499" marR="90499" marT="44458" marB="4445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13</a:t>
                      </a:r>
                      <a:endParaRPr/>
                    </a:p>
                  </a:txBody>
                  <a:tcPr marL="90499" marR="90499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</a:t>
                      </a:r>
                      <a:endParaRPr/>
                    </a:p>
                  </a:txBody>
                  <a:tcPr marL="90499" marR="90499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365125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09</a:t>
                      </a:r>
                      <a:endParaRPr/>
                    </a:p>
                  </a:txBody>
                  <a:tcPr marL="90499" marR="90499" marT="44458" marB="4445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17</a:t>
                      </a:r>
                      <a:endParaRPr/>
                    </a:p>
                  </a:txBody>
                  <a:tcPr marL="90499" marR="90499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</a:t>
                      </a:r>
                      <a:endParaRPr/>
                    </a:p>
                  </a:txBody>
                  <a:tcPr marL="90499" marR="90499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381000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0A</a:t>
                      </a:r>
                      <a:endParaRPr/>
                    </a:p>
                  </a:txBody>
                  <a:tcPr marL="90499" marR="90499" marT="44458" marB="4445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09</a:t>
                      </a:r>
                      <a:endParaRPr/>
                    </a:p>
                  </a:txBody>
                  <a:tcPr marL="90499" marR="90499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</a:t>
                      </a:r>
                      <a:endParaRPr/>
                    </a:p>
                  </a:txBody>
                  <a:tcPr marL="90499" marR="90499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381000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0B</a:t>
                      </a:r>
                      <a:endParaRPr/>
                    </a:p>
                  </a:txBody>
                  <a:tcPr marL="90499" marR="90499" marT="44458" marB="4445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99" marR="90499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</a:t>
                      </a:r>
                      <a:endParaRPr/>
                    </a:p>
                  </a:txBody>
                  <a:tcPr marL="90499" marR="90499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381000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0C</a:t>
                      </a:r>
                      <a:endParaRPr/>
                    </a:p>
                  </a:txBody>
                  <a:tcPr marL="90499" marR="90499" marT="44458" marB="4445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99" marR="90499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</a:t>
                      </a:r>
                      <a:endParaRPr/>
                    </a:p>
                  </a:txBody>
                  <a:tcPr marL="90499" marR="90499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381000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0D</a:t>
                      </a:r>
                      <a:endParaRPr/>
                    </a:p>
                  </a:txBody>
                  <a:tcPr marL="90499" marR="90499" marT="44458" marB="4445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2D</a:t>
                      </a:r>
                      <a:endParaRPr/>
                    </a:p>
                  </a:txBody>
                  <a:tcPr marL="90499" marR="90499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</a:t>
                      </a:r>
                      <a:endParaRPr/>
                    </a:p>
                  </a:txBody>
                  <a:tcPr marL="90499" marR="90499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  <a:tr h="381000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0E</a:t>
                      </a:r>
                      <a:endParaRPr/>
                    </a:p>
                  </a:txBody>
                  <a:tcPr marL="90499" marR="90499" marT="44458" marB="4445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11</a:t>
                      </a:r>
                      <a:endParaRPr/>
                    </a:p>
                  </a:txBody>
                  <a:tcPr marL="90499" marR="90499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</a:t>
                      </a:r>
                      <a:endParaRPr/>
                    </a:p>
                  </a:txBody>
                  <a:tcPr marL="90499" marR="90499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val="8"/>
                  </a:ext>
                </a:extLst>
              </a:tr>
              <a:tr h="381000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0F</a:t>
                      </a:r>
                      <a:endParaRPr/>
                    </a:p>
                  </a:txBody>
                  <a:tcPr marL="90499" marR="90499" marT="44458" marB="4445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0D</a:t>
                      </a:r>
                      <a:endParaRPr/>
                    </a:p>
                  </a:txBody>
                  <a:tcPr marL="90499" marR="90499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8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Comic Sans MS" panose="030F0902030302020204" charset="0"/>
                          <a:ea typeface="宋体" charset="-122"/>
                        </a:rPr>
                        <a:t>1</a:t>
                      </a:r>
                      <a:endParaRPr/>
                    </a:p>
                  </a:txBody>
                  <a:tcPr marL="90499" marR="90499" marT="44458" marB="44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val="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>
  <p:cSld>
    <p:spTree>
      <p:nvGrpSpPr>
        <p:cNvPr id="8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>
                <a:latin typeface="Comic Sans MS"/>
                <a:ea typeface="宋体"/>
                <a:cs typeface="宋体"/>
              </a:rPr>
              <a:t>课堂练习</a:t>
            </a:r>
            <a:endParaRPr lang="zh-CN">
              <a:latin typeface="Comic Sans MS"/>
              <a:ea typeface="宋体"/>
              <a:cs typeface="宋体"/>
            </a:endParaRPr>
          </a:p>
        </p:txBody>
      </p:sp>
      <p:sp>
        <p:nvSpPr>
          <p:cNvPr id="834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>
              <a:buChar char="•"/>
            </a:pPr>
            <a:r>
              <a:rPr lang="zh-CN">
                <a:latin typeface="Comic Sans MS"/>
                <a:ea typeface="宋体"/>
                <a:cs typeface="宋体"/>
              </a:rPr>
              <a:t>给定一个</a:t>
            </a:r>
            <a:r>
              <a:rPr lang="en-US">
                <a:latin typeface="Comic Sans MS"/>
                <a:ea typeface="宋体"/>
                <a:cs typeface="宋体"/>
              </a:rPr>
              <a:t>32</a:t>
            </a:r>
            <a:r>
              <a:rPr lang="zh-CN">
                <a:latin typeface="Comic Sans MS"/>
                <a:ea typeface="宋体"/>
                <a:cs typeface="宋体"/>
              </a:rPr>
              <a:t>位的虚拟地址空间和一个</a:t>
            </a:r>
            <a:r>
              <a:rPr lang="en-US">
                <a:latin typeface="Comic Sans MS"/>
                <a:ea typeface="宋体"/>
                <a:cs typeface="宋体"/>
              </a:rPr>
              <a:t>24</a:t>
            </a:r>
            <a:r>
              <a:rPr lang="zh-CN">
                <a:latin typeface="Comic Sans MS"/>
                <a:ea typeface="宋体"/>
                <a:cs typeface="宋体"/>
              </a:rPr>
              <a:t>位的物理地址空间，当页面大小</a:t>
            </a:r>
            <a:r>
              <a:rPr lang="en-US">
                <a:latin typeface="Comic Sans MS"/>
                <a:ea typeface="宋体"/>
                <a:cs typeface="宋体"/>
              </a:rPr>
              <a:t>P</a:t>
            </a:r>
            <a:r>
              <a:rPr lang="zh-CN">
                <a:latin typeface="Comic Sans MS"/>
                <a:ea typeface="宋体"/>
                <a:cs typeface="宋体"/>
              </a:rPr>
              <a:t>分别为</a:t>
            </a:r>
            <a:r>
              <a:rPr lang="en-US">
                <a:latin typeface="Comic Sans MS"/>
                <a:ea typeface="宋体"/>
                <a:cs typeface="宋体"/>
              </a:rPr>
              <a:t>1KB</a:t>
            </a:r>
            <a:r>
              <a:rPr lang="zh-CN">
                <a:latin typeface="Comic Sans MS"/>
                <a:ea typeface="宋体"/>
                <a:cs typeface="宋体"/>
              </a:rPr>
              <a:t>，</a:t>
            </a:r>
            <a:r>
              <a:rPr lang="en-US">
                <a:latin typeface="Comic Sans MS"/>
                <a:ea typeface="宋体"/>
                <a:cs typeface="宋体"/>
              </a:rPr>
              <a:t>2KB</a:t>
            </a:r>
            <a:r>
              <a:rPr lang="zh-CN">
                <a:latin typeface="Comic Sans MS"/>
                <a:ea typeface="宋体"/>
                <a:cs typeface="宋体"/>
              </a:rPr>
              <a:t>，</a:t>
            </a:r>
            <a:r>
              <a:rPr lang="en-US">
                <a:latin typeface="Comic Sans MS"/>
                <a:ea typeface="宋体"/>
                <a:cs typeface="宋体"/>
              </a:rPr>
              <a:t>4KB</a:t>
            </a:r>
            <a:r>
              <a:rPr lang="zh-CN">
                <a:latin typeface="Comic Sans MS"/>
                <a:ea typeface="宋体"/>
                <a:cs typeface="宋体"/>
              </a:rPr>
              <a:t>，</a:t>
            </a:r>
            <a:r>
              <a:rPr lang="en-US">
                <a:latin typeface="Comic Sans MS"/>
                <a:ea typeface="宋体"/>
                <a:cs typeface="宋体"/>
              </a:rPr>
              <a:t>8KB</a:t>
            </a:r>
            <a:r>
              <a:rPr lang="zh-CN">
                <a:latin typeface="Comic Sans MS"/>
                <a:ea typeface="宋体"/>
                <a:cs typeface="宋体"/>
              </a:rPr>
              <a:t>时，请确定</a:t>
            </a:r>
            <a:r>
              <a:rPr lang="en-US">
                <a:latin typeface="Comic Sans MS"/>
                <a:ea typeface="宋体"/>
                <a:cs typeface="宋体"/>
              </a:rPr>
              <a:t>VPN</a:t>
            </a:r>
            <a:r>
              <a:rPr lang="zh-CN">
                <a:latin typeface="Comic Sans MS"/>
                <a:ea typeface="宋体"/>
                <a:cs typeface="宋体"/>
              </a:rPr>
              <a:t>、</a:t>
            </a:r>
            <a:r>
              <a:rPr lang="en-US">
                <a:latin typeface="Comic Sans MS"/>
                <a:ea typeface="宋体"/>
                <a:cs typeface="宋体"/>
              </a:rPr>
              <a:t>VPO</a:t>
            </a:r>
            <a:r>
              <a:rPr lang="zh-CN">
                <a:latin typeface="Comic Sans MS"/>
                <a:ea typeface="宋体"/>
                <a:cs typeface="宋体"/>
              </a:rPr>
              <a:t>、</a:t>
            </a:r>
            <a:r>
              <a:rPr lang="en-US">
                <a:latin typeface="Comic Sans MS"/>
                <a:ea typeface="宋体"/>
                <a:cs typeface="宋体"/>
              </a:rPr>
              <a:t>PPN</a:t>
            </a:r>
            <a:r>
              <a:rPr lang="zh-CN">
                <a:latin typeface="Comic Sans MS"/>
                <a:ea typeface="宋体"/>
                <a:cs typeface="宋体"/>
              </a:rPr>
              <a:t>、</a:t>
            </a:r>
            <a:r>
              <a:rPr lang="en-US">
                <a:latin typeface="Comic Sans MS"/>
                <a:ea typeface="宋体"/>
                <a:cs typeface="宋体"/>
              </a:rPr>
              <a:t>PPO</a:t>
            </a:r>
            <a:r>
              <a:rPr lang="zh-CN">
                <a:latin typeface="Comic Sans MS"/>
                <a:ea typeface="宋体"/>
                <a:cs typeface="宋体"/>
              </a:rPr>
              <a:t>的位数</a:t>
            </a:r>
            <a:endParaRPr/>
          </a:p>
        </p:txBody>
      </p:sp>
      <p:sp>
        <p:nvSpPr>
          <p:cNvPr id="835" name="幻灯片编号占位符 3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06A7349A-5D0E-1D4C-9922-B7B061DB9023}" type="slidenum">
              <a:rPr lang="zh-CN" altLang="en-US" sz="1400" b="false">
                <a:latin typeface="Times New Roman" panose="02020603050405020304" charset="0"/>
              </a:rPr>
              <a:t>54</a:t>
            </a:fld>
            <a:endParaRPr lang="en-US" altLang="zh-CN" sz="1400" b="false">
              <a:latin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>
  <p:cSld>
    <p:spTree>
      <p:nvGrpSpPr>
        <p:cNvPr id="8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>
                <a:latin typeface="Comic Sans MS"/>
                <a:ea typeface="宋体"/>
                <a:cs typeface="宋体"/>
              </a:rPr>
              <a:t>课堂练习</a:t>
            </a:r>
            <a:r>
              <a:rPr lang="zh-CN">
                <a:latin typeface="Comic Sans MS"/>
                <a:ea typeface="宋体"/>
                <a:cs typeface="宋体"/>
              </a:rPr>
              <a:t>答案</a:t>
            </a:r>
            <a:endParaRPr/>
          </a:p>
        </p:txBody>
      </p:sp>
      <p:sp>
        <p:nvSpPr>
          <p:cNvPr id="838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P=1KB</a:t>
            </a:r>
            <a:endParaRPr/>
          </a:p>
          <a:p>
            <a:pPr lvl="1"/>
            <a:r>
              <a:rPr lang="en-US" altLang="zh-CN">
                <a:ea typeface="宋体" charset="-122"/>
              </a:rPr>
              <a:t>VPN=22; VPO=10; PPN=14; PPO=10</a:t>
            </a:r>
            <a:endParaRPr/>
          </a:p>
          <a:p>
            <a:pPr/>
            <a:r>
              <a:rPr lang="en-US" altLang="zh-CN">
                <a:ea typeface="宋体" charset="-122"/>
              </a:rPr>
              <a:t>P=2KB</a:t>
            </a:r>
            <a:endParaRPr/>
          </a:p>
          <a:p>
            <a:pPr marL="742950" lvl="2" indent="-342900"/>
            <a:r>
              <a:rPr lang="en-US" altLang="zh-CN">
                <a:ea typeface="宋体" charset="-122"/>
              </a:rPr>
              <a:t>VPN=21; VPO=11; PPN=13; PPO=11</a:t>
            </a:r>
            <a:endParaRPr/>
          </a:p>
          <a:p>
            <a:pPr/>
            <a:r>
              <a:rPr lang="en-US" altLang="zh-CN">
                <a:ea typeface="宋体" charset="-122"/>
              </a:rPr>
              <a:t>P=4KB</a:t>
            </a:r>
            <a:endParaRPr/>
          </a:p>
          <a:p>
            <a:pPr marL="742950" lvl="2" indent="-342900"/>
            <a:r>
              <a:rPr lang="en-US" altLang="zh-CN">
                <a:ea typeface="宋体" charset="-122"/>
              </a:rPr>
              <a:t>VPN=20; VPO=12; PPN=12; PPO=12</a:t>
            </a:r>
            <a:endParaRPr/>
          </a:p>
          <a:p>
            <a:pPr/>
            <a:r>
              <a:rPr lang="en-US" altLang="zh-CN">
                <a:ea typeface="宋体" charset="-122"/>
              </a:rPr>
              <a:t>P=8KB</a:t>
            </a:r>
            <a:endParaRPr/>
          </a:p>
          <a:p>
            <a:pPr marL="742950" lvl="2" indent="-342900"/>
            <a:r>
              <a:rPr lang="en-US" altLang="zh-CN">
                <a:ea typeface="宋体" charset="-122"/>
              </a:rPr>
              <a:t>VPN=19; VPO=13; PPN=11; PPO=13</a:t>
            </a:r>
            <a:endParaRPr/>
          </a:p>
          <a:p>
            <a:pPr/>
            <a:endParaRPr lang="zh-CN" altLang="en-US">
              <a:ea typeface="宋体" charset="-122"/>
            </a:endParaRPr>
          </a:p>
        </p:txBody>
      </p:sp>
      <p:sp>
        <p:nvSpPr>
          <p:cNvPr id="839" name="幻灯片编号占位符 3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33D5A1B3-F385-3344-B064-3DD5A4F1AF44}" type="slidenum">
              <a:rPr lang="zh-CN" altLang="en-US" sz="1400" b="false">
                <a:latin typeface="Times New Roman" panose="02020603050405020304" charset="0"/>
              </a:rPr>
              <a:t>55</a:t>
            </a:fld>
            <a:endParaRPr lang="en-US" altLang="zh-CN" sz="1400" b="false">
              <a:latin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>
  <p:cSld>
    <p:spTree>
      <p:nvGrpSpPr>
        <p:cNvPr id="8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F5E9C01E-50FB-824D-B39E-83442C04B3FB}" type="slidenum">
              <a:rPr lang="zh-CN" altLang="en-US" sz="1400" b="false">
                <a:latin typeface="Times New Roman" panose="02020603050405020304" charset="0"/>
              </a:rPr>
              <a:t>56</a:t>
            </a:fld>
            <a:endParaRPr lang="en-US" altLang="zh-CN" sz="1400" b="false">
              <a:latin typeface="Times New Roman" panose="02020603050405020304" charset="0"/>
            </a:endParaRPr>
          </a:p>
        </p:txBody>
      </p:sp>
      <p:sp>
        <p:nvSpPr>
          <p:cNvPr id="842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Page Hit</a:t>
            </a:r>
            <a:endParaRPr/>
          </a:p>
        </p:txBody>
      </p:sp>
      <p:sp>
        <p:nvSpPr>
          <p:cNvPr id="843" name="Rectangle 7"/>
          <p:cNvSpPr>
            <a:spLocks noChangeArrowheads="true"/>
          </p:cNvSpPr>
          <p:nvPr/>
        </p:nvSpPr>
        <p:spPr bwMode="auto">
          <a:xfrm>
            <a:off x="4419600" y="233363"/>
            <a:ext cx="4560888" cy="1062037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zh-CN" sz="1800">
                <a:latin typeface="Courier New" panose="02070609020205090404" charset="0"/>
              </a:rPr>
              <a:t>  VA: virtual address</a:t>
            </a:r>
            <a:endParaRPr/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zh-CN" sz="1800">
                <a:latin typeface="Courier New" panose="02070609020205090404" charset="0"/>
              </a:rPr>
              <a:t>PTEA: page table entry address </a:t>
            </a:r>
            <a:endParaRPr/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zh-CN" sz="1800">
                <a:latin typeface="Courier New" panose="02070609020205090404" charset="0"/>
              </a:rPr>
              <a:t> PTE: page table entry</a:t>
            </a:r>
            <a:endParaRPr/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zh-CN" sz="1800">
                <a:latin typeface="Courier New" panose="02070609020205090404" charset="0"/>
              </a:rPr>
              <a:t>  PA: physical address</a:t>
            </a:r>
            <a:endParaRPr/>
          </a:p>
        </p:txBody>
      </p:sp>
      <p:sp>
        <p:nvSpPr>
          <p:cNvPr id="844" name="Rectangle 7"/>
          <p:cNvSpPr>
            <a:spLocks noChangeArrowheads="true"/>
          </p:cNvSpPr>
          <p:nvPr/>
        </p:nvSpPr>
        <p:spPr bwMode="auto">
          <a:xfrm>
            <a:off x="1384300" y="1776413"/>
            <a:ext cx="3749675" cy="1676400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/>
          </a:extLst>
        </p:spPr>
        <p:txBody>
          <a:bodyPr anchor="ctr"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/>
            <a:endParaRPr lang="en-US" altLang="zh-CN"/>
          </a:p>
        </p:txBody>
      </p:sp>
      <p:sp>
        <p:nvSpPr>
          <p:cNvPr id="845" name="Rectangle 10"/>
          <p:cNvSpPr>
            <a:spLocks noChangeArrowheads="true"/>
          </p:cNvSpPr>
          <p:nvPr/>
        </p:nvSpPr>
        <p:spPr bwMode="auto">
          <a:xfrm>
            <a:off x="3963988" y="2012950"/>
            <a:ext cx="1066800" cy="1236663"/>
          </a:xfrm>
          <a:prstGeom prst="rect">
            <a:avLst/>
          </a:prstGeom>
          <a:solidFill>
            <a:srgbClr val="D5F1CF"/>
          </a:solidFill>
          <a:ln w="12600">
            <a:solidFill>
              <a:schemeClr val="tx1"/>
            </a:solidFill>
            <a:miter lim="800000"/>
          </a:ln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600">
                <a:latin typeface="Calibri" charset="0"/>
              </a:rPr>
              <a:t>MMU</a:t>
            </a:r>
            <a:endParaRPr/>
          </a:p>
        </p:txBody>
      </p:sp>
      <p:sp>
        <p:nvSpPr>
          <p:cNvPr id="846" name="Rectangle 17"/>
          <p:cNvSpPr>
            <a:spLocks noChangeArrowheads="true"/>
          </p:cNvSpPr>
          <p:nvPr/>
        </p:nvSpPr>
        <p:spPr bwMode="auto">
          <a:xfrm>
            <a:off x="6553200" y="1727200"/>
            <a:ext cx="914400" cy="2284413"/>
          </a:xfrm>
          <a:prstGeom prst="rect">
            <a:avLst/>
          </a:prstGeom>
          <a:solidFill>
            <a:srgbClr val="FFFFCC"/>
          </a:solidFill>
          <a:ln w="19080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r>
              <a:rPr lang="en-US" altLang="zh-CN" sz="1600">
                <a:latin typeface="Calibri" charset="0"/>
              </a:rPr>
              <a:t>Cache/</a:t>
            </a:r>
            <a:endParaRPr/>
          </a:p>
          <a:p>
            <a:pPr/>
            <a:r>
              <a:rPr lang="en-US" altLang="zh-CN" sz="1600">
                <a:latin typeface="Calibri" charset="0"/>
              </a:rPr>
              <a:t>Memory</a:t>
            </a:r>
            <a:endParaRPr/>
          </a:p>
        </p:txBody>
      </p:sp>
      <p:sp>
        <p:nvSpPr>
          <p:cNvPr id="847" name="Text Box 9"/>
          <p:cNvSpPr txBox="true">
            <a:spLocks noChangeArrowheads="true"/>
          </p:cNvSpPr>
          <p:nvPr/>
        </p:nvSpPr>
        <p:spPr bwMode="auto">
          <a:xfrm>
            <a:off x="5580063" y="2819400"/>
            <a:ext cx="428625" cy="336550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 anchor="ctr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600"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609020205090404" charset="0"/>
              </a:rPr>
              <a:t>PA</a:t>
            </a:r>
            <a:endParaRPr/>
          </a:p>
        </p:txBody>
      </p:sp>
      <p:sp>
        <p:nvSpPr>
          <p:cNvPr id="848" name="Text Box 32"/>
          <p:cNvSpPr txBox="true">
            <a:spLocks noChangeArrowheads="true"/>
          </p:cNvSpPr>
          <p:nvPr/>
        </p:nvSpPr>
        <p:spPr bwMode="auto">
          <a:xfrm>
            <a:off x="3814763" y="3768725"/>
            <a:ext cx="676275" cy="334963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 anchor="ctr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600"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609020205090404" charset="0"/>
              </a:rPr>
              <a:t>Data</a:t>
            </a:r>
            <a:endParaRPr/>
          </a:p>
        </p:txBody>
      </p:sp>
      <p:cxnSp>
        <p:nvCxnSpPr>
          <p:cNvPr id="849" name="Straight Arrow Connector 12"/>
          <p:cNvCxnSpPr>
            <a:cxnSpLocks noChangeShapeType="true"/>
          </p:cNvCxnSpPr>
          <p:nvPr/>
        </p:nvCxnSpPr>
        <p:spPr bwMode="auto">
          <a:xfrm flipV="true">
            <a:off x="5030788" y="3087688"/>
            <a:ext cx="1522412" cy="1587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tailEnd type="arrow" w="med" len="med"/>
          </a:ln>
          <a:extLst>
            <a:ext uri="{909E8E84-426E-40DD-AFC4-6F175D3DCCD1}"/>
          </a:extLst>
        </p:spPr>
      </p:cxnSp>
      <p:sp>
        <p:nvSpPr>
          <p:cNvPr id="850" name="Rectangle 10"/>
          <p:cNvSpPr>
            <a:spLocks noChangeArrowheads="true"/>
          </p:cNvSpPr>
          <p:nvPr/>
        </p:nvSpPr>
        <p:spPr bwMode="auto">
          <a:xfrm>
            <a:off x="1525588" y="2365375"/>
            <a:ext cx="1066800" cy="533400"/>
          </a:xfrm>
          <a:prstGeom prst="rect">
            <a:avLst/>
          </a:prstGeom>
          <a:solidFill>
            <a:srgbClr val="F1C7C7"/>
          </a:solidFill>
          <a:ln w="12600">
            <a:solidFill>
              <a:schemeClr val="tx1"/>
            </a:solidFill>
            <a:miter lim="800000"/>
          </a:ln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600">
                <a:latin typeface="Calibri" charset="0"/>
              </a:rPr>
              <a:t>CPU</a:t>
            </a:r>
            <a:endParaRPr/>
          </a:p>
        </p:txBody>
      </p:sp>
      <p:cxnSp>
        <p:nvCxnSpPr>
          <p:cNvPr id="851" name="Straight Arrow Connector 14"/>
          <p:cNvCxnSpPr>
            <a:cxnSpLocks noChangeShapeType="true"/>
          </p:cNvCxnSpPr>
          <p:nvPr/>
        </p:nvCxnSpPr>
        <p:spPr bwMode="auto">
          <a:xfrm flipV="true">
            <a:off x="2592388" y="2692400"/>
            <a:ext cx="1371600" cy="1588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tailEnd type="arrow" w="med" len="med"/>
          </a:ln>
          <a:extLst>
            <a:ext uri="{909E8E84-426E-40DD-AFC4-6F175D3DCCD1}"/>
          </a:extLst>
        </p:spPr>
      </p:cxnSp>
      <p:sp>
        <p:nvSpPr>
          <p:cNvPr id="852" name="Text Box 9"/>
          <p:cNvSpPr txBox="true">
            <a:spLocks noChangeArrowheads="true"/>
          </p:cNvSpPr>
          <p:nvPr/>
        </p:nvSpPr>
        <p:spPr bwMode="auto">
          <a:xfrm>
            <a:off x="3028950" y="2406650"/>
            <a:ext cx="428625" cy="336550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 anchor="ctr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600"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609020205090404" charset="0"/>
              </a:rPr>
              <a:t>VA</a:t>
            </a:r>
            <a:endParaRPr/>
          </a:p>
        </p:txBody>
      </p:sp>
      <p:sp>
        <p:nvSpPr>
          <p:cNvPr id="853" name="TextBox 16"/>
          <p:cNvSpPr txBox="true"/>
          <p:nvPr/>
        </p:nvSpPr>
        <p:spPr>
          <a:xfrm>
            <a:off x="1390650" y="1779588"/>
            <a:ext cx="1057275" cy="369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800" i="true" dirty="false">
                <a:solidFill>
                  <a:schemeClr val="tx1">
                    <a:lumMod val="50000"/>
                    <a:lumOff val="50000"/>
                  </a:schemeClr>
                </a:solidFill>
                <a:latin typeface="Calibri" charset="0"/>
                <a:ea typeface="宋体" charset="-122"/>
              </a:rPr>
              <a:t>CPU Chip</a:t>
            </a:r>
            <a:endParaRPr/>
          </a:p>
        </p:txBody>
      </p:sp>
      <p:sp>
        <p:nvSpPr>
          <p:cNvPr id="854" name="Text Box 9"/>
          <p:cNvSpPr txBox="true">
            <a:spLocks noChangeArrowheads="true"/>
          </p:cNvSpPr>
          <p:nvPr/>
        </p:nvSpPr>
        <p:spPr bwMode="auto">
          <a:xfrm>
            <a:off x="5456238" y="1905000"/>
            <a:ext cx="674687" cy="336550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 anchor="ctr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600"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609020205090404" charset="0"/>
              </a:rPr>
              <a:t>PTEA</a:t>
            </a:r>
            <a:endParaRPr/>
          </a:p>
        </p:txBody>
      </p:sp>
      <p:cxnSp>
        <p:nvCxnSpPr>
          <p:cNvPr id="855" name="Straight Arrow Connector 18"/>
          <p:cNvCxnSpPr>
            <a:cxnSpLocks noChangeShapeType="true"/>
          </p:cNvCxnSpPr>
          <p:nvPr/>
        </p:nvCxnSpPr>
        <p:spPr bwMode="auto">
          <a:xfrm flipV="true">
            <a:off x="5030788" y="2173288"/>
            <a:ext cx="1522412" cy="1587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tailEnd type="arrow" w="med" len="med"/>
          </a:ln>
          <a:extLst>
            <a:ext uri="{909E8E84-426E-40DD-AFC4-6F175D3DCCD1}"/>
          </a:extLst>
        </p:spPr>
      </p:cxnSp>
      <p:sp>
        <p:nvSpPr>
          <p:cNvPr id="856" name="Text Box 9"/>
          <p:cNvSpPr txBox="true">
            <a:spLocks noChangeArrowheads="true"/>
          </p:cNvSpPr>
          <p:nvPr/>
        </p:nvSpPr>
        <p:spPr bwMode="auto">
          <a:xfrm>
            <a:off x="5518150" y="2209800"/>
            <a:ext cx="550863" cy="336550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 anchor="ctr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600"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609020205090404" charset="0"/>
              </a:rPr>
              <a:t>PTE</a:t>
            </a:r>
            <a:endParaRPr/>
          </a:p>
        </p:txBody>
      </p:sp>
      <p:cxnSp>
        <p:nvCxnSpPr>
          <p:cNvPr id="857" name="Straight Arrow Connector 20"/>
          <p:cNvCxnSpPr>
            <a:cxnSpLocks noChangeShapeType="true"/>
          </p:cNvCxnSpPr>
          <p:nvPr/>
        </p:nvCxnSpPr>
        <p:spPr bwMode="auto">
          <a:xfrm flipH="true" flipV="true">
            <a:off x="5030788" y="2478088"/>
            <a:ext cx="1522412" cy="1587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tailEnd type="arrow" w="med" len="med"/>
          </a:ln>
          <a:extLst>
            <a:ext uri="{909E8E84-426E-40DD-AFC4-6F175D3DCCD1}"/>
          </a:extLst>
        </p:spPr>
      </p:cxnSp>
      <p:cxnSp>
        <p:nvCxnSpPr>
          <p:cNvPr id="858" name="Shape 49"/>
          <p:cNvCxnSpPr>
            <a:cxnSpLocks noChangeShapeType="true"/>
            <a:endCxn id="850" idx="2"/>
          </p:cNvCxnSpPr>
          <p:nvPr/>
        </p:nvCxnSpPr>
        <p:spPr bwMode="auto">
          <a:xfrm rot="10800000">
            <a:off x="2058988" y="2898775"/>
            <a:ext cx="4494212" cy="884238"/>
          </a:xfrm>
          <a:prstGeom prst="bentConnector2">
            <a:avLst/>
          </a:prstGeom>
          <a:noFill/>
          <a:ln w="25400">
            <a:solidFill>
              <a:schemeClr val="tx1"/>
            </a:solidFill>
            <a:round/>
            <a:tailEnd type="arrow" w="med" len="med"/>
          </a:ln>
          <a:extLst>
            <a:ext uri="{909E8E84-426E-40DD-AFC4-6F175D3DCCD1}"/>
          </a:extLst>
        </p:spPr>
      </p:cxnSp>
      <p:sp>
        <p:nvSpPr>
          <p:cNvPr id="859" name="Oval 4"/>
          <p:cNvSpPr>
            <a:spLocks noChangeArrowheads="true"/>
          </p:cNvSpPr>
          <p:nvPr/>
        </p:nvSpPr>
        <p:spPr bwMode="auto">
          <a:xfrm>
            <a:off x="3106738" y="2185988"/>
            <a:ext cx="274637" cy="27463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sz="1400" dirty="false">
                <a:solidFill>
                  <a:schemeClr val="bg1"/>
                </a:solidFill>
                <a:latin typeface="Calibri" charset="0"/>
                <a:ea typeface="宋体" charset="-122"/>
              </a:rPr>
              <a:t>1</a:t>
            </a:r>
            <a:endParaRPr/>
          </a:p>
        </p:txBody>
      </p:sp>
      <p:sp>
        <p:nvSpPr>
          <p:cNvPr id="860" name="Oval 18"/>
          <p:cNvSpPr>
            <a:spLocks noChangeArrowheads="true"/>
          </p:cNvSpPr>
          <p:nvPr/>
        </p:nvSpPr>
        <p:spPr bwMode="auto">
          <a:xfrm>
            <a:off x="5656263" y="1673225"/>
            <a:ext cx="274637" cy="2746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sz="1400" dirty="false">
                <a:solidFill>
                  <a:schemeClr val="bg1"/>
                </a:solidFill>
                <a:latin typeface="Calibri" charset="0"/>
                <a:ea typeface="宋体" charset="-122"/>
              </a:rPr>
              <a:t>2</a:t>
            </a:r>
            <a:endParaRPr/>
          </a:p>
        </p:txBody>
      </p:sp>
      <p:sp>
        <p:nvSpPr>
          <p:cNvPr id="861" name="Oval 19"/>
          <p:cNvSpPr>
            <a:spLocks noChangeArrowheads="true"/>
          </p:cNvSpPr>
          <p:nvPr/>
        </p:nvSpPr>
        <p:spPr bwMode="auto">
          <a:xfrm>
            <a:off x="5656263" y="2527300"/>
            <a:ext cx="274637" cy="2746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sz="1400" dirty="false">
                <a:solidFill>
                  <a:schemeClr val="bg1"/>
                </a:solidFill>
                <a:latin typeface="Calibri" charset="0"/>
                <a:ea typeface="宋体" charset="-122"/>
              </a:rPr>
              <a:t>3</a:t>
            </a:r>
            <a:endParaRPr/>
          </a:p>
        </p:txBody>
      </p:sp>
      <p:sp>
        <p:nvSpPr>
          <p:cNvPr id="862" name="Oval 20"/>
          <p:cNvSpPr>
            <a:spLocks noChangeArrowheads="true"/>
          </p:cNvSpPr>
          <p:nvPr/>
        </p:nvSpPr>
        <p:spPr bwMode="auto">
          <a:xfrm>
            <a:off x="5656263" y="3154363"/>
            <a:ext cx="274637" cy="27463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sz="1400" dirty="false">
                <a:solidFill>
                  <a:schemeClr val="bg1"/>
                </a:solidFill>
                <a:latin typeface="Calibri" charset="0"/>
                <a:ea typeface="宋体" charset="-122"/>
              </a:rPr>
              <a:t>4</a:t>
            </a:r>
            <a:endParaRPr/>
          </a:p>
        </p:txBody>
      </p:sp>
      <p:sp>
        <p:nvSpPr>
          <p:cNvPr id="863" name="Oval 21"/>
          <p:cNvSpPr>
            <a:spLocks noChangeArrowheads="true"/>
          </p:cNvSpPr>
          <p:nvPr/>
        </p:nvSpPr>
        <p:spPr bwMode="auto">
          <a:xfrm>
            <a:off x="4021138" y="4068763"/>
            <a:ext cx="274637" cy="27463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sz="1400" dirty="false">
                <a:solidFill>
                  <a:schemeClr val="bg1"/>
                </a:solidFill>
                <a:latin typeface="Calibri" charset="0"/>
                <a:ea typeface="宋体" charset="-122"/>
              </a:rPr>
              <a:t>5</a:t>
            </a:r>
            <a:endParaRPr/>
          </a:p>
        </p:txBody>
      </p:sp>
      <p:sp>
        <p:nvSpPr>
          <p:cNvPr id="864" name="Rectangle 2"/>
          <p:cNvSpPr txBox="true">
            <a:spLocks noChangeArrowheads="true"/>
          </p:cNvSpPr>
          <p:nvPr/>
        </p:nvSpPr>
        <p:spPr bwMode="auto">
          <a:xfrm>
            <a:off x="457200" y="4419600"/>
            <a:ext cx="678180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 marL="342900" indent="-342900"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>
              <a:spcBef>
                <a:spcPts val="1250"/>
              </a:spcBef>
              <a:buFont typeface="Wingdings" panose="05000000000000000000" pitchFamily="2" charset="2"/>
              <a:buNone/>
            </a:pPr>
            <a:r>
              <a:rPr lang="en-GB" altLang="zh-CN" b="false" dirty="false"/>
              <a:t>1) Processor sends virtual address to MMU </a:t>
            </a:r>
            <a:endParaRPr/>
          </a:p>
          <a:p>
            <a:pPr>
              <a:spcBef>
                <a:spcPts val="1250"/>
              </a:spcBef>
              <a:buFont typeface="Wingdings" panose="05000000000000000000" pitchFamily="2" charset="2"/>
              <a:buNone/>
            </a:pPr>
            <a:r>
              <a:rPr lang="en-GB" altLang="zh-CN" b="false" dirty="false"/>
              <a:t>2-3) MMU fetches PTE from page table in memory</a:t>
            </a:r>
            <a:endParaRPr/>
          </a:p>
          <a:p>
            <a:pPr>
              <a:spcBef>
                <a:spcPts val="1250"/>
              </a:spcBef>
              <a:buFont typeface="Wingdings" panose="05000000000000000000" pitchFamily="2" charset="2"/>
              <a:buNone/>
            </a:pPr>
            <a:r>
              <a:rPr lang="en-GB" altLang="zh-CN" b="false" dirty="false"/>
              <a:t>4) MMU sends physical address to cache/memory</a:t>
            </a:r>
            <a:endParaRPr/>
          </a:p>
          <a:p>
            <a:pPr>
              <a:spcBef>
                <a:spcPts val="1250"/>
              </a:spcBef>
              <a:buFont typeface="Wingdings" panose="05000000000000000000" pitchFamily="2" charset="2"/>
              <a:buNone/>
            </a:pPr>
            <a:r>
              <a:rPr lang="en-GB" altLang="zh-CN" b="false" dirty="false"/>
              <a:t>5) Cache/memory sends data word to processor</a:t>
            </a:r>
            <a:endParaRPr/>
          </a:p>
        </p:txBody>
      </p:sp>
      <p:sp>
        <p:nvSpPr>
          <p:cNvPr id="865" name=""/>
          <p:cNvSpPr txBox="true"/>
          <p:nvPr/>
        </p:nvSpPr>
        <p:spPr>
          <a:xfrm rot="0" flipH="false" flipV="false">
            <a:off x="1874044" y="6280150"/>
            <a:ext cx="4826000" cy="393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en-US">
                <a:solidFill>
                  <a:srgbClr val="FF0000">
                    <a:alpha val="100000"/>
                  </a:srgbClr>
                </a:solidFill>
              </a:rPr>
              <a:t>page hit is fully handled by hardware</a:t>
            </a:r>
            <a:endParaRPr/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p="http://schemas.openxmlformats.org/presentationml/2006/main">
  <p:cSld>
    <p:spTree>
      <p:nvGrpSpPr>
        <p:cNvPr id="8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544234DA-7B08-0146-8731-F1FB3CD1F068}" type="slidenum">
              <a:rPr lang="zh-CN" altLang="en-US" sz="1400" b="false">
                <a:latin typeface="Times New Roman" panose="02020603050405020304" charset="0"/>
              </a:rPr>
              <a:t>57</a:t>
            </a:fld>
            <a:endParaRPr lang="en-US" altLang="zh-CN" sz="1400" b="false">
              <a:latin typeface="Times New Roman" panose="02020603050405020304" charset="0"/>
            </a:endParaRPr>
          </a:p>
        </p:txBody>
      </p:sp>
      <p:sp>
        <p:nvSpPr>
          <p:cNvPr id="868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Page Faults</a:t>
            </a:r>
            <a:endParaRPr/>
          </a:p>
        </p:txBody>
      </p:sp>
      <p:sp>
        <p:nvSpPr>
          <p:cNvPr id="869" name="Rectangle 5"/>
          <p:cNvSpPr>
            <a:spLocks noChangeArrowheads="true"/>
          </p:cNvSpPr>
          <p:nvPr/>
        </p:nvSpPr>
        <p:spPr bwMode="auto">
          <a:xfrm>
            <a:off x="609600" y="2462213"/>
            <a:ext cx="3749675" cy="1676400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/>
          </a:extLst>
        </p:spPr>
        <p:txBody>
          <a:bodyPr anchor="ctr"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/>
            <a:endParaRPr lang="en-US" altLang="zh-CN"/>
          </a:p>
        </p:txBody>
      </p:sp>
      <p:sp>
        <p:nvSpPr>
          <p:cNvPr id="870" name="Rectangle 10"/>
          <p:cNvSpPr>
            <a:spLocks noChangeArrowheads="true"/>
          </p:cNvSpPr>
          <p:nvPr/>
        </p:nvSpPr>
        <p:spPr bwMode="auto">
          <a:xfrm>
            <a:off x="3189288" y="2698750"/>
            <a:ext cx="1066800" cy="1236663"/>
          </a:xfrm>
          <a:prstGeom prst="rect">
            <a:avLst/>
          </a:prstGeom>
          <a:solidFill>
            <a:srgbClr val="D5F1CF"/>
          </a:solidFill>
          <a:ln w="12600">
            <a:solidFill>
              <a:schemeClr val="tx1"/>
            </a:solidFill>
            <a:miter lim="800000"/>
          </a:ln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600">
                <a:latin typeface="Calibri" charset="0"/>
              </a:rPr>
              <a:t>MMU</a:t>
            </a:r>
            <a:endParaRPr/>
          </a:p>
        </p:txBody>
      </p:sp>
      <p:sp>
        <p:nvSpPr>
          <p:cNvPr id="871" name="Rectangle 17"/>
          <p:cNvSpPr>
            <a:spLocks noChangeArrowheads="true"/>
          </p:cNvSpPr>
          <p:nvPr/>
        </p:nvSpPr>
        <p:spPr bwMode="auto">
          <a:xfrm>
            <a:off x="5778500" y="2413000"/>
            <a:ext cx="914400" cy="1925638"/>
          </a:xfrm>
          <a:prstGeom prst="rect">
            <a:avLst/>
          </a:prstGeom>
          <a:solidFill>
            <a:srgbClr val="F5F5F5"/>
          </a:solidFill>
          <a:ln w="19080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r>
              <a:rPr lang="en-US" altLang="zh-CN" sz="1600">
                <a:latin typeface="Calibri" charset="0"/>
              </a:rPr>
              <a:t>Cache/</a:t>
            </a:r>
            <a:endParaRPr/>
          </a:p>
          <a:p>
            <a:pPr/>
            <a:r>
              <a:rPr lang="en-US" altLang="zh-CN" sz="1600">
                <a:latin typeface="Calibri" charset="0"/>
              </a:rPr>
              <a:t>Memory</a:t>
            </a:r>
            <a:endParaRPr/>
          </a:p>
        </p:txBody>
      </p:sp>
      <p:sp>
        <p:nvSpPr>
          <p:cNvPr id="872" name="Rectangle 10"/>
          <p:cNvSpPr>
            <a:spLocks noChangeArrowheads="true"/>
          </p:cNvSpPr>
          <p:nvPr/>
        </p:nvSpPr>
        <p:spPr bwMode="auto">
          <a:xfrm>
            <a:off x="750888" y="3051175"/>
            <a:ext cx="1066800" cy="533400"/>
          </a:xfrm>
          <a:prstGeom prst="rect">
            <a:avLst/>
          </a:prstGeom>
          <a:solidFill>
            <a:srgbClr val="F1C7C7"/>
          </a:solidFill>
          <a:ln w="12600">
            <a:solidFill>
              <a:schemeClr val="tx1"/>
            </a:solidFill>
            <a:miter lim="800000"/>
          </a:ln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600">
                <a:latin typeface="Calibri" charset="0"/>
              </a:rPr>
              <a:t>CPU</a:t>
            </a:r>
            <a:endParaRPr/>
          </a:p>
        </p:txBody>
      </p:sp>
      <p:cxnSp>
        <p:nvCxnSpPr>
          <p:cNvPr id="873" name="Straight Arrow Connector 9"/>
          <p:cNvCxnSpPr>
            <a:cxnSpLocks noChangeShapeType="true"/>
            <a:stCxn id="872" idx="3"/>
            <a:endCxn id="870" idx="1"/>
          </p:cNvCxnSpPr>
          <p:nvPr/>
        </p:nvCxnSpPr>
        <p:spPr bwMode="auto">
          <a:xfrm flipV="true">
            <a:off x="1817688" y="3317875"/>
            <a:ext cx="1371600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tailEnd type="arrow" w="med" len="med"/>
          </a:ln>
          <a:extLst>
            <a:ext uri="{909E8E84-426E-40DD-AFC4-6F175D3DCCD1}"/>
          </a:extLst>
        </p:spPr>
      </p:cxnSp>
      <p:sp>
        <p:nvSpPr>
          <p:cNvPr id="874" name="Text Box 9"/>
          <p:cNvSpPr txBox="true">
            <a:spLocks noChangeArrowheads="true"/>
          </p:cNvSpPr>
          <p:nvPr/>
        </p:nvSpPr>
        <p:spPr bwMode="auto">
          <a:xfrm>
            <a:off x="2252663" y="3016250"/>
            <a:ext cx="4286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lIns="90000" tIns="46800" rIns="90000" bIns="46800" anchor="ctr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600">
                <a:latin typeface="Courier New" panose="02070609020205090404" charset="0"/>
              </a:rPr>
              <a:t>VA</a:t>
            </a:r>
            <a:endParaRPr/>
          </a:p>
        </p:txBody>
      </p:sp>
      <p:sp>
        <p:nvSpPr>
          <p:cNvPr id="875" name="TextBox 11"/>
          <p:cNvSpPr txBox="true"/>
          <p:nvPr/>
        </p:nvSpPr>
        <p:spPr>
          <a:xfrm>
            <a:off x="614363" y="2465388"/>
            <a:ext cx="1058862" cy="369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800" i="true" dirty="false">
                <a:solidFill>
                  <a:schemeClr val="tx1">
                    <a:lumMod val="50000"/>
                    <a:lumOff val="50000"/>
                  </a:schemeClr>
                </a:solidFill>
                <a:latin typeface="Calibri" charset="0"/>
                <a:ea typeface="宋体" charset="-122"/>
              </a:rPr>
              <a:t>CPU Chip</a:t>
            </a:r>
            <a:endParaRPr/>
          </a:p>
        </p:txBody>
      </p:sp>
      <p:sp>
        <p:nvSpPr>
          <p:cNvPr id="876" name="Text Box 9"/>
          <p:cNvSpPr txBox="true">
            <a:spLocks noChangeArrowheads="true"/>
          </p:cNvSpPr>
          <p:nvPr/>
        </p:nvSpPr>
        <p:spPr bwMode="auto">
          <a:xfrm>
            <a:off x="4679950" y="2603500"/>
            <a:ext cx="6762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lIns="90000" tIns="46800" rIns="90000" bIns="46800" anchor="ctr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600">
                <a:latin typeface="Courier New" panose="02070609020205090404" charset="0"/>
              </a:rPr>
              <a:t>PTEA</a:t>
            </a:r>
            <a:endParaRPr/>
          </a:p>
        </p:txBody>
      </p:sp>
      <p:cxnSp>
        <p:nvCxnSpPr>
          <p:cNvPr id="877" name="Straight Arrow Connector 13"/>
          <p:cNvCxnSpPr>
            <a:cxnSpLocks noChangeShapeType="true"/>
          </p:cNvCxnSpPr>
          <p:nvPr/>
        </p:nvCxnSpPr>
        <p:spPr bwMode="auto">
          <a:xfrm flipV="true">
            <a:off x="4256088" y="2871788"/>
            <a:ext cx="1522412" cy="1587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tailEnd type="arrow" w="med" len="med"/>
          </a:ln>
          <a:extLst>
            <a:ext uri="{909E8E84-426E-40DD-AFC4-6F175D3DCCD1}"/>
          </a:extLst>
        </p:spPr>
      </p:cxnSp>
      <p:sp>
        <p:nvSpPr>
          <p:cNvPr id="878" name="Text Box 9"/>
          <p:cNvSpPr txBox="true">
            <a:spLocks noChangeArrowheads="true"/>
          </p:cNvSpPr>
          <p:nvPr/>
        </p:nvSpPr>
        <p:spPr bwMode="auto">
          <a:xfrm>
            <a:off x="4741863" y="3044825"/>
            <a:ext cx="5524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lIns="90000" tIns="46800" rIns="90000" bIns="46800" anchor="ctr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600">
                <a:latin typeface="Courier New" panose="02070609020205090404" charset="0"/>
              </a:rPr>
              <a:t>PTE</a:t>
            </a:r>
            <a:endParaRPr/>
          </a:p>
        </p:txBody>
      </p:sp>
      <p:cxnSp>
        <p:nvCxnSpPr>
          <p:cNvPr id="879" name="Straight Arrow Connector 15"/>
          <p:cNvCxnSpPr>
            <a:cxnSpLocks noChangeShapeType="true"/>
          </p:cNvCxnSpPr>
          <p:nvPr/>
        </p:nvCxnSpPr>
        <p:spPr bwMode="auto">
          <a:xfrm flipH="true" flipV="true">
            <a:off x="4256088" y="3328988"/>
            <a:ext cx="1522412" cy="1587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tailEnd type="arrow" w="med" len="med"/>
          </a:ln>
          <a:extLst>
            <a:ext uri="{909E8E84-426E-40DD-AFC4-6F175D3DCCD1}"/>
          </a:extLst>
        </p:spPr>
      </p:cxnSp>
      <p:sp>
        <p:nvSpPr>
          <p:cNvPr id="880" name="Oval 4"/>
          <p:cNvSpPr>
            <a:spLocks noChangeArrowheads="true"/>
          </p:cNvSpPr>
          <p:nvPr/>
        </p:nvSpPr>
        <p:spPr bwMode="auto">
          <a:xfrm>
            <a:off x="2330450" y="2797175"/>
            <a:ext cx="274638" cy="2746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sz="1400" dirty="false">
                <a:solidFill>
                  <a:schemeClr val="bg1"/>
                </a:solidFill>
                <a:latin typeface="Calibri" charset="0"/>
                <a:ea typeface="宋体" charset="-122"/>
              </a:rPr>
              <a:t>1</a:t>
            </a:r>
            <a:endParaRPr/>
          </a:p>
        </p:txBody>
      </p:sp>
      <p:sp>
        <p:nvSpPr>
          <p:cNvPr id="881" name="Oval 18"/>
          <p:cNvSpPr>
            <a:spLocks noChangeArrowheads="true"/>
          </p:cNvSpPr>
          <p:nvPr/>
        </p:nvSpPr>
        <p:spPr bwMode="auto">
          <a:xfrm>
            <a:off x="4881563" y="2371725"/>
            <a:ext cx="274637" cy="2746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sz="1400" dirty="false">
                <a:solidFill>
                  <a:schemeClr val="bg1"/>
                </a:solidFill>
                <a:latin typeface="Calibri" charset="0"/>
                <a:ea typeface="宋体" charset="-122"/>
              </a:rPr>
              <a:t>2</a:t>
            </a:r>
            <a:endParaRPr/>
          </a:p>
        </p:txBody>
      </p:sp>
      <p:sp>
        <p:nvSpPr>
          <p:cNvPr id="882" name="Oval 19"/>
          <p:cNvSpPr>
            <a:spLocks noChangeArrowheads="true"/>
          </p:cNvSpPr>
          <p:nvPr/>
        </p:nvSpPr>
        <p:spPr bwMode="auto">
          <a:xfrm>
            <a:off x="4881563" y="3378200"/>
            <a:ext cx="274637" cy="2746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sz="1400" dirty="false">
                <a:solidFill>
                  <a:schemeClr val="bg1"/>
                </a:solidFill>
                <a:latin typeface="Calibri" charset="0"/>
                <a:ea typeface="宋体" charset="-122"/>
              </a:rPr>
              <a:t>3</a:t>
            </a:r>
            <a:endParaRPr/>
          </a:p>
        </p:txBody>
      </p:sp>
      <p:sp>
        <p:nvSpPr>
          <p:cNvPr id="883" name="Oval 20"/>
          <p:cNvSpPr>
            <a:spLocks noChangeArrowheads="true"/>
          </p:cNvSpPr>
          <p:nvPr/>
        </p:nvSpPr>
        <p:spPr bwMode="auto">
          <a:xfrm>
            <a:off x="4564063" y="1778000"/>
            <a:ext cx="274637" cy="2746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sz="1400" dirty="false">
                <a:solidFill>
                  <a:schemeClr val="bg1"/>
                </a:solidFill>
                <a:latin typeface="Calibri" charset="0"/>
                <a:ea typeface="宋体" charset="-122"/>
              </a:rPr>
              <a:t>4</a:t>
            </a:r>
            <a:endParaRPr/>
          </a:p>
        </p:txBody>
      </p:sp>
      <p:sp>
        <p:nvSpPr>
          <p:cNvPr id="884" name="Oval 21"/>
          <p:cNvSpPr>
            <a:spLocks noChangeArrowheads="true"/>
          </p:cNvSpPr>
          <p:nvPr/>
        </p:nvSpPr>
        <p:spPr bwMode="auto">
          <a:xfrm>
            <a:off x="7192963" y="2925763"/>
            <a:ext cx="274637" cy="27463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sz="1400" dirty="false">
                <a:solidFill>
                  <a:schemeClr val="bg1"/>
                </a:solidFill>
                <a:latin typeface="Calibri" charset="0"/>
                <a:ea typeface="宋体" charset="-122"/>
              </a:rPr>
              <a:t>5</a:t>
            </a:r>
            <a:endParaRPr/>
          </a:p>
        </p:txBody>
      </p:sp>
      <p:sp>
        <p:nvSpPr>
          <p:cNvPr id="885" name="Rectangle 17"/>
          <p:cNvSpPr>
            <a:spLocks noChangeArrowheads="true"/>
          </p:cNvSpPr>
          <p:nvPr/>
        </p:nvSpPr>
        <p:spPr bwMode="auto">
          <a:xfrm>
            <a:off x="7924800" y="2417763"/>
            <a:ext cx="914400" cy="1925637"/>
          </a:xfrm>
          <a:prstGeom prst="rect">
            <a:avLst/>
          </a:prstGeom>
          <a:solidFill>
            <a:srgbClr val="F5F5F5"/>
          </a:solidFill>
          <a:ln w="19080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/>
            <a:r>
              <a:rPr lang="en-US" altLang="zh-CN" sz="1800">
                <a:latin typeface="Calibri" charset="0"/>
              </a:rPr>
              <a:t>Disk</a:t>
            </a:r>
            <a:endParaRPr/>
          </a:p>
        </p:txBody>
      </p:sp>
      <p:sp>
        <p:nvSpPr>
          <p:cNvPr id="886" name="Rectangle 10"/>
          <p:cNvSpPr>
            <a:spLocks noChangeArrowheads="true"/>
          </p:cNvSpPr>
          <p:nvPr/>
        </p:nvSpPr>
        <p:spPr bwMode="auto">
          <a:xfrm>
            <a:off x="5761038" y="1443038"/>
            <a:ext cx="2527300" cy="533400"/>
          </a:xfrm>
          <a:prstGeom prst="rect">
            <a:avLst/>
          </a:prstGeom>
          <a:solidFill>
            <a:srgbClr val="FFC000"/>
          </a:solidFill>
          <a:ln w="12600">
            <a:solidFill>
              <a:schemeClr val="tx1"/>
            </a:solidFill>
            <a:miter lim="800000"/>
          </a:ln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800">
                <a:latin typeface="Calibri" charset="0"/>
              </a:rPr>
              <a:t>Page fault handler</a:t>
            </a:r>
            <a:endParaRPr/>
          </a:p>
        </p:txBody>
      </p:sp>
      <p:cxnSp>
        <p:nvCxnSpPr>
          <p:cNvPr id="887" name="Shape 26"/>
          <p:cNvCxnSpPr>
            <a:cxnSpLocks noChangeShapeType="true"/>
            <a:stCxn id="870" idx="0"/>
            <a:endCxn id="886" idx="1"/>
          </p:cNvCxnSpPr>
          <p:nvPr/>
        </p:nvCxnSpPr>
        <p:spPr bwMode="auto">
          <a:xfrm rot="5400000" flipH="true" flipV="true">
            <a:off x="4247357" y="1185069"/>
            <a:ext cx="989012" cy="2038350"/>
          </a:xfrm>
          <a:prstGeom prst="bentConnector2">
            <a:avLst/>
          </a:prstGeom>
          <a:noFill/>
          <a:ln w="25400">
            <a:solidFill>
              <a:schemeClr val="tx1"/>
            </a:solidFill>
            <a:prstDash val="dash"/>
            <a:round/>
            <a:tailEnd type="arrow" w="med" len="med"/>
          </a:ln>
          <a:extLst>
            <a:ext uri="{909E8E84-426E-40DD-AFC4-6F175D3DCCD1}"/>
          </a:extLst>
        </p:spPr>
      </p:cxnSp>
      <p:cxnSp>
        <p:nvCxnSpPr>
          <p:cNvPr id="888" name="Straight Arrow Connector 24"/>
          <p:cNvCxnSpPr>
            <a:cxnSpLocks noChangeShapeType="true"/>
          </p:cNvCxnSpPr>
          <p:nvPr/>
        </p:nvCxnSpPr>
        <p:spPr bwMode="auto">
          <a:xfrm>
            <a:off x="6707188" y="2857500"/>
            <a:ext cx="1217612" cy="317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tailEnd type="arrow" w="med" len="med"/>
          </a:ln>
          <a:extLst>
            <a:ext uri="{909E8E84-426E-40DD-AFC4-6F175D3DCCD1}"/>
          </a:extLst>
        </p:spPr>
      </p:cxnSp>
      <p:cxnSp>
        <p:nvCxnSpPr>
          <p:cNvPr id="889" name="Straight Arrow Connector 25"/>
          <p:cNvCxnSpPr>
            <a:cxnSpLocks noChangeShapeType="true"/>
          </p:cNvCxnSpPr>
          <p:nvPr/>
        </p:nvCxnSpPr>
        <p:spPr bwMode="auto">
          <a:xfrm rot="10800000">
            <a:off x="6707188" y="3805238"/>
            <a:ext cx="1217612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tailEnd type="arrow" w="med" len="med"/>
          </a:ln>
          <a:extLst>
            <a:ext uri="{909E8E84-426E-40DD-AFC4-6F175D3DCCD1}"/>
          </a:extLst>
        </p:spPr>
      </p:cxnSp>
      <p:sp>
        <p:nvSpPr>
          <p:cNvPr id="890" name="Down Arrow 26"/>
          <p:cNvSpPr/>
          <p:nvPr/>
        </p:nvSpPr>
        <p:spPr bwMode="auto">
          <a:xfrm>
            <a:off x="7086600" y="1976438"/>
            <a:ext cx="457200" cy="628650"/>
          </a:xfrm>
          <a:prstGeom prst="downArrow">
            <a:avLst/>
          </a:prstGeom>
          <a:noFill/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600" dirty="false">
              <a:latin typeface="+mn-lt"/>
              <a:ea typeface="宋体" charset="-122"/>
            </a:endParaRPr>
          </a:p>
        </p:txBody>
      </p:sp>
      <p:sp>
        <p:nvSpPr>
          <p:cNvPr id="891" name="Text Box 9"/>
          <p:cNvSpPr txBox="true">
            <a:spLocks noChangeArrowheads="true"/>
          </p:cNvSpPr>
          <p:nvPr/>
        </p:nvSpPr>
        <p:spPr bwMode="auto">
          <a:xfrm>
            <a:off x="6637338" y="2589213"/>
            <a:ext cx="1363662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lIns="90000" tIns="46800" rIns="90000" bIns="46800" anchor="ctr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400">
                <a:latin typeface="Courier New" panose="02070609020205090404" charset="0"/>
              </a:rPr>
              <a:t>Victim page</a:t>
            </a:r>
            <a:endParaRPr/>
          </a:p>
        </p:txBody>
      </p:sp>
      <p:sp>
        <p:nvSpPr>
          <p:cNvPr id="892" name="Text Box 9"/>
          <p:cNvSpPr txBox="true">
            <a:spLocks noChangeArrowheads="true"/>
          </p:cNvSpPr>
          <p:nvPr/>
        </p:nvSpPr>
        <p:spPr bwMode="auto">
          <a:xfrm>
            <a:off x="6732588" y="3511550"/>
            <a:ext cx="11699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lIns="90000" tIns="46800" rIns="90000" bIns="46800" anchor="ctr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600">
                <a:latin typeface="Courier New" panose="02070609020205090404" charset="0"/>
              </a:rPr>
              <a:t>New page</a:t>
            </a:r>
            <a:endParaRPr/>
          </a:p>
        </p:txBody>
      </p:sp>
      <p:sp>
        <p:nvSpPr>
          <p:cNvPr id="893" name="Text Box 9"/>
          <p:cNvSpPr txBox="true">
            <a:spLocks noChangeArrowheads="true"/>
          </p:cNvSpPr>
          <p:nvPr/>
        </p:nvSpPr>
        <p:spPr bwMode="auto">
          <a:xfrm>
            <a:off x="4267200" y="1404938"/>
            <a:ext cx="9080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lIns="90000" tIns="46800" rIns="90000" bIns="46800" anchor="ctr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400">
                <a:latin typeface="Calibri" charset="0"/>
              </a:rPr>
              <a:t>Exception</a:t>
            </a:r>
            <a:endParaRPr/>
          </a:p>
        </p:txBody>
      </p:sp>
      <p:sp>
        <p:nvSpPr>
          <p:cNvPr id="894" name="Oval 21"/>
          <p:cNvSpPr>
            <a:spLocks noChangeArrowheads="true"/>
          </p:cNvSpPr>
          <p:nvPr/>
        </p:nvSpPr>
        <p:spPr bwMode="auto">
          <a:xfrm>
            <a:off x="7205663" y="3886200"/>
            <a:ext cx="274637" cy="2746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sz="1400" dirty="false">
                <a:solidFill>
                  <a:schemeClr val="bg1"/>
                </a:solidFill>
                <a:latin typeface="Calibri" charset="0"/>
                <a:ea typeface="宋体" charset="-122"/>
              </a:rPr>
              <a:t>6</a:t>
            </a:r>
            <a:endParaRPr/>
          </a:p>
        </p:txBody>
      </p:sp>
      <p:sp>
        <p:nvSpPr>
          <p:cNvPr id="895" name="Oval 21"/>
          <p:cNvSpPr>
            <a:spLocks noChangeArrowheads="true"/>
          </p:cNvSpPr>
          <p:nvPr/>
        </p:nvSpPr>
        <p:spPr bwMode="auto">
          <a:xfrm>
            <a:off x="2330450" y="3397250"/>
            <a:ext cx="274638" cy="2746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sz="1400" dirty="false">
                <a:solidFill>
                  <a:schemeClr val="bg1"/>
                </a:solidFill>
                <a:latin typeface="Calibri" charset="0"/>
                <a:ea typeface="宋体" charset="-122"/>
              </a:rPr>
              <a:t>7</a:t>
            </a:r>
            <a:endParaRPr/>
          </a:p>
        </p:txBody>
      </p:sp>
      <p:sp>
        <p:nvSpPr>
          <p:cNvPr id="896" name="Rectangle 2"/>
          <p:cNvSpPr txBox="true">
            <a:spLocks noChangeArrowheads="true"/>
          </p:cNvSpPr>
          <p:nvPr/>
        </p:nvSpPr>
        <p:spPr bwMode="auto">
          <a:xfrm>
            <a:off x="304800" y="4419600"/>
            <a:ext cx="8534400" cy="2057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/>
          </a:extLst>
        </p:spPr>
        <p:txBody>
          <a:bodyPr/>
          <a:lstStyle>
            <a:lvl1pPr marL="342900" indent="-342900"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>
              <a:lnSpc>
                <a:spcPct val="73000"/>
              </a:lnSpc>
              <a:spcBef>
                <a:spcPts val="1250"/>
              </a:spcBef>
              <a:buFont typeface="Wingdings" panose="05000000000000000000" pitchFamily="2" charset="2"/>
              <a:buNone/>
            </a:pPr>
            <a:r>
              <a:rPr lang="en-GB" altLang="zh-CN" b="false"/>
              <a:t>1) Processor sends virtual address to MMU </a:t>
            </a:r>
            <a:endParaRPr/>
          </a:p>
          <a:p>
            <a:pPr>
              <a:lnSpc>
                <a:spcPct val="73000"/>
              </a:lnSpc>
              <a:spcBef>
                <a:spcPts val="1250"/>
              </a:spcBef>
              <a:buFont typeface="Wingdings" panose="05000000000000000000" pitchFamily="2" charset="2"/>
              <a:buNone/>
            </a:pPr>
            <a:r>
              <a:rPr lang="en-GB" altLang="zh-CN" b="false"/>
              <a:t>2-3) MMU fetches PTE from page table in memory</a:t>
            </a:r>
            <a:endParaRPr/>
          </a:p>
          <a:p>
            <a:pPr>
              <a:lnSpc>
                <a:spcPct val="73000"/>
              </a:lnSpc>
              <a:spcBef>
                <a:spcPts val="1250"/>
              </a:spcBef>
              <a:buFont typeface="Wingdings" panose="05000000000000000000" pitchFamily="2" charset="2"/>
              <a:buNone/>
            </a:pPr>
            <a:r>
              <a:rPr lang="en-GB" altLang="zh-CN" b="false"/>
              <a:t>4) Valid bit is zero, so MMU triggers page fault exception</a:t>
            </a:r>
            <a:endParaRPr/>
          </a:p>
          <a:p>
            <a:pPr>
              <a:lnSpc>
                <a:spcPct val="73000"/>
              </a:lnSpc>
              <a:spcBef>
                <a:spcPts val="1250"/>
              </a:spcBef>
              <a:buFont typeface="Wingdings" panose="05000000000000000000" pitchFamily="2" charset="2"/>
              <a:buNone/>
            </a:pPr>
            <a:r>
              <a:rPr lang="en-GB" altLang="zh-CN" b="false"/>
              <a:t>5) Handler identifies victim (and, if dirty, pages it out to disk)</a:t>
            </a:r>
            <a:endParaRPr/>
          </a:p>
          <a:p>
            <a:pPr>
              <a:lnSpc>
                <a:spcPct val="73000"/>
              </a:lnSpc>
              <a:spcBef>
                <a:spcPts val="1250"/>
              </a:spcBef>
              <a:buFont typeface="Wingdings" panose="05000000000000000000" pitchFamily="2" charset="2"/>
              <a:buNone/>
            </a:pPr>
            <a:r>
              <a:rPr lang="en-GB" altLang="zh-CN" b="false"/>
              <a:t>6) Handler pages in new page and updates PTE in memory</a:t>
            </a:r>
            <a:endParaRPr/>
          </a:p>
          <a:p>
            <a:pPr>
              <a:lnSpc>
                <a:spcPct val="73000"/>
              </a:lnSpc>
              <a:spcBef>
                <a:spcPts val="1250"/>
              </a:spcBef>
              <a:buFont typeface="Wingdings" panose="05000000000000000000" pitchFamily="2" charset="2"/>
              <a:buNone/>
            </a:pPr>
            <a:r>
              <a:rPr lang="en-GB" altLang="zh-CN" b="false"/>
              <a:t>7) Handler returns to original process, restarting faulting instruction</a:t>
            </a:r>
            <a:endParaRPr/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p="http://schemas.openxmlformats.org/presentationml/2006/main">
  <p:cSld>
    <p:spTree>
      <p:nvGrpSpPr>
        <p:cNvPr id="8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2588E59D-BB79-A646-A46C-E1EF5CFD430E}" type="slidenum">
              <a:rPr lang="zh-CN" altLang="en-US" sz="1400" b="false">
                <a:latin typeface="Times New Roman" panose="02020603050405020304" charset="0"/>
              </a:rPr>
              <a:t>58</a:t>
            </a:fld>
            <a:endParaRPr lang="en-US" altLang="zh-CN" sz="1400" b="false">
              <a:latin typeface="Times New Roman" panose="02020603050405020304" charset="0"/>
            </a:endParaRPr>
          </a:p>
        </p:txBody>
      </p:sp>
      <p:sp>
        <p:nvSpPr>
          <p:cNvPr id="899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Integrating Caches and VM</a:t>
            </a:r>
            <a:endParaRPr/>
          </a:p>
        </p:txBody>
      </p:sp>
      <p:grpSp>
        <p:nvGrpSpPr>
          <p:cNvPr id="900" name="Group 31"/>
          <p:cNvGrpSpPr/>
          <p:nvPr/>
        </p:nvGrpSpPr>
        <p:grpSpPr>
          <a:xfrm rot="0" flipH="false" flipV="false">
            <a:off x="609600" y="3546433"/>
            <a:ext cx="7772400" cy="1785938"/>
            <a:chOff x="656" y="1200"/>
            <a:chExt cx="4132" cy="956"/>
          </a:xfrm>
        </p:grpSpPr>
        <p:sp>
          <p:nvSpPr>
            <p:cNvPr id="901" name="Line 5"/>
            <p:cNvSpPr>
              <a:spLocks noChangeShapeType="true"/>
            </p:cNvSpPr>
            <p:nvPr/>
          </p:nvSpPr>
          <p:spPr bwMode="auto">
            <a:xfrm>
              <a:off x="676" y="1272"/>
              <a:ext cx="62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/>
            </a:extLst>
          </p:spPr>
          <p:txBody>
            <a:bodyPr wrap="none" anchor="ctr"/>
            <a:lstStyle/>
            <a:p>
              <a:pPr/>
              <a:endParaRPr lang="zh-CN" altLang="en-US"/>
            </a:p>
          </p:txBody>
        </p:sp>
        <p:sp>
          <p:nvSpPr>
            <p:cNvPr id="902" name="Line 6"/>
            <p:cNvSpPr>
              <a:spLocks noChangeShapeType="true"/>
            </p:cNvSpPr>
            <p:nvPr/>
          </p:nvSpPr>
          <p:spPr bwMode="auto">
            <a:xfrm>
              <a:off x="1304" y="1276"/>
              <a:ext cx="0" cy="5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/>
            </a:extLst>
          </p:spPr>
          <p:txBody>
            <a:bodyPr wrap="none" anchor="ctr"/>
            <a:lstStyle/>
            <a:p>
              <a:pPr/>
              <a:endParaRPr lang="zh-CN" altLang="en-US"/>
            </a:p>
          </p:txBody>
        </p:sp>
        <p:sp>
          <p:nvSpPr>
            <p:cNvPr id="903" name="Line 7"/>
            <p:cNvSpPr>
              <a:spLocks noChangeShapeType="true"/>
            </p:cNvSpPr>
            <p:nvPr/>
          </p:nvSpPr>
          <p:spPr bwMode="auto">
            <a:xfrm flipH="true">
              <a:off x="656" y="1888"/>
              <a:ext cx="6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/>
            </a:extLst>
          </p:spPr>
          <p:txBody>
            <a:bodyPr wrap="none" anchor="ctr"/>
            <a:lstStyle/>
            <a:p>
              <a:pPr/>
              <a:endParaRPr lang="zh-CN" altLang="en-US"/>
            </a:p>
          </p:txBody>
        </p:sp>
        <p:sp>
          <p:nvSpPr>
            <p:cNvPr id="904" name="Rectangle 8"/>
            <p:cNvSpPr>
              <a:spLocks noChangeArrowheads="true"/>
            </p:cNvSpPr>
            <p:nvPr/>
          </p:nvSpPr>
          <p:spPr bwMode="auto">
            <a:xfrm>
              <a:off x="808" y="1504"/>
              <a:ext cx="324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lIns="63500" tIns="25400" rIns="63500" bIns="25400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 sz="1800" b="false">
                  <a:latin typeface="Helvetica" pitchFamily="34" charset="0"/>
                </a:rPr>
                <a:t>CPU</a:t>
              </a:r>
              <a:endParaRPr/>
            </a:p>
          </p:txBody>
        </p:sp>
        <p:sp>
          <p:nvSpPr>
            <p:cNvPr id="905" name="Rectangle 9"/>
            <p:cNvSpPr>
              <a:spLocks noChangeArrowheads="true"/>
            </p:cNvSpPr>
            <p:nvPr/>
          </p:nvSpPr>
          <p:spPr bwMode="auto">
            <a:xfrm>
              <a:off x="1716" y="1292"/>
              <a:ext cx="680" cy="576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7" tIns="44450" rIns="90487" bIns="44450" anchor="ctr"/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en-US" sz="1800" b="false">
                  <a:latin typeface="Helvetica"/>
                  <a:ea typeface="宋体"/>
                  <a:cs typeface="+mn-cs"/>
                </a:rPr>
                <a:t>MMU</a:t>
              </a:r>
              <a:endParaRPr/>
            </a:p>
          </p:txBody>
        </p:sp>
        <p:sp>
          <p:nvSpPr>
            <p:cNvPr id="906" name="Rectangle 10"/>
            <p:cNvSpPr>
              <a:spLocks noChangeArrowheads="true"/>
            </p:cNvSpPr>
            <p:nvPr/>
          </p:nvSpPr>
          <p:spPr bwMode="auto">
            <a:xfrm>
              <a:off x="2868" y="1292"/>
              <a:ext cx="680" cy="57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xtLst>
              <a:ext uri="{909E8E84-426E-40DD-AFC4-6F175D3DCCD1}"/>
            </a:extLst>
          </p:spPr>
          <p:txBody>
            <a:bodyPr wrap="none" lIns="90487" tIns="44450" rIns="90487" bIns="44450" anchor="ctr"/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en-US" sz="1800" b="false">
                  <a:latin typeface="Helvetica"/>
                  <a:ea typeface="宋体"/>
                  <a:cs typeface="+mn-cs"/>
                </a:rPr>
                <a:t>L1/2/3</a:t>
              </a:r>
              <a:endParaRPr/>
            </a:p>
            <a:p>
              <a:pPr algn="ctr"/>
              <a:r>
                <a:rPr lang="en-US" sz="1800" b="false">
                  <a:latin typeface="Helvetica"/>
                  <a:ea typeface="宋体"/>
                  <a:cs typeface="+mn-cs"/>
                </a:rPr>
                <a:t>Cache</a:t>
              </a:r>
              <a:endParaRPr/>
            </a:p>
          </p:txBody>
        </p:sp>
        <p:sp>
          <p:nvSpPr>
            <p:cNvPr id="907" name="Rectangle 11"/>
            <p:cNvSpPr>
              <a:spLocks noChangeArrowheads="true"/>
            </p:cNvSpPr>
            <p:nvPr/>
          </p:nvSpPr>
          <p:spPr bwMode="auto">
            <a:xfrm>
              <a:off x="4108" y="1300"/>
              <a:ext cx="680" cy="57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xtLst>
              <a:ext uri="{909E8E84-426E-40DD-AFC4-6F175D3DCCD1}"/>
            </a:extLst>
          </p:spPr>
          <p:txBody>
            <a:bodyPr wrap="none" lIns="90487" tIns="44450" rIns="90487" bIns="44450" anchor="ctr"/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en-US" altLang="zh-CN" sz="1800" b="false">
                  <a:latin typeface="Helvetica" pitchFamily="34" charset="0"/>
                </a:rPr>
                <a:t>Main</a:t>
              </a:r>
              <a:endParaRPr/>
            </a:p>
            <a:p>
              <a:pPr algn="ctr"/>
              <a:r>
                <a:rPr lang="en-US" altLang="zh-CN" sz="1800" b="false">
                  <a:latin typeface="Helvetica" pitchFamily="34" charset="0"/>
                </a:rPr>
                <a:t>Memory</a:t>
              </a:r>
              <a:endParaRPr/>
            </a:p>
          </p:txBody>
        </p:sp>
        <p:sp>
          <p:nvSpPr>
            <p:cNvPr id="908" name="Line 12"/>
            <p:cNvSpPr>
              <a:spLocks noChangeShapeType="true"/>
            </p:cNvSpPr>
            <p:nvPr/>
          </p:nvSpPr>
          <p:spPr bwMode="auto">
            <a:xfrm>
              <a:off x="1308" y="1384"/>
              <a:ext cx="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/>
            </a:extLst>
          </p:spPr>
          <p:txBody>
            <a:bodyPr wrap="none" anchor="ctr"/>
            <a:lstStyle/>
            <a:p>
              <a:pPr/>
              <a:endParaRPr lang="zh-CN" altLang="en-US"/>
            </a:p>
          </p:txBody>
        </p:sp>
        <p:sp>
          <p:nvSpPr>
            <p:cNvPr id="909" name="Line 13"/>
            <p:cNvSpPr>
              <a:spLocks noChangeShapeType="true"/>
            </p:cNvSpPr>
            <p:nvPr/>
          </p:nvSpPr>
          <p:spPr bwMode="auto">
            <a:xfrm>
              <a:off x="2388" y="1384"/>
              <a:ext cx="4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/>
            </a:extLst>
          </p:spPr>
          <p:txBody>
            <a:bodyPr wrap="none" anchor="ctr"/>
            <a:lstStyle/>
            <a:p>
              <a:pPr/>
              <a:endParaRPr lang="zh-CN" altLang="en-US"/>
            </a:p>
          </p:txBody>
        </p:sp>
        <p:sp>
          <p:nvSpPr>
            <p:cNvPr id="910" name="Line 14"/>
            <p:cNvSpPr>
              <a:spLocks noChangeShapeType="true"/>
            </p:cNvSpPr>
            <p:nvPr/>
          </p:nvSpPr>
          <p:spPr bwMode="auto">
            <a:xfrm>
              <a:off x="3548" y="1368"/>
              <a:ext cx="5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/>
            </a:extLst>
          </p:spPr>
          <p:txBody>
            <a:bodyPr wrap="none" anchor="ctr"/>
            <a:lstStyle/>
            <a:p>
              <a:pPr/>
              <a:endParaRPr lang="zh-CN" altLang="en-US"/>
            </a:p>
          </p:txBody>
        </p:sp>
        <p:sp>
          <p:nvSpPr>
            <p:cNvPr id="911" name="Line 15"/>
            <p:cNvSpPr>
              <a:spLocks noChangeShapeType="true"/>
            </p:cNvSpPr>
            <p:nvPr/>
          </p:nvSpPr>
          <p:spPr bwMode="auto">
            <a:xfrm flipH="true">
              <a:off x="3976" y="1776"/>
              <a:ext cx="1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/>
            </a:extLst>
          </p:spPr>
          <p:txBody>
            <a:bodyPr wrap="none" anchor="ctr"/>
            <a:lstStyle/>
            <a:p>
              <a:pPr/>
              <a:endParaRPr lang="zh-CN" altLang="en-US"/>
            </a:p>
          </p:txBody>
        </p:sp>
        <p:sp>
          <p:nvSpPr>
            <p:cNvPr id="912" name="Line 16"/>
            <p:cNvSpPr>
              <a:spLocks noChangeShapeType="true"/>
            </p:cNvSpPr>
            <p:nvPr/>
          </p:nvSpPr>
          <p:spPr bwMode="auto">
            <a:xfrm>
              <a:off x="3976" y="1780"/>
              <a:ext cx="0" cy="3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/>
            </a:extLst>
          </p:spPr>
          <p:txBody>
            <a:bodyPr wrap="none" anchor="ctr"/>
            <a:lstStyle/>
            <a:p>
              <a:pPr/>
              <a:endParaRPr lang="zh-CN" altLang="en-US"/>
            </a:p>
          </p:txBody>
        </p:sp>
        <p:sp>
          <p:nvSpPr>
            <p:cNvPr id="913" name="Line 17"/>
            <p:cNvSpPr>
              <a:spLocks noChangeShapeType="true"/>
            </p:cNvSpPr>
            <p:nvPr/>
          </p:nvSpPr>
          <p:spPr bwMode="auto">
            <a:xfrm flipH="true">
              <a:off x="1464" y="2152"/>
              <a:ext cx="25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/>
            </a:extLst>
          </p:spPr>
          <p:txBody>
            <a:bodyPr wrap="none" anchor="ctr"/>
            <a:lstStyle/>
            <a:p>
              <a:pPr/>
              <a:endParaRPr lang="zh-CN" altLang="en-US"/>
            </a:p>
          </p:txBody>
        </p:sp>
        <p:sp>
          <p:nvSpPr>
            <p:cNvPr id="914" name="Line 18"/>
            <p:cNvSpPr>
              <a:spLocks noChangeShapeType="true"/>
            </p:cNvSpPr>
            <p:nvPr/>
          </p:nvSpPr>
          <p:spPr bwMode="auto">
            <a:xfrm flipV="true">
              <a:off x="1464" y="1816"/>
              <a:ext cx="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/>
            </a:extLst>
          </p:spPr>
          <p:txBody>
            <a:bodyPr wrap="none" anchor="ctr"/>
            <a:lstStyle/>
            <a:p>
              <a:pPr/>
              <a:endParaRPr lang="zh-CN" altLang="en-US"/>
            </a:p>
          </p:txBody>
        </p:sp>
        <p:sp>
          <p:nvSpPr>
            <p:cNvPr id="915" name="Line 19"/>
            <p:cNvSpPr>
              <a:spLocks noChangeShapeType="true"/>
            </p:cNvSpPr>
            <p:nvPr/>
          </p:nvSpPr>
          <p:spPr bwMode="auto">
            <a:xfrm flipH="true">
              <a:off x="1304" y="1816"/>
              <a:ext cx="16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/>
            </a:extLst>
          </p:spPr>
          <p:txBody>
            <a:bodyPr wrap="none" anchor="ctr"/>
            <a:lstStyle/>
            <a:p>
              <a:pPr/>
              <a:endParaRPr lang="zh-CN" altLang="en-US"/>
            </a:p>
          </p:txBody>
        </p:sp>
        <p:sp>
          <p:nvSpPr>
            <p:cNvPr id="916" name="Line 20"/>
            <p:cNvSpPr>
              <a:spLocks noChangeShapeType="true"/>
            </p:cNvSpPr>
            <p:nvPr/>
          </p:nvSpPr>
          <p:spPr bwMode="auto">
            <a:xfrm flipV="true">
              <a:off x="3712" y="1792"/>
              <a:ext cx="0" cy="3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/>
            </a:extLst>
          </p:spPr>
          <p:txBody>
            <a:bodyPr wrap="none" anchor="ctr"/>
            <a:lstStyle/>
            <a:p>
              <a:pPr/>
              <a:endParaRPr lang="zh-CN" altLang="en-US"/>
            </a:p>
          </p:txBody>
        </p:sp>
        <p:sp>
          <p:nvSpPr>
            <p:cNvPr id="917" name="Line 21"/>
            <p:cNvSpPr>
              <a:spLocks noChangeShapeType="true"/>
            </p:cNvSpPr>
            <p:nvPr/>
          </p:nvSpPr>
          <p:spPr bwMode="auto">
            <a:xfrm flipH="true">
              <a:off x="3552" y="1792"/>
              <a:ext cx="16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/>
            </a:extLst>
          </p:spPr>
          <p:txBody>
            <a:bodyPr wrap="none" anchor="ctr"/>
            <a:lstStyle/>
            <a:p>
              <a:pPr/>
              <a:endParaRPr lang="zh-CN" altLang="en-US"/>
            </a:p>
          </p:txBody>
        </p:sp>
        <p:sp>
          <p:nvSpPr>
            <p:cNvPr id="918" name="Line 22"/>
            <p:cNvSpPr>
              <a:spLocks noChangeShapeType="true"/>
            </p:cNvSpPr>
            <p:nvPr/>
          </p:nvSpPr>
          <p:spPr bwMode="auto">
            <a:xfrm flipH="true">
              <a:off x="2712" y="1776"/>
              <a:ext cx="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/>
            </a:extLst>
          </p:spPr>
          <p:txBody>
            <a:bodyPr wrap="none" anchor="ctr"/>
            <a:lstStyle/>
            <a:p>
              <a:pPr/>
              <a:endParaRPr lang="zh-CN" altLang="en-US"/>
            </a:p>
          </p:txBody>
        </p:sp>
        <p:sp>
          <p:nvSpPr>
            <p:cNvPr id="919" name="Line 23"/>
            <p:cNvSpPr>
              <a:spLocks noChangeShapeType="true"/>
            </p:cNvSpPr>
            <p:nvPr/>
          </p:nvSpPr>
          <p:spPr bwMode="auto">
            <a:xfrm>
              <a:off x="2712" y="1780"/>
              <a:ext cx="0" cy="3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/>
            </a:extLst>
          </p:spPr>
          <p:txBody>
            <a:bodyPr wrap="none" anchor="ctr"/>
            <a:lstStyle/>
            <a:p>
              <a:pPr/>
              <a:endParaRPr lang="zh-CN" altLang="en-US"/>
            </a:p>
          </p:txBody>
        </p:sp>
        <p:sp>
          <p:nvSpPr>
            <p:cNvPr id="920" name="Oval 24"/>
            <p:cNvSpPr>
              <a:spLocks noChangeArrowheads="true"/>
            </p:cNvSpPr>
            <p:nvPr/>
          </p:nvSpPr>
          <p:spPr bwMode="auto">
            <a:xfrm>
              <a:off x="3708" y="2124"/>
              <a:ext cx="24" cy="3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/>
              <a:endParaRPr lang="zh-CN" altLang="en-US"/>
            </a:p>
          </p:txBody>
        </p:sp>
        <p:sp>
          <p:nvSpPr>
            <p:cNvPr id="921" name="Rectangle 25"/>
            <p:cNvSpPr>
              <a:spLocks noChangeArrowheads="true"/>
            </p:cNvSpPr>
            <p:nvPr/>
          </p:nvSpPr>
          <p:spPr bwMode="auto">
            <a:xfrm>
              <a:off x="1384" y="1216"/>
              <a:ext cx="229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lIns="63500" tIns="25400" rIns="63500" bIns="25400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 sz="1800" b="false">
                  <a:latin typeface="Helvetica" pitchFamily="34" charset="0"/>
                </a:rPr>
                <a:t>VA</a:t>
              </a:r>
              <a:endParaRPr/>
            </a:p>
          </p:txBody>
        </p:sp>
        <p:sp>
          <p:nvSpPr>
            <p:cNvPr id="922" name="Rectangle 26"/>
            <p:cNvSpPr>
              <a:spLocks noChangeArrowheads="true"/>
            </p:cNvSpPr>
            <p:nvPr/>
          </p:nvSpPr>
          <p:spPr bwMode="auto">
            <a:xfrm>
              <a:off x="2408" y="1216"/>
              <a:ext cx="230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lIns="63500" tIns="25400" rIns="63500" bIns="25400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 sz="1800" b="false">
                  <a:latin typeface="Helvetica" pitchFamily="34" charset="0"/>
                </a:rPr>
                <a:t>PA</a:t>
              </a:r>
              <a:endParaRPr/>
            </a:p>
          </p:txBody>
        </p:sp>
        <p:sp>
          <p:nvSpPr>
            <p:cNvPr id="923" name="Rectangle 27"/>
            <p:cNvSpPr>
              <a:spLocks noChangeArrowheads="true"/>
            </p:cNvSpPr>
            <p:nvPr/>
          </p:nvSpPr>
          <p:spPr bwMode="auto">
            <a:xfrm>
              <a:off x="3584" y="1200"/>
              <a:ext cx="317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lIns="63500" tIns="25400" rIns="63500" bIns="25400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 sz="1800" b="false">
                  <a:latin typeface="Helvetica" pitchFamily="34" charset="0"/>
                </a:rPr>
                <a:t>miss</a:t>
              </a:r>
              <a:endParaRPr/>
            </a:p>
          </p:txBody>
        </p:sp>
        <p:sp>
          <p:nvSpPr>
            <p:cNvPr id="924" name="Rectangle 28"/>
            <p:cNvSpPr>
              <a:spLocks noChangeArrowheads="true"/>
            </p:cNvSpPr>
            <p:nvPr/>
          </p:nvSpPr>
          <p:spPr bwMode="auto">
            <a:xfrm>
              <a:off x="2456" y="1824"/>
              <a:ext cx="196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lIns="63500" tIns="25400" rIns="63500" bIns="25400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 sz="1800" b="false">
                  <a:latin typeface="Helvetica" pitchFamily="34" charset="0"/>
                </a:rPr>
                <a:t>hit</a:t>
              </a:r>
              <a:endParaRPr/>
            </a:p>
          </p:txBody>
        </p:sp>
        <p:sp>
          <p:nvSpPr>
            <p:cNvPr id="925" name="Rectangle 29"/>
            <p:cNvSpPr>
              <a:spLocks noChangeArrowheads="true"/>
            </p:cNvSpPr>
            <p:nvPr/>
          </p:nvSpPr>
          <p:spPr bwMode="auto">
            <a:xfrm>
              <a:off x="1864" y="2000"/>
              <a:ext cx="304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lIns="63500" tIns="25400" rIns="63500" bIns="25400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 sz="1800" b="false">
                  <a:latin typeface="Helvetica" pitchFamily="34" charset="0"/>
                </a:rPr>
                <a:t>data</a:t>
              </a:r>
              <a:endParaRPr/>
            </a:p>
          </p:txBody>
        </p:sp>
        <p:sp>
          <p:nvSpPr>
            <p:cNvPr id="926" name="Line 30"/>
            <p:cNvSpPr>
              <a:spLocks noChangeShapeType="true"/>
            </p:cNvSpPr>
            <p:nvPr/>
          </p:nvSpPr>
          <p:spPr bwMode="auto">
            <a:xfrm flipV="true">
              <a:off x="672" y="1264"/>
              <a:ext cx="0" cy="6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/>
            </a:extLst>
          </p:spPr>
          <p:txBody>
            <a:bodyPr wrap="none" anchor="ctr"/>
            <a:lstStyle/>
            <a:p>
              <a:pPr/>
              <a:endParaRPr lang="zh-CN" altLang="en-US"/>
            </a:p>
          </p:txBody>
        </p:sp>
      </p:grpSp>
      <p:sp>
        <p:nvSpPr>
          <p:cNvPr id="927" name=""/>
          <p:cNvSpPr txBox="true"/>
          <p:nvPr/>
        </p:nvSpPr>
        <p:spPr>
          <a:xfrm rot="0" flipH="false" flipV="false">
            <a:off x="457200" y="1542330"/>
            <a:ext cx="8229600" cy="1555750"/>
          </a:xfrm>
          <a:prstGeom prst="rect">
            <a:avLst/>
          </a:prstGeom>
          <a:ln w="6350">
            <a:prstDash val="solid"/>
          </a:ln>
        </p:spPr>
        <p:txBody>
          <a:bodyPr wrap="square">
            <a:spAutoFit/>
          </a:bodyPr>
          <a:lstStyle/>
          <a:p>
            <a:pPr/>
            <a:r>
              <a:rPr lang="en-US" sz="2400"/>
              <a:t>CPU L1/L2/L3 cache (SRAM) </a:t>
            </a:r>
            <a:r>
              <a:rPr lang="zh-CN" sz="2400"/>
              <a:t>对用户程序透明，完全由</a:t>
            </a:r>
            <a:r>
              <a:rPr lang="en-US" sz="2400"/>
              <a:t>CPU</a:t>
            </a:r>
            <a:r>
              <a:rPr lang="zh-CN" sz="2400"/>
              <a:t>硬件管理</a:t>
            </a:r>
            <a:endParaRPr/>
          </a:p>
          <a:p>
            <a:pPr/>
            <a:endParaRPr lang="en-US" sz="2400"/>
          </a:p>
          <a:p>
            <a:pPr/>
            <a:r>
              <a:rPr lang="en-US" sz="2400"/>
              <a:t>CPU cache</a:t>
            </a:r>
            <a:r>
              <a:rPr lang="zh-CN" sz="2400"/>
              <a:t>应该放在哪里？用</a:t>
            </a:r>
            <a:r>
              <a:rPr lang="en-US" sz="2400"/>
              <a:t>VA</a:t>
            </a:r>
            <a:r>
              <a:rPr lang="zh-CN" sz="2400"/>
              <a:t>还是</a:t>
            </a:r>
            <a:r>
              <a:rPr lang="en-US" sz="2400"/>
              <a:t>PA?</a:t>
            </a:r>
            <a:endParaRPr/>
          </a:p>
        </p:txBody>
      </p:sp>
      <p:sp>
        <p:nvSpPr>
          <p:cNvPr id="928" name=""/>
          <p:cNvSpPr txBox="true"/>
          <p:nvPr/>
        </p:nvSpPr>
        <p:spPr>
          <a:xfrm rot="0" flipH="false" flipV="false">
            <a:off x="5094480" y="3429000"/>
            <a:ext cx="615950" cy="64135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en-US" sz="3600">
                <a:solidFill>
                  <a:srgbClr val="FF0200">
                    <a:alpha val="100000"/>
                  </a:srgbClr>
                </a:solidFill>
              </a:rPr>
              <a:t>??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>
  <p:cSld>
    <p:spTree>
      <p:nvGrpSpPr>
        <p:cNvPr id="9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9E606EBE-5F31-8441-956B-06F8365A326A}" type="slidenum">
              <a:rPr lang="zh-CN" altLang="en-US" sz="1400" b="false">
                <a:latin typeface="Times New Roman" panose="02020603050405020304" charset="0"/>
              </a:rPr>
              <a:t>59</a:t>
            </a:fld>
            <a:endParaRPr lang="en-US" altLang="zh-CN" sz="1400" b="false">
              <a:latin typeface="Times New Roman" panose="02020603050405020304" charset="0"/>
            </a:endParaRPr>
          </a:p>
        </p:txBody>
      </p:sp>
      <p:sp>
        <p:nvSpPr>
          <p:cNvPr id="931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Integrating Caches and VM</a:t>
            </a:r>
            <a:endParaRPr/>
          </a:p>
        </p:txBody>
      </p:sp>
      <p:sp>
        <p:nvSpPr>
          <p:cNvPr id="932" name="Rectangle 3"/>
          <p:cNvSpPr>
            <a:spLocks noGrp="true" noChangeArrowheads="true"/>
          </p:cNvSpPr>
          <p:nvPr>
            <p:ph type="body" idx="1"/>
          </p:nvPr>
        </p:nvSpPr>
        <p:spPr/>
        <p:txBody>
          <a:bodyPr/>
          <a:lstStyle/>
          <a:p>
            <a:pPr>
              <a:buChar char="•"/>
            </a:pPr>
            <a:r>
              <a:rPr lang="en-US">
                <a:latin typeface="Comic Sans MS"/>
                <a:ea typeface="宋体"/>
                <a:cs typeface="宋体"/>
              </a:rPr>
              <a:t>Most caches are "p</a:t>
            </a:r>
            <a:r>
              <a:rPr lang="en-US">
                <a:latin typeface="Comic Sans MS"/>
                <a:ea typeface="宋体"/>
                <a:cs typeface="宋体"/>
              </a:rPr>
              <a:t>hysically addressed"</a:t>
            </a:r>
            <a:endParaRPr/>
          </a:p>
          <a:p>
            <a:pPr lvl="1">
              <a:buChar char="–"/>
            </a:pPr>
            <a:r>
              <a:rPr lang="en-US">
                <a:latin typeface="Comic Sans MS"/>
                <a:ea typeface="宋体"/>
              </a:rPr>
              <a:t>Accessed by physical addresses</a:t>
            </a:r>
            <a:endParaRPr/>
          </a:p>
          <a:p>
            <a:pPr lvl="1">
              <a:buChar char="–"/>
            </a:pPr>
            <a:r>
              <a:rPr lang="en-US">
                <a:latin typeface="Comic Sans MS"/>
                <a:ea typeface="宋体"/>
              </a:rPr>
              <a:t>Allows multiple processes to have blocks in cache at same time</a:t>
            </a:r>
            <a:r>
              <a:rPr lang="zh-CN">
                <a:latin typeface="Comic Sans MS"/>
                <a:ea typeface="宋体"/>
              </a:rPr>
              <a:t> </a:t>
            </a:r>
            <a:r>
              <a:rPr lang="en-US">
                <a:latin typeface="Comic Sans MS"/>
                <a:ea typeface="宋体"/>
              </a:rPr>
              <a:t>(</a:t>
            </a:r>
            <a:r>
              <a:rPr lang="zh-CN">
                <a:latin typeface="Comic Sans MS"/>
                <a:ea typeface="宋体"/>
              </a:rPr>
              <a:t>如果</a:t>
            </a:r>
            <a:r>
              <a:rPr lang="en-US">
                <a:latin typeface="Comic Sans MS"/>
                <a:ea typeface="宋体"/>
              </a:rPr>
              <a:t>cache</a:t>
            </a:r>
            <a:r>
              <a:rPr lang="zh-CN">
                <a:latin typeface="Comic Sans MS"/>
                <a:ea typeface="宋体"/>
              </a:rPr>
              <a:t>用</a:t>
            </a:r>
            <a:r>
              <a:rPr lang="en-US">
                <a:latin typeface="Comic Sans MS"/>
                <a:ea typeface="宋体"/>
              </a:rPr>
              <a:t>VA</a:t>
            </a:r>
            <a:r>
              <a:rPr lang="zh-CN">
                <a:latin typeface="Comic Sans MS"/>
                <a:ea typeface="宋体"/>
              </a:rPr>
              <a:t>呢？</a:t>
            </a:r>
            <a:r>
              <a:rPr lang="en-US">
                <a:latin typeface="Comic Sans MS"/>
                <a:ea typeface="宋体"/>
              </a:rPr>
              <a:t>)</a:t>
            </a:r>
            <a:endParaRPr/>
          </a:p>
          <a:p>
            <a:pPr lvl="1">
              <a:buChar char="–"/>
            </a:pPr>
            <a:r>
              <a:rPr lang="en-US">
                <a:latin typeface="Comic Sans MS"/>
                <a:ea typeface="宋体"/>
              </a:rPr>
              <a:t>Allows </a:t>
            </a:r>
            <a:r>
              <a:rPr lang="en-US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multiple </a:t>
            </a:r>
            <a:r>
              <a:rPr lang="en-US">
                <a:latin typeface="Comic Sans MS"/>
                <a:ea typeface="宋体"/>
              </a:rPr>
              <a:t>processes to </a:t>
            </a:r>
            <a:r>
              <a:rPr lang="en-US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share</a:t>
            </a:r>
            <a:r>
              <a:rPr lang="en-US">
                <a:latin typeface="Comic Sans MS"/>
                <a:ea typeface="宋体"/>
              </a:rPr>
              <a:t> pages</a:t>
            </a:r>
            <a:endParaRPr/>
          </a:p>
          <a:p>
            <a:pPr lvl="2">
              <a:buChar char="•"/>
            </a:pPr>
            <a:r>
              <a:rPr lang="en-US">
                <a:latin typeface="Comic Sans MS"/>
                <a:ea typeface="宋体"/>
              </a:rPr>
              <a:t>Cache</a:t>
            </a:r>
            <a:r>
              <a:rPr lang="zh-CN">
                <a:latin typeface="Comic Sans MS"/>
                <a:ea typeface="宋体"/>
              </a:rPr>
              <a:t> </a:t>
            </a:r>
            <a:r>
              <a:rPr lang="en-US">
                <a:latin typeface="Comic Sans MS"/>
                <a:ea typeface="宋体"/>
              </a:rPr>
              <a:t>Coherence</a:t>
            </a:r>
            <a:endParaRPr/>
          </a:p>
          <a:p>
            <a:pPr lvl="1">
              <a:buChar char="–"/>
            </a:pPr>
            <a:r>
              <a:rPr lang="en-US">
                <a:latin typeface="Comic Sans MS"/>
                <a:ea typeface="宋体"/>
              </a:rPr>
              <a:t>Cache doesn'</a:t>
            </a:r>
            <a:r>
              <a:rPr lang="en-US">
                <a:latin typeface="Comic Sans MS"/>
                <a:ea typeface="宋体"/>
              </a:rPr>
              <a:t>t need to be concerned with protection issues</a:t>
            </a:r>
            <a:endParaRPr/>
          </a:p>
          <a:p>
            <a:pPr lvl="2">
              <a:buChar char="•"/>
            </a:pPr>
            <a:r>
              <a:rPr lang="en-US" sz="2400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Access rights </a:t>
            </a:r>
            <a:r>
              <a:rPr lang="en-US" sz="2400">
                <a:latin typeface="Comic Sans MS"/>
                <a:ea typeface="宋体"/>
              </a:rPr>
              <a:t>checked as part of address translation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>
  <p:cSld>
    <p:spTree>
      <p:nvGrpSpPr>
        <p:cNvPr id="9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1D25C9A3-EB0C-964B-9844-A9741B1080AC}" type="slidenum">
              <a:rPr lang="zh-CN" altLang="en-US" sz="1400" b="false">
                <a:latin typeface="Times New Roman" panose="02020603050405020304" charset="0"/>
              </a:rPr>
              <a:t>60</a:t>
            </a:fld>
            <a:endParaRPr lang="en-US" altLang="zh-CN" sz="1400" b="false">
              <a:latin typeface="Times New Roman" panose="02020603050405020304" charset="0"/>
            </a:endParaRPr>
          </a:p>
        </p:txBody>
      </p:sp>
      <p:sp>
        <p:nvSpPr>
          <p:cNvPr id="935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Integrating Caches and VM</a:t>
            </a:r>
            <a:endParaRPr/>
          </a:p>
        </p:txBody>
      </p:sp>
      <p:sp>
        <p:nvSpPr>
          <p:cNvPr id="936" name="Rectangle 3"/>
          <p:cNvSpPr>
            <a:spLocks noGrp="true" noChangeArrowheads="true"/>
          </p:cNvSpPr>
          <p:nvPr>
            <p:ph type="body" idx="1"/>
          </p:nvPr>
        </p:nvSpPr>
        <p:spPr/>
        <p:txBody>
          <a:bodyPr/>
          <a:lstStyle/>
          <a:p>
            <a:pPr>
              <a:buChar char="•"/>
            </a:pPr>
            <a:r>
              <a:rPr lang="en-US">
                <a:latin typeface="Comic Sans MS"/>
                <a:ea typeface="宋体"/>
                <a:cs typeface="宋体"/>
              </a:rPr>
              <a:t>Perform address translation before cache lookup</a:t>
            </a:r>
            <a:endParaRPr/>
          </a:p>
          <a:p>
            <a:pPr lvl="1">
              <a:buChar char="–"/>
            </a:pPr>
            <a:r>
              <a:rPr lang="en-US">
                <a:latin typeface="Comic Sans MS"/>
                <a:ea typeface="宋体"/>
              </a:rPr>
              <a:t>But this could involve a memory access itself </a:t>
            </a:r>
            <a:br>
              <a:rPr/>
            </a:br>
            <a:r>
              <a:rPr lang="en-US">
                <a:latin typeface="Comic Sans MS"/>
                <a:ea typeface="宋体"/>
              </a:rPr>
              <a:t>(of the </a:t>
            </a:r>
            <a:r>
              <a:rPr lang="en-US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PTE</a:t>
            </a:r>
            <a:r>
              <a:rPr lang="en-US">
                <a:latin typeface="Comic Sans MS"/>
                <a:ea typeface="宋体"/>
              </a:rPr>
              <a:t>)</a:t>
            </a:r>
            <a:endParaRPr/>
          </a:p>
          <a:p>
            <a:pPr lvl="1">
              <a:buChar char="–"/>
            </a:pPr>
            <a:r>
              <a:rPr lang="en-US">
                <a:latin typeface="Comic Sans MS"/>
                <a:ea typeface="宋体"/>
              </a:rPr>
              <a:t>Of course, page table entries can also become cached</a:t>
            </a:r>
            <a:endParaRPr lang="zh-CN">
              <a:latin typeface="Comic Sans MS"/>
              <a:ea typeface="宋体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>
  <p:cSld>
    <p:spTree>
      <p:nvGrpSpPr>
        <p:cNvPr id="9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灯片编号占位符 3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1E007FF8-5431-0B4A-B3D7-0D967384A6C1}" type="slidenum">
              <a:rPr lang="zh-CN" altLang="en-US" sz="1400" b="false">
                <a:latin typeface="Times New Roman" panose="02020603050405020304" charset="0"/>
              </a:rPr>
              <a:t>61</a:t>
            </a:fld>
            <a:endParaRPr lang="en-US" altLang="zh-CN" sz="1400" b="false">
              <a:latin typeface="Times New Roman" panose="02020603050405020304" charset="0"/>
            </a:endParaRPr>
          </a:p>
        </p:txBody>
      </p:sp>
      <p:sp>
        <p:nvSpPr>
          <p:cNvPr id="939" name="Rectangle 79"/>
          <p:cNvSpPr>
            <a:spLocks noChangeArrowheads="true"/>
          </p:cNvSpPr>
          <p:nvPr/>
        </p:nvSpPr>
        <p:spPr bwMode="auto">
          <a:xfrm>
            <a:off x="690563" y="2346325"/>
            <a:ext cx="3646487" cy="2438400"/>
          </a:xfrm>
          <a:prstGeom prst="rect">
            <a:avLst/>
          </a:prstGeom>
          <a:solidFill>
            <a:srgbClr val="FFFFCC"/>
          </a:solidFill>
          <a:ln w="12700" cap="flat" cmpd="sng" algn="ctr">
            <a:noFill/>
            <a:prstDash val="dash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false">
              <a:latin typeface="+mn-lt"/>
              <a:ea typeface="宋体" charset="-122"/>
            </a:endParaRPr>
          </a:p>
        </p:txBody>
      </p:sp>
      <p:sp>
        <p:nvSpPr>
          <p:cNvPr id="940" name="Rectangle 66"/>
          <p:cNvSpPr>
            <a:spLocks noChangeArrowheads="true"/>
          </p:cNvSpPr>
          <p:nvPr/>
        </p:nvSpPr>
        <p:spPr bwMode="auto">
          <a:xfrm>
            <a:off x="2378075" y="3535363"/>
            <a:ext cx="404813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lIns="63500" tIns="25400" rIns="63500" bIns="25400">
            <a:spAutoFit/>
          </a:bodyPr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>
              <a:lnSpc>
                <a:spcPct val="85000"/>
              </a:lnSpc>
            </a:pPr>
            <a:r>
              <a:rPr lang="en-US" altLang="zh-CN" sz="1800">
                <a:latin typeface="Courier New" panose="02070609020205090404" charset="0"/>
              </a:rPr>
              <a:t>VA</a:t>
            </a:r>
            <a:endParaRPr/>
          </a:p>
        </p:txBody>
      </p:sp>
      <p:sp>
        <p:nvSpPr>
          <p:cNvPr id="941" name="Rectangle 67"/>
          <p:cNvSpPr>
            <a:spLocks noChangeArrowheads="true"/>
          </p:cNvSpPr>
          <p:nvPr/>
        </p:nvSpPr>
        <p:spPr bwMode="auto">
          <a:xfrm>
            <a:off x="892175" y="3306763"/>
            <a:ext cx="1230313" cy="457200"/>
          </a:xfrm>
          <a:prstGeom prst="rect">
            <a:avLst/>
          </a:prstGeom>
          <a:solidFill>
            <a:srgbClr val="F6D2D2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b="false" dirty="false">
                <a:latin typeface="+mn-lt"/>
                <a:ea typeface="宋体" charset="-122"/>
              </a:rPr>
              <a:t>CPU</a:t>
            </a:r>
            <a:endParaRPr/>
          </a:p>
        </p:txBody>
      </p:sp>
      <p:sp>
        <p:nvSpPr>
          <p:cNvPr id="942" name="Rectangle 68"/>
          <p:cNvSpPr>
            <a:spLocks noChangeArrowheads="true"/>
          </p:cNvSpPr>
          <p:nvPr/>
        </p:nvSpPr>
        <p:spPr bwMode="auto">
          <a:xfrm>
            <a:off x="3130550" y="2544763"/>
            <a:ext cx="1022350" cy="2119312"/>
          </a:xfrm>
          <a:prstGeom prst="rect">
            <a:avLst/>
          </a:prstGeom>
          <a:solidFill>
            <a:srgbClr val="DBF2DA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b="false" dirty="false">
                <a:latin typeface="+mn-lt"/>
                <a:ea typeface="宋体" charset="-122"/>
              </a:rPr>
              <a:t>MMU</a:t>
            </a:r>
            <a:endParaRPr/>
          </a:p>
        </p:txBody>
      </p:sp>
      <p:sp>
        <p:nvSpPr>
          <p:cNvPr id="943" name="Rectangle 69"/>
          <p:cNvSpPr>
            <a:spLocks noChangeArrowheads="true"/>
          </p:cNvSpPr>
          <p:nvPr/>
        </p:nvSpPr>
        <p:spPr bwMode="auto">
          <a:xfrm>
            <a:off x="5311775" y="2544763"/>
            <a:ext cx="925513" cy="2119312"/>
          </a:xfrm>
          <a:prstGeom prst="rect">
            <a:avLst/>
          </a:prstGeom>
          <a:solidFill>
            <a:srgbClr val="F5F5F5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600" b="false">
              <a:latin typeface="+mn-lt"/>
              <a:ea typeface="宋体" charset="-122"/>
            </a:endParaRPr>
          </a:p>
        </p:txBody>
      </p:sp>
      <p:sp>
        <p:nvSpPr>
          <p:cNvPr id="944" name="Line 70"/>
          <p:cNvSpPr>
            <a:spLocks noChangeShapeType="true"/>
          </p:cNvSpPr>
          <p:nvPr/>
        </p:nvSpPr>
        <p:spPr bwMode="auto">
          <a:xfrm flipV="true">
            <a:off x="2122488" y="3535363"/>
            <a:ext cx="1001712" cy="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宋体" charset="-122"/>
            </a:endParaRPr>
          </a:p>
        </p:txBody>
      </p:sp>
      <p:sp>
        <p:nvSpPr>
          <p:cNvPr id="945" name="Line 71"/>
          <p:cNvSpPr>
            <a:spLocks noChangeShapeType="true"/>
          </p:cNvSpPr>
          <p:nvPr/>
        </p:nvSpPr>
        <p:spPr bwMode="auto">
          <a:xfrm flipV="true">
            <a:off x="1501775" y="3763963"/>
            <a:ext cx="0" cy="1249362"/>
          </a:xfrm>
          <a:prstGeom prst="line">
            <a:avLst/>
          </a:prstGeom>
          <a:noFill/>
          <a:ln w="12700">
            <a:solidFill>
              <a:srgbClr val="7030A0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宋体" charset="-122"/>
            </a:endParaRPr>
          </a:p>
        </p:txBody>
      </p:sp>
      <p:sp>
        <p:nvSpPr>
          <p:cNvPr id="946" name="Rectangle 72"/>
          <p:cNvSpPr>
            <a:spLocks noChangeArrowheads="true"/>
          </p:cNvSpPr>
          <p:nvPr/>
        </p:nvSpPr>
        <p:spPr bwMode="auto">
          <a:xfrm>
            <a:off x="4389438" y="3046413"/>
            <a:ext cx="6810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lIns="63500" tIns="25400" rIns="63500" bIns="25400">
            <a:spAutoFit/>
          </a:bodyPr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>
              <a:lnSpc>
                <a:spcPct val="85000"/>
              </a:lnSpc>
            </a:pPr>
            <a:r>
              <a:rPr lang="en-US" altLang="zh-CN" sz="1800">
                <a:latin typeface="Courier New" panose="02070609020205090404" charset="0"/>
              </a:rPr>
              <a:t>PTEA</a:t>
            </a:r>
            <a:endParaRPr/>
          </a:p>
        </p:txBody>
      </p:sp>
      <p:sp>
        <p:nvSpPr>
          <p:cNvPr id="947" name="Text Box 73"/>
          <p:cNvSpPr txBox="true">
            <a:spLocks noChangeArrowheads="true"/>
          </p:cNvSpPr>
          <p:nvPr/>
        </p:nvSpPr>
        <p:spPr bwMode="auto">
          <a:xfrm>
            <a:off x="4111625" y="1873250"/>
            <a:ext cx="5984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>
            <a:spAutoFit/>
          </a:bodyPr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r>
              <a:rPr lang="en-US" altLang="zh-CN" sz="1800">
                <a:latin typeface="Courier New" panose="02070609020205090404" charset="0"/>
              </a:rPr>
              <a:t>PTE</a:t>
            </a:r>
            <a:endParaRPr/>
          </a:p>
        </p:txBody>
      </p:sp>
      <p:sp>
        <p:nvSpPr>
          <p:cNvPr id="948" name="Line 74"/>
          <p:cNvSpPr>
            <a:spLocks noChangeShapeType="true"/>
          </p:cNvSpPr>
          <p:nvPr/>
        </p:nvSpPr>
        <p:spPr bwMode="auto">
          <a:xfrm flipV="true">
            <a:off x="4111625" y="3333750"/>
            <a:ext cx="1189038" cy="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宋体" charset="-122"/>
            </a:endParaRPr>
          </a:p>
        </p:txBody>
      </p:sp>
      <p:sp>
        <p:nvSpPr>
          <p:cNvPr id="949" name="Rectangle 75"/>
          <p:cNvSpPr>
            <a:spLocks noChangeArrowheads="true"/>
          </p:cNvSpPr>
          <p:nvPr/>
        </p:nvSpPr>
        <p:spPr bwMode="auto">
          <a:xfrm>
            <a:off x="4518025" y="3687763"/>
            <a:ext cx="404813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lIns="63500" tIns="25400" rIns="63500" bIns="25400">
            <a:spAutoFit/>
          </a:bodyPr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>
              <a:lnSpc>
                <a:spcPct val="85000"/>
              </a:lnSpc>
            </a:pPr>
            <a:r>
              <a:rPr lang="en-US" altLang="zh-CN" sz="1800">
                <a:latin typeface="Courier New" panose="02070609020205090404" charset="0"/>
              </a:rPr>
              <a:t>PA</a:t>
            </a:r>
            <a:endParaRPr/>
          </a:p>
        </p:txBody>
      </p:sp>
      <p:sp>
        <p:nvSpPr>
          <p:cNvPr id="950" name="Line 76"/>
          <p:cNvSpPr>
            <a:spLocks noChangeShapeType="true"/>
          </p:cNvSpPr>
          <p:nvPr/>
        </p:nvSpPr>
        <p:spPr bwMode="auto">
          <a:xfrm flipH="true">
            <a:off x="1501775" y="5013325"/>
            <a:ext cx="3568700" cy="0"/>
          </a:xfrm>
          <a:prstGeom prst="line">
            <a:avLst/>
          </a:prstGeom>
          <a:noFill/>
          <a:ln w="12700">
            <a:solidFill>
              <a:srgbClr val="7030A0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宋体" charset="-122"/>
            </a:endParaRPr>
          </a:p>
        </p:txBody>
      </p:sp>
      <p:sp>
        <p:nvSpPr>
          <p:cNvPr id="951" name="Text Box 77"/>
          <p:cNvSpPr txBox="true">
            <a:spLocks noChangeArrowheads="true"/>
          </p:cNvSpPr>
          <p:nvPr/>
        </p:nvSpPr>
        <p:spPr bwMode="auto">
          <a:xfrm>
            <a:off x="3063875" y="4937125"/>
            <a:ext cx="7366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>
            <a:spAutoFit/>
          </a:bodyPr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r>
              <a:rPr lang="en-US" altLang="zh-CN" sz="1800">
                <a:latin typeface="Courier New" panose="02070609020205090404" charset="0"/>
              </a:rPr>
              <a:t>Data</a:t>
            </a:r>
            <a:endParaRPr/>
          </a:p>
        </p:txBody>
      </p:sp>
      <p:sp>
        <p:nvSpPr>
          <p:cNvPr id="952" name="Line 78"/>
          <p:cNvSpPr>
            <a:spLocks noChangeShapeType="true"/>
          </p:cNvSpPr>
          <p:nvPr/>
        </p:nvSpPr>
        <p:spPr bwMode="auto">
          <a:xfrm flipV="true">
            <a:off x="4168775" y="3946525"/>
            <a:ext cx="1162050" cy="0"/>
          </a:xfrm>
          <a:prstGeom prst="line">
            <a:avLst/>
          </a:prstGeom>
          <a:noFill/>
          <a:ln w="12700">
            <a:solidFill>
              <a:srgbClr val="7030A0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宋体" charset="-122"/>
            </a:endParaRPr>
          </a:p>
        </p:txBody>
      </p:sp>
      <p:sp>
        <p:nvSpPr>
          <p:cNvPr id="953" name="Rectangle 81"/>
          <p:cNvSpPr>
            <a:spLocks noChangeArrowheads="true"/>
          </p:cNvSpPr>
          <p:nvPr/>
        </p:nvSpPr>
        <p:spPr bwMode="auto">
          <a:xfrm>
            <a:off x="7396163" y="2544763"/>
            <a:ext cx="1077912" cy="2119312"/>
          </a:xfrm>
          <a:prstGeom prst="rect">
            <a:avLst/>
          </a:prstGeom>
          <a:solidFill>
            <a:srgbClr val="F5F5F5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sz="1800" b="false">
                <a:latin typeface="+mn-lt"/>
                <a:ea typeface="宋体" charset="-122"/>
              </a:rPr>
              <a:t>Memory</a:t>
            </a:r>
            <a:endParaRPr/>
          </a:p>
        </p:txBody>
      </p:sp>
      <p:sp>
        <p:nvSpPr>
          <p:cNvPr id="954" name="Line 82"/>
          <p:cNvSpPr>
            <a:spLocks noChangeShapeType="true"/>
          </p:cNvSpPr>
          <p:nvPr/>
        </p:nvSpPr>
        <p:spPr bwMode="auto">
          <a:xfrm>
            <a:off x="6237288" y="3946525"/>
            <a:ext cx="1177925" cy="0"/>
          </a:xfrm>
          <a:prstGeom prst="line">
            <a:avLst/>
          </a:prstGeom>
          <a:noFill/>
          <a:ln w="12700">
            <a:solidFill>
              <a:srgbClr val="7030A0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宋体" charset="-122"/>
            </a:endParaRPr>
          </a:p>
        </p:txBody>
      </p:sp>
      <p:sp>
        <p:nvSpPr>
          <p:cNvPr id="955" name="Text Box 83"/>
          <p:cNvSpPr txBox="true">
            <a:spLocks noChangeArrowheads="true"/>
          </p:cNvSpPr>
          <p:nvPr/>
        </p:nvSpPr>
        <p:spPr bwMode="auto">
          <a:xfrm>
            <a:off x="6575425" y="3625850"/>
            <a:ext cx="4619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>
            <a:spAutoFit/>
          </a:bodyPr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r>
              <a:rPr lang="en-US" altLang="zh-CN" sz="1800">
                <a:latin typeface="Courier New" panose="02070609020205090404" charset="0"/>
              </a:rPr>
              <a:t>PA</a:t>
            </a:r>
            <a:endParaRPr/>
          </a:p>
        </p:txBody>
      </p:sp>
      <p:sp>
        <p:nvSpPr>
          <p:cNvPr id="956" name="Text Box 84"/>
          <p:cNvSpPr txBox="true">
            <a:spLocks noChangeArrowheads="true"/>
          </p:cNvSpPr>
          <p:nvPr/>
        </p:nvSpPr>
        <p:spPr bwMode="auto">
          <a:xfrm>
            <a:off x="5711825" y="3668713"/>
            <a:ext cx="6127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>
            <a:spAutoFit/>
          </a:bodyPr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r"/>
            <a:r>
              <a:rPr lang="en-US" altLang="zh-CN" sz="1400">
                <a:latin typeface="Courier New" panose="02070609020205090404" charset="0"/>
              </a:rPr>
              <a:t>PA</a:t>
            </a:r>
            <a:endParaRPr/>
          </a:p>
          <a:p>
            <a:pPr algn="r"/>
            <a:r>
              <a:rPr lang="en-US" altLang="zh-CN" sz="1400">
                <a:latin typeface="Courier New" panose="02070609020205090404" charset="0"/>
              </a:rPr>
              <a:t>miss</a:t>
            </a:r>
            <a:endParaRPr/>
          </a:p>
        </p:txBody>
      </p:sp>
      <p:sp>
        <p:nvSpPr>
          <p:cNvPr id="957" name="Rectangle 85"/>
          <p:cNvSpPr>
            <a:spLocks noChangeArrowheads="true"/>
          </p:cNvSpPr>
          <p:nvPr/>
        </p:nvSpPr>
        <p:spPr bwMode="auto">
          <a:xfrm>
            <a:off x="6473825" y="2986088"/>
            <a:ext cx="681038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lIns="63500" tIns="25400" rIns="63500" bIns="25400">
            <a:spAutoFit/>
          </a:bodyPr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>
              <a:lnSpc>
                <a:spcPct val="85000"/>
              </a:lnSpc>
            </a:pPr>
            <a:r>
              <a:rPr lang="en-US" altLang="zh-CN" sz="1800">
                <a:latin typeface="Courier New" panose="02070609020205090404" charset="0"/>
              </a:rPr>
              <a:t>PTEA</a:t>
            </a:r>
            <a:endParaRPr/>
          </a:p>
        </p:txBody>
      </p:sp>
      <p:sp>
        <p:nvSpPr>
          <p:cNvPr id="958" name="Text Box 86"/>
          <p:cNvSpPr txBox="true">
            <a:spLocks noChangeArrowheads="true"/>
          </p:cNvSpPr>
          <p:nvPr/>
        </p:nvSpPr>
        <p:spPr bwMode="auto">
          <a:xfrm>
            <a:off x="5689600" y="2998788"/>
            <a:ext cx="6127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>
            <a:spAutoFit/>
          </a:bodyPr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r"/>
            <a:r>
              <a:rPr lang="en-US" altLang="zh-CN" sz="1400">
                <a:latin typeface="Courier New" panose="02070609020205090404" charset="0"/>
              </a:rPr>
              <a:t>PTEA</a:t>
            </a:r>
            <a:endParaRPr/>
          </a:p>
          <a:p>
            <a:pPr algn="r"/>
            <a:r>
              <a:rPr lang="en-US" altLang="zh-CN" sz="1400">
                <a:latin typeface="Courier New" panose="02070609020205090404" charset="0"/>
              </a:rPr>
              <a:t>miss</a:t>
            </a:r>
            <a:endParaRPr/>
          </a:p>
        </p:txBody>
      </p:sp>
      <p:sp>
        <p:nvSpPr>
          <p:cNvPr id="959" name="Line 87"/>
          <p:cNvSpPr>
            <a:spLocks noChangeShapeType="true"/>
          </p:cNvSpPr>
          <p:nvPr/>
        </p:nvSpPr>
        <p:spPr bwMode="auto">
          <a:xfrm flipH="true">
            <a:off x="3627438" y="2195513"/>
            <a:ext cx="1443037" cy="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宋体" charset="-122"/>
            </a:endParaRPr>
          </a:p>
        </p:txBody>
      </p:sp>
      <p:sp>
        <p:nvSpPr>
          <p:cNvPr id="960" name="Line 88"/>
          <p:cNvSpPr>
            <a:spLocks noChangeShapeType="true"/>
          </p:cNvSpPr>
          <p:nvPr/>
        </p:nvSpPr>
        <p:spPr bwMode="auto">
          <a:xfrm flipV="true">
            <a:off x="3627438" y="2195513"/>
            <a:ext cx="0" cy="34925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宋体" charset="-122"/>
            </a:endParaRPr>
          </a:p>
        </p:txBody>
      </p:sp>
      <p:sp>
        <p:nvSpPr>
          <p:cNvPr id="961" name="Line 89"/>
          <p:cNvSpPr>
            <a:spLocks noChangeShapeType="true"/>
          </p:cNvSpPr>
          <p:nvPr/>
        </p:nvSpPr>
        <p:spPr bwMode="auto">
          <a:xfrm flipH="true">
            <a:off x="5070475" y="2727325"/>
            <a:ext cx="241300" cy="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宋体" charset="-122"/>
            </a:endParaRPr>
          </a:p>
        </p:txBody>
      </p:sp>
      <p:sp>
        <p:nvSpPr>
          <p:cNvPr id="962" name="Line 90"/>
          <p:cNvSpPr>
            <a:spLocks noChangeShapeType="true"/>
          </p:cNvSpPr>
          <p:nvPr/>
        </p:nvSpPr>
        <p:spPr bwMode="auto">
          <a:xfrm flipV="true">
            <a:off x="5070475" y="2195513"/>
            <a:ext cx="0" cy="531812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宋体" charset="-122"/>
            </a:endParaRPr>
          </a:p>
        </p:txBody>
      </p:sp>
      <p:sp>
        <p:nvSpPr>
          <p:cNvPr id="963" name="Text Box 91"/>
          <p:cNvSpPr txBox="true">
            <a:spLocks noChangeArrowheads="true"/>
          </p:cNvSpPr>
          <p:nvPr/>
        </p:nvSpPr>
        <p:spPr bwMode="auto">
          <a:xfrm>
            <a:off x="5314950" y="2495550"/>
            <a:ext cx="7207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>
            <a:spAutoFit/>
          </a:bodyPr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r>
              <a:rPr lang="en-US" altLang="zh-CN" sz="1400">
                <a:latin typeface="Courier New" panose="02070609020205090404" charset="0"/>
              </a:rPr>
              <a:t>PTEA </a:t>
            </a:r>
            <a:endParaRPr/>
          </a:p>
          <a:p>
            <a:pPr/>
            <a:r>
              <a:rPr lang="en-US" altLang="zh-CN" sz="1400">
                <a:latin typeface="Courier New" panose="02070609020205090404" charset="0"/>
              </a:rPr>
              <a:t>hit</a:t>
            </a:r>
            <a:endParaRPr/>
          </a:p>
        </p:txBody>
      </p:sp>
      <p:sp>
        <p:nvSpPr>
          <p:cNvPr id="964" name="Line 92"/>
          <p:cNvSpPr>
            <a:spLocks noChangeShapeType="true"/>
          </p:cNvSpPr>
          <p:nvPr/>
        </p:nvSpPr>
        <p:spPr bwMode="auto">
          <a:xfrm flipH="true">
            <a:off x="5070475" y="4479925"/>
            <a:ext cx="241300" cy="0"/>
          </a:xfrm>
          <a:prstGeom prst="line">
            <a:avLst/>
          </a:prstGeom>
          <a:noFill/>
          <a:ln w="12700">
            <a:solidFill>
              <a:srgbClr val="7030A0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宋体" charset="-122"/>
            </a:endParaRPr>
          </a:p>
        </p:txBody>
      </p:sp>
      <p:sp>
        <p:nvSpPr>
          <p:cNvPr id="965" name="Line 93"/>
          <p:cNvSpPr>
            <a:spLocks noChangeShapeType="true"/>
          </p:cNvSpPr>
          <p:nvPr/>
        </p:nvSpPr>
        <p:spPr bwMode="auto">
          <a:xfrm flipH="true" flipV="true">
            <a:off x="5070475" y="4479925"/>
            <a:ext cx="0" cy="533400"/>
          </a:xfrm>
          <a:prstGeom prst="line">
            <a:avLst/>
          </a:prstGeom>
          <a:noFill/>
          <a:ln w="12700">
            <a:solidFill>
              <a:srgbClr val="7030A0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宋体" charset="-122"/>
            </a:endParaRPr>
          </a:p>
        </p:txBody>
      </p:sp>
      <p:sp>
        <p:nvSpPr>
          <p:cNvPr id="966" name="Text Box 94"/>
          <p:cNvSpPr txBox="true">
            <a:spLocks noChangeArrowheads="true"/>
          </p:cNvSpPr>
          <p:nvPr/>
        </p:nvSpPr>
        <p:spPr bwMode="auto">
          <a:xfrm>
            <a:off x="5300663" y="4162425"/>
            <a:ext cx="5064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>
            <a:spAutoFit/>
          </a:bodyPr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r>
              <a:rPr lang="en-US" altLang="zh-CN" sz="1400">
                <a:latin typeface="Courier New" panose="02070609020205090404" charset="0"/>
              </a:rPr>
              <a:t>PA </a:t>
            </a:r>
            <a:endParaRPr/>
          </a:p>
          <a:p>
            <a:pPr/>
            <a:r>
              <a:rPr lang="en-US" altLang="zh-CN" sz="1400">
                <a:latin typeface="Courier New" panose="02070609020205090404" charset="0"/>
              </a:rPr>
              <a:t>hit</a:t>
            </a:r>
            <a:endParaRPr/>
          </a:p>
        </p:txBody>
      </p:sp>
      <p:sp>
        <p:nvSpPr>
          <p:cNvPr id="967" name="Line 95"/>
          <p:cNvSpPr>
            <a:spLocks noChangeShapeType="true"/>
          </p:cNvSpPr>
          <p:nvPr/>
        </p:nvSpPr>
        <p:spPr bwMode="auto">
          <a:xfrm flipV="true">
            <a:off x="6253163" y="3333750"/>
            <a:ext cx="1143000" cy="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宋体" charset="-122"/>
            </a:endParaRPr>
          </a:p>
        </p:txBody>
      </p:sp>
      <p:sp>
        <p:nvSpPr>
          <p:cNvPr id="968" name="Line 96"/>
          <p:cNvSpPr>
            <a:spLocks noChangeShapeType="true"/>
          </p:cNvSpPr>
          <p:nvPr/>
        </p:nvSpPr>
        <p:spPr bwMode="auto">
          <a:xfrm flipH="true">
            <a:off x="6237288" y="4479925"/>
            <a:ext cx="1171575" cy="0"/>
          </a:xfrm>
          <a:prstGeom prst="line">
            <a:avLst/>
          </a:prstGeom>
          <a:noFill/>
          <a:ln w="12700">
            <a:solidFill>
              <a:srgbClr val="7030A0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宋体" charset="-122"/>
            </a:endParaRPr>
          </a:p>
        </p:txBody>
      </p:sp>
      <p:sp>
        <p:nvSpPr>
          <p:cNvPr id="969" name="Text Box 97"/>
          <p:cNvSpPr txBox="true">
            <a:spLocks noChangeArrowheads="true"/>
          </p:cNvSpPr>
          <p:nvPr/>
        </p:nvSpPr>
        <p:spPr bwMode="auto">
          <a:xfrm>
            <a:off x="6497638" y="4159250"/>
            <a:ext cx="7366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>
            <a:spAutoFit/>
          </a:bodyPr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r>
              <a:rPr lang="en-US" altLang="zh-CN" sz="1800">
                <a:latin typeface="Courier New" panose="02070609020205090404" charset="0"/>
              </a:rPr>
              <a:t>Data</a:t>
            </a:r>
            <a:endParaRPr/>
          </a:p>
        </p:txBody>
      </p:sp>
      <p:sp>
        <p:nvSpPr>
          <p:cNvPr id="970" name="Line 98"/>
          <p:cNvSpPr>
            <a:spLocks noChangeShapeType="true"/>
          </p:cNvSpPr>
          <p:nvPr/>
        </p:nvSpPr>
        <p:spPr bwMode="auto">
          <a:xfrm flipH="true">
            <a:off x="6224588" y="2727325"/>
            <a:ext cx="1171575" cy="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宋体" charset="-122"/>
            </a:endParaRPr>
          </a:p>
        </p:txBody>
      </p:sp>
      <p:sp>
        <p:nvSpPr>
          <p:cNvPr id="971" name="Text Box 99"/>
          <p:cNvSpPr txBox="true">
            <a:spLocks noChangeArrowheads="true"/>
          </p:cNvSpPr>
          <p:nvPr/>
        </p:nvSpPr>
        <p:spPr bwMode="auto">
          <a:xfrm>
            <a:off x="6515100" y="2374900"/>
            <a:ext cx="5984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>
            <a:spAutoFit/>
          </a:bodyPr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r>
              <a:rPr lang="en-US" altLang="zh-CN" sz="1800">
                <a:latin typeface="Courier New" panose="02070609020205090404" charset="0"/>
              </a:rPr>
              <a:t>PTE</a:t>
            </a:r>
            <a:endParaRPr/>
          </a:p>
        </p:txBody>
      </p:sp>
      <p:sp>
        <p:nvSpPr>
          <p:cNvPr id="972" name="Text Box 100"/>
          <p:cNvSpPr txBox="true">
            <a:spLocks noChangeArrowheads="true"/>
          </p:cNvSpPr>
          <p:nvPr/>
        </p:nvSpPr>
        <p:spPr bwMode="auto">
          <a:xfrm>
            <a:off x="5351463" y="4691063"/>
            <a:ext cx="844550" cy="64770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algn="ctr">
              <a:defRPr sz="2000" b="true">
                <a:solidFill>
                  <a:schemeClr val="tx1">
                    <a:alpha val="100000"/>
                  </a:schemeClr>
                </a:solidFill>
                <a:latin typeface="Comic Sans MS"/>
                <a:ea typeface="宋体"/>
                <a:cs typeface="+mn-cs"/>
              </a:defRPr>
            </a:pPr>
            <a:r>
              <a:rPr lang="en-US" sz="1800" b="false">
                <a:latin typeface="Comic Sans MS"/>
                <a:ea typeface="宋体"/>
                <a:cs typeface="+mn-cs"/>
              </a:rPr>
              <a:t>L1/2/3</a:t>
            </a:r>
            <a:endParaRPr/>
          </a:p>
          <a:p>
            <a:pPr algn="ctr">
              <a:defRPr sz="2000" b="true">
                <a:solidFill>
                  <a:schemeClr val="tx1">
                    <a:alpha val="100000"/>
                  </a:schemeClr>
                </a:solidFill>
                <a:latin typeface="Comic Sans MS"/>
                <a:ea typeface="宋体"/>
                <a:cs typeface="+mn-cs"/>
              </a:defRPr>
            </a:pPr>
            <a:r>
              <a:rPr lang="en-US" sz="1800" b="false">
                <a:latin typeface="Comic Sans MS"/>
                <a:ea typeface="宋体"/>
                <a:cs typeface="+mn-cs"/>
              </a:rPr>
              <a:t>cache</a:t>
            </a:r>
            <a:endParaRPr/>
          </a:p>
        </p:txBody>
      </p:sp>
      <p:sp>
        <p:nvSpPr>
          <p:cNvPr id="973" name="TextBox 37"/>
          <p:cNvSpPr txBox="true"/>
          <p:nvPr/>
        </p:nvSpPr>
        <p:spPr>
          <a:xfrm>
            <a:off x="701675" y="2346325"/>
            <a:ext cx="1249363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false" dirty="false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宋体" charset="-122"/>
              </a:rPr>
              <a:t>CPU Chip</a:t>
            </a:r>
            <a:endParaRPr/>
          </a:p>
        </p:txBody>
      </p:sp>
      <p:sp>
        <p:nvSpPr>
          <p:cNvPr id="974" name="Rectangle 2"/>
          <p:cNvSpPr txBox="true">
            <a:spLocks noChangeArrowheads="true"/>
          </p:cNvSpPr>
          <p:nvPr/>
        </p:nvSpPr>
        <p:spPr bwMode="auto">
          <a:xfrm>
            <a:off x="457200" y="457200"/>
            <a:ext cx="80772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anchor="ctr"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r>
              <a:rPr lang="en-US" altLang="zh-CN" sz="2800" dirty="false">
                <a:solidFill>
                  <a:schemeClr val="tx2"/>
                </a:solidFill>
              </a:rPr>
              <a:t>Integrating Caches and VM</a:t>
            </a:r>
            <a:endParaRPr/>
          </a:p>
        </p:txBody>
      </p:sp>
      <p:sp>
        <p:nvSpPr>
          <p:cNvPr id="975" name=""/>
          <p:cNvSpPr txBox="true"/>
          <p:nvPr/>
        </p:nvSpPr>
        <p:spPr>
          <a:xfrm rot="0" flipH="false" flipV="false">
            <a:off x="1447800" y="5829300"/>
            <a:ext cx="6248400" cy="393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en-US"/>
              <a:t>Lookup page table</a:t>
            </a:r>
            <a:r>
              <a:rPr lang="zh-CN"/>
              <a:t>可能导致一次额外的</a:t>
            </a:r>
            <a:r>
              <a:rPr lang="en-US"/>
              <a:t>cache miss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>
  <p:cSld>
    <p:spTree>
      <p:nvGrpSpPr>
        <p:cNvPr id="9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kumimoji="true" lang="en-US" altLang="zh-CN"/>
              <a:t>Paging</a:t>
            </a:r>
            <a:endParaRPr kumimoji="true" lang="zh-CN" altLang="en-US"/>
          </a:p>
        </p:txBody>
      </p:sp>
      <p:sp>
        <p:nvSpPr>
          <p:cNvPr id="986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 altLang="zh-CN" dirty="false"/>
              <a:t>Page table</a:t>
            </a:r>
            <a:r>
              <a:rPr lang="zh-CN" altLang="en-US" dirty="false"/>
              <a:t>开销计算</a:t>
            </a:r>
            <a:endParaRPr lang="en-US" altLang="zh-CN" dirty="false"/>
          </a:p>
          <a:p>
            <a:pPr lvl="1"/>
            <a:r>
              <a:rPr kumimoji="true" lang="zh-CN" altLang="en-US" dirty="false"/>
              <a:t>例如</a:t>
            </a:r>
            <a:r>
              <a:rPr lang="en-US" altLang="zh-CN" dirty="false"/>
              <a:t>32</a:t>
            </a:r>
            <a:r>
              <a:rPr lang="zh-CN" altLang="en-US" dirty="false"/>
              <a:t>位计算机，</a:t>
            </a:r>
            <a:r>
              <a:rPr lang="en-US" altLang="zh-CN" dirty="false"/>
              <a:t>page</a:t>
            </a:r>
            <a:r>
              <a:rPr lang="zh-CN" altLang="en-US" dirty="false"/>
              <a:t>大小为</a:t>
            </a:r>
            <a:r>
              <a:rPr lang="en-US" altLang="zh-CN" dirty="false"/>
              <a:t>4KB</a:t>
            </a:r>
            <a:endParaRPr/>
          </a:p>
          <a:p>
            <a:pPr lvl="1"/>
            <a:r>
              <a:rPr lang="zh-CN" altLang="en-US" dirty="false"/>
              <a:t>所以</a:t>
            </a:r>
            <a:r>
              <a:rPr lang="en-US" altLang="zh-CN" dirty="false"/>
              <a:t>VPN 20</a:t>
            </a:r>
            <a:r>
              <a:rPr lang="zh-CN" altLang="en-US" dirty="false"/>
              <a:t>位，</a:t>
            </a:r>
            <a:r>
              <a:rPr lang="en-US" altLang="zh-CN" dirty="false"/>
              <a:t>offset 12</a:t>
            </a:r>
            <a:r>
              <a:rPr lang="zh-CN" altLang="en-US" dirty="false"/>
              <a:t>位</a:t>
            </a:r>
            <a:endParaRPr lang="en-US" altLang="zh-CN" dirty="false"/>
          </a:p>
          <a:p>
            <a:pPr lvl="1"/>
            <a:r>
              <a:rPr kumimoji="true" lang="zh-CN" altLang="en-US" dirty="false"/>
              <a:t>每个</a:t>
            </a:r>
            <a:r>
              <a:rPr kumimoji="true" lang="en-US" altLang="zh-CN" dirty="false"/>
              <a:t>page table entry (PTE)</a:t>
            </a:r>
            <a:r>
              <a:rPr kumimoji="true" lang="zh-CN" altLang="en-US" dirty="false"/>
              <a:t>是</a:t>
            </a:r>
            <a:r>
              <a:rPr kumimoji="true" lang="en-US" altLang="zh-CN" dirty="false"/>
              <a:t>4B</a:t>
            </a:r>
            <a:endParaRPr/>
          </a:p>
          <a:p>
            <a:pPr lvl="1"/>
            <a:r>
              <a:rPr lang="zh-CN" altLang="en-US" dirty="false"/>
              <a:t>假设有</a:t>
            </a:r>
            <a:r>
              <a:rPr lang="en-US" altLang="zh-CN" dirty="false"/>
              <a:t>100</a:t>
            </a:r>
            <a:r>
              <a:rPr lang="zh-CN" altLang="en-US" dirty="false"/>
              <a:t>个进程同时在运行</a:t>
            </a:r>
            <a:endParaRPr lang="en-US" altLang="zh-CN" dirty="false"/>
          </a:p>
          <a:p>
            <a:pPr lvl="1"/>
            <a:r>
              <a:rPr lang="zh-CN" altLang="en-US" dirty="false"/>
              <a:t>则</a:t>
            </a:r>
            <a:r>
              <a:rPr lang="en-US" altLang="zh-CN" dirty="false"/>
              <a:t>page</a:t>
            </a:r>
            <a:r>
              <a:rPr lang="zh-CN" altLang="en-US" dirty="false"/>
              <a:t> </a:t>
            </a:r>
            <a:r>
              <a:rPr lang="en-US" altLang="zh-CN" dirty="false"/>
              <a:t>table</a:t>
            </a:r>
            <a:r>
              <a:rPr lang="zh-CN" altLang="en-US" dirty="false"/>
              <a:t>总大小为</a:t>
            </a:r>
            <a:r>
              <a:rPr lang="en-US" altLang="zh-CN" dirty="false"/>
              <a:t>100</a:t>
            </a:r>
            <a:r>
              <a:rPr lang="zh-CN" altLang="en-US" dirty="false"/>
              <a:t>*</a:t>
            </a:r>
            <a:r>
              <a:rPr lang="en-US" altLang="zh-CN" dirty="false"/>
              <a:t>4B*2</a:t>
            </a:r>
            <a:r>
              <a:rPr lang="en-US" altLang="zh-CN" baseline="30000" dirty="false"/>
              <a:t>20</a:t>
            </a:r>
            <a:r>
              <a:rPr lang="en-US" altLang="zh-CN" dirty="false"/>
              <a:t>=400MB</a:t>
            </a:r>
            <a:endParaRPr/>
          </a:p>
          <a:p>
            <a:pPr lvl="1"/>
            <a:r>
              <a:rPr lang="zh-CN" altLang="en-US" dirty="false"/>
              <a:t>非常</a:t>
            </a:r>
            <a:r>
              <a:rPr kumimoji="true" lang="zh-CN" altLang="en-US" dirty="false"/>
              <a:t>庞大！</a:t>
            </a:r>
            <a:endParaRPr kumimoji="true" lang="en-US" altLang="zh-CN" dirty="false"/>
          </a:p>
        </p:txBody>
      </p:sp>
      <p:sp>
        <p:nvSpPr>
          <p:cNvPr id="987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EF0B01C9-CC9E-4042-87A9-F49D20F0019F}" type="slidenum">
              <a:rPr lang="zh-CN" altLang="en-US" smtClean="false"/>
              <a:t>62</a:t>
            </a:fld>
            <a:endParaRPr lang="en-US" altLang="zh-CN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kumimoji="true" lang="en-US" altLang="zh-CN"/>
              <a:t>Paging</a:t>
            </a:r>
            <a:endParaRPr kumimoji="true" lang="zh-CN" altLang="en-US"/>
          </a:p>
        </p:txBody>
      </p:sp>
      <p:sp>
        <p:nvSpPr>
          <p:cNvPr id="990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FontTx/>
              <a:buChar char="•"/>
            </a:pPr>
            <a:r>
              <a:rPr lang="en-US" altLang="zh-CN" dirty="false"/>
              <a:t>Page Table</a:t>
            </a:r>
            <a:endParaRPr/>
          </a:p>
          <a:p>
            <a:pPr marL="742950" lvl="2" indent="-342900"/>
            <a:r>
              <a:rPr lang="zh-CN" altLang="en-US" dirty="false"/>
              <a:t>没办法在</a:t>
            </a:r>
            <a:r>
              <a:rPr lang="en-US" altLang="zh-CN" dirty="false"/>
              <a:t>MMU</a:t>
            </a:r>
            <a:r>
              <a:rPr lang="zh-CN" altLang="en-US" dirty="false"/>
              <a:t>硬件上存储，只能放在</a:t>
            </a:r>
            <a:r>
              <a:rPr lang="en-US" altLang="zh-CN" dirty="false"/>
              <a:t>main memory</a:t>
            </a:r>
            <a:r>
              <a:rPr lang="zh-CN" altLang="en-US" dirty="false"/>
              <a:t>中</a:t>
            </a:r>
            <a:endParaRPr/>
          </a:p>
          <a:p>
            <a:pPr/>
            <a:endParaRPr kumimoji="true" lang="zh-CN" altLang="en-US" dirty="false"/>
          </a:p>
        </p:txBody>
      </p:sp>
      <p:sp>
        <p:nvSpPr>
          <p:cNvPr id="991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EF0B01C9-CC9E-4042-87A9-F49D20F0019F}" type="slidenum">
              <a:rPr lang="zh-CN" altLang="en-US" smtClean="false"/>
              <a:t>63</a:t>
            </a:fld>
            <a:endParaRPr lang="en-US" altLang="zh-CN"/>
          </a:p>
        </p:txBody>
      </p:sp>
      <p:pic>
        <p:nvPicPr>
          <p:cNvPr id="992" name="图片 4"/>
          <p:cNvPicPr>
            <a:picLocks noChangeAspect="true"/>
          </p:cNvPicPr>
          <p:nvPr/>
        </p:nvPicPr>
        <p:blipFill>
          <a:blip r:embed="rId1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1904999" y="2394987"/>
            <a:ext cx="5061131" cy="4234413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kumimoji="true" lang="en-US" altLang="zh-CN" dirty="false"/>
              <a:t>Paging</a:t>
            </a:r>
            <a:endParaRPr kumimoji="true" lang="zh-CN" altLang="en-US" dirty="false"/>
          </a:p>
        </p:txBody>
      </p:sp>
      <p:sp>
        <p:nvSpPr>
          <p:cNvPr id="995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/>
            <a:r>
              <a:rPr lang="zh-CN" altLang="en-US" dirty="false"/>
              <a:t>真实的</a:t>
            </a:r>
            <a:r>
              <a:rPr lang="en-US" altLang="zh-CN" dirty="false"/>
              <a:t>page table entry (PTE)</a:t>
            </a:r>
            <a:endParaRPr/>
          </a:p>
          <a:p>
            <a:pPr lvl="1"/>
            <a:r>
              <a:rPr lang="en-US" altLang="zh-CN" dirty="false"/>
              <a:t>valid bit </a:t>
            </a:r>
            <a:endParaRPr/>
          </a:p>
          <a:p>
            <a:pPr lvl="1"/>
            <a:r>
              <a:rPr lang="en-US" altLang="zh-CN" dirty="false"/>
              <a:t>protection bits (R/W) </a:t>
            </a:r>
            <a:r>
              <a:rPr lang="zh-CN" altLang="en-US" dirty="false"/>
              <a:t>（</a:t>
            </a:r>
            <a:r>
              <a:rPr lang="en-US" altLang="zh-CN" dirty="false"/>
              <a:t>r/w/e</a:t>
            </a:r>
            <a:r>
              <a:rPr lang="zh-CN" altLang="en-US" dirty="false"/>
              <a:t>权限）</a:t>
            </a:r>
            <a:endParaRPr lang="en-US" altLang="zh-CN" dirty="false"/>
          </a:p>
          <a:p>
            <a:pPr lvl="1"/>
            <a:r>
              <a:rPr lang="en-US" altLang="zh-CN" dirty="false"/>
              <a:t>present bit (P) </a:t>
            </a:r>
            <a:r>
              <a:rPr lang="zh-CN" altLang="en-US" dirty="false"/>
              <a:t>（</a:t>
            </a:r>
            <a:r>
              <a:rPr lang="en-US" altLang="zh-CN" dirty="false"/>
              <a:t>on disk/</a:t>
            </a:r>
            <a:r>
              <a:rPr lang="zh-CN" altLang="en-US" dirty="false"/>
              <a:t> </a:t>
            </a:r>
            <a:r>
              <a:rPr lang="en-US" altLang="zh-CN" dirty="false"/>
              <a:t>in physical memory</a:t>
            </a:r>
            <a:r>
              <a:rPr lang="zh-CN" altLang="en-US" dirty="false"/>
              <a:t>）</a:t>
            </a:r>
            <a:endParaRPr lang="en-US" altLang="zh-CN" dirty="false"/>
          </a:p>
          <a:p>
            <a:pPr lvl="1"/>
            <a:r>
              <a:rPr lang="en-US" altLang="zh-CN" dirty="false"/>
              <a:t>dirty bit (D)</a:t>
            </a:r>
            <a:r>
              <a:rPr lang="zh-CN" altLang="en-US" dirty="false"/>
              <a:t>（与</a:t>
            </a:r>
            <a:r>
              <a:rPr lang="en-US" altLang="zh-CN" dirty="false"/>
              <a:t>disk</a:t>
            </a:r>
            <a:r>
              <a:rPr lang="zh-CN" altLang="en-US" dirty="false"/>
              <a:t>版本是否一致）</a:t>
            </a:r>
            <a:endParaRPr lang="en-US" altLang="zh-CN" dirty="false"/>
          </a:p>
          <a:p>
            <a:pPr lvl="1"/>
            <a:r>
              <a:rPr lang="en-US" altLang="zh-CN" dirty="false"/>
              <a:t>reference bit/accessed bit (A)</a:t>
            </a:r>
            <a:r>
              <a:rPr lang="zh-CN" altLang="en-US" dirty="false"/>
              <a:t>（体现</a:t>
            </a:r>
            <a:r>
              <a:rPr lang="en-US" altLang="zh-CN" dirty="false"/>
              <a:t>page</a:t>
            </a:r>
            <a:r>
              <a:rPr lang="zh-CN" altLang="en-US" dirty="false"/>
              <a:t>的流行度，与</a:t>
            </a:r>
            <a:r>
              <a:rPr lang="en-US" altLang="zh-CN" dirty="false"/>
              <a:t>replacement</a:t>
            </a:r>
            <a:r>
              <a:rPr lang="zh-CN" altLang="en-US" dirty="false"/>
              <a:t>有关）</a:t>
            </a:r>
            <a:endParaRPr lang="en-US" altLang="zh-CN" dirty="false"/>
          </a:p>
          <a:p>
            <a:pPr lvl="1"/>
            <a:r>
              <a:rPr lang="en-US" altLang="zh-CN" dirty="false"/>
              <a:t>U/S: user/supervisor</a:t>
            </a:r>
            <a:r>
              <a:rPr lang="zh-CN" altLang="en-US" dirty="false"/>
              <a:t>，用户态是否可以访问</a:t>
            </a:r>
            <a:endParaRPr lang="en-US" altLang="zh-CN" dirty="false"/>
          </a:p>
          <a:p>
            <a:pPr lvl="1"/>
            <a:r>
              <a:rPr lang="en-US" altLang="zh-CN" dirty="false"/>
              <a:t>PAT/PWT/PCD/G: </a:t>
            </a:r>
            <a:r>
              <a:rPr lang="zh-CN" altLang="en-US" dirty="false"/>
              <a:t>与硬件</a:t>
            </a:r>
            <a:r>
              <a:rPr lang="en-US" altLang="zh-CN" dirty="false"/>
              <a:t>cache</a:t>
            </a:r>
            <a:r>
              <a:rPr lang="zh-CN" altLang="en-US" dirty="false"/>
              <a:t>相关</a:t>
            </a:r>
            <a:endParaRPr lang="en-US" altLang="zh-CN" dirty="false"/>
          </a:p>
          <a:p>
            <a:pPr lvl="1"/>
            <a:endParaRPr lang="en-US" altLang="zh-CN" dirty="false"/>
          </a:p>
          <a:p>
            <a:pPr lvl="1"/>
            <a:endParaRPr kumimoji="true" lang="zh-CN" altLang="en-US" dirty="false"/>
          </a:p>
        </p:txBody>
      </p:sp>
      <p:sp>
        <p:nvSpPr>
          <p:cNvPr id="996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EF0B01C9-CC9E-4042-87A9-F49D20F0019F}" type="slidenum">
              <a:rPr lang="zh-CN" altLang="en-US" smtClean="false"/>
              <a:t>64</a:t>
            </a:fld>
            <a:endParaRPr lang="en-US" altLang="zh-CN"/>
          </a:p>
        </p:txBody>
      </p:sp>
      <p:pic>
        <p:nvPicPr>
          <p:cNvPr id="997" name="图片 4"/>
          <p:cNvPicPr>
            <a:picLocks noChangeAspect="true"/>
          </p:cNvPicPr>
          <p:nvPr/>
        </p:nvPicPr>
        <p:blipFill>
          <a:blip r:embed="rId1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222250" y="5759231"/>
            <a:ext cx="8547100" cy="9017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kumimoji="true" lang="en-US" altLang="zh-CN" dirty="false"/>
              <a:t>Paging</a:t>
            </a:r>
            <a:endParaRPr kumimoji="true" lang="zh-CN" altLang="en-US" dirty="false"/>
          </a:p>
        </p:txBody>
      </p:sp>
      <p:sp>
        <p:nvSpPr>
          <p:cNvPr id="1000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/>
            <a:r>
              <a:rPr kumimoji="true" lang="zh-CN" altLang="en-US" dirty="false"/>
              <a:t>地址翻译实例</a:t>
            </a:r>
            <a:endParaRPr kumimoji="true" lang="en-US" altLang="zh-CN" dirty="false"/>
          </a:p>
          <a:p>
            <a:pPr lvl="1"/>
            <a:r>
              <a:rPr lang="en-US" altLang="zh-CN" dirty="false" err="true"/>
              <a:t>Movl</a:t>
            </a:r>
            <a:r>
              <a:rPr lang="en-US" altLang="zh-CN" dirty="false"/>
              <a:t> 21, %</a:t>
            </a:r>
            <a:r>
              <a:rPr lang="en-US" altLang="zh-CN" dirty="false" err="true"/>
              <a:t>eax</a:t>
            </a:r>
            <a:r>
              <a:rPr lang="zh-CN" altLang="en-US" dirty="false"/>
              <a:t>（直接寻址</a:t>
            </a:r>
            <a:r>
              <a:rPr lang="en-US" altLang="zh-CN" dirty="false"/>
              <a:t>21</a:t>
            </a:r>
            <a:r>
              <a:rPr lang="zh-CN" altLang="en-US" dirty="false"/>
              <a:t>）</a:t>
            </a:r>
            <a:r>
              <a:rPr lang="en-US" altLang="zh-CN" dirty="false"/>
              <a:t>【</a:t>
            </a:r>
            <a:r>
              <a:rPr lang="zh-CN" altLang="en-US" dirty="false"/>
              <a:t>立即数</a:t>
            </a:r>
            <a:r>
              <a:rPr lang="en-US" altLang="zh-CN" dirty="false"/>
              <a:t>$21】</a:t>
            </a:r>
            <a:endParaRPr/>
          </a:p>
          <a:p>
            <a:pPr lvl="1"/>
            <a:r>
              <a:rPr kumimoji="true" lang="zh-CN" altLang="en-US" dirty="false"/>
              <a:t>假设有</a:t>
            </a:r>
            <a:r>
              <a:rPr kumimoji="true" lang="en-US" altLang="zh-CN" dirty="false"/>
              <a:t>page-table base register</a:t>
            </a:r>
            <a:r>
              <a:rPr kumimoji="true" lang="zh-CN" altLang="en-US" dirty="false"/>
              <a:t>，存储当前进程</a:t>
            </a:r>
            <a:r>
              <a:rPr kumimoji="true" lang="en-US" altLang="zh-CN" dirty="false"/>
              <a:t>page table</a:t>
            </a:r>
            <a:r>
              <a:rPr kumimoji="true" lang="zh-CN" altLang="en-US" dirty="false"/>
              <a:t>首</a:t>
            </a:r>
            <a:r>
              <a:rPr lang="zh-CN" altLang="en-US" dirty="false"/>
              <a:t>地址</a:t>
            </a:r>
            <a:endParaRPr lang="en-US" altLang="zh-CN" dirty="false"/>
          </a:p>
          <a:p>
            <a:pPr lvl="1"/>
            <a:r>
              <a:rPr lang="zh-CN" altLang="en-US" dirty="false"/>
              <a:t>获取</a:t>
            </a:r>
            <a:r>
              <a:rPr lang="en-US" altLang="zh-CN" dirty="false"/>
              <a:t>PTE</a:t>
            </a:r>
            <a:r>
              <a:rPr lang="zh-CN" altLang="en-US" dirty="false"/>
              <a:t>地址</a:t>
            </a:r>
            <a:endParaRPr lang="en-US" altLang="zh-CN" dirty="false"/>
          </a:p>
          <a:p>
            <a:pPr lvl="2"/>
            <a:r>
              <a:rPr lang="en-US" altLang="zh-CN" dirty="false"/>
              <a:t>VPN_MASK = 0x30 (hex 30, or binary 110000) </a:t>
            </a:r>
            <a:endParaRPr/>
          </a:p>
          <a:p>
            <a:pPr lvl="2"/>
            <a:r>
              <a:rPr lang="en-US" altLang="zh-CN" dirty="false"/>
              <a:t>SHIFT = 4</a:t>
            </a:r>
            <a:endParaRPr/>
          </a:p>
          <a:p>
            <a:pPr lvl="2"/>
            <a:r>
              <a:rPr lang="zh-CN" altLang="en-US" dirty="false"/>
              <a:t>（虚存空间</a:t>
            </a:r>
            <a:r>
              <a:rPr lang="en-US" altLang="zh-CN" dirty="false"/>
              <a:t>64B</a:t>
            </a:r>
            <a:r>
              <a:rPr lang="zh-CN" altLang="en-US" dirty="false"/>
              <a:t>，</a:t>
            </a:r>
            <a:r>
              <a:rPr lang="en-US" altLang="zh-CN" dirty="false"/>
              <a:t>Page</a:t>
            </a:r>
            <a:r>
              <a:rPr lang="zh-CN" altLang="en-US" dirty="false"/>
              <a:t>大小</a:t>
            </a:r>
            <a:r>
              <a:rPr lang="en-US" altLang="zh-CN" dirty="false"/>
              <a:t>16B</a:t>
            </a:r>
            <a:r>
              <a:rPr lang="zh-CN" altLang="en-US" dirty="false"/>
              <a:t>）</a:t>
            </a:r>
            <a:endParaRPr lang="en-US" altLang="zh-CN" dirty="false"/>
          </a:p>
          <a:p>
            <a:pPr lvl="1"/>
            <a:endParaRPr kumimoji="true" lang="zh-CN" altLang="en-US" dirty="false"/>
          </a:p>
        </p:txBody>
      </p:sp>
      <p:sp>
        <p:nvSpPr>
          <p:cNvPr id="1001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EF0B01C9-CC9E-4042-87A9-F49D20F0019F}" type="slidenum">
              <a:rPr lang="zh-CN" altLang="en-US" smtClean="false"/>
              <a:t>65</a:t>
            </a:fld>
            <a:endParaRPr lang="en-US" altLang="zh-CN"/>
          </a:p>
        </p:txBody>
      </p:sp>
      <p:pic>
        <p:nvPicPr>
          <p:cNvPr id="1002" name="图片 5"/>
          <p:cNvPicPr>
            <a:picLocks noChangeAspect="true"/>
          </p:cNvPicPr>
          <p:nvPr/>
        </p:nvPicPr>
        <p:blipFill>
          <a:blip r:embed="rId1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622300" y="4953000"/>
            <a:ext cx="7747000" cy="7112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Paging </a:t>
            </a:r>
            <a:r>
              <a:rPr lang="zh-CN"/>
              <a:t>导致额外的内存访问</a:t>
            </a:r>
            <a:endParaRPr lang="zh-CN"/>
          </a:p>
        </p:txBody>
      </p:sp>
      <p:sp>
        <p:nvSpPr>
          <p:cNvPr id="1005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/>
            <a:r>
              <a:rPr lang="zh-CN" altLang="en-US" dirty="false"/>
              <a:t>地址翻译实例</a:t>
            </a:r>
            <a:endParaRPr lang="en-US" altLang="zh-CN" dirty="false"/>
          </a:p>
          <a:p>
            <a:pPr/>
            <a:endParaRPr kumimoji="true" lang="zh-CN" altLang="en-US" dirty="false"/>
          </a:p>
        </p:txBody>
      </p:sp>
      <p:sp>
        <p:nvSpPr>
          <p:cNvPr id="1006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EF0B01C9-CC9E-4042-87A9-F49D20F0019F}" type="slidenum">
              <a:rPr lang="zh-CN" altLang="en-US" smtClean="false"/>
              <a:t>66</a:t>
            </a:fld>
            <a:endParaRPr lang="en-US" altLang="zh-CN"/>
          </a:p>
        </p:txBody>
      </p:sp>
      <p:pic>
        <p:nvPicPr>
          <p:cNvPr id="1007" name="图片 5"/>
          <p:cNvPicPr>
            <a:picLocks noChangeAspect="true"/>
          </p:cNvPicPr>
          <p:nvPr/>
        </p:nvPicPr>
        <p:blipFill rotWithShape="true">
          <a:blip r:embed="rId1">
            <a:extLst>
              <a:ext uri="{28A0092B-C50C-407E-A947-70E740481C1C}"/>
            </a:extLst>
          </a:blip>
          <a:srcRect t="15299"/>
          <a:stretch>
            <a:fillRect/>
          </a:stretch>
        </p:blipFill>
        <p:spPr>
          <a:xfrm>
            <a:off x="843118" y="2132149"/>
            <a:ext cx="7470703" cy="4533346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>
  <p:cSld>
    <p:spTree>
      <p:nvGrpSpPr>
        <p:cNvPr id="10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kumimoji="true" lang="en-US" altLang="zh-CN" dirty="false"/>
              <a:t>Paging</a:t>
            </a:r>
            <a:endParaRPr kumimoji="true" lang="zh-CN" altLang="en-US" dirty="false"/>
          </a:p>
        </p:txBody>
      </p:sp>
      <p:sp>
        <p:nvSpPr>
          <p:cNvPr id="1010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/>
            <a:r>
              <a:rPr kumimoji="true" lang="en-US" altLang="zh-CN" dirty="false"/>
              <a:t>Pros:</a:t>
            </a:r>
            <a:endParaRPr/>
          </a:p>
          <a:p>
            <a:pPr lvl="1"/>
            <a:r>
              <a:rPr lang="zh-CN" altLang="en-US" dirty="false"/>
              <a:t>避免空间的</a:t>
            </a:r>
            <a:r>
              <a:rPr lang="en-US" altLang="zh-CN" dirty="false"/>
              <a:t>fragmentation</a:t>
            </a:r>
            <a:r>
              <a:rPr lang="zh-CN" altLang="en-US" dirty="false"/>
              <a:t>（按</a:t>
            </a:r>
            <a:r>
              <a:rPr lang="en-US" altLang="zh-CN" dirty="false"/>
              <a:t>page</a:t>
            </a:r>
            <a:r>
              <a:rPr lang="zh-CN" altLang="en-US" dirty="false"/>
              <a:t>大小对齐；有细粒度的</a:t>
            </a:r>
            <a:r>
              <a:rPr lang="en-US" altLang="zh-CN" dirty="false"/>
              <a:t>page table</a:t>
            </a:r>
            <a:r>
              <a:rPr lang="zh-CN" altLang="en-US" dirty="false"/>
              <a:t>支持，</a:t>
            </a:r>
            <a:r>
              <a:rPr lang="en-US" altLang="zh-CN" dirty="false"/>
              <a:t>VA</a:t>
            </a:r>
            <a:r>
              <a:rPr lang="zh-CN" altLang="en-US" dirty="false"/>
              <a:t>连续空间不需要</a:t>
            </a:r>
            <a:r>
              <a:rPr lang="en-US" altLang="zh-CN" dirty="false"/>
              <a:t>PA</a:t>
            </a:r>
            <a:r>
              <a:rPr lang="zh-CN" altLang="en-US" dirty="false"/>
              <a:t>连续）</a:t>
            </a:r>
            <a:endParaRPr lang="en-US" altLang="zh-CN" dirty="false"/>
          </a:p>
          <a:p>
            <a:pPr lvl="1"/>
            <a:r>
              <a:rPr kumimoji="true" lang="en-US" altLang="zh-CN" dirty="false"/>
              <a:t>Flexibility, VA</a:t>
            </a:r>
            <a:r>
              <a:rPr lang="zh-CN" altLang="en-US" dirty="false"/>
              <a:t>空间稀疏使用时效率高</a:t>
            </a:r>
            <a:endParaRPr kumimoji="true" lang="en-US" altLang="zh-CN" dirty="false"/>
          </a:p>
          <a:p>
            <a:pPr/>
            <a:r>
              <a:rPr lang="en-US" altLang="zh-CN" dirty="false"/>
              <a:t>Cons:</a:t>
            </a:r>
            <a:endParaRPr/>
          </a:p>
          <a:p>
            <a:pPr lvl="1"/>
            <a:r>
              <a:rPr lang="en-US" altLang="zh-CN" dirty="false"/>
              <a:t>Page table</a:t>
            </a:r>
            <a:r>
              <a:rPr lang="zh-CN" altLang="en-US" dirty="false"/>
              <a:t>空间开销大</a:t>
            </a:r>
            <a:endParaRPr lang="en-US" altLang="zh-CN" dirty="false"/>
          </a:p>
          <a:p>
            <a:pPr lvl="1"/>
            <a:r>
              <a:rPr lang="zh-CN" altLang="en-US" dirty="false"/>
              <a:t>额外内存访问，导致性能变差</a:t>
            </a:r>
            <a:endParaRPr lang="en-US" altLang="zh-CN" dirty="false"/>
          </a:p>
          <a:p>
            <a:pPr lvl="1"/>
            <a:endParaRPr kumimoji="true" lang="zh-CN" altLang="en-US" dirty="false"/>
          </a:p>
        </p:txBody>
      </p:sp>
      <p:sp>
        <p:nvSpPr>
          <p:cNvPr id="1011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EF0B01C9-CC9E-4042-87A9-F49D20F0019F}" type="slidenum">
              <a:rPr lang="zh-CN" altLang="en-US" smtClean="false"/>
              <a:t>69</a:t>
            </a:fld>
            <a:endParaRPr lang="en-US" altLang="zh-CN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>
  <p:cSld>
    <p:spTree>
      <p:nvGrpSpPr>
        <p:cNvPr id="10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kumimoji="true" lang="en-US" altLang="zh-CN"/>
              <a:t>Paging</a:t>
            </a:r>
            <a:endParaRPr kumimoji="true" lang="zh-CN" altLang="en-US"/>
          </a:p>
        </p:txBody>
      </p:sp>
      <p:sp>
        <p:nvSpPr>
          <p:cNvPr id="1014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>
              <a:buChar char="•"/>
            </a:pPr>
            <a:r>
              <a:rPr lang="zh-CN"/>
              <a:t>如何解决</a:t>
            </a:r>
            <a:r>
              <a:rPr lang="en-US"/>
              <a:t>Page table</a:t>
            </a:r>
            <a:r>
              <a:rPr lang="zh-CN"/>
              <a:t>的两大问题</a:t>
            </a:r>
            <a:r>
              <a:rPr lang="zh-CN"/>
              <a:t>：</a:t>
            </a:r>
            <a:endParaRPr lang="en-US"/>
          </a:p>
          <a:p>
            <a:pPr lvl="1">
              <a:buChar char="–"/>
            </a:pPr>
            <a:r>
              <a:rPr lang="zh-CN"/>
              <a:t>运行太慢（两次访问内存）</a:t>
            </a:r>
            <a:endParaRPr lang="en-US"/>
          </a:p>
          <a:p>
            <a:pPr lvl="1">
              <a:buChar char="–"/>
            </a:pPr>
            <a:r>
              <a:rPr lang="zh-CN"/>
              <a:t>占用内存空间太大</a:t>
            </a:r>
            <a:endParaRPr/>
          </a:p>
        </p:txBody>
      </p:sp>
      <p:sp>
        <p:nvSpPr>
          <p:cNvPr id="1015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EF0B01C9-CC9E-4042-87A9-F49D20F0019F}" type="slidenum">
              <a:rPr lang="zh-CN" altLang="en-US" smtClean="false"/>
              <a:t>70</a:t>
            </a:fld>
            <a:endParaRPr lang="en-US" altLang="zh-CN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>
  <p:cSld>
    <p:spTree>
      <p:nvGrpSpPr>
        <p:cNvPr id="10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>
                <a:latin typeface="Comic Sans MS"/>
                <a:ea typeface="宋体"/>
                <a:cs typeface="宋体"/>
              </a:rPr>
              <a:t>Page Table</a:t>
            </a:r>
            <a:r>
              <a:rPr lang="zh-CN">
                <a:latin typeface="Comic Sans MS"/>
                <a:ea typeface="宋体"/>
                <a:cs typeface="宋体"/>
              </a:rPr>
              <a:t>加速</a:t>
            </a:r>
            <a:endParaRPr lang="zh-CN"/>
          </a:p>
        </p:txBody>
      </p:sp>
      <p:sp>
        <p:nvSpPr>
          <p:cNvPr id="1018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/>
            <a:r>
              <a:rPr kumimoji="true" lang="zh-CN" altLang="en-US" dirty="false"/>
              <a:t>目标：</a:t>
            </a:r>
            <a:endParaRPr kumimoji="true" lang="en-US" altLang="zh-CN" dirty="false"/>
          </a:p>
          <a:p>
            <a:pPr lvl="1"/>
            <a:r>
              <a:rPr lang="zh-CN" altLang="en-US" dirty="false"/>
              <a:t>怎么加速</a:t>
            </a:r>
            <a:r>
              <a:rPr lang="en-US" altLang="zh-CN" dirty="false"/>
              <a:t>paging</a:t>
            </a:r>
            <a:r>
              <a:rPr lang="zh-CN" altLang="en-US" dirty="false"/>
              <a:t>方案的内存访问？</a:t>
            </a:r>
            <a:endParaRPr lang="en-US" altLang="zh-CN" dirty="false"/>
          </a:p>
          <a:p>
            <a:pPr/>
            <a:r>
              <a:rPr kumimoji="true" lang="zh-CN" altLang="en-US" dirty="false"/>
              <a:t>思考：</a:t>
            </a:r>
            <a:endParaRPr kumimoji="true" lang="en-US" altLang="zh-CN" dirty="false"/>
          </a:p>
          <a:p>
            <a:pPr lvl="1"/>
            <a:r>
              <a:rPr lang="zh-CN" altLang="en-US" dirty="false"/>
              <a:t>用什么思路来加速？</a:t>
            </a:r>
            <a:endParaRPr lang="en-US" altLang="zh-CN" dirty="false"/>
          </a:p>
          <a:p>
            <a:pPr lvl="1"/>
            <a:r>
              <a:rPr kumimoji="true" lang="zh-CN" altLang="en-US" dirty="false"/>
              <a:t>需要</a:t>
            </a:r>
            <a:r>
              <a:rPr kumimoji="true" lang="en-US" altLang="zh-CN" dirty="false"/>
              <a:t>hardware</a:t>
            </a:r>
            <a:r>
              <a:rPr kumimoji="true" lang="zh-CN" altLang="en-US" dirty="false"/>
              <a:t>提供什么支持？</a:t>
            </a:r>
            <a:endParaRPr kumimoji="true" lang="en-US" altLang="zh-CN" dirty="false"/>
          </a:p>
          <a:p>
            <a:pPr lvl="1"/>
            <a:r>
              <a:rPr lang="zh-CN" altLang="en-US" dirty="false"/>
              <a:t>需要</a:t>
            </a:r>
            <a:r>
              <a:rPr lang="en-US" altLang="zh-CN" dirty="false"/>
              <a:t>OS</a:t>
            </a:r>
            <a:r>
              <a:rPr lang="zh-CN" altLang="en-US" dirty="false"/>
              <a:t>提供什么支持？</a:t>
            </a:r>
            <a:endParaRPr kumimoji="true" lang="zh-CN" altLang="en-US" dirty="false"/>
          </a:p>
        </p:txBody>
      </p:sp>
      <p:sp>
        <p:nvSpPr>
          <p:cNvPr id="1019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EF0B01C9-CC9E-4042-87A9-F49D20F0019F}" type="slidenum">
              <a:rPr lang="zh-CN" altLang="en-US" smtClean="false"/>
              <a:t>72</a:t>
            </a:fld>
            <a:endParaRPr lang="en-US" altLang="zh-CN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>
  <p:cSld>
    <p:spTree>
      <p:nvGrpSpPr>
        <p:cNvPr id="10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Rectangle 1030"/>
          <p:cNvSpPr>
            <a:spLocks noGrp="true" noChangeArrowheads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E7B7DA43-96DB-7E4A-A97B-E0F2190F5788}" type="slidenum">
              <a:rPr lang="zh-CN" altLang="en-US" sz="1400" b="false">
                <a:latin typeface="Times New Roman" panose="02020603050405020304" charset="0"/>
              </a:rPr>
              <a:t>71</a:t>
            </a:fld>
            <a:endParaRPr lang="en-US" altLang="zh-CN" sz="1400" b="false">
              <a:latin typeface="Times New Roman" panose="02020603050405020304" charset="0"/>
            </a:endParaRPr>
          </a:p>
        </p:txBody>
      </p:sp>
      <p:sp>
        <p:nvSpPr>
          <p:cNvPr id="1022" name="Rectangle 2"/>
          <p:cNvSpPr>
            <a:spLocks noGrp="true" noChangeArrowheads="true"/>
          </p:cNvSpPr>
          <p:nvPr>
            <p:ph type="ctrTitle"/>
          </p:nvPr>
        </p:nvSpPr>
        <p:spPr>
          <a:xfrm>
            <a:off x="685800" y="2133600"/>
            <a:ext cx="7772400" cy="1828800"/>
          </a:xfrm>
        </p:spPr>
        <p:txBody>
          <a:bodyPr/>
          <a:lstStyle/>
          <a:p>
            <a:pPr/>
            <a:r>
              <a:rPr lang="en-US" sz="3200">
                <a:latin typeface="Comic Sans MS"/>
                <a:ea typeface="宋体"/>
                <a:cs typeface="宋体"/>
              </a:rPr>
              <a:t>Faster Translations w/ TLBs
</a:t>
            </a:r>
            <a:r>
              <a:rPr lang="en-US" sz="3200">
                <a:latin typeface="Comic Sans MS"/>
                <a:ea typeface="宋体"/>
                <a:cs typeface="宋体"/>
              </a:rPr>
              <a:t>(</a:t>
            </a:r>
            <a:r>
              <a:rPr lang="en-US" sz="3200" b="false"/>
              <a:t>Translation Lookaside Buffer)</a:t>
            </a:r>
            <a:endParaRPr lang="en-US" sz="3200">
              <a:latin typeface="Comic Sans MS"/>
              <a:ea typeface="宋体"/>
              <a:cs typeface="宋体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>
  <p:cSld>
    <p:spTree>
      <p:nvGrpSpPr>
        <p:cNvPr id="10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>
                <a:latin typeface="Comic Sans MS"/>
                <a:ea typeface="宋体"/>
                <a:cs typeface="宋体"/>
              </a:rPr>
              <a:t>Faster Translations w/ TLBs</a:t>
            </a:r>
            <a:endParaRPr lang="zh-CN"/>
          </a:p>
        </p:txBody>
      </p:sp>
      <p:sp>
        <p:nvSpPr>
          <p:cNvPr id="1025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>
              <a:buChar char="•"/>
            </a:pPr>
            <a:r>
              <a:rPr lang="en-US" b="true"/>
              <a:t>Translation-Lookaside Buffer</a:t>
            </a:r>
            <a:r>
              <a:rPr lang="zh-CN"/>
              <a:t> </a:t>
            </a:r>
            <a:r>
              <a:rPr lang="en-US"/>
              <a:t>(TLB)</a:t>
            </a:r>
            <a:endParaRPr/>
          </a:p>
          <a:p>
            <a:pPr lvl="1">
              <a:buChar char="–"/>
            </a:pPr>
            <a:r>
              <a:rPr lang="en-US"/>
              <a:t>Part of </a:t>
            </a:r>
            <a:r>
              <a:rPr lang="en-US" b="true"/>
              <a:t>memory-management unit </a:t>
            </a:r>
            <a:r>
              <a:rPr lang="en-US"/>
              <a:t>(</a:t>
            </a:r>
            <a:r>
              <a:rPr lang="en-US" b="true"/>
              <a:t>MMU</a:t>
            </a:r>
            <a:r>
              <a:rPr lang="en-US"/>
              <a:t>) </a:t>
            </a:r>
            <a:endParaRPr/>
          </a:p>
          <a:p>
            <a:pPr lvl="1">
              <a:buChar char="–"/>
            </a:pPr>
            <a:r>
              <a:rPr lang="en-US"/>
              <a:t>Hardware </a:t>
            </a:r>
            <a:r>
              <a:rPr lang="en-US" b="true"/>
              <a:t>cache </a:t>
            </a:r>
            <a:r>
              <a:rPr lang="en-US"/>
              <a:t>of popular virtual-to-physical address translations (VPN-&gt;PPN)</a:t>
            </a:r>
            <a:endParaRPr/>
          </a:p>
          <a:p>
            <a:pPr lvl="1">
              <a:buChar char="–"/>
            </a:pPr>
            <a:endParaRPr lang="en-US"/>
          </a:p>
          <a:p>
            <a:pPr lvl="1">
              <a:buChar char="–"/>
            </a:pPr>
            <a:r>
              <a:rPr lang="en-US"/>
              <a:t>TLB</a:t>
            </a:r>
            <a:r>
              <a:rPr lang="zh-CN"/>
              <a:t>中缓存着一个小</a:t>
            </a:r>
            <a:r>
              <a:rPr lang="zh-CN"/>
              <a:t>页表，</a:t>
            </a:r>
            <a:r>
              <a:rPr lang="zh-CN"/>
              <a:t>中文叫快表</a:t>
            </a:r>
            <a:endParaRPr/>
          </a:p>
          <a:p>
            <a:pPr lvl="1">
              <a:buChar char="–"/>
            </a:pPr>
            <a:r>
              <a:rPr lang="en-US"/>
              <a:t>TLB</a:t>
            </a:r>
            <a:r>
              <a:rPr lang="zh-CN"/>
              <a:t>解决了</a:t>
            </a:r>
            <a:r>
              <a:rPr lang="en-US"/>
              <a:t>paging</a:t>
            </a:r>
            <a:r>
              <a:rPr lang="zh-CN"/>
              <a:t>的效率问题，让</a:t>
            </a:r>
            <a:r>
              <a:rPr lang="en-US"/>
              <a:t>paging</a:t>
            </a:r>
            <a:r>
              <a:rPr lang="zh-CN"/>
              <a:t>变得实用</a:t>
            </a:r>
            <a:endParaRPr/>
          </a:p>
        </p:txBody>
      </p:sp>
      <p:sp>
        <p:nvSpPr>
          <p:cNvPr id="1026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EF0B01C9-CC9E-4042-87A9-F49D20F0019F}" type="slidenum">
              <a:rPr lang="zh-CN" altLang="en-US" smtClean="false"/>
              <a:t>73</a:t>
            </a:fld>
            <a:endParaRPr lang="en-US" altLang="zh-CN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>
  <p:cSld>
    <p:spTree>
      <p:nvGrpSpPr>
        <p:cNvPr id="10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灯片编号占位符 3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F41984A2-E0B8-3A4D-B8BB-66F005C14673}" type="slidenum">
              <a:rPr lang="zh-CN" altLang="en-US" sz="1400" b="false">
                <a:latin typeface="Times New Roman" panose="02020603050405020304" charset="0"/>
              </a:rPr>
              <a:t>74</a:t>
            </a:fld>
            <a:endParaRPr lang="en-US" altLang="zh-CN" sz="1400" b="false">
              <a:latin typeface="Times New Roman" panose="02020603050405020304" charset="0"/>
            </a:endParaRPr>
          </a:p>
        </p:txBody>
      </p:sp>
      <p:sp>
        <p:nvSpPr>
          <p:cNvPr id="1034" name="Rectangle 3"/>
          <p:cNvSpPr>
            <a:spLocks noChangeArrowheads="true"/>
          </p:cNvSpPr>
          <p:nvPr/>
        </p:nvSpPr>
        <p:spPr bwMode="auto">
          <a:xfrm>
            <a:off x="1384300" y="1752600"/>
            <a:ext cx="3749675" cy="2695575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/>
          </a:extLst>
        </p:spPr>
        <p:txBody>
          <a:bodyPr anchor="ctr"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/>
            <a:endParaRPr lang="en-US" altLang="zh-CN"/>
          </a:p>
        </p:txBody>
      </p:sp>
      <p:sp>
        <p:nvSpPr>
          <p:cNvPr id="1035" name="Rectangle 10"/>
          <p:cNvSpPr>
            <a:spLocks noChangeArrowheads="true"/>
          </p:cNvSpPr>
          <p:nvPr/>
        </p:nvSpPr>
        <p:spPr bwMode="auto">
          <a:xfrm>
            <a:off x="3963988" y="3006725"/>
            <a:ext cx="1066800" cy="1238250"/>
          </a:xfrm>
          <a:prstGeom prst="rect">
            <a:avLst/>
          </a:prstGeom>
          <a:solidFill>
            <a:srgbClr val="DBF2DA"/>
          </a:solidFill>
          <a:ln w="12600">
            <a:solidFill>
              <a:schemeClr val="tx1"/>
            </a:solidFill>
            <a:miter lim="800000"/>
          </a:ln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600">
                <a:latin typeface="Calibri" charset="0"/>
              </a:rPr>
              <a:t>MMU</a:t>
            </a:r>
            <a:endParaRPr/>
          </a:p>
        </p:txBody>
      </p:sp>
      <p:sp>
        <p:nvSpPr>
          <p:cNvPr id="1036" name="Rectangle 17"/>
          <p:cNvSpPr>
            <a:spLocks noChangeArrowheads="true"/>
          </p:cNvSpPr>
          <p:nvPr/>
        </p:nvSpPr>
        <p:spPr bwMode="auto">
          <a:xfrm>
            <a:off x="6553200" y="2722563"/>
            <a:ext cx="914400" cy="2284412"/>
          </a:xfrm>
          <a:prstGeom prst="rect">
            <a:avLst/>
          </a:prstGeom>
          <a:solidFill>
            <a:srgbClr val="EBEBEB"/>
          </a:solidFill>
          <a:ln w="19080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r>
              <a:rPr lang="en-US" altLang="zh-CN" sz="1600">
                <a:latin typeface="Calibri" charset="0"/>
              </a:rPr>
              <a:t>Cache/</a:t>
            </a:r>
            <a:endParaRPr/>
          </a:p>
          <a:p>
            <a:pPr/>
            <a:r>
              <a:rPr lang="en-US" altLang="zh-CN" sz="1600">
                <a:latin typeface="Calibri" charset="0"/>
              </a:rPr>
              <a:t>Memory</a:t>
            </a:r>
            <a:endParaRPr/>
          </a:p>
        </p:txBody>
      </p:sp>
      <p:sp>
        <p:nvSpPr>
          <p:cNvPr id="1037" name="Text Box 9"/>
          <p:cNvSpPr txBox="true">
            <a:spLocks noChangeArrowheads="true"/>
          </p:cNvSpPr>
          <p:nvPr/>
        </p:nvSpPr>
        <p:spPr bwMode="auto">
          <a:xfrm>
            <a:off x="5580063" y="3338513"/>
            <a:ext cx="428625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lIns="90000" tIns="46800" rIns="90000" bIns="46800" anchor="ctr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600">
                <a:latin typeface="Courier New" panose="02070609020205090404" charset="0"/>
              </a:rPr>
              <a:t>PA</a:t>
            </a:r>
            <a:endParaRPr/>
          </a:p>
        </p:txBody>
      </p:sp>
      <p:sp>
        <p:nvSpPr>
          <p:cNvPr id="1038" name="Text Box 32"/>
          <p:cNvSpPr txBox="true">
            <a:spLocks noChangeArrowheads="true"/>
          </p:cNvSpPr>
          <p:nvPr/>
        </p:nvSpPr>
        <p:spPr bwMode="auto">
          <a:xfrm>
            <a:off x="3814763" y="4762500"/>
            <a:ext cx="6762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lIns="90000" tIns="46800" rIns="90000" bIns="46800" anchor="ctr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600">
                <a:latin typeface="Courier New" panose="02070609020205090404" charset="0"/>
              </a:rPr>
              <a:t>Data</a:t>
            </a:r>
            <a:endParaRPr/>
          </a:p>
        </p:txBody>
      </p:sp>
      <p:cxnSp>
        <p:nvCxnSpPr>
          <p:cNvPr id="1039" name="Straight Arrow Connector 8"/>
          <p:cNvCxnSpPr>
            <a:cxnSpLocks noChangeShapeType="true"/>
          </p:cNvCxnSpPr>
          <p:nvPr/>
        </p:nvCxnSpPr>
        <p:spPr bwMode="auto">
          <a:xfrm flipV="true">
            <a:off x="5030788" y="3605213"/>
            <a:ext cx="1522412" cy="1587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tailEnd type="arrow" w="med" len="med"/>
          </a:ln>
          <a:extLst>
            <a:ext uri="{909E8E84-426E-40DD-AFC4-6F175D3DCCD1}"/>
          </a:extLst>
        </p:spPr>
      </p:cxnSp>
      <p:sp>
        <p:nvSpPr>
          <p:cNvPr id="1040" name="Rectangle 10"/>
          <p:cNvSpPr>
            <a:spLocks noChangeArrowheads="true"/>
          </p:cNvSpPr>
          <p:nvPr/>
        </p:nvSpPr>
        <p:spPr bwMode="auto">
          <a:xfrm>
            <a:off x="1525588" y="3359150"/>
            <a:ext cx="1066800" cy="533400"/>
          </a:xfrm>
          <a:prstGeom prst="rect">
            <a:avLst/>
          </a:prstGeom>
          <a:solidFill>
            <a:srgbClr val="F6D2D2"/>
          </a:solidFill>
          <a:ln w="12600">
            <a:solidFill>
              <a:schemeClr val="tx1"/>
            </a:solidFill>
            <a:miter lim="800000"/>
          </a:ln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600">
                <a:latin typeface="Calibri" charset="0"/>
              </a:rPr>
              <a:t>CPU</a:t>
            </a:r>
            <a:endParaRPr/>
          </a:p>
        </p:txBody>
      </p:sp>
      <p:cxnSp>
        <p:nvCxnSpPr>
          <p:cNvPr id="1041" name="Straight Arrow Connector 10"/>
          <p:cNvCxnSpPr>
            <a:cxnSpLocks noChangeShapeType="true"/>
            <a:stCxn id="1040" idx="3"/>
            <a:endCxn id="1035" idx="1"/>
          </p:cNvCxnSpPr>
          <p:nvPr/>
        </p:nvCxnSpPr>
        <p:spPr bwMode="auto">
          <a:xfrm flipV="true">
            <a:off x="2592388" y="3625850"/>
            <a:ext cx="1371600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tailEnd type="arrow" w="med" len="med"/>
          </a:ln>
          <a:extLst>
            <a:ext uri="{909E8E84-426E-40DD-AFC4-6F175D3DCCD1}"/>
          </a:extLst>
        </p:spPr>
      </p:cxnSp>
      <p:sp>
        <p:nvSpPr>
          <p:cNvPr id="1042" name="Text Box 9"/>
          <p:cNvSpPr txBox="true">
            <a:spLocks noChangeArrowheads="true"/>
          </p:cNvSpPr>
          <p:nvPr/>
        </p:nvSpPr>
        <p:spPr bwMode="auto">
          <a:xfrm>
            <a:off x="3028950" y="3340100"/>
            <a:ext cx="428625" cy="334963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lIns="90000" tIns="46800" rIns="90000" bIns="46800" anchor="ctr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600">
                <a:latin typeface="Courier New" panose="02070609020205090404" charset="0"/>
              </a:rPr>
              <a:t>VA</a:t>
            </a:r>
            <a:endParaRPr/>
          </a:p>
        </p:txBody>
      </p:sp>
      <p:sp>
        <p:nvSpPr>
          <p:cNvPr id="1043" name="TextBox 12"/>
          <p:cNvSpPr txBox="true"/>
          <p:nvPr/>
        </p:nvSpPr>
        <p:spPr>
          <a:xfrm>
            <a:off x="1390650" y="1752600"/>
            <a:ext cx="115570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false">
                <a:solidFill>
                  <a:schemeClr val="tx1">
                    <a:lumMod val="50000"/>
                    <a:lumOff val="50000"/>
                  </a:schemeClr>
                </a:solidFill>
                <a:latin typeface="Calibri" charset="0"/>
                <a:ea typeface="宋体" charset="-122"/>
              </a:rPr>
              <a:t>CPU Chip</a:t>
            </a:r>
            <a:endParaRPr/>
          </a:p>
        </p:txBody>
      </p:sp>
      <p:sp>
        <p:nvSpPr>
          <p:cNvPr id="1044" name="Text Box 9"/>
          <p:cNvSpPr txBox="true">
            <a:spLocks noChangeArrowheads="true"/>
          </p:cNvSpPr>
          <p:nvPr/>
        </p:nvSpPr>
        <p:spPr bwMode="auto">
          <a:xfrm>
            <a:off x="4598988" y="2297113"/>
            <a:ext cx="552450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lIns="90000" tIns="46800" rIns="90000" bIns="46800" anchor="ctr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600">
                <a:latin typeface="Courier New" panose="02070609020205090404" charset="0"/>
              </a:rPr>
              <a:t>PTE</a:t>
            </a:r>
            <a:endParaRPr/>
          </a:p>
        </p:txBody>
      </p:sp>
      <p:cxnSp>
        <p:nvCxnSpPr>
          <p:cNvPr id="1045" name="Shape 49"/>
          <p:cNvCxnSpPr>
            <a:cxnSpLocks noChangeShapeType="true"/>
            <a:endCxn id="1040" idx="2"/>
          </p:cNvCxnSpPr>
          <p:nvPr/>
        </p:nvCxnSpPr>
        <p:spPr bwMode="auto">
          <a:xfrm rot="10800000">
            <a:off x="2058988" y="3892550"/>
            <a:ext cx="4494212" cy="885825"/>
          </a:xfrm>
          <a:prstGeom prst="bentConnector2">
            <a:avLst/>
          </a:prstGeom>
          <a:noFill/>
          <a:ln w="25400">
            <a:solidFill>
              <a:schemeClr val="tx1"/>
            </a:solidFill>
            <a:round/>
            <a:tailEnd type="arrow" w="med" len="med"/>
          </a:ln>
          <a:extLst>
            <a:ext uri="{909E8E84-426E-40DD-AFC4-6F175D3DCCD1}"/>
          </a:extLst>
        </p:spPr>
      </p:cxnSp>
      <p:sp>
        <p:nvSpPr>
          <p:cNvPr id="1046" name="Oval 4"/>
          <p:cNvSpPr>
            <a:spLocks noChangeArrowheads="true"/>
          </p:cNvSpPr>
          <p:nvPr/>
        </p:nvSpPr>
        <p:spPr bwMode="auto">
          <a:xfrm>
            <a:off x="3106738" y="3119438"/>
            <a:ext cx="274637" cy="27463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sz="1400" dirty="false">
                <a:solidFill>
                  <a:schemeClr val="bg1"/>
                </a:solidFill>
                <a:latin typeface="Calibri" charset="0"/>
                <a:ea typeface="宋体" charset="-122"/>
              </a:rPr>
              <a:t>1</a:t>
            </a:r>
            <a:endParaRPr/>
          </a:p>
        </p:txBody>
      </p:sp>
      <p:sp>
        <p:nvSpPr>
          <p:cNvPr id="1047" name="Oval 18"/>
          <p:cNvSpPr>
            <a:spLocks noChangeArrowheads="true"/>
          </p:cNvSpPr>
          <p:nvPr/>
        </p:nvSpPr>
        <p:spPr bwMode="auto">
          <a:xfrm>
            <a:off x="4038600" y="2362200"/>
            <a:ext cx="274638" cy="2746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sz="1400" dirty="false">
                <a:solidFill>
                  <a:schemeClr val="bg1"/>
                </a:solidFill>
                <a:latin typeface="Calibri" charset="0"/>
                <a:ea typeface="宋体" charset="-122"/>
              </a:rPr>
              <a:t>2</a:t>
            </a:r>
            <a:endParaRPr/>
          </a:p>
        </p:txBody>
      </p:sp>
      <p:sp>
        <p:nvSpPr>
          <p:cNvPr id="1048" name="Oval 20"/>
          <p:cNvSpPr>
            <a:spLocks noChangeArrowheads="true"/>
          </p:cNvSpPr>
          <p:nvPr/>
        </p:nvSpPr>
        <p:spPr bwMode="auto">
          <a:xfrm>
            <a:off x="5656263" y="3671888"/>
            <a:ext cx="274637" cy="27463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sz="1400" dirty="false">
                <a:solidFill>
                  <a:schemeClr val="bg1"/>
                </a:solidFill>
                <a:latin typeface="Calibri" charset="0"/>
                <a:ea typeface="宋体" charset="-122"/>
              </a:rPr>
              <a:t>4</a:t>
            </a:r>
            <a:endParaRPr/>
          </a:p>
        </p:txBody>
      </p:sp>
      <p:sp>
        <p:nvSpPr>
          <p:cNvPr id="1049" name="Oval 21"/>
          <p:cNvSpPr>
            <a:spLocks noChangeArrowheads="true"/>
          </p:cNvSpPr>
          <p:nvPr/>
        </p:nvSpPr>
        <p:spPr bwMode="auto">
          <a:xfrm>
            <a:off x="4021138" y="5062538"/>
            <a:ext cx="274637" cy="27463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sz="1400" dirty="false">
                <a:solidFill>
                  <a:schemeClr val="bg1"/>
                </a:solidFill>
                <a:latin typeface="Calibri" charset="0"/>
                <a:ea typeface="宋体" charset="-122"/>
              </a:rPr>
              <a:t>5</a:t>
            </a:r>
            <a:endParaRPr/>
          </a:p>
        </p:txBody>
      </p:sp>
      <p:sp>
        <p:nvSpPr>
          <p:cNvPr id="1050" name="Rectangle 10"/>
          <p:cNvSpPr>
            <a:spLocks noChangeArrowheads="true"/>
          </p:cNvSpPr>
          <p:nvPr/>
        </p:nvSpPr>
        <p:spPr bwMode="auto">
          <a:xfrm>
            <a:off x="3962400" y="190500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60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sz="1600" dirty="false">
                <a:latin typeface="Calibri" charset="0"/>
                <a:ea typeface="宋体" charset="-122"/>
              </a:rPr>
              <a:t>TLB</a:t>
            </a:r>
            <a:endParaRPr/>
          </a:p>
        </p:txBody>
      </p:sp>
      <p:cxnSp>
        <p:nvCxnSpPr>
          <p:cNvPr id="1051" name="Straight Arrow Connector 20"/>
          <p:cNvCxnSpPr>
            <a:cxnSpLocks noChangeShapeType="true"/>
          </p:cNvCxnSpPr>
          <p:nvPr/>
        </p:nvCxnSpPr>
        <p:spPr bwMode="auto">
          <a:xfrm rot="16200000" flipV="true">
            <a:off x="4058444" y="2645569"/>
            <a:ext cx="720725" cy="1587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tailEnd type="arrow" w="med" len="med"/>
          </a:ln>
          <a:extLst>
            <a:ext uri="{909E8E84-426E-40DD-AFC4-6F175D3DCCD1}"/>
          </a:extLst>
        </p:spPr>
      </p:cxnSp>
      <p:cxnSp>
        <p:nvCxnSpPr>
          <p:cNvPr id="1052" name="Straight Arrow Connector 21"/>
          <p:cNvCxnSpPr>
            <a:cxnSpLocks noChangeShapeType="true"/>
          </p:cNvCxnSpPr>
          <p:nvPr/>
        </p:nvCxnSpPr>
        <p:spPr bwMode="auto">
          <a:xfrm rot="5400000">
            <a:off x="4287044" y="2645569"/>
            <a:ext cx="720725" cy="1587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tailEnd type="arrow" w="med" len="med"/>
          </a:ln>
          <a:extLst>
            <a:ext uri="{909E8E84-426E-40DD-AFC4-6F175D3DCCD1}"/>
          </a:extLst>
        </p:spPr>
      </p:cxnSp>
      <p:sp>
        <p:nvSpPr>
          <p:cNvPr id="1053" name="Text Box 9"/>
          <p:cNvSpPr txBox="true">
            <a:spLocks noChangeArrowheads="true"/>
          </p:cNvSpPr>
          <p:nvPr/>
        </p:nvSpPr>
        <p:spPr bwMode="auto">
          <a:xfrm>
            <a:off x="3903663" y="2651125"/>
            <a:ext cx="5524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lIns="90000" tIns="46800" rIns="90000" bIns="46800" anchor="ctr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600">
                <a:latin typeface="Courier New" panose="02070609020205090404" charset="0"/>
              </a:rPr>
              <a:t>VPN</a:t>
            </a:r>
            <a:endParaRPr/>
          </a:p>
        </p:txBody>
      </p:sp>
      <p:sp>
        <p:nvSpPr>
          <p:cNvPr id="1054" name="Oval 19"/>
          <p:cNvSpPr>
            <a:spLocks noChangeArrowheads="true"/>
          </p:cNvSpPr>
          <p:nvPr/>
        </p:nvSpPr>
        <p:spPr bwMode="auto">
          <a:xfrm>
            <a:off x="4737100" y="2633663"/>
            <a:ext cx="274638" cy="27463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sz="1400" dirty="false">
                <a:solidFill>
                  <a:schemeClr val="bg1"/>
                </a:solidFill>
                <a:latin typeface="Calibri" charset="0"/>
                <a:ea typeface="宋体" charset="-122"/>
              </a:rPr>
              <a:t>3</a:t>
            </a:r>
            <a:endParaRPr/>
          </a:p>
        </p:txBody>
      </p:sp>
      <p:sp>
        <p:nvSpPr>
          <p:cNvPr id="1055" name="Rectangle 2"/>
          <p:cNvSpPr txBox="true">
            <a:spLocks noChangeArrowheads="true"/>
          </p:cNvSpPr>
          <p:nvPr/>
        </p:nvSpPr>
        <p:spPr bwMode="auto">
          <a:xfrm>
            <a:off x="457200" y="457200"/>
            <a:ext cx="80772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anchor="ctr"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r>
              <a:rPr lang="en-US" altLang="zh-CN" sz="2800">
                <a:solidFill>
                  <a:schemeClr val="tx2"/>
                </a:solidFill>
              </a:rPr>
              <a:t>TLB Hit</a:t>
            </a:r>
            <a:endParaRPr/>
          </a:p>
        </p:txBody>
      </p:sp>
      <p:sp>
        <p:nvSpPr>
          <p:cNvPr id="1056" name="Rectangle 2"/>
          <p:cNvSpPr txBox="true">
            <a:spLocks noChangeArrowheads="true"/>
          </p:cNvSpPr>
          <p:nvPr/>
        </p:nvSpPr>
        <p:spPr bwMode="auto">
          <a:xfrm>
            <a:off x="506413" y="5822950"/>
            <a:ext cx="7189787" cy="5778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 eaLnBrk="true" hangingPunct="true">
              <a:spcBef>
                <a:spcPct val="20000"/>
              </a:spcBef>
              <a:buClr>
                <a:srgbClr val="990000"/>
              </a:buClr>
              <a:buSzPct val="60000"/>
              <a:buFont typeface="Wingdings" panose="05000000000000000000" pitchFamily="2" charset="2"/>
              <a:buNone/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  <a:defRPr/>
            </a:pPr>
            <a:r>
              <a:rPr lang="en-GB" sz="2400" kern="0" dirty="false">
                <a:latin typeface="+mj-lt"/>
                <a:ea typeface="+mn-ea"/>
              </a:rPr>
              <a:t>A TLB hit eliminates a memory access</a:t>
            </a:r>
            <a:endParaRPr/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p="http://schemas.openxmlformats.org/presentationml/2006/main">
  <p:cSld>
    <p:spTree>
      <p:nvGrpSpPr>
        <p:cNvPr id="10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灯片编号占位符 3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13633230-2529-6049-965A-091C10B5E791}" type="slidenum">
              <a:rPr lang="zh-CN" altLang="en-US" sz="1400" b="false">
                <a:latin typeface="Times New Roman" panose="02020603050405020304" charset="0"/>
              </a:rPr>
              <a:t>75</a:t>
            </a:fld>
            <a:endParaRPr lang="en-US" altLang="zh-CN" sz="1400" b="false">
              <a:latin typeface="Times New Roman" panose="02020603050405020304" charset="0"/>
            </a:endParaRPr>
          </a:p>
        </p:txBody>
      </p:sp>
      <p:sp>
        <p:nvSpPr>
          <p:cNvPr id="1059" name="Rectangle 2"/>
          <p:cNvSpPr txBox="true">
            <a:spLocks noChangeArrowheads="true"/>
          </p:cNvSpPr>
          <p:nvPr/>
        </p:nvSpPr>
        <p:spPr bwMode="auto">
          <a:xfrm>
            <a:off x="457200" y="457200"/>
            <a:ext cx="80772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anchor="ctr"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r>
              <a:rPr lang="en-US" altLang="zh-CN" sz="2800">
                <a:solidFill>
                  <a:schemeClr val="tx2"/>
                </a:solidFill>
              </a:rPr>
              <a:t>TLB Miss</a:t>
            </a:r>
            <a:endParaRPr/>
          </a:p>
        </p:txBody>
      </p:sp>
      <p:sp>
        <p:nvSpPr>
          <p:cNvPr id="1060" name="Rectangle 27"/>
          <p:cNvSpPr>
            <a:spLocks noChangeArrowheads="true"/>
          </p:cNvSpPr>
          <p:nvPr/>
        </p:nvSpPr>
        <p:spPr bwMode="auto">
          <a:xfrm>
            <a:off x="1384300" y="1724025"/>
            <a:ext cx="3749675" cy="2695575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/>
          </a:extLst>
        </p:spPr>
        <p:txBody>
          <a:bodyPr anchor="ctr"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/>
            <a:endParaRPr lang="en-US" altLang="zh-CN"/>
          </a:p>
        </p:txBody>
      </p:sp>
      <p:sp>
        <p:nvSpPr>
          <p:cNvPr id="1061" name="Rectangle 10"/>
          <p:cNvSpPr>
            <a:spLocks noChangeArrowheads="true"/>
          </p:cNvSpPr>
          <p:nvPr/>
        </p:nvSpPr>
        <p:spPr bwMode="auto">
          <a:xfrm>
            <a:off x="3963988" y="3006725"/>
            <a:ext cx="1066800" cy="1238250"/>
          </a:xfrm>
          <a:prstGeom prst="rect">
            <a:avLst/>
          </a:prstGeom>
          <a:solidFill>
            <a:srgbClr val="D5F1CF"/>
          </a:solidFill>
          <a:ln w="12600">
            <a:solidFill>
              <a:schemeClr val="tx1"/>
            </a:solidFill>
            <a:miter lim="800000"/>
          </a:ln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600">
                <a:latin typeface="Calibri" charset="0"/>
              </a:rPr>
              <a:t>MMU</a:t>
            </a:r>
            <a:endParaRPr/>
          </a:p>
        </p:txBody>
      </p:sp>
      <p:sp>
        <p:nvSpPr>
          <p:cNvPr id="1062" name="Rectangle 17"/>
          <p:cNvSpPr>
            <a:spLocks noChangeArrowheads="true"/>
          </p:cNvSpPr>
          <p:nvPr/>
        </p:nvSpPr>
        <p:spPr bwMode="auto">
          <a:xfrm>
            <a:off x="6553200" y="2722563"/>
            <a:ext cx="914400" cy="2284412"/>
          </a:xfrm>
          <a:prstGeom prst="rect">
            <a:avLst/>
          </a:prstGeom>
          <a:solidFill>
            <a:srgbClr val="EBEBEB"/>
          </a:solidFill>
          <a:ln w="19080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r>
              <a:rPr lang="en-US" altLang="zh-CN" sz="1600">
                <a:latin typeface="Calibri" charset="0"/>
              </a:rPr>
              <a:t>Cache/</a:t>
            </a:r>
            <a:endParaRPr/>
          </a:p>
          <a:p>
            <a:pPr/>
            <a:r>
              <a:rPr lang="en-US" altLang="zh-CN" sz="1600">
                <a:latin typeface="Calibri" charset="0"/>
              </a:rPr>
              <a:t>Memory</a:t>
            </a:r>
            <a:endParaRPr/>
          </a:p>
        </p:txBody>
      </p:sp>
      <p:sp>
        <p:nvSpPr>
          <p:cNvPr id="1063" name="Text Box 9"/>
          <p:cNvSpPr txBox="true">
            <a:spLocks noChangeArrowheads="true"/>
          </p:cNvSpPr>
          <p:nvPr/>
        </p:nvSpPr>
        <p:spPr bwMode="auto">
          <a:xfrm>
            <a:off x="5549900" y="3795713"/>
            <a:ext cx="428625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lIns="90000" tIns="46800" rIns="90000" bIns="46800" anchor="ctr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600">
                <a:latin typeface="Courier New" panose="02070609020205090404" charset="0"/>
              </a:rPr>
              <a:t>PA</a:t>
            </a:r>
            <a:endParaRPr/>
          </a:p>
        </p:txBody>
      </p:sp>
      <p:sp>
        <p:nvSpPr>
          <p:cNvPr id="1064" name="Text Box 32"/>
          <p:cNvSpPr txBox="true">
            <a:spLocks noChangeArrowheads="true"/>
          </p:cNvSpPr>
          <p:nvPr/>
        </p:nvSpPr>
        <p:spPr bwMode="auto">
          <a:xfrm>
            <a:off x="3814763" y="4762500"/>
            <a:ext cx="6762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lIns="90000" tIns="46800" rIns="90000" bIns="46800" anchor="ctr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600">
                <a:latin typeface="Courier New" panose="02070609020205090404" charset="0"/>
              </a:rPr>
              <a:t>Data</a:t>
            </a:r>
            <a:endParaRPr/>
          </a:p>
        </p:txBody>
      </p:sp>
      <p:cxnSp>
        <p:nvCxnSpPr>
          <p:cNvPr id="1065" name="Straight Arrow Connector 32"/>
          <p:cNvCxnSpPr>
            <a:cxnSpLocks noChangeShapeType="true"/>
          </p:cNvCxnSpPr>
          <p:nvPr/>
        </p:nvCxnSpPr>
        <p:spPr bwMode="auto">
          <a:xfrm flipV="true">
            <a:off x="5030788" y="4062413"/>
            <a:ext cx="1522412" cy="1587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tailEnd type="arrow" w="med" len="med"/>
          </a:ln>
          <a:extLst>
            <a:ext uri="{909E8E84-426E-40DD-AFC4-6F175D3DCCD1}"/>
          </a:extLst>
        </p:spPr>
      </p:cxnSp>
      <p:sp>
        <p:nvSpPr>
          <p:cNvPr id="1066" name="Rectangle 10"/>
          <p:cNvSpPr>
            <a:spLocks noChangeArrowheads="true"/>
          </p:cNvSpPr>
          <p:nvPr/>
        </p:nvSpPr>
        <p:spPr bwMode="auto">
          <a:xfrm>
            <a:off x="1525588" y="3359150"/>
            <a:ext cx="1066800" cy="533400"/>
          </a:xfrm>
          <a:prstGeom prst="rect">
            <a:avLst/>
          </a:prstGeom>
          <a:solidFill>
            <a:srgbClr val="F1C7C7"/>
          </a:solidFill>
          <a:ln w="12600">
            <a:solidFill>
              <a:schemeClr val="tx1"/>
            </a:solidFill>
            <a:miter lim="800000"/>
          </a:ln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600">
                <a:latin typeface="Calibri" charset="0"/>
              </a:rPr>
              <a:t>CPU</a:t>
            </a:r>
            <a:endParaRPr/>
          </a:p>
        </p:txBody>
      </p:sp>
      <p:cxnSp>
        <p:nvCxnSpPr>
          <p:cNvPr id="1067" name="Straight Arrow Connector 34"/>
          <p:cNvCxnSpPr>
            <a:cxnSpLocks noChangeShapeType="true"/>
            <a:stCxn id="1066" idx="3"/>
          </p:cNvCxnSpPr>
          <p:nvPr/>
        </p:nvCxnSpPr>
        <p:spPr bwMode="auto">
          <a:xfrm flipV="true">
            <a:off x="2592388" y="3621088"/>
            <a:ext cx="1370012" cy="4762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tailEnd type="arrow" w="med" len="med"/>
          </a:ln>
          <a:extLst>
            <a:ext uri="{909E8E84-426E-40DD-AFC4-6F175D3DCCD1}"/>
          </a:extLst>
        </p:spPr>
      </p:cxnSp>
      <p:sp>
        <p:nvSpPr>
          <p:cNvPr id="1068" name="Text Box 9"/>
          <p:cNvSpPr txBox="true">
            <a:spLocks noChangeArrowheads="true"/>
          </p:cNvSpPr>
          <p:nvPr/>
        </p:nvSpPr>
        <p:spPr bwMode="auto">
          <a:xfrm>
            <a:off x="3028950" y="3340100"/>
            <a:ext cx="428625" cy="334963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lIns="90000" tIns="46800" rIns="90000" bIns="46800" anchor="ctr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600">
                <a:latin typeface="Courier New" panose="02070609020205090404" charset="0"/>
              </a:rPr>
              <a:t>VA</a:t>
            </a:r>
            <a:endParaRPr/>
          </a:p>
        </p:txBody>
      </p:sp>
      <p:sp>
        <p:nvSpPr>
          <p:cNvPr id="1069" name="TextBox 36"/>
          <p:cNvSpPr txBox="true"/>
          <p:nvPr/>
        </p:nvSpPr>
        <p:spPr>
          <a:xfrm>
            <a:off x="1390650" y="1752600"/>
            <a:ext cx="115570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false">
                <a:solidFill>
                  <a:schemeClr val="tx1">
                    <a:lumMod val="50000"/>
                    <a:lumOff val="50000"/>
                  </a:schemeClr>
                </a:solidFill>
                <a:latin typeface="Calibri" charset="0"/>
                <a:ea typeface="宋体" charset="-122"/>
              </a:rPr>
              <a:t>CPU Chip</a:t>
            </a:r>
            <a:endParaRPr/>
          </a:p>
        </p:txBody>
      </p:sp>
      <p:sp>
        <p:nvSpPr>
          <p:cNvPr id="1070" name="Text Box 9"/>
          <p:cNvSpPr txBox="true">
            <a:spLocks noChangeArrowheads="true"/>
          </p:cNvSpPr>
          <p:nvPr/>
        </p:nvSpPr>
        <p:spPr bwMode="auto">
          <a:xfrm>
            <a:off x="5487988" y="2346325"/>
            <a:ext cx="552450" cy="334963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lIns="90000" tIns="46800" rIns="90000" bIns="46800" anchor="ctr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600">
                <a:latin typeface="Courier New" panose="02070609020205090404" charset="0"/>
              </a:rPr>
              <a:t>PTE</a:t>
            </a:r>
            <a:endParaRPr/>
          </a:p>
        </p:txBody>
      </p:sp>
      <p:cxnSp>
        <p:nvCxnSpPr>
          <p:cNvPr id="1071" name="Shape 49"/>
          <p:cNvCxnSpPr>
            <a:cxnSpLocks noChangeShapeType="true"/>
            <a:endCxn id="1066" idx="2"/>
          </p:cNvCxnSpPr>
          <p:nvPr/>
        </p:nvCxnSpPr>
        <p:spPr bwMode="auto">
          <a:xfrm rot="10800000">
            <a:off x="2058988" y="3892550"/>
            <a:ext cx="4494212" cy="885825"/>
          </a:xfrm>
          <a:prstGeom prst="bentConnector2">
            <a:avLst/>
          </a:prstGeom>
          <a:noFill/>
          <a:ln w="25400">
            <a:solidFill>
              <a:schemeClr val="tx1"/>
            </a:solidFill>
            <a:round/>
            <a:tailEnd type="arrow" w="med" len="med"/>
          </a:ln>
          <a:extLst>
            <a:ext uri="{909E8E84-426E-40DD-AFC4-6F175D3DCCD1}"/>
          </a:extLst>
        </p:spPr>
      </p:cxnSp>
      <p:sp>
        <p:nvSpPr>
          <p:cNvPr id="1072" name="Oval 4"/>
          <p:cNvSpPr>
            <a:spLocks noChangeArrowheads="true"/>
          </p:cNvSpPr>
          <p:nvPr/>
        </p:nvSpPr>
        <p:spPr bwMode="auto">
          <a:xfrm>
            <a:off x="3106738" y="3119438"/>
            <a:ext cx="274637" cy="27463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sz="1400" dirty="false">
                <a:solidFill>
                  <a:schemeClr val="bg1"/>
                </a:solidFill>
                <a:latin typeface="Calibri" charset="0"/>
                <a:ea typeface="宋体" charset="-122"/>
              </a:rPr>
              <a:t>1</a:t>
            </a:r>
            <a:endParaRPr/>
          </a:p>
        </p:txBody>
      </p:sp>
      <p:sp>
        <p:nvSpPr>
          <p:cNvPr id="1073" name="Oval 18"/>
          <p:cNvSpPr>
            <a:spLocks noChangeArrowheads="true"/>
          </p:cNvSpPr>
          <p:nvPr/>
        </p:nvSpPr>
        <p:spPr bwMode="auto">
          <a:xfrm>
            <a:off x="4038600" y="2362200"/>
            <a:ext cx="274638" cy="2746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sz="1400" dirty="false">
                <a:solidFill>
                  <a:schemeClr val="bg1"/>
                </a:solidFill>
                <a:latin typeface="Calibri" charset="0"/>
                <a:ea typeface="宋体" charset="-122"/>
              </a:rPr>
              <a:t>2</a:t>
            </a:r>
            <a:endParaRPr/>
          </a:p>
        </p:txBody>
      </p:sp>
      <p:sp>
        <p:nvSpPr>
          <p:cNvPr id="1074" name="Oval 20"/>
          <p:cNvSpPr>
            <a:spLocks noChangeArrowheads="true"/>
          </p:cNvSpPr>
          <p:nvPr/>
        </p:nvSpPr>
        <p:spPr bwMode="auto">
          <a:xfrm>
            <a:off x="5626100" y="4129088"/>
            <a:ext cx="274638" cy="27463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sz="1400" dirty="false">
                <a:solidFill>
                  <a:schemeClr val="bg1"/>
                </a:solidFill>
                <a:latin typeface="Calibri" charset="0"/>
                <a:ea typeface="宋体" charset="-122"/>
              </a:rPr>
              <a:t>5</a:t>
            </a:r>
            <a:endParaRPr/>
          </a:p>
        </p:txBody>
      </p:sp>
      <p:sp>
        <p:nvSpPr>
          <p:cNvPr id="1075" name="Oval 21"/>
          <p:cNvSpPr>
            <a:spLocks noChangeArrowheads="true"/>
          </p:cNvSpPr>
          <p:nvPr/>
        </p:nvSpPr>
        <p:spPr bwMode="auto">
          <a:xfrm>
            <a:off x="4021138" y="5062538"/>
            <a:ext cx="274637" cy="27463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sz="1400" dirty="false">
                <a:solidFill>
                  <a:schemeClr val="bg1"/>
                </a:solidFill>
                <a:latin typeface="Calibri" charset="0"/>
                <a:ea typeface="宋体" charset="-122"/>
              </a:rPr>
              <a:t>6</a:t>
            </a:r>
            <a:endParaRPr/>
          </a:p>
        </p:txBody>
      </p:sp>
      <p:sp>
        <p:nvSpPr>
          <p:cNvPr id="1076" name="Rectangle 10"/>
          <p:cNvSpPr>
            <a:spLocks noChangeArrowheads="true"/>
          </p:cNvSpPr>
          <p:nvPr/>
        </p:nvSpPr>
        <p:spPr bwMode="auto">
          <a:xfrm>
            <a:off x="3962400" y="190500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60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sz="1600" dirty="false">
                <a:latin typeface="Calibri" charset="0"/>
                <a:ea typeface="宋体" charset="-122"/>
              </a:rPr>
              <a:t>TLB</a:t>
            </a:r>
            <a:endParaRPr/>
          </a:p>
        </p:txBody>
      </p:sp>
      <p:cxnSp>
        <p:nvCxnSpPr>
          <p:cNvPr id="1077" name="Straight Arrow Connector 44"/>
          <p:cNvCxnSpPr>
            <a:cxnSpLocks noChangeShapeType="true"/>
          </p:cNvCxnSpPr>
          <p:nvPr/>
        </p:nvCxnSpPr>
        <p:spPr bwMode="auto">
          <a:xfrm rot="16200000" flipV="true">
            <a:off x="4058444" y="2645569"/>
            <a:ext cx="720725" cy="1587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tailEnd type="arrow" w="med" len="med"/>
          </a:ln>
          <a:extLst>
            <a:ext uri="{909E8E84-426E-40DD-AFC4-6F175D3DCCD1}"/>
          </a:extLst>
        </p:spPr>
      </p:cxnSp>
      <p:cxnSp>
        <p:nvCxnSpPr>
          <p:cNvPr id="1078" name="Straight Arrow Connector 45"/>
          <p:cNvCxnSpPr>
            <a:cxnSpLocks noChangeShapeType="true"/>
          </p:cNvCxnSpPr>
          <p:nvPr/>
        </p:nvCxnSpPr>
        <p:spPr bwMode="auto">
          <a:xfrm rot="5400000">
            <a:off x="4287044" y="2645569"/>
            <a:ext cx="720725" cy="1587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 type="arrow" w="med" len="med"/>
            <a:tailEnd type="arrow" w="med" len="med"/>
          </a:ln>
          <a:extLst>
            <a:ext uri="{909E8E84-426E-40DD-AFC4-6F175D3DCCD1}"/>
          </a:extLst>
        </p:spPr>
      </p:cxnSp>
      <p:sp>
        <p:nvSpPr>
          <p:cNvPr id="1079" name="Text Box 9"/>
          <p:cNvSpPr txBox="true">
            <a:spLocks noChangeArrowheads="true"/>
          </p:cNvSpPr>
          <p:nvPr/>
        </p:nvSpPr>
        <p:spPr bwMode="auto">
          <a:xfrm>
            <a:off x="3903663" y="2651125"/>
            <a:ext cx="5524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lIns="90000" tIns="46800" rIns="90000" bIns="46800" anchor="ctr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600">
                <a:latin typeface="Courier New" panose="02070609020205090404" charset="0"/>
              </a:rPr>
              <a:t>VPN</a:t>
            </a:r>
            <a:endParaRPr/>
          </a:p>
        </p:txBody>
      </p:sp>
      <p:sp>
        <p:nvSpPr>
          <p:cNvPr id="1080" name="Oval 19"/>
          <p:cNvSpPr>
            <a:spLocks noChangeArrowheads="true"/>
          </p:cNvSpPr>
          <p:nvPr/>
        </p:nvSpPr>
        <p:spPr bwMode="auto">
          <a:xfrm>
            <a:off x="5626100" y="2120900"/>
            <a:ext cx="274638" cy="2746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sz="1400" dirty="false">
                <a:solidFill>
                  <a:schemeClr val="bg1"/>
                </a:solidFill>
                <a:latin typeface="Calibri" charset="0"/>
                <a:ea typeface="宋体" charset="-122"/>
              </a:rPr>
              <a:t>4</a:t>
            </a:r>
            <a:endParaRPr/>
          </a:p>
        </p:txBody>
      </p:sp>
      <p:sp>
        <p:nvSpPr>
          <p:cNvPr id="1081" name="Text Box 9"/>
          <p:cNvSpPr txBox="true">
            <a:spLocks noChangeArrowheads="true"/>
          </p:cNvSpPr>
          <p:nvPr/>
        </p:nvSpPr>
        <p:spPr bwMode="auto">
          <a:xfrm>
            <a:off x="5456238" y="3355975"/>
            <a:ext cx="6746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lIns="90000" tIns="46800" rIns="90000" bIns="46800" anchor="ctr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600">
                <a:latin typeface="Courier New" panose="02070609020205090404" charset="0"/>
              </a:rPr>
              <a:t>PTEA</a:t>
            </a:r>
            <a:endParaRPr/>
          </a:p>
        </p:txBody>
      </p:sp>
      <p:cxnSp>
        <p:nvCxnSpPr>
          <p:cNvPr id="1082" name="Straight Arrow Connector 49"/>
          <p:cNvCxnSpPr>
            <a:cxnSpLocks noChangeShapeType="true"/>
          </p:cNvCxnSpPr>
          <p:nvPr/>
        </p:nvCxnSpPr>
        <p:spPr bwMode="auto">
          <a:xfrm flipV="true">
            <a:off x="5030788" y="3624263"/>
            <a:ext cx="1522412" cy="1587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tailEnd type="arrow" w="med" len="med"/>
          </a:ln>
          <a:extLst>
            <a:ext uri="{909E8E84-426E-40DD-AFC4-6F175D3DCCD1}"/>
          </a:extLst>
        </p:spPr>
      </p:cxnSp>
      <p:sp>
        <p:nvSpPr>
          <p:cNvPr id="1083" name="Oval 18"/>
          <p:cNvSpPr>
            <a:spLocks noChangeArrowheads="true"/>
          </p:cNvSpPr>
          <p:nvPr/>
        </p:nvSpPr>
        <p:spPr bwMode="auto">
          <a:xfrm>
            <a:off x="5626100" y="3124200"/>
            <a:ext cx="274638" cy="2746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sz="1400" dirty="false">
                <a:solidFill>
                  <a:schemeClr val="bg1"/>
                </a:solidFill>
                <a:latin typeface="Calibri" charset="0"/>
                <a:ea typeface="宋体" charset="-122"/>
              </a:rPr>
              <a:t>3</a:t>
            </a:r>
            <a:endParaRPr/>
          </a:p>
        </p:txBody>
      </p:sp>
      <p:cxnSp>
        <p:nvCxnSpPr>
          <p:cNvPr id="1084" name="Elbow Connector 51"/>
          <p:cNvCxnSpPr>
            <a:cxnSpLocks noChangeShapeType="true"/>
          </p:cNvCxnSpPr>
          <p:nvPr/>
        </p:nvCxnSpPr>
        <p:spPr bwMode="auto">
          <a:xfrm rot="10800000">
            <a:off x="4648200" y="2636838"/>
            <a:ext cx="1905000" cy="482600"/>
          </a:xfrm>
          <a:prstGeom prst="bentConnector3">
            <a:avLst>
              <a:gd name="adj1" fmla="val 21556"/>
            </a:avLst>
          </a:prstGeom>
          <a:noFill/>
          <a:ln w="25400">
            <a:solidFill>
              <a:schemeClr val="tx1"/>
            </a:solidFill>
            <a:round/>
            <a:tailEnd type="arrow" w="med" len="med"/>
          </a:ln>
          <a:extLst>
            <a:ext uri="{909E8E84-426E-40DD-AFC4-6F175D3DCCD1}"/>
          </a:extLst>
        </p:spPr>
      </p:cxnSp>
      <p:sp>
        <p:nvSpPr>
          <p:cNvPr id="1085" name="Rectangle 2"/>
          <p:cNvSpPr txBox="true">
            <a:spLocks noChangeArrowheads="true"/>
          </p:cNvSpPr>
          <p:nvPr/>
        </p:nvSpPr>
        <p:spPr bwMode="auto">
          <a:xfrm>
            <a:off x="519113" y="5715000"/>
            <a:ext cx="839628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tabLst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tabLst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tabLst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tabLst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tabLst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eaLnBrk="true" hangingPunct="true">
              <a:spcBef>
                <a:spcPct val="20000"/>
              </a:spcBef>
              <a:buClr>
                <a:srgbClr val="990000"/>
              </a:buClr>
              <a:buSzPct val="60000"/>
              <a:buFont typeface="Wingdings" panose="05000000000000000000" pitchFamily="2" charset="2"/>
              <a:buNone/>
            </a:pPr>
            <a:r>
              <a:rPr lang="en-GB" altLang="zh-CN" sz="2400"/>
              <a:t>A TLB miss incurs an additional memory access (PTE)</a:t>
            </a:r>
            <a:br>
              <a:rPr lang="en-US" altLang="zh-CN" sz="2400"/>
            </a:br>
            <a:r>
              <a:rPr lang="en-GB" altLang="zh-CN" b="false"/>
              <a:t>Fortunately, TLB misses are rare. Why?</a:t>
            </a:r>
            <a:endParaRPr/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7" name="图片 4"/>
          <p:cNvPicPr>
            <a:picLocks noChangeAspect="true"/>
          </p:cNvPicPr>
          <p:nvPr/>
        </p:nvPicPr>
        <p:blipFill>
          <a:blip r:embed="rId1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6009709" y="2438400"/>
            <a:ext cx="3121591" cy="4419600"/>
          </a:xfrm>
          <a:prstGeom prst="rect">
            <a:avLst/>
          </a:prstGeom>
        </p:spPr>
      </p:pic>
      <p:sp>
        <p:nvSpPr>
          <p:cNvPr id="1088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>
                <a:latin typeface="Comic Sans MS"/>
                <a:ea typeface="宋体"/>
                <a:cs typeface="宋体"/>
              </a:rPr>
              <a:t>Faster Translations w/ TLBs</a:t>
            </a:r>
            <a:endParaRPr lang="zh-CN"/>
          </a:p>
        </p:txBody>
      </p:sp>
      <p:sp>
        <p:nvSpPr>
          <p:cNvPr id="1089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 altLang="zh-CN" dirty="false"/>
              <a:t>Tiny Address Space Example</a:t>
            </a:r>
            <a:endParaRPr/>
          </a:p>
          <a:p>
            <a:pPr lvl="1"/>
            <a:r>
              <a:rPr kumimoji="true" lang="en-US" altLang="zh-CN" dirty="false"/>
              <a:t>VA space: 8-bit, one page: 16B</a:t>
            </a:r>
            <a:endParaRPr/>
          </a:p>
          <a:p>
            <a:pPr lvl="1"/>
            <a:r>
              <a:rPr kumimoji="true" lang="en-US" altLang="zh-CN" dirty="false"/>
              <a:t>Array: starting at VA=100 (VPN=6)</a:t>
            </a:r>
            <a:endParaRPr/>
          </a:p>
          <a:p>
            <a:pPr lvl="1"/>
            <a:r>
              <a:rPr lang="en-US" altLang="zh-CN" dirty="false"/>
              <a:t>VPN: 4-bit, VPO: 4-bit</a:t>
            </a:r>
            <a:endParaRPr/>
          </a:p>
          <a:p>
            <a:pPr lvl="1"/>
            <a:r>
              <a:rPr lang="zh-CN" altLang="en-US" dirty="false"/>
              <a:t>计算下列代码的</a:t>
            </a:r>
            <a:r>
              <a:rPr lang="en-US" altLang="zh-CN" dirty="false"/>
              <a:t>TLB</a:t>
            </a:r>
            <a:r>
              <a:rPr lang="zh-CN" altLang="en-US" dirty="false"/>
              <a:t>命中率：</a:t>
            </a:r>
            <a:endParaRPr lang="en-US" altLang="zh-CN" dirty="false"/>
          </a:p>
          <a:p>
            <a:pPr lvl="1"/>
            <a:endParaRPr kumimoji="true" lang="zh-CN" altLang="en-US" dirty="false"/>
          </a:p>
        </p:txBody>
      </p:sp>
      <p:sp>
        <p:nvSpPr>
          <p:cNvPr id="1090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EF0B01C9-CC9E-4042-87A9-F49D20F0019F}" type="slidenum">
              <a:rPr lang="zh-CN" altLang="en-US" smtClean="false"/>
              <a:t>77</a:t>
            </a:fld>
            <a:endParaRPr lang="en-US" altLang="zh-CN"/>
          </a:p>
        </p:txBody>
      </p:sp>
      <p:pic>
        <p:nvPicPr>
          <p:cNvPr id="1091" name="图片 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1447800" y="4114800"/>
            <a:ext cx="4013200" cy="14097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3" name="图片 4"/>
          <p:cNvPicPr>
            <a:picLocks noChangeAspect="true"/>
          </p:cNvPicPr>
          <p:nvPr/>
        </p:nvPicPr>
        <p:blipFill>
          <a:blip r:embed="rId1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6009709" y="2438400"/>
            <a:ext cx="3121591" cy="4419600"/>
          </a:xfrm>
          <a:prstGeom prst="rect">
            <a:avLst/>
          </a:prstGeom>
        </p:spPr>
      </p:pic>
      <p:sp>
        <p:nvSpPr>
          <p:cNvPr id="1094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>
                <a:latin typeface="Comic Sans MS"/>
                <a:ea typeface="宋体"/>
                <a:cs typeface="宋体"/>
              </a:rPr>
              <a:t>Faster Translations w/ TLBs</a:t>
            </a:r>
            <a:endParaRPr lang="zh-CN"/>
          </a:p>
        </p:txBody>
      </p:sp>
      <p:sp>
        <p:nvSpPr>
          <p:cNvPr id="1095" name="内容占位符 2"/>
          <p:cNvSpPr>
            <a:spLocks noGrp="true"/>
          </p:cNvSpPr>
          <p:nvPr>
            <p:ph idx="1"/>
          </p:nvPr>
        </p:nvSpPr>
        <p:spPr>
          <a:xfrm>
            <a:off x="457200" y="1600200"/>
            <a:ext cx="8305800" cy="2743200"/>
          </a:xfrm>
        </p:spPr>
        <p:txBody>
          <a:bodyPr/>
          <a:lstStyle/>
          <a:p>
            <a:pPr/>
            <a:r>
              <a:rPr lang="en-US" altLang="zh-CN" dirty="false"/>
              <a:t>Tiny Address Space Example</a:t>
            </a:r>
            <a:endParaRPr/>
          </a:p>
          <a:p>
            <a:pPr lvl="1"/>
            <a:r>
              <a:rPr kumimoji="true" lang="en-US" altLang="zh-CN" dirty="false"/>
              <a:t>VA space: 8-bit, one page: 16B</a:t>
            </a:r>
            <a:endParaRPr/>
          </a:p>
          <a:p>
            <a:pPr lvl="1"/>
            <a:r>
              <a:rPr kumimoji="true" lang="en-US" altLang="zh-CN" dirty="false"/>
              <a:t>Array: starting at VA=100 (VPN=6)</a:t>
            </a:r>
            <a:endParaRPr/>
          </a:p>
          <a:p>
            <a:pPr lvl="1"/>
            <a:r>
              <a:rPr lang="en-US" altLang="zh-CN" dirty="false"/>
              <a:t>VPN: 4-bit, VPO: 4-bit</a:t>
            </a:r>
            <a:endParaRPr/>
          </a:p>
          <a:p>
            <a:pPr lvl="1"/>
            <a:r>
              <a:rPr lang="zh-CN" altLang="en-US" dirty="false"/>
              <a:t>计算下列代码的</a:t>
            </a:r>
            <a:r>
              <a:rPr lang="en-US" altLang="zh-CN" dirty="false"/>
              <a:t>TLB</a:t>
            </a:r>
            <a:r>
              <a:rPr lang="zh-CN" altLang="en-US" dirty="false"/>
              <a:t>命中率：</a:t>
            </a:r>
            <a:endParaRPr lang="en-US" altLang="zh-CN" dirty="false"/>
          </a:p>
          <a:p>
            <a:pPr lvl="1"/>
            <a:endParaRPr kumimoji="true" lang="zh-CN" altLang="en-US" dirty="false"/>
          </a:p>
        </p:txBody>
      </p:sp>
      <p:sp>
        <p:nvSpPr>
          <p:cNvPr id="1096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EF0B01C9-CC9E-4042-87A9-F49D20F0019F}" type="slidenum">
              <a:rPr lang="zh-CN" altLang="en-US" smtClean="false"/>
              <a:t>78</a:t>
            </a:fld>
            <a:endParaRPr lang="en-US" altLang="zh-CN"/>
          </a:p>
        </p:txBody>
      </p:sp>
      <p:pic>
        <p:nvPicPr>
          <p:cNvPr id="1097" name="图片 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1447800" y="4114800"/>
            <a:ext cx="4013200" cy="1409700"/>
          </a:xfrm>
          <a:prstGeom prst="rect">
            <a:avLst/>
          </a:prstGeom>
        </p:spPr>
      </p:pic>
      <p:sp>
        <p:nvSpPr>
          <p:cNvPr id="1098" name="矩形 5"/>
          <p:cNvSpPr/>
          <p:nvPr/>
        </p:nvSpPr>
        <p:spPr>
          <a:xfrm>
            <a:off x="444500" y="5524500"/>
            <a:ext cx="2845651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/>
            <a:r>
              <a:rPr lang="en-US" altLang="zh-CN" dirty="false"/>
              <a:t>a[0], a[3], a[7] miss;</a:t>
            </a:r>
            <a:endParaRPr/>
          </a:p>
          <a:p>
            <a:pPr/>
            <a:r>
              <a:rPr lang="zh-CN" altLang="en-US" dirty="false"/>
              <a:t>其余</a:t>
            </a:r>
            <a:r>
              <a:rPr lang="en-US" altLang="zh-CN" dirty="false"/>
              <a:t>hit</a:t>
            </a:r>
            <a:r>
              <a:rPr lang="zh-CN" altLang="en-US" dirty="false"/>
              <a:t>。命中率</a:t>
            </a:r>
            <a:r>
              <a:rPr lang="en-US" altLang="zh-CN" dirty="false"/>
              <a:t>=70%</a:t>
            </a:r>
            <a:endParaRPr/>
          </a:p>
          <a:p>
            <a:pPr/>
            <a:r>
              <a:rPr lang="zh-CN" altLang="en-US" dirty="false"/>
              <a:t>即使</a:t>
            </a:r>
            <a:r>
              <a:rPr lang="en-US" altLang="zh-CN" dirty="false"/>
              <a:t>TLB</a:t>
            </a:r>
            <a:r>
              <a:rPr lang="zh-CN" altLang="en-US" dirty="false"/>
              <a:t>大小为</a:t>
            </a:r>
            <a:r>
              <a:rPr lang="en-US" altLang="zh-CN" dirty="false"/>
              <a:t>1</a:t>
            </a:r>
            <a:endParaRPr lang="zh-CN" altLang="en-US" dirty="false"/>
          </a:p>
        </p:txBody>
      </p:sp>
      <p:sp>
        <p:nvSpPr>
          <p:cNvPr id="1099" name="矩形 7"/>
          <p:cNvSpPr/>
          <p:nvPr/>
        </p:nvSpPr>
        <p:spPr>
          <a:xfrm>
            <a:off x="3497317" y="5664368"/>
            <a:ext cx="237008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/>
            <a:r>
              <a:rPr lang="en-US" altLang="zh-CN" dirty="false"/>
              <a:t>(Spatial locality)</a:t>
            </a:r>
            <a:endParaRPr/>
          </a:p>
          <a:p>
            <a:pPr/>
            <a:r>
              <a:rPr lang="en-US" altLang="zh-CN" dirty="false"/>
              <a:t>Page</a:t>
            </a:r>
            <a:r>
              <a:rPr lang="zh-CN" altLang="en-US" dirty="false"/>
              <a:t>增大，命中率进一步提升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>
  <p:cSld>
    <p:spTree>
      <p:nvGrpSpPr>
        <p:cNvPr id="11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>
                <a:latin typeface="Comic Sans MS"/>
                <a:ea typeface="宋体"/>
                <a:cs typeface="宋体"/>
              </a:rPr>
              <a:t>Faster Translations w/ TLBs</a:t>
            </a:r>
            <a:endParaRPr lang="zh-CN"/>
          </a:p>
        </p:txBody>
      </p:sp>
      <p:sp>
        <p:nvSpPr>
          <p:cNvPr id="1102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 altLang="zh-CN" dirty="false"/>
              <a:t>Who Handles The TLB Miss? </a:t>
            </a:r>
            <a:endParaRPr/>
          </a:p>
          <a:p>
            <a:pPr lvl="1"/>
            <a:r>
              <a:rPr kumimoji="true" lang="en-US" altLang="zh-CN" dirty="false"/>
              <a:t>Hardware, or OS?</a:t>
            </a:r>
            <a:endParaRPr/>
          </a:p>
          <a:p>
            <a:pPr lvl="1"/>
            <a:r>
              <a:rPr lang="zh-CN" altLang="en-US" dirty="false"/>
              <a:t>早期，都是</a:t>
            </a:r>
            <a:r>
              <a:rPr lang="en-US" altLang="zh-CN" dirty="false"/>
              <a:t>hardware</a:t>
            </a:r>
            <a:r>
              <a:rPr lang="zh-CN" altLang="en-US" dirty="false"/>
              <a:t>处理（不信任</a:t>
            </a:r>
            <a:r>
              <a:rPr lang="en-US" altLang="zh-CN" dirty="false"/>
              <a:t>OS</a:t>
            </a:r>
            <a:r>
              <a:rPr lang="zh-CN" altLang="en-US" dirty="false"/>
              <a:t>），</a:t>
            </a:r>
            <a:r>
              <a:rPr lang="en-US" altLang="zh-CN" dirty="false"/>
              <a:t>TLB</a:t>
            </a:r>
            <a:r>
              <a:rPr lang="zh-CN" altLang="en-US" dirty="false"/>
              <a:t>需要知道</a:t>
            </a:r>
            <a:r>
              <a:rPr lang="en-US" altLang="zh-CN" dirty="false"/>
              <a:t>page table</a:t>
            </a:r>
            <a:r>
              <a:rPr lang="zh-CN" altLang="en-US" dirty="false"/>
              <a:t>的物理地址</a:t>
            </a:r>
            <a:endParaRPr lang="en-US" altLang="zh-CN" dirty="false"/>
          </a:p>
          <a:p>
            <a:pPr lvl="2"/>
            <a:r>
              <a:rPr kumimoji="true" lang="en-US" altLang="zh-CN" dirty="false"/>
              <a:t>E.g., intel x86 architecture</a:t>
            </a:r>
            <a:endParaRPr/>
          </a:p>
          <a:p>
            <a:pPr lvl="1"/>
            <a:r>
              <a:rPr lang="zh-CN" altLang="en-US" dirty="false"/>
              <a:t>现代，</a:t>
            </a:r>
            <a:r>
              <a:rPr lang="en-US" altLang="zh-CN" dirty="false"/>
              <a:t>software-managed TLB </a:t>
            </a:r>
            <a:endParaRPr/>
          </a:p>
          <a:p>
            <a:pPr lvl="2"/>
            <a:r>
              <a:rPr lang="zh-CN" altLang="en-US" dirty="false"/>
              <a:t>当</a:t>
            </a:r>
            <a:r>
              <a:rPr lang="en-US" altLang="zh-CN" dirty="false"/>
              <a:t>TLB miss</a:t>
            </a:r>
            <a:r>
              <a:rPr lang="zh-CN" altLang="en-US" dirty="false"/>
              <a:t>时，抛出一个</a:t>
            </a:r>
            <a:r>
              <a:rPr lang="en-US" altLang="zh-CN" dirty="false"/>
              <a:t>exception</a:t>
            </a:r>
            <a:endParaRPr/>
          </a:p>
          <a:p>
            <a:pPr lvl="2"/>
            <a:r>
              <a:rPr lang="zh-CN" altLang="en-US" dirty="false"/>
              <a:t>陷入</a:t>
            </a:r>
            <a:r>
              <a:rPr lang="en-US" altLang="zh-CN" dirty="false"/>
              <a:t>kernel mode</a:t>
            </a:r>
            <a:r>
              <a:rPr lang="zh-CN" altLang="en-US" dirty="false"/>
              <a:t>，在</a:t>
            </a:r>
            <a:r>
              <a:rPr lang="en-US" altLang="zh-CN" dirty="false"/>
              <a:t>handler</a:t>
            </a:r>
            <a:r>
              <a:rPr lang="zh-CN" altLang="en-US" dirty="false"/>
              <a:t>处理</a:t>
            </a:r>
            <a:r>
              <a:rPr lang="en-US" altLang="zh-CN" dirty="false"/>
              <a:t>TLB</a:t>
            </a:r>
            <a:r>
              <a:rPr lang="zh-CN" altLang="en-US" dirty="false"/>
              <a:t> </a:t>
            </a:r>
            <a:r>
              <a:rPr lang="en-US" altLang="zh-CN" dirty="false"/>
              <a:t>miss</a:t>
            </a:r>
            <a:endParaRPr/>
          </a:p>
          <a:p>
            <a:pPr lvl="2"/>
            <a:r>
              <a:rPr lang="zh-CN" altLang="en-US" dirty="false"/>
              <a:t>之后回到原指令流，重试指令，</a:t>
            </a:r>
            <a:r>
              <a:rPr lang="en-US" altLang="zh-CN" dirty="false"/>
              <a:t>TLB hit</a:t>
            </a:r>
            <a:endParaRPr/>
          </a:p>
          <a:p>
            <a:pPr lvl="2"/>
            <a:r>
              <a:rPr kumimoji="true" lang="en-US" altLang="zh-CN" dirty="false"/>
              <a:t>E.g., MIPS R10k, Sun SPARK v9 (RISC)</a:t>
            </a:r>
            <a:endParaRPr/>
          </a:p>
          <a:p>
            <a:pPr lvl="1"/>
            <a:endParaRPr kumimoji="true" lang="zh-CN" altLang="en-US" dirty="false"/>
          </a:p>
        </p:txBody>
      </p:sp>
      <p:sp>
        <p:nvSpPr>
          <p:cNvPr id="1103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EF0B01C9-CC9E-4042-87A9-F49D20F0019F}" type="slidenum">
              <a:rPr lang="zh-CN" altLang="en-US" smtClean="false"/>
              <a:t>79</a:t>
            </a:fld>
            <a:endParaRPr lang="en-US" altLang="zh-CN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>
  <p:cSld>
    <p:spTree>
      <p:nvGrpSpPr>
        <p:cNvPr id="110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>
                <a:latin typeface="Comic Sans MS"/>
                <a:ea typeface="宋体"/>
                <a:cs typeface="宋体"/>
              </a:rPr>
              <a:t>Faster Translations w/ TLBs</a:t>
            </a:r>
            <a:endParaRPr lang="zh-CN"/>
          </a:p>
        </p:txBody>
      </p:sp>
      <p:sp>
        <p:nvSpPr>
          <p:cNvPr id="1106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/>
            <a:r>
              <a:rPr lang="zh-CN" altLang="en-US" dirty="false"/>
              <a:t>软件处理</a:t>
            </a:r>
            <a:r>
              <a:rPr lang="en-US" altLang="zh-CN" dirty="false"/>
              <a:t>TLB</a:t>
            </a:r>
            <a:r>
              <a:rPr lang="zh-CN" altLang="en-US" dirty="false"/>
              <a:t> </a:t>
            </a:r>
            <a:r>
              <a:rPr lang="en-US" altLang="zh-CN" dirty="false"/>
              <a:t>miss</a:t>
            </a:r>
            <a:r>
              <a:rPr lang="zh-CN" altLang="en-US" dirty="false"/>
              <a:t>方式的优点：</a:t>
            </a:r>
            <a:endParaRPr lang="en-US" altLang="zh-CN" dirty="false"/>
          </a:p>
          <a:p>
            <a:pPr lvl="1"/>
            <a:r>
              <a:rPr lang="en-US" altLang="zh-CN" b="true" dirty="false"/>
              <a:t>Flexibility</a:t>
            </a:r>
            <a:r>
              <a:rPr lang="en-US" altLang="zh-CN" dirty="false"/>
              <a:t>: OS can use any data structure it wants to implement the page table, without necessitating hardware change. </a:t>
            </a:r>
            <a:endParaRPr/>
          </a:p>
          <a:p>
            <a:pPr lvl="1"/>
            <a:r>
              <a:rPr lang="en-US" altLang="zh-CN" b="true" dirty="false"/>
              <a:t>Simplicity</a:t>
            </a:r>
            <a:r>
              <a:rPr lang="en-US" altLang="zh-CN" dirty="false"/>
              <a:t>: hardware doesn’t have to do much on a miss </a:t>
            </a:r>
            <a:endParaRPr/>
          </a:p>
          <a:p>
            <a:pPr lvl="2"/>
            <a:endParaRPr lang="en-US" altLang="zh-CN" dirty="false"/>
          </a:p>
          <a:p>
            <a:pPr lvl="1"/>
            <a:endParaRPr kumimoji="true" lang="zh-CN" altLang="en-US" dirty="false"/>
          </a:p>
        </p:txBody>
      </p:sp>
      <p:sp>
        <p:nvSpPr>
          <p:cNvPr id="1107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EF0B01C9-CC9E-4042-87A9-F49D20F0019F}" type="slidenum">
              <a:rPr lang="zh-CN" altLang="en-US" smtClean="false"/>
              <a:t>81</a:t>
            </a:fld>
            <a:endParaRPr lang="en-US" altLang="zh-CN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>
  <p:cSld>
    <p:spTree>
      <p:nvGrpSpPr>
        <p:cNvPr id="11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Fully Associative</a:t>
            </a:r>
            <a:r>
              <a:rPr lang="en-US"/>
              <a:t> TLBs</a:t>
            </a:r>
            <a:endParaRPr lang="zh-CN"/>
          </a:p>
        </p:txBody>
      </p:sp>
      <p:sp>
        <p:nvSpPr>
          <p:cNvPr id="1110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1">
              <a:buChar char="–"/>
            </a:pPr>
            <a:r>
              <a:rPr lang="zh-CN"/>
              <a:t>典型</a:t>
            </a:r>
            <a:r>
              <a:rPr lang="en-US"/>
              <a:t>TLB</a:t>
            </a:r>
            <a:r>
              <a:rPr lang="zh-CN"/>
              <a:t>：</a:t>
            </a:r>
            <a:r>
              <a:rPr lang="en-US"/>
              <a:t>32, 64</a:t>
            </a:r>
            <a:r>
              <a:rPr lang="zh-CN"/>
              <a:t>或</a:t>
            </a:r>
            <a:r>
              <a:rPr lang="en-US"/>
              <a:t>128</a:t>
            </a:r>
            <a:r>
              <a:rPr lang="zh-CN"/>
              <a:t> </a:t>
            </a:r>
            <a:r>
              <a:rPr lang="en-US"/>
              <a:t>entries</a:t>
            </a:r>
            <a:endParaRPr/>
          </a:p>
          <a:p>
            <a:pPr lvl="1">
              <a:buChar char="–"/>
            </a:pPr>
            <a:r>
              <a:rPr lang="zh-CN"/>
              <a:t>可以采用</a:t>
            </a:r>
            <a:r>
              <a:rPr lang="zh-CN"/>
              <a:t>全相连映射</a:t>
            </a:r>
            <a:r>
              <a:rPr lang="en-US"/>
              <a:t> </a:t>
            </a:r>
            <a:r>
              <a:rPr lang="en-US"/>
              <a:t>(</a:t>
            </a:r>
            <a:r>
              <a:rPr lang="en-US"/>
              <a:t>fully associative</a:t>
            </a:r>
            <a:r>
              <a:rPr lang="en-US"/>
              <a:t>)</a:t>
            </a:r>
            <a:r>
              <a:rPr lang="zh-CN"/>
              <a:t> </a:t>
            </a:r>
            <a:endParaRPr/>
          </a:p>
          <a:p>
            <a:pPr lvl="1">
              <a:buChar char="–"/>
            </a:pPr>
            <a:r>
              <a:rPr lang="en-US"/>
              <a:t>TLB entry</a:t>
            </a:r>
            <a:r>
              <a:rPr lang="zh-CN"/>
              <a:t>格式：</a:t>
            </a:r>
            <a:endParaRPr/>
          </a:p>
          <a:p>
            <a:pPr lvl="2">
              <a:buChar char="•"/>
            </a:pPr>
            <a:r>
              <a:rPr lang="en-US"/>
              <a:t>VPN |</a:t>
            </a:r>
            <a:r>
              <a:rPr lang="zh-CN"/>
              <a:t> </a:t>
            </a:r>
            <a:r>
              <a:rPr lang="en-US"/>
              <a:t>PFN |</a:t>
            </a:r>
            <a:r>
              <a:rPr lang="zh-CN"/>
              <a:t> </a:t>
            </a:r>
            <a:r>
              <a:rPr lang="en-US"/>
              <a:t>other bits </a:t>
            </a:r>
            <a:endParaRPr/>
          </a:p>
          <a:p>
            <a:pPr lvl="2">
              <a:buChar char="–"/>
            </a:pPr>
            <a:r>
              <a:rPr lang="en-US"/>
              <a:t>Other bits:</a:t>
            </a:r>
            <a:endParaRPr/>
          </a:p>
          <a:p>
            <a:pPr lvl="3">
              <a:buChar char="•"/>
            </a:pPr>
            <a:r>
              <a:rPr lang="en-US"/>
              <a:t>A Valid bit: </a:t>
            </a:r>
            <a:r>
              <a:rPr lang="zh-CN"/>
              <a:t>该</a:t>
            </a:r>
            <a:r>
              <a:rPr lang="en-US"/>
              <a:t>entry</a:t>
            </a:r>
            <a:r>
              <a:rPr lang="zh-CN"/>
              <a:t>是否为有效的地址翻译</a:t>
            </a:r>
            <a:endParaRPr lang="en-US"/>
          </a:p>
          <a:p>
            <a:pPr lvl="4">
              <a:buChar char="–"/>
            </a:pPr>
            <a:r>
              <a:rPr lang="zh-CN"/>
              <a:t>用于标记暂未使用的</a:t>
            </a:r>
            <a:r>
              <a:rPr lang="en-US"/>
              <a:t>TLB</a:t>
            </a:r>
            <a:r>
              <a:rPr lang="zh-CN"/>
              <a:t> </a:t>
            </a:r>
            <a:r>
              <a:rPr lang="en-US"/>
              <a:t>entries</a:t>
            </a:r>
            <a:endParaRPr/>
          </a:p>
          <a:p>
            <a:pPr lvl="4">
              <a:buChar char="–"/>
            </a:pPr>
            <a:r>
              <a:rPr lang="zh-CN"/>
              <a:t>例如进程切换时，上一个进程的</a:t>
            </a:r>
            <a:r>
              <a:rPr lang="en-US"/>
              <a:t>TLB entries</a:t>
            </a:r>
            <a:r>
              <a:rPr lang="zh-CN"/>
              <a:t>被</a:t>
            </a:r>
            <a:r>
              <a:rPr lang="en-US"/>
              <a:t>invalidate, </a:t>
            </a:r>
            <a:r>
              <a:rPr lang="zh-CN"/>
              <a:t>或者</a:t>
            </a:r>
            <a:r>
              <a:rPr lang="en-US"/>
              <a:t>TLB</a:t>
            </a:r>
            <a:r>
              <a:rPr lang="zh-CN"/>
              <a:t> </a:t>
            </a:r>
            <a:r>
              <a:rPr lang="en-US"/>
              <a:t>entries</a:t>
            </a:r>
            <a:r>
              <a:rPr lang="zh-CN"/>
              <a:t>中含有进程标记</a:t>
            </a:r>
            <a:endParaRPr/>
          </a:p>
          <a:p>
            <a:pPr lvl="2">
              <a:buChar char="•"/>
            </a:pPr>
            <a:r>
              <a:rPr lang="en-US"/>
              <a:t>Protection bits</a:t>
            </a:r>
            <a:endParaRPr/>
          </a:p>
          <a:p>
            <a:pPr lvl="2">
              <a:buChar char="•"/>
            </a:pPr>
            <a:r>
              <a:rPr lang="en-US"/>
              <a:t>A Dirty bit</a:t>
            </a:r>
            <a:endParaRPr/>
          </a:p>
          <a:p>
            <a:pPr lvl="3">
              <a:buChar char="–"/>
            </a:pPr>
            <a:r>
              <a:rPr lang="en-US"/>
              <a:t>page fault-&gt;</a:t>
            </a:r>
            <a:r>
              <a:rPr lang="zh-CN"/>
              <a:t>新的映射</a:t>
            </a:r>
            <a:r>
              <a:rPr lang="en-US"/>
              <a:t>-&gt;</a:t>
            </a:r>
            <a:r>
              <a:rPr lang="zh-CN"/>
              <a:t>应修改</a:t>
            </a:r>
            <a:r>
              <a:rPr lang="en-US"/>
              <a:t>page table-&gt;</a:t>
            </a:r>
            <a:r>
              <a:rPr lang="zh-CN"/>
              <a:t>先写入</a:t>
            </a:r>
            <a:r>
              <a:rPr lang="en-US"/>
              <a:t>TLB</a:t>
            </a:r>
            <a:endParaRPr/>
          </a:p>
        </p:txBody>
      </p:sp>
      <p:sp>
        <p:nvSpPr>
          <p:cNvPr id="1111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EF0B01C9-CC9E-4042-87A9-F49D20F0019F}" type="slidenum">
              <a:rPr lang="zh-CN" altLang="en-US" smtClean="false"/>
              <a:t>82</a:t>
            </a:fld>
            <a:endParaRPr lang="en-US" altLang="zh-CN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>
  <p:cSld>
    <p:spTree>
      <p:nvGrpSpPr>
        <p:cNvPr id="11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r>
              <a:rPr lang="en-US"/>
              <a:t>Associativity</a:t>
            </a:r>
            <a:endParaRPr/>
          </a:p>
        </p:txBody>
      </p:sp>
      <p:sp>
        <p:nvSpPr>
          <p:cNvPr id="1114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pPr>
              <a:buChar char="•"/>
            </a:pPr>
            <a:r>
              <a:rPr lang="en-US"/>
              <a:t>Fully associative</a:t>
            </a:r>
            <a:endParaRPr/>
          </a:p>
          <a:p>
            <a:pPr lvl="1">
              <a:buChar char="•"/>
            </a:pPr>
            <a:r>
              <a:rPr lang="zh-CN"/>
              <a:t>一个</a:t>
            </a:r>
            <a:r>
              <a:rPr lang="en-US"/>
              <a:t>cache item</a:t>
            </a:r>
            <a:r>
              <a:rPr lang="zh-CN"/>
              <a:t>可以</a:t>
            </a:r>
            <a:r>
              <a:rPr lang="zh-CN"/>
              <a:t>映射到任意的</a:t>
            </a:r>
            <a:r>
              <a:rPr lang="en-US"/>
              <a:t>data item</a:t>
            </a:r>
            <a:endParaRPr/>
          </a:p>
          <a:p>
            <a:pPr>
              <a:buChar char="•"/>
            </a:pPr>
            <a:r>
              <a:rPr lang="en-US"/>
              <a:t>Direct mapped: </a:t>
            </a:r>
            <a:endParaRPr/>
          </a:p>
          <a:p>
            <a:pPr lvl="1">
              <a:buChar char="•"/>
            </a:pPr>
            <a:r>
              <a:rPr lang="zh-CN"/>
              <a:t>一个</a:t>
            </a:r>
            <a:r>
              <a:rPr lang="en-US"/>
              <a:t>cache item</a:t>
            </a:r>
            <a:r>
              <a:rPr lang="zh-CN"/>
              <a:t>只能映射到固定的若干的</a:t>
            </a:r>
            <a:r>
              <a:rPr lang="en-US"/>
              <a:t>data item</a:t>
            </a:r>
            <a:endParaRPr/>
          </a:p>
          <a:p>
            <a:pPr lvl="1">
              <a:buChar char="•"/>
            </a:pPr>
            <a:r>
              <a:rPr lang="zh-CN"/>
              <a:t>例如</a:t>
            </a:r>
            <a:r>
              <a:rPr lang="en-US"/>
              <a:t>Cache </a:t>
            </a:r>
            <a:r>
              <a:rPr lang="zh-CN"/>
              <a:t>大小为</a:t>
            </a:r>
            <a:r>
              <a:rPr lang="en-US"/>
              <a:t>n</a:t>
            </a:r>
            <a:r>
              <a:rPr lang="zh-CN"/>
              <a:t>，则</a:t>
            </a:r>
            <a:r>
              <a:rPr lang="en-US"/>
              <a:t>c</a:t>
            </a:r>
            <a:r>
              <a:rPr lang="en-US"/>
              <a:t> = d % n</a:t>
            </a:r>
            <a:endParaRPr/>
          </a:p>
          <a:p>
            <a:pPr lvl="0">
              <a:buChar char="•"/>
            </a:pPr>
            <a:r>
              <a:rPr lang="en-US"/>
              <a:t>Set associative</a:t>
            </a:r>
            <a:endParaRPr/>
          </a:p>
          <a:p>
            <a:pPr lvl="1">
              <a:buChar char="•"/>
            </a:pPr>
            <a:r>
              <a:rPr lang="zh-CN"/>
              <a:t>将</a:t>
            </a:r>
            <a:r>
              <a:rPr lang="en-US"/>
              <a:t>cache</a:t>
            </a:r>
            <a:r>
              <a:rPr lang="zh-CN"/>
              <a:t>分为多个</a:t>
            </a:r>
            <a:r>
              <a:rPr lang="en-US"/>
              <a:t>set</a:t>
            </a:r>
            <a:r>
              <a:rPr lang="zh-CN"/>
              <a:t>，</a:t>
            </a:r>
            <a:r>
              <a:rPr lang="en-US"/>
              <a:t>set</a:t>
            </a:r>
            <a:r>
              <a:rPr lang="zh-CN"/>
              <a:t>到</a:t>
            </a:r>
            <a:r>
              <a:rPr lang="en-US"/>
              <a:t>data</a:t>
            </a:r>
            <a:r>
              <a:rPr lang="zh-CN"/>
              <a:t>之间为</a:t>
            </a:r>
            <a:r>
              <a:rPr lang="en-US"/>
              <a:t>direct map</a:t>
            </a:r>
            <a:r>
              <a:rPr lang="zh-CN"/>
              <a:t>，</a:t>
            </a:r>
            <a:r>
              <a:rPr lang="en-US"/>
              <a:t>set</a:t>
            </a:r>
            <a:r>
              <a:rPr lang="zh-CN"/>
              <a:t>内分为多个</a:t>
            </a:r>
            <a:r>
              <a:rPr lang="en-US"/>
              <a:t>way</a:t>
            </a:r>
            <a:r>
              <a:rPr lang="zh-CN"/>
              <a:t>、采用</a:t>
            </a:r>
            <a:r>
              <a:rPr lang="en-US"/>
              <a:t>fully associative</a:t>
            </a:r>
            <a:endParaRPr/>
          </a:p>
          <a:p>
            <a:pPr lvl="1">
              <a:buChar char="•"/>
            </a:pPr>
            <a:endParaRPr lang="en-US"/>
          </a:p>
          <a:p>
            <a:pPr lvl="1">
              <a:buChar char="•"/>
            </a:pPr>
            <a:endParaRPr lang="en-US"/>
          </a:p>
        </p:txBody>
      </p:sp>
      <p:sp>
        <p:nvSpPr>
          <p:cNvPr id="1115" name="Rectangle 6"/>
          <p:cNvSpPr>
            <a:spLocks noGrp="true" noChangeArrowheads="true"/>
          </p:cNvSpPr>
          <p:nvPr>
            <p:ph type="sldNum" sz="quarter" idx="12"/>
          </p:nvPr>
        </p:nvSpPr>
        <p:spPr/>
        <p:txBody>
          <a:bodyPr/>
          <a:p>
            <a:pPr/>
            <a:fld id="{EF0B01C9-CC9E-4042-87A9-F49D20F0019F}" type="slidenum">
              <a:rPr lang="zh-CN" altLang="en-US"/>
              <a:t>‹#›</a:t>
            </a:fld>
            <a:endParaRPr lang="en-US" altLang="zh-CN"/>
          </a:p>
        </p:txBody>
      </p:sp>
    </p:spTree>
  </p:cSld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1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3A5A9046-9F83-354D-9FBA-AE3330FC9D73}" type="slidenum">
              <a:rPr lang="zh-CN" altLang="en-US" sz="1400" b="false">
                <a:latin typeface="Times New Roman" panose="02020603050405020304" charset="0"/>
              </a:rPr>
              <a:t>83</a:t>
            </a:fld>
            <a:endParaRPr lang="en-US" altLang="zh-CN" sz="1400" b="false">
              <a:latin typeface="Times New Roman" panose="02020603050405020304" charset="0"/>
            </a:endParaRPr>
          </a:p>
        </p:txBody>
      </p:sp>
      <p:sp>
        <p:nvSpPr>
          <p:cNvPr id="1118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Set-Associative (</a:t>
            </a:r>
            <a:r>
              <a:rPr lang="zh-CN"/>
              <a:t>组相连</a:t>
            </a:r>
            <a:r>
              <a:rPr lang="en-US"/>
              <a:t>)</a:t>
            </a:r>
            <a:r>
              <a:rPr lang="en-US"/>
              <a:t> TLBs</a:t>
            </a:r>
            <a:endParaRPr/>
          </a:p>
        </p:txBody>
      </p:sp>
      <p:sp>
        <p:nvSpPr>
          <p:cNvPr id="1119" name="矩形 1"/>
          <p:cNvSpPr/>
          <p:nvPr/>
        </p:nvSpPr>
        <p:spPr>
          <a:xfrm rot="0" flipH="false" flipV="false">
            <a:off x="6721617" y="184014"/>
            <a:ext cx="2223007" cy="3937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/>
            <a:r>
              <a:rPr lang="en-US"/>
              <a:t>TLBT</a:t>
            </a:r>
            <a:r>
              <a:rPr lang="zh-CN"/>
              <a:t>为组编号</a:t>
            </a:r>
            <a:endParaRPr/>
          </a:p>
        </p:txBody>
      </p:sp>
      <p:pic>
        <p:nvPicPr>
          <p:cNvPr id="1120" name="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6618696" y="514215"/>
            <a:ext cx="2222985" cy="1419224"/>
          </a:xfrm>
          <a:prstGeom prst="rect"/>
        </p:spPr>
      </p:pic>
      <p:pic>
        <p:nvPicPr>
          <p:cNvPr id="1121" name="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640462" y="1933439"/>
            <a:ext cx="7410230" cy="3676921"/>
          </a:xfrm>
          <a:prstGeom prst="rect"/>
        </p:spPr>
      </p:pic>
      <p:sp>
        <p:nvSpPr>
          <p:cNvPr id="1122" name=""/>
          <p:cNvSpPr txBox="true"/>
          <p:nvPr/>
        </p:nvSpPr>
        <p:spPr>
          <a:xfrm rot="0" flipH="false" flipV="false">
            <a:off x="828675" y="5610360"/>
            <a:ext cx="7486650" cy="393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zh-CN"/>
              <a:t>目前大部分</a:t>
            </a:r>
            <a:r>
              <a:rPr lang="en-US"/>
              <a:t>CPU</a:t>
            </a:r>
            <a:r>
              <a:rPr lang="zh-CN"/>
              <a:t>的</a:t>
            </a:r>
            <a:r>
              <a:rPr lang="en-US"/>
              <a:t>TLB</a:t>
            </a:r>
            <a:r>
              <a:rPr lang="zh-CN"/>
              <a:t>采用组相连，因为全相连成本高、实现复杂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>
  <p:cSld>
    <p:spTree>
      <p:nvGrpSpPr>
        <p:cNvPr id="11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646F7A26-7416-7547-9528-F4E20B7AD800}" type="slidenum">
              <a:rPr lang="zh-CN" altLang="en-US" sz="1400" b="false">
                <a:latin typeface="Times New Roman" panose="02020603050405020304" charset="0"/>
              </a:rPr>
              <a:t>84</a:t>
            </a:fld>
            <a:endParaRPr lang="en-US" altLang="zh-CN" sz="1400" b="false">
              <a:latin typeface="Times New Roman" panose="02020603050405020304" charset="0"/>
            </a:endParaRPr>
          </a:p>
        </p:txBody>
      </p:sp>
      <p:sp>
        <p:nvSpPr>
          <p:cNvPr id="1125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Address Translation</a:t>
            </a:r>
            <a:endParaRPr/>
          </a:p>
        </p:txBody>
      </p:sp>
      <p:sp>
        <p:nvSpPr>
          <p:cNvPr id="1126" name="Rectangle 3"/>
          <p:cNvSpPr>
            <a:spLocks noGrp="true" noChangeArrowheads="true"/>
          </p:cNvSpPr>
          <p:nvPr>
            <p:ph type="body" idx="1"/>
          </p:nvPr>
        </p:nvSpPr>
        <p:spPr>
          <a:xfrm>
            <a:off x="457200" y="1600200"/>
            <a:ext cx="8305800" cy="5029200"/>
          </a:xfrm>
        </p:spPr>
        <p:txBody>
          <a:bodyPr/>
          <a:lstStyle/>
          <a:p>
            <a:pPr/>
            <a:r>
              <a:rPr kumimoji="false" lang="en-US" altLang="zh-CN">
                <a:ea typeface="宋体" charset="-122"/>
              </a:rPr>
              <a:t>Components of the virtual address (VA)</a:t>
            </a:r>
            <a:endParaRPr/>
          </a:p>
          <a:p>
            <a:pPr lvl="1"/>
            <a:r>
              <a:rPr kumimoji="false" lang="en-US" altLang="zh-CN" b="true">
                <a:ea typeface="宋体" charset="-122"/>
              </a:rPr>
              <a:t>VPO</a:t>
            </a:r>
            <a:r>
              <a:rPr kumimoji="false" lang="en-US" altLang="zh-CN">
                <a:ea typeface="宋体" charset="-122"/>
              </a:rPr>
              <a:t>: Virtual page offset </a:t>
            </a:r>
            <a:endParaRPr/>
          </a:p>
          <a:p>
            <a:pPr lvl="1"/>
            <a:r>
              <a:rPr kumimoji="false" lang="en-US" altLang="zh-CN" b="true">
                <a:ea typeface="宋体" charset="-122"/>
              </a:rPr>
              <a:t>VPN</a:t>
            </a:r>
            <a:r>
              <a:rPr kumimoji="false" lang="en-US" altLang="zh-CN">
                <a:ea typeface="宋体" charset="-122"/>
              </a:rPr>
              <a:t>: Virtual page number </a:t>
            </a:r>
            <a:endParaRPr/>
          </a:p>
          <a:p>
            <a:pPr lvl="1"/>
            <a:r>
              <a:rPr kumimoji="false" lang="en-US" altLang="zh-CN" b="true">
                <a:ea typeface="宋体" charset="-122"/>
              </a:rPr>
              <a:t>TLBI</a:t>
            </a:r>
            <a:r>
              <a:rPr kumimoji="false" lang="en-US" altLang="zh-CN">
                <a:ea typeface="宋体" charset="-122"/>
              </a:rPr>
              <a:t>: TLB index</a:t>
            </a:r>
            <a:endParaRPr/>
          </a:p>
          <a:p>
            <a:pPr lvl="1"/>
            <a:r>
              <a:rPr kumimoji="false" lang="en-US" altLang="zh-CN" b="true">
                <a:ea typeface="宋体" charset="-122"/>
              </a:rPr>
              <a:t>TLBT</a:t>
            </a:r>
            <a:r>
              <a:rPr kumimoji="false" lang="en-US" altLang="zh-CN">
                <a:ea typeface="宋体" charset="-122"/>
              </a:rPr>
              <a:t>: TLB tag</a:t>
            </a:r>
            <a:endParaRPr/>
          </a:p>
          <a:p>
            <a:pPr/>
            <a:r>
              <a:rPr kumimoji="false" lang="en-US" altLang="zh-CN">
                <a:ea typeface="宋体" charset="-122"/>
              </a:rPr>
              <a:t>Components of the physical address (PA)</a:t>
            </a:r>
            <a:endParaRPr/>
          </a:p>
          <a:p>
            <a:pPr lvl="1"/>
            <a:r>
              <a:rPr kumimoji="false" lang="en-US" altLang="zh-CN" b="true">
                <a:ea typeface="宋体" charset="-122"/>
              </a:rPr>
              <a:t>PPO</a:t>
            </a:r>
            <a:r>
              <a:rPr kumimoji="false" lang="en-US" altLang="zh-CN">
                <a:ea typeface="宋体" charset="-122"/>
              </a:rPr>
              <a:t>: Physical page offset (same as VPO)</a:t>
            </a:r>
            <a:endParaRPr/>
          </a:p>
          <a:p>
            <a:pPr lvl="1"/>
            <a:r>
              <a:rPr kumimoji="false" lang="en-US" altLang="zh-CN" b="true">
                <a:ea typeface="宋体" charset="-122"/>
              </a:rPr>
              <a:t>PPN:</a:t>
            </a:r>
            <a:r>
              <a:rPr kumimoji="false" lang="en-US" altLang="zh-CN">
                <a:ea typeface="宋体" charset="-122"/>
              </a:rPr>
              <a:t> Physical page number</a:t>
            </a:r>
            <a:endParaRPr/>
          </a:p>
          <a:p>
            <a:pPr lvl="1"/>
            <a:r>
              <a:rPr kumimoji="false" lang="en-US" altLang="zh-CN" b="true">
                <a:ea typeface="宋体" charset="-122"/>
              </a:rPr>
              <a:t>CO</a:t>
            </a:r>
            <a:r>
              <a:rPr kumimoji="false" lang="en-US" altLang="zh-CN">
                <a:ea typeface="宋体" charset="-122"/>
              </a:rPr>
              <a:t>: Byte offset within cache line</a:t>
            </a:r>
            <a:endParaRPr/>
          </a:p>
          <a:p>
            <a:pPr lvl="1"/>
            <a:r>
              <a:rPr kumimoji="false" lang="en-US" altLang="zh-CN" b="true">
                <a:ea typeface="宋体" charset="-122"/>
              </a:rPr>
              <a:t>CI:</a:t>
            </a:r>
            <a:r>
              <a:rPr kumimoji="false" lang="en-US" altLang="zh-CN">
                <a:ea typeface="宋体" charset="-122"/>
              </a:rPr>
              <a:t> Cache index</a:t>
            </a:r>
            <a:endParaRPr/>
          </a:p>
          <a:p>
            <a:pPr lvl="1"/>
            <a:r>
              <a:rPr kumimoji="false" lang="en-US" altLang="zh-CN" b="true">
                <a:ea typeface="宋体" charset="-122"/>
              </a:rPr>
              <a:t>CT</a:t>
            </a:r>
            <a:r>
              <a:rPr kumimoji="false" lang="en-US" altLang="zh-CN">
                <a:ea typeface="宋体" charset="-122"/>
              </a:rPr>
              <a:t>: Cache tag</a:t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>
  <p:cSld>
    <p:spTree>
      <p:nvGrpSpPr>
        <p:cNvPr id="11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27F513BC-77C6-5B47-9F5F-9E4D3AF35FE6}" type="slidenum">
              <a:rPr lang="zh-CN" altLang="en-US" sz="1400" b="false">
                <a:latin typeface="Times New Roman" panose="02020603050405020304" charset="0"/>
              </a:rPr>
              <a:t>85</a:t>
            </a:fld>
            <a:endParaRPr lang="en-US" altLang="zh-CN" sz="1400" b="false">
              <a:latin typeface="Times New Roman" panose="02020603050405020304" charset="0"/>
            </a:endParaRPr>
          </a:p>
        </p:txBody>
      </p:sp>
      <p:sp>
        <p:nvSpPr>
          <p:cNvPr id="1133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>
                <a:latin typeface="Comic Sans MS"/>
                <a:ea typeface="宋体"/>
                <a:cs typeface="宋体"/>
              </a:rPr>
              <a:t>Set-Associative TLB + CPU Cache</a:t>
            </a:r>
            <a:endParaRPr/>
          </a:p>
        </p:txBody>
      </p:sp>
      <p:sp>
        <p:nvSpPr>
          <p:cNvPr id="1134" name="Rectangle 101"/>
          <p:cNvSpPr>
            <a:spLocks noChangeArrowheads="true"/>
          </p:cNvSpPr>
          <p:nvPr/>
        </p:nvSpPr>
        <p:spPr bwMode="auto">
          <a:xfrm>
            <a:off x="5618163" y="1711325"/>
            <a:ext cx="1550987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lIns="46037" tIns="23812" rIns="46037" bIns="23812">
            <a:spAutoFit/>
          </a:bodyPr>
          <a:lstStyle>
            <a:lvl1pPr defTabSz="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 defTabSz="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 defTabSz="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 defTabSz="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 defTabSz="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defTabSz="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defTabSz="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defTabSz="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defTabSz="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r>
              <a:rPr lang="en-US" altLang="zh-CN" sz="1400">
                <a:latin typeface="Helvetica" pitchFamily="34" charset="0"/>
              </a:rPr>
              <a:t>virtual address</a:t>
            </a:r>
            <a:endParaRPr/>
          </a:p>
        </p:txBody>
      </p:sp>
      <p:sp>
        <p:nvSpPr>
          <p:cNvPr id="1135" name="Rectangle 102"/>
          <p:cNvSpPr>
            <a:spLocks noChangeArrowheads="true"/>
          </p:cNvSpPr>
          <p:nvPr/>
        </p:nvSpPr>
        <p:spPr bwMode="auto">
          <a:xfrm>
            <a:off x="2451100" y="1752600"/>
            <a:ext cx="1936750" cy="228600"/>
          </a:xfrm>
          <a:prstGeom prst="rect">
            <a:avLst/>
          </a:prstGeom>
          <a:solidFill>
            <a:srgbClr val="FF99CC"/>
          </a:solidFill>
          <a:ln w="12700">
            <a:solidFill>
              <a:schemeClr val="tx1"/>
            </a:solidFill>
            <a:miter lim="800000"/>
          </a:ln>
        </p:spPr>
        <p:txBody>
          <a:bodyPr wrap="none" lIns="46037" tIns="23812" rIns="46037" bIns="23812" anchor="ctr"/>
          <a:lstStyle>
            <a:lvl1pPr defTabSz="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 defTabSz="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 defTabSz="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 defTabSz="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 defTabSz="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defTabSz="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defTabSz="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defTabSz="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defTabSz="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/>
            <a:r>
              <a:rPr lang="en-US" altLang="zh-CN" sz="1400">
                <a:latin typeface="Helvetica" pitchFamily="34" charset="0"/>
              </a:rPr>
              <a:t>virtual page number</a:t>
            </a:r>
            <a:endParaRPr/>
          </a:p>
        </p:txBody>
      </p:sp>
      <p:sp>
        <p:nvSpPr>
          <p:cNvPr id="1136" name="Rectangle 103"/>
          <p:cNvSpPr>
            <a:spLocks noChangeArrowheads="true"/>
          </p:cNvSpPr>
          <p:nvPr/>
        </p:nvSpPr>
        <p:spPr bwMode="auto">
          <a:xfrm>
            <a:off x="4387850" y="1752600"/>
            <a:ext cx="1100138" cy="223838"/>
          </a:xfrm>
          <a:prstGeom prst="rect">
            <a:avLst/>
          </a:prstGeom>
          <a:solidFill>
            <a:srgbClr val="66FFFF"/>
          </a:solidFill>
          <a:ln w="12700">
            <a:solidFill>
              <a:schemeClr val="tx1"/>
            </a:solidFill>
            <a:miter lim="800000"/>
          </a:ln>
        </p:spPr>
        <p:txBody>
          <a:bodyPr wrap="none" lIns="46037" tIns="23812" rIns="46037" bIns="23812" anchor="ctr"/>
          <a:lstStyle>
            <a:lvl1pPr defTabSz="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 defTabSz="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 defTabSz="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 defTabSz="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 defTabSz="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defTabSz="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defTabSz="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defTabSz="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defTabSz="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/>
            <a:r>
              <a:rPr lang="en-US" altLang="zh-CN" sz="1400">
                <a:latin typeface="Helvetica" pitchFamily="34" charset="0"/>
              </a:rPr>
              <a:t>page offset</a:t>
            </a:r>
            <a:endParaRPr/>
          </a:p>
        </p:txBody>
      </p:sp>
      <p:sp>
        <p:nvSpPr>
          <p:cNvPr id="1137" name="Line 105"/>
          <p:cNvSpPr>
            <a:spLocks noChangeShapeType="true"/>
          </p:cNvSpPr>
          <p:nvPr/>
        </p:nvSpPr>
        <p:spPr bwMode="auto">
          <a:xfrm>
            <a:off x="5029200" y="1981200"/>
            <a:ext cx="0" cy="20145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/>
          </a:extLst>
        </p:spPr>
        <p:txBody>
          <a:bodyPr wrap="none" anchor="ctr"/>
          <a:lstStyle/>
          <a:p>
            <a:pPr/>
            <a:endParaRPr lang="zh-CN" altLang="en-US"/>
          </a:p>
        </p:txBody>
      </p:sp>
      <p:sp>
        <p:nvSpPr>
          <p:cNvPr id="1138" name="Rectangle 106"/>
          <p:cNvSpPr>
            <a:spLocks noChangeArrowheads="true"/>
          </p:cNvSpPr>
          <p:nvPr/>
        </p:nvSpPr>
        <p:spPr bwMode="auto">
          <a:xfrm>
            <a:off x="2362200" y="1524000"/>
            <a:ext cx="396875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lIns="46037" tIns="23812" rIns="46037" bIns="23812">
            <a:spAutoFit/>
          </a:bodyPr>
          <a:lstStyle>
            <a:lvl1pPr defTabSz="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 defTabSz="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 defTabSz="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 defTabSz="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 defTabSz="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defTabSz="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defTabSz="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defTabSz="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defTabSz="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r>
              <a:rPr lang="en-US" altLang="zh-CN" sz="1400">
                <a:latin typeface="Helvetica" pitchFamily="34" charset="0"/>
              </a:rPr>
              <a:t>n–1</a:t>
            </a:r>
            <a:endParaRPr/>
          </a:p>
        </p:txBody>
      </p:sp>
      <p:sp>
        <p:nvSpPr>
          <p:cNvPr id="1139" name="Rectangle 107"/>
          <p:cNvSpPr>
            <a:spLocks noChangeArrowheads="true"/>
          </p:cNvSpPr>
          <p:nvPr/>
        </p:nvSpPr>
        <p:spPr bwMode="auto">
          <a:xfrm>
            <a:off x="5330825" y="1524000"/>
            <a:ext cx="19050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lIns="46037" tIns="23812" rIns="46037" bIns="23812">
            <a:spAutoFit/>
          </a:bodyPr>
          <a:lstStyle>
            <a:lvl1pPr defTabSz="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 defTabSz="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 defTabSz="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 defTabSz="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 defTabSz="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defTabSz="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defTabSz="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defTabSz="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defTabSz="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r>
              <a:rPr lang="en-US" altLang="zh-CN" sz="1400">
                <a:latin typeface="Helvetica" pitchFamily="34" charset="0"/>
              </a:rPr>
              <a:t>0</a:t>
            </a:r>
            <a:endParaRPr/>
          </a:p>
        </p:txBody>
      </p:sp>
      <p:sp>
        <p:nvSpPr>
          <p:cNvPr id="1140" name="Rectangle 108"/>
          <p:cNvSpPr>
            <a:spLocks noChangeArrowheads="true"/>
          </p:cNvSpPr>
          <p:nvPr/>
        </p:nvSpPr>
        <p:spPr bwMode="auto">
          <a:xfrm>
            <a:off x="4340225" y="1524000"/>
            <a:ext cx="396875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lIns="46037" tIns="23812" rIns="46037" bIns="23812">
            <a:spAutoFit/>
          </a:bodyPr>
          <a:lstStyle>
            <a:lvl1pPr defTabSz="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 defTabSz="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 defTabSz="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 defTabSz="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 defTabSz="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defTabSz="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defTabSz="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defTabSz="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defTabSz="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r>
              <a:rPr lang="en-US" altLang="zh-CN" sz="1400">
                <a:latin typeface="Helvetica" pitchFamily="34" charset="0"/>
              </a:rPr>
              <a:t>p–1</a:t>
            </a:r>
            <a:endParaRPr/>
          </a:p>
        </p:txBody>
      </p:sp>
      <p:sp>
        <p:nvSpPr>
          <p:cNvPr id="1141" name="Rectangle 109"/>
          <p:cNvSpPr>
            <a:spLocks noChangeArrowheads="true"/>
          </p:cNvSpPr>
          <p:nvPr/>
        </p:nvSpPr>
        <p:spPr bwMode="auto">
          <a:xfrm>
            <a:off x="4106863" y="1524000"/>
            <a:ext cx="200025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lIns="46037" tIns="23812" rIns="46037" bIns="23812">
            <a:spAutoFit/>
          </a:bodyPr>
          <a:lstStyle>
            <a:lvl1pPr defTabSz="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 defTabSz="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 defTabSz="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 defTabSz="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 defTabSz="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defTabSz="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defTabSz="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defTabSz="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defTabSz="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r>
              <a:rPr lang="en-US" altLang="zh-CN" sz="1400">
                <a:latin typeface="Helvetica" pitchFamily="34" charset="0"/>
              </a:rPr>
              <a:t>p</a:t>
            </a:r>
            <a:endParaRPr/>
          </a:p>
        </p:txBody>
      </p:sp>
      <p:sp>
        <p:nvSpPr>
          <p:cNvPr id="1142" name="Rectangle 110"/>
          <p:cNvSpPr>
            <a:spLocks noChangeArrowheads="true"/>
          </p:cNvSpPr>
          <p:nvPr/>
        </p:nvSpPr>
        <p:spPr bwMode="auto">
          <a:xfrm>
            <a:off x="3016250" y="2552700"/>
            <a:ext cx="1708150" cy="14287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endParaRPr lang="zh-CN" altLang="en-US"/>
          </a:p>
        </p:txBody>
      </p:sp>
      <p:sp>
        <p:nvSpPr>
          <p:cNvPr id="1143" name="Line 111"/>
          <p:cNvSpPr>
            <a:spLocks noChangeShapeType="true"/>
          </p:cNvSpPr>
          <p:nvPr/>
        </p:nvSpPr>
        <p:spPr bwMode="auto">
          <a:xfrm>
            <a:off x="3429000" y="1905000"/>
            <a:ext cx="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/>
          </a:extLst>
        </p:spPr>
        <p:txBody>
          <a:bodyPr wrap="none" anchor="ctr"/>
          <a:lstStyle/>
          <a:p>
            <a:pPr/>
            <a:endParaRPr lang="zh-CN" altLang="en-US"/>
          </a:p>
        </p:txBody>
      </p:sp>
      <p:sp>
        <p:nvSpPr>
          <p:cNvPr id="1144" name="Rectangle 112"/>
          <p:cNvSpPr>
            <a:spLocks noChangeArrowheads="true"/>
          </p:cNvSpPr>
          <p:nvPr/>
        </p:nvSpPr>
        <p:spPr bwMode="auto">
          <a:xfrm>
            <a:off x="2049463" y="2324100"/>
            <a:ext cx="492125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lIns="46037" tIns="23812" rIns="46037" bIns="23812">
            <a:spAutoFit/>
          </a:bodyPr>
          <a:lstStyle>
            <a:lvl1pPr defTabSz="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 defTabSz="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 defTabSz="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 defTabSz="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 defTabSz="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defTabSz="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defTabSz="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defTabSz="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defTabSz="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r>
              <a:rPr lang="en-US" altLang="zh-CN" sz="1400">
                <a:latin typeface="Helvetica" pitchFamily="34" charset="0"/>
              </a:rPr>
              <a:t>valid</a:t>
            </a:r>
            <a:endParaRPr/>
          </a:p>
        </p:txBody>
      </p:sp>
      <p:sp>
        <p:nvSpPr>
          <p:cNvPr id="1145" name="Rectangle 113"/>
          <p:cNvSpPr>
            <a:spLocks noChangeArrowheads="true"/>
          </p:cNvSpPr>
          <p:nvPr/>
        </p:nvSpPr>
        <p:spPr bwMode="auto">
          <a:xfrm>
            <a:off x="3065463" y="2324100"/>
            <a:ext cx="19621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lIns="46037" tIns="23812" rIns="46037" bIns="23812">
            <a:spAutoFit/>
          </a:bodyPr>
          <a:lstStyle>
            <a:lvl1pPr defTabSz="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 defTabSz="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 defTabSz="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 defTabSz="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 defTabSz="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defTabSz="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defTabSz="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defTabSz="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defTabSz="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r>
              <a:rPr lang="en-US" altLang="zh-CN" sz="1400">
                <a:latin typeface="Helvetica" pitchFamily="34" charset="0"/>
              </a:rPr>
              <a:t>physical page number</a:t>
            </a:r>
            <a:endParaRPr/>
          </a:p>
        </p:txBody>
      </p:sp>
      <p:sp>
        <p:nvSpPr>
          <p:cNvPr id="1146" name="Rectangle 114"/>
          <p:cNvSpPr>
            <a:spLocks noChangeArrowheads="true"/>
          </p:cNvSpPr>
          <p:nvPr/>
        </p:nvSpPr>
        <p:spPr bwMode="auto">
          <a:xfrm>
            <a:off x="2482850" y="2552700"/>
            <a:ext cx="565150" cy="14287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endParaRPr lang="zh-CN" altLang="en-US"/>
          </a:p>
        </p:txBody>
      </p:sp>
      <p:sp>
        <p:nvSpPr>
          <p:cNvPr id="1147" name="Rectangle 115"/>
          <p:cNvSpPr>
            <a:spLocks noChangeArrowheads="true"/>
          </p:cNvSpPr>
          <p:nvPr/>
        </p:nvSpPr>
        <p:spPr bwMode="auto">
          <a:xfrm>
            <a:off x="2101850" y="2552700"/>
            <a:ext cx="412750" cy="14287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endParaRPr lang="zh-CN" altLang="en-US"/>
          </a:p>
        </p:txBody>
      </p:sp>
      <p:sp>
        <p:nvSpPr>
          <p:cNvPr id="1148" name="Rectangle 116"/>
          <p:cNvSpPr>
            <a:spLocks noChangeArrowheads="true"/>
          </p:cNvSpPr>
          <p:nvPr/>
        </p:nvSpPr>
        <p:spPr bwMode="auto">
          <a:xfrm>
            <a:off x="2659063" y="2324100"/>
            <a:ext cx="357187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lIns="46037" tIns="23812" rIns="46037" bIns="23812">
            <a:spAutoFit/>
          </a:bodyPr>
          <a:lstStyle>
            <a:lvl1pPr defTabSz="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 defTabSz="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 defTabSz="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 defTabSz="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 defTabSz="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defTabSz="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defTabSz="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defTabSz="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defTabSz="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r>
              <a:rPr lang="en-US" altLang="zh-CN" sz="1400">
                <a:latin typeface="Helvetica" pitchFamily="34" charset="0"/>
              </a:rPr>
              <a:t>tag</a:t>
            </a:r>
            <a:endParaRPr/>
          </a:p>
        </p:txBody>
      </p:sp>
      <p:sp>
        <p:nvSpPr>
          <p:cNvPr id="1149" name="Rectangle 117"/>
          <p:cNvSpPr>
            <a:spLocks noChangeArrowheads="true"/>
          </p:cNvSpPr>
          <p:nvPr/>
        </p:nvSpPr>
        <p:spPr bwMode="auto">
          <a:xfrm>
            <a:off x="3016250" y="2705100"/>
            <a:ext cx="1708150" cy="142875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endParaRPr lang="zh-CN" altLang="en-US"/>
          </a:p>
        </p:txBody>
      </p:sp>
      <p:sp>
        <p:nvSpPr>
          <p:cNvPr id="1150" name="Rectangle 118"/>
          <p:cNvSpPr>
            <a:spLocks noChangeArrowheads="true"/>
          </p:cNvSpPr>
          <p:nvPr/>
        </p:nvSpPr>
        <p:spPr bwMode="auto">
          <a:xfrm>
            <a:off x="2482850" y="2705100"/>
            <a:ext cx="565150" cy="142875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endParaRPr lang="zh-CN" altLang="en-US"/>
          </a:p>
        </p:txBody>
      </p:sp>
      <p:sp>
        <p:nvSpPr>
          <p:cNvPr id="1151" name="Rectangle 119"/>
          <p:cNvSpPr>
            <a:spLocks noChangeArrowheads="true"/>
          </p:cNvSpPr>
          <p:nvPr/>
        </p:nvSpPr>
        <p:spPr bwMode="auto">
          <a:xfrm>
            <a:off x="2101850" y="2705100"/>
            <a:ext cx="412750" cy="142875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endParaRPr lang="zh-CN" altLang="en-US"/>
          </a:p>
        </p:txBody>
      </p:sp>
      <p:sp>
        <p:nvSpPr>
          <p:cNvPr id="1152" name="Rectangle 120"/>
          <p:cNvSpPr>
            <a:spLocks noChangeArrowheads="true"/>
          </p:cNvSpPr>
          <p:nvPr/>
        </p:nvSpPr>
        <p:spPr bwMode="auto">
          <a:xfrm>
            <a:off x="3016250" y="2857500"/>
            <a:ext cx="1708150" cy="14287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endParaRPr lang="zh-CN" altLang="en-US"/>
          </a:p>
        </p:txBody>
      </p:sp>
      <p:sp>
        <p:nvSpPr>
          <p:cNvPr id="1153" name="Rectangle 121"/>
          <p:cNvSpPr>
            <a:spLocks noChangeArrowheads="true"/>
          </p:cNvSpPr>
          <p:nvPr/>
        </p:nvSpPr>
        <p:spPr bwMode="auto">
          <a:xfrm>
            <a:off x="2482850" y="2857500"/>
            <a:ext cx="565150" cy="14287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endParaRPr lang="zh-CN" altLang="en-US"/>
          </a:p>
        </p:txBody>
      </p:sp>
      <p:sp>
        <p:nvSpPr>
          <p:cNvPr id="1154" name="Rectangle 122"/>
          <p:cNvSpPr>
            <a:spLocks noChangeArrowheads="true"/>
          </p:cNvSpPr>
          <p:nvPr/>
        </p:nvSpPr>
        <p:spPr bwMode="auto">
          <a:xfrm>
            <a:off x="2101850" y="2857500"/>
            <a:ext cx="412750" cy="14287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endParaRPr lang="zh-CN" altLang="en-US"/>
          </a:p>
        </p:txBody>
      </p:sp>
      <p:sp>
        <p:nvSpPr>
          <p:cNvPr id="1155" name="Rectangle 123"/>
          <p:cNvSpPr>
            <a:spLocks noChangeArrowheads="true"/>
          </p:cNvSpPr>
          <p:nvPr/>
        </p:nvSpPr>
        <p:spPr bwMode="auto">
          <a:xfrm>
            <a:off x="3016250" y="3009900"/>
            <a:ext cx="1708150" cy="14287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endParaRPr lang="zh-CN" altLang="en-US"/>
          </a:p>
        </p:txBody>
      </p:sp>
      <p:sp>
        <p:nvSpPr>
          <p:cNvPr id="1156" name="Rectangle 124"/>
          <p:cNvSpPr>
            <a:spLocks noChangeArrowheads="true"/>
          </p:cNvSpPr>
          <p:nvPr/>
        </p:nvSpPr>
        <p:spPr bwMode="auto">
          <a:xfrm>
            <a:off x="2482850" y="3009900"/>
            <a:ext cx="565150" cy="14287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endParaRPr lang="zh-CN" altLang="en-US"/>
          </a:p>
        </p:txBody>
      </p:sp>
      <p:sp>
        <p:nvSpPr>
          <p:cNvPr id="1157" name="Rectangle 125"/>
          <p:cNvSpPr>
            <a:spLocks noChangeArrowheads="true"/>
          </p:cNvSpPr>
          <p:nvPr/>
        </p:nvSpPr>
        <p:spPr bwMode="auto">
          <a:xfrm>
            <a:off x="2101850" y="3009900"/>
            <a:ext cx="412750" cy="14287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endParaRPr lang="zh-CN" altLang="en-US"/>
          </a:p>
        </p:txBody>
      </p:sp>
      <p:sp>
        <p:nvSpPr>
          <p:cNvPr id="1158" name="Line 126"/>
          <p:cNvSpPr>
            <a:spLocks noChangeShapeType="true"/>
          </p:cNvSpPr>
          <p:nvPr/>
        </p:nvSpPr>
        <p:spPr bwMode="auto">
          <a:xfrm flipH="true">
            <a:off x="1301750" y="2286000"/>
            <a:ext cx="2133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/>
          </a:extLst>
        </p:spPr>
        <p:txBody>
          <a:bodyPr wrap="none" anchor="ctr"/>
          <a:lstStyle/>
          <a:p>
            <a:pPr/>
            <a:endParaRPr lang="zh-CN" altLang="en-US"/>
          </a:p>
        </p:txBody>
      </p:sp>
      <p:sp>
        <p:nvSpPr>
          <p:cNvPr id="1159" name="Line 127"/>
          <p:cNvSpPr>
            <a:spLocks noChangeShapeType="true"/>
          </p:cNvSpPr>
          <p:nvPr/>
        </p:nvSpPr>
        <p:spPr bwMode="auto">
          <a:xfrm flipH="true">
            <a:off x="1295400" y="2286000"/>
            <a:ext cx="0" cy="11699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/>
          </a:extLst>
        </p:spPr>
        <p:txBody>
          <a:bodyPr wrap="none" anchor="ctr"/>
          <a:lstStyle/>
          <a:p>
            <a:pPr/>
            <a:endParaRPr lang="zh-CN" altLang="en-US"/>
          </a:p>
        </p:txBody>
      </p:sp>
      <p:sp>
        <p:nvSpPr>
          <p:cNvPr id="1160" name="Oval 128"/>
          <p:cNvSpPr>
            <a:spLocks noChangeArrowheads="true"/>
          </p:cNvSpPr>
          <p:nvPr/>
        </p:nvSpPr>
        <p:spPr bwMode="auto">
          <a:xfrm>
            <a:off x="1916113" y="6178550"/>
            <a:ext cx="279400" cy="19685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endParaRPr lang="zh-CN" altLang="en-US"/>
          </a:p>
        </p:txBody>
      </p:sp>
      <p:sp>
        <p:nvSpPr>
          <p:cNvPr id="1161" name="Rectangle 129"/>
          <p:cNvSpPr>
            <a:spLocks noChangeArrowheads="true"/>
          </p:cNvSpPr>
          <p:nvPr/>
        </p:nvSpPr>
        <p:spPr bwMode="auto">
          <a:xfrm>
            <a:off x="2076450" y="6172200"/>
            <a:ext cx="168275" cy="209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/>
          </a:extLst>
        </p:spPr>
        <p:txBody>
          <a:bodyPr wrap="none" anchor="ctr"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endParaRPr lang="zh-CN" altLang="en-US"/>
          </a:p>
        </p:txBody>
      </p:sp>
      <p:sp>
        <p:nvSpPr>
          <p:cNvPr id="1162" name="Line 130"/>
          <p:cNvSpPr>
            <a:spLocks noChangeShapeType="true"/>
          </p:cNvSpPr>
          <p:nvPr/>
        </p:nvSpPr>
        <p:spPr bwMode="auto">
          <a:xfrm flipV="true">
            <a:off x="2076450" y="6172200"/>
            <a:ext cx="0" cy="2095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/>
          </a:extLst>
        </p:spPr>
        <p:txBody>
          <a:bodyPr wrap="none" anchor="ctr"/>
          <a:lstStyle/>
          <a:p>
            <a:pPr/>
            <a:endParaRPr lang="zh-CN" altLang="en-US"/>
          </a:p>
        </p:txBody>
      </p:sp>
      <p:sp>
        <p:nvSpPr>
          <p:cNvPr id="1163" name="Rectangle 131"/>
          <p:cNvSpPr>
            <a:spLocks noChangeArrowheads="true"/>
          </p:cNvSpPr>
          <p:nvPr/>
        </p:nvSpPr>
        <p:spPr bwMode="auto">
          <a:xfrm>
            <a:off x="3505200" y="4972050"/>
            <a:ext cx="1497013" cy="1127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endParaRPr lang="zh-CN" altLang="en-US"/>
          </a:p>
        </p:txBody>
      </p:sp>
      <p:sp>
        <p:nvSpPr>
          <p:cNvPr id="1164" name="Rectangle 132"/>
          <p:cNvSpPr>
            <a:spLocks noChangeArrowheads="true"/>
          </p:cNvSpPr>
          <p:nvPr/>
        </p:nvSpPr>
        <p:spPr bwMode="auto">
          <a:xfrm>
            <a:off x="3505200" y="5097463"/>
            <a:ext cx="1497013" cy="1127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endParaRPr lang="zh-CN" altLang="en-US"/>
          </a:p>
        </p:txBody>
      </p:sp>
      <p:sp>
        <p:nvSpPr>
          <p:cNvPr id="1165" name="Rectangle 133"/>
          <p:cNvSpPr>
            <a:spLocks noChangeArrowheads="true"/>
          </p:cNvSpPr>
          <p:nvPr/>
        </p:nvSpPr>
        <p:spPr bwMode="auto">
          <a:xfrm>
            <a:off x="3505200" y="5222875"/>
            <a:ext cx="1497013" cy="114300"/>
          </a:xfrm>
          <a:prstGeom prst="rect">
            <a:avLst/>
          </a:prstGeom>
          <a:solidFill>
            <a:srgbClr val="7030A0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endParaRPr lang="zh-CN" altLang="en-US"/>
          </a:p>
        </p:txBody>
      </p:sp>
      <p:sp>
        <p:nvSpPr>
          <p:cNvPr id="1166" name="Rectangle 134"/>
          <p:cNvSpPr>
            <a:spLocks noChangeArrowheads="true"/>
          </p:cNvSpPr>
          <p:nvPr/>
        </p:nvSpPr>
        <p:spPr bwMode="auto">
          <a:xfrm>
            <a:off x="3505200" y="5475288"/>
            <a:ext cx="1497013" cy="1127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endParaRPr lang="zh-CN" altLang="en-US"/>
          </a:p>
        </p:txBody>
      </p:sp>
      <p:sp>
        <p:nvSpPr>
          <p:cNvPr id="1167" name="Rectangle 135"/>
          <p:cNvSpPr>
            <a:spLocks noChangeArrowheads="true"/>
          </p:cNvSpPr>
          <p:nvPr/>
        </p:nvSpPr>
        <p:spPr bwMode="auto">
          <a:xfrm>
            <a:off x="3505200" y="5349875"/>
            <a:ext cx="1497013" cy="1127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endParaRPr lang="zh-CN" altLang="en-US"/>
          </a:p>
        </p:txBody>
      </p:sp>
      <p:sp>
        <p:nvSpPr>
          <p:cNvPr id="1168" name="Rectangle 136"/>
          <p:cNvSpPr>
            <a:spLocks noChangeArrowheads="true"/>
          </p:cNvSpPr>
          <p:nvPr/>
        </p:nvSpPr>
        <p:spPr bwMode="auto">
          <a:xfrm>
            <a:off x="3505200" y="5600700"/>
            <a:ext cx="1497013" cy="1127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endParaRPr lang="zh-CN" altLang="en-US"/>
          </a:p>
        </p:txBody>
      </p:sp>
      <p:sp>
        <p:nvSpPr>
          <p:cNvPr id="1169" name="Rectangle 137"/>
          <p:cNvSpPr>
            <a:spLocks noChangeArrowheads="true"/>
          </p:cNvSpPr>
          <p:nvPr/>
        </p:nvSpPr>
        <p:spPr bwMode="auto">
          <a:xfrm>
            <a:off x="2751138" y="4972050"/>
            <a:ext cx="741362" cy="1127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endParaRPr lang="zh-CN" altLang="en-US"/>
          </a:p>
        </p:txBody>
      </p:sp>
      <p:sp>
        <p:nvSpPr>
          <p:cNvPr id="1170" name="Rectangle 138"/>
          <p:cNvSpPr>
            <a:spLocks noChangeArrowheads="true"/>
          </p:cNvSpPr>
          <p:nvPr/>
        </p:nvSpPr>
        <p:spPr bwMode="auto">
          <a:xfrm>
            <a:off x="2751138" y="5097463"/>
            <a:ext cx="741362" cy="1127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endParaRPr lang="zh-CN" altLang="en-US"/>
          </a:p>
        </p:txBody>
      </p:sp>
      <p:sp>
        <p:nvSpPr>
          <p:cNvPr id="1171" name="Rectangle 139"/>
          <p:cNvSpPr>
            <a:spLocks noChangeArrowheads="true"/>
          </p:cNvSpPr>
          <p:nvPr/>
        </p:nvSpPr>
        <p:spPr bwMode="auto">
          <a:xfrm>
            <a:off x="2751138" y="5222875"/>
            <a:ext cx="741362" cy="114300"/>
          </a:xfrm>
          <a:prstGeom prst="rect">
            <a:avLst/>
          </a:prstGeom>
          <a:solidFill>
            <a:srgbClr val="7030A0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endParaRPr lang="zh-CN" altLang="en-US"/>
          </a:p>
        </p:txBody>
      </p:sp>
      <p:sp>
        <p:nvSpPr>
          <p:cNvPr id="1172" name="Rectangle 140"/>
          <p:cNvSpPr>
            <a:spLocks noChangeArrowheads="true"/>
          </p:cNvSpPr>
          <p:nvPr/>
        </p:nvSpPr>
        <p:spPr bwMode="auto">
          <a:xfrm>
            <a:off x="2751138" y="5349875"/>
            <a:ext cx="741362" cy="1127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endParaRPr lang="zh-CN" altLang="en-US"/>
          </a:p>
        </p:txBody>
      </p:sp>
      <p:sp>
        <p:nvSpPr>
          <p:cNvPr id="1173" name="Rectangle 141"/>
          <p:cNvSpPr>
            <a:spLocks noChangeArrowheads="true"/>
          </p:cNvSpPr>
          <p:nvPr/>
        </p:nvSpPr>
        <p:spPr bwMode="auto">
          <a:xfrm>
            <a:off x="2751138" y="5475288"/>
            <a:ext cx="741362" cy="1127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endParaRPr lang="zh-CN" altLang="en-US"/>
          </a:p>
        </p:txBody>
      </p:sp>
      <p:sp>
        <p:nvSpPr>
          <p:cNvPr id="1174" name="Rectangle 142"/>
          <p:cNvSpPr>
            <a:spLocks noChangeArrowheads="true"/>
          </p:cNvSpPr>
          <p:nvPr/>
        </p:nvSpPr>
        <p:spPr bwMode="auto">
          <a:xfrm>
            <a:off x="2751138" y="5600700"/>
            <a:ext cx="741362" cy="1127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endParaRPr lang="zh-CN" altLang="en-US"/>
          </a:p>
        </p:txBody>
      </p:sp>
      <p:sp>
        <p:nvSpPr>
          <p:cNvPr id="1175" name="Rectangle 143"/>
          <p:cNvSpPr>
            <a:spLocks noChangeArrowheads="true"/>
          </p:cNvSpPr>
          <p:nvPr/>
        </p:nvSpPr>
        <p:spPr bwMode="auto">
          <a:xfrm>
            <a:off x="2457450" y="4972050"/>
            <a:ext cx="280988" cy="1127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endParaRPr lang="zh-CN" altLang="en-US"/>
          </a:p>
        </p:txBody>
      </p:sp>
      <p:sp>
        <p:nvSpPr>
          <p:cNvPr id="1176" name="Rectangle 144"/>
          <p:cNvSpPr>
            <a:spLocks noChangeArrowheads="true"/>
          </p:cNvSpPr>
          <p:nvPr/>
        </p:nvSpPr>
        <p:spPr bwMode="auto">
          <a:xfrm>
            <a:off x="2457450" y="5097463"/>
            <a:ext cx="280988" cy="1127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endParaRPr lang="zh-CN" altLang="en-US"/>
          </a:p>
        </p:txBody>
      </p:sp>
      <p:sp>
        <p:nvSpPr>
          <p:cNvPr id="1177" name="Rectangle 145"/>
          <p:cNvSpPr>
            <a:spLocks noChangeArrowheads="true"/>
          </p:cNvSpPr>
          <p:nvPr/>
        </p:nvSpPr>
        <p:spPr bwMode="auto">
          <a:xfrm>
            <a:off x="2457450" y="5222875"/>
            <a:ext cx="280988" cy="114300"/>
          </a:xfrm>
          <a:prstGeom prst="rect">
            <a:avLst/>
          </a:prstGeom>
          <a:solidFill>
            <a:srgbClr val="7030A0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endParaRPr lang="zh-CN" altLang="en-US"/>
          </a:p>
        </p:txBody>
      </p:sp>
      <p:sp>
        <p:nvSpPr>
          <p:cNvPr id="1178" name="Rectangle 146"/>
          <p:cNvSpPr>
            <a:spLocks noChangeArrowheads="true"/>
          </p:cNvSpPr>
          <p:nvPr/>
        </p:nvSpPr>
        <p:spPr bwMode="auto">
          <a:xfrm>
            <a:off x="2457450" y="5349875"/>
            <a:ext cx="280988" cy="1127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endParaRPr lang="zh-CN" altLang="en-US"/>
          </a:p>
        </p:txBody>
      </p:sp>
      <p:sp>
        <p:nvSpPr>
          <p:cNvPr id="1179" name="Rectangle 147"/>
          <p:cNvSpPr>
            <a:spLocks noChangeArrowheads="true"/>
          </p:cNvSpPr>
          <p:nvPr/>
        </p:nvSpPr>
        <p:spPr bwMode="auto">
          <a:xfrm>
            <a:off x="2457450" y="5475288"/>
            <a:ext cx="280988" cy="1127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endParaRPr lang="zh-CN" altLang="en-US"/>
          </a:p>
        </p:txBody>
      </p:sp>
      <p:sp>
        <p:nvSpPr>
          <p:cNvPr id="1180" name="Rectangle 148"/>
          <p:cNvSpPr>
            <a:spLocks noChangeArrowheads="true"/>
          </p:cNvSpPr>
          <p:nvPr/>
        </p:nvSpPr>
        <p:spPr bwMode="auto">
          <a:xfrm>
            <a:off x="2457450" y="5600700"/>
            <a:ext cx="280988" cy="1127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endParaRPr lang="zh-CN" altLang="en-US"/>
          </a:p>
        </p:txBody>
      </p:sp>
      <p:sp>
        <p:nvSpPr>
          <p:cNvPr id="1181" name="Rectangle 149"/>
          <p:cNvSpPr>
            <a:spLocks noChangeArrowheads="true"/>
          </p:cNvSpPr>
          <p:nvPr/>
        </p:nvSpPr>
        <p:spPr bwMode="auto">
          <a:xfrm>
            <a:off x="2362200" y="4737100"/>
            <a:ext cx="50165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lIns="50800" tIns="26987" rIns="50800" bIns="26987">
            <a:spAutoFit/>
          </a:bodyPr>
          <a:lstStyle>
            <a:lvl1pPr defTabSz="276225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 defTabSz="276225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 defTabSz="276225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 defTabSz="276225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 defTabSz="276225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defTabSz="276225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defTabSz="276225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defTabSz="276225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defTabSz="276225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r>
              <a:rPr lang="en-US" altLang="zh-CN" sz="1400">
                <a:latin typeface="Helvetica" pitchFamily="34" charset="0"/>
              </a:rPr>
              <a:t>valid</a:t>
            </a:r>
            <a:endParaRPr/>
          </a:p>
        </p:txBody>
      </p:sp>
      <p:sp>
        <p:nvSpPr>
          <p:cNvPr id="1182" name="Rectangle 150"/>
          <p:cNvSpPr>
            <a:spLocks noChangeArrowheads="true"/>
          </p:cNvSpPr>
          <p:nvPr/>
        </p:nvSpPr>
        <p:spPr bwMode="auto">
          <a:xfrm>
            <a:off x="2916238" y="4737100"/>
            <a:ext cx="366712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lIns="50800" tIns="26987" rIns="50800" bIns="26987">
            <a:spAutoFit/>
          </a:bodyPr>
          <a:lstStyle>
            <a:lvl1pPr defTabSz="276225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 defTabSz="276225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 defTabSz="276225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 defTabSz="276225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 defTabSz="276225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defTabSz="276225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defTabSz="276225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defTabSz="276225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defTabSz="276225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r>
              <a:rPr lang="en-US" altLang="zh-CN" sz="1400">
                <a:latin typeface="Helvetica" pitchFamily="34" charset="0"/>
              </a:rPr>
              <a:t>tag</a:t>
            </a:r>
            <a:endParaRPr/>
          </a:p>
        </p:txBody>
      </p:sp>
      <p:sp>
        <p:nvSpPr>
          <p:cNvPr id="1183" name="Rectangle 151"/>
          <p:cNvSpPr>
            <a:spLocks noChangeArrowheads="true"/>
          </p:cNvSpPr>
          <p:nvPr/>
        </p:nvSpPr>
        <p:spPr bwMode="auto">
          <a:xfrm>
            <a:off x="3895725" y="4737100"/>
            <a:ext cx="465138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lIns="50800" tIns="26987" rIns="50800" bIns="26987">
            <a:spAutoFit/>
          </a:bodyPr>
          <a:lstStyle>
            <a:lvl1pPr defTabSz="276225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 defTabSz="276225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 defTabSz="276225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 defTabSz="276225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 defTabSz="276225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defTabSz="276225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defTabSz="276225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defTabSz="276225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defTabSz="276225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r>
              <a:rPr lang="en-US" altLang="zh-CN" sz="1400">
                <a:latin typeface="Helvetica" pitchFamily="34" charset="0"/>
              </a:rPr>
              <a:t>data</a:t>
            </a:r>
            <a:endParaRPr/>
          </a:p>
        </p:txBody>
      </p:sp>
      <p:sp>
        <p:nvSpPr>
          <p:cNvPr id="1184" name="Line 152"/>
          <p:cNvSpPr>
            <a:spLocks noChangeShapeType="true"/>
          </p:cNvSpPr>
          <p:nvPr/>
        </p:nvSpPr>
        <p:spPr bwMode="auto">
          <a:xfrm flipH="true">
            <a:off x="5035550" y="5292725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/>
          </a:extLst>
        </p:spPr>
        <p:txBody>
          <a:bodyPr wrap="none" anchor="ctr"/>
          <a:lstStyle/>
          <a:p>
            <a:pPr/>
            <a:endParaRPr lang="zh-CN" altLang="en-US"/>
          </a:p>
        </p:txBody>
      </p:sp>
      <p:sp>
        <p:nvSpPr>
          <p:cNvPr id="1185" name="Line 153"/>
          <p:cNvSpPr>
            <a:spLocks noChangeShapeType="true"/>
          </p:cNvSpPr>
          <p:nvPr/>
        </p:nvSpPr>
        <p:spPr bwMode="auto">
          <a:xfrm>
            <a:off x="4273550" y="5299075"/>
            <a:ext cx="0" cy="977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/>
          </a:extLst>
        </p:spPr>
        <p:txBody>
          <a:bodyPr wrap="none" anchor="ctr"/>
          <a:lstStyle/>
          <a:p>
            <a:pPr/>
            <a:endParaRPr lang="zh-CN" altLang="en-US"/>
          </a:p>
        </p:txBody>
      </p:sp>
      <p:sp>
        <p:nvSpPr>
          <p:cNvPr id="1186" name="Rectangle 154"/>
          <p:cNvSpPr>
            <a:spLocks noChangeArrowheads="true"/>
          </p:cNvSpPr>
          <p:nvPr/>
        </p:nvSpPr>
        <p:spPr bwMode="auto">
          <a:xfrm>
            <a:off x="4362450" y="6049963"/>
            <a:ext cx="571500" cy="328612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lIns="50800" tIns="26987" rIns="50800" bIns="26987">
            <a:spAutoFit/>
          </a:bodyPr>
          <a:lstStyle>
            <a:lvl1pPr defTabSz="276225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 defTabSz="276225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 defTabSz="276225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 defTabSz="276225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 defTabSz="276225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defTabSz="276225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defTabSz="276225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defTabSz="276225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defTabSz="276225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r>
              <a:rPr lang="en-US" altLang="zh-CN" sz="1800">
                <a:latin typeface="Helvetica" pitchFamily="34" charset="0"/>
              </a:rPr>
              <a:t>data</a:t>
            </a:r>
            <a:endParaRPr/>
          </a:p>
        </p:txBody>
      </p:sp>
      <p:sp>
        <p:nvSpPr>
          <p:cNvPr id="1187" name="Line 155"/>
          <p:cNvSpPr>
            <a:spLocks noChangeShapeType="true"/>
          </p:cNvSpPr>
          <p:nvPr/>
        </p:nvSpPr>
        <p:spPr bwMode="auto">
          <a:xfrm>
            <a:off x="2589213" y="5299075"/>
            <a:ext cx="0" cy="9191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/>
          </a:extLst>
        </p:spPr>
        <p:txBody>
          <a:bodyPr wrap="none" anchor="ctr"/>
          <a:lstStyle/>
          <a:p>
            <a:pPr/>
            <a:endParaRPr lang="zh-CN" altLang="en-US"/>
          </a:p>
        </p:txBody>
      </p:sp>
      <p:sp>
        <p:nvSpPr>
          <p:cNvPr id="1188" name="Line 156"/>
          <p:cNvSpPr>
            <a:spLocks noChangeShapeType="true"/>
          </p:cNvSpPr>
          <p:nvPr/>
        </p:nvSpPr>
        <p:spPr bwMode="auto">
          <a:xfrm>
            <a:off x="3003550" y="5307013"/>
            <a:ext cx="0" cy="6159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/>
          </a:extLst>
        </p:spPr>
        <p:txBody>
          <a:bodyPr wrap="none" anchor="ctr"/>
          <a:lstStyle/>
          <a:p>
            <a:pPr/>
            <a:endParaRPr lang="zh-CN" altLang="en-US"/>
          </a:p>
        </p:txBody>
      </p:sp>
      <p:sp>
        <p:nvSpPr>
          <p:cNvPr id="1189" name="Line 157"/>
          <p:cNvSpPr>
            <a:spLocks noChangeShapeType="true"/>
          </p:cNvSpPr>
          <p:nvPr/>
        </p:nvSpPr>
        <p:spPr bwMode="auto">
          <a:xfrm>
            <a:off x="2146300" y="5978525"/>
            <a:ext cx="749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/>
          </a:extLst>
        </p:spPr>
        <p:txBody>
          <a:bodyPr wrap="none" anchor="ctr"/>
          <a:lstStyle/>
          <a:p>
            <a:pPr/>
            <a:endParaRPr lang="zh-CN" altLang="en-US"/>
          </a:p>
        </p:txBody>
      </p:sp>
      <p:sp>
        <p:nvSpPr>
          <p:cNvPr id="1190" name="Oval 158"/>
          <p:cNvSpPr>
            <a:spLocks noChangeArrowheads="true"/>
          </p:cNvSpPr>
          <p:nvPr/>
        </p:nvSpPr>
        <p:spPr bwMode="auto">
          <a:xfrm>
            <a:off x="2917825" y="5935663"/>
            <a:ext cx="155575" cy="1555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</a:ln>
        </p:spPr>
        <p:txBody>
          <a:bodyPr wrap="none" lIns="50800" tIns="26987" rIns="50800" bIns="26987" anchor="ctr"/>
          <a:lstStyle>
            <a:lvl1pPr defTabSz="276225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 defTabSz="276225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 defTabSz="276225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 defTabSz="276225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 defTabSz="276225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defTabSz="276225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defTabSz="276225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defTabSz="276225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defTabSz="276225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/>
            <a:r>
              <a:rPr lang="en-US" altLang="zh-CN" sz="1000">
                <a:latin typeface="Helvetica" pitchFamily="34" charset="0"/>
              </a:rPr>
              <a:t>=</a:t>
            </a:r>
            <a:endParaRPr/>
          </a:p>
        </p:txBody>
      </p:sp>
      <p:sp>
        <p:nvSpPr>
          <p:cNvPr id="1191" name="Line 159"/>
          <p:cNvSpPr>
            <a:spLocks noChangeShapeType="true"/>
          </p:cNvSpPr>
          <p:nvPr/>
        </p:nvSpPr>
        <p:spPr bwMode="auto">
          <a:xfrm>
            <a:off x="2995613" y="6103938"/>
            <a:ext cx="0" cy="2238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/>
          </a:extLst>
        </p:spPr>
        <p:txBody>
          <a:bodyPr wrap="none" anchor="ctr"/>
          <a:lstStyle/>
          <a:p>
            <a:pPr/>
            <a:endParaRPr lang="zh-CN" altLang="en-US"/>
          </a:p>
        </p:txBody>
      </p:sp>
      <p:sp>
        <p:nvSpPr>
          <p:cNvPr id="1192" name="Line 160"/>
          <p:cNvSpPr>
            <a:spLocks noChangeShapeType="true"/>
          </p:cNvSpPr>
          <p:nvPr/>
        </p:nvSpPr>
        <p:spPr bwMode="auto">
          <a:xfrm flipH="true">
            <a:off x="2097088" y="6334125"/>
            <a:ext cx="8985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/>
          </a:extLst>
        </p:spPr>
        <p:txBody>
          <a:bodyPr wrap="none" anchor="ctr"/>
          <a:lstStyle/>
          <a:p>
            <a:pPr/>
            <a:endParaRPr lang="zh-CN" altLang="en-US"/>
          </a:p>
        </p:txBody>
      </p:sp>
      <p:sp>
        <p:nvSpPr>
          <p:cNvPr id="1193" name="Oval 161"/>
          <p:cNvSpPr>
            <a:spLocks noChangeArrowheads="true"/>
          </p:cNvSpPr>
          <p:nvPr/>
        </p:nvSpPr>
        <p:spPr bwMode="auto">
          <a:xfrm>
            <a:off x="2576513" y="5272088"/>
            <a:ext cx="30162" cy="3016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endParaRPr lang="zh-CN" altLang="en-US"/>
          </a:p>
        </p:txBody>
      </p:sp>
      <p:sp>
        <p:nvSpPr>
          <p:cNvPr id="1194" name="Oval 162"/>
          <p:cNvSpPr>
            <a:spLocks noChangeArrowheads="true"/>
          </p:cNvSpPr>
          <p:nvPr/>
        </p:nvSpPr>
        <p:spPr bwMode="auto">
          <a:xfrm>
            <a:off x="2987675" y="5272088"/>
            <a:ext cx="30163" cy="3016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endParaRPr lang="zh-CN" altLang="en-US"/>
          </a:p>
        </p:txBody>
      </p:sp>
      <p:sp>
        <p:nvSpPr>
          <p:cNvPr id="1195" name="Oval 163"/>
          <p:cNvSpPr>
            <a:spLocks noChangeArrowheads="true"/>
          </p:cNvSpPr>
          <p:nvPr/>
        </p:nvSpPr>
        <p:spPr bwMode="auto">
          <a:xfrm>
            <a:off x="4257675" y="5272088"/>
            <a:ext cx="30163" cy="3016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endParaRPr lang="zh-CN" altLang="en-US"/>
          </a:p>
        </p:txBody>
      </p:sp>
      <p:sp>
        <p:nvSpPr>
          <p:cNvPr id="1196" name="Line 164"/>
          <p:cNvSpPr>
            <a:spLocks noChangeShapeType="true"/>
          </p:cNvSpPr>
          <p:nvPr/>
        </p:nvSpPr>
        <p:spPr bwMode="auto">
          <a:xfrm flipH="true">
            <a:off x="2089150" y="6224588"/>
            <a:ext cx="5000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/>
          </a:extLst>
        </p:spPr>
        <p:txBody>
          <a:bodyPr wrap="none" anchor="ctr"/>
          <a:lstStyle/>
          <a:p>
            <a:pPr/>
            <a:endParaRPr lang="zh-CN" altLang="en-US"/>
          </a:p>
        </p:txBody>
      </p:sp>
      <p:sp>
        <p:nvSpPr>
          <p:cNvPr id="1197" name="Line 165"/>
          <p:cNvSpPr>
            <a:spLocks noChangeShapeType="true"/>
          </p:cNvSpPr>
          <p:nvPr/>
        </p:nvSpPr>
        <p:spPr bwMode="auto">
          <a:xfrm flipH="true">
            <a:off x="1403350" y="6291263"/>
            <a:ext cx="4905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/>
          </a:extLst>
        </p:spPr>
        <p:txBody>
          <a:bodyPr wrap="none" anchor="ctr"/>
          <a:lstStyle/>
          <a:p>
            <a:pPr/>
            <a:endParaRPr lang="zh-CN" altLang="en-US"/>
          </a:p>
        </p:txBody>
      </p:sp>
      <p:sp>
        <p:nvSpPr>
          <p:cNvPr id="1198" name="Rectangle 166"/>
          <p:cNvSpPr>
            <a:spLocks noChangeArrowheads="true"/>
          </p:cNvSpPr>
          <p:nvPr/>
        </p:nvSpPr>
        <p:spPr bwMode="auto">
          <a:xfrm>
            <a:off x="292100" y="6096000"/>
            <a:ext cx="11715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lIns="90487" tIns="44450" rIns="90487" bIns="44450">
            <a:spAutoFit/>
          </a:bodyPr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r>
              <a:rPr lang="en-US" altLang="zh-CN" sz="1800">
                <a:latin typeface="Helvetica" pitchFamily="34" charset="0"/>
              </a:rPr>
              <a:t>cache hit</a:t>
            </a:r>
            <a:endParaRPr/>
          </a:p>
        </p:txBody>
      </p:sp>
      <p:sp>
        <p:nvSpPr>
          <p:cNvPr id="1199" name="Line 167"/>
          <p:cNvSpPr>
            <a:spLocks noChangeShapeType="true"/>
          </p:cNvSpPr>
          <p:nvPr/>
        </p:nvSpPr>
        <p:spPr bwMode="auto">
          <a:xfrm>
            <a:off x="4044950" y="4232275"/>
            <a:ext cx="0" cy="368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/>
          </a:extLst>
        </p:spPr>
        <p:txBody>
          <a:bodyPr wrap="none" anchor="ctr"/>
          <a:lstStyle/>
          <a:p>
            <a:pPr/>
            <a:endParaRPr lang="zh-CN" altLang="en-US"/>
          </a:p>
        </p:txBody>
      </p:sp>
      <p:sp>
        <p:nvSpPr>
          <p:cNvPr id="1200" name="Line 168"/>
          <p:cNvSpPr>
            <a:spLocks noChangeShapeType="true"/>
          </p:cNvSpPr>
          <p:nvPr/>
        </p:nvSpPr>
        <p:spPr bwMode="auto">
          <a:xfrm flipH="true">
            <a:off x="2139950" y="4606925"/>
            <a:ext cx="1905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/>
          </a:extLst>
        </p:spPr>
        <p:txBody>
          <a:bodyPr wrap="none" anchor="ctr"/>
          <a:lstStyle/>
          <a:p>
            <a:pPr/>
            <a:endParaRPr lang="zh-CN" altLang="en-US"/>
          </a:p>
        </p:txBody>
      </p:sp>
      <p:sp>
        <p:nvSpPr>
          <p:cNvPr id="1201" name="Line 169"/>
          <p:cNvSpPr>
            <a:spLocks noChangeShapeType="true"/>
          </p:cNvSpPr>
          <p:nvPr/>
        </p:nvSpPr>
        <p:spPr bwMode="auto">
          <a:xfrm>
            <a:off x="2139950" y="4613275"/>
            <a:ext cx="0" cy="1358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/>
          </a:extLst>
        </p:spPr>
        <p:txBody>
          <a:bodyPr wrap="none" anchor="ctr"/>
          <a:lstStyle/>
          <a:p>
            <a:pPr/>
            <a:endParaRPr lang="zh-CN" altLang="en-US"/>
          </a:p>
        </p:txBody>
      </p:sp>
      <p:sp>
        <p:nvSpPr>
          <p:cNvPr id="1202" name="Rectangle 170"/>
          <p:cNvSpPr>
            <a:spLocks noChangeArrowheads="true"/>
          </p:cNvSpPr>
          <p:nvPr/>
        </p:nvSpPr>
        <p:spPr bwMode="auto">
          <a:xfrm>
            <a:off x="2582863" y="4325938"/>
            <a:ext cx="446087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lIns="90487" tIns="44450" rIns="90487" bIns="44450">
            <a:spAutoFit/>
          </a:bodyPr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r>
              <a:rPr lang="en-US" altLang="zh-CN" sz="1400">
                <a:latin typeface="Helvetica" pitchFamily="34" charset="0"/>
              </a:rPr>
              <a:t>tag</a:t>
            </a:r>
            <a:endParaRPr/>
          </a:p>
        </p:txBody>
      </p:sp>
      <p:sp>
        <p:nvSpPr>
          <p:cNvPr id="1203" name="Line 173"/>
          <p:cNvSpPr>
            <a:spLocks noChangeShapeType="true"/>
          </p:cNvSpPr>
          <p:nvPr/>
        </p:nvSpPr>
        <p:spPr bwMode="auto">
          <a:xfrm>
            <a:off x="5568950" y="4232275"/>
            <a:ext cx="0" cy="368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/>
          </a:extLst>
        </p:spPr>
        <p:txBody>
          <a:bodyPr wrap="none" anchor="ctr"/>
          <a:lstStyle/>
          <a:p>
            <a:pPr/>
            <a:endParaRPr lang="zh-CN" altLang="en-US"/>
          </a:p>
        </p:txBody>
      </p:sp>
      <p:sp>
        <p:nvSpPr>
          <p:cNvPr id="1204" name="Line 174"/>
          <p:cNvSpPr>
            <a:spLocks noChangeShapeType="true"/>
          </p:cNvSpPr>
          <p:nvPr/>
        </p:nvSpPr>
        <p:spPr bwMode="auto">
          <a:xfrm>
            <a:off x="5568950" y="4613275"/>
            <a:ext cx="0" cy="673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/>
          </a:extLst>
        </p:spPr>
        <p:txBody>
          <a:bodyPr wrap="none" anchor="ctr"/>
          <a:lstStyle/>
          <a:p>
            <a:pPr/>
            <a:endParaRPr lang="zh-CN" altLang="en-US"/>
          </a:p>
        </p:txBody>
      </p:sp>
      <p:sp>
        <p:nvSpPr>
          <p:cNvPr id="1205" name="Rectangle 175"/>
          <p:cNvSpPr>
            <a:spLocks noChangeArrowheads="true"/>
          </p:cNvSpPr>
          <p:nvPr/>
        </p:nvSpPr>
        <p:spPr bwMode="auto">
          <a:xfrm>
            <a:off x="4995863" y="4402138"/>
            <a:ext cx="927100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lIns="90487" tIns="44450" rIns="90487" bIns="44450">
            <a:spAutoFit/>
          </a:bodyPr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r>
              <a:rPr lang="en-US" altLang="zh-CN" sz="1400">
                <a:latin typeface="Helvetica" pitchFamily="34" charset="0"/>
              </a:rPr>
              <a:t>index</a:t>
            </a:r>
            <a:endParaRPr/>
          </a:p>
        </p:txBody>
      </p:sp>
      <p:sp>
        <p:nvSpPr>
          <p:cNvPr id="1206" name="Oval 176"/>
          <p:cNvSpPr>
            <a:spLocks noChangeArrowheads="true"/>
          </p:cNvSpPr>
          <p:nvPr/>
        </p:nvSpPr>
        <p:spPr bwMode="auto">
          <a:xfrm>
            <a:off x="1687513" y="3663950"/>
            <a:ext cx="279400" cy="19685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endParaRPr lang="zh-CN" altLang="en-US"/>
          </a:p>
        </p:txBody>
      </p:sp>
      <p:sp>
        <p:nvSpPr>
          <p:cNvPr id="1207" name="Rectangle 177"/>
          <p:cNvSpPr>
            <a:spLocks noChangeArrowheads="true"/>
          </p:cNvSpPr>
          <p:nvPr/>
        </p:nvSpPr>
        <p:spPr bwMode="auto">
          <a:xfrm>
            <a:off x="1847850" y="3657600"/>
            <a:ext cx="168275" cy="209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/>
          </a:extLst>
        </p:spPr>
        <p:txBody>
          <a:bodyPr wrap="none" anchor="ctr"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endParaRPr lang="zh-CN" altLang="en-US"/>
          </a:p>
        </p:txBody>
      </p:sp>
      <p:sp>
        <p:nvSpPr>
          <p:cNvPr id="1208" name="Line 178"/>
          <p:cNvSpPr>
            <a:spLocks noChangeShapeType="true"/>
          </p:cNvSpPr>
          <p:nvPr/>
        </p:nvSpPr>
        <p:spPr bwMode="auto">
          <a:xfrm flipV="true">
            <a:off x="1847850" y="3657600"/>
            <a:ext cx="0" cy="2095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/>
          </a:extLst>
        </p:spPr>
        <p:txBody>
          <a:bodyPr wrap="none" anchor="ctr"/>
          <a:lstStyle/>
          <a:p>
            <a:pPr/>
            <a:endParaRPr lang="zh-CN" altLang="en-US"/>
          </a:p>
        </p:txBody>
      </p:sp>
      <p:sp>
        <p:nvSpPr>
          <p:cNvPr id="1209" name="Line 179"/>
          <p:cNvSpPr>
            <a:spLocks noChangeShapeType="true"/>
          </p:cNvSpPr>
          <p:nvPr/>
        </p:nvSpPr>
        <p:spPr bwMode="auto">
          <a:xfrm>
            <a:off x="1273175" y="3463925"/>
            <a:ext cx="13938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/>
          </a:extLst>
        </p:spPr>
        <p:txBody>
          <a:bodyPr wrap="none" anchor="ctr"/>
          <a:lstStyle/>
          <a:p>
            <a:pPr/>
            <a:endParaRPr lang="zh-CN" altLang="en-US"/>
          </a:p>
        </p:txBody>
      </p:sp>
      <p:sp>
        <p:nvSpPr>
          <p:cNvPr id="1210" name="Oval 180"/>
          <p:cNvSpPr>
            <a:spLocks noChangeArrowheads="true"/>
          </p:cNvSpPr>
          <p:nvPr/>
        </p:nvSpPr>
        <p:spPr bwMode="auto">
          <a:xfrm>
            <a:off x="2689225" y="3421063"/>
            <a:ext cx="155575" cy="1555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</a:ln>
        </p:spPr>
        <p:txBody>
          <a:bodyPr wrap="none" lIns="50800" tIns="26987" rIns="50800" bIns="26987" anchor="ctr"/>
          <a:lstStyle>
            <a:lvl1pPr defTabSz="276225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 defTabSz="276225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 defTabSz="276225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 defTabSz="276225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 defTabSz="276225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defTabSz="276225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defTabSz="276225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defTabSz="276225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defTabSz="276225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/>
            <a:r>
              <a:rPr lang="en-US" altLang="zh-CN" sz="1000">
                <a:latin typeface="Helvetica" pitchFamily="34" charset="0"/>
              </a:rPr>
              <a:t>=</a:t>
            </a:r>
            <a:endParaRPr/>
          </a:p>
        </p:txBody>
      </p:sp>
      <p:sp>
        <p:nvSpPr>
          <p:cNvPr id="1211" name="Line 181"/>
          <p:cNvSpPr>
            <a:spLocks noChangeShapeType="true"/>
          </p:cNvSpPr>
          <p:nvPr/>
        </p:nvSpPr>
        <p:spPr bwMode="auto">
          <a:xfrm>
            <a:off x="2767013" y="3589338"/>
            <a:ext cx="0" cy="2238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/>
          </a:extLst>
        </p:spPr>
        <p:txBody>
          <a:bodyPr wrap="none" anchor="ctr"/>
          <a:lstStyle/>
          <a:p>
            <a:pPr/>
            <a:endParaRPr lang="zh-CN" altLang="en-US"/>
          </a:p>
        </p:txBody>
      </p:sp>
      <p:sp>
        <p:nvSpPr>
          <p:cNvPr id="1212" name="Line 182"/>
          <p:cNvSpPr>
            <a:spLocks noChangeShapeType="true"/>
          </p:cNvSpPr>
          <p:nvPr/>
        </p:nvSpPr>
        <p:spPr bwMode="auto">
          <a:xfrm flipH="true">
            <a:off x="1868488" y="3819525"/>
            <a:ext cx="8985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/>
          </a:extLst>
        </p:spPr>
        <p:txBody>
          <a:bodyPr wrap="none" anchor="ctr"/>
          <a:lstStyle/>
          <a:p>
            <a:pPr/>
            <a:endParaRPr lang="zh-CN" altLang="en-US"/>
          </a:p>
        </p:txBody>
      </p:sp>
      <p:sp>
        <p:nvSpPr>
          <p:cNvPr id="1213" name="Line 183"/>
          <p:cNvSpPr>
            <a:spLocks noChangeShapeType="true"/>
          </p:cNvSpPr>
          <p:nvPr/>
        </p:nvSpPr>
        <p:spPr bwMode="auto">
          <a:xfrm flipH="true">
            <a:off x="1852613" y="3703638"/>
            <a:ext cx="509587" cy="4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/>
          </a:extLst>
        </p:spPr>
        <p:txBody>
          <a:bodyPr wrap="none" anchor="ctr"/>
          <a:lstStyle/>
          <a:p>
            <a:pPr/>
            <a:endParaRPr lang="zh-CN" altLang="en-US"/>
          </a:p>
        </p:txBody>
      </p:sp>
      <p:sp>
        <p:nvSpPr>
          <p:cNvPr id="1214" name="Line 184"/>
          <p:cNvSpPr>
            <a:spLocks noChangeShapeType="true"/>
          </p:cNvSpPr>
          <p:nvPr/>
        </p:nvSpPr>
        <p:spPr bwMode="auto">
          <a:xfrm flipH="true">
            <a:off x="1174750" y="3776663"/>
            <a:ext cx="4905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/>
          </a:extLst>
        </p:spPr>
        <p:txBody>
          <a:bodyPr wrap="none" anchor="ctr"/>
          <a:lstStyle/>
          <a:p>
            <a:pPr/>
            <a:endParaRPr lang="zh-CN" altLang="en-US"/>
          </a:p>
        </p:txBody>
      </p:sp>
      <p:sp>
        <p:nvSpPr>
          <p:cNvPr id="1215" name="Rectangle 185"/>
          <p:cNvSpPr>
            <a:spLocks noChangeArrowheads="true"/>
          </p:cNvSpPr>
          <p:nvPr/>
        </p:nvSpPr>
        <p:spPr bwMode="auto">
          <a:xfrm>
            <a:off x="304800" y="3632200"/>
            <a:ext cx="9683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lIns="90487" tIns="44450" rIns="90487" bIns="44450">
            <a:spAutoFit/>
          </a:bodyPr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r>
              <a:rPr lang="en-US" altLang="zh-CN" sz="1800">
                <a:latin typeface="Helvetica" pitchFamily="34" charset="0"/>
              </a:rPr>
              <a:t>TLB hit</a:t>
            </a:r>
            <a:endParaRPr/>
          </a:p>
        </p:txBody>
      </p:sp>
      <p:sp>
        <p:nvSpPr>
          <p:cNvPr id="1216" name="Line 186"/>
          <p:cNvSpPr>
            <a:spLocks noChangeShapeType="true"/>
          </p:cNvSpPr>
          <p:nvPr/>
        </p:nvSpPr>
        <p:spPr bwMode="auto">
          <a:xfrm>
            <a:off x="2781300" y="2768600"/>
            <a:ext cx="0" cy="6207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/>
          </a:extLst>
        </p:spPr>
        <p:txBody>
          <a:bodyPr wrap="none" anchor="ctr"/>
          <a:lstStyle/>
          <a:p>
            <a:pPr/>
            <a:endParaRPr lang="zh-CN" altLang="en-US"/>
          </a:p>
        </p:txBody>
      </p:sp>
      <p:sp>
        <p:nvSpPr>
          <p:cNvPr id="1217" name="Line 187"/>
          <p:cNvSpPr>
            <a:spLocks noChangeShapeType="true"/>
          </p:cNvSpPr>
          <p:nvPr/>
        </p:nvSpPr>
        <p:spPr bwMode="auto">
          <a:xfrm>
            <a:off x="2362200" y="2784475"/>
            <a:ext cx="0" cy="9191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/>
          </a:extLst>
        </p:spPr>
        <p:txBody>
          <a:bodyPr wrap="none" anchor="ctr"/>
          <a:lstStyle/>
          <a:p>
            <a:pPr/>
            <a:endParaRPr lang="zh-CN" altLang="en-US"/>
          </a:p>
        </p:txBody>
      </p:sp>
      <p:sp>
        <p:nvSpPr>
          <p:cNvPr id="1218" name="Line 188"/>
          <p:cNvSpPr>
            <a:spLocks noChangeShapeType="true"/>
          </p:cNvSpPr>
          <p:nvPr/>
        </p:nvSpPr>
        <p:spPr bwMode="auto">
          <a:xfrm flipH="true">
            <a:off x="3886200" y="2792413"/>
            <a:ext cx="0" cy="11699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/>
          </a:extLst>
        </p:spPr>
        <p:txBody>
          <a:bodyPr wrap="none" anchor="ctr"/>
          <a:lstStyle/>
          <a:p>
            <a:pPr/>
            <a:endParaRPr lang="zh-CN" altLang="en-US"/>
          </a:p>
        </p:txBody>
      </p:sp>
      <p:sp>
        <p:nvSpPr>
          <p:cNvPr id="1219" name="AutoShape 189"/>
          <p:cNvSpPr/>
          <p:nvPr/>
        </p:nvSpPr>
        <p:spPr bwMode="auto">
          <a:xfrm>
            <a:off x="7162800" y="1828800"/>
            <a:ext cx="304800" cy="1905000"/>
          </a:xfrm>
          <a:prstGeom prst="rightBrace">
            <a:avLst>
              <a:gd name="adj1" fmla="val 52083"/>
              <a:gd name="adj2" fmla="val 50000"/>
            </a:avLst>
          </a:prstGeom>
          <a:noFill/>
          <a:ln w="25400">
            <a:solidFill>
              <a:schemeClr val="tx1"/>
            </a:solidFill>
            <a:round/>
          </a:ln>
          <a:extLst>
            <a:ext uri="{909E8E84-426E-40DD-AFC4-6F175D3DCCD1}"/>
          </a:extLst>
        </p:spPr>
        <p:txBody>
          <a:bodyPr wrap="none" anchor="ctr"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endParaRPr lang="zh-CN" altLang="en-US"/>
          </a:p>
        </p:txBody>
      </p:sp>
      <p:sp>
        <p:nvSpPr>
          <p:cNvPr id="1220" name="AutoShape 190"/>
          <p:cNvSpPr/>
          <p:nvPr/>
        </p:nvSpPr>
        <p:spPr bwMode="auto">
          <a:xfrm>
            <a:off x="7620000" y="3962400"/>
            <a:ext cx="228600" cy="2286000"/>
          </a:xfrm>
          <a:prstGeom prst="rightBrace">
            <a:avLst>
              <a:gd name="adj1" fmla="val 83333"/>
              <a:gd name="adj2" fmla="val 50000"/>
            </a:avLst>
          </a:prstGeom>
          <a:noFill/>
          <a:ln w="25400">
            <a:solidFill>
              <a:schemeClr val="tx1"/>
            </a:solidFill>
            <a:round/>
          </a:ln>
          <a:extLst>
            <a:ext uri="{909E8E84-426E-40DD-AFC4-6F175D3DCCD1}"/>
          </a:extLst>
        </p:spPr>
        <p:txBody>
          <a:bodyPr wrap="none" anchor="ctr"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endParaRPr lang="zh-CN" altLang="en-US"/>
          </a:p>
        </p:txBody>
      </p:sp>
      <p:sp>
        <p:nvSpPr>
          <p:cNvPr id="1221" name="Text Box 191"/>
          <p:cNvSpPr txBox="true">
            <a:spLocks noChangeArrowheads="true"/>
          </p:cNvSpPr>
          <p:nvPr/>
        </p:nvSpPr>
        <p:spPr bwMode="auto">
          <a:xfrm>
            <a:off x="7467600" y="2528888"/>
            <a:ext cx="628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r>
              <a:rPr lang="en-US" altLang="zh-CN" sz="1800">
                <a:latin typeface="Helvetica" pitchFamily="34" charset="0"/>
              </a:rPr>
              <a:t>TLB</a:t>
            </a:r>
            <a:endParaRPr/>
          </a:p>
        </p:txBody>
      </p:sp>
      <p:sp>
        <p:nvSpPr>
          <p:cNvPr id="1222" name="Text Box 192"/>
          <p:cNvSpPr txBox="true">
            <a:spLocks noChangeArrowheads="true"/>
          </p:cNvSpPr>
          <p:nvPr/>
        </p:nvSpPr>
        <p:spPr bwMode="auto">
          <a:xfrm>
            <a:off x="7924800" y="4876800"/>
            <a:ext cx="869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r>
              <a:rPr lang="en-US" altLang="zh-CN" sz="1800">
                <a:latin typeface="Helvetica" pitchFamily="34" charset="0"/>
              </a:rPr>
              <a:t>Cache</a:t>
            </a:r>
            <a:endParaRPr/>
          </a:p>
        </p:txBody>
      </p:sp>
      <p:sp>
        <p:nvSpPr>
          <p:cNvPr id="1223" name="Text Box 193"/>
          <p:cNvSpPr txBox="true">
            <a:spLocks noChangeArrowheads="true"/>
          </p:cNvSpPr>
          <p:nvPr/>
        </p:nvSpPr>
        <p:spPr bwMode="auto">
          <a:xfrm>
            <a:off x="2230438" y="2490788"/>
            <a:ext cx="265112" cy="417512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lIns="90487" tIns="44450" rIns="90487" bIns="44450">
            <a:spAutoFit/>
          </a:bodyPr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zh-CN" sz="2400">
                <a:solidFill>
                  <a:schemeClr val="tx2"/>
                </a:solidFill>
                <a:latin typeface="Helvetica" pitchFamily="34" charset="0"/>
              </a:rPr>
              <a:t>.</a:t>
            </a:r>
            <a:endParaRPr/>
          </a:p>
        </p:txBody>
      </p:sp>
      <p:sp>
        <p:nvSpPr>
          <p:cNvPr id="1224" name="Text Box 194"/>
          <p:cNvSpPr txBox="true">
            <a:spLocks noChangeArrowheads="true"/>
          </p:cNvSpPr>
          <p:nvPr/>
        </p:nvSpPr>
        <p:spPr bwMode="auto">
          <a:xfrm>
            <a:off x="3754438" y="2497138"/>
            <a:ext cx="265112" cy="417512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lIns="90487" tIns="44450" rIns="90487" bIns="44450">
            <a:spAutoFit/>
          </a:bodyPr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zh-CN" sz="2400">
                <a:solidFill>
                  <a:schemeClr val="tx2"/>
                </a:solidFill>
                <a:latin typeface="Helvetica" pitchFamily="34" charset="0"/>
              </a:rPr>
              <a:t>.</a:t>
            </a:r>
            <a:endParaRPr/>
          </a:p>
        </p:txBody>
      </p:sp>
      <p:sp>
        <p:nvSpPr>
          <p:cNvPr id="1225" name="Text Box 195"/>
          <p:cNvSpPr txBox="true">
            <a:spLocks noChangeArrowheads="true"/>
          </p:cNvSpPr>
          <p:nvPr/>
        </p:nvSpPr>
        <p:spPr bwMode="auto">
          <a:xfrm>
            <a:off x="2649538" y="2497138"/>
            <a:ext cx="265112" cy="417512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lIns="90487" tIns="44450" rIns="90487" bIns="44450">
            <a:spAutoFit/>
          </a:bodyPr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zh-CN" sz="2400">
                <a:solidFill>
                  <a:schemeClr val="tx2"/>
                </a:solidFill>
                <a:latin typeface="Helvetica" pitchFamily="34" charset="0"/>
              </a:rPr>
              <a:t>.</a:t>
            </a:r>
            <a:endParaRPr/>
          </a:p>
        </p:txBody>
      </p:sp>
      <p:sp>
        <p:nvSpPr>
          <p:cNvPr id="1226" name="Rectangle 2"/>
          <p:cNvSpPr>
            <a:spLocks noChangeArrowheads="true"/>
          </p:cNvSpPr>
          <p:nvPr/>
        </p:nvSpPr>
        <p:spPr bwMode="auto">
          <a:xfrm>
            <a:off x="5922963" y="3968750"/>
            <a:ext cx="1635125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/>
            <a:r>
              <a:rPr lang="en-US" altLang="zh-CN" sz="1400">
                <a:solidFill>
                  <a:srgbClr val="000000"/>
                </a:solidFill>
                <a:latin typeface="Helvetica" pitchFamily="34" charset="0"/>
              </a:rPr>
              <a:t>physical address</a:t>
            </a:r>
            <a:endParaRPr/>
          </a:p>
        </p:txBody>
      </p:sp>
      <p:sp>
        <p:nvSpPr>
          <p:cNvPr id="1227" name="Rectangle 102"/>
          <p:cNvSpPr>
            <a:spLocks noChangeArrowheads="true"/>
          </p:cNvSpPr>
          <p:nvPr/>
        </p:nvSpPr>
        <p:spPr bwMode="auto">
          <a:xfrm>
            <a:off x="2613025" y="4008438"/>
            <a:ext cx="2090738" cy="228600"/>
          </a:xfrm>
          <a:prstGeom prst="rect">
            <a:avLst/>
          </a:prstGeom>
          <a:solidFill>
            <a:srgbClr val="CC99FF"/>
          </a:solidFill>
          <a:ln w="12700">
            <a:solidFill>
              <a:schemeClr val="tx1"/>
            </a:solidFill>
            <a:miter lim="800000"/>
          </a:ln>
        </p:spPr>
        <p:txBody>
          <a:bodyPr wrap="none" lIns="46037" tIns="23812" rIns="46037" bIns="23812" anchor="ctr"/>
          <a:lstStyle>
            <a:lvl1pPr defTabSz="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 defTabSz="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 defTabSz="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 defTabSz="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 defTabSz="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defTabSz="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defTabSz="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defTabSz="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defTabSz="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/>
            <a:r>
              <a:rPr lang="en-US" altLang="zh-CN" sz="1400">
                <a:latin typeface="Helvetica" pitchFamily="34" charset="0"/>
              </a:rPr>
              <a:t>physical page number</a:t>
            </a:r>
            <a:endParaRPr/>
          </a:p>
        </p:txBody>
      </p:sp>
      <p:sp>
        <p:nvSpPr>
          <p:cNvPr id="1228" name="Rectangle 103"/>
          <p:cNvSpPr>
            <a:spLocks noChangeArrowheads="true"/>
          </p:cNvSpPr>
          <p:nvPr/>
        </p:nvSpPr>
        <p:spPr bwMode="auto">
          <a:xfrm>
            <a:off x="4703763" y="4008438"/>
            <a:ext cx="1100137" cy="228600"/>
          </a:xfrm>
          <a:prstGeom prst="rect">
            <a:avLst/>
          </a:prstGeom>
          <a:solidFill>
            <a:srgbClr val="66FFFF"/>
          </a:solidFill>
          <a:ln w="12700">
            <a:solidFill>
              <a:schemeClr val="tx1"/>
            </a:solidFill>
            <a:miter lim="800000"/>
          </a:ln>
        </p:spPr>
        <p:txBody>
          <a:bodyPr wrap="none" lIns="46037" tIns="23812" rIns="46037" bIns="23812" anchor="ctr"/>
          <a:lstStyle>
            <a:lvl1pPr defTabSz="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 defTabSz="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 defTabSz="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 defTabSz="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 defTabSz="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defTabSz="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defTabSz="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defTabSz="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defTabSz="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/>
            <a:r>
              <a:rPr lang="en-US" altLang="zh-CN" sz="1400">
                <a:latin typeface="Helvetica" pitchFamily="34" charset="0"/>
              </a:rPr>
              <a:t>page offset</a:t>
            </a:r>
            <a:endParaRPr/>
          </a:p>
        </p:txBody>
      </p:sp>
    </p:spTree>
  </p:cSld>
  <p:clrMapOvr>
    <a:masterClrMapping/>
  </p:clrMapOvr>
</p:sld>
</file>

<file path=ppt/slides/slide81.xml><?xml version="1.0" encoding="utf-8"?>
<p:sld xmlns:p="http://schemas.openxmlformats.org/presentationml/2006/main" xmlns:a16="http://schemas.microsoft.com/office/drawing/2014/main" xmlns:a="http://schemas.openxmlformats.org/drawingml/2006/main" xmlns:mc="http://schemas.openxmlformats.org/markup-compatibility/2006" mc:Ignorable="a16">
  <p:cSld>
    <p:spTree>
      <p:nvGrpSpPr>
        <p:cNvPr id="12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0" name="Group 54"/>
          <p:cNvGrpSpPr/>
          <p:nvPr/>
        </p:nvGrpSpPr>
        <p:grpSpPr>
          <a:xfrm>
            <a:off x="3911600" y="3028950"/>
            <a:ext cx="992188" cy="309563"/>
            <a:chOff x="2445" y="1645"/>
            <a:chExt cx="625" cy="195"/>
          </a:xfrm>
        </p:grpSpPr>
        <p:sp>
          <p:nvSpPr>
            <p:cNvPr id="1231" name="Line 55"/>
            <p:cNvSpPr>
              <a:spLocks noChangeShapeType="true"/>
            </p:cNvSpPr>
            <p:nvPr/>
          </p:nvSpPr>
          <p:spPr bwMode="auto">
            <a:xfrm>
              <a:off x="2445" y="1705"/>
              <a:ext cx="6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/>
            </a:extLst>
          </p:spPr>
          <p:txBody>
            <a:bodyPr wrap="none" lIns="90487" tIns="44450" rIns="90487" bIns="44450"/>
            <a:lstStyle/>
            <a:p>
              <a:pPr/>
              <a:endParaRPr lang="zh-CN" altLang="en-US"/>
            </a:p>
          </p:txBody>
        </p:sp>
        <p:sp>
          <p:nvSpPr>
            <p:cNvPr id="1232" name="Text Box 56"/>
            <p:cNvSpPr txBox="true">
              <a:spLocks noChangeArrowheads="true"/>
            </p:cNvSpPr>
            <p:nvPr/>
          </p:nvSpPr>
          <p:spPr bwMode="auto">
            <a:xfrm>
              <a:off x="2586" y="1645"/>
              <a:ext cx="398" cy="1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/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30000"/>
                </a:spcBef>
              </a:pPr>
              <a:r>
                <a:rPr lang="en-US" altLang="zh-CN" sz="1600">
                  <a:solidFill>
                    <a:schemeClr val="tx2"/>
                  </a:solidFill>
                  <a:latin typeface="Helvetica" pitchFamily="34" charset="0"/>
                </a:rPr>
                <a:t>TLBI</a:t>
              </a:r>
              <a:endParaRPr/>
            </a:p>
          </p:txBody>
        </p:sp>
      </p:grpSp>
      <p:sp>
        <p:nvSpPr>
          <p:cNvPr id="1233" name="灯片编号占位符 5"/>
          <p:cNvSpPr>
            <a:spLocks noGrp="true"/>
          </p:cNvSpPr>
          <p:nvPr>
            <p:ph type="sldNum" sz="quarter" idx="12"/>
          </p:nvPr>
        </p:nvSpPr>
        <p:spPr>
          <a:xfrm rot="0" flipH="false" flipV="false">
            <a:off x="6934200" y="6172200"/>
            <a:ext cx="1295400" cy="457200"/>
          </a:xfrm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277DE12B-F1DC-1042-8618-F9162CB566DA}" type="slidenum">
              <a:rPr lang="zh-CN" altLang="en-US" sz="1400" b="false">
                <a:latin typeface="Times New Roman" panose="02020603050405020304" charset="0"/>
              </a:rPr>
              <a:t>86</a:t>
            </a:fld>
            <a:endParaRPr lang="en-US" altLang="zh-CN" sz="1400" b="false">
              <a:latin typeface="Times New Roman" panose="02020603050405020304" charset="0"/>
            </a:endParaRPr>
          </a:p>
        </p:txBody>
      </p:sp>
      <p:sp>
        <p:nvSpPr>
          <p:cNvPr id="1234" name="Rectangle 3"/>
          <p:cNvSpPr>
            <a:spLocks noGrp="true" noChangeArrowheads="true"/>
          </p:cNvSpPr>
          <p:nvPr>
            <p:ph type="body" idx="1"/>
          </p:nvPr>
        </p:nvSpPr>
        <p:spPr>
          <a:xfrm rot="0" flipH="false" flipV="false">
            <a:off x="533400" y="1524000"/>
            <a:ext cx="4276725" cy="1143000"/>
          </a:xfrm>
        </p:spPr>
        <p:txBody>
          <a:bodyPr/>
          <a:lstStyle/>
          <a:p>
            <a:pPr>
              <a:lnSpc>
                <a:spcPct val="90000"/>
              </a:lnSpc>
              <a:buChar char="•"/>
            </a:pPr>
            <a:r>
              <a:rPr lang="en-US" sz="2400">
                <a:latin typeface="Comic Sans MS"/>
                <a:ea typeface="宋体"/>
                <a:cs typeface="宋体"/>
              </a:rPr>
              <a:t>TLB</a:t>
            </a:r>
            <a:endParaRPr/>
          </a:p>
          <a:p>
            <a:pPr lvl="1">
              <a:lnSpc>
                <a:spcPct val="90000"/>
              </a:lnSpc>
              <a:buChar char="–"/>
            </a:pPr>
            <a:r>
              <a:rPr lang="en-US" sz="2000">
                <a:latin typeface="Comic Sans MS"/>
                <a:ea typeface="宋体"/>
              </a:rPr>
              <a:t>16 entries</a:t>
            </a:r>
            <a:endParaRPr/>
          </a:p>
          <a:p>
            <a:pPr lvl="1">
              <a:lnSpc>
                <a:spcPct val="90000"/>
              </a:lnSpc>
              <a:buChar char="–"/>
            </a:pPr>
            <a:r>
              <a:rPr lang="en-US" sz="2000">
                <a:latin typeface="Comic Sans MS"/>
                <a:ea typeface="宋体"/>
              </a:rPr>
              <a:t>4-way set associative (2-bit)</a:t>
            </a:r>
            <a:endParaRPr/>
          </a:p>
        </p:txBody>
      </p:sp>
      <p:grpSp>
        <p:nvGrpSpPr>
          <p:cNvPr id="1235" name="Group 5"/>
          <p:cNvGrpSpPr/>
          <p:nvPr/>
        </p:nvGrpSpPr>
        <p:grpSpPr>
          <a:xfrm>
            <a:off x="990600" y="3236913"/>
            <a:ext cx="6823075" cy="609600"/>
            <a:chOff x="605" y="1776"/>
            <a:chExt cx="4298" cy="384"/>
          </a:xfrm>
        </p:grpSpPr>
        <p:grpSp>
          <p:nvGrpSpPr>
            <p:cNvPr id="1236" name="Group 6"/>
            <p:cNvGrpSpPr/>
            <p:nvPr/>
          </p:nvGrpSpPr>
          <p:grpSpPr>
            <a:xfrm>
              <a:off x="605" y="1776"/>
              <a:ext cx="307" cy="384"/>
              <a:chOff x="605" y="1776"/>
              <a:chExt cx="307" cy="384"/>
            </a:xfrm>
          </p:grpSpPr>
          <p:sp>
            <p:nvSpPr>
              <p:cNvPr id="1237" name="Rectangle 7"/>
              <p:cNvSpPr>
                <a:spLocks noChangeArrowheads="true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/>
              </a:extLst>
            </p:spPr>
            <p:txBody>
              <a:bodyPr wrap="none" lIns="90487" tIns="44450" rIns="90487" bIns="44450" anchor="ctr"/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/>
                <a:endParaRPr lang="zh-CN" altLang="en-US"/>
              </a:p>
            </p:txBody>
          </p:sp>
          <p:sp>
            <p:nvSpPr>
              <p:cNvPr id="1238" name="Rectangle 8"/>
              <p:cNvSpPr>
                <a:spLocks noChangeArrowheads="true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lIns="90487" tIns="44450" rIns="90487" bIns="44450" anchor="ctr"/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pitchFamily="34" charset="0"/>
                  </a:rPr>
                  <a:t>13</a:t>
                </a:r>
                <a:endParaRPr/>
              </a:p>
            </p:txBody>
          </p:sp>
        </p:grpSp>
        <p:grpSp>
          <p:nvGrpSpPr>
            <p:cNvPr id="1239" name="Group 9"/>
            <p:cNvGrpSpPr/>
            <p:nvPr/>
          </p:nvGrpSpPr>
          <p:grpSpPr>
            <a:xfrm>
              <a:off x="912" y="1776"/>
              <a:ext cx="307" cy="384"/>
              <a:chOff x="605" y="1776"/>
              <a:chExt cx="307" cy="384"/>
            </a:xfrm>
          </p:grpSpPr>
          <p:sp>
            <p:nvSpPr>
              <p:cNvPr id="1240" name="Rectangle 10"/>
              <p:cNvSpPr>
                <a:spLocks noChangeArrowheads="true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/>
              </a:extLst>
            </p:spPr>
            <p:txBody>
              <a:bodyPr wrap="none" lIns="90487" tIns="44450" rIns="90487" bIns="44450" anchor="ctr"/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/>
                <a:endParaRPr lang="zh-CN" altLang="en-US"/>
              </a:p>
            </p:txBody>
          </p:sp>
          <p:sp>
            <p:nvSpPr>
              <p:cNvPr id="1241" name="Rectangle 11"/>
              <p:cNvSpPr>
                <a:spLocks noChangeArrowheads="true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lIns="90487" tIns="44450" rIns="90487" bIns="44450" anchor="ctr"/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pitchFamily="34" charset="0"/>
                  </a:rPr>
                  <a:t>12</a:t>
                </a:r>
                <a:endParaRPr/>
              </a:p>
            </p:txBody>
          </p:sp>
        </p:grpSp>
        <p:grpSp>
          <p:nvGrpSpPr>
            <p:cNvPr id="1242" name="Group 12"/>
            <p:cNvGrpSpPr/>
            <p:nvPr/>
          </p:nvGrpSpPr>
          <p:grpSpPr>
            <a:xfrm>
              <a:off x="1219" y="1776"/>
              <a:ext cx="307" cy="384"/>
              <a:chOff x="605" y="1776"/>
              <a:chExt cx="307" cy="384"/>
            </a:xfrm>
          </p:grpSpPr>
          <p:sp>
            <p:nvSpPr>
              <p:cNvPr id="1243" name="Rectangle 13"/>
              <p:cNvSpPr>
                <a:spLocks noChangeArrowheads="true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/>
              </a:extLst>
            </p:spPr>
            <p:txBody>
              <a:bodyPr wrap="none" lIns="90487" tIns="44450" rIns="90487" bIns="44450" anchor="ctr"/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/>
                <a:endParaRPr lang="zh-CN" altLang="en-US"/>
              </a:p>
            </p:txBody>
          </p:sp>
          <p:sp>
            <p:nvSpPr>
              <p:cNvPr id="1244" name="Rectangle 14"/>
              <p:cNvSpPr>
                <a:spLocks noChangeArrowheads="true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lIns="90487" tIns="44450" rIns="90487" bIns="44450" anchor="ctr"/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pitchFamily="34" charset="0"/>
                  </a:rPr>
                  <a:t>11</a:t>
                </a:r>
                <a:endParaRPr/>
              </a:p>
            </p:txBody>
          </p:sp>
        </p:grpSp>
        <p:grpSp>
          <p:nvGrpSpPr>
            <p:cNvPr id="1245" name="Group 15"/>
            <p:cNvGrpSpPr/>
            <p:nvPr/>
          </p:nvGrpSpPr>
          <p:grpSpPr>
            <a:xfrm>
              <a:off x="1526" y="1776"/>
              <a:ext cx="307" cy="384"/>
              <a:chOff x="605" y="1776"/>
              <a:chExt cx="307" cy="384"/>
            </a:xfrm>
          </p:grpSpPr>
          <p:sp>
            <p:nvSpPr>
              <p:cNvPr id="1246" name="Rectangle 16"/>
              <p:cNvSpPr>
                <a:spLocks noChangeArrowheads="true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/>
              </a:extLst>
            </p:spPr>
            <p:txBody>
              <a:bodyPr wrap="none" lIns="90487" tIns="44450" rIns="90487" bIns="44450" anchor="ctr"/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/>
                <a:endParaRPr lang="zh-CN" altLang="en-US"/>
              </a:p>
            </p:txBody>
          </p:sp>
          <p:sp>
            <p:nvSpPr>
              <p:cNvPr id="1247" name="Rectangle 17"/>
              <p:cNvSpPr>
                <a:spLocks noChangeArrowheads="true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lIns="90487" tIns="44450" rIns="90487" bIns="44450" anchor="ctr"/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pitchFamily="34" charset="0"/>
                  </a:rPr>
                  <a:t>10</a:t>
                </a:r>
                <a:endParaRPr/>
              </a:p>
            </p:txBody>
          </p:sp>
        </p:grpSp>
        <p:grpSp>
          <p:nvGrpSpPr>
            <p:cNvPr id="1248" name="Group 18"/>
            <p:cNvGrpSpPr/>
            <p:nvPr/>
          </p:nvGrpSpPr>
          <p:grpSpPr>
            <a:xfrm>
              <a:off x="1833" y="1776"/>
              <a:ext cx="307" cy="384"/>
              <a:chOff x="605" y="1776"/>
              <a:chExt cx="307" cy="384"/>
            </a:xfrm>
          </p:grpSpPr>
          <p:sp>
            <p:nvSpPr>
              <p:cNvPr id="1249" name="Rectangle 19"/>
              <p:cNvSpPr>
                <a:spLocks noChangeArrowheads="true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/>
              </a:extLst>
            </p:spPr>
            <p:txBody>
              <a:bodyPr wrap="none" lIns="90487" tIns="44450" rIns="90487" bIns="44450" anchor="ctr"/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/>
                <a:endParaRPr lang="zh-CN" altLang="en-US"/>
              </a:p>
            </p:txBody>
          </p:sp>
          <p:sp>
            <p:nvSpPr>
              <p:cNvPr id="1250" name="Rectangle 20"/>
              <p:cNvSpPr>
                <a:spLocks noChangeArrowheads="true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lIns="90487" tIns="44450" rIns="90487" bIns="44450" anchor="ctr"/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pitchFamily="34" charset="0"/>
                  </a:rPr>
                  <a:t>9</a:t>
                </a:r>
                <a:endParaRPr/>
              </a:p>
            </p:txBody>
          </p:sp>
        </p:grpSp>
        <p:grpSp>
          <p:nvGrpSpPr>
            <p:cNvPr id="1251" name="Group 21"/>
            <p:cNvGrpSpPr/>
            <p:nvPr/>
          </p:nvGrpSpPr>
          <p:grpSpPr>
            <a:xfrm>
              <a:off x="2140" y="1776"/>
              <a:ext cx="307" cy="384"/>
              <a:chOff x="605" y="1776"/>
              <a:chExt cx="307" cy="384"/>
            </a:xfrm>
          </p:grpSpPr>
          <p:sp>
            <p:nvSpPr>
              <p:cNvPr id="1252" name="Rectangle 22"/>
              <p:cNvSpPr>
                <a:spLocks noChangeArrowheads="true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/>
              </a:extLst>
            </p:spPr>
            <p:txBody>
              <a:bodyPr wrap="none" lIns="90487" tIns="44450" rIns="90487" bIns="44450" anchor="ctr"/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/>
                <a:endParaRPr lang="zh-CN" altLang="en-US"/>
              </a:p>
            </p:txBody>
          </p:sp>
          <p:sp>
            <p:nvSpPr>
              <p:cNvPr id="1253" name="Rectangle 23"/>
              <p:cNvSpPr>
                <a:spLocks noChangeArrowheads="true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lIns="90487" tIns="44450" rIns="90487" bIns="44450" anchor="ctr"/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pitchFamily="34" charset="0"/>
                  </a:rPr>
                  <a:t>8</a:t>
                </a:r>
                <a:endParaRPr/>
              </a:p>
            </p:txBody>
          </p:sp>
        </p:grpSp>
        <p:grpSp>
          <p:nvGrpSpPr>
            <p:cNvPr id="1254" name="Group 24"/>
            <p:cNvGrpSpPr/>
            <p:nvPr/>
          </p:nvGrpSpPr>
          <p:grpSpPr>
            <a:xfrm>
              <a:off x="2447" y="1776"/>
              <a:ext cx="307" cy="384"/>
              <a:chOff x="605" y="1776"/>
              <a:chExt cx="307" cy="384"/>
            </a:xfrm>
          </p:grpSpPr>
          <p:sp>
            <p:nvSpPr>
              <p:cNvPr id="1255" name="Rectangle 25"/>
              <p:cNvSpPr>
                <a:spLocks noChangeArrowheads="true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/>
              </a:extLst>
            </p:spPr>
            <p:txBody>
              <a:bodyPr wrap="none" lIns="90487" tIns="44450" rIns="90487" bIns="44450" anchor="ctr"/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/>
                <a:endParaRPr lang="zh-CN" altLang="en-US"/>
              </a:p>
            </p:txBody>
          </p:sp>
          <p:sp>
            <p:nvSpPr>
              <p:cNvPr id="1256" name="Rectangle 26"/>
              <p:cNvSpPr>
                <a:spLocks noChangeArrowheads="true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lIns="90487" tIns="44450" rIns="90487" bIns="44450" anchor="ctr"/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pitchFamily="34" charset="0"/>
                  </a:rPr>
                  <a:t>7</a:t>
                </a:r>
                <a:endParaRPr/>
              </a:p>
            </p:txBody>
          </p:sp>
        </p:grpSp>
        <p:grpSp>
          <p:nvGrpSpPr>
            <p:cNvPr id="1257" name="Group 27"/>
            <p:cNvGrpSpPr/>
            <p:nvPr/>
          </p:nvGrpSpPr>
          <p:grpSpPr>
            <a:xfrm>
              <a:off x="2754" y="1776"/>
              <a:ext cx="307" cy="384"/>
              <a:chOff x="605" y="1776"/>
              <a:chExt cx="307" cy="384"/>
            </a:xfrm>
          </p:grpSpPr>
          <p:sp>
            <p:nvSpPr>
              <p:cNvPr id="1258" name="Rectangle 28"/>
              <p:cNvSpPr>
                <a:spLocks noChangeArrowheads="true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/>
              </a:extLst>
            </p:spPr>
            <p:txBody>
              <a:bodyPr wrap="none" lIns="90487" tIns="44450" rIns="90487" bIns="44450" anchor="ctr"/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/>
                <a:endParaRPr lang="zh-CN" altLang="en-US"/>
              </a:p>
            </p:txBody>
          </p:sp>
          <p:sp>
            <p:nvSpPr>
              <p:cNvPr id="1259" name="Rectangle 29"/>
              <p:cNvSpPr>
                <a:spLocks noChangeArrowheads="true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lIns="90487" tIns="44450" rIns="90487" bIns="44450" anchor="ctr"/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pitchFamily="34" charset="0"/>
                  </a:rPr>
                  <a:t>6</a:t>
                </a:r>
                <a:endParaRPr/>
              </a:p>
            </p:txBody>
          </p:sp>
        </p:grpSp>
        <p:grpSp>
          <p:nvGrpSpPr>
            <p:cNvPr id="1260" name="Group 30"/>
            <p:cNvGrpSpPr/>
            <p:nvPr/>
          </p:nvGrpSpPr>
          <p:grpSpPr>
            <a:xfrm>
              <a:off x="3061" y="1776"/>
              <a:ext cx="307" cy="384"/>
              <a:chOff x="605" y="1776"/>
              <a:chExt cx="307" cy="384"/>
            </a:xfrm>
          </p:grpSpPr>
          <p:sp>
            <p:nvSpPr>
              <p:cNvPr id="1261" name="Rectangle 31"/>
              <p:cNvSpPr>
                <a:spLocks noChangeArrowheads="true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/>
              </a:extLst>
            </p:spPr>
            <p:txBody>
              <a:bodyPr wrap="none" lIns="90487" tIns="44450" rIns="90487" bIns="44450" anchor="ctr"/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/>
                <a:endParaRPr lang="zh-CN" altLang="en-US"/>
              </a:p>
            </p:txBody>
          </p:sp>
          <p:sp>
            <p:nvSpPr>
              <p:cNvPr id="1262" name="Rectangle 32"/>
              <p:cNvSpPr>
                <a:spLocks noChangeArrowheads="true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lIns="90487" tIns="44450" rIns="90487" bIns="44450" anchor="ctr"/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pitchFamily="34" charset="0"/>
                  </a:rPr>
                  <a:t>5</a:t>
                </a:r>
                <a:endParaRPr/>
              </a:p>
            </p:txBody>
          </p:sp>
        </p:grpSp>
        <p:grpSp>
          <p:nvGrpSpPr>
            <p:cNvPr id="1263" name="Group 33"/>
            <p:cNvGrpSpPr/>
            <p:nvPr/>
          </p:nvGrpSpPr>
          <p:grpSpPr>
            <a:xfrm>
              <a:off x="3368" y="1776"/>
              <a:ext cx="307" cy="384"/>
              <a:chOff x="605" y="1776"/>
              <a:chExt cx="307" cy="384"/>
            </a:xfrm>
          </p:grpSpPr>
          <p:sp>
            <p:nvSpPr>
              <p:cNvPr id="1264" name="Rectangle 34"/>
              <p:cNvSpPr>
                <a:spLocks noChangeArrowheads="true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/>
              </a:extLst>
            </p:spPr>
            <p:txBody>
              <a:bodyPr wrap="none" lIns="90487" tIns="44450" rIns="90487" bIns="44450" anchor="ctr"/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/>
                <a:endParaRPr lang="zh-CN" altLang="en-US"/>
              </a:p>
            </p:txBody>
          </p:sp>
          <p:sp>
            <p:nvSpPr>
              <p:cNvPr id="1265" name="Rectangle 35"/>
              <p:cNvSpPr>
                <a:spLocks noChangeArrowheads="true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lIns="90487" tIns="44450" rIns="90487" bIns="44450" anchor="ctr"/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pitchFamily="34" charset="0"/>
                  </a:rPr>
                  <a:t>4</a:t>
                </a:r>
                <a:endParaRPr/>
              </a:p>
            </p:txBody>
          </p:sp>
        </p:grpSp>
        <p:grpSp>
          <p:nvGrpSpPr>
            <p:cNvPr id="1266" name="Group 36"/>
            <p:cNvGrpSpPr/>
            <p:nvPr/>
          </p:nvGrpSpPr>
          <p:grpSpPr>
            <a:xfrm>
              <a:off x="3675" y="1776"/>
              <a:ext cx="307" cy="384"/>
              <a:chOff x="605" y="1776"/>
              <a:chExt cx="307" cy="384"/>
            </a:xfrm>
          </p:grpSpPr>
          <p:sp>
            <p:nvSpPr>
              <p:cNvPr id="1267" name="Rectangle 37"/>
              <p:cNvSpPr>
                <a:spLocks noChangeArrowheads="true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/>
              </a:extLst>
            </p:spPr>
            <p:txBody>
              <a:bodyPr wrap="none" lIns="90487" tIns="44450" rIns="90487" bIns="44450" anchor="ctr"/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/>
                <a:endParaRPr lang="zh-CN" altLang="en-US"/>
              </a:p>
            </p:txBody>
          </p:sp>
          <p:sp>
            <p:nvSpPr>
              <p:cNvPr id="1268" name="Rectangle 38"/>
              <p:cNvSpPr>
                <a:spLocks noChangeArrowheads="true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lIns="90487" tIns="44450" rIns="90487" bIns="44450" anchor="ctr"/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pitchFamily="34" charset="0"/>
                  </a:rPr>
                  <a:t>3</a:t>
                </a:r>
                <a:endParaRPr/>
              </a:p>
            </p:txBody>
          </p:sp>
        </p:grpSp>
        <p:grpSp>
          <p:nvGrpSpPr>
            <p:cNvPr id="1269" name="Group 39"/>
            <p:cNvGrpSpPr/>
            <p:nvPr/>
          </p:nvGrpSpPr>
          <p:grpSpPr>
            <a:xfrm>
              <a:off x="3982" y="1776"/>
              <a:ext cx="307" cy="384"/>
              <a:chOff x="605" y="1776"/>
              <a:chExt cx="307" cy="384"/>
            </a:xfrm>
          </p:grpSpPr>
          <p:sp>
            <p:nvSpPr>
              <p:cNvPr id="1270" name="Rectangle 40"/>
              <p:cNvSpPr>
                <a:spLocks noChangeArrowheads="true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/>
              </a:extLst>
            </p:spPr>
            <p:txBody>
              <a:bodyPr wrap="none" lIns="90487" tIns="44450" rIns="90487" bIns="44450" anchor="ctr"/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/>
                <a:endParaRPr lang="zh-CN" altLang="en-US"/>
              </a:p>
            </p:txBody>
          </p:sp>
          <p:sp>
            <p:nvSpPr>
              <p:cNvPr id="1271" name="Rectangle 41"/>
              <p:cNvSpPr>
                <a:spLocks noChangeArrowheads="true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lIns="90487" tIns="44450" rIns="90487" bIns="44450" anchor="ctr"/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pitchFamily="34" charset="0"/>
                  </a:rPr>
                  <a:t>2</a:t>
                </a:r>
                <a:endParaRPr/>
              </a:p>
            </p:txBody>
          </p:sp>
        </p:grpSp>
        <p:grpSp>
          <p:nvGrpSpPr>
            <p:cNvPr id="1272" name="Group 42"/>
            <p:cNvGrpSpPr/>
            <p:nvPr/>
          </p:nvGrpSpPr>
          <p:grpSpPr>
            <a:xfrm>
              <a:off x="4289" y="1776"/>
              <a:ext cx="307" cy="384"/>
              <a:chOff x="605" y="1776"/>
              <a:chExt cx="307" cy="384"/>
            </a:xfrm>
          </p:grpSpPr>
          <p:sp>
            <p:nvSpPr>
              <p:cNvPr id="1273" name="Rectangle 43"/>
              <p:cNvSpPr>
                <a:spLocks noChangeArrowheads="true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/>
              </a:extLst>
            </p:spPr>
            <p:txBody>
              <a:bodyPr wrap="none" lIns="90487" tIns="44450" rIns="90487" bIns="44450" anchor="ctr"/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/>
                <a:endParaRPr lang="zh-CN" altLang="en-US"/>
              </a:p>
            </p:txBody>
          </p:sp>
          <p:sp>
            <p:nvSpPr>
              <p:cNvPr id="1274" name="Rectangle 44"/>
              <p:cNvSpPr>
                <a:spLocks noChangeArrowheads="true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lIns="90487" tIns="44450" rIns="90487" bIns="44450" anchor="ctr"/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pitchFamily="34" charset="0"/>
                  </a:rPr>
                  <a:t>1</a:t>
                </a:r>
                <a:endParaRPr/>
              </a:p>
            </p:txBody>
          </p:sp>
        </p:grpSp>
        <p:grpSp>
          <p:nvGrpSpPr>
            <p:cNvPr id="1275" name="Group 45"/>
            <p:cNvGrpSpPr/>
            <p:nvPr/>
          </p:nvGrpSpPr>
          <p:grpSpPr>
            <a:xfrm>
              <a:off x="4596" y="1776"/>
              <a:ext cx="307" cy="384"/>
              <a:chOff x="605" y="1776"/>
              <a:chExt cx="307" cy="384"/>
            </a:xfrm>
          </p:grpSpPr>
          <p:sp>
            <p:nvSpPr>
              <p:cNvPr id="1276" name="Rectangle 46"/>
              <p:cNvSpPr>
                <a:spLocks noChangeArrowheads="true"/>
              </p:cNvSpPr>
              <p:nvPr/>
            </p:nvSpPr>
            <p:spPr bwMode="auto">
              <a:xfrm>
                <a:off x="605" y="1968"/>
                <a:ext cx="307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/>
              </a:extLst>
            </p:spPr>
            <p:txBody>
              <a:bodyPr wrap="none" lIns="90487" tIns="44450" rIns="90487" bIns="44450" anchor="ctr"/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/>
                <a:endParaRPr lang="zh-CN" altLang="en-US"/>
              </a:p>
            </p:txBody>
          </p:sp>
          <p:sp>
            <p:nvSpPr>
              <p:cNvPr id="1277" name="Rectangle 47"/>
              <p:cNvSpPr>
                <a:spLocks noChangeArrowheads="true"/>
              </p:cNvSpPr>
              <p:nvPr/>
            </p:nvSpPr>
            <p:spPr bwMode="auto">
              <a:xfrm>
                <a:off x="605" y="1776"/>
                <a:ext cx="3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lIns="90487" tIns="44450" rIns="90487" bIns="44450" anchor="ctr"/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pitchFamily="34" charset="0"/>
                  </a:rPr>
                  <a:t>0</a:t>
                </a:r>
                <a:endParaRPr/>
              </a:p>
            </p:txBody>
          </p:sp>
        </p:grpSp>
      </p:grpSp>
      <p:grpSp>
        <p:nvGrpSpPr>
          <p:cNvPr id="1278" name="Group 48"/>
          <p:cNvGrpSpPr/>
          <p:nvPr/>
        </p:nvGrpSpPr>
        <p:grpSpPr>
          <a:xfrm>
            <a:off x="4889500" y="4006850"/>
            <a:ext cx="2924175" cy="336550"/>
            <a:chOff x="3061" y="2261"/>
            <a:chExt cx="1842" cy="212"/>
          </a:xfrm>
        </p:grpSpPr>
        <p:sp>
          <p:nvSpPr>
            <p:cNvPr id="1279" name="Line 49"/>
            <p:cNvSpPr>
              <a:spLocks noChangeShapeType="true"/>
            </p:cNvSpPr>
            <p:nvPr/>
          </p:nvSpPr>
          <p:spPr bwMode="auto">
            <a:xfrm>
              <a:off x="3061" y="2352"/>
              <a:ext cx="18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/>
            </a:extLst>
          </p:spPr>
          <p:txBody>
            <a:bodyPr wrap="none" lIns="90487" tIns="44450" rIns="90487" bIns="44450"/>
            <a:lstStyle/>
            <a:p>
              <a:pPr/>
              <a:endParaRPr lang="zh-CN" altLang="en-US"/>
            </a:p>
          </p:txBody>
        </p:sp>
        <p:sp>
          <p:nvSpPr>
            <p:cNvPr id="1280" name="Text Box 50"/>
            <p:cNvSpPr txBox="true">
              <a:spLocks noChangeArrowheads="true"/>
            </p:cNvSpPr>
            <p:nvPr/>
          </p:nvSpPr>
          <p:spPr bwMode="auto">
            <a:xfrm>
              <a:off x="3770" y="2261"/>
              <a:ext cx="418" cy="2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/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</a:pPr>
              <a:r>
                <a:rPr lang="en-US" altLang="zh-CN" sz="1800">
                  <a:solidFill>
                    <a:schemeClr val="tx2"/>
                  </a:solidFill>
                  <a:latin typeface="Helvetica" pitchFamily="34" charset="0"/>
                </a:rPr>
                <a:t>VPO</a:t>
              </a:r>
              <a:endParaRPr/>
            </a:p>
          </p:txBody>
        </p:sp>
      </p:grpSp>
      <p:grpSp>
        <p:nvGrpSpPr>
          <p:cNvPr id="1281" name="Group 51"/>
          <p:cNvGrpSpPr/>
          <p:nvPr/>
        </p:nvGrpSpPr>
        <p:grpSpPr>
          <a:xfrm>
            <a:off x="990600" y="3998913"/>
            <a:ext cx="3916363" cy="336550"/>
            <a:chOff x="3061" y="2261"/>
            <a:chExt cx="1842" cy="212"/>
          </a:xfrm>
        </p:grpSpPr>
        <p:sp>
          <p:nvSpPr>
            <p:cNvPr id="1282" name="Line 52"/>
            <p:cNvSpPr>
              <a:spLocks noChangeShapeType="true"/>
            </p:cNvSpPr>
            <p:nvPr/>
          </p:nvSpPr>
          <p:spPr bwMode="auto">
            <a:xfrm>
              <a:off x="3061" y="2352"/>
              <a:ext cx="18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/>
            </a:extLst>
          </p:spPr>
          <p:txBody>
            <a:bodyPr wrap="none" lIns="90487" tIns="44450" rIns="90487" bIns="44450"/>
            <a:lstStyle/>
            <a:p>
              <a:pPr/>
              <a:endParaRPr lang="zh-CN" altLang="en-US"/>
            </a:p>
          </p:txBody>
        </p:sp>
        <p:sp>
          <p:nvSpPr>
            <p:cNvPr id="1283" name="Text Box 53"/>
            <p:cNvSpPr txBox="true">
              <a:spLocks noChangeArrowheads="true"/>
            </p:cNvSpPr>
            <p:nvPr/>
          </p:nvSpPr>
          <p:spPr bwMode="auto">
            <a:xfrm>
              <a:off x="3770" y="2261"/>
              <a:ext cx="306" cy="2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/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</a:pPr>
              <a:r>
                <a:rPr lang="en-US" altLang="zh-CN" sz="1800">
                  <a:solidFill>
                    <a:schemeClr val="tx2"/>
                  </a:solidFill>
                  <a:latin typeface="Helvetica" pitchFamily="34" charset="0"/>
                </a:rPr>
                <a:t>VPN</a:t>
              </a:r>
              <a:endParaRPr/>
            </a:p>
          </p:txBody>
        </p:sp>
      </p:grpSp>
      <p:grpSp>
        <p:nvGrpSpPr>
          <p:cNvPr id="1284" name="Group 57"/>
          <p:cNvGrpSpPr/>
          <p:nvPr/>
        </p:nvGrpSpPr>
        <p:grpSpPr>
          <a:xfrm>
            <a:off x="990600" y="3008313"/>
            <a:ext cx="2927350" cy="309562"/>
            <a:chOff x="2445" y="1645"/>
            <a:chExt cx="625" cy="195"/>
          </a:xfrm>
        </p:grpSpPr>
        <p:sp>
          <p:nvSpPr>
            <p:cNvPr id="1285" name="Line 58"/>
            <p:cNvSpPr>
              <a:spLocks noChangeShapeType="true"/>
            </p:cNvSpPr>
            <p:nvPr/>
          </p:nvSpPr>
          <p:spPr bwMode="auto">
            <a:xfrm>
              <a:off x="2445" y="1718"/>
              <a:ext cx="6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/>
            </a:extLst>
          </p:spPr>
          <p:txBody>
            <a:bodyPr wrap="none" lIns="90487" tIns="44450" rIns="90487" bIns="44450"/>
            <a:lstStyle/>
            <a:p>
              <a:pPr/>
              <a:endParaRPr lang="zh-CN" altLang="en-US"/>
            </a:p>
          </p:txBody>
        </p:sp>
        <p:sp>
          <p:nvSpPr>
            <p:cNvPr id="1286" name="Text Box 59"/>
            <p:cNvSpPr txBox="true">
              <a:spLocks noChangeArrowheads="true"/>
            </p:cNvSpPr>
            <p:nvPr/>
          </p:nvSpPr>
          <p:spPr bwMode="auto">
            <a:xfrm>
              <a:off x="2710" y="1645"/>
              <a:ext cx="150" cy="1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/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30000"/>
                </a:spcBef>
              </a:pPr>
              <a:r>
                <a:rPr lang="en-US" altLang="zh-CN" sz="1600">
                  <a:solidFill>
                    <a:schemeClr val="tx2"/>
                  </a:solidFill>
                  <a:latin typeface="Helvetica" pitchFamily="34" charset="0"/>
                </a:rPr>
                <a:t>TLBT</a:t>
              </a:r>
              <a:endParaRPr/>
            </a:p>
          </p:txBody>
        </p:sp>
      </p:grpSp>
      <p:graphicFrame>
        <p:nvGraphicFramePr>
          <p:cNvPr id="1287" name="Group 60"/>
          <p:cNvGraphicFramePr/>
          <p:nvPr/>
        </p:nvGraphicFramePr>
        <p:xfrm rot="0" flipH="false" flipV="false">
          <a:off x="304800" y="4813300"/>
          <a:ext cx="8458200" cy="1682750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val="1"/>
                    </a:ext>
                  </a:extLst>
                </a:gridCol>
                <a:gridCol w="609600">
                  <a:extLst>
                    <a:ext uri="{9D8B030D-6E8A-4147-A177-3AD203B41FA5}">
                      <a16:colId val="2"/>
                    </a:ext>
                  </a:extLst>
                </a:gridCol>
                <a:gridCol w="609600">
                  <a:extLst>
                    <a:ext uri="{9D8B030D-6E8A-4147-A177-3AD203B41FA5}">
                      <a16:colId val="3"/>
                    </a:ext>
                  </a:extLst>
                </a:gridCol>
                <a:gridCol w="762000">
                  <a:extLst>
                    <a:ext uri="{9D8B030D-6E8A-4147-A177-3AD203B41FA5}">
                      <a16:colId val="4"/>
                    </a:ext>
                  </a:extLst>
                </a:gridCol>
                <a:gridCol w="609600">
                  <a:extLst>
                    <a:ext uri="{9D8B030D-6E8A-4147-A177-3AD203B41FA5}">
                      <a16:colId val="5"/>
                    </a:ext>
                  </a:extLst>
                </a:gridCol>
                <a:gridCol w="609600">
                  <a:extLst>
                    <a:ext uri="{9D8B030D-6E8A-4147-A177-3AD203B41FA5}">
                      <a16:colId val="6"/>
                    </a:ext>
                  </a:extLst>
                </a:gridCol>
                <a:gridCol w="762000">
                  <a:extLst>
                    <a:ext uri="{9D8B030D-6E8A-4147-A177-3AD203B41FA5}">
                      <a16:colId val="7"/>
                    </a:ext>
                  </a:extLst>
                </a:gridCol>
                <a:gridCol w="609600">
                  <a:extLst>
                    <a:ext uri="{9D8B030D-6E8A-4147-A177-3AD203B41FA5}">
                      <a16:colId val="8"/>
                    </a:ext>
                  </a:extLst>
                </a:gridCol>
                <a:gridCol w="609600">
                  <a:extLst>
                    <a:ext uri="{9D8B030D-6E8A-4147-A177-3AD203B41FA5}">
                      <a16:colId val="9"/>
                    </a:ext>
                  </a:extLst>
                </a:gridCol>
                <a:gridCol w="762000">
                  <a:extLst>
                    <a:ext uri="{9D8B030D-6E8A-4147-A177-3AD203B41FA5}">
                      <a16:colId val="10"/>
                    </a:ext>
                  </a:extLst>
                </a:gridCol>
                <a:gridCol w="609600">
                  <a:extLst>
                    <a:ext uri="{9D8B030D-6E8A-4147-A177-3AD203B41FA5}">
                      <a16:colId val="11"/>
                    </a:ext>
                  </a:extLst>
                </a:gridCol>
                <a:gridCol w="609600">
                  <a:extLst>
                    <a:ext uri="{9D8B030D-6E8A-4147-A177-3AD203B41FA5}">
                      <a16:colId val="12"/>
                    </a:ext>
                  </a:extLst>
                </a:gridCol>
                <a:gridCol w="762000">
                  <a:extLst>
                    <a:ext uri="{9D8B030D-6E8A-4147-A177-3AD203B41FA5}">
                      <a16:colId val="13"/>
                    </a:ext>
                  </a:extLst>
                </a:gridCol>
              </a:tblGrid>
              <a:tr h="333375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endParaRPr kumimoji="false" lang="en-US" altLang="zh-CN" sz="16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charset="0"/>
                        <a:ea typeface="宋体" charset="-122"/>
                      </a:endParaRPr>
                    </a:p>
                  </a:txBody>
                  <a:tcPr marL="90487" marR="90487" marT="44450" marB="44450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Tag</a:t>
                      </a:r>
                      <a:endParaRPr/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PPN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Valid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Tag</a:t>
                      </a:r>
                      <a:endParaRPr/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PPN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Valid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Tag</a:t>
                      </a:r>
                      <a:endParaRPr/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PPN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Valid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Tag</a:t>
                      </a:r>
                      <a:endParaRPr/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PPN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Valid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333375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</a:t>
                      </a:r>
                      <a:endParaRPr/>
                    </a:p>
                  </a:txBody>
                  <a:tcPr marL="90487" marR="90487" marT="44450" marB="44450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03</a:t>
                      </a:r>
                      <a:endParaRPr/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09</a:t>
                      </a:r>
                      <a:endParaRPr/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0D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00</a:t>
                      </a:r>
                      <a:endParaRPr/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07</a:t>
                      </a:r>
                      <a:endParaRPr/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02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333375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</a:t>
                      </a:r>
                      <a:endParaRPr/>
                    </a:p>
                  </a:txBody>
                  <a:tcPr marL="90487" marR="90487" marT="44450" marB="44450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03</a:t>
                      </a:r>
                      <a:endParaRPr/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2D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02</a:t>
                      </a:r>
                      <a:endParaRPr/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04</a:t>
                      </a:r>
                      <a:endParaRPr/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0A</a:t>
                      </a:r>
                      <a:endParaRPr/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333375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2</a:t>
                      </a:r>
                      <a:endParaRPr/>
                    </a:p>
                  </a:txBody>
                  <a:tcPr marL="90487" marR="90487" marT="44450" marB="44450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02</a:t>
                      </a:r>
                      <a:endParaRPr/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08</a:t>
                      </a:r>
                      <a:endParaRPr/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06</a:t>
                      </a:r>
                      <a:endParaRPr/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03</a:t>
                      </a:r>
                      <a:endParaRPr/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333375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3</a:t>
                      </a:r>
                      <a:endParaRPr/>
                    </a:p>
                  </a:txBody>
                  <a:tcPr marL="90487" marR="90487" marT="44450" marB="44450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07</a:t>
                      </a:r>
                      <a:endParaRPr/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03</a:t>
                      </a:r>
                      <a:endParaRPr/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0D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0A</a:t>
                      </a:r>
                      <a:endParaRPr/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34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02</a:t>
                      </a:r>
                      <a:endParaRPr/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</a:tbl>
          </a:graphicData>
        </a:graphic>
      </p:graphicFrame>
      <p:sp>
        <p:nvSpPr>
          <p:cNvPr id="1288" name="Rectangle 146"/>
          <p:cNvSpPr>
            <a:spLocks noChangeArrowheads="true"/>
          </p:cNvSpPr>
          <p:nvPr/>
        </p:nvSpPr>
        <p:spPr bwMode="auto">
          <a:xfrm>
            <a:off x="457200" y="457200"/>
            <a:ext cx="80772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anchor="ctr"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r>
              <a:rPr lang="en-US" sz="2800">
                <a:latin typeface="Comic Sans MS"/>
                <a:ea typeface="宋体"/>
                <a:cs typeface="宋体"/>
              </a:rPr>
              <a:t>Simple Memory System: </a:t>
            </a:r>
            <a:r>
              <a:rPr lang="en-US" sz="2800">
                <a:solidFill>
                  <a:schemeClr val="tx2">
                    <a:alpha val="100000"/>
                  </a:schemeClr>
                </a:solidFill>
              </a:rPr>
              <a:t>TLB</a:t>
            </a:r>
            <a:endParaRPr/>
          </a:p>
        </p:txBody>
      </p:sp>
      <p:cxnSp>
        <p:nvCxnSpPr>
          <p:cNvPr id="1289" name="Straight Connector 3"/>
          <p:cNvCxnSpPr>
            <a:cxnSpLocks noChangeShapeType="true"/>
          </p:cNvCxnSpPr>
          <p:nvPr/>
        </p:nvCxnSpPr>
        <p:spPr bwMode="auto">
          <a:xfrm>
            <a:off x="4889500" y="2819400"/>
            <a:ext cx="0" cy="167640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</a:ln>
          <a:extLst>
            <a:ext uri="{909E8E84-426E-40DD-AFC4-6F175D3DCCD1}"/>
          </a:extLst>
        </p:spPr>
      </p:cxnSp>
      <p:sp>
        <p:nvSpPr>
          <p:cNvPr id="1290" name="Rectangle 3"/>
          <p:cNvSpPr txBox="true">
            <a:spLocks noChangeArrowheads="true"/>
          </p:cNvSpPr>
          <p:nvPr/>
        </p:nvSpPr>
        <p:spPr bwMode="auto">
          <a:xfrm>
            <a:off x="4867275" y="1524000"/>
            <a:ext cx="4276725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 marL="342900" indent="-3429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>
              <a:spcBef>
                <a:spcPct val="20000"/>
              </a:spcBef>
              <a:buFontTx/>
              <a:buChar char="•"/>
            </a:pPr>
            <a:r>
              <a:rPr lang="en-US" altLang="zh-CN" sz="2400" b="false"/>
              <a:t>Addressing</a:t>
            </a:r>
            <a:endParaRPr/>
          </a:p>
          <a:p>
            <a:pPr lvl="1">
              <a:spcBef>
                <a:spcPct val="20000"/>
              </a:spcBef>
              <a:buFontTx/>
              <a:buChar char="–"/>
            </a:pPr>
            <a:r>
              <a:rPr lang="en-US" altLang="zh-CN" b="false"/>
              <a:t>14-bit virtual addresses</a:t>
            </a:r>
            <a:endParaRPr/>
          </a:p>
          <a:p>
            <a:pPr lvl="1">
              <a:spcBef>
                <a:spcPct val="20000"/>
              </a:spcBef>
              <a:buFontTx/>
              <a:buChar char="–"/>
            </a:pPr>
            <a:r>
              <a:rPr lang="en-US" altLang="zh-CN" b="false"/>
              <a:t>12-bit physical address</a:t>
            </a:r>
            <a:endParaRPr/>
          </a:p>
          <a:p>
            <a:pPr lvl="1">
              <a:spcBef>
                <a:spcPct val="20000"/>
              </a:spcBef>
              <a:buFontTx/>
              <a:buChar char="–"/>
            </a:pPr>
            <a:r>
              <a:rPr lang="en-US" altLang="zh-CN" b="false"/>
              <a:t>Page size = 64 B</a:t>
            </a:r>
            <a:r>
              <a:rPr lang="zh-CN" altLang="en-US" b="false">
                <a:solidFill>
                  <a:srgbClr val="FF0000"/>
                </a:solidFill>
              </a:rPr>
              <a:t> </a:t>
            </a:r>
            <a:r>
              <a:rPr lang="en-US" altLang="zh-CN" b="false"/>
              <a:t>(6-bit)</a:t>
            </a:r>
            <a:endParaRPr lang="zh-CN" altLang="en-US" b="false"/>
          </a:p>
        </p:txBody>
      </p:sp>
      <p:sp>
        <p:nvSpPr>
          <p:cNvPr id="1291" name=""/>
          <p:cNvSpPr txBox="true"/>
          <p:nvPr/>
        </p:nvSpPr>
        <p:spPr>
          <a:xfrm rot="0" flipH="false" flipV="false">
            <a:off x="225425" y="4709160"/>
            <a:ext cx="615950" cy="393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en-US"/>
              <a:t>Set</a:t>
            </a:r>
            <a:endParaRPr/>
          </a:p>
        </p:txBody>
      </p:sp>
      <p:sp>
        <p:nvSpPr>
          <p:cNvPr id="1292" name=""/>
          <p:cNvSpPr txBox="true"/>
          <p:nvPr/>
        </p:nvSpPr>
        <p:spPr>
          <a:xfrm rot="0" flipH="false" flipV="false">
            <a:off x="225425" y="4335463"/>
            <a:ext cx="1936750" cy="393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en-US"/>
              <a:t>TLB snapshot:</a:t>
            </a:r>
            <a:endParaRPr/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p="http://schemas.openxmlformats.org/presentationml/2006/main" xmlns:a16="http://schemas.microsoft.com/office/drawing/2014/main" xmlns:a="http://schemas.openxmlformats.org/drawingml/2006/main" xmlns:mc="http://schemas.openxmlformats.org/markup-compatibility/2006" mc:Ignorable="a16">
  <p:cSld>
    <p:spTree>
      <p:nvGrpSpPr>
        <p:cNvPr id="12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45B1673E-5E7C-5D4D-966D-F837B473038E}" type="slidenum">
              <a:rPr lang="zh-CN" altLang="en-US" sz="1400" b="false">
                <a:latin typeface="Times New Roman" panose="02020603050405020304" charset="0"/>
              </a:rPr>
              <a:t>87</a:t>
            </a:fld>
            <a:endParaRPr lang="en-US" altLang="zh-CN" sz="1400" b="false">
              <a:latin typeface="Times New Roman" panose="02020603050405020304" charset="0"/>
            </a:endParaRPr>
          </a:p>
        </p:txBody>
      </p:sp>
      <p:sp>
        <p:nvSpPr>
          <p:cNvPr id="1295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>
                <a:latin typeface="Comic Sans MS"/>
                <a:ea typeface="宋体"/>
                <a:cs typeface="宋体"/>
              </a:rPr>
              <a:t>课堂练习</a:t>
            </a:r>
            <a:r>
              <a:rPr lang="en-US">
                <a:latin typeface="Comic Sans MS"/>
                <a:ea typeface="宋体"/>
                <a:cs typeface="宋体"/>
              </a:rPr>
              <a:t>2-4</a:t>
            </a:r>
            <a:endParaRPr/>
          </a:p>
        </p:txBody>
      </p:sp>
      <p:sp>
        <p:nvSpPr>
          <p:cNvPr id="1296" name="Rectangle 3"/>
          <p:cNvSpPr>
            <a:spLocks noChangeArrowheads="true"/>
          </p:cNvSpPr>
          <p:nvPr/>
        </p:nvSpPr>
        <p:spPr bwMode="auto">
          <a:xfrm>
            <a:off x="533400" y="1614488"/>
            <a:ext cx="30940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r>
              <a:rPr lang="en-US" altLang="zh-CN" b="false"/>
              <a:t>Virtual Address 0x03D4</a:t>
            </a:r>
            <a:endParaRPr lang="zh-CN" altLang="en-US" b="false"/>
          </a:p>
        </p:txBody>
      </p:sp>
      <p:grpSp>
        <p:nvGrpSpPr>
          <p:cNvPr id="1297" name="Group 4"/>
          <p:cNvGrpSpPr/>
          <p:nvPr/>
        </p:nvGrpSpPr>
        <p:grpSpPr>
          <a:xfrm>
            <a:off x="685800" y="2032000"/>
            <a:ext cx="6823075" cy="1106488"/>
            <a:chOff x="432" y="1415"/>
            <a:chExt cx="4298" cy="697"/>
          </a:xfrm>
        </p:grpSpPr>
        <p:grpSp>
          <p:nvGrpSpPr>
            <p:cNvPr id="1298" name="Group 5"/>
            <p:cNvGrpSpPr/>
            <p:nvPr/>
          </p:nvGrpSpPr>
          <p:grpSpPr>
            <a:xfrm>
              <a:off x="432" y="1415"/>
              <a:ext cx="4298" cy="384"/>
              <a:chOff x="629" y="1176"/>
              <a:chExt cx="4298" cy="384"/>
            </a:xfrm>
          </p:grpSpPr>
          <p:grpSp>
            <p:nvGrpSpPr>
              <p:cNvPr id="1299" name="Group 6"/>
              <p:cNvGrpSpPr/>
              <p:nvPr/>
            </p:nvGrpSpPr>
            <p:grpSpPr>
              <a:xfrm>
                <a:off x="629" y="1176"/>
                <a:ext cx="307" cy="384"/>
                <a:chOff x="629" y="1176"/>
                <a:chExt cx="307" cy="384"/>
              </a:xfrm>
            </p:grpSpPr>
            <p:sp>
              <p:nvSpPr>
                <p:cNvPr id="1300" name="Rectangle 7"/>
                <p:cNvSpPr>
                  <a:spLocks noChangeArrowheads="true"/>
                </p:cNvSpPr>
                <p:nvPr/>
              </p:nvSpPr>
              <p:spPr bwMode="auto">
                <a:xfrm>
                  <a:off x="629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endParaRPr lang="zh-CN" altLang="en-US" sz="1800">
                    <a:solidFill>
                      <a:schemeClr val="tx2"/>
                    </a:solidFill>
                    <a:latin typeface="Helvetica" pitchFamily="34" charset="0"/>
                  </a:endParaRPr>
                </a:p>
              </p:txBody>
            </p:sp>
            <p:sp>
              <p:nvSpPr>
                <p:cNvPr id="1301" name="Rectangle 8"/>
                <p:cNvSpPr>
                  <a:spLocks noChangeArrowheads="true"/>
                </p:cNvSpPr>
                <p:nvPr/>
              </p:nvSpPr>
              <p:spPr bwMode="auto">
                <a:xfrm>
                  <a:off x="629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13</a:t>
                  </a:r>
                  <a:endParaRPr/>
                </a:p>
              </p:txBody>
            </p:sp>
          </p:grpSp>
          <p:grpSp>
            <p:nvGrpSpPr>
              <p:cNvPr id="1302" name="Group 9"/>
              <p:cNvGrpSpPr/>
              <p:nvPr/>
            </p:nvGrpSpPr>
            <p:grpSpPr>
              <a:xfrm>
                <a:off x="936" y="1176"/>
                <a:ext cx="307" cy="384"/>
                <a:chOff x="936" y="1176"/>
                <a:chExt cx="307" cy="384"/>
              </a:xfrm>
            </p:grpSpPr>
            <p:sp>
              <p:nvSpPr>
                <p:cNvPr id="1303" name="Rectangle 10"/>
                <p:cNvSpPr>
                  <a:spLocks noChangeArrowheads="true"/>
                </p:cNvSpPr>
                <p:nvPr/>
              </p:nvSpPr>
              <p:spPr bwMode="auto">
                <a:xfrm>
                  <a:off x="936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endParaRPr lang="zh-CN" altLang="en-US" sz="1800">
                    <a:solidFill>
                      <a:schemeClr val="tx2"/>
                    </a:solidFill>
                    <a:latin typeface="Helvetica" pitchFamily="34" charset="0"/>
                  </a:endParaRPr>
                </a:p>
              </p:txBody>
            </p:sp>
            <p:sp>
              <p:nvSpPr>
                <p:cNvPr id="1304" name="Rectangle 11"/>
                <p:cNvSpPr>
                  <a:spLocks noChangeArrowheads="true"/>
                </p:cNvSpPr>
                <p:nvPr/>
              </p:nvSpPr>
              <p:spPr bwMode="auto">
                <a:xfrm>
                  <a:off x="936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12</a:t>
                  </a:r>
                  <a:endParaRPr/>
                </a:p>
              </p:txBody>
            </p:sp>
          </p:grpSp>
          <p:grpSp>
            <p:nvGrpSpPr>
              <p:cNvPr id="1305" name="Group 12"/>
              <p:cNvGrpSpPr/>
              <p:nvPr/>
            </p:nvGrpSpPr>
            <p:grpSpPr>
              <a:xfrm>
                <a:off x="1243" y="1176"/>
                <a:ext cx="307" cy="384"/>
                <a:chOff x="1243" y="1176"/>
                <a:chExt cx="307" cy="384"/>
              </a:xfrm>
            </p:grpSpPr>
            <p:sp>
              <p:nvSpPr>
                <p:cNvPr id="1306" name="Rectangle 13"/>
                <p:cNvSpPr>
                  <a:spLocks noChangeArrowheads="true"/>
                </p:cNvSpPr>
                <p:nvPr/>
              </p:nvSpPr>
              <p:spPr bwMode="auto">
                <a:xfrm>
                  <a:off x="1243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endParaRPr lang="zh-CN" altLang="en-US" sz="1800">
                    <a:solidFill>
                      <a:schemeClr val="tx2"/>
                    </a:solidFill>
                    <a:latin typeface="Helvetica" pitchFamily="34" charset="0"/>
                  </a:endParaRPr>
                </a:p>
              </p:txBody>
            </p:sp>
            <p:sp>
              <p:nvSpPr>
                <p:cNvPr id="1307" name="Rectangle 14"/>
                <p:cNvSpPr>
                  <a:spLocks noChangeArrowheads="true"/>
                </p:cNvSpPr>
                <p:nvPr/>
              </p:nvSpPr>
              <p:spPr bwMode="auto">
                <a:xfrm>
                  <a:off x="1243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11</a:t>
                  </a:r>
                  <a:endParaRPr/>
                </a:p>
              </p:txBody>
            </p:sp>
          </p:grpSp>
          <p:grpSp>
            <p:nvGrpSpPr>
              <p:cNvPr id="1308" name="Group 15"/>
              <p:cNvGrpSpPr/>
              <p:nvPr/>
            </p:nvGrpSpPr>
            <p:grpSpPr>
              <a:xfrm>
                <a:off x="1550" y="1176"/>
                <a:ext cx="307" cy="384"/>
                <a:chOff x="1550" y="1176"/>
                <a:chExt cx="307" cy="384"/>
              </a:xfrm>
            </p:grpSpPr>
            <p:sp>
              <p:nvSpPr>
                <p:cNvPr id="1309" name="Rectangle 16"/>
                <p:cNvSpPr>
                  <a:spLocks noChangeArrowheads="true"/>
                </p:cNvSpPr>
                <p:nvPr/>
              </p:nvSpPr>
              <p:spPr bwMode="auto">
                <a:xfrm>
                  <a:off x="1550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1310" name="Rectangle 17"/>
                <p:cNvSpPr>
                  <a:spLocks noChangeArrowheads="true"/>
                </p:cNvSpPr>
                <p:nvPr/>
              </p:nvSpPr>
              <p:spPr bwMode="auto">
                <a:xfrm>
                  <a:off x="1550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10</a:t>
                  </a:r>
                  <a:endParaRPr/>
                </a:p>
              </p:txBody>
            </p:sp>
          </p:grpSp>
          <p:grpSp>
            <p:nvGrpSpPr>
              <p:cNvPr id="1311" name="Group 18"/>
              <p:cNvGrpSpPr/>
              <p:nvPr/>
            </p:nvGrpSpPr>
            <p:grpSpPr>
              <a:xfrm>
                <a:off x="1857" y="1176"/>
                <a:ext cx="307" cy="384"/>
                <a:chOff x="1857" y="1176"/>
                <a:chExt cx="307" cy="384"/>
              </a:xfrm>
            </p:grpSpPr>
            <p:sp>
              <p:nvSpPr>
                <p:cNvPr id="1312" name="Rectangle 19"/>
                <p:cNvSpPr>
                  <a:spLocks noChangeArrowheads="true"/>
                </p:cNvSpPr>
                <p:nvPr/>
              </p:nvSpPr>
              <p:spPr bwMode="auto">
                <a:xfrm>
                  <a:off x="1857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1313" name="Rectangle 20"/>
                <p:cNvSpPr>
                  <a:spLocks noChangeArrowheads="true"/>
                </p:cNvSpPr>
                <p:nvPr/>
              </p:nvSpPr>
              <p:spPr bwMode="auto">
                <a:xfrm>
                  <a:off x="1857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9</a:t>
                  </a:r>
                  <a:endParaRPr/>
                </a:p>
              </p:txBody>
            </p:sp>
          </p:grpSp>
          <p:grpSp>
            <p:nvGrpSpPr>
              <p:cNvPr id="1314" name="Group 21"/>
              <p:cNvGrpSpPr/>
              <p:nvPr/>
            </p:nvGrpSpPr>
            <p:grpSpPr>
              <a:xfrm>
                <a:off x="2164" y="1176"/>
                <a:ext cx="307" cy="384"/>
                <a:chOff x="2164" y="1176"/>
                <a:chExt cx="307" cy="384"/>
              </a:xfrm>
            </p:grpSpPr>
            <p:sp>
              <p:nvSpPr>
                <p:cNvPr id="1315" name="Rectangle 22"/>
                <p:cNvSpPr>
                  <a:spLocks noChangeArrowheads="true"/>
                </p:cNvSpPr>
                <p:nvPr/>
              </p:nvSpPr>
              <p:spPr bwMode="auto">
                <a:xfrm>
                  <a:off x="2164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1316" name="Rectangle 23"/>
                <p:cNvSpPr>
                  <a:spLocks noChangeArrowheads="true"/>
                </p:cNvSpPr>
                <p:nvPr/>
              </p:nvSpPr>
              <p:spPr bwMode="auto">
                <a:xfrm>
                  <a:off x="2164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8</a:t>
                  </a:r>
                  <a:endParaRPr/>
                </a:p>
              </p:txBody>
            </p:sp>
          </p:grpSp>
          <p:grpSp>
            <p:nvGrpSpPr>
              <p:cNvPr id="1317" name="Group 24"/>
              <p:cNvGrpSpPr/>
              <p:nvPr/>
            </p:nvGrpSpPr>
            <p:grpSpPr>
              <a:xfrm>
                <a:off x="2471" y="1176"/>
                <a:ext cx="307" cy="384"/>
                <a:chOff x="2471" y="1176"/>
                <a:chExt cx="307" cy="384"/>
              </a:xfrm>
            </p:grpSpPr>
            <p:sp>
              <p:nvSpPr>
                <p:cNvPr id="1318" name="Rectangle 25"/>
                <p:cNvSpPr>
                  <a:spLocks noChangeArrowheads="true"/>
                </p:cNvSpPr>
                <p:nvPr/>
              </p:nvSpPr>
              <p:spPr bwMode="auto">
                <a:xfrm>
                  <a:off x="2471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1319" name="Rectangle 26"/>
                <p:cNvSpPr>
                  <a:spLocks noChangeArrowheads="true"/>
                </p:cNvSpPr>
                <p:nvPr/>
              </p:nvSpPr>
              <p:spPr bwMode="auto">
                <a:xfrm>
                  <a:off x="2471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7</a:t>
                  </a:r>
                  <a:endParaRPr/>
                </a:p>
              </p:txBody>
            </p:sp>
          </p:grpSp>
          <p:grpSp>
            <p:nvGrpSpPr>
              <p:cNvPr id="1320" name="Group 27"/>
              <p:cNvGrpSpPr/>
              <p:nvPr/>
            </p:nvGrpSpPr>
            <p:grpSpPr>
              <a:xfrm>
                <a:off x="2778" y="1176"/>
                <a:ext cx="307" cy="384"/>
                <a:chOff x="2778" y="1176"/>
                <a:chExt cx="307" cy="384"/>
              </a:xfrm>
            </p:grpSpPr>
            <p:sp>
              <p:nvSpPr>
                <p:cNvPr id="1321" name="Rectangle 28"/>
                <p:cNvSpPr>
                  <a:spLocks noChangeArrowheads="true"/>
                </p:cNvSpPr>
                <p:nvPr/>
              </p:nvSpPr>
              <p:spPr bwMode="auto">
                <a:xfrm>
                  <a:off x="2778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1322" name="Rectangle 29"/>
                <p:cNvSpPr>
                  <a:spLocks noChangeArrowheads="true"/>
                </p:cNvSpPr>
                <p:nvPr/>
              </p:nvSpPr>
              <p:spPr bwMode="auto">
                <a:xfrm>
                  <a:off x="2778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6</a:t>
                  </a:r>
                  <a:endParaRPr/>
                </a:p>
              </p:txBody>
            </p:sp>
          </p:grpSp>
          <p:grpSp>
            <p:nvGrpSpPr>
              <p:cNvPr id="1323" name="Group 30"/>
              <p:cNvGrpSpPr/>
              <p:nvPr/>
            </p:nvGrpSpPr>
            <p:grpSpPr>
              <a:xfrm>
                <a:off x="3085" y="1176"/>
                <a:ext cx="307" cy="384"/>
                <a:chOff x="3085" y="1176"/>
                <a:chExt cx="307" cy="384"/>
              </a:xfrm>
            </p:grpSpPr>
            <p:sp>
              <p:nvSpPr>
                <p:cNvPr id="1324" name="Rectangle 31"/>
                <p:cNvSpPr>
                  <a:spLocks noChangeArrowheads="true"/>
                </p:cNvSpPr>
                <p:nvPr/>
              </p:nvSpPr>
              <p:spPr bwMode="auto">
                <a:xfrm>
                  <a:off x="3085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1325" name="Rectangle 32"/>
                <p:cNvSpPr>
                  <a:spLocks noChangeArrowheads="true"/>
                </p:cNvSpPr>
                <p:nvPr/>
              </p:nvSpPr>
              <p:spPr bwMode="auto">
                <a:xfrm>
                  <a:off x="3085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5</a:t>
                  </a:r>
                  <a:endParaRPr/>
                </a:p>
              </p:txBody>
            </p:sp>
          </p:grpSp>
          <p:grpSp>
            <p:nvGrpSpPr>
              <p:cNvPr id="1326" name="Group 33"/>
              <p:cNvGrpSpPr/>
              <p:nvPr/>
            </p:nvGrpSpPr>
            <p:grpSpPr>
              <a:xfrm>
                <a:off x="3392" y="1176"/>
                <a:ext cx="307" cy="384"/>
                <a:chOff x="3392" y="1176"/>
                <a:chExt cx="307" cy="384"/>
              </a:xfrm>
            </p:grpSpPr>
            <p:sp>
              <p:nvSpPr>
                <p:cNvPr id="1327" name="Rectangle 34"/>
                <p:cNvSpPr>
                  <a:spLocks noChangeArrowheads="true"/>
                </p:cNvSpPr>
                <p:nvPr/>
              </p:nvSpPr>
              <p:spPr bwMode="auto">
                <a:xfrm>
                  <a:off x="3392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1328" name="Rectangle 35"/>
                <p:cNvSpPr>
                  <a:spLocks noChangeArrowheads="true"/>
                </p:cNvSpPr>
                <p:nvPr/>
              </p:nvSpPr>
              <p:spPr bwMode="auto">
                <a:xfrm>
                  <a:off x="3392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4</a:t>
                  </a:r>
                  <a:endParaRPr/>
                </a:p>
              </p:txBody>
            </p:sp>
          </p:grpSp>
          <p:grpSp>
            <p:nvGrpSpPr>
              <p:cNvPr id="1329" name="Group 36"/>
              <p:cNvGrpSpPr/>
              <p:nvPr/>
            </p:nvGrpSpPr>
            <p:grpSpPr>
              <a:xfrm>
                <a:off x="3699" y="1176"/>
                <a:ext cx="307" cy="384"/>
                <a:chOff x="3699" y="1176"/>
                <a:chExt cx="307" cy="384"/>
              </a:xfrm>
            </p:grpSpPr>
            <p:sp>
              <p:nvSpPr>
                <p:cNvPr id="1330" name="Rectangle 37"/>
                <p:cNvSpPr>
                  <a:spLocks noChangeArrowheads="true"/>
                </p:cNvSpPr>
                <p:nvPr/>
              </p:nvSpPr>
              <p:spPr bwMode="auto">
                <a:xfrm>
                  <a:off x="3699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1331" name="Rectangle 38"/>
                <p:cNvSpPr>
                  <a:spLocks noChangeArrowheads="true"/>
                </p:cNvSpPr>
                <p:nvPr/>
              </p:nvSpPr>
              <p:spPr bwMode="auto">
                <a:xfrm>
                  <a:off x="3699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3</a:t>
                  </a:r>
                  <a:endParaRPr/>
                </a:p>
              </p:txBody>
            </p:sp>
          </p:grpSp>
          <p:grpSp>
            <p:nvGrpSpPr>
              <p:cNvPr id="1332" name="Group 39"/>
              <p:cNvGrpSpPr/>
              <p:nvPr/>
            </p:nvGrpSpPr>
            <p:grpSpPr>
              <a:xfrm>
                <a:off x="4006" y="1176"/>
                <a:ext cx="307" cy="384"/>
                <a:chOff x="4006" y="1176"/>
                <a:chExt cx="307" cy="384"/>
              </a:xfrm>
            </p:grpSpPr>
            <p:sp>
              <p:nvSpPr>
                <p:cNvPr id="1333" name="Rectangle 40"/>
                <p:cNvSpPr>
                  <a:spLocks noChangeArrowheads="true"/>
                </p:cNvSpPr>
                <p:nvPr/>
              </p:nvSpPr>
              <p:spPr bwMode="auto">
                <a:xfrm>
                  <a:off x="4006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1334" name="Rectangle 41"/>
                <p:cNvSpPr>
                  <a:spLocks noChangeArrowheads="true"/>
                </p:cNvSpPr>
                <p:nvPr/>
              </p:nvSpPr>
              <p:spPr bwMode="auto">
                <a:xfrm>
                  <a:off x="4006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2</a:t>
                  </a:r>
                  <a:endParaRPr/>
                </a:p>
              </p:txBody>
            </p:sp>
          </p:grpSp>
          <p:grpSp>
            <p:nvGrpSpPr>
              <p:cNvPr id="1335" name="Group 42"/>
              <p:cNvGrpSpPr/>
              <p:nvPr/>
            </p:nvGrpSpPr>
            <p:grpSpPr>
              <a:xfrm>
                <a:off x="4313" y="1176"/>
                <a:ext cx="307" cy="384"/>
                <a:chOff x="4313" y="1176"/>
                <a:chExt cx="307" cy="384"/>
              </a:xfrm>
            </p:grpSpPr>
            <p:sp>
              <p:nvSpPr>
                <p:cNvPr id="1336" name="Rectangle 43"/>
                <p:cNvSpPr>
                  <a:spLocks noChangeArrowheads="true"/>
                </p:cNvSpPr>
                <p:nvPr/>
              </p:nvSpPr>
              <p:spPr bwMode="auto">
                <a:xfrm>
                  <a:off x="4313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1337" name="Rectangle 44"/>
                <p:cNvSpPr>
                  <a:spLocks noChangeArrowheads="true"/>
                </p:cNvSpPr>
                <p:nvPr/>
              </p:nvSpPr>
              <p:spPr bwMode="auto">
                <a:xfrm>
                  <a:off x="4313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1</a:t>
                  </a:r>
                  <a:endParaRPr/>
                </a:p>
              </p:txBody>
            </p:sp>
          </p:grpSp>
          <p:grpSp>
            <p:nvGrpSpPr>
              <p:cNvPr id="1338" name="Group 45"/>
              <p:cNvGrpSpPr/>
              <p:nvPr/>
            </p:nvGrpSpPr>
            <p:grpSpPr>
              <a:xfrm>
                <a:off x="4620" y="1176"/>
                <a:ext cx="307" cy="384"/>
                <a:chOff x="4620" y="1176"/>
                <a:chExt cx="307" cy="384"/>
              </a:xfrm>
            </p:grpSpPr>
            <p:sp>
              <p:nvSpPr>
                <p:cNvPr id="1339" name="Rectangle 46"/>
                <p:cNvSpPr>
                  <a:spLocks noChangeArrowheads="true"/>
                </p:cNvSpPr>
                <p:nvPr/>
              </p:nvSpPr>
              <p:spPr bwMode="auto">
                <a:xfrm>
                  <a:off x="4620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1340" name="Rectangle 47"/>
                <p:cNvSpPr>
                  <a:spLocks noChangeArrowheads="true"/>
                </p:cNvSpPr>
                <p:nvPr/>
              </p:nvSpPr>
              <p:spPr bwMode="auto">
                <a:xfrm>
                  <a:off x="4620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0</a:t>
                  </a:r>
                  <a:endParaRPr/>
                </a:p>
              </p:txBody>
            </p:sp>
          </p:grpSp>
        </p:grpSp>
        <p:grpSp>
          <p:nvGrpSpPr>
            <p:cNvPr id="1341" name="Group 48"/>
            <p:cNvGrpSpPr/>
            <p:nvPr/>
          </p:nvGrpSpPr>
          <p:grpSpPr>
            <a:xfrm>
              <a:off x="2888" y="1900"/>
              <a:ext cx="1842" cy="212"/>
              <a:chOff x="3085" y="1661"/>
              <a:chExt cx="1842" cy="212"/>
            </a:xfrm>
          </p:grpSpPr>
          <p:sp>
            <p:nvSpPr>
              <p:cNvPr id="1342" name="Line 49"/>
              <p:cNvSpPr>
                <a:spLocks noChangeShapeType="true"/>
              </p:cNvSpPr>
              <p:nvPr/>
            </p:nvSpPr>
            <p:spPr bwMode="auto">
              <a:xfrm>
                <a:off x="3085" y="1752"/>
                <a:ext cx="184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xtLst>
                <a:ext uri="{909E8E84-426E-40DD-AFC4-6F175D3DCCD1}"/>
              </a:extLst>
            </p:spPr>
            <p:txBody>
              <a:bodyPr wrap="none" lIns="90487" tIns="44450" rIns="90487" bIns="44450"/>
              <a:lstStyle/>
              <a:p>
                <a:pPr/>
                <a:endParaRPr lang="zh-CN" altLang="en-US"/>
              </a:p>
            </p:txBody>
          </p:sp>
          <p:sp>
            <p:nvSpPr>
              <p:cNvPr id="1343" name="Text Box 50"/>
              <p:cNvSpPr txBox="true">
                <a:spLocks noChangeArrowheads="true"/>
              </p:cNvSpPr>
              <p:nvPr/>
            </p:nvSpPr>
            <p:spPr bwMode="auto">
              <a:xfrm>
                <a:off x="3794" y="1661"/>
                <a:ext cx="418" cy="21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/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800">
                    <a:solidFill>
                      <a:schemeClr val="tx2"/>
                    </a:solidFill>
                    <a:latin typeface="Helvetica" pitchFamily="34" charset="0"/>
                  </a:rPr>
                  <a:t>VPO</a:t>
                </a:r>
                <a:endParaRPr/>
              </a:p>
            </p:txBody>
          </p:sp>
        </p:grpSp>
        <p:grpSp>
          <p:nvGrpSpPr>
            <p:cNvPr id="1344" name="Group 51"/>
            <p:cNvGrpSpPr/>
            <p:nvPr/>
          </p:nvGrpSpPr>
          <p:grpSpPr>
            <a:xfrm>
              <a:off x="432" y="1895"/>
              <a:ext cx="2467" cy="212"/>
              <a:chOff x="629" y="1656"/>
              <a:chExt cx="2467" cy="212"/>
            </a:xfrm>
          </p:grpSpPr>
          <p:sp>
            <p:nvSpPr>
              <p:cNvPr id="1345" name="Line 52"/>
              <p:cNvSpPr>
                <a:spLocks noChangeShapeType="true"/>
              </p:cNvSpPr>
              <p:nvPr/>
            </p:nvSpPr>
            <p:spPr bwMode="auto">
              <a:xfrm>
                <a:off x="629" y="1747"/>
                <a:ext cx="246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xtLst>
                <a:ext uri="{909E8E84-426E-40DD-AFC4-6F175D3DCCD1}"/>
              </a:extLst>
            </p:spPr>
            <p:txBody>
              <a:bodyPr wrap="none" lIns="90487" tIns="44450" rIns="90487" bIns="44450"/>
              <a:lstStyle/>
              <a:p>
                <a:pPr/>
                <a:endParaRPr lang="zh-CN" altLang="en-US"/>
              </a:p>
            </p:txBody>
          </p:sp>
          <p:sp>
            <p:nvSpPr>
              <p:cNvPr id="1346" name="Text Box 53"/>
              <p:cNvSpPr txBox="true">
                <a:spLocks noChangeArrowheads="true"/>
              </p:cNvSpPr>
              <p:nvPr/>
            </p:nvSpPr>
            <p:spPr bwMode="auto">
              <a:xfrm>
                <a:off x="1579" y="1656"/>
                <a:ext cx="409" cy="21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/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800">
                    <a:solidFill>
                      <a:schemeClr val="tx2"/>
                    </a:solidFill>
                    <a:latin typeface="Helvetica" pitchFamily="34" charset="0"/>
                  </a:rPr>
                  <a:t>VPN</a:t>
                </a:r>
                <a:endParaRPr/>
              </a:p>
            </p:txBody>
          </p:sp>
        </p:grpSp>
        <p:sp>
          <p:nvSpPr>
            <p:cNvPr id="1347" name="Text Box 54"/>
            <p:cNvSpPr txBox="true">
              <a:spLocks noChangeArrowheads="true"/>
            </p:cNvSpPr>
            <p:nvPr/>
          </p:nvSpPr>
          <p:spPr bwMode="auto">
            <a:xfrm>
              <a:off x="4459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0</a:t>
              </a:r>
              <a:endParaRPr/>
            </a:p>
          </p:txBody>
        </p:sp>
        <p:sp>
          <p:nvSpPr>
            <p:cNvPr id="1348" name="Text Box 55"/>
            <p:cNvSpPr txBox="true">
              <a:spLocks noChangeArrowheads="true"/>
            </p:cNvSpPr>
            <p:nvPr/>
          </p:nvSpPr>
          <p:spPr bwMode="auto">
            <a:xfrm>
              <a:off x="4123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0</a:t>
              </a:r>
              <a:endParaRPr/>
            </a:p>
          </p:txBody>
        </p:sp>
        <p:sp>
          <p:nvSpPr>
            <p:cNvPr id="1349" name="Text Box 56"/>
            <p:cNvSpPr txBox="true">
              <a:spLocks noChangeArrowheads="true"/>
            </p:cNvSpPr>
            <p:nvPr/>
          </p:nvSpPr>
          <p:spPr bwMode="auto">
            <a:xfrm>
              <a:off x="3835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1</a:t>
              </a:r>
              <a:endParaRPr/>
            </a:p>
          </p:txBody>
        </p:sp>
        <p:sp>
          <p:nvSpPr>
            <p:cNvPr id="1350" name="Text Box 57"/>
            <p:cNvSpPr txBox="true">
              <a:spLocks noChangeArrowheads="true"/>
            </p:cNvSpPr>
            <p:nvPr/>
          </p:nvSpPr>
          <p:spPr bwMode="auto">
            <a:xfrm>
              <a:off x="3547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0</a:t>
              </a:r>
              <a:endParaRPr/>
            </a:p>
          </p:txBody>
        </p:sp>
        <p:sp>
          <p:nvSpPr>
            <p:cNvPr id="1351" name="Text Box 58"/>
            <p:cNvSpPr txBox="true">
              <a:spLocks noChangeArrowheads="true"/>
            </p:cNvSpPr>
            <p:nvPr/>
          </p:nvSpPr>
          <p:spPr bwMode="auto">
            <a:xfrm>
              <a:off x="3211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1</a:t>
              </a:r>
              <a:endParaRPr/>
            </a:p>
          </p:txBody>
        </p:sp>
        <p:sp>
          <p:nvSpPr>
            <p:cNvPr id="1352" name="Text Box 59"/>
            <p:cNvSpPr txBox="true">
              <a:spLocks noChangeArrowheads="true"/>
            </p:cNvSpPr>
            <p:nvPr/>
          </p:nvSpPr>
          <p:spPr bwMode="auto">
            <a:xfrm>
              <a:off x="2923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0</a:t>
              </a:r>
              <a:endParaRPr/>
            </a:p>
          </p:txBody>
        </p:sp>
        <p:sp>
          <p:nvSpPr>
            <p:cNvPr id="1353" name="Text Box 60"/>
            <p:cNvSpPr txBox="true">
              <a:spLocks noChangeArrowheads="true"/>
            </p:cNvSpPr>
            <p:nvPr/>
          </p:nvSpPr>
          <p:spPr bwMode="auto">
            <a:xfrm>
              <a:off x="2587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1</a:t>
              </a:r>
              <a:endParaRPr/>
            </a:p>
          </p:txBody>
        </p:sp>
        <p:sp>
          <p:nvSpPr>
            <p:cNvPr id="1354" name="Text Box 61"/>
            <p:cNvSpPr txBox="true">
              <a:spLocks noChangeArrowheads="true"/>
            </p:cNvSpPr>
            <p:nvPr/>
          </p:nvSpPr>
          <p:spPr bwMode="auto">
            <a:xfrm>
              <a:off x="2299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1</a:t>
              </a:r>
              <a:endParaRPr/>
            </a:p>
          </p:txBody>
        </p:sp>
        <p:sp>
          <p:nvSpPr>
            <p:cNvPr id="1355" name="Text Box 62"/>
            <p:cNvSpPr txBox="true">
              <a:spLocks noChangeArrowheads="true"/>
            </p:cNvSpPr>
            <p:nvPr/>
          </p:nvSpPr>
          <p:spPr bwMode="auto">
            <a:xfrm>
              <a:off x="2011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1</a:t>
              </a:r>
              <a:endParaRPr/>
            </a:p>
          </p:txBody>
        </p:sp>
        <p:sp>
          <p:nvSpPr>
            <p:cNvPr id="1356" name="Text Box 63"/>
            <p:cNvSpPr txBox="true">
              <a:spLocks noChangeArrowheads="true"/>
            </p:cNvSpPr>
            <p:nvPr/>
          </p:nvSpPr>
          <p:spPr bwMode="auto">
            <a:xfrm>
              <a:off x="1675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1</a:t>
              </a:r>
              <a:endParaRPr/>
            </a:p>
          </p:txBody>
        </p:sp>
        <p:sp>
          <p:nvSpPr>
            <p:cNvPr id="1357" name="Text Box 64"/>
            <p:cNvSpPr txBox="true">
              <a:spLocks noChangeArrowheads="true"/>
            </p:cNvSpPr>
            <p:nvPr/>
          </p:nvSpPr>
          <p:spPr bwMode="auto">
            <a:xfrm>
              <a:off x="1387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0</a:t>
              </a:r>
              <a:endParaRPr/>
            </a:p>
          </p:txBody>
        </p:sp>
        <p:sp>
          <p:nvSpPr>
            <p:cNvPr id="1358" name="Text Box 65"/>
            <p:cNvSpPr txBox="true">
              <a:spLocks noChangeArrowheads="true"/>
            </p:cNvSpPr>
            <p:nvPr/>
          </p:nvSpPr>
          <p:spPr bwMode="auto">
            <a:xfrm>
              <a:off x="1051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0</a:t>
              </a:r>
              <a:endParaRPr/>
            </a:p>
          </p:txBody>
        </p:sp>
        <p:sp>
          <p:nvSpPr>
            <p:cNvPr id="1359" name="Text Box 66"/>
            <p:cNvSpPr txBox="true">
              <a:spLocks noChangeArrowheads="true"/>
            </p:cNvSpPr>
            <p:nvPr/>
          </p:nvSpPr>
          <p:spPr bwMode="auto">
            <a:xfrm>
              <a:off x="763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0</a:t>
              </a:r>
              <a:endParaRPr/>
            </a:p>
          </p:txBody>
        </p:sp>
        <p:sp>
          <p:nvSpPr>
            <p:cNvPr id="1360" name="Text Box 67"/>
            <p:cNvSpPr txBox="true">
              <a:spLocks noChangeArrowheads="true"/>
            </p:cNvSpPr>
            <p:nvPr/>
          </p:nvSpPr>
          <p:spPr bwMode="auto">
            <a:xfrm>
              <a:off x="475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0</a:t>
              </a:r>
              <a:endParaRPr/>
            </a:p>
          </p:txBody>
        </p:sp>
      </p:grpSp>
      <p:sp>
        <p:nvSpPr>
          <p:cNvPr id="1361" name="Rectangle 68"/>
          <p:cNvSpPr>
            <a:spLocks noChangeArrowheads="true"/>
          </p:cNvSpPr>
          <p:nvPr/>
        </p:nvSpPr>
        <p:spPr bwMode="auto">
          <a:xfrm>
            <a:off x="685800" y="3305175"/>
            <a:ext cx="84582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>
              <a:lnSpc>
                <a:spcPct val="140000"/>
              </a:lnSpc>
            </a:pPr>
            <a:r>
              <a:rPr lang="en-US" b="false"/>
              <a:t>VPN: </a:t>
            </a:r>
            <a:r>
              <a:rPr lang="zh-CN" u="sng"/>
              <a:t> </a:t>
            </a:r>
            <a:r>
              <a:rPr lang="zh-CN" u="sng"/>
              <a:t>   </a:t>
            </a:r>
            <a:r>
              <a:rPr lang="en-US" b="false"/>
              <a:t> TLBI: </a:t>
            </a:r>
            <a:r>
              <a:rPr lang="zh-CN" u="sng"/>
              <a:t> </a:t>
            </a:r>
            <a:r>
              <a:rPr lang="zh-CN" u="sng"/>
              <a:t>    </a:t>
            </a:r>
            <a:r>
              <a:rPr lang="en-US" b="false"/>
              <a:t>TLBT: </a:t>
            </a:r>
            <a:r>
              <a:rPr lang="en-US" u="sng"/>
              <a:t>    </a:t>
            </a:r>
            <a:r>
              <a:rPr lang="en-US"/>
              <a:t> </a:t>
            </a:r>
            <a:r>
              <a:rPr lang="en-US" b="false"/>
              <a:t>TLB Hit? </a:t>
            </a:r>
            <a:r>
              <a:rPr lang="en-US" u="sng"/>
              <a:t>    </a:t>
            </a:r>
            <a:r>
              <a:rPr lang="en-US"/>
              <a:t> </a:t>
            </a:r>
            <a:r>
              <a:rPr lang="en-US" b="false"/>
              <a:t>Page Fault? </a:t>
            </a:r>
            <a:r>
              <a:rPr lang="en-US" u="sng"/>
              <a:t>   </a:t>
            </a:r>
            <a:r>
              <a:rPr lang="en-US" u="sng"/>
              <a:t> </a:t>
            </a:r>
            <a:endParaRPr/>
          </a:p>
        </p:txBody>
      </p:sp>
      <p:cxnSp>
        <p:nvCxnSpPr>
          <p:cNvPr id="1362" name="Straight Connector 2"/>
          <p:cNvCxnSpPr>
            <a:cxnSpLocks noChangeShapeType="true"/>
          </p:cNvCxnSpPr>
          <p:nvPr/>
        </p:nvCxnSpPr>
        <p:spPr bwMode="auto">
          <a:xfrm rot="0" flipH="false" flipV="false">
            <a:off x="4584700" y="1828800"/>
            <a:ext cx="0" cy="2068656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</a:ln>
          <a:extLst>
            <a:ext uri="{909E8E84-426E-40DD-AFC4-6F175D3DCCD1}"/>
          </a:extLst>
        </p:spPr>
      </p:cxnSp>
      <p:cxnSp>
        <p:nvCxnSpPr>
          <p:cNvPr id="1363" name="Straight Connector 131"/>
          <p:cNvCxnSpPr>
            <a:cxnSpLocks noChangeShapeType="true"/>
          </p:cNvCxnSpPr>
          <p:nvPr/>
        </p:nvCxnSpPr>
        <p:spPr bwMode="auto">
          <a:xfrm flipH="true">
            <a:off x="3609975" y="1981200"/>
            <a:ext cx="0" cy="957263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</a:ln>
          <a:extLst>
            <a:ext uri="{909E8E84-426E-40DD-AFC4-6F175D3DCCD1}"/>
          </a:extLst>
        </p:spPr>
      </p:cxnSp>
      <p:graphicFrame>
        <p:nvGraphicFramePr>
          <p:cNvPr id="1364" name="Group 60"/>
          <p:cNvGraphicFramePr/>
          <p:nvPr/>
        </p:nvGraphicFramePr>
        <p:xfrm rot="0" flipH="false" flipV="false">
          <a:off x="306388" y="4458796"/>
          <a:ext cx="8458200" cy="1682750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val="1"/>
                    </a:ext>
                  </a:extLst>
                </a:gridCol>
                <a:gridCol w="609600">
                  <a:extLst>
                    <a:ext uri="{9D8B030D-6E8A-4147-A177-3AD203B41FA5}">
                      <a16:colId val="2"/>
                    </a:ext>
                  </a:extLst>
                </a:gridCol>
                <a:gridCol w="609600">
                  <a:extLst>
                    <a:ext uri="{9D8B030D-6E8A-4147-A177-3AD203B41FA5}">
                      <a16:colId val="3"/>
                    </a:ext>
                  </a:extLst>
                </a:gridCol>
                <a:gridCol w="762000">
                  <a:extLst>
                    <a:ext uri="{9D8B030D-6E8A-4147-A177-3AD203B41FA5}">
                      <a16:colId val="4"/>
                    </a:ext>
                  </a:extLst>
                </a:gridCol>
                <a:gridCol w="609600">
                  <a:extLst>
                    <a:ext uri="{9D8B030D-6E8A-4147-A177-3AD203B41FA5}">
                      <a16:colId val="5"/>
                    </a:ext>
                  </a:extLst>
                </a:gridCol>
                <a:gridCol w="609600">
                  <a:extLst>
                    <a:ext uri="{9D8B030D-6E8A-4147-A177-3AD203B41FA5}">
                      <a16:colId val="6"/>
                    </a:ext>
                  </a:extLst>
                </a:gridCol>
                <a:gridCol w="762000">
                  <a:extLst>
                    <a:ext uri="{9D8B030D-6E8A-4147-A177-3AD203B41FA5}">
                      <a16:colId val="7"/>
                    </a:ext>
                  </a:extLst>
                </a:gridCol>
                <a:gridCol w="609600">
                  <a:extLst>
                    <a:ext uri="{9D8B030D-6E8A-4147-A177-3AD203B41FA5}">
                      <a16:colId val="8"/>
                    </a:ext>
                  </a:extLst>
                </a:gridCol>
                <a:gridCol w="609600">
                  <a:extLst>
                    <a:ext uri="{9D8B030D-6E8A-4147-A177-3AD203B41FA5}">
                      <a16:colId val="9"/>
                    </a:ext>
                  </a:extLst>
                </a:gridCol>
                <a:gridCol w="762000">
                  <a:extLst>
                    <a:ext uri="{9D8B030D-6E8A-4147-A177-3AD203B41FA5}">
                      <a16:colId val="10"/>
                    </a:ext>
                  </a:extLst>
                </a:gridCol>
                <a:gridCol w="609600">
                  <a:extLst>
                    <a:ext uri="{9D8B030D-6E8A-4147-A177-3AD203B41FA5}">
                      <a16:colId val="11"/>
                    </a:ext>
                  </a:extLst>
                </a:gridCol>
                <a:gridCol w="609600">
                  <a:extLst>
                    <a:ext uri="{9D8B030D-6E8A-4147-A177-3AD203B41FA5}">
                      <a16:colId val="12"/>
                    </a:ext>
                  </a:extLst>
                </a:gridCol>
                <a:gridCol w="762000">
                  <a:extLst>
                    <a:ext uri="{9D8B030D-6E8A-4147-A177-3AD203B41FA5}">
                      <a16:colId val="13"/>
                    </a:ext>
                  </a:extLst>
                </a:gridCol>
              </a:tblGrid>
              <a:tr h="333375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endParaRPr kumimoji="false" lang="en-US" altLang="zh-CN" sz="16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charset="0"/>
                        <a:ea typeface="宋体" charset="-122"/>
                      </a:endParaRPr>
                    </a:p>
                  </a:txBody>
                  <a:tcPr marL="90487" marR="90487" marT="44450" marB="44450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Tag</a:t>
                      </a:r>
                      <a:endParaRPr/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PPN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Valid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Tag</a:t>
                      </a:r>
                      <a:endParaRPr/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PPN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Valid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Tag</a:t>
                      </a:r>
                      <a:endParaRPr/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PPN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Valid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Tag</a:t>
                      </a:r>
                      <a:endParaRPr/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PPN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Valid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333375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</a:t>
                      </a:r>
                      <a:endParaRPr/>
                    </a:p>
                  </a:txBody>
                  <a:tcPr marL="90487" marR="90487" marT="44450" marB="44450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03</a:t>
                      </a:r>
                      <a:endParaRPr/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09</a:t>
                      </a:r>
                      <a:endParaRPr/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0D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00</a:t>
                      </a:r>
                      <a:endParaRPr/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07</a:t>
                      </a:r>
                      <a:endParaRPr/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02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333375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</a:t>
                      </a:r>
                      <a:endParaRPr/>
                    </a:p>
                  </a:txBody>
                  <a:tcPr marL="90487" marR="90487" marT="44450" marB="44450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03</a:t>
                      </a:r>
                      <a:endParaRPr/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2D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02</a:t>
                      </a:r>
                      <a:endParaRPr/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04</a:t>
                      </a:r>
                      <a:endParaRPr/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0A</a:t>
                      </a:r>
                      <a:endParaRPr/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333375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2</a:t>
                      </a:r>
                      <a:endParaRPr/>
                    </a:p>
                  </a:txBody>
                  <a:tcPr marL="90487" marR="90487" marT="44450" marB="44450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02</a:t>
                      </a:r>
                      <a:endParaRPr/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08</a:t>
                      </a:r>
                      <a:endParaRPr/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06</a:t>
                      </a:r>
                      <a:endParaRPr/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03</a:t>
                      </a:r>
                      <a:endParaRPr/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333375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3</a:t>
                      </a:r>
                      <a:endParaRPr/>
                    </a:p>
                  </a:txBody>
                  <a:tcPr marL="90487" marR="90487" marT="44450" marB="44450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07</a:t>
                      </a:r>
                      <a:endParaRPr/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03</a:t>
                      </a:r>
                      <a:endParaRPr/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0D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0A</a:t>
                      </a:r>
                      <a:endParaRPr/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34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02</a:t>
                      </a:r>
                      <a:endParaRPr/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</a:tbl>
          </a:graphicData>
        </a:graphic>
      </p:graphicFrame>
      <p:sp>
        <p:nvSpPr>
          <p:cNvPr id="1365" name=""/>
          <p:cNvSpPr txBox="true"/>
          <p:nvPr/>
        </p:nvSpPr>
        <p:spPr>
          <a:xfrm rot="0" flipH="false" flipV="false">
            <a:off x="227013" y="4354656"/>
            <a:ext cx="615950" cy="393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en-US"/>
              <a:t>Set</a:t>
            </a:r>
            <a:endParaRPr/>
          </a:p>
        </p:txBody>
      </p:sp>
      <p:sp>
        <p:nvSpPr>
          <p:cNvPr id="1366" name=""/>
          <p:cNvSpPr txBox="true"/>
          <p:nvPr/>
        </p:nvSpPr>
        <p:spPr>
          <a:xfrm rot="0" flipH="false" flipV="false">
            <a:off x="227013" y="3960956"/>
            <a:ext cx="1936750" cy="393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en-US"/>
              <a:t>TLB snapshot:</a:t>
            </a:r>
            <a:endParaRPr/>
          </a:p>
        </p:txBody>
      </p:sp>
    </p:spTree>
  </p:cSld>
  <p:clrMapOvr>
    <a:masterClrMapping/>
  </p:clrMapOvr>
</p:sld>
</file>

<file path=ppt/slides/slide83.xml><?xml version="1.0" encoding="utf-8"?>
<p:sld xmlns:p="http://schemas.openxmlformats.org/presentationml/2006/main" xmlns:a16="http://schemas.microsoft.com/office/drawing/2014/main" xmlns:a="http://schemas.openxmlformats.org/drawingml/2006/main" xmlns:mc="http://schemas.openxmlformats.org/markup-compatibility/2006" mc:Ignorable="a16">
  <p:cSld>
    <p:spTree>
      <p:nvGrpSpPr>
        <p:cNvPr id="13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A7175905-0DA5-3646-9689-11C6F93B1EE5}" type="slidenum">
              <a:rPr lang="zh-CN" altLang="en-US" sz="1400" b="false">
                <a:latin typeface="Times New Roman" panose="02020603050405020304" charset="0"/>
              </a:rPr>
              <a:t>88</a:t>
            </a:fld>
            <a:endParaRPr lang="en-US" altLang="zh-CN" sz="1400" b="false">
              <a:latin typeface="Times New Roman" panose="02020603050405020304" charset="0"/>
            </a:endParaRPr>
          </a:p>
        </p:txBody>
      </p:sp>
      <p:sp>
        <p:nvSpPr>
          <p:cNvPr id="1369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>
                <a:latin typeface="Comic Sans MS"/>
                <a:ea typeface="宋体"/>
                <a:cs typeface="宋体"/>
              </a:rPr>
              <a:t>课堂练习</a:t>
            </a:r>
            <a:r>
              <a:rPr lang="zh-CN">
                <a:latin typeface="Comic Sans MS"/>
                <a:ea typeface="宋体"/>
                <a:cs typeface="宋体"/>
              </a:rPr>
              <a:t>答案</a:t>
            </a:r>
            <a:endParaRPr lang="en-US">
              <a:latin typeface="Comic Sans MS"/>
              <a:ea typeface="宋体"/>
              <a:cs typeface="宋体"/>
            </a:endParaRPr>
          </a:p>
        </p:txBody>
      </p:sp>
      <p:sp>
        <p:nvSpPr>
          <p:cNvPr id="1370" name="Rectangle 3"/>
          <p:cNvSpPr>
            <a:spLocks noChangeArrowheads="true"/>
          </p:cNvSpPr>
          <p:nvPr/>
        </p:nvSpPr>
        <p:spPr bwMode="auto">
          <a:xfrm>
            <a:off x="533400" y="1614488"/>
            <a:ext cx="30940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r>
              <a:rPr lang="en-US" altLang="zh-CN" b="false"/>
              <a:t>Virtual Address 0x03D4</a:t>
            </a:r>
            <a:endParaRPr lang="zh-CN" altLang="en-US" b="false"/>
          </a:p>
        </p:txBody>
      </p:sp>
      <p:grpSp>
        <p:nvGrpSpPr>
          <p:cNvPr id="1371" name="Group 4"/>
          <p:cNvGrpSpPr/>
          <p:nvPr/>
        </p:nvGrpSpPr>
        <p:grpSpPr>
          <a:xfrm>
            <a:off x="685800" y="2032000"/>
            <a:ext cx="6823075" cy="1106488"/>
            <a:chOff x="432" y="1415"/>
            <a:chExt cx="4298" cy="697"/>
          </a:xfrm>
        </p:grpSpPr>
        <p:grpSp>
          <p:nvGrpSpPr>
            <p:cNvPr id="1372" name="Group 5"/>
            <p:cNvGrpSpPr/>
            <p:nvPr/>
          </p:nvGrpSpPr>
          <p:grpSpPr>
            <a:xfrm>
              <a:off x="432" y="1415"/>
              <a:ext cx="4298" cy="384"/>
              <a:chOff x="629" y="1176"/>
              <a:chExt cx="4298" cy="384"/>
            </a:xfrm>
          </p:grpSpPr>
          <p:grpSp>
            <p:nvGrpSpPr>
              <p:cNvPr id="1373" name="Group 6"/>
              <p:cNvGrpSpPr/>
              <p:nvPr/>
            </p:nvGrpSpPr>
            <p:grpSpPr>
              <a:xfrm>
                <a:off x="629" y="1176"/>
                <a:ext cx="307" cy="384"/>
                <a:chOff x="629" y="1176"/>
                <a:chExt cx="307" cy="384"/>
              </a:xfrm>
            </p:grpSpPr>
            <p:sp>
              <p:nvSpPr>
                <p:cNvPr id="1374" name="Rectangle 7"/>
                <p:cNvSpPr>
                  <a:spLocks noChangeArrowheads="true"/>
                </p:cNvSpPr>
                <p:nvPr/>
              </p:nvSpPr>
              <p:spPr bwMode="auto">
                <a:xfrm>
                  <a:off x="629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endParaRPr lang="zh-CN" altLang="en-US" sz="1800">
                    <a:solidFill>
                      <a:schemeClr val="tx2"/>
                    </a:solidFill>
                    <a:latin typeface="Helvetica" pitchFamily="34" charset="0"/>
                  </a:endParaRPr>
                </a:p>
              </p:txBody>
            </p:sp>
            <p:sp>
              <p:nvSpPr>
                <p:cNvPr id="1375" name="Rectangle 8"/>
                <p:cNvSpPr>
                  <a:spLocks noChangeArrowheads="true"/>
                </p:cNvSpPr>
                <p:nvPr/>
              </p:nvSpPr>
              <p:spPr bwMode="auto">
                <a:xfrm>
                  <a:off x="629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13</a:t>
                  </a:r>
                  <a:endParaRPr/>
                </a:p>
              </p:txBody>
            </p:sp>
          </p:grpSp>
          <p:grpSp>
            <p:nvGrpSpPr>
              <p:cNvPr id="1376" name="Group 9"/>
              <p:cNvGrpSpPr/>
              <p:nvPr/>
            </p:nvGrpSpPr>
            <p:grpSpPr>
              <a:xfrm>
                <a:off x="936" y="1176"/>
                <a:ext cx="307" cy="384"/>
                <a:chOff x="936" y="1176"/>
                <a:chExt cx="307" cy="384"/>
              </a:xfrm>
            </p:grpSpPr>
            <p:sp>
              <p:nvSpPr>
                <p:cNvPr id="1377" name="Rectangle 10"/>
                <p:cNvSpPr>
                  <a:spLocks noChangeArrowheads="true"/>
                </p:cNvSpPr>
                <p:nvPr/>
              </p:nvSpPr>
              <p:spPr bwMode="auto">
                <a:xfrm>
                  <a:off x="936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endParaRPr lang="zh-CN" altLang="en-US" sz="1800">
                    <a:solidFill>
                      <a:schemeClr val="tx2"/>
                    </a:solidFill>
                    <a:latin typeface="Helvetica" pitchFamily="34" charset="0"/>
                  </a:endParaRPr>
                </a:p>
              </p:txBody>
            </p:sp>
            <p:sp>
              <p:nvSpPr>
                <p:cNvPr id="1378" name="Rectangle 11"/>
                <p:cNvSpPr>
                  <a:spLocks noChangeArrowheads="true"/>
                </p:cNvSpPr>
                <p:nvPr/>
              </p:nvSpPr>
              <p:spPr bwMode="auto">
                <a:xfrm>
                  <a:off x="936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12</a:t>
                  </a:r>
                  <a:endParaRPr/>
                </a:p>
              </p:txBody>
            </p:sp>
          </p:grpSp>
          <p:grpSp>
            <p:nvGrpSpPr>
              <p:cNvPr id="1379" name="Group 12"/>
              <p:cNvGrpSpPr/>
              <p:nvPr/>
            </p:nvGrpSpPr>
            <p:grpSpPr>
              <a:xfrm>
                <a:off x="1243" y="1176"/>
                <a:ext cx="307" cy="384"/>
                <a:chOff x="1243" y="1176"/>
                <a:chExt cx="307" cy="384"/>
              </a:xfrm>
            </p:grpSpPr>
            <p:sp>
              <p:nvSpPr>
                <p:cNvPr id="1380" name="Rectangle 13"/>
                <p:cNvSpPr>
                  <a:spLocks noChangeArrowheads="true"/>
                </p:cNvSpPr>
                <p:nvPr/>
              </p:nvSpPr>
              <p:spPr bwMode="auto">
                <a:xfrm>
                  <a:off x="1243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endParaRPr lang="zh-CN" altLang="en-US" sz="1800">
                    <a:solidFill>
                      <a:schemeClr val="tx2"/>
                    </a:solidFill>
                    <a:latin typeface="Helvetica" pitchFamily="34" charset="0"/>
                  </a:endParaRPr>
                </a:p>
              </p:txBody>
            </p:sp>
            <p:sp>
              <p:nvSpPr>
                <p:cNvPr id="1381" name="Rectangle 14"/>
                <p:cNvSpPr>
                  <a:spLocks noChangeArrowheads="true"/>
                </p:cNvSpPr>
                <p:nvPr/>
              </p:nvSpPr>
              <p:spPr bwMode="auto">
                <a:xfrm>
                  <a:off x="1243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11</a:t>
                  </a:r>
                  <a:endParaRPr/>
                </a:p>
              </p:txBody>
            </p:sp>
          </p:grpSp>
          <p:grpSp>
            <p:nvGrpSpPr>
              <p:cNvPr id="1382" name="Group 15"/>
              <p:cNvGrpSpPr/>
              <p:nvPr/>
            </p:nvGrpSpPr>
            <p:grpSpPr>
              <a:xfrm>
                <a:off x="1550" y="1176"/>
                <a:ext cx="307" cy="384"/>
                <a:chOff x="1550" y="1176"/>
                <a:chExt cx="307" cy="384"/>
              </a:xfrm>
            </p:grpSpPr>
            <p:sp>
              <p:nvSpPr>
                <p:cNvPr id="1383" name="Rectangle 16"/>
                <p:cNvSpPr>
                  <a:spLocks noChangeArrowheads="true"/>
                </p:cNvSpPr>
                <p:nvPr/>
              </p:nvSpPr>
              <p:spPr bwMode="auto">
                <a:xfrm>
                  <a:off x="1550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1384" name="Rectangle 17"/>
                <p:cNvSpPr>
                  <a:spLocks noChangeArrowheads="true"/>
                </p:cNvSpPr>
                <p:nvPr/>
              </p:nvSpPr>
              <p:spPr bwMode="auto">
                <a:xfrm>
                  <a:off x="1550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10</a:t>
                  </a:r>
                  <a:endParaRPr/>
                </a:p>
              </p:txBody>
            </p:sp>
          </p:grpSp>
          <p:grpSp>
            <p:nvGrpSpPr>
              <p:cNvPr id="1385" name="Group 18"/>
              <p:cNvGrpSpPr/>
              <p:nvPr/>
            </p:nvGrpSpPr>
            <p:grpSpPr>
              <a:xfrm>
                <a:off x="1857" y="1176"/>
                <a:ext cx="307" cy="384"/>
                <a:chOff x="1857" y="1176"/>
                <a:chExt cx="307" cy="384"/>
              </a:xfrm>
            </p:grpSpPr>
            <p:sp>
              <p:nvSpPr>
                <p:cNvPr id="1386" name="Rectangle 19"/>
                <p:cNvSpPr>
                  <a:spLocks noChangeArrowheads="true"/>
                </p:cNvSpPr>
                <p:nvPr/>
              </p:nvSpPr>
              <p:spPr bwMode="auto">
                <a:xfrm>
                  <a:off x="1857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1387" name="Rectangle 20"/>
                <p:cNvSpPr>
                  <a:spLocks noChangeArrowheads="true"/>
                </p:cNvSpPr>
                <p:nvPr/>
              </p:nvSpPr>
              <p:spPr bwMode="auto">
                <a:xfrm>
                  <a:off x="1857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9</a:t>
                  </a:r>
                  <a:endParaRPr/>
                </a:p>
              </p:txBody>
            </p:sp>
          </p:grpSp>
          <p:grpSp>
            <p:nvGrpSpPr>
              <p:cNvPr id="1388" name="Group 21"/>
              <p:cNvGrpSpPr/>
              <p:nvPr/>
            </p:nvGrpSpPr>
            <p:grpSpPr>
              <a:xfrm>
                <a:off x="2164" y="1176"/>
                <a:ext cx="307" cy="384"/>
                <a:chOff x="2164" y="1176"/>
                <a:chExt cx="307" cy="384"/>
              </a:xfrm>
            </p:grpSpPr>
            <p:sp>
              <p:nvSpPr>
                <p:cNvPr id="1389" name="Rectangle 22"/>
                <p:cNvSpPr>
                  <a:spLocks noChangeArrowheads="true"/>
                </p:cNvSpPr>
                <p:nvPr/>
              </p:nvSpPr>
              <p:spPr bwMode="auto">
                <a:xfrm>
                  <a:off x="2164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1390" name="Rectangle 23"/>
                <p:cNvSpPr>
                  <a:spLocks noChangeArrowheads="true"/>
                </p:cNvSpPr>
                <p:nvPr/>
              </p:nvSpPr>
              <p:spPr bwMode="auto">
                <a:xfrm>
                  <a:off x="2164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8</a:t>
                  </a:r>
                  <a:endParaRPr/>
                </a:p>
              </p:txBody>
            </p:sp>
          </p:grpSp>
          <p:grpSp>
            <p:nvGrpSpPr>
              <p:cNvPr id="1391" name="Group 24"/>
              <p:cNvGrpSpPr/>
              <p:nvPr/>
            </p:nvGrpSpPr>
            <p:grpSpPr>
              <a:xfrm>
                <a:off x="2471" y="1176"/>
                <a:ext cx="307" cy="384"/>
                <a:chOff x="2471" y="1176"/>
                <a:chExt cx="307" cy="384"/>
              </a:xfrm>
            </p:grpSpPr>
            <p:sp>
              <p:nvSpPr>
                <p:cNvPr id="1392" name="Rectangle 25"/>
                <p:cNvSpPr>
                  <a:spLocks noChangeArrowheads="true"/>
                </p:cNvSpPr>
                <p:nvPr/>
              </p:nvSpPr>
              <p:spPr bwMode="auto">
                <a:xfrm>
                  <a:off x="2471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1393" name="Rectangle 26"/>
                <p:cNvSpPr>
                  <a:spLocks noChangeArrowheads="true"/>
                </p:cNvSpPr>
                <p:nvPr/>
              </p:nvSpPr>
              <p:spPr bwMode="auto">
                <a:xfrm>
                  <a:off x="2471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7</a:t>
                  </a:r>
                  <a:endParaRPr/>
                </a:p>
              </p:txBody>
            </p:sp>
          </p:grpSp>
          <p:grpSp>
            <p:nvGrpSpPr>
              <p:cNvPr id="1394" name="Group 27"/>
              <p:cNvGrpSpPr/>
              <p:nvPr/>
            </p:nvGrpSpPr>
            <p:grpSpPr>
              <a:xfrm>
                <a:off x="2778" y="1176"/>
                <a:ext cx="307" cy="384"/>
                <a:chOff x="2778" y="1176"/>
                <a:chExt cx="307" cy="384"/>
              </a:xfrm>
            </p:grpSpPr>
            <p:sp>
              <p:nvSpPr>
                <p:cNvPr id="1395" name="Rectangle 28"/>
                <p:cNvSpPr>
                  <a:spLocks noChangeArrowheads="true"/>
                </p:cNvSpPr>
                <p:nvPr/>
              </p:nvSpPr>
              <p:spPr bwMode="auto">
                <a:xfrm>
                  <a:off x="2778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1396" name="Rectangle 29"/>
                <p:cNvSpPr>
                  <a:spLocks noChangeArrowheads="true"/>
                </p:cNvSpPr>
                <p:nvPr/>
              </p:nvSpPr>
              <p:spPr bwMode="auto">
                <a:xfrm>
                  <a:off x="2778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6</a:t>
                  </a:r>
                  <a:endParaRPr/>
                </a:p>
              </p:txBody>
            </p:sp>
          </p:grpSp>
          <p:grpSp>
            <p:nvGrpSpPr>
              <p:cNvPr id="1397" name="Group 30"/>
              <p:cNvGrpSpPr/>
              <p:nvPr/>
            </p:nvGrpSpPr>
            <p:grpSpPr>
              <a:xfrm>
                <a:off x="3085" y="1176"/>
                <a:ext cx="307" cy="384"/>
                <a:chOff x="3085" y="1176"/>
                <a:chExt cx="307" cy="384"/>
              </a:xfrm>
            </p:grpSpPr>
            <p:sp>
              <p:nvSpPr>
                <p:cNvPr id="1398" name="Rectangle 31"/>
                <p:cNvSpPr>
                  <a:spLocks noChangeArrowheads="true"/>
                </p:cNvSpPr>
                <p:nvPr/>
              </p:nvSpPr>
              <p:spPr bwMode="auto">
                <a:xfrm>
                  <a:off x="3085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1399" name="Rectangle 32"/>
                <p:cNvSpPr>
                  <a:spLocks noChangeArrowheads="true"/>
                </p:cNvSpPr>
                <p:nvPr/>
              </p:nvSpPr>
              <p:spPr bwMode="auto">
                <a:xfrm>
                  <a:off x="3085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5</a:t>
                  </a:r>
                  <a:endParaRPr/>
                </a:p>
              </p:txBody>
            </p:sp>
          </p:grpSp>
          <p:grpSp>
            <p:nvGrpSpPr>
              <p:cNvPr id="1400" name="Group 33"/>
              <p:cNvGrpSpPr/>
              <p:nvPr/>
            </p:nvGrpSpPr>
            <p:grpSpPr>
              <a:xfrm>
                <a:off x="3392" y="1176"/>
                <a:ext cx="307" cy="384"/>
                <a:chOff x="3392" y="1176"/>
                <a:chExt cx="307" cy="384"/>
              </a:xfrm>
            </p:grpSpPr>
            <p:sp>
              <p:nvSpPr>
                <p:cNvPr id="1401" name="Rectangle 34"/>
                <p:cNvSpPr>
                  <a:spLocks noChangeArrowheads="true"/>
                </p:cNvSpPr>
                <p:nvPr/>
              </p:nvSpPr>
              <p:spPr bwMode="auto">
                <a:xfrm>
                  <a:off x="3392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1402" name="Rectangle 35"/>
                <p:cNvSpPr>
                  <a:spLocks noChangeArrowheads="true"/>
                </p:cNvSpPr>
                <p:nvPr/>
              </p:nvSpPr>
              <p:spPr bwMode="auto">
                <a:xfrm>
                  <a:off x="3392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4</a:t>
                  </a:r>
                  <a:endParaRPr/>
                </a:p>
              </p:txBody>
            </p:sp>
          </p:grpSp>
          <p:grpSp>
            <p:nvGrpSpPr>
              <p:cNvPr id="1403" name="Group 36"/>
              <p:cNvGrpSpPr/>
              <p:nvPr/>
            </p:nvGrpSpPr>
            <p:grpSpPr>
              <a:xfrm>
                <a:off x="3699" y="1176"/>
                <a:ext cx="307" cy="384"/>
                <a:chOff x="3699" y="1176"/>
                <a:chExt cx="307" cy="384"/>
              </a:xfrm>
            </p:grpSpPr>
            <p:sp>
              <p:nvSpPr>
                <p:cNvPr id="1404" name="Rectangle 37"/>
                <p:cNvSpPr>
                  <a:spLocks noChangeArrowheads="true"/>
                </p:cNvSpPr>
                <p:nvPr/>
              </p:nvSpPr>
              <p:spPr bwMode="auto">
                <a:xfrm>
                  <a:off x="3699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1405" name="Rectangle 38"/>
                <p:cNvSpPr>
                  <a:spLocks noChangeArrowheads="true"/>
                </p:cNvSpPr>
                <p:nvPr/>
              </p:nvSpPr>
              <p:spPr bwMode="auto">
                <a:xfrm>
                  <a:off x="3699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3</a:t>
                  </a:r>
                  <a:endParaRPr/>
                </a:p>
              </p:txBody>
            </p:sp>
          </p:grpSp>
          <p:grpSp>
            <p:nvGrpSpPr>
              <p:cNvPr id="1406" name="Group 39"/>
              <p:cNvGrpSpPr/>
              <p:nvPr/>
            </p:nvGrpSpPr>
            <p:grpSpPr>
              <a:xfrm>
                <a:off x="4006" y="1176"/>
                <a:ext cx="307" cy="384"/>
                <a:chOff x="4006" y="1176"/>
                <a:chExt cx="307" cy="384"/>
              </a:xfrm>
            </p:grpSpPr>
            <p:sp>
              <p:nvSpPr>
                <p:cNvPr id="1407" name="Rectangle 40"/>
                <p:cNvSpPr>
                  <a:spLocks noChangeArrowheads="true"/>
                </p:cNvSpPr>
                <p:nvPr/>
              </p:nvSpPr>
              <p:spPr bwMode="auto">
                <a:xfrm>
                  <a:off x="4006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1408" name="Rectangle 41"/>
                <p:cNvSpPr>
                  <a:spLocks noChangeArrowheads="true"/>
                </p:cNvSpPr>
                <p:nvPr/>
              </p:nvSpPr>
              <p:spPr bwMode="auto">
                <a:xfrm>
                  <a:off x="4006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2</a:t>
                  </a:r>
                  <a:endParaRPr/>
                </a:p>
              </p:txBody>
            </p:sp>
          </p:grpSp>
          <p:grpSp>
            <p:nvGrpSpPr>
              <p:cNvPr id="1409" name="Group 42"/>
              <p:cNvGrpSpPr/>
              <p:nvPr/>
            </p:nvGrpSpPr>
            <p:grpSpPr>
              <a:xfrm>
                <a:off x="4313" y="1176"/>
                <a:ext cx="307" cy="384"/>
                <a:chOff x="4313" y="1176"/>
                <a:chExt cx="307" cy="384"/>
              </a:xfrm>
            </p:grpSpPr>
            <p:sp>
              <p:nvSpPr>
                <p:cNvPr id="1410" name="Rectangle 43"/>
                <p:cNvSpPr>
                  <a:spLocks noChangeArrowheads="true"/>
                </p:cNvSpPr>
                <p:nvPr/>
              </p:nvSpPr>
              <p:spPr bwMode="auto">
                <a:xfrm>
                  <a:off x="4313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1411" name="Rectangle 44"/>
                <p:cNvSpPr>
                  <a:spLocks noChangeArrowheads="true"/>
                </p:cNvSpPr>
                <p:nvPr/>
              </p:nvSpPr>
              <p:spPr bwMode="auto">
                <a:xfrm>
                  <a:off x="4313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1</a:t>
                  </a:r>
                  <a:endParaRPr/>
                </a:p>
              </p:txBody>
            </p:sp>
          </p:grpSp>
          <p:grpSp>
            <p:nvGrpSpPr>
              <p:cNvPr id="1412" name="Group 45"/>
              <p:cNvGrpSpPr/>
              <p:nvPr/>
            </p:nvGrpSpPr>
            <p:grpSpPr>
              <a:xfrm>
                <a:off x="4620" y="1176"/>
                <a:ext cx="307" cy="384"/>
                <a:chOff x="4620" y="1176"/>
                <a:chExt cx="307" cy="384"/>
              </a:xfrm>
            </p:grpSpPr>
            <p:sp>
              <p:nvSpPr>
                <p:cNvPr id="1413" name="Rectangle 46"/>
                <p:cNvSpPr>
                  <a:spLocks noChangeArrowheads="true"/>
                </p:cNvSpPr>
                <p:nvPr/>
              </p:nvSpPr>
              <p:spPr bwMode="auto">
                <a:xfrm>
                  <a:off x="4620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1414" name="Rectangle 47"/>
                <p:cNvSpPr>
                  <a:spLocks noChangeArrowheads="true"/>
                </p:cNvSpPr>
                <p:nvPr/>
              </p:nvSpPr>
              <p:spPr bwMode="auto">
                <a:xfrm>
                  <a:off x="4620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0</a:t>
                  </a:r>
                  <a:endParaRPr/>
                </a:p>
              </p:txBody>
            </p:sp>
          </p:grpSp>
        </p:grpSp>
        <p:grpSp>
          <p:nvGrpSpPr>
            <p:cNvPr id="1415" name="Group 48"/>
            <p:cNvGrpSpPr/>
            <p:nvPr/>
          </p:nvGrpSpPr>
          <p:grpSpPr>
            <a:xfrm>
              <a:off x="2888" y="1900"/>
              <a:ext cx="1842" cy="212"/>
              <a:chOff x="3085" y="1661"/>
              <a:chExt cx="1842" cy="212"/>
            </a:xfrm>
          </p:grpSpPr>
          <p:sp>
            <p:nvSpPr>
              <p:cNvPr id="1416" name="Line 49"/>
              <p:cNvSpPr>
                <a:spLocks noChangeShapeType="true"/>
              </p:cNvSpPr>
              <p:nvPr/>
            </p:nvSpPr>
            <p:spPr bwMode="auto">
              <a:xfrm>
                <a:off x="3085" y="1752"/>
                <a:ext cx="184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xtLst>
                <a:ext uri="{909E8E84-426E-40DD-AFC4-6F175D3DCCD1}"/>
              </a:extLst>
            </p:spPr>
            <p:txBody>
              <a:bodyPr wrap="none" lIns="90487" tIns="44450" rIns="90487" bIns="44450"/>
              <a:lstStyle/>
              <a:p>
                <a:pPr/>
                <a:endParaRPr lang="zh-CN" altLang="en-US"/>
              </a:p>
            </p:txBody>
          </p:sp>
          <p:sp>
            <p:nvSpPr>
              <p:cNvPr id="1417" name="Text Box 50"/>
              <p:cNvSpPr txBox="true">
                <a:spLocks noChangeArrowheads="true"/>
              </p:cNvSpPr>
              <p:nvPr/>
            </p:nvSpPr>
            <p:spPr bwMode="auto">
              <a:xfrm>
                <a:off x="3794" y="1661"/>
                <a:ext cx="418" cy="21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/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800">
                    <a:solidFill>
                      <a:schemeClr val="tx2"/>
                    </a:solidFill>
                    <a:latin typeface="Helvetica" pitchFamily="34" charset="0"/>
                  </a:rPr>
                  <a:t>VPO</a:t>
                </a:r>
                <a:endParaRPr/>
              </a:p>
            </p:txBody>
          </p:sp>
        </p:grpSp>
        <p:grpSp>
          <p:nvGrpSpPr>
            <p:cNvPr id="1418" name="Group 51"/>
            <p:cNvGrpSpPr/>
            <p:nvPr/>
          </p:nvGrpSpPr>
          <p:grpSpPr>
            <a:xfrm>
              <a:off x="432" y="1895"/>
              <a:ext cx="2467" cy="212"/>
              <a:chOff x="629" y="1656"/>
              <a:chExt cx="2467" cy="212"/>
            </a:xfrm>
          </p:grpSpPr>
          <p:sp>
            <p:nvSpPr>
              <p:cNvPr id="1419" name="Line 52"/>
              <p:cNvSpPr>
                <a:spLocks noChangeShapeType="true"/>
              </p:cNvSpPr>
              <p:nvPr/>
            </p:nvSpPr>
            <p:spPr bwMode="auto">
              <a:xfrm>
                <a:off x="629" y="1747"/>
                <a:ext cx="246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xtLst>
                <a:ext uri="{909E8E84-426E-40DD-AFC4-6F175D3DCCD1}"/>
              </a:extLst>
            </p:spPr>
            <p:txBody>
              <a:bodyPr wrap="none" lIns="90487" tIns="44450" rIns="90487" bIns="44450"/>
              <a:lstStyle/>
              <a:p>
                <a:pPr/>
                <a:endParaRPr lang="zh-CN" altLang="en-US"/>
              </a:p>
            </p:txBody>
          </p:sp>
          <p:sp>
            <p:nvSpPr>
              <p:cNvPr id="1420" name="Text Box 53"/>
              <p:cNvSpPr txBox="true">
                <a:spLocks noChangeArrowheads="true"/>
              </p:cNvSpPr>
              <p:nvPr/>
            </p:nvSpPr>
            <p:spPr bwMode="auto">
              <a:xfrm>
                <a:off x="1579" y="1656"/>
                <a:ext cx="409" cy="21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/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800">
                    <a:solidFill>
                      <a:schemeClr val="tx2"/>
                    </a:solidFill>
                    <a:latin typeface="Helvetica" pitchFamily="34" charset="0"/>
                  </a:rPr>
                  <a:t>VPN</a:t>
                </a:r>
                <a:endParaRPr/>
              </a:p>
            </p:txBody>
          </p:sp>
        </p:grpSp>
        <p:sp>
          <p:nvSpPr>
            <p:cNvPr id="1421" name="Text Box 54"/>
            <p:cNvSpPr txBox="true">
              <a:spLocks noChangeArrowheads="true"/>
            </p:cNvSpPr>
            <p:nvPr/>
          </p:nvSpPr>
          <p:spPr bwMode="auto">
            <a:xfrm>
              <a:off x="4459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0</a:t>
              </a:r>
              <a:endParaRPr/>
            </a:p>
          </p:txBody>
        </p:sp>
        <p:sp>
          <p:nvSpPr>
            <p:cNvPr id="1422" name="Text Box 55"/>
            <p:cNvSpPr txBox="true">
              <a:spLocks noChangeArrowheads="true"/>
            </p:cNvSpPr>
            <p:nvPr/>
          </p:nvSpPr>
          <p:spPr bwMode="auto">
            <a:xfrm>
              <a:off x="4123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0</a:t>
              </a:r>
              <a:endParaRPr/>
            </a:p>
          </p:txBody>
        </p:sp>
        <p:sp>
          <p:nvSpPr>
            <p:cNvPr id="1423" name="Text Box 56"/>
            <p:cNvSpPr txBox="true">
              <a:spLocks noChangeArrowheads="true"/>
            </p:cNvSpPr>
            <p:nvPr/>
          </p:nvSpPr>
          <p:spPr bwMode="auto">
            <a:xfrm>
              <a:off x="3835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1</a:t>
              </a:r>
              <a:endParaRPr/>
            </a:p>
          </p:txBody>
        </p:sp>
        <p:sp>
          <p:nvSpPr>
            <p:cNvPr id="1424" name="Text Box 57"/>
            <p:cNvSpPr txBox="true">
              <a:spLocks noChangeArrowheads="true"/>
            </p:cNvSpPr>
            <p:nvPr/>
          </p:nvSpPr>
          <p:spPr bwMode="auto">
            <a:xfrm>
              <a:off x="3547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0</a:t>
              </a:r>
              <a:endParaRPr/>
            </a:p>
          </p:txBody>
        </p:sp>
        <p:sp>
          <p:nvSpPr>
            <p:cNvPr id="1425" name="Text Box 58"/>
            <p:cNvSpPr txBox="true">
              <a:spLocks noChangeArrowheads="true"/>
            </p:cNvSpPr>
            <p:nvPr/>
          </p:nvSpPr>
          <p:spPr bwMode="auto">
            <a:xfrm>
              <a:off x="3211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1</a:t>
              </a:r>
              <a:endParaRPr/>
            </a:p>
          </p:txBody>
        </p:sp>
        <p:sp>
          <p:nvSpPr>
            <p:cNvPr id="1426" name="Text Box 59"/>
            <p:cNvSpPr txBox="true">
              <a:spLocks noChangeArrowheads="true"/>
            </p:cNvSpPr>
            <p:nvPr/>
          </p:nvSpPr>
          <p:spPr bwMode="auto">
            <a:xfrm>
              <a:off x="2923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0</a:t>
              </a:r>
              <a:endParaRPr/>
            </a:p>
          </p:txBody>
        </p:sp>
        <p:sp>
          <p:nvSpPr>
            <p:cNvPr id="1427" name="Text Box 60"/>
            <p:cNvSpPr txBox="true">
              <a:spLocks noChangeArrowheads="true"/>
            </p:cNvSpPr>
            <p:nvPr/>
          </p:nvSpPr>
          <p:spPr bwMode="auto">
            <a:xfrm>
              <a:off x="2587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1</a:t>
              </a:r>
              <a:endParaRPr/>
            </a:p>
          </p:txBody>
        </p:sp>
        <p:sp>
          <p:nvSpPr>
            <p:cNvPr id="1428" name="Text Box 61"/>
            <p:cNvSpPr txBox="true">
              <a:spLocks noChangeArrowheads="true"/>
            </p:cNvSpPr>
            <p:nvPr/>
          </p:nvSpPr>
          <p:spPr bwMode="auto">
            <a:xfrm>
              <a:off x="2299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1</a:t>
              </a:r>
              <a:endParaRPr/>
            </a:p>
          </p:txBody>
        </p:sp>
        <p:sp>
          <p:nvSpPr>
            <p:cNvPr id="1429" name="Text Box 62"/>
            <p:cNvSpPr txBox="true">
              <a:spLocks noChangeArrowheads="true"/>
            </p:cNvSpPr>
            <p:nvPr/>
          </p:nvSpPr>
          <p:spPr bwMode="auto">
            <a:xfrm>
              <a:off x="2011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1</a:t>
              </a:r>
              <a:endParaRPr/>
            </a:p>
          </p:txBody>
        </p:sp>
        <p:sp>
          <p:nvSpPr>
            <p:cNvPr id="1430" name="Text Box 63"/>
            <p:cNvSpPr txBox="true">
              <a:spLocks noChangeArrowheads="true"/>
            </p:cNvSpPr>
            <p:nvPr/>
          </p:nvSpPr>
          <p:spPr bwMode="auto">
            <a:xfrm>
              <a:off x="1675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1</a:t>
              </a:r>
              <a:endParaRPr/>
            </a:p>
          </p:txBody>
        </p:sp>
        <p:sp>
          <p:nvSpPr>
            <p:cNvPr id="1431" name="Text Box 64"/>
            <p:cNvSpPr txBox="true">
              <a:spLocks noChangeArrowheads="true"/>
            </p:cNvSpPr>
            <p:nvPr/>
          </p:nvSpPr>
          <p:spPr bwMode="auto">
            <a:xfrm>
              <a:off x="1387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0</a:t>
              </a:r>
              <a:endParaRPr/>
            </a:p>
          </p:txBody>
        </p:sp>
        <p:sp>
          <p:nvSpPr>
            <p:cNvPr id="1432" name="Text Box 65"/>
            <p:cNvSpPr txBox="true">
              <a:spLocks noChangeArrowheads="true"/>
            </p:cNvSpPr>
            <p:nvPr/>
          </p:nvSpPr>
          <p:spPr bwMode="auto">
            <a:xfrm>
              <a:off x="1051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0</a:t>
              </a:r>
              <a:endParaRPr/>
            </a:p>
          </p:txBody>
        </p:sp>
        <p:sp>
          <p:nvSpPr>
            <p:cNvPr id="1433" name="Text Box 66"/>
            <p:cNvSpPr txBox="true">
              <a:spLocks noChangeArrowheads="true"/>
            </p:cNvSpPr>
            <p:nvPr/>
          </p:nvSpPr>
          <p:spPr bwMode="auto">
            <a:xfrm>
              <a:off x="763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0</a:t>
              </a:r>
              <a:endParaRPr/>
            </a:p>
          </p:txBody>
        </p:sp>
        <p:sp>
          <p:nvSpPr>
            <p:cNvPr id="1434" name="Text Box 67"/>
            <p:cNvSpPr txBox="true">
              <a:spLocks noChangeArrowheads="true"/>
            </p:cNvSpPr>
            <p:nvPr/>
          </p:nvSpPr>
          <p:spPr bwMode="auto">
            <a:xfrm>
              <a:off x="475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0</a:t>
              </a:r>
              <a:endParaRPr/>
            </a:p>
          </p:txBody>
        </p:sp>
      </p:grpSp>
      <p:sp>
        <p:nvSpPr>
          <p:cNvPr id="1435" name="Rectangle 68"/>
          <p:cNvSpPr>
            <a:spLocks noChangeArrowheads="true"/>
          </p:cNvSpPr>
          <p:nvPr/>
        </p:nvSpPr>
        <p:spPr bwMode="auto">
          <a:xfrm rot="0" flipH="false" flipV="false">
            <a:off x="647700" y="3261519"/>
            <a:ext cx="80772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>
              <a:lnSpc>
                <a:spcPct val="140000"/>
              </a:lnSpc>
            </a:pPr>
            <a:r>
              <a:rPr lang="en-US" b="false"/>
              <a:t>VPN: </a:t>
            </a:r>
            <a:r>
              <a:rPr lang="en-US" u="sng"/>
              <a:t>0x</a:t>
            </a:r>
            <a:r>
              <a:rPr lang="en-US" u="sng">
                <a:solidFill>
                  <a:schemeClr val="tx1">
                    <a:alpha val="100000"/>
                  </a:schemeClr>
                </a:solidFill>
              </a:rPr>
              <a:t>0f</a:t>
            </a:r>
            <a:r>
              <a:rPr lang="en-US" b="false"/>
              <a:t> TLBI: </a:t>
            </a:r>
            <a:r>
              <a:rPr lang="en-US" u="sng"/>
              <a:t>3</a:t>
            </a:r>
            <a:r>
              <a:rPr lang="en-US" b="false"/>
              <a:t> TLBT: </a:t>
            </a:r>
            <a:r>
              <a:rPr lang="en-US" u="sng"/>
              <a:t>0x03</a:t>
            </a:r>
            <a:r>
              <a:rPr lang="en-US"/>
              <a:t>   </a:t>
            </a:r>
            <a:r>
              <a:rPr lang="en-US" b="false"/>
              <a:t>TLB Hit? </a:t>
            </a:r>
            <a:r>
              <a:rPr lang="en-US" u="sng"/>
              <a:t>Yes</a:t>
            </a:r>
            <a:r>
              <a:rPr lang="en-US"/>
              <a:t> </a:t>
            </a:r>
            <a:r>
              <a:rPr lang="en-US" b="false"/>
              <a:t>Page Fault?</a:t>
            </a:r>
            <a:r>
              <a:rPr lang="en-US" b="false"/>
              <a:t> </a:t>
            </a:r>
            <a:r>
              <a:rPr lang="en-US" u="sng"/>
              <a:t>No</a:t>
            </a:r>
            <a:endParaRPr/>
          </a:p>
        </p:txBody>
      </p:sp>
      <p:cxnSp>
        <p:nvCxnSpPr>
          <p:cNvPr id="1436" name="Straight Connector 2"/>
          <p:cNvCxnSpPr>
            <a:cxnSpLocks noChangeShapeType="true"/>
          </p:cNvCxnSpPr>
          <p:nvPr/>
        </p:nvCxnSpPr>
        <p:spPr bwMode="auto">
          <a:xfrm rot="0" flipH="false" flipV="false">
            <a:off x="4584700" y="1828800"/>
            <a:ext cx="0" cy="1885507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</a:ln>
          <a:extLst>
            <a:ext uri="{909E8E84-426E-40DD-AFC4-6F175D3DCCD1}"/>
          </a:extLst>
        </p:spPr>
      </p:cxnSp>
      <p:cxnSp>
        <p:nvCxnSpPr>
          <p:cNvPr id="1437" name="Straight Connector 131"/>
          <p:cNvCxnSpPr>
            <a:cxnSpLocks noChangeShapeType="true"/>
          </p:cNvCxnSpPr>
          <p:nvPr/>
        </p:nvCxnSpPr>
        <p:spPr bwMode="auto">
          <a:xfrm flipH="true">
            <a:off x="3609975" y="1981200"/>
            <a:ext cx="0" cy="957263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</a:ln>
          <a:extLst>
            <a:ext uri="{909E8E84-426E-40DD-AFC4-6F175D3DCCD1}"/>
          </a:extLst>
        </p:spPr>
      </p:cxnSp>
      <p:graphicFrame>
        <p:nvGraphicFramePr>
          <p:cNvPr id="1438" name="Group 60"/>
          <p:cNvGraphicFramePr/>
          <p:nvPr/>
        </p:nvGraphicFramePr>
        <p:xfrm rot="0" flipH="false" flipV="false">
          <a:off x="306388" y="4458796"/>
          <a:ext cx="8458200" cy="1682750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val="1"/>
                    </a:ext>
                  </a:extLst>
                </a:gridCol>
                <a:gridCol w="609600">
                  <a:extLst>
                    <a:ext uri="{9D8B030D-6E8A-4147-A177-3AD203B41FA5}">
                      <a16:colId val="2"/>
                    </a:ext>
                  </a:extLst>
                </a:gridCol>
                <a:gridCol w="609600">
                  <a:extLst>
                    <a:ext uri="{9D8B030D-6E8A-4147-A177-3AD203B41FA5}">
                      <a16:colId val="3"/>
                    </a:ext>
                  </a:extLst>
                </a:gridCol>
                <a:gridCol w="762000">
                  <a:extLst>
                    <a:ext uri="{9D8B030D-6E8A-4147-A177-3AD203B41FA5}">
                      <a16:colId val="4"/>
                    </a:ext>
                  </a:extLst>
                </a:gridCol>
                <a:gridCol w="609600">
                  <a:extLst>
                    <a:ext uri="{9D8B030D-6E8A-4147-A177-3AD203B41FA5}">
                      <a16:colId val="5"/>
                    </a:ext>
                  </a:extLst>
                </a:gridCol>
                <a:gridCol w="609600">
                  <a:extLst>
                    <a:ext uri="{9D8B030D-6E8A-4147-A177-3AD203B41FA5}">
                      <a16:colId val="6"/>
                    </a:ext>
                  </a:extLst>
                </a:gridCol>
                <a:gridCol w="762000">
                  <a:extLst>
                    <a:ext uri="{9D8B030D-6E8A-4147-A177-3AD203B41FA5}">
                      <a16:colId val="7"/>
                    </a:ext>
                  </a:extLst>
                </a:gridCol>
                <a:gridCol w="609600">
                  <a:extLst>
                    <a:ext uri="{9D8B030D-6E8A-4147-A177-3AD203B41FA5}">
                      <a16:colId val="8"/>
                    </a:ext>
                  </a:extLst>
                </a:gridCol>
                <a:gridCol w="609600">
                  <a:extLst>
                    <a:ext uri="{9D8B030D-6E8A-4147-A177-3AD203B41FA5}">
                      <a16:colId val="9"/>
                    </a:ext>
                  </a:extLst>
                </a:gridCol>
                <a:gridCol w="762000">
                  <a:extLst>
                    <a:ext uri="{9D8B030D-6E8A-4147-A177-3AD203B41FA5}">
                      <a16:colId val="10"/>
                    </a:ext>
                  </a:extLst>
                </a:gridCol>
                <a:gridCol w="609600">
                  <a:extLst>
                    <a:ext uri="{9D8B030D-6E8A-4147-A177-3AD203B41FA5}">
                      <a16:colId val="11"/>
                    </a:ext>
                  </a:extLst>
                </a:gridCol>
                <a:gridCol w="609600">
                  <a:extLst>
                    <a:ext uri="{9D8B030D-6E8A-4147-A177-3AD203B41FA5}">
                      <a16:colId val="12"/>
                    </a:ext>
                  </a:extLst>
                </a:gridCol>
                <a:gridCol w="762000">
                  <a:extLst>
                    <a:ext uri="{9D8B030D-6E8A-4147-A177-3AD203B41FA5}">
                      <a16:colId val="13"/>
                    </a:ext>
                  </a:extLst>
                </a:gridCol>
              </a:tblGrid>
              <a:tr h="333375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endParaRPr kumimoji="false" lang="en-US" altLang="zh-CN" sz="16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charset="0"/>
                        <a:ea typeface="宋体" charset="-122"/>
                      </a:endParaRPr>
                    </a:p>
                  </a:txBody>
                  <a:tcPr marL="90487" marR="90487" marT="44450" marB="44450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Tag</a:t>
                      </a:r>
                      <a:endParaRPr/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PPN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Valid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Tag</a:t>
                      </a:r>
                      <a:endParaRPr/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PPN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Valid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Tag</a:t>
                      </a:r>
                      <a:endParaRPr/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PPN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Valid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Tag</a:t>
                      </a:r>
                      <a:endParaRPr/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PPN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Valid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333375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</a:t>
                      </a:r>
                      <a:endParaRPr/>
                    </a:p>
                  </a:txBody>
                  <a:tcPr marL="90487" marR="90487" marT="44450" marB="44450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03</a:t>
                      </a:r>
                      <a:endParaRPr/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09</a:t>
                      </a:r>
                      <a:endParaRPr/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0D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00</a:t>
                      </a:r>
                      <a:endParaRPr/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07</a:t>
                      </a:r>
                      <a:endParaRPr/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02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333375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</a:t>
                      </a:r>
                      <a:endParaRPr/>
                    </a:p>
                  </a:txBody>
                  <a:tcPr marL="90487" marR="90487" marT="44450" marB="44450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03</a:t>
                      </a:r>
                      <a:endParaRPr/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2D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02</a:t>
                      </a:r>
                      <a:endParaRPr/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04</a:t>
                      </a:r>
                      <a:endParaRPr/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0A</a:t>
                      </a:r>
                      <a:endParaRPr/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333375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2</a:t>
                      </a:r>
                      <a:endParaRPr/>
                    </a:p>
                  </a:txBody>
                  <a:tcPr marL="90487" marR="90487" marT="44450" marB="44450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02</a:t>
                      </a:r>
                      <a:endParaRPr/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08</a:t>
                      </a:r>
                      <a:endParaRPr/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06</a:t>
                      </a:r>
                      <a:endParaRPr/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03</a:t>
                      </a:r>
                      <a:endParaRPr/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333375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lvl="0" indent="0" algn="ctr" defTabSz="89535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true">
                          <a:solidFill>
                            <a:srgbClr val="FF0000">
                              <a:alpha val="100000"/>
                            </a:srgbClr>
                          </a:solidFill>
                          <a:effectLst/>
                          <a:latin typeface="Comic Sans MS"/>
                          <a:ea typeface="宋体"/>
                          <a:cs typeface="+mn-cs"/>
                        </a:rPr>
                        <a:t>3</a:t>
                      </a:r>
                      <a:endParaRPr/>
                    </a:p>
                  </a:txBody>
                  <a:tcPr marL="90487" marR="90487" marT="44450" marB="44450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07</a:t>
                      </a:r>
                      <a:endParaRPr/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lIns="90487" tIns="44450" rIns="90487" bIns="44450"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lvl="0" indent="0" algn="ctr" defTabSz="89535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true">
                          <a:solidFill>
                            <a:srgbClr val="FF0000">
                              <a:alpha val="100000"/>
                            </a:srgbClr>
                          </a:solidFill>
                          <a:effectLst/>
                          <a:latin typeface="Comic Sans MS"/>
                          <a:ea typeface="宋体"/>
                          <a:cs typeface="+mn-cs"/>
                        </a:rPr>
                        <a:t>03</a:t>
                      </a:r>
                      <a:endParaRPr/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lIns="90487" tIns="44450" rIns="90487" bIns="44450"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lvl="0" indent="0" algn="ctr" defTabSz="89535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true">
                          <a:solidFill>
                            <a:srgbClr val="FF0000">
                              <a:alpha val="100000"/>
                            </a:srgbClr>
                          </a:solidFill>
                          <a:effectLst/>
                          <a:latin typeface="Comic Sans MS"/>
                          <a:ea typeface="宋体"/>
                          <a:cs typeface="+mn-cs"/>
                        </a:rPr>
                        <a:t>0D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lIns="90487" tIns="44450" rIns="90487" bIns="44450"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lvl="0" indent="0" algn="ctr" defTabSz="89535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true">
                          <a:solidFill>
                            <a:srgbClr val="FF0000">
                              <a:alpha val="100000"/>
                            </a:srgbClr>
                          </a:solidFill>
                          <a:effectLst/>
                          <a:latin typeface="Comic Sans MS"/>
                          <a:ea typeface="宋体"/>
                          <a:cs typeface="+mn-cs"/>
                        </a:rPr>
                        <a:t>1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0A</a:t>
                      </a:r>
                      <a:endParaRPr/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34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02</a:t>
                      </a:r>
                      <a:endParaRPr/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6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</a:tbl>
          </a:graphicData>
        </a:graphic>
      </p:graphicFrame>
      <p:sp>
        <p:nvSpPr>
          <p:cNvPr id="1439" name=""/>
          <p:cNvSpPr txBox="true"/>
          <p:nvPr/>
        </p:nvSpPr>
        <p:spPr>
          <a:xfrm rot="0" flipH="false" flipV="false">
            <a:off x="227013" y="4354656"/>
            <a:ext cx="615950" cy="393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en-US"/>
              <a:t>Set</a:t>
            </a:r>
            <a:endParaRPr/>
          </a:p>
        </p:txBody>
      </p:sp>
      <p:sp>
        <p:nvSpPr>
          <p:cNvPr id="1440" name=""/>
          <p:cNvSpPr txBox="true"/>
          <p:nvPr/>
        </p:nvSpPr>
        <p:spPr>
          <a:xfrm rot="0" flipH="false" flipV="false">
            <a:off x="227013" y="3960956"/>
            <a:ext cx="1936750" cy="393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en-US"/>
              <a:t>TLB snapshot:</a:t>
            </a:r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>
  <p:cSld>
    <p:spTree>
      <p:nvGrpSpPr>
        <p:cNvPr id="14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07D36DFC-1D06-874E-8508-35F37347ACBE}" type="slidenum">
              <a:rPr lang="zh-CN" altLang="en-US" sz="1400" b="false">
                <a:latin typeface="Times New Roman" panose="02020603050405020304" charset="0"/>
              </a:rPr>
              <a:t>90</a:t>
            </a:fld>
            <a:endParaRPr lang="en-US" altLang="zh-CN" sz="1400" b="false">
              <a:latin typeface="Times New Roman" panose="02020603050405020304" charset="0"/>
            </a:endParaRPr>
          </a:p>
        </p:txBody>
      </p:sp>
      <p:sp>
        <p:nvSpPr>
          <p:cNvPr id="1443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>
                <a:latin typeface="Comic Sans MS"/>
                <a:ea typeface="宋体"/>
                <a:cs typeface="宋体"/>
              </a:rPr>
              <a:t>课堂练习</a:t>
            </a:r>
            <a:r>
              <a:rPr lang="zh-CN">
                <a:latin typeface="Comic Sans MS"/>
                <a:ea typeface="宋体"/>
                <a:cs typeface="宋体"/>
              </a:rPr>
              <a:t>答案</a:t>
            </a:r>
            <a:endParaRPr lang="en-US">
              <a:latin typeface="Comic Sans MS"/>
              <a:ea typeface="宋体"/>
              <a:cs typeface="宋体"/>
            </a:endParaRPr>
          </a:p>
        </p:txBody>
      </p:sp>
      <p:sp>
        <p:nvSpPr>
          <p:cNvPr id="1444" name="Rectangle 3"/>
          <p:cNvSpPr>
            <a:spLocks noChangeArrowheads="true"/>
          </p:cNvSpPr>
          <p:nvPr/>
        </p:nvSpPr>
        <p:spPr bwMode="auto">
          <a:xfrm>
            <a:off x="533400" y="1614488"/>
            <a:ext cx="30940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r>
              <a:rPr lang="en-US" altLang="zh-CN" b="false"/>
              <a:t>Virtual Address 0x03D4</a:t>
            </a:r>
            <a:endParaRPr lang="zh-CN" altLang="en-US" b="false"/>
          </a:p>
        </p:txBody>
      </p:sp>
      <p:grpSp>
        <p:nvGrpSpPr>
          <p:cNvPr id="1445" name="Group 4"/>
          <p:cNvGrpSpPr/>
          <p:nvPr/>
        </p:nvGrpSpPr>
        <p:grpSpPr>
          <a:xfrm>
            <a:off x="685800" y="2032000"/>
            <a:ext cx="6823075" cy="1106488"/>
            <a:chOff x="432" y="1415"/>
            <a:chExt cx="4298" cy="697"/>
          </a:xfrm>
        </p:grpSpPr>
        <p:grpSp>
          <p:nvGrpSpPr>
            <p:cNvPr id="1446" name="Group 5"/>
            <p:cNvGrpSpPr/>
            <p:nvPr/>
          </p:nvGrpSpPr>
          <p:grpSpPr>
            <a:xfrm>
              <a:off x="432" y="1415"/>
              <a:ext cx="4298" cy="384"/>
              <a:chOff x="629" y="1176"/>
              <a:chExt cx="4298" cy="384"/>
            </a:xfrm>
          </p:grpSpPr>
          <p:grpSp>
            <p:nvGrpSpPr>
              <p:cNvPr id="1447" name="Group 6"/>
              <p:cNvGrpSpPr/>
              <p:nvPr/>
            </p:nvGrpSpPr>
            <p:grpSpPr>
              <a:xfrm>
                <a:off x="629" y="1176"/>
                <a:ext cx="307" cy="384"/>
                <a:chOff x="629" y="1176"/>
                <a:chExt cx="307" cy="384"/>
              </a:xfrm>
            </p:grpSpPr>
            <p:sp>
              <p:nvSpPr>
                <p:cNvPr id="1448" name="Rectangle 7"/>
                <p:cNvSpPr>
                  <a:spLocks noChangeArrowheads="true"/>
                </p:cNvSpPr>
                <p:nvPr/>
              </p:nvSpPr>
              <p:spPr bwMode="auto">
                <a:xfrm>
                  <a:off x="629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endParaRPr lang="zh-CN" altLang="en-US" sz="1800">
                    <a:solidFill>
                      <a:schemeClr val="tx2"/>
                    </a:solidFill>
                    <a:latin typeface="Helvetica" pitchFamily="34" charset="0"/>
                  </a:endParaRPr>
                </a:p>
              </p:txBody>
            </p:sp>
            <p:sp>
              <p:nvSpPr>
                <p:cNvPr id="1449" name="Rectangle 8"/>
                <p:cNvSpPr>
                  <a:spLocks noChangeArrowheads="true"/>
                </p:cNvSpPr>
                <p:nvPr/>
              </p:nvSpPr>
              <p:spPr bwMode="auto">
                <a:xfrm>
                  <a:off x="629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13</a:t>
                  </a:r>
                  <a:endParaRPr/>
                </a:p>
              </p:txBody>
            </p:sp>
          </p:grpSp>
          <p:grpSp>
            <p:nvGrpSpPr>
              <p:cNvPr id="1450" name="Group 9"/>
              <p:cNvGrpSpPr/>
              <p:nvPr/>
            </p:nvGrpSpPr>
            <p:grpSpPr>
              <a:xfrm>
                <a:off x="936" y="1176"/>
                <a:ext cx="307" cy="384"/>
                <a:chOff x="936" y="1176"/>
                <a:chExt cx="307" cy="384"/>
              </a:xfrm>
            </p:grpSpPr>
            <p:sp>
              <p:nvSpPr>
                <p:cNvPr id="1451" name="Rectangle 10"/>
                <p:cNvSpPr>
                  <a:spLocks noChangeArrowheads="true"/>
                </p:cNvSpPr>
                <p:nvPr/>
              </p:nvSpPr>
              <p:spPr bwMode="auto">
                <a:xfrm>
                  <a:off x="936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endParaRPr lang="zh-CN" altLang="en-US" sz="1800">
                    <a:solidFill>
                      <a:schemeClr val="tx2"/>
                    </a:solidFill>
                    <a:latin typeface="Helvetica" pitchFamily="34" charset="0"/>
                  </a:endParaRPr>
                </a:p>
              </p:txBody>
            </p:sp>
            <p:sp>
              <p:nvSpPr>
                <p:cNvPr id="1452" name="Rectangle 11"/>
                <p:cNvSpPr>
                  <a:spLocks noChangeArrowheads="true"/>
                </p:cNvSpPr>
                <p:nvPr/>
              </p:nvSpPr>
              <p:spPr bwMode="auto">
                <a:xfrm>
                  <a:off x="936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12</a:t>
                  </a:r>
                  <a:endParaRPr/>
                </a:p>
              </p:txBody>
            </p:sp>
          </p:grpSp>
          <p:grpSp>
            <p:nvGrpSpPr>
              <p:cNvPr id="1453" name="Group 12"/>
              <p:cNvGrpSpPr/>
              <p:nvPr/>
            </p:nvGrpSpPr>
            <p:grpSpPr>
              <a:xfrm>
                <a:off x="1243" y="1176"/>
                <a:ext cx="307" cy="384"/>
                <a:chOff x="1243" y="1176"/>
                <a:chExt cx="307" cy="384"/>
              </a:xfrm>
            </p:grpSpPr>
            <p:sp>
              <p:nvSpPr>
                <p:cNvPr id="1454" name="Rectangle 13"/>
                <p:cNvSpPr>
                  <a:spLocks noChangeArrowheads="true"/>
                </p:cNvSpPr>
                <p:nvPr/>
              </p:nvSpPr>
              <p:spPr bwMode="auto">
                <a:xfrm>
                  <a:off x="1243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endParaRPr lang="zh-CN" altLang="en-US" sz="1800">
                    <a:solidFill>
                      <a:schemeClr val="tx2"/>
                    </a:solidFill>
                    <a:latin typeface="Helvetica" pitchFamily="34" charset="0"/>
                  </a:endParaRPr>
                </a:p>
              </p:txBody>
            </p:sp>
            <p:sp>
              <p:nvSpPr>
                <p:cNvPr id="1455" name="Rectangle 14"/>
                <p:cNvSpPr>
                  <a:spLocks noChangeArrowheads="true"/>
                </p:cNvSpPr>
                <p:nvPr/>
              </p:nvSpPr>
              <p:spPr bwMode="auto">
                <a:xfrm>
                  <a:off x="1243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11</a:t>
                  </a:r>
                  <a:endParaRPr/>
                </a:p>
              </p:txBody>
            </p:sp>
          </p:grpSp>
          <p:grpSp>
            <p:nvGrpSpPr>
              <p:cNvPr id="1456" name="Group 15"/>
              <p:cNvGrpSpPr/>
              <p:nvPr/>
            </p:nvGrpSpPr>
            <p:grpSpPr>
              <a:xfrm>
                <a:off x="1550" y="1176"/>
                <a:ext cx="307" cy="384"/>
                <a:chOff x="1550" y="1176"/>
                <a:chExt cx="307" cy="384"/>
              </a:xfrm>
            </p:grpSpPr>
            <p:sp>
              <p:nvSpPr>
                <p:cNvPr id="1457" name="Rectangle 16"/>
                <p:cNvSpPr>
                  <a:spLocks noChangeArrowheads="true"/>
                </p:cNvSpPr>
                <p:nvPr/>
              </p:nvSpPr>
              <p:spPr bwMode="auto">
                <a:xfrm>
                  <a:off x="1550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1458" name="Rectangle 17"/>
                <p:cNvSpPr>
                  <a:spLocks noChangeArrowheads="true"/>
                </p:cNvSpPr>
                <p:nvPr/>
              </p:nvSpPr>
              <p:spPr bwMode="auto">
                <a:xfrm>
                  <a:off x="1550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10</a:t>
                  </a:r>
                  <a:endParaRPr/>
                </a:p>
              </p:txBody>
            </p:sp>
          </p:grpSp>
          <p:grpSp>
            <p:nvGrpSpPr>
              <p:cNvPr id="1459" name="Group 18"/>
              <p:cNvGrpSpPr/>
              <p:nvPr/>
            </p:nvGrpSpPr>
            <p:grpSpPr>
              <a:xfrm>
                <a:off x="1857" y="1176"/>
                <a:ext cx="307" cy="384"/>
                <a:chOff x="1857" y="1176"/>
                <a:chExt cx="307" cy="384"/>
              </a:xfrm>
            </p:grpSpPr>
            <p:sp>
              <p:nvSpPr>
                <p:cNvPr id="1460" name="Rectangle 19"/>
                <p:cNvSpPr>
                  <a:spLocks noChangeArrowheads="true"/>
                </p:cNvSpPr>
                <p:nvPr/>
              </p:nvSpPr>
              <p:spPr bwMode="auto">
                <a:xfrm>
                  <a:off x="1857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1461" name="Rectangle 20"/>
                <p:cNvSpPr>
                  <a:spLocks noChangeArrowheads="true"/>
                </p:cNvSpPr>
                <p:nvPr/>
              </p:nvSpPr>
              <p:spPr bwMode="auto">
                <a:xfrm>
                  <a:off x="1857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9</a:t>
                  </a:r>
                  <a:endParaRPr/>
                </a:p>
              </p:txBody>
            </p:sp>
          </p:grpSp>
          <p:grpSp>
            <p:nvGrpSpPr>
              <p:cNvPr id="1462" name="Group 21"/>
              <p:cNvGrpSpPr/>
              <p:nvPr/>
            </p:nvGrpSpPr>
            <p:grpSpPr>
              <a:xfrm>
                <a:off x="2164" y="1176"/>
                <a:ext cx="307" cy="384"/>
                <a:chOff x="2164" y="1176"/>
                <a:chExt cx="307" cy="384"/>
              </a:xfrm>
            </p:grpSpPr>
            <p:sp>
              <p:nvSpPr>
                <p:cNvPr id="1463" name="Rectangle 22"/>
                <p:cNvSpPr>
                  <a:spLocks noChangeArrowheads="true"/>
                </p:cNvSpPr>
                <p:nvPr/>
              </p:nvSpPr>
              <p:spPr bwMode="auto">
                <a:xfrm>
                  <a:off x="2164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1464" name="Rectangle 23"/>
                <p:cNvSpPr>
                  <a:spLocks noChangeArrowheads="true"/>
                </p:cNvSpPr>
                <p:nvPr/>
              </p:nvSpPr>
              <p:spPr bwMode="auto">
                <a:xfrm>
                  <a:off x="2164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8</a:t>
                  </a:r>
                  <a:endParaRPr/>
                </a:p>
              </p:txBody>
            </p:sp>
          </p:grpSp>
          <p:grpSp>
            <p:nvGrpSpPr>
              <p:cNvPr id="1465" name="Group 24"/>
              <p:cNvGrpSpPr/>
              <p:nvPr/>
            </p:nvGrpSpPr>
            <p:grpSpPr>
              <a:xfrm>
                <a:off x="2471" y="1176"/>
                <a:ext cx="307" cy="384"/>
                <a:chOff x="2471" y="1176"/>
                <a:chExt cx="307" cy="384"/>
              </a:xfrm>
            </p:grpSpPr>
            <p:sp>
              <p:nvSpPr>
                <p:cNvPr id="1466" name="Rectangle 25"/>
                <p:cNvSpPr>
                  <a:spLocks noChangeArrowheads="true"/>
                </p:cNvSpPr>
                <p:nvPr/>
              </p:nvSpPr>
              <p:spPr bwMode="auto">
                <a:xfrm>
                  <a:off x="2471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1467" name="Rectangle 26"/>
                <p:cNvSpPr>
                  <a:spLocks noChangeArrowheads="true"/>
                </p:cNvSpPr>
                <p:nvPr/>
              </p:nvSpPr>
              <p:spPr bwMode="auto">
                <a:xfrm>
                  <a:off x="2471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7</a:t>
                  </a:r>
                  <a:endParaRPr/>
                </a:p>
              </p:txBody>
            </p:sp>
          </p:grpSp>
          <p:grpSp>
            <p:nvGrpSpPr>
              <p:cNvPr id="1468" name="Group 27"/>
              <p:cNvGrpSpPr/>
              <p:nvPr/>
            </p:nvGrpSpPr>
            <p:grpSpPr>
              <a:xfrm>
                <a:off x="2778" y="1176"/>
                <a:ext cx="307" cy="384"/>
                <a:chOff x="2778" y="1176"/>
                <a:chExt cx="307" cy="384"/>
              </a:xfrm>
            </p:grpSpPr>
            <p:sp>
              <p:nvSpPr>
                <p:cNvPr id="1469" name="Rectangle 28"/>
                <p:cNvSpPr>
                  <a:spLocks noChangeArrowheads="true"/>
                </p:cNvSpPr>
                <p:nvPr/>
              </p:nvSpPr>
              <p:spPr bwMode="auto">
                <a:xfrm>
                  <a:off x="2778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1470" name="Rectangle 29"/>
                <p:cNvSpPr>
                  <a:spLocks noChangeArrowheads="true"/>
                </p:cNvSpPr>
                <p:nvPr/>
              </p:nvSpPr>
              <p:spPr bwMode="auto">
                <a:xfrm>
                  <a:off x="2778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6</a:t>
                  </a:r>
                  <a:endParaRPr/>
                </a:p>
              </p:txBody>
            </p:sp>
          </p:grpSp>
          <p:grpSp>
            <p:nvGrpSpPr>
              <p:cNvPr id="1471" name="Group 30"/>
              <p:cNvGrpSpPr/>
              <p:nvPr/>
            </p:nvGrpSpPr>
            <p:grpSpPr>
              <a:xfrm>
                <a:off x="3085" y="1176"/>
                <a:ext cx="307" cy="384"/>
                <a:chOff x="3085" y="1176"/>
                <a:chExt cx="307" cy="384"/>
              </a:xfrm>
            </p:grpSpPr>
            <p:sp>
              <p:nvSpPr>
                <p:cNvPr id="1472" name="Rectangle 31"/>
                <p:cNvSpPr>
                  <a:spLocks noChangeArrowheads="true"/>
                </p:cNvSpPr>
                <p:nvPr/>
              </p:nvSpPr>
              <p:spPr bwMode="auto">
                <a:xfrm>
                  <a:off x="3085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1473" name="Rectangle 32"/>
                <p:cNvSpPr>
                  <a:spLocks noChangeArrowheads="true"/>
                </p:cNvSpPr>
                <p:nvPr/>
              </p:nvSpPr>
              <p:spPr bwMode="auto">
                <a:xfrm>
                  <a:off x="3085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5</a:t>
                  </a:r>
                  <a:endParaRPr/>
                </a:p>
              </p:txBody>
            </p:sp>
          </p:grpSp>
          <p:grpSp>
            <p:nvGrpSpPr>
              <p:cNvPr id="1474" name="Group 33"/>
              <p:cNvGrpSpPr/>
              <p:nvPr/>
            </p:nvGrpSpPr>
            <p:grpSpPr>
              <a:xfrm>
                <a:off x="3392" y="1176"/>
                <a:ext cx="307" cy="384"/>
                <a:chOff x="3392" y="1176"/>
                <a:chExt cx="307" cy="384"/>
              </a:xfrm>
            </p:grpSpPr>
            <p:sp>
              <p:nvSpPr>
                <p:cNvPr id="1475" name="Rectangle 34"/>
                <p:cNvSpPr>
                  <a:spLocks noChangeArrowheads="true"/>
                </p:cNvSpPr>
                <p:nvPr/>
              </p:nvSpPr>
              <p:spPr bwMode="auto">
                <a:xfrm>
                  <a:off x="3392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1476" name="Rectangle 35"/>
                <p:cNvSpPr>
                  <a:spLocks noChangeArrowheads="true"/>
                </p:cNvSpPr>
                <p:nvPr/>
              </p:nvSpPr>
              <p:spPr bwMode="auto">
                <a:xfrm>
                  <a:off x="3392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4</a:t>
                  </a:r>
                  <a:endParaRPr/>
                </a:p>
              </p:txBody>
            </p:sp>
          </p:grpSp>
          <p:grpSp>
            <p:nvGrpSpPr>
              <p:cNvPr id="1477" name="Group 36"/>
              <p:cNvGrpSpPr/>
              <p:nvPr/>
            </p:nvGrpSpPr>
            <p:grpSpPr>
              <a:xfrm>
                <a:off x="3699" y="1176"/>
                <a:ext cx="307" cy="384"/>
                <a:chOff x="3699" y="1176"/>
                <a:chExt cx="307" cy="384"/>
              </a:xfrm>
            </p:grpSpPr>
            <p:sp>
              <p:nvSpPr>
                <p:cNvPr id="1478" name="Rectangle 37"/>
                <p:cNvSpPr>
                  <a:spLocks noChangeArrowheads="true"/>
                </p:cNvSpPr>
                <p:nvPr/>
              </p:nvSpPr>
              <p:spPr bwMode="auto">
                <a:xfrm>
                  <a:off x="3699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1479" name="Rectangle 38"/>
                <p:cNvSpPr>
                  <a:spLocks noChangeArrowheads="true"/>
                </p:cNvSpPr>
                <p:nvPr/>
              </p:nvSpPr>
              <p:spPr bwMode="auto">
                <a:xfrm>
                  <a:off x="3699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3</a:t>
                  </a:r>
                  <a:endParaRPr/>
                </a:p>
              </p:txBody>
            </p:sp>
          </p:grpSp>
          <p:grpSp>
            <p:nvGrpSpPr>
              <p:cNvPr id="1480" name="Group 39"/>
              <p:cNvGrpSpPr/>
              <p:nvPr/>
            </p:nvGrpSpPr>
            <p:grpSpPr>
              <a:xfrm>
                <a:off x="4006" y="1176"/>
                <a:ext cx="307" cy="384"/>
                <a:chOff x="4006" y="1176"/>
                <a:chExt cx="307" cy="384"/>
              </a:xfrm>
            </p:grpSpPr>
            <p:sp>
              <p:nvSpPr>
                <p:cNvPr id="1481" name="Rectangle 40"/>
                <p:cNvSpPr>
                  <a:spLocks noChangeArrowheads="true"/>
                </p:cNvSpPr>
                <p:nvPr/>
              </p:nvSpPr>
              <p:spPr bwMode="auto">
                <a:xfrm>
                  <a:off x="4006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1482" name="Rectangle 41"/>
                <p:cNvSpPr>
                  <a:spLocks noChangeArrowheads="true"/>
                </p:cNvSpPr>
                <p:nvPr/>
              </p:nvSpPr>
              <p:spPr bwMode="auto">
                <a:xfrm>
                  <a:off x="4006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2</a:t>
                  </a:r>
                  <a:endParaRPr/>
                </a:p>
              </p:txBody>
            </p:sp>
          </p:grpSp>
          <p:grpSp>
            <p:nvGrpSpPr>
              <p:cNvPr id="1483" name="Group 42"/>
              <p:cNvGrpSpPr/>
              <p:nvPr/>
            </p:nvGrpSpPr>
            <p:grpSpPr>
              <a:xfrm>
                <a:off x="4313" y="1176"/>
                <a:ext cx="307" cy="384"/>
                <a:chOff x="4313" y="1176"/>
                <a:chExt cx="307" cy="384"/>
              </a:xfrm>
            </p:grpSpPr>
            <p:sp>
              <p:nvSpPr>
                <p:cNvPr id="1484" name="Rectangle 43"/>
                <p:cNvSpPr>
                  <a:spLocks noChangeArrowheads="true"/>
                </p:cNvSpPr>
                <p:nvPr/>
              </p:nvSpPr>
              <p:spPr bwMode="auto">
                <a:xfrm>
                  <a:off x="4313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1485" name="Rectangle 44"/>
                <p:cNvSpPr>
                  <a:spLocks noChangeArrowheads="true"/>
                </p:cNvSpPr>
                <p:nvPr/>
              </p:nvSpPr>
              <p:spPr bwMode="auto">
                <a:xfrm>
                  <a:off x="4313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1</a:t>
                  </a:r>
                  <a:endParaRPr/>
                </a:p>
              </p:txBody>
            </p:sp>
          </p:grpSp>
          <p:grpSp>
            <p:nvGrpSpPr>
              <p:cNvPr id="1486" name="Group 45"/>
              <p:cNvGrpSpPr/>
              <p:nvPr/>
            </p:nvGrpSpPr>
            <p:grpSpPr>
              <a:xfrm>
                <a:off x="4620" y="1176"/>
                <a:ext cx="307" cy="384"/>
                <a:chOff x="4620" y="1176"/>
                <a:chExt cx="307" cy="384"/>
              </a:xfrm>
            </p:grpSpPr>
            <p:sp>
              <p:nvSpPr>
                <p:cNvPr id="1487" name="Rectangle 46"/>
                <p:cNvSpPr>
                  <a:spLocks noChangeArrowheads="true"/>
                </p:cNvSpPr>
                <p:nvPr/>
              </p:nvSpPr>
              <p:spPr bwMode="auto">
                <a:xfrm>
                  <a:off x="4620" y="13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1488" name="Rectangle 47"/>
                <p:cNvSpPr>
                  <a:spLocks noChangeArrowheads="true"/>
                </p:cNvSpPr>
                <p:nvPr/>
              </p:nvSpPr>
              <p:spPr bwMode="auto">
                <a:xfrm>
                  <a:off x="4620" y="11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0</a:t>
                  </a:r>
                  <a:endParaRPr/>
                </a:p>
              </p:txBody>
            </p:sp>
          </p:grpSp>
        </p:grpSp>
        <p:grpSp>
          <p:nvGrpSpPr>
            <p:cNvPr id="1489" name="Group 48"/>
            <p:cNvGrpSpPr/>
            <p:nvPr/>
          </p:nvGrpSpPr>
          <p:grpSpPr>
            <a:xfrm>
              <a:off x="2888" y="1900"/>
              <a:ext cx="1842" cy="212"/>
              <a:chOff x="3085" y="1661"/>
              <a:chExt cx="1842" cy="212"/>
            </a:xfrm>
          </p:grpSpPr>
          <p:sp>
            <p:nvSpPr>
              <p:cNvPr id="1490" name="Line 49"/>
              <p:cNvSpPr>
                <a:spLocks noChangeShapeType="true"/>
              </p:cNvSpPr>
              <p:nvPr/>
            </p:nvSpPr>
            <p:spPr bwMode="auto">
              <a:xfrm>
                <a:off x="3085" y="1752"/>
                <a:ext cx="184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xtLst>
                <a:ext uri="{909E8E84-426E-40DD-AFC4-6F175D3DCCD1}"/>
              </a:extLst>
            </p:spPr>
            <p:txBody>
              <a:bodyPr wrap="none" lIns="90487" tIns="44450" rIns="90487" bIns="44450"/>
              <a:lstStyle/>
              <a:p>
                <a:pPr/>
                <a:endParaRPr lang="zh-CN" altLang="en-US"/>
              </a:p>
            </p:txBody>
          </p:sp>
          <p:sp>
            <p:nvSpPr>
              <p:cNvPr id="1491" name="Text Box 50"/>
              <p:cNvSpPr txBox="true">
                <a:spLocks noChangeArrowheads="true"/>
              </p:cNvSpPr>
              <p:nvPr/>
            </p:nvSpPr>
            <p:spPr bwMode="auto">
              <a:xfrm>
                <a:off x="3794" y="1661"/>
                <a:ext cx="418" cy="21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/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800">
                    <a:solidFill>
                      <a:schemeClr val="tx2"/>
                    </a:solidFill>
                    <a:latin typeface="Helvetica" pitchFamily="34" charset="0"/>
                  </a:rPr>
                  <a:t>VPO</a:t>
                </a:r>
                <a:endParaRPr/>
              </a:p>
            </p:txBody>
          </p:sp>
        </p:grpSp>
        <p:grpSp>
          <p:nvGrpSpPr>
            <p:cNvPr id="1492" name="Group 51"/>
            <p:cNvGrpSpPr/>
            <p:nvPr/>
          </p:nvGrpSpPr>
          <p:grpSpPr>
            <a:xfrm>
              <a:off x="432" y="1895"/>
              <a:ext cx="2467" cy="212"/>
              <a:chOff x="629" y="1656"/>
              <a:chExt cx="2467" cy="212"/>
            </a:xfrm>
          </p:grpSpPr>
          <p:sp>
            <p:nvSpPr>
              <p:cNvPr id="1493" name="Line 52"/>
              <p:cNvSpPr>
                <a:spLocks noChangeShapeType="true"/>
              </p:cNvSpPr>
              <p:nvPr/>
            </p:nvSpPr>
            <p:spPr bwMode="auto">
              <a:xfrm>
                <a:off x="629" y="1747"/>
                <a:ext cx="246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xtLst>
                <a:ext uri="{909E8E84-426E-40DD-AFC4-6F175D3DCCD1}"/>
              </a:extLst>
            </p:spPr>
            <p:txBody>
              <a:bodyPr wrap="none" lIns="90487" tIns="44450" rIns="90487" bIns="44450"/>
              <a:lstStyle/>
              <a:p>
                <a:pPr/>
                <a:endParaRPr lang="zh-CN" altLang="en-US"/>
              </a:p>
            </p:txBody>
          </p:sp>
          <p:sp>
            <p:nvSpPr>
              <p:cNvPr id="1494" name="Text Box 53"/>
              <p:cNvSpPr txBox="true">
                <a:spLocks noChangeArrowheads="true"/>
              </p:cNvSpPr>
              <p:nvPr/>
            </p:nvSpPr>
            <p:spPr bwMode="auto">
              <a:xfrm>
                <a:off x="1579" y="1656"/>
                <a:ext cx="409" cy="21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/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800">
                    <a:solidFill>
                      <a:schemeClr val="tx2"/>
                    </a:solidFill>
                    <a:latin typeface="Helvetica" pitchFamily="34" charset="0"/>
                  </a:rPr>
                  <a:t>VPN</a:t>
                </a:r>
                <a:endParaRPr/>
              </a:p>
            </p:txBody>
          </p:sp>
        </p:grpSp>
        <p:sp>
          <p:nvSpPr>
            <p:cNvPr id="1495" name="Text Box 54"/>
            <p:cNvSpPr txBox="true">
              <a:spLocks noChangeArrowheads="true"/>
            </p:cNvSpPr>
            <p:nvPr/>
          </p:nvSpPr>
          <p:spPr bwMode="auto">
            <a:xfrm>
              <a:off x="4459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0</a:t>
              </a:r>
              <a:endParaRPr/>
            </a:p>
          </p:txBody>
        </p:sp>
        <p:sp>
          <p:nvSpPr>
            <p:cNvPr id="1496" name="Text Box 55"/>
            <p:cNvSpPr txBox="true">
              <a:spLocks noChangeArrowheads="true"/>
            </p:cNvSpPr>
            <p:nvPr/>
          </p:nvSpPr>
          <p:spPr bwMode="auto">
            <a:xfrm>
              <a:off x="4123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0</a:t>
              </a:r>
              <a:endParaRPr/>
            </a:p>
          </p:txBody>
        </p:sp>
        <p:sp>
          <p:nvSpPr>
            <p:cNvPr id="1497" name="Text Box 56"/>
            <p:cNvSpPr txBox="true">
              <a:spLocks noChangeArrowheads="true"/>
            </p:cNvSpPr>
            <p:nvPr/>
          </p:nvSpPr>
          <p:spPr bwMode="auto">
            <a:xfrm>
              <a:off x="3835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1</a:t>
              </a:r>
              <a:endParaRPr/>
            </a:p>
          </p:txBody>
        </p:sp>
        <p:sp>
          <p:nvSpPr>
            <p:cNvPr id="1498" name="Text Box 57"/>
            <p:cNvSpPr txBox="true">
              <a:spLocks noChangeArrowheads="true"/>
            </p:cNvSpPr>
            <p:nvPr/>
          </p:nvSpPr>
          <p:spPr bwMode="auto">
            <a:xfrm>
              <a:off x="3547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0</a:t>
              </a:r>
              <a:endParaRPr/>
            </a:p>
          </p:txBody>
        </p:sp>
        <p:sp>
          <p:nvSpPr>
            <p:cNvPr id="1499" name="Text Box 58"/>
            <p:cNvSpPr txBox="true">
              <a:spLocks noChangeArrowheads="true"/>
            </p:cNvSpPr>
            <p:nvPr/>
          </p:nvSpPr>
          <p:spPr bwMode="auto">
            <a:xfrm>
              <a:off x="3211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1</a:t>
              </a:r>
              <a:endParaRPr/>
            </a:p>
          </p:txBody>
        </p:sp>
        <p:sp>
          <p:nvSpPr>
            <p:cNvPr id="1500" name="Text Box 59"/>
            <p:cNvSpPr txBox="true">
              <a:spLocks noChangeArrowheads="true"/>
            </p:cNvSpPr>
            <p:nvPr/>
          </p:nvSpPr>
          <p:spPr bwMode="auto">
            <a:xfrm>
              <a:off x="2923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0</a:t>
              </a:r>
              <a:endParaRPr/>
            </a:p>
          </p:txBody>
        </p:sp>
        <p:sp>
          <p:nvSpPr>
            <p:cNvPr id="1501" name="Text Box 60"/>
            <p:cNvSpPr txBox="true">
              <a:spLocks noChangeArrowheads="true"/>
            </p:cNvSpPr>
            <p:nvPr/>
          </p:nvSpPr>
          <p:spPr bwMode="auto">
            <a:xfrm>
              <a:off x="2587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1</a:t>
              </a:r>
              <a:endParaRPr/>
            </a:p>
          </p:txBody>
        </p:sp>
        <p:sp>
          <p:nvSpPr>
            <p:cNvPr id="1502" name="Text Box 61"/>
            <p:cNvSpPr txBox="true">
              <a:spLocks noChangeArrowheads="true"/>
            </p:cNvSpPr>
            <p:nvPr/>
          </p:nvSpPr>
          <p:spPr bwMode="auto">
            <a:xfrm>
              <a:off x="2299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1</a:t>
              </a:r>
              <a:endParaRPr/>
            </a:p>
          </p:txBody>
        </p:sp>
        <p:sp>
          <p:nvSpPr>
            <p:cNvPr id="1503" name="Text Box 62"/>
            <p:cNvSpPr txBox="true">
              <a:spLocks noChangeArrowheads="true"/>
            </p:cNvSpPr>
            <p:nvPr/>
          </p:nvSpPr>
          <p:spPr bwMode="auto">
            <a:xfrm>
              <a:off x="2011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1</a:t>
              </a:r>
              <a:endParaRPr/>
            </a:p>
          </p:txBody>
        </p:sp>
        <p:sp>
          <p:nvSpPr>
            <p:cNvPr id="1504" name="Text Box 63"/>
            <p:cNvSpPr txBox="true">
              <a:spLocks noChangeArrowheads="true"/>
            </p:cNvSpPr>
            <p:nvPr/>
          </p:nvSpPr>
          <p:spPr bwMode="auto">
            <a:xfrm>
              <a:off x="1675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1</a:t>
              </a:r>
              <a:endParaRPr/>
            </a:p>
          </p:txBody>
        </p:sp>
        <p:sp>
          <p:nvSpPr>
            <p:cNvPr id="1505" name="Text Box 64"/>
            <p:cNvSpPr txBox="true">
              <a:spLocks noChangeArrowheads="true"/>
            </p:cNvSpPr>
            <p:nvPr/>
          </p:nvSpPr>
          <p:spPr bwMode="auto">
            <a:xfrm>
              <a:off x="1387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0</a:t>
              </a:r>
              <a:endParaRPr/>
            </a:p>
          </p:txBody>
        </p:sp>
        <p:sp>
          <p:nvSpPr>
            <p:cNvPr id="1506" name="Text Box 65"/>
            <p:cNvSpPr txBox="true">
              <a:spLocks noChangeArrowheads="true"/>
            </p:cNvSpPr>
            <p:nvPr/>
          </p:nvSpPr>
          <p:spPr bwMode="auto">
            <a:xfrm>
              <a:off x="1051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0</a:t>
              </a:r>
              <a:endParaRPr/>
            </a:p>
          </p:txBody>
        </p:sp>
        <p:sp>
          <p:nvSpPr>
            <p:cNvPr id="1507" name="Text Box 66"/>
            <p:cNvSpPr txBox="true">
              <a:spLocks noChangeArrowheads="true"/>
            </p:cNvSpPr>
            <p:nvPr/>
          </p:nvSpPr>
          <p:spPr bwMode="auto">
            <a:xfrm>
              <a:off x="763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0</a:t>
              </a:r>
              <a:endParaRPr/>
            </a:p>
          </p:txBody>
        </p:sp>
        <p:sp>
          <p:nvSpPr>
            <p:cNvPr id="1508" name="Text Box 67"/>
            <p:cNvSpPr txBox="true">
              <a:spLocks noChangeArrowheads="true"/>
            </p:cNvSpPr>
            <p:nvPr/>
          </p:nvSpPr>
          <p:spPr bwMode="auto">
            <a:xfrm>
              <a:off x="475" y="1611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0</a:t>
              </a:r>
              <a:endParaRPr/>
            </a:p>
          </p:txBody>
        </p:sp>
      </p:grpSp>
      <p:sp>
        <p:nvSpPr>
          <p:cNvPr id="1509" name="Rectangle 68"/>
          <p:cNvSpPr>
            <a:spLocks noChangeArrowheads="true"/>
          </p:cNvSpPr>
          <p:nvPr/>
        </p:nvSpPr>
        <p:spPr bwMode="auto">
          <a:xfrm rot="0" flipH="false" flipV="false">
            <a:off x="784225" y="3240088"/>
            <a:ext cx="7813675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>
              <a:lnSpc>
                <a:spcPct val="140000"/>
              </a:lnSpc>
            </a:pPr>
            <a:r>
              <a:rPr lang="en-US" b="false"/>
              <a:t>VPN: </a:t>
            </a:r>
            <a:r>
              <a:rPr lang="en-US" u="sng"/>
              <a:t>0x0f</a:t>
            </a:r>
            <a:r>
              <a:rPr lang="en-US" b="false"/>
              <a:t> TLBI: </a:t>
            </a:r>
            <a:r>
              <a:rPr lang="en-US" u="sng"/>
              <a:t>3</a:t>
            </a:r>
            <a:r>
              <a:rPr lang="en-US" b="false"/>
              <a:t> TLBT: </a:t>
            </a:r>
            <a:r>
              <a:rPr lang="en-US" u="sng"/>
              <a:t>0x03</a:t>
            </a:r>
            <a:r>
              <a:rPr lang="en-US"/>
              <a:t> </a:t>
            </a:r>
            <a:r>
              <a:rPr lang="en-US" b="false"/>
              <a:t>TLB Hit? </a:t>
            </a:r>
            <a:r>
              <a:rPr lang="en-US" u="sng"/>
              <a:t>Yes</a:t>
            </a:r>
            <a:r>
              <a:rPr lang="en-US"/>
              <a:t> </a:t>
            </a:r>
            <a:r>
              <a:rPr lang="en-US" b="false"/>
              <a:t>Page Fault? </a:t>
            </a:r>
            <a:r>
              <a:rPr lang="en-US" u="sng"/>
              <a:t>No</a:t>
            </a:r>
            <a:endParaRPr/>
          </a:p>
        </p:txBody>
      </p:sp>
      <p:sp>
        <p:nvSpPr>
          <p:cNvPr id="1510" name="Rectangle 69"/>
          <p:cNvSpPr>
            <a:spLocks noChangeArrowheads="true"/>
          </p:cNvSpPr>
          <p:nvPr/>
        </p:nvSpPr>
        <p:spPr bwMode="auto">
          <a:xfrm>
            <a:off x="784225" y="5348288"/>
            <a:ext cx="6978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>
              <a:lnSpc>
                <a:spcPct val="140000"/>
              </a:lnSpc>
            </a:pPr>
            <a:r>
              <a:rPr lang="en-US" altLang="zh-CN" b="false"/>
              <a:t>PPN: </a:t>
            </a:r>
            <a:r>
              <a:rPr lang="en-US" altLang="zh-CN" u="sng"/>
              <a:t>0x</a:t>
            </a:r>
            <a:r>
              <a:rPr lang="en-US" altLang="zh-CN" u="sng">
                <a:solidFill>
                  <a:srgbClr val="9900CC"/>
                </a:solidFill>
              </a:rPr>
              <a:t>0D</a:t>
            </a:r>
            <a:r>
              <a:rPr lang="en-US" altLang="zh-CN" b="false"/>
              <a:t>    PPO: </a:t>
            </a:r>
            <a:r>
              <a:rPr lang="en-US" altLang="zh-CN" u="sng"/>
              <a:t>0x14</a:t>
            </a:r>
            <a:r>
              <a:rPr lang="en-US" altLang="zh-CN" b="false"/>
              <a:t>          			PA: </a:t>
            </a:r>
            <a:r>
              <a:rPr lang="en-US" altLang="zh-CN" u="sng"/>
              <a:t>0x354</a:t>
            </a:r>
            <a:endParaRPr/>
          </a:p>
        </p:txBody>
      </p:sp>
      <p:grpSp>
        <p:nvGrpSpPr>
          <p:cNvPr id="1511" name="Group 70"/>
          <p:cNvGrpSpPr/>
          <p:nvPr/>
        </p:nvGrpSpPr>
        <p:grpSpPr>
          <a:xfrm>
            <a:off x="1677988" y="4097338"/>
            <a:ext cx="5865812" cy="1022350"/>
            <a:chOff x="672" y="2780"/>
            <a:chExt cx="3695" cy="644"/>
          </a:xfrm>
        </p:grpSpPr>
        <p:grpSp>
          <p:nvGrpSpPr>
            <p:cNvPr id="1512" name="Group 71"/>
            <p:cNvGrpSpPr/>
            <p:nvPr/>
          </p:nvGrpSpPr>
          <p:grpSpPr>
            <a:xfrm>
              <a:off x="672" y="2780"/>
              <a:ext cx="3684" cy="384"/>
              <a:chOff x="1219" y="2880"/>
              <a:chExt cx="3684" cy="384"/>
            </a:xfrm>
          </p:grpSpPr>
          <p:grpSp>
            <p:nvGrpSpPr>
              <p:cNvPr id="1513" name="Group 72"/>
              <p:cNvGrpSpPr/>
              <p:nvPr/>
            </p:nvGrpSpPr>
            <p:grpSpPr>
              <a:xfrm>
                <a:off x="1219" y="2880"/>
                <a:ext cx="307" cy="384"/>
                <a:chOff x="605" y="1776"/>
                <a:chExt cx="307" cy="384"/>
              </a:xfrm>
            </p:grpSpPr>
            <p:sp>
              <p:nvSpPr>
                <p:cNvPr id="1514" name="Rectangle 73"/>
                <p:cNvSpPr>
                  <a:spLocks noChangeArrowheads="true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1515" name="Rectangle 74"/>
                <p:cNvSpPr>
                  <a:spLocks noChangeArrowheads="true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11</a:t>
                  </a:r>
                  <a:endParaRPr/>
                </a:p>
              </p:txBody>
            </p:sp>
          </p:grpSp>
          <p:grpSp>
            <p:nvGrpSpPr>
              <p:cNvPr id="1516" name="Group 75"/>
              <p:cNvGrpSpPr/>
              <p:nvPr/>
            </p:nvGrpSpPr>
            <p:grpSpPr>
              <a:xfrm>
                <a:off x="1526" y="2880"/>
                <a:ext cx="307" cy="384"/>
                <a:chOff x="605" y="1776"/>
                <a:chExt cx="307" cy="384"/>
              </a:xfrm>
            </p:grpSpPr>
            <p:sp>
              <p:nvSpPr>
                <p:cNvPr id="1517" name="Rectangle 76"/>
                <p:cNvSpPr>
                  <a:spLocks noChangeArrowheads="true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1518" name="Rectangle 77"/>
                <p:cNvSpPr>
                  <a:spLocks noChangeArrowheads="true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10</a:t>
                  </a:r>
                  <a:endParaRPr/>
                </a:p>
              </p:txBody>
            </p:sp>
          </p:grpSp>
          <p:grpSp>
            <p:nvGrpSpPr>
              <p:cNvPr id="1519" name="Group 78"/>
              <p:cNvGrpSpPr/>
              <p:nvPr/>
            </p:nvGrpSpPr>
            <p:grpSpPr>
              <a:xfrm>
                <a:off x="1833" y="2880"/>
                <a:ext cx="307" cy="384"/>
                <a:chOff x="605" y="1776"/>
                <a:chExt cx="307" cy="384"/>
              </a:xfrm>
            </p:grpSpPr>
            <p:sp>
              <p:nvSpPr>
                <p:cNvPr id="1520" name="Rectangle 79"/>
                <p:cNvSpPr>
                  <a:spLocks noChangeArrowheads="true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1521" name="Rectangle 80"/>
                <p:cNvSpPr>
                  <a:spLocks noChangeArrowheads="true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9</a:t>
                  </a:r>
                  <a:endParaRPr/>
                </a:p>
              </p:txBody>
            </p:sp>
          </p:grpSp>
          <p:grpSp>
            <p:nvGrpSpPr>
              <p:cNvPr id="1522" name="Group 81"/>
              <p:cNvGrpSpPr/>
              <p:nvPr/>
            </p:nvGrpSpPr>
            <p:grpSpPr>
              <a:xfrm>
                <a:off x="2140" y="2880"/>
                <a:ext cx="307" cy="384"/>
                <a:chOff x="605" y="1776"/>
                <a:chExt cx="307" cy="384"/>
              </a:xfrm>
            </p:grpSpPr>
            <p:sp>
              <p:nvSpPr>
                <p:cNvPr id="1523" name="Rectangle 82"/>
                <p:cNvSpPr>
                  <a:spLocks noChangeArrowheads="true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1524" name="Rectangle 83"/>
                <p:cNvSpPr>
                  <a:spLocks noChangeArrowheads="true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8</a:t>
                  </a:r>
                  <a:endParaRPr/>
                </a:p>
              </p:txBody>
            </p:sp>
          </p:grpSp>
          <p:grpSp>
            <p:nvGrpSpPr>
              <p:cNvPr id="1525" name="Group 84"/>
              <p:cNvGrpSpPr/>
              <p:nvPr/>
            </p:nvGrpSpPr>
            <p:grpSpPr>
              <a:xfrm>
                <a:off x="2447" y="2880"/>
                <a:ext cx="307" cy="384"/>
                <a:chOff x="605" y="1776"/>
                <a:chExt cx="307" cy="384"/>
              </a:xfrm>
            </p:grpSpPr>
            <p:sp>
              <p:nvSpPr>
                <p:cNvPr id="1526" name="Rectangle 85"/>
                <p:cNvSpPr>
                  <a:spLocks noChangeArrowheads="true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1527" name="Rectangle 86"/>
                <p:cNvSpPr>
                  <a:spLocks noChangeArrowheads="true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7</a:t>
                  </a:r>
                  <a:endParaRPr/>
                </a:p>
              </p:txBody>
            </p:sp>
          </p:grpSp>
          <p:grpSp>
            <p:nvGrpSpPr>
              <p:cNvPr id="1528" name="Group 87"/>
              <p:cNvGrpSpPr/>
              <p:nvPr/>
            </p:nvGrpSpPr>
            <p:grpSpPr>
              <a:xfrm>
                <a:off x="2754" y="2880"/>
                <a:ext cx="307" cy="384"/>
                <a:chOff x="605" y="1776"/>
                <a:chExt cx="307" cy="384"/>
              </a:xfrm>
            </p:grpSpPr>
            <p:sp>
              <p:nvSpPr>
                <p:cNvPr id="1529" name="Rectangle 88"/>
                <p:cNvSpPr>
                  <a:spLocks noChangeArrowheads="true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1530" name="Rectangle 89"/>
                <p:cNvSpPr>
                  <a:spLocks noChangeArrowheads="true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6</a:t>
                  </a:r>
                  <a:endParaRPr/>
                </a:p>
              </p:txBody>
            </p:sp>
          </p:grpSp>
          <p:grpSp>
            <p:nvGrpSpPr>
              <p:cNvPr id="1531" name="Group 90"/>
              <p:cNvGrpSpPr/>
              <p:nvPr/>
            </p:nvGrpSpPr>
            <p:grpSpPr>
              <a:xfrm>
                <a:off x="3061" y="2880"/>
                <a:ext cx="307" cy="384"/>
                <a:chOff x="605" y="1776"/>
                <a:chExt cx="307" cy="384"/>
              </a:xfrm>
            </p:grpSpPr>
            <p:sp>
              <p:nvSpPr>
                <p:cNvPr id="1532" name="Rectangle 91"/>
                <p:cNvSpPr>
                  <a:spLocks noChangeArrowheads="true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1533" name="Rectangle 92"/>
                <p:cNvSpPr>
                  <a:spLocks noChangeArrowheads="true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5</a:t>
                  </a:r>
                  <a:endParaRPr/>
                </a:p>
              </p:txBody>
            </p:sp>
          </p:grpSp>
          <p:grpSp>
            <p:nvGrpSpPr>
              <p:cNvPr id="1534" name="Group 93"/>
              <p:cNvGrpSpPr/>
              <p:nvPr/>
            </p:nvGrpSpPr>
            <p:grpSpPr>
              <a:xfrm>
                <a:off x="3368" y="2880"/>
                <a:ext cx="307" cy="384"/>
                <a:chOff x="605" y="1776"/>
                <a:chExt cx="307" cy="384"/>
              </a:xfrm>
            </p:grpSpPr>
            <p:sp>
              <p:nvSpPr>
                <p:cNvPr id="1535" name="Rectangle 94"/>
                <p:cNvSpPr>
                  <a:spLocks noChangeArrowheads="true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1536" name="Rectangle 95"/>
                <p:cNvSpPr>
                  <a:spLocks noChangeArrowheads="true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4</a:t>
                  </a:r>
                  <a:endParaRPr/>
                </a:p>
              </p:txBody>
            </p:sp>
          </p:grpSp>
          <p:grpSp>
            <p:nvGrpSpPr>
              <p:cNvPr id="1537" name="Group 96"/>
              <p:cNvGrpSpPr/>
              <p:nvPr/>
            </p:nvGrpSpPr>
            <p:grpSpPr>
              <a:xfrm>
                <a:off x="3675" y="2880"/>
                <a:ext cx="307" cy="384"/>
                <a:chOff x="605" y="1776"/>
                <a:chExt cx="307" cy="384"/>
              </a:xfrm>
            </p:grpSpPr>
            <p:sp>
              <p:nvSpPr>
                <p:cNvPr id="1538" name="Rectangle 97"/>
                <p:cNvSpPr>
                  <a:spLocks noChangeArrowheads="true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1539" name="Rectangle 98"/>
                <p:cNvSpPr>
                  <a:spLocks noChangeArrowheads="true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3</a:t>
                  </a:r>
                  <a:endParaRPr/>
                </a:p>
              </p:txBody>
            </p:sp>
          </p:grpSp>
          <p:grpSp>
            <p:nvGrpSpPr>
              <p:cNvPr id="1540" name="Group 99"/>
              <p:cNvGrpSpPr/>
              <p:nvPr/>
            </p:nvGrpSpPr>
            <p:grpSpPr>
              <a:xfrm>
                <a:off x="3982" y="2880"/>
                <a:ext cx="307" cy="384"/>
                <a:chOff x="605" y="1776"/>
                <a:chExt cx="307" cy="384"/>
              </a:xfrm>
            </p:grpSpPr>
            <p:sp>
              <p:nvSpPr>
                <p:cNvPr id="1541" name="Rectangle 100"/>
                <p:cNvSpPr>
                  <a:spLocks noChangeArrowheads="true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1542" name="Rectangle 101"/>
                <p:cNvSpPr>
                  <a:spLocks noChangeArrowheads="true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2</a:t>
                  </a:r>
                  <a:endParaRPr/>
                </a:p>
              </p:txBody>
            </p:sp>
          </p:grpSp>
          <p:grpSp>
            <p:nvGrpSpPr>
              <p:cNvPr id="1543" name="Group 102"/>
              <p:cNvGrpSpPr/>
              <p:nvPr/>
            </p:nvGrpSpPr>
            <p:grpSpPr>
              <a:xfrm>
                <a:off x="4289" y="2880"/>
                <a:ext cx="307" cy="384"/>
                <a:chOff x="605" y="1776"/>
                <a:chExt cx="307" cy="384"/>
              </a:xfrm>
            </p:grpSpPr>
            <p:sp>
              <p:nvSpPr>
                <p:cNvPr id="1544" name="Rectangle 103"/>
                <p:cNvSpPr>
                  <a:spLocks noChangeArrowheads="true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1545" name="Rectangle 104"/>
                <p:cNvSpPr>
                  <a:spLocks noChangeArrowheads="true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1</a:t>
                  </a:r>
                  <a:endParaRPr/>
                </a:p>
              </p:txBody>
            </p:sp>
          </p:grpSp>
          <p:grpSp>
            <p:nvGrpSpPr>
              <p:cNvPr id="1546" name="Group 105"/>
              <p:cNvGrpSpPr/>
              <p:nvPr/>
            </p:nvGrpSpPr>
            <p:grpSpPr>
              <a:xfrm>
                <a:off x="4596" y="2880"/>
                <a:ext cx="307" cy="384"/>
                <a:chOff x="605" y="1776"/>
                <a:chExt cx="307" cy="384"/>
              </a:xfrm>
            </p:grpSpPr>
            <p:sp>
              <p:nvSpPr>
                <p:cNvPr id="1547" name="Rectangle 106"/>
                <p:cNvSpPr>
                  <a:spLocks noChangeArrowheads="true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1548" name="Rectangle 107"/>
                <p:cNvSpPr>
                  <a:spLocks noChangeArrowheads="true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0</a:t>
                  </a:r>
                  <a:endParaRPr/>
                </a:p>
              </p:txBody>
            </p:sp>
          </p:grpSp>
        </p:grpSp>
        <p:grpSp>
          <p:nvGrpSpPr>
            <p:cNvPr id="1549" name="Group 108"/>
            <p:cNvGrpSpPr/>
            <p:nvPr/>
          </p:nvGrpSpPr>
          <p:grpSpPr>
            <a:xfrm>
              <a:off x="2525" y="3212"/>
              <a:ext cx="1842" cy="212"/>
              <a:chOff x="3061" y="2261"/>
              <a:chExt cx="1842" cy="212"/>
            </a:xfrm>
          </p:grpSpPr>
          <p:sp>
            <p:nvSpPr>
              <p:cNvPr id="1550" name="Line 109"/>
              <p:cNvSpPr>
                <a:spLocks noChangeShapeType="true"/>
              </p:cNvSpPr>
              <p:nvPr/>
            </p:nvSpPr>
            <p:spPr bwMode="auto">
              <a:xfrm>
                <a:off x="3061" y="2352"/>
                <a:ext cx="184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xtLst>
                <a:ext uri="{909E8E84-426E-40DD-AFC4-6F175D3DCCD1}"/>
              </a:extLst>
            </p:spPr>
            <p:txBody>
              <a:bodyPr wrap="none" lIns="90487" tIns="44450" rIns="90487" bIns="44450"/>
              <a:lstStyle/>
              <a:p>
                <a:pPr/>
                <a:endParaRPr lang="zh-CN" altLang="en-US"/>
              </a:p>
            </p:txBody>
          </p:sp>
          <p:sp>
            <p:nvSpPr>
              <p:cNvPr id="1551" name="Text Box 110"/>
              <p:cNvSpPr txBox="true">
                <a:spLocks noChangeArrowheads="true"/>
              </p:cNvSpPr>
              <p:nvPr/>
            </p:nvSpPr>
            <p:spPr bwMode="auto">
              <a:xfrm>
                <a:off x="3770" y="2261"/>
                <a:ext cx="418" cy="21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/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800">
                    <a:solidFill>
                      <a:schemeClr val="tx2"/>
                    </a:solidFill>
                    <a:latin typeface="Helvetica" pitchFamily="34" charset="0"/>
                  </a:rPr>
                  <a:t>PPO</a:t>
                </a:r>
                <a:endParaRPr/>
              </a:p>
            </p:txBody>
          </p:sp>
        </p:grpSp>
        <p:grpSp>
          <p:nvGrpSpPr>
            <p:cNvPr id="1552" name="Group 111"/>
            <p:cNvGrpSpPr/>
            <p:nvPr/>
          </p:nvGrpSpPr>
          <p:grpSpPr>
            <a:xfrm>
              <a:off x="701" y="3212"/>
              <a:ext cx="1842" cy="212"/>
              <a:chOff x="3061" y="2261"/>
              <a:chExt cx="1842" cy="212"/>
            </a:xfrm>
          </p:grpSpPr>
          <p:sp>
            <p:nvSpPr>
              <p:cNvPr id="1553" name="Line 112"/>
              <p:cNvSpPr>
                <a:spLocks noChangeShapeType="true"/>
              </p:cNvSpPr>
              <p:nvPr/>
            </p:nvSpPr>
            <p:spPr bwMode="auto">
              <a:xfrm>
                <a:off x="3061" y="2352"/>
                <a:ext cx="184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xtLst>
                <a:ext uri="{909E8E84-426E-40DD-AFC4-6F175D3DCCD1}"/>
              </a:extLst>
            </p:spPr>
            <p:txBody>
              <a:bodyPr wrap="none" lIns="90487" tIns="44450" rIns="90487" bIns="44450"/>
              <a:lstStyle/>
              <a:p>
                <a:pPr/>
                <a:endParaRPr lang="zh-CN" altLang="en-US"/>
              </a:p>
            </p:txBody>
          </p:sp>
          <p:sp>
            <p:nvSpPr>
              <p:cNvPr id="1554" name="Text Box 113"/>
              <p:cNvSpPr txBox="true">
                <a:spLocks noChangeArrowheads="true"/>
              </p:cNvSpPr>
              <p:nvPr/>
            </p:nvSpPr>
            <p:spPr bwMode="auto">
              <a:xfrm>
                <a:off x="3770" y="2261"/>
                <a:ext cx="410" cy="21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/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800">
                    <a:solidFill>
                      <a:schemeClr val="tx2"/>
                    </a:solidFill>
                    <a:latin typeface="Helvetica" pitchFamily="34" charset="0"/>
                  </a:rPr>
                  <a:t>PPN</a:t>
                </a:r>
                <a:endParaRPr/>
              </a:p>
            </p:txBody>
          </p:sp>
        </p:grpSp>
        <p:sp>
          <p:nvSpPr>
            <p:cNvPr id="1555" name="Text Box 114"/>
            <p:cNvSpPr txBox="true">
              <a:spLocks noChangeArrowheads="true"/>
            </p:cNvSpPr>
            <p:nvPr/>
          </p:nvSpPr>
          <p:spPr bwMode="auto">
            <a:xfrm>
              <a:off x="4128" y="297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0</a:t>
              </a:r>
              <a:endParaRPr/>
            </a:p>
          </p:txBody>
        </p:sp>
        <p:sp>
          <p:nvSpPr>
            <p:cNvPr id="1556" name="Text Box 115"/>
            <p:cNvSpPr txBox="true">
              <a:spLocks noChangeArrowheads="true"/>
            </p:cNvSpPr>
            <p:nvPr/>
          </p:nvSpPr>
          <p:spPr bwMode="auto">
            <a:xfrm>
              <a:off x="3792" y="297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0</a:t>
              </a:r>
              <a:endParaRPr/>
            </a:p>
          </p:txBody>
        </p:sp>
        <p:sp>
          <p:nvSpPr>
            <p:cNvPr id="1557" name="Text Box 116"/>
            <p:cNvSpPr txBox="true">
              <a:spLocks noChangeArrowheads="true"/>
            </p:cNvSpPr>
            <p:nvPr/>
          </p:nvSpPr>
          <p:spPr bwMode="auto">
            <a:xfrm>
              <a:off x="3504" y="297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1</a:t>
              </a:r>
              <a:endParaRPr/>
            </a:p>
          </p:txBody>
        </p:sp>
        <p:sp>
          <p:nvSpPr>
            <p:cNvPr id="1558" name="Text Box 117"/>
            <p:cNvSpPr txBox="true">
              <a:spLocks noChangeArrowheads="true"/>
            </p:cNvSpPr>
            <p:nvPr/>
          </p:nvSpPr>
          <p:spPr bwMode="auto">
            <a:xfrm>
              <a:off x="3173" y="297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0</a:t>
              </a:r>
              <a:endParaRPr/>
            </a:p>
          </p:txBody>
        </p:sp>
        <p:sp>
          <p:nvSpPr>
            <p:cNvPr id="1559" name="Text Box 118"/>
            <p:cNvSpPr txBox="true">
              <a:spLocks noChangeArrowheads="true"/>
            </p:cNvSpPr>
            <p:nvPr/>
          </p:nvSpPr>
          <p:spPr bwMode="auto">
            <a:xfrm>
              <a:off x="2880" y="297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1</a:t>
              </a:r>
              <a:endParaRPr/>
            </a:p>
          </p:txBody>
        </p:sp>
        <p:sp>
          <p:nvSpPr>
            <p:cNvPr id="1560" name="Text Box 119"/>
            <p:cNvSpPr txBox="true">
              <a:spLocks noChangeArrowheads="true"/>
            </p:cNvSpPr>
            <p:nvPr/>
          </p:nvSpPr>
          <p:spPr bwMode="auto">
            <a:xfrm>
              <a:off x="2592" y="297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0</a:t>
              </a:r>
              <a:endParaRPr/>
            </a:p>
          </p:txBody>
        </p:sp>
        <p:sp>
          <p:nvSpPr>
            <p:cNvPr id="1561" name="Text Box 120"/>
            <p:cNvSpPr txBox="true">
              <a:spLocks noChangeArrowheads="true"/>
            </p:cNvSpPr>
            <p:nvPr/>
          </p:nvSpPr>
          <p:spPr bwMode="auto">
            <a:xfrm>
              <a:off x="2256" y="297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1</a:t>
              </a:r>
              <a:endParaRPr/>
            </a:p>
          </p:txBody>
        </p:sp>
        <p:sp>
          <p:nvSpPr>
            <p:cNvPr id="1562" name="Text Box 121"/>
            <p:cNvSpPr txBox="true">
              <a:spLocks noChangeArrowheads="true"/>
            </p:cNvSpPr>
            <p:nvPr/>
          </p:nvSpPr>
          <p:spPr bwMode="auto">
            <a:xfrm>
              <a:off x="1968" y="297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0</a:t>
              </a:r>
              <a:endParaRPr/>
            </a:p>
          </p:txBody>
        </p:sp>
        <p:sp>
          <p:nvSpPr>
            <p:cNvPr id="1563" name="Text Box 122"/>
            <p:cNvSpPr txBox="true">
              <a:spLocks noChangeArrowheads="true"/>
            </p:cNvSpPr>
            <p:nvPr/>
          </p:nvSpPr>
          <p:spPr bwMode="auto">
            <a:xfrm>
              <a:off x="1637" y="297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1</a:t>
              </a:r>
              <a:endParaRPr/>
            </a:p>
          </p:txBody>
        </p:sp>
        <p:sp>
          <p:nvSpPr>
            <p:cNvPr id="1564" name="Text Box 123"/>
            <p:cNvSpPr txBox="true">
              <a:spLocks noChangeArrowheads="true"/>
            </p:cNvSpPr>
            <p:nvPr/>
          </p:nvSpPr>
          <p:spPr bwMode="auto">
            <a:xfrm>
              <a:off x="1344" y="297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1</a:t>
              </a:r>
              <a:endParaRPr/>
            </a:p>
          </p:txBody>
        </p:sp>
        <p:sp>
          <p:nvSpPr>
            <p:cNvPr id="1565" name="Text Box 124"/>
            <p:cNvSpPr txBox="true">
              <a:spLocks noChangeArrowheads="true"/>
            </p:cNvSpPr>
            <p:nvPr/>
          </p:nvSpPr>
          <p:spPr bwMode="auto">
            <a:xfrm>
              <a:off x="1056" y="297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0</a:t>
              </a:r>
              <a:endParaRPr/>
            </a:p>
          </p:txBody>
        </p:sp>
        <p:sp>
          <p:nvSpPr>
            <p:cNvPr id="1566" name="Text Box 125"/>
            <p:cNvSpPr txBox="true">
              <a:spLocks noChangeArrowheads="true"/>
            </p:cNvSpPr>
            <p:nvPr/>
          </p:nvSpPr>
          <p:spPr bwMode="auto">
            <a:xfrm>
              <a:off x="720" y="297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0</a:t>
              </a:r>
              <a:endParaRPr/>
            </a:p>
          </p:txBody>
        </p:sp>
      </p:grpSp>
      <p:cxnSp>
        <p:nvCxnSpPr>
          <p:cNvPr id="1567" name="Straight Connector 126"/>
          <p:cNvCxnSpPr>
            <a:cxnSpLocks noChangeShapeType="true"/>
          </p:cNvCxnSpPr>
          <p:nvPr/>
        </p:nvCxnSpPr>
        <p:spPr bwMode="auto">
          <a:xfrm flipH="true">
            <a:off x="4584700" y="1828800"/>
            <a:ext cx="0" cy="350520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</a:ln>
          <a:extLst>
            <a:ext uri="{909E8E84-426E-40DD-AFC4-6F175D3DCCD1}"/>
          </a:extLst>
        </p:spPr>
      </p:cxnSp>
    </p:spTree>
  </p:cSld>
  <p:clrMapOvr>
    <a:masterClrMapping/>
  </p:clrMapOvr>
</p:sld>
</file>

<file path=ppt/slides/slide85.xml><?xml version="1.0" encoding="utf-8"?>
<p:sld xmlns:p="http://schemas.openxmlformats.org/presentationml/2006/main" xmlns:a16="http://schemas.microsoft.com/office/drawing/2014/main" xmlns:a="http://schemas.openxmlformats.org/drawingml/2006/main" xmlns:mc="http://schemas.openxmlformats.org/markup-compatibility/2006" mc:Ignorable="a16">
  <p:cSld>
    <p:spTree>
      <p:nvGrpSpPr>
        <p:cNvPr id="15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9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B7FDC7E6-8592-E14B-88B9-E05B6AA79264}" type="slidenum">
              <a:rPr lang="zh-CN" altLang="en-US" sz="1400" b="false">
                <a:latin typeface="Times New Roman" panose="02020603050405020304" charset="0"/>
              </a:rPr>
              <a:t>91</a:t>
            </a:fld>
            <a:endParaRPr lang="en-US" altLang="zh-CN" sz="1400" b="false">
              <a:latin typeface="Times New Roman" panose="02020603050405020304" charset="0"/>
            </a:endParaRPr>
          </a:p>
        </p:txBody>
      </p:sp>
      <p:sp>
        <p:nvSpPr>
          <p:cNvPr id="1570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>
                <a:latin typeface="Comic Sans MS"/>
                <a:ea typeface="宋体"/>
                <a:cs typeface="宋体"/>
              </a:rPr>
              <a:t>Simple Memory System: Cache</a:t>
            </a:r>
            <a:endParaRPr/>
          </a:p>
        </p:txBody>
      </p:sp>
      <p:grpSp>
        <p:nvGrpSpPr>
          <p:cNvPr id="1571" name="Group 5"/>
          <p:cNvGrpSpPr/>
          <p:nvPr/>
        </p:nvGrpSpPr>
        <p:grpSpPr>
          <a:xfrm>
            <a:off x="2973388" y="1760538"/>
            <a:ext cx="5865812" cy="1363662"/>
            <a:chOff x="1078" y="1791"/>
            <a:chExt cx="3695" cy="859"/>
          </a:xfrm>
        </p:grpSpPr>
        <p:grpSp>
          <p:nvGrpSpPr>
            <p:cNvPr id="1572" name="Group 6"/>
            <p:cNvGrpSpPr/>
            <p:nvPr/>
          </p:nvGrpSpPr>
          <p:grpSpPr>
            <a:xfrm>
              <a:off x="1078" y="2012"/>
              <a:ext cx="3684" cy="384"/>
              <a:chOff x="1219" y="2880"/>
              <a:chExt cx="3684" cy="384"/>
            </a:xfrm>
          </p:grpSpPr>
          <p:grpSp>
            <p:nvGrpSpPr>
              <p:cNvPr id="1573" name="Group 7"/>
              <p:cNvGrpSpPr/>
              <p:nvPr/>
            </p:nvGrpSpPr>
            <p:grpSpPr>
              <a:xfrm>
                <a:off x="1219" y="2880"/>
                <a:ext cx="307" cy="384"/>
                <a:chOff x="605" y="1776"/>
                <a:chExt cx="307" cy="384"/>
              </a:xfrm>
            </p:grpSpPr>
            <p:sp>
              <p:nvSpPr>
                <p:cNvPr id="1574" name="Rectangle 8"/>
                <p:cNvSpPr>
                  <a:spLocks noChangeArrowheads="true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1575" name="Rectangle 9"/>
                <p:cNvSpPr>
                  <a:spLocks noChangeArrowheads="true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11</a:t>
                  </a:r>
                  <a:endParaRPr/>
                </a:p>
              </p:txBody>
            </p:sp>
          </p:grpSp>
          <p:grpSp>
            <p:nvGrpSpPr>
              <p:cNvPr id="1576" name="Group 10"/>
              <p:cNvGrpSpPr/>
              <p:nvPr/>
            </p:nvGrpSpPr>
            <p:grpSpPr>
              <a:xfrm>
                <a:off x="1526" y="2880"/>
                <a:ext cx="307" cy="384"/>
                <a:chOff x="605" y="1776"/>
                <a:chExt cx="307" cy="384"/>
              </a:xfrm>
            </p:grpSpPr>
            <p:sp>
              <p:nvSpPr>
                <p:cNvPr id="1577" name="Rectangle 11"/>
                <p:cNvSpPr>
                  <a:spLocks noChangeArrowheads="true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1578" name="Rectangle 12"/>
                <p:cNvSpPr>
                  <a:spLocks noChangeArrowheads="true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10</a:t>
                  </a:r>
                  <a:endParaRPr/>
                </a:p>
              </p:txBody>
            </p:sp>
          </p:grpSp>
          <p:grpSp>
            <p:nvGrpSpPr>
              <p:cNvPr id="1579" name="Group 13"/>
              <p:cNvGrpSpPr/>
              <p:nvPr/>
            </p:nvGrpSpPr>
            <p:grpSpPr>
              <a:xfrm>
                <a:off x="1833" y="2880"/>
                <a:ext cx="307" cy="384"/>
                <a:chOff x="605" y="1776"/>
                <a:chExt cx="307" cy="384"/>
              </a:xfrm>
            </p:grpSpPr>
            <p:sp>
              <p:nvSpPr>
                <p:cNvPr id="1580" name="Rectangle 14"/>
                <p:cNvSpPr>
                  <a:spLocks noChangeArrowheads="true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1581" name="Rectangle 15"/>
                <p:cNvSpPr>
                  <a:spLocks noChangeArrowheads="true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9</a:t>
                  </a:r>
                  <a:endParaRPr/>
                </a:p>
              </p:txBody>
            </p:sp>
          </p:grpSp>
          <p:grpSp>
            <p:nvGrpSpPr>
              <p:cNvPr id="1582" name="Group 16"/>
              <p:cNvGrpSpPr/>
              <p:nvPr/>
            </p:nvGrpSpPr>
            <p:grpSpPr>
              <a:xfrm>
                <a:off x="2140" y="2880"/>
                <a:ext cx="307" cy="384"/>
                <a:chOff x="605" y="1776"/>
                <a:chExt cx="307" cy="384"/>
              </a:xfrm>
            </p:grpSpPr>
            <p:sp>
              <p:nvSpPr>
                <p:cNvPr id="1583" name="Rectangle 17"/>
                <p:cNvSpPr>
                  <a:spLocks noChangeArrowheads="true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1584" name="Rectangle 18"/>
                <p:cNvSpPr>
                  <a:spLocks noChangeArrowheads="true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8</a:t>
                  </a:r>
                  <a:endParaRPr/>
                </a:p>
              </p:txBody>
            </p:sp>
          </p:grpSp>
          <p:grpSp>
            <p:nvGrpSpPr>
              <p:cNvPr id="1585" name="Group 19"/>
              <p:cNvGrpSpPr/>
              <p:nvPr/>
            </p:nvGrpSpPr>
            <p:grpSpPr>
              <a:xfrm>
                <a:off x="2447" y="2880"/>
                <a:ext cx="307" cy="384"/>
                <a:chOff x="605" y="1776"/>
                <a:chExt cx="307" cy="384"/>
              </a:xfrm>
            </p:grpSpPr>
            <p:sp>
              <p:nvSpPr>
                <p:cNvPr id="1586" name="Rectangle 20"/>
                <p:cNvSpPr>
                  <a:spLocks noChangeArrowheads="true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1587" name="Rectangle 21"/>
                <p:cNvSpPr>
                  <a:spLocks noChangeArrowheads="true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7</a:t>
                  </a:r>
                  <a:endParaRPr/>
                </a:p>
              </p:txBody>
            </p:sp>
          </p:grpSp>
          <p:grpSp>
            <p:nvGrpSpPr>
              <p:cNvPr id="1588" name="Group 22"/>
              <p:cNvGrpSpPr/>
              <p:nvPr/>
            </p:nvGrpSpPr>
            <p:grpSpPr>
              <a:xfrm>
                <a:off x="2754" y="2880"/>
                <a:ext cx="307" cy="384"/>
                <a:chOff x="605" y="1776"/>
                <a:chExt cx="307" cy="384"/>
              </a:xfrm>
            </p:grpSpPr>
            <p:sp>
              <p:nvSpPr>
                <p:cNvPr id="1589" name="Rectangle 23"/>
                <p:cNvSpPr>
                  <a:spLocks noChangeArrowheads="true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1590" name="Rectangle 24"/>
                <p:cNvSpPr>
                  <a:spLocks noChangeArrowheads="true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6</a:t>
                  </a:r>
                  <a:endParaRPr/>
                </a:p>
              </p:txBody>
            </p:sp>
          </p:grpSp>
          <p:grpSp>
            <p:nvGrpSpPr>
              <p:cNvPr id="1591" name="Group 25"/>
              <p:cNvGrpSpPr/>
              <p:nvPr/>
            </p:nvGrpSpPr>
            <p:grpSpPr>
              <a:xfrm>
                <a:off x="3061" y="2880"/>
                <a:ext cx="307" cy="384"/>
                <a:chOff x="605" y="1776"/>
                <a:chExt cx="307" cy="384"/>
              </a:xfrm>
            </p:grpSpPr>
            <p:sp>
              <p:nvSpPr>
                <p:cNvPr id="1592" name="Rectangle 26"/>
                <p:cNvSpPr>
                  <a:spLocks noChangeArrowheads="true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1593" name="Rectangle 27"/>
                <p:cNvSpPr>
                  <a:spLocks noChangeArrowheads="true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5</a:t>
                  </a:r>
                  <a:endParaRPr/>
                </a:p>
              </p:txBody>
            </p:sp>
          </p:grpSp>
          <p:grpSp>
            <p:nvGrpSpPr>
              <p:cNvPr id="1594" name="Group 28"/>
              <p:cNvGrpSpPr/>
              <p:nvPr/>
            </p:nvGrpSpPr>
            <p:grpSpPr>
              <a:xfrm>
                <a:off x="3368" y="2880"/>
                <a:ext cx="307" cy="384"/>
                <a:chOff x="605" y="1776"/>
                <a:chExt cx="307" cy="384"/>
              </a:xfrm>
            </p:grpSpPr>
            <p:sp>
              <p:nvSpPr>
                <p:cNvPr id="1595" name="Rectangle 29"/>
                <p:cNvSpPr>
                  <a:spLocks noChangeArrowheads="true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1596" name="Rectangle 30"/>
                <p:cNvSpPr>
                  <a:spLocks noChangeArrowheads="true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4</a:t>
                  </a:r>
                  <a:endParaRPr/>
                </a:p>
              </p:txBody>
            </p:sp>
          </p:grpSp>
          <p:grpSp>
            <p:nvGrpSpPr>
              <p:cNvPr id="1597" name="Group 31"/>
              <p:cNvGrpSpPr/>
              <p:nvPr/>
            </p:nvGrpSpPr>
            <p:grpSpPr>
              <a:xfrm>
                <a:off x="3675" y="2880"/>
                <a:ext cx="307" cy="384"/>
                <a:chOff x="605" y="1776"/>
                <a:chExt cx="307" cy="384"/>
              </a:xfrm>
            </p:grpSpPr>
            <p:sp>
              <p:nvSpPr>
                <p:cNvPr id="1598" name="Rectangle 32"/>
                <p:cNvSpPr>
                  <a:spLocks noChangeArrowheads="true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1599" name="Rectangle 33"/>
                <p:cNvSpPr>
                  <a:spLocks noChangeArrowheads="true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3</a:t>
                  </a:r>
                  <a:endParaRPr/>
                </a:p>
              </p:txBody>
            </p:sp>
          </p:grpSp>
          <p:grpSp>
            <p:nvGrpSpPr>
              <p:cNvPr id="1600" name="Group 34"/>
              <p:cNvGrpSpPr/>
              <p:nvPr/>
            </p:nvGrpSpPr>
            <p:grpSpPr>
              <a:xfrm>
                <a:off x="3982" y="2880"/>
                <a:ext cx="307" cy="384"/>
                <a:chOff x="605" y="1776"/>
                <a:chExt cx="307" cy="384"/>
              </a:xfrm>
            </p:grpSpPr>
            <p:sp>
              <p:nvSpPr>
                <p:cNvPr id="1601" name="Rectangle 35"/>
                <p:cNvSpPr>
                  <a:spLocks noChangeArrowheads="true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1602" name="Rectangle 36"/>
                <p:cNvSpPr>
                  <a:spLocks noChangeArrowheads="true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2</a:t>
                  </a:r>
                  <a:endParaRPr/>
                </a:p>
              </p:txBody>
            </p:sp>
          </p:grpSp>
          <p:grpSp>
            <p:nvGrpSpPr>
              <p:cNvPr id="1603" name="Group 37"/>
              <p:cNvGrpSpPr/>
              <p:nvPr/>
            </p:nvGrpSpPr>
            <p:grpSpPr>
              <a:xfrm>
                <a:off x="4289" y="2880"/>
                <a:ext cx="307" cy="384"/>
                <a:chOff x="605" y="1776"/>
                <a:chExt cx="307" cy="384"/>
              </a:xfrm>
            </p:grpSpPr>
            <p:sp>
              <p:nvSpPr>
                <p:cNvPr id="1604" name="Rectangle 38"/>
                <p:cNvSpPr>
                  <a:spLocks noChangeArrowheads="true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1605" name="Rectangle 39"/>
                <p:cNvSpPr>
                  <a:spLocks noChangeArrowheads="true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1</a:t>
                  </a:r>
                  <a:endParaRPr/>
                </a:p>
              </p:txBody>
            </p:sp>
          </p:grpSp>
          <p:grpSp>
            <p:nvGrpSpPr>
              <p:cNvPr id="1606" name="Group 40"/>
              <p:cNvGrpSpPr/>
              <p:nvPr/>
            </p:nvGrpSpPr>
            <p:grpSpPr>
              <a:xfrm>
                <a:off x="4596" y="2880"/>
                <a:ext cx="307" cy="384"/>
                <a:chOff x="605" y="1776"/>
                <a:chExt cx="307" cy="384"/>
              </a:xfrm>
            </p:grpSpPr>
            <p:sp>
              <p:nvSpPr>
                <p:cNvPr id="1607" name="Rectangle 41"/>
                <p:cNvSpPr>
                  <a:spLocks noChangeArrowheads="true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1608" name="Rectangle 42"/>
                <p:cNvSpPr>
                  <a:spLocks noChangeArrowheads="true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0</a:t>
                  </a:r>
                  <a:endParaRPr/>
                </a:p>
              </p:txBody>
            </p:sp>
          </p:grpSp>
        </p:grpSp>
        <p:grpSp>
          <p:nvGrpSpPr>
            <p:cNvPr id="1609" name="Group 43"/>
            <p:cNvGrpSpPr/>
            <p:nvPr/>
          </p:nvGrpSpPr>
          <p:grpSpPr>
            <a:xfrm>
              <a:off x="2931" y="2473"/>
              <a:ext cx="1842" cy="177"/>
              <a:chOff x="3061" y="2290"/>
              <a:chExt cx="1842" cy="177"/>
            </a:xfrm>
          </p:grpSpPr>
          <p:sp>
            <p:nvSpPr>
              <p:cNvPr id="1610" name="Line 44"/>
              <p:cNvSpPr>
                <a:spLocks noChangeShapeType="true"/>
              </p:cNvSpPr>
              <p:nvPr/>
            </p:nvSpPr>
            <p:spPr bwMode="auto">
              <a:xfrm>
                <a:off x="3061" y="2352"/>
                <a:ext cx="184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xtLst>
                <a:ext uri="{909E8E84-426E-40DD-AFC4-6F175D3DCCD1}"/>
              </a:extLst>
            </p:spPr>
            <p:txBody>
              <a:bodyPr wrap="none" lIns="90487" tIns="44450" rIns="90487" bIns="44450"/>
              <a:lstStyle/>
              <a:p>
                <a:pPr/>
                <a:endParaRPr lang="zh-CN" altLang="en-US"/>
              </a:p>
            </p:txBody>
          </p:sp>
          <p:sp>
            <p:nvSpPr>
              <p:cNvPr id="1611" name="Text Box 45"/>
              <p:cNvSpPr txBox="true">
                <a:spLocks noChangeArrowheads="true"/>
              </p:cNvSpPr>
              <p:nvPr/>
            </p:nvSpPr>
            <p:spPr bwMode="auto">
              <a:xfrm>
                <a:off x="3770" y="2290"/>
                <a:ext cx="351" cy="17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/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pitchFamily="34" charset="0"/>
                  </a:rPr>
                  <a:t>PPO</a:t>
                </a:r>
                <a:endParaRPr/>
              </a:p>
            </p:txBody>
          </p:sp>
        </p:grpSp>
        <p:grpSp>
          <p:nvGrpSpPr>
            <p:cNvPr id="1612" name="Group 46"/>
            <p:cNvGrpSpPr/>
            <p:nvPr/>
          </p:nvGrpSpPr>
          <p:grpSpPr>
            <a:xfrm>
              <a:off x="1107" y="2473"/>
              <a:ext cx="1842" cy="177"/>
              <a:chOff x="3061" y="2290"/>
              <a:chExt cx="1842" cy="177"/>
            </a:xfrm>
          </p:grpSpPr>
          <p:sp>
            <p:nvSpPr>
              <p:cNvPr id="1613" name="Line 47"/>
              <p:cNvSpPr>
                <a:spLocks noChangeShapeType="true"/>
              </p:cNvSpPr>
              <p:nvPr/>
            </p:nvSpPr>
            <p:spPr bwMode="auto">
              <a:xfrm>
                <a:off x="3061" y="2352"/>
                <a:ext cx="184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xtLst>
                <a:ext uri="{909E8E84-426E-40DD-AFC4-6F175D3DCCD1}"/>
              </a:extLst>
            </p:spPr>
            <p:txBody>
              <a:bodyPr wrap="none" lIns="90487" tIns="44450" rIns="90487" bIns="44450"/>
              <a:lstStyle/>
              <a:p>
                <a:pPr/>
                <a:endParaRPr lang="zh-CN" altLang="en-US"/>
              </a:p>
            </p:txBody>
          </p:sp>
          <p:sp>
            <p:nvSpPr>
              <p:cNvPr id="1614" name="Text Box 48"/>
              <p:cNvSpPr txBox="true">
                <a:spLocks noChangeArrowheads="true"/>
              </p:cNvSpPr>
              <p:nvPr/>
            </p:nvSpPr>
            <p:spPr bwMode="auto">
              <a:xfrm>
                <a:off x="3770" y="2290"/>
                <a:ext cx="345" cy="17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/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pitchFamily="34" charset="0"/>
                  </a:rPr>
                  <a:t>PPN</a:t>
                </a:r>
                <a:endParaRPr/>
              </a:p>
            </p:txBody>
          </p:sp>
        </p:grpSp>
        <p:grpSp>
          <p:nvGrpSpPr>
            <p:cNvPr id="1615" name="Group 49"/>
            <p:cNvGrpSpPr/>
            <p:nvPr/>
          </p:nvGrpSpPr>
          <p:grpSpPr>
            <a:xfrm>
              <a:off x="4130" y="1804"/>
              <a:ext cx="625" cy="177"/>
              <a:chOff x="2445" y="1660"/>
              <a:chExt cx="625" cy="177"/>
            </a:xfrm>
          </p:grpSpPr>
          <p:sp>
            <p:nvSpPr>
              <p:cNvPr id="1616" name="Line 50"/>
              <p:cNvSpPr>
                <a:spLocks noChangeShapeType="true"/>
              </p:cNvSpPr>
              <p:nvPr/>
            </p:nvSpPr>
            <p:spPr bwMode="auto">
              <a:xfrm>
                <a:off x="2445" y="1723"/>
                <a:ext cx="62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xtLst>
                <a:ext uri="{909E8E84-426E-40DD-AFC4-6F175D3DCCD1}"/>
              </a:extLst>
            </p:spPr>
            <p:txBody>
              <a:bodyPr wrap="none" lIns="90487" tIns="44450" rIns="90487" bIns="44450"/>
              <a:lstStyle/>
              <a:p>
                <a:pPr/>
                <a:endParaRPr lang="zh-CN" altLang="en-US"/>
              </a:p>
            </p:txBody>
          </p:sp>
          <p:sp>
            <p:nvSpPr>
              <p:cNvPr id="1617" name="Text Box 51"/>
              <p:cNvSpPr txBox="true">
                <a:spLocks noChangeArrowheads="true"/>
              </p:cNvSpPr>
              <p:nvPr/>
            </p:nvSpPr>
            <p:spPr bwMode="auto">
              <a:xfrm>
                <a:off x="2644" y="1660"/>
                <a:ext cx="282" cy="17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/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pitchFamily="34" charset="0"/>
                  </a:rPr>
                  <a:t>CO</a:t>
                </a:r>
                <a:endParaRPr/>
              </a:p>
            </p:txBody>
          </p:sp>
        </p:grpSp>
        <p:grpSp>
          <p:nvGrpSpPr>
            <p:cNvPr id="1618" name="Group 52"/>
            <p:cNvGrpSpPr/>
            <p:nvPr/>
          </p:nvGrpSpPr>
          <p:grpSpPr>
            <a:xfrm>
              <a:off x="2920" y="1791"/>
              <a:ext cx="1214" cy="177"/>
              <a:chOff x="2445" y="1660"/>
              <a:chExt cx="625" cy="177"/>
            </a:xfrm>
          </p:grpSpPr>
          <p:sp>
            <p:nvSpPr>
              <p:cNvPr id="1619" name="Line 53"/>
              <p:cNvSpPr>
                <a:spLocks noChangeShapeType="true"/>
              </p:cNvSpPr>
              <p:nvPr/>
            </p:nvSpPr>
            <p:spPr bwMode="auto">
              <a:xfrm>
                <a:off x="2445" y="1723"/>
                <a:ext cx="62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xtLst>
                <a:ext uri="{909E8E84-426E-40DD-AFC4-6F175D3DCCD1}"/>
              </a:extLst>
            </p:spPr>
            <p:txBody>
              <a:bodyPr wrap="none" lIns="90487" tIns="44450" rIns="90487" bIns="44450"/>
              <a:lstStyle/>
              <a:p>
                <a:pPr/>
                <a:endParaRPr lang="zh-CN" altLang="en-US"/>
              </a:p>
            </p:txBody>
          </p:sp>
          <p:sp>
            <p:nvSpPr>
              <p:cNvPr id="1620" name="Text Box 54"/>
              <p:cNvSpPr txBox="true">
                <a:spLocks noChangeArrowheads="true"/>
              </p:cNvSpPr>
              <p:nvPr/>
            </p:nvSpPr>
            <p:spPr bwMode="auto">
              <a:xfrm>
                <a:off x="2727" y="1660"/>
                <a:ext cx="116" cy="17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/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pitchFamily="34" charset="0"/>
                  </a:rPr>
                  <a:t>CI</a:t>
                </a:r>
                <a:endParaRPr/>
              </a:p>
            </p:txBody>
          </p:sp>
        </p:grpSp>
        <p:grpSp>
          <p:nvGrpSpPr>
            <p:cNvPr id="1621" name="Group 55"/>
            <p:cNvGrpSpPr/>
            <p:nvPr/>
          </p:nvGrpSpPr>
          <p:grpSpPr>
            <a:xfrm>
              <a:off x="1078" y="1804"/>
              <a:ext cx="1824" cy="177"/>
              <a:chOff x="2445" y="1660"/>
              <a:chExt cx="625" cy="177"/>
            </a:xfrm>
          </p:grpSpPr>
          <p:sp>
            <p:nvSpPr>
              <p:cNvPr id="1622" name="Line 56"/>
              <p:cNvSpPr>
                <a:spLocks noChangeShapeType="true"/>
              </p:cNvSpPr>
              <p:nvPr/>
            </p:nvSpPr>
            <p:spPr bwMode="auto">
              <a:xfrm>
                <a:off x="2445" y="1723"/>
                <a:ext cx="62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xtLst>
                <a:ext uri="{909E8E84-426E-40DD-AFC4-6F175D3DCCD1}"/>
              </a:extLst>
            </p:spPr>
            <p:txBody>
              <a:bodyPr wrap="none" lIns="90487" tIns="44450" rIns="90487" bIns="44450"/>
              <a:lstStyle/>
              <a:p>
                <a:pPr/>
                <a:endParaRPr lang="zh-CN" altLang="en-US"/>
              </a:p>
            </p:txBody>
          </p:sp>
          <p:sp>
            <p:nvSpPr>
              <p:cNvPr id="1623" name="Text Box 57"/>
              <p:cNvSpPr txBox="true">
                <a:spLocks noChangeArrowheads="true"/>
              </p:cNvSpPr>
              <p:nvPr/>
            </p:nvSpPr>
            <p:spPr bwMode="auto">
              <a:xfrm>
                <a:off x="2740" y="1660"/>
                <a:ext cx="91" cy="17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/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pitchFamily="34" charset="0"/>
                  </a:rPr>
                  <a:t>CT</a:t>
                </a:r>
                <a:endParaRPr/>
              </a:p>
            </p:txBody>
          </p:sp>
        </p:grpSp>
      </p:grpSp>
      <p:graphicFrame>
        <p:nvGraphicFramePr>
          <p:cNvPr id="1624" name="Group 58"/>
          <p:cNvGraphicFramePr/>
          <p:nvPr/>
        </p:nvGraphicFramePr>
        <p:xfrm>
          <a:off x="228600" y="3352800"/>
          <a:ext cx="8686800" cy="3276604"/>
        </p:xfrm>
        <a:graphic>
          <a:graphicData uri="http://schemas.openxmlformats.org/drawingml/2006/table">
            <a:tbl>
              <a:tblPr/>
              <a:tblGrid>
                <a:gridCol w="620713">
                  <a:extLst>
                    <a:ext uri="{9D8B030D-6E8A-4147-A177-3AD203B41FA5}">
                      <a16:colId val="1"/>
                    </a:ext>
                  </a:extLst>
                </a:gridCol>
                <a:gridCol w="619125">
                  <a:extLst>
                    <a:ext uri="{9D8B030D-6E8A-4147-A177-3AD203B41FA5}">
                      <a16:colId val="2"/>
                    </a:ext>
                  </a:extLst>
                </a:gridCol>
                <a:gridCol w="620712">
                  <a:extLst>
                    <a:ext uri="{9D8B030D-6E8A-4147-A177-3AD203B41FA5}">
                      <a16:colId val="3"/>
                    </a:ext>
                  </a:extLst>
                </a:gridCol>
                <a:gridCol w="622300">
                  <a:extLst>
                    <a:ext uri="{9D8B030D-6E8A-4147-A177-3AD203B41FA5}">
                      <a16:colId val="4"/>
                    </a:ext>
                  </a:extLst>
                </a:gridCol>
                <a:gridCol w="620713">
                  <a:extLst>
                    <a:ext uri="{9D8B030D-6E8A-4147-A177-3AD203B41FA5}">
                      <a16:colId val="5"/>
                    </a:ext>
                  </a:extLst>
                </a:gridCol>
                <a:gridCol w="619125">
                  <a:extLst>
                    <a:ext uri="{9D8B030D-6E8A-4147-A177-3AD203B41FA5}">
                      <a16:colId val="6"/>
                    </a:ext>
                  </a:extLst>
                </a:gridCol>
                <a:gridCol w="620712">
                  <a:extLst>
                    <a:ext uri="{9D8B030D-6E8A-4147-A177-3AD203B41FA5}">
                      <a16:colId val="7"/>
                    </a:ext>
                  </a:extLst>
                </a:gridCol>
                <a:gridCol w="620713">
                  <a:extLst>
                    <a:ext uri="{9D8B030D-6E8A-4147-A177-3AD203B41FA5}">
                      <a16:colId val="8"/>
                    </a:ext>
                  </a:extLst>
                </a:gridCol>
                <a:gridCol w="619125">
                  <a:extLst>
                    <a:ext uri="{9D8B030D-6E8A-4147-A177-3AD203B41FA5}">
                      <a16:colId val="9"/>
                    </a:ext>
                  </a:extLst>
                </a:gridCol>
                <a:gridCol w="620712">
                  <a:extLst>
                    <a:ext uri="{9D8B030D-6E8A-4147-A177-3AD203B41FA5}">
                      <a16:colId val="10"/>
                    </a:ext>
                  </a:extLst>
                </a:gridCol>
                <a:gridCol w="622300">
                  <a:extLst>
                    <a:ext uri="{9D8B030D-6E8A-4147-A177-3AD203B41FA5}">
                      <a16:colId val="11"/>
                    </a:ext>
                  </a:extLst>
                </a:gridCol>
                <a:gridCol w="620713">
                  <a:extLst>
                    <a:ext uri="{9D8B030D-6E8A-4147-A177-3AD203B41FA5}">
                      <a16:colId val="12"/>
                    </a:ext>
                  </a:extLst>
                </a:gridCol>
                <a:gridCol w="619125">
                  <a:extLst>
                    <a:ext uri="{9D8B030D-6E8A-4147-A177-3AD203B41FA5}">
                      <a16:colId val="13"/>
                    </a:ext>
                  </a:extLst>
                </a:gridCol>
                <a:gridCol w="620712">
                  <a:extLst>
                    <a:ext uri="{9D8B030D-6E8A-4147-A177-3AD203B41FA5}">
                      <a16:colId val="14"/>
                    </a:ext>
                  </a:extLst>
                </a:gridCol>
              </a:tblGrid>
              <a:tr h="363538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Idx</a:t>
                      </a:r>
                      <a:endParaRPr/>
                    </a:p>
                  </a:txBody>
                  <a:tcPr marL="90487" marR="90487" marT="44450" marB="444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Tag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Valid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B0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B1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B2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B3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Idx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Tag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Valid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B0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B1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B2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B3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363538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</a:t>
                      </a:r>
                      <a:endParaRPr/>
                    </a:p>
                  </a:txBody>
                  <a:tcPr marL="90487" marR="90487" marT="44450" marB="444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19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99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11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23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11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8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24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3A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00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51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89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363538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</a:t>
                      </a:r>
                      <a:endParaRPr/>
                    </a:p>
                  </a:txBody>
                  <a:tcPr marL="90487" marR="90487" marT="44450" marB="444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15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9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2D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363538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2</a:t>
                      </a:r>
                      <a:endParaRPr/>
                    </a:p>
                  </a:txBody>
                  <a:tcPr marL="90487" marR="90487" marT="44450" marB="444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1B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00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02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04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08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A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2D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93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15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DA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3B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363538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3</a:t>
                      </a:r>
                      <a:endParaRPr/>
                    </a:p>
                  </a:txBody>
                  <a:tcPr marL="90487" marR="90487" marT="44450" marB="444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36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B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0B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368300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4</a:t>
                      </a:r>
                      <a:endParaRPr/>
                    </a:p>
                  </a:txBody>
                  <a:tcPr marL="90487" marR="90487" marT="44450" marB="444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32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43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6D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8F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09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C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12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363538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5</a:t>
                      </a:r>
                      <a:endParaRPr/>
                    </a:p>
                  </a:txBody>
                  <a:tcPr marL="90487" marR="90487" marT="44450" marB="444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0D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36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72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F0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1D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D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16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04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96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34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15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  <a:tr h="363538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6</a:t>
                      </a:r>
                      <a:endParaRPr/>
                    </a:p>
                  </a:txBody>
                  <a:tcPr marL="90487" marR="90487" marT="44450" marB="444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31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E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13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83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77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1B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D3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val="8"/>
                  </a:ext>
                </a:extLst>
              </a:tr>
              <a:tr h="363538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7</a:t>
                      </a:r>
                      <a:endParaRPr/>
                    </a:p>
                  </a:txBody>
                  <a:tcPr marL="90487" marR="90487" marT="44450" marB="444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16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11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C2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DF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03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F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14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val="9"/>
                  </a:ext>
                </a:extLst>
              </a:tr>
            </a:tbl>
          </a:graphicData>
        </a:graphic>
      </p:graphicFrame>
      <p:sp>
        <p:nvSpPr>
          <p:cNvPr id="1625" name="Rectangle 3"/>
          <p:cNvSpPr txBox="true">
            <a:spLocks noChangeArrowheads="true"/>
          </p:cNvSpPr>
          <p:nvPr/>
        </p:nvSpPr>
        <p:spPr bwMode="auto">
          <a:xfrm>
            <a:off x="152400" y="1447800"/>
            <a:ext cx="266700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 marL="266700" indent="-2667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533400" indent="-2667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>
              <a:spcBef>
                <a:spcPct val="20000"/>
              </a:spcBef>
              <a:buFontTx/>
              <a:buChar char="•"/>
            </a:pPr>
            <a:r>
              <a:rPr lang="en-US" altLang="zh-CN" sz="2400" b="false"/>
              <a:t>Cache</a:t>
            </a:r>
            <a:endParaRPr/>
          </a:p>
          <a:p>
            <a:pPr lvl="1">
              <a:spcBef>
                <a:spcPct val="20000"/>
              </a:spcBef>
              <a:buFontTx/>
              <a:buChar char="–"/>
            </a:pPr>
            <a:r>
              <a:rPr lang="en-US" altLang="zh-CN" b="false"/>
              <a:t>16 lines</a:t>
            </a:r>
            <a:endParaRPr/>
          </a:p>
          <a:p>
            <a:pPr lvl="1">
              <a:spcBef>
                <a:spcPct val="20000"/>
              </a:spcBef>
              <a:buFontTx/>
              <a:buChar char="–"/>
            </a:pPr>
            <a:r>
              <a:rPr lang="en-US" altLang="zh-CN" b="false"/>
              <a:t>4-byte line size</a:t>
            </a:r>
            <a:endParaRPr/>
          </a:p>
          <a:p>
            <a:pPr lvl="1">
              <a:spcBef>
                <a:spcPct val="20000"/>
              </a:spcBef>
              <a:buFontTx/>
              <a:buChar char="–"/>
            </a:pPr>
            <a:r>
              <a:rPr lang="en-US" altLang="zh-CN" b="false"/>
              <a:t>Direct mapped</a:t>
            </a:r>
            <a:endParaRPr lang="zh-CN" altLang="en-US" b="false"/>
          </a:p>
        </p:txBody>
      </p:sp>
      <p:sp>
        <p:nvSpPr>
          <p:cNvPr id="1626" name=""/>
          <p:cNvSpPr txBox="true"/>
          <p:nvPr/>
        </p:nvSpPr>
        <p:spPr>
          <a:xfrm rot="0" flipH="false" flipV="false">
            <a:off x="339634" y="2959100"/>
            <a:ext cx="2633754" cy="393700"/>
          </a:xfrm>
          <a:prstGeom prst="rect">
            <a:avLst/>
          </a:prstGeom>
          <a:ln w="6350">
            <a:prstDash val="solid"/>
          </a:ln>
        </p:spPr>
        <p:txBody>
          <a:bodyPr wrap="square">
            <a:spAutoFit/>
          </a:bodyPr>
          <a:lstStyle/>
          <a:p>
            <a:pPr/>
            <a:r>
              <a:rPr lang="en-US"/>
              <a:t>L1 cache snapshot:</a:t>
            </a:r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>
  <p:cSld>
    <p:spTree>
      <p:nvGrpSpPr>
        <p:cNvPr id="16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9CFE52E9-ADB6-D049-AFDE-417D85A5E0C0}" type="slidenum">
              <a:rPr lang="zh-CN" altLang="en-US" sz="1400" b="false">
                <a:latin typeface="Times New Roman" panose="02020603050405020304" charset="0"/>
              </a:rPr>
              <a:t>92</a:t>
            </a:fld>
            <a:endParaRPr lang="en-US" altLang="zh-CN" sz="1400" b="false">
              <a:latin typeface="Times New Roman" panose="02020603050405020304" charset="0"/>
            </a:endParaRPr>
          </a:p>
        </p:txBody>
      </p:sp>
      <p:sp>
        <p:nvSpPr>
          <p:cNvPr id="1629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>
                <a:latin typeface="Comic Sans MS"/>
                <a:ea typeface="宋体"/>
                <a:cs typeface="宋体"/>
              </a:rPr>
              <a:t>课堂练习</a:t>
            </a:r>
            <a:endParaRPr/>
          </a:p>
        </p:txBody>
      </p:sp>
      <p:sp>
        <p:nvSpPr>
          <p:cNvPr id="1630" name="Rectangle 69"/>
          <p:cNvSpPr>
            <a:spLocks noChangeArrowheads="true"/>
          </p:cNvSpPr>
          <p:nvPr/>
        </p:nvSpPr>
        <p:spPr bwMode="auto">
          <a:xfrm>
            <a:off x="457200" y="1447800"/>
            <a:ext cx="14255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>
              <a:lnSpc>
                <a:spcPct val="140000"/>
              </a:lnSpc>
            </a:pPr>
            <a:r>
              <a:rPr lang="en-US" altLang="zh-CN" b="false"/>
              <a:t>PA: </a:t>
            </a:r>
            <a:r>
              <a:rPr lang="en-US" altLang="zh-CN" u="sng"/>
              <a:t>0x354</a:t>
            </a:r>
            <a:endParaRPr/>
          </a:p>
        </p:txBody>
      </p:sp>
      <p:grpSp>
        <p:nvGrpSpPr>
          <p:cNvPr id="1631" name="Group 126"/>
          <p:cNvGrpSpPr/>
          <p:nvPr/>
        </p:nvGrpSpPr>
        <p:grpSpPr>
          <a:xfrm>
            <a:off x="609600" y="1905000"/>
            <a:ext cx="5865813" cy="1397000"/>
            <a:chOff x="1248" y="2624"/>
            <a:chExt cx="3695" cy="880"/>
          </a:xfrm>
        </p:grpSpPr>
        <p:grpSp>
          <p:nvGrpSpPr>
            <p:cNvPr id="1632" name="Group 127"/>
            <p:cNvGrpSpPr/>
            <p:nvPr/>
          </p:nvGrpSpPr>
          <p:grpSpPr>
            <a:xfrm>
              <a:off x="1248" y="2624"/>
              <a:ext cx="3695" cy="880"/>
              <a:chOff x="1078" y="1776"/>
              <a:chExt cx="3695" cy="880"/>
            </a:xfrm>
          </p:grpSpPr>
          <p:grpSp>
            <p:nvGrpSpPr>
              <p:cNvPr id="1633" name="Group 128"/>
              <p:cNvGrpSpPr/>
              <p:nvPr/>
            </p:nvGrpSpPr>
            <p:grpSpPr>
              <a:xfrm>
                <a:off x="1078" y="2012"/>
                <a:ext cx="3684" cy="384"/>
                <a:chOff x="1219" y="2880"/>
                <a:chExt cx="3684" cy="384"/>
              </a:xfrm>
            </p:grpSpPr>
            <p:grpSp>
              <p:nvGrpSpPr>
                <p:cNvPr id="1634" name="Group 129"/>
                <p:cNvGrpSpPr/>
                <p:nvPr/>
              </p:nvGrpSpPr>
              <p:grpSpPr>
                <a:xfrm>
                  <a:off x="1219" y="2880"/>
                  <a:ext cx="307" cy="384"/>
                  <a:chOff x="605" y="1776"/>
                  <a:chExt cx="307" cy="384"/>
                </a:xfrm>
              </p:grpSpPr>
              <p:sp>
                <p:nvSpPr>
                  <p:cNvPr id="1635" name="Rectangle 130"/>
                  <p:cNvSpPr>
                    <a:spLocks noChangeArrowheads="true"/>
                  </p:cNvSpPr>
                  <p:nvPr/>
                </p:nvSpPr>
                <p:spPr bwMode="auto">
                  <a:xfrm>
                    <a:off x="605" y="1968"/>
                    <a:ext cx="307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/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1pPr>
                    <a:lvl2pPr marL="742950" indent="-28575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2pPr>
                    <a:lvl3pPr marL="11430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3pPr>
                    <a:lvl4pPr marL="16002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4pPr>
                    <a:lvl5pPr marL="20574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5pPr>
                    <a:lvl6pPr marL="25146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6pPr>
                    <a:lvl7pPr marL="29718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7pPr>
                    <a:lvl8pPr marL="34290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8pPr>
                    <a:lvl9pPr marL="38862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9pPr>
                  </a:lstStyle>
                  <a:p>
                    <a:pPr/>
                    <a:endParaRPr lang="zh-CN" altLang="en-US"/>
                  </a:p>
                </p:txBody>
              </p:sp>
              <p:sp>
                <p:nvSpPr>
                  <p:cNvPr id="1636" name="Rectangle 131"/>
                  <p:cNvSpPr>
                    <a:spLocks noChangeArrowheads="true"/>
                  </p:cNvSpPr>
                  <p:nvPr/>
                </p:nvSpPr>
                <p:spPr bwMode="auto">
                  <a:xfrm>
                    <a:off x="605" y="1776"/>
                    <a:ext cx="307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/>
                    <a:ext uri="{91240B29-F687-4F45-9708-019B960494DF}"/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1pPr>
                    <a:lvl2pPr marL="742950" indent="-28575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2pPr>
                    <a:lvl3pPr marL="11430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3pPr>
                    <a:lvl4pPr marL="16002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4pPr>
                    <a:lvl5pPr marL="20574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5pPr>
                    <a:lvl6pPr marL="25146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6pPr>
                    <a:lvl7pPr marL="29718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7pPr>
                    <a:lvl8pPr marL="34290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8pPr>
                    <a:lvl9pPr marL="38862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9pPr>
                  </a:lstStyle>
                  <a:p>
                    <a:pPr algn="ctr">
                      <a:lnSpc>
                        <a:spcPct val="90000"/>
                      </a:lnSpc>
                      <a:spcBef>
                        <a:spcPct val="30000"/>
                      </a:spcBef>
                    </a:pPr>
                    <a:r>
                      <a:rPr lang="en-US" altLang="zh-CN" sz="1400">
                        <a:solidFill>
                          <a:schemeClr val="tx2"/>
                        </a:solidFill>
                        <a:latin typeface="Helvetica" pitchFamily="34" charset="0"/>
                      </a:rPr>
                      <a:t>11</a:t>
                    </a:r>
                    <a:endParaRPr/>
                  </a:p>
                </p:txBody>
              </p:sp>
            </p:grpSp>
            <p:grpSp>
              <p:nvGrpSpPr>
                <p:cNvPr id="1637" name="Group 132"/>
                <p:cNvGrpSpPr/>
                <p:nvPr/>
              </p:nvGrpSpPr>
              <p:grpSpPr>
                <a:xfrm>
                  <a:off x="1526" y="2880"/>
                  <a:ext cx="307" cy="384"/>
                  <a:chOff x="605" y="1776"/>
                  <a:chExt cx="307" cy="384"/>
                </a:xfrm>
              </p:grpSpPr>
              <p:sp>
                <p:nvSpPr>
                  <p:cNvPr id="1638" name="Rectangle 133"/>
                  <p:cNvSpPr>
                    <a:spLocks noChangeArrowheads="true"/>
                  </p:cNvSpPr>
                  <p:nvPr/>
                </p:nvSpPr>
                <p:spPr bwMode="auto">
                  <a:xfrm>
                    <a:off x="605" y="1968"/>
                    <a:ext cx="307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/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1pPr>
                    <a:lvl2pPr marL="742950" indent="-28575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2pPr>
                    <a:lvl3pPr marL="11430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3pPr>
                    <a:lvl4pPr marL="16002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4pPr>
                    <a:lvl5pPr marL="20574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5pPr>
                    <a:lvl6pPr marL="25146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6pPr>
                    <a:lvl7pPr marL="29718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7pPr>
                    <a:lvl8pPr marL="34290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8pPr>
                    <a:lvl9pPr marL="38862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9pPr>
                  </a:lstStyle>
                  <a:p>
                    <a:pPr/>
                    <a:endParaRPr lang="zh-CN" altLang="en-US"/>
                  </a:p>
                </p:txBody>
              </p:sp>
              <p:sp>
                <p:nvSpPr>
                  <p:cNvPr id="1639" name="Rectangle 134"/>
                  <p:cNvSpPr>
                    <a:spLocks noChangeArrowheads="true"/>
                  </p:cNvSpPr>
                  <p:nvPr/>
                </p:nvSpPr>
                <p:spPr bwMode="auto">
                  <a:xfrm>
                    <a:off x="605" y="1776"/>
                    <a:ext cx="307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/>
                    <a:ext uri="{91240B29-F687-4F45-9708-019B960494DF}"/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1pPr>
                    <a:lvl2pPr marL="742950" indent="-28575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2pPr>
                    <a:lvl3pPr marL="11430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3pPr>
                    <a:lvl4pPr marL="16002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4pPr>
                    <a:lvl5pPr marL="20574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5pPr>
                    <a:lvl6pPr marL="25146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6pPr>
                    <a:lvl7pPr marL="29718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7pPr>
                    <a:lvl8pPr marL="34290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8pPr>
                    <a:lvl9pPr marL="38862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9pPr>
                  </a:lstStyle>
                  <a:p>
                    <a:pPr algn="ctr">
                      <a:lnSpc>
                        <a:spcPct val="90000"/>
                      </a:lnSpc>
                      <a:spcBef>
                        <a:spcPct val="30000"/>
                      </a:spcBef>
                    </a:pPr>
                    <a:r>
                      <a:rPr lang="en-US" altLang="zh-CN" sz="1400">
                        <a:solidFill>
                          <a:schemeClr val="tx2"/>
                        </a:solidFill>
                        <a:latin typeface="Helvetica" pitchFamily="34" charset="0"/>
                      </a:rPr>
                      <a:t>10</a:t>
                    </a:r>
                    <a:endParaRPr/>
                  </a:p>
                </p:txBody>
              </p:sp>
            </p:grpSp>
            <p:grpSp>
              <p:nvGrpSpPr>
                <p:cNvPr id="1640" name="Group 135"/>
                <p:cNvGrpSpPr/>
                <p:nvPr/>
              </p:nvGrpSpPr>
              <p:grpSpPr>
                <a:xfrm>
                  <a:off x="1833" y="2880"/>
                  <a:ext cx="307" cy="384"/>
                  <a:chOff x="605" y="1776"/>
                  <a:chExt cx="307" cy="384"/>
                </a:xfrm>
              </p:grpSpPr>
              <p:sp>
                <p:nvSpPr>
                  <p:cNvPr id="1641" name="Rectangle 136"/>
                  <p:cNvSpPr>
                    <a:spLocks noChangeArrowheads="true"/>
                  </p:cNvSpPr>
                  <p:nvPr/>
                </p:nvSpPr>
                <p:spPr bwMode="auto">
                  <a:xfrm>
                    <a:off x="605" y="1968"/>
                    <a:ext cx="307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/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1pPr>
                    <a:lvl2pPr marL="742950" indent="-28575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2pPr>
                    <a:lvl3pPr marL="11430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3pPr>
                    <a:lvl4pPr marL="16002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4pPr>
                    <a:lvl5pPr marL="20574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5pPr>
                    <a:lvl6pPr marL="25146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6pPr>
                    <a:lvl7pPr marL="29718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7pPr>
                    <a:lvl8pPr marL="34290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8pPr>
                    <a:lvl9pPr marL="38862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9pPr>
                  </a:lstStyle>
                  <a:p>
                    <a:pPr/>
                    <a:endParaRPr lang="zh-CN" altLang="en-US"/>
                  </a:p>
                </p:txBody>
              </p:sp>
              <p:sp>
                <p:nvSpPr>
                  <p:cNvPr id="1642" name="Rectangle 137"/>
                  <p:cNvSpPr>
                    <a:spLocks noChangeArrowheads="true"/>
                  </p:cNvSpPr>
                  <p:nvPr/>
                </p:nvSpPr>
                <p:spPr bwMode="auto">
                  <a:xfrm>
                    <a:off x="605" y="1776"/>
                    <a:ext cx="307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/>
                    <a:ext uri="{91240B29-F687-4F45-9708-019B960494DF}"/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1pPr>
                    <a:lvl2pPr marL="742950" indent="-28575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2pPr>
                    <a:lvl3pPr marL="11430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3pPr>
                    <a:lvl4pPr marL="16002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4pPr>
                    <a:lvl5pPr marL="20574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5pPr>
                    <a:lvl6pPr marL="25146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6pPr>
                    <a:lvl7pPr marL="29718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7pPr>
                    <a:lvl8pPr marL="34290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8pPr>
                    <a:lvl9pPr marL="38862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9pPr>
                  </a:lstStyle>
                  <a:p>
                    <a:pPr algn="ctr">
                      <a:lnSpc>
                        <a:spcPct val="90000"/>
                      </a:lnSpc>
                      <a:spcBef>
                        <a:spcPct val="30000"/>
                      </a:spcBef>
                    </a:pPr>
                    <a:r>
                      <a:rPr lang="en-US" altLang="zh-CN" sz="1400">
                        <a:solidFill>
                          <a:schemeClr val="tx2"/>
                        </a:solidFill>
                        <a:latin typeface="Helvetica" pitchFamily="34" charset="0"/>
                      </a:rPr>
                      <a:t>9</a:t>
                    </a:r>
                    <a:endParaRPr/>
                  </a:p>
                </p:txBody>
              </p:sp>
            </p:grpSp>
            <p:grpSp>
              <p:nvGrpSpPr>
                <p:cNvPr id="1643" name="Group 138"/>
                <p:cNvGrpSpPr/>
                <p:nvPr/>
              </p:nvGrpSpPr>
              <p:grpSpPr>
                <a:xfrm>
                  <a:off x="2140" y="2880"/>
                  <a:ext cx="307" cy="384"/>
                  <a:chOff x="605" y="1776"/>
                  <a:chExt cx="307" cy="384"/>
                </a:xfrm>
              </p:grpSpPr>
              <p:sp>
                <p:nvSpPr>
                  <p:cNvPr id="1644" name="Rectangle 139"/>
                  <p:cNvSpPr>
                    <a:spLocks noChangeArrowheads="true"/>
                  </p:cNvSpPr>
                  <p:nvPr/>
                </p:nvSpPr>
                <p:spPr bwMode="auto">
                  <a:xfrm>
                    <a:off x="605" y="1968"/>
                    <a:ext cx="307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/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1pPr>
                    <a:lvl2pPr marL="742950" indent="-28575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2pPr>
                    <a:lvl3pPr marL="11430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3pPr>
                    <a:lvl4pPr marL="16002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4pPr>
                    <a:lvl5pPr marL="20574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5pPr>
                    <a:lvl6pPr marL="25146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6pPr>
                    <a:lvl7pPr marL="29718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7pPr>
                    <a:lvl8pPr marL="34290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8pPr>
                    <a:lvl9pPr marL="38862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9pPr>
                  </a:lstStyle>
                  <a:p>
                    <a:pPr/>
                    <a:endParaRPr lang="zh-CN" altLang="en-US"/>
                  </a:p>
                </p:txBody>
              </p:sp>
              <p:sp>
                <p:nvSpPr>
                  <p:cNvPr id="1645" name="Rectangle 140"/>
                  <p:cNvSpPr>
                    <a:spLocks noChangeArrowheads="true"/>
                  </p:cNvSpPr>
                  <p:nvPr/>
                </p:nvSpPr>
                <p:spPr bwMode="auto">
                  <a:xfrm>
                    <a:off x="605" y="1776"/>
                    <a:ext cx="307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/>
                    <a:ext uri="{91240B29-F687-4F45-9708-019B960494DF}"/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1pPr>
                    <a:lvl2pPr marL="742950" indent="-28575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2pPr>
                    <a:lvl3pPr marL="11430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3pPr>
                    <a:lvl4pPr marL="16002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4pPr>
                    <a:lvl5pPr marL="20574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5pPr>
                    <a:lvl6pPr marL="25146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6pPr>
                    <a:lvl7pPr marL="29718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7pPr>
                    <a:lvl8pPr marL="34290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8pPr>
                    <a:lvl9pPr marL="38862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9pPr>
                  </a:lstStyle>
                  <a:p>
                    <a:pPr algn="ctr">
                      <a:lnSpc>
                        <a:spcPct val="90000"/>
                      </a:lnSpc>
                      <a:spcBef>
                        <a:spcPct val="30000"/>
                      </a:spcBef>
                    </a:pPr>
                    <a:r>
                      <a:rPr lang="en-US" altLang="zh-CN" sz="1400">
                        <a:solidFill>
                          <a:schemeClr val="tx2"/>
                        </a:solidFill>
                        <a:latin typeface="Helvetica" pitchFamily="34" charset="0"/>
                      </a:rPr>
                      <a:t>8</a:t>
                    </a:r>
                    <a:endParaRPr/>
                  </a:p>
                </p:txBody>
              </p:sp>
            </p:grpSp>
            <p:grpSp>
              <p:nvGrpSpPr>
                <p:cNvPr id="1646" name="Group 141"/>
                <p:cNvGrpSpPr/>
                <p:nvPr/>
              </p:nvGrpSpPr>
              <p:grpSpPr>
                <a:xfrm>
                  <a:off x="2447" y="2880"/>
                  <a:ext cx="307" cy="384"/>
                  <a:chOff x="605" y="1776"/>
                  <a:chExt cx="307" cy="384"/>
                </a:xfrm>
              </p:grpSpPr>
              <p:sp>
                <p:nvSpPr>
                  <p:cNvPr id="1647" name="Rectangle 142"/>
                  <p:cNvSpPr>
                    <a:spLocks noChangeArrowheads="true"/>
                  </p:cNvSpPr>
                  <p:nvPr/>
                </p:nvSpPr>
                <p:spPr bwMode="auto">
                  <a:xfrm>
                    <a:off x="605" y="1968"/>
                    <a:ext cx="307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/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1pPr>
                    <a:lvl2pPr marL="742950" indent="-28575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2pPr>
                    <a:lvl3pPr marL="11430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3pPr>
                    <a:lvl4pPr marL="16002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4pPr>
                    <a:lvl5pPr marL="20574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5pPr>
                    <a:lvl6pPr marL="25146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6pPr>
                    <a:lvl7pPr marL="29718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7pPr>
                    <a:lvl8pPr marL="34290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8pPr>
                    <a:lvl9pPr marL="38862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9pPr>
                  </a:lstStyle>
                  <a:p>
                    <a:pPr/>
                    <a:endParaRPr lang="zh-CN" altLang="en-US"/>
                  </a:p>
                </p:txBody>
              </p:sp>
              <p:sp>
                <p:nvSpPr>
                  <p:cNvPr id="1648" name="Rectangle 143"/>
                  <p:cNvSpPr>
                    <a:spLocks noChangeArrowheads="true"/>
                  </p:cNvSpPr>
                  <p:nvPr/>
                </p:nvSpPr>
                <p:spPr bwMode="auto">
                  <a:xfrm>
                    <a:off x="605" y="1776"/>
                    <a:ext cx="307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/>
                    <a:ext uri="{91240B29-F687-4F45-9708-019B960494DF}"/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1pPr>
                    <a:lvl2pPr marL="742950" indent="-28575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2pPr>
                    <a:lvl3pPr marL="11430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3pPr>
                    <a:lvl4pPr marL="16002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4pPr>
                    <a:lvl5pPr marL="20574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5pPr>
                    <a:lvl6pPr marL="25146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6pPr>
                    <a:lvl7pPr marL="29718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7pPr>
                    <a:lvl8pPr marL="34290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8pPr>
                    <a:lvl9pPr marL="38862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9pPr>
                  </a:lstStyle>
                  <a:p>
                    <a:pPr algn="ctr">
                      <a:lnSpc>
                        <a:spcPct val="90000"/>
                      </a:lnSpc>
                      <a:spcBef>
                        <a:spcPct val="30000"/>
                      </a:spcBef>
                    </a:pPr>
                    <a:r>
                      <a:rPr lang="en-US" altLang="zh-CN" sz="1400">
                        <a:solidFill>
                          <a:schemeClr val="tx2"/>
                        </a:solidFill>
                        <a:latin typeface="Helvetica" pitchFamily="34" charset="0"/>
                      </a:rPr>
                      <a:t>7</a:t>
                    </a:r>
                    <a:endParaRPr/>
                  </a:p>
                </p:txBody>
              </p:sp>
            </p:grpSp>
            <p:grpSp>
              <p:nvGrpSpPr>
                <p:cNvPr id="1649" name="Group 144"/>
                <p:cNvGrpSpPr/>
                <p:nvPr/>
              </p:nvGrpSpPr>
              <p:grpSpPr>
                <a:xfrm>
                  <a:off x="2754" y="2880"/>
                  <a:ext cx="307" cy="384"/>
                  <a:chOff x="605" y="1776"/>
                  <a:chExt cx="307" cy="384"/>
                </a:xfrm>
              </p:grpSpPr>
              <p:sp>
                <p:nvSpPr>
                  <p:cNvPr id="1650" name="Rectangle 145"/>
                  <p:cNvSpPr>
                    <a:spLocks noChangeArrowheads="true"/>
                  </p:cNvSpPr>
                  <p:nvPr/>
                </p:nvSpPr>
                <p:spPr bwMode="auto">
                  <a:xfrm>
                    <a:off x="605" y="1968"/>
                    <a:ext cx="307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/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1pPr>
                    <a:lvl2pPr marL="742950" indent="-28575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2pPr>
                    <a:lvl3pPr marL="11430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3pPr>
                    <a:lvl4pPr marL="16002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4pPr>
                    <a:lvl5pPr marL="20574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5pPr>
                    <a:lvl6pPr marL="25146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6pPr>
                    <a:lvl7pPr marL="29718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7pPr>
                    <a:lvl8pPr marL="34290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8pPr>
                    <a:lvl9pPr marL="38862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9pPr>
                  </a:lstStyle>
                  <a:p>
                    <a:pPr/>
                    <a:endParaRPr lang="zh-CN" altLang="en-US"/>
                  </a:p>
                </p:txBody>
              </p:sp>
              <p:sp>
                <p:nvSpPr>
                  <p:cNvPr id="1651" name="Rectangle 146"/>
                  <p:cNvSpPr>
                    <a:spLocks noChangeArrowheads="true"/>
                  </p:cNvSpPr>
                  <p:nvPr/>
                </p:nvSpPr>
                <p:spPr bwMode="auto">
                  <a:xfrm>
                    <a:off x="605" y="1776"/>
                    <a:ext cx="307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/>
                    <a:ext uri="{91240B29-F687-4F45-9708-019B960494DF}"/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1pPr>
                    <a:lvl2pPr marL="742950" indent="-28575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2pPr>
                    <a:lvl3pPr marL="11430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3pPr>
                    <a:lvl4pPr marL="16002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4pPr>
                    <a:lvl5pPr marL="20574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5pPr>
                    <a:lvl6pPr marL="25146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6pPr>
                    <a:lvl7pPr marL="29718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7pPr>
                    <a:lvl8pPr marL="34290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8pPr>
                    <a:lvl9pPr marL="38862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9pPr>
                  </a:lstStyle>
                  <a:p>
                    <a:pPr algn="ctr">
                      <a:lnSpc>
                        <a:spcPct val="90000"/>
                      </a:lnSpc>
                      <a:spcBef>
                        <a:spcPct val="30000"/>
                      </a:spcBef>
                    </a:pPr>
                    <a:r>
                      <a:rPr lang="en-US" altLang="zh-CN" sz="1400">
                        <a:solidFill>
                          <a:schemeClr val="tx2"/>
                        </a:solidFill>
                        <a:latin typeface="Helvetica" pitchFamily="34" charset="0"/>
                      </a:rPr>
                      <a:t>6</a:t>
                    </a:r>
                    <a:endParaRPr/>
                  </a:p>
                </p:txBody>
              </p:sp>
            </p:grpSp>
            <p:grpSp>
              <p:nvGrpSpPr>
                <p:cNvPr id="1652" name="Group 147"/>
                <p:cNvGrpSpPr/>
                <p:nvPr/>
              </p:nvGrpSpPr>
              <p:grpSpPr>
                <a:xfrm>
                  <a:off x="3061" y="2880"/>
                  <a:ext cx="307" cy="384"/>
                  <a:chOff x="605" y="1776"/>
                  <a:chExt cx="307" cy="384"/>
                </a:xfrm>
              </p:grpSpPr>
              <p:sp>
                <p:nvSpPr>
                  <p:cNvPr id="1653" name="Rectangle 148"/>
                  <p:cNvSpPr>
                    <a:spLocks noChangeArrowheads="true"/>
                  </p:cNvSpPr>
                  <p:nvPr/>
                </p:nvSpPr>
                <p:spPr bwMode="auto">
                  <a:xfrm>
                    <a:off x="605" y="1968"/>
                    <a:ext cx="307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/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1pPr>
                    <a:lvl2pPr marL="742950" indent="-28575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2pPr>
                    <a:lvl3pPr marL="11430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3pPr>
                    <a:lvl4pPr marL="16002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4pPr>
                    <a:lvl5pPr marL="20574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5pPr>
                    <a:lvl6pPr marL="25146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6pPr>
                    <a:lvl7pPr marL="29718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7pPr>
                    <a:lvl8pPr marL="34290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8pPr>
                    <a:lvl9pPr marL="38862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9pPr>
                  </a:lstStyle>
                  <a:p>
                    <a:pPr/>
                    <a:endParaRPr lang="zh-CN" altLang="en-US"/>
                  </a:p>
                </p:txBody>
              </p:sp>
              <p:sp>
                <p:nvSpPr>
                  <p:cNvPr id="1654" name="Rectangle 149"/>
                  <p:cNvSpPr>
                    <a:spLocks noChangeArrowheads="true"/>
                  </p:cNvSpPr>
                  <p:nvPr/>
                </p:nvSpPr>
                <p:spPr bwMode="auto">
                  <a:xfrm>
                    <a:off x="605" y="1776"/>
                    <a:ext cx="307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/>
                    <a:ext uri="{91240B29-F687-4F45-9708-019B960494DF}"/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1pPr>
                    <a:lvl2pPr marL="742950" indent="-28575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2pPr>
                    <a:lvl3pPr marL="11430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3pPr>
                    <a:lvl4pPr marL="16002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4pPr>
                    <a:lvl5pPr marL="20574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5pPr>
                    <a:lvl6pPr marL="25146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6pPr>
                    <a:lvl7pPr marL="29718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7pPr>
                    <a:lvl8pPr marL="34290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8pPr>
                    <a:lvl9pPr marL="38862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9pPr>
                  </a:lstStyle>
                  <a:p>
                    <a:pPr algn="ctr">
                      <a:lnSpc>
                        <a:spcPct val="90000"/>
                      </a:lnSpc>
                      <a:spcBef>
                        <a:spcPct val="30000"/>
                      </a:spcBef>
                    </a:pPr>
                    <a:r>
                      <a:rPr lang="en-US" altLang="zh-CN" sz="1400">
                        <a:solidFill>
                          <a:schemeClr val="tx2"/>
                        </a:solidFill>
                        <a:latin typeface="Helvetica" pitchFamily="34" charset="0"/>
                      </a:rPr>
                      <a:t>5</a:t>
                    </a:r>
                    <a:endParaRPr/>
                  </a:p>
                </p:txBody>
              </p:sp>
            </p:grpSp>
            <p:grpSp>
              <p:nvGrpSpPr>
                <p:cNvPr id="1655" name="Group 150"/>
                <p:cNvGrpSpPr/>
                <p:nvPr/>
              </p:nvGrpSpPr>
              <p:grpSpPr>
                <a:xfrm>
                  <a:off x="3368" y="2880"/>
                  <a:ext cx="307" cy="384"/>
                  <a:chOff x="605" y="1776"/>
                  <a:chExt cx="307" cy="384"/>
                </a:xfrm>
              </p:grpSpPr>
              <p:sp>
                <p:nvSpPr>
                  <p:cNvPr id="1656" name="Rectangle 151"/>
                  <p:cNvSpPr>
                    <a:spLocks noChangeArrowheads="true"/>
                  </p:cNvSpPr>
                  <p:nvPr/>
                </p:nvSpPr>
                <p:spPr bwMode="auto">
                  <a:xfrm>
                    <a:off x="605" y="1968"/>
                    <a:ext cx="307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/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1pPr>
                    <a:lvl2pPr marL="742950" indent="-28575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2pPr>
                    <a:lvl3pPr marL="11430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3pPr>
                    <a:lvl4pPr marL="16002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4pPr>
                    <a:lvl5pPr marL="20574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5pPr>
                    <a:lvl6pPr marL="25146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6pPr>
                    <a:lvl7pPr marL="29718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7pPr>
                    <a:lvl8pPr marL="34290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8pPr>
                    <a:lvl9pPr marL="38862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9pPr>
                  </a:lstStyle>
                  <a:p>
                    <a:pPr/>
                    <a:endParaRPr lang="zh-CN" altLang="en-US"/>
                  </a:p>
                </p:txBody>
              </p:sp>
              <p:sp>
                <p:nvSpPr>
                  <p:cNvPr id="1657" name="Rectangle 152"/>
                  <p:cNvSpPr>
                    <a:spLocks noChangeArrowheads="true"/>
                  </p:cNvSpPr>
                  <p:nvPr/>
                </p:nvSpPr>
                <p:spPr bwMode="auto">
                  <a:xfrm>
                    <a:off x="605" y="1776"/>
                    <a:ext cx="307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/>
                    <a:ext uri="{91240B29-F687-4F45-9708-019B960494DF}"/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1pPr>
                    <a:lvl2pPr marL="742950" indent="-28575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2pPr>
                    <a:lvl3pPr marL="11430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3pPr>
                    <a:lvl4pPr marL="16002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4pPr>
                    <a:lvl5pPr marL="20574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5pPr>
                    <a:lvl6pPr marL="25146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6pPr>
                    <a:lvl7pPr marL="29718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7pPr>
                    <a:lvl8pPr marL="34290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8pPr>
                    <a:lvl9pPr marL="38862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9pPr>
                  </a:lstStyle>
                  <a:p>
                    <a:pPr algn="ctr">
                      <a:lnSpc>
                        <a:spcPct val="90000"/>
                      </a:lnSpc>
                      <a:spcBef>
                        <a:spcPct val="30000"/>
                      </a:spcBef>
                    </a:pPr>
                    <a:r>
                      <a:rPr lang="en-US" altLang="zh-CN" sz="1400">
                        <a:solidFill>
                          <a:schemeClr val="tx2"/>
                        </a:solidFill>
                        <a:latin typeface="Helvetica" pitchFamily="34" charset="0"/>
                      </a:rPr>
                      <a:t>4</a:t>
                    </a:r>
                    <a:endParaRPr/>
                  </a:p>
                </p:txBody>
              </p:sp>
            </p:grpSp>
            <p:grpSp>
              <p:nvGrpSpPr>
                <p:cNvPr id="1658" name="Group 153"/>
                <p:cNvGrpSpPr/>
                <p:nvPr/>
              </p:nvGrpSpPr>
              <p:grpSpPr>
                <a:xfrm>
                  <a:off x="3675" y="2880"/>
                  <a:ext cx="307" cy="384"/>
                  <a:chOff x="605" y="1776"/>
                  <a:chExt cx="307" cy="384"/>
                </a:xfrm>
              </p:grpSpPr>
              <p:sp>
                <p:nvSpPr>
                  <p:cNvPr id="1659" name="Rectangle 154"/>
                  <p:cNvSpPr>
                    <a:spLocks noChangeArrowheads="true"/>
                  </p:cNvSpPr>
                  <p:nvPr/>
                </p:nvSpPr>
                <p:spPr bwMode="auto">
                  <a:xfrm>
                    <a:off x="605" y="1968"/>
                    <a:ext cx="307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/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1pPr>
                    <a:lvl2pPr marL="742950" indent="-28575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2pPr>
                    <a:lvl3pPr marL="11430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3pPr>
                    <a:lvl4pPr marL="16002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4pPr>
                    <a:lvl5pPr marL="20574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5pPr>
                    <a:lvl6pPr marL="25146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6pPr>
                    <a:lvl7pPr marL="29718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7pPr>
                    <a:lvl8pPr marL="34290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8pPr>
                    <a:lvl9pPr marL="38862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9pPr>
                  </a:lstStyle>
                  <a:p>
                    <a:pPr/>
                    <a:endParaRPr lang="zh-CN" altLang="en-US"/>
                  </a:p>
                </p:txBody>
              </p:sp>
              <p:sp>
                <p:nvSpPr>
                  <p:cNvPr id="1660" name="Rectangle 155"/>
                  <p:cNvSpPr>
                    <a:spLocks noChangeArrowheads="true"/>
                  </p:cNvSpPr>
                  <p:nvPr/>
                </p:nvSpPr>
                <p:spPr bwMode="auto">
                  <a:xfrm>
                    <a:off x="605" y="1776"/>
                    <a:ext cx="307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/>
                    <a:ext uri="{91240B29-F687-4F45-9708-019B960494DF}"/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1pPr>
                    <a:lvl2pPr marL="742950" indent="-28575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2pPr>
                    <a:lvl3pPr marL="11430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3pPr>
                    <a:lvl4pPr marL="16002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4pPr>
                    <a:lvl5pPr marL="20574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5pPr>
                    <a:lvl6pPr marL="25146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6pPr>
                    <a:lvl7pPr marL="29718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7pPr>
                    <a:lvl8pPr marL="34290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8pPr>
                    <a:lvl9pPr marL="38862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9pPr>
                  </a:lstStyle>
                  <a:p>
                    <a:pPr algn="ctr">
                      <a:lnSpc>
                        <a:spcPct val="90000"/>
                      </a:lnSpc>
                      <a:spcBef>
                        <a:spcPct val="30000"/>
                      </a:spcBef>
                    </a:pPr>
                    <a:r>
                      <a:rPr lang="en-US" altLang="zh-CN" sz="1400">
                        <a:solidFill>
                          <a:schemeClr val="tx2"/>
                        </a:solidFill>
                        <a:latin typeface="Helvetica" pitchFamily="34" charset="0"/>
                      </a:rPr>
                      <a:t>3</a:t>
                    </a:r>
                    <a:endParaRPr/>
                  </a:p>
                </p:txBody>
              </p:sp>
            </p:grpSp>
            <p:grpSp>
              <p:nvGrpSpPr>
                <p:cNvPr id="1661" name="Group 156"/>
                <p:cNvGrpSpPr/>
                <p:nvPr/>
              </p:nvGrpSpPr>
              <p:grpSpPr>
                <a:xfrm>
                  <a:off x="3982" y="2880"/>
                  <a:ext cx="307" cy="384"/>
                  <a:chOff x="605" y="1776"/>
                  <a:chExt cx="307" cy="384"/>
                </a:xfrm>
              </p:grpSpPr>
              <p:sp>
                <p:nvSpPr>
                  <p:cNvPr id="1662" name="Rectangle 157"/>
                  <p:cNvSpPr>
                    <a:spLocks noChangeArrowheads="true"/>
                  </p:cNvSpPr>
                  <p:nvPr/>
                </p:nvSpPr>
                <p:spPr bwMode="auto">
                  <a:xfrm>
                    <a:off x="605" y="1968"/>
                    <a:ext cx="307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/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1pPr>
                    <a:lvl2pPr marL="742950" indent="-28575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2pPr>
                    <a:lvl3pPr marL="11430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3pPr>
                    <a:lvl4pPr marL="16002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4pPr>
                    <a:lvl5pPr marL="20574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5pPr>
                    <a:lvl6pPr marL="25146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6pPr>
                    <a:lvl7pPr marL="29718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7pPr>
                    <a:lvl8pPr marL="34290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8pPr>
                    <a:lvl9pPr marL="38862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9pPr>
                  </a:lstStyle>
                  <a:p>
                    <a:pPr/>
                    <a:endParaRPr lang="zh-CN" altLang="en-US"/>
                  </a:p>
                </p:txBody>
              </p:sp>
              <p:sp>
                <p:nvSpPr>
                  <p:cNvPr id="1663" name="Rectangle 158"/>
                  <p:cNvSpPr>
                    <a:spLocks noChangeArrowheads="true"/>
                  </p:cNvSpPr>
                  <p:nvPr/>
                </p:nvSpPr>
                <p:spPr bwMode="auto">
                  <a:xfrm>
                    <a:off x="605" y="1776"/>
                    <a:ext cx="307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/>
                    <a:ext uri="{91240B29-F687-4F45-9708-019B960494DF}"/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1pPr>
                    <a:lvl2pPr marL="742950" indent="-28575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2pPr>
                    <a:lvl3pPr marL="11430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3pPr>
                    <a:lvl4pPr marL="16002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4pPr>
                    <a:lvl5pPr marL="20574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5pPr>
                    <a:lvl6pPr marL="25146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6pPr>
                    <a:lvl7pPr marL="29718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7pPr>
                    <a:lvl8pPr marL="34290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8pPr>
                    <a:lvl9pPr marL="38862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9pPr>
                  </a:lstStyle>
                  <a:p>
                    <a:pPr algn="ctr">
                      <a:lnSpc>
                        <a:spcPct val="90000"/>
                      </a:lnSpc>
                      <a:spcBef>
                        <a:spcPct val="30000"/>
                      </a:spcBef>
                    </a:pPr>
                    <a:r>
                      <a:rPr lang="en-US" altLang="zh-CN" sz="1400">
                        <a:solidFill>
                          <a:schemeClr val="tx2"/>
                        </a:solidFill>
                        <a:latin typeface="Helvetica" pitchFamily="34" charset="0"/>
                      </a:rPr>
                      <a:t>2</a:t>
                    </a:r>
                    <a:endParaRPr/>
                  </a:p>
                </p:txBody>
              </p:sp>
            </p:grpSp>
            <p:grpSp>
              <p:nvGrpSpPr>
                <p:cNvPr id="1664" name="Group 159"/>
                <p:cNvGrpSpPr/>
                <p:nvPr/>
              </p:nvGrpSpPr>
              <p:grpSpPr>
                <a:xfrm>
                  <a:off x="4289" y="2880"/>
                  <a:ext cx="307" cy="384"/>
                  <a:chOff x="605" y="1776"/>
                  <a:chExt cx="307" cy="384"/>
                </a:xfrm>
              </p:grpSpPr>
              <p:sp>
                <p:nvSpPr>
                  <p:cNvPr id="1665" name="Rectangle 160"/>
                  <p:cNvSpPr>
                    <a:spLocks noChangeArrowheads="true"/>
                  </p:cNvSpPr>
                  <p:nvPr/>
                </p:nvSpPr>
                <p:spPr bwMode="auto">
                  <a:xfrm>
                    <a:off x="605" y="1968"/>
                    <a:ext cx="307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/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1pPr>
                    <a:lvl2pPr marL="742950" indent="-28575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2pPr>
                    <a:lvl3pPr marL="11430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3pPr>
                    <a:lvl4pPr marL="16002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4pPr>
                    <a:lvl5pPr marL="20574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5pPr>
                    <a:lvl6pPr marL="25146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6pPr>
                    <a:lvl7pPr marL="29718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7pPr>
                    <a:lvl8pPr marL="34290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8pPr>
                    <a:lvl9pPr marL="38862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9pPr>
                  </a:lstStyle>
                  <a:p>
                    <a:pPr/>
                    <a:endParaRPr lang="zh-CN" altLang="en-US"/>
                  </a:p>
                </p:txBody>
              </p:sp>
              <p:sp>
                <p:nvSpPr>
                  <p:cNvPr id="1666" name="Rectangle 161"/>
                  <p:cNvSpPr>
                    <a:spLocks noChangeArrowheads="true"/>
                  </p:cNvSpPr>
                  <p:nvPr/>
                </p:nvSpPr>
                <p:spPr bwMode="auto">
                  <a:xfrm>
                    <a:off x="605" y="1776"/>
                    <a:ext cx="307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/>
                    <a:ext uri="{91240B29-F687-4F45-9708-019B960494DF}"/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1pPr>
                    <a:lvl2pPr marL="742950" indent="-28575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2pPr>
                    <a:lvl3pPr marL="11430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3pPr>
                    <a:lvl4pPr marL="16002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4pPr>
                    <a:lvl5pPr marL="20574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5pPr>
                    <a:lvl6pPr marL="25146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6pPr>
                    <a:lvl7pPr marL="29718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7pPr>
                    <a:lvl8pPr marL="34290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8pPr>
                    <a:lvl9pPr marL="38862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9pPr>
                  </a:lstStyle>
                  <a:p>
                    <a:pPr algn="ctr">
                      <a:lnSpc>
                        <a:spcPct val="90000"/>
                      </a:lnSpc>
                      <a:spcBef>
                        <a:spcPct val="30000"/>
                      </a:spcBef>
                    </a:pPr>
                    <a:r>
                      <a:rPr lang="en-US" altLang="zh-CN" sz="1400">
                        <a:solidFill>
                          <a:schemeClr val="tx2"/>
                        </a:solidFill>
                        <a:latin typeface="Helvetica" pitchFamily="34" charset="0"/>
                      </a:rPr>
                      <a:t>1</a:t>
                    </a:r>
                    <a:endParaRPr/>
                  </a:p>
                </p:txBody>
              </p:sp>
            </p:grpSp>
            <p:grpSp>
              <p:nvGrpSpPr>
                <p:cNvPr id="1667" name="Group 162"/>
                <p:cNvGrpSpPr/>
                <p:nvPr/>
              </p:nvGrpSpPr>
              <p:grpSpPr>
                <a:xfrm>
                  <a:off x="4596" y="2880"/>
                  <a:ext cx="307" cy="384"/>
                  <a:chOff x="605" y="1776"/>
                  <a:chExt cx="307" cy="384"/>
                </a:xfrm>
              </p:grpSpPr>
              <p:sp>
                <p:nvSpPr>
                  <p:cNvPr id="1668" name="Rectangle 163"/>
                  <p:cNvSpPr>
                    <a:spLocks noChangeArrowheads="true"/>
                  </p:cNvSpPr>
                  <p:nvPr/>
                </p:nvSpPr>
                <p:spPr bwMode="auto">
                  <a:xfrm>
                    <a:off x="605" y="1968"/>
                    <a:ext cx="307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/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1pPr>
                    <a:lvl2pPr marL="742950" indent="-28575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2pPr>
                    <a:lvl3pPr marL="11430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3pPr>
                    <a:lvl4pPr marL="16002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4pPr>
                    <a:lvl5pPr marL="20574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5pPr>
                    <a:lvl6pPr marL="25146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6pPr>
                    <a:lvl7pPr marL="29718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7pPr>
                    <a:lvl8pPr marL="34290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8pPr>
                    <a:lvl9pPr marL="38862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9pPr>
                  </a:lstStyle>
                  <a:p>
                    <a:pPr/>
                    <a:endParaRPr lang="zh-CN" altLang="en-US"/>
                  </a:p>
                </p:txBody>
              </p:sp>
              <p:sp>
                <p:nvSpPr>
                  <p:cNvPr id="1669" name="Rectangle 164"/>
                  <p:cNvSpPr>
                    <a:spLocks noChangeArrowheads="true"/>
                  </p:cNvSpPr>
                  <p:nvPr/>
                </p:nvSpPr>
                <p:spPr bwMode="auto">
                  <a:xfrm>
                    <a:off x="605" y="1776"/>
                    <a:ext cx="307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/>
                    <a:ext uri="{91240B29-F687-4F45-9708-019B960494DF}"/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1pPr>
                    <a:lvl2pPr marL="742950" indent="-28575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2pPr>
                    <a:lvl3pPr marL="11430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3pPr>
                    <a:lvl4pPr marL="16002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4pPr>
                    <a:lvl5pPr marL="20574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5pPr>
                    <a:lvl6pPr marL="25146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6pPr>
                    <a:lvl7pPr marL="29718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7pPr>
                    <a:lvl8pPr marL="34290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8pPr>
                    <a:lvl9pPr marL="38862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9pPr>
                  </a:lstStyle>
                  <a:p>
                    <a:pPr algn="ctr">
                      <a:lnSpc>
                        <a:spcPct val="90000"/>
                      </a:lnSpc>
                      <a:spcBef>
                        <a:spcPct val="30000"/>
                      </a:spcBef>
                    </a:pPr>
                    <a:r>
                      <a:rPr lang="en-US" altLang="zh-CN" sz="1400">
                        <a:solidFill>
                          <a:schemeClr val="tx2"/>
                        </a:solidFill>
                        <a:latin typeface="Helvetica" pitchFamily="34" charset="0"/>
                      </a:rPr>
                      <a:t>0</a:t>
                    </a:r>
                    <a:endParaRPr/>
                  </a:p>
                </p:txBody>
              </p:sp>
            </p:grpSp>
          </p:grpSp>
          <p:grpSp>
            <p:nvGrpSpPr>
              <p:cNvPr id="1670" name="Group 165"/>
              <p:cNvGrpSpPr/>
              <p:nvPr/>
            </p:nvGrpSpPr>
            <p:grpSpPr>
              <a:xfrm>
                <a:off x="2931" y="2444"/>
                <a:ext cx="1842" cy="212"/>
                <a:chOff x="3061" y="2261"/>
                <a:chExt cx="1842" cy="212"/>
              </a:xfrm>
            </p:grpSpPr>
            <p:sp>
              <p:nvSpPr>
                <p:cNvPr id="1671" name="Line 166"/>
                <p:cNvSpPr>
                  <a:spLocks noChangeShapeType="true"/>
                </p:cNvSpPr>
                <p:nvPr/>
              </p:nvSpPr>
              <p:spPr bwMode="auto">
                <a:xfrm>
                  <a:off x="3061" y="2352"/>
                  <a:ext cx="184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arrow" w="med" len="med"/>
                  <a:tailEnd type="arrow" w="med" len="med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/>
                <a:lstStyle/>
                <a:p>
                  <a:pPr/>
                  <a:endParaRPr lang="zh-CN" altLang="en-US"/>
                </a:p>
              </p:txBody>
            </p:sp>
            <p:sp>
              <p:nvSpPr>
                <p:cNvPr id="1672" name="Text Box 167"/>
                <p:cNvSpPr txBox="true">
                  <a:spLocks noChangeArrowheads="true"/>
                </p:cNvSpPr>
                <p:nvPr/>
              </p:nvSpPr>
              <p:spPr bwMode="auto">
                <a:xfrm>
                  <a:off x="3770" y="2261"/>
                  <a:ext cx="418" cy="21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/>
                </a:extLst>
              </p:spPr>
              <p:txBody>
                <a:bodyPr wrap="none" lIns="90487" tIns="44450" rIns="90487" bIns="44450">
                  <a:spAutoFit/>
                </a:bodyPr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800">
                      <a:solidFill>
                        <a:schemeClr val="tx2"/>
                      </a:solidFill>
                      <a:latin typeface="Helvetica" pitchFamily="34" charset="0"/>
                    </a:rPr>
                    <a:t>PPO</a:t>
                  </a:r>
                  <a:endParaRPr/>
                </a:p>
              </p:txBody>
            </p:sp>
          </p:grpSp>
          <p:grpSp>
            <p:nvGrpSpPr>
              <p:cNvPr id="1673" name="Group 168"/>
              <p:cNvGrpSpPr/>
              <p:nvPr/>
            </p:nvGrpSpPr>
            <p:grpSpPr>
              <a:xfrm>
                <a:off x="1107" y="2444"/>
                <a:ext cx="1842" cy="212"/>
                <a:chOff x="3061" y="2261"/>
                <a:chExt cx="1842" cy="212"/>
              </a:xfrm>
            </p:grpSpPr>
            <p:sp>
              <p:nvSpPr>
                <p:cNvPr id="1674" name="Line 169"/>
                <p:cNvSpPr>
                  <a:spLocks noChangeShapeType="true"/>
                </p:cNvSpPr>
                <p:nvPr/>
              </p:nvSpPr>
              <p:spPr bwMode="auto">
                <a:xfrm>
                  <a:off x="3061" y="2352"/>
                  <a:ext cx="184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arrow" w="med" len="med"/>
                  <a:tailEnd type="arrow" w="med" len="med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/>
                <a:lstStyle/>
                <a:p>
                  <a:pPr/>
                  <a:endParaRPr lang="zh-CN" altLang="en-US"/>
                </a:p>
              </p:txBody>
            </p:sp>
            <p:sp>
              <p:nvSpPr>
                <p:cNvPr id="1675" name="Text Box 170"/>
                <p:cNvSpPr txBox="true">
                  <a:spLocks noChangeArrowheads="true"/>
                </p:cNvSpPr>
                <p:nvPr/>
              </p:nvSpPr>
              <p:spPr bwMode="auto">
                <a:xfrm>
                  <a:off x="3770" y="2261"/>
                  <a:ext cx="410" cy="21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/>
                </a:extLst>
              </p:spPr>
              <p:txBody>
                <a:bodyPr wrap="none" lIns="90487" tIns="44450" rIns="90487" bIns="44450">
                  <a:spAutoFit/>
                </a:bodyPr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800">
                      <a:solidFill>
                        <a:schemeClr val="tx2"/>
                      </a:solidFill>
                      <a:latin typeface="Helvetica" pitchFamily="34" charset="0"/>
                    </a:rPr>
                    <a:t>PPN</a:t>
                  </a:r>
                  <a:endParaRPr/>
                </a:p>
              </p:txBody>
            </p:sp>
          </p:grpSp>
          <p:grpSp>
            <p:nvGrpSpPr>
              <p:cNvPr id="1676" name="Group 171"/>
              <p:cNvGrpSpPr/>
              <p:nvPr/>
            </p:nvGrpSpPr>
            <p:grpSpPr>
              <a:xfrm>
                <a:off x="4130" y="1789"/>
                <a:ext cx="625" cy="195"/>
                <a:chOff x="2445" y="1645"/>
                <a:chExt cx="625" cy="195"/>
              </a:xfrm>
            </p:grpSpPr>
            <p:sp>
              <p:nvSpPr>
                <p:cNvPr id="1677" name="Line 172"/>
                <p:cNvSpPr>
                  <a:spLocks noChangeShapeType="true"/>
                </p:cNvSpPr>
                <p:nvPr/>
              </p:nvSpPr>
              <p:spPr bwMode="auto">
                <a:xfrm>
                  <a:off x="2445" y="1723"/>
                  <a:ext cx="62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arrow" w="med" len="med"/>
                  <a:tailEnd type="arrow" w="med" len="med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/>
                <a:lstStyle/>
                <a:p>
                  <a:pPr/>
                  <a:endParaRPr lang="zh-CN" altLang="en-US"/>
                </a:p>
              </p:txBody>
            </p:sp>
            <p:sp>
              <p:nvSpPr>
                <p:cNvPr id="1678" name="Text Box 173"/>
                <p:cNvSpPr txBox="true">
                  <a:spLocks noChangeArrowheads="true"/>
                </p:cNvSpPr>
                <p:nvPr/>
              </p:nvSpPr>
              <p:spPr bwMode="auto">
                <a:xfrm>
                  <a:off x="2632" y="1645"/>
                  <a:ext cx="306" cy="19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/>
                </a:extLst>
              </p:spPr>
              <p:txBody>
                <a:bodyPr wrap="none" lIns="90487" tIns="44450" rIns="90487" bIns="44450">
                  <a:spAutoFit/>
                </a:bodyPr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600">
                      <a:solidFill>
                        <a:schemeClr val="tx2"/>
                      </a:solidFill>
                      <a:latin typeface="Helvetica" pitchFamily="34" charset="0"/>
                    </a:rPr>
                    <a:t>CO</a:t>
                  </a:r>
                  <a:endParaRPr/>
                </a:p>
              </p:txBody>
            </p:sp>
          </p:grpSp>
          <p:grpSp>
            <p:nvGrpSpPr>
              <p:cNvPr id="1679" name="Group 174"/>
              <p:cNvGrpSpPr/>
              <p:nvPr/>
            </p:nvGrpSpPr>
            <p:grpSpPr>
              <a:xfrm>
                <a:off x="2920" y="1776"/>
                <a:ext cx="1214" cy="195"/>
                <a:chOff x="2445" y="1645"/>
                <a:chExt cx="625" cy="195"/>
              </a:xfrm>
            </p:grpSpPr>
            <p:sp>
              <p:nvSpPr>
                <p:cNvPr id="1680" name="Line 175"/>
                <p:cNvSpPr>
                  <a:spLocks noChangeShapeType="true"/>
                </p:cNvSpPr>
                <p:nvPr/>
              </p:nvSpPr>
              <p:spPr bwMode="auto">
                <a:xfrm>
                  <a:off x="2445" y="1723"/>
                  <a:ext cx="62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arrow" w="med" len="med"/>
                  <a:tailEnd type="arrow" w="med" len="med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/>
                <a:lstStyle/>
                <a:p>
                  <a:pPr/>
                  <a:endParaRPr lang="zh-CN" altLang="en-US"/>
                </a:p>
              </p:txBody>
            </p:sp>
            <p:sp>
              <p:nvSpPr>
                <p:cNvPr id="1681" name="Text Box 176"/>
                <p:cNvSpPr txBox="true">
                  <a:spLocks noChangeArrowheads="true"/>
                </p:cNvSpPr>
                <p:nvPr/>
              </p:nvSpPr>
              <p:spPr bwMode="auto">
                <a:xfrm>
                  <a:off x="2723" y="1645"/>
                  <a:ext cx="125" cy="19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/>
                </a:extLst>
              </p:spPr>
              <p:txBody>
                <a:bodyPr wrap="none" lIns="90487" tIns="44450" rIns="90487" bIns="44450">
                  <a:spAutoFit/>
                </a:bodyPr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600">
                      <a:solidFill>
                        <a:schemeClr val="tx2"/>
                      </a:solidFill>
                      <a:latin typeface="Helvetica" pitchFamily="34" charset="0"/>
                    </a:rPr>
                    <a:t>CI</a:t>
                  </a:r>
                  <a:endParaRPr/>
                </a:p>
              </p:txBody>
            </p:sp>
          </p:grpSp>
          <p:grpSp>
            <p:nvGrpSpPr>
              <p:cNvPr id="1682" name="Group 177"/>
              <p:cNvGrpSpPr/>
              <p:nvPr/>
            </p:nvGrpSpPr>
            <p:grpSpPr>
              <a:xfrm>
                <a:off x="1078" y="1789"/>
                <a:ext cx="1824" cy="195"/>
                <a:chOff x="2445" y="1645"/>
                <a:chExt cx="625" cy="195"/>
              </a:xfrm>
            </p:grpSpPr>
            <p:sp>
              <p:nvSpPr>
                <p:cNvPr id="1683" name="Line 178"/>
                <p:cNvSpPr>
                  <a:spLocks noChangeShapeType="true"/>
                </p:cNvSpPr>
                <p:nvPr/>
              </p:nvSpPr>
              <p:spPr bwMode="auto">
                <a:xfrm>
                  <a:off x="2445" y="1723"/>
                  <a:ext cx="62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arrow" w="med" len="med"/>
                  <a:tailEnd type="arrow" w="med" len="med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/>
                <a:lstStyle/>
                <a:p>
                  <a:pPr/>
                  <a:endParaRPr lang="zh-CN" altLang="en-US"/>
                </a:p>
              </p:txBody>
            </p:sp>
            <p:sp>
              <p:nvSpPr>
                <p:cNvPr id="1684" name="Text Box 179"/>
                <p:cNvSpPr txBox="true">
                  <a:spLocks noChangeArrowheads="true"/>
                </p:cNvSpPr>
                <p:nvPr/>
              </p:nvSpPr>
              <p:spPr bwMode="auto">
                <a:xfrm>
                  <a:off x="2737" y="1645"/>
                  <a:ext cx="97" cy="19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/>
                </a:extLst>
              </p:spPr>
              <p:txBody>
                <a:bodyPr wrap="none" lIns="90487" tIns="44450" rIns="90487" bIns="44450">
                  <a:spAutoFit/>
                </a:bodyPr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600">
                      <a:solidFill>
                        <a:schemeClr val="tx2"/>
                      </a:solidFill>
                      <a:latin typeface="Helvetica" pitchFamily="34" charset="0"/>
                    </a:rPr>
                    <a:t>CT</a:t>
                  </a:r>
                  <a:endParaRPr/>
                </a:p>
              </p:txBody>
            </p:sp>
          </p:grpSp>
        </p:grpSp>
        <p:sp>
          <p:nvSpPr>
            <p:cNvPr id="1685" name="Text Box 180"/>
            <p:cNvSpPr txBox="true">
              <a:spLocks noChangeArrowheads="true"/>
            </p:cNvSpPr>
            <p:nvPr/>
          </p:nvSpPr>
          <p:spPr bwMode="auto">
            <a:xfrm>
              <a:off x="4704" y="305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0</a:t>
              </a:r>
              <a:endParaRPr/>
            </a:p>
          </p:txBody>
        </p:sp>
        <p:sp>
          <p:nvSpPr>
            <p:cNvPr id="1686" name="Text Box 181"/>
            <p:cNvSpPr txBox="true">
              <a:spLocks noChangeArrowheads="true"/>
            </p:cNvSpPr>
            <p:nvPr/>
          </p:nvSpPr>
          <p:spPr bwMode="auto">
            <a:xfrm>
              <a:off x="4368" y="305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0</a:t>
              </a:r>
              <a:endParaRPr/>
            </a:p>
          </p:txBody>
        </p:sp>
        <p:sp>
          <p:nvSpPr>
            <p:cNvPr id="1687" name="Text Box 182"/>
            <p:cNvSpPr txBox="true">
              <a:spLocks noChangeArrowheads="true"/>
            </p:cNvSpPr>
            <p:nvPr/>
          </p:nvSpPr>
          <p:spPr bwMode="auto">
            <a:xfrm>
              <a:off x="4080" y="305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1</a:t>
              </a:r>
              <a:endParaRPr/>
            </a:p>
          </p:txBody>
        </p:sp>
        <p:sp>
          <p:nvSpPr>
            <p:cNvPr id="1688" name="Text Box 183"/>
            <p:cNvSpPr txBox="true">
              <a:spLocks noChangeArrowheads="true"/>
            </p:cNvSpPr>
            <p:nvPr/>
          </p:nvSpPr>
          <p:spPr bwMode="auto">
            <a:xfrm>
              <a:off x="3749" y="305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0</a:t>
              </a:r>
              <a:endParaRPr/>
            </a:p>
          </p:txBody>
        </p:sp>
        <p:sp>
          <p:nvSpPr>
            <p:cNvPr id="1689" name="Text Box 184"/>
            <p:cNvSpPr txBox="true">
              <a:spLocks noChangeArrowheads="true"/>
            </p:cNvSpPr>
            <p:nvPr/>
          </p:nvSpPr>
          <p:spPr bwMode="auto">
            <a:xfrm>
              <a:off x="3456" y="305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1</a:t>
              </a:r>
              <a:endParaRPr/>
            </a:p>
          </p:txBody>
        </p:sp>
        <p:sp>
          <p:nvSpPr>
            <p:cNvPr id="1690" name="Text Box 185"/>
            <p:cNvSpPr txBox="true">
              <a:spLocks noChangeArrowheads="true"/>
            </p:cNvSpPr>
            <p:nvPr/>
          </p:nvSpPr>
          <p:spPr bwMode="auto">
            <a:xfrm>
              <a:off x="3168" y="305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0</a:t>
              </a:r>
              <a:endParaRPr/>
            </a:p>
          </p:txBody>
        </p:sp>
        <p:sp>
          <p:nvSpPr>
            <p:cNvPr id="1691" name="Text Box 186"/>
            <p:cNvSpPr txBox="true">
              <a:spLocks noChangeArrowheads="true"/>
            </p:cNvSpPr>
            <p:nvPr/>
          </p:nvSpPr>
          <p:spPr bwMode="auto">
            <a:xfrm>
              <a:off x="2832" y="305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1</a:t>
              </a:r>
              <a:endParaRPr/>
            </a:p>
          </p:txBody>
        </p:sp>
        <p:sp>
          <p:nvSpPr>
            <p:cNvPr id="1692" name="Text Box 187"/>
            <p:cNvSpPr txBox="true">
              <a:spLocks noChangeArrowheads="true"/>
            </p:cNvSpPr>
            <p:nvPr/>
          </p:nvSpPr>
          <p:spPr bwMode="auto">
            <a:xfrm>
              <a:off x="2544" y="305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0</a:t>
              </a:r>
              <a:endParaRPr/>
            </a:p>
          </p:txBody>
        </p:sp>
        <p:sp>
          <p:nvSpPr>
            <p:cNvPr id="1693" name="Text Box 188"/>
            <p:cNvSpPr txBox="true">
              <a:spLocks noChangeArrowheads="true"/>
            </p:cNvSpPr>
            <p:nvPr/>
          </p:nvSpPr>
          <p:spPr bwMode="auto">
            <a:xfrm>
              <a:off x="2213" y="305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1</a:t>
              </a:r>
              <a:endParaRPr/>
            </a:p>
          </p:txBody>
        </p:sp>
        <p:sp>
          <p:nvSpPr>
            <p:cNvPr id="1694" name="Text Box 189"/>
            <p:cNvSpPr txBox="true">
              <a:spLocks noChangeArrowheads="true"/>
            </p:cNvSpPr>
            <p:nvPr/>
          </p:nvSpPr>
          <p:spPr bwMode="auto">
            <a:xfrm>
              <a:off x="1920" y="305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1</a:t>
              </a:r>
              <a:endParaRPr/>
            </a:p>
          </p:txBody>
        </p:sp>
        <p:sp>
          <p:nvSpPr>
            <p:cNvPr id="1695" name="Text Box 190"/>
            <p:cNvSpPr txBox="true">
              <a:spLocks noChangeArrowheads="true"/>
            </p:cNvSpPr>
            <p:nvPr/>
          </p:nvSpPr>
          <p:spPr bwMode="auto">
            <a:xfrm>
              <a:off x="1632" y="305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0</a:t>
              </a:r>
              <a:endParaRPr/>
            </a:p>
          </p:txBody>
        </p:sp>
        <p:sp>
          <p:nvSpPr>
            <p:cNvPr id="1696" name="Text Box 191"/>
            <p:cNvSpPr txBox="true">
              <a:spLocks noChangeArrowheads="true"/>
            </p:cNvSpPr>
            <p:nvPr/>
          </p:nvSpPr>
          <p:spPr bwMode="auto">
            <a:xfrm>
              <a:off x="1296" y="305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0</a:t>
              </a:r>
              <a:endParaRPr/>
            </a:p>
          </p:txBody>
        </p:sp>
      </p:grpSp>
      <p:sp>
        <p:nvSpPr>
          <p:cNvPr id="1697" name="Rectangle 192"/>
          <p:cNvSpPr>
            <a:spLocks noChangeArrowheads="true"/>
          </p:cNvSpPr>
          <p:nvPr/>
        </p:nvSpPr>
        <p:spPr bwMode="auto">
          <a:xfrm>
            <a:off x="490538" y="3595688"/>
            <a:ext cx="73914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 marL="342900" indent="-3429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179705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lvl="1">
              <a:lnSpc>
                <a:spcPct val="90000"/>
              </a:lnSpc>
              <a:spcBef>
                <a:spcPct val="20000"/>
              </a:spcBef>
            </a:pPr>
            <a:r>
              <a:rPr lang="en-US" b="false"/>
              <a:t>CO: </a:t>
            </a:r>
            <a:r>
              <a:rPr lang="en-US" u="sng"/>
              <a:t>       </a:t>
            </a:r>
            <a:r>
              <a:rPr lang="en-US" b="false"/>
              <a:t>CI: </a:t>
            </a:r>
            <a:r>
              <a:rPr lang="zh-CN" u="sng"/>
              <a:t> </a:t>
            </a:r>
            <a:r>
              <a:rPr lang="zh-CN" u="sng"/>
              <a:t>    </a:t>
            </a:r>
            <a:r>
              <a:rPr lang="en-US" b="false"/>
              <a:t>    CT: </a:t>
            </a:r>
            <a:r>
              <a:rPr lang="zh-CN" u="sng"/>
              <a:t> </a:t>
            </a:r>
            <a:r>
              <a:rPr lang="zh-CN" u="sng"/>
              <a:t>    </a:t>
            </a:r>
            <a:r>
              <a:rPr lang="en-US" b="false"/>
              <a:t>	  Hit? </a:t>
            </a:r>
            <a:r>
              <a:rPr lang="en-US" u="sng"/>
              <a:t>    </a:t>
            </a:r>
            <a:r>
              <a:rPr lang="en-US" b="false"/>
              <a:t>  Byte: </a:t>
            </a:r>
            <a:r>
              <a:rPr lang="en-US" u="sng"/>
              <a:t>    </a:t>
            </a:r>
            <a:r>
              <a:rPr lang="en-US" u="sng">
                <a:solidFill>
                  <a:schemeClr val="bg1">
                    <a:alpha val="100000"/>
                  </a:schemeClr>
                </a:solidFill>
              </a:rPr>
              <a:t>6</a:t>
            </a:r>
            <a:endParaRPr lang="zh-CN" u="sng">
              <a:solidFill>
                <a:schemeClr val="bg1">
                  <a:alpha val="100000"/>
                </a:schemeClr>
              </a:solidFill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>
  <p:cSld>
    <p:spTree>
      <p:nvGrpSpPr>
        <p:cNvPr id="16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788D468A-1675-4C48-BFDA-8CE5411CAD8D}" type="slidenum">
              <a:rPr lang="zh-CN" altLang="en-US" sz="1400" b="false">
                <a:latin typeface="Times New Roman" panose="02020603050405020304" charset="0"/>
              </a:rPr>
              <a:t>93</a:t>
            </a:fld>
            <a:endParaRPr lang="en-US" altLang="zh-CN" sz="1400" b="false">
              <a:latin typeface="Times New Roman" panose="02020603050405020304" charset="0"/>
            </a:endParaRPr>
          </a:p>
        </p:txBody>
      </p:sp>
      <p:sp>
        <p:nvSpPr>
          <p:cNvPr id="1700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>
                <a:latin typeface="Comic Sans MS"/>
                <a:ea typeface="宋体"/>
                <a:cs typeface="宋体"/>
              </a:rPr>
              <a:t>课堂练习</a:t>
            </a:r>
            <a:r>
              <a:rPr lang="zh-CN">
                <a:latin typeface="Comic Sans MS"/>
                <a:ea typeface="宋体"/>
                <a:cs typeface="宋体"/>
              </a:rPr>
              <a:t>答案</a:t>
            </a:r>
            <a:endParaRPr lang="en-US">
              <a:latin typeface="Comic Sans MS"/>
              <a:ea typeface="宋体"/>
              <a:cs typeface="宋体"/>
            </a:endParaRPr>
          </a:p>
        </p:txBody>
      </p:sp>
      <p:sp>
        <p:nvSpPr>
          <p:cNvPr id="1701" name="Rectangle 69"/>
          <p:cNvSpPr>
            <a:spLocks noChangeArrowheads="true"/>
          </p:cNvSpPr>
          <p:nvPr/>
        </p:nvSpPr>
        <p:spPr bwMode="auto">
          <a:xfrm>
            <a:off x="457200" y="1447800"/>
            <a:ext cx="14255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>
              <a:lnSpc>
                <a:spcPct val="140000"/>
              </a:lnSpc>
            </a:pPr>
            <a:r>
              <a:rPr lang="en-US" altLang="zh-CN" b="false"/>
              <a:t>PA: </a:t>
            </a:r>
            <a:r>
              <a:rPr lang="en-US" altLang="zh-CN" u="sng"/>
              <a:t>0x354</a:t>
            </a:r>
            <a:endParaRPr/>
          </a:p>
        </p:txBody>
      </p:sp>
      <p:grpSp>
        <p:nvGrpSpPr>
          <p:cNvPr id="1702" name="Group 126"/>
          <p:cNvGrpSpPr/>
          <p:nvPr/>
        </p:nvGrpSpPr>
        <p:grpSpPr>
          <a:xfrm>
            <a:off x="609600" y="1905000"/>
            <a:ext cx="5865813" cy="1397000"/>
            <a:chOff x="1248" y="2624"/>
            <a:chExt cx="3695" cy="880"/>
          </a:xfrm>
        </p:grpSpPr>
        <p:grpSp>
          <p:nvGrpSpPr>
            <p:cNvPr id="1703" name="Group 127"/>
            <p:cNvGrpSpPr/>
            <p:nvPr/>
          </p:nvGrpSpPr>
          <p:grpSpPr>
            <a:xfrm>
              <a:off x="1248" y="2624"/>
              <a:ext cx="3695" cy="880"/>
              <a:chOff x="1078" y="1776"/>
              <a:chExt cx="3695" cy="880"/>
            </a:xfrm>
          </p:grpSpPr>
          <p:grpSp>
            <p:nvGrpSpPr>
              <p:cNvPr id="1704" name="Group 128"/>
              <p:cNvGrpSpPr/>
              <p:nvPr/>
            </p:nvGrpSpPr>
            <p:grpSpPr>
              <a:xfrm>
                <a:off x="1078" y="2012"/>
                <a:ext cx="3684" cy="384"/>
                <a:chOff x="1219" y="2880"/>
                <a:chExt cx="3684" cy="384"/>
              </a:xfrm>
            </p:grpSpPr>
            <p:grpSp>
              <p:nvGrpSpPr>
                <p:cNvPr id="1705" name="Group 129"/>
                <p:cNvGrpSpPr/>
                <p:nvPr/>
              </p:nvGrpSpPr>
              <p:grpSpPr>
                <a:xfrm>
                  <a:off x="1219" y="2880"/>
                  <a:ext cx="307" cy="384"/>
                  <a:chOff x="605" y="1776"/>
                  <a:chExt cx="307" cy="384"/>
                </a:xfrm>
              </p:grpSpPr>
              <p:sp>
                <p:nvSpPr>
                  <p:cNvPr id="1706" name="Rectangle 130"/>
                  <p:cNvSpPr>
                    <a:spLocks noChangeArrowheads="true"/>
                  </p:cNvSpPr>
                  <p:nvPr/>
                </p:nvSpPr>
                <p:spPr bwMode="auto">
                  <a:xfrm>
                    <a:off x="605" y="1968"/>
                    <a:ext cx="307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/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1pPr>
                    <a:lvl2pPr marL="742950" indent="-28575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2pPr>
                    <a:lvl3pPr marL="11430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3pPr>
                    <a:lvl4pPr marL="16002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4pPr>
                    <a:lvl5pPr marL="20574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5pPr>
                    <a:lvl6pPr marL="25146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6pPr>
                    <a:lvl7pPr marL="29718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7pPr>
                    <a:lvl8pPr marL="34290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8pPr>
                    <a:lvl9pPr marL="38862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9pPr>
                  </a:lstStyle>
                  <a:p>
                    <a:pPr/>
                    <a:endParaRPr lang="zh-CN" altLang="en-US"/>
                  </a:p>
                </p:txBody>
              </p:sp>
              <p:sp>
                <p:nvSpPr>
                  <p:cNvPr id="1707" name="Rectangle 131"/>
                  <p:cNvSpPr>
                    <a:spLocks noChangeArrowheads="true"/>
                  </p:cNvSpPr>
                  <p:nvPr/>
                </p:nvSpPr>
                <p:spPr bwMode="auto">
                  <a:xfrm>
                    <a:off x="605" y="1776"/>
                    <a:ext cx="307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/>
                    <a:ext uri="{91240B29-F687-4F45-9708-019B960494DF}"/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1pPr>
                    <a:lvl2pPr marL="742950" indent="-28575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2pPr>
                    <a:lvl3pPr marL="11430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3pPr>
                    <a:lvl4pPr marL="16002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4pPr>
                    <a:lvl5pPr marL="20574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5pPr>
                    <a:lvl6pPr marL="25146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6pPr>
                    <a:lvl7pPr marL="29718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7pPr>
                    <a:lvl8pPr marL="34290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8pPr>
                    <a:lvl9pPr marL="38862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9pPr>
                  </a:lstStyle>
                  <a:p>
                    <a:pPr algn="ctr">
                      <a:lnSpc>
                        <a:spcPct val="90000"/>
                      </a:lnSpc>
                      <a:spcBef>
                        <a:spcPct val="30000"/>
                      </a:spcBef>
                    </a:pPr>
                    <a:r>
                      <a:rPr lang="en-US" altLang="zh-CN" sz="1400">
                        <a:solidFill>
                          <a:schemeClr val="tx2"/>
                        </a:solidFill>
                        <a:latin typeface="Helvetica" pitchFamily="34" charset="0"/>
                      </a:rPr>
                      <a:t>11</a:t>
                    </a:r>
                    <a:endParaRPr/>
                  </a:p>
                </p:txBody>
              </p:sp>
            </p:grpSp>
            <p:grpSp>
              <p:nvGrpSpPr>
                <p:cNvPr id="1708" name="Group 132"/>
                <p:cNvGrpSpPr/>
                <p:nvPr/>
              </p:nvGrpSpPr>
              <p:grpSpPr>
                <a:xfrm>
                  <a:off x="1526" y="2880"/>
                  <a:ext cx="307" cy="384"/>
                  <a:chOff x="605" y="1776"/>
                  <a:chExt cx="307" cy="384"/>
                </a:xfrm>
              </p:grpSpPr>
              <p:sp>
                <p:nvSpPr>
                  <p:cNvPr id="1709" name="Rectangle 133"/>
                  <p:cNvSpPr>
                    <a:spLocks noChangeArrowheads="true"/>
                  </p:cNvSpPr>
                  <p:nvPr/>
                </p:nvSpPr>
                <p:spPr bwMode="auto">
                  <a:xfrm>
                    <a:off x="605" y="1968"/>
                    <a:ext cx="307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/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1pPr>
                    <a:lvl2pPr marL="742950" indent="-28575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2pPr>
                    <a:lvl3pPr marL="11430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3pPr>
                    <a:lvl4pPr marL="16002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4pPr>
                    <a:lvl5pPr marL="20574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5pPr>
                    <a:lvl6pPr marL="25146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6pPr>
                    <a:lvl7pPr marL="29718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7pPr>
                    <a:lvl8pPr marL="34290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8pPr>
                    <a:lvl9pPr marL="38862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9pPr>
                  </a:lstStyle>
                  <a:p>
                    <a:pPr/>
                    <a:endParaRPr lang="zh-CN" altLang="en-US"/>
                  </a:p>
                </p:txBody>
              </p:sp>
              <p:sp>
                <p:nvSpPr>
                  <p:cNvPr id="1710" name="Rectangle 134"/>
                  <p:cNvSpPr>
                    <a:spLocks noChangeArrowheads="true"/>
                  </p:cNvSpPr>
                  <p:nvPr/>
                </p:nvSpPr>
                <p:spPr bwMode="auto">
                  <a:xfrm>
                    <a:off x="605" y="1776"/>
                    <a:ext cx="307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/>
                    <a:ext uri="{91240B29-F687-4F45-9708-019B960494DF}"/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1pPr>
                    <a:lvl2pPr marL="742950" indent="-28575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2pPr>
                    <a:lvl3pPr marL="11430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3pPr>
                    <a:lvl4pPr marL="16002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4pPr>
                    <a:lvl5pPr marL="20574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5pPr>
                    <a:lvl6pPr marL="25146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6pPr>
                    <a:lvl7pPr marL="29718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7pPr>
                    <a:lvl8pPr marL="34290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8pPr>
                    <a:lvl9pPr marL="38862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9pPr>
                  </a:lstStyle>
                  <a:p>
                    <a:pPr algn="ctr">
                      <a:lnSpc>
                        <a:spcPct val="90000"/>
                      </a:lnSpc>
                      <a:spcBef>
                        <a:spcPct val="30000"/>
                      </a:spcBef>
                    </a:pPr>
                    <a:r>
                      <a:rPr lang="en-US" altLang="zh-CN" sz="1400">
                        <a:solidFill>
                          <a:schemeClr val="tx2"/>
                        </a:solidFill>
                        <a:latin typeface="Helvetica" pitchFamily="34" charset="0"/>
                      </a:rPr>
                      <a:t>10</a:t>
                    </a:r>
                    <a:endParaRPr/>
                  </a:p>
                </p:txBody>
              </p:sp>
            </p:grpSp>
            <p:grpSp>
              <p:nvGrpSpPr>
                <p:cNvPr id="1711" name="Group 135"/>
                <p:cNvGrpSpPr/>
                <p:nvPr/>
              </p:nvGrpSpPr>
              <p:grpSpPr>
                <a:xfrm>
                  <a:off x="1833" y="2880"/>
                  <a:ext cx="307" cy="384"/>
                  <a:chOff x="605" y="1776"/>
                  <a:chExt cx="307" cy="384"/>
                </a:xfrm>
              </p:grpSpPr>
              <p:sp>
                <p:nvSpPr>
                  <p:cNvPr id="1712" name="Rectangle 136"/>
                  <p:cNvSpPr>
                    <a:spLocks noChangeArrowheads="true"/>
                  </p:cNvSpPr>
                  <p:nvPr/>
                </p:nvSpPr>
                <p:spPr bwMode="auto">
                  <a:xfrm>
                    <a:off x="605" y="1968"/>
                    <a:ext cx="307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/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1pPr>
                    <a:lvl2pPr marL="742950" indent="-28575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2pPr>
                    <a:lvl3pPr marL="11430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3pPr>
                    <a:lvl4pPr marL="16002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4pPr>
                    <a:lvl5pPr marL="20574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5pPr>
                    <a:lvl6pPr marL="25146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6pPr>
                    <a:lvl7pPr marL="29718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7pPr>
                    <a:lvl8pPr marL="34290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8pPr>
                    <a:lvl9pPr marL="38862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9pPr>
                  </a:lstStyle>
                  <a:p>
                    <a:pPr/>
                    <a:endParaRPr lang="zh-CN" altLang="en-US"/>
                  </a:p>
                </p:txBody>
              </p:sp>
              <p:sp>
                <p:nvSpPr>
                  <p:cNvPr id="1713" name="Rectangle 137"/>
                  <p:cNvSpPr>
                    <a:spLocks noChangeArrowheads="true"/>
                  </p:cNvSpPr>
                  <p:nvPr/>
                </p:nvSpPr>
                <p:spPr bwMode="auto">
                  <a:xfrm>
                    <a:off x="605" y="1776"/>
                    <a:ext cx="307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/>
                    <a:ext uri="{91240B29-F687-4F45-9708-019B960494DF}"/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1pPr>
                    <a:lvl2pPr marL="742950" indent="-28575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2pPr>
                    <a:lvl3pPr marL="11430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3pPr>
                    <a:lvl4pPr marL="16002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4pPr>
                    <a:lvl5pPr marL="20574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5pPr>
                    <a:lvl6pPr marL="25146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6pPr>
                    <a:lvl7pPr marL="29718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7pPr>
                    <a:lvl8pPr marL="34290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8pPr>
                    <a:lvl9pPr marL="38862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9pPr>
                  </a:lstStyle>
                  <a:p>
                    <a:pPr algn="ctr">
                      <a:lnSpc>
                        <a:spcPct val="90000"/>
                      </a:lnSpc>
                      <a:spcBef>
                        <a:spcPct val="30000"/>
                      </a:spcBef>
                    </a:pPr>
                    <a:r>
                      <a:rPr lang="en-US" altLang="zh-CN" sz="1400">
                        <a:solidFill>
                          <a:schemeClr val="tx2"/>
                        </a:solidFill>
                        <a:latin typeface="Helvetica" pitchFamily="34" charset="0"/>
                      </a:rPr>
                      <a:t>9</a:t>
                    </a:r>
                    <a:endParaRPr/>
                  </a:p>
                </p:txBody>
              </p:sp>
            </p:grpSp>
            <p:grpSp>
              <p:nvGrpSpPr>
                <p:cNvPr id="1714" name="Group 138"/>
                <p:cNvGrpSpPr/>
                <p:nvPr/>
              </p:nvGrpSpPr>
              <p:grpSpPr>
                <a:xfrm>
                  <a:off x="2140" y="2880"/>
                  <a:ext cx="307" cy="384"/>
                  <a:chOff x="605" y="1776"/>
                  <a:chExt cx="307" cy="384"/>
                </a:xfrm>
              </p:grpSpPr>
              <p:sp>
                <p:nvSpPr>
                  <p:cNvPr id="1715" name="Rectangle 139"/>
                  <p:cNvSpPr>
                    <a:spLocks noChangeArrowheads="true"/>
                  </p:cNvSpPr>
                  <p:nvPr/>
                </p:nvSpPr>
                <p:spPr bwMode="auto">
                  <a:xfrm>
                    <a:off x="605" y="1968"/>
                    <a:ext cx="307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/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1pPr>
                    <a:lvl2pPr marL="742950" indent="-28575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2pPr>
                    <a:lvl3pPr marL="11430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3pPr>
                    <a:lvl4pPr marL="16002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4pPr>
                    <a:lvl5pPr marL="20574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5pPr>
                    <a:lvl6pPr marL="25146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6pPr>
                    <a:lvl7pPr marL="29718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7pPr>
                    <a:lvl8pPr marL="34290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8pPr>
                    <a:lvl9pPr marL="38862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9pPr>
                  </a:lstStyle>
                  <a:p>
                    <a:pPr/>
                    <a:endParaRPr lang="zh-CN" altLang="en-US"/>
                  </a:p>
                </p:txBody>
              </p:sp>
              <p:sp>
                <p:nvSpPr>
                  <p:cNvPr id="1716" name="Rectangle 140"/>
                  <p:cNvSpPr>
                    <a:spLocks noChangeArrowheads="true"/>
                  </p:cNvSpPr>
                  <p:nvPr/>
                </p:nvSpPr>
                <p:spPr bwMode="auto">
                  <a:xfrm>
                    <a:off x="605" y="1776"/>
                    <a:ext cx="307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/>
                    <a:ext uri="{91240B29-F687-4F45-9708-019B960494DF}"/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1pPr>
                    <a:lvl2pPr marL="742950" indent="-28575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2pPr>
                    <a:lvl3pPr marL="11430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3pPr>
                    <a:lvl4pPr marL="16002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4pPr>
                    <a:lvl5pPr marL="20574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5pPr>
                    <a:lvl6pPr marL="25146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6pPr>
                    <a:lvl7pPr marL="29718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7pPr>
                    <a:lvl8pPr marL="34290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8pPr>
                    <a:lvl9pPr marL="38862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9pPr>
                  </a:lstStyle>
                  <a:p>
                    <a:pPr algn="ctr">
                      <a:lnSpc>
                        <a:spcPct val="90000"/>
                      </a:lnSpc>
                      <a:spcBef>
                        <a:spcPct val="30000"/>
                      </a:spcBef>
                    </a:pPr>
                    <a:r>
                      <a:rPr lang="en-US" altLang="zh-CN" sz="1400">
                        <a:solidFill>
                          <a:schemeClr val="tx2"/>
                        </a:solidFill>
                        <a:latin typeface="Helvetica" pitchFamily="34" charset="0"/>
                      </a:rPr>
                      <a:t>8</a:t>
                    </a:r>
                    <a:endParaRPr/>
                  </a:p>
                </p:txBody>
              </p:sp>
            </p:grpSp>
            <p:grpSp>
              <p:nvGrpSpPr>
                <p:cNvPr id="1717" name="Group 141"/>
                <p:cNvGrpSpPr/>
                <p:nvPr/>
              </p:nvGrpSpPr>
              <p:grpSpPr>
                <a:xfrm>
                  <a:off x="2447" y="2880"/>
                  <a:ext cx="307" cy="384"/>
                  <a:chOff x="605" y="1776"/>
                  <a:chExt cx="307" cy="384"/>
                </a:xfrm>
              </p:grpSpPr>
              <p:sp>
                <p:nvSpPr>
                  <p:cNvPr id="1718" name="Rectangle 142"/>
                  <p:cNvSpPr>
                    <a:spLocks noChangeArrowheads="true"/>
                  </p:cNvSpPr>
                  <p:nvPr/>
                </p:nvSpPr>
                <p:spPr bwMode="auto">
                  <a:xfrm>
                    <a:off x="605" y="1968"/>
                    <a:ext cx="307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/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1pPr>
                    <a:lvl2pPr marL="742950" indent="-28575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2pPr>
                    <a:lvl3pPr marL="11430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3pPr>
                    <a:lvl4pPr marL="16002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4pPr>
                    <a:lvl5pPr marL="20574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5pPr>
                    <a:lvl6pPr marL="25146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6pPr>
                    <a:lvl7pPr marL="29718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7pPr>
                    <a:lvl8pPr marL="34290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8pPr>
                    <a:lvl9pPr marL="38862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9pPr>
                  </a:lstStyle>
                  <a:p>
                    <a:pPr/>
                    <a:endParaRPr lang="zh-CN" altLang="en-US"/>
                  </a:p>
                </p:txBody>
              </p:sp>
              <p:sp>
                <p:nvSpPr>
                  <p:cNvPr id="1719" name="Rectangle 143"/>
                  <p:cNvSpPr>
                    <a:spLocks noChangeArrowheads="true"/>
                  </p:cNvSpPr>
                  <p:nvPr/>
                </p:nvSpPr>
                <p:spPr bwMode="auto">
                  <a:xfrm>
                    <a:off x="605" y="1776"/>
                    <a:ext cx="307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/>
                    <a:ext uri="{91240B29-F687-4F45-9708-019B960494DF}"/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1pPr>
                    <a:lvl2pPr marL="742950" indent="-28575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2pPr>
                    <a:lvl3pPr marL="11430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3pPr>
                    <a:lvl4pPr marL="16002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4pPr>
                    <a:lvl5pPr marL="20574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5pPr>
                    <a:lvl6pPr marL="25146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6pPr>
                    <a:lvl7pPr marL="29718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7pPr>
                    <a:lvl8pPr marL="34290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8pPr>
                    <a:lvl9pPr marL="38862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9pPr>
                  </a:lstStyle>
                  <a:p>
                    <a:pPr algn="ctr">
                      <a:lnSpc>
                        <a:spcPct val="90000"/>
                      </a:lnSpc>
                      <a:spcBef>
                        <a:spcPct val="30000"/>
                      </a:spcBef>
                    </a:pPr>
                    <a:r>
                      <a:rPr lang="en-US" altLang="zh-CN" sz="1400">
                        <a:solidFill>
                          <a:schemeClr val="tx2"/>
                        </a:solidFill>
                        <a:latin typeface="Helvetica" pitchFamily="34" charset="0"/>
                      </a:rPr>
                      <a:t>7</a:t>
                    </a:r>
                    <a:endParaRPr/>
                  </a:p>
                </p:txBody>
              </p:sp>
            </p:grpSp>
            <p:grpSp>
              <p:nvGrpSpPr>
                <p:cNvPr id="1720" name="Group 144"/>
                <p:cNvGrpSpPr/>
                <p:nvPr/>
              </p:nvGrpSpPr>
              <p:grpSpPr>
                <a:xfrm>
                  <a:off x="2754" y="2880"/>
                  <a:ext cx="307" cy="384"/>
                  <a:chOff x="605" y="1776"/>
                  <a:chExt cx="307" cy="384"/>
                </a:xfrm>
              </p:grpSpPr>
              <p:sp>
                <p:nvSpPr>
                  <p:cNvPr id="1721" name="Rectangle 145"/>
                  <p:cNvSpPr>
                    <a:spLocks noChangeArrowheads="true"/>
                  </p:cNvSpPr>
                  <p:nvPr/>
                </p:nvSpPr>
                <p:spPr bwMode="auto">
                  <a:xfrm>
                    <a:off x="605" y="1968"/>
                    <a:ext cx="307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/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1pPr>
                    <a:lvl2pPr marL="742950" indent="-28575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2pPr>
                    <a:lvl3pPr marL="11430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3pPr>
                    <a:lvl4pPr marL="16002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4pPr>
                    <a:lvl5pPr marL="20574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5pPr>
                    <a:lvl6pPr marL="25146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6pPr>
                    <a:lvl7pPr marL="29718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7pPr>
                    <a:lvl8pPr marL="34290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8pPr>
                    <a:lvl9pPr marL="38862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9pPr>
                  </a:lstStyle>
                  <a:p>
                    <a:pPr/>
                    <a:endParaRPr lang="zh-CN" altLang="en-US"/>
                  </a:p>
                </p:txBody>
              </p:sp>
              <p:sp>
                <p:nvSpPr>
                  <p:cNvPr id="1722" name="Rectangle 146"/>
                  <p:cNvSpPr>
                    <a:spLocks noChangeArrowheads="true"/>
                  </p:cNvSpPr>
                  <p:nvPr/>
                </p:nvSpPr>
                <p:spPr bwMode="auto">
                  <a:xfrm>
                    <a:off x="605" y="1776"/>
                    <a:ext cx="307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/>
                    <a:ext uri="{91240B29-F687-4F45-9708-019B960494DF}"/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1pPr>
                    <a:lvl2pPr marL="742950" indent="-28575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2pPr>
                    <a:lvl3pPr marL="11430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3pPr>
                    <a:lvl4pPr marL="16002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4pPr>
                    <a:lvl5pPr marL="20574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5pPr>
                    <a:lvl6pPr marL="25146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6pPr>
                    <a:lvl7pPr marL="29718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7pPr>
                    <a:lvl8pPr marL="34290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8pPr>
                    <a:lvl9pPr marL="38862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9pPr>
                  </a:lstStyle>
                  <a:p>
                    <a:pPr algn="ctr">
                      <a:lnSpc>
                        <a:spcPct val="90000"/>
                      </a:lnSpc>
                      <a:spcBef>
                        <a:spcPct val="30000"/>
                      </a:spcBef>
                    </a:pPr>
                    <a:r>
                      <a:rPr lang="en-US" altLang="zh-CN" sz="1400">
                        <a:solidFill>
                          <a:schemeClr val="tx2"/>
                        </a:solidFill>
                        <a:latin typeface="Helvetica" pitchFamily="34" charset="0"/>
                      </a:rPr>
                      <a:t>6</a:t>
                    </a:r>
                    <a:endParaRPr/>
                  </a:p>
                </p:txBody>
              </p:sp>
            </p:grpSp>
            <p:grpSp>
              <p:nvGrpSpPr>
                <p:cNvPr id="1723" name="Group 147"/>
                <p:cNvGrpSpPr/>
                <p:nvPr/>
              </p:nvGrpSpPr>
              <p:grpSpPr>
                <a:xfrm>
                  <a:off x="3061" y="2880"/>
                  <a:ext cx="307" cy="384"/>
                  <a:chOff x="605" y="1776"/>
                  <a:chExt cx="307" cy="384"/>
                </a:xfrm>
              </p:grpSpPr>
              <p:sp>
                <p:nvSpPr>
                  <p:cNvPr id="1724" name="Rectangle 148"/>
                  <p:cNvSpPr>
                    <a:spLocks noChangeArrowheads="true"/>
                  </p:cNvSpPr>
                  <p:nvPr/>
                </p:nvSpPr>
                <p:spPr bwMode="auto">
                  <a:xfrm>
                    <a:off x="605" y="1968"/>
                    <a:ext cx="307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/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1pPr>
                    <a:lvl2pPr marL="742950" indent="-28575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2pPr>
                    <a:lvl3pPr marL="11430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3pPr>
                    <a:lvl4pPr marL="16002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4pPr>
                    <a:lvl5pPr marL="20574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5pPr>
                    <a:lvl6pPr marL="25146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6pPr>
                    <a:lvl7pPr marL="29718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7pPr>
                    <a:lvl8pPr marL="34290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8pPr>
                    <a:lvl9pPr marL="38862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9pPr>
                  </a:lstStyle>
                  <a:p>
                    <a:pPr/>
                    <a:endParaRPr lang="zh-CN" altLang="en-US"/>
                  </a:p>
                </p:txBody>
              </p:sp>
              <p:sp>
                <p:nvSpPr>
                  <p:cNvPr id="1725" name="Rectangle 149"/>
                  <p:cNvSpPr>
                    <a:spLocks noChangeArrowheads="true"/>
                  </p:cNvSpPr>
                  <p:nvPr/>
                </p:nvSpPr>
                <p:spPr bwMode="auto">
                  <a:xfrm>
                    <a:off x="605" y="1776"/>
                    <a:ext cx="307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/>
                    <a:ext uri="{91240B29-F687-4F45-9708-019B960494DF}"/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1pPr>
                    <a:lvl2pPr marL="742950" indent="-28575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2pPr>
                    <a:lvl3pPr marL="11430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3pPr>
                    <a:lvl4pPr marL="16002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4pPr>
                    <a:lvl5pPr marL="20574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5pPr>
                    <a:lvl6pPr marL="25146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6pPr>
                    <a:lvl7pPr marL="29718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7pPr>
                    <a:lvl8pPr marL="34290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8pPr>
                    <a:lvl9pPr marL="38862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9pPr>
                  </a:lstStyle>
                  <a:p>
                    <a:pPr algn="ctr">
                      <a:lnSpc>
                        <a:spcPct val="90000"/>
                      </a:lnSpc>
                      <a:spcBef>
                        <a:spcPct val="30000"/>
                      </a:spcBef>
                    </a:pPr>
                    <a:r>
                      <a:rPr lang="en-US" altLang="zh-CN" sz="1400">
                        <a:solidFill>
                          <a:schemeClr val="tx2"/>
                        </a:solidFill>
                        <a:latin typeface="Helvetica" pitchFamily="34" charset="0"/>
                      </a:rPr>
                      <a:t>5</a:t>
                    </a:r>
                    <a:endParaRPr/>
                  </a:p>
                </p:txBody>
              </p:sp>
            </p:grpSp>
            <p:grpSp>
              <p:nvGrpSpPr>
                <p:cNvPr id="1726" name="Group 150"/>
                <p:cNvGrpSpPr/>
                <p:nvPr/>
              </p:nvGrpSpPr>
              <p:grpSpPr>
                <a:xfrm>
                  <a:off x="3368" y="2880"/>
                  <a:ext cx="307" cy="384"/>
                  <a:chOff x="605" y="1776"/>
                  <a:chExt cx="307" cy="384"/>
                </a:xfrm>
              </p:grpSpPr>
              <p:sp>
                <p:nvSpPr>
                  <p:cNvPr id="1727" name="Rectangle 151"/>
                  <p:cNvSpPr>
                    <a:spLocks noChangeArrowheads="true"/>
                  </p:cNvSpPr>
                  <p:nvPr/>
                </p:nvSpPr>
                <p:spPr bwMode="auto">
                  <a:xfrm>
                    <a:off x="605" y="1968"/>
                    <a:ext cx="307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/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1pPr>
                    <a:lvl2pPr marL="742950" indent="-28575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2pPr>
                    <a:lvl3pPr marL="11430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3pPr>
                    <a:lvl4pPr marL="16002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4pPr>
                    <a:lvl5pPr marL="20574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5pPr>
                    <a:lvl6pPr marL="25146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6pPr>
                    <a:lvl7pPr marL="29718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7pPr>
                    <a:lvl8pPr marL="34290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8pPr>
                    <a:lvl9pPr marL="38862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9pPr>
                  </a:lstStyle>
                  <a:p>
                    <a:pPr/>
                    <a:endParaRPr lang="zh-CN" altLang="en-US"/>
                  </a:p>
                </p:txBody>
              </p:sp>
              <p:sp>
                <p:nvSpPr>
                  <p:cNvPr id="1728" name="Rectangle 152"/>
                  <p:cNvSpPr>
                    <a:spLocks noChangeArrowheads="true"/>
                  </p:cNvSpPr>
                  <p:nvPr/>
                </p:nvSpPr>
                <p:spPr bwMode="auto">
                  <a:xfrm>
                    <a:off x="605" y="1776"/>
                    <a:ext cx="307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/>
                    <a:ext uri="{91240B29-F687-4F45-9708-019B960494DF}"/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1pPr>
                    <a:lvl2pPr marL="742950" indent="-28575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2pPr>
                    <a:lvl3pPr marL="11430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3pPr>
                    <a:lvl4pPr marL="16002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4pPr>
                    <a:lvl5pPr marL="20574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5pPr>
                    <a:lvl6pPr marL="25146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6pPr>
                    <a:lvl7pPr marL="29718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7pPr>
                    <a:lvl8pPr marL="34290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8pPr>
                    <a:lvl9pPr marL="38862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9pPr>
                  </a:lstStyle>
                  <a:p>
                    <a:pPr algn="ctr">
                      <a:lnSpc>
                        <a:spcPct val="90000"/>
                      </a:lnSpc>
                      <a:spcBef>
                        <a:spcPct val="30000"/>
                      </a:spcBef>
                    </a:pPr>
                    <a:r>
                      <a:rPr lang="en-US" altLang="zh-CN" sz="1400">
                        <a:solidFill>
                          <a:schemeClr val="tx2"/>
                        </a:solidFill>
                        <a:latin typeface="Helvetica" pitchFamily="34" charset="0"/>
                      </a:rPr>
                      <a:t>4</a:t>
                    </a:r>
                    <a:endParaRPr/>
                  </a:p>
                </p:txBody>
              </p:sp>
            </p:grpSp>
            <p:grpSp>
              <p:nvGrpSpPr>
                <p:cNvPr id="1729" name="Group 153"/>
                <p:cNvGrpSpPr/>
                <p:nvPr/>
              </p:nvGrpSpPr>
              <p:grpSpPr>
                <a:xfrm>
                  <a:off x="3675" y="2880"/>
                  <a:ext cx="307" cy="384"/>
                  <a:chOff x="605" y="1776"/>
                  <a:chExt cx="307" cy="384"/>
                </a:xfrm>
              </p:grpSpPr>
              <p:sp>
                <p:nvSpPr>
                  <p:cNvPr id="1730" name="Rectangle 154"/>
                  <p:cNvSpPr>
                    <a:spLocks noChangeArrowheads="true"/>
                  </p:cNvSpPr>
                  <p:nvPr/>
                </p:nvSpPr>
                <p:spPr bwMode="auto">
                  <a:xfrm>
                    <a:off x="605" y="1968"/>
                    <a:ext cx="307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/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1pPr>
                    <a:lvl2pPr marL="742950" indent="-28575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2pPr>
                    <a:lvl3pPr marL="11430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3pPr>
                    <a:lvl4pPr marL="16002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4pPr>
                    <a:lvl5pPr marL="20574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5pPr>
                    <a:lvl6pPr marL="25146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6pPr>
                    <a:lvl7pPr marL="29718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7pPr>
                    <a:lvl8pPr marL="34290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8pPr>
                    <a:lvl9pPr marL="38862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9pPr>
                  </a:lstStyle>
                  <a:p>
                    <a:pPr/>
                    <a:endParaRPr lang="zh-CN" altLang="en-US"/>
                  </a:p>
                </p:txBody>
              </p:sp>
              <p:sp>
                <p:nvSpPr>
                  <p:cNvPr id="1731" name="Rectangle 155"/>
                  <p:cNvSpPr>
                    <a:spLocks noChangeArrowheads="true"/>
                  </p:cNvSpPr>
                  <p:nvPr/>
                </p:nvSpPr>
                <p:spPr bwMode="auto">
                  <a:xfrm>
                    <a:off x="605" y="1776"/>
                    <a:ext cx="307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/>
                    <a:ext uri="{91240B29-F687-4F45-9708-019B960494DF}"/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1pPr>
                    <a:lvl2pPr marL="742950" indent="-28575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2pPr>
                    <a:lvl3pPr marL="11430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3pPr>
                    <a:lvl4pPr marL="16002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4pPr>
                    <a:lvl5pPr marL="20574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5pPr>
                    <a:lvl6pPr marL="25146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6pPr>
                    <a:lvl7pPr marL="29718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7pPr>
                    <a:lvl8pPr marL="34290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8pPr>
                    <a:lvl9pPr marL="38862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9pPr>
                  </a:lstStyle>
                  <a:p>
                    <a:pPr algn="ctr">
                      <a:lnSpc>
                        <a:spcPct val="90000"/>
                      </a:lnSpc>
                      <a:spcBef>
                        <a:spcPct val="30000"/>
                      </a:spcBef>
                    </a:pPr>
                    <a:r>
                      <a:rPr lang="en-US" altLang="zh-CN" sz="1400">
                        <a:solidFill>
                          <a:schemeClr val="tx2"/>
                        </a:solidFill>
                        <a:latin typeface="Helvetica" pitchFamily="34" charset="0"/>
                      </a:rPr>
                      <a:t>3</a:t>
                    </a:r>
                    <a:endParaRPr/>
                  </a:p>
                </p:txBody>
              </p:sp>
            </p:grpSp>
            <p:grpSp>
              <p:nvGrpSpPr>
                <p:cNvPr id="1732" name="Group 156"/>
                <p:cNvGrpSpPr/>
                <p:nvPr/>
              </p:nvGrpSpPr>
              <p:grpSpPr>
                <a:xfrm>
                  <a:off x="3982" y="2880"/>
                  <a:ext cx="307" cy="384"/>
                  <a:chOff x="605" y="1776"/>
                  <a:chExt cx="307" cy="384"/>
                </a:xfrm>
              </p:grpSpPr>
              <p:sp>
                <p:nvSpPr>
                  <p:cNvPr id="1733" name="Rectangle 157"/>
                  <p:cNvSpPr>
                    <a:spLocks noChangeArrowheads="true"/>
                  </p:cNvSpPr>
                  <p:nvPr/>
                </p:nvSpPr>
                <p:spPr bwMode="auto">
                  <a:xfrm>
                    <a:off x="605" y="1968"/>
                    <a:ext cx="307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/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1pPr>
                    <a:lvl2pPr marL="742950" indent="-28575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2pPr>
                    <a:lvl3pPr marL="11430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3pPr>
                    <a:lvl4pPr marL="16002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4pPr>
                    <a:lvl5pPr marL="20574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5pPr>
                    <a:lvl6pPr marL="25146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6pPr>
                    <a:lvl7pPr marL="29718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7pPr>
                    <a:lvl8pPr marL="34290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8pPr>
                    <a:lvl9pPr marL="38862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9pPr>
                  </a:lstStyle>
                  <a:p>
                    <a:pPr/>
                    <a:endParaRPr lang="zh-CN" altLang="en-US"/>
                  </a:p>
                </p:txBody>
              </p:sp>
              <p:sp>
                <p:nvSpPr>
                  <p:cNvPr id="1734" name="Rectangle 158"/>
                  <p:cNvSpPr>
                    <a:spLocks noChangeArrowheads="true"/>
                  </p:cNvSpPr>
                  <p:nvPr/>
                </p:nvSpPr>
                <p:spPr bwMode="auto">
                  <a:xfrm>
                    <a:off x="605" y="1776"/>
                    <a:ext cx="307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/>
                    <a:ext uri="{91240B29-F687-4F45-9708-019B960494DF}"/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1pPr>
                    <a:lvl2pPr marL="742950" indent="-28575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2pPr>
                    <a:lvl3pPr marL="11430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3pPr>
                    <a:lvl4pPr marL="16002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4pPr>
                    <a:lvl5pPr marL="20574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5pPr>
                    <a:lvl6pPr marL="25146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6pPr>
                    <a:lvl7pPr marL="29718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7pPr>
                    <a:lvl8pPr marL="34290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8pPr>
                    <a:lvl9pPr marL="38862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9pPr>
                  </a:lstStyle>
                  <a:p>
                    <a:pPr algn="ctr">
                      <a:lnSpc>
                        <a:spcPct val="90000"/>
                      </a:lnSpc>
                      <a:spcBef>
                        <a:spcPct val="30000"/>
                      </a:spcBef>
                    </a:pPr>
                    <a:r>
                      <a:rPr lang="en-US" altLang="zh-CN" sz="1400">
                        <a:solidFill>
                          <a:schemeClr val="tx2"/>
                        </a:solidFill>
                        <a:latin typeface="Helvetica" pitchFamily="34" charset="0"/>
                      </a:rPr>
                      <a:t>2</a:t>
                    </a:r>
                    <a:endParaRPr/>
                  </a:p>
                </p:txBody>
              </p:sp>
            </p:grpSp>
            <p:grpSp>
              <p:nvGrpSpPr>
                <p:cNvPr id="1735" name="Group 159"/>
                <p:cNvGrpSpPr/>
                <p:nvPr/>
              </p:nvGrpSpPr>
              <p:grpSpPr>
                <a:xfrm>
                  <a:off x="4289" y="2880"/>
                  <a:ext cx="307" cy="384"/>
                  <a:chOff x="605" y="1776"/>
                  <a:chExt cx="307" cy="384"/>
                </a:xfrm>
              </p:grpSpPr>
              <p:sp>
                <p:nvSpPr>
                  <p:cNvPr id="1736" name="Rectangle 160"/>
                  <p:cNvSpPr>
                    <a:spLocks noChangeArrowheads="true"/>
                  </p:cNvSpPr>
                  <p:nvPr/>
                </p:nvSpPr>
                <p:spPr bwMode="auto">
                  <a:xfrm>
                    <a:off x="605" y="1968"/>
                    <a:ext cx="307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/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1pPr>
                    <a:lvl2pPr marL="742950" indent="-28575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2pPr>
                    <a:lvl3pPr marL="11430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3pPr>
                    <a:lvl4pPr marL="16002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4pPr>
                    <a:lvl5pPr marL="20574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5pPr>
                    <a:lvl6pPr marL="25146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6pPr>
                    <a:lvl7pPr marL="29718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7pPr>
                    <a:lvl8pPr marL="34290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8pPr>
                    <a:lvl9pPr marL="38862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9pPr>
                  </a:lstStyle>
                  <a:p>
                    <a:pPr/>
                    <a:endParaRPr lang="zh-CN" altLang="en-US"/>
                  </a:p>
                </p:txBody>
              </p:sp>
              <p:sp>
                <p:nvSpPr>
                  <p:cNvPr id="1737" name="Rectangle 161"/>
                  <p:cNvSpPr>
                    <a:spLocks noChangeArrowheads="true"/>
                  </p:cNvSpPr>
                  <p:nvPr/>
                </p:nvSpPr>
                <p:spPr bwMode="auto">
                  <a:xfrm>
                    <a:off x="605" y="1776"/>
                    <a:ext cx="307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/>
                    <a:ext uri="{91240B29-F687-4F45-9708-019B960494DF}"/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1pPr>
                    <a:lvl2pPr marL="742950" indent="-28575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2pPr>
                    <a:lvl3pPr marL="11430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3pPr>
                    <a:lvl4pPr marL="16002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4pPr>
                    <a:lvl5pPr marL="20574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5pPr>
                    <a:lvl6pPr marL="25146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6pPr>
                    <a:lvl7pPr marL="29718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7pPr>
                    <a:lvl8pPr marL="34290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8pPr>
                    <a:lvl9pPr marL="38862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9pPr>
                  </a:lstStyle>
                  <a:p>
                    <a:pPr algn="ctr">
                      <a:lnSpc>
                        <a:spcPct val="90000"/>
                      </a:lnSpc>
                      <a:spcBef>
                        <a:spcPct val="30000"/>
                      </a:spcBef>
                    </a:pPr>
                    <a:r>
                      <a:rPr lang="en-US" altLang="zh-CN" sz="1400">
                        <a:solidFill>
                          <a:schemeClr val="tx2"/>
                        </a:solidFill>
                        <a:latin typeface="Helvetica" pitchFamily="34" charset="0"/>
                      </a:rPr>
                      <a:t>1</a:t>
                    </a:r>
                    <a:endParaRPr/>
                  </a:p>
                </p:txBody>
              </p:sp>
            </p:grpSp>
            <p:grpSp>
              <p:nvGrpSpPr>
                <p:cNvPr id="1738" name="Group 162"/>
                <p:cNvGrpSpPr/>
                <p:nvPr/>
              </p:nvGrpSpPr>
              <p:grpSpPr>
                <a:xfrm>
                  <a:off x="4596" y="2880"/>
                  <a:ext cx="307" cy="384"/>
                  <a:chOff x="605" y="1776"/>
                  <a:chExt cx="307" cy="384"/>
                </a:xfrm>
              </p:grpSpPr>
              <p:sp>
                <p:nvSpPr>
                  <p:cNvPr id="1739" name="Rectangle 163"/>
                  <p:cNvSpPr>
                    <a:spLocks noChangeArrowheads="true"/>
                  </p:cNvSpPr>
                  <p:nvPr/>
                </p:nvSpPr>
                <p:spPr bwMode="auto">
                  <a:xfrm>
                    <a:off x="605" y="1968"/>
                    <a:ext cx="307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/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1pPr>
                    <a:lvl2pPr marL="742950" indent="-28575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2pPr>
                    <a:lvl3pPr marL="11430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3pPr>
                    <a:lvl4pPr marL="16002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4pPr>
                    <a:lvl5pPr marL="20574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5pPr>
                    <a:lvl6pPr marL="25146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6pPr>
                    <a:lvl7pPr marL="29718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7pPr>
                    <a:lvl8pPr marL="34290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8pPr>
                    <a:lvl9pPr marL="38862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9pPr>
                  </a:lstStyle>
                  <a:p>
                    <a:pPr/>
                    <a:endParaRPr lang="zh-CN" altLang="en-US"/>
                  </a:p>
                </p:txBody>
              </p:sp>
              <p:sp>
                <p:nvSpPr>
                  <p:cNvPr id="1740" name="Rectangle 164"/>
                  <p:cNvSpPr>
                    <a:spLocks noChangeArrowheads="true"/>
                  </p:cNvSpPr>
                  <p:nvPr/>
                </p:nvSpPr>
                <p:spPr bwMode="auto">
                  <a:xfrm>
                    <a:off x="605" y="1776"/>
                    <a:ext cx="307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/>
                    <a:ext uri="{91240B29-F687-4F45-9708-019B960494DF}"/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1pPr>
                    <a:lvl2pPr marL="742950" indent="-28575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2pPr>
                    <a:lvl3pPr marL="11430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3pPr>
                    <a:lvl4pPr marL="16002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4pPr>
                    <a:lvl5pPr marL="20574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5pPr>
                    <a:lvl6pPr marL="25146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6pPr>
                    <a:lvl7pPr marL="29718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7pPr>
                    <a:lvl8pPr marL="34290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8pPr>
                    <a:lvl9pPr marL="38862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9pPr>
                  </a:lstStyle>
                  <a:p>
                    <a:pPr algn="ctr">
                      <a:lnSpc>
                        <a:spcPct val="90000"/>
                      </a:lnSpc>
                      <a:spcBef>
                        <a:spcPct val="30000"/>
                      </a:spcBef>
                    </a:pPr>
                    <a:r>
                      <a:rPr lang="en-US" altLang="zh-CN" sz="1400">
                        <a:solidFill>
                          <a:schemeClr val="tx2"/>
                        </a:solidFill>
                        <a:latin typeface="Helvetica" pitchFamily="34" charset="0"/>
                      </a:rPr>
                      <a:t>0</a:t>
                    </a:r>
                    <a:endParaRPr/>
                  </a:p>
                </p:txBody>
              </p:sp>
            </p:grpSp>
          </p:grpSp>
          <p:grpSp>
            <p:nvGrpSpPr>
              <p:cNvPr id="1741" name="Group 165"/>
              <p:cNvGrpSpPr/>
              <p:nvPr/>
            </p:nvGrpSpPr>
            <p:grpSpPr>
              <a:xfrm>
                <a:off x="2931" y="2444"/>
                <a:ext cx="1842" cy="212"/>
                <a:chOff x="3061" y="2261"/>
                <a:chExt cx="1842" cy="212"/>
              </a:xfrm>
            </p:grpSpPr>
            <p:sp>
              <p:nvSpPr>
                <p:cNvPr id="1742" name="Line 166"/>
                <p:cNvSpPr>
                  <a:spLocks noChangeShapeType="true"/>
                </p:cNvSpPr>
                <p:nvPr/>
              </p:nvSpPr>
              <p:spPr bwMode="auto">
                <a:xfrm>
                  <a:off x="3061" y="2352"/>
                  <a:ext cx="184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arrow" w="med" len="med"/>
                  <a:tailEnd type="arrow" w="med" len="med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/>
                <a:lstStyle/>
                <a:p>
                  <a:pPr/>
                  <a:endParaRPr lang="zh-CN" altLang="en-US"/>
                </a:p>
              </p:txBody>
            </p:sp>
            <p:sp>
              <p:nvSpPr>
                <p:cNvPr id="1743" name="Text Box 167"/>
                <p:cNvSpPr txBox="true">
                  <a:spLocks noChangeArrowheads="true"/>
                </p:cNvSpPr>
                <p:nvPr/>
              </p:nvSpPr>
              <p:spPr bwMode="auto">
                <a:xfrm>
                  <a:off x="3770" y="2261"/>
                  <a:ext cx="418" cy="21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/>
                </a:extLst>
              </p:spPr>
              <p:txBody>
                <a:bodyPr wrap="none" lIns="90487" tIns="44450" rIns="90487" bIns="44450">
                  <a:spAutoFit/>
                </a:bodyPr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800">
                      <a:solidFill>
                        <a:schemeClr val="tx2"/>
                      </a:solidFill>
                      <a:latin typeface="Helvetica" pitchFamily="34" charset="0"/>
                    </a:rPr>
                    <a:t>PPO</a:t>
                  </a:r>
                  <a:endParaRPr/>
                </a:p>
              </p:txBody>
            </p:sp>
          </p:grpSp>
          <p:grpSp>
            <p:nvGrpSpPr>
              <p:cNvPr id="1744" name="Group 168"/>
              <p:cNvGrpSpPr/>
              <p:nvPr/>
            </p:nvGrpSpPr>
            <p:grpSpPr>
              <a:xfrm>
                <a:off x="1107" y="2444"/>
                <a:ext cx="1842" cy="212"/>
                <a:chOff x="3061" y="2261"/>
                <a:chExt cx="1842" cy="212"/>
              </a:xfrm>
            </p:grpSpPr>
            <p:sp>
              <p:nvSpPr>
                <p:cNvPr id="1745" name="Line 169"/>
                <p:cNvSpPr>
                  <a:spLocks noChangeShapeType="true"/>
                </p:cNvSpPr>
                <p:nvPr/>
              </p:nvSpPr>
              <p:spPr bwMode="auto">
                <a:xfrm>
                  <a:off x="3061" y="2352"/>
                  <a:ext cx="184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arrow" w="med" len="med"/>
                  <a:tailEnd type="arrow" w="med" len="med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/>
                <a:lstStyle/>
                <a:p>
                  <a:pPr/>
                  <a:endParaRPr lang="zh-CN" altLang="en-US"/>
                </a:p>
              </p:txBody>
            </p:sp>
            <p:sp>
              <p:nvSpPr>
                <p:cNvPr id="1746" name="Text Box 170"/>
                <p:cNvSpPr txBox="true">
                  <a:spLocks noChangeArrowheads="true"/>
                </p:cNvSpPr>
                <p:nvPr/>
              </p:nvSpPr>
              <p:spPr bwMode="auto">
                <a:xfrm>
                  <a:off x="3770" y="2261"/>
                  <a:ext cx="410" cy="21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/>
                </a:extLst>
              </p:spPr>
              <p:txBody>
                <a:bodyPr wrap="none" lIns="90487" tIns="44450" rIns="90487" bIns="44450">
                  <a:spAutoFit/>
                </a:bodyPr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800">
                      <a:solidFill>
                        <a:schemeClr val="tx2"/>
                      </a:solidFill>
                      <a:latin typeface="Helvetica" pitchFamily="34" charset="0"/>
                    </a:rPr>
                    <a:t>PPN</a:t>
                  </a:r>
                  <a:endParaRPr/>
                </a:p>
              </p:txBody>
            </p:sp>
          </p:grpSp>
          <p:grpSp>
            <p:nvGrpSpPr>
              <p:cNvPr id="1747" name="Group 171"/>
              <p:cNvGrpSpPr/>
              <p:nvPr/>
            </p:nvGrpSpPr>
            <p:grpSpPr>
              <a:xfrm>
                <a:off x="4130" y="1789"/>
                <a:ext cx="625" cy="195"/>
                <a:chOff x="2445" y="1645"/>
                <a:chExt cx="625" cy="195"/>
              </a:xfrm>
            </p:grpSpPr>
            <p:sp>
              <p:nvSpPr>
                <p:cNvPr id="1748" name="Line 172"/>
                <p:cNvSpPr>
                  <a:spLocks noChangeShapeType="true"/>
                </p:cNvSpPr>
                <p:nvPr/>
              </p:nvSpPr>
              <p:spPr bwMode="auto">
                <a:xfrm>
                  <a:off x="2445" y="1723"/>
                  <a:ext cx="62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arrow" w="med" len="med"/>
                  <a:tailEnd type="arrow" w="med" len="med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/>
                <a:lstStyle/>
                <a:p>
                  <a:pPr/>
                  <a:endParaRPr lang="zh-CN" altLang="en-US"/>
                </a:p>
              </p:txBody>
            </p:sp>
            <p:sp>
              <p:nvSpPr>
                <p:cNvPr id="1749" name="Text Box 173"/>
                <p:cNvSpPr txBox="true">
                  <a:spLocks noChangeArrowheads="true"/>
                </p:cNvSpPr>
                <p:nvPr/>
              </p:nvSpPr>
              <p:spPr bwMode="auto">
                <a:xfrm>
                  <a:off x="2632" y="1645"/>
                  <a:ext cx="306" cy="19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/>
                </a:extLst>
              </p:spPr>
              <p:txBody>
                <a:bodyPr wrap="none" lIns="90487" tIns="44450" rIns="90487" bIns="44450">
                  <a:spAutoFit/>
                </a:bodyPr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600">
                      <a:solidFill>
                        <a:schemeClr val="tx2"/>
                      </a:solidFill>
                      <a:latin typeface="Helvetica" pitchFamily="34" charset="0"/>
                    </a:rPr>
                    <a:t>CO</a:t>
                  </a:r>
                  <a:endParaRPr/>
                </a:p>
              </p:txBody>
            </p:sp>
          </p:grpSp>
          <p:grpSp>
            <p:nvGrpSpPr>
              <p:cNvPr id="1750" name="Group 174"/>
              <p:cNvGrpSpPr/>
              <p:nvPr/>
            </p:nvGrpSpPr>
            <p:grpSpPr>
              <a:xfrm>
                <a:off x="2920" y="1776"/>
                <a:ext cx="1214" cy="195"/>
                <a:chOff x="2445" y="1645"/>
                <a:chExt cx="625" cy="195"/>
              </a:xfrm>
            </p:grpSpPr>
            <p:sp>
              <p:nvSpPr>
                <p:cNvPr id="1751" name="Line 175"/>
                <p:cNvSpPr>
                  <a:spLocks noChangeShapeType="true"/>
                </p:cNvSpPr>
                <p:nvPr/>
              </p:nvSpPr>
              <p:spPr bwMode="auto">
                <a:xfrm>
                  <a:off x="2445" y="1723"/>
                  <a:ext cx="62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arrow" w="med" len="med"/>
                  <a:tailEnd type="arrow" w="med" len="med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/>
                <a:lstStyle/>
                <a:p>
                  <a:pPr/>
                  <a:endParaRPr lang="zh-CN" altLang="en-US"/>
                </a:p>
              </p:txBody>
            </p:sp>
            <p:sp>
              <p:nvSpPr>
                <p:cNvPr id="1752" name="Text Box 176"/>
                <p:cNvSpPr txBox="true">
                  <a:spLocks noChangeArrowheads="true"/>
                </p:cNvSpPr>
                <p:nvPr/>
              </p:nvSpPr>
              <p:spPr bwMode="auto">
                <a:xfrm>
                  <a:off x="2723" y="1645"/>
                  <a:ext cx="125" cy="19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/>
                </a:extLst>
              </p:spPr>
              <p:txBody>
                <a:bodyPr wrap="none" lIns="90487" tIns="44450" rIns="90487" bIns="44450">
                  <a:spAutoFit/>
                </a:bodyPr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600">
                      <a:solidFill>
                        <a:schemeClr val="tx2"/>
                      </a:solidFill>
                      <a:latin typeface="Helvetica" pitchFamily="34" charset="0"/>
                    </a:rPr>
                    <a:t>CI</a:t>
                  </a:r>
                  <a:endParaRPr/>
                </a:p>
              </p:txBody>
            </p:sp>
          </p:grpSp>
          <p:grpSp>
            <p:nvGrpSpPr>
              <p:cNvPr id="1753" name="Group 177"/>
              <p:cNvGrpSpPr/>
              <p:nvPr/>
            </p:nvGrpSpPr>
            <p:grpSpPr>
              <a:xfrm>
                <a:off x="1078" y="1789"/>
                <a:ext cx="1824" cy="195"/>
                <a:chOff x="2445" y="1645"/>
                <a:chExt cx="625" cy="195"/>
              </a:xfrm>
            </p:grpSpPr>
            <p:sp>
              <p:nvSpPr>
                <p:cNvPr id="1754" name="Line 178"/>
                <p:cNvSpPr>
                  <a:spLocks noChangeShapeType="true"/>
                </p:cNvSpPr>
                <p:nvPr/>
              </p:nvSpPr>
              <p:spPr bwMode="auto">
                <a:xfrm>
                  <a:off x="2445" y="1723"/>
                  <a:ext cx="62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arrow" w="med" len="med"/>
                  <a:tailEnd type="arrow" w="med" len="med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/>
                <a:lstStyle/>
                <a:p>
                  <a:pPr/>
                  <a:endParaRPr lang="zh-CN" altLang="en-US"/>
                </a:p>
              </p:txBody>
            </p:sp>
            <p:sp>
              <p:nvSpPr>
                <p:cNvPr id="1755" name="Text Box 179"/>
                <p:cNvSpPr txBox="true">
                  <a:spLocks noChangeArrowheads="true"/>
                </p:cNvSpPr>
                <p:nvPr/>
              </p:nvSpPr>
              <p:spPr bwMode="auto">
                <a:xfrm>
                  <a:off x="2737" y="1645"/>
                  <a:ext cx="97" cy="19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/>
                </a:extLst>
              </p:spPr>
              <p:txBody>
                <a:bodyPr wrap="none" lIns="90487" tIns="44450" rIns="90487" bIns="44450">
                  <a:spAutoFit/>
                </a:bodyPr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600">
                      <a:solidFill>
                        <a:schemeClr val="tx2"/>
                      </a:solidFill>
                      <a:latin typeface="Helvetica" pitchFamily="34" charset="0"/>
                    </a:rPr>
                    <a:t>CT</a:t>
                  </a:r>
                  <a:endParaRPr/>
                </a:p>
              </p:txBody>
            </p:sp>
          </p:grpSp>
        </p:grpSp>
        <p:sp>
          <p:nvSpPr>
            <p:cNvPr id="1756" name="Text Box 180"/>
            <p:cNvSpPr txBox="true">
              <a:spLocks noChangeArrowheads="true"/>
            </p:cNvSpPr>
            <p:nvPr/>
          </p:nvSpPr>
          <p:spPr bwMode="auto">
            <a:xfrm>
              <a:off x="4704" y="305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0</a:t>
              </a:r>
              <a:endParaRPr/>
            </a:p>
          </p:txBody>
        </p:sp>
        <p:sp>
          <p:nvSpPr>
            <p:cNvPr id="1757" name="Text Box 181"/>
            <p:cNvSpPr txBox="true">
              <a:spLocks noChangeArrowheads="true"/>
            </p:cNvSpPr>
            <p:nvPr/>
          </p:nvSpPr>
          <p:spPr bwMode="auto">
            <a:xfrm>
              <a:off x="4368" y="305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0</a:t>
              </a:r>
              <a:endParaRPr/>
            </a:p>
          </p:txBody>
        </p:sp>
        <p:sp>
          <p:nvSpPr>
            <p:cNvPr id="1758" name="Text Box 182"/>
            <p:cNvSpPr txBox="true">
              <a:spLocks noChangeArrowheads="true"/>
            </p:cNvSpPr>
            <p:nvPr/>
          </p:nvSpPr>
          <p:spPr bwMode="auto">
            <a:xfrm>
              <a:off x="4080" y="305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1</a:t>
              </a:r>
              <a:endParaRPr/>
            </a:p>
          </p:txBody>
        </p:sp>
        <p:sp>
          <p:nvSpPr>
            <p:cNvPr id="1759" name="Text Box 183"/>
            <p:cNvSpPr txBox="true">
              <a:spLocks noChangeArrowheads="true"/>
            </p:cNvSpPr>
            <p:nvPr/>
          </p:nvSpPr>
          <p:spPr bwMode="auto">
            <a:xfrm>
              <a:off x="3749" y="305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0</a:t>
              </a:r>
              <a:endParaRPr/>
            </a:p>
          </p:txBody>
        </p:sp>
        <p:sp>
          <p:nvSpPr>
            <p:cNvPr id="1760" name="Text Box 184"/>
            <p:cNvSpPr txBox="true">
              <a:spLocks noChangeArrowheads="true"/>
            </p:cNvSpPr>
            <p:nvPr/>
          </p:nvSpPr>
          <p:spPr bwMode="auto">
            <a:xfrm>
              <a:off x="3456" y="305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1</a:t>
              </a:r>
              <a:endParaRPr/>
            </a:p>
          </p:txBody>
        </p:sp>
        <p:sp>
          <p:nvSpPr>
            <p:cNvPr id="1761" name="Text Box 185"/>
            <p:cNvSpPr txBox="true">
              <a:spLocks noChangeArrowheads="true"/>
            </p:cNvSpPr>
            <p:nvPr/>
          </p:nvSpPr>
          <p:spPr bwMode="auto">
            <a:xfrm>
              <a:off x="3168" y="305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0</a:t>
              </a:r>
              <a:endParaRPr/>
            </a:p>
          </p:txBody>
        </p:sp>
        <p:sp>
          <p:nvSpPr>
            <p:cNvPr id="1762" name="Text Box 186"/>
            <p:cNvSpPr txBox="true">
              <a:spLocks noChangeArrowheads="true"/>
            </p:cNvSpPr>
            <p:nvPr/>
          </p:nvSpPr>
          <p:spPr bwMode="auto">
            <a:xfrm>
              <a:off x="2832" y="305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1</a:t>
              </a:r>
              <a:endParaRPr/>
            </a:p>
          </p:txBody>
        </p:sp>
        <p:sp>
          <p:nvSpPr>
            <p:cNvPr id="1763" name="Text Box 187"/>
            <p:cNvSpPr txBox="true">
              <a:spLocks noChangeArrowheads="true"/>
            </p:cNvSpPr>
            <p:nvPr/>
          </p:nvSpPr>
          <p:spPr bwMode="auto">
            <a:xfrm>
              <a:off x="2544" y="305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0</a:t>
              </a:r>
              <a:endParaRPr/>
            </a:p>
          </p:txBody>
        </p:sp>
        <p:sp>
          <p:nvSpPr>
            <p:cNvPr id="1764" name="Text Box 188"/>
            <p:cNvSpPr txBox="true">
              <a:spLocks noChangeArrowheads="true"/>
            </p:cNvSpPr>
            <p:nvPr/>
          </p:nvSpPr>
          <p:spPr bwMode="auto">
            <a:xfrm>
              <a:off x="2213" y="305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1</a:t>
              </a:r>
              <a:endParaRPr/>
            </a:p>
          </p:txBody>
        </p:sp>
        <p:sp>
          <p:nvSpPr>
            <p:cNvPr id="1765" name="Text Box 189"/>
            <p:cNvSpPr txBox="true">
              <a:spLocks noChangeArrowheads="true"/>
            </p:cNvSpPr>
            <p:nvPr/>
          </p:nvSpPr>
          <p:spPr bwMode="auto">
            <a:xfrm>
              <a:off x="1920" y="305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1</a:t>
              </a:r>
              <a:endParaRPr/>
            </a:p>
          </p:txBody>
        </p:sp>
        <p:sp>
          <p:nvSpPr>
            <p:cNvPr id="1766" name="Text Box 190"/>
            <p:cNvSpPr txBox="true">
              <a:spLocks noChangeArrowheads="true"/>
            </p:cNvSpPr>
            <p:nvPr/>
          </p:nvSpPr>
          <p:spPr bwMode="auto">
            <a:xfrm>
              <a:off x="1632" y="305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0</a:t>
              </a:r>
              <a:endParaRPr/>
            </a:p>
          </p:txBody>
        </p:sp>
        <p:sp>
          <p:nvSpPr>
            <p:cNvPr id="1767" name="Text Box 191"/>
            <p:cNvSpPr txBox="true">
              <a:spLocks noChangeArrowheads="true"/>
            </p:cNvSpPr>
            <p:nvPr/>
          </p:nvSpPr>
          <p:spPr bwMode="auto">
            <a:xfrm>
              <a:off x="1296" y="305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0</a:t>
              </a:r>
              <a:endParaRPr/>
            </a:p>
          </p:txBody>
        </p:sp>
      </p:grpSp>
      <p:sp>
        <p:nvSpPr>
          <p:cNvPr id="1768" name="Rectangle 192"/>
          <p:cNvSpPr>
            <a:spLocks noChangeArrowheads="true"/>
          </p:cNvSpPr>
          <p:nvPr/>
        </p:nvSpPr>
        <p:spPr bwMode="auto">
          <a:xfrm>
            <a:off x="490538" y="3595688"/>
            <a:ext cx="65151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 marL="342900" indent="-3429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179705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lvl="1">
              <a:lnSpc>
                <a:spcPct val="90000"/>
              </a:lnSpc>
              <a:spcBef>
                <a:spcPct val="20000"/>
              </a:spcBef>
            </a:pPr>
            <a:r>
              <a:rPr lang="en-US" b="false"/>
              <a:t>CO: </a:t>
            </a:r>
            <a:r>
              <a:rPr lang="en-US" u="sng">
                <a:solidFill>
                  <a:srgbClr val="FF0000">
                    <a:alpha val="100000"/>
                  </a:srgbClr>
                </a:solidFill>
              </a:rPr>
              <a:t>0x0 </a:t>
            </a:r>
            <a:r>
              <a:rPr lang="en-US" b="false"/>
              <a:t>CI: </a:t>
            </a:r>
            <a:r>
              <a:rPr lang="en-US" u="sng">
                <a:solidFill>
                  <a:srgbClr val="FF0000">
                    <a:alpha val="100000"/>
                  </a:srgbClr>
                </a:solidFill>
              </a:rPr>
              <a:t>0x05</a:t>
            </a:r>
            <a:r>
              <a:rPr lang="en-US" b="false"/>
              <a:t>    CT: </a:t>
            </a:r>
            <a:r>
              <a:rPr lang="en-US" u="sng">
                <a:solidFill>
                  <a:srgbClr val="FF0000">
                    <a:alpha val="100000"/>
                  </a:srgbClr>
                </a:solidFill>
              </a:rPr>
              <a:t>0x0D </a:t>
            </a:r>
            <a:r>
              <a:rPr lang="en-US" b="false"/>
              <a:t>Hit? </a:t>
            </a:r>
            <a:r>
              <a:rPr lang="en-US" u="sng"/>
              <a:t>    </a:t>
            </a:r>
            <a:r>
              <a:rPr lang="en-US" b="false"/>
              <a:t>  Byte: </a:t>
            </a:r>
            <a:r>
              <a:rPr lang="en-US" u="sng"/>
              <a:t>    </a:t>
            </a:r>
            <a:r>
              <a:rPr lang="en-US" u="sng">
                <a:solidFill>
                  <a:schemeClr val="bg1">
                    <a:alpha val="100000"/>
                  </a:schemeClr>
                </a:solidFill>
              </a:rPr>
              <a:t>6</a:t>
            </a:r>
            <a:endParaRPr lang="zh-CN" u="sng">
              <a:solidFill>
                <a:schemeClr val="bg1">
                  <a:alpha val="100000"/>
                </a:schemeClr>
              </a:solidFill>
            </a:endParaRPr>
          </a:p>
        </p:txBody>
      </p:sp>
    </p:spTree>
  </p:cSld>
  <p:clrMapOvr>
    <a:masterClrMapping/>
  </p:clrMapOvr>
</p:sld>
</file>

<file path=ppt/slides/slide88.xml><?xml version="1.0" encoding="utf-8"?>
<p:sld xmlns:p="http://schemas.openxmlformats.org/presentationml/2006/main" xmlns:a16="http://schemas.microsoft.com/office/drawing/2014/main" xmlns:a="http://schemas.openxmlformats.org/drawingml/2006/main" xmlns:mc="http://schemas.openxmlformats.org/markup-compatibility/2006" mc:Ignorable="a16">
  <p:cSld>
    <p:spTree>
      <p:nvGrpSpPr>
        <p:cNvPr id="17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0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04D22609-CCE9-694C-8D83-505229EEC26B}" type="slidenum">
              <a:rPr lang="zh-CN" altLang="en-US" sz="1400" b="false">
                <a:latin typeface="Times New Roman" panose="02020603050405020304" charset="0"/>
              </a:rPr>
              <a:t>94</a:t>
            </a:fld>
            <a:endParaRPr lang="en-US" altLang="zh-CN" sz="1400" b="false">
              <a:latin typeface="Times New Roman" panose="02020603050405020304" charset="0"/>
            </a:endParaRPr>
          </a:p>
        </p:txBody>
      </p:sp>
      <p:sp>
        <p:nvSpPr>
          <p:cNvPr id="1771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Simple Memory System Cache</a:t>
            </a:r>
            <a:endParaRPr/>
          </a:p>
        </p:txBody>
      </p:sp>
      <p:grpSp>
        <p:nvGrpSpPr>
          <p:cNvPr id="1772" name="Group 5"/>
          <p:cNvGrpSpPr/>
          <p:nvPr/>
        </p:nvGrpSpPr>
        <p:grpSpPr>
          <a:xfrm rot="0" flipH="false" flipV="false">
            <a:off x="2973388" y="1404938"/>
            <a:ext cx="5865812" cy="1363662"/>
            <a:chOff x="1078" y="1791"/>
            <a:chExt cx="3695" cy="859"/>
          </a:xfrm>
        </p:grpSpPr>
        <p:grpSp>
          <p:nvGrpSpPr>
            <p:cNvPr id="1773" name="Group 6"/>
            <p:cNvGrpSpPr/>
            <p:nvPr/>
          </p:nvGrpSpPr>
          <p:grpSpPr>
            <a:xfrm>
              <a:off x="1078" y="2012"/>
              <a:ext cx="3684" cy="384"/>
              <a:chOff x="1219" y="2880"/>
              <a:chExt cx="3684" cy="384"/>
            </a:xfrm>
          </p:grpSpPr>
          <p:grpSp>
            <p:nvGrpSpPr>
              <p:cNvPr id="1774" name="Group 7"/>
              <p:cNvGrpSpPr/>
              <p:nvPr/>
            </p:nvGrpSpPr>
            <p:grpSpPr>
              <a:xfrm>
                <a:off x="1219" y="2880"/>
                <a:ext cx="307" cy="384"/>
                <a:chOff x="605" y="1776"/>
                <a:chExt cx="307" cy="384"/>
              </a:xfrm>
            </p:grpSpPr>
            <p:sp>
              <p:nvSpPr>
                <p:cNvPr id="1775" name="Rectangle 8"/>
                <p:cNvSpPr>
                  <a:spLocks noChangeArrowheads="true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1776" name="Rectangle 9"/>
                <p:cNvSpPr>
                  <a:spLocks noChangeArrowheads="true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11</a:t>
                  </a:r>
                  <a:endParaRPr/>
                </a:p>
              </p:txBody>
            </p:sp>
          </p:grpSp>
          <p:grpSp>
            <p:nvGrpSpPr>
              <p:cNvPr id="1777" name="Group 10"/>
              <p:cNvGrpSpPr/>
              <p:nvPr/>
            </p:nvGrpSpPr>
            <p:grpSpPr>
              <a:xfrm>
                <a:off x="1526" y="2880"/>
                <a:ext cx="307" cy="384"/>
                <a:chOff x="605" y="1776"/>
                <a:chExt cx="307" cy="384"/>
              </a:xfrm>
            </p:grpSpPr>
            <p:sp>
              <p:nvSpPr>
                <p:cNvPr id="1778" name="Rectangle 11"/>
                <p:cNvSpPr>
                  <a:spLocks noChangeArrowheads="true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1779" name="Rectangle 12"/>
                <p:cNvSpPr>
                  <a:spLocks noChangeArrowheads="true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10</a:t>
                  </a:r>
                  <a:endParaRPr/>
                </a:p>
              </p:txBody>
            </p:sp>
          </p:grpSp>
          <p:grpSp>
            <p:nvGrpSpPr>
              <p:cNvPr id="1780" name="Group 13"/>
              <p:cNvGrpSpPr/>
              <p:nvPr/>
            </p:nvGrpSpPr>
            <p:grpSpPr>
              <a:xfrm>
                <a:off x="1833" y="2880"/>
                <a:ext cx="307" cy="384"/>
                <a:chOff x="605" y="1776"/>
                <a:chExt cx="307" cy="384"/>
              </a:xfrm>
            </p:grpSpPr>
            <p:sp>
              <p:nvSpPr>
                <p:cNvPr id="1781" name="Rectangle 14"/>
                <p:cNvSpPr>
                  <a:spLocks noChangeArrowheads="true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1782" name="Rectangle 15"/>
                <p:cNvSpPr>
                  <a:spLocks noChangeArrowheads="true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9</a:t>
                  </a:r>
                  <a:endParaRPr/>
                </a:p>
              </p:txBody>
            </p:sp>
          </p:grpSp>
          <p:grpSp>
            <p:nvGrpSpPr>
              <p:cNvPr id="1783" name="Group 16"/>
              <p:cNvGrpSpPr/>
              <p:nvPr/>
            </p:nvGrpSpPr>
            <p:grpSpPr>
              <a:xfrm>
                <a:off x="2140" y="2880"/>
                <a:ext cx="307" cy="384"/>
                <a:chOff x="605" y="1776"/>
                <a:chExt cx="307" cy="384"/>
              </a:xfrm>
            </p:grpSpPr>
            <p:sp>
              <p:nvSpPr>
                <p:cNvPr id="1784" name="Rectangle 17"/>
                <p:cNvSpPr>
                  <a:spLocks noChangeArrowheads="true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1785" name="Rectangle 18"/>
                <p:cNvSpPr>
                  <a:spLocks noChangeArrowheads="true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8</a:t>
                  </a:r>
                  <a:endParaRPr/>
                </a:p>
              </p:txBody>
            </p:sp>
          </p:grpSp>
          <p:grpSp>
            <p:nvGrpSpPr>
              <p:cNvPr id="1786" name="Group 19"/>
              <p:cNvGrpSpPr/>
              <p:nvPr/>
            </p:nvGrpSpPr>
            <p:grpSpPr>
              <a:xfrm>
                <a:off x="2447" y="2880"/>
                <a:ext cx="307" cy="384"/>
                <a:chOff x="605" y="1776"/>
                <a:chExt cx="307" cy="384"/>
              </a:xfrm>
            </p:grpSpPr>
            <p:sp>
              <p:nvSpPr>
                <p:cNvPr id="1787" name="Rectangle 20"/>
                <p:cNvSpPr>
                  <a:spLocks noChangeArrowheads="true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1788" name="Rectangle 21"/>
                <p:cNvSpPr>
                  <a:spLocks noChangeArrowheads="true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7</a:t>
                  </a:r>
                  <a:endParaRPr/>
                </a:p>
              </p:txBody>
            </p:sp>
          </p:grpSp>
          <p:grpSp>
            <p:nvGrpSpPr>
              <p:cNvPr id="1789" name="Group 22"/>
              <p:cNvGrpSpPr/>
              <p:nvPr/>
            </p:nvGrpSpPr>
            <p:grpSpPr>
              <a:xfrm>
                <a:off x="2754" y="2880"/>
                <a:ext cx="307" cy="384"/>
                <a:chOff x="605" y="1776"/>
                <a:chExt cx="307" cy="384"/>
              </a:xfrm>
            </p:grpSpPr>
            <p:sp>
              <p:nvSpPr>
                <p:cNvPr id="1790" name="Rectangle 23"/>
                <p:cNvSpPr>
                  <a:spLocks noChangeArrowheads="true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1791" name="Rectangle 24"/>
                <p:cNvSpPr>
                  <a:spLocks noChangeArrowheads="true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6</a:t>
                  </a:r>
                  <a:endParaRPr/>
                </a:p>
              </p:txBody>
            </p:sp>
          </p:grpSp>
          <p:grpSp>
            <p:nvGrpSpPr>
              <p:cNvPr id="1792" name="Group 25"/>
              <p:cNvGrpSpPr/>
              <p:nvPr/>
            </p:nvGrpSpPr>
            <p:grpSpPr>
              <a:xfrm>
                <a:off x="3061" y="2880"/>
                <a:ext cx="307" cy="384"/>
                <a:chOff x="605" y="1776"/>
                <a:chExt cx="307" cy="384"/>
              </a:xfrm>
            </p:grpSpPr>
            <p:sp>
              <p:nvSpPr>
                <p:cNvPr id="1793" name="Rectangle 26"/>
                <p:cNvSpPr>
                  <a:spLocks noChangeArrowheads="true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1794" name="Rectangle 27"/>
                <p:cNvSpPr>
                  <a:spLocks noChangeArrowheads="true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5</a:t>
                  </a:r>
                  <a:endParaRPr/>
                </a:p>
              </p:txBody>
            </p:sp>
          </p:grpSp>
          <p:grpSp>
            <p:nvGrpSpPr>
              <p:cNvPr id="1795" name="Group 28"/>
              <p:cNvGrpSpPr/>
              <p:nvPr/>
            </p:nvGrpSpPr>
            <p:grpSpPr>
              <a:xfrm>
                <a:off x="3368" y="2880"/>
                <a:ext cx="307" cy="384"/>
                <a:chOff x="605" y="1776"/>
                <a:chExt cx="307" cy="384"/>
              </a:xfrm>
            </p:grpSpPr>
            <p:sp>
              <p:nvSpPr>
                <p:cNvPr id="1796" name="Rectangle 29"/>
                <p:cNvSpPr>
                  <a:spLocks noChangeArrowheads="true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1797" name="Rectangle 30"/>
                <p:cNvSpPr>
                  <a:spLocks noChangeArrowheads="true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4</a:t>
                  </a:r>
                  <a:endParaRPr/>
                </a:p>
              </p:txBody>
            </p:sp>
          </p:grpSp>
          <p:grpSp>
            <p:nvGrpSpPr>
              <p:cNvPr id="1798" name="Group 31"/>
              <p:cNvGrpSpPr/>
              <p:nvPr/>
            </p:nvGrpSpPr>
            <p:grpSpPr>
              <a:xfrm>
                <a:off x="3675" y="2880"/>
                <a:ext cx="307" cy="384"/>
                <a:chOff x="605" y="1776"/>
                <a:chExt cx="307" cy="384"/>
              </a:xfrm>
            </p:grpSpPr>
            <p:sp>
              <p:nvSpPr>
                <p:cNvPr id="1799" name="Rectangle 32"/>
                <p:cNvSpPr>
                  <a:spLocks noChangeArrowheads="true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1800" name="Rectangle 33"/>
                <p:cNvSpPr>
                  <a:spLocks noChangeArrowheads="true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3</a:t>
                  </a:r>
                  <a:endParaRPr/>
                </a:p>
              </p:txBody>
            </p:sp>
          </p:grpSp>
          <p:grpSp>
            <p:nvGrpSpPr>
              <p:cNvPr id="1801" name="Group 34"/>
              <p:cNvGrpSpPr/>
              <p:nvPr/>
            </p:nvGrpSpPr>
            <p:grpSpPr>
              <a:xfrm>
                <a:off x="3982" y="2880"/>
                <a:ext cx="307" cy="384"/>
                <a:chOff x="605" y="1776"/>
                <a:chExt cx="307" cy="384"/>
              </a:xfrm>
            </p:grpSpPr>
            <p:sp>
              <p:nvSpPr>
                <p:cNvPr id="1802" name="Rectangle 35"/>
                <p:cNvSpPr>
                  <a:spLocks noChangeArrowheads="true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1803" name="Rectangle 36"/>
                <p:cNvSpPr>
                  <a:spLocks noChangeArrowheads="true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2</a:t>
                  </a:r>
                  <a:endParaRPr/>
                </a:p>
              </p:txBody>
            </p:sp>
          </p:grpSp>
          <p:grpSp>
            <p:nvGrpSpPr>
              <p:cNvPr id="1804" name="Group 37"/>
              <p:cNvGrpSpPr/>
              <p:nvPr/>
            </p:nvGrpSpPr>
            <p:grpSpPr>
              <a:xfrm>
                <a:off x="4289" y="2880"/>
                <a:ext cx="307" cy="384"/>
                <a:chOff x="605" y="1776"/>
                <a:chExt cx="307" cy="384"/>
              </a:xfrm>
            </p:grpSpPr>
            <p:sp>
              <p:nvSpPr>
                <p:cNvPr id="1805" name="Rectangle 38"/>
                <p:cNvSpPr>
                  <a:spLocks noChangeArrowheads="true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1806" name="Rectangle 39"/>
                <p:cNvSpPr>
                  <a:spLocks noChangeArrowheads="true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1</a:t>
                  </a:r>
                  <a:endParaRPr/>
                </a:p>
              </p:txBody>
            </p:sp>
          </p:grpSp>
          <p:grpSp>
            <p:nvGrpSpPr>
              <p:cNvPr id="1807" name="Group 40"/>
              <p:cNvGrpSpPr/>
              <p:nvPr/>
            </p:nvGrpSpPr>
            <p:grpSpPr>
              <a:xfrm>
                <a:off x="4596" y="2880"/>
                <a:ext cx="307" cy="384"/>
                <a:chOff x="605" y="1776"/>
                <a:chExt cx="307" cy="384"/>
              </a:xfrm>
            </p:grpSpPr>
            <p:sp>
              <p:nvSpPr>
                <p:cNvPr id="1808" name="Rectangle 41"/>
                <p:cNvSpPr>
                  <a:spLocks noChangeArrowheads="true"/>
                </p:cNvSpPr>
                <p:nvPr/>
              </p:nvSpPr>
              <p:spPr bwMode="auto">
                <a:xfrm>
                  <a:off x="605" y="1968"/>
                  <a:ext cx="307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/>
                  <a:endParaRPr lang="zh-CN" altLang="en-US"/>
                </a:p>
              </p:txBody>
            </p:sp>
            <p:sp>
              <p:nvSpPr>
                <p:cNvPr id="1809" name="Rectangle 42"/>
                <p:cNvSpPr>
                  <a:spLocks noChangeArrowheads="true"/>
                </p:cNvSpPr>
                <p:nvPr/>
              </p:nvSpPr>
              <p:spPr bwMode="auto">
                <a:xfrm>
                  <a:off x="605" y="1776"/>
                  <a:ext cx="307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/>
                  <a:ext uri="{91240B29-F687-4F45-9708-019B960494DF}"/>
                </a:extLst>
              </p:spPr>
              <p:txBody>
                <a:bodyPr wrap="none" lIns="90487" tIns="44450" rIns="90487" bIns="44450" anchor="ctr"/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400">
                      <a:solidFill>
                        <a:schemeClr val="tx2"/>
                      </a:solidFill>
                      <a:latin typeface="Helvetica" pitchFamily="34" charset="0"/>
                    </a:rPr>
                    <a:t>0</a:t>
                  </a:r>
                  <a:endParaRPr/>
                </a:p>
              </p:txBody>
            </p:sp>
          </p:grpSp>
        </p:grpSp>
        <p:grpSp>
          <p:nvGrpSpPr>
            <p:cNvPr id="1810" name="Group 43"/>
            <p:cNvGrpSpPr/>
            <p:nvPr/>
          </p:nvGrpSpPr>
          <p:grpSpPr>
            <a:xfrm>
              <a:off x="2931" y="2473"/>
              <a:ext cx="1842" cy="177"/>
              <a:chOff x="3061" y="2290"/>
              <a:chExt cx="1842" cy="177"/>
            </a:xfrm>
          </p:grpSpPr>
          <p:sp>
            <p:nvSpPr>
              <p:cNvPr id="1811" name="Line 44"/>
              <p:cNvSpPr>
                <a:spLocks noChangeShapeType="true"/>
              </p:cNvSpPr>
              <p:nvPr/>
            </p:nvSpPr>
            <p:spPr bwMode="auto">
              <a:xfrm>
                <a:off x="3061" y="2352"/>
                <a:ext cx="184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xtLst>
                <a:ext uri="{909E8E84-426E-40DD-AFC4-6F175D3DCCD1}"/>
              </a:extLst>
            </p:spPr>
            <p:txBody>
              <a:bodyPr wrap="none" lIns="90487" tIns="44450" rIns="90487" bIns="44450"/>
              <a:lstStyle/>
              <a:p>
                <a:pPr/>
                <a:endParaRPr lang="zh-CN" altLang="en-US"/>
              </a:p>
            </p:txBody>
          </p:sp>
          <p:sp>
            <p:nvSpPr>
              <p:cNvPr id="1812" name="Text Box 45"/>
              <p:cNvSpPr txBox="true">
                <a:spLocks noChangeArrowheads="true"/>
              </p:cNvSpPr>
              <p:nvPr/>
            </p:nvSpPr>
            <p:spPr bwMode="auto">
              <a:xfrm>
                <a:off x="3770" y="2290"/>
                <a:ext cx="351" cy="17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/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pitchFamily="34" charset="0"/>
                  </a:rPr>
                  <a:t>PPO</a:t>
                </a:r>
                <a:endParaRPr/>
              </a:p>
            </p:txBody>
          </p:sp>
        </p:grpSp>
        <p:grpSp>
          <p:nvGrpSpPr>
            <p:cNvPr id="1813" name="Group 46"/>
            <p:cNvGrpSpPr/>
            <p:nvPr/>
          </p:nvGrpSpPr>
          <p:grpSpPr>
            <a:xfrm>
              <a:off x="1107" y="2473"/>
              <a:ext cx="1842" cy="177"/>
              <a:chOff x="3061" y="2290"/>
              <a:chExt cx="1842" cy="177"/>
            </a:xfrm>
          </p:grpSpPr>
          <p:sp>
            <p:nvSpPr>
              <p:cNvPr id="1814" name="Line 47"/>
              <p:cNvSpPr>
                <a:spLocks noChangeShapeType="true"/>
              </p:cNvSpPr>
              <p:nvPr/>
            </p:nvSpPr>
            <p:spPr bwMode="auto">
              <a:xfrm>
                <a:off x="3061" y="2352"/>
                <a:ext cx="184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xtLst>
                <a:ext uri="{909E8E84-426E-40DD-AFC4-6F175D3DCCD1}"/>
              </a:extLst>
            </p:spPr>
            <p:txBody>
              <a:bodyPr wrap="none" lIns="90487" tIns="44450" rIns="90487" bIns="44450"/>
              <a:lstStyle/>
              <a:p>
                <a:pPr/>
                <a:endParaRPr lang="zh-CN" altLang="en-US"/>
              </a:p>
            </p:txBody>
          </p:sp>
          <p:sp>
            <p:nvSpPr>
              <p:cNvPr id="1815" name="Text Box 48"/>
              <p:cNvSpPr txBox="true">
                <a:spLocks noChangeArrowheads="true"/>
              </p:cNvSpPr>
              <p:nvPr/>
            </p:nvSpPr>
            <p:spPr bwMode="auto">
              <a:xfrm>
                <a:off x="3770" y="2290"/>
                <a:ext cx="345" cy="17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/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pitchFamily="34" charset="0"/>
                  </a:rPr>
                  <a:t>PPN</a:t>
                </a:r>
                <a:endParaRPr/>
              </a:p>
            </p:txBody>
          </p:sp>
        </p:grpSp>
        <p:grpSp>
          <p:nvGrpSpPr>
            <p:cNvPr id="1816" name="Group 49"/>
            <p:cNvGrpSpPr/>
            <p:nvPr/>
          </p:nvGrpSpPr>
          <p:grpSpPr>
            <a:xfrm>
              <a:off x="4130" y="1804"/>
              <a:ext cx="625" cy="177"/>
              <a:chOff x="2445" y="1660"/>
              <a:chExt cx="625" cy="177"/>
            </a:xfrm>
          </p:grpSpPr>
          <p:sp>
            <p:nvSpPr>
              <p:cNvPr id="1817" name="Line 50"/>
              <p:cNvSpPr>
                <a:spLocks noChangeShapeType="true"/>
              </p:cNvSpPr>
              <p:nvPr/>
            </p:nvSpPr>
            <p:spPr bwMode="auto">
              <a:xfrm>
                <a:off x="2445" y="1723"/>
                <a:ext cx="62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xtLst>
                <a:ext uri="{909E8E84-426E-40DD-AFC4-6F175D3DCCD1}"/>
              </a:extLst>
            </p:spPr>
            <p:txBody>
              <a:bodyPr wrap="none" lIns="90487" tIns="44450" rIns="90487" bIns="44450"/>
              <a:lstStyle/>
              <a:p>
                <a:pPr/>
                <a:endParaRPr lang="zh-CN" altLang="en-US"/>
              </a:p>
            </p:txBody>
          </p:sp>
          <p:sp>
            <p:nvSpPr>
              <p:cNvPr id="1818" name="Text Box 51"/>
              <p:cNvSpPr txBox="true">
                <a:spLocks noChangeArrowheads="true"/>
              </p:cNvSpPr>
              <p:nvPr/>
            </p:nvSpPr>
            <p:spPr bwMode="auto">
              <a:xfrm>
                <a:off x="2644" y="1660"/>
                <a:ext cx="282" cy="17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/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pitchFamily="34" charset="0"/>
                  </a:rPr>
                  <a:t>CO</a:t>
                </a:r>
                <a:endParaRPr/>
              </a:p>
            </p:txBody>
          </p:sp>
        </p:grpSp>
        <p:grpSp>
          <p:nvGrpSpPr>
            <p:cNvPr id="1819" name="Group 52"/>
            <p:cNvGrpSpPr/>
            <p:nvPr/>
          </p:nvGrpSpPr>
          <p:grpSpPr>
            <a:xfrm>
              <a:off x="2920" y="1791"/>
              <a:ext cx="1214" cy="177"/>
              <a:chOff x="2445" y="1660"/>
              <a:chExt cx="625" cy="177"/>
            </a:xfrm>
          </p:grpSpPr>
          <p:sp>
            <p:nvSpPr>
              <p:cNvPr id="1820" name="Line 53"/>
              <p:cNvSpPr>
                <a:spLocks noChangeShapeType="true"/>
              </p:cNvSpPr>
              <p:nvPr/>
            </p:nvSpPr>
            <p:spPr bwMode="auto">
              <a:xfrm>
                <a:off x="2445" y="1723"/>
                <a:ext cx="62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xtLst>
                <a:ext uri="{909E8E84-426E-40DD-AFC4-6F175D3DCCD1}"/>
              </a:extLst>
            </p:spPr>
            <p:txBody>
              <a:bodyPr wrap="none" lIns="90487" tIns="44450" rIns="90487" bIns="44450"/>
              <a:lstStyle/>
              <a:p>
                <a:pPr/>
                <a:endParaRPr lang="zh-CN" altLang="en-US"/>
              </a:p>
            </p:txBody>
          </p:sp>
          <p:sp>
            <p:nvSpPr>
              <p:cNvPr id="1821" name="Text Box 54"/>
              <p:cNvSpPr txBox="true">
                <a:spLocks noChangeArrowheads="true"/>
              </p:cNvSpPr>
              <p:nvPr/>
            </p:nvSpPr>
            <p:spPr bwMode="auto">
              <a:xfrm>
                <a:off x="2727" y="1660"/>
                <a:ext cx="116" cy="17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/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pitchFamily="34" charset="0"/>
                  </a:rPr>
                  <a:t>CI</a:t>
                </a:r>
                <a:endParaRPr/>
              </a:p>
            </p:txBody>
          </p:sp>
        </p:grpSp>
        <p:grpSp>
          <p:nvGrpSpPr>
            <p:cNvPr id="1822" name="Group 55"/>
            <p:cNvGrpSpPr/>
            <p:nvPr/>
          </p:nvGrpSpPr>
          <p:grpSpPr>
            <a:xfrm>
              <a:off x="1078" y="1804"/>
              <a:ext cx="1824" cy="177"/>
              <a:chOff x="2445" y="1660"/>
              <a:chExt cx="625" cy="177"/>
            </a:xfrm>
          </p:grpSpPr>
          <p:sp>
            <p:nvSpPr>
              <p:cNvPr id="1823" name="Line 56"/>
              <p:cNvSpPr>
                <a:spLocks noChangeShapeType="true"/>
              </p:cNvSpPr>
              <p:nvPr/>
            </p:nvSpPr>
            <p:spPr bwMode="auto">
              <a:xfrm>
                <a:off x="2445" y="1723"/>
                <a:ext cx="62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xtLst>
                <a:ext uri="{909E8E84-426E-40DD-AFC4-6F175D3DCCD1}"/>
              </a:extLst>
            </p:spPr>
            <p:txBody>
              <a:bodyPr wrap="none" lIns="90487" tIns="44450" rIns="90487" bIns="44450"/>
              <a:lstStyle/>
              <a:p>
                <a:pPr/>
                <a:endParaRPr lang="zh-CN" altLang="en-US"/>
              </a:p>
            </p:txBody>
          </p:sp>
          <p:sp>
            <p:nvSpPr>
              <p:cNvPr id="1824" name="Text Box 57"/>
              <p:cNvSpPr txBox="true">
                <a:spLocks noChangeArrowheads="true"/>
              </p:cNvSpPr>
              <p:nvPr/>
            </p:nvSpPr>
            <p:spPr bwMode="auto">
              <a:xfrm>
                <a:off x="2740" y="1660"/>
                <a:ext cx="91" cy="17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/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1pPr>
                <a:lvl2pPr marL="742950" indent="-28575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2pPr>
                <a:lvl3pPr marL="11430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3pPr>
                <a:lvl4pPr marL="16002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4pPr>
                <a:lvl5pPr marL="2057400" indent="-228600"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1"/>
                  </a:spcBef>
                  <a:spcAft>
                    <a:spcPct val="1"/>
                  </a:spcAft>
                  <a:defRPr sz="2000" b="true">
                    <a:solidFill>
                      <a:schemeClr val="tx1"/>
                    </a:solidFill>
                    <a:latin typeface="Comic Sans MS" panose="030F0902030302020204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</a:pPr>
                <a:r>
                  <a:rPr lang="en-US" altLang="zh-CN" sz="1400">
                    <a:solidFill>
                      <a:schemeClr val="tx2"/>
                    </a:solidFill>
                    <a:latin typeface="Helvetica" pitchFamily="34" charset="0"/>
                  </a:rPr>
                  <a:t>CT</a:t>
                </a:r>
                <a:endParaRPr/>
              </a:p>
            </p:txBody>
          </p:sp>
        </p:grpSp>
      </p:grpSp>
      <p:graphicFrame>
        <p:nvGraphicFramePr>
          <p:cNvPr id="1825" name="Group 58"/>
          <p:cNvGraphicFramePr/>
          <p:nvPr/>
        </p:nvGraphicFramePr>
        <p:xfrm>
          <a:off x="228600" y="3352800"/>
          <a:ext cx="8686800" cy="3276604"/>
        </p:xfrm>
        <a:graphic>
          <a:graphicData uri="http://schemas.openxmlformats.org/drawingml/2006/table">
            <a:tbl>
              <a:tblPr/>
              <a:tblGrid>
                <a:gridCol w="620713">
                  <a:extLst>
                    <a:ext uri="{9D8B030D-6E8A-4147-A177-3AD203B41FA5}">
                      <a16:colId val="1"/>
                    </a:ext>
                  </a:extLst>
                </a:gridCol>
                <a:gridCol w="619125">
                  <a:extLst>
                    <a:ext uri="{9D8B030D-6E8A-4147-A177-3AD203B41FA5}">
                      <a16:colId val="2"/>
                    </a:ext>
                  </a:extLst>
                </a:gridCol>
                <a:gridCol w="620712">
                  <a:extLst>
                    <a:ext uri="{9D8B030D-6E8A-4147-A177-3AD203B41FA5}">
                      <a16:colId val="3"/>
                    </a:ext>
                  </a:extLst>
                </a:gridCol>
                <a:gridCol w="622300">
                  <a:extLst>
                    <a:ext uri="{9D8B030D-6E8A-4147-A177-3AD203B41FA5}">
                      <a16:colId val="4"/>
                    </a:ext>
                  </a:extLst>
                </a:gridCol>
                <a:gridCol w="620713">
                  <a:extLst>
                    <a:ext uri="{9D8B030D-6E8A-4147-A177-3AD203B41FA5}">
                      <a16:colId val="5"/>
                    </a:ext>
                  </a:extLst>
                </a:gridCol>
                <a:gridCol w="619125">
                  <a:extLst>
                    <a:ext uri="{9D8B030D-6E8A-4147-A177-3AD203B41FA5}">
                      <a16:colId val="6"/>
                    </a:ext>
                  </a:extLst>
                </a:gridCol>
                <a:gridCol w="620712">
                  <a:extLst>
                    <a:ext uri="{9D8B030D-6E8A-4147-A177-3AD203B41FA5}">
                      <a16:colId val="7"/>
                    </a:ext>
                  </a:extLst>
                </a:gridCol>
                <a:gridCol w="620713">
                  <a:extLst>
                    <a:ext uri="{9D8B030D-6E8A-4147-A177-3AD203B41FA5}">
                      <a16:colId val="8"/>
                    </a:ext>
                  </a:extLst>
                </a:gridCol>
                <a:gridCol w="619125">
                  <a:extLst>
                    <a:ext uri="{9D8B030D-6E8A-4147-A177-3AD203B41FA5}">
                      <a16:colId val="9"/>
                    </a:ext>
                  </a:extLst>
                </a:gridCol>
                <a:gridCol w="620712">
                  <a:extLst>
                    <a:ext uri="{9D8B030D-6E8A-4147-A177-3AD203B41FA5}">
                      <a16:colId val="10"/>
                    </a:ext>
                  </a:extLst>
                </a:gridCol>
                <a:gridCol w="622300">
                  <a:extLst>
                    <a:ext uri="{9D8B030D-6E8A-4147-A177-3AD203B41FA5}">
                      <a16:colId val="11"/>
                    </a:ext>
                  </a:extLst>
                </a:gridCol>
                <a:gridCol w="620713">
                  <a:extLst>
                    <a:ext uri="{9D8B030D-6E8A-4147-A177-3AD203B41FA5}">
                      <a16:colId val="12"/>
                    </a:ext>
                  </a:extLst>
                </a:gridCol>
                <a:gridCol w="619125">
                  <a:extLst>
                    <a:ext uri="{9D8B030D-6E8A-4147-A177-3AD203B41FA5}">
                      <a16:colId val="13"/>
                    </a:ext>
                  </a:extLst>
                </a:gridCol>
                <a:gridCol w="620712">
                  <a:extLst>
                    <a:ext uri="{9D8B030D-6E8A-4147-A177-3AD203B41FA5}">
                      <a16:colId val="14"/>
                    </a:ext>
                  </a:extLst>
                </a:gridCol>
              </a:tblGrid>
              <a:tr h="363538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endParaRPr kumimoji="false" lang="en-US" altLang="zh-CN" sz="1400" b="tru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charset="0"/>
                        <a:ea typeface="宋体" charset="-122"/>
                      </a:endParaRPr>
                    </a:p>
                  </a:txBody>
                  <a:tcPr marL="90487" marR="90487" marT="44450" marB="444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Tag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Valid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B0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B1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B2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B3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endParaRPr kumimoji="false" lang="en-US" altLang="zh-CN" sz="1400" b="tru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charset="0"/>
                        <a:ea typeface="宋体" charset="-122"/>
                      </a:endParaRPr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Tag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Valid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B0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B1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B2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B3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363538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</a:t>
                      </a:r>
                      <a:endParaRPr/>
                    </a:p>
                  </a:txBody>
                  <a:tcPr marL="90487" marR="90487" marT="44450" marB="444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19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99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11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23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11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8</a:t>
                      </a:r>
                      <a:endParaRPr/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24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3A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00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51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89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363538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</a:t>
                      </a:r>
                      <a:endParaRPr/>
                    </a:p>
                  </a:txBody>
                  <a:tcPr marL="90487" marR="90487" marT="44450" marB="444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15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9</a:t>
                      </a:r>
                      <a:endParaRPr/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2D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363538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2</a:t>
                      </a:r>
                      <a:endParaRPr/>
                    </a:p>
                  </a:txBody>
                  <a:tcPr marL="90487" marR="90487" marT="44450" marB="444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1B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00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02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04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08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A</a:t>
                      </a:r>
                      <a:endParaRPr/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2D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93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15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DA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3B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363538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3</a:t>
                      </a:r>
                      <a:endParaRPr/>
                    </a:p>
                  </a:txBody>
                  <a:tcPr marL="90487" marR="90487" marT="44450" marB="444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36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B</a:t>
                      </a:r>
                      <a:endParaRPr/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0B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368300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4</a:t>
                      </a:r>
                      <a:endParaRPr/>
                    </a:p>
                  </a:txBody>
                  <a:tcPr marL="90487" marR="90487" marT="44450" marB="444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32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43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6D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8F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09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C</a:t>
                      </a:r>
                      <a:endParaRPr/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12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363538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5</a:t>
                      </a:r>
                      <a:endParaRPr/>
                    </a:p>
                  </a:txBody>
                  <a:tcPr marL="90487" marR="90487" marT="44450" marB="444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0D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36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72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F0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1D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D</a:t>
                      </a:r>
                      <a:endParaRPr/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16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04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96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34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15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  <a:tr h="363538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6</a:t>
                      </a:r>
                      <a:endParaRPr/>
                    </a:p>
                  </a:txBody>
                  <a:tcPr marL="90487" marR="90487" marT="44450" marB="444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31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E</a:t>
                      </a:r>
                      <a:endParaRPr/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13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83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77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1B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D3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val="8"/>
                  </a:ext>
                </a:extLst>
              </a:tr>
              <a:tr h="363538"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7</a:t>
                      </a:r>
                      <a:endParaRPr/>
                    </a:p>
                  </a:txBody>
                  <a:tcPr marL="90487" marR="90487" marT="44450" marB="444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16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11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C2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DF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03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F</a:t>
                      </a:r>
                      <a:endParaRPr/>
                    </a:p>
                  </a:txBody>
                  <a:tcPr marL="90487" marR="90487" marT="44450" marB="4445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14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0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895350">
                        <a:spcBef>
                          <a:spcPct val="20000"/>
                        </a:spcBef>
                        <a:defRPr kumimoji="true" sz="24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1pPr>
                      <a:lvl2pPr marL="742950" indent="-285750" defTabSz="895350">
                        <a:spcBef>
                          <a:spcPct val="20000"/>
                        </a:spcBef>
                        <a:defRPr kumimoji="true" sz="2000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2pPr>
                      <a:lvl3pPr marL="11430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3pPr>
                      <a:lvl4pPr marL="16002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4pPr>
                      <a:lvl5pPr marL="2057400" indent="-228600" defTabSz="895350">
                        <a:spcBef>
                          <a:spcPct val="20000"/>
                        </a:spcBef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5pPr>
                      <a:lvl6pPr marL="25146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6pPr>
                      <a:lvl7pPr marL="29718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7pPr>
                      <a:lvl8pPr marL="34290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8pPr>
                      <a:lvl9pPr marL="3886200" indent="-228600" defTabSz="895350" eaLnBrk="false" fontAlgn="base" hangingPunct="false">
                        <a:spcBef>
                          <a:spcPct val="20000"/>
                        </a:spcBef>
                        <a:spcAft>
                          <a:spcPct val="1"/>
                        </a:spcAft>
                        <a:defRPr kumimoji="true">
                          <a:solidFill>
                            <a:schemeClr val="tx1"/>
                          </a:solidFill>
                          <a:latin typeface="Comic Sans MS" panose="030F090203030202020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89535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1400" b="tru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charset="0"/>
                          <a:ea typeface="宋体" charset="-122"/>
                        </a:rPr>
                        <a:t>–</a:t>
                      </a:r>
                      <a:endParaRPr/>
                    </a:p>
                  </a:txBody>
                  <a:tcPr marL="90487" marR="90487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val="9"/>
                  </a:ext>
                </a:extLst>
              </a:tr>
            </a:tbl>
          </a:graphicData>
        </a:graphic>
      </p:graphicFrame>
      <p:sp>
        <p:nvSpPr>
          <p:cNvPr id="1826" name="Rectangle 3"/>
          <p:cNvSpPr txBox="true">
            <a:spLocks noChangeArrowheads="true"/>
          </p:cNvSpPr>
          <p:nvPr/>
        </p:nvSpPr>
        <p:spPr bwMode="auto">
          <a:xfrm>
            <a:off x="152400" y="1447800"/>
            <a:ext cx="266700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 marL="266700" indent="-2667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533400" indent="-2667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>
              <a:spcBef>
                <a:spcPct val="20000"/>
              </a:spcBef>
              <a:buFontTx/>
              <a:buChar char="•"/>
            </a:pPr>
            <a:r>
              <a:rPr lang="en-US" altLang="zh-CN" sz="2400" b="false"/>
              <a:t>Cache</a:t>
            </a:r>
            <a:endParaRPr/>
          </a:p>
          <a:p>
            <a:pPr lvl="1">
              <a:spcBef>
                <a:spcPct val="20000"/>
              </a:spcBef>
              <a:buFontTx/>
              <a:buChar char="–"/>
            </a:pPr>
            <a:r>
              <a:rPr lang="en-US" altLang="zh-CN" b="false"/>
              <a:t>16 lines</a:t>
            </a:r>
            <a:endParaRPr/>
          </a:p>
          <a:p>
            <a:pPr lvl="1">
              <a:spcBef>
                <a:spcPct val="20000"/>
              </a:spcBef>
              <a:buFontTx/>
              <a:buChar char="–"/>
            </a:pPr>
            <a:r>
              <a:rPr lang="en-US" altLang="zh-CN" b="false"/>
              <a:t>4-byte line size</a:t>
            </a:r>
            <a:endParaRPr/>
          </a:p>
          <a:p>
            <a:pPr lvl="1">
              <a:spcBef>
                <a:spcPct val="20000"/>
              </a:spcBef>
              <a:buFontTx/>
              <a:buChar char="–"/>
            </a:pPr>
            <a:r>
              <a:rPr lang="en-US" altLang="zh-CN" b="false"/>
              <a:t>Direct mapped</a:t>
            </a:r>
            <a:endParaRPr lang="zh-CN" altLang="en-US" b="false"/>
          </a:p>
        </p:txBody>
      </p:sp>
      <p:sp>
        <p:nvSpPr>
          <p:cNvPr id="1827" name="Rectangle 192"/>
          <p:cNvSpPr>
            <a:spLocks noChangeArrowheads="true"/>
          </p:cNvSpPr>
          <p:nvPr/>
        </p:nvSpPr>
        <p:spPr bwMode="auto">
          <a:xfrm rot="0" flipH="false" flipV="false">
            <a:off x="2640013" y="2768600"/>
            <a:ext cx="65151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 marL="342900" indent="-3429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179705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lvl="1">
              <a:lnSpc>
                <a:spcPct val="90000"/>
              </a:lnSpc>
              <a:spcBef>
                <a:spcPct val="20000"/>
              </a:spcBef>
            </a:pPr>
            <a:r>
              <a:rPr lang="en-US" b="false"/>
              <a:t>CO: </a:t>
            </a:r>
            <a:r>
              <a:rPr lang="en-US" u="sng">
                <a:solidFill>
                  <a:srgbClr val="FF0000">
                    <a:alpha val="100000"/>
                  </a:srgbClr>
                </a:solidFill>
              </a:rPr>
              <a:t>0x0 </a:t>
            </a:r>
            <a:r>
              <a:rPr lang="en-US" b="false"/>
              <a:t>CI: </a:t>
            </a:r>
            <a:r>
              <a:rPr lang="en-US" u="sng">
                <a:solidFill>
                  <a:srgbClr val="FF0000">
                    <a:alpha val="100000"/>
                  </a:srgbClr>
                </a:solidFill>
              </a:rPr>
              <a:t>0x05</a:t>
            </a:r>
            <a:r>
              <a:rPr lang="en-US" b="false"/>
              <a:t>    CT: </a:t>
            </a:r>
            <a:r>
              <a:rPr lang="en-US" u="sng">
                <a:solidFill>
                  <a:srgbClr val="FF0000">
                    <a:alpha val="100000"/>
                  </a:srgbClr>
                </a:solidFill>
              </a:rPr>
              <a:t>0x0D </a:t>
            </a:r>
            <a:r>
              <a:rPr lang="en-US" b="false"/>
              <a:t>Hit? </a:t>
            </a:r>
            <a:r>
              <a:rPr lang="en-US" u="sng"/>
              <a:t>    </a:t>
            </a:r>
            <a:r>
              <a:rPr lang="en-US" b="false"/>
              <a:t>  Byte: </a:t>
            </a:r>
            <a:r>
              <a:rPr lang="en-US" u="sng"/>
              <a:t>    </a:t>
            </a:r>
            <a:r>
              <a:rPr lang="en-US" u="sng">
                <a:solidFill>
                  <a:schemeClr val="bg1">
                    <a:alpha val="100000"/>
                  </a:schemeClr>
                </a:solidFill>
              </a:rPr>
              <a:t>6</a:t>
            </a:r>
            <a:endParaRPr lang="zh-CN" u="sng">
              <a:solidFill>
                <a:schemeClr val="bg1">
                  <a:alpha val="100000"/>
                </a:schemeClr>
              </a:solidFill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>
  <p:cSld>
    <p:spTree>
      <p:nvGrpSpPr>
        <p:cNvPr id="18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9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98593FF2-7FEA-AD4C-9E81-F1340CCEEDBD}" type="slidenum">
              <a:rPr lang="zh-CN" altLang="en-US" sz="1400" b="false">
                <a:latin typeface="Times New Roman" panose="02020603050405020304" charset="0"/>
              </a:rPr>
              <a:t>95</a:t>
            </a:fld>
            <a:endParaRPr lang="en-US" altLang="zh-CN" sz="1400" b="false">
              <a:latin typeface="Times New Roman" panose="02020603050405020304" charset="0"/>
            </a:endParaRPr>
          </a:p>
        </p:txBody>
      </p:sp>
      <p:sp>
        <p:nvSpPr>
          <p:cNvPr id="1830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Address Translation Example</a:t>
            </a:r>
            <a:endParaRPr/>
          </a:p>
        </p:txBody>
      </p:sp>
      <p:sp>
        <p:nvSpPr>
          <p:cNvPr id="1831" name="Rectangle 69"/>
          <p:cNvSpPr>
            <a:spLocks noChangeArrowheads="true"/>
          </p:cNvSpPr>
          <p:nvPr/>
        </p:nvSpPr>
        <p:spPr bwMode="auto">
          <a:xfrm>
            <a:off x="457200" y="1447800"/>
            <a:ext cx="14255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>
              <a:lnSpc>
                <a:spcPct val="140000"/>
              </a:lnSpc>
            </a:pPr>
            <a:r>
              <a:rPr lang="en-US" altLang="zh-CN" b="false"/>
              <a:t>PA: </a:t>
            </a:r>
            <a:r>
              <a:rPr lang="en-US" altLang="zh-CN" u="sng"/>
              <a:t>0x354</a:t>
            </a:r>
            <a:endParaRPr/>
          </a:p>
        </p:txBody>
      </p:sp>
      <p:grpSp>
        <p:nvGrpSpPr>
          <p:cNvPr id="1832" name="Group 126"/>
          <p:cNvGrpSpPr/>
          <p:nvPr/>
        </p:nvGrpSpPr>
        <p:grpSpPr>
          <a:xfrm>
            <a:off x="609600" y="1905000"/>
            <a:ext cx="5865813" cy="1397000"/>
            <a:chOff x="1248" y="2624"/>
            <a:chExt cx="3695" cy="880"/>
          </a:xfrm>
        </p:grpSpPr>
        <p:grpSp>
          <p:nvGrpSpPr>
            <p:cNvPr id="1833" name="Group 127"/>
            <p:cNvGrpSpPr/>
            <p:nvPr/>
          </p:nvGrpSpPr>
          <p:grpSpPr>
            <a:xfrm>
              <a:off x="1248" y="2624"/>
              <a:ext cx="3695" cy="880"/>
              <a:chOff x="1078" y="1776"/>
              <a:chExt cx="3695" cy="880"/>
            </a:xfrm>
          </p:grpSpPr>
          <p:grpSp>
            <p:nvGrpSpPr>
              <p:cNvPr id="1834" name="Group 128"/>
              <p:cNvGrpSpPr/>
              <p:nvPr/>
            </p:nvGrpSpPr>
            <p:grpSpPr>
              <a:xfrm>
                <a:off x="1078" y="2012"/>
                <a:ext cx="3684" cy="384"/>
                <a:chOff x="1219" y="2880"/>
                <a:chExt cx="3684" cy="384"/>
              </a:xfrm>
            </p:grpSpPr>
            <p:grpSp>
              <p:nvGrpSpPr>
                <p:cNvPr id="1835" name="Group 129"/>
                <p:cNvGrpSpPr/>
                <p:nvPr/>
              </p:nvGrpSpPr>
              <p:grpSpPr>
                <a:xfrm>
                  <a:off x="1219" y="2880"/>
                  <a:ext cx="307" cy="384"/>
                  <a:chOff x="605" y="1776"/>
                  <a:chExt cx="307" cy="384"/>
                </a:xfrm>
              </p:grpSpPr>
              <p:sp>
                <p:nvSpPr>
                  <p:cNvPr id="1836" name="Rectangle 130"/>
                  <p:cNvSpPr>
                    <a:spLocks noChangeArrowheads="true"/>
                  </p:cNvSpPr>
                  <p:nvPr/>
                </p:nvSpPr>
                <p:spPr bwMode="auto">
                  <a:xfrm>
                    <a:off x="605" y="1968"/>
                    <a:ext cx="307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/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1pPr>
                    <a:lvl2pPr marL="742950" indent="-28575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2pPr>
                    <a:lvl3pPr marL="11430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3pPr>
                    <a:lvl4pPr marL="16002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4pPr>
                    <a:lvl5pPr marL="20574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5pPr>
                    <a:lvl6pPr marL="25146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6pPr>
                    <a:lvl7pPr marL="29718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7pPr>
                    <a:lvl8pPr marL="34290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8pPr>
                    <a:lvl9pPr marL="38862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9pPr>
                  </a:lstStyle>
                  <a:p>
                    <a:pPr/>
                    <a:endParaRPr lang="zh-CN" altLang="en-US"/>
                  </a:p>
                </p:txBody>
              </p:sp>
              <p:sp>
                <p:nvSpPr>
                  <p:cNvPr id="1837" name="Rectangle 131"/>
                  <p:cNvSpPr>
                    <a:spLocks noChangeArrowheads="true"/>
                  </p:cNvSpPr>
                  <p:nvPr/>
                </p:nvSpPr>
                <p:spPr bwMode="auto">
                  <a:xfrm>
                    <a:off x="605" y="1776"/>
                    <a:ext cx="307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/>
                    <a:ext uri="{91240B29-F687-4F45-9708-019B960494DF}"/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1pPr>
                    <a:lvl2pPr marL="742950" indent="-28575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2pPr>
                    <a:lvl3pPr marL="11430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3pPr>
                    <a:lvl4pPr marL="16002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4pPr>
                    <a:lvl5pPr marL="20574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5pPr>
                    <a:lvl6pPr marL="25146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6pPr>
                    <a:lvl7pPr marL="29718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7pPr>
                    <a:lvl8pPr marL="34290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8pPr>
                    <a:lvl9pPr marL="38862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9pPr>
                  </a:lstStyle>
                  <a:p>
                    <a:pPr algn="ctr">
                      <a:lnSpc>
                        <a:spcPct val="90000"/>
                      </a:lnSpc>
                      <a:spcBef>
                        <a:spcPct val="30000"/>
                      </a:spcBef>
                    </a:pPr>
                    <a:r>
                      <a:rPr lang="en-US" altLang="zh-CN" sz="1400">
                        <a:solidFill>
                          <a:schemeClr val="tx2"/>
                        </a:solidFill>
                        <a:latin typeface="Helvetica" pitchFamily="34" charset="0"/>
                      </a:rPr>
                      <a:t>11</a:t>
                    </a:r>
                    <a:endParaRPr/>
                  </a:p>
                </p:txBody>
              </p:sp>
            </p:grpSp>
            <p:grpSp>
              <p:nvGrpSpPr>
                <p:cNvPr id="1838" name="Group 132"/>
                <p:cNvGrpSpPr/>
                <p:nvPr/>
              </p:nvGrpSpPr>
              <p:grpSpPr>
                <a:xfrm>
                  <a:off x="1526" y="2880"/>
                  <a:ext cx="307" cy="384"/>
                  <a:chOff x="605" y="1776"/>
                  <a:chExt cx="307" cy="384"/>
                </a:xfrm>
              </p:grpSpPr>
              <p:sp>
                <p:nvSpPr>
                  <p:cNvPr id="1839" name="Rectangle 133"/>
                  <p:cNvSpPr>
                    <a:spLocks noChangeArrowheads="true"/>
                  </p:cNvSpPr>
                  <p:nvPr/>
                </p:nvSpPr>
                <p:spPr bwMode="auto">
                  <a:xfrm>
                    <a:off x="605" y="1968"/>
                    <a:ext cx="307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/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1pPr>
                    <a:lvl2pPr marL="742950" indent="-28575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2pPr>
                    <a:lvl3pPr marL="11430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3pPr>
                    <a:lvl4pPr marL="16002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4pPr>
                    <a:lvl5pPr marL="20574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5pPr>
                    <a:lvl6pPr marL="25146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6pPr>
                    <a:lvl7pPr marL="29718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7pPr>
                    <a:lvl8pPr marL="34290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8pPr>
                    <a:lvl9pPr marL="38862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9pPr>
                  </a:lstStyle>
                  <a:p>
                    <a:pPr/>
                    <a:endParaRPr lang="zh-CN" altLang="en-US"/>
                  </a:p>
                </p:txBody>
              </p:sp>
              <p:sp>
                <p:nvSpPr>
                  <p:cNvPr id="1840" name="Rectangle 134"/>
                  <p:cNvSpPr>
                    <a:spLocks noChangeArrowheads="true"/>
                  </p:cNvSpPr>
                  <p:nvPr/>
                </p:nvSpPr>
                <p:spPr bwMode="auto">
                  <a:xfrm>
                    <a:off x="605" y="1776"/>
                    <a:ext cx="307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/>
                    <a:ext uri="{91240B29-F687-4F45-9708-019B960494DF}"/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1pPr>
                    <a:lvl2pPr marL="742950" indent="-28575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2pPr>
                    <a:lvl3pPr marL="11430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3pPr>
                    <a:lvl4pPr marL="16002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4pPr>
                    <a:lvl5pPr marL="20574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5pPr>
                    <a:lvl6pPr marL="25146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6pPr>
                    <a:lvl7pPr marL="29718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7pPr>
                    <a:lvl8pPr marL="34290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8pPr>
                    <a:lvl9pPr marL="38862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9pPr>
                  </a:lstStyle>
                  <a:p>
                    <a:pPr algn="ctr">
                      <a:lnSpc>
                        <a:spcPct val="90000"/>
                      </a:lnSpc>
                      <a:spcBef>
                        <a:spcPct val="30000"/>
                      </a:spcBef>
                    </a:pPr>
                    <a:r>
                      <a:rPr lang="en-US" altLang="zh-CN" sz="1400">
                        <a:solidFill>
                          <a:schemeClr val="tx2"/>
                        </a:solidFill>
                        <a:latin typeface="Helvetica" pitchFamily="34" charset="0"/>
                      </a:rPr>
                      <a:t>10</a:t>
                    </a:r>
                    <a:endParaRPr/>
                  </a:p>
                </p:txBody>
              </p:sp>
            </p:grpSp>
            <p:grpSp>
              <p:nvGrpSpPr>
                <p:cNvPr id="1841" name="Group 135"/>
                <p:cNvGrpSpPr/>
                <p:nvPr/>
              </p:nvGrpSpPr>
              <p:grpSpPr>
                <a:xfrm>
                  <a:off x="1833" y="2880"/>
                  <a:ext cx="307" cy="384"/>
                  <a:chOff x="605" y="1776"/>
                  <a:chExt cx="307" cy="384"/>
                </a:xfrm>
              </p:grpSpPr>
              <p:sp>
                <p:nvSpPr>
                  <p:cNvPr id="1842" name="Rectangle 136"/>
                  <p:cNvSpPr>
                    <a:spLocks noChangeArrowheads="true"/>
                  </p:cNvSpPr>
                  <p:nvPr/>
                </p:nvSpPr>
                <p:spPr bwMode="auto">
                  <a:xfrm>
                    <a:off x="605" y="1968"/>
                    <a:ext cx="307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/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1pPr>
                    <a:lvl2pPr marL="742950" indent="-28575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2pPr>
                    <a:lvl3pPr marL="11430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3pPr>
                    <a:lvl4pPr marL="16002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4pPr>
                    <a:lvl5pPr marL="20574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5pPr>
                    <a:lvl6pPr marL="25146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6pPr>
                    <a:lvl7pPr marL="29718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7pPr>
                    <a:lvl8pPr marL="34290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8pPr>
                    <a:lvl9pPr marL="38862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9pPr>
                  </a:lstStyle>
                  <a:p>
                    <a:pPr/>
                    <a:endParaRPr lang="zh-CN" altLang="en-US"/>
                  </a:p>
                </p:txBody>
              </p:sp>
              <p:sp>
                <p:nvSpPr>
                  <p:cNvPr id="1843" name="Rectangle 137"/>
                  <p:cNvSpPr>
                    <a:spLocks noChangeArrowheads="true"/>
                  </p:cNvSpPr>
                  <p:nvPr/>
                </p:nvSpPr>
                <p:spPr bwMode="auto">
                  <a:xfrm>
                    <a:off x="605" y="1776"/>
                    <a:ext cx="307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/>
                    <a:ext uri="{91240B29-F687-4F45-9708-019B960494DF}"/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1pPr>
                    <a:lvl2pPr marL="742950" indent="-28575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2pPr>
                    <a:lvl3pPr marL="11430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3pPr>
                    <a:lvl4pPr marL="16002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4pPr>
                    <a:lvl5pPr marL="20574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5pPr>
                    <a:lvl6pPr marL="25146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6pPr>
                    <a:lvl7pPr marL="29718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7pPr>
                    <a:lvl8pPr marL="34290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8pPr>
                    <a:lvl9pPr marL="38862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9pPr>
                  </a:lstStyle>
                  <a:p>
                    <a:pPr algn="ctr">
                      <a:lnSpc>
                        <a:spcPct val="90000"/>
                      </a:lnSpc>
                      <a:spcBef>
                        <a:spcPct val="30000"/>
                      </a:spcBef>
                    </a:pPr>
                    <a:r>
                      <a:rPr lang="en-US" altLang="zh-CN" sz="1400">
                        <a:solidFill>
                          <a:schemeClr val="tx2"/>
                        </a:solidFill>
                        <a:latin typeface="Helvetica" pitchFamily="34" charset="0"/>
                      </a:rPr>
                      <a:t>9</a:t>
                    </a:r>
                    <a:endParaRPr/>
                  </a:p>
                </p:txBody>
              </p:sp>
            </p:grpSp>
            <p:grpSp>
              <p:nvGrpSpPr>
                <p:cNvPr id="1844" name="Group 138"/>
                <p:cNvGrpSpPr/>
                <p:nvPr/>
              </p:nvGrpSpPr>
              <p:grpSpPr>
                <a:xfrm>
                  <a:off x="2140" y="2880"/>
                  <a:ext cx="307" cy="384"/>
                  <a:chOff x="605" y="1776"/>
                  <a:chExt cx="307" cy="384"/>
                </a:xfrm>
              </p:grpSpPr>
              <p:sp>
                <p:nvSpPr>
                  <p:cNvPr id="1845" name="Rectangle 139"/>
                  <p:cNvSpPr>
                    <a:spLocks noChangeArrowheads="true"/>
                  </p:cNvSpPr>
                  <p:nvPr/>
                </p:nvSpPr>
                <p:spPr bwMode="auto">
                  <a:xfrm>
                    <a:off x="605" y="1968"/>
                    <a:ext cx="307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/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1pPr>
                    <a:lvl2pPr marL="742950" indent="-28575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2pPr>
                    <a:lvl3pPr marL="11430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3pPr>
                    <a:lvl4pPr marL="16002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4pPr>
                    <a:lvl5pPr marL="20574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5pPr>
                    <a:lvl6pPr marL="25146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6pPr>
                    <a:lvl7pPr marL="29718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7pPr>
                    <a:lvl8pPr marL="34290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8pPr>
                    <a:lvl9pPr marL="38862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9pPr>
                  </a:lstStyle>
                  <a:p>
                    <a:pPr/>
                    <a:endParaRPr lang="zh-CN" altLang="en-US"/>
                  </a:p>
                </p:txBody>
              </p:sp>
              <p:sp>
                <p:nvSpPr>
                  <p:cNvPr id="1846" name="Rectangle 140"/>
                  <p:cNvSpPr>
                    <a:spLocks noChangeArrowheads="true"/>
                  </p:cNvSpPr>
                  <p:nvPr/>
                </p:nvSpPr>
                <p:spPr bwMode="auto">
                  <a:xfrm>
                    <a:off x="605" y="1776"/>
                    <a:ext cx="307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/>
                    <a:ext uri="{91240B29-F687-4F45-9708-019B960494DF}"/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1pPr>
                    <a:lvl2pPr marL="742950" indent="-28575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2pPr>
                    <a:lvl3pPr marL="11430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3pPr>
                    <a:lvl4pPr marL="16002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4pPr>
                    <a:lvl5pPr marL="20574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5pPr>
                    <a:lvl6pPr marL="25146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6pPr>
                    <a:lvl7pPr marL="29718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7pPr>
                    <a:lvl8pPr marL="34290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8pPr>
                    <a:lvl9pPr marL="38862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9pPr>
                  </a:lstStyle>
                  <a:p>
                    <a:pPr algn="ctr">
                      <a:lnSpc>
                        <a:spcPct val="90000"/>
                      </a:lnSpc>
                      <a:spcBef>
                        <a:spcPct val="30000"/>
                      </a:spcBef>
                    </a:pPr>
                    <a:r>
                      <a:rPr lang="en-US" altLang="zh-CN" sz="1400">
                        <a:solidFill>
                          <a:schemeClr val="tx2"/>
                        </a:solidFill>
                        <a:latin typeface="Helvetica" pitchFamily="34" charset="0"/>
                      </a:rPr>
                      <a:t>8</a:t>
                    </a:r>
                    <a:endParaRPr/>
                  </a:p>
                </p:txBody>
              </p:sp>
            </p:grpSp>
            <p:grpSp>
              <p:nvGrpSpPr>
                <p:cNvPr id="1847" name="Group 141"/>
                <p:cNvGrpSpPr/>
                <p:nvPr/>
              </p:nvGrpSpPr>
              <p:grpSpPr>
                <a:xfrm>
                  <a:off x="2447" y="2880"/>
                  <a:ext cx="307" cy="384"/>
                  <a:chOff x="605" y="1776"/>
                  <a:chExt cx="307" cy="384"/>
                </a:xfrm>
              </p:grpSpPr>
              <p:sp>
                <p:nvSpPr>
                  <p:cNvPr id="1848" name="Rectangle 142"/>
                  <p:cNvSpPr>
                    <a:spLocks noChangeArrowheads="true"/>
                  </p:cNvSpPr>
                  <p:nvPr/>
                </p:nvSpPr>
                <p:spPr bwMode="auto">
                  <a:xfrm>
                    <a:off x="605" y="1968"/>
                    <a:ext cx="307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/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1pPr>
                    <a:lvl2pPr marL="742950" indent="-28575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2pPr>
                    <a:lvl3pPr marL="11430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3pPr>
                    <a:lvl4pPr marL="16002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4pPr>
                    <a:lvl5pPr marL="20574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5pPr>
                    <a:lvl6pPr marL="25146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6pPr>
                    <a:lvl7pPr marL="29718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7pPr>
                    <a:lvl8pPr marL="34290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8pPr>
                    <a:lvl9pPr marL="38862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9pPr>
                  </a:lstStyle>
                  <a:p>
                    <a:pPr/>
                    <a:endParaRPr lang="zh-CN" altLang="en-US"/>
                  </a:p>
                </p:txBody>
              </p:sp>
              <p:sp>
                <p:nvSpPr>
                  <p:cNvPr id="1849" name="Rectangle 143"/>
                  <p:cNvSpPr>
                    <a:spLocks noChangeArrowheads="true"/>
                  </p:cNvSpPr>
                  <p:nvPr/>
                </p:nvSpPr>
                <p:spPr bwMode="auto">
                  <a:xfrm>
                    <a:off x="605" y="1776"/>
                    <a:ext cx="307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/>
                    <a:ext uri="{91240B29-F687-4F45-9708-019B960494DF}"/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1pPr>
                    <a:lvl2pPr marL="742950" indent="-28575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2pPr>
                    <a:lvl3pPr marL="11430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3pPr>
                    <a:lvl4pPr marL="16002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4pPr>
                    <a:lvl5pPr marL="20574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5pPr>
                    <a:lvl6pPr marL="25146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6pPr>
                    <a:lvl7pPr marL="29718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7pPr>
                    <a:lvl8pPr marL="34290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8pPr>
                    <a:lvl9pPr marL="38862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9pPr>
                  </a:lstStyle>
                  <a:p>
                    <a:pPr algn="ctr">
                      <a:lnSpc>
                        <a:spcPct val="90000"/>
                      </a:lnSpc>
                      <a:spcBef>
                        <a:spcPct val="30000"/>
                      </a:spcBef>
                    </a:pPr>
                    <a:r>
                      <a:rPr lang="en-US" altLang="zh-CN" sz="1400">
                        <a:solidFill>
                          <a:schemeClr val="tx2"/>
                        </a:solidFill>
                        <a:latin typeface="Helvetica" pitchFamily="34" charset="0"/>
                      </a:rPr>
                      <a:t>7</a:t>
                    </a:r>
                    <a:endParaRPr/>
                  </a:p>
                </p:txBody>
              </p:sp>
            </p:grpSp>
            <p:grpSp>
              <p:nvGrpSpPr>
                <p:cNvPr id="1850" name="Group 144"/>
                <p:cNvGrpSpPr/>
                <p:nvPr/>
              </p:nvGrpSpPr>
              <p:grpSpPr>
                <a:xfrm>
                  <a:off x="2754" y="2880"/>
                  <a:ext cx="307" cy="384"/>
                  <a:chOff x="605" y="1776"/>
                  <a:chExt cx="307" cy="384"/>
                </a:xfrm>
              </p:grpSpPr>
              <p:sp>
                <p:nvSpPr>
                  <p:cNvPr id="1851" name="Rectangle 145"/>
                  <p:cNvSpPr>
                    <a:spLocks noChangeArrowheads="true"/>
                  </p:cNvSpPr>
                  <p:nvPr/>
                </p:nvSpPr>
                <p:spPr bwMode="auto">
                  <a:xfrm>
                    <a:off x="605" y="1968"/>
                    <a:ext cx="307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/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1pPr>
                    <a:lvl2pPr marL="742950" indent="-28575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2pPr>
                    <a:lvl3pPr marL="11430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3pPr>
                    <a:lvl4pPr marL="16002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4pPr>
                    <a:lvl5pPr marL="20574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5pPr>
                    <a:lvl6pPr marL="25146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6pPr>
                    <a:lvl7pPr marL="29718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7pPr>
                    <a:lvl8pPr marL="34290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8pPr>
                    <a:lvl9pPr marL="38862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9pPr>
                  </a:lstStyle>
                  <a:p>
                    <a:pPr/>
                    <a:endParaRPr lang="zh-CN" altLang="en-US"/>
                  </a:p>
                </p:txBody>
              </p:sp>
              <p:sp>
                <p:nvSpPr>
                  <p:cNvPr id="1852" name="Rectangle 146"/>
                  <p:cNvSpPr>
                    <a:spLocks noChangeArrowheads="true"/>
                  </p:cNvSpPr>
                  <p:nvPr/>
                </p:nvSpPr>
                <p:spPr bwMode="auto">
                  <a:xfrm>
                    <a:off x="605" y="1776"/>
                    <a:ext cx="307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/>
                    <a:ext uri="{91240B29-F687-4F45-9708-019B960494DF}"/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1pPr>
                    <a:lvl2pPr marL="742950" indent="-28575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2pPr>
                    <a:lvl3pPr marL="11430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3pPr>
                    <a:lvl4pPr marL="16002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4pPr>
                    <a:lvl5pPr marL="20574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5pPr>
                    <a:lvl6pPr marL="25146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6pPr>
                    <a:lvl7pPr marL="29718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7pPr>
                    <a:lvl8pPr marL="34290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8pPr>
                    <a:lvl9pPr marL="38862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9pPr>
                  </a:lstStyle>
                  <a:p>
                    <a:pPr algn="ctr">
                      <a:lnSpc>
                        <a:spcPct val="90000"/>
                      </a:lnSpc>
                      <a:spcBef>
                        <a:spcPct val="30000"/>
                      </a:spcBef>
                    </a:pPr>
                    <a:r>
                      <a:rPr lang="en-US" altLang="zh-CN" sz="1400">
                        <a:solidFill>
                          <a:schemeClr val="tx2"/>
                        </a:solidFill>
                        <a:latin typeface="Helvetica" pitchFamily="34" charset="0"/>
                      </a:rPr>
                      <a:t>6</a:t>
                    </a:r>
                    <a:endParaRPr/>
                  </a:p>
                </p:txBody>
              </p:sp>
            </p:grpSp>
            <p:grpSp>
              <p:nvGrpSpPr>
                <p:cNvPr id="1853" name="Group 147"/>
                <p:cNvGrpSpPr/>
                <p:nvPr/>
              </p:nvGrpSpPr>
              <p:grpSpPr>
                <a:xfrm>
                  <a:off x="3061" y="2880"/>
                  <a:ext cx="307" cy="384"/>
                  <a:chOff x="605" y="1776"/>
                  <a:chExt cx="307" cy="384"/>
                </a:xfrm>
              </p:grpSpPr>
              <p:sp>
                <p:nvSpPr>
                  <p:cNvPr id="1854" name="Rectangle 148"/>
                  <p:cNvSpPr>
                    <a:spLocks noChangeArrowheads="true"/>
                  </p:cNvSpPr>
                  <p:nvPr/>
                </p:nvSpPr>
                <p:spPr bwMode="auto">
                  <a:xfrm>
                    <a:off x="605" y="1968"/>
                    <a:ext cx="307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/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1pPr>
                    <a:lvl2pPr marL="742950" indent="-28575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2pPr>
                    <a:lvl3pPr marL="11430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3pPr>
                    <a:lvl4pPr marL="16002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4pPr>
                    <a:lvl5pPr marL="20574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5pPr>
                    <a:lvl6pPr marL="25146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6pPr>
                    <a:lvl7pPr marL="29718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7pPr>
                    <a:lvl8pPr marL="34290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8pPr>
                    <a:lvl9pPr marL="38862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9pPr>
                  </a:lstStyle>
                  <a:p>
                    <a:pPr/>
                    <a:endParaRPr lang="zh-CN" altLang="en-US"/>
                  </a:p>
                </p:txBody>
              </p:sp>
              <p:sp>
                <p:nvSpPr>
                  <p:cNvPr id="1855" name="Rectangle 149"/>
                  <p:cNvSpPr>
                    <a:spLocks noChangeArrowheads="true"/>
                  </p:cNvSpPr>
                  <p:nvPr/>
                </p:nvSpPr>
                <p:spPr bwMode="auto">
                  <a:xfrm>
                    <a:off x="605" y="1776"/>
                    <a:ext cx="307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/>
                    <a:ext uri="{91240B29-F687-4F45-9708-019B960494DF}"/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1pPr>
                    <a:lvl2pPr marL="742950" indent="-28575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2pPr>
                    <a:lvl3pPr marL="11430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3pPr>
                    <a:lvl4pPr marL="16002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4pPr>
                    <a:lvl5pPr marL="20574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5pPr>
                    <a:lvl6pPr marL="25146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6pPr>
                    <a:lvl7pPr marL="29718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7pPr>
                    <a:lvl8pPr marL="34290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8pPr>
                    <a:lvl9pPr marL="38862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9pPr>
                  </a:lstStyle>
                  <a:p>
                    <a:pPr algn="ctr">
                      <a:lnSpc>
                        <a:spcPct val="90000"/>
                      </a:lnSpc>
                      <a:spcBef>
                        <a:spcPct val="30000"/>
                      </a:spcBef>
                    </a:pPr>
                    <a:r>
                      <a:rPr lang="en-US" altLang="zh-CN" sz="1400">
                        <a:solidFill>
                          <a:schemeClr val="tx2"/>
                        </a:solidFill>
                        <a:latin typeface="Helvetica" pitchFamily="34" charset="0"/>
                      </a:rPr>
                      <a:t>5</a:t>
                    </a:r>
                    <a:endParaRPr/>
                  </a:p>
                </p:txBody>
              </p:sp>
            </p:grpSp>
            <p:grpSp>
              <p:nvGrpSpPr>
                <p:cNvPr id="1856" name="Group 150"/>
                <p:cNvGrpSpPr/>
                <p:nvPr/>
              </p:nvGrpSpPr>
              <p:grpSpPr>
                <a:xfrm>
                  <a:off x="3368" y="2880"/>
                  <a:ext cx="307" cy="384"/>
                  <a:chOff x="605" y="1776"/>
                  <a:chExt cx="307" cy="384"/>
                </a:xfrm>
              </p:grpSpPr>
              <p:sp>
                <p:nvSpPr>
                  <p:cNvPr id="1857" name="Rectangle 151"/>
                  <p:cNvSpPr>
                    <a:spLocks noChangeArrowheads="true"/>
                  </p:cNvSpPr>
                  <p:nvPr/>
                </p:nvSpPr>
                <p:spPr bwMode="auto">
                  <a:xfrm>
                    <a:off x="605" y="1968"/>
                    <a:ext cx="307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/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1pPr>
                    <a:lvl2pPr marL="742950" indent="-28575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2pPr>
                    <a:lvl3pPr marL="11430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3pPr>
                    <a:lvl4pPr marL="16002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4pPr>
                    <a:lvl5pPr marL="20574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5pPr>
                    <a:lvl6pPr marL="25146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6pPr>
                    <a:lvl7pPr marL="29718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7pPr>
                    <a:lvl8pPr marL="34290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8pPr>
                    <a:lvl9pPr marL="38862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9pPr>
                  </a:lstStyle>
                  <a:p>
                    <a:pPr/>
                    <a:endParaRPr lang="zh-CN" altLang="en-US"/>
                  </a:p>
                </p:txBody>
              </p:sp>
              <p:sp>
                <p:nvSpPr>
                  <p:cNvPr id="1858" name="Rectangle 152"/>
                  <p:cNvSpPr>
                    <a:spLocks noChangeArrowheads="true"/>
                  </p:cNvSpPr>
                  <p:nvPr/>
                </p:nvSpPr>
                <p:spPr bwMode="auto">
                  <a:xfrm>
                    <a:off x="605" y="1776"/>
                    <a:ext cx="307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/>
                    <a:ext uri="{91240B29-F687-4F45-9708-019B960494DF}"/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1pPr>
                    <a:lvl2pPr marL="742950" indent="-28575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2pPr>
                    <a:lvl3pPr marL="11430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3pPr>
                    <a:lvl4pPr marL="16002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4pPr>
                    <a:lvl5pPr marL="20574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5pPr>
                    <a:lvl6pPr marL="25146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6pPr>
                    <a:lvl7pPr marL="29718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7pPr>
                    <a:lvl8pPr marL="34290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8pPr>
                    <a:lvl9pPr marL="38862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9pPr>
                  </a:lstStyle>
                  <a:p>
                    <a:pPr algn="ctr">
                      <a:lnSpc>
                        <a:spcPct val="90000"/>
                      </a:lnSpc>
                      <a:spcBef>
                        <a:spcPct val="30000"/>
                      </a:spcBef>
                    </a:pPr>
                    <a:r>
                      <a:rPr lang="en-US" altLang="zh-CN" sz="1400">
                        <a:solidFill>
                          <a:schemeClr val="tx2"/>
                        </a:solidFill>
                        <a:latin typeface="Helvetica" pitchFamily="34" charset="0"/>
                      </a:rPr>
                      <a:t>4</a:t>
                    </a:r>
                    <a:endParaRPr/>
                  </a:p>
                </p:txBody>
              </p:sp>
            </p:grpSp>
            <p:grpSp>
              <p:nvGrpSpPr>
                <p:cNvPr id="1859" name="Group 153"/>
                <p:cNvGrpSpPr/>
                <p:nvPr/>
              </p:nvGrpSpPr>
              <p:grpSpPr>
                <a:xfrm>
                  <a:off x="3675" y="2880"/>
                  <a:ext cx="307" cy="384"/>
                  <a:chOff x="605" y="1776"/>
                  <a:chExt cx="307" cy="384"/>
                </a:xfrm>
              </p:grpSpPr>
              <p:sp>
                <p:nvSpPr>
                  <p:cNvPr id="1860" name="Rectangle 154"/>
                  <p:cNvSpPr>
                    <a:spLocks noChangeArrowheads="true"/>
                  </p:cNvSpPr>
                  <p:nvPr/>
                </p:nvSpPr>
                <p:spPr bwMode="auto">
                  <a:xfrm>
                    <a:off x="605" y="1968"/>
                    <a:ext cx="307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/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1pPr>
                    <a:lvl2pPr marL="742950" indent="-28575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2pPr>
                    <a:lvl3pPr marL="11430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3pPr>
                    <a:lvl4pPr marL="16002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4pPr>
                    <a:lvl5pPr marL="20574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5pPr>
                    <a:lvl6pPr marL="25146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6pPr>
                    <a:lvl7pPr marL="29718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7pPr>
                    <a:lvl8pPr marL="34290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8pPr>
                    <a:lvl9pPr marL="38862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9pPr>
                  </a:lstStyle>
                  <a:p>
                    <a:pPr/>
                    <a:endParaRPr lang="zh-CN" altLang="en-US"/>
                  </a:p>
                </p:txBody>
              </p:sp>
              <p:sp>
                <p:nvSpPr>
                  <p:cNvPr id="1861" name="Rectangle 155"/>
                  <p:cNvSpPr>
                    <a:spLocks noChangeArrowheads="true"/>
                  </p:cNvSpPr>
                  <p:nvPr/>
                </p:nvSpPr>
                <p:spPr bwMode="auto">
                  <a:xfrm>
                    <a:off x="605" y="1776"/>
                    <a:ext cx="307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/>
                    <a:ext uri="{91240B29-F687-4F45-9708-019B960494DF}"/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1pPr>
                    <a:lvl2pPr marL="742950" indent="-28575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2pPr>
                    <a:lvl3pPr marL="11430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3pPr>
                    <a:lvl4pPr marL="16002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4pPr>
                    <a:lvl5pPr marL="20574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5pPr>
                    <a:lvl6pPr marL="25146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6pPr>
                    <a:lvl7pPr marL="29718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7pPr>
                    <a:lvl8pPr marL="34290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8pPr>
                    <a:lvl9pPr marL="38862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9pPr>
                  </a:lstStyle>
                  <a:p>
                    <a:pPr algn="ctr">
                      <a:lnSpc>
                        <a:spcPct val="90000"/>
                      </a:lnSpc>
                      <a:spcBef>
                        <a:spcPct val="30000"/>
                      </a:spcBef>
                    </a:pPr>
                    <a:r>
                      <a:rPr lang="en-US" altLang="zh-CN" sz="1400">
                        <a:solidFill>
                          <a:schemeClr val="tx2"/>
                        </a:solidFill>
                        <a:latin typeface="Helvetica" pitchFamily="34" charset="0"/>
                      </a:rPr>
                      <a:t>3</a:t>
                    </a:r>
                    <a:endParaRPr/>
                  </a:p>
                </p:txBody>
              </p:sp>
            </p:grpSp>
            <p:grpSp>
              <p:nvGrpSpPr>
                <p:cNvPr id="1862" name="Group 156"/>
                <p:cNvGrpSpPr/>
                <p:nvPr/>
              </p:nvGrpSpPr>
              <p:grpSpPr>
                <a:xfrm>
                  <a:off x="3982" y="2880"/>
                  <a:ext cx="307" cy="384"/>
                  <a:chOff x="605" y="1776"/>
                  <a:chExt cx="307" cy="384"/>
                </a:xfrm>
              </p:grpSpPr>
              <p:sp>
                <p:nvSpPr>
                  <p:cNvPr id="1863" name="Rectangle 157"/>
                  <p:cNvSpPr>
                    <a:spLocks noChangeArrowheads="true"/>
                  </p:cNvSpPr>
                  <p:nvPr/>
                </p:nvSpPr>
                <p:spPr bwMode="auto">
                  <a:xfrm>
                    <a:off x="605" y="1968"/>
                    <a:ext cx="307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/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1pPr>
                    <a:lvl2pPr marL="742950" indent="-28575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2pPr>
                    <a:lvl3pPr marL="11430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3pPr>
                    <a:lvl4pPr marL="16002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4pPr>
                    <a:lvl5pPr marL="20574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5pPr>
                    <a:lvl6pPr marL="25146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6pPr>
                    <a:lvl7pPr marL="29718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7pPr>
                    <a:lvl8pPr marL="34290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8pPr>
                    <a:lvl9pPr marL="38862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9pPr>
                  </a:lstStyle>
                  <a:p>
                    <a:pPr/>
                    <a:endParaRPr lang="zh-CN" altLang="en-US"/>
                  </a:p>
                </p:txBody>
              </p:sp>
              <p:sp>
                <p:nvSpPr>
                  <p:cNvPr id="1864" name="Rectangle 158"/>
                  <p:cNvSpPr>
                    <a:spLocks noChangeArrowheads="true"/>
                  </p:cNvSpPr>
                  <p:nvPr/>
                </p:nvSpPr>
                <p:spPr bwMode="auto">
                  <a:xfrm>
                    <a:off x="605" y="1776"/>
                    <a:ext cx="307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/>
                    <a:ext uri="{91240B29-F687-4F45-9708-019B960494DF}"/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1pPr>
                    <a:lvl2pPr marL="742950" indent="-28575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2pPr>
                    <a:lvl3pPr marL="11430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3pPr>
                    <a:lvl4pPr marL="16002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4pPr>
                    <a:lvl5pPr marL="20574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5pPr>
                    <a:lvl6pPr marL="25146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6pPr>
                    <a:lvl7pPr marL="29718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7pPr>
                    <a:lvl8pPr marL="34290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8pPr>
                    <a:lvl9pPr marL="38862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9pPr>
                  </a:lstStyle>
                  <a:p>
                    <a:pPr algn="ctr">
                      <a:lnSpc>
                        <a:spcPct val="90000"/>
                      </a:lnSpc>
                      <a:spcBef>
                        <a:spcPct val="30000"/>
                      </a:spcBef>
                    </a:pPr>
                    <a:r>
                      <a:rPr lang="en-US" altLang="zh-CN" sz="1400">
                        <a:solidFill>
                          <a:schemeClr val="tx2"/>
                        </a:solidFill>
                        <a:latin typeface="Helvetica" pitchFamily="34" charset="0"/>
                      </a:rPr>
                      <a:t>2</a:t>
                    </a:r>
                    <a:endParaRPr/>
                  </a:p>
                </p:txBody>
              </p:sp>
            </p:grpSp>
            <p:grpSp>
              <p:nvGrpSpPr>
                <p:cNvPr id="1865" name="Group 159"/>
                <p:cNvGrpSpPr/>
                <p:nvPr/>
              </p:nvGrpSpPr>
              <p:grpSpPr>
                <a:xfrm>
                  <a:off x="4289" y="2880"/>
                  <a:ext cx="307" cy="384"/>
                  <a:chOff x="605" y="1776"/>
                  <a:chExt cx="307" cy="384"/>
                </a:xfrm>
              </p:grpSpPr>
              <p:sp>
                <p:nvSpPr>
                  <p:cNvPr id="1866" name="Rectangle 160"/>
                  <p:cNvSpPr>
                    <a:spLocks noChangeArrowheads="true"/>
                  </p:cNvSpPr>
                  <p:nvPr/>
                </p:nvSpPr>
                <p:spPr bwMode="auto">
                  <a:xfrm>
                    <a:off x="605" y="1968"/>
                    <a:ext cx="307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/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1pPr>
                    <a:lvl2pPr marL="742950" indent="-28575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2pPr>
                    <a:lvl3pPr marL="11430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3pPr>
                    <a:lvl4pPr marL="16002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4pPr>
                    <a:lvl5pPr marL="20574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5pPr>
                    <a:lvl6pPr marL="25146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6pPr>
                    <a:lvl7pPr marL="29718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7pPr>
                    <a:lvl8pPr marL="34290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8pPr>
                    <a:lvl9pPr marL="38862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9pPr>
                  </a:lstStyle>
                  <a:p>
                    <a:pPr/>
                    <a:endParaRPr lang="zh-CN" altLang="en-US"/>
                  </a:p>
                </p:txBody>
              </p:sp>
              <p:sp>
                <p:nvSpPr>
                  <p:cNvPr id="1867" name="Rectangle 161"/>
                  <p:cNvSpPr>
                    <a:spLocks noChangeArrowheads="true"/>
                  </p:cNvSpPr>
                  <p:nvPr/>
                </p:nvSpPr>
                <p:spPr bwMode="auto">
                  <a:xfrm>
                    <a:off x="605" y="1776"/>
                    <a:ext cx="307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/>
                    <a:ext uri="{91240B29-F687-4F45-9708-019B960494DF}"/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1pPr>
                    <a:lvl2pPr marL="742950" indent="-28575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2pPr>
                    <a:lvl3pPr marL="11430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3pPr>
                    <a:lvl4pPr marL="16002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4pPr>
                    <a:lvl5pPr marL="20574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5pPr>
                    <a:lvl6pPr marL="25146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6pPr>
                    <a:lvl7pPr marL="29718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7pPr>
                    <a:lvl8pPr marL="34290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8pPr>
                    <a:lvl9pPr marL="38862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9pPr>
                  </a:lstStyle>
                  <a:p>
                    <a:pPr algn="ctr">
                      <a:lnSpc>
                        <a:spcPct val="90000"/>
                      </a:lnSpc>
                      <a:spcBef>
                        <a:spcPct val="30000"/>
                      </a:spcBef>
                    </a:pPr>
                    <a:r>
                      <a:rPr lang="en-US" altLang="zh-CN" sz="1400">
                        <a:solidFill>
                          <a:schemeClr val="tx2"/>
                        </a:solidFill>
                        <a:latin typeface="Helvetica" pitchFamily="34" charset="0"/>
                      </a:rPr>
                      <a:t>1</a:t>
                    </a:r>
                    <a:endParaRPr/>
                  </a:p>
                </p:txBody>
              </p:sp>
            </p:grpSp>
            <p:grpSp>
              <p:nvGrpSpPr>
                <p:cNvPr id="1868" name="Group 162"/>
                <p:cNvGrpSpPr/>
                <p:nvPr/>
              </p:nvGrpSpPr>
              <p:grpSpPr>
                <a:xfrm>
                  <a:off x="4596" y="2880"/>
                  <a:ext cx="307" cy="384"/>
                  <a:chOff x="605" y="1776"/>
                  <a:chExt cx="307" cy="384"/>
                </a:xfrm>
              </p:grpSpPr>
              <p:sp>
                <p:nvSpPr>
                  <p:cNvPr id="1869" name="Rectangle 163"/>
                  <p:cNvSpPr>
                    <a:spLocks noChangeArrowheads="true"/>
                  </p:cNvSpPr>
                  <p:nvPr/>
                </p:nvSpPr>
                <p:spPr bwMode="auto">
                  <a:xfrm>
                    <a:off x="605" y="1968"/>
                    <a:ext cx="307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/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1pPr>
                    <a:lvl2pPr marL="742950" indent="-28575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2pPr>
                    <a:lvl3pPr marL="11430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3pPr>
                    <a:lvl4pPr marL="16002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4pPr>
                    <a:lvl5pPr marL="20574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5pPr>
                    <a:lvl6pPr marL="25146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6pPr>
                    <a:lvl7pPr marL="29718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7pPr>
                    <a:lvl8pPr marL="34290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8pPr>
                    <a:lvl9pPr marL="38862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9pPr>
                  </a:lstStyle>
                  <a:p>
                    <a:pPr/>
                    <a:endParaRPr lang="zh-CN" altLang="en-US"/>
                  </a:p>
                </p:txBody>
              </p:sp>
              <p:sp>
                <p:nvSpPr>
                  <p:cNvPr id="1870" name="Rectangle 164"/>
                  <p:cNvSpPr>
                    <a:spLocks noChangeArrowheads="true"/>
                  </p:cNvSpPr>
                  <p:nvPr/>
                </p:nvSpPr>
                <p:spPr bwMode="auto">
                  <a:xfrm>
                    <a:off x="605" y="1776"/>
                    <a:ext cx="307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/>
                    <a:ext uri="{91240B29-F687-4F45-9708-019B960494DF}"/>
                  </a:extLst>
                </p:spPr>
                <p:txBody>
                  <a:bodyPr wrap="none" lIns="90487" tIns="44450" rIns="90487" bIns="44450" anchor="ctr"/>
                  <a:lstStyle>
                    <a:lvl1pPr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1pPr>
                    <a:lvl2pPr marL="742950" indent="-28575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2pPr>
                    <a:lvl3pPr marL="11430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3pPr>
                    <a:lvl4pPr marL="16002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4pPr>
                    <a:lvl5pPr marL="2057400" indent="-228600"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5pPr>
                    <a:lvl6pPr marL="25146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6pPr>
                    <a:lvl7pPr marL="29718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7pPr>
                    <a:lvl8pPr marL="34290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8pPr>
                    <a:lvl9pPr marL="3886200" indent="-228600" eaLnBrk="false" fontAlgn="base" hangingPunct="false">
                      <a:spcBef>
                        <a:spcPct val="1"/>
                      </a:spcBef>
                      <a:spcAft>
                        <a:spcPct val="1"/>
                      </a:spcAft>
                      <a:defRPr sz="2000" b="true">
                        <a:solidFill>
                          <a:schemeClr val="tx1"/>
                        </a:solidFill>
                        <a:latin typeface="Comic Sans MS" panose="030F0902030302020204" charset="0"/>
                        <a:ea typeface="宋体" charset="-122"/>
                      </a:defRPr>
                    </a:lvl9pPr>
                  </a:lstStyle>
                  <a:p>
                    <a:pPr algn="ctr">
                      <a:lnSpc>
                        <a:spcPct val="90000"/>
                      </a:lnSpc>
                      <a:spcBef>
                        <a:spcPct val="30000"/>
                      </a:spcBef>
                    </a:pPr>
                    <a:r>
                      <a:rPr lang="en-US" altLang="zh-CN" sz="1400">
                        <a:solidFill>
                          <a:schemeClr val="tx2"/>
                        </a:solidFill>
                        <a:latin typeface="Helvetica" pitchFamily="34" charset="0"/>
                      </a:rPr>
                      <a:t>0</a:t>
                    </a:r>
                    <a:endParaRPr/>
                  </a:p>
                </p:txBody>
              </p:sp>
            </p:grpSp>
          </p:grpSp>
          <p:grpSp>
            <p:nvGrpSpPr>
              <p:cNvPr id="1871" name="Group 165"/>
              <p:cNvGrpSpPr/>
              <p:nvPr/>
            </p:nvGrpSpPr>
            <p:grpSpPr>
              <a:xfrm>
                <a:off x="2931" y="2444"/>
                <a:ext cx="1842" cy="212"/>
                <a:chOff x="3061" y="2261"/>
                <a:chExt cx="1842" cy="212"/>
              </a:xfrm>
            </p:grpSpPr>
            <p:sp>
              <p:nvSpPr>
                <p:cNvPr id="1872" name="Line 166"/>
                <p:cNvSpPr>
                  <a:spLocks noChangeShapeType="true"/>
                </p:cNvSpPr>
                <p:nvPr/>
              </p:nvSpPr>
              <p:spPr bwMode="auto">
                <a:xfrm>
                  <a:off x="3061" y="2352"/>
                  <a:ext cx="184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arrow" w="med" len="med"/>
                  <a:tailEnd type="arrow" w="med" len="med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/>
                <a:lstStyle/>
                <a:p>
                  <a:pPr/>
                  <a:endParaRPr lang="zh-CN" altLang="en-US"/>
                </a:p>
              </p:txBody>
            </p:sp>
            <p:sp>
              <p:nvSpPr>
                <p:cNvPr id="1873" name="Text Box 167"/>
                <p:cNvSpPr txBox="true">
                  <a:spLocks noChangeArrowheads="true"/>
                </p:cNvSpPr>
                <p:nvPr/>
              </p:nvSpPr>
              <p:spPr bwMode="auto">
                <a:xfrm>
                  <a:off x="3770" y="2261"/>
                  <a:ext cx="418" cy="21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/>
                </a:extLst>
              </p:spPr>
              <p:txBody>
                <a:bodyPr wrap="none" lIns="90487" tIns="44450" rIns="90487" bIns="44450">
                  <a:spAutoFit/>
                </a:bodyPr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800">
                      <a:solidFill>
                        <a:schemeClr val="tx2"/>
                      </a:solidFill>
                      <a:latin typeface="Helvetica" pitchFamily="34" charset="0"/>
                    </a:rPr>
                    <a:t>PPO</a:t>
                  </a:r>
                  <a:endParaRPr/>
                </a:p>
              </p:txBody>
            </p:sp>
          </p:grpSp>
          <p:grpSp>
            <p:nvGrpSpPr>
              <p:cNvPr id="1874" name="Group 168"/>
              <p:cNvGrpSpPr/>
              <p:nvPr/>
            </p:nvGrpSpPr>
            <p:grpSpPr>
              <a:xfrm>
                <a:off x="1107" y="2444"/>
                <a:ext cx="1842" cy="212"/>
                <a:chOff x="3061" y="2261"/>
                <a:chExt cx="1842" cy="212"/>
              </a:xfrm>
            </p:grpSpPr>
            <p:sp>
              <p:nvSpPr>
                <p:cNvPr id="1875" name="Line 169"/>
                <p:cNvSpPr>
                  <a:spLocks noChangeShapeType="true"/>
                </p:cNvSpPr>
                <p:nvPr/>
              </p:nvSpPr>
              <p:spPr bwMode="auto">
                <a:xfrm>
                  <a:off x="3061" y="2352"/>
                  <a:ext cx="184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arrow" w="med" len="med"/>
                  <a:tailEnd type="arrow" w="med" len="med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/>
                <a:lstStyle/>
                <a:p>
                  <a:pPr/>
                  <a:endParaRPr lang="zh-CN" altLang="en-US"/>
                </a:p>
              </p:txBody>
            </p:sp>
            <p:sp>
              <p:nvSpPr>
                <p:cNvPr id="1876" name="Text Box 170"/>
                <p:cNvSpPr txBox="true">
                  <a:spLocks noChangeArrowheads="true"/>
                </p:cNvSpPr>
                <p:nvPr/>
              </p:nvSpPr>
              <p:spPr bwMode="auto">
                <a:xfrm>
                  <a:off x="3770" y="2261"/>
                  <a:ext cx="410" cy="21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/>
                </a:extLst>
              </p:spPr>
              <p:txBody>
                <a:bodyPr wrap="none" lIns="90487" tIns="44450" rIns="90487" bIns="44450">
                  <a:spAutoFit/>
                </a:bodyPr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800">
                      <a:solidFill>
                        <a:schemeClr val="tx2"/>
                      </a:solidFill>
                      <a:latin typeface="Helvetica" pitchFamily="34" charset="0"/>
                    </a:rPr>
                    <a:t>PPN</a:t>
                  </a:r>
                  <a:endParaRPr/>
                </a:p>
              </p:txBody>
            </p:sp>
          </p:grpSp>
          <p:grpSp>
            <p:nvGrpSpPr>
              <p:cNvPr id="1877" name="Group 171"/>
              <p:cNvGrpSpPr/>
              <p:nvPr/>
            </p:nvGrpSpPr>
            <p:grpSpPr>
              <a:xfrm>
                <a:off x="4130" y="1789"/>
                <a:ext cx="625" cy="195"/>
                <a:chOff x="2445" y="1645"/>
                <a:chExt cx="625" cy="195"/>
              </a:xfrm>
            </p:grpSpPr>
            <p:sp>
              <p:nvSpPr>
                <p:cNvPr id="1878" name="Line 172"/>
                <p:cNvSpPr>
                  <a:spLocks noChangeShapeType="true"/>
                </p:cNvSpPr>
                <p:nvPr/>
              </p:nvSpPr>
              <p:spPr bwMode="auto">
                <a:xfrm>
                  <a:off x="2445" y="1723"/>
                  <a:ext cx="62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arrow" w="med" len="med"/>
                  <a:tailEnd type="arrow" w="med" len="med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/>
                <a:lstStyle/>
                <a:p>
                  <a:pPr/>
                  <a:endParaRPr lang="zh-CN" altLang="en-US"/>
                </a:p>
              </p:txBody>
            </p:sp>
            <p:sp>
              <p:nvSpPr>
                <p:cNvPr id="1879" name="Text Box 173"/>
                <p:cNvSpPr txBox="true">
                  <a:spLocks noChangeArrowheads="true"/>
                </p:cNvSpPr>
                <p:nvPr/>
              </p:nvSpPr>
              <p:spPr bwMode="auto">
                <a:xfrm>
                  <a:off x="2632" y="1645"/>
                  <a:ext cx="306" cy="19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/>
                </a:extLst>
              </p:spPr>
              <p:txBody>
                <a:bodyPr wrap="none" lIns="90487" tIns="44450" rIns="90487" bIns="44450">
                  <a:spAutoFit/>
                </a:bodyPr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600">
                      <a:solidFill>
                        <a:schemeClr val="tx2"/>
                      </a:solidFill>
                      <a:latin typeface="Helvetica" pitchFamily="34" charset="0"/>
                    </a:rPr>
                    <a:t>CO</a:t>
                  </a:r>
                  <a:endParaRPr/>
                </a:p>
              </p:txBody>
            </p:sp>
          </p:grpSp>
          <p:grpSp>
            <p:nvGrpSpPr>
              <p:cNvPr id="1880" name="Group 174"/>
              <p:cNvGrpSpPr/>
              <p:nvPr/>
            </p:nvGrpSpPr>
            <p:grpSpPr>
              <a:xfrm>
                <a:off x="2920" y="1776"/>
                <a:ext cx="1214" cy="195"/>
                <a:chOff x="2445" y="1645"/>
                <a:chExt cx="625" cy="195"/>
              </a:xfrm>
            </p:grpSpPr>
            <p:sp>
              <p:nvSpPr>
                <p:cNvPr id="1881" name="Line 175"/>
                <p:cNvSpPr>
                  <a:spLocks noChangeShapeType="true"/>
                </p:cNvSpPr>
                <p:nvPr/>
              </p:nvSpPr>
              <p:spPr bwMode="auto">
                <a:xfrm>
                  <a:off x="2445" y="1723"/>
                  <a:ext cx="62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arrow" w="med" len="med"/>
                  <a:tailEnd type="arrow" w="med" len="med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/>
                <a:lstStyle/>
                <a:p>
                  <a:pPr/>
                  <a:endParaRPr lang="zh-CN" altLang="en-US"/>
                </a:p>
              </p:txBody>
            </p:sp>
            <p:sp>
              <p:nvSpPr>
                <p:cNvPr id="1882" name="Text Box 176"/>
                <p:cNvSpPr txBox="true">
                  <a:spLocks noChangeArrowheads="true"/>
                </p:cNvSpPr>
                <p:nvPr/>
              </p:nvSpPr>
              <p:spPr bwMode="auto">
                <a:xfrm>
                  <a:off x="2723" y="1645"/>
                  <a:ext cx="125" cy="19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/>
                </a:extLst>
              </p:spPr>
              <p:txBody>
                <a:bodyPr wrap="none" lIns="90487" tIns="44450" rIns="90487" bIns="44450">
                  <a:spAutoFit/>
                </a:bodyPr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600">
                      <a:solidFill>
                        <a:schemeClr val="tx2"/>
                      </a:solidFill>
                      <a:latin typeface="Helvetica" pitchFamily="34" charset="0"/>
                    </a:rPr>
                    <a:t>CI</a:t>
                  </a:r>
                  <a:endParaRPr/>
                </a:p>
              </p:txBody>
            </p:sp>
          </p:grpSp>
          <p:grpSp>
            <p:nvGrpSpPr>
              <p:cNvPr id="1883" name="Group 177"/>
              <p:cNvGrpSpPr/>
              <p:nvPr/>
            </p:nvGrpSpPr>
            <p:grpSpPr>
              <a:xfrm>
                <a:off x="1078" y="1789"/>
                <a:ext cx="1824" cy="195"/>
                <a:chOff x="2445" y="1645"/>
                <a:chExt cx="625" cy="195"/>
              </a:xfrm>
            </p:grpSpPr>
            <p:sp>
              <p:nvSpPr>
                <p:cNvPr id="1884" name="Line 178"/>
                <p:cNvSpPr>
                  <a:spLocks noChangeShapeType="true"/>
                </p:cNvSpPr>
                <p:nvPr/>
              </p:nvSpPr>
              <p:spPr bwMode="auto">
                <a:xfrm>
                  <a:off x="2445" y="1723"/>
                  <a:ext cx="62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arrow" w="med" len="med"/>
                  <a:tailEnd type="arrow" w="med" len="med"/>
                </a:ln>
                <a:extLst>
                  <a:ext uri="{909E8E84-426E-40DD-AFC4-6F175D3DCCD1}"/>
                </a:extLst>
              </p:spPr>
              <p:txBody>
                <a:bodyPr wrap="none" lIns="90487" tIns="44450" rIns="90487" bIns="44450"/>
                <a:lstStyle/>
                <a:p>
                  <a:pPr/>
                  <a:endParaRPr lang="zh-CN" altLang="en-US"/>
                </a:p>
              </p:txBody>
            </p:sp>
            <p:sp>
              <p:nvSpPr>
                <p:cNvPr id="1885" name="Text Box 179"/>
                <p:cNvSpPr txBox="true">
                  <a:spLocks noChangeArrowheads="true"/>
                </p:cNvSpPr>
                <p:nvPr/>
              </p:nvSpPr>
              <p:spPr bwMode="auto">
                <a:xfrm>
                  <a:off x="2737" y="1645"/>
                  <a:ext cx="97" cy="19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/>
                </a:extLst>
              </p:spPr>
              <p:txBody>
                <a:bodyPr wrap="none" lIns="90487" tIns="44450" rIns="90487" bIns="44450">
                  <a:spAutoFit/>
                </a:bodyPr>
                <a:lstStyle>
                  <a:lvl1pPr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1pPr>
                  <a:lvl2pPr marL="742950" indent="-28575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2pPr>
                  <a:lvl3pPr marL="11430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3pPr>
                  <a:lvl4pPr marL="16002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4pPr>
                  <a:lvl5pPr marL="2057400" indent="-228600"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5pPr>
                  <a:lvl6pPr marL="25146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6pPr>
                  <a:lvl7pPr marL="29718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7pPr>
                  <a:lvl8pPr marL="34290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8pPr>
                  <a:lvl9pPr marL="3886200" indent="-228600" eaLnBrk="false" fontAlgn="base" hangingPunct="false">
                    <a:spcBef>
                      <a:spcPct val="1"/>
                    </a:spcBef>
                    <a:spcAft>
                      <a:spcPct val="1"/>
                    </a:spcAft>
                    <a:defRPr sz="2000" b="true">
                      <a:solidFill>
                        <a:schemeClr val="tx1"/>
                      </a:solidFill>
                      <a:latin typeface="Comic Sans MS" panose="030F0902030302020204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90000"/>
                    </a:lnSpc>
                    <a:spcBef>
                      <a:spcPct val="30000"/>
                    </a:spcBef>
                  </a:pPr>
                  <a:r>
                    <a:rPr lang="en-US" altLang="zh-CN" sz="1600">
                      <a:solidFill>
                        <a:schemeClr val="tx2"/>
                      </a:solidFill>
                      <a:latin typeface="Helvetica" pitchFamily="34" charset="0"/>
                    </a:rPr>
                    <a:t>CT</a:t>
                  </a:r>
                  <a:endParaRPr/>
                </a:p>
              </p:txBody>
            </p:sp>
          </p:grpSp>
        </p:grpSp>
        <p:sp>
          <p:nvSpPr>
            <p:cNvPr id="1886" name="Text Box 180"/>
            <p:cNvSpPr txBox="true">
              <a:spLocks noChangeArrowheads="true"/>
            </p:cNvSpPr>
            <p:nvPr/>
          </p:nvSpPr>
          <p:spPr bwMode="auto">
            <a:xfrm>
              <a:off x="4704" y="305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0</a:t>
              </a:r>
              <a:endParaRPr/>
            </a:p>
          </p:txBody>
        </p:sp>
        <p:sp>
          <p:nvSpPr>
            <p:cNvPr id="1887" name="Text Box 181"/>
            <p:cNvSpPr txBox="true">
              <a:spLocks noChangeArrowheads="true"/>
            </p:cNvSpPr>
            <p:nvPr/>
          </p:nvSpPr>
          <p:spPr bwMode="auto">
            <a:xfrm>
              <a:off x="4368" y="305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0</a:t>
              </a:r>
              <a:endParaRPr/>
            </a:p>
          </p:txBody>
        </p:sp>
        <p:sp>
          <p:nvSpPr>
            <p:cNvPr id="1888" name="Text Box 182"/>
            <p:cNvSpPr txBox="true">
              <a:spLocks noChangeArrowheads="true"/>
            </p:cNvSpPr>
            <p:nvPr/>
          </p:nvSpPr>
          <p:spPr bwMode="auto">
            <a:xfrm>
              <a:off x="4080" y="305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1</a:t>
              </a:r>
              <a:endParaRPr/>
            </a:p>
          </p:txBody>
        </p:sp>
        <p:sp>
          <p:nvSpPr>
            <p:cNvPr id="1889" name="Text Box 183"/>
            <p:cNvSpPr txBox="true">
              <a:spLocks noChangeArrowheads="true"/>
            </p:cNvSpPr>
            <p:nvPr/>
          </p:nvSpPr>
          <p:spPr bwMode="auto">
            <a:xfrm>
              <a:off x="3749" y="305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0</a:t>
              </a:r>
              <a:endParaRPr/>
            </a:p>
          </p:txBody>
        </p:sp>
        <p:sp>
          <p:nvSpPr>
            <p:cNvPr id="1890" name="Text Box 184"/>
            <p:cNvSpPr txBox="true">
              <a:spLocks noChangeArrowheads="true"/>
            </p:cNvSpPr>
            <p:nvPr/>
          </p:nvSpPr>
          <p:spPr bwMode="auto">
            <a:xfrm>
              <a:off x="3456" y="305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1</a:t>
              </a:r>
              <a:endParaRPr/>
            </a:p>
          </p:txBody>
        </p:sp>
        <p:sp>
          <p:nvSpPr>
            <p:cNvPr id="1891" name="Text Box 185"/>
            <p:cNvSpPr txBox="true">
              <a:spLocks noChangeArrowheads="true"/>
            </p:cNvSpPr>
            <p:nvPr/>
          </p:nvSpPr>
          <p:spPr bwMode="auto">
            <a:xfrm>
              <a:off x="3168" y="305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0</a:t>
              </a:r>
              <a:endParaRPr/>
            </a:p>
          </p:txBody>
        </p:sp>
        <p:sp>
          <p:nvSpPr>
            <p:cNvPr id="1892" name="Text Box 186"/>
            <p:cNvSpPr txBox="true">
              <a:spLocks noChangeArrowheads="true"/>
            </p:cNvSpPr>
            <p:nvPr/>
          </p:nvSpPr>
          <p:spPr bwMode="auto">
            <a:xfrm>
              <a:off x="2832" y="305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1</a:t>
              </a:r>
              <a:endParaRPr/>
            </a:p>
          </p:txBody>
        </p:sp>
        <p:sp>
          <p:nvSpPr>
            <p:cNvPr id="1893" name="Text Box 187"/>
            <p:cNvSpPr txBox="true">
              <a:spLocks noChangeArrowheads="true"/>
            </p:cNvSpPr>
            <p:nvPr/>
          </p:nvSpPr>
          <p:spPr bwMode="auto">
            <a:xfrm>
              <a:off x="2544" y="305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0</a:t>
              </a:r>
              <a:endParaRPr/>
            </a:p>
          </p:txBody>
        </p:sp>
        <p:sp>
          <p:nvSpPr>
            <p:cNvPr id="1894" name="Text Box 188"/>
            <p:cNvSpPr txBox="true">
              <a:spLocks noChangeArrowheads="true"/>
            </p:cNvSpPr>
            <p:nvPr/>
          </p:nvSpPr>
          <p:spPr bwMode="auto">
            <a:xfrm>
              <a:off x="2213" y="305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1</a:t>
              </a:r>
              <a:endParaRPr/>
            </a:p>
          </p:txBody>
        </p:sp>
        <p:sp>
          <p:nvSpPr>
            <p:cNvPr id="1895" name="Text Box 189"/>
            <p:cNvSpPr txBox="true">
              <a:spLocks noChangeArrowheads="true"/>
            </p:cNvSpPr>
            <p:nvPr/>
          </p:nvSpPr>
          <p:spPr bwMode="auto">
            <a:xfrm>
              <a:off x="1920" y="305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1</a:t>
              </a:r>
              <a:endParaRPr/>
            </a:p>
          </p:txBody>
        </p:sp>
        <p:sp>
          <p:nvSpPr>
            <p:cNvPr id="1896" name="Text Box 190"/>
            <p:cNvSpPr txBox="true">
              <a:spLocks noChangeArrowheads="true"/>
            </p:cNvSpPr>
            <p:nvPr/>
          </p:nvSpPr>
          <p:spPr bwMode="auto">
            <a:xfrm>
              <a:off x="1632" y="305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0</a:t>
              </a:r>
              <a:endParaRPr/>
            </a:p>
          </p:txBody>
        </p:sp>
        <p:sp>
          <p:nvSpPr>
            <p:cNvPr id="1897" name="Text Box 191"/>
            <p:cNvSpPr txBox="true">
              <a:spLocks noChangeArrowheads="true"/>
            </p:cNvSpPr>
            <p:nvPr/>
          </p:nvSpPr>
          <p:spPr bwMode="auto">
            <a:xfrm>
              <a:off x="1296" y="3052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/>
              <a:r>
                <a:rPr lang="zh-CN" altLang="en-US" sz="1600">
                  <a:latin typeface="Helvetica" pitchFamily="34" charset="0"/>
                </a:rPr>
                <a:t>0</a:t>
              </a:r>
              <a:endParaRPr/>
            </a:p>
          </p:txBody>
        </p:sp>
      </p:grpSp>
      <p:sp>
        <p:nvSpPr>
          <p:cNvPr id="1898" name="Rectangle 192"/>
          <p:cNvSpPr>
            <a:spLocks noChangeArrowheads="true"/>
          </p:cNvSpPr>
          <p:nvPr/>
        </p:nvSpPr>
        <p:spPr bwMode="auto">
          <a:xfrm>
            <a:off x="490538" y="3595688"/>
            <a:ext cx="74739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 marL="342900" indent="-3429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179705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lvl="1">
              <a:lnSpc>
                <a:spcPct val="90000"/>
              </a:lnSpc>
              <a:spcBef>
                <a:spcPct val="20000"/>
              </a:spcBef>
            </a:pPr>
            <a:r>
              <a:rPr lang="en-US" altLang="zh-CN" b="false"/>
              <a:t>Offset: </a:t>
            </a:r>
            <a:r>
              <a:rPr lang="en-US" altLang="zh-CN" u="sng"/>
              <a:t>0x0</a:t>
            </a:r>
            <a:r>
              <a:rPr lang="en-US" altLang="zh-CN" b="false"/>
              <a:t>	 CI: </a:t>
            </a:r>
            <a:r>
              <a:rPr lang="en-US" altLang="zh-CN" u="sng"/>
              <a:t>0x05</a:t>
            </a:r>
            <a:r>
              <a:rPr lang="en-US" altLang="zh-CN" b="false"/>
              <a:t>    CT: </a:t>
            </a:r>
            <a:r>
              <a:rPr lang="en-US" altLang="zh-CN" u="sng"/>
              <a:t>0x0D</a:t>
            </a:r>
            <a:r>
              <a:rPr lang="en-US" altLang="zh-CN" b="false"/>
              <a:t>	  Hit? </a:t>
            </a:r>
            <a:r>
              <a:rPr lang="en-US" altLang="zh-CN" u="sng">
                <a:solidFill>
                  <a:srgbClr val="FF0000"/>
                </a:solidFill>
              </a:rPr>
              <a:t>Yes</a:t>
            </a:r>
            <a:r>
              <a:rPr lang="en-US" altLang="zh-CN" b="false">
                <a:solidFill>
                  <a:srgbClr val="FF0000"/>
                </a:solidFill>
              </a:rPr>
              <a:t>  </a:t>
            </a:r>
            <a:r>
              <a:rPr lang="en-US" altLang="zh-CN" b="false"/>
              <a:t>Byte: </a:t>
            </a:r>
            <a:r>
              <a:rPr lang="en-US" altLang="zh-CN" u="sng">
                <a:solidFill>
                  <a:srgbClr val="FF0000"/>
                </a:solidFill>
              </a:rPr>
              <a:t>0x36</a:t>
            </a:r>
            <a:endParaRPr lang="zh-CN" altLang="en-US" u="sng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90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5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>
                <a:latin typeface="Comic Sans MS"/>
                <a:ea typeface="宋体"/>
                <a:cs typeface="宋体"/>
              </a:rPr>
              <a:t>Faster Translations w/ TLBs</a:t>
            </a:r>
            <a:endParaRPr lang="zh-CN"/>
          </a:p>
        </p:txBody>
      </p:sp>
      <p:sp>
        <p:nvSpPr>
          <p:cNvPr id="1906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>
              <a:buChar char="•"/>
            </a:pPr>
            <a:r>
              <a:rPr lang="en-US"/>
              <a:t>TLB Issue: Context Switches</a:t>
            </a:r>
            <a:endParaRPr/>
          </a:p>
          <a:p>
            <a:pPr lvl="1">
              <a:buChar char="–"/>
            </a:pPr>
            <a:r>
              <a:rPr lang="en-US"/>
              <a:t>TLB</a:t>
            </a:r>
            <a:r>
              <a:rPr lang="zh-CN"/>
              <a:t>中存储的是当前</a:t>
            </a:r>
            <a:r>
              <a:rPr lang="en-US"/>
              <a:t>process</a:t>
            </a:r>
            <a:r>
              <a:rPr lang="zh-CN"/>
              <a:t>的</a:t>
            </a:r>
            <a:r>
              <a:rPr lang="en-US"/>
              <a:t>page</a:t>
            </a:r>
            <a:r>
              <a:rPr lang="zh-CN"/>
              <a:t> </a:t>
            </a:r>
            <a:r>
              <a:rPr lang="en-US"/>
              <a:t>table </a:t>
            </a:r>
            <a:endParaRPr/>
          </a:p>
          <a:p>
            <a:pPr lvl="1">
              <a:buChar char="–"/>
            </a:pPr>
            <a:r>
              <a:rPr lang="zh-CN"/>
              <a:t>当发生</a:t>
            </a:r>
            <a:r>
              <a:rPr lang="en-US"/>
              <a:t>context switch</a:t>
            </a:r>
            <a:r>
              <a:rPr lang="zh-CN"/>
              <a:t>的时候，旧的缓存项可能干扰</a:t>
            </a:r>
            <a:endParaRPr lang="en-US"/>
          </a:p>
          <a:p>
            <a:pPr lvl="1">
              <a:buChar char="–"/>
            </a:pPr>
            <a:r>
              <a:rPr lang="en-US"/>
              <a:t>E.g., </a:t>
            </a:r>
            <a:r>
              <a:rPr lang="zh-CN"/>
              <a:t>进程从</a:t>
            </a:r>
            <a:r>
              <a:rPr lang="en-US"/>
              <a:t>P1</a:t>
            </a:r>
            <a:r>
              <a:rPr lang="zh-CN"/>
              <a:t>切换到</a:t>
            </a:r>
            <a:r>
              <a:rPr lang="en-US"/>
              <a:t>P2</a:t>
            </a:r>
            <a:r>
              <a:rPr lang="zh-CN"/>
              <a:t>，</a:t>
            </a:r>
            <a:r>
              <a:rPr lang="en-US"/>
              <a:t>VPN=10</a:t>
            </a:r>
            <a:r>
              <a:rPr lang="zh-CN"/>
              <a:t>可能有两个</a:t>
            </a:r>
            <a:r>
              <a:rPr lang="en-US"/>
              <a:t>entry</a:t>
            </a:r>
            <a:endParaRPr/>
          </a:p>
          <a:p>
            <a:pPr lvl="1">
              <a:buChar char="–"/>
            </a:pPr>
            <a:r>
              <a:rPr lang="zh-CN"/>
              <a:t>具体应该如何在</a:t>
            </a:r>
            <a:r>
              <a:rPr lang="en-US"/>
              <a:t>context</a:t>
            </a:r>
            <a:r>
              <a:rPr lang="zh-CN"/>
              <a:t> </a:t>
            </a:r>
            <a:r>
              <a:rPr lang="en-US"/>
              <a:t>switch</a:t>
            </a:r>
            <a:r>
              <a:rPr lang="zh-CN"/>
              <a:t>时处理</a:t>
            </a:r>
            <a:r>
              <a:rPr lang="en-US"/>
              <a:t>TLB?</a:t>
            </a:r>
            <a:endParaRPr/>
          </a:p>
        </p:txBody>
      </p:sp>
      <p:sp>
        <p:nvSpPr>
          <p:cNvPr id="1907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EF0B01C9-CC9E-4042-87A9-F49D20F0019F}" type="slidenum">
              <a:rPr lang="zh-CN" altLang="en-US" smtClean="false"/>
              <a:t>96</a:t>
            </a:fld>
            <a:endParaRPr lang="en-US" altLang="zh-CN"/>
          </a:p>
        </p:txBody>
      </p:sp>
      <p:pic>
        <p:nvPicPr>
          <p:cNvPr id="1908" name="图片 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2209800" y="4267200"/>
            <a:ext cx="4013200" cy="1981200"/>
          </a:xfrm>
          <a:prstGeom prst="rect">
            <a:avLst/>
          </a:prstGeom>
        </p:spPr>
      </p:pic>
      <p:sp>
        <p:nvSpPr>
          <p:cNvPr id="1909" name=""/>
          <p:cNvSpPr txBox="true"/>
          <p:nvPr/>
        </p:nvSpPr>
        <p:spPr>
          <a:xfrm rot="0" flipH="false" flipV="false">
            <a:off x="1011646" y="6172200"/>
            <a:ext cx="6038850" cy="393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en-US"/>
              <a:t>VPN</a:t>
            </a:r>
            <a:r>
              <a:rPr lang="zh-CN"/>
              <a:t>冲突的</a:t>
            </a:r>
            <a:r>
              <a:rPr lang="en-US"/>
              <a:t>TLB entry</a:t>
            </a:r>
            <a:r>
              <a:rPr lang="zh-CN"/>
              <a:t>，很容易导致</a:t>
            </a:r>
            <a:r>
              <a:rPr lang="en-US"/>
              <a:t>translation</a:t>
            </a:r>
            <a:r>
              <a:rPr lang="zh-CN"/>
              <a:t>出错</a:t>
            </a:r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9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1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>
                <a:latin typeface="Comic Sans MS"/>
                <a:ea typeface="宋体"/>
                <a:cs typeface="宋体"/>
              </a:rPr>
              <a:t>Faster Translations w/ TLBs</a:t>
            </a:r>
            <a:endParaRPr lang="zh-CN"/>
          </a:p>
        </p:txBody>
      </p:sp>
      <p:sp>
        <p:nvSpPr>
          <p:cNvPr id="1912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>
              <a:buChar char="•"/>
            </a:pPr>
            <a:r>
              <a:rPr lang="en-US"/>
              <a:t>TLB Issue: Context Switches</a:t>
            </a:r>
            <a:endParaRPr/>
          </a:p>
          <a:p>
            <a:pPr lvl="1">
              <a:buChar char="–"/>
            </a:pPr>
            <a:r>
              <a:rPr lang="en-US"/>
              <a:t>#1.</a:t>
            </a:r>
            <a:r>
              <a:rPr lang="zh-CN"/>
              <a:t> </a:t>
            </a:r>
            <a:r>
              <a:rPr lang="zh-CN"/>
              <a:t>简单地清空</a:t>
            </a:r>
            <a:r>
              <a:rPr lang="en-US"/>
              <a:t>TLB</a:t>
            </a:r>
            <a:r>
              <a:rPr lang="zh-CN"/>
              <a:t>，重新开始</a:t>
            </a:r>
            <a:endParaRPr lang="en-US"/>
          </a:p>
          <a:p>
            <a:pPr lvl="2">
              <a:buChar char="•"/>
            </a:pPr>
            <a:r>
              <a:rPr lang="en-US"/>
              <a:t>OS</a:t>
            </a:r>
            <a:r>
              <a:rPr lang="zh-CN"/>
              <a:t>：利用特权指令来控制清零</a:t>
            </a:r>
            <a:r>
              <a:rPr lang="en-US"/>
              <a:t>TLB</a:t>
            </a:r>
            <a:endParaRPr/>
          </a:p>
          <a:p>
            <a:pPr lvl="2">
              <a:buChar char="•"/>
            </a:pPr>
            <a:r>
              <a:rPr lang="zh-CN"/>
              <a:t>硬件：</a:t>
            </a:r>
            <a:r>
              <a:rPr lang="en-US"/>
              <a:t>PTBR</a:t>
            </a:r>
            <a:r>
              <a:rPr lang="zh-CN"/>
              <a:t>发生</a:t>
            </a:r>
            <a:r>
              <a:rPr lang="zh-CN"/>
              <a:t>改变时</a:t>
            </a:r>
            <a:r>
              <a:rPr lang="zh-CN"/>
              <a:t>将</a:t>
            </a:r>
            <a:r>
              <a:rPr lang="en-US"/>
              <a:t>TLB</a:t>
            </a:r>
            <a:r>
              <a:rPr lang="zh-CN"/>
              <a:t>所有位清零</a:t>
            </a:r>
            <a:endParaRPr/>
          </a:p>
          <a:p>
            <a:pPr lvl="2">
              <a:buChar char="•"/>
            </a:pPr>
            <a:r>
              <a:rPr lang="zh-CN"/>
              <a:t>问题：</a:t>
            </a:r>
            <a:r>
              <a:rPr lang="en-US"/>
              <a:t>TLB</a:t>
            </a:r>
            <a:r>
              <a:rPr lang="zh-CN"/>
              <a:t>命中率回到</a:t>
            </a:r>
            <a:r>
              <a:rPr lang="en-US"/>
              <a:t>0</a:t>
            </a:r>
            <a:r>
              <a:rPr lang="zh-CN"/>
              <a:t>，性能较差</a:t>
            </a:r>
            <a:endParaRPr lang="en-US"/>
          </a:p>
          <a:p>
            <a:pPr lvl="1">
              <a:buChar char="–"/>
            </a:pPr>
            <a:r>
              <a:rPr lang="en-US"/>
              <a:t>#2.</a:t>
            </a:r>
            <a:r>
              <a:rPr lang="zh-CN"/>
              <a:t> </a:t>
            </a:r>
            <a:r>
              <a:rPr lang="en-US" b="true"/>
              <a:t>address space identifier </a:t>
            </a:r>
            <a:r>
              <a:rPr lang="en-US"/>
              <a:t>(</a:t>
            </a:r>
            <a:r>
              <a:rPr lang="en-US" b="true"/>
              <a:t>ASID</a:t>
            </a:r>
            <a:r>
              <a:rPr lang="en-US"/>
              <a:t>) </a:t>
            </a:r>
            <a:endParaRPr/>
          </a:p>
          <a:p>
            <a:pPr lvl="2">
              <a:buChar char="•"/>
            </a:pPr>
            <a:r>
              <a:rPr lang="zh-CN"/>
              <a:t>可以按照</a:t>
            </a:r>
            <a:r>
              <a:rPr lang="en-US"/>
              <a:t>PID</a:t>
            </a:r>
            <a:r>
              <a:rPr lang="zh-CN"/>
              <a:t>来理解</a:t>
            </a:r>
            <a:endParaRPr lang="en-US"/>
          </a:p>
          <a:p>
            <a:pPr lvl="2">
              <a:buChar char="•"/>
            </a:pPr>
            <a:r>
              <a:rPr lang="zh-CN"/>
              <a:t>可以区分不同</a:t>
            </a:r>
            <a:r>
              <a:rPr lang="en-US"/>
              <a:t>VA</a:t>
            </a:r>
            <a:r>
              <a:rPr lang="zh-CN"/>
              <a:t>空间，不必清空</a:t>
            </a:r>
            <a:r>
              <a:rPr lang="en-US"/>
              <a:t>TLB</a:t>
            </a:r>
            <a:r>
              <a:rPr lang="zh-CN"/>
              <a:t>，也不会发生错误</a:t>
            </a:r>
            <a:endParaRPr lang="en-US"/>
          </a:p>
          <a:p>
            <a:pPr lvl="2">
              <a:buChar char="•"/>
            </a:pPr>
            <a:endParaRPr lang="en-US"/>
          </a:p>
          <a:p>
            <a:pPr lvl="2">
              <a:buChar char="•"/>
            </a:pPr>
            <a:endParaRPr lang="zh-CN"/>
          </a:p>
        </p:txBody>
      </p:sp>
      <p:sp>
        <p:nvSpPr>
          <p:cNvPr id="1913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EF0B01C9-CC9E-4042-87A9-F49D20F0019F}" type="slidenum">
              <a:rPr lang="zh-CN" altLang="en-US" smtClean="false"/>
              <a:t>97</a:t>
            </a:fld>
            <a:endParaRPr lang="en-US" altLang="zh-CN"/>
          </a:p>
        </p:txBody>
      </p:sp>
      <p:pic>
        <p:nvPicPr>
          <p:cNvPr id="1914" name="图片 4"/>
          <p:cNvPicPr>
            <a:picLocks noChangeAspect="true"/>
          </p:cNvPicPr>
          <p:nvPr/>
        </p:nvPicPr>
        <p:blipFill>
          <a:blip r:embed="rId1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1828800" y="4831087"/>
            <a:ext cx="4899969" cy="1819649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9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6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>
                <a:latin typeface="Comic Sans MS"/>
                <a:ea typeface="宋体"/>
                <a:cs typeface="宋体"/>
              </a:rPr>
              <a:t>Faster Translations w/ TLBs</a:t>
            </a:r>
            <a:endParaRPr lang="zh-CN"/>
          </a:p>
        </p:txBody>
      </p:sp>
      <p:sp>
        <p:nvSpPr>
          <p:cNvPr id="1917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>
              <a:buChar char="•"/>
            </a:pPr>
            <a:r>
              <a:rPr lang="en-US"/>
              <a:t>TLB Issue: Context Switches</a:t>
            </a:r>
            <a:endParaRPr/>
          </a:p>
          <a:p>
            <a:pPr lvl="1">
              <a:buChar char="–"/>
            </a:pPr>
            <a:r>
              <a:rPr lang="zh-CN"/>
              <a:t>两个不同进程的</a:t>
            </a:r>
            <a:r>
              <a:rPr lang="en-US"/>
              <a:t>VPN</a:t>
            </a:r>
            <a:r>
              <a:rPr lang="zh-CN"/>
              <a:t>可能</a:t>
            </a:r>
            <a:r>
              <a:rPr lang="zh-CN"/>
              <a:t>指向同一个</a:t>
            </a:r>
            <a:r>
              <a:rPr lang="en-US"/>
              <a:t>PFN (PPN)</a:t>
            </a:r>
            <a:endParaRPr/>
          </a:p>
          <a:p>
            <a:pPr lvl="1">
              <a:buChar char="–"/>
            </a:pPr>
            <a:r>
              <a:rPr lang="zh-CN"/>
              <a:t>合理，因为两个进程进行了内存共享</a:t>
            </a:r>
            <a:endParaRPr lang="en-US"/>
          </a:p>
          <a:p>
            <a:pPr lvl="2">
              <a:buChar char="•"/>
            </a:pPr>
            <a:r>
              <a:rPr lang="zh-CN"/>
              <a:t>共享一部分</a:t>
            </a:r>
            <a:r>
              <a:rPr lang="en-US"/>
              <a:t>code page (</a:t>
            </a:r>
            <a:r>
              <a:rPr lang="zh-CN"/>
              <a:t>如</a:t>
            </a:r>
            <a:r>
              <a:rPr lang="en-US"/>
              <a:t>kernel</a:t>
            </a:r>
            <a:r>
              <a:rPr lang="zh-CN"/>
              <a:t>和</a:t>
            </a:r>
            <a:r>
              <a:rPr lang="en-US"/>
              <a:t>shared libraries)</a:t>
            </a:r>
            <a:endParaRPr/>
          </a:p>
          <a:p>
            <a:pPr lvl="2">
              <a:buChar char="•"/>
            </a:pPr>
            <a:r>
              <a:rPr lang="en-US"/>
              <a:t>Fork</a:t>
            </a:r>
            <a:r>
              <a:rPr lang="zh-CN"/>
              <a:t>后的父子进程之间</a:t>
            </a:r>
            <a:endParaRPr/>
          </a:p>
          <a:p>
            <a:pPr lvl="2">
              <a:buChar char="•"/>
            </a:pPr>
            <a:r>
              <a:rPr lang="zh-CN"/>
              <a:t>进程间通信</a:t>
            </a:r>
            <a:r>
              <a:rPr lang="en-US"/>
              <a:t>-&gt;</a:t>
            </a:r>
            <a:r>
              <a:rPr lang="zh-CN"/>
              <a:t>共享内存</a:t>
            </a:r>
            <a:endParaRPr lang="en-US"/>
          </a:p>
        </p:txBody>
      </p:sp>
      <p:sp>
        <p:nvSpPr>
          <p:cNvPr id="1918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EF0B01C9-CC9E-4042-87A9-F49D20F0019F}" type="slidenum">
              <a:rPr lang="zh-CN" altLang="en-US" smtClean="false"/>
              <a:t>98</a:t>
            </a:fld>
            <a:endParaRPr lang="en-US" altLang="zh-CN"/>
          </a:p>
        </p:txBody>
      </p:sp>
      <p:pic>
        <p:nvPicPr>
          <p:cNvPr id="1919" name="图片 4"/>
          <p:cNvPicPr>
            <a:picLocks noChangeAspect="true"/>
          </p:cNvPicPr>
          <p:nvPr/>
        </p:nvPicPr>
        <p:blipFill>
          <a:blip r:embed="rId1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1524000" y="4140200"/>
            <a:ext cx="5308600" cy="187960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>
  <p:cSld>
    <p:spTree>
      <p:nvGrpSpPr>
        <p:cNvPr id="19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1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>
                <a:latin typeface="Comic Sans MS"/>
                <a:ea typeface="宋体"/>
                <a:cs typeface="宋体"/>
              </a:rPr>
              <a:t>Faster Translations w/ TLBs</a:t>
            </a:r>
            <a:endParaRPr lang="zh-CN"/>
          </a:p>
        </p:txBody>
      </p:sp>
      <p:sp>
        <p:nvSpPr>
          <p:cNvPr id="1922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 altLang="zh-CN" dirty="false"/>
              <a:t>Issue: Replacement Policy</a:t>
            </a:r>
            <a:endParaRPr/>
          </a:p>
          <a:p>
            <a:pPr lvl="1"/>
            <a:r>
              <a:rPr lang="en-US" altLang="zh-CN" b="true" dirty="false"/>
              <a:t>least-recently-used (LRU)</a:t>
            </a:r>
            <a:endParaRPr lang="en-US" altLang="zh-CN" dirty="false"/>
          </a:p>
          <a:p>
            <a:pPr lvl="1"/>
            <a:r>
              <a:rPr lang="en-US" altLang="zh-CN" b="true" dirty="false"/>
              <a:t>random</a:t>
            </a:r>
            <a:endParaRPr/>
          </a:p>
          <a:p>
            <a:pPr lvl="1"/>
            <a:r>
              <a:rPr kumimoji="true" lang="en-US" altLang="zh-CN" dirty="false"/>
              <a:t>LRU</a:t>
            </a:r>
            <a:r>
              <a:rPr lang="zh-CN" altLang="en-US" dirty="false"/>
              <a:t>未必命中率比</a:t>
            </a:r>
            <a:r>
              <a:rPr lang="en-US" altLang="zh-CN" dirty="false"/>
              <a:t>random</a:t>
            </a:r>
            <a:r>
              <a:rPr lang="zh-CN" altLang="en-US" dirty="false"/>
              <a:t>高</a:t>
            </a:r>
            <a:endParaRPr lang="en-US" altLang="zh-CN" dirty="false"/>
          </a:p>
          <a:p>
            <a:pPr lvl="2"/>
            <a:r>
              <a:rPr kumimoji="true" lang="zh-CN" altLang="en-US" dirty="false"/>
              <a:t>例如进程间规律</a:t>
            </a:r>
            <a:r>
              <a:rPr kumimoji="true" lang="en-US" altLang="zh-CN" dirty="false"/>
              <a:t>switch</a:t>
            </a:r>
            <a:r>
              <a:rPr kumimoji="true" lang="zh-CN" altLang="en-US" dirty="false"/>
              <a:t>，</a:t>
            </a:r>
            <a:r>
              <a:rPr kumimoji="true" lang="en-US" altLang="zh-CN" dirty="false"/>
              <a:t>LRU</a:t>
            </a:r>
            <a:r>
              <a:rPr kumimoji="true" lang="zh-CN" altLang="en-US" dirty="false"/>
              <a:t>导致每个进程初始命中率很低</a:t>
            </a:r>
            <a:endParaRPr/>
          </a:p>
        </p:txBody>
      </p:sp>
      <p:sp>
        <p:nvSpPr>
          <p:cNvPr id="1923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EF0B01C9-CC9E-4042-87A9-F49D20F0019F}" type="slidenum">
              <a:rPr lang="zh-CN" altLang="en-US" smtClean="false"/>
              <a:t>99</a:t>
            </a:fld>
            <a:endParaRPr lang="en-US" altLang="zh-CN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9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>
                <a:latin typeface="Comic Sans MS"/>
                <a:ea typeface="宋体"/>
                <a:cs typeface="宋体"/>
              </a:rPr>
              <a:t>Faster Translations w/ TLBs</a:t>
            </a:r>
            <a:endParaRPr lang="zh-CN"/>
          </a:p>
        </p:txBody>
      </p:sp>
      <p:sp>
        <p:nvSpPr>
          <p:cNvPr id="1926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>
              <a:buChar char="•"/>
            </a:pPr>
            <a:r>
              <a:rPr lang="en-US"/>
              <a:t>A Real TLB Entry</a:t>
            </a:r>
            <a:endParaRPr/>
          </a:p>
          <a:p>
            <a:pPr lvl="1">
              <a:buChar char="–"/>
            </a:pPr>
            <a:r>
              <a:rPr lang="en-US"/>
              <a:t>MIPS</a:t>
            </a:r>
            <a:r>
              <a:rPr lang="zh-CN"/>
              <a:t> </a:t>
            </a:r>
            <a:r>
              <a:rPr lang="en-US"/>
              <a:t>R4000: 32-bit virtual address, 4KB pages</a:t>
            </a:r>
            <a:endParaRPr/>
          </a:p>
          <a:p>
            <a:pPr lvl="1">
              <a:buChar char="–"/>
            </a:pPr>
            <a:r>
              <a:rPr lang="en-US"/>
              <a:t>Software-managed TLB</a:t>
            </a:r>
            <a:endParaRPr/>
          </a:p>
          <a:p>
            <a:pPr lvl="1">
              <a:buChar char="–"/>
            </a:pPr>
            <a:r>
              <a:rPr lang="en-US"/>
              <a:t>A TLB entry: 64 bits</a:t>
            </a:r>
            <a:endParaRPr/>
          </a:p>
          <a:p>
            <a:pPr lvl="1">
              <a:buChar char="–"/>
            </a:pPr>
            <a:r>
              <a:rPr lang="en-US"/>
              <a:t>VPN: 20-bit, offset: 12-bit</a:t>
            </a:r>
            <a:endParaRPr/>
          </a:p>
          <a:p>
            <a:pPr lvl="1">
              <a:buChar char="–"/>
            </a:pPr>
            <a:r>
              <a:rPr lang="zh-CN"/>
              <a:t>实际</a:t>
            </a:r>
            <a:r>
              <a:rPr lang="en-US"/>
              <a:t>VPN 19</a:t>
            </a:r>
            <a:r>
              <a:rPr lang="zh-CN"/>
              <a:t>位，因为用户只能用一半，另一半留给</a:t>
            </a:r>
            <a:r>
              <a:rPr lang="en-US"/>
              <a:t>kernel</a:t>
            </a:r>
            <a:endParaRPr/>
          </a:p>
          <a:p>
            <a:pPr lvl="1">
              <a:buChar char="–"/>
            </a:pPr>
            <a:r>
              <a:rPr lang="en-US"/>
              <a:t>PFN: 24-bit</a:t>
            </a:r>
            <a:r>
              <a:rPr lang="zh-CN"/>
              <a:t>，物理内存支持到</a:t>
            </a:r>
            <a:r>
              <a:rPr lang="en-US"/>
              <a:t>64GB (2</a:t>
            </a:r>
            <a:r>
              <a:rPr lang="en-US" baseline="30000"/>
              <a:t>36</a:t>
            </a:r>
            <a:r>
              <a:rPr lang="en-US"/>
              <a:t>B)</a:t>
            </a:r>
            <a:endParaRPr/>
          </a:p>
          <a:p>
            <a:pPr>
              <a:buChar char="•"/>
            </a:pPr>
            <a:endParaRPr lang="zh-CN"/>
          </a:p>
        </p:txBody>
      </p:sp>
      <p:sp>
        <p:nvSpPr>
          <p:cNvPr id="1927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EF0B01C9-CC9E-4042-87A9-F49D20F0019F}" type="slidenum">
              <a:rPr lang="zh-CN" altLang="en-US" smtClean="false"/>
              <a:t>100</a:t>
            </a:fld>
            <a:endParaRPr lang="en-US" altLang="zh-CN"/>
          </a:p>
        </p:txBody>
      </p:sp>
      <p:pic>
        <p:nvPicPr>
          <p:cNvPr id="1928" name="图片 4"/>
          <p:cNvPicPr>
            <a:picLocks noChangeAspect="true"/>
          </p:cNvPicPr>
          <p:nvPr/>
        </p:nvPicPr>
        <p:blipFill>
          <a:blip r:embed="rId1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516128" y="5346151"/>
            <a:ext cx="7747000" cy="826049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9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0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>
                <a:latin typeface="Comic Sans MS"/>
                <a:ea typeface="宋体"/>
                <a:cs typeface="宋体"/>
              </a:rPr>
              <a:t>Faster Translations w/ TLBs</a:t>
            </a:r>
            <a:endParaRPr lang="zh-CN"/>
          </a:p>
        </p:txBody>
      </p:sp>
      <p:sp>
        <p:nvSpPr>
          <p:cNvPr id="1931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>
              <a:buChar char="•"/>
            </a:pPr>
            <a:r>
              <a:rPr lang="en-US"/>
              <a:t>A Real TLB Entry in MIPS R4000</a:t>
            </a:r>
            <a:endParaRPr/>
          </a:p>
          <a:p>
            <a:pPr lvl="1">
              <a:buChar char="–"/>
            </a:pPr>
            <a:r>
              <a:rPr lang="en-US"/>
              <a:t>ASID: 8-bit</a:t>
            </a:r>
            <a:r>
              <a:rPr lang="zh-CN"/>
              <a:t>，最多</a:t>
            </a:r>
            <a:r>
              <a:rPr lang="en-US"/>
              <a:t>256</a:t>
            </a:r>
            <a:r>
              <a:rPr lang="zh-CN"/>
              <a:t>个进程</a:t>
            </a:r>
            <a:endParaRPr lang="en-US"/>
          </a:p>
          <a:p>
            <a:pPr lvl="1">
              <a:buChar char="–"/>
            </a:pPr>
            <a:r>
              <a:rPr lang="en-US"/>
              <a:t>A global bit (G): </a:t>
            </a:r>
            <a:r>
              <a:rPr lang="zh-CN"/>
              <a:t>全局共享给所有进程，如果设置，</a:t>
            </a:r>
            <a:r>
              <a:rPr lang="en-US"/>
              <a:t>ASID</a:t>
            </a:r>
            <a:r>
              <a:rPr lang="zh-CN"/>
              <a:t>被忽略</a:t>
            </a:r>
            <a:endParaRPr lang="en-US"/>
          </a:p>
          <a:p>
            <a:pPr lvl="1">
              <a:buChar char="–"/>
            </a:pPr>
            <a:r>
              <a:rPr lang="en-US"/>
              <a:t>Coherence bit (C): </a:t>
            </a:r>
            <a:r>
              <a:rPr lang="zh-CN"/>
              <a:t>硬件</a:t>
            </a:r>
            <a:r>
              <a:rPr lang="en-US"/>
              <a:t>cache</a:t>
            </a:r>
            <a:r>
              <a:rPr lang="zh-CN"/>
              <a:t>相关</a:t>
            </a:r>
            <a:endParaRPr lang="en-US"/>
          </a:p>
          <a:p>
            <a:pPr lvl="1">
              <a:buChar char="–"/>
            </a:pPr>
            <a:r>
              <a:rPr lang="en-US"/>
              <a:t>Dirty bit (D) : page</a:t>
            </a:r>
            <a:r>
              <a:rPr lang="zh-CN"/>
              <a:t>是否被修改过</a:t>
            </a:r>
            <a:endParaRPr/>
          </a:p>
          <a:p>
            <a:pPr lvl="1">
              <a:buChar char="–"/>
            </a:pPr>
            <a:r>
              <a:rPr lang="en-US"/>
              <a:t>Valid bit (V): translation</a:t>
            </a:r>
            <a:r>
              <a:rPr lang="zh-CN"/>
              <a:t>是否有效</a:t>
            </a:r>
            <a:endParaRPr/>
          </a:p>
          <a:p>
            <a:pPr lvl="1">
              <a:buChar char="–"/>
            </a:pPr>
            <a:r>
              <a:rPr lang="en-US"/>
              <a:t>TLB</a:t>
            </a:r>
            <a:r>
              <a:rPr lang="zh-CN"/>
              <a:t>一般有</a:t>
            </a:r>
            <a:r>
              <a:rPr lang="en-US"/>
              <a:t>32</a:t>
            </a:r>
            <a:r>
              <a:rPr lang="zh-CN"/>
              <a:t>或</a:t>
            </a:r>
            <a:r>
              <a:rPr lang="en-US"/>
              <a:t>64</a:t>
            </a:r>
            <a:r>
              <a:rPr lang="zh-CN"/>
              <a:t>个</a:t>
            </a:r>
            <a:r>
              <a:rPr lang="en-US"/>
              <a:t>entry</a:t>
            </a:r>
            <a:r>
              <a:rPr lang="zh-CN"/>
              <a:t>，少量预留给</a:t>
            </a:r>
            <a:r>
              <a:rPr lang="en-US"/>
              <a:t>OS (</a:t>
            </a:r>
            <a:r>
              <a:rPr lang="zh-CN"/>
              <a:t>保证</a:t>
            </a:r>
            <a:r>
              <a:rPr lang="en-US"/>
              <a:t>kernel</a:t>
            </a:r>
            <a:r>
              <a:rPr lang="zh-CN"/>
              <a:t>的</a:t>
            </a:r>
            <a:r>
              <a:rPr lang="zh-CN"/>
              <a:t>性能</a:t>
            </a:r>
            <a:r>
              <a:rPr lang="en-US"/>
              <a:t>)</a:t>
            </a:r>
            <a:endParaRPr/>
          </a:p>
          <a:p>
            <a:pPr lvl="1">
              <a:buChar char="–"/>
            </a:pPr>
            <a:endParaRPr lang="en-US"/>
          </a:p>
          <a:p>
            <a:pPr lvl="1">
              <a:buChar char="–"/>
            </a:pPr>
            <a:endParaRPr lang="en-US"/>
          </a:p>
          <a:p>
            <a:pPr>
              <a:buChar char="•"/>
            </a:pPr>
            <a:endParaRPr lang="zh-CN"/>
          </a:p>
        </p:txBody>
      </p:sp>
      <p:sp>
        <p:nvSpPr>
          <p:cNvPr id="1932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EF0B01C9-CC9E-4042-87A9-F49D20F0019F}" type="slidenum">
              <a:rPr lang="zh-CN" altLang="en-US" smtClean="false"/>
              <a:t>101</a:t>
            </a:fld>
            <a:endParaRPr lang="en-US" altLang="zh-CN"/>
          </a:p>
        </p:txBody>
      </p:sp>
      <p:pic>
        <p:nvPicPr>
          <p:cNvPr id="1933" name="图片 4"/>
          <p:cNvPicPr>
            <a:picLocks noChangeAspect="true"/>
          </p:cNvPicPr>
          <p:nvPr/>
        </p:nvPicPr>
        <p:blipFill>
          <a:blip r:embed="rId1">
            <a:extLst>
              <a:ext uri="{28A0092B-C50C-407E-A947-70E740481C1C}"/>
            </a:extLst>
          </a:blip>
          <a:stretch>
            <a:fillRect/>
          </a:stretch>
        </p:blipFill>
        <p:spPr>
          <a:xfrm rot="0" flipH="false" flipV="false">
            <a:off x="698500" y="5606776"/>
            <a:ext cx="7747000" cy="826048"/>
          </a:xfrm>
          <a:prstGeom prst="rect">
            <a:avLst/>
          </a:prstGeom>
        </p:spPr>
      </p:pic>
      <p:sp>
        <p:nvSpPr>
          <p:cNvPr id="1934" name=""/>
          <p:cNvSpPr txBox="true"/>
          <p:nvPr/>
        </p:nvSpPr>
        <p:spPr>
          <a:xfrm rot="0" flipH="false" flipV="false">
            <a:off x="6711950" y="1449977"/>
            <a:ext cx="1517650" cy="10033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en-US"/>
              <a:t>32bit VA, </a:t>
            </a:r>
            <a:endParaRPr/>
          </a:p>
          <a:p>
            <a:pPr/>
            <a:r>
              <a:rPr lang="en-US"/>
              <a:t>36bit PA,</a:t>
            </a:r>
            <a:endParaRPr/>
          </a:p>
          <a:p>
            <a:pPr/>
            <a:r>
              <a:rPr lang="en-US"/>
              <a:t>4KB page</a:t>
            </a:r>
            <a:endParaRPr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9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6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r>
              <a:rPr lang="en-US"/>
              <a:t>MIPS</a:t>
            </a:r>
            <a:endParaRPr/>
          </a:p>
        </p:txBody>
      </p:sp>
      <p:sp>
        <p:nvSpPr>
          <p:cNvPr id="1937" name="Rectangle 6"/>
          <p:cNvSpPr>
            <a:spLocks noGrp="true" noChangeArrowheads="true"/>
          </p:cNvSpPr>
          <p:nvPr>
            <p:ph type="sldNum" sz="quarter" idx="12"/>
          </p:nvPr>
        </p:nvSpPr>
        <p:spPr/>
        <p:txBody>
          <a:bodyPr/>
          <a:p>
            <a:pPr/>
            <a:fld id="{EF0B01C9-CC9E-4042-87A9-F49D20F0019F}" type="slidenum">
              <a:rPr lang="zh-CN" altLang="en-US"/>
              <a:t>‹#›</a:t>
            </a:fld>
            <a:endParaRPr lang="en-US" altLang="zh-CN"/>
          </a:p>
        </p:txBody>
      </p:sp>
      <p:sp>
        <p:nvSpPr>
          <p:cNvPr id="1938" name=""/>
          <p:cNvSpPr txBox="true"/>
          <p:nvPr/>
        </p:nvSpPr>
        <p:spPr>
          <a:xfrm rot="0" flipH="false" flipV="false">
            <a:off x="457200" y="176348"/>
            <a:ext cx="1193800" cy="393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zh-CN">
                <a:solidFill>
                  <a:schemeClr val="bg1">
                    <a:lumMod val="65000"/>
                    <a:alpha val="100000"/>
                  </a:schemeClr>
                </a:solidFill>
              </a:rPr>
              <a:t>扩展内容</a:t>
            </a:r>
            <a:endParaRPr/>
          </a:p>
        </p:txBody>
      </p:sp>
      <p:pic>
        <p:nvPicPr>
          <p:cNvPr id="1939" name=""/>
          <p:cNvPicPr>
            <a:picLocks noChangeAspect="true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 rot="0" flipH="false" flipV="false">
            <a:off x="6410443" y="176348"/>
            <a:ext cx="1819157" cy="1885404"/>
          </a:xfrm>
          <a:prstGeom prst="rect"/>
        </p:spPr>
      </p:pic>
      <p:sp>
        <p:nvSpPr>
          <p:cNvPr id="1940" name=""/>
          <p:cNvSpPr txBox="true"/>
          <p:nvPr/>
        </p:nvSpPr>
        <p:spPr>
          <a:xfrm rot="0" flipH="false" flipV="false">
            <a:off x="378823" y="1691640"/>
            <a:ext cx="7975600" cy="25273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en-US"/>
              <a:t>MIPS R4000</a:t>
            </a:r>
            <a:r>
              <a:rPr lang="zh-CN"/>
              <a:t>是</a:t>
            </a:r>
            <a:r>
              <a:rPr lang="en-US"/>
              <a:t>1991</a:t>
            </a:r>
            <a:r>
              <a:rPr lang="zh-CN"/>
              <a:t>年</a:t>
            </a:r>
            <a:r>
              <a:rPr lang="en-US"/>
              <a:t>MIPS</a:t>
            </a:r>
            <a:r>
              <a:rPr lang="zh-CN"/>
              <a:t>发布的一款微处理器</a:t>
            </a:r>
            <a:endParaRPr/>
          </a:p>
          <a:p>
            <a:pPr/>
            <a:r>
              <a:rPr lang="zh-CN"/>
              <a:t>这是最早支持</a:t>
            </a:r>
            <a:r>
              <a:rPr lang="en-US"/>
              <a:t>64bit word</a:t>
            </a:r>
            <a:r>
              <a:rPr lang="zh-CN"/>
              <a:t>的处理器之一，采用</a:t>
            </a:r>
            <a:r>
              <a:rPr lang="en-US"/>
              <a:t>RISC</a:t>
            </a:r>
            <a:r>
              <a:rPr lang="zh-CN"/>
              <a:t>指令集，</a:t>
            </a:r>
            <a:r>
              <a:rPr lang="en-US"/>
              <a:t>1um</a:t>
            </a:r>
            <a:r>
              <a:rPr lang="zh-CN"/>
              <a:t>工艺</a:t>
            </a:r>
            <a:endParaRPr/>
          </a:p>
          <a:p>
            <a:pPr/>
            <a:endParaRPr lang="en-US"/>
          </a:p>
          <a:p>
            <a:pPr/>
            <a:r>
              <a:rPr lang="en-US"/>
              <a:t>MIPS R4000</a:t>
            </a:r>
            <a:r>
              <a:rPr lang="zh-CN"/>
              <a:t>其实支持</a:t>
            </a:r>
            <a:r>
              <a:rPr lang="en-US"/>
              <a:t>32bit</a:t>
            </a:r>
            <a:r>
              <a:rPr lang="zh-CN"/>
              <a:t>和</a:t>
            </a:r>
            <a:r>
              <a:rPr lang="en-US"/>
              <a:t>64bit</a:t>
            </a:r>
            <a:r>
              <a:rPr lang="zh-CN"/>
              <a:t>两种可选的模式</a:t>
            </a:r>
            <a:endParaRPr/>
          </a:p>
          <a:p>
            <a:pPr/>
            <a:r>
              <a:rPr lang="en-US"/>
              <a:t>OSTEP sec19</a:t>
            </a:r>
            <a:r>
              <a:rPr lang="zh-CN"/>
              <a:t>中</a:t>
            </a:r>
            <a:r>
              <a:rPr lang="zh-CN"/>
              <a:t>说它使用</a:t>
            </a:r>
            <a:r>
              <a:rPr lang="en-US"/>
              <a:t>32bit VA</a:t>
            </a:r>
            <a:r>
              <a:rPr lang="zh-CN"/>
              <a:t>，</a:t>
            </a:r>
            <a:r>
              <a:rPr lang="en-US"/>
              <a:t>wikipedia</a:t>
            </a:r>
            <a:r>
              <a:rPr lang="zh-CN"/>
              <a:t>说它使用</a:t>
            </a:r>
            <a:r>
              <a:rPr lang="en-US"/>
              <a:t>64bit VA</a:t>
            </a:r>
            <a:endParaRPr/>
          </a:p>
          <a:p>
            <a:pPr/>
            <a:r>
              <a:rPr lang="zh-CN"/>
              <a:t>它的</a:t>
            </a:r>
            <a:r>
              <a:rPr lang="en-US"/>
              <a:t>64bit</a:t>
            </a:r>
            <a:r>
              <a:rPr lang="zh-CN"/>
              <a:t>模式实际只实现了</a:t>
            </a:r>
            <a:r>
              <a:rPr lang="en-US"/>
              <a:t>40bit VA</a:t>
            </a:r>
            <a:endParaRPr/>
          </a:p>
          <a:p>
            <a:pPr/>
            <a:endParaRPr lang="en-US"/>
          </a:p>
          <a:p>
            <a:pPr/>
            <a:endParaRPr lang="en-US"/>
          </a:p>
        </p:txBody>
      </p:sp>
      <p:pic>
        <p:nvPicPr>
          <p:cNvPr id="1941" name="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434738" y="3747244"/>
            <a:ext cx="5499462" cy="3110756"/>
          </a:xfrm>
          <a:prstGeom prst="rect"/>
        </p:spPr>
      </p:pic>
    </p:spTree>
  </p:cSld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9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3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r>
              <a:rPr lang="en-US"/>
              <a:t>MIPS</a:t>
            </a:r>
            <a:endParaRPr/>
          </a:p>
        </p:txBody>
      </p:sp>
      <p:sp>
        <p:nvSpPr>
          <p:cNvPr id="1944" name="Rectangle 6"/>
          <p:cNvSpPr>
            <a:spLocks noGrp="true" noChangeArrowheads="true"/>
          </p:cNvSpPr>
          <p:nvPr>
            <p:ph type="sldNum" sz="quarter" idx="12"/>
          </p:nvPr>
        </p:nvSpPr>
        <p:spPr/>
        <p:txBody>
          <a:bodyPr/>
          <a:p>
            <a:pPr/>
            <a:fld id="{EF0B01C9-CC9E-4042-87A9-F49D20F0019F}" type="slidenum">
              <a:rPr lang="zh-CN" altLang="en-US"/>
              <a:t>‹#›</a:t>
            </a:fld>
            <a:endParaRPr lang="en-US" altLang="zh-CN"/>
          </a:p>
        </p:txBody>
      </p:sp>
      <p:sp>
        <p:nvSpPr>
          <p:cNvPr id="1945" name=""/>
          <p:cNvSpPr txBox="true"/>
          <p:nvPr/>
        </p:nvSpPr>
        <p:spPr>
          <a:xfrm rot="0" flipH="false" flipV="false">
            <a:off x="457200" y="176348"/>
            <a:ext cx="1193800" cy="393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zh-CN">
                <a:solidFill>
                  <a:schemeClr val="bg1">
                    <a:lumMod val="65000"/>
                    <a:alpha val="100000"/>
                  </a:schemeClr>
                </a:solidFill>
              </a:rPr>
              <a:t>扩展内容</a:t>
            </a:r>
            <a:endParaRPr/>
          </a:p>
        </p:txBody>
      </p:sp>
      <p:sp>
        <p:nvSpPr>
          <p:cNvPr id="1946" name=""/>
          <p:cNvSpPr txBox="true"/>
          <p:nvPr/>
        </p:nvSpPr>
        <p:spPr>
          <a:xfrm rot="0" flipH="false" flipV="false">
            <a:off x="378823" y="1691640"/>
            <a:ext cx="8197850" cy="43561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en-US"/>
              <a:t>MIPS</a:t>
            </a:r>
            <a:r>
              <a:rPr lang="zh-CN"/>
              <a:t>最早是斯坦福大学开发的一种</a:t>
            </a:r>
            <a:r>
              <a:rPr lang="en-US"/>
              <a:t>RISC</a:t>
            </a:r>
            <a:r>
              <a:rPr lang="zh-CN"/>
              <a:t>指令集</a:t>
            </a:r>
            <a:r>
              <a:rPr lang="zh-CN"/>
              <a:t>架构</a:t>
            </a:r>
            <a:endParaRPr/>
          </a:p>
          <a:p>
            <a:pPr/>
            <a:r>
              <a:rPr lang="en-US"/>
              <a:t>1984</a:t>
            </a:r>
            <a:r>
              <a:rPr lang="zh-CN"/>
              <a:t>年</a:t>
            </a:r>
            <a:r>
              <a:rPr lang="en-US"/>
              <a:t>MIPS</a:t>
            </a:r>
            <a:r>
              <a:rPr lang="zh-CN"/>
              <a:t>成立了</a:t>
            </a:r>
            <a:r>
              <a:rPr lang="en-US"/>
              <a:t>fabless</a:t>
            </a:r>
            <a:r>
              <a:rPr lang="zh-CN"/>
              <a:t>半导体设计公司，将</a:t>
            </a:r>
            <a:r>
              <a:rPr lang="en-US"/>
              <a:t>MIPS</a:t>
            </a:r>
            <a:r>
              <a:rPr lang="zh-CN"/>
              <a:t>架构商业化</a:t>
            </a:r>
            <a:endParaRPr/>
          </a:p>
          <a:p>
            <a:pPr/>
            <a:endParaRPr lang="en-US"/>
          </a:p>
          <a:p>
            <a:pPr/>
            <a:r>
              <a:rPr lang="en-US"/>
              <a:t>1990s</a:t>
            </a:r>
            <a:r>
              <a:rPr lang="zh-CN"/>
              <a:t>是</a:t>
            </a:r>
            <a:r>
              <a:rPr lang="en-US"/>
              <a:t>MIPS</a:t>
            </a:r>
            <a:r>
              <a:rPr lang="zh-CN"/>
              <a:t>比较辉煌的时期，之后由于</a:t>
            </a:r>
            <a:r>
              <a:rPr lang="en-US"/>
              <a:t>RISC</a:t>
            </a:r>
            <a:r>
              <a:rPr lang="zh-CN"/>
              <a:t>赛道太卷，逐渐没落</a:t>
            </a:r>
            <a:endParaRPr/>
          </a:p>
          <a:p>
            <a:pPr/>
            <a:r>
              <a:rPr lang="en-US"/>
              <a:t>MIPS</a:t>
            </a:r>
            <a:r>
              <a:rPr lang="zh-CN"/>
              <a:t>比较开放，很多大学和研究机构都开展</a:t>
            </a:r>
            <a:r>
              <a:rPr lang="en-US"/>
              <a:t>MIPS</a:t>
            </a:r>
            <a:r>
              <a:rPr lang="zh-CN"/>
              <a:t>的研究和教学</a:t>
            </a:r>
            <a:endParaRPr/>
          </a:p>
          <a:p>
            <a:pPr/>
            <a:endParaRPr lang="en-US"/>
          </a:p>
          <a:p>
            <a:pPr/>
            <a:r>
              <a:rPr lang="zh-CN"/>
              <a:t>龙芯：</a:t>
            </a:r>
            <a:endParaRPr/>
          </a:p>
          <a:p>
            <a:pPr/>
            <a:r>
              <a:rPr lang="en-US"/>
              <a:t>2001</a:t>
            </a:r>
            <a:r>
              <a:rPr lang="zh-CN"/>
              <a:t>年中科院计算所成立龙芯课题组</a:t>
            </a:r>
            <a:endParaRPr/>
          </a:p>
          <a:p>
            <a:pPr/>
            <a:r>
              <a:rPr lang="en-US"/>
              <a:t>2002</a:t>
            </a:r>
            <a:r>
              <a:rPr lang="zh-CN"/>
              <a:t>年，龙芯</a:t>
            </a:r>
            <a:r>
              <a:rPr lang="en-US"/>
              <a:t>1</a:t>
            </a:r>
            <a:r>
              <a:rPr lang="zh-CN"/>
              <a:t>号，采用</a:t>
            </a:r>
            <a:r>
              <a:rPr lang="en-US"/>
              <a:t>MIPS II 32</a:t>
            </a:r>
            <a:r>
              <a:rPr lang="zh-CN"/>
              <a:t>位</a:t>
            </a:r>
            <a:r>
              <a:rPr lang="zh-CN"/>
              <a:t>指令集</a:t>
            </a:r>
            <a:endParaRPr/>
          </a:p>
          <a:p>
            <a:pPr/>
            <a:r>
              <a:rPr lang="en-US"/>
              <a:t>2003</a:t>
            </a:r>
            <a:r>
              <a:rPr lang="zh-CN"/>
              <a:t>年，龙芯</a:t>
            </a:r>
            <a:r>
              <a:rPr lang="en-US"/>
              <a:t>2</a:t>
            </a:r>
            <a:r>
              <a:rPr lang="zh-CN"/>
              <a:t>号，采用</a:t>
            </a:r>
            <a:r>
              <a:rPr lang="en-US"/>
              <a:t>MIPS III 64</a:t>
            </a:r>
            <a:r>
              <a:rPr lang="zh-CN"/>
              <a:t>位指令集（和</a:t>
            </a:r>
            <a:r>
              <a:rPr lang="en-US"/>
              <a:t>R4000</a:t>
            </a:r>
            <a:r>
              <a:rPr lang="zh-CN"/>
              <a:t>相同</a:t>
            </a:r>
            <a:r>
              <a:rPr lang="zh-CN"/>
              <a:t>）</a:t>
            </a:r>
            <a:endParaRPr/>
          </a:p>
          <a:p>
            <a:pPr/>
            <a:r>
              <a:rPr lang="zh-CN"/>
              <a:t>之后购买了</a:t>
            </a:r>
            <a:r>
              <a:rPr lang="en-US"/>
              <a:t>MIPS</a:t>
            </a:r>
            <a:r>
              <a:rPr lang="zh-CN"/>
              <a:t>授权</a:t>
            </a:r>
            <a:endParaRPr/>
          </a:p>
          <a:p>
            <a:pPr/>
            <a:r>
              <a:rPr lang="en-US"/>
              <a:t>2015</a:t>
            </a:r>
            <a:r>
              <a:rPr lang="zh-CN"/>
              <a:t>年，在</a:t>
            </a:r>
            <a:r>
              <a:rPr lang="en-US"/>
              <a:t>MIPS64</a:t>
            </a:r>
            <a:r>
              <a:rPr lang="zh-CN"/>
              <a:t>基础上扩展出</a:t>
            </a:r>
            <a:r>
              <a:rPr lang="en-US"/>
              <a:t>LoongISA</a:t>
            </a:r>
            <a:r>
              <a:rPr lang="zh-CN"/>
              <a:t>指令集</a:t>
            </a:r>
            <a:r>
              <a:rPr lang="zh-CN"/>
              <a:t>架构，用于龙芯</a:t>
            </a:r>
            <a:r>
              <a:rPr lang="en-US"/>
              <a:t>3</a:t>
            </a:r>
            <a:r>
              <a:rPr lang="zh-CN"/>
              <a:t>号</a:t>
            </a:r>
            <a:endParaRPr/>
          </a:p>
          <a:p>
            <a:pPr/>
            <a:r>
              <a:rPr lang="en-US"/>
              <a:t>2021</a:t>
            </a:r>
            <a:r>
              <a:rPr lang="zh-CN"/>
              <a:t>年，发布</a:t>
            </a:r>
            <a:r>
              <a:rPr lang="en-US"/>
              <a:t>LoognArch</a:t>
            </a:r>
            <a:r>
              <a:rPr lang="zh-CN"/>
              <a:t>指令集架构</a:t>
            </a:r>
            <a:endParaRPr/>
          </a:p>
          <a:p>
            <a:pPr/>
            <a:endParaRPr lang="en-US"/>
          </a:p>
        </p:txBody>
      </p:sp>
      <p:pic>
        <p:nvPicPr>
          <p:cNvPr id="1947" name=""/>
          <p:cNvPicPr/>
          <p:nvPr/>
        </p:nvPicPr>
        <p:blipFill>
          <a:blip r:embed="rId1"/>
          <a:stretch>
            <a:fillRect/>
          </a:stretch>
        </p:blipFill>
        <p:spPr>
          <a:xfrm rot="0" flipH="false" flipV="false">
            <a:off x="5990341" y="3284219"/>
            <a:ext cx="2239259" cy="1197428"/>
          </a:xfrm>
          <a:prstGeom prst="rect"/>
        </p:spPr>
      </p:pic>
      <p:sp>
        <p:nvSpPr>
          <p:cNvPr id="1948" name=""/>
          <p:cNvSpPr txBox="true"/>
          <p:nvPr/>
        </p:nvSpPr>
        <p:spPr>
          <a:xfrm rot="0" flipH="false" flipV="false">
            <a:off x="378823" y="6047740"/>
            <a:ext cx="7346950" cy="393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en-US"/>
              <a:t>Sony, </a:t>
            </a:r>
            <a:r>
              <a:rPr lang="en-US"/>
              <a:t>Broadcom, NEC, </a:t>
            </a:r>
            <a:r>
              <a:rPr lang="zh-CN"/>
              <a:t>北京君正等公司也开发过</a:t>
            </a:r>
            <a:r>
              <a:rPr lang="en-US"/>
              <a:t>MIPS</a:t>
            </a:r>
            <a:r>
              <a:rPr lang="zh-CN"/>
              <a:t>处理器</a:t>
            </a:r>
            <a:endParaRPr/>
          </a:p>
        </p:txBody>
      </p:sp>
    </p:spTree>
  </p:cSld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9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0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>
                <a:latin typeface="Comic Sans MS"/>
                <a:ea typeface="宋体"/>
                <a:cs typeface="宋体"/>
              </a:rPr>
              <a:t>Faster Translations w/ TLBs</a:t>
            </a:r>
            <a:endParaRPr lang="zh-CN"/>
          </a:p>
        </p:txBody>
      </p:sp>
      <p:sp>
        <p:nvSpPr>
          <p:cNvPr id="1951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>
              <a:buChar char="•"/>
            </a:pPr>
            <a:r>
              <a:rPr lang="en-US"/>
              <a:t>A Real TLB Entry</a:t>
            </a:r>
            <a:endParaRPr/>
          </a:p>
          <a:p>
            <a:pPr lvl="1">
              <a:buChar char="–"/>
            </a:pPr>
            <a:r>
              <a:rPr lang="en-US"/>
              <a:t>MIPS</a:t>
            </a:r>
            <a:r>
              <a:rPr lang="zh-CN"/>
              <a:t>的</a:t>
            </a:r>
            <a:r>
              <a:rPr lang="en-US"/>
              <a:t>TLB</a:t>
            </a:r>
            <a:r>
              <a:rPr lang="zh-CN"/>
              <a:t>由软件管理</a:t>
            </a:r>
            <a:endParaRPr/>
          </a:p>
          <a:p>
            <a:pPr lvl="1">
              <a:buChar char="–"/>
            </a:pPr>
            <a:r>
              <a:rPr lang="zh-CN"/>
              <a:t>提供特权指令，以便</a:t>
            </a:r>
            <a:r>
              <a:rPr lang="en-US"/>
              <a:t>OS</a:t>
            </a:r>
            <a:r>
              <a:rPr lang="zh-CN"/>
              <a:t>操作</a:t>
            </a:r>
            <a:r>
              <a:rPr lang="en-US"/>
              <a:t>TLB</a:t>
            </a:r>
            <a:endParaRPr/>
          </a:p>
          <a:p>
            <a:pPr lvl="2">
              <a:buChar char="•"/>
            </a:pPr>
            <a:r>
              <a:rPr lang="en-US"/>
              <a:t>TLBP: </a:t>
            </a:r>
            <a:r>
              <a:rPr lang="zh-CN"/>
              <a:t>看</a:t>
            </a:r>
            <a:r>
              <a:rPr lang="en-US"/>
              <a:t>TLB</a:t>
            </a:r>
            <a:r>
              <a:rPr lang="zh-CN"/>
              <a:t>中是否存在一个特定的</a:t>
            </a:r>
            <a:r>
              <a:rPr lang="en-US"/>
              <a:t>translation</a:t>
            </a:r>
            <a:endParaRPr lang="en-US"/>
          </a:p>
          <a:p>
            <a:pPr lvl="2">
              <a:buChar char="•"/>
            </a:pPr>
            <a:r>
              <a:rPr lang="en-US"/>
              <a:t>TLBR: </a:t>
            </a:r>
            <a:r>
              <a:rPr lang="zh-CN"/>
              <a:t>将一个</a:t>
            </a:r>
            <a:r>
              <a:rPr lang="en-US"/>
              <a:t>TLB</a:t>
            </a:r>
            <a:r>
              <a:rPr lang="zh-CN"/>
              <a:t> </a:t>
            </a:r>
            <a:r>
              <a:rPr lang="en-US"/>
              <a:t>entry</a:t>
            </a:r>
            <a:r>
              <a:rPr lang="zh-CN"/>
              <a:t>读到寄存器</a:t>
            </a:r>
            <a:endParaRPr lang="en-US"/>
          </a:p>
          <a:p>
            <a:pPr lvl="2">
              <a:buChar char="•"/>
            </a:pPr>
            <a:r>
              <a:rPr lang="en-US"/>
              <a:t>TLBWI: </a:t>
            </a:r>
            <a:r>
              <a:rPr lang="zh-CN"/>
              <a:t>写入一个</a:t>
            </a:r>
            <a:r>
              <a:rPr lang="en-US"/>
              <a:t>TLB entry</a:t>
            </a:r>
            <a:endParaRPr/>
          </a:p>
          <a:p>
            <a:pPr lvl="2">
              <a:buChar char="•"/>
            </a:pPr>
            <a:r>
              <a:rPr lang="en-US"/>
              <a:t>TLBWR: </a:t>
            </a:r>
            <a:r>
              <a:rPr lang="zh-CN"/>
              <a:t>随机替换一个</a:t>
            </a:r>
            <a:r>
              <a:rPr lang="en-US"/>
              <a:t>TLB entry</a:t>
            </a:r>
            <a:endParaRPr/>
          </a:p>
          <a:p>
            <a:pPr lvl="1">
              <a:buChar char="–"/>
            </a:pPr>
            <a:endParaRPr lang="en-US"/>
          </a:p>
          <a:p>
            <a:pPr lvl="1">
              <a:buChar char="–"/>
            </a:pPr>
            <a:endParaRPr lang="en-US"/>
          </a:p>
          <a:p>
            <a:pPr>
              <a:buChar char="•"/>
            </a:pPr>
            <a:endParaRPr lang="zh-CN"/>
          </a:p>
        </p:txBody>
      </p:sp>
      <p:sp>
        <p:nvSpPr>
          <p:cNvPr id="1952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EF0B01C9-CC9E-4042-87A9-F49D20F0019F}" type="slidenum">
              <a:rPr lang="zh-CN" altLang="en-US" smtClean="false"/>
              <a:t>102</a:t>
            </a:fld>
            <a:endParaRPr lang="en-US" altLang="zh-CN"/>
          </a:p>
        </p:txBody>
      </p:sp>
      <p:pic>
        <p:nvPicPr>
          <p:cNvPr id="1953" name="图片 4"/>
          <p:cNvPicPr>
            <a:picLocks noChangeAspect="true"/>
          </p:cNvPicPr>
          <p:nvPr/>
        </p:nvPicPr>
        <p:blipFill>
          <a:blip r:embed="rId1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516128" y="5346151"/>
            <a:ext cx="7747000" cy="826049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>
  <p:cSld>
    <p:spTree>
      <p:nvGrpSpPr>
        <p:cNvPr id="19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>
                <a:latin typeface="Comic Sans MS"/>
                <a:ea typeface="宋体"/>
                <a:cs typeface="宋体"/>
              </a:rPr>
              <a:t>Faster Translations w/ TLBs</a:t>
            </a:r>
            <a:endParaRPr lang="zh-CN"/>
          </a:p>
        </p:txBody>
      </p:sp>
      <p:sp>
        <p:nvSpPr>
          <p:cNvPr id="1956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>
              <a:buChar char="•"/>
            </a:pPr>
            <a:r>
              <a:rPr lang="zh-CN"/>
              <a:t>世上没有真正的</a:t>
            </a:r>
            <a:r>
              <a:rPr lang="en-US"/>
              <a:t>RAM</a:t>
            </a:r>
            <a:endParaRPr/>
          </a:p>
          <a:p>
            <a:pPr lvl="1">
              <a:buChar char="–"/>
            </a:pPr>
            <a:r>
              <a:rPr/>
              <a:t>R</a:t>
            </a:r>
            <a:r>
              <a:rPr lang="en-US"/>
              <a:t>andom</a:t>
            </a:r>
            <a:r>
              <a:rPr lang="en-US"/>
              <a:t>-access memory (RAM)</a:t>
            </a:r>
            <a:r>
              <a:rPr lang="zh-CN"/>
              <a:t>，理论上访问各地址的速度一样</a:t>
            </a:r>
            <a:endParaRPr lang="en-US"/>
          </a:p>
          <a:p>
            <a:pPr lvl="1">
              <a:buChar char="–"/>
            </a:pPr>
            <a:r>
              <a:rPr lang="zh-CN"/>
              <a:t>但实际上因为有</a:t>
            </a:r>
            <a:r>
              <a:rPr lang="en-US"/>
              <a:t>cache</a:t>
            </a:r>
            <a:r>
              <a:rPr lang="zh-CN"/>
              <a:t>、</a:t>
            </a:r>
            <a:r>
              <a:rPr lang="en-US"/>
              <a:t>TLB</a:t>
            </a:r>
            <a:r>
              <a:rPr lang="zh-CN"/>
              <a:t>的存在，访问不同地址的速度差距可能很大</a:t>
            </a:r>
            <a:endParaRPr/>
          </a:p>
          <a:p>
            <a:pPr lvl="1">
              <a:buChar char="–"/>
            </a:pPr>
            <a:r>
              <a:rPr lang="en-US"/>
              <a:t>RAM</a:t>
            </a:r>
            <a:r>
              <a:rPr lang="zh-CN"/>
              <a:t>本身的物理访问粒度也不一定是字节</a:t>
            </a:r>
            <a:endParaRPr/>
          </a:p>
          <a:p>
            <a:pPr lvl="2">
              <a:buChar char="–"/>
            </a:pPr>
            <a:r>
              <a:rPr lang="zh-CN"/>
              <a:t>内存的数据位宽一般是</a:t>
            </a:r>
            <a:r>
              <a:rPr lang="en-US"/>
              <a:t>64bit</a:t>
            </a:r>
            <a:r>
              <a:rPr lang="zh-CN"/>
              <a:t>，即一个时钟周期传输</a:t>
            </a:r>
            <a:r>
              <a:rPr lang="en-US"/>
              <a:t>8B</a:t>
            </a:r>
            <a:endParaRPr/>
          </a:p>
          <a:p>
            <a:pPr lvl="2">
              <a:buChar char="–"/>
            </a:pPr>
            <a:r>
              <a:rPr lang="zh-CN"/>
              <a:t>某些服务器的</a:t>
            </a:r>
            <a:r>
              <a:rPr lang="en-US"/>
              <a:t>ECC</a:t>
            </a:r>
            <a:r>
              <a:rPr lang="zh-CN"/>
              <a:t>内存采用</a:t>
            </a:r>
            <a:r>
              <a:rPr lang="en-US"/>
              <a:t>256bit</a:t>
            </a:r>
            <a:r>
              <a:rPr lang="zh-CN"/>
              <a:t>作为一个校验单位</a:t>
            </a:r>
            <a:r>
              <a:rPr lang="en-US" b="true"/>
              <a:t> </a:t>
            </a:r>
            <a:endParaRPr/>
          </a:p>
        </p:txBody>
      </p:sp>
      <p:sp>
        <p:nvSpPr>
          <p:cNvPr id="1957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EF0B01C9-CC9E-4042-87A9-F49D20F0019F}" type="slidenum">
              <a:rPr lang="zh-CN" altLang="en-US" smtClean="false"/>
              <a:t>103</a:t>
            </a:fld>
            <a:endParaRPr lang="en-US" altLang="zh-CN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>
  <p:cSld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kumimoji="true" lang="zh-CN" altLang="en-US">
                <a:ea typeface="宋体" charset="-122"/>
              </a:rPr>
              <a:t>进程与地址翻译</a:t>
            </a:r>
            <a:endParaRPr/>
          </a:p>
        </p:txBody>
      </p:sp>
      <p:sp>
        <p:nvSpPr>
          <p:cNvPr id="9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>
              <a:buChar char="•"/>
            </a:pPr>
            <a:r>
              <a:rPr lang="en-US" sz="2400">
                <a:latin typeface="Comic Sans MS"/>
                <a:ea typeface="宋体"/>
                <a:cs typeface="宋体"/>
              </a:rPr>
              <a:t>(Linux)</a:t>
            </a:r>
            <a:r>
              <a:rPr lang="zh-CN" sz="2400">
                <a:latin typeface="Comic Sans MS"/>
                <a:ea typeface="宋体"/>
                <a:cs typeface="宋体"/>
              </a:rPr>
              <a:t>每个进程有自己的虚拟地址空间</a:t>
            </a:r>
            <a:endParaRPr lang="en-US" sz="2400">
              <a:latin typeface="Comic Sans MS"/>
              <a:ea typeface="宋体"/>
              <a:cs typeface="宋体"/>
            </a:endParaRPr>
          </a:p>
          <a:p>
            <a:pPr lvl="1">
              <a:buChar char="–"/>
            </a:pPr>
            <a:r>
              <a:rPr lang="zh-CN" sz="2000">
                <a:latin typeface="Comic Sans MS"/>
                <a:ea typeface="宋体"/>
              </a:rPr>
              <a:t>两个进程可能同一个虚拟地址</a:t>
            </a:r>
            <a:endParaRPr lang="en-US" sz="2000">
              <a:latin typeface="Comic Sans MS"/>
              <a:ea typeface="宋体"/>
            </a:endParaRPr>
          </a:p>
          <a:p>
            <a:pPr>
              <a:buChar char="•"/>
            </a:pPr>
            <a:r>
              <a:rPr lang="zh-CN" sz="2400">
                <a:latin typeface="Comic Sans MS"/>
                <a:ea typeface="宋体"/>
                <a:cs typeface="宋体"/>
              </a:rPr>
              <a:t>页表</a:t>
            </a:r>
            <a:endParaRPr lang="en-US" sz="2400">
              <a:latin typeface="Comic Sans MS"/>
              <a:ea typeface="宋体"/>
              <a:cs typeface="宋体"/>
            </a:endParaRPr>
          </a:p>
          <a:p>
            <a:pPr lvl="1">
              <a:buChar char="–"/>
            </a:pPr>
            <a:r>
              <a:rPr lang="zh-CN" sz="2000">
                <a:latin typeface="Comic Sans MS"/>
                <a:ea typeface="宋体"/>
              </a:rPr>
              <a:t>每个进程自己独立的页表（不同的内存区域）</a:t>
            </a:r>
            <a:endParaRPr lang="en-US" sz="2000">
              <a:latin typeface="Comic Sans MS"/>
              <a:ea typeface="宋体"/>
            </a:endParaRPr>
          </a:p>
          <a:p>
            <a:pPr lvl="1">
              <a:buChar char="–"/>
            </a:pPr>
            <a:r>
              <a:rPr lang="en-US" sz="2000">
                <a:latin typeface="Comic Sans MS"/>
                <a:ea typeface="宋体"/>
              </a:rPr>
              <a:t>MMU</a:t>
            </a:r>
            <a:r>
              <a:rPr lang="zh-CN" sz="2000">
                <a:latin typeface="Comic Sans MS"/>
                <a:ea typeface="宋体"/>
              </a:rPr>
              <a:t>要知道进程号</a:t>
            </a:r>
            <a:r>
              <a:rPr lang="en-US" sz="2000">
                <a:latin typeface="Comic Sans MS"/>
                <a:ea typeface="宋体"/>
              </a:rPr>
              <a:t>(PID)</a:t>
            </a:r>
            <a:r>
              <a:rPr lang="zh-CN" sz="2000">
                <a:latin typeface="Comic Sans MS"/>
                <a:ea typeface="宋体"/>
              </a:rPr>
              <a:t>，才能找到对应的页表</a:t>
            </a:r>
            <a:endParaRPr lang="en-US" sz="2000">
              <a:latin typeface="Comic Sans MS"/>
              <a:ea typeface="宋体"/>
            </a:endParaRPr>
          </a:p>
          <a:p>
            <a:pPr lvl="1">
              <a:buChar char="–"/>
            </a:pPr>
            <a:r>
              <a:rPr lang="zh-CN" sz="2000">
                <a:latin typeface="Comic Sans MS"/>
                <a:ea typeface="宋体"/>
              </a:rPr>
              <a:t>所以</a:t>
            </a:r>
            <a:r>
              <a:rPr lang="en-US" sz="2000">
                <a:latin typeface="Comic Sans MS"/>
                <a:ea typeface="宋体"/>
              </a:rPr>
              <a:t>MMU</a:t>
            </a:r>
            <a:r>
              <a:rPr lang="zh-CN" sz="2000">
                <a:latin typeface="Comic Sans MS"/>
                <a:ea typeface="宋体"/>
              </a:rPr>
              <a:t>是硬件加速页表的访问，但页表内容需要</a:t>
            </a:r>
            <a:r>
              <a:rPr lang="en-US" sz="2000">
                <a:latin typeface="Comic Sans MS"/>
                <a:ea typeface="宋体"/>
              </a:rPr>
              <a:t>OS</a:t>
            </a:r>
            <a:r>
              <a:rPr lang="zh-CN" sz="2000">
                <a:latin typeface="Comic Sans MS"/>
                <a:ea typeface="宋体"/>
              </a:rPr>
              <a:t>去管理，因为进程是</a:t>
            </a:r>
            <a:r>
              <a:rPr lang="en-US" sz="2000">
                <a:latin typeface="Comic Sans MS"/>
                <a:ea typeface="宋体"/>
              </a:rPr>
              <a:t>OS</a:t>
            </a:r>
            <a:r>
              <a:rPr lang="zh-CN" sz="2000">
                <a:latin typeface="Comic Sans MS"/>
                <a:ea typeface="宋体"/>
              </a:rPr>
              <a:t>下才有的概念（对于</a:t>
            </a:r>
            <a:r>
              <a:rPr lang="en-US" sz="2000">
                <a:latin typeface="Comic Sans MS"/>
                <a:ea typeface="宋体"/>
              </a:rPr>
              <a:t>MMU</a:t>
            </a:r>
            <a:r>
              <a:rPr lang="zh-CN" sz="2000">
                <a:latin typeface="Comic Sans MS"/>
                <a:ea typeface="宋体"/>
              </a:rPr>
              <a:t>只是</a:t>
            </a:r>
            <a:r>
              <a:rPr lang="en-US" sz="2000">
                <a:latin typeface="Comic Sans MS"/>
                <a:ea typeface="宋体"/>
              </a:rPr>
              <a:t>ID-&gt;</a:t>
            </a:r>
            <a:r>
              <a:rPr lang="zh-CN" sz="2000">
                <a:latin typeface="Comic Sans MS"/>
                <a:ea typeface="宋体"/>
              </a:rPr>
              <a:t>页表这样多个页表的行为模式，不需要知道进程的概念）</a:t>
            </a:r>
            <a:endParaRPr lang="en-US" sz="2000">
              <a:latin typeface="Comic Sans MS"/>
              <a:ea typeface="宋体"/>
            </a:endParaRPr>
          </a:p>
        </p:txBody>
      </p:sp>
      <p:sp>
        <p:nvSpPr>
          <p:cNvPr id="10" name="幻灯片编号占位符 3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3A59284E-4989-734F-AAB0-5151EEA48615}" type="slidenum">
              <a:rPr lang="zh-CN" altLang="en-US" sz="1400" b="false">
                <a:latin typeface="Times New Roman" panose="02020603050405020304" charset="0"/>
              </a:rPr>
              <a:t>104</a:t>
            </a:fld>
            <a:endParaRPr lang="en-US" altLang="zh-CN" sz="1400" b="false">
              <a:latin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>
  <p:cSld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kumimoji="true" lang="zh-CN" altLang="en-US">
                <a:ea typeface="宋体" charset="-122"/>
              </a:rPr>
              <a:t>进程与地址翻译</a:t>
            </a:r>
            <a:endParaRPr/>
          </a:p>
        </p:txBody>
      </p:sp>
      <p:sp>
        <p:nvSpPr>
          <p:cNvPr id="13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>
              <a:buChar char="•"/>
            </a:pPr>
            <a:r>
              <a:rPr lang="en-US">
                <a:latin typeface="Comic Sans MS"/>
                <a:ea typeface="宋体"/>
                <a:cs typeface="宋体"/>
              </a:rPr>
              <a:t>TLB</a:t>
            </a:r>
            <a:endParaRPr/>
          </a:p>
          <a:p>
            <a:pPr lvl="1">
              <a:buChar char="–"/>
            </a:pPr>
            <a:r>
              <a:rPr lang="zh-CN">
                <a:latin typeface="Comic Sans MS"/>
                <a:ea typeface="宋体"/>
              </a:rPr>
              <a:t>两个进程可能在有冲突：</a:t>
            </a:r>
            <a:r>
              <a:rPr lang="en-US">
                <a:latin typeface="Comic Sans MS"/>
                <a:ea typeface="宋体"/>
              </a:rPr>
              <a:t>Va</a:t>
            </a:r>
            <a:r>
              <a:rPr lang="en-US">
                <a:latin typeface="Comic Sans MS"/>
                <a:ea typeface="宋体"/>
              </a:rPr>
              <a:t>-&gt;Pa,</a:t>
            </a:r>
            <a:r>
              <a:rPr lang="zh-CN">
                <a:latin typeface="Comic Sans MS"/>
                <a:ea typeface="宋体"/>
              </a:rPr>
              <a:t> </a:t>
            </a:r>
            <a:r>
              <a:rPr lang="en-US">
                <a:latin typeface="Comic Sans MS"/>
                <a:ea typeface="宋体"/>
              </a:rPr>
              <a:t>Va</a:t>
            </a:r>
            <a:r>
              <a:rPr lang="en-US">
                <a:latin typeface="Comic Sans MS"/>
                <a:ea typeface="宋体"/>
              </a:rPr>
              <a:t>-&gt;Pb</a:t>
            </a:r>
            <a:r>
              <a:rPr lang="zh-CN">
                <a:latin typeface="Comic Sans MS"/>
                <a:ea typeface="宋体"/>
              </a:rPr>
              <a:t>（不同进程的虚拟地址都是</a:t>
            </a:r>
            <a:r>
              <a:rPr lang="en-US">
                <a:latin typeface="Comic Sans MS"/>
                <a:ea typeface="宋体"/>
              </a:rPr>
              <a:t>Va</a:t>
            </a:r>
            <a:r>
              <a:rPr lang="zh-CN">
                <a:latin typeface="Comic Sans MS"/>
                <a:ea typeface="宋体"/>
              </a:rPr>
              <a:t>，但对应的物理地址不同）</a:t>
            </a:r>
            <a:endParaRPr lang="en-US">
              <a:latin typeface="Comic Sans MS"/>
              <a:ea typeface="宋体"/>
            </a:endParaRPr>
          </a:p>
          <a:p>
            <a:pPr lvl="1">
              <a:buChar char="–"/>
            </a:pPr>
            <a:r>
              <a:rPr lang="zh-CN">
                <a:latin typeface="Comic Sans MS"/>
                <a:ea typeface="宋体"/>
              </a:rPr>
              <a:t>没问题，但性能不佳的方案</a:t>
            </a:r>
            <a:endParaRPr lang="en-US">
              <a:latin typeface="Comic Sans MS"/>
              <a:ea typeface="宋体"/>
            </a:endParaRPr>
          </a:p>
          <a:p>
            <a:pPr lvl="2">
              <a:buChar char="•"/>
            </a:pPr>
            <a:r>
              <a:rPr lang="zh-CN">
                <a:latin typeface="Comic Sans MS"/>
                <a:ea typeface="宋体"/>
              </a:rPr>
              <a:t>进程</a:t>
            </a:r>
            <a:r>
              <a:rPr lang="en-US">
                <a:latin typeface="Comic Sans MS"/>
                <a:ea typeface="宋体"/>
              </a:rPr>
              <a:t>B</a:t>
            </a:r>
            <a:r>
              <a:rPr lang="zh-CN">
                <a:latin typeface="Comic Sans MS"/>
                <a:ea typeface="宋体"/>
              </a:rPr>
              <a:t>切到进程</a:t>
            </a:r>
            <a:r>
              <a:rPr lang="en-US">
                <a:latin typeface="Comic Sans MS"/>
                <a:ea typeface="宋体"/>
              </a:rPr>
              <a:t>A</a:t>
            </a:r>
            <a:r>
              <a:rPr lang="zh-CN">
                <a:latin typeface="Comic Sans MS"/>
                <a:ea typeface="宋体"/>
              </a:rPr>
              <a:t>，</a:t>
            </a:r>
            <a:r>
              <a:rPr lang="en-US">
                <a:latin typeface="Comic Sans MS"/>
                <a:ea typeface="宋体"/>
              </a:rPr>
              <a:t>invalidate</a:t>
            </a:r>
            <a:r>
              <a:rPr lang="zh-CN">
                <a:latin typeface="Comic Sans MS"/>
                <a:ea typeface="宋体"/>
              </a:rPr>
              <a:t> </a:t>
            </a:r>
            <a:r>
              <a:rPr lang="en-US">
                <a:latin typeface="Comic Sans MS"/>
                <a:ea typeface="宋体"/>
              </a:rPr>
              <a:t>TLB</a:t>
            </a:r>
            <a:r>
              <a:rPr lang="zh-CN">
                <a:latin typeface="Comic Sans MS"/>
                <a:ea typeface="宋体"/>
              </a:rPr>
              <a:t>中所有条目，从头开始</a:t>
            </a:r>
            <a:endParaRPr lang="en-US">
              <a:latin typeface="Comic Sans MS"/>
              <a:ea typeface="宋体"/>
            </a:endParaRPr>
          </a:p>
          <a:p>
            <a:pPr lvl="1">
              <a:buChar char="–"/>
            </a:pPr>
            <a:r>
              <a:rPr lang="en-US">
                <a:latin typeface="Comic Sans MS"/>
                <a:ea typeface="宋体"/>
              </a:rPr>
              <a:t>ASID</a:t>
            </a:r>
            <a:r>
              <a:rPr lang="zh-CN">
                <a:latin typeface="Comic Sans MS"/>
                <a:ea typeface="宋体"/>
              </a:rPr>
              <a:t>（</a:t>
            </a:r>
            <a:r>
              <a:rPr lang="en-US">
                <a:latin typeface="Comic Sans MS"/>
                <a:ea typeface="宋体"/>
              </a:rPr>
              <a:t>Address</a:t>
            </a:r>
            <a:r>
              <a:rPr lang="zh-CN">
                <a:latin typeface="Comic Sans MS"/>
                <a:ea typeface="宋体"/>
              </a:rPr>
              <a:t> </a:t>
            </a:r>
            <a:r>
              <a:rPr lang="en-US">
                <a:latin typeface="Comic Sans MS"/>
                <a:ea typeface="宋体"/>
              </a:rPr>
              <a:t>Space</a:t>
            </a:r>
            <a:r>
              <a:rPr lang="zh-CN">
                <a:latin typeface="Comic Sans MS"/>
                <a:ea typeface="宋体"/>
              </a:rPr>
              <a:t> </a:t>
            </a:r>
            <a:r>
              <a:rPr lang="en-US">
                <a:latin typeface="Comic Sans MS"/>
                <a:ea typeface="宋体"/>
              </a:rPr>
              <a:t>ID</a:t>
            </a:r>
            <a:r>
              <a:rPr lang="zh-CN">
                <a:latin typeface="Comic Sans MS"/>
                <a:ea typeface="宋体"/>
              </a:rPr>
              <a:t>）</a:t>
            </a:r>
            <a:endParaRPr/>
          </a:p>
          <a:p>
            <a:pPr lvl="2">
              <a:buChar char="•"/>
            </a:pPr>
            <a:r>
              <a:rPr lang="zh-CN">
                <a:latin typeface="Comic Sans MS"/>
                <a:ea typeface="宋体"/>
              </a:rPr>
              <a:t>每个进程一个</a:t>
            </a:r>
            <a:r>
              <a:rPr lang="en-US">
                <a:latin typeface="Comic Sans MS"/>
                <a:ea typeface="宋体"/>
              </a:rPr>
              <a:t>ASID</a:t>
            </a:r>
            <a:r>
              <a:rPr lang="zh-CN">
                <a:latin typeface="Comic Sans MS"/>
                <a:ea typeface="宋体"/>
              </a:rPr>
              <a:t>，真的索引信息是</a:t>
            </a:r>
            <a:r>
              <a:rPr lang="en-US">
                <a:latin typeface="Comic Sans MS"/>
                <a:ea typeface="宋体"/>
              </a:rPr>
              <a:t>ASID+VPN</a:t>
            </a:r>
            <a:r>
              <a:rPr lang="zh-CN">
                <a:latin typeface="Comic Sans MS"/>
                <a:ea typeface="宋体"/>
              </a:rPr>
              <a:t>  </a:t>
            </a:r>
            <a:endParaRPr/>
          </a:p>
        </p:txBody>
      </p:sp>
      <p:sp>
        <p:nvSpPr>
          <p:cNvPr id="14" name="幻灯片编号占位符 3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61728BAE-3CB7-CA46-856F-B2B7BAE9B923}" type="slidenum">
              <a:rPr lang="zh-CN" altLang="en-US" sz="1400" b="false">
                <a:latin typeface="Times New Roman" panose="02020603050405020304" charset="0"/>
              </a:rPr>
              <a:t>105</a:t>
            </a:fld>
            <a:endParaRPr lang="en-US" altLang="zh-CN" sz="1400" b="false">
              <a:latin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>
  <p:cSld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030"/>
          <p:cNvSpPr>
            <a:spLocks noGrp="true" noChangeArrowheads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E7B7DA43-96DB-7E4A-A97B-E0F2190F5788}" type="slidenum">
              <a:rPr lang="zh-CN" altLang="en-US" sz="1400" b="false">
                <a:latin typeface="Times New Roman" panose="02020603050405020304" charset="0"/>
              </a:rPr>
              <a:t>106</a:t>
            </a:fld>
            <a:endParaRPr lang="en-US" altLang="zh-CN" sz="1400" b="false">
              <a:latin typeface="Times New Roman" panose="02020603050405020304" charset="0"/>
            </a:endParaRPr>
          </a:p>
        </p:txBody>
      </p:sp>
      <p:sp>
        <p:nvSpPr>
          <p:cNvPr id="17" name="Rectangle 2"/>
          <p:cNvSpPr>
            <a:spLocks noGrp="true" noChangeArrowheads="true"/>
          </p:cNvSpPr>
          <p:nvPr>
            <p:ph type="ctrTitle"/>
          </p:nvPr>
        </p:nvSpPr>
        <p:spPr>
          <a:xfrm>
            <a:off x="685800" y="2133600"/>
            <a:ext cx="7772400" cy="1828800"/>
          </a:xfrm>
        </p:spPr>
        <p:txBody>
          <a:bodyPr/>
          <a:lstStyle/>
          <a:p>
            <a:pPr/>
            <a:r>
              <a:rPr lang="en-US" altLang="zh-CN" sz="3200" dirty="false"/>
              <a:t>Paging: Smaller Tables </a:t>
            </a:r>
            <a:endParaRPr lang="en-US" altLang="zh-CN" sz="3200" dirty="false">
              <a:ea typeface="宋体" charset="-122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>
  <p:cSld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 dirty="false"/>
              <a:t>Paging: Smaller Tables </a:t>
            </a:r>
            <a:endParaRPr kumimoji="true" lang="zh-CN" altLang="en-US" dirty="false"/>
          </a:p>
        </p:txBody>
      </p:sp>
      <p:sp>
        <p:nvSpPr>
          <p:cNvPr id="20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>
              <a:buChar char="•"/>
            </a:pPr>
            <a:r>
              <a:rPr lang="zh-CN"/>
              <a:t>回顾</a:t>
            </a:r>
            <a:r>
              <a:rPr lang="en-US"/>
              <a:t>Paging</a:t>
            </a:r>
            <a:r>
              <a:rPr lang="zh-CN"/>
              <a:t>方案的两个问题：</a:t>
            </a:r>
            <a:endParaRPr lang="en-US"/>
          </a:p>
          <a:p>
            <a:pPr lvl="1">
              <a:buChar char="–"/>
            </a:pPr>
            <a:r>
              <a:rPr lang="zh-CN"/>
              <a:t>速度慢（</a:t>
            </a:r>
            <a:r>
              <a:rPr lang="en-US"/>
              <a:t>TLB</a:t>
            </a:r>
            <a:r>
              <a:rPr lang="zh-CN"/>
              <a:t>加速）</a:t>
            </a:r>
            <a:endParaRPr lang="en-US"/>
          </a:p>
          <a:p>
            <a:pPr lvl="1">
              <a:buChar char="–"/>
            </a:pPr>
            <a:r>
              <a:rPr lang="zh-CN"/>
              <a:t>占用内存空间大（？）</a:t>
            </a:r>
            <a:endParaRPr lang="en-US"/>
          </a:p>
          <a:p>
            <a:pPr lvl="2">
              <a:buChar char="•"/>
            </a:pPr>
            <a:r>
              <a:rPr lang="en-US"/>
              <a:t>32-bit address space, 4KB pages, 4-byte page-table entry</a:t>
            </a:r>
            <a:endParaRPr/>
          </a:p>
          <a:p>
            <a:pPr lvl="2">
              <a:buChar char="•"/>
            </a:pPr>
            <a:r>
              <a:rPr lang="zh-CN"/>
              <a:t>一个进程：</a:t>
            </a:r>
            <a:r>
              <a:rPr lang="en-US"/>
              <a:t>1M</a:t>
            </a:r>
            <a:r>
              <a:rPr lang="zh-CN"/>
              <a:t>*</a:t>
            </a:r>
            <a:r>
              <a:rPr lang="en-US"/>
              <a:t>4B=4MB</a:t>
            </a:r>
            <a:endParaRPr/>
          </a:p>
          <a:p>
            <a:pPr lvl="2">
              <a:buChar char="•"/>
            </a:pPr>
            <a:r>
              <a:rPr lang="en-US"/>
              <a:t>100</a:t>
            </a:r>
            <a:r>
              <a:rPr lang="zh-CN"/>
              <a:t>个并发进程：</a:t>
            </a:r>
            <a:r>
              <a:rPr lang="en-US"/>
              <a:t>400MB</a:t>
            </a:r>
            <a:endParaRPr/>
          </a:p>
          <a:p>
            <a:pPr lvl="2">
              <a:buChar char="•"/>
            </a:pPr>
            <a:endParaRPr lang="en-US"/>
          </a:p>
          <a:p>
            <a:pPr lvl="2">
              <a:buChar char="•"/>
            </a:pPr>
            <a:r>
              <a:rPr lang="en-US"/>
              <a:t>MIPS R4000</a:t>
            </a:r>
            <a:r>
              <a:rPr lang="zh-CN"/>
              <a:t>实现了最高</a:t>
            </a:r>
            <a:r>
              <a:rPr lang="en-US"/>
              <a:t>40bit</a:t>
            </a:r>
            <a:r>
              <a:rPr lang="zh-CN"/>
              <a:t>的</a:t>
            </a:r>
            <a:r>
              <a:rPr lang="en-US"/>
              <a:t>VA space</a:t>
            </a:r>
            <a:r>
              <a:rPr lang="zh-CN"/>
              <a:t>，每个进程是页表可能有多大？</a:t>
            </a:r>
            <a:endParaRPr/>
          </a:p>
          <a:p>
            <a:pPr lvl="3">
              <a:buChar char="•"/>
            </a:pPr>
            <a:r>
              <a:rPr lang="en-US"/>
              <a:t>2^28</a:t>
            </a:r>
            <a:r>
              <a:rPr lang="zh-CN"/>
              <a:t>个</a:t>
            </a:r>
            <a:r>
              <a:rPr lang="en-US"/>
              <a:t>PTE</a:t>
            </a:r>
            <a:r>
              <a:rPr lang="zh-CN"/>
              <a:t>，每个</a:t>
            </a:r>
            <a:r>
              <a:rPr lang="en-US"/>
              <a:t>PET 8Byte</a:t>
            </a:r>
            <a:r>
              <a:rPr lang="zh-CN"/>
              <a:t>，</a:t>
            </a:r>
            <a:r>
              <a:rPr lang="en-US"/>
              <a:t>2GB</a:t>
            </a:r>
            <a:endParaRPr/>
          </a:p>
          <a:p>
            <a:pPr lvl="2">
              <a:buChar char="•"/>
            </a:pPr>
            <a:endParaRPr lang="en-US"/>
          </a:p>
          <a:p>
            <a:pPr lvl="2">
              <a:buChar char="•"/>
            </a:pPr>
            <a:endParaRPr lang="zh-CN"/>
          </a:p>
        </p:txBody>
      </p:sp>
      <p:sp>
        <p:nvSpPr>
          <p:cNvPr id="21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EF0B01C9-CC9E-4042-87A9-F49D20F0019F}" type="slidenum">
              <a:rPr lang="zh-CN" altLang="en-US" smtClean="false"/>
              <a:t>107</a:t>
            </a:fld>
            <a:endParaRPr lang="en-US" altLang="zh-CN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E959981D-49FA-104F-A3AC-F6D15E349F9E}" type="slidenum">
              <a:rPr lang="zh-CN" altLang="en-US" sz="1400" b="false">
                <a:latin typeface="Times New Roman" panose="02020603050405020304" charset="0"/>
              </a:rPr>
              <a:t>108</a:t>
            </a:fld>
            <a:endParaRPr lang="en-US" altLang="zh-CN" sz="1400" b="false">
              <a:latin typeface="Times New Roman" panose="02020603050405020304" charset="0"/>
            </a:endParaRPr>
          </a:p>
        </p:txBody>
      </p:sp>
      <p:sp>
        <p:nvSpPr>
          <p:cNvPr id="24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 dirty="false"/>
              <a:t>Paging: Smaller Tables </a:t>
            </a:r>
            <a:endParaRPr lang="en-US" altLang="zh-CN" dirty="false">
              <a:ea typeface="宋体" charset="-122"/>
            </a:endParaRPr>
          </a:p>
        </p:txBody>
      </p:sp>
      <p:sp>
        <p:nvSpPr>
          <p:cNvPr id="25" name="Rectangle 3"/>
          <p:cNvSpPr>
            <a:spLocks noGrp="true" noChangeArrowheads="true"/>
          </p:cNvSpPr>
          <p:nvPr>
            <p:ph type="body" idx="1"/>
          </p:nvPr>
        </p:nvSpPr>
        <p:spPr>
          <a:xfrm>
            <a:off x="457200" y="1600200"/>
            <a:ext cx="7620000" cy="4419600"/>
          </a:xfrm>
        </p:spPr>
        <p:txBody>
          <a:bodyPr/>
          <a:lstStyle/>
          <a:p>
            <a:pPr/>
            <a:r>
              <a:rPr kumimoji="false" lang="en-US" altLang="zh-CN" dirty="false">
                <a:ea typeface="宋体" charset="-122"/>
              </a:rPr>
              <a:t>Given:</a:t>
            </a:r>
            <a:endParaRPr/>
          </a:p>
          <a:p>
            <a:pPr lvl="1"/>
            <a:r>
              <a:rPr kumimoji="false" lang="en-US" altLang="zh-CN" dirty="false">
                <a:ea typeface="宋体" charset="-122"/>
              </a:rPr>
              <a:t>X86: 32-bit address space </a:t>
            </a:r>
            <a:br>
              <a:rPr kumimoji="false" lang="en-US" altLang="zh-CN" dirty="false">
                <a:ea typeface="宋体" charset="-122"/>
              </a:rPr>
            </a:br>
            <a:r>
              <a:rPr kumimoji="false" lang="en-US" altLang="zh-CN" dirty="false">
                <a:ea typeface="宋体" charset="-122"/>
              </a:rPr>
              <a:t>         4KB (2</a:t>
            </a:r>
            <a:r>
              <a:rPr kumimoji="false" lang="en-US" altLang="zh-CN" baseline="30000" dirty="false">
                <a:ea typeface="宋体" charset="-122"/>
              </a:rPr>
              <a:t>12</a:t>
            </a:r>
            <a:r>
              <a:rPr kumimoji="false" lang="en-US" altLang="zh-CN" dirty="false">
                <a:ea typeface="宋体" charset="-122"/>
              </a:rPr>
              <a:t>) page size, 4-byte PTE </a:t>
            </a:r>
            <a:endParaRPr/>
          </a:p>
          <a:p>
            <a:pPr lvl="1"/>
            <a:r>
              <a:rPr kumimoji="false" lang="en-US" altLang="zh-CN" dirty="false">
                <a:ea typeface="宋体" charset="-122"/>
              </a:rPr>
              <a:t>X86-64: 48-bit address space </a:t>
            </a:r>
            <a:br>
              <a:rPr kumimoji="false" lang="en-US" altLang="zh-CN" dirty="false">
                <a:ea typeface="宋体" charset="-122"/>
              </a:rPr>
            </a:br>
            <a:r>
              <a:rPr kumimoji="false" lang="en-US" altLang="zh-CN" dirty="false">
                <a:ea typeface="宋体" charset="-122"/>
              </a:rPr>
              <a:t>              4KB (2</a:t>
            </a:r>
            <a:r>
              <a:rPr kumimoji="false" lang="en-US" altLang="zh-CN" baseline="30000" dirty="false">
                <a:ea typeface="宋体" charset="-122"/>
              </a:rPr>
              <a:t>12</a:t>
            </a:r>
            <a:r>
              <a:rPr kumimoji="false" lang="en-US" altLang="zh-CN" dirty="false">
                <a:ea typeface="宋体" charset="-122"/>
              </a:rPr>
              <a:t>) page size,  8-byte PTE</a:t>
            </a:r>
            <a:endParaRPr kumimoji="false" lang="en-US" altLang="zh-CN" sz="2000" dirty="false">
              <a:ea typeface="宋体" charset="-122"/>
            </a:endParaRPr>
          </a:p>
          <a:p>
            <a:pPr/>
            <a:r>
              <a:rPr kumimoji="false" lang="en-US" altLang="zh-CN" dirty="false">
                <a:ea typeface="宋体" charset="-122"/>
              </a:rPr>
              <a:t>Problem:</a:t>
            </a:r>
            <a:endParaRPr/>
          </a:p>
          <a:p>
            <a:pPr lvl="1"/>
            <a:r>
              <a:rPr kumimoji="false" lang="en-US" altLang="zh-CN" dirty="false">
                <a:ea typeface="宋体" charset="-122"/>
              </a:rPr>
              <a:t>X86: Would need a </a:t>
            </a:r>
            <a:r>
              <a:rPr kumimoji="false" lang="en-US" altLang="zh-CN" dirty="false">
                <a:solidFill>
                  <a:srgbClr val="FF0000"/>
                </a:solidFill>
                <a:ea typeface="宋体" charset="-122"/>
              </a:rPr>
              <a:t>4 MB </a:t>
            </a:r>
            <a:r>
              <a:rPr kumimoji="false" lang="en-US" altLang="zh-CN" dirty="false">
                <a:ea typeface="宋体" charset="-122"/>
              </a:rPr>
              <a:t>page table!</a:t>
            </a:r>
            <a:endParaRPr/>
          </a:p>
          <a:p>
            <a:pPr lvl="2"/>
            <a:r>
              <a:rPr kumimoji="false" lang="en-US" altLang="zh-CN" dirty="false">
                <a:ea typeface="宋体" charset="-122"/>
              </a:rPr>
              <a:t>2</a:t>
            </a:r>
            <a:r>
              <a:rPr kumimoji="false" lang="en-US" altLang="zh-CN" b="true" baseline="30000" dirty="false">
                <a:ea typeface="宋体" charset="-122"/>
              </a:rPr>
              <a:t>20 </a:t>
            </a:r>
            <a:r>
              <a:rPr kumimoji="false" lang="en-US" altLang="zh-CN" dirty="false">
                <a:ea typeface="宋体" charset="-122"/>
              </a:rPr>
              <a:t>*4 bytes (20bit = 32bit – 12bit)</a:t>
            </a:r>
            <a:endParaRPr/>
          </a:p>
          <a:p>
            <a:pPr lvl="1"/>
            <a:r>
              <a:rPr kumimoji="false" lang="en-US" altLang="zh-CN" dirty="false">
                <a:ea typeface="宋体" charset="-122"/>
              </a:rPr>
              <a:t>X86-64: Would need a </a:t>
            </a:r>
            <a:r>
              <a:rPr kumimoji="false" lang="en-US" altLang="zh-CN" dirty="false">
                <a:solidFill>
                  <a:srgbClr val="FF0000"/>
                </a:solidFill>
                <a:ea typeface="宋体" charset="-122"/>
              </a:rPr>
              <a:t>512 GB </a:t>
            </a:r>
            <a:r>
              <a:rPr kumimoji="false" lang="en-US" altLang="zh-CN" dirty="false">
                <a:ea typeface="宋体" charset="-122"/>
              </a:rPr>
              <a:t>page table!</a:t>
            </a:r>
            <a:endParaRPr/>
          </a:p>
          <a:p>
            <a:pPr lvl="2"/>
            <a:r>
              <a:rPr kumimoji="false" lang="en-US" altLang="zh-CN" dirty="false">
                <a:ea typeface="宋体" charset="-122"/>
              </a:rPr>
              <a:t>2</a:t>
            </a:r>
            <a:r>
              <a:rPr kumimoji="false" lang="en-US" altLang="zh-CN" b="true" baseline="30000" dirty="false">
                <a:ea typeface="宋体" charset="-122"/>
              </a:rPr>
              <a:t>36 </a:t>
            </a:r>
            <a:r>
              <a:rPr kumimoji="false" lang="en-US" altLang="zh-CN" dirty="false">
                <a:ea typeface="宋体" charset="-122"/>
              </a:rPr>
              <a:t>*8 bytes (36bit = 48bit – 12bit)</a:t>
            </a:r>
            <a:endParaRPr/>
          </a:p>
          <a:p>
            <a:pPr lvl="2"/>
            <a:endParaRPr kumimoji="false" lang="en-US" altLang="zh-CN" dirty="false">
              <a:ea typeface="宋体" charset="-122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 dirty="false"/>
              <a:t>Paging: Smaller Tables </a:t>
            </a:r>
            <a:endParaRPr kumimoji="true" lang="zh-CN" altLang="en-US" dirty="false"/>
          </a:p>
        </p:txBody>
      </p:sp>
      <p:sp>
        <p:nvSpPr>
          <p:cNvPr id="28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>
              <a:buChar char="•"/>
            </a:pPr>
            <a:r>
              <a:rPr lang="en-US"/>
              <a:t>Simple Solution : </a:t>
            </a:r>
            <a:r>
              <a:rPr lang="en-US"/>
              <a:t>Bigger Pages</a:t>
            </a:r>
            <a:endParaRPr/>
          </a:p>
          <a:p>
            <a:pPr lvl="1">
              <a:buChar char="–"/>
            </a:pPr>
            <a:r>
              <a:rPr lang="en-US"/>
              <a:t>Page size: 4KB -&gt; 16KB</a:t>
            </a:r>
            <a:endParaRPr/>
          </a:p>
          <a:p>
            <a:pPr lvl="1">
              <a:buChar char="–"/>
            </a:pPr>
            <a:r>
              <a:rPr lang="zh-CN"/>
              <a:t>一个进程：</a:t>
            </a:r>
            <a:r>
              <a:rPr lang="en-US"/>
              <a:t>2</a:t>
            </a:r>
            <a:r>
              <a:rPr lang="en-US" baseline="30000"/>
              <a:t>32</a:t>
            </a:r>
            <a:r>
              <a:rPr lang="en-US"/>
              <a:t>/2</a:t>
            </a:r>
            <a:r>
              <a:rPr lang="en-US" baseline="30000"/>
              <a:t>14</a:t>
            </a:r>
            <a:r>
              <a:rPr lang="zh-CN"/>
              <a:t> </a:t>
            </a:r>
            <a:r>
              <a:rPr lang="en-US"/>
              <a:t>=</a:t>
            </a:r>
            <a:r>
              <a:rPr lang="zh-CN"/>
              <a:t> </a:t>
            </a:r>
            <a:r>
              <a:rPr lang="en-US"/>
              <a:t>2</a:t>
            </a:r>
            <a:r>
              <a:rPr lang="en-US" baseline="30000"/>
              <a:t>18</a:t>
            </a:r>
            <a:r>
              <a:rPr lang="zh-CN"/>
              <a:t> </a:t>
            </a:r>
            <a:r>
              <a:rPr lang="en-US"/>
              <a:t>=</a:t>
            </a:r>
            <a:r>
              <a:rPr lang="zh-CN"/>
              <a:t> </a:t>
            </a:r>
            <a:r>
              <a:rPr lang="en-US"/>
              <a:t>256K</a:t>
            </a:r>
            <a:r>
              <a:rPr lang="zh-CN"/>
              <a:t>个</a:t>
            </a:r>
            <a:r>
              <a:rPr lang="en-US"/>
              <a:t>entry</a:t>
            </a:r>
            <a:r>
              <a:rPr lang="zh-CN"/>
              <a:t>，</a:t>
            </a:r>
            <a:r>
              <a:rPr lang="en-US"/>
              <a:t>1MB</a:t>
            </a:r>
            <a:r>
              <a:rPr lang="zh-CN"/>
              <a:t>空间</a:t>
            </a:r>
            <a:endParaRPr lang="en-US"/>
          </a:p>
          <a:p>
            <a:pPr marL="457200" lvl="1" indent="0">
              <a:buNone/>
            </a:pPr>
            <a:endParaRPr lang="en-US"/>
          </a:p>
          <a:p>
            <a:pPr lvl="1">
              <a:buChar char="–"/>
            </a:pPr>
            <a:r>
              <a:rPr lang="zh-CN"/>
              <a:t>问题：</a:t>
            </a:r>
            <a:r>
              <a:rPr lang="en-US">
                <a:solidFill>
                  <a:srgbClr val="FF0000">
                    <a:alpha val="100000"/>
                  </a:srgbClr>
                </a:solidFill>
              </a:rPr>
              <a:t>internal fragmentation</a:t>
            </a:r>
            <a:endParaRPr/>
          </a:p>
          <a:p>
            <a:pPr lvl="2">
              <a:buChar char="•"/>
            </a:pPr>
            <a:r>
              <a:rPr lang="zh-CN"/>
              <a:t>用户至少分配一个</a:t>
            </a:r>
            <a:r>
              <a:rPr lang="en-US"/>
              <a:t>page</a:t>
            </a:r>
            <a:r>
              <a:rPr lang="zh-CN"/>
              <a:t>，但可能只用了其中的一小部分，浪费空间</a:t>
            </a:r>
            <a:endParaRPr lang="en-US"/>
          </a:p>
          <a:p>
            <a:pPr lvl="2">
              <a:buChar char="•"/>
            </a:pPr>
            <a:r>
              <a:rPr lang="en-US"/>
              <a:t>Page</a:t>
            </a:r>
            <a:r>
              <a:rPr lang="zh-CN"/>
              <a:t>变大，削弱</a:t>
            </a:r>
            <a:r>
              <a:rPr lang="en-US"/>
              <a:t>paging</a:t>
            </a:r>
            <a:r>
              <a:rPr lang="zh-CN"/>
              <a:t>方案的</a:t>
            </a:r>
            <a:r>
              <a:rPr lang="en-US"/>
              <a:t>flexibility</a:t>
            </a:r>
            <a:r>
              <a:rPr lang="zh-CN"/>
              <a:t>优势</a:t>
            </a:r>
            <a:endParaRPr lang="zh-CN"/>
          </a:p>
        </p:txBody>
      </p:sp>
      <p:sp>
        <p:nvSpPr>
          <p:cNvPr id="29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EF0B01C9-CC9E-4042-87A9-F49D20F0019F}" type="slidenum">
              <a:rPr lang="zh-CN" altLang="en-US" smtClean="false"/>
              <a:t>109</a:t>
            </a:fld>
            <a:endParaRPr lang="en-US" altLang="zh-CN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 dirty="false"/>
              <a:t>Paging: Smaller Tables </a:t>
            </a:r>
            <a:endParaRPr kumimoji="true" lang="zh-CN" altLang="en-US" dirty="false"/>
          </a:p>
        </p:txBody>
      </p:sp>
      <p:sp>
        <p:nvSpPr>
          <p:cNvPr id="32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>
              <a:buChar char="•"/>
            </a:pPr>
            <a:r>
              <a:rPr lang="en-US"/>
              <a:t>Hybrid Approach: Paging and Segments </a:t>
            </a:r>
            <a:endParaRPr/>
          </a:p>
          <a:p>
            <a:pPr lvl="1">
              <a:buChar char="–"/>
            </a:pPr>
            <a:r>
              <a:rPr lang="en-US"/>
              <a:t>Paging: </a:t>
            </a:r>
            <a:r>
              <a:rPr lang="zh-CN"/>
              <a:t>细粒度，空间开销大，适合稠密地址空间</a:t>
            </a:r>
            <a:endParaRPr lang="en-US"/>
          </a:p>
          <a:p>
            <a:pPr lvl="1">
              <a:buChar char="–"/>
            </a:pPr>
            <a:r>
              <a:rPr lang="en-US"/>
              <a:t>Segment</a:t>
            </a:r>
            <a:r>
              <a:rPr lang="zh-CN"/>
              <a:t>：粗粒度，空间开销小，适合稀疏地址空间</a:t>
            </a:r>
            <a:endParaRPr lang="en-US"/>
          </a:p>
          <a:p>
            <a:pPr lvl="1">
              <a:buChar char="–"/>
            </a:pPr>
            <a:r>
              <a:rPr lang="en-US"/>
              <a:t>Hybrid: </a:t>
            </a:r>
            <a:r>
              <a:rPr lang="zh-CN"/>
              <a:t>利用二者优势</a:t>
            </a:r>
            <a:endParaRPr lang="en-US"/>
          </a:p>
          <a:p>
            <a:pPr lvl="1">
              <a:buChar char="–"/>
            </a:pPr>
            <a:r>
              <a:rPr lang="zh-CN"/>
              <a:t>最早是</a:t>
            </a:r>
            <a:r>
              <a:rPr lang="en-US"/>
              <a:t>M</a:t>
            </a:r>
            <a:r>
              <a:rPr lang="en-US"/>
              <a:t>ultics</a:t>
            </a:r>
            <a:r>
              <a:rPr lang="zh-CN"/>
              <a:t>作者之一</a:t>
            </a:r>
            <a:r>
              <a:rPr lang="en-US"/>
              <a:t>Jack Dennis</a:t>
            </a:r>
            <a:r>
              <a:rPr lang="zh-CN"/>
              <a:t>提出</a:t>
            </a:r>
            <a:endParaRPr/>
          </a:p>
          <a:p>
            <a:pPr lvl="1">
              <a:buChar char="–"/>
            </a:pPr>
            <a:endParaRPr lang="zh-CN"/>
          </a:p>
        </p:txBody>
      </p:sp>
      <p:sp>
        <p:nvSpPr>
          <p:cNvPr id="33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EF0B01C9-CC9E-4042-87A9-F49D20F0019F}" type="slidenum">
              <a:rPr lang="zh-CN" altLang="en-US" smtClean="false"/>
              <a:t>110</a:t>
            </a:fld>
            <a:endParaRPr lang="en-US" altLang="zh-CN"/>
          </a:p>
        </p:txBody>
      </p:sp>
      <p:sp>
        <p:nvSpPr>
          <p:cNvPr id="34" name=""/>
          <p:cNvSpPr txBox="true"/>
          <p:nvPr/>
        </p:nvSpPr>
        <p:spPr>
          <a:xfrm rot="0" flipH="false" flipV="false">
            <a:off x="654050" y="4761411"/>
            <a:ext cx="7670800" cy="8255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en-US" sz="2400">
                <a:solidFill>
                  <a:srgbClr val="FF0000">
                    <a:alpha val="100000"/>
                  </a:srgbClr>
                </a:solidFill>
              </a:rPr>
              <a:t>Hybrid</a:t>
            </a:r>
            <a:r>
              <a:rPr lang="zh-CN" sz="2400">
                <a:solidFill>
                  <a:srgbClr val="FF0000">
                    <a:alpha val="100000"/>
                  </a:srgbClr>
                </a:solidFill>
              </a:rPr>
              <a:t>在计算机系统中将频繁出现</a:t>
            </a:r>
            <a:r>
              <a:rPr lang="en-US" sz="2400">
                <a:solidFill>
                  <a:srgbClr val="FF0000">
                    <a:alpha val="100000"/>
                  </a:srgbClr>
                </a:solidFill>
              </a:rPr>
              <a:t>:</a:t>
            </a:r>
            <a:endParaRPr/>
          </a:p>
          <a:p>
            <a:pPr/>
            <a:r>
              <a:rPr lang="zh-CN" sz="2400">
                <a:solidFill>
                  <a:srgbClr val="FF0000">
                    <a:alpha val="100000"/>
                  </a:srgbClr>
                </a:solidFill>
              </a:rPr>
              <a:t>当同一个问题存在两种优劣互补的方案时，试试</a:t>
            </a:r>
            <a:r>
              <a:rPr lang="en-US" sz="2400">
                <a:solidFill>
                  <a:srgbClr val="FF0000">
                    <a:alpha val="100000"/>
                  </a:srgbClr>
                </a:solidFill>
              </a:rPr>
              <a:t>Hybrid</a:t>
            </a:r>
            <a:endParaRPr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 dirty="false"/>
              <a:t>Paging: Smaller Tables </a:t>
            </a:r>
            <a:endParaRPr kumimoji="true" lang="zh-CN" altLang="en-US" dirty="false"/>
          </a:p>
        </p:txBody>
      </p:sp>
      <p:sp>
        <p:nvSpPr>
          <p:cNvPr id="37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 altLang="zh-CN" dirty="false"/>
              <a:t>Hybrid Approach: Paging and Segments </a:t>
            </a:r>
            <a:endParaRPr/>
          </a:p>
          <a:p>
            <a:pPr lvl="1"/>
            <a:r>
              <a:rPr kumimoji="true" lang="en-US" altLang="zh-CN" dirty="false"/>
              <a:t>E.g., 16KB address space, 1KB pages</a:t>
            </a:r>
            <a:endParaRPr kumimoji="true" lang="zh-CN" altLang="en-US" dirty="false"/>
          </a:p>
        </p:txBody>
      </p:sp>
      <p:sp>
        <p:nvSpPr>
          <p:cNvPr id="38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EF0B01C9-CC9E-4042-87A9-F49D20F0019F}" type="slidenum">
              <a:rPr lang="zh-CN" altLang="en-US" smtClean="false"/>
              <a:t>111</a:t>
            </a:fld>
            <a:endParaRPr lang="en-US" altLang="zh-CN"/>
          </a:p>
        </p:txBody>
      </p:sp>
      <p:pic>
        <p:nvPicPr>
          <p:cNvPr id="39" name="图片 4"/>
          <p:cNvPicPr>
            <a:picLocks noChangeAspect="true"/>
          </p:cNvPicPr>
          <p:nvPr/>
        </p:nvPicPr>
        <p:blipFill>
          <a:blip r:embed="rId1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4339019" y="2654300"/>
            <a:ext cx="4423981" cy="4203700"/>
          </a:xfrm>
          <a:prstGeom prst="rect">
            <a:avLst/>
          </a:prstGeom>
        </p:spPr>
      </p:pic>
      <p:pic>
        <p:nvPicPr>
          <p:cNvPr id="40" name="图片 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304800" y="2705100"/>
            <a:ext cx="3831066" cy="3924300"/>
          </a:xfrm>
          <a:prstGeom prst="rect">
            <a:avLst/>
          </a:prstGeom>
        </p:spPr>
      </p:pic>
      <p:sp>
        <p:nvSpPr>
          <p:cNvPr id="41" name=""/>
          <p:cNvSpPr txBox="true"/>
          <p:nvPr/>
        </p:nvSpPr>
        <p:spPr>
          <a:xfrm rot="0" flipH="false" flipV="false">
            <a:off x="603250" y="5133703"/>
            <a:ext cx="4006850" cy="393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en-US">
                <a:solidFill>
                  <a:srgbClr val="ff0000">
                    <a:alpha val="100000"/>
                  </a:srgbClr>
                </a:solidFill>
              </a:rPr>
              <a:t>page table</a:t>
            </a:r>
            <a:r>
              <a:rPr lang="zh-CN">
                <a:solidFill>
                  <a:srgbClr val="ff0000">
                    <a:alpha val="100000"/>
                  </a:srgbClr>
                </a:solidFill>
              </a:rPr>
              <a:t>非常稀疏，浪费空间！</a:t>
            </a:r>
            <a:endParaRPr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>
  <p:cSld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 dirty="false"/>
              <a:t>Paging: Smaller Tables </a:t>
            </a:r>
            <a:endParaRPr kumimoji="true" lang="zh-CN" altLang="en-US" dirty="false"/>
          </a:p>
        </p:txBody>
      </p:sp>
      <p:sp>
        <p:nvSpPr>
          <p:cNvPr id="44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 altLang="zh-CN" dirty="false"/>
              <a:t>Hybrid Approach: Paging and Segments</a:t>
            </a:r>
            <a:endParaRPr/>
          </a:p>
          <a:p>
            <a:pPr lvl="1"/>
            <a:r>
              <a:rPr kumimoji="true" lang="en-US" altLang="zh-CN" dirty="false"/>
              <a:t>Segment: </a:t>
            </a:r>
            <a:r>
              <a:rPr kumimoji="true" lang="en-US" altLang="zh-CN" dirty="false" err="true"/>
              <a:t>base+bound</a:t>
            </a:r>
            <a:r>
              <a:rPr kumimoji="true" lang="zh-CN" altLang="en-US" dirty="false"/>
              <a:t>，放在专门的寄存器中</a:t>
            </a:r>
            <a:endParaRPr kumimoji="true" lang="en-US" altLang="zh-CN" dirty="false"/>
          </a:p>
          <a:p>
            <a:pPr lvl="2"/>
            <a:r>
              <a:rPr lang="en-US" altLang="zh-CN" dirty="false"/>
              <a:t>Code, heap, stack</a:t>
            </a:r>
            <a:r>
              <a:rPr lang="zh-CN" altLang="en-US" dirty="false"/>
              <a:t>三个</a:t>
            </a:r>
            <a:r>
              <a:rPr lang="en-US" altLang="zh-CN" dirty="false"/>
              <a:t>segment</a:t>
            </a:r>
            <a:r>
              <a:rPr lang="zh-CN" altLang="en-US" dirty="false"/>
              <a:t>，因此有三对</a:t>
            </a:r>
            <a:r>
              <a:rPr lang="en-US" altLang="zh-CN" dirty="false" err="true"/>
              <a:t>base+bound</a:t>
            </a:r>
            <a:r>
              <a:rPr lang="zh-CN" altLang="en-US" dirty="false"/>
              <a:t>寄存器</a:t>
            </a:r>
            <a:endParaRPr lang="en-US" altLang="zh-CN" dirty="false"/>
          </a:p>
          <a:p>
            <a:pPr lvl="2"/>
            <a:r>
              <a:rPr lang="zh-CN" altLang="en-US" dirty="false"/>
              <a:t>存放当前活跃进程的三个</a:t>
            </a:r>
            <a:r>
              <a:rPr lang="en-US" altLang="zh-CN" dirty="false"/>
              <a:t>segment</a:t>
            </a:r>
            <a:r>
              <a:rPr lang="zh-CN" altLang="en-US" dirty="false"/>
              <a:t>信息</a:t>
            </a:r>
            <a:endParaRPr kumimoji="true" lang="en-US" altLang="zh-CN" dirty="false"/>
          </a:p>
          <a:p>
            <a:pPr lvl="1"/>
            <a:r>
              <a:rPr lang="zh-CN" altLang="en-US" dirty="false"/>
              <a:t>每个</a:t>
            </a:r>
            <a:r>
              <a:rPr lang="en-US" altLang="zh-CN" dirty="false"/>
              <a:t>segment</a:t>
            </a:r>
            <a:r>
              <a:rPr lang="zh-CN" altLang="en-US" dirty="false"/>
              <a:t>建立一张页表，</a:t>
            </a:r>
            <a:r>
              <a:rPr lang="en-US" altLang="zh-CN" dirty="false"/>
              <a:t>bound</a:t>
            </a:r>
            <a:r>
              <a:rPr lang="zh-CN" altLang="en-US" dirty="false"/>
              <a:t>为段内已使用的最大内存</a:t>
            </a:r>
            <a:endParaRPr lang="en-US" altLang="zh-CN" dirty="false"/>
          </a:p>
          <a:p>
            <a:pPr lvl="2"/>
            <a:r>
              <a:rPr lang="zh-CN" altLang="en-US" dirty="false"/>
              <a:t>后面没有分配的空间不计入</a:t>
            </a:r>
            <a:r>
              <a:rPr lang="en-US" altLang="zh-CN" dirty="false"/>
              <a:t>page table</a:t>
            </a:r>
            <a:r>
              <a:rPr lang="zh-CN" altLang="en-US" dirty="false"/>
              <a:t>，可以节省空间</a:t>
            </a:r>
            <a:endParaRPr lang="en-US" altLang="zh-CN" dirty="false"/>
          </a:p>
          <a:p>
            <a:pPr lvl="2"/>
            <a:r>
              <a:rPr lang="zh-CN" altLang="en-US" dirty="false"/>
              <a:t>假设</a:t>
            </a:r>
            <a:r>
              <a:rPr lang="en-US" altLang="zh-CN" dirty="false"/>
              <a:t>code</a:t>
            </a:r>
            <a:r>
              <a:rPr lang="zh-CN" altLang="en-US" dirty="false"/>
              <a:t> </a:t>
            </a:r>
            <a:r>
              <a:rPr lang="en-US" altLang="zh-CN" dirty="false"/>
              <a:t>segment</a:t>
            </a:r>
            <a:r>
              <a:rPr lang="zh-CN" altLang="en-US" dirty="false"/>
              <a:t>只使用了前三个</a:t>
            </a:r>
            <a:r>
              <a:rPr lang="en-US" altLang="zh-CN" dirty="false"/>
              <a:t>page (0, 1, 2)</a:t>
            </a:r>
            <a:r>
              <a:rPr lang="zh-CN" altLang="en-US" dirty="false"/>
              <a:t>，那么</a:t>
            </a:r>
            <a:r>
              <a:rPr lang="en-US" altLang="zh-CN" dirty="false"/>
              <a:t>code segment page table</a:t>
            </a:r>
            <a:r>
              <a:rPr lang="zh-CN" altLang="en-US" dirty="false"/>
              <a:t>只记录三个</a:t>
            </a:r>
            <a:r>
              <a:rPr lang="en-US" altLang="zh-CN" dirty="false"/>
              <a:t>entry</a:t>
            </a:r>
            <a:r>
              <a:rPr lang="zh-CN" altLang="en-US" dirty="false"/>
              <a:t>，</a:t>
            </a:r>
            <a:r>
              <a:rPr lang="en-US" altLang="zh-CN" dirty="false"/>
              <a:t>bound=3</a:t>
            </a:r>
            <a:endParaRPr/>
          </a:p>
        </p:txBody>
      </p:sp>
      <p:sp>
        <p:nvSpPr>
          <p:cNvPr id="45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EF0B01C9-CC9E-4042-87A9-F49D20F0019F}" type="slidenum">
              <a:rPr lang="zh-CN" altLang="en-US" smtClean="false"/>
              <a:t>112</a:t>
            </a:fld>
            <a:endParaRPr lang="en-US" altLang="zh-CN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/>
              <a:t>Paging: Smaller Tables </a:t>
            </a:r>
            <a:endParaRPr kumimoji="true" lang="zh-CN" altLang="en-US"/>
          </a:p>
        </p:txBody>
      </p:sp>
      <p:sp>
        <p:nvSpPr>
          <p:cNvPr id="48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>
              <a:buChar char="•"/>
            </a:pPr>
            <a:r>
              <a:rPr lang="en-US"/>
              <a:t>Hybrid Approach: Paging and Segments</a:t>
            </a:r>
            <a:endParaRPr/>
          </a:p>
          <a:p>
            <a:pPr lvl="1">
              <a:buChar char="–"/>
            </a:pPr>
            <a:r>
              <a:rPr lang="zh-CN"/>
              <a:t>段页式内存管理</a:t>
            </a:r>
            <a:endParaRPr lang="en-US"/>
          </a:p>
          <a:p>
            <a:pPr lvl="1">
              <a:buChar char="–"/>
            </a:pPr>
            <a:r>
              <a:rPr lang="zh-CN"/>
              <a:t>也存在问题：</a:t>
            </a:r>
            <a:endParaRPr lang="en-US"/>
          </a:p>
          <a:p>
            <a:pPr lvl="2">
              <a:buChar char="•"/>
            </a:pPr>
            <a:r>
              <a:rPr lang="zh-CN"/>
              <a:t>如果空间稀疏（内部空，而不是后面空），效率也不高</a:t>
            </a:r>
            <a:endParaRPr lang="en-US"/>
          </a:p>
          <a:p>
            <a:pPr lvl="2">
              <a:buChar char="•"/>
            </a:pPr>
            <a:r>
              <a:rPr lang="zh-CN"/>
              <a:t>导致额外的</a:t>
            </a:r>
            <a:r>
              <a:rPr lang="en-US"/>
              <a:t>fragmentation</a:t>
            </a:r>
            <a:endParaRPr lang="zh-CN"/>
          </a:p>
        </p:txBody>
      </p:sp>
      <p:sp>
        <p:nvSpPr>
          <p:cNvPr id="49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EF0B01C9-CC9E-4042-87A9-F49D20F0019F}" type="slidenum">
              <a:rPr lang="zh-CN" altLang="en-US" smtClean="false"/>
              <a:t>113</a:t>
            </a:fld>
            <a:endParaRPr lang="en-US" altLang="zh-CN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>
  <p:cSld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 dirty="false"/>
              <a:t>Paging: Smaller Tables </a:t>
            </a:r>
            <a:endParaRPr kumimoji="true" lang="zh-CN" altLang="en-US" dirty="false"/>
          </a:p>
        </p:txBody>
      </p:sp>
      <p:sp>
        <p:nvSpPr>
          <p:cNvPr id="57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>
              <a:buChar char="•"/>
            </a:pPr>
            <a:r>
              <a:rPr lang="zh-CN"/>
              <a:t>为什么</a:t>
            </a:r>
            <a:r>
              <a:rPr lang="en-US"/>
              <a:t>Page Table</a:t>
            </a:r>
            <a:r>
              <a:rPr lang="zh-CN"/>
              <a:t>占用空间会大？</a:t>
            </a:r>
            <a:endParaRPr lang="en-US"/>
          </a:p>
          <a:p>
            <a:pPr lvl="1">
              <a:buChar char="–"/>
            </a:pPr>
            <a:r>
              <a:rPr lang="zh-CN"/>
              <a:t>每个</a:t>
            </a:r>
            <a:r>
              <a:rPr lang="en-US"/>
              <a:t>VPN</a:t>
            </a:r>
            <a:r>
              <a:rPr lang="zh-CN"/>
              <a:t>都对应一个</a:t>
            </a:r>
            <a:r>
              <a:rPr lang="en-US"/>
              <a:t>entry</a:t>
            </a:r>
            <a:endParaRPr/>
          </a:p>
          <a:p>
            <a:pPr lvl="1">
              <a:buChar char="–"/>
            </a:pPr>
            <a:r>
              <a:rPr lang="zh-CN"/>
              <a:t>但实际上多数进程并没有真正使用多少</a:t>
            </a:r>
            <a:r>
              <a:rPr lang="en-US"/>
              <a:t>VPN</a:t>
            </a:r>
            <a:r>
              <a:rPr lang="zh-CN"/>
              <a:t>和</a:t>
            </a:r>
            <a:r>
              <a:rPr lang="zh-CN"/>
              <a:t>占用多少</a:t>
            </a:r>
            <a:r>
              <a:rPr lang="en-US"/>
              <a:t>PPN</a:t>
            </a:r>
            <a:endParaRPr/>
          </a:p>
          <a:p>
            <a:pPr lvl="1">
              <a:buChar char="–"/>
            </a:pPr>
            <a:r>
              <a:rPr lang="en-US"/>
              <a:t>i.e., Page Table</a:t>
            </a:r>
            <a:r>
              <a:rPr lang="zh-CN"/>
              <a:t>往往是稀疏的，有很多</a:t>
            </a:r>
            <a:r>
              <a:rPr lang="en-US"/>
              <a:t>entry</a:t>
            </a:r>
            <a:r>
              <a:rPr lang="zh-CN"/>
              <a:t>是空的，却占用了大量空间</a:t>
            </a:r>
            <a:endParaRPr lang="en-US"/>
          </a:p>
          <a:p>
            <a:pPr lvl="1">
              <a:buChar char="–"/>
            </a:pPr>
            <a:r>
              <a:rPr lang="en-US"/>
              <a:t>Solution: </a:t>
            </a:r>
            <a:r>
              <a:rPr lang="zh-CN"/>
              <a:t>多级页表，压缩空白</a:t>
            </a:r>
            <a:r>
              <a:rPr lang="en-US"/>
              <a:t>entry</a:t>
            </a:r>
            <a:r>
              <a:rPr lang="zh-CN"/>
              <a:t>所占的空间</a:t>
            </a:r>
            <a:endParaRPr lang="zh-CN"/>
          </a:p>
        </p:txBody>
      </p:sp>
      <p:sp>
        <p:nvSpPr>
          <p:cNvPr id="58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EF0B01C9-CC9E-4042-87A9-F49D20F0019F}" type="slidenum">
              <a:rPr lang="zh-CN" altLang="en-US" smtClean="false"/>
              <a:t>114</a:t>
            </a:fld>
            <a:endParaRPr lang="en-US" altLang="zh-CN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>
  <p:cSld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87B339CB-2B43-CA45-95AB-413B57B44FDD}" type="slidenum">
              <a:rPr lang="zh-CN" altLang="en-US" sz="1400" b="false">
                <a:latin typeface="Times New Roman" panose="02020603050405020304" charset="0"/>
              </a:rPr>
              <a:t>115</a:t>
            </a:fld>
            <a:endParaRPr lang="en-US" altLang="zh-CN" sz="1400" b="false">
              <a:latin typeface="Times New Roman" panose="02020603050405020304" charset="0"/>
            </a:endParaRPr>
          </a:p>
        </p:txBody>
      </p:sp>
      <p:sp>
        <p:nvSpPr>
          <p:cNvPr id="61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 dirty="false"/>
              <a:t>Paging: Smaller Tables </a:t>
            </a:r>
            <a:endParaRPr lang="en-US" altLang="zh-CN" dirty="false">
              <a:ea typeface="宋体" charset="-122"/>
            </a:endParaRPr>
          </a:p>
        </p:txBody>
      </p:sp>
      <p:sp>
        <p:nvSpPr>
          <p:cNvPr id="62" name="Rectangle 3"/>
          <p:cNvSpPr>
            <a:spLocks noGrp="true" noChangeArrowheads="true"/>
          </p:cNvSpPr>
          <p:nvPr>
            <p:ph type="body" idx="1"/>
          </p:nvPr>
        </p:nvSpPr>
        <p:spPr>
          <a:xfrm>
            <a:off x="457200" y="1600200"/>
            <a:ext cx="4876800" cy="4419600"/>
          </a:xfrm>
        </p:spPr>
        <p:txBody>
          <a:bodyPr/>
          <a:lstStyle/>
          <a:p>
            <a:pPr>
              <a:lnSpc>
                <a:spcPct val="130000"/>
              </a:lnSpc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Comic Sans MS"/>
                <a:ea typeface="宋体"/>
                <a:cs typeface="宋体"/>
              </a:defRPr>
            </a:pPr>
            <a:r>
              <a:rPr lang="en-US">
                <a:latin typeface="Comic Sans MS"/>
                <a:ea typeface="宋体"/>
                <a:cs typeface="宋体"/>
              </a:rPr>
              <a:t>multi-level page tables</a:t>
            </a:r>
            <a:endParaRPr/>
          </a:p>
          <a:p>
            <a:pPr lvl="1">
              <a:lnSpc>
                <a:spcPct val="130000"/>
              </a:lnSpc>
              <a:buChar char="–"/>
              <a:defRPr sz="2400">
                <a:solidFill>
                  <a:schemeClr val="tx1">
                    <a:alpha val="100000"/>
                  </a:schemeClr>
                </a:solidFill>
                <a:latin typeface="Comic Sans MS"/>
                <a:ea typeface="宋体"/>
              </a:defRPr>
            </a:pPr>
            <a:r>
              <a:rPr lang="en-US">
                <a:latin typeface="Comic Sans MS"/>
                <a:ea typeface="宋体"/>
              </a:rPr>
              <a:t>e.g., 2-level page table</a:t>
            </a:r>
            <a:endParaRPr/>
          </a:p>
          <a:p>
            <a:pPr lvl="2">
              <a:lnSpc>
                <a:spcPct val="130000"/>
              </a:lnSpc>
              <a:buChar char="•"/>
              <a:defRPr sz="2000">
                <a:solidFill>
                  <a:schemeClr val="tx1">
                    <a:alpha val="100000"/>
                  </a:schemeClr>
                </a:solidFill>
                <a:latin typeface="Comic Sans MS"/>
                <a:ea typeface="宋体"/>
              </a:defRPr>
            </a:pPr>
            <a:r>
              <a:rPr lang="en-US">
                <a:effectLst>
                  <a:outerShdw blurRad="38100" dist="38100" dir="2700000" sx="100000" sy="100000" algn="tl">
                    <a:srgbClr val="000000">
                      <a:alpha val="43137"/>
                    </a:srgbClr>
                  </a:outerShdw>
                </a:effectLst>
                <a:latin typeface="Comic Sans MS"/>
                <a:ea typeface="宋体"/>
              </a:rPr>
              <a:t>Level 1 table</a:t>
            </a:r>
            <a:r>
              <a:rPr lang="en-US">
                <a:latin typeface="Comic Sans MS"/>
                <a:ea typeface="宋体"/>
              </a:rPr>
              <a:t>: 1024 entries, each of which points to a Level 2 page table.</a:t>
            </a:r>
            <a:endParaRPr/>
          </a:p>
          <a:p>
            <a:pPr lvl="2">
              <a:lnSpc>
                <a:spcPct val="130000"/>
              </a:lnSpc>
              <a:buChar char="•"/>
              <a:defRPr sz="2000">
                <a:solidFill>
                  <a:schemeClr val="tx1">
                    <a:alpha val="100000"/>
                  </a:schemeClr>
                </a:solidFill>
                <a:latin typeface="Comic Sans MS"/>
                <a:ea typeface="宋体"/>
              </a:defRPr>
            </a:pPr>
            <a:r>
              <a:rPr lang="en-US">
                <a:effectLst>
                  <a:outerShdw blurRad="38100" dist="38100" dir="2700000" sx="100000" sy="100000" algn="tl">
                    <a:srgbClr val="000000">
                      <a:alpha val="43137"/>
                    </a:srgbClr>
                  </a:outerShdw>
                </a:effectLst>
                <a:latin typeface="Comic Sans MS"/>
                <a:ea typeface="宋体"/>
              </a:rPr>
              <a:t>Level 2 table</a:t>
            </a:r>
            <a:r>
              <a:rPr lang="en-US">
                <a:latin typeface="Comic Sans MS"/>
                <a:ea typeface="宋体"/>
              </a:rPr>
              <a:t>:  1024 entries, each of which points to a page</a:t>
            </a:r>
            <a:endParaRPr/>
          </a:p>
        </p:txBody>
      </p:sp>
      <p:grpSp>
        <p:nvGrpSpPr>
          <p:cNvPr id="63" name="Group 14"/>
          <p:cNvGrpSpPr/>
          <p:nvPr/>
        </p:nvGrpSpPr>
        <p:grpSpPr>
          <a:xfrm>
            <a:off x="5334000" y="1676400"/>
            <a:ext cx="2740025" cy="4572000"/>
            <a:chOff x="3457" y="912"/>
            <a:chExt cx="1726" cy="3072"/>
          </a:xfrm>
        </p:grpSpPr>
        <p:sp>
          <p:nvSpPr>
            <p:cNvPr id="64" name="Text Box 4"/>
            <p:cNvSpPr txBox="true">
              <a:spLocks noChangeArrowheads="true"/>
            </p:cNvSpPr>
            <p:nvPr/>
          </p:nvSpPr>
          <p:spPr bwMode="auto">
            <a:xfrm>
              <a:off x="3457" y="1872"/>
              <a:ext cx="600" cy="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30000"/>
                </a:spcBef>
              </a:pPr>
              <a:r>
                <a:rPr lang="en-US" altLang="zh-CN" sz="1800">
                  <a:solidFill>
                    <a:schemeClr val="tx2"/>
                  </a:solidFill>
                  <a:latin typeface="Helvetica" pitchFamily="34" charset="0"/>
                </a:rPr>
                <a:t>Level 1</a:t>
              </a:r>
              <a:endParaRPr/>
            </a:p>
            <a:p>
              <a:pPr algn="ctr">
                <a:lnSpc>
                  <a:spcPct val="90000"/>
                </a:lnSpc>
                <a:spcBef>
                  <a:spcPct val="30000"/>
                </a:spcBef>
              </a:pPr>
              <a:r>
                <a:rPr lang="en-US" altLang="zh-CN" sz="1800">
                  <a:solidFill>
                    <a:schemeClr val="tx2"/>
                  </a:solidFill>
                  <a:latin typeface="Helvetica" pitchFamily="34" charset="0"/>
                </a:rPr>
                <a:t>Table</a:t>
              </a:r>
              <a:endParaRPr/>
            </a:p>
          </p:txBody>
        </p:sp>
        <p:sp>
          <p:nvSpPr>
            <p:cNvPr id="65" name="Rectangle 5"/>
            <p:cNvSpPr>
              <a:spLocks noChangeArrowheads="true"/>
            </p:cNvSpPr>
            <p:nvPr/>
          </p:nvSpPr>
          <p:spPr bwMode="auto">
            <a:xfrm>
              <a:off x="3553" y="2304"/>
              <a:ext cx="441" cy="72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lIns="90487" tIns="44450" rIns="90487" bIns="44450" anchor="ctr"/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/>
              <a:endParaRPr lang="zh-CN" altLang="en-US"/>
            </a:p>
          </p:txBody>
        </p:sp>
        <p:sp>
          <p:nvSpPr>
            <p:cNvPr id="66" name="Rectangle 6"/>
            <p:cNvSpPr>
              <a:spLocks noChangeArrowheads="true"/>
            </p:cNvSpPr>
            <p:nvPr/>
          </p:nvSpPr>
          <p:spPr bwMode="auto">
            <a:xfrm>
              <a:off x="4704" y="1440"/>
              <a:ext cx="441" cy="720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lIns="90487" tIns="44450" rIns="90487" bIns="44450" anchor="ctr"/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/>
              <a:endParaRPr lang="zh-CN" altLang="en-US"/>
            </a:p>
          </p:txBody>
        </p:sp>
        <p:sp>
          <p:nvSpPr>
            <p:cNvPr id="67" name="Rectangle 7"/>
            <p:cNvSpPr>
              <a:spLocks noChangeArrowheads="true"/>
            </p:cNvSpPr>
            <p:nvPr/>
          </p:nvSpPr>
          <p:spPr bwMode="auto">
            <a:xfrm>
              <a:off x="4704" y="2304"/>
              <a:ext cx="441" cy="720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lIns="90487" tIns="44450" rIns="90487" bIns="44450" anchor="ctr"/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/>
              <a:endParaRPr lang="zh-CN" altLang="en-US"/>
            </a:p>
          </p:txBody>
        </p:sp>
        <p:sp>
          <p:nvSpPr>
            <p:cNvPr id="68" name="Rectangle 8"/>
            <p:cNvSpPr>
              <a:spLocks noChangeArrowheads="true"/>
            </p:cNvSpPr>
            <p:nvPr/>
          </p:nvSpPr>
          <p:spPr bwMode="auto">
            <a:xfrm>
              <a:off x="4704" y="3264"/>
              <a:ext cx="441" cy="720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lIns="90487" tIns="44450" rIns="90487" bIns="44450" anchor="ctr"/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/>
              <a:endParaRPr lang="zh-CN" altLang="en-US"/>
            </a:p>
          </p:txBody>
        </p:sp>
        <p:sp>
          <p:nvSpPr>
            <p:cNvPr id="69" name="Text Box 9"/>
            <p:cNvSpPr txBox="true">
              <a:spLocks noChangeArrowheads="true"/>
            </p:cNvSpPr>
            <p:nvPr/>
          </p:nvSpPr>
          <p:spPr bwMode="auto">
            <a:xfrm>
              <a:off x="4815" y="3013"/>
              <a:ext cx="234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</a:pPr>
              <a:r>
                <a:rPr lang="en-US" altLang="zh-CN" sz="1800">
                  <a:solidFill>
                    <a:schemeClr val="tx2"/>
                  </a:solidFill>
                  <a:latin typeface="Helvetica" pitchFamily="34" charset="0"/>
                </a:rPr>
                <a:t>...</a:t>
              </a:r>
              <a:endParaRPr/>
            </a:p>
          </p:txBody>
        </p:sp>
        <p:sp>
          <p:nvSpPr>
            <p:cNvPr id="70" name="Text Box 10"/>
            <p:cNvSpPr txBox="true">
              <a:spLocks noChangeArrowheads="true"/>
            </p:cNvSpPr>
            <p:nvPr/>
          </p:nvSpPr>
          <p:spPr bwMode="auto">
            <a:xfrm>
              <a:off x="4583" y="912"/>
              <a:ext cx="600" cy="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1pPr>
              <a:lvl2pPr marL="742950" indent="-28575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2pPr>
              <a:lvl3pPr marL="11430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3pPr>
              <a:lvl4pPr marL="16002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4pPr>
              <a:lvl5pPr marL="2057400" indent="-228600"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2000" b="true">
                  <a:solidFill>
                    <a:schemeClr val="tx1"/>
                  </a:solidFill>
                  <a:latin typeface="Comic Sans MS" panose="030F0902030302020204" charset="0"/>
                  <a:ea typeface="宋体" charset="-122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30000"/>
                </a:spcBef>
              </a:pPr>
              <a:r>
                <a:rPr lang="en-US" altLang="zh-CN" sz="1800">
                  <a:solidFill>
                    <a:schemeClr val="tx2"/>
                  </a:solidFill>
                  <a:latin typeface="Helvetica" pitchFamily="34" charset="0"/>
                </a:rPr>
                <a:t>Level 2</a:t>
              </a:r>
              <a:endParaRPr/>
            </a:p>
            <a:p>
              <a:pPr algn="ctr">
                <a:lnSpc>
                  <a:spcPct val="90000"/>
                </a:lnSpc>
                <a:spcBef>
                  <a:spcPct val="30000"/>
                </a:spcBef>
              </a:pPr>
              <a:r>
                <a:rPr lang="en-US" altLang="zh-CN" sz="1800">
                  <a:solidFill>
                    <a:schemeClr val="tx2"/>
                  </a:solidFill>
                  <a:latin typeface="Helvetica" pitchFamily="34" charset="0"/>
                </a:rPr>
                <a:t>Tables</a:t>
              </a:r>
              <a:endParaRPr/>
            </a:p>
          </p:txBody>
        </p:sp>
        <p:sp>
          <p:nvSpPr>
            <p:cNvPr id="71" name="Line 11"/>
            <p:cNvSpPr>
              <a:spLocks noChangeShapeType="true"/>
            </p:cNvSpPr>
            <p:nvPr/>
          </p:nvSpPr>
          <p:spPr bwMode="auto">
            <a:xfrm flipV="true">
              <a:off x="3994" y="1440"/>
              <a:ext cx="710" cy="93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/>
            </a:extLst>
          </p:spPr>
          <p:txBody>
            <a:bodyPr wrap="none" lIns="90487" tIns="44450" rIns="90487" bIns="44450" anchor="ctr"/>
            <a:lstStyle/>
            <a:p>
              <a:pPr/>
              <a:endParaRPr lang="zh-CN" altLang="en-US"/>
            </a:p>
          </p:txBody>
        </p:sp>
        <p:sp>
          <p:nvSpPr>
            <p:cNvPr id="72" name="Line 12"/>
            <p:cNvSpPr>
              <a:spLocks noChangeShapeType="true"/>
            </p:cNvSpPr>
            <p:nvPr/>
          </p:nvSpPr>
          <p:spPr bwMode="auto">
            <a:xfrm flipV="true">
              <a:off x="3994" y="2304"/>
              <a:ext cx="710" cy="1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/>
            </a:extLst>
          </p:spPr>
          <p:txBody>
            <a:bodyPr wrap="none" lIns="90487" tIns="44450" rIns="90487" bIns="44450" anchor="ctr"/>
            <a:lstStyle/>
            <a:p>
              <a:pPr/>
              <a:endParaRPr lang="zh-CN" altLang="en-US"/>
            </a:p>
          </p:txBody>
        </p:sp>
        <p:sp>
          <p:nvSpPr>
            <p:cNvPr id="73" name="Line 13"/>
            <p:cNvSpPr>
              <a:spLocks noChangeShapeType="true"/>
            </p:cNvSpPr>
            <p:nvPr/>
          </p:nvSpPr>
          <p:spPr bwMode="auto">
            <a:xfrm>
              <a:off x="3984" y="2936"/>
              <a:ext cx="720" cy="32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/>
            </a:extLst>
          </p:spPr>
          <p:txBody>
            <a:bodyPr wrap="none" lIns="90487" tIns="44450" rIns="90487" bIns="44450" anchor="ctr"/>
            <a:lstStyle/>
            <a:p>
              <a:pPr/>
              <a:endParaRPr lang="zh-CN" altLang="en-US"/>
            </a:p>
          </p:txBody>
        </p:sp>
      </p:grpSp>
      <p:sp>
        <p:nvSpPr>
          <p:cNvPr id="74" name="Rectangle 5"/>
          <p:cNvSpPr>
            <a:spLocks noChangeArrowheads="true"/>
          </p:cNvSpPr>
          <p:nvPr/>
        </p:nvSpPr>
        <p:spPr bwMode="auto">
          <a:xfrm>
            <a:off x="5486400" y="3810000"/>
            <a:ext cx="700088" cy="80963"/>
          </a:xfrm>
          <a:prstGeom prst="rect">
            <a:avLst/>
          </a:prstGeom>
          <a:solidFill>
            <a:srgbClr val="FFC000"/>
          </a:solidFill>
          <a:ln w="9525">
            <a:solidFill>
              <a:srgbClr val="000000"/>
            </a:solidFill>
            <a:miter lim="800000"/>
          </a:ln>
        </p:spPr>
        <p:txBody>
          <a:bodyPr wrap="none" lIns="90487" tIns="44450" rIns="90487" bIns="44450" anchor="ctr"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endParaRPr lang="zh-CN" altLang="en-US"/>
          </a:p>
        </p:txBody>
      </p:sp>
      <p:sp>
        <p:nvSpPr>
          <p:cNvPr id="75" name="Rectangle 5"/>
          <p:cNvSpPr>
            <a:spLocks noChangeArrowheads="true"/>
          </p:cNvSpPr>
          <p:nvPr/>
        </p:nvSpPr>
        <p:spPr bwMode="auto">
          <a:xfrm>
            <a:off x="5486400" y="3886200"/>
            <a:ext cx="700088" cy="80963"/>
          </a:xfrm>
          <a:prstGeom prst="rect">
            <a:avLst/>
          </a:prstGeom>
          <a:solidFill>
            <a:srgbClr val="FFC000"/>
          </a:solidFill>
          <a:ln w="9525">
            <a:solidFill>
              <a:srgbClr val="000000"/>
            </a:solidFill>
            <a:miter lim="800000"/>
          </a:ln>
        </p:spPr>
        <p:txBody>
          <a:bodyPr wrap="none" lIns="90487" tIns="44450" rIns="90487" bIns="44450" anchor="ctr"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endParaRPr lang="zh-CN" altLang="en-US"/>
          </a:p>
        </p:txBody>
      </p:sp>
      <p:sp>
        <p:nvSpPr>
          <p:cNvPr id="76" name="Rectangle 5"/>
          <p:cNvSpPr>
            <a:spLocks noChangeArrowheads="true"/>
          </p:cNvSpPr>
          <p:nvPr/>
        </p:nvSpPr>
        <p:spPr bwMode="auto">
          <a:xfrm>
            <a:off x="5486400" y="4648200"/>
            <a:ext cx="700088" cy="80963"/>
          </a:xfrm>
          <a:prstGeom prst="rect">
            <a:avLst/>
          </a:prstGeom>
          <a:solidFill>
            <a:srgbClr val="FFC000"/>
          </a:solidFill>
          <a:ln w="9525">
            <a:solidFill>
              <a:srgbClr val="000000"/>
            </a:solidFill>
            <a:miter lim="800000"/>
          </a:ln>
        </p:spPr>
        <p:txBody>
          <a:bodyPr wrap="none" lIns="90487" tIns="44450" rIns="90487" bIns="44450" anchor="ctr"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endParaRPr lang="zh-CN" altLang="en-US"/>
          </a:p>
        </p:txBody>
      </p:sp>
      <p:sp>
        <p:nvSpPr>
          <p:cNvPr id="77" name=""/>
          <p:cNvSpPr txBox="true"/>
          <p:nvPr/>
        </p:nvSpPr>
        <p:spPr>
          <a:xfrm rot="0" flipH="false" flipV="false">
            <a:off x="352425" y="6285607"/>
            <a:ext cx="7137400" cy="393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zh-CN"/>
              <a:t>目前很多计算机系统，如</a:t>
            </a:r>
            <a:r>
              <a:rPr lang="en-US"/>
              <a:t>x86</a:t>
            </a:r>
            <a:r>
              <a:rPr lang="zh-CN"/>
              <a:t>，都使用</a:t>
            </a:r>
            <a:r>
              <a:rPr lang="en-US"/>
              <a:t>multi-level page table</a:t>
            </a:r>
            <a:endParaRPr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 dirty="false"/>
              <a:t>Paging: Smaller Tables </a:t>
            </a:r>
            <a:endParaRPr kumimoji="true" lang="zh-CN" altLang="en-US" dirty="false"/>
          </a:p>
        </p:txBody>
      </p:sp>
      <p:sp>
        <p:nvSpPr>
          <p:cNvPr id="80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 altLang="zh-CN" dirty="false"/>
              <a:t>Multi-level Page Tables </a:t>
            </a:r>
            <a:endParaRPr/>
          </a:p>
          <a:p>
            <a:pPr lvl="1"/>
            <a:endParaRPr lang="en-US" altLang="zh-CN" dirty="false"/>
          </a:p>
        </p:txBody>
      </p:sp>
      <p:sp>
        <p:nvSpPr>
          <p:cNvPr id="81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EF0B01C9-CC9E-4042-87A9-F49D20F0019F}" type="slidenum">
              <a:rPr lang="zh-CN" altLang="en-US" smtClean="false"/>
              <a:t>116</a:t>
            </a:fld>
            <a:endParaRPr lang="en-US" altLang="zh-CN"/>
          </a:p>
        </p:txBody>
      </p:sp>
      <p:pic>
        <p:nvPicPr>
          <p:cNvPr id="82" name="图片 4"/>
          <p:cNvPicPr>
            <a:picLocks noChangeAspect="true"/>
          </p:cNvPicPr>
          <p:nvPr/>
        </p:nvPicPr>
        <p:blipFill>
          <a:blip r:embed="rId1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38100" y="2209800"/>
            <a:ext cx="9144000" cy="4788536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>
  <p:cSld>
    <p:spTree>
      <p:nvGrpSpPr>
        <p:cNvPr id="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灯片编号占位符 5"/>
          <p:cNvSpPr>
            <a:spLocks noGrp="true"/>
          </p:cNvSpPr>
          <p:nvPr>
            <p:ph type="sldNum" sz="quarter" idx="12"/>
          </p:nvPr>
        </p:nvSpPr>
        <p:spPr>
          <a:xfrm>
            <a:off x="6934200" y="6229350"/>
            <a:ext cx="1295400" cy="457200"/>
          </a:xfrm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D3361F4B-F718-044D-AC0A-B9312ABE6EF2}" type="slidenum">
              <a:rPr lang="zh-CN" altLang="en-US" sz="1400" b="false">
                <a:latin typeface="Times New Roman" panose="02020603050405020304" charset="0"/>
              </a:rPr>
              <a:t>117</a:t>
            </a:fld>
            <a:endParaRPr lang="en-US" altLang="zh-CN" sz="1400" b="false">
              <a:latin typeface="Times New Roman" panose="02020603050405020304" charset="0"/>
            </a:endParaRPr>
          </a:p>
        </p:txBody>
      </p:sp>
      <p:sp>
        <p:nvSpPr>
          <p:cNvPr id="85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Multi-Level Page Tables:</a:t>
            </a:r>
            <a:r>
              <a:rPr lang="zh-CN" altLang="en-US">
                <a:ea typeface="宋体" charset="-122"/>
              </a:rPr>
              <a:t> 中间可以有空洞</a:t>
            </a:r>
            <a:endParaRPr lang="en-US" altLang="zh-CN">
              <a:ea typeface="宋体" charset="-122"/>
            </a:endParaRPr>
          </a:p>
        </p:txBody>
      </p:sp>
      <p:sp>
        <p:nvSpPr>
          <p:cNvPr id="86" name="Text Box 2"/>
          <p:cNvSpPr txBox="true">
            <a:spLocks noChangeArrowheads="true"/>
          </p:cNvSpPr>
          <p:nvPr/>
        </p:nvSpPr>
        <p:spPr bwMode="auto">
          <a:xfrm>
            <a:off x="800100" y="1454150"/>
            <a:ext cx="1206500" cy="654050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360" tIns="44280" rIns="90360" bIns="44280">
            <a:spAutoFit/>
          </a:bodyPr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sz="1800" dirty="false">
                <a:solidFill>
                  <a:schemeClr val="tx1">
                    <a:lumMod val="50000"/>
                    <a:lumOff val="50000"/>
                  </a:schemeClr>
                </a:solidFill>
                <a:latin typeface="Calibri" charset="0"/>
                <a:ea typeface="宋体" charset="-122"/>
              </a:rPr>
              <a:t>Level 1</a:t>
            </a:r>
            <a:endParaRPr/>
          </a:p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sz="1800" dirty="false">
                <a:solidFill>
                  <a:schemeClr val="tx1">
                    <a:lumMod val="50000"/>
                    <a:lumOff val="50000"/>
                  </a:schemeClr>
                </a:solidFill>
                <a:latin typeface="Calibri" charset="0"/>
                <a:ea typeface="宋体" charset="-122"/>
              </a:rPr>
              <a:t>page table</a:t>
            </a:r>
            <a:endParaRPr/>
          </a:p>
        </p:txBody>
      </p:sp>
      <p:sp>
        <p:nvSpPr>
          <p:cNvPr id="87" name="Text Box 3"/>
          <p:cNvSpPr txBox="true">
            <a:spLocks noChangeArrowheads="true"/>
          </p:cNvSpPr>
          <p:nvPr/>
        </p:nvSpPr>
        <p:spPr bwMode="auto">
          <a:xfrm>
            <a:off x="5859463" y="6483350"/>
            <a:ext cx="506412" cy="334963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vert="eaVert" wrap="none" lIns="90360" tIns="44280" rIns="90360" bIns="4428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rtl="true">
              <a:lnSpc>
                <a:spcPct val="88000"/>
              </a:lnSpc>
              <a:spcBef>
                <a:spcPts val="900"/>
              </a:spcBef>
            </a:pPr>
            <a:r>
              <a:rPr lang="en-GB" altLang="zh-CN">
                <a:latin typeface="Calibri" charset="0"/>
              </a:rPr>
              <a:t>...</a:t>
            </a:r>
            <a:endParaRPr/>
          </a:p>
        </p:txBody>
      </p:sp>
      <p:sp>
        <p:nvSpPr>
          <p:cNvPr id="88" name="Text Box 4"/>
          <p:cNvSpPr txBox="true">
            <a:spLocks noChangeArrowheads="true"/>
          </p:cNvSpPr>
          <p:nvPr/>
        </p:nvSpPr>
        <p:spPr bwMode="auto">
          <a:xfrm>
            <a:off x="3121025" y="1460500"/>
            <a:ext cx="1296988" cy="654050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360" tIns="44280" rIns="90360" bIns="44280">
            <a:spAutoFit/>
          </a:bodyPr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sz="1800" dirty="false">
                <a:solidFill>
                  <a:schemeClr val="tx1">
                    <a:lumMod val="50000"/>
                    <a:lumOff val="50000"/>
                  </a:schemeClr>
                </a:solidFill>
                <a:latin typeface="Calibri" charset="0"/>
                <a:ea typeface="宋体" charset="-122"/>
              </a:rPr>
              <a:t>Level 2</a:t>
            </a:r>
            <a:endParaRPr/>
          </a:p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sz="1800" dirty="false">
                <a:solidFill>
                  <a:schemeClr val="tx1">
                    <a:lumMod val="50000"/>
                    <a:lumOff val="50000"/>
                  </a:schemeClr>
                </a:solidFill>
                <a:latin typeface="Calibri" charset="0"/>
                <a:ea typeface="宋体" charset="-122"/>
              </a:rPr>
              <a:t>page tables</a:t>
            </a:r>
            <a:endParaRPr/>
          </a:p>
        </p:txBody>
      </p:sp>
      <p:sp>
        <p:nvSpPr>
          <p:cNvPr id="89" name="Rectangle 5"/>
          <p:cNvSpPr>
            <a:spLocks noChangeArrowheads="true"/>
          </p:cNvSpPr>
          <p:nvPr/>
        </p:nvSpPr>
        <p:spPr bwMode="auto">
          <a:xfrm>
            <a:off x="5538788" y="1836738"/>
            <a:ext cx="990600" cy="3048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</a:ln>
          <a:extLst>
            <a:ext uri="{909E8E84-426E-40DD-AFC4-6F175D3DCCD1}"/>
          </a:extLst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400">
                <a:latin typeface="Calibri" charset="0"/>
              </a:rPr>
              <a:t>VP 0</a:t>
            </a:r>
            <a:endParaRPr/>
          </a:p>
        </p:txBody>
      </p:sp>
      <p:sp>
        <p:nvSpPr>
          <p:cNvPr id="90" name="Rectangle 6"/>
          <p:cNvSpPr>
            <a:spLocks noChangeArrowheads="true"/>
          </p:cNvSpPr>
          <p:nvPr/>
        </p:nvSpPr>
        <p:spPr bwMode="auto">
          <a:xfrm>
            <a:off x="5538788" y="2141538"/>
            <a:ext cx="9906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66"/>
            </a:solidFill>
            <a:miter lim="800000"/>
          </a:ln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400">
                <a:latin typeface="Calibri" charset="0"/>
              </a:rPr>
              <a:t>...</a:t>
            </a:r>
            <a:endParaRPr/>
          </a:p>
        </p:txBody>
      </p:sp>
      <p:sp>
        <p:nvSpPr>
          <p:cNvPr id="91" name="Rectangle 7"/>
          <p:cNvSpPr>
            <a:spLocks noChangeArrowheads="true"/>
          </p:cNvSpPr>
          <p:nvPr/>
        </p:nvSpPr>
        <p:spPr bwMode="auto">
          <a:xfrm>
            <a:off x="5538788" y="2446338"/>
            <a:ext cx="990600" cy="3048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</a:ln>
          <a:extLst>
            <a:ext uri="{909E8E84-426E-40DD-AFC4-6F175D3DCCD1}"/>
          </a:extLst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400">
                <a:latin typeface="Calibri" charset="0"/>
              </a:rPr>
              <a:t>VP 1023</a:t>
            </a:r>
            <a:endParaRPr/>
          </a:p>
        </p:txBody>
      </p:sp>
      <p:sp>
        <p:nvSpPr>
          <p:cNvPr id="92" name="Rectangle 8"/>
          <p:cNvSpPr>
            <a:spLocks noChangeArrowheads="true"/>
          </p:cNvSpPr>
          <p:nvPr/>
        </p:nvSpPr>
        <p:spPr bwMode="auto">
          <a:xfrm>
            <a:off x="5538788" y="2751138"/>
            <a:ext cx="990600" cy="3048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</a:ln>
          <a:extLst>
            <a:ext uri="{909E8E84-426E-40DD-AFC4-6F175D3DCCD1}"/>
          </a:extLst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400">
                <a:latin typeface="Calibri" charset="0"/>
              </a:rPr>
              <a:t>VP 1024</a:t>
            </a:r>
            <a:endParaRPr/>
          </a:p>
        </p:txBody>
      </p:sp>
      <p:sp>
        <p:nvSpPr>
          <p:cNvPr id="93" name="Rectangle 9"/>
          <p:cNvSpPr>
            <a:spLocks noChangeArrowheads="true"/>
          </p:cNvSpPr>
          <p:nvPr/>
        </p:nvSpPr>
        <p:spPr bwMode="auto">
          <a:xfrm>
            <a:off x="5538788" y="3055938"/>
            <a:ext cx="9906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66"/>
            </a:solidFill>
            <a:miter lim="800000"/>
          </a:ln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400">
                <a:latin typeface="Calibri" charset="0"/>
              </a:rPr>
              <a:t>...</a:t>
            </a:r>
            <a:endParaRPr/>
          </a:p>
        </p:txBody>
      </p:sp>
      <p:sp>
        <p:nvSpPr>
          <p:cNvPr id="94" name="Rectangle 10"/>
          <p:cNvSpPr>
            <a:spLocks noChangeArrowheads="true"/>
          </p:cNvSpPr>
          <p:nvPr/>
        </p:nvSpPr>
        <p:spPr bwMode="auto">
          <a:xfrm>
            <a:off x="5538788" y="3360738"/>
            <a:ext cx="990600" cy="3048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</a:ln>
          <a:extLst>
            <a:ext uri="{909E8E84-426E-40DD-AFC4-6F175D3DCCD1}"/>
          </a:extLst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400">
                <a:latin typeface="Calibri" charset="0"/>
              </a:rPr>
              <a:t>VP 2047</a:t>
            </a:r>
            <a:endParaRPr/>
          </a:p>
        </p:txBody>
      </p:sp>
      <p:sp>
        <p:nvSpPr>
          <p:cNvPr id="95" name="Rectangle 11"/>
          <p:cNvSpPr>
            <a:spLocks noChangeArrowheads="true"/>
          </p:cNvSpPr>
          <p:nvPr/>
        </p:nvSpPr>
        <p:spPr bwMode="auto">
          <a:xfrm>
            <a:off x="5538788" y="1836738"/>
            <a:ext cx="990600" cy="914400"/>
          </a:xfrm>
          <a:prstGeom prst="rect">
            <a:avLst/>
          </a:prstGeom>
          <a:noFill/>
          <a:ln w="28575">
            <a:solidFill>
              <a:srgbClr val="000066"/>
            </a:solidFill>
            <a:miter lim="800000"/>
          </a:ln>
          <a:extLst>
            <a:ext uri="{909E8E84-426E-40DD-AFC4-6F175D3DCCD1}"/>
          </a:extLst>
        </p:spPr>
        <p:txBody>
          <a:bodyPr wrap="none" anchor="ctr"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endParaRPr lang="en-US" altLang="zh-CN"/>
          </a:p>
        </p:txBody>
      </p:sp>
      <p:sp>
        <p:nvSpPr>
          <p:cNvPr id="96" name="Rectangle 12"/>
          <p:cNvSpPr>
            <a:spLocks noChangeArrowheads="true"/>
          </p:cNvSpPr>
          <p:nvPr/>
        </p:nvSpPr>
        <p:spPr bwMode="auto">
          <a:xfrm>
            <a:off x="5538788" y="2751138"/>
            <a:ext cx="990600" cy="914400"/>
          </a:xfrm>
          <a:prstGeom prst="rect">
            <a:avLst/>
          </a:prstGeom>
          <a:noFill/>
          <a:ln w="28575">
            <a:solidFill>
              <a:srgbClr val="000066"/>
            </a:solidFill>
            <a:miter lim="800000"/>
          </a:ln>
          <a:extLst>
            <a:ext uri="{909E8E84-426E-40DD-AFC4-6F175D3DCCD1}"/>
          </a:extLst>
        </p:spPr>
        <p:txBody>
          <a:bodyPr wrap="none" anchor="ctr"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endParaRPr lang="en-US" altLang="zh-CN"/>
          </a:p>
        </p:txBody>
      </p:sp>
      <p:sp>
        <p:nvSpPr>
          <p:cNvPr id="97" name="Rectangle 13"/>
          <p:cNvSpPr>
            <a:spLocks noChangeArrowheads="true"/>
          </p:cNvSpPr>
          <p:nvPr/>
        </p:nvSpPr>
        <p:spPr bwMode="auto">
          <a:xfrm>
            <a:off x="5538788" y="3665538"/>
            <a:ext cx="990600" cy="1841500"/>
          </a:xfrm>
          <a:prstGeom prst="rect">
            <a:avLst/>
          </a:prstGeom>
          <a:solidFill>
            <a:srgbClr val="F6F5BD"/>
          </a:solidFill>
          <a:ln w="28575">
            <a:solidFill>
              <a:srgbClr val="000066"/>
            </a:solidFill>
            <a:miter lim="800000"/>
          </a:ln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400">
                <a:latin typeface="Calibri" charset="0"/>
              </a:rPr>
              <a:t>Gap</a:t>
            </a:r>
            <a:endParaRPr/>
          </a:p>
        </p:txBody>
      </p:sp>
      <p:sp>
        <p:nvSpPr>
          <p:cNvPr id="98" name="Text Box 14"/>
          <p:cNvSpPr txBox="true">
            <a:spLocks noChangeArrowheads="true"/>
          </p:cNvSpPr>
          <p:nvPr/>
        </p:nvSpPr>
        <p:spPr bwMode="auto">
          <a:xfrm>
            <a:off x="6473825" y="1698625"/>
            <a:ext cx="2667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lIns="90000" tIns="46800" rIns="90000" bIns="46800" anchor="ctr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200">
                <a:latin typeface="Calibri" charset="0"/>
              </a:rPr>
              <a:t>0</a:t>
            </a:r>
            <a:endParaRPr/>
          </a:p>
        </p:txBody>
      </p:sp>
      <p:sp>
        <p:nvSpPr>
          <p:cNvPr id="99" name="Rectangle 15"/>
          <p:cNvSpPr>
            <a:spLocks noChangeArrowheads="true"/>
          </p:cNvSpPr>
          <p:nvPr/>
        </p:nvSpPr>
        <p:spPr bwMode="auto">
          <a:xfrm>
            <a:off x="3252788" y="2230438"/>
            <a:ext cx="990600" cy="3048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</a:ln>
          <a:extLst>
            <a:ext uri="{909E8E84-426E-40DD-AFC4-6F175D3DCCD1}"/>
          </a:extLst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400">
                <a:latin typeface="Calibri" charset="0"/>
              </a:rPr>
              <a:t>PTE 0</a:t>
            </a:r>
            <a:endParaRPr/>
          </a:p>
        </p:txBody>
      </p:sp>
      <p:sp>
        <p:nvSpPr>
          <p:cNvPr id="100" name="Rectangle 16"/>
          <p:cNvSpPr>
            <a:spLocks noChangeArrowheads="true"/>
          </p:cNvSpPr>
          <p:nvPr/>
        </p:nvSpPr>
        <p:spPr bwMode="auto">
          <a:xfrm>
            <a:off x="3252788" y="2535238"/>
            <a:ext cx="9906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66"/>
            </a:solidFill>
            <a:miter lim="800000"/>
          </a:ln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400">
                <a:latin typeface="Calibri" charset="0"/>
              </a:rPr>
              <a:t>...</a:t>
            </a:r>
            <a:endParaRPr/>
          </a:p>
        </p:txBody>
      </p:sp>
      <p:sp>
        <p:nvSpPr>
          <p:cNvPr id="101" name="Rectangle 17"/>
          <p:cNvSpPr>
            <a:spLocks noChangeArrowheads="true"/>
          </p:cNvSpPr>
          <p:nvPr/>
        </p:nvSpPr>
        <p:spPr bwMode="auto">
          <a:xfrm>
            <a:off x="3252788" y="2840038"/>
            <a:ext cx="990600" cy="3048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</a:ln>
          <a:extLst>
            <a:ext uri="{909E8E84-426E-40DD-AFC4-6F175D3DCCD1}"/>
          </a:extLst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400">
                <a:latin typeface="Calibri" charset="0"/>
              </a:rPr>
              <a:t>PTE 1023</a:t>
            </a:r>
            <a:endParaRPr/>
          </a:p>
        </p:txBody>
      </p:sp>
      <p:sp>
        <p:nvSpPr>
          <p:cNvPr id="102" name="Rectangle 18"/>
          <p:cNvSpPr>
            <a:spLocks noChangeArrowheads="true"/>
          </p:cNvSpPr>
          <p:nvPr/>
        </p:nvSpPr>
        <p:spPr bwMode="auto">
          <a:xfrm>
            <a:off x="3252788" y="2230438"/>
            <a:ext cx="990600" cy="914400"/>
          </a:xfrm>
          <a:prstGeom prst="rect">
            <a:avLst/>
          </a:prstGeom>
          <a:noFill/>
          <a:ln w="28575">
            <a:solidFill>
              <a:srgbClr val="000066"/>
            </a:solidFill>
            <a:miter lim="800000"/>
          </a:ln>
          <a:extLst>
            <a:ext uri="{909E8E84-426E-40DD-AFC4-6F175D3DCCD1}"/>
          </a:extLst>
        </p:spPr>
        <p:txBody>
          <a:bodyPr wrap="none" anchor="ctr"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endParaRPr lang="en-US" altLang="zh-CN"/>
          </a:p>
        </p:txBody>
      </p:sp>
      <p:sp>
        <p:nvSpPr>
          <p:cNvPr id="103" name="Rectangle 19"/>
          <p:cNvSpPr>
            <a:spLocks noChangeArrowheads="true"/>
          </p:cNvSpPr>
          <p:nvPr/>
        </p:nvSpPr>
        <p:spPr bwMode="auto">
          <a:xfrm>
            <a:off x="3252788" y="3602038"/>
            <a:ext cx="990600" cy="3048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</a:ln>
          <a:extLst>
            <a:ext uri="{909E8E84-426E-40DD-AFC4-6F175D3DCCD1}"/>
          </a:extLst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400">
                <a:latin typeface="Calibri" charset="0"/>
              </a:rPr>
              <a:t>PTE 0</a:t>
            </a:r>
            <a:endParaRPr/>
          </a:p>
        </p:txBody>
      </p:sp>
      <p:sp>
        <p:nvSpPr>
          <p:cNvPr id="104" name="Rectangle 20"/>
          <p:cNvSpPr>
            <a:spLocks noChangeArrowheads="true"/>
          </p:cNvSpPr>
          <p:nvPr/>
        </p:nvSpPr>
        <p:spPr bwMode="auto">
          <a:xfrm>
            <a:off x="3252788" y="3906838"/>
            <a:ext cx="9906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66"/>
            </a:solidFill>
            <a:miter lim="800000"/>
          </a:ln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400">
                <a:latin typeface="Calibri" charset="0"/>
              </a:rPr>
              <a:t>...</a:t>
            </a:r>
            <a:endParaRPr/>
          </a:p>
        </p:txBody>
      </p:sp>
      <p:sp>
        <p:nvSpPr>
          <p:cNvPr id="105" name="Rectangle 21"/>
          <p:cNvSpPr>
            <a:spLocks noChangeArrowheads="true"/>
          </p:cNvSpPr>
          <p:nvPr/>
        </p:nvSpPr>
        <p:spPr bwMode="auto">
          <a:xfrm>
            <a:off x="3252788" y="4211638"/>
            <a:ext cx="990600" cy="3048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</a:ln>
          <a:extLst>
            <a:ext uri="{909E8E84-426E-40DD-AFC4-6F175D3DCCD1}"/>
          </a:extLst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400">
                <a:latin typeface="Calibri" charset="0"/>
              </a:rPr>
              <a:t>PTE 1023</a:t>
            </a:r>
            <a:endParaRPr/>
          </a:p>
        </p:txBody>
      </p:sp>
      <p:sp>
        <p:nvSpPr>
          <p:cNvPr id="106" name="Rectangle 22"/>
          <p:cNvSpPr>
            <a:spLocks noChangeArrowheads="true"/>
          </p:cNvSpPr>
          <p:nvPr/>
        </p:nvSpPr>
        <p:spPr bwMode="auto">
          <a:xfrm>
            <a:off x="3252788" y="3602038"/>
            <a:ext cx="990600" cy="914400"/>
          </a:xfrm>
          <a:prstGeom prst="rect">
            <a:avLst/>
          </a:prstGeom>
          <a:noFill/>
          <a:ln w="28575">
            <a:solidFill>
              <a:srgbClr val="000066"/>
            </a:solidFill>
            <a:miter lim="800000"/>
          </a:ln>
          <a:extLst>
            <a:ext uri="{909E8E84-426E-40DD-AFC4-6F175D3DCCD1}"/>
          </a:extLst>
        </p:spPr>
        <p:txBody>
          <a:bodyPr wrap="none" anchor="ctr"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endParaRPr lang="en-US" altLang="zh-CN"/>
          </a:p>
        </p:txBody>
      </p:sp>
      <p:sp>
        <p:nvSpPr>
          <p:cNvPr id="107" name="Rectangle 23"/>
          <p:cNvSpPr>
            <a:spLocks noChangeArrowheads="true"/>
          </p:cNvSpPr>
          <p:nvPr/>
        </p:nvSpPr>
        <p:spPr bwMode="auto">
          <a:xfrm>
            <a:off x="3252788" y="4897438"/>
            <a:ext cx="990600" cy="609600"/>
          </a:xfrm>
          <a:prstGeom prst="rect">
            <a:avLst/>
          </a:prstGeom>
          <a:solidFill>
            <a:srgbClr val="F1C7C7"/>
          </a:solidFill>
          <a:ln w="28575">
            <a:solidFill>
              <a:srgbClr val="000066"/>
            </a:solidFill>
            <a:miter lim="800000"/>
          </a:ln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400">
                <a:latin typeface="Calibri" charset="0"/>
              </a:rPr>
              <a:t>1023 null</a:t>
            </a:r>
            <a:endParaRPr/>
          </a:p>
          <a:p>
            <a:pPr algn="ctr">
              <a:lnSpc>
                <a:spcPct val="98000"/>
              </a:lnSpc>
            </a:pPr>
            <a:r>
              <a:rPr lang="en-GB" altLang="zh-CN" sz="1400">
                <a:latin typeface="Calibri" charset="0"/>
              </a:rPr>
              <a:t>PTEs</a:t>
            </a:r>
            <a:endParaRPr/>
          </a:p>
        </p:txBody>
      </p:sp>
      <p:sp>
        <p:nvSpPr>
          <p:cNvPr id="108" name="Rectangle 24"/>
          <p:cNvSpPr>
            <a:spLocks noChangeArrowheads="true"/>
          </p:cNvSpPr>
          <p:nvPr/>
        </p:nvSpPr>
        <p:spPr bwMode="auto">
          <a:xfrm>
            <a:off x="3252788" y="5507038"/>
            <a:ext cx="990600" cy="3048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</a:ln>
          <a:extLst>
            <a:ext uri="{909E8E84-426E-40DD-AFC4-6F175D3DCCD1}"/>
          </a:extLst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400">
                <a:latin typeface="Calibri" charset="0"/>
              </a:rPr>
              <a:t>PTE 1023</a:t>
            </a:r>
            <a:endParaRPr/>
          </a:p>
        </p:txBody>
      </p:sp>
      <p:sp>
        <p:nvSpPr>
          <p:cNvPr id="109" name="Rectangle 25"/>
          <p:cNvSpPr>
            <a:spLocks noChangeArrowheads="true"/>
          </p:cNvSpPr>
          <p:nvPr/>
        </p:nvSpPr>
        <p:spPr bwMode="auto">
          <a:xfrm>
            <a:off x="3252788" y="4897438"/>
            <a:ext cx="990600" cy="914400"/>
          </a:xfrm>
          <a:prstGeom prst="rect">
            <a:avLst/>
          </a:prstGeom>
          <a:noFill/>
          <a:ln w="28575">
            <a:solidFill>
              <a:srgbClr val="000066"/>
            </a:solidFill>
            <a:miter lim="800000"/>
          </a:ln>
          <a:extLst>
            <a:ext uri="{909E8E84-426E-40DD-AFC4-6F175D3DCCD1}"/>
          </a:extLst>
        </p:spPr>
        <p:txBody>
          <a:bodyPr wrap="none" anchor="ctr"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endParaRPr lang="en-US" altLang="zh-CN"/>
          </a:p>
        </p:txBody>
      </p:sp>
      <p:sp>
        <p:nvSpPr>
          <p:cNvPr id="110" name="Rectangle 26"/>
          <p:cNvSpPr>
            <a:spLocks noChangeArrowheads="true"/>
          </p:cNvSpPr>
          <p:nvPr/>
        </p:nvSpPr>
        <p:spPr bwMode="auto">
          <a:xfrm>
            <a:off x="5538788" y="5507038"/>
            <a:ext cx="990600" cy="609600"/>
          </a:xfrm>
          <a:prstGeom prst="rect">
            <a:avLst/>
          </a:prstGeom>
          <a:solidFill>
            <a:srgbClr val="DEDFF5"/>
          </a:solidFill>
          <a:ln w="12600">
            <a:solidFill>
              <a:srgbClr val="DEDFF5"/>
            </a:solidFill>
            <a:miter lim="800000"/>
          </a:ln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400">
                <a:latin typeface="Calibri" charset="0"/>
              </a:rPr>
              <a:t>1023 </a:t>
            </a:r>
            <a:endParaRPr/>
          </a:p>
          <a:p>
            <a:pPr algn="ctr">
              <a:lnSpc>
                <a:spcPct val="98000"/>
              </a:lnSpc>
            </a:pPr>
            <a:r>
              <a:rPr lang="en-GB" altLang="zh-CN" sz="1400">
                <a:latin typeface="Calibri" charset="0"/>
              </a:rPr>
              <a:t>unallocated</a:t>
            </a:r>
            <a:endParaRPr/>
          </a:p>
          <a:p>
            <a:pPr algn="ctr">
              <a:lnSpc>
                <a:spcPct val="98000"/>
              </a:lnSpc>
            </a:pPr>
            <a:r>
              <a:rPr lang="en-GB" altLang="zh-CN" sz="1400">
                <a:latin typeface="Calibri" charset="0"/>
              </a:rPr>
              <a:t>pages</a:t>
            </a:r>
            <a:endParaRPr/>
          </a:p>
        </p:txBody>
      </p:sp>
      <p:sp>
        <p:nvSpPr>
          <p:cNvPr id="111" name="Rectangle 27"/>
          <p:cNvSpPr>
            <a:spLocks noChangeArrowheads="true"/>
          </p:cNvSpPr>
          <p:nvPr/>
        </p:nvSpPr>
        <p:spPr bwMode="auto">
          <a:xfrm>
            <a:off x="5538788" y="6116638"/>
            <a:ext cx="990600" cy="3048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</a:ln>
          <a:extLst>
            <a:ext uri="{909E8E84-426E-40DD-AFC4-6F175D3DCCD1}"/>
          </a:extLst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400">
                <a:latin typeface="Calibri" charset="0"/>
              </a:rPr>
              <a:t>VP 9215</a:t>
            </a:r>
            <a:endParaRPr/>
          </a:p>
        </p:txBody>
      </p:sp>
      <p:sp>
        <p:nvSpPr>
          <p:cNvPr id="112" name="Rectangle 28"/>
          <p:cNvSpPr>
            <a:spLocks noChangeArrowheads="true"/>
          </p:cNvSpPr>
          <p:nvPr/>
        </p:nvSpPr>
        <p:spPr bwMode="auto">
          <a:xfrm>
            <a:off x="5538788" y="5507038"/>
            <a:ext cx="990600" cy="914400"/>
          </a:xfrm>
          <a:prstGeom prst="rect">
            <a:avLst/>
          </a:prstGeom>
          <a:noFill/>
          <a:ln w="28575">
            <a:solidFill>
              <a:srgbClr val="000066"/>
            </a:solidFill>
            <a:miter lim="800000"/>
          </a:ln>
          <a:extLst>
            <a:ext uri="{909E8E84-426E-40DD-AFC4-6F175D3DCCD1}"/>
          </a:extLst>
        </p:spPr>
        <p:txBody>
          <a:bodyPr wrap="none" anchor="ctr"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endParaRPr lang="en-US" altLang="zh-CN"/>
          </a:p>
        </p:txBody>
      </p:sp>
      <p:sp>
        <p:nvSpPr>
          <p:cNvPr id="113" name="Text Box 29"/>
          <p:cNvSpPr txBox="true">
            <a:spLocks noChangeArrowheads="true"/>
          </p:cNvSpPr>
          <p:nvPr/>
        </p:nvSpPr>
        <p:spPr bwMode="auto">
          <a:xfrm rot="0" flipH="false" flipV="false">
            <a:off x="5183188" y="1293813"/>
            <a:ext cx="1701800" cy="333375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90360" tIns="44280" rIns="90360" bIns="44280">
            <a:spAutoFit/>
          </a:bodyPr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sz="1800" dirty="false">
                <a:solidFill>
                  <a:schemeClr val="tx1">
                    <a:lumMod val="50000"/>
                    <a:lumOff val="50000"/>
                  </a:schemeClr>
                </a:solidFill>
                <a:latin typeface="Calibri" charset="0"/>
                <a:ea typeface="宋体" charset="-122"/>
              </a:rPr>
              <a:t>Virtual memory</a:t>
            </a:r>
            <a:endParaRPr/>
          </a:p>
        </p:txBody>
      </p:sp>
      <p:sp>
        <p:nvSpPr>
          <p:cNvPr id="114" name="Line 30"/>
          <p:cNvSpPr>
            <a:spLocks noChangeShapeType="true"/>
          </p:cNvSpPr>
          <p:nvPr/>
        </p:nvSpPr>
        <p:spPr bwMode="auto">
          <a:xfrm flipV="true">
            <a:off x="4243388" y="1847850"/>
            <a:ext cx="1295400" cy="536575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tailEnd type="triangle" w="med" len="med"/>
          </a:ln>
          <a:extLst>
            <a:ext uri="{909E8E84-426E-40DD-AFC4-6F175D3DCCD1}"/>
          </a:extLst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5" name="Line 31"/>
          <p:cNvSpPr>
            <a:spLocks noChangeShapeType="true"/>
          </p:cNvSpPr>
          <p:nvPr/>
        </p:nvSpPr>
        <p:spPr bwMode="auto">
          <a:xfrm flipV="true">
            <a:off x="4243388" y="2457450"/>
            <a:ext cx="1295400" cy="536575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tailEnd type="triangle" w="med" len="med"/>
          </a:ln>
          <a:extLst>
            <a:ext uri="{909E8E84-426E-40DD-AFC4-6F175D3DCCD1}"/>
          </a:extLst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6" name="Line 32"/>
          <p:cNvSpPr>
            <a:spLocks noChangeShapeType="true"/>
          </p:cNvSpPr>
          <p:nvPr/>
        </p:nvSpPr>
        <p:spPr bwMode="auto">
          <a:xfrm flipV="true">
            <a:off x="4243388" y="2762250"/>
            <a:ext cx="1295400" cy="993775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tailEnd type="triangle" w="med" len="med"/>
          </a:ln>
          <a:extLst>
            <a:ext uri="{909E8E84-426E-40DD-AFC4-6F175D3DCCD1}"/>
          </a:extLst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7" name="Line 33"/>
          <p:cNvSpPr>
            <a:spLocks noChangeShapeType="true"/>
          </p:cNvSpPr>
          <p:nvPr/>
        </p:nvSpPr>
        <p:spPr bwMode="auto">
          <a:xfrm flipV="true">
            <a:off x="4243388" y="3371850"/>
            <a:ext cx="1295400" cy="993775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tailEnd type="triangle" w="med" len="med"/>
          </a:ln>
          <a:extLst>
            <a:ext uri="{909E8E84-426E-40DD-AFC4-6F175D3DCCD1}"/>
          </a:extLst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8" name="Line 34"/>
          <p:cNvSpPr>
            <a:spLocks noChangeShapeType="true"/>
          </p:cNvSpPr>
          <p:nvPr/>
        </p:nvSpPr>
        <p:spPr bwMode="auto">
          <a:xfrm>
            <a:off x="4243388" y="5659438"/>
            <a:ext cx="1219200" cy="457200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tailEnd type="triangle" w="med" len="med"/>
          </a:ln>
          <a:extLst>
            <a:ext uri="{909E8E84-426E-40DD-AFC4-6F175D3DCCD1}"/>
          </a:extLst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9" name="Line 35"/>
          <p:cNvSpPr>
            <a:spLocks noChangeShapeType="true"/>
          </p:cNvSpPr>
          <p:nvPr/>
        </p:nvSpPr>
        <p:spPr bwMode="auto">
          <a:xfrm flipV="true">
            <a:off x="1957388" y="2228850"/>
            <a:ext cx="1243012" cy="231775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tailEnd type="triangle" w="med" len="med"/>
          </a:ln>
          <a:extLst>
            <a:ext uri="{909E8E84-426E-40DD-AFC4-6F175D3DCCD1}"/>
          </a:extLst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20" name="Line 36"/>
          <p:cNvSpPr>
            <a:spLocks noChangeShapeType="true"/>
          </p:cNvSpPr>
          <p:nvPr/>
        </p:nvSpPr>
        <p:spPr bwMode="auto">
          <a:xfrm>
            <a:off x="1957388" y="2763838"/>
            <a:ext cx="1295400" cy="838200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tailEnd type="triangle" w="med" len="med"/>
          </a:ln>
          <a:extLst>
            <a:ext uri="{909E8E84-426E-40DD-AFC4-6F175D3DCCD1}"/>
          </a:extLst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21" name="Line 37"/>
          <p:cNvSpPr>
            <a:spLocks noChangeShapeType="true"/>
          </p:cNvSpPr>
          <p:nvPr/>
        </p:nvSpPr>
        <p:spPr bwMode="auto">
          <a:xfrm>
            <a:off x="1957388" y="4897438"/>
            <a:ext cx="1295400" cy="1587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tailEnd type="triangle" w="med" len="med"/>
          </a:ln>
          <a:extLst>
            <a:ext uri="{909E8E84-426E-40DD-AFC4-6F175D3DCCD1}"/>
          </a:extLst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22" name="Rectangle 38"/>
          <p:cNvSpPr>
            <a:spLocks noChangeArrowheads="true"/>
          </p:cNvSpPr>
          <p:nvPr/>
        </p:nvSpPr>
        <p:spPr bwMode="auto">
          <a:xfrm>
            <a:off x="838200" y="5049838"/>
            <a:ext cx="1119188" cy="8382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66"/>
            </a:solidFill>
            <a:miter lim="800000"/>
          </a:ln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400">
                <a:latin typeface="Calibri" charset="0"/>
              </a:rPr>
              <a:t>(1K - 9)</a:t>
            </a:r>
            <a:endParaRPr/>
          </a:p>
          <a:p>
            <a:pPr algn="ctr">
              <a:lnSpc>
                <a:spcPct val="98000"/>
              </a:lnSpc>
            </a:pPr>
            <a:r>
              <a:rPr lang="en-GB" altLang="zh-CN" sz="1400">
                <a:latin typeface="Calibri" charset="0"/>
              </a:rPr>
              <a:t>null PTEs </a:t>
            </a:r>
            <a:endParaRPr/>
          </a:p>
        </p:txBody>
      </p:sp>
      <p:sp>
        <p:nvSpPr>
          <p:cNvPr id="123" name="Rectangle 39"/>
          <p:cNvSpPr>
            <a:spLocks noChangeArrowheads="true"/>
          </p:cNvSpPr>
          <p:nvPr/>
        </p:nvSpPr>
        <p:spPr bwMode="auto">
          <a:xfrm>
            <a:off x="838200" y="2306638"/>
            <a:ext cx="1119188" cy="3048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</a:ln>
          <a:extLst>
            <a:ext uri="{909E8E84-426E-40DD-AFC4-6F175D3DCCD1}"/>
          </a:extLst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400">
                <a:latin typeface="Calibri" charset="0"/>
              </a:rPr>
              <a:t>PTE 0</a:t>
            </a:r>
            <a:endParaRPr/>
          </a:p>
        </p:txBody>
      </p:sp>
      <p:sp>
        <p:nvSpPr>
          <p:cNvPr id="124" name="Rectangle 40"/>
          <p:cNvSpPr>
            <a:spLocks noChangeArrowheads="true"/>
          </p:cNvSpPr>
          <p:nvPr/>
        </p:nvSpPr>
        <p:spPr bwMode="auto">
          <a:xfrm>
            <a:off x="838200" y="2611438"/>
            <a:ext cx="1119188" cy="3048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</a:ln>
          <a:extLst>
            <a:ext uri="{909E8E84-426E-40DD-AFC4-6F175D3DCCD1}"/>
          </a:extLst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400">
                <a:latin typeface="Calibri" charset="0"/>
              </a:rPr>
              <a:t>PTE 1</a:t>
            </a:r>
            <a:endParaRPr/>
          </a:p>
        </p:txBody>
      </p:sp>
      <p:sp>
        <p:nvSpPr>
          <p:cNvPr id="125" name="Rectangle 41"/>
          <p:cNvSpPr>
            <a:spLocks noChangeArrowheads="true"/>
          </p:cNvSpPr>
          <p:nvPr/>
        </p:nvSpPr>
        <p:spPr bwMode="auto">
          <a:xfrm>
            <a:off x="838200" y="2916238"/>
            <a:ext cx="1119188" cy="3048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66"/>
            </a:solidFill>
            <a:miter lim="800000"/>
          </a:ln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400">
                <a:latin typeface="Calibri" charset="0"/>
              </a:rPr>
              <a:t>PTE 2 (null)</a:t>
            </a:r>
            <a:endParaRPr/>
          </a:p>
        </p:txBody>
      </p:sp>
      <p:sp>
        <p:nvSpPr>
          <p:cNvPr id="126" name="Rectangle 42"/>
          <p:cNvSpPr>
            <a:spLocks noChangeArrowheads="true"/>
          </p:cNvSpPr>
          <p:nvPr/>
        </p:nvSpPr>
        <p:spPr bwMode="auto">
          <a:xfrm>
            <a:off x="838200" y="3221038"/>
            <a:ext cx="1119188" cy="3048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66"/>
            </a:solidFill>
            <a:miter lim="800000"/>
          </a:ln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400">
                <a:latin typeface="Calibri" charset="0"/>
              </a:rPr>
              <a:t>PTE 3 (null)</a:t>
            </a:r>
            <a:endParaRPr/>
          </a:p>
        </p:txBody>
      </p:sp>
      <p:sp>
        <p:nvSpPr>
          <p:cNvPr id="127" name="Rectangle 43"/>
          <p:cNvSpPr>
            <a:spLocks noChangeArrowheads="true"/>
          </p:cNvSpPr>
          <p:nvPr/>
        </p:nvSpPr>
        <p:spPr bwMode="auto">
          <a:xfrm>
            <a:off x="838200" y="3525838"/>
            <a:ext cx="1119188" cy="3048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66"/>
            </a:solidFill>
            <a:miter lim="800000"/>
          </a:ln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400">
                <a:latin typeface="Calibri" charset="0"/>
              </a:rPr>
              <a:t>PTE 4 (null)</a:t>
            </a:r>
            <a:endParaRPr/>
          </a:p>
        </p:txBody>
      </p:sp>
      <p:sp>
        <p:nvSpPr>
          <p:cNvPr id="128" name="Rectangle 44"/>
          <p:cNvSpPr>
            <a:spLocks noChangeArrowheads="true"/>
          </p:cNvSpPr>
          <p:nvPr/>
        </p:nvSpPr>
        <p:spPr bwMode="auto">
          <a:xfrm>
            <a:off x="838200" y="3830638"/>
            <a:ext cx="1119188" cy="3048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66"/>
            </a:solidFill>
            <a:miter lim="800000"/>
          </a:ln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400">
                <a:latin typeface="Calibri" charset="0"/>
              </a:rPr>
              <a:t>PTE 5 (null)</a:t>
            </a:r>
            <a:endParaRPr/>
          </a:p>
        </p:txBody>
      </p:sp>
      <p:sp>
        <p:nvSpPr>
          <p:cNvPr id="129" name="Rectangle 45"/>
          <p:cNvSpPr>
            <a:spLocks noChangeArrowheads="true"/>
          </p:cNvSpPr>
          <p:nvPr/>
        </p:nvSpPr>
        <p:spPr bwMode="auto">
          <a:xfrm>
            <a:off x="838200" y="4135438"/>
            <a:ext cx="1119188" cy="3048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66"/>
            </a:solidFill>
            <a:miter lim="800000"/>
          </a:ln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400">
                <a:latin typeface="Calibri" charset="0"/>
              </a:rPr>
              <a:t>PTE 6 (null)</a:t>
            </a:r>
            <a:endParaRPr/>
          </a:p>
        </p:txBody>
      </p:sp>
      <p:sp>
        <p:nvSpPr>
          <p:cNvPr id="130" name="Rectangle 46"/>
          <p:cNvSpPr>
            <a:spLocks noChangeArrowheads="true"/>
          </p:cNvSpPr>
          <p:nvPr/>
        </p:nvSpPr>
        <p:spPr bwMode="auto">
          <a:xfrm>
            <a:off x="838200" y="4440238"/>
            <a:ext cx="1119188" cy="3048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66"/>
            </a:solidFill>
            <a:miter lim="800000"/>
          </a:ln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400">
                <a:latin typeface="Calibri" charset="0"/>
              </a:rPr>
              <a:t>PTE 7 (null)</a:t>
            </a:r>
            <a:endParaRPr/>
          </a:p>
        </p:txBody>
      </p:sp>
      <p:sp>
        <p:nvSpPr>
          <p:cNvPr id="131" name="Rectangle 47"/>
          <p:cNvSpPr>
            <a:spLocks noChangeArrowheads="true"/>
          </p:cNvSpPr>
          <p:nvPr/>
        </p:nvSpPr>
        <p:spPr bwMode="auto">
          <a:xfrm>
            <a:off x="838200" y="4745038"/>
            <a:ext cx="1119188" cy="3048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</a:ln>
          <a:extLst>
            <a:ext uri="{909E8E84-426E-40DD-AFC4-6F175D3DCCD1}"/>
          </a:extLst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 algn="ctr">
              <a:lnSpc>
                <a:spcPct val="98000"/>
              </a:lnSpc>
            </a:pPr>
            <a:r>
              <a:rPr lang="en-GB" altLang="zh-CN" sz="1400">
                <a:latin typeface="Calibri" charset="0"/>
              </a:rPr>
              <a:t>PTE 8</a:t>
            </a:r>
            <a:endParaRPr/>
          </a:p>
        </p:txBody>
      </p:sp>
      <p:sp>
        <p:nvSpPr>
          <p:cNvPr id="132" name="Rectangle 48"/>
          <p:cNvSpPr>
            <a:spLocks noChangeArrowheads="true"/>
          </p:cNvSpPr>
          <p:nvPr/>
        </p:nvSpPr>
        <p:spPr bwMode="auto">
          <a:xfrm>
            <a:off x="838200" y="2306638"/>
            <a:ext cx="1119188" cy="3581400"/>
          </a:xfrm>
          <a:prstGeom prst="rect">
            <a:avLst/>
          </a:prstGeom>
          <a:noFill/>
          <a:ln w="28575">
            <a:solidFill>
              <a:srgbClr val="000066"/>
            </a:solidFill>
            <a:miter lim="800000"/>
          </a:ln>
          <a:extLst>
            <a:ext uri="{909E8E84-426E-40DD-AFC4-6F175D3DCCD1}"/>
          </a:extLst>
        </p:spPr>
        <p:txBody>
          <a:bodyPr wrap="none" anchor="ctr"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endParaRPr lang="en-US" altLang="zh-CN"/>
          </a:p>
        </p:txBody>
      </p:sp>
      <p:sp>
        <p:nvSpPr>
          <p:cNvPr id="133" name="AutoShape 49"/>
          <p:cNvSpPr/>
          <p:nvPr/>
        </p:nvSpPr>
        <p:spPr bwMode="auto">
          <a:xfrm>
            <a:off x="6665913" y="1849438"/>
            <a:ext cx="228600" cy="1752600"/>
          </a:xfrm>
          <a:prstGeom prst="rightBrace">
            <a:avLst>
              <a:gd name="adj1" fmla="val 63889"/>
              <a:gd name="adj2" fmla="val 50000"/>
            </a:avLst>
          </a:prstGeom>
          <a:noFill/>
          <a:ln w="12600">
            <a:solidFill>
              <a:srgbClr val="000066"/>
            </a:solidFill>
            <a:miter lim="800000"/>
          </a:ln>
          <a:extLst>
            <a:ext uri="{909E8E84-426E-40DD-AFC4-6F175D3DCCD1}"/>
          </a:extLst>
        </p:spPr>
        <p:txBody>
          <a:bodyPr wrap="none" anchor="ctr"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endParaRPr lang="en-US" altLang="zh-CN"/>
          </a:p>
        </p:txBody>
      </p:sp>
      <p:sp>
        <p:nvSpPr>
          <p:cNvPr id="134" name="Text Box 50"/>
          <p:cNvSpPr txBox="true">
            <a:spLocks noChangeArrowheads="true"/>
          </p:cNvSpPr>
          <p:nvPr/>
        </p:nvSpPr>
        <p:spPr bwMode="auto">
          <a:xfrm>
            <a:off x="6918325" y="2460625"/>
            <a:ext cx="1885950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lIns="90000" tIns="46800" rIns="90000" bIns="46800" anchor="ctr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>
              <a:lnSpc>
                <a:spcPct val="98000"/>
              </a:lnSpc>
            </a:pPr>
            <a:r>
              <a:rPr lang="en-GB" altLang="zh-CN" sz="1400" i="true">
                <a:latin typeface="Calibri" charset="0"/>
              </a:rPr>
              <a:t>2K allocated VM pages</a:t>
            </a:r>
            <a:endParaRPr/>
          </a:p>
          <a:p>
            <a:pPr>
              <a:lnSpc>
                <a:spcPct val="98000"/>
              </a:lnSpc>
            </a:pPr>
            <a:r>
              <a:rPr lang="en-GB" altLang="zh-CN" sz="1400" i="true">
                <a:latin typeface="Calibri" charset="0"/>
              </a:rPr>
              <a:t>for code and data</a:t>
            </a:r>
            <a:endParaRPr/>
          </a:p>
        </p:txBody>
      </p:sp>
      <p:sp>
        <p:nvSpPr>
          <p:cNvPr id="135" name="AutoShape 51"/>
          <p:cNvSpPr/>
          <p:nvPr/>
        </p:nvSpPr>
        <p:spPr bwMode="auto">
          <a:xfrm>
            <a:off x="6665913" y="3678238"/>
            <a:ext cx="228600" cy="1752600"/>
          </a:xfrm>
          <a:prstGeom prst="rightBrace">
            <a:avLst>
              <a:gd name="adj1" fmla="val 63889"/>
              <a:gd name="adj2" fmla="val 50000"/>
            </a:avLst>
          </a:prstGeom>
          <a:noFill/>
          <a:ln w="12600">
            <a:solidFill>
              <a:srgbClr val="000066"/>
            </a:solidFill>
            <a:miter lim="800000"/>
          </a:ln>
          <a:extLst>
            <a:ext uri="{909E8E84-426E-40DD-AFC4-6F175D3DCCD1}"/>
          </a:extLst>
        </p:spPr>
        <p:txBody>
          <a:bodyPr wrap="none" anchor="ctr"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endParaRPr lang="en-US" altLang="zh-CN"/>
          </a:p>
        </p:txBody>
      </p:sp>
      <p:sp>
        <p:nvSpPr>
          <p:cNvPr id="136" name="Text Box 52"/>
          <p:cNvSpPr txBox="true">
            <a:spLocks noChangeArrowheads="true"/>
          </p:cNvSpPr>
          <p:nvPr/>
        </p:nvSpPr>
        <p:spPr bwMode="auto">
          <a:xfrm>
            <a:off x="6916738" y="4364038"/>
            <a:ext cx="20748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lIns="90000" tIns="46800" rIns="90000" bIns="46800" anchor="ctr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>
              <a:lnSpc>
                <a:spcPct val="98000"/>
              </a:lnSpc>
            </a:pPr>
            <a:r>
              <a:rPr lang="en-GB" altLang="zh-CN" sz="1400" i="true">
                <a:latin typeface="Calibri" charset="0"/>
              </a:rPr>
              <a:t>6K unallocated VM pages</a:t>
            </a:r>
            <a:endParaRPr/>
          </a:p>
        </p:txBody>
      </p:sp>
      <p:sp>
        <p:nvSpPr>
          <p:cNvPr id="137" name="AutoShape 53"/>
          <p:cNvSpPr/>
          <p:nvPr/>
        </p:nvSpPr>
        <p:spPr bwMode="auto">
          <a:xfrm>
            <a:off x="6589713" y="5507038"/>
            <a:ext cx="304800" cy="609600"/>
          </a:xfrm>
          <a:prstGeom prst="rightBrace">
            <a:avLst>
              <a:gd name="adj1" fmla="val 16667"/>
              <a:gd name="adj2" fmla="val 50000"/>
            </a:avLst>
          </a:prstGeom>
          <a:noFill/>
          <a:ln w="12600">
            <a:solidFill>
              <a:srgbClr val="000066"/>
            </a:solidFill>
            <a:miter lim="800000"/>
          </a:ln>
          <a:extLst>
            <a:ext uri="{909E8E84-426E-40DD-AFC4-6F175D3DCCD1}"/>
          </a:extLst>
        </p:spPr>
        <p:txBody>
          <a:bodyPr wrap="none" anchor="ctr"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endParaRPr lang="en-US" altLang="zh-CN"/>
          </a:p>
        </p:txBody>
      </p:sp>
      <p:sp>
        <p:nvSpPr>
          <p:cNvPr id="138" name="Text Box 54"/>
          <p:cNvSpPr txBox="true">
            <a:spLocks noChangeArrowheads="true"/>
          </p:cNvSpPr>
          <p:nvPr/>
        </p:nvSpPr>
        <p:spPr bwMode="auto">
          <a:xfrm>
            <a:off x="6916738" y="5645150"/>
            <a:ext cx="19875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lIns="90000" tIns="46800" rIns="90000" bIns="46800" anchor="ctr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>
              <a:lnSpc>
                <a:spcPct val="98000"/>
              </a:lnSpc>
            </a:pPr>
            <a:r>
              <a:rPr lang="en-GB" altLang="zh-CN" sz="1400" i="true">
                <a:latin typeface="Calibri" charset="0"/>
              </a:rPr>
              <a:t>1023 unallocated  pages</a:t>
            </a:r>
            <a:endParaRPr/>
          </a:p>
        </p:txBody>
      </p:sp>
      <p:sp>
        <p:nvSpPr>
          <p:cNvPr id="139" name="AutoShape 55"/>
          <p:cNvSpPr/>
          <p:nvPr/>
        </p:nvSpPr>
        <p:spPr bwMode="auto">
          <a:xfrm>
            <a:off x="6589713" y="6116638"/>
            <a:ext cx="304800" cy="304800"/>
          </a:xfrm>
          <a:prstGeom prst="rightBrace">
            <a:avLst>
              <a:gd name="adj1" fmla="val 8333"/>
              <a:gd name="adj2" fmla="val 50000"/>
            </a:avLst>
          </a:prstGeom>
          <a:noFill/>
          <a:ln w="12600">
            <a:solidFill>
              <a:srgbClr val="000066"/>
            </a:solidFill>
            <a:miter lim="800000"/>
          </a:ln>
          <a:extLst>
            <a:ext uri="{909E8E84-426E-40DD-AFC4-6F175D3DCCD1}"/>
          </a:extLst>
        </p:spPr>
        <p:txBody>
          <a:bodyPr wrap="none" anchor="ctr"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endParaRPr lang="en-US" altLang="zh-CN"/>
          </a:p>
        </p:txBody>
      </p:sp>
      <p:sp>
        <p:nvSpPr>
          <p:cNvPr id="140" name="Text Box 56"/>
          <p:cNvSpPr txBox="true">
            <a:spLocks noChangeArrowheads="true"/>
          </p:cNvSpPr>
          <p:nvPr/>
        </p:nvSpPr>
        <p:spPr bwMode="auto">
          <a:xfrm>
            <a:off x="6918325" y="6057900"/>
            <a:ext cx="1717675" cy="5159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/>
          </a:extLst>
        </p:spPr>
        <p:txBody>
          <a:bodyPr wrap="none" lIns="90000" tIns="46800" rIns="90000" bIns="46800" anchor="ctr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>
              <a:lnSpc>
                <a:spcPct val="98000"/>
              </a:lnSpc>
            </a:pPr>
            <a:r>
              <a:rPr lang="en-GB" altLang="zh-CN" sz="1400" i="true">
                <a:latin typeface="Calibri" charset="0"/>
              </a:rPr>
              <a:t>1 allocated VM page</a:t>
            </a:r>
            <a:endParaRPr/>
          </a:p>
          <a:p>
            <a:pPr>
              <a:lnSpc>
                <a:spcPct val="98000"/>
              </a:lnSpc>
            </a:pPr>
            <a:r>
              <a:rPr lang="en-GB" altLang="zh-CN" sz="1400" i="true">
                <a:latin typeface="Calibri" charset="0"/>
              </a:rPr>
              <a:t>for the stack</a:t>
            </a:r>
            <a:endParaRPr/>
          </a:p>
        </p:txBody>
      </p:sp>
      <p:sp>
        <p:nvSpPr>
          <p:cNvPr id="141" name="TextBox 60"/>
          <p:cNvSpPr txBox="true">
            <a:spLocks noChangeArrowheads="true"/>
          </p:cNvSpPr>
          <p:nvPr/>
        </p:nvSpPr>
        <p:spPr bwMode="auto">
          <a:xfrm>
            <a:off x="381000" y="6153150"/>
            <a:ext cx="41052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r>
              <a:rPr lang="en-US" altLang="zh-CN" sz="1800" i="true">
                <a:latin typeface="Calibri" charset="0"/>
              </a:rPr>
              <a:t>32 bit addresses, 4KB pages, 4-byte PTEs</a:t>
            </a:r>
            <a:endParaRPr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 dirty="false"/>
              <a:t>Paging: Smaller Tables </a:t>
            </a:r>
            <a:endParaRPr kumimoji="true" lang="zh-CN" altLang="en-US" dirty="false"/>
          </a:p>
        </p:txBody>
      </p:sp>
      <p:sp>
        <p:nvSpPr>
          <p:cNvPr id="144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 altLang="zh-CN" b="true" dirty="false"/>
              <a:t>A Detailed Multi-Level Example </a:t>
            </a:r>
            <a:endParaRPr lang="en-US" altLang="zh-CN" dirty="false"/>
          </a:p>
          <a:p>
            <a:pPr lvl="1"/>
            <a:r>
              <a:rPr kumimoji="true" lang="en-US" altLang="zh-CN" dirty="false"/>
              <a:t>14-</a:t>
            </a:r>
            <a:r>
              <a:rPr lang="en-US" altLang="zh-CN" dirty="false"/>
              <a:t>bit virtual address space</a:t>
            </a:r>
            <a:endParaRPr/>
          </a:p>
          <a:p>
            <a:pPr lvl="1"/>
            <a:r>
              <a:rPr lang="en-US" altLang="zh-CN" dirty="false"/>
              <a:t>8-bit for VPN, 6-bit for offset</a:t>
            </a:r>
            <a:endParaRPr/>
          </a:p>
          <a:p>
            <a:pPr lvl="1"/>
            <a:r>
              <a:rPr lang="en-US" altLang="zh-CN" dirty="false"/>
              <a:t>4-byte PTE</a:t>
            </a:r>
            <a:endParaRPr/>
          </a:p>
          <a:p>
            <a:pPr lvl="1"/>
            <a:r>
              <a:rPr kumimoji="true" lang="en-US" altLang="zh-CN" dirty="false"/>
              <a:t>A linear page table: 256 entries</a:t>
            </a:r>
            <a:endParaRPr/>
          </a:p>
          <a:p>
            <a:pPr lvl="1"/>
            <a:r>
              <a:rPr lang="en-US" altLang="zh-CN" dirty="false"/>
              <a:t>Page table: 1KB (256*4B)</a:t>
            </a:r>
            <a:endParaRPr kumimoji="true" lang="en-US" altLang="zh-CN" dirty="false"/>
          </a:p>
          <a:p>
            <a:pPr lvl="1"/>
            <a:r>
              <a:rPr lang="en-US" altLang="zh-CN" dirty="false"/>
              <a:t>Page 0, 1 -&gt; code</a:t>
            </a:r>
            <a:endParaRPr/>
          </a:p>
          <a:p>
            <a:pPr lvl="1"/>
            <a:r>
              <a:rPr kumimoji="true" lang="en-US" altLang="zh-CN" dirty="false"/>
              <a:t>Page 4, 5 -&gt; heap</a:t>
            </a:r>
            <a:endParaRPr/>
          </a:p>
          <a:p>
            <a:pPr lvl="1"/>
            <a:r>
              <a:rPr lang="en-US" altLang="zh-CN" dirty="false"/>
              <a:t>Page 254, 255 -&gt; stack</a:t>
            </a:r>
            <a:endParaRPr kumimoji="true" lang="en-US" altLang="zh-CN" dirty="false"/>
          </a:p>
          <a:p>
            <a:pPr lvl="1"/>
            <a:endParaRPr kumimoji="true" lang="zh-CN" altLang="en-US" dirty="false"/>
          </a:p>
        </p:txBody>
      </p:sp>
      <p:sp>
        <p:nvSpPr>
          <p:cNvPr id="145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EF0B01C9-CC9E-4042-87A9-F49D20F0019F}" type="slidenum">
              <a:rPr lang="zh-CN" altLang="en-US" smtClean="false"/>
              <a:t>119</a:t>
            </a:fld>
            <a:endParaRPr lang="en-US" altLang="zh-CN"/>
          </a:p>
        </p:txBody>
      </p:sp>
      <p:pic>
        <p:nvPicPr>
          <p:cNvPr id="146" name="图片 4"/>
          <p:cNvPicPr>
            <a:picLocks noChangeAspect="true"/>
          </p:cNvPicPr>
          <p:nvPr/>
        </p:nvPicPr>
        <p:blipFill>
          <a:blip r:embed="rId1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5943600" y="2387600"/>
            <a:ext cx="3035300" cy="3784600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 dirty="false"/>
              <a:t>Paging: Smaller Tables </a:t>
            </a:r>
            <a:endParaRPr kumimoji="true" lang="zh-CN" altLang="en-US" dirty="false"/>
          </a:p>
        </p:txBody>
      </p:sp>
      <p:sp>
        <p:nvSpPr>
          <p:cNvPr id="149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>
              <a:buChar char="•"/>
            </a:pPr>
            <a:r>
              <a:rPr lang="en-US" b="true"/>
              <a:t>A Detailed Multi-Level Example </a:t>
            </a:r>
            <a:endParaRPr lang="en-US"/>
          </a:p>
          <a:p>
            <a:pPr lvl="1">
              <a:buChar char="–"/>
            </a:pPr>
            <a:r>
              <a:rPr lang="zh-CN"/>
              <a:t>一个</a:t>
            </a:r>
            <a:r>
              <a:rPr lang="en-US"/>
              <a:t>page</a:t>
            </a:r>
            <a:r>
              <a:rPr lang="zh-CN"/>
              <a:t>是</a:t>
            </a:r>
            <a:r>
              <a:rPr lang="en-US"/>
              <a:t>64B</a:t>
            </a:r>
            <a:r>
              <a:rPr lang="zh-CN"/>
              <a:t>，能放</a:t>
            </a:r>
            <a:r>
              <a:rPr lang="en-US"/>
              <a:t>16</a:t>
            </a:r>
            <a:r>
              <a:rPr lang="zh-CN"/>
              <a:t>个</a:t>
            </a:r>
            <a:r>
              <a:rPr lang="en-US"/>
              <a:t>PTE</a:t>
            </a:r>
            <a:endParaRPr/>
          </a:p>
          <a:p>
            <a:pPr lvl="1">
              <a:buChar char="–"/>
            </a:pPr>
            <a:r>
              <a:rPr lang="zh-CN"/>
              <a:t>所以一级页表是</a:t>
            </a:r>
            <a:r>
              <a:rPr lang="en-US"/>
              <a:t>16</a:t>
            </a:r>
            <a:r>
              <a:rPr lang="zh-CN"/>
              <a:t>个</a:t>
            </a:r>
            <a:r>
              <a:rPr lang="en-US"/>
              <a:t>entry</a:t>
            </a:r>
            <a:r>
              <a:rPr lang="zh-CN"/>
              <a:t>，各负责</a:t>
            </a:r>
            <a:r>
              <a:rPr lang="en-US"/>
              <a:t>16(=256/16)</a:t>
            </a:r>
            <a:r>
              <a:rPr lang="zh-CN"/>
              <a:t>个</a:t>
            </a:r>
            <a:r>
              <a:rPr lang="en-US"/>
              <a:t>VPN</a:t>
            </a:r>
            <a:endParaRPr/>
          </a:p>
          <a:p>
            <a:pPr lvl="1">
              <a:buChar char="–"/>
            </a:pPr>
            <a:r>
              <a:rPr lang="en-US"/>
              <a:t>Page-directory index (</a:t>
            </a:r>
            <a:r>
              <a:rPr lang="en-US"/>
              <a:t>PDIndex</a:t>
            </a:r>
            <a:r>
              <a:rPr lang="en-US"/>
              <a:t>)</a:t>
            </a:r>
            <a:r>
              <a:rPr lang="zh-CN"/>
              <a:t>为</a:t>
            </a:r>
            <a:r>
              <a:rPr lang="en-US"/>
              <a:t>VPN</a:t>
            </a:r>
            <a:r>
              <a:rPr lang="zh-CN"/>
              <a:t>的前</a:t>
            </a:r>
            <a:r>
              <a:rPr lang="en-US"/>
              <a:t>4</a:t>
            </a:r>
            <a:r>
              <a:rPr lang="zh-CN"/>
              <a:t>位，用来定位是属于一级页表中的哪个</a:t>
            </a:r>
            <a:r>
              <a:rPr lang="en-US"/>
              <a:t>entry</a:t>
            </a:r>
            <a:endParaRPr/>
          </a:p>
        </p:txBody>
      </p:sp>
      <p:sp>
        <p:nvSpPr>
          <p:cNvPr id="150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EF0B01C9-CC9E-4042-87A9-F49D20F0019F}" type="slidenum">
              <a:rPr lang="zh-CN" altLang="en-US" smtClean="false"/>
              <a:t>120</a:t>
            </a:fld>
            <a:endParaRPr lang="en-US" altLang="zh-CN"/>
          </a:p>
        </p:txBody>
      </p:sp>
      <p:pic>
        <p:nvPicPr>
          <p:cNvPr id="151" name="图片 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1181100" y="4622800"/>
            <a:ext cx="6629400" cy="1549400"/>
          </a:xfrm>
          <a:prstGeom prst="rect">
            <a:avLst/>
          </a:prstGeom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 dirty="false"/>
              <a:t>Paging: Smaller Tables </a:t>
            </a:r>
            <a:endParaRPr kumimoji="true" lang="zh-CN" altLang="en-US" dirty="false"/>
          </a:p>
        </p:txBody>
      </p:sp>
      <p:sp>
        <p:nvSpPr>
          <p:cNvPr id="154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>
              <a:buChar char="•"/>
            </a:pPr>
            <a:r>
              <a:rPr lang="en-US"/>
              <a:t>Page table index (</a:t>
            </a:r>
            <a:r>
              <a:rPr lang="en-US"/>
              <a:t>PTIndex</a:t>
            </a:r>
            <a:r>
              <a:rPr lang="en-US"/>
              <a:t>)</a:t>
            </a:r>
            <a:endParaRPr/>
          </a:p>
          <a:p>
            <a:pPr lvl="1">
              <a:buChar char="–"/>
            </a:pPr>
            <a:r>
              <a:rPr lang="en-US"/>
              <a:t>VPN</a:t>
            </a:r>
            <a:r>
              <a:rPr lang="zh-CN"/>
              <a:t>的后四位，是二级页表的</a:t>
            </a:r>
            <a:r>
              <a:rPr lang="en-US"/>
              <a:t>index</a:t>
            </a:r>
            <a:endParaRPr lang="zh-CN"/>
          </a:p>
        </p:txBody>
      </p:sp>
      <p:sp>
        <p:nvSpPr>
          <p:cNvPr id="155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EF0B01C9-CC9E-4042-87A9-F49D20F0019F}" type="slidenum">
              <a:rPr lang="zh-CN" altLang="en-US" smtClean="false"/>
              <a:t>121</a:t>
            </a:fld>
            <a:endParaRPr lang="en-US" altLang="zh-CN"/>
          </a:p>
        </p:txBody>
      </p:sp>
      <p:pic>
        <p:nvPicPr>
          <p:cNvPr id="156" name="图片 5"/>
          <p:cNvPicPr>
            <a:picLocks noChangeAspect="true"/>
          </p:cNvPicPr>
          <p:nvPr/>
        </p:nvPicPr>
        <p:blipFill rotWithShape="true">
          <a:blip r:embed="rId1">
            <a:extLst>
              <a:ext uri="{28A0092B-C50C-407E-A947-70E740481C1C}"/>
            </a:extLst>
          </a:blip>
          <a:srcRect t="5785"/>
          <a:stretch>
            <a:fillRect/>
          </a:stretch>
        </p:blipFill>
        <p:spPr>
          <a:xfrm>
            <a:off x="1016000" y="3657600"/>
            <a:ext cx="6565900" cy="1447800"/>
          </a:xfrm>
          <a:prstGeom prst="rect">
            <a:avLst/>
          </a:prstGeom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 dirty="false"/>
              <a:t>Paging: Smaller Tables </a:t>
            </a:r>
            <a:endParaRPr kumimoji="true" lang="zh-CN" altLang="en-US" dirty="false"/>
          </a:p>
        </p:txBody>
      </p:sp>
      <p:sp>
        <p:nvSpPr>
          <p:cNvPr id="159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/>
            <a:r>
              <a:rPr lang="zh-CN" altLang="en-US" dirty="false"/>
              <a:t>二级页表结果</a:t>
            </a:r>
            <a:endParaRPr kumimoji="true" lang="zh-CN" altLang="en-US" dirty="false"/>
          </a:p>
        </p:txBody>
      </p:sp>
      <p:sp>
        <p:nvSpPr>
          <p:cNvPr id="160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EF0B01C9-CC9E-4042-87A9-F49D20F0019F}" type="slidenum">
              <a:rPr lang="zh-CN" altLang="en-US" smtClean="false"/>
              <a:t>122</a:t>
            </a:fld>
            <a:endParaRPr lang="en-US" altLang="zh-CN"/>
          </a:p>
        </p:txBody>
      </p:sp>
      <p:pic>
        <p:nvPicPr>
          <p:cNvPr id="161" name="图片 4"/>
          <p:cNvPicPr>
            <a:picLocks noChangeAspect="true"/>
          </p:cNvPicPr>
          <p:nvPr/>
        </p:nvPicPr>
        <p:blipFill>
          <a:blip r:embed="rId1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926578" y="2056795"/>
            <a:ext cx="6845822" cy="4786928"/>
          </a:xfrm>
          <a:prstGeom prst="rect">
            <a:avLst/>
          </a:prstGeom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 dirty="false"/>
              <a:t>Paging: Smaller Tables </a:t>
            </a:r>
            <a:endParaRPr kumimoji="true" lang="zh-CN" altLang="en-US" dirty="false"/>
          </a:p>
        </p:txBody>
      </p:sp>
      <p:sp>
        <p:nvSpPr>
          <p:cNvPr id="164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>
              <a:buChar char="•"/>
            </a:pPr>
            <a:r>
              <a:rPr lang="en-US" b="true"/>
              <a:t>More Than Two Levels </a:t>
            </a:r>
            <a:endParaRPr lang="en-US"/>
          </a:p>
          <a:p>
            <a:pPr lvl="1">
              <a:buChar char="–"/>
            </a:pPr>
            <a:r>
              <a:rPr lang="zh-CN"/>
              <a:t>在</a:t>
            </a:r>
            <a:r>
              <a:rPr lang="en-US"/>
              <a:t>VPN</a:t>
            </a:r>
            <a:r>
              <a:rPr lang="zh-CN"/>
              <a:t>前面划分多个</a:t>
            </a:r>
            <a:r>
              <a:rPr lang="en-US"/>
              <a:t>PD</a:t>
            </a:r>
            <a:r>
              <a:rPr lang="zh-CN"/>
              <a:t> </a:t>
            </a:r>
            <a:r>
              <a:rPr lang="en-US"/>
              <a:t>Index (</a:t>
            </a:r>
            <a:r>
              <a:rPr lang="zh-CN"/>
              <a:t>或称为多段</a:t>
            </a:r>
            <a:r>
              <a:rPr lang="en-US"/>
              <a:t>VPN)</a:t>
            </a:r>
            <a:endParaRPr/>
          </a:p>
        </p:txBody>
      </p:sp>
      <p:sp>
        <p:nvSpPr>
          <p:cNvPr id="165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EF0B01C9-CC9E-4042-87A9-F49D20F0019F}" type="slidenum">
              <a:rPr lang="zh-CN" altLang="en-US" smtClean="false"/>
              <a:t>123</a:t>
            </a:fld>
            <a:endParaRPr lang="en-US" altLang="zh-CN"/>
          </a:p>
        </p:txBody>
      </p:sp>
      <p:pic>
        <p:nvPicPr>
          <p:cNvPr id="166" name="图片 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304800" y="3581400"/>
            <a:ext cx="8458200" cy="1880882"/>
          </a:xfrm>
          <a:prstGeom prst="rect">
            <a:avLst/>
          </a:prstGeom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1pPr>
            <a:lvl2pPr marL="742950" indent="-28575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2pPr>
            <a:lvl3pPr marL="11430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3pPr>
            <a:lvl4pPr marL="16002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4pPr>
            <a:lvl5pPr marL="2057400" indent="-228600"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2000" b="true">
                <a:solidFill>
                  <a:schemeClr val="tx1"/>
                </a:solidFill>
                <a:latin typeface="Comic Sans MS" panose="030F0902030302020204" charset="0"/>
                <a:ea typeface="宋体" charset="-122"/>
              </a:defRPr>
            </a:lvl9pPr>
          </a:lstStyle>
          <a:p>
            <a:pPr/>
            <a:fld id="{FB61DDBE-A39D-1947-B004-E0DB0B96851C}" type="slidenum">
              <a:rPr lang="zh-CN" altLang="en-US" sz="1400" b="false">
                <a:latin typeface="Times New Roman" panose="02020603050405020304" charset="0"/>
              </a:rPr>
              <a:t>118</a:t>
            </a:fld>
            <a:endParaRPr lang="en-US" altLang="zh-CN" sz="1400" b="false">
              <a:latin typeface="Times New Roman" panose="02020603050405020304" charset="0"/>
            </a:endParaRPr>
          </a:p>
        </p:txBody>
      </p:sp>
      <p:sp>
        <p:nvSpPr>
          <p:cNvPr id="169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 dirty="false"/>
              <a:t>Paging: Smaller Tables </a:t>
            </a:r>
            <a:endParaRPr lang="en-US" altLang="zh-CN" dirty="false">
              <a:ea typeface="宋体" charset="-122"/>
            </a:endParaRPr>
          </a:p>
        </p:txBody>
      </p:sp>
      <p:sp>
        <p:nvSpPr>
          <p:cNvPr id="170" name=""/>
          <p:cNvSpPr txBox="true"/>
          <p:nvPr/>
        </p:nvSpPr>
        <p:spPr>
          <a:xfrm rot="0" flipH="false" flipV="false">
            <a:off x="568234" y="1547813"/>
            <a:ext cx="6940550" cy="4572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en-US" sz="2400"/>
              <a:t>Address translation with a k-level page table</a:t>
            </a:r>
            <a:endParaRPr/>
          </a:p>
        </p:txBody>
      </p:sp>
      <p:sp>
        <p:nvSpPr>
          <p:cNvPr id="171" name=""/>
          <p:cNvSpPr txBox="true"/>
          <p:nvPr/>
        </p:nvSpPr>
        <p:spPr>
          <a:xfrm rot="0" flipH="false" flipV="false">
            <a:off x="568234" y="6007100"/>
            <a:ext cx="7397750" cy="393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zh-CN"/>
              <a:t>多次的</a:t>
            </a:r>
            <a:r>
              <a:rPr lang="en-US"/>
              <a:t>page table</a:t>
            </a:r>
            <a:r>
              <a:rPr lang="zh-CN"/>
              <a:t>访问是否会让</a:t>
            </a:r>
            <a:r>
              <a:rPr lang="en-US"/>
              <a:t>address translation</a:t>
            </a:r>
            <a:r>
              <a:rPr lang="zh-CN"/>
              <a:t>变得很慢？</a:t>
            </a:r>
            <a:endParaRPr/>
          </a:p>
        </p:txBody>
      </p:sp>
      <p:pic>
        <p:nvPicPr>
          <p:cNvPr id="172" name="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191351" y="2252663"/>
            <a:ext cx="6151517" cy="3671887"/>
          </a:xfrm>
          <a:prstGeom prst="rect"/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>
  <p:cSld>
    <p:spTree>
      <p:nvGrpSpPr>
        <p:cNvPr id="1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r>
              <a:rPr lang="en-US"/>
              <a:t>Paging: Smaller Tables</a:t>
            </a:r>
            <a:endParaRPr/>
          </a:p>
        </p:txBody>
      </p:sp>
      <p:sp>
        <p:nvSpPr>
          <p:cNvPr id="186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pPr>
              <a:buChar char="•"/>
            </a:pPr>
            <a:r>
              <a:rPr lang="zh-CN"/>
              <a:t>由于</a:t>
            </a:r>
            <a:r>
              <a:rPr lang="en-US"/>
              <a:t>TLB</a:t>
            </a:r>
            <a:r>
              <a:rPr lang="zh-CN"/>
              <a:t>的加速，在</a:t>
            </a:r>
            <a:r>
              <a:rPr lang="en-US"/>
              <a:t>TLB hit</a:t>
            </a:r>
            <a:r>
              <a:rPr lang="zh-CN"/>
              <a:t>的情况下，多级页表</a:t>
            </a:r>
            <a:r>
              <a:rPr lang="zh-CN"/>
              <a:t>的速度依然很快，与一级页表差距不大</a:t>
            </a:r>
            <a:endParaRPr/>
          </a:p>
          <a:p>
            <a:pPr>
              <a:buChar char="•"/>
            </a:pPr>
            <a:endParaRPr lang="en-US"/>
          </a:p>
          <a:p>
            <a:pPr>
              <a:buChar char="•"/>
            </a:pPr>
            <a:r>
              <a:rPr lang="zh-CN"/>
              <a:t>但如果连续发生</a:t>
            </a:r>
            <a:r>
              <a:rPr lang="en-US"/>
              <a:t>TLB miss</a:t>
            </a:r>
            <a:r>
              <a:rPr lang="zh-CN"/>
              <a:t>，则带来多次</a:t>
            </a:r>
            <a:r>
              <a:rPr lang="en-US"/>
              <a:t>memory access</a:t>
            </a:r>
            <a:r>
              <a:rPr lang="zh-CN"/>
              <a:t>，代价突增</a:t>
            </a:r>
            <a:endParaRPr/>
          </a:p>
        </p:txBody>
      </p:sp>
      <p:sp>
        <p:nvSpPr>
          <p:cNvPr id="187" name="Rectangle 6"/>
          <p:cNvSpPr>
            <a:spLocks noGrp="true" noChangeArrowheads="true"/>
          </p:cNvSpPr>
          <p:nvPr>
            <p:ph type="sldNum" sz="quarter" idx="12"/>
          </p:nvPr>
        </p:nvSpPr>
        <p:spPr/>
        <p:txBody>
          <a:bodyPr/>
          <a:p>
            <a:pPr/>
            <a:fld id="{EF0B01C9-CC9E-4042-87A9-F49D20F0019F}" type="slidenum">
              <a:rPr lang="zh-CN" altLang="en-US"/>
              <a:t>‹#›</a:t>
            </a:fld>
            <a:endParaRPr lang="en-US" altLang="zh-CN"/>
          </a:p>
        </p:txBody>
      </p:sp>
    </p:spTree>
  </p:cSld>
</p:sld>
</file>

<file path=ppt/slides/slide121.xml><?xml version="1.0" encoding="utf-8"?>
<p:sld xmlns:a="http://schemas.openxmlformats.org/drawingml/2006/main" xmlns:p="http://schemas.openxmlformats.org/presentationml/2006/main">
  <p:cSld>
    <p:spTree>
      <p:nvGrpSpPr>
        <p:cNvPr id="1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 dirty="false"/>
              <a:t>Paging: Smaller Tables </a:t>
            </a:r>
            <a:endParaRPr kumimoji="true" lang="zh-CN" altLang="en-US" dirty="false"/>
          </a:p>
        </p:txBody>
      </p:sp>
      <p:sp>
        <p:nvSpPr>
          <p:cNvPr id="190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>
              <a:buChar char="•"/>
            </a:pPr>
            <a:r>
              <a:rPr lang="en-US"/>
              <a:t>Inverted Page Tables </a:t>
            </a:r>
            <a:endParaRPr/>
          </a:p>
          <a:p>
            <a:pPr lvl="1">
              <a:buChar char="–"/>
            </a:pPr>
            <a:r>
              <a:rPr lang="en-US"/>
              <a:t>VPN -&gt; PPN</a:t>
            </a:r>
            <a:r>
              <a:rPr lang="zh-CN"/>
              <a:t>，比较稀疏，多个进程</a:t>
            </a:r>
            <a:r>
              <a:rPr lang="en-US"/>
              <a:t>=&gt;</a:t>
            </a:r>
            <a:r>
              <a:rPr lang="zh-CN"/>
              <a:t>空间开销大</a:t>
            </a:r>
            <a:endParaRPr lang="en-US"/>
          </a:p>
          <a:p>
            <a:pPr lvl="1">
              <a:buChar char="–"/>
            </a:pPr>
            <a:r>
              <a:rPr lang="zh-CN"/>
              <a:t>但</a:t>
            </a:r>
            <a:r>
              <a:rPr lang="en-US"/>
              <a:t>Pa</a:t>
            </a:r>
            <a:r>
              <a:rPr lang="zh-CN"/>
              <a:t>有效，利用率高，比较稠密</a:t>
            </a:r>
            <a:r>
              <a:rPr lang="en-US"/>
              <a:t>=&gt; </a:t>
            </a:r>
            <a:endParaRPr/>
          </a:p>
          <a:p>
            <a:pPr lvl="1">
              <a:buChar char="–"/>
            </a:pPr>
            <a:r>
              <a:rPr lang="en-US"/>
              <a:t>Inverted page tables (PPN-&gt;VPN)</a:t>
            </a:r>
            <a:endParaRPr/>
          </a:p>
          <a:p>
            <a:pPr lvl="1">
              <a:buChar char="–"/>
            </a:pPr>
            <a:r>
              <a:rPr lang="zh-CN"/>
              <a:t>缺点是用户需求是</a:t>
            </a:r>
            <a:r>
              <a:rPr lang="en-US"/>
              <a:t>VPN-&gt;PPN</a:t>
            </a:r>
            <a:r>
              <a:rPr lang="zh-CN"/>
              <a:t>的查找</a:t>
            </a:r>
            <a:endParaRPr lang="en-US"/>
          </a:p>
          <a:p>
            <a:pPr lvl="1">
              <a:buChar char="–"/>
            </a:pPr>
            <a:r>
              <a:rPr lang="zh-CN"/>
              <a:t>线性搜索开销太大，所以需要有额外的结构来加速搜索，例如</a:t>
            </a:r>
            <a:r>
              <a:rPr lang="en-US"/>
              <a:t>hash</a:t>
            </a:r>
            <a:r>
              <a:rPr lang="zh-CN"/>
              <a:t>结构</a:t>
            </a:r>
            <a:endParaRPr lang="en-US"/>
          </a:p>
          <a:p>
            <a:pPr lvl="2">
              <a:buChar char="•"/>
            </a:pPr>
            <a:r>
              <a:rPr lang="en-US"/>
              <a:t>e</a:t>
            </a:r>
            <a:r>
              <a:rPr lang="en-US"/>
              <a:t>.g., IBM PowerPC</a:t>
            </a:r>
            <a:endParaRPr/>
          </a:p>
          <a:p>
            <a:pPr lvl="1">
              <a:buChar char="–"/>
            </a:pPr>
            <a:r>
              <a:rPr lang="en-US"/>
              <a:t>Page table is just a data structure. You can do lots of crazy things on it</a:t>
            </a:r>
            <a:endParaRPr/>
          </a:p>
          <a:p>
            <a:pPr lvl="2">
              <a:buChar char="•"/>
            </a:pPr>
            <a:endParaRPr lang="zh-CN"/>
          </a:p>
        </p:txBody>
      </p:sp>
      <p:sp>
        <p:nvSpPr>
          <p:cNvPr id="191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EF0B01C9-CC9E-4042-87A9-F49D20F0019F}" type="slidenum">
              <a:rPr lang="zh-CN" altLang="en-US" smtClean="false"/>
              <a:t>125</a:t>
            </a:fld>
            <a:endParaRPr lang="en-US" altLang="zh-CN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r>
              <a:rPr lang="en-US"/>
              <a:t>PowerPC</a:t>
            </a:r>
            <a:endParaRPr/>
          </a:p>
        </p:txBody>
      </p:sp>
      <p:sp>
        <p:nvSpPr>
          <p:cNvPr id="194" name="Rectangle 6"/>
          <p:cNvSpPr>
            <a:spLocks noGrp="true" noChangeArrowheads="true"/>
          </p:cNvSpPr>
          <p:nvPr>
            <p:ph type="sldNum" sz="quarter" idx="12"/>
          </p:nvPr>
        </p:nvSpPr>
        <p:spPr/>
        <p:txBody>
          <a:bodyPr/>
          <a:p>
            <a:pPr/>
            <a:fld id="{EF0B01C9-CC9E-4042-87A9-F49D20F0019F}" type="slidenum">
              <a:rPr lang="zh-CN" altLang="en-US"/>
              <a:t>‹#›</a:t>
            </a:fld>
            <a:endParaRPr lang="en-US" altLang="zh-CN"/>
          </a:p>
        </p:txBody>
      </p:sp>
      <p:sp>
        <p:nvSpPr>
          <p:cNvPr id="195" name=""/>
          <p:cNvSpPr txBox="true"/>
          <p:nvPr/>
        </p:nvSpPr>
        <p:spPr>
          <a:xfrm rot="0" flipH="false" flipV="false">
            <a:off x="457200" y="176348"/>
            <a:ext cx="1193800" cy="393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zh-CN">
                <a:solidFill>
                  <a:schemeClr val="bg1">
                    <a:lumMod val="65000"/>
                    <a:alpha val="100000"/>
                  </a:schemeClr>
                </a:solidFill>
              </a:rPr>
              <a:t>扩展内容</a:t>
            </a:r>
            <a:endParaRPr/>
          </a:p>
        </p:txBody>
      </p:sp>
      <p:sp>
        <p:nvSpPr>
          <p:cNvPr id="196" name=""/>
          <p:cNvSpPr txBox="true"/>
          <p:nvPr/>
        </p:nvSpPr>
        <p:spPr>
          <a:xfrm rot="0" flipH="false" flipV="false">
            <a:off x="378823" y="1691640"/>
            <a:ext cx="8274050" cy="3746500"/>
          </a:xfrm>
          <a:prstGeom prst="rect">
            <a:avLst/>
          </a:prstGeom>
          <a:ln w="6350">
            <a:prstDash val="solid"/>
          </a:ln>
        </p:spPr>
        <p:txBody>
          <a:bodyPr wrap="square">
            <a:spAutoFit/>
          </a:bodyPr>
          <a:lstStyle/>
          <a:p>
            <a:pPr/>
            <a:r>
              <a:rPr lang="en-US"/>
              <a:t>PowerPC (Performance Optimization With Enhanced RISC) </a:t>
            </a:r>
            <a:r>
              <a:rPr lang="zh-CN"/>
              <a:t>是除</a:t>
            </a:r>
            <a:r>
              <a:rPr lang="en-US"/>
              <a:t>MIPS</a:t>
            </a:r>
            <a:r>
              <a:rPr lang="zh-CN"/>
              <a:t>、</a:t>
            </a:r>
            <a:r>
              <a:rPr lang="en-US"/>
              <a:t>ARM</a:t>
            </a:r>
            <a:r>
              <a:rPr lang="zh-CN"/>
              <a:t>、</a:t>
            </a:r>
            <a:r>
              <a:rPr lang="en-US"/>
              <a:t>RISC-V</a:t>
            </a:r>
            <a:r>
              <a:rPr lang="zh-CN"/>
              <a:t>之外的一个著名</a:t>
            </a:r>
            <a:r>
              <a:rPr lang="en-US"/>
              <a:t>RISC</a:t>
            </a:r>
            <a:r>
              <a:rPr lang="zh-CN"/>
              <a:t>指令集架构</a:t>
            </a:r>
            <a:endParaRPr/>
          </a:p>
          <a:p>
            <a:pPr/>
            <a:endParaRPr lang="en-US"/>
          </a:p>
          <a:p>
            <a:pPr/>
            <a:r>
              <a:rPr lang="en-US"/>
              <a:t>1980s, IBM</a:t>
            </a:r>
            <a:r>
              <a:rPr lang="zh-CN"/>
              <a:t>开始研发</a:t>
            </a:r>
            <a:r>
              <a:rPr lang="en-US"/>
              <a:t>RISC</a:t>
            </a:r>
            <a:r>
              <a:rPr lang="zh-CN"/>
              <a:t>指令集架构的处理器</a:t>
            </a:r>
            <a:endParaRPr/>
          </a:p>
          <a:p>
            <a:pPr/>
            <a:endParaRPr lang="en-US"/>
          </a:p>
          <a:p>
            <a:pPr/>
            <a:r>
              <a:rPr lang="en-US"/>
              <a:t>1991</a:t>
            </a:r>
            <a:r>
              <a:rPr lang="zh-CN"/>
              <a:t>年开始，</a:t>
            </a:r>
            <a:r>
              <a:rPr lang="en-US"/>
              <a:t>IBM</a:t>
            </a:r>
            <a:r>
              <a:rPr lang="zh-CN"/>
              <a:t>、</a:t>
            </a:r>
            <a:r>
              <a:rPr lang="en-US"/>
              <a:t>Apple</a:t>
            </a:r>
            <a:r>
              <a:rPr lang="zh-CN"/>
              <a:t>、</a:t>
            </a:r>
            <a:r>
              <a:rPr lang="en-US"/>
              <a:t>Motorola</a:t>
            </a:r>
            <a:r>
              <a:rPr lang="zh-CN"/>
              <a:t>成立联盟，</a:t>
            </a:r>
            <a:r>
              <a:rPr lang="zh-CN"/>
              <a:t>合作研发</a:t>
            </a:r>
            <a:r>
              <a:rPr lang="en-US"/>
              <a:t>PowerPC</a:t>
            </a:r>
            <a:endParaRPr/>
          </a:p>
          <a:p>
            <a:pPr/>
            <a:endParaRPr lang="en-US"/>
          </a:p>
          <a:p>
            <a:pPr/>
            <a:r>
              <a:rPr lang="en-US"/>
              <a:t>1994</a:t>
            </a:r>
            <a:r>
              <a:rPr lang="zh-CN"/>
              <a:t>年</a:t>
            </a:r>
            <a:r>
              <a:rPr lang="en-US"/>
              <a:t>-2006</a:t>
            </a:r>
            <a:r>
              <a:rPr lang="zh-CN"/>
              <a:t>年之间用于</a:t>
            </a:r>
            <a:r>
              <a:rPr lang="en-US"/>
              <a:t>MacBook (2006-2021</a:t>
            </a:r>
            <a:r>
              <a:rPr lang="zh-CN"/>
              <a:t>用的</a:t>
            </a:r>
            <a:r>
              <a:rPr lang="en-US"/>
              <a:t>Intel x86)</a:t>
            </a:r>
            <a:endParaRPr/>
          </a:p>
          <a:p>
            <a:pPr/>
            <a:r>
              <a:rPr lang="zh-CN"/>
              <a:t>也曾用于早期</a:t>
            </a:r>
            <a:r>
              <a:rPr lang="en-US"/>
              <a:t>XBox</a:t>
            </a:r>
            <a:r>
              <a:rPr lang="zh-CN"/>
              <a:t>、</a:t>
            </a:r>
            <a:r>
              <a:rPr lang="en-US"/>
              <a:t>PS 3</a:t>
            </a:r>
            <a:r>
              <a:rPr lang="zh-CN"/>
              <a:t>、思科路由器</a:t>
            </a:r>
            <a:endParaRPr/>
          </a:p>
          <a:p>
            <a:pPr/>
            <a:endParaRPr lang="en-US"/>
          </a:p>
          <a:p>
            <a:pPr/>
            <a:r>
              <a:rPr lang="zh-CN"/>
              <a:t>目前</a:t>
            </a:r>
            <a:r>
              <a:rPr lang="en-US"/>
              <a:t>IBM AIX (Unix) </a:t>
            </a:r>
            <a:r>
              <a:rPr lang="zh-CN"/>
              <a:t>工作站仍然使用</a:t>
            </a:r>
            <a:r>
              <a:rPr lang="en-US"/>
              <a:t>PowerPC</a:t>
            </a:r>
            <a:endParaRPr/>
          </a:p>
          <a:p>
            <a:pPr/>
            <a:r>
              <a:rPr lang="zh-CN"/>
              <a:t>嵌入式领域也有</a:t>
            </a:r>
            <a:r>
              <a:rPr lang="en-US"/>
              <a:t>PowerPC</a:t>
            </a:r>
            <a:r>
              <a:rPr lang="zh-CN"/>
              <a:t>的应用</a:t>
            </a:r>
            <a:r>
              <a:rPr lang="en-US"/>
              <a:t> (</a:t>
            </a:r>
            <a:r>
              <a:rPr lang="zh-CN"/>
              <a:t>航天器、飞机等</a:t>
            </a:r>
            <a:r>
              <a:rPr lang="en-US"/>
              <a:t>)</a:t>
            </a:r>
            <a:endParaRPr/>
          </a:p>
        </p:txBody>
      </p:sp>
      <p:pic>
        <p:nvPicPr>
          <p:cNvPr id="197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 rot="0" flipH="false" flipV="false">
            <a:off x="6650082" y="290014"/>
            <a:ext cx="1323702" cy="1248772"/>
          </a:xfrm>
          <a:prstGeom prst="rect"/>
        </p:spPr>
      </p:pic>
    </p:spTree>
  </p:cSld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Rectangle 2"/>
          <p:cNvSpPr txBox="true">
            <a:spLocks noChangeArrowheads="true"/>
          </p:cNvSpPr>
          <p:nvPr/>
        </p:nvSpPr>
        <p:spPr bwMode="auto">
          <a:xfrm rot="0" flipH="false" flipV="false">
            <a:off x="2697775" y="104503"/>
            <a:ext cx="6027919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vert="horz" wrap="square" lIns="91440" tIns="45720" rIns="91440" bIns="45720" numCol="1" anchor="t" anchorCtr="false" compatLnSpc="true"/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•"/>
              <a:defRPr kumimoji="true" sz="2800">
                <a:solidFill>
                  <a:schemeClr val="tx1"/>
                </a:solidFill>
                <a:latin typeface="+mn-lt"/>
                <a:ea typeface="宋体" charset="0"/>
                <a:cs typeface="宋体" charset="0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–"/>
              <a:defRPr kumimoji="true" sz="2400">
                <a:solidFill>
                  <a:schemeClr val="tx1"/>
                </a:solidFill>
                <a:latin typeface="+mn-lt"/>
                <a:ea typeface="宋体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•"/>
              <a:defRPr kumimoji="true" sz="2000">
                <a:solidFill>
                  <a:schemeClr val="tx1"/>
                </a:solidFill>
                <a:latin typeface="+mn-lt"/>
                <a:ea typeface="宋体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–"/>
              <a:defRPr kumimoji="true" sz="2000">
                <a:solidFill>
                  <a:schemeClr val="tx1"/>
                </a:solidFill>
                <a:latin typeface="+mn-lt"/>
                <a:ea typeface="宋体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+mn-lt"/>
                <a:ea typeface="宋体" charset="0"/>
              </a:defRPr>
            </a:lvl5pPr>
            <a:lvl6pPr marL="25146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kumimoji="false" lang="en-US" altLang="zh-CN" sz="2400" b="false" kern="0" dirty="false">
                <a:ea typeface="宋体" charset="-122"/>
              </a:rPr>
              <a:t>Page:64B</a:t>
            </a:r>
            <a:endParaRPr/>
          </a:p>
          <a:p>
            <a:pPr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kumimoji="false" lang="en-US" altLang="zh-CN" sz="2400" b="false" kern="0" dirty="false">
                <a:ea typeface="宋体" charset="-122"/>
              </a:rPr>
              <a:t>VA:14-bit</a:t>
            </a:r>
            <a:endParaRPr/>
          </a:p>
          <a:p>
            <a:pPr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kumimoji="false" lang="en-US" altLang="zh-CN" sz="2400" b="false" kern="0" dirty="false">
                <a:ea typeface="宋体" charset="-122"/>
              </a:rPr>
              <a:t>PA:12-bit</a:t>
            </a:r>
            <a:endParaRPr/>
          </a:p>
          <a:p>
            <a:pPr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kumimoji="false" lang="en-US" altLang="zh-CN" sz="2400" b="false" kern="0" dirty="false">
                <a:ea typeface="宋体" charset="-122"/>
              </a:rPr>
              <a:t>TLB:</a:t>
            </a:r>
            <a:r>
              <a:rPr kumimoji="false" lang="zh-CN" altLang="en-US" sz="2400" b="false" kern="0" dirty="false">
                <a:ea typeface="宋体" charset="-122"/>
              </a:rPr>
              <a:t>四路组相连，</a:t>
            </a:r>
            <a:r>
              <a:rPr kumimoji="false" lang="en-US" altLang="zh-CN" sz="2400" b="false" kern="0" dirty="false">
                <a:ea typeface="宋体" charset="-122"/>
              </a:rPr>
              <a:t>16</a:t>
            </a:r>
            <a:r>
              <a:rPr kumimoji="false" lang="zh-CN" altLang="en-US" sz="2400" b="false" kern="0" dirty="false">
                <a:ea typeface="宋体" charset="-122"/>
              </a:rPr>
              <a:t> </a:t>
            </a:r>
            <a:r>
              <a:rPr kumimoji="false" lang="en-US" altLang="zh-CN" sz="2400" b="false" kern="0" dirty="false">
                <a:ea typeface="宋体" charset="-122"/>
              </a:rPr>
              <a:t>items</a:t>
            </a:r>
            <a:endParaRPr/>
          </a:p>
          <a:p>
            <a:pPr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kumimoji="false" lang="en-US" altLang="zh-CN" sz="2400" b="false" kern="0" dirty="false">
                <a:ea typeface="宋体" charset="-122"/>
              </a:rPr>
              <a:t>Cache:</a:t>
            </a:r>
            <a:r>
              <a:rPr kumimoji="false" lang="zh-CN" altLang="en-US" sz="2400" b="false" kern="0" dirty="false">
                <a:ea typeface="宋体" charset="-122"/>
              </a:rPr>
              <a:t>直接映射，</a:t>
            </a:r>
            <a:r>
              <a:rPr kumimoji="false" lang="en-US" altLang="zh-CN" sz="2400" b="false" kern="0" dirty="false">
                <a:ea typeface="宋体" charset="-122"/>
              </a:rPr>
              <a:t>16</a:t>
            </a:r>
            <a:r>
              <a:rPr kumimoji="false" lang="zh-CN" altLang="en-US" sz="2400" b="false" kern="0" dirty="false">
                <a:ea typeface="宋体" charset="-122"/>
              </a:rPr>
              <a:t>个组，</a:t>
            </a:r>
            <a:r>
              <a:rPr kumimoji="false" lang="en-US" altLang="zh-CN" sz="2400" b="false" kern="0" dirty="false" err="true">
                <a:ea typeface="宋体" charset="-122"/>
              </a:rPr>
              <a:t>cacheline</a:t>
            </a:r>
            <a:r>
              <a:rPr kumimoji="false" lang="zh-CN" altLang="en-US" sz="2400" b="false" kern="0" dirty="false">
                <a:ea typeface="宋体" charset="-122"/>
              </a:rPr>
              <a:t> </a:t>
            </a:r>
            <a:r>
              <a:rPr kumimoji="false" lang="en-US" altLang="zh-CN" sz="2400" b="false" kern="0" dirty="false">
                <a:ea typeface="宋体" charset="-122"/>
              </a:rPr>
              <a:t>4B</a:t>
            </a:r>
            <a:endParaRPr/>
          </a:p>
          <a:p>
            <a:pPr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endParaRPr kumimoji="false" lang="en-GB" altLang="zh-CN" sz="2000" b="false" kern="0" dirty="false">
              <a:ea typeface="宋体" charset="-122"/>
            </a:endParaRPr>
          </a:p>
        </p:txBody>
      </p:sp>
      <p:pic>
        <p:nvPicPr>
          <p:cNvPr id="200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 rot="0" flipH="false" flipV="false">
            <a:off x="264819" y="2752707"/>
            <a:ext cx="4427946" cy="3461655"/>
          </a:xfrm>
          <a:prstGeom prst="rect"/>
        </p:spPr>
      </p:pic>
      <p:pic>
        <p:nvPicPr>
          <p:cNvPr id="201" name="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4692765" y="2752707"/>
            <a:ext cx="4279972" cy="3833499"/>
          </a:xfrm>
          <a:prstGeom prst="rect"/>
        </p:spPr>
      </p:pic>
      <p:sp>
        <p:nvSpPr>
          <p:cNvPr id="202" name="标题 1"/>
          <p:cNvSpPr txBox="true">
            <a:spLocks noGrp="true"/>
          </p:cNvSpPr>
          <p:nvPr/>
        </p:nvSpPr>
        <p:spPr>
          <a:xfrm>
            <a:off x="457200" y="457200"/>
            <a:ext cx="8077200" cy="914400"/>
          </a:xfrm>
          <a:prstGeom prst="rect">
            <a:avLst/>
          </a:prstGeom>
          <a:noFill/>
          <a:ln>
            <a:noFill/>
            <a:extLst/>
          </a:ln>
        </p:spPr>
        <p:txBody>
          <a:bodyPr vert="horz" wrap="square" lIns="91440" tIns="45720" rIns="91440" bIns="45720" anchor="ctr" anchorCtr="false"/>
          <a:lstStyle>
            <a:lvl1pPr algn="l" rtl="false" eaLnBrk="false" fontAlgn="base" hangingPunct="false">
              <a:spcBef>
                <a:spcPct val="1"/>
              </a:spcBef>
              <a:spcAft>
                <a:spcPct val="1"/>
              </a:spcAft>
              <a:defRPr sz="2800" b="true">
                <a:solidFill>
                  <a:srgbClr val="000000"/>
                </a:solidFill>
                <a:latin typeface="Comic Sans MS"/>
                <a:ea typeface="宋体" charset="0"/>
                <a:cs typeface="宋体" charset="0"/>
              </a:defRPr>
            </a:lvl1pPr>
            <a:lvl2pPr algn="l" rtl="false" eaLnBrk="false" fontAlgn="base" hangingPunct="false">
              <a:spcBef>
                <a:spcPct val="1"/>
              </a:spcBef>
              <a:spcAft>
                <a:spcPct val="1"/>
              </a:spcAft>
              <a:defRPr sz="2800" b="true">
                <a:solidFill>
                  <a:srgbClr val="000000"/>
                </a:solidFill>
                <a:latin typeface="Comic Sans MS" panose="030F0902030302020204" charset="0"/>
                <a:ea typeface="宋体" charset="0"/>
                <a:cs typeface="宋体" charset="0"/>
              </a:defRPr>
            </a:lvl2pPr>
            <a:lvl3pPr algn="l" rtl="false" eaLnBrk="false" fontAlgn="base" hangingPunct="false">
              <a:spcBef>
                <a:spcPct val="1"/>
              </a:spcBef>
              <a:spcAft>
                <a:spcPct val="1"/>
              </a:spcAft>
              <a:defRPr sz="2800" b="true">
                <a:solidFill>
                  <a:srgbClr val="000000"/>
                </a:solidFill>
                <a:latin typeface="Comic Sans MS" panose="030F0902030302020204" charset="0"/>
                <a:ea typeface="宋体" charset="0"/>
                <a:cs typeface="宋体" charset="0"/>
              </a:defRPr>
            </a:lvl3pPr>
            <a:lvl4pPr algn="l" rtl="false" eaLnBrk="false" fontAlgn="base" hangingPunct="false">
              <a:spcBef>
                <a:spcPct val="1"/>
              </a:spcBef>
              <a:spcAft>
                <a:spcPct val="1"/>
              </a:spcAft>
              <a:defRPr sz="2800" b="true">
                <a:solidFill>
                  <a:srgbClr val="000000"/>
                </a:solidFill>
                <a:latin typeface="Comic Sans MS" panose="030F0902030302020204" charset="0"/>
                <a:ea typeface="宋体" charset="0"/>
                <a:cs typeface="宋体" charset="0"/>
              </a:defRPr>
            </a:lvl4pPr>
            <a:lvl5pPr algn="l" rtl="false" eaLnBrk="false" fontAlgn="base" hangingPunct="false">
              <a:spcBef>
                <a:spcPct val="1"/>
              </a:spcBef>
              <a:spcAft>
                <a:spcPct val="1"/>
              </a:spcAft>
              <a:defRPr sz="2800" b="true">
                <a:solidFill>
                  <a:srgbClr val="000000"/>
                </a:solidFill>
                <a:latin typeface="Comic Sans MS" panose="030F0902030302020204" charset="0"/>
                <a:ea typeface="宋体" charset="0"/>
                <a:cs typeface="宋体" charset="0"/>
              </a:defRPr>
            </a:lvl5pPr>
            <a:lvl6pPr marL="457200" algn="l" rtl="false" eaLnBrk="false" fontAlgn="base" hangingPunct="false">
              <a:spcBef>
                <a:spcPct val="1"/>
              </a:spcBef>
              <a:spcAft>
                <a:spcPct val="1"/>
              </a:spcAft>
              <a:defRPr sz="2800" b="true">
                <a:solidFill>
                  <a:srgbClr val="000000"/>
                </a:solidFill>
                <a:latin typeface="Comic Sans MS" panose="030F0902030302020204" charset="0"/>
              </a:defRPr>
            </a:lvl6pPr>
            <a:lvl7pPr marL="914400" algn="l" rtl="false" eaLnBrk="false" fontAlgn="base" hangingPunct="false">
              <a:spcBef>
                <a:spcPct val="1"/>
              </a:spcBef>
              <a:spcAft>
                <a:spcPct val="1"/>
              </a:spcAft>
              <a:defRPr sz="2800" b="true">
                <a:solidFill>
                  <a:srgbClr val="000000"/>
                </a:solidFill>
                <a:latin typeface="Comic Sans MS" panose="030F0902030302020204" charset="0"/>
              </a:defRPr>
            </a:lvl7pPr>
            <a:lvl8pPr marL="1371600" algn="l" rtl="false" eaLnBrk="false" fontAlgn="base" hangingPunct="false">
              <a:spcBef>
                <a:spcPct val="1"/>
              </a:spcBef>
              <a:spcAft>
                <a:spcPct val="1"/>
              </a:spcAft>
              <a:defRPr sz="2800" b="true">
                <a:solidFill>
                  <a:srgbClr val="000000"/>
                </a:solidFill>
                <a:latin typeface="Comic Sans MS" panose="030F0902030302020204" charset="0"/>
              </a:defRPr>
            </a:lvl8pPr>
            <a:lvl9pPr marL="1828800" algn="l" rtl="false" eaLnBrk="false" fontAlgn="base" hangingPunct="false">
              <a:spcBef>
                <a:spcPct val="1"/>
              </a:spcBef>
              <a:spcAft>
                <a:spcPct val="1"/>
              </a:spcAft>
              <a:defRPr sz="2800" b="true">
                <a:solidFill>
                  <a:srgbClr val="000000"/>
                </a:solidFill>
                <a:latin typeface="Comic Sans MS" panose="030F0902030302020204" charset="0"/>
              </a:defRPr>
            </a:lvl9pPr>
          </a:lstStyle>
          <a:p>
            <a:pPr algn="l" rtl="false" eaLnBrk="false" fontAlgn="base" hangingPunct="false">
              <a:spcBef>
                <a:spcPct val="1"/>
              </a:spcBef>
              <a:spcAft>
                <a:spcPct val="1"/>
              </a:spcAft>
              <a:defRPr sz="2800" b="true">
                <a:solidFill>
                  <a:srgbClr val="000000"/>
                </a:solidFill>
                <a:latin typeface="Comic Sans MS"/>
                <a:ea typeface="宋体" charset="0"/>
                <a:cs typeface="宋体" charset="0"/>
              </a:defRPr>
            </a:pPr>
            <a:r>
              <a:rPr kumimoji="true" lang="zh-CN" altLang="en-US" sz="2800" b="true" dirty="false">
                <a:solidFill>
                  <a:srgbClr val="000000"/>
                </a:solidFill>
                <a:latin typeface="Comic Sans MS"/>
                <a:ea typeface="宋体" charset="0"/>
                <a:cs typeface="宋体" charset="0"/>
              </a:rPr>
              <a:t>课堂练习</a:t>
            </a:r>
            <a:endParaRPr sz="2800" b="true">
              <a:solidFill>
                <a:srgbClr val="000000"/>
              </a:solidFill>
              <a:latin typeface="Comic Sans MS"/>
              <a:ea typeface="宋体" charset="0"/>
              <a:cs typeface="宋体" charset="0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kumimoji="true" lang="zh-CN" altLang="en-US" dirty="false"/>
              <a:t>课堂练习</a:t>
            </a:r>
            <a:endParaRPr/>
          </a:p>
        </p:txBody>
      </p:sp>
      <p:sp>
        <p:nvSpPr>
          <p:cNvPr id="205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EF0B01C9-CC9E-4042-87A9-F49D20F0019F}" type="slidenum">
              <a:rPr lang="zh-CN" altLang="en-US" smtClean="false"/>
              <a:t>128</a:t>
            </a:fld>
            <a:endParaRPr lang="en-US" altLang="zh-CN"/>
          </a:p>
        </p:txBody>
      </p:sp>
      <p:sp>
        <p:nvSpPr>
          <p:cNvPr id="206" name="Rectangle 2"/>
          <p:cNvSpPr txBox="true">
            <a:spLocks noChangeArrowheads="true"/>
          </p:cNvSpPr>
          <p:nvPr/>
        </p:nvSpPr>
        <p:spPr bwMode="auto">
          <a:xfrm>
            <a:off x="227012" y="1524000"/>
            <a:ext cx="8307388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vert="horz" wrap="square" lIns="91440" tIns="45720" rIns="91440" bIns="45720" numCol="1" anchor="t" anchorCtr="false" compatLnSpc="true"/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•"/>
              <a:defRPr kumimoji="true" sz="2800">
                <a:solidFill>
                  <a:schemeClr val="tx1"/>
                </a:solidFill>
                <a:latin typeface="+mn-lt"/>
                <a:ea typeface="宋体" charset="0"/>
                <a:cs typeface="宋体" charset="0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–"/>
              <a:defRPr kumimoji="true" sz="2400">
                <a:solidFill>
                  <a:schemeClr val="tx1"/>
                </a:solidFill>
                <a:latin typeface="+mn-lt"/>
                <a:ea typeface="宋体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•"/>
              <a:defRPr kumimoji="true" sz="2000">
                <a:solidFill>
                  <a:schemeClr val="tx1"/>
                </a:solidFill>
                <a:latin typeface="+mn-lt"/>
                <a:ea typeface="宋体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–"/>
              <a:defRPr kumimoji="true" sz="2000">
                <a:solidFill>
                  <a:schemeClr val="tx1"/>
                </a:solidFill>
                <a:latin typeface="+mn-lt"/>
                <a:ea typeface="宋体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+mn-lt"/>
                <a:ea typeface="宋体" charset="0"/>
              </a:defRPr>
            </a:lvl5pPr>
            <a:lvl6pPr marL="25146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kumimoji="false" lang="en-US" altLang="zh-CN" sz="2400" b="false" kern="0" dirty="false">
                <a:ea typeface="宋体" charset="-122"/>
              </a:rPr>
              <a:t>Page:64B</a:t>
            </a:r>
            <a:endParaRPr/>
          </a:p>
          <a:p>
            <a:pPr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kumimoji="false" lang="en-US" altLang="zh-CN" sz="2400" b="false" kern="0" dirty="false">
                <a:ea typeface="宋体" charset="-122"/>
              </a:rPr>
              <a:t>VA:14-bit</a:t>
            </a:r>
            <a:endParaRPr/>
          </a:p>
          <a:p>
            <a:pPr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kumimoji="false" lang="en-US" altLang="zh-CN" sz="2400" b="false" kern="0" dirty="false">
                <a:ea typeface="宋体" charset="-122"/>
              </a:rPr>
              <a:t>PA:12-bit</a:t>
            </a:r>
            <a:endParaRPr/>
          </a:p>
          <a:p>
            <a:pPr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kumimoji="false" lang="en-US" altLang="zh-CN" sz="2400" b="false" kern="0" dirty="false">
                <a:ea typeface="宋体" charset="-122"/>
              </a:rPr>
              <a:t>TLB:</a:t>
            </a:r>
            <a:r>
              <a:rPr kumimoji="false" lang="zh-CN" altLang="en-US" sz="2400" b="false" kern="0" dirty="false">
                <a:ea typeface="宋体" charset="-122"/>
              </a:rPr>
              <a:t>四路组</a:t>
            </a:r>
            <a:endParaRPr kumimoji="false" lang="en-US" altLang="zh-CN" sz="2400" b="false" kern="0" dirty="false">
              <a:ea typeface="宋体" charset="-122"/>
            </a:endParaRPr>
          </a:p>
          <a:p>
            <a:pPr marL="0" indent="0">
              <a:buNone/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kumimoji="false" lang="zh-CN" altLang="en-US" sz="2400" b="false" kern="0" dirty="false">
                <a:ea typeface="宋体" charset="-122"/>
              </a:rPr>
              <a:t>相连，</a:t>
            </a:r>
            <a:r>
              <a:rPr kumimoji="false" lang="en-US" altLang="zh-CN" sz="2400" b="false" kern="0" dirty="false">
                <a:ea typeface="宋体" charset="-122"/>
              </a:rPr>
              <a:t>16</a:t>
            </a:r>
            <a:r>
              <a:rPr kumimoji="false" lang="zh-CN" altLang="en-US" sz="2400" b="false" kern="0" dirty="false">
                <a:ea typeface="宋体" charset="-122"/>
              </a:rPr>
              <a:t> </a:t>
            </a:r>
            <a:r>
              <a:rPr kumimoji="false" lang="en-US" altLang="zh-CN" sz="2400" b="false" kern="0" dirty="false">
                <a:ea typeface="宋体" charset="-122"/>
              </a:rPr>
              <a:t>items</a:t>
            </a:r>
            <a:endParaRPr/>
          </a:p>
          <a:p>
            <a:pPr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kumimoji="false" lang="en-US" altLang="zh-CN" sz="2400" b="false" kern="0" dirty="false">
                <a:ea typeface="宋体" charset="-122"/>
              </a:rPr>
              <a:t>Cache:</a:t>
            </a:r>
            <a:r>
              <a:rPr kumimoji="false" lang="zh-CN" altLang="en-US" sz="2400" b="false" kern="0" dirty="false">
                <a:ea typeface="宋体" charset="-122"/>
              </a:rPr>
              <a:t>直接映射，</a:t>
            </a:r>
            <a:endParaRPr kumimoji="false" lang="en-US" altLang="zh-CN" sz="2400" b="false" kern="0" dirty="false">
              <a:ea typeface="宋体" charset="-122"/>
            </a:endParaRPr>
          </a:p>
          <a:p>
            <a:pPr marL="0" indent="0">
              <a:buNone/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kumimoji="false" lang="en-US" altLang="zh-CN" sz="2400" b="false" kern="0" dirty="false">
                <a:ea typeface="宋体" charset="-122"/>
              </a:rPr>
              <a:t>16</a:t>
            </a:r>
            <a:r>
              <a:rPr kumimoji="false" lang="zh-CN" altLang="en-US" sz="2400" b="false" kern="0" dirty="false">
                <a:ea typeface="宋体" charset="-122"/>
              </a:rPr>
              <a:t>个组，</a:t>
            </a:r>
            <a:r>
              <a:rPr kumimoji="false" lang="en-US" altLang="zh-CN" sz="2400" b="false" kern="0" dirty="false" err="true">
                <a:ea typeface="宋体" charset="-122"/>
              </a:rPr>
              <a:t>cacheline</a:t>
            </a:r>
            <a:endParaRPr kumimoji="false" lang="en-US" altLang="zh-CN" sz="2400" b="false" kern="0" dirty="false">
              <a:ea typeface="宋体" charset="-122"/>
            </a:endParaRPr>
          </a:p>
          <a:p>
            <a:pPr marL="0" indent="0">
              <a:buNone/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kumimoji="false" lang="en-US" altLang="zh-CN" sz="2400" b="false" kern="0" dirty="false">
                <a:ea typeface="宋体" charset="-122"/>
              </a:rPr>
              <a:t>4B</a:t>
            </a:r>
            <a:endParaRPr/>
          </a:p>
          <a:p>
            <a:pPr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endParaRPr kumimoji="false" lang="en-GB" altLang="zh-CN" sz="2000" b="false" kern="0" dirty="false">
              <a:ea typeface="宋体" charset="-122"/>
            </a:endParaRPr>
          </a:p>
        </p:txBody>
      </p:sp>
      <p:pic>
        <p:nvPicPr>
          <p:cNvPr id="207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 rot="0" flipH="false" flipV="false">
            <a:off x="3492470" y="457200"/>
            <a:ext cx="4874290" cy="4377047"/>
          </a:xfrm>
          <a:prstGeom prst="rect"/>
        </p:spPr>
      </p:pic>
      <p:pic>
        <p:nvPicPr>
          <p:cNvPr id="208" name="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3368373" y="4297582"/>
            <a:ext cx="4874290" cy="1894377"/>
          </a:xfrm>
          <a:prstGeom prst="rect"/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kumimoji="true" lang="zh-CN" altLang="en-US" dirty="false"/>
              <a:t>练习答案</a:t>
            </a:r>
            <a:endParaRPr/>
          </a:p>
        </p:txBody>
      </p:sp>
      <p:sp>
        <p:nvSpPr>
          <p:cNvPr id="211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EF0B01C9-CC9E-4042-87A9-F49D20F0019F}" type="slidenum">
              <a:rPr lang="zh-CN" altLang="en-US" smtClean="false"/>
              <a:t>130</a:t>
            </a:fld>
            <a:endParaRPr lang="en-US" altLang="zh-CN"/>
          </a:p>
        </p:txBody>
      </p:sp>
      <p:pic>
        <p:nvPicPr>
          <p:cNvPr id="212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 rot="0" flipH="false" flipV="false">
            <a:off x="2537943" y="1572962"/>
            <a:ext cx="3580229" cy="5056438"/>
          </a:xfrm>
          <a:prstGeom prst="rect"/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>
  <p:cSld>
    <p:spTree>
      <p:nvGrpSpPr>
        <p:cNvPr id="2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kumimoji="true" lang="en-US" altLang="zh-CN" dirty="false"/>
              <a:t>Homework 5</a:t>
            </a:r>
            <a:endParaRPr kumimoji="true" lang="zh-CN" altLang="en-US" dirty="false"/>
          </a:p>
        </p:txBody>
      </p:sp>
      <p:sp>
        <p:nvSpPr>
          <p:cNvPr id="215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>
              <a:buChar char="•"/>
            </a:pPr>
            <a:r>
              <a:rPr lang="en-US"/>
              <a:t>4</a:t>
            </a:r>
            <a:r>
              <a:rPr lang="zh-CN"/>
              <a:t>月</a:t>
            </a:r>
            <a:r>
              <a:rPr lang="en-US"/>
              <a:t>17</a:t>
            </a:r>
            <a:r>
              <a:rPr lang="zh-CN"/>
              <a:t>日</a:t>
            </a:r>
            <a:r>
              <a:rPr lang="zh-CN"/>
              <a:t>提交</a:t>
            </a:r>
            <a:endParaRPr/>
          </a:p>
        </p:txBody>
      </p:sp>
      <p:sp>
        <p:nvSpPr>
          <p:cNvPr id="216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EF0B01C9-CC9E-4042-87A9-F49D20F0019F}" type="slidenum">
              <a:rPr lang="zh-CN" altLang="en-US" smtClean="false"/>
              <a:t>131</a:t>
            </a:fld>
            <a:endParaRPr lang="en-US" alt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cfp99">
  <a:themeElements>
    <a:clrScheme name="icfp99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B2B2B2"/>
      </a:folHlink>
    </a:clrScheme>
    <a:fontScheme name="icfp99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2026-04-13T18:14:57Z</dcterms:created>
  <dcterms:modified xsi:type="dcterms:W3CDTF">2026-04-13T18:14:57Z</dcterms:modified>
</cp:coreProperties>
</file>