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28" r:id="rId1"/>
    <p:sldMasterId id="2147483943" r:id="rId2"/>
    <p:sldMasterId id="2147483955" r:id="rId3"/>
  </p:sldMasterIdLst>
  <p:notesMasterIdLst>
    <p:notesMasterId r:id="rId86"/>
  </p:notesMasterIdLst>
  <p:handoutMasterIdLst>
    <p:handoutMasterId r:id="rId87"/>
  </p:handoutMasterIdLst>
  <p:sldIdLst>
    <p:sldId id="651" r:id="rId4"/>
    <p:sldId id="573" r:id="rId5"/>
    <p:sldId id="447" r:id="rId6"/>
    <p:sldId id="1190" r:id="rId7"/>
    <p:sldId id="1191" r:id="rId8"/>
    <p:sldId id="1192" r:id="rId9"/>
    <p:sldId id="448" r:id="rId10"/>
    <p:sldId id="449" r:id="rId11"/>
    <p:sldId id="450" r:id="rId12"/>
    <p:sldId id="451" r:id="rId13"/>
    <p:sldId id="452" r:id="rId14"/>
    <p:sldId id="453" r:id="rId15"/>
    <p:sldId id="265" r:id="rId16"/>
    <p:sldId id="266" r:id="rId17"/>
    <p:sldId id="268" r:id="rId18"/>
    <p:sldId id="454" r:id="rId19"/>
    <p:sldId id="455" r:id="rId20"/>
    <p:sldId id="270" r:id="rId21"/>
    <p:sldId id="1209" r:id="rId22"/>
    <p:sldId id="456" r:id="rId23"/>
    <p:sldId id="457" r:id="rId24"/>
    <p:sldId id="458" r:id="rId25"/>
    <p:sldId id="459" r:id="rId26"/>
    <p:sldId id="460" r:id="rId27"/>
    <p:sldId id="461" r:id="rId28"/>
    <p:sldId id="462" r:id="rId29"/>
    <p:sldId id="463" r:id="rId30"/>
    <p:sldId id="407" r:id="rId31"/>
    <p:sldId id="408" r:id="rId32"/>
    <p:sldId id="409" r:id="rId33"/>
    <p:sldId id="410" r:id="rId34"/>
    <p:sldId id="411" r:id="rId35"/>
    <p:sldId id="412" r:id="rId36"/>
    <p:sldId id="464" r:id="rId37"/>
    <p:sldId id="465" r:id="rId38"/>
    <p:sldId id="415" r:id="rId39"/>
    <p:sldId id="416" r:id="rId40"/>
    <p:sldId id="417" r:id="rId41"/>
    <p:sldId id="418" r:id="rId42"/>
    <p:sldId id="419" r:id="rId43"/>
    <p:sldId id="420" r:id="rId44"/>
    <p:sldId id="421" r:id="rId45"/>
    <p:sldId id="422" r:id="rId46"/>
    <p:sldId id="423" r:id="rId47"/>
    <p:sldId id="424" r:id="rId48"/>
    <p:sldId id="425" r:id="rId49"/>
    <p:sldId id="426" r:id="rId50"/>
    <p:sldId id="1210" r:id="rId51"/>
    <p:sldId id="466" r:id="rId52"/>
    <p:sldId id="467" r:id="rId53"/>
    <p:sldId id="468" r:id="rId54"/>
    <p:sldId id="1187" r:id="rId55"/>
    <p:sldId id="469" r:id="rId56"/>
    <p:sldId id="470" r:id="rId57"/>
    <p:sldId id="471" r:id="rId58"/>
    <p:sldId id="472" r:id="rId59"/>
    <p:sldId id="487" r:id="rId60"/>
    <p:sldId id="488" r:id="rId61"/>
    <p:sldId id="489" r:id="rId62"/>
    <p:sldId id="433" r:id="rId63"/>
    <p:sldId id="434" r:id="rId64"/>
    <p:sldId id="1212" r:id="rId65"/>
    <p:sldId id="435" r:id="rId66"/>
    <p:sldId id="436" r:id="rId67"/>
    <p:sldId id="437" r:id="rId68"/>
    <p:sldId id="1181" r:id="rId69"/>
    <p:sldId id="473" r:id="rId70"/>
    <p:sldId id="474" r:id="rId71"/>
    <p:sldId id="475" r:id="rId72"/>
    <p:sldId id="476" r:id="rId73"/>
    <p:sldId id="1213" r:id="rId74"/>
    <p:sldId id="443" r:id="rId75"/>
    <p:sldId id="444" r:id="rId76"/>
    <p:sldId id="1182" r:id="rId77"/>
    <p:sldId id="445" r:id="rId78"/>
    <p:sldId id="446" r:id="rId79"/>
    <p:sldId id="479" r:id="rId80"/>
    <p:sldId id="480" r:id="rId81"/>
    <p:sldId id="323" r:id="rId82"/>
    <p:sldId id="486" r:id="rId83"/>
    <p:sldId id="482" r:id="rId84"/>
    <p:sldId id="484" r:id="rId8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8010" autoAdjust="0"/>
    <p:restoredTop sz="94959" autoAdjust="0"/>
  </p:normalViewPr>
  <p:slideViewPr>
    <p:cSldViewPr snapToGrid="0" snapToObjects="1">
      <p:cViewPr varScale="1">
        <p:scale>
          <a:sx n="153" d="100"/>
          <a:sy n="153" d="100"/>
        </p:scale>
        <p:origin x="44" y="212"/>
      </p:cViewPr>
      <p:guideLst>
        <p:guide orient="horz" pos="2183"/>
        <p:guide pos="3871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21" d="100"/>
          <a:sy n="121" d="100"/>
        </p:scale>
        <p:origin x="1172" y="8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viewProps" Target="viewProps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5" Type="http://schemas.openxmlformats.org/officeDocument/2006/relationships/slide" Target="slides/slide2.xml"/><Relationship Id="rId90" Type="http://schemas.openxmlformats.org/officeDocument/2006/relationships/theme" Target="theme/theme1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slide" Target="slides/slide74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handoutMaster" Target="handoutMasters/handoutMaster1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ICHUNYU" userId="d160832c-270e-446e-b5aa-0e1e4304b60f" providerId="ADAL" clId="{6DC227AA-0CB3-4BBA-A598-75DF6C161927}"/>
    <pc:docChg chg="modSld">
      <pc:chgData name="WEICHUNYU" userId="d160832c-270e-446e-b5aa-0e1e4304b60f" providerId="ADAL" clId="{6DC227AA-0CB3-4BBA-A598-75DF6C161927}" dt="2026-06-10T12:05:29.438" v="10" actId="20577"/>
      <pc:docMkLst>
        <pc:docMk/>
      </pc:docMkLst>
      <pc:sldChg chg="modSp mod">
        <pc:chgData name="WEICHUNYU" userId="d160832c-270e-446e-b5aa-0e1e4304b60f" providerId="ADAL" clId="{6DC227AA-0CB3-4BBA-A598-75DF6C161927}" dt="2026-06-10T12:05:29.438" v="10" actId="20577"/>
        <pc:sldMkLst>
          <pc:docMk/>
          <pc:sldMk cId="0" sldId="651"/>
        </pc:sldMkLst>
        <pc:spChg chg="mod">
          <ac:chgData name="WEICHUNYU" userId="d160832c-270e-446e-b5aa-0e1e4304b60f" providerId="ADAL" clId="{6DC227AA-0CB3-4BBA-A598-75DF6C161927}" dt="2026-06-10T12:05:29.438" v="10" actId="20577"/>
          <ac:spMkLst>
            <pc:docMk/>
            <pc:sldMk cId="0" sldId="651"/>
            <ac:spMk id="3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4A8BA1-138F-41BB-8D23-6161887B45D0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6DC25E7-C148-43BC-B198-DCC308B7D8E4}">
      <dgm:prSet custT="1"/>
      <dgm:spPr>
        <a:xfrm>
          <a:off x="259216" y="83198"/>
          <a:ext cx="3629025" cy="560880"/>
        </a:xfrm>
        <a:prstGeom prst="roundRect">
          <a:avLst/>
        </a:prstGeom>
        <a:solidFill>
          <a:srgbClr val="5B9BD5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zh-CN" altLang="en-US" sz="2000" b="1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流网络</a:t>
          </a:r>
          <a:endParaRPr lang="en-US" sz="2000" b="1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gm:t>
    </dgm:pt>
    <dgm:pt modelId="{E9F6A87D-EAE1-496E-90C5-94D76A26E1A0}" type="parTrans" cxnId="{40836DE9-9379-4E03-9A2B-0A4E759DFA3E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C5F6E1ED-AC92-44F7-A3A8-1B6ED87DF57E}" type="sibTrans" cxnId="{40836DE9-9379-4E03-9A2B-0A4E759DFA3E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779370D5-CEC0-4B9B-91B9-2D4658D7E886}">
      <dgm:prSet custT="1"/>
      <dgm:spPr>
        <a:xfrm>
          <a:off x="0" y="363638"/>
          <a:ext cx="5184322" cy="867825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Char char="•"/>
          </a:pPr>
          <a:r>
            <a:rPr lang="zh-CN" altLang="en-US" sz="1600" b="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基本概念：流，最大流，割</a:t>
          </a:r>
          <a:endParaRPr lang="en-US" sz="1600" b="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gm:t>
    </dgm:pt>
    <dgm:pt modelId="{A01EC990-F312-4728-AA66-0558D43BFAF2}" type="parTrans" cxnId="{485BD864-89FC-4CD4-A8EC-05D5D8570355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490431A6-7BA8-44F1-A61D-240159C30858}" type="sibTrans" cxnId="{485BD864-89FC-4CD4-A8EC-05D5D8570355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4618C007-D795-4730-B470-B46B08688DA2}">
      <dgm:prSet custT="1"/>
      <dgm:spPr>
        <a:xfrm>
          <a:off x="259216" y="1334063"/>
          <a:ext cx="3629025" cy="560880"/>
        </a:xfrm>
        <a:prstGeom prst="roundRect">
          <a:avLst/>
        </a:prstGeom>
        <a:solidFill>
          <a:srgbClr val="5B9BD5">
            <a:hueOff val="-1689636"/>
            <a:satOff val="-4355"/>
            <a:lumOff val="-2941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2000" b="1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Ford-Fulkerson</a:t>
          </a:r>
          <a:r>
            <a:rPr lang="zh-CN" altLang="en-US" sz="2000" b="1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算法</a:t>
          </a:r>
          <a:endParaRPr lang="en-US" sz="2000" b="1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gm:t>
    </dgm:pt>
    <dgm:pt modelId="{0D7807B7-0D92-4BF2-952A-94F260CC0D96}" type="parTrans" cxnId="{483F47BC-754E-4BD5-981C-6144846B2FD2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FD210294-9C04-4B11-AB13-0F007CA01D51}" type="sibTrans" cxnId="{483F47BC-754E-4BD5-981C-6144846B2FD2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00D6FFBE-0D6B-46B6-9121-95BCDFD884C7}">
      <dgm:prSet custT="1"/>
      <dgm:spPr>
        <a:xfrm>
          <a:off x="0" y="1614503"/>
          <a:ext cx="5184322" cy="1586025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1689636"/>
              <a:satOff val="-4355"/>
              <a:lumOff val="-2941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Char char="•"/>
          </a:pPr>
          <a:r>
            <a:rPr lang="zh-CN" altLang="en-US" sz="1600" b="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剩余网络</a:t>
          </a:r>
          <a:endParaRPr lang="en-US" sz="1600" b="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gm:t>
    </dgm:pt>
    <dgm:pt modelId="{6E21393E-247A-47D8-A24D-279BA3074894}" type="parTrans" cxnId="{8395FAC6-FE70-460C-9219-9C4ED083B76E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F0779FF3-DFBD-42BE-AE9F-0ED34875AFA6}" type="sibTrans" cxnId="{8395FAC6-FE70-460C-9219-9C4ED083B76E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829C3D77-3692-4CCF-8E4B-07C03CF489AC}">
      <dgm:prSet custT="1"/>
      <dgm:spPr>
        <a:xfrm>
          <a:off x="0" y="1614503"/>
          <a:ext cx="5184322" cy="1586025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1689636"/>
              <a:satOff val="-4355"/>
              <a:lumOff val="-2941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Char char="•"/>
          </a:pPr>
          <a:r>
            <a:rPr lang="zh-CN" altLang="en-US" sz="1600" b="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增广路径</a:t>
          </a:r>
          <a:endParaRPr lang="en-US" sz="1600" b="0" kern="120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gm:t>
    </dgm:pt>
    <dgm:pt modelId="{B8F114E1-87BF-472C-8615-C50C3B78E4EA}" type="parTrans" cxnId="{10DA53BF-D285-4F72-A140-9F8D2C7A512A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FFDDF496-3CA0-4D60-8C6B-AAD0645E97F5}" type="sibTrans" cxnId="{10DA53BF-D285-4F72-A140-9F8D2C7A512A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9DC90D6D-7655-438C-9592-9074A06DF1EF}">
      <dgm:prSet custT="1"/>
      <dgm:spPr>
        <a:xfrm>
          <a:off x="0" y="1614503"/>
          <a:ext cx="5184322" cy="1586025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1689636"/>
              <a:satOff val="-4355"/>
              <a:lumOff val="-2941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Char char="•"/>
          </a:pPr>
          <a:r>
            <a:rPr lang="zh-CN" altLang="en-US" sz="1600" b="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流网络的割</a:t>
          </a:r>
          <a:endParaRPr lang="en-US" sz="1600" b="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gm:t>
    </dgm:pt>
    <dgm:pt modelId="{FA586CB4-AAC5-4C39-B843-9C7FEF426C51}" type="parTrans" cxnId="{EA051B04-2321-4D19-9805-8A8E998571FA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20D0E26C-7585-4697-BE0F-0B4033F541F5}" type="sibTrans" cxnId="{EA051B04-2321-4D19-9805-8A8E998571FA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E1966750-F290-41D1-B653-29FA4465EF32}">
      <dgm:prSet custT="1"/>
      <dgm:spPr>
        <a:xfrm>
          <a:off x="259216" y="4164968"/>
          <a:ext cx="3629025" cy="560880"/>
        </a:xfrm>
        <a:prstGeom prst="roundRect">
          <a:avLst/>
        </a:prstGeom>
        <a:solidFill>
          <a:srgbClr val="5B9BD5">
            <a:hueOff val="-5068907"/>
            <a:satOff val="-13064"/>
            <a:lumOff val="-8824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zh-CN" altLang="en-US" sz="2000" b="1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最大二分匹配</a:t>
          </a:r>
          <a:endParaRPr lang="en-US" sz="2000" b="1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gm:t>
    </dgm:pt>
    <dgm:pt modelId="{C268E205-8775-4D2E-8116-A4452DD44384}" type="parTrans" cxnId="{B66D651C-1047-4F84-8425-31DC8D0BB5B7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CB0BD3D8-57C4-4FA0-BFA0-6CD83A40BA45}" type="sibTrans" cxnId="{B66D651C-1047-4F84-8425-31DC8D0BB5B7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47973655-8AE0-9B42-A54F-BBB8BC269214}">
      <dgm:prSet custT="1"/>
      <dgm:spPr>
        <a:xfrm>
          <a:off x="259216" y="3303128"/>
          <a:ext cx="3629025" cy="560880"/>
        </a:xfrm>
        <a:prstGeom prst="roundRect">
          <a:avLst/>
        </a:prstGeom>
        <a:solidFill>
          <a:srgbClr val="5B9BD5">
            <a:hueOff val="-3379271"/>
            <a:satOff val="-8710"/>
            <a:lumOff val="-5883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altLang="zh-CN" sz="2000" b="1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Edmonds-Karp</a:t>
          </a:r>
          <a:r>
            <a:rPr lang="zh-CN" altLang="en-US" sz="2000" b="1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算法</a:t>
          </a:r>
          <a:endParaRPr lang="en-US" sz="2000" b="1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gm:t>
    </dgm:pt>
    <dgm:pt modelId="{EE7E4897-697A-074A-8D56-22609C653170}" type="parTrans" cxnId="{05143FFE-D150-B248-A088-30819006877A}">
      <dgm:prSet/>
      <dgm:spPr/>
      <dgm:t>
        <a:bodyPr/>
        <a:lstStyle/>
        <a:p>
          <a:endParaRPr lang="zh-CN" alt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06F05B1F-002D-6D44-86EF-CA354B036EE4}" type="sibTrans" cxnId="{05143FFE-D150-B248-A088-30819006877A}">
      <dgm:prSet/>
      <dgm:spPr/>
      <dgm:t>
        <a:bodyPr/>
        <a:lstStyle/>
        <a:p>
          <a:endParaRPr lang="zh-CN" alt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B7D20505-2988-A64E-ABFC-A337A50B8515}">
      <dgm:prSet custT="1"/>
      <dgm:spPr>
        <a:xfrm>
          <a:off x="259216" y="5026808"/>
          <a:ext cx="3629025" cy="560880"/>
        </a:xfrm>
        <a:prstGeom prst="roundRect">
          <a:avLst/>
        </a:prstGeom>
        <a:solidFill>
          <a:srgbClr val="5B9BD5">
            <a:hueOff val="-6758543"/>
            <a:satOff val="-17419"/>
            <a:lumOff val="-11765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2000" b="1" dirty="0" err="1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基于最大流的最密子图查找</a:t>
          </a:r>
          <a:endParaRPr lang="en-US" sz="2000" b="1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gm:t>
    </dgm:pt>
    <dgm:pt modelId="{6986C275-428F-3E4E-BDDF-69F91050C4E0}" type="parTrans" cxnId="{8C9F3342-887B-A04D-83CD-9DB0DA58B691}">
      <dgm:prSet/>
      <dgm:spPr/>
      <dgm:t>
        <a:bodyPr/>
        <a:lstStyle/>
        <a:p>
          <a:endParaRPr lang="zh-CN" alt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9C02872D-B4BF-5544-AA39-833C4F5D9BBD}" type="sibTrans" cxnId="{8C9F3342-887B-A04D-83CD-9DB0DA58B691}">
      <dgm:prSet/>
      <dgm:spPr/>
      <dgm:t>
        <a:bodyPr/>
        <a:lstStyle/>
        <a:p>
          <a:endParaRPr lang="zh-CN" alt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A56E0AD6-1539-6646-B051-1E970E091E8B}" type="pres">
      <dgm:prSet presAssocID="{234A8BA1-138F-41BB-8D23-6161887B45D0}" presName="linear" presStyleCnt="0">
        <dgm:presLayoutVars>
          <dgm:dir/>
          <dgm:animLvl val="lvl"/>
          <dgm:resizeHandles val="exact"/>
        </dgm:presLayoutVars>
      </dgm:prSet>
      <dgm:spPr/>
    </dgm:pt>
    <dgm:pt modelId="{F6272F39-F7ED-9D47-873E-ABFF16E4452B}" type="pres">
      <dgm:prSet presAssocID="{A6DC25E7-C148-43BC-B198-DCC308B7D8E4}" presName="parentLin" presStyleCnt="0"/>
      <dgm:spPr/>
    </dgm:pt>
    <dgm:pt modelId="{6C556D7B-924E-D749-BB37-47E4A9B7C636}" type="pres">
      <dgm:prSet presAssocID="{A6DC25E7-C148-43BC-B198-DCC308B7D8E4}" presName="parentLeftMargin" presStyleLbl="node1" presStyleIdx="0" presStyleCnt="5"/>
      <dgm:spPr/>
    </dgm:pt>
    <dgm:pt modelId="{EA707B86-A050-A54C-AF6E-D456301B09F7}" type="pres">
      <dgm:prSet presAssocID="{A6DC25E7-C148-43BC-B198-DCC308B7D8E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3C2C8DA-2EA3-E546-B00C-9AAC98739F2A}" type="pres">
      <dgm:prSet presAssocID="{A6DC25E7-C148-43BC-B198-DCC308B7D8E4}" presName="negativeSpace" presStyleCnt="0"/>
      <dgm:spPr/>
    </dgm:pt>
    <dgm:pt modelId="{D823D4E0-570D-A246-9B72-92AD024C9C06}" type="pres">
      <dgm:prSet presAssocID="{A6DC25E7-C148-43BC-B198-DCC308B7D8E4}" presName="childText" presStyleLbl="conFgAcc1" presStyleIdx="0" presStyleCnt="5">
        <dgm:presLayoutVars>
          <dgm:bulletEnabled val="1"/>
        </dgm:presLayoutVars>
      </dgm:prSet>
      <dgm:spPr/>
    </dgm:pt>
    <dgm:pt modelId="{850346E8-8B2E-D546-BB8A-BF3001FFD364}" type="pres">
      <dgm:prSet presAssocID="{C5F6E1ED-AC92-44F7-A3A8-1B6ED87DF57E}" presName="spaceBetweenRectangles" presStyleCnt="0"/>
      <dgm:spPr/>
    </dgm:pt>
    <dgm:pt modelId="{8FF51E2C-B88E-8C45-8815-C88FE57AE96F}" type="pres">
      <dgm:prSet presAssocID="{4618C007-D795-4730-B470-B46B08688DA2}" presName="parentLin" presStyleCnt="0"/>
      <dgm:spPr/>
    </dgm:pt>
    <dgm:pt modelId="{AE3D6D8D-85E2-CF4B-95DA-1AF4F0A7BC7A}" type="pres">
      <dgm:prSet presAssocID="{4618C007-D795-4730-B470-B46B08688DA2}" presName="parentLeftMargin" presStyleLbl="node1" presStyleIdx="0" presStyleCnt="5"/>
      <dgm:spPr/>
    </dgm:pt>
    <dgm:pt modelId="{87CAC6A4-903F-064B-9C91-00ABA97809D5}" type="pres">
      <dgm:prSet presAssocID="{4618C007-D795-4730-B470-B46B08688DA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3C4F4C5-FE7B-AE42-83C3-B3CADEAAD9D2}" type="pres">
      <dgm:prSet presAssocID="{4618C007-D795-4730-B470-B46B08688DA2}" presName="negativeSpace" presStyleCnt="0"/>
      <dgm:spPr/>
    </dgm:pt>
    <dgm:pt modelId="{597AE971-BDE8-5444-8785-A83E0C931603}" type="pres">
      <dgm:prSet presAssocID="{4618C007-D795-4730-B470-B46B08688DA2}" presName="childText" presStyleLbl="conFgAcc1" presStyleIdx="1" presStyleCnt="5">
        <dgm:presLayoutVars>
          <dgm:bulletEnabled val="1"/>
        </dgm:presLayoutVars>
      </dgm:prSet>
      <dgm:spPr/>
    </dgm:pt>
    <dgm:pt modelId="{277D076D-0B3D-044E-8789-5FC845E89445}" type="pres">
      <dgm:prSet presAssocID="{FD210294-9C04-4B11-AB13-0F007CA01D51}" presName="spaceBetweenRectangles" presStyleCnt="0"/>
      <dgm:spPr/>
    </dgm:pt>
    <dgm:pt modelId="{A961B762-3926-7843-A415-CAA12A0D61F9}" type="pres">
      <dgm:prSet presAssocID="{47973655-8AE0-9B42-A54F-BBB8BC269214}" presName="parentLin" presStyleCnt="0"/>
      <dgm:spPr/>
    </dgm:pt>
    <dgm:pt modelId="{0D6B55D5-B4C6-B447-89B1-4B16C3B2B7E9}" type="pres">
      <dgm:prSet presAssocID="{47973655-8AE0-9B42-A54F-BBB8BC269214}" presName="parentLeftMargin" presStyleLbl="node1" presStyleIdx="1" presStyleCnt="5"/>
      <dgm:spPr/>
    </dgm:pt>
    <dgm:pt modelId="{5B8EEC7D-5D9D-DF44-8C6E-7FD5D733A4FC}" type="pres">
      <dgm:prSet presAssocID="{47973655-8AE0-9B42-A54F-BBB8BC26921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1A8A4D0-E3F7-BD4A-AA4F-3046862725CE}" type="pres">
      <dgm:prSet presAssocID="{47973655-8AE0-9B42-A54F-BBB8BC269214}" presName="negativeSpace" presStyleCnt="0"/>
      <dgm:spPr/>
    </dgm:pt>
    <dgm:pt modelId="{77E855CA-1742-0042-AC18-5D0EA1466A5A}" type="pres">
      <dgm:prSet presAssocID="{47973655-8AE0-9B42-A54F-BBB8BC269214}" presName="childText" presStyleLbl="conFgAcc1" presStyleIdx="2" presStyleCnt="5">
        <dgm:presLayoutVars>
          <dgm:bulletEnabled val="1"/>
        </dgm:presLayoutVars>
      </dgm:prSet>
      <dgm:spPr>
        <a:xfrm>
          <a:off x="0" y="3583568"/>
          <a:ext cx="5184322" cy="4788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3379271"/>
              <a:satOff val="-8710"/>
              <a:lumOff val="-5883"/>
              <a:alphaOff val="0"/>
            </a:srgbClr>
          </a:solidFill>
          <a:prstDash val="solid"/>
          <a:miter lim="800000"/>
        </a:ln>
        <a:effectLst/>
      </dgm:spPr>
    </dgm:pt>
    <dgm:pt modelId="{F8F62407-FB9A-804B-9FF2-3E94064C8A76}" type="pres">
      <dgm:prSet presAssocID="{06F05B1F-002D-6D44-86EF-CA354B036EE4}" presName="spaceBetweenRectangles" presStyleCnt="0"/>
      <dgm:spPr/>
    </dgm:pt>
    <dgm:pt modelId="{D8BC93BE-3E4F-A24F-8F20-40C53F1FEF33}" type="pres">
      <dgm:prSet presAssocID="{E1966750-F290-41D1-B653-29FA4465EF32}" presName="parentLin" presStyleCnt="0"/>
      <dgm:spPr/>
    </dgm:pt>
    <dgm:pt modelId="{A08E2060-FC4C-594F-9E53-CFD1DF4E05BC}" type="pres">
      <dgm:prSet presAssocID="{E1966750-F290-41D1-B653-29FA4465EF32}" presName="parentLeftMargin" presStyleLbl="node1" presStyleIdx="2" presStyleCnt="5"/>
      <dgm:spPr/>
    </dgm:pt>
    <dgm:pt modelId="{CB788071-C671-DE42-9795-C16E53D7F727}" type="pres">
      <dgm:prSet presAssocID="{E1966750-F290-41D1-B653-29FA4465EF3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D3CAA28-1467-7241-8AB5-A55564456344}" type="pres">
      <dgm:prSet presAssocID="{E1966750-F290-41D1-B653-29FA4465EF32}" presName="negativeSpace" presStyleCnt="0"/>
      <dgm:spPr/>
    </dgm:pt>
    <dgm:pt modelId="{CCC03392-55D5-2243-A097-C124D95CE6F1}" type="pres">
      <dgm:prSet presAssocID="{E1966750-F290-41D1-B653-29FA4465EF32}" presName="childText" presStyleLbl="conFgAcc1" presStyleIdx="3" presStyleCnt="5">
        <dgm:presLayoutVars>
          <dgm:bulletEnabled val="1"/>
        </dgm:presLayoutVars>
      </dgm:prSet>
      <dgm:spPr>
        <a:xfrm>
          <a:off x="0" y="4445408"/>
          <a:ext cx="5184322" cy="4788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5068907"/>
              <a:satOff val="-13064"/>
              <a:lumOff val="-8824"/>
              <a:alphaOff val="0"/>
            </a:srgbClr>
          </a:solidFill>
          <a:prstDash val="solid"/>
          <a:miter lim="800000"/>
        </a:ln>
        <a:effectLst/>
      </dgm:spPr>
    </dgm:pt>
    <dgm:pt modelId="{26F525A7-20CA-5F4F-AF79-EB185915A679}" type="pres">
      <dgm:prSet presAssocID="{CB0BD3D8-57C4-4FA0-BFA0-6CD83A40BA45}" presName="spaceBetweenRectangles" presStyleCnt="0"/>
      <dgm:spPr/>
    </dgm:pt>
    <dgm:pt modelId="{7E2F897C-CFA3-974A-93A6-0D194F061ECC}" type="pres">
      <dgm:prSet presAssocID="{B7D20505-2988-A64E-ABFC-A337A50B8515}" presName="parentLin" presStyleCnt="0"/>
      <dgm:spPr/>
    </dgm:pt>
    <dgm:pt modelId="{BD92137A-C3B9-3C44-BD8B-57B0EA8E0D33}" type="pres">
      <dgm:prSet presAssocID="{B7D20505-2988-A64E-ABFC-A337A50B8515}" presName="parentLeftMargin" presStyleLbl="node1" presStyleIdx="3" presStyleCnt="5"/>
      <dgm:spPr/>
    </dgm:pt>
    <dgm:pt modelId="{295F6B93-2114-E748-848E-1211D16C9CE2}" type="pres">
      <dgm:prSet presAssocID="{B7D20505-2988-A64E-ABFC-A337A50B8515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401B40E4-6A41-2443-B49A-1EBA8BF3511D}" type="pres">
      <dgm:prSet presAssocID="{B7D20505-2988-A64E-ABFC-A337A50B8515}" presName="negativeSpace" presStyleCnt="0"/>
      <dgm:spPr/>
    </dgm:pt>
    <dgm:pt modelId="{F29F1465-1649-084C-AF91-B2D9E50A98A6}" type="pres">
      <dgm:prSet presAssocID="{B7D20505-2988-A64E-ABFC-A337A50B8515}" presName="childText" presStyleLbl="conFgAcc1" presStyleIdx="4" presStyleCnt="5">
        <dgm:presLayoutVars>
          <dgm:bulletEnabled val="1"/>
        </dgm:presLayoutVars>
      </dgm:prSet>
      <dgm:spPr>
        <a:xfrm>
          <a:off x="0" y="5307248"/>
          <a:ext cx="5184322" cy="4788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6758543"/>
              <a:satOff val="-17419"/>
              <a:lumOff val="-11765"/>
              <a:alphaOff val="0"/>
            </a:srgbClr>
          </a:solidFill>
          <a:prstDash val="solid"/>
          <a:miter lim="800000"/>
        </a:ln>
        <a:effectLst/>
      </dgm:spPr>
    </dgm:pt>
  </dgm:ptLst>
  <dgm:cxnLst>
    <dgm:cxn modelId="{EA051B04-2321-4D19-9805-8A8E998571FA}" srcId="{4618C007-D795-4730-B470-B46B08688DA2}" destId="{9DC90D6D-7655-438C-9592-9074A06DF1EF}" srcOrd="2" destOrd="0" parTransId="{FA586CB4-AAC5-4C39-B843-9C7FEF426C51}" sibTransId="{20D0E26C-7585-4697-BE0F-0B4033F541F5}"/>
    <dgm:cxn modelId="{91BF0306-35B2-D746-8EC0-7787EA104D6E}" type="presOf" srcId="{4618C007-D795-4730-B470-B46B08688DA2}" destId="{AE3D6D8D-85E2-CF4B-95DA-1AF4F0A7BC7A}" srcOrd="0" destOrd="0" presId="urn:microsoft.com/office/officeart/2005/8/layout/list1"/>
    <dgm:cxn modelId="{7925F20D-CB4A-B54B-B5A6-B11AB0667B6E}" type="presOf" srcId="{47973655-8AE0-9B42-A54F-BBB8BC269214}" destId="{5B8EEC7D-5D9D-DF44-8C6E-7FD5D733A4FC}" srcOrd="1" destOrd="0" presId="urn:microsoft.com/office/officeart/2005/8/layout/list1"/>
    <dgm:cxn modelId="{B66D651C-1047-4F84-8425-31DC8D0BB5B7}" srcId="{234A8BA1-138F-41BB-8D23-6161887B45D0}" destId="{E1966750-F290-41D1-B653-29FA4465EF32}" srcOrd="3" destOrd="0" parTransId="{C268E205-8775-4D2E-8116-A4452DD44384}" sibTransId="{CB0BD3D8-57C4-4FA0-BFA0-6CD83A40BA45}"/>
    <dgm:cxn modelId="{B1F7E526-4965-9F4D-9534-8D8D850C8D74}" type="presOf" srcId="{E1966750-F290-41D1-B653-29FA4465EF32}" destId="{A08E2060-FC4C-594F-9E53-CFD1DF4E05BC}" srcOrd="0" destOrd="0" presId="urn:microsoft.com/office/officeart/2005/8/layout/list1"/>
    <dgm:cxn modelId="{012C412A-3438-1D40-8E0F-C8345D3F6582}" type="presOf" srcId="{234A8BA1-138F-41BB-8D23-6161887B45D0}" destId="{A56E0AD6-1539-6646-B051-1E970E091E8B}" srcOrd="0" destOrd="0" presId="urn:microsoft.com/office/officeart/2005/8/layout/list1"/>
    <dgm:cxn modelId="{752C1D5C-60D3-9A4E-969B-F2FA3EA51C97}" type="presOf" srcId="{B7D20505-2988-A64E-ABFC-A337A50B8515}" destId="{BD92137A-C3B9-3C44-BD8B-57B0EA8E0D33}" srcOrd="0" destOrd="0" presId="urn:microsoft.com/office/officeart/2005/8/layout/list1"/>
    <dgm:cxn modelId="{8C9F3342-887B-A04D-83CD-9DB0DA58B691}" srcId="{234A8BA1-138F-41BB-8D23-6161887B45D0}" destId="{B7D20505-2988-A64E-ABFC-A337A50B8515}" srcOrd="4" destOrd="0" parTransId="{6986C275-428F-3E4E-BDDF-69F91050C4E0}" sibTransId="{9C02872D-B4BF-5544-AA39-833C4F5D9BBD}"/>
    <dgm:cxn modelId="{485BD864-89FC-4CD4-A8EC-05D5D8570355}" srcId="{A6DC25E7-C148-43BC-B198-DCC308B7D8E4}" destId="{779370D5-CEC0-4B9B-91B9-2D4658D7E886}" srcOrd="0" destOrd="0" parTransId="{A01EC990-F312-4728-AA66-0558D43BFAF2}" sibTransId="{490431A6-7BA8-44F1-A61D-240159C30858}"/>
    <dgm:cxn modelId="{64F0124C-EFCE-2E48-A115-DCCA42ABBD9D}" type="presOf" srcId="{779370D5-CEC0-4B9B-91B9-2D4658D7E886}" destId="{D823D4E0-570D-A246-9B72-92AD024C9C06}" srcOrd="0" destOrd="0" presId="urn:microsoft.com/office/officeart/2005/8/layout/list1"/>
    <dgm:cxn modelId="{40477C6D-E1F1-B240-A688-7D82CFB3FE1D}" type="presOf" srcId="{829C3D77-3692-4CCF-8E4B-07C03CF489AC}" destId="{597AE971-BDE8-5444-8785-A83E0C931603}" srcOrd="0" destOrd="1" presId="urn:microsoft.com/office/officeart/2005/8/layout/list1"/>
    <dgm:cxn modelId="{BF74C27D-63D0-694E-81E3-E56DEBD247C6}" type="presOf" srcId="{4618C007-D795-4730-B470-B46B08688DA2}" destId="{87CAC6A4-903F-064B-9C91-00ABA97809D5}" srcOrd="1" destOrd="0" presId="urn:microsoft.com/office/officeart/2005/8/layout/list1"/>
    <dgm:cxn modelId="{C3EE5B9D-2324-574D-ADB6-299921496A49}" type="presOf" srcId="{00D6FFBE-0D6B-46B6-9121-95BCDFD884C7}" destId="{597AE971-BDE8-5444-8785-A83E0C931603}" srcOrd="0" destOrd="0" presId="urn:microsoft.com/office/officeart/2005/8/layout/list1"/>
    <dgm:cxn modelId="{483F47BC-754E-4BD5-981C-6144846B2FD2}" srcId="{234A8BA1-138F-41BB-8D23-6161887B45D0}" destId="{4618C007-D795-4730-B470-B46B08688DA2}" srcOrd="1" destOrd="0" parTransId="{0D7807B7-0D92-4BF2-952A-94F260CC0D96}" sibTransId="{FD210294-9C04-4B11-AB13-0F007CA01D51}"/>
    <dgm:cxn modelId="{10DA53BF-D285-4F72-A140-9F8D2C7A512A}" srcId="{4618C007-D795-4730-B470-B46B08688DA2}" destId="{829C3D77-3692-4CCF-8E4B-07C03CF489AC}" srcOrd="1" destOrd="0" parTransId="{B8F114E1-87BF-472C-8615-C50C3B78E4EA}" sibTransId="{FFDDF496-3CA0-4D60-8C6B-AAD0645E97F5}"/>
    <dgm:cxn modelId="{57FB80C4-B7A9-F44E-84AF-70608BE6BE0A}" type="presOf" srcId="{47973655-8AE0-9B42-A54F-BBB8BC269214}" destId="{0D6B55D5-B4C6-B447-89B1-4B16C3B2B7E9}" srcOrd="0" destOrd="0" presId="urn:microsoft.com/office/officeart/2005/8/layout/list1"/>
    <dgm:cxn modelId="{8395FAC6-FE70-460C-9219-9C4ED083B76E}" srcId="{4618C007-D795-4730-B470-B46B08688DA2}" destId="{00D6FFBE-0D6B-46B6-9121-95BCDFD884C7}" srcOrd="0" destOrd="0" parTransId="{6E21393E-247A-47D8-A24D-279BA3074894}" sibTransId="{F0779FF3-DFBD-42BE-AE9F-0ED34875AFA6}"/>
    <dgm:cxn modelId="{1C6AF7CD-105D-9F41-AF12-6FA519E7340F}" type="presOf" srcId="{B7D20505-2988-A64E-ABFC-A337A50B8515}" destId="{295F6B93-2114-E748-848E-1211D16C9CE2}" srcOrd="1" destOrd="0" presId="urn:microsoft.com/office/officeart/2005/8/layout/list1"/>
    <dgm:cxn modelId="{66BA77D7-AB52-124F-8636-97E5904D4992}" type="presOf" srcId="{A6DC25E7-C148-43BC-B198-DCC308B7D8E4}" destId="{EA707B86-A050-A54C-AF6E-D456301B09F7}" srcOrd="1" destOrd="0" presId="urn:microsoft.com/office/officeart/2005/8/layout/list1"/>
    <dgm:cxn modelId="{40836DE9-9379-4E03-9A2B-0A4E759DFA3E}" srcId="{234A8BA1-138F-41BB-8D23-6161887B45D0}" destId="{A6DC25E7-C148-43BC-B198-DCC308B7D8E4}" srcOrd="0" destOrd="0" parTransId="{E9F6A87D-EAE1-496E-90C5-94D76A26E1A0}" sibTransId="{C5F6E1ED-AC92-44F7-A3A8-1B6ED87DF57E}"/>
    <dgm:cxn modelId="{4BC62DEE-4657-0745-B68E-07C20D65B1E2}" type="presOf" srcId="{E1966750-F290-41D1-B653-29FA4465EF32}" destId="{CB788071-C671-DE42-9795-C16E53D7F727}" srcOrd="1" destOrd="0" presId="urn:microsoft.com/office/officeart/2005/8/layout/list1"/>
    <dgm:cxn modelId="{A89D20F0-467B-D748-BD82-4661E1A75BBB}" type="presOf" srcId="{9DC90D6D-7655-438C-9592-9074A06DF1EF}" destId="{597AE971-BDE8-5444-8785-A83E0C931603}" srcOrd="0" destOrd="2" presId="urn:microsoft.com/office/officeart/2005/8/layout/list1"/>
    <dgm:cxn modelId="{92A828F2-7600-5847-8FBE-3751C344F609}" type="presOf" srcId="{A6DC25E7-C148-43BC-B198-DCC308B7D8E4}" destId="{6C556D7B-924E-D749-BB37-47E4A9B7C636}" srcOrd="0" destOrd="0" presId="urn:microsoft.com/office/officeart/2005/8/layout/list1"/>
    <dgm:cxn modelId="{05143FFE-D150-B248-A088-30819006877A}" srcId="{234A8BA1-138F-41BB-8D23-6161887B45D0}" destId="{47973655-8AE0-9B42-A54F-BBB8BC269214}" srcOrd="2" destOrd="0" parTransId="{EE7E4897-697A-074A-8D56-22609C653170}" sibTransId="{06F05B1F-002D-6D44-86EF-CA354B036EE4}"/>
    <dgm:cxn modelId="{1D8DD106-1490-2D42-9425-727537AADABD}" type="presParOf" srcId="{A56E0AD6-1539-6646-B051-1E970E091E8B}" destId="{F6272F39-F7ED-9D47-873E-ABFF16E4452B}" srcOrd="0" destOrd="0" presId="urn:microsoft.com/office/officeart/2005/8/layout/list1"/>
    <dgm:cxn modelId="{A89078D1-09DE-1543-8865-B858EDD1F548}" type="presParOf" srcId="{F6272F39-F7ED-9D47-873E-ABFF16E4452B}" destId="{6C556D7B-924E-D749-BB37-47E4A9B7C636}" srcOrd="0" destOrd="0" presId="urn:microsoft.com/office/officeart/2005/8/layout/list1"/>
    <dgm:cxn modelId="{405D8049-4118-124A-AE81-FD9CA93C4AB0}" type="presParOf" srcId="{F6272F39-F7ED-9D47-873E-ABFF16E4452B}" destId="{EA707B86-A050-A54C-AF6E-D456301B09F7}" srcOrd="1" destOrd="0" presId="urn:microsoft.com/office/officeart/2005/8/layout/list1"/>
    <dgm:cxn modelId="{C330121E-CBCB-1345-869F-C910A6B8C519}" type="presParOf" srcId="{A56E0AD6-1539-6646-B051-1E970E091E8B}" destId="{B3C2C8DA-2EA3-E546-B00C-9AAC98739F2A}" srcOrd="1" destOrd="0" presId="urn:microsoft.com/office/officeart/2005/8/layout/list1"/>
    <dgm:cxn modelId="{2B39D18E-C770-BF4B-AA1B-EB0DA8DD43A4}" type="presParOf" srcId="{A56E0AD6-1539-6646-B051-1E970E091E8B}" destId="{D823D4E0-570D-A246-9B72-92AD024C9C06}" srcOrd="2" destOrd="0" presId="urn:microsoft.com/office/officeart/2005/8/layout/list1"/>
    <dgm:cxn modelId="{F7598227-4958-8241-9D87-98FF0E05E595}" type="presParOf" srcId="{A56E0AD6-1539-6646-B051-1E970E091E8B}" destId="{850346E8-8B2E-D546-BB8A-BF3001FFD364}" srcOrd="3" destOrd="0" presId="urn:microsoft.com/office/officeart/2005/8/layout/list1"/>
    <dgm:cxn modelId="{8AE0B089-906B-D547-9FF8-EE1989A36ABE}" type="presParOf" srcId="{A56E0AD6-1539-6646-B051-1E970E091E8B}" destId="{8FF51E2C-B88E-8C45-8815-C88FE57AE96F}" srcOrd="4" destOrd="0" presId="urn:microsoft.com/office/officeart/2005/8/layout/list1"/>
    <dgm:cxn modelId="{E9653A90-736F-934E-8697-EEF26E4E7068}" type="presParOf" srcId="{8FF51E2C-B88E-8C45-8815-C88FE57AE96F}" destId="{AE3D6D8D-85E2-CF4B-95DA-1AF4F0A7BC7A}" srcOrd="0" destOrd="0" presId="urn:microsoft.com/office/officeart/2005/8/layout/list1"/>
    <dgm:cxn modelId="{6435E807-20AD-B84A-94F0-A579E12A580B}" type="presParOf" srcId="{8FF51E2C-B88E-8C45-8815-C88FE57AE96F}" destId="{87CAC6A4-903F-064B-9C91-00ABA97809D5}" srcOrd="1" destOrd="0" presId="urn:microsoft.com/office/officeart/2005/8/layout/list1"/>
    <dgm:cxn modelId="{17C59E17-FFF9-FD44-BF47-E58A4610F82C}" type="presParOf" srcId="{A56E0AD6-1539-6646-B051-1E970E091E8B}" destId="{63C4F4C5-FE7B-AE42-83C3-B3CADEAAD9D2}" srcOrd="5" destOrd="0" presId="urn:microsoft.com/office/officeart/2005/8/layout/list1"/>
    <dgm:cxn modelId="{89ED60A4-61F0-A643-BAB6-E6C8DEA2CB0B}" type="presParOf" srcId="{A56E0AD6-1539-6646-B051-1E970E091E8B}" destId="{597AE971-BDE8-5444-8785-A83E0C931603}" srcOrd="6" destOrd="0" presId="urn:microsoft.com/office/officeart/2005/8/layout/list1"/>
    <dgm:cxn modelId="{92C188B1-5343-6246-85ED-162D0913A230}" type="presParOf" srcId="{A56E0AD6-1539-6646-B051-1E970E091E8B}" destId="{277D076D-0B3D-044E-8789-5FC845E89445}" srcOrd="7" destOrd="0" presId="urn:microsoft.com/office/officeart/2005/8/layout/list1"/>
    <dgm:cxn modelId="{E19D3213-EC3A-6B42-B702-F6D639DAE3F9}" type="presParOf" srcId="{A56E0AD6-1539-6646-B051-1E970E091E8B}" destId="{A961B762-3926-7843-A415-CAA12A0D61F9}" srcOrd="8" destOrd="0" presId="urn:microsoft.com/office/officeart/2005/8/layout/list1"/>
    <dgm:cxn modelId="{477EDDA7-FCF9-FE4C-B642-30A393542443}" type="presParOf" srcId="{A961B762-3926-7843-A415-CAA12A0D61F9}" destId="{0D6B55D5-B4C6-B447-89B1-4B16C3B2B7E9}" srcOrd="0" destOrd="0" presId="urn:microsoft.com/office/officeart/2005/8/layout/list1"/>
    <dgm:cxn modelId="{CB3C97E9-10B4-B049-8581-FD7414BF4E06}" type="presParOf" srcId="{A961B762-3926-7843-A415-CAA12A0D61F9}" destId="{5B8EEC7D-5D9D-DF44-8C6E-7FD5D733A4FC}" srcOrd="1" destOrd="0" presId="urn:microsoft.com/office/officeart/2005/8/layout/list1"/>
    <dgm:cxn modelId="{5E27417B-3A30-794E-BA2A-2F4182A5457C}" type="presParOf" srcId="{A56E0AD6-1539-6646-B051-1E970E091E8B}" destId="{51A8A4D0-E3F7-BD4A-AA4F-3046862725CE}" srcOrd="9" destOrd="0" presId="urn:microsoft.com/office/officeart/2005/8/layout/list1"/>
    <dgm:cxn modelId="{257F49AB-10EE-9B45-A306-3E9DFE72E8D9}" type="presParOf" srcId="{A56E0AD6-1539-6646-B051-1E970E091E8B}" destId="{77E855CA-1742-0042-AC18-5D0EA1466A5A}" srcOrd="10" destOrd="0" presId="urn:microsoft.com/office/officeart/2005/8/layout/list1"/>
    <dgm:cxn modelId="{DBEDCE0D-A95D-F44C-A0C9-DDE89B4BDF58}" type="presParOf" srcId="{A56E0AD6-1539-6646-B051-1E970E091E8B}" destId="{F8F62407-FB9A-804B-9FF2-3E94064C8A76}" srcOrd="11" destOrd="0" presId="urn:microsoft.com/office/officeart/2005/8/layout/list1"/>
    <dgm:cxn modelId="{4C66F147-C53E-7B45-A82B-43D69D5A9D32}" type="presParOf" srcId="{A56E0AD6-1539-6646-B051-1E970E091E8B}" destId="{D8BC93BE-3E4F-A24F-8F20-40C53F1FEF33}" srcOrd="12" destOrd="0" presId="urn:microsoft.com/office/officeart/2005/8/layout/list1"/>
    <dgm:cxn modelId="{B9E81C62-44FD-1F42-B8FC-C157D4E1A6F7}" type="presParOf" srcId="{D8BC93BE-3E4F-A24F-8F20-40C53F1FEF33}" destId="{A08E2060-FC4C-594F-9E53-CFD1DF4E05BC}" srcOrd="0" destOrd="0" presId="urn:microsoft.com/office/officeart/2005/8/layout/list1"/>
    <dgm:cxn modelId="{BE282DF2-2FDA-EF41-81A6-0551B208C30B}" type="presParOf" srcId="{D8BC93BE-3E4F-A24F-8F20-40C53F1FEF33}" destId="{CB788071-C671-DE42-9795-C16E53D7F727}" srcOrd="1" destOrd="0" presId="urn:microsoft.com/office/officeart/2005/8/layout/list1"/>
    <dgm:cxn modelId="{4D8150B2-DA12-3E49-8EC4-D95F782AECAC}" type="presParOf" srcId="{A56E0AD6-1539-6646-B051-1E970E091E8B}" destId="{1D3CAA28-1467-7241-8AB5-A55564456344}" srcOrd="13" destOrd="0" presId="urn:microsoft.com/office/officeart/2005/8/layout/list1"/>
    <dgm:cxn modelId="{1BB239BE-FE2C-0D40-807A-AAA9D75F5483}" type="presParOf" srcId="{A56E0AD6-1539-6646-B051-1E970E091E8B}" destId="{CCC03392-55D5-2243-A097-C124D95CE6F1}" srcOrd="14" destOrd="0" presId="urn:microsoft.com/office/officeart/2005/8/layout/list1"/>
    <dgm:cxn modelId="{544492F5-3657-7C46-98EB-3E4CC0DD68F6}" type="presParOf" srcId="{A56E0AD6-1539-6646-B051-1E970E091E8B}" destId="{26F525A7-20CA-5F4F-AF79-EB185915A679}" srcOrd="15" destOrd="0" presId="urn:microsoft.com/office/officeart/2005/8/layout/list1"/>
    <dgm:cxn modelId="{C8C0E60D-20FA-A347-84D0-C93F5E466AC0}" type="presParOf" srcId="{A56E0AD6-1539-6646-B051-1E970E091E8B}" destId="{7E2F897C-CFA3-974A-93A6-0D194F061ECC}" srcOrd="16" destOrd="0" presId="urn:microsoft.com/office/officeart/2005/8/layout/list1"/>
    <dgm:cxn modelId="{99A8931D-D671-CB47-90C4-DC2B45FC685B}" type="presParOf" srcId="{7E2F897C-CFA3-974A-93A6-0D194F061ECC}" destId="{BD92137A-C3B9-3C44-BD8B-57B0EA8E0D33}" srcOrd="0" destOrd="0" presId="urn:microsoft.com/office/officeart/2005/8/layout/list1"/>
    <dgm:cxn modelId="{F51C84B4-C318-A647-97DF-3C7F50D3B212}" type="presParOf" srcId="{7E2F897C-CFA3-974A-93A6-0D194F061ECC}" destId="{295F6B93-2114-E748-848E-1211D16C9CE2}" srcOrd="1" destOrd="0" presId="urn:microsoft.com/office/officeart/2005/8/layout/list1"/>
    <dgm:cxn modelId="{E74AE3C1-A324-3046-9DDC-33629EBB3C2A}" type="presParOf" srcId="{A56E0AD6-1539-6646-B051-1E970E091E8B}" destId="{401B40E4-6A41-2443-B49A-1EBA8BF3511D}" srcOrd="17" destOrd="0" presId="urn:microsoft.com/office/officeart/2005/8/layout/list1"/>
    <dgm:cxn modelId="{B1550595-18D5-6B44-8BD1-895FB3232DEC}" type="presParOf" srcId="{A56E0AD6-1539-6646-B051-1E970E091E8B}" destId="{F29F1465-1649-084C-AF91-B2D9E50A98A6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34A8BA1-138F-41BB-8D23-6161887B45D0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6DC25E7-C148-43BC-B198-DCC308B7D8E4}">
      <dgm:prSet custT="1"/>
      <dgm:spPr>
        <a:xfrm>
          <a:off x="259216" y="83198"/>
          <a:ext cx="3629025" cy="560880"/>
        </a:xfrm>
        <a:prstGeom prst="roundRect">
          <a:avLst/>
        </a:prstGeom>
        <a:solidFill>
          <a:srgbClr val="5B9BD5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zh-CN" altLang="en-US" sz="2000" b="1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流网络</a:t>
          </a:r>
          <a:endParaRPr lang="en-US" sz="2000" b="1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gm:t>
    </dgm:pt>
    <dgm:pt modelId="{E9F6A87D-EAE1-496E-90C5-94D76A26E1A0}" type="parTrans" cxnId="{40836DE9-9379-4E03-9A2B-0A4E759DFA3E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C5F6E1ED-AC92-44F7-A3A8-1B6ED87DF57E}" type="sibTrans" cxnId="{40836DE9-9379-4E03-9A2B-0A4E759DFA3E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779370D5-CEC0-4B9B-91B9-2D4658D7E886}">
      <dgm:prSet custT="1"/>
      <dgm:spPr>
        <a:xfrm>
          <a:off x="0" y="363638"/>
          <a:ext cx="5184322" cy="867825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Char char="•"/>
          </a:pPr>
          <a:r>
            <a:rPr lang="zh-CN" altLang="en-US" sz="1600" b="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基本概念：流，最大流，割</a:t>
          </a:r>
          <a:endParaRPr lang="en-US" sz="1600" b="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gm:t>
    </dgm:pt>
    <dgm:pt modelId="{A01EC990-F312-4728-AA66-0558D43BFAF2}" type="parTrans" cxnId="{485BD864-89FC-4CD4-A8EC-05D5D8570355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490431A6-7BA8-44F1-A61D-240159C30858}" type="sibTrans" cxnId="{485BD864-89FC-4CD4-A8EC-05D5D8570355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4618C007-D795-4730-B470-B46B08688DA2}">
      <dgm:prSet custT="1"/>
      <dgm:spPr>
        <a:xfrm>
          <a:off x="259216" y="1334063"/>
          <a:ext cx="3629025" cy="560880"/>
        </a:xfrm>
        <a:prstGeom prst="roundRect">
          <a:avLst/>
        </a:prstGeom>
        <a:solidFill>
          <a:srgbClr val="5B9BD5">
            <a:hueOff val="-1689636"/>
            <a:satOff val="-4355"/>
            <a:lumOff val="-2941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2000" b="1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Ford-Fulkerson</a:t>
          </a:r>
          <a:r>
            <a:rPr lang="zh-CN" altLang="en-US" sz="2000" b="1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算法</a:t>
          </a:r>
          <a:endParaRPr lang="en-US" sz="2000" b="1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gm:t>
    </dgm:pt>
    <dgm:pt modelId="{0D7807B7-0D92-4BF2-952A-94F260CC0D96}" type="parTrans" cxnId="{483F47BC-754E-4BD5-981C-6144846B2FD2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FD210294-9C04-4B11-AB13-0F007CA01D51}" type="sibTrans" cxnId="{483F47BC-754E-4BD5-981C-6144846B2FD2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00D6FFBE-0D6B-46B6-9121-95BCDFD884C7}">
      <dgm:prSet custT="1"/>
      <dgm:spPr>
        <a:xfrm>
          <a:off x="0" y="1614503"/>
          <a:ext cx="5184322" cy="1586025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1689636"/>
              <a:satOff val="-4355"/>
              <a:lumOff val="-2941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Char char="•"/>
          </a:pPr>
          <a:r>
            <a:rPr lang="zh-CN" altLang="en-US" sz="1600" b="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剩余网络</a:t>
          </a:r>
          <a:endParaRPr lang="en-US" sz="1600" b="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gm:t>
    </dgm:pt>
    <dgm:pt modelId="{6E21393E-247A-47D8-A24D-279BA3074894}" type="parTrans" cxnId="{8395FAC6-FE70-460C-9219-9C4ED083B76E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F0779FF3-DFBD-42BE-AE9F-0ED34875AFA6}" type="sibTrans" cxnId="{8395FAC6-FE70-460C-9219-9C4ED083B76E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829C3D77-3692-4CCF-8E4B-07C03CF489AC}">
      <dgm:prSet custT="1"/>
      <dgm:spPr>
        <a:xfrm>
          <a:off x="0" y="1614503"/>
          <a:ext cx="5184322" cy="1586025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1689636"/>
              <a:satOff val="-4355"/>
              <a:lumOff val="-2941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Char char="•"/>
          </a:pPr>
          <a:r>
            <a:rPr lang="zh-CN" altLang="en-US" sz="1600" b="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增广路径</a:t>
          </a:r>
          <a:endParaRPr lang="en-US" sz="1600" b="0" kern="120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gm:t>
    </dgm:pt>
    <dgm:pt modelId="{B8F114E1-87BF-472C-8615-C50C3B78E4EA}" type="parTrans" cxnId="{10DA53BF-D285-4F72-A140-9F8D2C7A512A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FFDDF496-3CA0-4D60-8C6B-AAD0645E97F5}" type="sibTrans" cxnId="{10DA53BF-D285-4F72-A140-9F8D2C7A512A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9DC90D6D-7655-438C-9592-9074A06DF1EF}">
      <dgm:prSet custT="1"/>
      <dgm:spPr>
        <a:xfrm>
          <a:off x="0" y="1614503"/>
          <a:ext cx="5184322" cy="1586025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1689636"/>
              <a:satOff val="-4355"/>
              <a:lumOff val="-2941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Char char="•"/>
          </a:pPr>
          <a:r>
            <a:rPr lang="zh-CN" altLang="en-US" sz="1600" b="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流网络的割</a:t>
          </a:r>
          <a:endParaRPr lang="en-US" sz="1600" b="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gm:t>
    </dgm:pt>
    <dgm:pt modelId="{FA586CB4-AAC5-4C39-B843-9C7FEF426C51}" type="parTrans" cxnId="{EA051B04-2321-4D19-9805-8A8E998571FA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20D0E26C-7585-4697-BE0F-0B4033F541F5}" type="sibTrans" cxnId="{EA051B04-2321-4D19-9805-8A8E998571FA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E1966750-F290-41D1-B653-29FA4465EF32}">
      <dgm:prSet custT="1"/>
      <dgm:spPr>
        <a:xfrm>
          <a:off x="259216" y="4164968"/>
          <a:ext cx="3629025" cy="560880"/>
        </a:xfrm>
        <a:prstGeom prst="roundRect">
          <a:avLst/>
        </a:prstGeom>
        <a:solidFill>
          <a:srgbClr val="5B9BD5">
            <a:hueOff val="-5068907"/>
            <a:satOff val="-13064"/>
            <a:lumOff val="-8824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zh-CN" altLang="en-US" sz="2000" b="1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最大二分匹配</a:t>
          </a:r>
          <a:endParaRPr lang="en-US" sz="2000" b="1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gm:t>
    </dgm:pt>
    <dgm:pt modelId="{C268E205-8775-4D2E-8116-A4452DD44384}" type="parTrans" cxnId="{B66D651C-1047-4F84-8425-31DC8D0BB5B7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CB0BD3D8-57C4-4FA0-BFA0-6CD83A40BA45}" type="sibTrans" cxnId="{B66D651C-1047-4F84-8425-31DC8D0BB5B7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47973655-8AE0-9B42-A54F-BBB8BC269214}">
      <dgm:prSet custT="1"/>
      <dgm:spPr>
        <a:xfrm>
          <a:off x="259216" y="3303128"/>
          <a:ext cx="3629025" cy="560880"/>
        </a:xfrm>
        <a:prstGeom prst="roundRect">
          <a:avLst/>
        </a:prstGeom>
        <a:solidFill>
          <a:srgbClr val="5B9BD5">
            <a:hueOff val="-3379271"/>
            <a:satOff val="-8710"/>
            <a:lumOff val="-5883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altLang="zh-CN" sz="2000" b="1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Edmonds-Karp</a:t>
          </a:r>
          <a:r>
            <a:rPr lang="zh-CN" altLang="en-US" sz="2000" b="1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算法</a:t>
          </a:r>
          <a:endParaRPr lang="en-US" sz="2000" b="1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gm:t>
    </dgm:pt>
    <dgm:pt modelId="{EE7E4897-697A-074A-8D56-22609C653170}" type="parTrans" cxnId="{05143FFE-D150-B248-A088-30819006877A}">
      <dgm:prSet/>
      <dgm:spPr/>
      <dgm:t>
        <a:bodyPr/>
        <a:lstStyle/>
        <a:p>
          <a:endParaRPr lang="zh-CN" alt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06F05B1F-002D-6D44-86EF-CA354B036EE4}" type="sibTrans" cxnId="{05143FFE-D150-B248-A088-30819006877A}">
      <dgm:prSet/>
      <dgm:spPr/>
      <dgm:t>
        <a:bodyPr/>
        <a:lstStyle/>
        <a:p>
          <a:endParaRPr lang="zh-CN" alt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B7D20505-2988-A64E-ABFC-A337A50B8515}">
      <dgm:prSet custT="1"/>
      <dgm:spPr>
        <a:xfrm>
          <a:off x="259216" y="5026808"/>
          <a:ext cx="3629025" cy="560880"/>
        </a:xfrm>
        <a:prstGeom prst="roundRect">
          <a:avLst/>
        </a:prstGeom>
        <a:solidFill>
          <a:srgbClr val="5B9BD5">
            <a:hueOff val="-6758543"/>
            <a:satOff val="-17419"/>
            <a:lumOff val="-11765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2000" b="1" dirty="0" err="1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基于最大流的最密子图查找</a:t>
          </a:r>
          <a:endParaRPr lang="en-US" sz="2000" b="1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gm:t>
    </dgm:pt>
    <dgm:pt modelId="{6986C275-428F-3E4E-BDDF-69F91050C4E0}" type="parTrans" cxnId="{8C9F3342-887B-A04D-83CD-9DB0DA58B691}">
      <dgm:prSet/>
      <dgm:spPr/>
      <dgm:t>
        <a:bodyPr/>
        <a:lstStyle/>
        <a:p>
          <a:endParaRPr lang="zh-CN" alt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9C02872D-B4BF-5544-AA39-833C4F5D9BBD}" type="sibTrans" cxnId="{8C9F3342-887B-A04D-83CD-9DB0DA58B691}">
      <dgm:prSet/>
      <dgm:spPr/>
      <dgm:t>
        <a:bodyPr/>
        <a:lstStyle/>
        <a:p>
          <a:endParaRPr lang="zh-CN" alt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A56E0AD6-1539-6646-B051-1E970E091E8B}" type="pres">
      <dgm:prSet presAssocID="{234A8BA1-138F-41BB-8D23-6161887B45D0}" presName="linear" presStyleCnt="0">
        <dgm:presLayoutVars>
          <dgm:dir/>
          <dgm:animLvl val="lvl"/>
          <dgm:resizeHandles val="exact"/>
        </dgm:presLayoutVars>
      </dgm:prSet>
      <dgm:spPr/>
    </dgm:pt>
    <dgm:pt modelId="{F6272F39-F7ED-9D47-873E-ABFF16E4452B}" type="pres">
      <dgm:prSet presAssocID="{A6DC25E7-C148-43BC-B198-DCC308B7D8E4}" presName="parentLin" presStyleCnt="0"/>
      <dgm:spPr/>
    </dgm:pt>
    <dgm:pt modelId="{6C556D7B-924E-D749-BB37-47E4A9B7C636}" type="pres">
      <dgm:prSet presAssocID="{A6DC25E7-C148-43BC-B198-DCC308B7D8E4}" presName="parentLeftMargin" presStyleLbl="node1" presStyleIdx="0" presStyleCnt="5"/>
      <dgm:spPr/>
    </dgm:pt>
    <dgm:pt modelId="{EA707B86-A050-A54C-AF6E-D456301B09F7}" type="pres">
      <dgm:prSet presAssocID="{A6DC25E7-C148-43BC-B198-DCC308B7D8E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3C2C8DA-2EA3-E546-B00C-9AAC98739F2A}" type="pres">
      <dgm:prSet presAssocID="{A6DC25E7-C148-43BC-B198-DCC308B7D8E4}" presName="negativeSpace" presStyleCnt="0"/>
      <dgm:spPr/>
    </dgm:pt>
    <dgm:pt modelId="{D823D4E0-570D-A246-9B72-92AD024C9C06}" type="pres">
      <dgm:prSet presAssocID="{A6DC25E7-C148-43BC-B198-DCC308B7D8E4}" presName="childText" presStyleLbl="conFgAcc1" presStyleIdx="0" presStyleCnt="5">
        <dgm:presLayoutVars>
          <dgm:bulletEnabled val="1"/>
        </dgm:presLayoutVars>
      </dgm:prSet>
      <dgm:spPr/>
    </dgm:pt>
    <dgm:pt modelId="{850346E8-8B2E-D546-BB8A-BF3001FFD364}" type="pres">
      <dgm:prSet presAssocID="{C5F6E1ED-AC92-44F7-A3A8-1B6ED87DF57E}" presName="spaceBetweenRectangles" presStyleCnt="0"/>
      <dgm:spPr/>
    </dgm:pt>
    <dgm:pt modelId="{8FF51E2C-B88E-8C45-8815-C88FE57AE96F}" type="pres">
      <dgm:prSet presAssocID="{4618C007-D795-4730-B470-B46B08688DA2}" presName="parentLin" presStyleCnt="0"/>
      <dgm:spPr/>
    </dgm:pt>
    <dgm:pt modelId="{AE3D6D8D-85E2-CF4B-95DA-1AF4F0A7BC7A}" type="pres">
      <dgm:prSet presAssocID="{4618C007-D795-4730-B470-B46B08688DA2}" presName="parentLeftMargin" presStyleLbl="node1" presStyleIdx="0" presStyleCnt="5"/>
      <dgm:spPr/>
    </dgm:pt>
    <dgm:pt modelId="{87CAC6A4-903F-064B-9C91-00ABA97809D5}" type="pres">
      <dgm:prSet presAssocID="{4618C007-D795-4730-B470-B46B08688DA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3C4F4C5-FE7B-AE42-83C3-B3CADEAAD9D2}" type="pres">
      <dgm:prSet presAssocID="{4618C007-D795-4730-B470-B46B08688DA2}" presName="negativeSpace" presStyleCnt="0"/>
      <dgm:spPr/>
    </dgm:pt>
    <dgm:pt modelId="{597AE971-BDE8-5444-8785-A83E0C931603}" type="pres">
      <dgm:prSet presAssocID="{4618C007-D795-4730-B470-B46B08688DA2}" presName="childText" presStyleLbl="conFgAcc1" presStyleIdx="1" presStyleCnt="5">
        <dgm:presLayoutVars>
          <dgm:bulletEnabled val="1"/>
        </dgm:presLayoutVars>
      </dgm:prSet>
      <dgm:spPr/>
    </dgm:pt>
    <dgm:pt modelId="{277D076D-0B3D-044E-8789-5FC845E89445}" type="pres">
      <dgm:prSet presAssocID="{FD210294-9C04-4B11-AB13-0F007CA01D51}" presName="spaceBetweenRectangles" presStyleCnt="0"/>
      <dgm:spPr/>
    </dgm:pt>
    <dgm:pt modelId="{A961B762-3926-7843-A415-CAA12A0D61F9}" type="pres">
      <dgm:prSet presAssocID="{47973655-8AE0-9B42-A54F-BBB8BC269214}" presName="parentLin" presStyleCnt="0"/>
      <dgm:spPr/>
    </dgm:pt>
    <dgm:pt modelId="{0D6B55D5-B4C6-B447-89B1-4B16C3B2B7E9}" type="pres">
      <dgm:prSet presAssocID="{47973655-8AE0-9B42-A54F-BBB8BC269214}" presName="parentLeftMargin" presStyleLbl="node1" presStyleIdx="1" presStyleCnt="5"/>
      <dgm:spPr/>
    </dgm:pt>
    <dgm:pt modelId="{5B8EEC7D-5D9D-DF44-8C6E-7FD5D733A4FC}" type="pres">
      <dgm:prSet presAssocID="{47973655-8AE0-9B42-A54F-BBB8BC26921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1A8A4D0-E3F7-BD4A-AA4F-3046862725CE}" type="pres">
      <dgm:prSet presAssocID="{47973655-8AE0-9B42-A54F-BBB8BC269214}" presName="negativeSpace" presStyleCnt="0"/>
      <dgm:spPr/>
    </dgm:pt>
    <dgm:pt modelId="{77E855CA-1742-0042-AC18-5D0EA1466A5A}" type="pres">
      <dgm:prSet presAssocID="{47973655-8AE0-9B42-A54F-BBB8BC269214}" presName="childText" presStyleLbl="conFgAcc1" presStyleIdx="2" presStyleCnt="5">
        <dgm:presLayoutVars>
          <dgm:bulletEnabled val="1"/>
        </dgm:presLayoutVars>
      </dgm:prSet>
      <dgm:spPr>
        <a:xfrm>
          <a:off x="0" y="3583568"/>
          <a:ext cx="5184322" cy="4788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3379271"/>
              <a:satOff val="-8710"/>
              <a:lumOff val="-5883"/>
              <a:alphaOff val="0"/>
            </a:srgbClr>
          </a:solidFill>
          <a:prstDash val="solid"/>
          <a:miter lim="800000"/>
        </a:ln>
        <a:effectLst/>
      </dgm:spPr>
    </dgm:pt>
    <dgm:pt modelId="{F8F62407-FB9A-804B-9FF2-3E94064C8A76}" type="pres">
      <dgm:prSet presAssocID="{06F05B1F-002D-6D44-86EF-CA354B036EE4}" presName="spaceBetweenRectangles" presStyleCnt="0"/>
      <dgm:spPr/>
    </dgm:pt>
    <dgm:pt modelId="{D8BC93BE-3E4F-A24F-8F20-40C53F1FEF33}" type="pres">
      <dgm:prSet presAssocID="{E1966750-F290-41D1-B653-29FA4465EF32}" presName="parentLin" presStyleCnt="0"/>
      <dgm:spPr/>
    </dgm:pt>
    <dgm:pt modelId="{A08E2060-FC4C-594F-9E53-CFD1DF4E05BC}" type="pres">
      <dgm:prSet presAssocID="{E1966750-F290-41D1-B653-29FA4465EF32}" presName="parentLeftMargin" presStyleLbl="node1" presStyleIdx="2" presStyleCnt="5"/>
      <dgm:spPr/>
    </dgm:pt>
    <dgm:pt modelId="{CB788071-C671-DE42-9795-C16E53D7F727}" type="pres">
      <dgm:prSet presAssocID="{E1966750-F290-41D1-B653-29FA4465EF3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D3CAA28-1467-7241-8AB5-A55564456344}" type="pres">
      <dgm:prSet presAssocID="{E1966750-F290-41D1-B653-29FA4465EF32}" presName="negativeSpace" presStyleCnt="0"/>
      <dgm:spPr/>
    </dgm:pt>
    <dgm:pt modelId="{CCC03392-55D5-2243-A097-C124D95CE6F1}" type="pres">
      <dgm:prSet presAssocID="{E1966750-F290-41D1-B653-29FA4465EF32}" presName="childText" presStyleLbl="conFgAcc1" presStyleIdx="3" presStyleCnt="5">
        <dgm:presLayoutVars>
          <dgm:bulletEnabled val="1"/>
        </dgm:presLayoutVars>
      </dgm:prSet>
      <dgm:spPr>
        <a:xfrm>
          <a:off x="0" y="4445408"/>
          <a:ext cx="5184322" cy="4788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5068907"/>
              <a:satOff val="-13064"/>
              <a:lumOff val="-8824"/>
              <a:alphaOff val="0"/>
            </a:srgbClr>
          </a:solidFill>
          <a:prstDash val="solid"/>
          <a:miter lim="800000"/>
        </a:ln>
        <a:effectLst/>
      </dgm:spPr>
    </dgm:pt>
    <dgm:pt modelId="{26F525A7-20CA-5F4F-AF79-EB185915A679}" type="pres">
      <dgm:prSet presAssocID="{CB0BD3D8-57C4-4FA0-BFA0-6CD83A40BA45}" presName="spaceBetweenRectangles" presStyleCnt="0"/>
      <dgm:spPr/>
    </dgm:pt>
    <dgm:pt modelId="{7E2F897C-CFA3-974A-93A6-0D194F061ECC}" type="pres">
      <dgm:prSet presAssocID="{B7D20505-2988-A64E-ABFC-A337A50B8515}" presName="parentLin" presStyleCnt="0"/>
      <dgm:spPr/>
    </dgm:pt>
    <dgm:pt modelId="{BD92137A-C3B9-3C44-BD8B-57B0EA8E0D33}" type="pres">
      <dgm:prSet presAssocID="{B7D20505-2988-A64E-ABFC-A337A50B8515}" presName="parentLeftMargin" presStyleLbl="node1" presStyleIdx="3" presStyleCnt="5"/>
      <dgm:spPr/>
    </dgm:pt>
    <dgm:pt modelId="{295F6B93-2114-E748-848E-1211D16C9CE2}" type="pres">
      <dgm:prSet presAssocID="{B7D20505-2988-A64E-ABFC-A337A50B8515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401B40E4-6A41-2443-B49A-1EBA8BF3511D}" type="pres">
      <dgm:prSet presAssocID="{B7D20505-2988-A64E-ABFC-A337A50B8515}" presName="negativeSpace" presStyleCnt="0"/>
      <dgm:spPr/>
    </dgm:pt>
    <dgm:pt modelId="{F29F1465-1649-084C-AF91-B2D9E50A98A6}" type="pres">
      <dgm:prSet presAssocID="{B7D20505-2988-A64E-ABFC-A337A50B8515}" presName="childText" presStyleLbl="conFgAcc1" presStyleIdx="4" presStyleCnt="5">
        <dgm:presLayoutVars>
          <dgm:bulletEnabled val="1"/>
        </dgm:presLayoutVars>
      </dgm:prSet>
      <dgm:spPr>
        <a:xfrm>
          <a:off x="0" y="5307248"/>
          <a:ext cx="5184322" cy="4788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6758543"/>
              <a:satOff val="-17419"/>
              <a:lumOff val="-11765"/>
              <a:alphaOff val="0"/>
            </a:srgbClr>
          </a:solidFill>
          <a:prstDash val="solid"/>
          <a:miter lim="800000"/>
        </a:ln>
        <a:effectLst/>
      </dgm:spPr>
    </dgm:pt>
  </dgm:ptLst>
  <dgm:cxnLst>
    <dgm:cxn modelId="{EA051B04-2321-4D19-9805-8A8E998571FA}" srcId="{4618C007-D795-4730-B470-B46B08688DA2}" destId="{9DC90D6D-7655-438C-9592-9074A06DF1EF}" srcOrd="2" destOrd="0" parTransId="{FA586CB4-AAC5-4C39-B843-9C7FEF426C51}" sibTransId="{20D0E26C-7585-4697-BE0F-0B4033F541F5}"/>
    <dgm:cxn modelId="{91BF0306-35B2-D746-8EC0-7787EA104D6E}" type="presOf" srcId="{4618C007-D795-4730-B470-B46B08688DA2}" destId="{AE3D6D8D-85E2-CF4B-95DA-1AF4F0A7BC7A}" srcOrd="0" destOrd="0" presId="urn:microsoft.com/office/officeart/2005/8/layout/list1"/>
    <dgm:cxn modelId="{7925F20D-CB4A-B54B-B5A6-B11AB0667B6E}" type="presOf" srcId="{47973655-8AE0-9B42-A54F-BBB8BC269214}" destId="{5B8EEC7D-5D9D-DF44-8C6E-7FD5D733A4FC}" srcOrd="1" destOrd="0" presId="urn:microsoft.com/office/officeart/2005/8/layout/list1"/>
    <dgm:cxn modelId="{B66D651C-1047-4F84-8425-31DC8D0BB5B7}" srcId="{234A8BA1-138F-41BB-8D23-6161887B45D0}" destId="{E1966750-F290-41D1-B653-29FA4465EF32}" srcOrd="3" destOrd="0" parTransId="{C268E205-8775-4D2E-8116-A4452DD44384}" sibTransId="{CB0BD3D8-57C4-4FA0-BFA0-6CD83A40BA45}"/>
    <dgm:cxn modelId="{B1F7E526-4965-9F4D-9534-8D8D850C8D74}" type="presOf" srcId="{E1966750-F290-41D1-B653-29FA4465EF32}" destId="{A08E2060-FC4C-594F-9E53-CFD1DF4E05BC}" srcOrd="0" destOrd="0" presId="urn:microsoft.com/office/officeart/2005/8/layout/list1"/>
    <dgm:cxn modelId="{012C412A-3438-1D40-8E0F-C8345D3F6582}" type="presOf" srcId="{234A8BA1-138F-41BB-8D23-6161887B45D0}" destId="{A56E0AD6-1539-6646-B051-1E970E091E8B}" srcOrd="0" destOrd="0" presId="urn:microsoft.com/office/officeart/2005/8/layout/list1"/>
    <dgm:cxn modelId="{752C1D5C-60D3-9A4E-969B-F2FA3EA51C97}" type="presOf" srcId="{B7D20505-2988-A64E-ABFC-A337A50B8515}" destId="{BD92137A-C3B9-3C44-BD8B-57B0EA8E0D33}" srcOrd="0" destOrd="0" presId="urn:microsoft.com/office/officeart/2005/8/layout/list1"/>
    <dgm:cxn modelId="{8C9F3342-887B-A04D-83CD-9DB0DA58B691}" srcId="{234A8BA1-138F-41BB-8D23-6161887B45D0}" destId="{B7D20505-2988-A64E-ABFC-A337A50B8515}" srcOrd="4" destOrd="0" parTransId="{6986C275-428F-3E4E-BDDF-69F91050C4E0}" sibTransId="{9C02872D-B4BF-5544-AA39-833C4F5D9BBD}"/>
    <dgm:cxn modelId="{485BD864-89FC-4CD4-A8EC-05D5D8570355}" srcId="{A6DC25E7-C148-43BC-B198-DCC308B7D8E4}" destId="{779370D5-CEC0-4B9B-91B9-2D4658D7E886}" srcOrd="0" destOrd="0" parTransId="{A01EC990-F312-4728-AA66-0558D43BFAF2}" sibTransId="{490431A6-7BA8-44F1-A61D-240159C30858}"/>
    <dgm:cxn modelId="{64F0124C-EFCE-2E48-A115-DCCA42ABBD9D}" type="presOf" srcId="{779370D5-CEC0-4B9B-91B9-2D4658D7E886}" destId="{D823D4E0-570D-A246-9B72-92AD024C9C06}" srcOrd="0" destOrd="0" presId="urn:microsoft.com/office/officeart/2005/8/layout/list1"/>
    <dgm:cxn modelId="{40477C6D-E1F1-B240-A688-7D82CFB3FE1D}" type="presOf" srcId="{829C3D77-3692-4CCF-8E4B-07C03CF489AC}" destId="{597AE971-BDE8-5444-8785-A83E0C931603}" srcOrd="0" destOrd="1" presId="urn:microsoft.com/office/officeart/2005/8/layout/list1"/>
    <dgm:cxn modelId="{BF74C27D-63D0-694E-81E3-E56DEBD247C6}" type="presOf" srcId="{4618C007-D795-4730-B470-B46B08688DA2}" destId="{87CAC6A4-903F-064B-9C91-00ABA97809D5}" srcOrd="1" destOrd="0" presId="urn:microsoft.com/office/officeart/2005/8/layout/list1"/>
    <dgm:cxn modelId="{C3EE5B9D-2324-574D-ADB6-299921496A49}" type="presOf" srcId="{00D6FFBE-0D6B-46B6-9121-95BCDFD884C7}" destId="{597AE971-BDE8-5444-8785-A83E0C931603}" srcOrd="0" destOrd="0" presId="urn:microsoft.com/office/officeart/2005/8/layout/list1"/>
    <dgm:cxn modelId="{483F47BC-754E-4BD5-981C-6144846B2FD2}" srcId="{234A8BA1-138F-41BB-8D23-6161887B45D0}" destId="{4618C007-D795-4730-B470-B46B08688DA2}" srcOrd="1" destOrd="0" parTransId="{0D7807B7-0D92-4BF2-952A-94F260CC0D96}" sibTransId="{FD210294-9C04-4B11-AB13-0F007CA01D51}"/>
    <dgm:cxn modelId="{10DA53BF-D285-4F72-A140-9F8D2C7A512A}" srcId="{4618C007-D795-4730-B470-B46B08688DA2}" destId="{829C3D77-3692-4CCF-8E4B-07C03CF489AC}" srcOrd="1" destOrd="0" parTransId="{B8F114E1-87BF-472C-8615-C50C3B78E4EA}" sibTransId="{FFDDF496-3CA0-4D60-8C6B-AAD0645E97F5}"/>
    <dgm:cxn modelId="{57FB80C4-B7A9-F44E-84AF-70608BE6BE0A}" type="presOf" srcId="{47973655-8AE0-9B42-A54F-BBB8BC269214}" destId="{0D6B55D5-B4C6-B447-89B1-4B16C3B2B7E9}" srcOrd="0" destOrd="0" presId="urn:microsoft.com/office/officeart/2005/8/layout/list1"/>
    <dgm:cxn modelId="{8395FAC6-FE70-460C-9219-9C4ED083B76E}" srcId="{4618C007-D795-4730-B470-B46B08688DA2}" destId="{00D6FFBE-0D6B-46B6-9121-95BCDFD884C7}" srcOrd="0" destOrd="0" parTransId="{6E21393E-247A-47D8-A24D-279BA3074894}" sibTransId="{F0779FF3-DFBD-42BE-AE9F-0ED34875AFA6}"/>
    <dgm:cxn modelId="{1C6AF7CD-105D-9F41-AF12-6FA519E7340F}" type="presOf" srcId="{B7D20505-2988-A64E-ABFC-A337A50B8515}" destId="{295F6B93-2114-E748-848E-1211D16C9CE2}" srcOrd="1" destOrd="0" presId="urn:microsoft.com/office/officeart/2005/8/layout/list1"/>
    <dgm:cxn modelId="{66BA77D7-AB52-124F-8636-97E5904D4992}" type="presOf" srcId="{A6DC25E7-C148-43BC-B198-DCC308B7D8E4}" destId="{EA707B86-A050-A54C-AF6E-D456301B09F7}" srcOrd="1" destOrd="0" presId="urn:microsoft.com/office/officeart/2005/8/layout/list1"/>
    <dgm:cxn modelId="{40836DE9-9379-4E03-9A2B-0A4E759DFA3E}" srcId="{234A8BA1-138F-41BB-8D23-6161887B45D0}" destId="{A6DC25E7-C148-43BC-B198-DCC308B7D8E4}" srcOrd="0" destOrd="0" parTransId="{E9F6A87D-EAE1-496E-90C5-94D76A26E1A0}" sibTransId="{C5F6E1ED-AC92-44F7-A3A8-1B6ED87DF57E}"/>
    <dgm:cxn modelId="{4BC62DEE-4657-0745-B68E-07C20D65B1E2}" type="presOf" srcId="{E1966750-F290-41D1-B653-29FA4465EF32}" destId="{CB788071-C671-DE42-9795-C16E53D7F727}" srcOrd="1" destOrd="0" presId="urn:microsoft.com/office/officeart/2005/8/layout/list1"/>
    <dgm:cxn modelId="{A89D20F0-467B-D748-BD82-4661E1A75BBB}" type="presOf" srcId="{9DC90D6D-7655-438C-9592-9074A06DF1EF}" destId="{597AE971-BDE8-5444-8785-A83E0C931603}" srcOrd="0" destOrd="2" presId="urn:microsoft.com/office/officeart/2005/8/layout/list1"/>
    <dgm:cxn modelId="{92A828F2-7600-5847-8FBE-3751C344F609}" type="presOf" srcId="{A6DC25E7-C148-43BC-B198-DCC308B7D8E4}" destId="{6C556D7B-924E-D749-BB37-47E4A9B7C636}" srcOrd="0" destOrd="0" presId="urn:microsoft.com/office/officeart/2005/8/layout/list1"/>
    <dgm:cxn modelId="{05143FFE-D150-B248-A088-30819006877A}" srcId="{234A8BA1-138F-41BB-8D23-6161887B45D0}" destId="{47973655-8AE0-9B42-A54F-BBB8BC269214}" srcOrd="2" destOrd="0" parTransId="{EE7E4897-697A-074A-8D56-22609C653170}" sibTransId="{06F05B1F-002D-6D44-86EF-CA354B036EE4}"/>
    <dgm:cxn modelId="{1D8DD106-1490-2D42-9425-727537AADABD}" type="presParOf" srcId="{A56E0AD6-1539-6646-B051-1E970E091E8B}" destId="{F6272F39-F7ED-9D47-873E-ABFF16E4452B}" srcOrd="0" destOrd="0" presId="urn:microsoft.com/office/officeart/2005/8/layout/list1"/>
    <dgm:cxn modelId="{A89078D1-09DE-1543-8865-B858EDD1F548}" type="presParOf" srcId="{F6272F39-F7ED-9D47-873E-ABFF16E4452B}" destId="{6C556D7B-924E-D749-BB37-47E4A9B7C636}" srcOrd="0" destOrd="0" presId="urn:microsoft.com/office/officeart/2005/8/layout/list1"/>
    <dgm:cxn modelId="{405D8049-4118-124A-AE81-FD9CA93C4AB0}" type="presParOf" srcId="{F6272F39-F7ED-9D47-873E-ABFF16E4452B}" destId="{EA707B86-A050-A54C-AF6E-D456301B09F7}" srcOrd="1" destOrd="0" presId="urn:microsoft.com/office/officeart/2005/8/layout/list1"/>
    <dgm:cxn modelId="{C330121E-CBCB-1345-869F-C910A6B8C519}" type="presParOf" srcId="{A56E0AD6-1539-6646-B051-1E970E091E8B}" destId="{B3C2C8DA-2EA3-E546-B00C-9AAC98739F2A}" srcOrd="1" destOrd="0" presId="urn:microsoft.com/office/officeart/2005/8/layout/list1"/>
    <dgm:cxn modelId="{2B39D18E-C770-BF4B-AA1B-EB0DA8DD43A4}" type="presParOf" srcId="{A56E0AD6-1539-6646-B051-1E970E091E8B}" destId="{D823D4E0-570D-A246-9B72-92AD024C9C06}" srcOrd="2" destOrd="0" presId="urn:microsoft.com/office/officeart/2005/8/layout/list1"/>
    <dgm:cxn modelId="{F7598227-4958-8241-9D87-98FF0E05E595}" type="presParOf" srcId="{A56E0AD6-1539-6646-B051-1E970E091E8B}" destId="{850346E8-8B2E-D546-BB8A-BF3001FFD364}" srcOrd="3" destOrd="0" presId="urn:microsoft.com/office/officeart/2005/8/layout/list1"/>
    <dgm:cxn modelId="{8AE0B089-906B-D547-9FF8-EE1989A36ABE}" type="presParOf" srcId="{A56E0AD6-1539-6646-B051-1E970E091E8B}" destId="{8FF51E2C-B88E-8C45-8815-C88FE57AE96F}" srcOrd="4" destOrd="0" presId="urn:microsoft.com/office/officeart/2005/8/layout/list1"/>
    <dgm:cxn modelId="{E9653A90-736F-934E-8697-EEF26E4E7068}" type="presParOf" srcId="{8FF51E2C-B88E-8C45-8815-C88FE57AE96F}" destId="{AE3D6D8D-85E2-CF4B-95DA-1AF4F0A7BC7A}" srcOrd="0" destOrd="0" presId="urn:microsoft.com/office/officeart/2005/8/layout/list1"/>
    <dgm:cxn modelId="{6435E807-20AD-B84A-94F0-A579E12A580B}" type="presParOf" srcId="{8FF51E2C-B88E-8C45-8815-C88FE57AE96F}" destId="{87CAC6A4-903F-064B-9C91-00ABA97809D5}" srcOrd="1" destOrd="0" presId="urn:microsoft.com/office/officeart/2005/8/layout/list1"/>
    <dgm:cxn modelId="{17C59E17-FFF9-FD44-BF47-E58A4610F82C}" type="presParOf" srcId="{A56E0AD6-1539-6646-B051-1E970E091E8B}" destId="{63C4F4C5-FE7B-AE42-83C3-B3CADEAAD9D2}" srcOrd="5" destOrd="0" presId="urn:microsoft.com/office/officeart/2005/8/layout/list1"/>
    <dgm:cxn modelId="{89ED60A4-61F0-A643-BAB6-E6C8DEA2CB0B}" type="presParOf" srcId="{A56E0AD6-1539-6646-B051-1E970E091E8B}" destId="{597AE971-BDE8-5444-8785-A83E0C931603}" srcOrd="6" destOrd="0" presId="urn:microsoft.com/office/officeart/2005/8/layout/list1"/>
    <dgm:cxn modelId="{92C188B1-5343-6246-85ED-162D0913A230}" type="presParOf" srcId="{A56E0AD6-1539-6646-B051-1E970E091E8B}" destId="{277D076D-0B3D-044E-8789-5FC845E89445}" srcOrd="7" destOrd="0" presId="urn:microsoft.com/office/officeart/2005/8/layout/list1"/>
    <dgm:cxn modelId="{E19D3213-EC3A-6B42-B702-F6D639DAE3F9}" type="presParOf" srcId="{A56E0AD6-1539-6646-B051-1E970E091E8B}" destId="{A961B762-3926-7843-A415-CAA12A0D61F9}" srcOrd="8" destOrd="0" presId="urn:microsoft.com/office/officeart/2005/8/layout/list1"/>
    <dgm:cxn modelId="{477EDDA7-FCF9-FE4C-B642-30A393542443}" type="presParOf" srcId="{A961B762-3926-7843-A415-CAA12A0D61F9}" destId="{0D6B55D5-B4C6-B447-89B1-4B16C3B2B7E9}" srcOrd="0" destOrd="0" presId="urn:microsoft.com/office/officeart/2005/8/layout/list1"/>
    <dgm:cxn modelId="{CB3C97E9-10B4-B049-8581-FD7414BF4E06}" type="presParOf" srcId="{A961B762-3926-7843-A415-CAA12A0D61F9}" destId="{5B8EEC7D-5D9D-DF44-8C6E-7FD5D733A4FC}" srcOrd="1" destOrd="0" presId="urn:microsoft.com/office/officeart/2005/8/layout/list1"/>
    <dgm:cxn modelId="{5E27417B-3A30-794E-BA2A-2F4182A5457C}" type="presParOf" srcId="{A56E0AD6-1539-6646-B051-1E970E091E8B}" destId="{51A8A4D0-E3F7-BD4A-AA4F-3046862725CE}" srcOrd="9" destOrd="0" presId="urn:microsoft.com/office/officeart/2005/8/layout/list1"/>
    <dgm:cxn modelId="{257F49AB-10EE-9B45-A306-3E9DFE72E8D9}" type="presParOf" srcId="{A56E0AD6-1539-6646-B051-1E970E091E8B}" destId="{77E855CA-1742-0042-AC18-5D0EA1466A5A}" srcOrd="10" destOrd="0" presId="urn:microsoft.com/office/officeart/2005/8/layout/list1"/>
    <dgm:cxn modelId="{DBEDCE0D-A95D-F44C-A0C9-DDE89B4BDF58}" type="presParOf" srcId="{A56E0AD6-1539-6646-B051-1E970E091E8B}" destId="{F8F62407-FB9A-804B-9FF2-3E94064C8A76}" srcOrd="11" destOrd="0" presId="urn:microsoft.com/office/officeart/2005/8/layout/list1"/>
    <dgm:cxn modelId="{4C66F147-C53E-7B45-A82B-43D69D5A9D32}" type="presParOf" srcId="{A56E0AD6-1539-6646-B051-1E970E091E8B}" destId="{D8BC93BE-3E4F-A24F-8F20-40C53F1FEF33}" srcOrd="12" destOrd="0" presId="urn:microsoft.com/office/officeart/2005/8/layout/list1"/>
    <dgm:cxn modelId="{B9E81C62-44FD-1F42-B8FC-C157D4E1A6F7}" type="presParOf" srcId="{D8BC93BE-3E4F-A24F-8F20-40C53F1FEF33}" destId="{A08E2060-FC4C-594F-9E53-CFD1DF4E05BC}" srcOrd="0" destOrd="0" presId="urn:microsoft.com/office/officeart/2005/8/layout/list1"/>
    <dgm:cxn modelId="{BE282DF2-2FDA-EF41-81A6-0551B208C30B}" type="presParOf" srcId="{D8BC93BE-3E4F-A24F-8F20-40C53F1FEF33}" destId="{CB788071-C671-DE42-9795-C16E53D7F727}" srcOrd="1" destOrd="0" presId="urn:microsoft.com/office/officeart/2005/8/layout/list1"/>
    <dgm:cxn modelId="{4D8150B2-DA12-3E49-8EC4-D95F782AECAC}" type="presParOf" srcId="{A56E0AD6-1539-6646-B051-1E970E091E8B}" destId="{1D3CAA28-1467-7241-8AB5-A55564456344}" srcOrd="13" destOrd="0" presId="urn:microsoft.com/office/officeart/2005/8/layout/list1"/>
    <dgm:cxn modelId="{1BB239BE-FE2C-0D40-807A-AAA9D75F5483}" type="presParOf" srcId="{A56E0AD6-1539-6646-B051-1E970E091E8B}" destId="{CCC03392-55D5-2243-A097-C124D95CE6F1}" srcOrd="14" destOrd="0" presId="urn:microsoft.com/office/officeart/2005/8/layout/list1"/>
    <dgm:cxn modelId="{544492F5-3657-7C46-98EB-3E4CC0DD68F6}" type="presParOf" srcId="{A56E0AD6-1539-6646-B051-1E970E091E8B}" destId="{26F525A7-20CA-5F4F-AF79-EB185915A679}" srcOrd="15" destOrd="0" presId="urn:microsoft.com/office/officeart/2005/8/layout/list1"/>
    <dgm:cxn modelId="{C8C0E60D-20FA-A347-84D0-C93F5E466AC0}" type="presParOf" srcId="{A56E0AD6-1539-6646-B051-1E970E091E8B}" destId="{7E2F897C-CFA3-974A-93A6-0D194F061ECC}" srcOrd="16" destOrd="0" presId="urn:microsoft.com/office/officeart/2005/8/layout/list1"/>
    <dgm:cxn modelId="{99A8931D-D671-CB47-90C4-DC2B45FC685B}" type="presParOf" srcId="{7E2F897C-CFA3-974A-93A6-0D194F061ECC}" destId="{BD92137A-C3B9-3C44-BD8B-57B0EA8E0D33}" srcOrd="0" destOrd="0" presId="urn:microsoft.com/office/officeart/2005/8/layout/list1"/>
    <dgm:cxn modelId="{F51C84B4-C318-A647-97DF-3C7F50D3B212}" type="presParOf" srcId="{7E2F897C-CFA3-974A-93A6-0D194F061ECC}" destId="{295F6B93-2114-E748-848E-1211D16C9CE2}" srcOrd="1" destOrd="0" presId="urn:microsoft.com/office/officeart/2005/8/layout/list1"/>
    <dgm:cxn modelId="{E74AE3C1-A324-3046-9DDC-33629EBB3C2A}" type="presParOf" srcId="{A56E0AD6-1539-6646-B051-1E970E091E8B}" destId="{401B40E4-6A41-2443-B49A-1EBA8BF3511D}" srcOrd="17" destOrd="0" presId="urn:microsoft.com/office/officeart/2005/8/layout/list1"/>
    <dgm:cxn modelId="{B1550595-18D5-6B44-8BD1-895FB3232DEC}" type="presParOf" srcId="{A56E0AD6-1539-6646-B051-1E970E091E8B}" destId="{F29F1465-1649-084C-AF91-B2D9E50A98A6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34A8BA1-138F-41BB-8D23-6161887B45D0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6DC25E7-C148-43BC-B198-DCC308B7D8E4}">
      <dgm:prSet custT="1"/>
      <dgm:spPr>
        <a:xfrm>
          <a:off x="259216" y="83198"/>
          <a:ext cx="3629025" cy="560880"/>
        </a:xfrm>
        <a:prstGeom prst="roundRect">
          <a:avLst/>
        </a:prstGeom>
        <a:solidFill>
          <a:srgbClr val="5B9BD5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zh-CN" altLang="en-US" sz="2000" b="1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流网络</a:t>
          </a:r>
          <a:endParaRPr lang="en-US" sz="2000" b="1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gm:t>
    </dgm:pt>
    <dgm:pt modelId="{E9F6A87D-EAE1-496E-90C5-94D76A26E1A0}" type="parTrans" cxnId="{40836DE9-9379-4E03-9A2B-0A4E759DFA3E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C5F6E1ED-AC92-44F7-A3A8-1B6ED87DF57E}" type="sibTrans" cxnId="{40836DE9-9379-4E03-9A2B-0A4E759DFA3E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779370D5-CEC0-4B9B-91B9-2D4658D7E886}">
      <dgm:prSet custT="1"/>
      <dgm:spPr>
        <a:xfrm>
          <a:off x="0" y="363638"/>
          <a:ext cx="5184322" cy="867825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Char char="•"/>
          </a:pPr>
          <a:r>
            <a:rPr lang="zh-CN" altLang="en-US" sz="1600" b="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基本概念：流，最大流，割</a:t>
          </a:r>
          <a:endParaRPr lang="en-US" sz="1600" b="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gm:t>
    </dgm:pt>
    <dgm:pt modelId="{A01EC990-F312-4728-AA66-0558D43BFAF2}" type="parTrans" cxnId="{485BD864-89FC-4CD4-A8EC-05D5D8570355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490431A6-7BA8-44F1-A61D-240159C30858}" type="sibTrans" cxnId="{485BD864-89FC-4CD4-A8EC-05D5D8570355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4618C007-D795-4730-B470-B46B08688DA2}">
      <dgm:prSet custT="1"/>
      <dgm:spPr>
        <a:xfrm>
          <a:off x="259216" y="1334063"/>
          <a:ext cx="3629025" cy="560880"/>
        </a:xfrm>
        <a:prstGeom prst="roundRect">
          <a:avLst/>
        </a:prstGeom>
        <a:solidFill>
          <a:srgbClr val="5B9BD5">
            <a:hueOff val="-1689636"/>
            <a:satOff val="-4355"/>
            <a:lumOff val="-2941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2000" b="1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Ford-Fulkerson</a:t>
          </a:r>
          <a:r>
            <a:rPr lang="zh-CN" altLang="en-US" sz="2000" b="1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算法</a:t>
          </a:r>
          <a:endParaRPr lang="en-US" sz="2000" b="1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gm:t>
    </dgm:pt>
    <dgm:pt modelId="{0D7807B7-0D92-4BF2-952A-94F260CC0D96}" type="parTrans" cxnId="{483F47BC-754E-4BD5-981C-6144846B2FD2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FD210294-9C04-4B11-AB13-0F007CA01D51}" type="sibTrans" cxnId="{483F47BC-754E-4BD5-981C-6144846B2FD2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00D6FFBE-0D6B-46B6-9121-95BCDFD884C7}">
      <dgm:prSet custT="1"/>
      <dgm:spPr>
        <a:xfrm>
          <a:off x="0" y="1614503"/>
          <a:ext cx="5184322" cy="1586025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1689636"/>
              <a:satOff val="-4355"/>
              <a:lumOff val="-2941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Char char="•"/>
          </a:pPr>
          <a:r>
            <a:rPr lang="zh-CN" altLang="en-US" sz="1600" b="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剩余网络</a:t>
          </a:r>
          <a:endParaRPr lang="en-US" sz="1600" b="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gm:t>
    </dgm:pt>
    <dgm:pt modelId="{6E21393E-247A-47D8-A24D-279BA3074894}" type="parTrans" cxnId="{8395FAC6-FE70-460C-9219-9C4ED083B76E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F0779FF3-DFBD-42BE-AE9F-0ED34875AFA6}" type="sibTrans" cxnId="{8395FAC6-FE70-460C-9219-9C4ED083B76E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829C3D77-3692-4CCF-8E4B-07C03CF489AC}">
      <dgm:prSet custT="1"/>
      <dgm:spPr>
        <a:xfrm>
          <a:off x="0" y="1614503"/>
          <a:ext cx="5184322" cy="1586025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1689636"/>
              <a:satOff val="-4355"/>
              <a:lumOff val="-2941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Char char="•"/>
          </a:pPr>
          <a:r>
            <a:rPr lang="zh-CN" altLang="en-US" sz="1600" b="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增广路径</a:t>
          </a:r>
          <a:endParaRPr lang="en-US" sz="1600" b="0" kern="120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gm:t>
    </dgm:pt>
    <dgm:pt modelId="{B8F114E1-87BF-472C-8615-C50C3B78E4EA}" type="parTrans" cxnId="{10DA53BF-D285-4F72-A140-9F8D2C7A512A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FFDDF496-3CA0-4D60-8C6B-AAD0645E97F5}" type="sibTrans" cxnId="{10DA53BF-D285-4F72-A140-9F8D2C7A512A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9DC90D6D-7655-438C-9592-9074A06DF1EF}">
      <dgm:prSet custT="1"/>
      <dgm:spPr>
        <a:xfrm>
          <a:off x="0" y="1614503"/>
          <a:ext cx="5184322" cy="1586025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1689636"/>
              <a:satOff val="-4355"/>
              <a:lumOff val="-2941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Char char="•"/>
          </a:pPr>
          <a:r>
            <a:rPr lang="zh-CN" altLang="en-US" sz="1600" b="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流网络的割</a:t>
          </a:r>
          <a:endParaRPr lang="en-US" sz="1600" b="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gm:t>
    </dgm:pt>
    <dgm:pt modelId="{FA586CB4-AAC5-4C39-B843-9C7FEF426C51}" type="parTrans" cxnId="{EA051B04-2321-4D19-9805-8A8E998571FA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20D0E26C-7585-4697-BE0F-0B4033F541F5}" type="sibTrans" cxnId="{EA051B04-2321-4D19-9805-8A8E998571FA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E1966750-F290-41D1-B653-29FA4465EF32}">
      <dgm:prSet custT="1"/>
      <dgm:spPr>
        <a:xfrm>
          <a:off x="259216" y="4164968"/>
          <a:ext cx="3629025" cy="560880"/>
        </a:xfrm>
        <a:prstGeom prst="roundRect">
          <a:avLst/>
        </a:prstGeom>
        <a:solidFill>
          <a:srgbClr val="5B9BD5">
            <a:hueOff val="-5068907"/>
            <a:satOff val="-13064"/>
            <a:lumOff val="-8824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zh-CN" altLang="en-US" sz="2000" b="1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最大二分匹配</a:t>
          </a:r>
          <a:endParaRPr lang="en-US" sz="2000" b="1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gm:t>
    </dgm:pt>
    <dgm:pt modelId="{C268E205-8775-4D2E-8116-A4452DD44384}" type="parTrans" cxnId="{B66D651C-1047-4F84-8425-31DC8D0BB5B7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CB0BD3D8-57C4-4FA0-BFA0-6CD83A40BA45}" type="sibTrans" cxnId="{B66D651C-1047-4F84-8425-31DC8D0BB5B7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47973655-8AE0-9B42-A54F-BBB8BC269214}">
      <dgm:prSet custT="1"/>
      <dgm:spPr>
        <a:xfrm>
          <a:off x="259216" y="3303128"/>
          <a:ext cx="3629025" cy="560880"/>
        </a:xfrm>
        <a:prstGeom prst="roundRect">
          <a:avLst/>
        </a:prstGeom>
        <a:solidFill>
          <a:srgbClr val="5B9BD5">
            <a:hueOff val="-3379271"/>
            <a:satOff val="-8710"/>
            <a:lumOff val="-5883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altLang="zh-CN" sz="2000" b="1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Edmonds-Karp</a:t>
          </a:r>
          <a:r>
            <a:rPr lang="zh-CN" altLang="en-US" sz="2000" b="1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算法</a:t>
          </a:r>
          <a:endParaRPr lang="en-US" sz="2000" b="1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gm:t>
    </dgm:pt>
    <dgm:pt modelId="{EE7E4897-697A-074A-8D56-22609C653170}" type="parTrans" cxnId="{05143FFE-D150-B248-A088-30819006877A}">
      <dgm:prSet/>
      <dgm:spPr/>
      <dgm:t>
        <a:bodyPr/>
        <a:lstStyle/>
        <a:p>
          <a:endParaRPr lang="zh-CN" alt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06F05B1F-002D-6D44-86EF-CA354B036EE4}" type="sibTrans" cxnId="{05143FFE-D150-B248-A088-30819006877A}">
      <dgm:prSet/>
      <dgm:spPr/>
      <dgm:t>
        <a:bodyPr/>
        <a:lstStyle/>
        <a:p>
          <a:endParaRPr lang="zh-CN" alt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B7D20505-2988-A64E-ABFC-A337A50B8515}">
      <dgm:prSet custT="1"/>
      <dgm:spPr>
        <a:xfrm>
          <a:off x="259216" y="5026808"/>
          <a:ext cx="3629025" cy="560880"/>
        </a:xfrm>
        <a:prstGeom prst="roundRect">
          <a:avLst/>
        </a:prstGeom>
        <a:solidFill>
          <a:srgbClr val="5B9BD5">
            <a:hueOff val="-6758543"/>
            <a:satOff val="-17419"/>
            <a:lumOff val="-11765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2000" b="1" dirty="0" err="1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基于最大流的最密子图查找</a:t>
          </a:r>
          <a:endParaRPr lang="en-US" sz="2000" b="1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gm:t>
    </dgm:pt>
    <dgm:pt modelId="{6986C275-428F-3E4E-BDDF-69F91050C4E0}" type="parTrans" cxnId="{8C9F3342-887B-A04D-83CD-9DB0DA58B691}">
      <dgm:prSet/>
      <dgm:spPr/>
      <dgm:t>
        <a:bodyPr/>
        <a:lstStyle/>
        <a:p>
          <a:endParaRPr lang="zh-CN" alt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9C02872D-B4BF-5544-AA39-833C4F5D9BBD}" type="sibTrans" cxnId="{8C9F3342-887B-A04D-83CD-9DB0DA58B691}">
      <dgm:prSet/>
      <dgm:spPr/>
      <dgm:t>
        <a:bodyPr/>
        <a:lstStyle/>
        <a:p>
          <a:endParaRPr lang="zh-CN" alt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A56E0AD6-1539-6646-B051-1E970E091E8B}" type="pres">
      <dgm:prSet presAssocID="{234A8BA1-138F-41BB-8D23-6161887B45D0}" presName="linear" presStyleCnt="0">
        <dgm:presLayoutVars>
          <dgm:dir/>
          <dgm:animLvl val="lvl"/>
          <dgm:resizeHandles val="exact"/>
        </dgm:presLayoutVars>
      </dgm:prSet>
      <dgm:spPr/>
    </dgm:pt>
    <dgm:pt modelId="{F6272F39-F7ED-9D47-873E-ABFF16E4452B}" type="pres">
      <dgm:prSet presAssocID="{A6DC25E7-C148-43BC-B198-DCC308B7D8E4}" presName="parentLin" presStyleCnt="0"/>
      <dgm:spPr/>
    </dgm:pt>
    <dgm:pt modelId="{6C556D7B-924E-D749-BB37-47E4A9B7C636}" type="pres">
      <dgm:prSet presAssocID="{A6DC25E7-C148-43BC-B198-DCC308B7D8E4}" presName="parentLeftMargin" presStyleLbl="node1" presStyleIdx="0" presStyleCnt="5"/>
      <dgm:spPr/>
    </dgm:pt>
    <dgm:pt modelId="{EA707B86-A050-A54C-AF6E-D456301B09F7}" type="pres">
      <dgm:prSet presAssocID="{A6DC25E7-C148-43BC-B198-DCC308B7D8E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3C2C8DA-2EA3-E546-B00C-9AAC98739F2A}" type="pres">
      <dgm:prSet presAssocID="{A6DC25E7-C148-43BC-B198-DCC308B7D8E4}" presName="negativeSpace" presStyleCnt="0"/>
      <dgm:spPr/>
    </dgm:pt>
    <dgm:pt modelId="{D823D4E0-570D-A246-9B72-92AD024C9C06}" type="pres">
      <dgm:prSet presAssocID="{A6DC25E7-C148-43BC-B198-DCC308B7D8E4}" presName="childText" presStyleLbl="conFgAcc1" presStyleIdx="0" presStyleCnt="5">
        <dgm:presLayoutVars>
          <dgm:bulletEnabled val="1"/>
        </dgm:presLayoutVars>
      </dgm:prSet>
      <dgm:spPr/>
    </dgm:pt>
    <dgm:pt modelId="{850346E8-8B2E-D546-BB8A-BF3001FFD364}" type="pres">
      <dgm:prSet presAssocID="{C5F6E1ED-AC92-44F7-A3A8-1B6ED87DF57E}" presName="spaceBetweenRectangles" presStyleCnt="0"/>
      <dgm:spPr/>
    </dgm:pt>
    <dgm:pt modelId="{8FF51E2C-B88E-8C45-8815-C88FE57AE96F}" type="pres">
      <dgm:prSet presAssocID="{4618C007-D795-4730-B470-B46B08688DA2}" presName="parentLin" presStyleCnt="0"/>
      <dgm:spPr/>
    </dgm:pt>
    <dgm:pt modelId="{AE3D6D8D-85E2-CF4B-95DA-1AF4F0A7BC7A}" type="pres">
      <dgm:prSet presAssocID="{4618C007-D795-4730-B470-B46B08688DA2}" presName="parentLeftMargin" presStyleLbl="node1" presStyleIdx="0" presStyleCnt="5"/>
      <dgm:spPr/>
    </dgm:pt>
    <dgm:pt modelId="{87CAC6A4-903F-064B-9C91-00ABA97809D5}" type="pres">
      <dgm:prSet presAssocID="{4618C007-D795-4730-B470-B46B08688DA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3C4F4C5-FE7B-AE42-83C3-B3CADEAAD9D2}" type="pres">
      <dgm:prSet presAssocID="{4618C007-D795-4730-B470-B46B08688DA2}" presName="negativeSpace" presStyleCnt="0"/>
      <dgm:spPr/>
    </dgm:pt>
    <dgm:pt modelId="{597AE971-BDE8-5444-8785-A83E0C931603}" type="pres">
      <dgm:prSet presAssocID="{4618C007-D795-4730-B470-B46B08688DA2}" presName="childText" presStyleLbl="conFgAcc1" presStyleIdx="1" presStyleCnt="5">
        <dgm:presLayoutVars>
          <dgm:bulletEnabled val="1"/>
        </dgm:presLayoutVars>
      </dgm:prSet>
      <dgm:spPr/>
    </dgm:pt>
    <dgm:pt modelId="{277D076D-0B3D-044E-8789-5FC845E89445}" type="pres">
      <dgm:prSet presAssocID="{FD210294-9C04-4B11-AB13-0F007CA01D51}" presName="spaceBetweenRectangles" presStyleCnt="0"/>
      <dgm:spPr/>
    </dgm:pt>
    <dgm:pt modelId="{A961B762-3926-7843-A415-CAA12A0D61F9}" type="pres">
      <dgm:prSet presAssocID="{47973655-8AE0-9B42-A54F-BBB8BC269214}" presName="parentLin" presStyleCnt="0"/>
      <dgm:spPr/>
    </dgm:pt>
    <dgm:pt modelId="{0D6B55D5-B4C6-B447-89B1-4B16C3B2B7E9}" type="pres">
      <dgm:prSet presAssocID="{47973655-8AE0-9B42-A54F-BBB8BC269214}" presName="parentLeftMargin" presStyleLbl="node1" presStyleIdx="1" presStyleCnt="5"/>
      <dgm:spPr/>
    </dgm:pt>
    <dgm:pt modelId="{5B8EEC7D-5D9D-DF44-8C6E-7FD5D733A4FC}" type="pres">
      <dgm:prSet presAssocID="{47973655-8AE0-9B42-A54F-BBB8BC26921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1A8A4D0-E3F7-BD4A-AA4F-3046862725CE}" type="pres">
      <dgm:prSet presAssocID="{47973655-8AE0-9B42-A54F-BBB8BC269214}" presName="negativeSpace" presStyleCnt="0"/>
      <dgm:spPr/>
    </dgm:pt>
    <dgm:pt modelId="{77E855CA-1742-0042-AC18-5D0EA1466A5A}" type="pres">
      <dgm:prSet presAssocID="{47973655-8AE0-9B42-A54F-BBB8BC269214}" presName="childText" presStyleLbl="conFgAcc1" presStyleIdx="2" presStyleCnt="5">
        <dgm:presLayoutVars>
          <dgm:bulletEnabled val="1"/>
        </dgm:presLayoutVars>
      </dgm:prSet>
      <dgm:spPr>
        <a:xfrm>
          <a:off x="0" y="3583568"/>
          <a:ext cx="5184322" cy="4788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3379271"/>
              <a:satOff val="-8710"/>
              <a:lumOff val="-5883"/>
              <a:alphaOff val="0"/>
            </a:srgbClr>
          </a:solidFill>
          <a:prstDash val="solid"/>
          <a:miter lim="800000"/>
        </a:ln>
        <a:effectLst/>
      </dgm:spPr>
    </dgm:pt>
    <dgm:pt modelId="{F8F62407-FB9A-804B-9FF2-3E94064C8A76}" type="pres">
      <dgm:prSet presAssocID="{06F05B1F-002D-6D44-86EF-CA354B036EE4}" presName="spaceBetweenRectangles" presStyleCnt="0"/>
      <dgm:spPr/>
    </dgm:pt>
    <dgm:pt modelId="{D8BC93BE-3E4F-A24F-8F20-40C53F1FEF33}" type="pres">
      <dgm:prSet presAssocID="{E1966750-F290-41D1-B653-29FA4465EF32}" presName="parentLin" presStyleCnt="0"/>
      <dgm:spPr/>
    </dgm:pt>
    <dgm:pt modelId="{A08E2060-FC4C-594F-9E53-CFD1DF4E05BC}" type="pres">
      <dgm:prSet presAssocID="{E1966750-F290-41D1-B653-29FA4465EF32}" presName="parentLeftMargin" presStyleLbl="node1" presStyleIdx="2" presStyleCnt="5"/>
      <dgm:spPr/>
    </dgm:pt>
    <dgm:pt modelId="{CB788071-C671-DE42-9795-C16E53D7F727}" type="pres">
      <dgm:prSet presAssocID="{E1966750-F290-41D1-B653-29FA4465EF3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D3CAA28-1467-7241-8AB5-A55564456344}" type="pres">
      <dgm:prSet presAssocID="{E1966750-F290-41D1-B653-29FA4465EF32}" presName="negativeSpace" presStyleCnt="0"/>
      <dgm:spPr/>
    </dgm:pt>
    <dgm:pt modelId="{CCC03392-55D5-2243-A097-C124D95CE6F1}" type="pres">
      <dgm:prSet presAssocID="{E1966750-F290-41D1-B653-29FA4465EF32}" presName="childText" presStyleLbl="conFgAcc1" presStyleIdx="3" presStyleCnt="5">
        <dgm:presLayoutVars>
          <dgm:bulletEnabled val="1"/>
        </dgm:presLayoutVars>
      </dgm:prSet>
      <dgm:spPr>
        <a:xfrm>
          <a:off x="0" y="4445408"/>
          <a:ext cx="5184322" cy="4788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5068907"/>
              <a:satOff val="-13064"/>
              <a:lumOff val="-8824"/>
              <a:alphaOff val="0"/>
            </a:srgbClr>
          </a:solidFill>
          <a:prstDash val="solid"/>
          <a:miter lim="800000"/>
        </a:ln>
        <a:effectLst/>
      </dgm:spPr>
    </dgm:pt>
    <dgm:pt modelId="{26F525A7-20CA-5F4F-AF79-EB185915A679}" type="pres">
      <dgm:prSet presAssocID="{CB0BD3D8-57C4-4FA0-BFA0-6CD83A40BA45}" presName="spaceBetweenRectangles" presStyleCnt="0"/>
      <dgm:spPr/>
    </dgm:pt>
    <dgm:pt modelId="{7E2F897C-CFA3-974A-93A6-0D194F061ECC}" type="pres">
      <dgm:prSet presAssocID="{B7D20505-2988-A64E-ABFC-A337A50B8515}" presName="parentLin" presStyleCnt="0"/>
      <dgm:spPr/>
    </dgm:pt>
    <dgm:pt modelId="{BD92137A-C3B9-3C44-BD8B-57B0EA8E0D33}" type="pres">
      <dgm:prSet presAssocID="{B7D20505-2988-A64E-ABFC-A337A50B8515}" presName="parentLeftMargin" presStyleLbl="node1" presStyleIdx="3" presStyleCnt="5"/>
      <dgm:spPr/>
    </dgm:pt>
    <dgm:pt modelId="{295F6B93-2114-E748-848E-1211D16C9CE2}" type="pres">
      <dgm:prSet presAssocID="{B7D20505-2988-A64E-ABFC-A337A50B8515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401B40E4-6A41-2443-B49A-1EBA8BF3511D}" type="pres">
      <dgm:prSet presAssocID="{B7D20505-2988-A64E-ABFC-A337A50B8515}" presName="negativeSpace" presStyleCnt="0"/>
      <dgm:spPr/>
    </dgm:pt>
    <dgm:pt modelId="{F29F1465-1649-084C-AF91-B2D9E50A98A6}" type="pres">
      <dgm:prSet presAssocID="{B7D20505-2988-A64E-ABFC-A337A50B8515}" presName="childText" presStyleLbl="conFgAcc1" presStyleIdx="4" presStyleCnt="5">
        <dgm:presLayoutVars>
          <dgm:bulletEnabled val="1"/>
        </dgm:presLayoutVars>
      </dgm:prSet>
      <dgm:spPr>
        <a:xfrm>
          <a:off x="0" y="5307248"/>
          <a:ext cx="5184322" cy="4788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6758543"/>
              <a:satOff val="-17419"/>
              <a:lumOff val="-11765"/>
              <a:alphaOff val="0"/>
            </a:srgbClr>
          </a:solidFill>
          <a:prstDash val="solid"/>
          <a:miter lim="800000"/>
        </a:ln>
        <a:effectLst/>
      </dgm:spPr>
    </dgm:pt>
  </dgm:ptLst>
  <dgm:cxnLst>
    <dgm:cxn modelId="{EA051B04-2321-4D19-9805-8A8E998571FA}" srcId="{4618C007-D795-4730-B470-B46B08688DA2}" destId="{9DC90D6D-7655-438C-9592-9074A06DF1EF}" srcOrd="2" destOrd="0" parTransId="{FA586CB4-AAC5-4C39-B843-9C7FEF426C51}" sibTransId="{20D0E26C-7585-4697-BE0F-0B4033F541F5}"/>
    <dgm:cxn modelId="{91BF0306-35B2-D746-8EC0-7787EA104D6E}" type="presOf" srcId="{4618C007-D795-4730-B470-B46B08688DA2}" destId="{AE3D6D8D-85E2-CF4B-95DA-1AF4F0A7BC7A}" srcOrd="0" destOrd="0" presId="urn:microsoft.com/office/officeart/2005/8/layout/list1"/>
    <dgm:cxn modelId="{7925F20D-CB4A-B54B-B5A6-B11AB0667B6E}" type="presOf" srcId="{47973655-8AE0-9B42-A54F-BBB8BC269214}" destId="{5B8EEC7D-5D9D-DF44-8C6E-7FD5D733A4FC}" srcOrd="1" destOrd="0" presId="urn:microsoft.com/office/officeart/2005/8/layout/list1"/>
    <dgm:cxn modelId="{B66D651C-1047-4F84-8425-31DC8D0BB5B7}" srcId="{234A8BA1-138F-41BB-8D23-6161887B45D0}" destId="{E1966750-F290-41D1-B653-29FA4465EF32}" srcOrd="3" destOrd="0" parTransId="{C268E205-8775-4D2E-8116-A4452DD44384}" sibTransId="{CB0BD3D8-57C4-4FA0-BFA0-6CD83A40BA45}"/>
    <dgm:cxn modelId="{B1F7E526-4965-9F4D-9534-8D8D850C8D74}" type="presOf" srcId="{E1966750-F290-41D1-B653-29FA4465EF32}" destId="{A08E2060-FC4C-594F-9E53-CFD1DF4E05BC}" srcOrd="0" destOrd="0" presId="urn:microsoft.com/office/officeart/2005/8/layout/list1"/>
    <dgm:cxn modelId="{012C412A-3438-1D40-8E0F-C8345D3F6582}" type="presOf" srcId="{234A8BA1-138F-41BB-8D23-6161887B45D0}" destId="{A56E0AD6-1539-6646-B051-1E970E091E8B}" srcOrd="0" destOrd="0" presId="urn:microsoft.com/office/officeart/2005/8/layout/list1"/>
    <dgm:cxn modelId="{752C1D5C-60D3-9A4E-969B-F2FA3EA51C97}" type="presOf" srcId="{B7D20505-2988-A64E-ABFC-A337A50B8515}" destId="{BD92137A-C3B9-3C44-BD8B-57B0EA8E0D33}" srcOrd="0" destOrd="0" presId="urn:microsoft.com/office/officeart/2005/8/layout/list1"/>
    <dgm:cxn modelId="{8C9F3342-887B-A04D-83CD-9DB0DA58B691}" srcId="{234A8BA1-138F-41BB-8D23-6161887B45D0}" destId="{B7D20505-2988-A64E-ABFC-A337A50B8515}" srcOrd="4" destOrd="0" parTransId="{6986C275-428F-3E4E-BDDF-69F91050C4E0}" sibTransId="{9C02872D-B4BF-5544-AA39-833C4F5D9BBD}"/>
    <dgm:cxn modelId="{485BD864-89FC-4CD4-A8EC-05D5D8570355}" srcId="{A6DC25E7-C148-43BC-B198-DCC308B7D8E4}" destId="{779370D5-CEC0-4B9B-91B9-2D4658D7E886}" srcOrd="0" destOrd="0" parTransId="{A01EC990-F312-4728-AA66-0558D43BFAF2}" sibTransId="{490431A6-7BA8-44F1-A61D-240159C30858}"/>
    <dgm:cxn modelId="{64F0124C-EFCE-2E48-A115-DCCA42ABBD9D}" type="presOf" srcId="{779370D5-CEC0-4B9B-91B9-2D4658D7E886}" destId="{D823D4E0-570D-A246-9B72-92AD024C9C06}" srcOrd="0" destOrd="0" presId="urn:microsoft.com/office/officeart/2005/8/layout/list1"/>
    <dgm:cxn modelId="{40477C6D-E1F1-B240-A688-7D82CFB3FE1D}" type="presOf" srcId="{829C3D77-3692-4CCF-8E4B-07C03CF489AC}" destId="{597AE971-BDE8-5444-8785-A83E0C931603}" srcOrd="0" destOrd="1" presId="urn:microsoft.com/office/officeart/2005/8/layout/list1"/>
    <dgm:cxn modelId="{BF74C27D-63D0-694E-81E3-E56DEBD247C6}" type="presOf" srcId="{4618C007-D795-4730-B470-B46B08688DA2}" destId="{87CAC6A4-903F-064B-9C91-00ABA97809D5}" srcOrd="1" destOrd="0" presId="urn:microsoft.com/office/officeart/2005/8/layout/list1"/>
    <dgm:cxn modelId="{C3EE5B9D-2324-574D-ADB6-299921496A49}" type="presOf" srcId="{00D6FFBE-0D6B-46B6-9121-95BCDFD884C7}" destId="{597AE971-BDE8-5444-8785-A83E0C931603}" srcOrd="0" destOrd="0" presId="urn:microsoft.com/office/officeart/2005/8/layout/list1"/>
    <dgm:cxn modelId="{483F47BC-754E-4BD5-981C-6144846B2FD2}" srcId="{234A8BA1-138F-41BB-8D23-6161887B45D0}" destId="{4618C007-D795-4730-B470-B46B08688DA2}" srcOrd="1" destOrd="0" parTransId="{0D7807B7-0D92-4BF2-952A-94F260CC0D96}" sibTransId="{FD210294-9C04-4B11-AB13-0F007CA01D51}"/>
    <dgm:cxn modelId="{10DA53BF-D285-4F72-A140-9F8D2C7A512A}" srcId="{4618C007-D795-4730-B470-B46B08688DA2}" destId="{829C3D77-3692-4CCF-8E4B-07C03CF489AC}" srcOrd="1" destOrd="0" parTransId="{B8F114E1-87BF-472C-8615-C50C3B78E4EA}" sibTransId="{FFDDF496-3CA0-4D60-8C6B-AAD0645E97F5}"/>
    <dgm:cxn modelId="{57FB80C4-B7A9-F44E-84AF-70608BE6BE0A}" type="presOf" srcId="{47973655-8AE0-9B42-A54F-BBB8BC269214}" destId="{0D6B55D5-B4C6-B447-89B1-4B16C3B2B7E9}" srcOrd="0" destOrd="0" presId="urn:microsoft.com/office/officeart/2005/8/layout/list1"/>
    <dgm:cxn modelId="{8395FAC6-FE70-460C-9219-9C4ED083B76E}" srcId="{4618C007-D795-4730-B470-B46B08688DA2}" destId="{00D6FFBE-0D6B-46B6-9121-95BCDFD884C7}" srcOrd="0" destOrd="0" parTransId="{6E21393E-247A-47D8-A24D-279BA3074894}" sibTransId="{F0779FF3-DFBD-42BE-AE9F-0ED34875AFA6}"/>
    <dgm:cxn modelId="{1C6AF7CD-105D-9F41-AF12-6FA519E7340F}" type="presOf" srcId="{B7D20505-2988-A64E-ABFC-A337A50B8515}" destId="{295F6B93-2114-E748-848E-1211D16C9CE2}" srcOrd="1" destOrd="0" presId="urn:microsoft.com/office/officeart/2005/8/layout/list1"/>
    <dgm:cxn modelId="{66BA77D7-AB52-124F-8636-97E5904D4992}" type="presOf" srcId="{A6DC25E7-C148-43BC-B198-DCC308B7D8E4}" destId="{EA707B86-A050-A54C-AF6E-D456301B09F7}" srcOrd="1" destOrd="0" presId="urn:microsoft.com/office/officeart/2005/8/layout/list1"/>
    <dgm:cxn modelId="{40836DE9-9379-4E03-9A2B-0A4E759DFA3E}" srcId="{234A8BA1-138F-41BB-8D23-6161887B45D0}" destId="{A6DC25E7-C148-43BC-B198-DCC308B7D8E4}" srcOrd="0" destOrd="0" parTransId="{E9F6A87D-EAE1-496E-90C5-94D76A26E1A0}" sibTransId="{C5F6E1ED-AC92-44F7-A3A8-1B6ED87DF57E}"/>
    <dgm:cxn modelId="{4BC62DEE-4657-0745-B68E-07C20D65B1E2}" type="presOf" srcId="{E1966750-F290-41D1-B653-29FA4465EF32}" destId="{CB788071-C671-DE42-9795-C16E53D7F727}" srcOrd="1" destOrd="0" presId="urn:microsoft.com/office/officeart/2005/8/layout/list1"/>
    <dgm:cxn modelId="{A89D20F0-467B-D748-BD82-4661E1A75BBB}" type="presOf" srcId="{9DC90D6D-7655-438C-9592-9074A06DF1EF}" destId="{597AE971-BDE8-5444-8785-A83E0C931603}" srcOrd="0" destOrd="2" presId="urn:microsoft.com/office/officeart/2005/8/layout/list1"/>
    <dgm:cxn modelId="{92A828F2-7600-5847-8FBE-3751C344F609}" type="presOf" srcId="{A6DC25E7-C148-43BC-B198-DCC308B7D8E4}" destId="{6C556D7B-924E-D749-BB37-47E4A9B7C636}" srcOrd="0" destOrd="0" presId="urn:microsoft.com/office/officeart/2005/8/layout/list1"/>
    <dgm:cxn modelId="{05143FFE-D150-B248-A088-30819006877A}" srcId="{234A8BA1-138F-41BB-8D23-6161887B45D0}" destId="{47973655-8AE0-9B42-A54F-BBB8BC269214}" srcOrd="2" destOrd="0" parTransId="{EE7E4897-697A-074A-8D56-22609C653170}" sibTransId="{06F05B1F-002D-6D44-86EF-CA354B036EE4}"/>
    <dgm:cxn modelId="{1D8DD106-1490-2D42-9425-727537AADABD}" type="presParOf" srcId="{A56E0AD6-1539-6646-B051-1E970E091E8B}" destId="{F6272F39-F7ED-9D47-873E-ABFF16E4452B}" srcOrd="0" destOrd="0" presId="urn:microsoft.com/office/officeart/2005/8/layout/list1"/>
    <dgm:cxn modelId="{A89078D1-09DE-1543-8865-B858EDD1F548}" type="presParOf" srcId="{F6272F39-F7ED-9D47-873E-ABFF16E4452B}" destId="{6C556D7B-924E-D749-BB37-47E4A9B7C636}" srcOrd="0" destOrd="0" presId="urn:microsoft.com/office/officeart/2005/8/layout/list1"/>
    <dgm:cxn modelId="{405D8049-4118-124A-AE81-FD9CA93C4AB0}" type="presParOf" srcId="{F6272F39-F7ED-9D47-873E-ABFF16E4452B}" destId="{EA707B86-A050-A54C-AF6E-D456301B09F7}" srcOrd="1" destOrd="0" presId="urn:microsoft.com/office/officeart/2005/8/layout/list1"/>
    <dgm:cxn modelId="{C330121E-CBCB-1345-869F-C910A6B8C519}" type="presParOf" srcId="{A56E0AD6-1539-6646-B051-1E970E091E8B}" destId="{B3C2C8DA-2EA3-E546-B00C-9AAC98739F2A}" srcOrd="1" destOrd="0" presId="urn:microsoft.com/office/officeart/2005/8/layout/list1"/>
    <dgm:cxn modelId="{2B39D18E-C770-BF4B-AA1B-EB0DA8DD43A4}" type="presParOf" srcId="{A56E0AD6-1539-6646-B051-1E970E091E8B}" destId="{D823D4E0-570D-A246-9B72-92AD024C9C06}" srcOrd="2" destOrd="0" presId="urn:microsoft.com/office/officeart/2005/8/layout/list1"/>
    <dgm:cxn modelId="{F7598227-4958-8241-9D87-98FF0E05E595}" type="presParOf" srcId="{A56E0AD6-1539-6646-B051-1E970E091E8B}" destId="{850346E8-8B2E-D546-BB8A-BF3001FFD364}" srcOrd="3" destOrd="0" presId="urn:microsoft.com/office/officeart/2005/8/layout/list1"/>
    <dgm:cxn modelId="{8AE0B089-906B-D547-9FF8-EE1989A36ABE}" type="presParOf" srcId="{A56E0AD6-1539-6646-B051-1E970E091E8B}" destId="{8FF51E2C-B88E-8C45-8815-C88FE57AE96F}" srcOrd="4" destOrd="0" presId="urn:microsoft.com/office/officeart/2005/8/layout/list1"/>
    <dgm:cxn modelId="{E9653A90-736F-934E-8697-EEF26E4E7068}" type="presParOf" srcId="{8FF51E2C-B88E-8C45-8815-C88FE57AE96F}" destId="{AE3D6D8D-85E2-CF4B-95DA-1AF4F0A7BC7A}" srcOrd="0" destOrd="0" presId="urn:microsoft.com/office/officeart/2005/8/layout/list1"/>
    <dgm:cxn modelId="{6435E807-20AD-B84A-94F0-A579E12A580B}" type="presParOf" srcId="{8FF51E2C-B88E-8C45-8815-C88FE57AE96F}" destId="{87CAC6A4-903F-064B-9C91-00ABA97809D5}" srcOrd="1" destOrd="0" presId="urn:microsoft.com/office/officeart/2005/8/layout/list1"/>
    <dgm:cxn modelId="{17C59E17-FFF9-FD44-BF47-E58A4610F82C}" type="presParOf" srcId="{A56E0AD6-1539-6646-B051-1E970E091E8B}" destId="{63C4F4C5-FE7B-AE42-83C3-B3CADEAAD9D2}" srcOrd="5" destOrd="0" presId="urn:microsoft.com/office/officeart/2005/8/layout/list1"/>
    <dgm:cxn modelId="{89ED60A4-61F0-A643-BAB6-E6C8DEA2CB0B}" type="presParOf" srcId="{A56E0AD6-1539-6646-B051-1E970E091E8B}" destId="{597AE971-BDE8-5444-8785-A83E0C931603}" srcOrd="6" destOrd="0" presId="urn:microsoft.com/office/officeart/2005/8/layout/list1"/>
    <dgm:cxn modelId="{92C188B1-5343-6246-85ED-162D0913A230}" type="presParOf" srcId="{A56E0AD6-1539-6646-B051-1E970E091E8B}" destId="{277D076D-0B3D-044E-8789-5FC845E89445}" srcOrd="7" destOrd="0" presId="urn:microsoft.com/office/officeart/2005/8/layout/list1"/>
    <dgm:cxn modelId="{E19D3213-EC3A-6B42-B702-F6D639DAE3F9}" type="presParOf" srcId="{A56E0AD6-1539-6646-B051-1E970E091E8B}" destId="{A961B762-3926-7843-A415-CAA12A0D61F9}" srcOrd="8" destOrd="0" presId="urn:microsoft.com/office/officeart/2005/8/layout/list1"/>
    <dgm:cxn modelId="{477EDDA7-FCF9-FE4C-B642-30A393542443}" type="presParOf" srcId="{A961B762-3926-7843-A415-CAA12A0D61F9}" destId="{0D6B55D5-B4C6-B447-89B1-4B16C3B2B7E9}" srcOrd="0" destOrd="0" presId="urn:microsoft.com/office/officeart/2005/8/layout/list1"/>
    <dgm:cxn modelId="{CB3C97E9-10B4-B049-8581-FD7414BF4E06}" type="presParOf" srcId="{A961B762-3926-7843-A415-CAA12A0D61F9}" destId="{5B8EEC7D-5D9D-DF44-8C6E-7FD5D733A4FC}" srcOrd="1" destOrd="0" presId="urn:microsoft.com/office/officeart/2005/8/layout/list1"/>
    <dgm:cxn modelId="{5E27417B-3A30-794E-BA2A-2F4182A5457C}" type="presParOf" srcId="{A56E0AD6-1539-6646-B051-1E970E091E8B}" destId="{51A8A4D0-E3F7-BD4A-AA4F-3046862725CE}" srcOrd="9" destOrd="0" presId="urn:microsoft.com/office/officeart/2005/8/layout/list1"/>
    <dgm:cxn modelId="{257F49AB-10EE-9B45-A306-3E9DFE72E8D9}" type="presParOf" srcId="{A56E0AD6-1539-6646-B051-1E970E091E8B}" destId="{77E855CA-1742-0042-AC18-5D0EA1466A5A}" srcOrd="10" destOrd="0" presId="urn:microsoft.com/office/officeart/2005/8/layout/list1"/>
    <dgm:cxn modelId="{DBEDCE0D-A95D-F44C-A0C9-DDE89B4BDF58}" type="presParOf" srcId="{A56E0AD6-1539-6646-B051-1E970E091E8B}" destId="{F8F62407-FB9A-804B-9FF2-3E94064C8A76}" srcOrd="11" destOrd="0" presId="urn:microsoft.com/office/officeart/2005/8/layout/list1"/>
    <dgm:cxn modelId="{4C66F147-C53E-7B45-A82B-43D69D5A9D32}" type="presParOf" srcId="{A56E0AD6-1539-6646-B051-1E970E091E8B}" destId="{D8BC93BE-3E4F-A24F-8F20-40C53F1FEF33}" srcOrd="12" destOrd="0" presId="urn:microsoft.com/office/officeart/2005/8/layout/list1"/>
    <dgm:cxn modelId="{B9E81C62-44FD-1F42-B8FC-C157D4E1A6F7}" type="presParOf" srcId="{D8BC93BE-3E4F-A24F-8F20-40C53F1FEF33}" destId="{A08E2060-FC4C-594F-9E53-CFD1DF4E05BC}" srcOrd="0" destOrd="0" presId="urn:microsoft.com/office/officeart/2005/8/layout/list1"/>
    <dgm:cxn modelId="{BE282DF2-2FDA-EF41-81A6-0551B208C30B}" type="presParOf" srcId="{D8BC93BE-3E4F-A24F-8F20-40C53F1FEF33}" destId="{CB788071-C671-DE42-9795-C16E53D7F727}" srcOrd="1" destOrd="0" presId="urn:microsoft.com/office/officeart/2005/8/layout/list1"/>
    <dgm:cxn modelId="{4D8150B2-DA12-3E49-8EC4-D95F782AECAC}" type="presParOf" srcId="{A56E0AD6-1539-6646-B051-1E970E091E8B}" destId="{1D3CAA28-1467-7241-8AB5-A55564456344}" srcOrd="13" destOrd="0" presId="urn:microsoft.com/office/officeart/2005/8/layout/list1"/>
    <dgm:cxn modelId="{1BB239BE-FE2C-0D40-807A-AAA9D75F5483}" type="presParOf" srcId="{A56E0AD6-1539-6646-B051-1E970E091E8B}" destId="{CCC03392-55D5-2243-A097-C124D95CE6F1}" srcOrd="14" destOrd="0" presId="urn:microsoft.com/office/officeart/2005/8/layout/list1"/>
    <dgm:cxn modelId="{544492F5-3657-7C46-98EB-3E4CC0DD68F6}" type="presParOf" srcId="{A56E0AD6-1539-6646-B051-1E970E091E8B}" destId="{26F525A7-20CA-5F4F-AF79-EB185915A679}" srcOrd="15" destOrd="0" presId="urn:microsoft.com/office/officeart/2005/8/layout/list1"/>
    <dgm:cxn modelId="{C8C0E60D-20FA-A347-84D0-C93F5E466AC0}" type="presParOf" srcId="{A56E0AD6-1539-6646-B051-1E970E091E8B}" destId="{7E2F897C-CFA3-974A-93A6-0D194F061ECC}" srcOrd="16" destOrd="0" presId="urn:microsoft.com/office/officeart/2005/8/layout/list1"/>
    <dgm:cxn modelId="{99A8931D-D671-CB47-90C4-DC2B45FC685B}" type="presParOf" srcId="{7E2F897C-CFA3-974A-93A6-0D194F061ECC}" destId="{BD92137A-C3B9-3C44-BD8B-57B0EA8E0D33}" srcOrd="0" destOrd="0" presId="urn:microsoft.com/office/officeart/2005/8/layout/list1"/>
    <dgm:cxn modelId="{F51C84B4-C318-A647-97DF-3C7F50D3B212}" type="presParOf" srcId="{7E2F897C-CFA3-974A-93A6-0D194F061ECC}" destId="{295F6B93-2114-E748-848E-1211D16C9CE2}" srcOrd="1" destOrd="0" presId="urn:microsoft.com/office/officeart/2005/8/layout/list1"/>
    <dgm:cxn modelId="{E74AE3C1-A324-3046-9DDC-33629EBB3C2A}" type="presParOf" srcId="{A56E0AD6-1539-6646-B051-1E970E091E8B}" destId="{401B40E4-6A41-2443-B49A-1EBA8BF3511D}" srcOrd="17" destOrd="0" presId="urn:microsoft.com/office/officeart/2005/8/layout/list1"/>
    <dgm:cxn modelId="{B1550595-18D5-6B44-8BD1-895FB3232DEC}" type="presParOf" srcId="{A56E0AD6-1539-6646-B051-1E970E091E8B}" destId="{F29F1465-1649-084C-AF91-B2D9E50A98A6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34A8BA1-138F-41BB-8D23-6161887B45D0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6DC25E7-C148-43BC-B198-DCC308B7D8E4}">
      <dgm:prSet custT="1"/>
      <dgm:spPr>
        <a:xfrm>
          <a:off x="259216" y="83198"/>
          <a:ext cx="3629025" cy="560880"/>
        </a:xfrm>
        <a:prstGeom prst="roundRect">
          <a:avLst/>
        </a:prstGeom>
        <a:solidFill>
          <a:srgbClr val="5B9BD5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zh-CN" altLang="en-US" sz="2000" b="1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流网络</a:t>
          </a:r>
          <a:endParaRPr lang="en-US" sz="2000" b="1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gm:t>
    </dgm:pt>
    <dgm:pt modelId="{E9F6A87D-EAE1-496E-90C5-94D76A26E1A0}" type="parTrans" cxnId="{40836DE9-9379-4E03-9A2B-0A4E759DFA3E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C5F6E1ED-AC92-44F7-A3A8-1B6ED87DF57E}" type="sibTrans" cxnId="{40836DE9-9379-4E03-9A2B-0A4E759DFA3E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779370D5-CEC0-4B9B-91B9-2D4658D7E886}">
      <dgm:prSet custT="1"/>
      <dgm:spPr>
        <a:xfrm>
          <a:off x="0" y="363638"/>
          <a:ext cx="5184322" cy="867825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Char char="•"/>
          </a:pPr>
          <a:r>
            <a:rPr lang="zh-CN" altLang="en-US" sz="1600" b="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基本概念：流，最大流，割</a:t>
          </a:r>
          <a:endParaRPr lang="en-US" sz="1600" b="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gm:t>
    </dgm:pt>
    <dgm:pt modelId="{A01EC990-F312-4728-AA66-0558D43BFAF2}" type="parTrans" cxnId="{485BD864-89FC-4CD4-A8EC-05D5D8570355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490431A6-7BA8-44F1-A61D-240159C30858}" type="sibTrans" cxnId="{485BD864-89FC-4CD4-A8EC-05D5D8570355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4618C007-D795-4730-B470-B46B08688DA2}">
      <dgm:prSet custT="1"/>
      <dgm:spPr>
        <a:xfrm>
          <a:off x="259216" y="1334063"/>
          <a:ext cx="3629025" cy="560880"/>
        </a:xfrm>
        <a:prstGeom prst="roundRect">
          <a:avLst/>
        </a:prstGeom>
        <a:solidFill>
          <a:srgbClr val="5B9BD5">
            <a:hueOff val="-1689636"/>
            <a:satOff val="-4355"/>
            <a:lumOff val="-2941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2000" b="1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Ford-Fulkerson</a:t>
          </a:r>
          <a:r>
            <a:rPr lang="zh-CN" altLang="en-US" sz="2000" b="1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算法</a:t>
          </a:r>
          <a:endParaRPr lang="en-US" sz="2000" b="1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gm:t>
    </dgm:pt>
    <dgm:pt modelId="{0D7807B7-0D92-4BF2-952A-94F260CC0D96}" type="parTrans" cxnId="{483F47BC-754E-4BD5-981C-6144846B2FD2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FD210294-9C04-4B11-AB13-0F007CA01D51}" type="sibTrans" cxnId="{483F47BC-754E-4BD5-981C-6144846B2FD2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00D6FFBE-0D6B-46B6-9121-95BCDFD884C7}">
      <dgm:prSet custT="1"/>
      <dgm:spPr>
        <a:xfrm>
          <a:off x="0" y="1614503"/>
          <a:ext cx="5184322" cy="1586025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1689636"/>
              <a:satOff val="-4355"/>
              <a:lumOff val="-2941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Char char="•"/>
          </a:pPr>
          <a:r>
            <a:rPr lang="zh-CN" altLang="en-US" sz="1600" b="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剩余网络</a:t>
          </a:r>
          <a:endParaRPr lang="en-US" sz="1600" b="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gm:t>
    </dgm:pt>
    <dgm:pt modelId="{6E21393E-247A-47D8-A24D-279BA3074894}" type="parTrans" cxnId="{8395FAC6-FE70-460C-9219-9C4ED083B76E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F0779FF3-DFBD-42BE-AE9F-0ED34875AFA6}" type="sibTrans" cxnId="{8395FAC6-FE70-460C-9219-9C4ED083B76E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829C3D77-3692-4CCF-8E4B-07C03CF489AC}">
      <dgm:prSet custT="1"/>
      <dgm:spPr>
        <a:xfrm>
          <a:off x="0" y="1614503"/>
          <a:ext cx="5184322" cy="1586025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1689636"/>
              <a:satOff val="-4355"/>
              <a:lumOff val="-2941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Char char="•"/>
          </a:pPr>
          <a:r>
            <a:rPr lang="zh-CN" altLang="en-US" sz="1600" b="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增广路径</a:t>
          </a:r>
          <a:endParaRPr lang="en-US" sz="1600" b="0" kern="120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gm:t>
    </dgm:pt>
    <dgm:pt modelId="{B8F114E1-87BF-472C-8615-C50C3B78E4EA}" type="parTrans" cxnId="{10DA53BF-D285-4F72-A140-9F8D2C7A512A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FFDDF496-3CA0-4D60-8C6B-AAD0645E97F5}" type="sibTrans" cxnId="{10DA53BF-D285-4F72-A140-9F8D2C7A512A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9DC90D6D-7655-438C-9592-9074A06DF1EF}">
      <dgm:prSet custT="1"/>
      <dgm:spPr>
        <a:xfrm>
          <a:off x="0" y="1614503"/>
          <a:ext cx="5184322" cy="1586025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1689636"/>
              <a:satOff val="-4355"/>
              <a:lumOff val="-2941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Char char="•"/>
          </a:pPr>
          <a:r>
            <a:rPr lang="zh-CN" altLang="en-US" sz="1600" b="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流网络的割</a:t>
          </a:r>
          <a:endParaRPr lang="en-US" sz="1600" b="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gm:t>
    </dgm:pt>
    <dgm:pt modelId="{FA586CB4-AAC5-4C39-B843-9C7FEF426C51}" type="parTrans" cxnId="{EA051B04-2321-4D19-9805-8A8E998571FA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20D0E26C-7585-4697-BE0F-0B4033F541F5}" type="sibTrans" cxnId="{EA051B04-2321-4D19-9805-8A8E998571FA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E1966750-F290-41D1-B653-29FA4465EF32}">
      <dgm:prSet custT="1"/>
      <dgm:spPr>
        <a:xfrm>
          <a:off x="259216" y="4164968"/>
          <a:ext cx="3629025" cy="560880"/>
        </a:xfrm>
        <a:prstGeom prst="roundRect">
          <a:avLst/>
        </a:prstGeom>
        <a:solidFill>
          <a:srgbClr val="5B9BD5">
            <a:hueOff val="-5068907"/>
            <a:satOff val="-13064"/>
            <a:lumOff val="-8824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zh-CN" altLang="en-US" sz="2000" b="1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最大二分匹配</a:t>
          </a:r>
          <a:endParaRPr lang="en-US" sz="2000" b="1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gm:t>
    </dgm:pt>
    <dgm:pt modelId="{C268E205-8775-4D2E-8116-A4452DD44384}" type="parTrans" cxnId="{B66D651C-1047-4F84-8425-31DC8D0BB5B7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CB0BD3D8-57C4-4FA0-BFA0-6CD83A40BA45}" type="sibTrans" cxnId="{B66D651C-1047-4F84-8425-31DC8D0BB5B7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47973655-8AE0-9B42-A54F-BBB8BC269214}">
      <dgm:prSet custT="1"/>
      <dgm:spPr>
        <a:xfrm>
          <a:off x="259216" y="3303128"/>
          <a:ext cx="3629025" cy="560880"/>
        </a:xfrm>
        <a:prstGeom prst="roundRect">
          <a:avLst/>
        </a:prstGeom>
        <a:solidFill>
          <a:srgbClr val="5B9BD5">
            <a:hueOff val="-3379271"/>
            <a:satOff val="-8710"/>
            <a:lumOff val="-5883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altLang="zh-CN" sz="2000" b="1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Edmonds-Karp</a:t>
          </a:r>
          <a:r>
            <a:rPr lang="zh-CN" altLang="en-US" sz="2000" b="1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算法</a:t>
          </a:r>
          <a:endParaRPr lang="en-US" sz="2000" b="1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gm:t>
    </dgm:pt>
    <dgm:pt modelId="{EE7E4897-697A-074A-8D56-22609C653170}" type="parTrans" cxnId="{05143FFE-D150-B248-A088-30819006877A}">
      <dgm:prSet/>
      <dgm:spPr/>
      <dgm:t>
        <a:bodyPr/>
        <a:lstStyle/>
        <a:p>
          <a:endParaRPr lang="zh-CN" alt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06F05B1F-002D-6D44-86EF-CA354B036EE4}" type="sibTrans" cxnId="{05143FFE-D150-B248-A088-30819006877A}">
      <dgm:prSet/>
      <dgm:spPr/>
      <dgm:t>
        <a:bodyPr/>
        <a:lstStyle/>
        <a:p>
          <a:endParaRPr lang="zh-CN" alt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B7D20505-2988-A64E-ABFC-A337A50B8515}">
      <dgm:prSet custT="1"/>
      <dgm:spPr>
        <a:xfrm>
          <a:off x="259216" y="5026808"/>
          <a:ext cx="3629025" cy="560880"/>
        </a:xfrm>
        <a:prstGeom prst="roundRect">
          <a:avLst/>
        </a:prstGeom>
        <a:solidFill>
          <a:srgbClr val="5B9BD5">
            <a:hueOff val="-6758543"/>
            <a:satOff val="-17419"/>
            <a:lumOff val="-11765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2000" b="1" dirty="0" err="1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基于最大流的最密子图查找</a:t>
          </a:r>
          <a:endParaRPr lang="en-US" sz="2000" b="1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gm:t>
    </dgm:pt>
    <dgm:pt modelId="{6986C275-428F-3E4E-BDDF-69F91050C4E0}" type="parTrans" cxnId="{8C9F3342-887B-A04D-83CD-9DB0DA58B691}">
      <dgm:prSet/>
      <dgm:spPr/>
      <dgm:t>
        <a:bodyPr/>
        <a:lstStyle/>
        <a:p>
          <a:endParaRPr lang="zh-CN" alt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9C02872D-B4BF-5544-AA39-833C4F5D9BBD}" type="sibTrans" cxnId="{8C9F3342-887B-A04D-83CD-9DB0DA58B691}">
      <dgm:prSet/>
      <dgm:spPr/>
      <dgm:t>
        <a:bodyPr/>
        <a:lstStyle/>
        <a:p>
          <a:endParaRPr lang="zh-CN" alt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A56E0AD6-1539-6646-B051-1E970E091E8B}" type="pres">
      <dgm:prSet presAssocID="{234A8BA1-138F-41BB-8D23-6161887B45D0}" presName="linear" presStyleCnt="0">
        <dgm:presLayoutVars>
          <dgm:dir/>
          <dgm:animLvl val="lvl"/>
          <dgm:resizeHandles val="exact"/>
        </dgm:presLayoutVars>
      </dgm:prSet>
      <dgm:spPr/>
    </dgm:pt>
    <dgm:pt modelId="{F6272F39-F7ED-9D47-873E-ABFF16E4452B}" type="pres">
      <dgm:prSet presAssocID="{A6DC25E7-C148-43BC-B198-DCC308B7D8E4}" presName="parentLin" presStyleCnt="0"/>
      <dgm:spPr/>
    </dgm:pt>
    <dgm:pt modelId="{6C556D7B-924E-D749-BB37-47E4A9B7C636}" type="pres">
      <dgm:prSet presAssocID="{A6DC25E7-C148-43BC-B198-DCC308B7D8E4}" presName="parentLeftMargin" presStyleLbl="node1" presStyleIdx="0" presStyleCnt="5"/>
      <dgm:spPr/>
    </dgm:pt>
    <dgm:pt modelId="{EA707B86-A050-A54C-AF6E-D456301B09F7}" type="pres">
      <dgm:prSet presAssocID="{A6DC25E7-C148-43BC-B198-DCC308B7D8E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3C2C8DA-2EA3-E546-B00C-9AAC98739F2A}" type="pres">
      <dgm:prSet presAssocID="{A6DC25E7-C148-43BC-B198-DCC308B7D8E4}" presName="negativeSpace" presStyleCnt="0"/>
      <dgm:spPr/>
    </dgm:pt>
    <dgm:pt modelId="{D823D4E0-570D-A246-9B72-92AD024C9C06}" type="pres">
      <dgm:prSet presAssocID="{A6DC25E7-C148-43BC-B198-DCC308B7D8E4}" presName="childText" presStyleLbl="conFgAcc1" presStyleIdx="0" presStyleCnt="5">
        <dgm:presLayoutVars>
          <dgm:bulletEnabled val="1"/>
        </dgm:presLayoutVars>
      </dgm:prSet>
      <dgm:spPr/>
    </dgm:pt>
    <dgm:pt modelId="{850346E8-8B2E-D546-BB8A-BF3001FFD364}" type="pres">
      <dgm:prSet presAssocID="{C5F6E1ED-AC92-44F7-A3A8-1B6ED87DF57E}" presName="spaceBetweenRectangles" presStyleCnt="0"/>
      <dgm:spPr/>
    </dgm:pt>
    <dgm:pt modelId="{8FF51E2C-B88E-8C45-8815-C88FE57AE96F}" type="pres">
      <dgm:prSet presAssocID="{4618C007-D795-4730-B470-B46B08688DA2}" presName="parentLin" presStyleCnt="0"/>
      <dgm:spPr/>
    </dgm:pt>
    <dgm:pt modelId="{AE3D6D8D-85E2-CF4B-95DA-1AF4F0A7BC7A}" type="pres">
      <dgm:prSet presAssocID="{4618C007-D795-4730-B470-B46B08688DA2}" presName="parentLeftMargin" presStyleLbl="node1" presStyleIdx="0" presStyleCnt="5"/>
      <dgm:spPr/>
    </dgm:pt>
    <dgm:pt modelId="{87CAC6A4-903F-064B-9C91-00ABA97809D5}" type="pres">
      <dgm:prSet presAssocID="{4618C007-D795-4730-B470-B46B08688DA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3C4F4C5-FE7B-AE42-83C3-B3CADEAAD9D2}" type="pres">
      <dgm:prSet presAssocID="{4618C007-D795-4730-B470-B46B08688DA2}" presName="negativeSpace" presStyleCnt="0"/>
      <dgm:spPr/>
    </dgm:pt>
    <dgm:pt modelId="{597AE971-BDE8-5444-8785-A83E0C931603}" type="pres">
      <dgm:prSet presAssocID="{4618C007-D795-4730-B470-B46B08688DA2}" presName="childText" presStyleLbl="conFgAcc1" presStyleIdx="1" presStyleCnt="5">
        <dgm:presLayoutVars>
          <dgm:bulletEnabled val="1"/>
        </dgm:presLayoutVars>
      </dgm:prSet>
      <dgm:spPr/>
    </dgm:pt>
    <dgm:pt modelId="{277D076D-0B3D-044E-8789-5FC845E89445}" type="pres">
      <dgm:prSet presAssocID="{FD210294-9C04-4B11-AB13-0F007CA01D51}" presName="spaceBetweenRectangles" presStyleCnt="0"/>
      <dgm:spPr/>
    </dgm:pt>
    <dgm:pt modelId="{A961B762-3926-7843-A415-CAA12A0D61F9}" type="pres">
      <dgm:prSet presAssocID="{47973655-8AE0-9B42-A54F-BBB8BC269214}" presName="parentLin" presStyleCnt="0"/>
      <dgm:spPr/>
    </dgm:pt>
    <dgm:pt modelId="{0D6B55D5-B4C6-B447-89B1-4B16C3B2B7E9}" type="pres">
      <dgm:prSet presAssocID="{47973655-8AE0-9B42-A54F-BBB8BC269214}" presName="parentLeftMargin" presStyleLbl="node1" presStyleIdx="1" presStyleCnt="5"/>
      <dgm:spPr/>
    </dgm:pt>
    <dgm:pt modelId="{5B8EEC7D-5D9D-DF44-8C6E-7FD5D733A4FC}" type="pres">
      <dgm:prSet presAssocID="{47973655-8AE0-9B42-A54F-BBB8BC26921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1A8A4D0-E3F7-BD4A-AA4F-3046862725CE}" type="pres">
      <dgm:prSet presAssocID="{47973655-8AE0-9B42-A54F-BBB8BC269214}" presName="negativeSpace" presStyleCnt="0"/>
      <dgm:spPr/>
    </dgm:pt>
    <dgm:pt modelId="{77E855CA-1742-0042-AC18-5D0EA1466A5A}" type="pres">
      <dgm:prSet presAssocID="{47973655-8AE0-9B42-A54F-BBB8BC269214}" presName="childText" presStyleLbl="conFgAcc1" presStyleIdx="2" presStyleCnt="5">
        <dgm:presLayoutVars>
          <dgm:bulletEnabled val="1"/>
        </dgm:presLayoutVars>
      </dgm:prSet>
      <dgm:spPr>
        <a:xfrm>
          <a:off x="0" y="3583568"/>
          <a:ext cx="5184322" cy="4788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3379271"/>
              <a:satOff val="-8710"/>
              <a:lumOff val="-5883"/>
              <a:alphaOff val="0"/>
            </a:srgbClr>
          </a:solidFill>
          <a:prstDash val="solid"/>
          <a:miter lim="800000"/>
        </a:ln>
        <a:effectLst/>
      </dgm:spPr>
    </dgm:pt>
    <dgm:pt modelId="{F8F62407-FB9A-804B-9FF2-3E94064C8A76}" type="pres">
      <dgm:prSet presAssocID="{06F05B1F-002D-6D44-86EF-CA354B036EE4}" presName="spaceBetweenRectangles" presStyleCnt="0"/>
      <dgm:spPr/>
    </dgm:pt>
    <dgm:pt modelId="{D8BC93BE-3E4F-A24F-8F20-40C53F1FEF33}" type="pres">
      <dgm:prSet presAssocID="{E1966750-F290-41D1-B653-29FA4465EF32}" presName="parentLin" presStyleCnt="0"/>
      <dgm:spPr/>
    </dgm:pt>
    <dgm:pt modelId="{A08E2060-FC4C-594F-9E53-CFD1DF4E05BC}" type="pres">
      <dgm:prSet presAssocID="{E1966750-F290-41D1-B653-29FA4465EF32}" presName="parentLeftMargin" presStyleLbl="node1" presStyleIdx="2" presStyleCnt="5"/>
      <dgm:spPr/>
    </dgm:pt>
    <dgm:pt modelId="{CB788071-C671-DE42-9795-C16E53D7F727}" type="pres">
      <dgm:prSet presAssocID="{E1966750-F290-41D1-B653-29FA4465EF3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D3CAA28-1467-7241-8AB5-A55564456344}" type="pres">
      <dgm:prSet presAssocID="{E1966750-F290-41D1-B653-29FA4465EF32}" presName="negativeSpace" presStyleCnt="0"/>
      <dgm:spPr/>
    </dgm:pt>
    <dgm:pt modelId="{CCC03392-55D5-2243-A097-C124D95CE6F1}" type="pres">
      <dgm:prSet presAssocID="{E1966750-F290-41D1-B653-29FA4465EF32}" presName="childText" presStyleLbl="conFgAcc1" presStyleIdx="3" presStyleCnt="5">
        <dgm:presLayoutVars>
          <dgm:bulletEnabled val="1"/>
        </dgm:presLayoutVars>
      </dgm:prSet>
      <dgm:spPr>
        <a:xfrm>
          <a:off x="0" y="4445408"/>
          <a:ext cx="5184322" cy="4788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5068907"/>
              <a:satOff val="-13064"/>
              <a:lumOff val="-8824"/>
              <a:alphaOff val="0"/>
            </a:srgbClr>
          </a:solidFill>
          <a:prstDash val="solid"/>
          <a:miter lim="800000"/>
        </a:ln>
        <a:effectLst/>
      </dgm:spPr>
    </dgm:pt>
    <dgm:pt modelId="{26F525A7-20CA-5F4F-AF79-EB185915A679}" type="pres">
      <dgm:prSet presAssocID="{CB0BD3D8-57C4-4FA0-BFA0-6CD83A40BA45}" presName="spaceBetweenRectangles" presStyleCnt="0"/>
      <dgm:spPr/>
    </dgm:pt>
    <dgm:pt modelId="{7E2F897C-CFA3-974A-93A6-0D194F061ECC}" type="pres">
      <dgm:prSet presAssocID="{B7D20505-2988-A64E-ABFC-A337A50B8515}" presName="parentLin" presStyleCnt="0"/>
      <dgm:spPr/>
    </dgm:pt>
    <dgm:pt modelId="{BD92137A-C3B9-3C44-BD8B-57B0EA8E0D33}" type="pres">
      <dgm:prSet presAssocID="{B7D20505-2988-A64E-ABFC-A337A50B8515}" presName="parentLeftMargin" presStyleLbl="node1" presStyleIdx="3" presStyleCnt="5"/>
      <dgm:spPr/>
    </dgm:pt>
    <dgm:pt modelId="{295F6B93-2114-E748-848E-1211D16C9CE2}" type="pres">
      <dgm:prSet presAssocID="{B7D20505-2988-A64E-ABFC-A337A50B8515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401B40E4-6A41-2443-B49A-1EBA8BF3511D}" type="pres">
      <dgm:prSet presAssocID="{B7D20505-2988-A64E-ABFC-A337A50B8515}" presName="negativeSpace" presStyleCnt="0"/>
      <dgm:spPr/>
    </dgm:pt>
    <dgm:pt modelId="{F29F1465-1649-084C-AF91-B2D9E50A98A6}" type="pres">
      <dgm:prSet presAssocID="{B7D20505-2988-A64E-ABFC-A337A50B8515}" presName="childText" presStyleLbl="conFgAcc1" presStyleIdx="4" presStyleCnt="5">
        <dgm:presLayoutVars>
          <dgm:bulletEnabled val="1"/>
        </dgm:presLayoutVars>
      </dgm:prSet>
      <dgm:spPr>
        <a:xfrm>
          <a:off x="0" y="5307248"/>
          <a:ext cx="5184322" cy="4788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6758543"/>
              <a:satOff val="-17419"/>
              <a:lumOff val="-11765"/>
              <a:alphaOff val="0"/>
            </a:srgbClr>
          </a:solidFill>
          <a:prstDash val="solid"/>
          <a:miter lim="800000"/>
        </a:ln>
        <a:effectLst/>
      </dgm:spPr>
    </dgm:pt>
  </dgm:ptLst>
  <dgm:cxnLst>
    <dgm:cxn modelId="{EA051B04-2321-4D19-9805-8A8E998571FA}" srcId="{4618C007-D795-4730-B470-B46B08688DA2}" destId="{9DC90D6D-7655-438C-9592-9074A06DF1EF}" srcOrd="2" destOrd="0" parTransId="{FA586CB4-AAC5-4C39-B843-9C7FEF426C51}" sibTransId="{20D0E26C-7585-4697-BE0F-0B4033F541F5}"/>
    <dgm:cxn modelId="{91BF0306-35B2-D746-8EC0-7787EA104D6E}" type="presOf" srcId="{4618C007-D795-4730-B470-B46B08688DA2}" destId="{AE3D6D8D-85E2-CF4B-95DA-1AF4F0A7BC7A}" srcOrd="0" destOrd="0" presId="urn:microsoft.com/office/officeart/2005/8/layout/list1"/>
    <dgm:cxn modelId="{7925F20D-CB4A-B54B-B5A6-B11AB0667B6E}" type="presOf" srcId="{47973655-8AE0-9B42-A54F-BBB8BC269214}" destId="{5B8EEC7D-5D9D-DF44-8C6E-7FD5D733A4FC}" srcOrd="1" destOrd="0" presId="urn:microsoft.com/office/officeart/2005/8/layout/list1"/>
    <dgm:cxn modelId="{B66D651C-1047-4F84-8425-31DC8D0BB5B7}" srcId="{234A8BA1-138F-41BB-8D23-6161887B45D0}" destId="{E1966750-F290-41D1-B653-29FA4465EF32}" srcOrd="3" destOrd="0" parTransId="{C268E205-8775-4D2E-8116-A4452DD44384}" sibTransId="{CB0BD3D8-57C4-4FA0-BFA0-6CD83A40BA45}"/>
    <dgm:cxn modelId="{B1F7E526-4965-9F4D-9534-8D8D850C8D74}" type="presOf" srcId="{E1966750-F290-41D1-B653-29FA4465EF32}" destId="{A08E2060-FC4C-594F-9E53-CFD1DF4E05BC}" srcOrd="0" destOrd="0" presId="urn:microsoft.com/office/officeart/2005/8/layout/list1"/>
    <dgm:cxn modelId="{012C412A-3438-1D40-8E0F-C8345D3F6582}" type="presOf" srcId="{234A8BA1-138F-41BB-8D23-6161887B45D0}" destId="{A56E0AD6-1539-6646-B051-1E970E091E8B}" srcOrd="0" destOrd="0" presId="urn:microsoft.com/office/officeart/2005/8/layout/list1"/>
    <dgm:cxn modelId="{752C1D5C-60D3-9A4E-969B-F2FA3EA51C97}" type="presOf" srcId="{B7D20505-2988-A64E-ABFC-A337A50B8515}" destId="{BD92137A-C3B9-3C44-BD8B-57B0EA8E0D33}" srcOrd="0" destOrd="0" presId="urn:microsoft.com/office/officeart/2005/8/layout/list1"/>
    <dgm:cxn modelId="{8C9F3342-887B-A04D-83CD-9DB0DA58B691}" srcId="{234A8BA1-138F-41BB-8D23-6161887B45D0}" destId="{B7D20505-2988-A64E-ABFC-A337A50B8515}" srcOrd="4" destOrd="0" parTransId="{6986C275-428F-3E4E-BDDF-69F91050C4E0}" sibTransId="{9C02872D-B4BF-5544-AA39-833C4F5D9BBD}"/>
    <dgm:cxn modelId="{485BD864-89FC-4CD4-A8EC-05D5D8570355}" srcId="{A6DC25E7-C148-43BC-B198-DCC308B7D8E4}" destId="{779370D5-CEC0-4B9B-91B9-2D4658D7E886}" srcOrd="0" destOrd="0" parTransId="{A01EC990-F312-4728-AA66-0558D43BFAF2}" sibTransId="{490431A6-7BA8-44F1-A61D-240159C30858}"/>
    <dgm:cxn modelId="{64F0124C-EFCE-2E48-A115-DCCA42ABBD9D}" type="presOf" srcId="{779370D5-CEC0-4B9B-91B9-2D4658D7E886}" destId="{D823D4E0-570D-A246-9B72-92AD024C9C06}" srcOrd="0" destOrd="0" presId="urn:microsoft.com/office/officeart/2005/8/layout/list1"/>
    <dgm:cxn modelId="{40477C6D-E1F1-B240-A688-7D82CFB3FE1D}" type="presOf" srcId="{829C3D77-3692-4CCF-8E4B-07C03CF489AC}" destId="{597AE971-BDE8-5444-8785-A83E0C931603}" srcOrd="0" destOrd="1" presId="urn:microsoft.com/office/officeart/2005/8/layout/list1"/>
    <dgm:cxn modelId="{BF74C27D-63D0-694E-81E3-E56DEBD247C6}" type="presOf" srcId="{4618C007-D795-4730-B470-B46B08688DA2}" destId="{87CAC6A4-903F-064B-9C91-00ABA97809D5}" srcOrd="1" destOrd="0" presId="urn:microsoft.com/office/officeart/2005/8/layout/list1"/>
    <dgm:cxn modelId="{C3EE5B9D-2324-574D-ADB6-299921496A49}" type="presOf" srcId="{00D6FFBE-0D6B-46B6-9121-95BCDFD884C7}" destId="{597AE971-BDE8-5444-8785-A83E0C931603}" srcOrd="0" destOrd="0" presId="urn:microsoft.com/office/officeart/2005/8/layout/list1"/>
    <dgm:cxn modelId="{483F47BC-754E-4BD5-981C-6144846B2FD2}" srcId="{234A8BA1-138F-41BB-8D23-6161887B45D0}" destId="{4618C007-D795-4730-B470-B46B08688DA2}" srcOrd="1" destOrd="0" parTransId="{0D7807B7-0D92-4BF2-952A-94F260CC0D96}" sibTransId="{FD210294-9C04-4B11-AB13-0F007CA01D51}"/>
    <dgm:cxn modelId="{10DA53BF-D285-4F72-A140-9F8D2C7A512A}" srcId="{4618C007-D795-4730-B470-B46B08688DA2}" destId="{829C3D77-3692-4CCF-8E4B-07C03CF489AC}" srcOrd="1" destOrd="0" parTransId="{B8F114E1-87BF-472C-8615-C50C3B78E4EA}" sibTransId="{FFDDF496-3CA0-4D60-8C6B-AAD0645E97F5}"/>
    <dgm:cxn modelId="{57FB80C4-B7A9-F44E-84AF-70608BE6BE0A}" type="presOf" srcId="{47973655-8AE0-9B42-A54F-BBB8BC269214}" destId="{0D6B55D5-B4C6-B447-89B1-4B16C3B2B7E9}" srcOrd="0" destOrd="0" presId="urn:microsoft.com/office/officeart/2005/8/layout/list1"/>
    <dgm:cxn modelId="{8395FAC6-FE70-460C-9219-9C4ED083B76E}" srcId="{4618C007-D795-4730-B470-B46B08688DA2}" destId="{00D6FFBE-0D6B-46B6-9121-95BCDFD884C7}" srcOrd="0" destOrd="0" parTransId="{6E21393E-247A-47D8-A24D-279BA3074894}" sibTransId="{F0779FF3-DFBD-42BE-AE9F-0ED34875AFA6}"/>
    <dgm:cxn modelId="{1C6AF7CD-105D-9F41-AF12-6FA519E7340F}" type="presOf" srcId="{B7D20505-2988-A64E-ABFC-A337A50B8515}" destId="{295F6B93-2114-E748-848E-1211D16C9CE2}" srcOrd="1" destOrd="0" presId="urn:microsoft.com/office/officeart/2005/8/layout/list1"/>
    <dgm:cxn modelId="{66BA77D7-AB52-124F-8636-97E5904D4992}" type="presOf" srcId="{A6DC25E7-C148-43BC-B198-DCC308B7D8E4}" destId="{EA707B86-A050-A54C-AF6E-D456301B09F7}" srcOrd="1" destOrd="0" presId="urn:microsoft.com/office/officeart/2005/8/layout/list1"/>
    <dgm:cxn modelId="{40836DE9-9379-4E03-9A2B-0A4E759DFA3E}" srcId="{234A8BA1-138F-41BB-8D23-6161887B45D0}" destId="{A6DC25E7-C148-43BC-B198-DCC308B7D8E4}" srcOrd="0" destOrd="0" parTransId="{E9F6A87D-EAE1-496E-90C5-94D76A26E1A0}" sibTransId="{C5F6E1ED-AC92-44F7-A3A8-1B6ED87DF57E}"/>
    <dgm:cxn modelId="{4BC62DEE-4657-0745-B68E-07C20D65B1E2}" type="presOf" srcId="{E1966750-F290-41D1-B653-29FA4465EF32}" destId="{CB788071-C671-DE42-9795-C16E53D7F727}" srcOrd="1" destOrd="0" presId="urn:microsoft.com/office/officeart/2005/8/layout/list1"/>
    <dgm:cxn modelId="{A89D20F0-467B-D748-BD82-4661E1A75BBB}" type="presOf" srcId="{9DC90D6D-7655-438C-9592-9074A06DF1EF}" destId="{597AE971-BDE8-5444-8785-A83E0C931603}" srcOrd="0" destOrd="2" presId="urn:microsoft.com/office/officeart/2005/8/layout/list1"/>
    <dgm:cxn modelId="{92A828F2-7600-5847-8FBE-3751C344F609}" type="presOf" srcId="{A6DC25E7-C148-43BC-B198-DCC308B7D8E4}" destId="{6C556D7B-924E-D749-BB37-47E4A9B7C636}" srcOrd="0" destOrd="0" presId="urn:microsoft.com/office/officeart/2005/8/layout/list1"/>
    <dgm:cxn modelId="{05143FFE-D150-B248-A088-30819006877A}" srcId="{234A8BA1-138F-41BB-8D23-6161887B45D0}" destId="{47973655-8AE0-9B42-A54F-BBB8BC269214}" srcOrd="2" destOrd="0" parTransId="{EE7E4897-697A-074A-8D56-22609C653170}" sibTransId="{06F05B1F-002D-6D44-86EF-CA354B036EE4}"/>
    <dgm:cxn modelId="{1D8DD106-1490-2D42-9425-727537AADABD}" type="presParOf" srcId="{A56E0AD6-1539-6646-B051-1E970E091E8B}" destId="{F6272F39-F7ED-9D47-873E-ABFF16E4452B}" srcOrd="0" destOrd="0" presId="urn:microsoft.com/office/officeart/2005/8/layout/list1"/>
    <dgm:cxn modelId="{A89078D1-09DE-1543-8865-B858EDD1F548}" type="presParOf" srcId="{F6272F39-F7ED-9D47-873E-ABFF16E4452B}" destId="{6C556D7B-924E-D749-BB37-47E4A9B7C636}" srcOrd="0" destOrd="0" presId="urn:microsoft.com/office/officeart/2005/8/layout/list1"/>
    <dgm:cxn modelId="{405D8049-4118-124A-AE81-FD9CA93C4AB0}" type="presParOf" srcId="{F6272F39-F7ED-9D47-873E-ABFF16E4452B}" destId="{EA707B86-A050-A54C-AF6E-D456301B09F7}" srcOrd="1" destOrd="0" presId="urn:microsoft.com/office/officeart/2005/8/layout/list1"/>
    <dgm:cxn modelId="{C330121E-CBCB-1345-869F-C910A6B8C519}" type="presParOf" srcId="{A56E0AD6-1539-6646-B051-1E970E091E8B}" destId="{B3C2C8DA-2EA3-E546-B00C-9AAC98739F2A}" srcOrd="1" destOrd="0" presId="urn:microsoft.com/office/officeart/2005/8/layout/list1"/>
    <dgm:cxn modelId="{2B39D18E-C770-BF4B-AA1B-EB0DA8DD43A4}" type="presParOf" srcId="{A56E0AD6-1539-6646-B051-1E970E091E8B}" destId="{D823D4E0-570D-A246-9B72-92AD024C9C06}" srcOrd="2" destOrd="0" presId="urn:microsoft.com/office/officeart/2005/8/layout/list1"/>
    <dgm:cxn modelId="{F7598227-4958-8241-9D87-98FF0E05E595}" type="presParOf" srcId="{A56E0AD6-1539-6646-B051-1E970E091E8B}" destId="{850346E8-8B2E-D546-BB8A-BF3001FFD364}" srcOrd="3" destOrd="0" presId="urn:microsoft.com/office/officeart/2005/8/layout/list1"/>
    <dgm:cxn modelId="{8AE0B089-906B-D547-9FF8-EE1989A36ABE}" type="presParOf" srcId="{A56E0AD6-1539-6646-B051-1E970E091E8B}" destId="{8FF51E2C-B88E-8C45-8815-C88FE57AE96F}" srcOrd="4" destOrd="0" presId="urn:microsoft.com/office/officeart/2005/8/layout/list1"/>
    <dgm:cxn modelId="{E9653A90-736F-934E-8697-EEF26E4E7068}" type="presParOf" srcId="{8FF51E2C-B88E-8C45-8815-C88FE57AE96F}" destId="{AE3D6D8D-85E2-CF4B-95DA-1AF4F0A7BC7A}" srcOrd="0" destOrd="0" presId="urn:microsoft.com/office/officeart/2005/8/layout/list1"/>
    <dgm:cxn modelId="{6435E807-20AD-B84A-94F0-A579E12A580B}" type="presParOf" srcId="{8FF51E2C-B88E-8C45-8815-C88FE57AE96F}" destId="{87CAC6A4-903F-064B-9C91-00ABA97809D5}" srcOrd="1" destOrd="0" presId="urn:microsoft.com/office/officeart/2005/8/layout/list1"/>
    <dgm:cxn modelId="{17C59E17-FFF9-FD44-BF47-E58A4610F82C}" type="presParOf" srcId="{A56E0AD6-1539-6646-B051-1E970E091E8B}" destId="{63C4F4C5-FE7B-AE42-83C3-B3CADEAAD9D2}" srcOrd="5" destOrd="0" presId="urn:microsoft.com/office/officeart/2005/8/layout/list1"/>
    <dgm:cxn modelId="{89ED60A4-61F0-A643-BAB6-E6C8DEA2CB0B}" type="presParOf" srcId="{A56E0AD6-1539-6646-B051-1E970E091E8B}" destId="{597AE971-BDE8-5444-8785-A83E0C931603}" srcOrd="6" destOrd="0" presId="urn:microsoft.com/office/officeart/2005/8/layout/list1"/>
    <dgm:cxn modelId="{92C188B1-5343-6246-85ED-162D0913A230}" type="presParOf" srcId="{A56E0AD6-1539-6646-B051-1E970E091E8B}" destId="{277D076D-0B3D-044E-8789-5FC845E89445}" srcOrd="7" destOrd="0" presId="urn:microsoft.com/office/officeart/2005/8/layout/list1"/>
    <dgm:cxn modelId="{E19D3213-EC3A-6B42-B702-F6D639DAE3F9}" type="presParOf" srcId="{A56E0AD6-1539-6646-B051-1E970E091E8B}" destId="{A961B762-3926-7843-A415-CAA12A0D61F9}" srcOrd="8" destOrd="0" presId="urn:microsoft.com/office/officeart/2005/8/layout/list1"/>
    <dgm:cxn modelId="{477EDDA7-FCF9-FE4C-B642-30A393542443}" type="presParOf" srcId="{A961B762-3926-7843-A415-CAA12A0D61F9}" destId="{0D6B55D5-B4C6-B447-89B1-4B16C3B2B7E9}" srcOrd="0" destOrd="0" presId="urn:microsoft.com/office/officeart/2005/8/layout/list1"/>
    <dgm:cxn modelId="{CB3C97E9-10B4-B049-8581-FD7414BF4E06}" type="presParOf" srcId="{A961B762-3926-7843-A415-CAA12A0D61F9}" destId="{5B8EEC7D-5D9D-DF44-8C6E-7FD5D733A4FC}" srcOrd="1" destOrd="0" presId="urn:microsoft.com/office/officeart/2005/8/layout/list1"/>
    <dgm:cxn modelId="{5E27417B-3A30-794E-BA2A-2F4182A5457C}" type="presParOf" srcId="{A56E0AD6-1539-6646-B051-1E970E091E8B}" destId="{51A8A4D0-E3F7-BD4A-AA4F-3046862725CE}" srcOrd="9" destOrd="0" presId="urn:microsoft.com/office/officeart/2005/8/layout/list1"/>
    <dgm:cxn modelId="{257F49AB-10EE-9B45-A306-3E9DFE72E8D9}" type="presParOf" srcId="{A56E0AD6-1539-6646-B051-1E970E091E8B}" destId="{77E855CA-1742-0042-AC18-5D0EA1466A5A}" srcOrd="10" destOrd="0" presId="urn:microsoft.com/office/officeart/2005/8/layout/list1"/>
    <dgm:cxn modelId="{DBEDCE0D-A95D-F44C-A0C9-DDE89B4BDF58}" type="presParOf" srcId="{A56E0AD6-1539-6646-B051-1E970E091E8B}" destId="{F8F62407-FB9A-804B-9FF2-3E94064C8A76}" srcOrd="11" destOrd="0" presId="urn:microsoft.com/office/officeart/2005/8/layout/list1"/>
    <dgm:cxn modelId="{4C66F147-C53E-7B45-A82B-43D69D5A9D32}" type="presParOf" srcId="{A56E0AD6-1539-6646-B051-1E970E091E8B}" destId="{D8BC93BE-3E4F-A24F-8F20-40C53F1FEF33}" srcOrd="12" destOrd="0" presId="urn:microsoft.com/office/officeart/2005/8/layout/list1"/>
    <dgm:cxn modelId="{B9E81C62-44FD-1F42-B8FC-C157D4E1A6F7}" type="presParOf" srcId="{D8BC93BE-3E4F-A24F-8F20-40C53F1FEF33}" destId="{A08E2060-FC4C-594F-9E53-CFD1DF4E05BC}" srcOrd="0" destOrd="0" presId="urn:microsoft.com/office/officeart/2005/8/layout/list1"/>
    <dgm:cxn modelId="{BE282DF2-2FDA-EF41-81A6-0551B208C30B}" type="presParOf" srcId="{D8BC93BE-3E4F-A24F-8F20-40C53F1FEF33}" destId="{CB788071-C671-DE42-9795-C16E53D7F727}" srcOrd="1" destOrd="0" presId="urn:microsoft.com/office/officeart/2005/8/layout/list1"/>
    <dgm:cxn modelId="{4D8150B2-DA12-3E49-8EC4-D95F782AECAC}" type="presParOf" srcId="{A56E0AD6-1539-6646-B051-1E970E091E8B}" destId="{1D3CAA28-1467-7241-8AB5-A55564456344}" srcOrd="13" destOrd="0" presId="urn:microsoft.com/office/officeart/2005/8/layout/list1"/>
    <dgm:cxn modelId="{1BB239BE-FE2C-0D40-807A-AAA9D75F5483}" type="presParOf" srcId="{A56E0AD6-1539-6646-B051-1E970E091E8B}" destId="{CCC03392-55D5-2243-A097-C124D95CE6F1}" srcOrd="14" destOrd="0" presId="urn:microsoft.com/office/officeart/2005/8/layout/list1"/>
    <dgm:cxn modelId="{544492F5-3657-7C46-98EB-3E4CC0DD68F6}" type="presParOf" srcId="{A56E0AD6-1539-6646-B051-1E970E091E8B}" destId="{26F525A7-20CA-5F4F-AF79-EB185915A679}" srcOrd="15" destOrd="0" presId="urn:microsoft.com/office/officeart/2005/8/layout/list1"/>
    <dgm:cxn modelId="{C8C0E60D-20FA-A347-84D0-C93F5E466AC0}" type="presParOf" srcId="{A56E0AD6-1539-6646-B051-1E970E091E8B}" destId="{7E2F897C-CFA3-974A-93A6-0D194F061ECC}" srcOrd="16" destOrd="0" presId="urn:microsoft.com/office/officeart/2005/8/layout/list1"/>
    <dgm:cxn modelId="{99A8931D-D671-CB47-90C4-DC2B45FC685B}" type="presParOf" srcId="{7E2F897C-CFA3-974A-93A6-0D194F061ECC}" destId="{BD92137A-C3B9-3C44-BD8B-57B0EA8E0D33}" srcOrd="0" destOrd="0" presId="urn:microsoft.com/office/officeart/2005/8/layout/list1"/>
    <dgm:cxn modelId="{F51C84B4-C318-A647-97DF-3C7F50D3B212}" type="presParOf" srcId="{7E2F897C-CFA3-974A-93A6-0D194F061ECC}" destId="{295F6B93-2114-E748-848E-1211D16C9CE2}" srcOrd="1" destOrd="0" presId="urn:microsoft.com/office/officeart/2005/8/layout/list1"/>
    <dgm:cxn modelId="{E74AE3C1-A324-3046-9DDC-33629EBB3C2A}" type="presParOf" srcId="{A56E0AD6-1539-6646-B051-1E970E091E8B}" destId="{401B40E4-6A41-2443-B49A-1EBA8BF3511D}" srcOrd="17" destOrd="0" presId="urn:microsoft.com/office/officeart/2005/8/layout/list1"/>
    <dgm:cxn modelId="{B1550595-18D5-6B44-8BD1-895FB3232DEC}" type="presParOf" srcId="{A56E0AD6-1539-6646-B051-1E970E091E8B}" destId="{F29F1465-1649-084C-AF91-B2D9E50A98A6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34A8BA1-138F-41BB-8D23-6161887B45D0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6DC25E7-C148-43BC-B198-DCC308B7D8E4}">
      <dgm:prSet custT="1"/>
      <dgm:spPr>
        <a:xfrm>
          <a:off x="259216" y="83198"/>
          <a:ext cx="3629025" cy="560880"/>
        </a:xfrm>
        <a:prstGeom prst="roundRect">
          <a:avLst/>
        </a:prstGeom>
        <a:solidFill>
          <a:srgbClr val="5B9BD5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zh-CN" altLang="en-US" sz="2000" b="1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流网络</a:t>
          </a:r>
          <a:endParaRPr lang="en-US" sz="2000" b="1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gm:t>
    </dgm:pt>
    <dgm:pt modelId="{E9F6A87D-EAE1-496E-90C5-94D76A26E1A0}" type="parTrans" cxnId="{40836DE9-9379-4E03-9A2B-0A4E759DFA3E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C5F6E1ED-AC92-44F7-A3A8-1B6ED87DF57E}" type="sibTrans" cxnId="{40836DE9-9379-4E03-9A2B-0A4E759DFA3E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779370D5-CEC0-4B9B-91B9-2D4658D7E886}">
      <dgm:prSet custT="1"/>
      <dgm:spPr>
        <a:xfrm>
          <a:off x="0" y="363638"/>
          <a:ext cx="5184322" cy="867825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Char char="•"/>
          </a:pPr>
          <a:r>
            <a:rPr lang="zh-CN" altLang="en-US" sz="1600" b="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基本概念：流，最大流，割</a:t>
          </a:r>
          <a:endParaRPr lang="en-US" sz="1600" b="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gm:t>
    </dgm:pt>
    <dgm:pt modelId="{A01EC990-F312-4728-AA66-0558D43BFAF2}" type="parTrans" cxnId="{485BD864-89FC-4CD4-A8EC-05D5D8570355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490431A6-7BA8-44F1-A61D-240159C30858}" type="sibTrans" cxnId="{485BD864-89FC-4CD4-A8EC-05D5D8570355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4618C007-D795-4730-B470-B46B08688DA2}">
      <dgm:prSet custT="1"/>
      <dgm:spPr>
        <a:xfrm>
          <a:off x="259216" y="1334063"/>
          <a:ext cx="3629025" cy="560880"/>
        </a:xfrm>
        <a:prstGeom prst="roundRect">
          <a:avLst/>
        </a:prstGeom>
        <a:solidFill>
          <a:srgbClr val="5B9BD5">
            <a:hueOff val="-1689636"/>
            <a:satOff val="-4355"/>
            <a:lumOff val="-2941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2000" b="1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Ford-Fulkerson</a:t>
          </a:r>
          <a:r>
            <a:rPr lang="zh-CN" altLang="en-US" sz="2000" b="1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算法</a:t>
          </a:r>
          <a:endParaRPr lang="en-US" sz="2000" b="1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gm:t>
    </dgm:pt>
    <dgm:pt modelId="{0D7807B7-0D92-4BF2-952A-94F260CC0D96}" type="parTrans" cxnId="{483F47BC-754E-4BD5-981C-6144846B2FD2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FD210294-9C04-4B11-AB13-0F007CA01D51}" type="sibTrans" cxnId="{483F47BC-754E-4BD5-981C-6144846B2FD2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00D6FFBE-0D6B-46B6-9121-95BCDFD884C7}">
      <dgm:prSet custT="1"/>
      <dgm:spPr>
        <a:xfrm>
          <a:off x="0" y="1614503"/>
          <a:ext cx="5184322" cy="1586025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1689636"/>
              <a:satOff val="-4355"/>
              <a:lumOff val="-2941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Char char="•"/>
          </a:pPr>
          <a:r>
            <a:rPr lang="zh-CN" altLang="en-US" sz="1600" b="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剩余网络</a:t>
          </a:r>
          <a:endParaRPr lang="en-US" sz="1600" b="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gm:t>
    </dgm:pt>
    <dgm:pt modelId="{6E21393E-247A-47D8-A24D-279BA3074894}" type="parTrans" cxnId="{8395FAC6-FE70-460C-9219-9C4ED083B76E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F0779FF3-DFBD-42BE-AE9F-0ED34875AFA6}" type="sibTrans" cxnId="{8395FAC6-FE70-460C-9219-9C4ED083B76E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829C3D77-3692-4CCF-8E4B-07C03CF489AC}">
      <dgm:prSet custT="1"/>
      <dgm:spPr>
        <a:xfrm>
          <a:off x="0" y="1614503"/>
          <a:ext cx="5184322" cy="1586025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1689636"/>
              <a:satOff val="-4355"/>
              <a:lumOff val="-2941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Char char="•"/>
          </a:pPr>
          <a:r>
            <a:rPr lang="zh-CN" altLang="en-US" sz="1600" b="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增广路径</a:t>
          </a:r>
          <a:endParaRPr lang="en-US" sz="1600" b="0" kern="120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gm:t>
    </dgm:pt>
    <dgm:pt modelId="{B8F114E1-87BF-472C-8615-C50C3B78E4EA}" type="parTrans" cxnId="{10DA53BF-D285-4F72-A140-9F8D2C7A512A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FFDDF496-3CA0-4D60-8C6B-AAD0645E97F5}" type="sibTrans" cxnId="{10DA53BF-D285-4F72-A140-9F8D2C7A512A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9DC90D6D-7655-438C-9592-9074A06DF1EF}">
      <dgm:prSet custT="1"/>
      <dgm:spPr>
        <a:xfrm>
          <a:off x="0" y="1614503"/>
          <a:ext cx="5184322" cy="1586025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1689636"/>
              <a:satOff val="-4355"/>
              <a:lumOff val="-2941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Char char="•"/>
          </a:pPr>
          <a:r>
            <a:rPr lang="zh-CN" altLang="en-US" sz="1600" b="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流网络的割</a:t>
          </a:r>
          <a:endParaRPr lang="en-US" sz="1600" b="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gm:t>
    </dgm:pt>
    <dgm:pt modelId="{FA586CB4-AAC5-4C39-B843-9C7FEF426C51}" type="parTrans" cxnId="{EA051B04-2321-4D19-9805-8A8E998571FA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20D0E26C-7585-4697-BE0F-0B4033F541F5}" type="sibTrans" cxnId="{EA051B04-2321-4D19-9805-8A8E998571FA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E1966750-F290-41D1-B653-29FA4465EF32}">
      <dgm:prSet custT="1"/>
      <dgm:spPr>
        <a:xfrm>
          <a:off x="259216" y="4164968"/>
          <a:ext cx="3629025" cy="560880"/>
        </a:xfrm>
        <a:prstGeom prst="roundRect">
          <a:avLst/>
        </a:prstGeom>
        <a:solidFill>
          <a:srgbClr val="5B9BD5">
            <a:hueOff val="-5068907"/>
            <a:satOff val="-13064"/>
            <a:lumOff val="-8824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zh-CN" altLang="en-US" sz="2000" b="1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最大二分匹配</a:t>
          </a:r>
          <a:endParaRPr lang="en-US" sz="2000" b="1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gm:t>
    </dgm:pt>
    <dgm:pt modelId="{C268E205-8775-4D2E-8116-A4452DD44384}" type="parTrans" cxnId="{B66D651C-1047-4F84-8425-31DC8D0BB5B7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CB0BD3D8-57C4-4FA0-BFA0-6CD83A40BA45}" type="sibTrans" cxnId="{B66D651C-1047-4F84-8425-31DC8D0BB5B7}">
      <dgm:prSet/>
      <dgm:spPr/>
      <dgm:t>
        <a:bodyPr/>
        <a:lstStyle/>
        <a:p>
          <a:endParaRPr 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47973655-8AE0-9B42-A54F-BBB8BC269214}">
      <dgm:prSet custT="1"/>
      <dgm:spPr>
        <a:xfrm>
          <a:off x="259216" y="3303128"/>
          <a:ext cx="3629025" cy="560880"/>
        </a:xfrm>
        <a:prstGeom prst="roundRect">
          <a:avLst/>
        </a:prstGeom>
        <a:solidFill>
          <a:srgbClr val="5B9BD5">
            <a:hueOff val="-3379271"/>
            <a:satOff val="-8710"/>
            <a:lumOff val="-5883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altLang="zh-CN" sz="2000" b="1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Edmonds-Karp</a:t>
          </a:r>
          <a:r>
            <a:rPr lang="zh-CN" altLang="en-US" sz="2000" b="1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算法</a:t>
          </a:r>
          <a:endParaRPr lang="en-US" sz="2000" b="1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gm:t>
    </dgm:pt>
    <dgm:pt modelId="{EE7E4897-697A-074A-8D56-22609C653170}" type="parTrans" cxnId="{05143FFE-D150-B248-A088-30819006877A}">
      <dgm:prSet/>
      <dgm:spPr/>
      <dgm:t>
        <a:bodyPr/>
        <a:lstStyle/>
        <a:p>
          <a:endParaRPr lang="zh-CN" alt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06F05B1F-002D-6D44-86EF-CA354B036EE4}" type="sibTrans" cxnId="{05143FFE-D150-B248-A088-30819006877A}">
      <dgm:prSet/>
      <dgm:spPr/>
      <dgm:t>
        <a:bodyPr/>
        <a:lstStyle/>
        <a:p>
          <a:endParaRPr lang="zh-CN" alt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B7D20505-2988-A64E-ABFC-A337A50B8515}">
      <dgm:prSet custT="1"/>
      <dgm:spPr>
        <a:xfrm>
          <a:off x="259216" y="5026808"/>
          <a:ext cx="3629025" cy="560880"/>
        </a:xfrm>
        <a:prstGeom prst="roundRect">
          <a:avLst/>
        </a:prstGeom>
        <a:solidFill>
          <a:srgbClr val="5B9BD5">
            <a:hueOff val="-6758543"/>
            <a:satOff val="-17419"/>
            <a:lumOff val="-11765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2000" b="1" dirty="0" err="1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基于最大流的最密子图查找</a:t>
          </a:r>
          <a:endParaRPr lang="en-US" sz="2000" b="1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gm:t>
    </dgm:pt>
    <dgm:pt modelId="{6986C275-428F-3E4E-BDDF-69F91050C4E0}" type="parTrans" cxnId="{8C9F3342-887B-A04D-83CD-9DB0DA58B691}">
      <dgm:prSet/>
      <dgm:spPr/>
      <dgm:t>
        <a:bodyPr/>
        <a:lstStyle/>
        <a:p>
          <a:endParaRPr lang="zh-CN" alt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9C02872D-B4BF-5544-AA39-833C4F5D9BBD}" type="sibTrans" cxnId="{8C9F3342-887B-A04D-83CD-9DB0DA58B691}">
      <dgm:prSet/>
      <dgm:spPr/>
      <dgm:t>
        <a:bodyPr/>
        <a:lstStyle/>
        <a:p>
          <a:endParaRPr lang="zh-CN" altLang="en-US" sz="2000" b="1">
            <a:latin typeface="思源黑体 CN Regular" panose="020B0500000000000000" pitchFamily="34" charset="-122"/>
            <a:ea typeface="思源黑体 CN Regular" panose="020B0500000000000000" pitchFamily="34" charset="-122"/>
          </a:endParaRPr>
        </a:p>
      </dgm:t>
    </dgm:pt>
    <dgm:pt modelId="{A56E0AD6-1539-6646-B051-1E970E091E8B}" type="pres">
      <dgm:prSet presAssocID="{234A8BA1-138F-41BB-8D23-6161887B45D0}" presName="linear" presStyleCnt="0">
        <dgm:presLayoutVars>
          <dgm:dir/>
          <dgm:animLvl val="lvl"/>
          <dgm:resizeHandles val="exact"/>
        </dgm:presLayoutVars>
      </dgm:prSet>
      <dgm:spPr/>
    </dgm:pt>
    <dgm:pt modelId="{F6272F39-F7ED-9D47-873E-ABFF16E4452B}" type="pres">
      <dgm:prSet presAssocID="{A6DC25E7-C148-43BC-B198-DCC308B7D8E4}" presName="parentLin" presStyleCnt="0"/>
      <dgm:spPr/>
    </dgm:pt>
    <dgm:pt modelId="{6C556D7B-924E-D749-BB37-47E4A9B7C636}" type="pres">
      <dgm:prSet presAssocID="{A6DC25E7-C148-43BC-B198-DCC308B7D8E4}" presName="parentLeftMargin" presStyleLbl="node1" presStyleIdx="0" presStyleCnt="5"/>
      <dgm:spPr/>
    </dgm:pt>
    <dgm:pt modelId="{EA707B86-A050-A54C-AF6E-D456301B09F7}" type="pres">
      <dgm:prSet presAssocID="{A6DC25E7-C148-43BC-B198-DCC308B7D8E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3C2C8DA-2EA3-E546-B00C-9AAC98739F2A}" type="pres">
      <dgm:prSet presAssocID="{A6DC25E7-C148-43BC-B198-DCC308B7D8E4}" presName="negativeSpace" presStyleCnt="0"/>
      <dgm:spPr/>
    </dgm:pt>
    <dgm:pt modelId="{D823D4E0-570D-A246-9B72-92AD024C9C06}" type="pres">
      <dgm:prSet presAssocID="{A6DC25E7-C148-43BC-B198-DCC308B7D8E4}" presName="childText" presStyleLbl="conFgAcc1" presStyleIdx="0" presStyleCnt="5">
        <dgm:presLayoutVars>
          <dgm:bulletEnabled val="1"/>
        </dgm:presLayoutVars>
      </dgm:prSet>
      <dgm:spPr/>
    </dgm:pt>
    <dgm:pt modelId="{850346E8-8B2E-D546-BB8A-BF3001FFD364}" type="pres">
      <dgm:prSet presAssocID="{C5F6E1ED-AC92-44F7-A3A8-1B6ED87DF57E}" presName="spaceBetweenRectangles" presStyleCnt="0"/>
      <dgm:spPr/>
    </dgm:pt>
    <dgm:pt modelId="{8FF51E2C-B88E-8C45-8815-C88FE57AE96F}" type="pres">
      <dgm:prSet presAssocID="{4618C007-D795-4730-B470-B46B08688DA2}" presName="parentLin" presStyleCnt="0"/>
      <dgm:spPr/>
    </dgm:pt>
    <dgm:pt modelId="{AE3D6D8D-85E2-CF4B-95DA-1AF4F0A7BC7A}" type="pres">
      <dgm:prSet presAssocID="{4618C007-D795-4730-B470-B46B08688DA2}" presName="parentLeftMargin" presStyleLbl="node1" presStyleIdx="0" presStyleCnt="5"/>
      <dgm:spPr/>
    </dgm:pt>
    <dgm:pt modelId="{87CAC6A4-903F-064B-9C91-00ABA97809D5}" type="pres">
      <dgm:prSet presAssocID="{4618C007-D795-4730-B470-B46B08688DA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3C4F4C5-FE7B-AE42-83C3-B3CADEAAD9D2}" type="pres">
      <dgm:prSet presAssocID="{4618C007-D795-4730-B470-B46B08688DA2}" presName="negativeSpace" presStyleCnt="0"/>
      <dgm:spPr/>
    </dgm:pt>
    <dgm:pt modelId="{597AE971-BDE8-5444-8785-A83E0C931603}" type="pres">
      <dgm:prSet presAssocID="{4618C007-D795-4730-B470-B46B08688DA2}" presName="childText" presStyleLbl="conFgAcc1" presStyleIdx="1" presStyleCnt="5">
        <dgm:presLayoutVars>
          <dgm:bulletEnabled val="1"/>
        </dgm:presLayoutVars>
      </dgm:prSet>
      <dgm:spPr/>
    </dgm:pt>
    <dgm:pt modelId="{277D076D-0B3D-044E-8789-5FC845E89445}" type="pres">
      <dgm:prSet presAssocID="{FD210294-9C04-4B11-AB13-0F007CA01D51}" presName="spaceBetweenRectangles" presStyleCnt="0"/>
      <dgm:spPr/>
    </dgm:pt>
    <dgm:pt modelId="{A961B762-3926-7843-A415-CAA12A0D61F9}" type="pres">
      <dgm:prSet presAssocID="{47973655-8AE0-9B42-A54F-BBB8BC269214}" presName="parentLin" presStyleCnt="0"/>
      <dgm:spPr/>
    </dgm:pt>
    <dgm:pt modelId="{0D6B55D5-B4C6-B447-89B1-4B16C3B2B7E9}" type="pres">
      <dgm:prSet presAssocID="{47973655-8AE0-9B42-A54F-BBB8BC269214}" presName="parentLeftMargin" presStyleLbl="node1" presStyleIdx="1" presStyleCnt="5"/>
      <dgm:spPr/>
    </dgm:pt>
    <dgm:pt modelId="{5B8EEC7D-5D9D-DF44-8C6E-7FD5D733A4FC}" type="pres">
      <dgm:prSet presAssocID="{47973655-8AE0-9B42-A54F-BBB8BC26921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1A8A4D0-E3F7-BD4A-AA4F-3046862725CE}" type="pres">
      <dgm:prSet presAssocID="{47973655-8AE0-9B42-A54F-BBB8BC269214}" presName="negativeSpace" presStyleCnt="0"/>
      <dgm:spPr/>
    </dgm:pt>
    <dgm:pt modelId="{77E855CA-1742-0042-AC18-5D0EA1466A5A}" type="pres">
      <dgm:prSet presAssocID="{47973655-8AE0-9B42-A54F-BBB8BC269214}" presName="childText" presStyleLbl="conFgAcc1" presStyleIdx="2" presStyleCnt="5">
        <dgm:presLayoutVars>
          <dgm:bulletEnabled val="1"/>
        </dgm:presLayoutVars>
      </dgm:prSet>
      <dgm:spPr>
        <a:xfrm>
          <a:off x="0" y="3583568"/>
          <a:ext cx="5184322" cy="4788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3379271"/>
              <a:satOff val="-8710"/>
              <a:lumOff val="-5883"/>
              <a:alphaOff val="0"/>
            </a:srgbClr>
          </a:solidFill>
          <a:prstDash val="solid"/>
          <a:miter lim="800000"/>
        </a:ln>
        <a:effectLst/>
      </dgm:spPr>
    </dgm:pt>
    <dgm:pt modelId="{F8F62407-FB9A-804B-9FF2-3E94064C8A76}" type="pres">
      <dgm:prSet presAssocID="{06F05B1F-002D-6D44-86EF-CA354B036EE4}" presName="spaceBetweenRectangles" presStyleCnt="0"/>
      <dgm:spPr/>
    </dgm:pt>
    <dgm:pt modelId="{D8BC93BE-3E4F-A24F-8F20-40C53F1FEF33}" type="pres">
      <dgm:prSet presAssocID="{E1966750-F290-41D1-B653-29FA4465EF32}" presName="parentLin" presStyleCnt="0"/>
      <dgm:spPr/>
    </dgm:pt>
    <dgm:pt modelId="{A08E2060-FC4C-594F-9E53-CFD1DF4E05BC}" type="pres">
      <dgm:prSet presAssocID="{E1966750-F290-41D1-B653-29FA4465EF32}" presName="parentLeftMargin" presStyleLbl="node1" presStyleIdx="2" presStyleCnt="5"/>
      <dgm:spPr/>
    </dgm:pt>
    <dgm:pt modelId="{CB788071-C671-DE42-9795-C16E53D7F727}" type="pres">
      <dgm:prSet presAssocID="{E1966750-F290-41D1-B653-29FA4465EF3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D3CAA28-1467-7241-8AB5-A55564456344}" type="pres">
      <dgm:prSet presAssocID="{E1966750-F290-41D1-B653-29FA4465EF32}" presName="negativeSpace" presStyleCnt="0"/>
      <dgm:spPr/>
    </dgm:pt>
    <dgm:pt modelId="{CCC03392-55D5-2243-A097-C124D95CE6F1}" type="pres">
      <dgm:prSet presAssocID="{E1966750-F290-41D1-B653-29FA4465EF32}" presName="childText" presStyleLbl="conFgAcc1" presStyleIdx="3" presStyleCnt="5">
        <dgm:presLayoutVars>
          <dgm:bulletEnabled val="1"/>
        </dgm:presLayoutVars>
      </dgm:prSet>
      <dgm:spPr>
        <a:xfrm>
          <a:off x="0" y="4445408"/>
          <a:ext cx="5184322" cy="4788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5068907"/>
              <a:satOff val="-13064"/>
              <a:lumOff val="-8824"/>
              <a:alphaOff val="0"/>
            </a:srgbClr>
          </a:solidFill>
          <a:prstDash val="solid"/>
          <a:miter lim="800000"/>
        </a:ln>
        <a:effectLst/>
      </dgm:spPr>
    </dgm:pt>
    <dgm:pt modelId="{26F525A7-20CA-5F4F-AF79-EB185915A679}" type="pres">
      <dgm:prSet presAssocID="{CB0BD3D8-57C4-4FA0-BFA0-6CD83A40BA45}" presName="spaceBetweenRectangles" presStyleCnt="0"/>
      <dgm:spPr/>
    </dgm:pt>
    <dgm:pt modelId="{7E2F897C-CFA3-974A-93A6-0D194F061ECC}" type="pres">
      <dgm:prSet presAssocID="{B7D20505-2988-A64E-ABFC-A337A50B8515}" presName="parentLin" presStyleCnt="0"/>
      <dgm:spPr/>
    </dgm:pt>
    <dgm:pt modelId="{BD92137A-C3B9-3C44-BD8B-57B0EA8E0D33}" type="pres">
      <dgm:prSet presAssocID="{B7D20505-2988-A64E-ABFC-A337A50B8515}" presName="parentLeftMargin" presStyleLbl="node1" presStyleIdx="3" presStyleCnt="5"/>
      <dgm:spPr/>
    </dgm:pt>
    <dgm:pt modelId="{295F6B93-2114-E748-848E-1211D16C9CE2}" type="pres">
      <dgm:prSet presAssocID="{B7D20505-2988-A64E-ABFC-A337A50B8515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401B40E4-6A41-2443-B49A-1EBA8BF3511D}" type="pres">
      <dgm:prSet presAssocID="{B7D20505-2988-A64E-ABFC-A337A50B8515}" presName="negativeSpace" presStyleCnt="0"/>
      <dgm:spPr/>
    </dgm:pt>
    <dgm:pt modelId="{F29F1465-1649-084C-AF91-B2D9E50A98A6}" type="pres">
      <dgm:prSet presAssocID="{B7D20505-2988-A64E-ABFC-A337A50B8515}" presName="childText" presStyleLbl="conFgAcc1" presStyleIdx="4" presStyleCnt="5">
        <dgm:presLayoutVars>
          <dgm:bulletEnabled val="1"/>
        </dgm:presLayoutVars>
      </dgm:prSet>
      <dgm:spPr>
        <a:xfrm>
          <a:off x="0" y="5307248"/>
          <a:ext cx="5184322" cy="4788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6758543"/>
              <a:satOff val="-17419"/>
              <a:lumOff val="-11765"/>
              <a:alphaOff val="0"/>
            </a:srgbClr>
          </a:solidFill>
          <a:prstDash val="solid"/>
          <a:miter lim="800000"/>
        </a:ln>
        <a:effectLst/>
      </dgm:spPr>
    </dgm:pt>
  </dgm:ptLst>
  <dgm:cxnLst>
    <dgm:cxn modelId="{EA051B04-2321-4D19-9805-8A8E998571FA}" srcId="{4618C007-D795-4730-B470-B46B08688DA2}" destId="{9DC90D6D-7655-438C-9592-9074A06DF1EF}" srcOrd="2" destOrd="0" parTransId="{FA586CB4-AAC5-4C39-B843-9C7FEF426C51}" sibTransId="{20D0E26C-7585-4697-BE0F-0B4033F541F5}"/>
    <dgm:cxn modelId="{91BF0306-35B2-D746-8EC0-7787EA104D6E}" type="presOf" srcId="{4618C007-D795-4730-B470-B46B08688DA2}" destId="{AE3D6D8D-85E2-CF4B-95DA-1AF4F0A7BC7A}" srcOrd="0" destOrd="0" presId="urn:microsoft.com/office/officeart/2005/8/layout/list1"/>
    <dgm:cxn modelId="{7925F20D-CB4A-B54B-B5A6-B11AB0667B6E}" type="presOf" srcId="{47973655-8AE0-9B42-A54F-BBB8BC269214}" destId="{5B8EEC7D-5D9D-DF44-8C6E-7FD5D733A4FC}" srcOrd="1" destOrd="0" presId="urn:microsoft.com/office/officeart/2005/8/layout/list1"/>
    <dgm:cxn modelId="{B66D651C-1047-4F84-8425-31DC8D0BB5B7}" srcId="{234A8BA1-138F-41BB-8D23-6161887B45D0}" destId="{E1966750-F290-41D1-B653-29FA4465EF32}" srcOrd="3" destOrd="0" parTransId="{C268E205-8775-4D2E-8116-A4452DD44384}" sibTransId="{CB0BD3D8-57C4-4FA0-BFA0-6CD83A40BA45}"/>
    <dgm:cxn modelId="{B1F7E526-4965-9F4D-9534-8D8D850C8D74}" type="presOf" srcId="{E1966750-F290-41D1-B653-29FA4465EF32}" destId="{A08E2060-FC4C-594F-9E53-CFD1DF4E05BC}" srcOrd="0" destOrd="0" presId="urn:microsoft.com/office/officeart/2005/8/layout/list1"/>
    <dgm:cxn modelId="{012C412A-3438-1D40-8E0F-C8345D3F6582}" type="presOf" srcId="{234A8BA1-138F-41BB-8D23-6161887B45D0}" destId="{A56E0AD6-1539-6646-B051-1E970E091E8B}" srcOrd="0" destOrd="0" presId="urn:microsoft.com/office/officeart/2005/8/layout/list1"/>
    <dgm:cxn modelId="{752C1D5C-60D3-9A4E-969B-F2FA3EA51C97}" type="presOf" srcId="{B7D20505-2988-A64E-ABFC-A337A50B8515}" destId="{BD92137A-C3B9-3C44-BD8B-57B0EA8E0D33}" srcOrd="0" destOrd="0" presId="urn:microsoft.com/office/officeart/2005/8/layout/list1"/>
    <dgm:cxn modelId="{8C9F3342-887B-A04D-83CD-9DB0DA58B691}" srcId="{234A8BA1-138F-41BB-8D23-6161887B45D0}" destId="{B7D20505-2988-A64E-ABFC-A337A50B8515}" srcOrd="4" destOrd="0" parTransId="{6986C275-428F-3E4E-BDDF-69F91050C4E0}" sibTransId="{9C02872D-B4BF-5544-AA39-833C4F5D9BBD}"/>
    <dgm:cxn modelId="{485BD864-89FC-4CD4-A8EC-05D5D8570355}" srcId="{A6DC25E7-C148-43BC-B198-DCC308B7D8E4}" destId="{779370D5-CEC0-4B9B-91B9-2D4658D7E886}" srcOrd="0" destOrd="0" parTransId="{A01EC990-F312-4728-AA66-0558D43BFAF2}" sibTransId="{490431A6-7BA8-44F1-A61D-240159C30858}"/>
    <dgm:cxn modelId="{64F0124C-EFCE-2E48-A115-DCCA42ABBD9D}" type="presOf" srcId="{779370D5-CEC0-4B9B-91B9-2D4658D7E886}" destId="{D823D4E0-570D-A246-9B72-92AD024C9C06}" srcOrd="0" destOrd="0" presId="urn:microsoft.com/office/officeart/2005/8/layout/list1"/>
    <dgm:cxn modelId="{40477C6D-E1F1-B240-A688-7D82CFB3FE1D}" type="presOf" srcId="{829C3D77-3692-4CCF-8E4B-07C03CF489AC}" destId="{597AE971-BDE8-5444-8785-A83E0C931603}" srcOrd="0" destOrd="1" presId="urn:microsoft.com/office/officeart/2005/8/layout/list1"/>
    <dgm:cxn modelId="{BF74C27D-63D0-694E-81E3-E56DEBD247C6}" type="presOf" srcId="{4618C007-D795-4730-B470-B46B08688DA2}" destId="{87CAC6A4-903F-064B-9C91-00ABA97809D5}" srcOrd="1" destOrd="0" presId="urn:microsoft.com/office/officeart/2005/8/layout/list1"/>
    <dgm:cxn modelId="{C3EE5B9D-2324-574D-ADB6-299921496A49}" type="presOf" srcId="{00D6FFBE-0D6B-46B6-9121-95BCDFD884C7}" destId="{597AE971-BDE8-5444-8785-A83E0C931603}" srcOrd="0" destOrd="0" presId="urn:microsoft.com/office/officeart/2005/8/layout/list1"/>
    <dgm:cxn modelId="{483F47BC-754E-4BD5-981C-6144846B2FD2}" srcId="{234A8BA1-138F-41BB-8D23-6161887B45D0}" destId="{4618C007-D795-4730-B470-B46B08688DA2}" srcOrd="1" destOrd="0" parTransId="{0D7807B7-0D92-4BF2-952A-94F260CC0D96}" sibTransId="{FD210294-9C04-4B11-AB13-0F007CA01D51}"/>
    <dgm:cxn modelId="{10DA53BF-D285-4F72-A140-9F8D2C7A512A}" srcId="{4618C007-D795-4730-B470-B46B08688DA2}" destId="{829C3D77-3692-4CCF-8E4B-07C03CF489AC}" srcOrd="1" destOrd="0" parTransId="{B8F114E1-87BF-472C-8615-C50C3B78E4EA}" sibTransId="{FFDDF496-3CA0-4D60-8C6B-AAD0645E97F5}"/>
    <dgm:cxn modelId="{57FB80C4-B7A9-F44E-84AF-70608BE6BE0A}" type="presOf" srcId="{47973655-8AE0-9B42-A54F-BBB8BC269214}" destId="{0D6B55D5-B4C6-B447-89B1-4B16C3B2B7E9}" srcOrd="0" destOrd="0" presId="urn:microsoft.com/office/officeart/2005/8/layout/list1"/>
    <dgm:cxn modelId="{8395FAC6-FE70-460C-9219-9C4ED083B76E}" srcId="{4618C007-D795-4730-B470-B46B08688DA2}" destId="{00D6FFBE-0D6B-46B6-9121-95BCDFD884C7}" srcOrd="0" destOrd="0" parTransId="{6E21393E-247A-47D8-A24D-279BA3074894}" sibTransId="{F0779FF3-DFBD-42BE-AE9F-0ED34875AFA6}"/>
    <dgm:cxn modelId="{1C6AF7CD-105D-9F41-AF12-6FA519E7340F}" type="presOf" srcId="{B7D20505-2988-A64E-ABFC-A337A50B8515}" destId="{295F6B93-2114-E748-848E-1211D16C9CE2}" srcOrd="1" destOrd="0" presId="urn:microsoft.com/office/officeart/2005/8/layout/list1"/>
    <dgm:cxn modelId="{66BA77D7-AB52-124F-8636-97E5904D4992}" type="presOf" srcId="{A6DC25E7-C148-43BC-B198-DCC308B7D8E4}" destId="{EA707B86-A050-A54C-AF6E-D456301B09F7}" srcOrd="1" destOrd="0" presId="urn:microsoft.com/office/officeart/2005/8/layout/list1"/>
    <dgm:cxn modelId="{40836DE9-9379-4E03-9A2B-0A4E759DFA3E}" srcId="{234A8BA1-138F-41BB-8D23-6161887B45D0}" destId="{A6DC25E7-C148-43BC-B198-DCC308B7D8E4}" srcOrd="0" destOrd="0" parTransId="{E9F6A87D-EAE1-496E-90C5-94D76A26E1A0}" sibTransId="{C5F6E1ED-AC92-44F7-A3A8-1B6ED87DF57E}"/>
    <dgm:cxn modelId="{4BC62DEE-4657-0745-B68E-07C20D65B1E2}" type="presOf" srcId="{E1966750-F290-41D1-B653-29FA4465EF32}" destId="{CB788071-C671-DE42-9795-C16E53D7F727}" srcOrd="1" destOrd="0" presId="urn:microsoft.com/office/officeart/2005/8/layout/list1"/>
    <dgm:cxn modelId="{A89D20F0-467B-D748-BD82-4661E1A75BBB}" type="presOf" srcId="{9DC90D6D-7655-438C-9592-9074A06DF1EF}" destId="{597AE971-BDE8-5444-8785-A83E0C931603}" srcOrd="0" destOrd="2" presId="urn:microsoft.com/office/officeart/2005/8/layout/list1"/>
    <dgm:cxn modelId="{92A828F2-7600-5847-8FBE-3751C344F609}" type="presOf" srcId="{A6DC25E7-C148-43BC-B198-DCC308B7D8E4}" destId="{6C556D7B-924E-D749-BB37-47E4A9B7C636}" srcOrd="0" destOrd="0" presId="urn:microsoft.com/office/officeart/2005/8/layout/list1"/>
    <dgm:cxn modelId="{05143FFE-D150-B248-A088-30819006877A}" srcId="{234A8BA1-138F-41BB-8D23-6161887B45D0}" destId="{47973655-8AE0-9B42-A54F-BBB8BC269214}" srcOrd="2" destOrd="0" parTransId="{EE7E4897-697A-074A-8D56-22609C653170}" sibTransId="{06F05B1F-002D-6D44-86EF-CA354B036EE4}"/>
    <dgm:cxn modelId="{1D8DD106-1490-2D42-9425-727537AADABD}" type="presParOf" srcId="{A56E0AD6-1539-6646-B051-1E970E091E8B}" destId="{F6272F39-F7ED-9D47-873E-ABFF16E4452B}" srcOrd="0" destOrd="0" presId="urn:microsoft.com/office/officeart/2005/8/layout/list1"/>
    <dgm:cxn modelId="{A89078D1-09DE-1543-8865-B858EDD1F548}" type="presParOf" srcId="{F6272F39-F7ED-9D47-873E-ABFF16E4452B}" destId="{6C556D7B-924E-D749-BB37-47E4A9B7C636}" srcOrd="0" destOrd="0" presId="urn:microsoft.com/office/officeart/2005/8/layout/list1"/>
    <dgm:cxn modelId="{405D8049-4118-124A-AE81-FD9CA93C4AB0}" type="presParOf" srcId="{F6272F39-F7ED-9D47-873E-ABFF16E4452B}" destId="{EA707B86-A050-A54C-AF6E-D456301B09F7}" srcOrd="1" destOrd="0" presId="urn:microsoft.com/office/officeart/2005/8/layout/list1"/>
    <dgm:cxn modelId="{C330121E-CBCB-1345-869F-C910A6B8C519}" type="presParOf" srcId="{A56E0AD6-1539-6646-B051-1E970E091E8B}" destId="{B3C2C8DA-2EA3-E546-B00C-9AAC98739F2A}" srcOrd="1" destOrd="0" presId="urn:microsoft.com/office/officeart/2005/8/layout/list1"/>
    <dgm:cxn modelId="{2B39D18E-C770-BF4B-AA1B-EB0DA8DD43A4}" type="presParOf" srcId="{A56E0AD6-1539-6646-B051-1E970E091E8B}" destId="{D823D4E0-570D-A246-9B72-92AD024C9C06}" srcOrd="2" destOrd="0" presId="urn:microsoft.com/office/officeart/2005/8/layout/list1"/>
    <dgm:cxn modelId="{F7598227-4958-8241-9D87-98FF0E05E595}" type="presParOf" srcId="{A56E0AD6-1539-6646-B051-1E970E091E8B}" destId="{850346E8-8B2E-D546-BB8A-BF3001FFD364}" srcOrd="3" destOrd="0" presId="urn:microsoft.com/office/officeart/2005/8/layout/list1"/>
    <dgm:cxn modelId="{8AE0B089-906B-D547-9FF8-EE1989A36ABE}" type="presParOf" srcId="{A56E0AD6-1539-6646-B051-1E970E091E8B}" destId="{8FF51E2C-B88E-8C45-8815-C88FE57AE96F}" srcOrd="4" destOrd="0" presId="urn:microsoft.com/office/officeart/2005/8/layout/list1"/>
    <dgm:cxn modelId="{E9653A90-736F-934E-8697-EEF26E4E7068}" type="presParOf" srcId="{8FF51E2C-B88E-8C45-8815-C88FE57AE96F}" destId="{AE3D6D8D-85E2-CF4B-95DA-1AF4F0A7BC7A}" srcOrd="0" destOrd="0" presId="urn:microsoft.com/office/officeart/2005/8/layout/list1"/>
    <dgm:cxn modelId="{6435E807-20AD-B84A-94F0-A579E12A580B}" type="presParOf" srcId="{8FF51E2C-B88E-8C45-8815-C88FE57AE96F}" destId="{87CAC6A4-903F-064B-9C91-00ABA97809D5}" srcOrd="1" destOrd="0" presId="urn:microsoft.com/office/officeart/2005/8/layout/list1"/>
    <dgm:cxn modelId="{17C59E17-FFF9-FD44-BF47-E58A4610F82C}" type="presParOf" srcId="{A56E0AD6-1539-6646-B051-1E970E091E8B}" destId="{63C4F4C5-FE7B-AE42-83C3-B3CADEAAD9D2}" srcOrd="5" destOrd="0" presId="urn:microsoft.com/office/officeart/2005/8/layout/list1"/>
    <dgm:cxn modelId="{89ED60A4-61F0-A643-BAB6-E6C8DEA2CB0B}" type="presParOf" srcId="{A56E0AD6-1539-6646-B051-1E970E091E8B}" destId="{597AE971-BDE8-5444-8785-A83E0C931603}" srcOrd="6" destOrd="0" presId="urn:microsoft.com/office/officeart/2005/8/layout/list1"/>
    <dgm:cxn modelId="{92C188B1-5343-6246-85ED-162D0913A230}" type="presParOf" srcId="{A56E0AD6-1539-6646-B051-1E970E091E8B}" destId="{277D076D-0B3D-044E-8789-5FC845E89445}" srcOrd="7" destOrd="0" presId="urn:microsoft.com/office/officeart/2005/8/layout/list1"/>
    <dgm:cxn modelId="{E19D3213-EC3A-6B42-B702-F6D639DAE3F9}" type="presParOf" srcId="{A56E0AD6-1539-6646-B051-1E970E091E8B}" destId="{A961B762-3926-7843-A415-CAA12A0D61F9}" srcOrd="8" destOrd="0" presId="urn:microsoft.com/office/officeart/2005/8/layout/list1"/>
    <dgm:cxn modelId="{477EDDA7-FCF9-FE4C-B642-30A393542443}" type="presParOf" srcId="{A961B762-3926-7843-A415-CAA12A0D61F9}" destId="{0D6B55D5-B4C6-B447-89B1-4B16C3B2B7E9}" srcOrd="0" destOrd="0" presId="urn:microsoft.com/office/officeart/2005/8/layout/list1"/>
    <dgm:cxn modelId="{CB3C97E9-10B4-B049-8581-FD7414BF4E06}" type="presParOf" srcId="{A961B762-3926-7843-A415-CAA12A0D61F9}" destId="{5B8EEC7D-5D9D-DF44-8C6E-7FD5D733A4FC}" srcOrd="1" destOrd="0" presId="urn:microsoft.com/office/officeart/2005/8/layout/list1"/>
    <dgm:cxn modelId="{5E27417B-3A30-794E-BA2A-2F4182A5457C}" type="presParOf" srcId="{A56E0AD6-1539-6646-B051-1E970E091E8B}" destId="{51A8A4D0-E3F7-BD4A-AA4F-3046862725CE}" srcOrd="9" destOrd="0" presId="urn:microsoft.com/office/officeart/2005/8/layout/list1"/>
    <dgm:cxn modelId="{257F49AB-10EE-9B45-A306-3E9DFE72E8D9}" type="presParOf" srcId="{A56E0AD6-1539-6646-B051-1E970E091E8B}" destId="{77E855CA-1742-0042-AC18-5D0EA1466A5A}" srcOrd="10" destOrd="0" presId="urn:microsoft.com/office/officeart/2005/8/layout/list1"/>
    <dgm:cxn modelId="{DBEDCE0D-A95D-F44C-A0C9-DDE89B4BDF58}" type="presParOf" srcId="{A56E0AD6-1539-6646-B051-1E970E091E8B}" destId="{F8F62407-FB9A-804B-9FF2-3E94064C8A76}" srcOrd="11" destOrd="0" presId="urn:microsoft.com/office/officeart/2005/8/layout/list1"/>
    <dgm:cxn modelId="{4C66F147-C53E-7B45-A82B-43D69D5A9D32}" type="presParOf" srcId="{A56E0AD6-1539-6646-B051-1E970E091E8B}" destId="{D8BC93BE-3E4F-A24F-8F20-40C53F1FEF33}" srcOrd="12" destOrd="0" presId="urn:microsoft.com/office/officeart/2005/8/layout/list1"/>
    <dgm:cxn modelId="{B9E81C62-44FD-1F42-B8FC-C157D4E1A6F7}" type="presParOf" srcId="{D8BC93BE-3E4F-A24F-8F20-40C53F1FEF33}" destId="{A08E2060-FC4C-594F-9E53-CFD1DF4E05BC}" srcOrd="0" destOrd="0" presId="urn:microsoft.com/office/officeart/2005/8/layout/list1"/>
    <dgm:cxn modelId="{BE282DF2-2FDA-EF41-81A6-0551B208C30B}" type="presParOf" srcId="{D8BC93BE-3E4F-A24F-8F20-40C53F1FEF33}" destId="{CB788071-C671-DE42-9795-C16E53D7F727}" srcOrd="1" destOrd="0" presId="urn:microsoft.com/office/officeart/2005/8/layout/list1"/>
    <dgm:cxn modelId="{4D8150B2-DA12-3E49-8EC4-D95F782AECAC}" type="presParOf" srcId="{A56E0AD6-1539-6646-B051-1E970E091E8B}" destId="{1D3CAA28-1467-7241-8AB5-A55564456344}" srcOrd="13" destOrd="0" presId="urn:microsoft.com/office/officeart/2005/8/layout/list1"/>
    <dgm:cxn modelId="{1BB239BE-FE2C-0D40-807A-AAA9D75F5483}" type="presParOf" srcId="{A56E0AD6-1539-6646-B051-1E970E091E8B}" destId="{CCC03392-55D5-2243-A097-C124D95CE6F1}" srcOrd="14" destOrd="0" presId="urn:microsoft.com/office/officeart/2005/8/layout/list1"/>
    <dgm:cxn modelId="{544492F5-3657-7C46-98EB-3E4CC0DD68F6}" type="presParOf" srcId="{A56E0AD6-1539-6646-B051-1E970E091E8B}" destId="{26F525A7-20CA-5F4F-AF79-EB185915A679}" srcOrd="15" destOrd="0" presId="urn:microsoft.com/office/officeart/2005/8/layout/list1"/>
    <dgm:cxn modelId="{C8C0E60D-20FA-A347-84D0-C93F5E466AC0}" type="presParOf" srcId="{A56E0AD6-1539-6646-B051-1E970E091E8B}" destId="{7E2F897C-CFA3-974A-93A6-0D194F061ECC}" srcOrd="16" destOrd="0" presId="urn:microsoft.com/office/officeart/2005/8/layout/list1"/>
    <dgm:cxn modelId="{99A8931D-D671-CB47-90C4-DC2B45FC685B}" type="presParOf" srcId="{7E2F897C-CFA3-974A-93A6-0D194F061ECC}" destId="{BD92137A-C3B9-3C44-BD8B-57B0EA8E0D33}" srcOrd="0" destOrd="0" presId="urn:microsoft.com/office/officeart/2005/8/layout/list1"/>
    <dgm:cxn modelId="{F51C84B4-C318-A647-97DF-3C7F50D3B212}" type="presParOf" srcId="{7E2F897C-CFA3-974A-93A6-0D194F061ECC}" destId="{295F6B93-2114-E748-848E-1211D16C9CE2}" srcOrd="1" destOrd="0" presId="urn:microsoft.com/office/officeart/2005/8/layout/list1"/>
    <dgm:cxn modelId="{E74AE3C1-A324-3046-9DDC-33629EBB3C2A}" type="presParOf" srcId="{A56E0AD6-1539-6646-B051-1E970E091E8B}" destId="{401B40E4-6A41-2443-B49A-1EBA8BF3511D}" srcOrd="17" destOrd="0" presId="urn:microsoft.com/office/officeart/2005/8/layout/list1"/>
    <dgm:cxn modelId="{B1550595-18D5-6B44-8BD1-895FB3232DEC}" type="presParOf" srcId="{A56E0AD6-1539-6646-B051-1E970E091E8B}" destId="{F29F1465-1649-084C-AF91-B2D9E50A98A6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23D4E0-570D-A246-9B72-92AD024C9C06}">
      <dsp:nvSpPr>
        <dsp:cNvPr id="0" name=""/>
        <dsp:cNvSpPr/>
      </dsp:nvSpPr>
      <dsp:spPr>
        <a:xfrm>
          <a:off x="0" y="369225"/>
          <a:ext cx="5184322" cy="82215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361" tIns="374904" rIns="402361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基本概念：流，最大流，割</a:t>
          </a:r>
          <a:endParaRPr lang="en-US" sz="1600" b="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sp:txBody>
      <dsp:txXfrm>
        <a:off x="0" y="369225"/>
        <a:ext cx="5184322" cy="822150"/>
      </dsp:txXfrm>
    </dsp:sp>
    <dsp:sp modelId="{EA707B86-A050-A54C-AF6E-D456301B09F7}">
      <dsp:nvSpPr>
        <dsp:cNvPr id="0" name=""/>
        <dsp:cNvSpPr/>
      </dsp:nvSpPr>
      <dsp:spPr>
        <a:xfrm>
          <a:off x="259216" y="103545"/>
          <a:ext cx="3629025" cy="531360"/>
        </a:xfrm>
        <a:prstGeom prst="roundRect">
          <a:avLst/>
        </a:prstGeom>
        <a:solidFill>
          <a:srgbClr val="5B9BD5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9" tIns="0" rIns="13716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流网络</a:t>
          </a:r>
          <a:endParaRPr lang="en-US" sz="2000" b="1" kern="1200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sp:txBody>
      <dsp:txXfrm>
        <a:off x="285155" y="129484"/>
        <a:ext cx="3577147" cy="479482"/>
      </dsp:txXfrm>
    </dsp:sp>
    <dsp:sp modelId="{597AE971-BDE8-5444-8785-A83E0C931603}">
      <dsp:nvSpPr>
        <dsp:cNvPr id="0" name=""/>
        <dsp:cNvSpPr/>
      </dsp:nvSpPr>
      <dsp:spPr>
        <a:xfrm>
          <a:off x="0" y="1554256"/>
          <a:ext cx="5184322" cy="155925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1689636"/>
              <a:satOff val="-4355"/>
              <a:lumOff val="-2941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361" tIns="374904" rIns="402361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剩余网络</a:t>
          </a:r>
          <a:endParaRPr lang="en-US" sz="1600" b="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增广路径</a:t>
          </a:r>
          <a:endParaRPr lang="en-US" sz="1600" b="0" kern="120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流网络的割</a:t>
          </a:r>
          <a:endParaRPr lang="en-US" sz="1600" b="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sp:txBody>
      <dsp:txXfrm>
        <a:off x="0" y="1554256"/>
        <a:ext cx="5184322" cy="1559250"/>
      </dsp:txXfrm>
    </dsp:sp>
    <dsp:sp modelId="{87CAC6A4-903F-064B-9C91-00ABA97809D5}">
      <dsp:nvSpPr>
        <dsp:cNvPr id="0" name=""/>
        <dsp:cNvSpPr/>
      </dsp:nvSpPr>
      <dsp:spPr>
        <a:xfrm>
          <a:off x="259216" y="1288576"/>
          <a:ext cx="3629025" cy="531360"/>
        </a:xfrm>
        <a:prstGeom prst="roundRect">
          <a:avLst/>
        </a:prstGeom>
        <a:solidFill>
          <a:srgbClr val="5B9BD5">
            <a:hueOff val="-1689636"/>
            <a:satOff val="-4355"/>
            <a:lumOff val="-2941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9" tIns="0" rIns="13716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Ford-Fulkerson</a:t>
          </a:r>
          <a:r>
            <a:rPr lang="zh-CN" altLang="en-US" sz="2000" b="1" kern="1200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算法</a:t>
          </a:r>
          <a:endParaRPr lang="en-US" sz="2000" b="1" kern="1200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sp:txBody>
      <dsp:txXfrm>
        <a:off x="285155" y="1314515"/>
        <a:ext cx="3577147" cy="479482"/>
      </dsp:txXfrm>
    </dsp:sp>
    <dsp:sp modelId="{77E855CA-1742-0042-AC18-5D0EA1466A5A}">
      <dsp:nvSpPr>
        <dsp:cNvPr id="0" name=""/>
        <dsp:cNvSpPr/>
      </dsp:nvSpPr>
      <dsp:spPr>
        <a:xfrm>
          <a:off x="0" y="3476386"/>
          <a:ext cx="5184322" cy="4536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3379271"/>
              <a:satOff val="-8710"/>
              <a:lumOff val="-588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8EEC7D-5D9D-DF44-8C6E-7FD5D733A4FC}">
      <dsp:nvSpPr>
        <dsp:cNvPr id="0" name=""/>
        <dsp:cNvSpPr/>
      </dsp:nvSpPr>
      <dsp:spPr>
        <a:xfrm>
          <a:off x="259216" y="3210706"/>
          <a:ext cx="3629025" cy="531360"/>
        </a:xfrm>
        <a:prstGeom prst="roundRect">
          <a:avLst/>
        </a:prstGeom>
        <a:solidFill>
          <a:srgbClr val="5B9BD5">
            <a:hueOff val="-3379271"/>
            <a:satOff val="-8710"/>
            <a:lumOff val="-5883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9" tIns="0" rIns="13716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Edmonds-Karp</a:t>
          </a:r>
          <a:r>
            <a:rPr lang="zh-CN" altLang="en-US" sz="2000" b="1" kern="1200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算法</a:t>
          </a:r>
          <a:endParaRPr lang="en-US" sz="2000" b="1" kern="1200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sp:txBody>
      <dsp:txXfrm>
        <a:off x="285155" y="3236645"/>
        <a:ext cx="3577147" cy="479482"/>
      </dsp:txXfrm>
    </dsp:sp>
    <dsp:sp modelId="{CCC03392-55D5-2243-A097-C124D95CE6F1}">
      <dsp:nvSpPr>
        <dsp:cNvPr id="0" name=""/>
        <dsp:cNvSpPr/>
      </dsp:nvSpPr>
      <dsp:spPr>
        <a:xfrm>
          <a:off x="0" y="4292866"/>
          <a:ext cx="5184322" cy="4536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5068907"/>
              <a:satOff val="-13064"/>
              <a:lumOff val="-8824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788071-C671-DE42-9795-C16E53D7F727}">
      <dsp:nvSpPr>
        <dsp:cNvPr id="0" name=""/>
        <dsp:cNvSpPr/>
      </dsp:nvSpPr>
      <dsp:spPr>
        <a:xfrm>
          <a:off x="259216" y="4027186"/>
          <a:ext cx="3629025" cy="531360"/>
        </a:xfrm>
        <a:prstGeom prst="roundRect">
          <a:avLst/>
        </a:prstGeom>
        <a:solidFill>
          <a:srgbClr val="5B9BD5">
            <a:hueOff val="-5068907"/>
            <a:satOff val="-13064"/>
            <a:lumOff val="-8824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9" tIns="0" rIns="13716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最大二分匹配</a:t>
          </a:r>
          <a:endParaRPr lang="en-US" sz="2000" b="1" kern="1200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sp:txBody>
      <dsp:txXfrm>
        <a:off x="285155" y="4053125"/>
        <a:ext cx="3577147" cy="479482"/>
      </dsp:txXfrm>
    </dsp:sp>
    <dsp:sp modelId="{F29F1465-1649-084C-AF91-B2D9E50A98A6}">
      <dsp:nvSpPr>
        <dsp:cNvPr id="0" name=""/>
        <dsp:cNvSpPr/>
      </dsp:nvSpPr>
      <dsp:spPr>
        <a:xfrm>
          <a:off x="0" y="5109346"/>
          <a:ext cx="5184322" cy="4536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6758543"/>
              <a:satOff val="-17419"/>
              <a:lumOff val="-11765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5F6B93-2114-E748-848E-1211D16C9CE2}">
      <dsp:nvSpPr>
        <dsp:cNvPr id="0" name=""/>
        <dsp:cNvSpPr/>
      </dsp:nvSpPr>
      <dsp:spPr>
        <a:xfrm>
          <a:off x="259216" y="4843666"/>
          <a:ext cx="3629025" cy="531360"/>
        </a:xfrm>
        <a:prstGeom prst="roundRect">
          <a:avLst/>
        </a:prstGeom>
        <a:solidFill>
          <a:srgbClr val="5B9BD5">
            <a:hueOff val="-6758543"/>
            <a:satOff val="-17419"/>
            <a:lumOff val="-11765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9" tIns="0" rIns="13716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 err="1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基于最大流的最密子图查找</a:t>
          </a:r>
          <a:endParaRPr lang="en-US" sz="2000" b="1" kern="1200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sp:txBody>
      <dsp:txXfrm>
        <a:off x="285155" y="4869605"/>
        <a:ext cx="3577147" cy="4794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23D4E0-570D-A246-9B72-92AD024C9C06}">
      <dsp:nvSpPr>
        <dsp:cNvPr id="0" name=""/>
        <dsp:cNvSpPr/>
      </dsp:nvSpPr>
      <dsp:spPr>
        <a:xfrm>
          <a:off x="0" y="369225"/>
          <a:ext cx="5184322" cy="82215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361" tIns="374904" rIns="402361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基本概念：流，最大流，割</a:t>
          </a:r>
          <a:endParaRPr lang="en-US" sz="1600" b="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sp:txBody>
      <dsp:txXfrm>
        <a:off x="0" y="369225"/>
        <a:ext cx="5184322" cy="822150"/>
      </dsp:txXfrm>
    </dsp:sp>
    <dsp:sp modelId="{EA707B86-A050-A54C-AF6E-D456301B09F7}">
      <dsp:nvSpPr>
        <dsp:cNvPr id="0" name=""/>
        <dsp:cNvSpPr/>
      </dsp:nvSpPr>
      <dsp:spPr>
        <a:xfrm>
          <a:off x="259216" y="103545"/>
          <a:ext cx="3629025" cy="531360"/>
        </a:xfrm>
        <a:prstGeom prst="roundRect">
          <a:avLst/>
        </a:prstGeom>
        <a:solidFill>
          <a:srgbClr val="5B9BD5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9" tIns="0" rIns="13716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流网络</a:t>
          </a:r>
          <a:endParaRPr lang="en-US" sz="2000" b="1" kern="1200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sp:txBody>
      <dsp:txXfrm>
        <a:off x="285155" y="129484"/>
        <a:ext cx="3577147" cy="479482"/>
      </dsp:txXfrm>
    </dsp:sp>
    <dsp:sp modelId="{597AE971-BDE8-5444-8785-A83E0C931603}">
      <dsp:nvSpPr>
        <dsp:cNvPr id="0" name=""/>
        <dsp:cNvSpPr/>
      </dsp:nvSpPr>
      <dsp:spPr>
        <a:xfrm>
          <a:off x="0" y="1554256"/>
          <a:ext cx="5184322" cy="155925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1689636"/>
              <a:satOff val="-4355"/>
              <a:lumOff val="-2941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361" tIns="374904" rIns="402361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剩余网络</a:t>
          </a:r>
          <a:endParaRPr lang="en-US" sz="1600" b="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增广路径</a:t>
          </a:r>
          <a:endParaRPr lang="en-US" sz="1600" b="0" kern="120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流网络的割</a:t>
          </a:r>
          <a:endParaRPr lang="en-US" sz="1600" b="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sp:txBody>
      <dsp:txXfrm>
        <a:off x="0" y="1554256"/>
        <a:ext cx="5184322" cy="1559250"/>
      </dsp:txXfrm>
    </dsp:sp>
    <dsp:sp modelId="{87CAC6A4-903F-064B-9C91-00ABA97809D5}">
      <dsp:nvSpPr>
        <dsp:cNvPr id="0" name=""/>
        <dsp:cNvSpPr/>
      </dsp:nvSpPr>
      <dsp:spPr>
        <a:xfrm>
          <a:off x="259216" y="1288576"/>
          <a:ext cx="3629025" cy="531360"/>
        </a:xfrm>
        <a:prstGeom prst="roundRect">
          <a:avLst/>
        </a:prstGeom>
        <a:solidFill>
          <a:srgbClr val="5B9BD5">
            <a:hueOff val="-1689636"/>
            <a:satOff val="-4355"/>
            <a:lumOff val="-2941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9" tIns="0" rIns="13716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Ford-Fulkerson</a:t>
          </a:r>
          <a:r>
            <a:rPr lang="zh-CN" altLang="en-US" sz="2000" b="1" kern="1200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算法</a:t>
          </a:r>
          <a:endParaRPr lang="en-US" sz="2000" b="1" kern="1200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sp:txBody>
      <dsp:txXfrm>
        <a:off x="285155" y="1314515"/>
        <a:ext cx="3577147" cy="479482"/>
      </dsp:txXfrm>
    </dsp:sp>
    <dsp:sp modelId="{77E855CA-1742-0042-AC18-5D0EA1466A5A}">
      <dsp:nvSpPr>
        <dsp:cNvPr id="0" name=""/>
        <dsp:cNvSpPr/>
      </dsp:nvSpPr>
      <dsp:spPr>
        <a:xfrm>
          <a:off x="0" y="3476386"/>
          <a:ext cx="5184322" cy="4536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3379271"/>
              <a:satOff val="-8710"/>
              <a:lumOff val="-588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8EEC7D-5D9D-DF44-8C6E-7FD5D733A4FC}">
      <dsp:nvSpPr>
        <dsp:cNvPr id="0" name=""/>
        <dsp:cNvSpPr/>
      </dsp:nvSpPr>
      <dsp:spPr>
        <a:xfrm>
          <a:off x="259216" y="3210706"/>
          <a:ext cx="3629025" cy="531360"/>
        </a:xfrm>
        <a:prstGeom prst="roundRect">
          <a:avLst/>
        </a:prstGeom>
        <a:solidFill>
          <a:srgbClr val="5B9BD5">
            <a:hueOff val="-3379271"/>
            <a:satOff val="-8710"/>
            <a:lumOff val="-5883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9" tIns="0" rIns="13716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Edmonds-Karp</a:t>
          </a:r>
          <a:r>
            <a:rPr lang="zh-CN" altLang="en-US" sz="2000" b="1" kern="1200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算法</a:t>
          </a:r>
          <a:endParaRPr lang="en-US" sz="2000" b="1" kern="1200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sp:txBody>
      <dsp:txXfrm>
        <a:off x="285155" y="3236645"/>
        <a:ext cx="3577147" cy="479482"/>
      </dsp:txXfrm>
    </dsp:sp>
    <dsp:sp modelId="{CCC03392-55D5-2243-A097-C124D95CE6F1}">
      <dsp:nvSpPr>
        <dsp:cNvPr id="0" name=""/>
        <dsp:cNvSpPr/>
      </dsp:nvSpPr>
      <dsp:spPr>
        <a:xfrm>
          <a:off x="0" y="4292866"/>
          <a:ext cx="5184322" cy="4536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5068907"/>
              <a:satOff val="-13064"/>
              <a:lumOff val="-8824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788071-C671-DE42-9795-C16E53D7F727}">
      <dsp:nvSpPr>
        <dsp:cNvPr id="0" name=""/>
        <dsp:cNvSpPr/>
      </dsp:nvSpPr>
      <dsp:spPr>
        <a:xfrm>
          <a:off x="259216" y="4027186"/>
          <a:ext cx="3629025" cy="531360"/>
        </a:xfrm>
        <a:prstGeom prst="roundRect">
          <a:avLst/>
        </a:prstGeom>
        <a:solidFill>
          <a:srgbClr val="5B9BD5">
            <a:hueOff val="-5068907"/>
            <a:satOff val="-13064"/>
            <a:lumOff val="-8824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9" tIns="0" rIns="13716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最大二分匹配</a:t>
          </a:r>
          <a:endParaRPr lang="en-US" sz="2000" b="1" kern="1200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sp:txBody>
      <dsp:txXfrm>
        <a:off x="285155" y="4053125"/>
        <a:ext cx="3577147" cy="479482"/>
      </dsp:txXfrm>
    </dsp:sp>
    <dsp:sp modelId="{F29F1465-1649-084C-AF91-B2D9E50A98A6}">
      <dsp:nvSpPr>
        <dsp:cNvPr id="0" name=""/>
        <dsp:cNvSpPr/>
      </dsp:nvSpPr>
      <dsp:spPr>
        <a:xfrm>
          <a:off x="0" y="5109346"/>
          <a:ext cx="5184322" cy="4536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6758543"/>
              <a:satOff val="-17419"/>
              <a:lumOff val="-11765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5F6B93-2114-E748-848E-1211D16C9CE2}">
      <dsp:nvSpPr>
        <dsp:cNvPr id="0" name=""/>
        <dsp:cNvSpPr/>
      </dsp:nvSpPr>
      <dsp:spPr>
        <a:xfrm>
          <a:off x="259216" y="4843666"/>
          <a:ext cx="3629025" cy="531360"/>
        </a:xfrm>
        <a:prstGeom prst="roundRect">
          <a:avLst/>
        </a:prstGeom>
        <a:solidFill>
          <a:srgbClr val="5B9BD5">
            <a:hueOff val="-6758543"/>
            <a:satOff val="-17419"/>
            <a:lumOff val="-11765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9" tIns="0" rIns="13716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 err="1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基于最大流的最密子图查找</a:t>
          </a:r>
          <a:endParaRPr lang="en-US" sz="2000" b="1" kern="1200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sp:txBody>
      <dsp:txXfrm>
        <a:off x="285155" y="4869605"/>
        <a:ext cx="3577147" cy="47948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23D4E0-570D-A246-9B72-92AD024C9C06}">
      <dsp:nvSpPr>
        <dsp:cNvPr id="0" name=""/>
        <dsp:cNvSpPr/>
      </dsp:nvSpPr>
      <dsp:spPr>
        <a:xfrm>
          <a:off x="0" y="369225"/>
          <a:ext cx="5184322" cy="82215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361" tIns="374904" rIns="402361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基本概念：流，最大流，割</a:t>
          </a:r>
          <a:endParaRPr lang="en-US" sz="1600" b="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sp:txBody>
      <dsp:txXfrm>
        <a:off x="0" y="369225"/>
        <a:ext cx="5184322" cy="822150"/>
      </dsp:txXfrm>
    </dsp:sp>
    <dsp:sp modelId="{EA707B86-A050-A54C-AF6E-D456301B09F7}">
      <dsp:nvSpPr>
        <dsp:cNvPr id="0" name=""/>
        <dsp:cNvSpPr/>
      </dsp:nvSpPr>
      <dsp:spPr>
        <a:xfrm>
          <a:off x="259216" y="103545"/>
          <a:ext cx="3629025" cy="531360"/>
        </a:xfrm>
        <a:prstGeom prst="roundRect">
          <a:avLst/>
        </a:prstGeom>
        <a:solidFill>
          <a:srgbClr val="5B9BD5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9" tIns="0" rIns="13716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流网络</a:t>
          </a:r>
          <a:endParaRPr lang="en-US" sz="2000" b="1" kern="1200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sp:txBody>
      <dsp:txXfrm>
        <a:off x="285155" y="129484"/>
        <a:ext cx="3577147" cy="479482"/>
      </dsp:txXfrm>
    </dsp:sp>
    <dsp:sp modelId="{597AE971-BDE8-5444-8785-A83E0C931603}">
      <dsp:nvSpPr>
        <dsp:cNvPr id="0" name=""/>
        <dsp:cNvSpPr/>
      </dsp:nvSpPr>
      <dsp:spPr>
        <a:xfrm>
          <a:off x="0" y="1554256"/>
          <a:ext cx="5184322" cy="155925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1689636"/>
              <a:satOff val="-4355"/>
              <a:lumOff val="-2941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361" tIns="374904" rIns="402361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剩余网络</a:t>
          </a:r>
          <a:endParaRPr lang="en-US" sz="1600" b="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增广路径</a:t>
          </a:r>
          <a:endParaRPr lang="en-US" sz="1600" b="0" kern="120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流网络的割</a:t>
          </a:r>
          <a:endParaRPr lang="en-US" sz="1600" b="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sp:txBody>
      <dsp:txXfrm>
        <a:off x="0" y="1554256"/>
        <a:ext cx="5184322" cy="1559250"/>
      </dsp:txXfrm>
    </dsp:sp>
    <dsp:sp modelId="{87CAC6A4-903F-064B-9C91-00ABA97809D5}">
      <dsp:nvSpPr>
        <dsp:cNvPr id="0" name=""/>
        <dsp:cNvSpPr/>
      </dsp:nvSpPr>
      <dsp:spPr>
        <a:xfrm>
          <a:off x="259216" y="1288576"/>
          <a:ext cx="3629025" cy="531360"/>
        </a:xfrm>
        <a:prstGeom prst="roundRect">
          <a:avLst/>
        </a:prstGeom>
        <a:solidFill>
          <a:srgbClr val="5B9BD5">
            <a:hueOff val="-1689636"/>
            <a:satOff val="-4355"/>
            <a:lumOff val="-2941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9" tIns="0" rIns="13716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Ford-Fulkerson</a:t>
          </a:r>
          <a:r>
            <a:rPr lang="zh-CN" altLang="en-US" sz="2000" b="1" kern="1200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算法</a:t>
          </a:r>
          <a:endParaRPr lang="en-US" sz="2000" b="1" kern="1200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sp:txBody>
      <dsp:txXfrm>
        <a:off x="285155" y="1314515"/>
        <a:ext cx="3577147" cy="479482"/>
      </dsp:txXfrm>
    </dsp:sp>
    <dsp:sp modelId="{77E855CA-1742-0042-AC18-5D0EA1466A5A}">
      <dsp:nvSpPr>
        <dsp:cNvPr id="0" name=""/>
        <dsp:cNvSpPr/>
      </dsp:nvSpPr>
      <dsp:spPr>
        <a:xfrm>
          <a:off x="0" y="3476386"/>
          <a:ext cx="5184322" cy="4536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3379271"/>
              <a:satOff val="-8710"/>
              <a:lumOff val="-588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8EEC7D-5D9D-DF44-8C6E-7FD5D733A4FC}">
      <dsp:nvSpPr>
        <dsp:cNvPr id="0" name=""/>
        <dsp:cNvSpPr/>
      </dsp:nvSpPr>
      <dsp:spPr>
        <a:xfrm>
          <a:off x="259216" y="3210706"/>
          <a:ext cx="3629025" cy="531360"/>
        </a:xfrm>
        <a:prstGeom prst="roundRect">
          <a:avLst/>
        </a:prstGeom>
        <a:solidFill>
          <a:srgbClr val="5B9BD5">
            <a:hueOff val="-3379271"/>
            <a:satOff val="-8710"/>
            <a:lumOff val="-5883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9" tIns="0" rIns="13716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Edmonds-Karp</a:t>
          </a:r>
          <a:r>
            <a:rPr lang="zh-CN" altLang="en-US" sz="2000" b="1" kern="1200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算法</a:t>
          </a:r>
          <a:endParaRPr lang="en-US" sz="2000" b="1" kern="1200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sp:txBody>
      <dsp:txXfrm>
        <a:off x="285155" y="3236645"/>
        <a:ext cx="3577147" cy="479482"/>
      </dsp:txXfrm>
    </dsp:sp>
    <dsp:sp modelId="{CCC03392-55D5-2243-A097-C124D95CE6F1}">
      <dsp:nvSpPr>
        <dsp:cNvPr id="0" name=""/>
        <dsp:cNvSpPr/>
      </dsp:nvSpPr>
      <dsp:spPr>
        <a:xfrm>
          <a:off x="0" y="4292866"/>
          <a:ext cx="5184322" cy="4536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5068907"/>
              <a:satOff val="-13064"/>
              <a:lumOff val="-8824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788071-C671-DE42-9795-C16E53D7F727}">
      <dsp:nvSpPr>
        <dsp:cNvPr id="0" name=""/>
        <dsp:cNvSpPr/>
      </dsp:nvSpPr>
      <dsp:spPr>
        <a:xfrm>
          <a:off x="259216" y="4027186"/>
          <a:ext cx="3629025" cy="531360"/>
        </a:xfrm>
        <a:prstGeom prst="roundRect">
          <a:avLst/>
        </a:prstGeom>
        <a:solidFill>
          <a:srgbClr val="5B9BD5">
            <a:hueOff val="-5068907"/>
            <a:satOff val="-13064"/>
            <a:lumOff val="-8824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9" tIns="0" rIns="13716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最大二分匹配</a:t>
          </a:r>
          <a:endParaRPr lang="en-US" sz="2000" b="1" kern="1200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sp:txBody>
      <dsp:txXfrm>
        <a:off x="285155" y="4053125"/>
        <a:ext cx="3577147" cy="479482"/>
      </dsp:txXfrm>
    </dsp:sp>
    <dsp:sp modelId="{F29F1465-1649-084C-AF91-B2D9E50A98A6}">
      <dsp:nvSpPr>
        <dsp:cNvPr id="0" name=""/>
        <dsp:cNvSpPr/>
      </dsp:nvSpPr>
      <dsp:spPr>
        <a:xfrm>
          <a:off x="0" y="5109346"/>
          <a:ext cx="5184322" cy="4536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6758543"/>
              <a:satOff val="-17419"/>
              <a:lumOff val="-11765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5F6B93-2114-E748-848E-1211D16C9CE2}">
      <dsp:nvSpPr>
        <dsp:cNvPr id="0" name=""/>
        <dsp:cNvSpPr/>
      </dsp:nvSpPr>
      <dsp:spPr>
        <a:xfrm>
          <a:off x="259216" y="4843666"/>
          <a:ext cx="3629025" cy="531360"/>
        </a:xfrm>
        <a:prstGeom prst="roundRect">
          <a:avLst/>
        </a:prstGeom>
        <a:solidFill>
          <a:srgbClr val="5B9BD5">
            <a:hueOff val="-6758543"/>
            <a:satOff val="-17419"/>
            <a:lumOff val="-11765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9" tIns="0" rIns="13716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 err="1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基于最大流的最密子图查找</a:t>
          </a:r>
          <a:endParaRPr lang="en-US" sz="2000" b="1" kern="1200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sp:txBody>
      <dsp:txXfrm>
        <a:off x="285155" y="4869605"/>
        <a:ext cx="3577147" cy="47948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23D4E0-570D-A246-9B72-92AD024C9C06}">
      <dsp:nvSpPr>
        <dsp:cNvPr id="0" name=""/>
        <dsp:cNvSpPr/>
      </dsp:nvSpPr>
      <dsp:spPr>
        <a:xfrm>
          <a:off x="0" y="369225"/>
          <a:ext cx="5184322" cy="82215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361" tIns="374904" rIns="402361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基本概念：流，最大流，割</a:t>
          </a:r>
          <a:endParaRPr lang="en-US" sz="1600" b="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sp:txBody>
      <dsp:txXfrm>
        <a:off x="0" y="369225"/>
        <a:ext cx="5184322" cy="822150"/>
      </dsp:txXfrm>
    </dsp:sp>
    <dsp:sp modelId="{EA707B86-A050-A54C-AF6E-D456301B09F7}">
      <dsp:nvSpPr>
        <dsp:cNvPr id="0" name=""/>
        <dsp:cNvSpPr/>
      </dsp:nvSpPr>
      <dsp:spPr>
        <a:xfrm>
          <a:off x="259216" y="103545"/>
          <a:ext cx="3629025" cy="531360"/>
        </a:xfrm>
        <a:prstGeom prst="roundRect">
          <a:avLst/>
        </a:prstGeom>
        <a:solidFill>
          <a:srgbClr val="5B9BD5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9" tIns="0" rIns="13716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流网络</a:t>
          </a:r>
          <a:endParaRPr lang="en-US" sz="2000" b="1" kern="1200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sp:txBody>
      <dsp:txXfrm>
        <a:off x="285155" y="129484"/>
        <a:ext cx="3577147" cy="479482"/>
      </dsp:txXfrm>
    </dsp:sp>
    <dsp:sp modelId="{597AE971-BDE8-5444-8785-A83E0C931603}">
      <dsp:nvSpPr>
        <dsp:cNvPr id="0" name=""/>
        <dsp:cNvSpPr/>
      </dsp:nvSpPr>
      <dsp:spPr>
        <a:xfrm>
          <a:off x="0" y="1554256"/>
          <a:ext cx="5184322" cy="155925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1689636"/>
              <a:satOff val="-4355"/>
              <a:lumOff val="-2941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361" tIns="374904" rIns="402361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剩余网络</a:t>
          </a:r>
          <a:endParaRPr lang="en-US" sz="1600" b="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增广路径</a:t>
          </a:r>
          <a:endParaRPr lang="en-US" sz="1600" b="0" kern="120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流网络的割</a:t>
          </a:r>
          <a:endParaRPr lang="en-US" sz="1600" b="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sp:txBody>
      <dsp:txXfrm>
        <a:off x="0" y="1554256"/>
        <a:ext cx="5184322" cy="1559250"/>
      </dsp:txXfrm>
    </dsp:sp>
    <dsp:sp modelId="{87CAC6A4-903F-064B-9C91-00ABA97809D5}">
      <dsp:nvSpPr>
        <dsp:cNvPr id="0" name=""/>
        <dsp:cNvSpPr/>
      </dsp:nvSpPr>
      <dsp:spPr>
        <a:xfrm>
          <a:off x="259216" y="1288576"/>
          <a:ext cx="3629025" cy="531360"/>
        </a:xfrm>
        <a:prstGeom prst="roundRect">
          <a:avLst/>
        </a:prstGeom>
        <a:solidFill>
          <a:srgbClr val="5B9BD5">
            <a:hueOff val="-1689636"/>
            <a:satOff val="-4355"/>
            <a:lumOff val="-2941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9" tIns="0" rIns="13716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Ford-Fulkerson</a:t>
          </a:r>
          <a:r>
            <a:rPr lang="zh-CN" altLang="en-US" sz="2000" b="1" kern="1200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算法</a:t>
          </a:r>
          <a:endParaRPr lang="en-US" sz="2000" b="1" kern="1200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sp:txBody>
      <dsp:txXfrm>
        <a:off x="285155" y="1314515"/>
        <a:ext cx="3577147" cy="479482"/>
      </dsp:txXfrm>
    </dsp:sp>
    <dsp:sp modelId="{77E855CA-1742-0042-AC18-5D0EA1466A5A}">
      <dsp:nvSpPr>
        <dsp:cNvPr id="0" name=""/>
        <dsp:cNvSpPr/>
      </dsp:nvSpPr>
      <dsp:spPr>
        <a:xfrm>
          <a:off x="0" y="3476386"/>
          <a:ext cx="5184322" cy="4536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3379271"/>
              <a:satOff val="-8710"/>
              <a:lumOff val="-588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8EEC7D-5D9D-DF44-8C6E-7FD5D733A4FC}">
      <dsp:nvSpPr>
        <dsp:cNvPr id="0" name=""/>
        <dsp:cNvSpPr/>
      </dsp:nvSpPr>
      <dsp:spPr>
        <a:xfrm>
          <a:off x="259216" y="3210706"/>
          <a:ext cx="3629025" cy="531360"/>
        </a:xfrm>
        <a:prstGeom prst="roundRect">
          <a:avLst/>
        </a:prstGeom>
        <a:solidFill>
          <a:srgbClr val="5B9BD5">
            <a:hueOff val="-3379271"/>
            <a:satOff val="-8710"/>
            <a:lumOff val="-5883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9" tIns="0" rIns="13716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Edmonds-Karp</a:t>
          </a:r>
          <a:r>
            <a:rPr lang="zh-CN" altLang="en-US" sz="2000" b="1" kern="1200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算法</a:t>
          </a:r>
          <a:endParaRPr lang="en-US" sz="2000" b="1" kern="1200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sp:txBody>
      <dsp:txXfrm>
        <a:off x="285155" y="3236645"/>
        <a:ext cx="3577147" cy="479482"/>
      </dsp:txXfrm>
    </dsp:sp>
    <dsp:sp modelId="{CCC03392-55D5-2243-A097-C124D95CE6F1}">
      <dsp:nvSpPr>
        <dsp:cNvPr id="0" name=""/>
        <dsp:cNvSpPr/>
      </dsp:nvSpPr>
      <dsp:spPr>
        <a:xfrm>
          <a:off x="0" y="4292866"/>
          <a:ext cx="5184322" cy="4536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5068907"/>
              <a:satOff val="-13064"/>
              <a:lumOff val="-8824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788071-C671-DE42-9795-C16E53D7F727}">
      <dsp:nvSpPr>
        <dsp:cNvPr id="0" name=""/>
        <dsp:cNvSpPr/>
      </dsp:nvSpPr>
      <dsp:spPr>
        <a:xfrm>
          <a:off x="259216" y="4027186"/>
          <a:ext cx="3629025" cy="531360"/>
        </a:xfrm>
        <a:prstGeom prst="roundRect">
          <a:avLst/>
        </a:prstGeom>
        <a:solidFill>
          <a:srgbClr val="5B9BD5">
            <a:hueOff val="-5068907"/>
            <a:satOff val="-13064"/>
            <a:lumOff val="-8824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9" tIns="0" rIns="13716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最大二分匹配</a:t>
          </a:r>
          <a:endParaRPr lang="en-US" sz="2000" b="1" kern="1200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sp:txBody>
      <dsp:txXfrm>
        <a:off x="285155" y="4053125"/>
        <a:ext cx="3577147" cy="479482"/>
      </dsp:txXfrm>
    </dsp:sp>
    <dsp:sp modelId="{F29F1465-1649-084C-AF91-B2D9E50A98A6}">
      <dsp:nvSpPr>
        <dsp:cNvPr id="0" name=""/>
        <dsp:cNvSpPr/>
      </dsp:nvSpPr>
      <dsp:spPr>
        <a:xfrm>
          <a:off x="0" y="5109346"/>
          <a:ext cx="5184322" cy="4536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6758543"/>
              <a:satOff val="-17419"/>
              <a:lumOff val="-11765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5F6B93-2114-E748-848E-1211D16C9CE2}">
      <dsp:nvSpPr>
        <dsp:cNvPr id="0" name=""/>
        <dsp:cNvSpPr/>
      </dsp:nvSpPr>
      <dsp:spPr>
        <a:xfrm>
          <a:off x="259216" y="4843666"/>
          <a:ext cx="3629025" cy="531360"/>
        </a:xfrm>
        <a:prstGeom prst="roundRect">
          <a:avLst/>
        </a:prstGeom>
        <a:solidFill>
          <a:srgbClr val="5B9BD5">
            <a:hueOff val="-6758543"/>
            <a:satOff val="-17419"/>
            <a:lumOff val="-11765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9" tIns="0" rIns="13716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 err="1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基于最大流的最密子图查找</a:t>
          </a:r>
          <a:endParaRPr lang="en-US" sz="2000" b="1" kern="1200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sp:txBody>
      <dsp:txXfrm>
        <a:off x="285155" y="4869605"/>
        <a:ext cx="3577147" cy="47948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23D4E0-570D-A246-9B72-92AD024C9C06}">
      <dsp:nvSpPr>
        <dsp:cNvPr id="0" name=""/>
        <dsp:cNvSpPr/>
      </dsp:nvSpPr>
      <dsp:spPr>
        <a:xfrm>
          <a:off x="0" y="369225"/>
          <a:ext cx="5184322" cy="82215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361" tIns="374904" rIns="402361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基本概念：流，最大流，割</a:t>
          </a:r>
          <a:endParaRPr lang="en-US" sz="1600" b="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sp:txBody>
      <dsp:txXfrm>
        <a:off x="0" y="369225"/>
        <a:ext cx="5184322" cy="822150"/>
      </dsp:txXfrm>
    </dsp:sp>
    <dsp:sp modelId="{EA707B86-A050-A54C-AF6E-D456301B09F7}">
      <dsp:nvSpPr>
        <dsp:cNvPr id="0" name=""/>
        <dsp:cNvSpPr/>
      </dsp:nvSpPr>
      <dsp:spPr>
        <a:xfrm>
          <a:off x="259216" y="103545"/>
          <a:ext cx="3629025" cy="531360"/>
        </a:xfrm>
        <a:prstGeom prst="roundRect">
          <a:avLst/>
        </a:prstGeom>
        <a:solidFill>
          <a:srgbClr val="5B9BD5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9" tIns="0" rIns="13716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流网络</a:t>
          </a:r>
          <a:endParaRPr lang="en-US" sz="2000" b="1" kern="1200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sp:txBody>
      <dsp:txXfrm>
        <a:off x="285155" y="129484"/>
        <a:ext cx="3577147" cy="479482"/>
      </dsp:txXfrm>
    </dsp:sp>
    <dsp:sp modelId="{597AE971-BDE8-5444-8785-A83E0C931603}">
      <dsp:nvSpPr>
        <dsp:cNvPr id="0" name=""/>
        <dsp:cNvSpPr/>
      </dsp:nvSpPr>
      <dsp:spPr>
        <a:xfrm>
          <a:off x="0" y="1554256"/>
          <a:ext cx="5184322" cy="155925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1689636"/>
              <a:satOff val="-4355"/>
              <a:lumOff val="-2941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361" tIns="374904" rIns="402361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剩余网络</a:t>
          </a:r>
          <a:endParaRPr lang="en-US" sz="1600" b="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增广路径</a:t>
          </a:r>
          <a:endParaRPr lang="en-US" sz="1600" b="0" kern="120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流网络的割</a:t>
          </a:r>
          <a:endParaRPr lang="en-US" sz="1600" b="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sp:txBody>
      <dsp:txXfrm>
        <a:off x="0" y="1554256"/>
        <a:ext cx="5184322" cy="1559250"/>
      </dsp:txXfrm>
    </dsp:sp>
    <dsp:sp modelId="{87CAC6A4-903F-064B-9C91-00ABA97809D5}">
      <dsp:nvSpPr>
        <dsp:cNvPr id="0" name=""/>
        <dsp:cNvSpPr/>
      </dsp:nvSpPr>
      <dsp:spPr>
        <a:xfrm>
          <a:off x="259216" y="1288576"/>
          <a:ext cx="3629025" cy="531360"/>
        </a:xfrm>
        <a:prstGeom prst="roundRect">
          <a:avLst/>
        </a:prstGeom>
        <a:solidFill>
          <a:srgbClr val="5B9BD5">
            <a:hueOff val="-1689636"/>
            <a:satOff val="-4355"/>
            <a:lumOff val="-2941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9" tIns="0" rIns="13716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Ford-Fulkerson</a:t>
          </a:r>
          <a:r>
            <a:rPr lang="zh-CN" altLang="en-US" sz="2000" b="1" kern="1200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算法</a:t>
          </a:r>
          <a:endParaRPr lang="en-US" sz="2000" b="1" kern="1200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sp:txBody>
      <dsp:txXfrm>
        <a:off x="285155" y="1314515"/>
        <a:ext cx="3577147" cy="479482"/>
      </dsp:txXfrm>
    </dsp:sp>
    <dsp:sp modelId="{77E855CA-1742-0042-AC18-5D0EA1466A5A}">
      <dsp:nvSpPr>
        <dsp:cNvPr id="0" name=""/>
        <dsp:cNvSpPr/>
      </dsp:nvSpPr>
      <dsp:spPr>
        <a:xfrm>
          <a:off x="0" y="3476386"/>
          <a:ext cx="5184322" cy="4536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3379271"/>
              <a:satOff val="-8710"/>
              <a:lumOff val="-588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8EEC7D-5D9D-DF44-8C6E-7FD5D733A4FC}">
      <dsp:nvSpPr>
        <dsp:cNvPr id="0" name=""/>
        <dsp:cNvSpPr/>
      </dsp:nvSpPr>
      <dsp:spPr>
        <a:xfrm>
          <a:off x="259216" y="3210706"/>
          <a:ext cx="3629025" cy="531360"/>
        </a:xfrm>
        <a:prstGeom prst="roundRect">
          <a:avLst/>
        </a:prstGeom>
        <a:solidFill>
          <a:srgbClr val="5B9BD5">
            <a:hueOff val="-3379271"/>
            <a:satOff val="-8710"/>
            <a:lumOff val="-5883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9" tIns="0" rIns="13716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Edmonds-Karp</a:t>
          </a:r>
          <a:r>
            <a:rPr lang="zh-CN" altLang="en-US" sz="2000" b="1" kern="1200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算法</a:t>
          </a:r>
          <a:endParaRPr lang="en-US" sz="2000" b="1" kern="1200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sp:txBody>
      <dsp:txXfrm>
        <a:off x="285155" y="3236645"/>
        <a:ext cx="3577147" cy="479482"/>
      </dsp:txXfrm>
    </dsp:sp>
    <dsp:sp modelId="{CCC03392-55D5-2243-A097-C124D95CE6F1}">
      <dsp:nvSpPr>
        <dsp:cNvPr id="0" name=""/>
        <dsp:cNvSpPr/>
      </dsp:nvSpPr>
      <dsp:spPr>
        <a:xfrm>
          <a:off x="0" y="4292866"/>
          <a:ext cx="5184322" cy="4536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5068907"/>
              <a:satOff val="-13064"/>
              <a:lumOff val="-8824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788071-C671-DE42-9795-C16E53D7F727}">
      <dsp:nvSpPr>
        <dsp:cNvPr id="0" name=""/>
        <dsp:cNvSpPr/>
      </dsp:nvSpPr>
      <dsp:spPr>
        <a:xfrm>
          <a:off x="259216" y="4027186"/>
          <a:ext cx="3629025" cy="531360"/>
        </a:xfrm>
        <a:prstGeom prst="roundRect">
          <a:avLst/>
        </a:prstGeom>
        <a:solidFill>
          <a:srgbClr val="5B9BD5">
            <a:hueOff val="-5068907"/>
            <a:satOff val="-13064"/>
            <a:lumOff val="-8824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9" tIns="0" rIns="13716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最大二分匹配</a:t>
          </a:r>
          <a:endParaRPr lang="en-US" sz="2000" b="1" kern="1200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sp:txBody>
      <dsp:txXfrm>
        <a:off x="285155" y="4053125"/>
        <a:ext cx="3577147" cy="479482"/>
      </dsp:txXfrm>
    </dsp:sp>
    <dsp:sp modelId="{F29F1465-1649-084C-AF91-B2D9E50A98A6}">
      <dsp:nvSpPr>
        <dsp:cNvPr id="0" name=""/>
        <dsp:cNvSpPr/>
      </dsp:nvSpPr>
      <dsp:spPr>
        <a:xfrm>
          <a:off x="0" y="5109346"/>
          <a:ext cx="5184322" cy="4536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2700" cap="flat" cmpd="sng" algn="ctr">
          <a:solidFill>
            <a:srgbClr val="5B9BD5">
              <a:hueOff val="-6758543"/>
              <a:satOff val="-17419"/>
              <a:lumOff val="-11765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5F6B93-2114-E748-848E-1211D16C9CE2}">
      <dsp:nvSpPr>
        <dsp:cNvPr id="0" name=""/>
        <dsp:cNvSpPr/>
      </dsp:nvSpPr>
      <dsp:spPr>
        <a:xfrm>
          <a:off x="259216" y="4843666"/>
          <a:ext cx="3629025" cy="531360"/>
        </a:xfrm>
        <a:prstGeom prst="roundRect">
          <a:avLst/>
        </a:prstGeom>
        <a:solidFill>
          <a:srgbClr val="5B9BD5">
            <a:hueOff val="-6758543"/>
            <a:satOff val="-17419"/>
            <a:lumOff val="-11765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9" tIns="0" rIns="13716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 err="1">
              <a:solidFill>
                <a:sysClr val="window" lastClr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rPr>
            <a:t>基于最大流的最密子图查找</a:t>
          </a:r>
          <a:endParaRPr lang="en-US" sz="2000" b="1" kern="1200" dirty="0">
            <a:solidFill>
              <a:sysClr val="window" lastClr="FFFFFF"/>
            </a:solidFill>
            <a:latin typeface="思源黑体 CN Regular" panose="020B0500000000000000" pitchFamily="34" charset="-122"/>
            <a:ea typeface="思源黑体 CN Regular" panose="020B0500000000000000" pitchFamily="34" charset="-122"/>
            <a:cs typeface="+mn-cs"/>
          </a:endParaRPr>
        </a:p>
      </dsp:txBody>
      <dsp:txXfrm>
        <a:off x="285155" y="4869605"/>
        <a:ext cx="3577147" cy="4794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7F485-76F0-FD47-8E9F-F1F4A7E866DD}" type="datetimeFigureOut">
              <a:rPr kumimoji="1" lang="zh-CN" altLang="en-US" smtClean="0"/>
              <a:t>2026/6/10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B4BDFD-8361-4144-9664-C0DA1DA6CAF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244906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A2E883-041F-9C4F-9229-F93DF6EBA966}" type="datetimeFigureOut">
              <a:rPr kumimoji="1" lang="zh-CN" altLang="en-US" smtClean="0"/>
              <a:t>2026/6/10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456CA6-30F7-A043-BAF1-7FE54DFA6A9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554674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zh.wikipedia.org/wiki/%E6%9D%9C%E9%B2%81%E9%97%A8%E4%B8%BB%E4%B9%89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zh.wikipedia.org/wiki/%E8%98%87%E8%81%AF%E8%A7%A3%E9%AB%94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zh.wikipedia.org/wiki/%E6%9C%89%E5%90%91%E5%9B%BE" TargetMode="External"/><Relationship Id="rId3" Type="http://schemas.openxmlformats.org/officeDocument/2006/relationships/hyperlink" Target="https://zh.wikipedia.org/wiki/%E5%9B%BE%E8%AE%BA" TargetMode="External"/><Relationship Id="rId7" Type="http://schemas.openxmlformats.org/officeDocument/2006/relationships/hyperlink" Target="https://zh.wikipedia.org/w/index.php?title=%E5%89%B2&amp;action=edit&amp;redlink=1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zh.wikipedia.org/wiki/%E5%AD%90%E5%9B%BE" TargetMode="External"/><Relationship Id="rId5" Type="http://schemas.openxmlformats.org/officeDocument/2006/relationships/hyperlink" Target="https://zh.wikipedia.org/wiki/%E8%BF%9E%E9%80%9A%E5%9B%BE" TargetMode="External"/><Relationship Id="rId4" Type="http://schemas.openxmlformats.org/officeDocument/2006/relationships/hyperlink" Target="https://zh.wikipedia.org/wiki/%E7%BD%91%E7%BB%9C%E6%B5%81" TargetMode="External"/><Relationship Id="rId9" Type="http://schemas.openxmlformats.org/officeDocument/2006/relationships/hyperlink" Target="https://zh.wikipedia.org/wiki/%E6%9C%80%E5%A4%A7%E6%B5%81" TargetMode="Externa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734D7E-DDC1-43BA-BA84-4A1CFE3D3418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 dirty="0"/>
              <a:t>https://</a:t>
            </a:r>
            <a:r>
              <a:rPr kumimoji="1" lang="en" altLang="zh-CN" dirty="0" err="1"/>
              <a:t>www.slideserve.com</a:t>
            </a:r>
            <a:r>
              <a:rPr kumimoji="1" lang="en" altLang="zh-CN" dirty="0"/>
              <a:t>/</a:t>
            </a:r>
            <a:r>
              <a:rPr kumimoji="1" lang="en" altLang="zh-CN" dirty="0" err="1"/>
              <a:t>odeda</a:t>
            </a:r>
            <a:r>
              <a:rPr kumimoji="1" lang="en" altLang="zh-CN" dirty="0"/>
              <a:t>/soviet-rail-network-1955-powerpoint-ppt-presentation</a:t>
            </a:r>
          </a:p>
          <a:p>
            <a:endParaRPr kumimoji="1" lang="en" altLang="zh-CN" dirty="0"/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　　在大规模战争中，后勤补给是重中之重，为了尽最大可能满足前线的物资消耗，后勤部队必然要充分利用每条运输网，这正好可以用最大流模型解决。如何寻找一个复杂网络上的最大流呢？</a:t>
            </a:r>
          </a:p>
          <a:p>
            <a:br>
              <a:rPr lang="zh-CN" altLang="en-US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冷战始于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1947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年美国提出“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杜鲁门主义"/>
              </a:rPr>
              <a:t>杜鲁门主义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”，结束于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1991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</a:t>
            </a:r>
            <a:r>
              <a:rPr lang="zh-CN" alt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苏联解体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56CA6-30F7-A043-BAF1-7FE54DFA6A93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09002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威斯康星大学麦迪逊分校 (University of Wisconsin-Madison)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56CA6-30F7-A043-BAF1-7FE54DFA6A93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85304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UIUC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56CA6-30F7-A043-BAF1-7FE54DFA6A93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74395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图论"/>
              </a:rPr>
              <a:t>图论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中，去掉其中所有边能使一张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网络流"/>
              </a:rPr>
              <a:t>网络流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图不再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连通图"/>
              </a:rPr>
              <a:t>连通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（即分成两个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 tooltip="子图"/>
              </a:rPr>
              <a:t>子图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）的边集称为图的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/>
              </a:rPr>
              <a:t>割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（英语：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cut</a:t>
            </a:r>
            <a:r>
              <a:rPr lang="zh-CN" alt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一张图上最小的割称为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最小割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（英语：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minimum cut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或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min-cut</a:t>
            </a:r>
            <a:r>
              <a:rPr lang="zh-CN" alt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）。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与最小割相关的问题称最小割问题（英语：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minimum cut problem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或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min-cut problem</a:t>
            </a:r>
            <a:r>
              <a:rPr lang="zh-CN" alt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其变体包括带边权、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 tooltip="有向图"/>
              </a:rPr>
              <a:t>有向图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、包含源点与汇点（简称有源汇），以及将原网络分为多于两个子图等问题。其中，带边权的最小割问题允许有负权边，可通过对所有边权取相反数简单地转化为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9" tooltip="最大流"/>
              </a:rPr>
              <a:t>最大流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问题求解。</a:t>
            </a:r>
          </a:p>
          <a:p>
            <a:br>
              <a:rPr lang="zh-CN" altLang="en-US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56CA6-30F7-A043-BAF1-7FE54DFA6A93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057584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zh-CN" altLang="en-US" dirty="0"/>
              <a:t>存在单一源点 </a:t>
            </a:r>
            <a:r>
              <a:rPr lang="en-US" altLang="zh-CN" dirty="0"/>
              <a:t>s ∊ V</a:t>
            </a:r>
          </a:p>
          <a:p>
            <a:pPr lvl="1"/>
            <a:r>
              <a:rPr lang="zh-CN" altLang="en-US" dirty="0"/>
              <a:t>存在单一汇点 </a:t>
            </a:r>
            <a:r>
              <a:rPr lang="en-US" altLang="zh-CN" dirty="0"/>
              <a:t>t ∊ V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56CA6-30F7-A043-BAF1-7FE54DFA6A93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691340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7AFD9EA5-DCDA-49E8-9822-336CD009AD6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CD12557B-F5DD-4C34-B377-6C59D9929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>
              <a:defRPr/>
            </a:pPr>
            <a:r>
              <a:rPr lang="zh-CN" altLang="en-US" sz="2600" dirty="0">
                <a:solidFill>
                  <a:srgbClr val="FF0000"/>
                </a:solidFill>
              </a:rPr>
              <a:t>容量限制</a:t>
            </a:r>
            <a:r>
              <a:rPr lang="zh-CN" altLang="en-US" sz="2600" dirty="0"/>
              <a:t>：对所有 </a:t>
            </a:r>
            <a:r>
              <a:rPr lang="en-US" altLang="zh-CN" sz="2600" dirty="0" err="1"/>
              <a:t>u,v</a:t>
            </a:r>
            <a:r>
              <a:rPr lang="en-US" altLang="zh-CN" sz="2600" dirty="0"/>
              <a:t> </a:t>
            </a:r>
            <a:r>
              <a:rPr lang="en-US" altLang="zh-CN" sz="2600" dirty="0">
                <a:latin typeface="MS UI Gothic"/>
                <a:ea typeface="MS UI Gothic"/>
              </a:rPr>
              <a:t>∊ V,</a:t>
            </a:r>
            <a:r>
              <a:rPr lang="zh-CN" altLang="en-US" sz="2600" dirty="0">
                <a:latin typeface="宋体" pitchFamily="2" charset="-122"/>
              </a:rPr>
              <a:t>要求</a:t>
            </a:r>
            <a:r>
              <a:rPr lang="en-US" altLang="zh-CN" sz="2600" dirty="0">
                <a:latin typeface="宋体" pitchFamily="2" charset="-122"/>
              </a:rPr>
              <a:t>f(</a:t>
            </a:r>
            <a:r>
              <a:rPr lang="en-US" altLang="zh-CN" sz="2600" dirty="0" err="1">
                <a:latin typeface="宋体" pitchFamily="2" charset="-122"/>
              </a:rPr>
              <a:t>u,v</a:t>
            </a:r>
            <a:r>
              <a:rPr lang="en-US" altLang="zh-CN" sz="2600" dirty="0">
                <a:latin typeface="宋体" pitchFamily="2" charset="-122"/>
              </a:rPr>
              <a:t>)≤c(</a:t>
            </a:r>
            <a:r>
              <a:rPr lang="en-US" altLang="zh-CN" sz="2600" dirty="0" err="1">
                <a:latin typeface="宋体" pitchFamily="2" charset="-122"/>
              </a:rPr>
              <a:t>u,v</a:t>
            </a:r>
            <a:r>
              <a:rPr lang="en-US" altLang="zh-CN" sz="2600" dirty="0">
                <a:latin typeface="宋体" pitchFamily="2" charset="-122"/>
              </a:rPr>
              <a:t>)</a:t>
            </a:r>
            <a:endParaRPr lang="zh-CN" altLang="en-US" sz="2600" dirty="0"/>
          </a:p>
          <a:p>
            <a:pPr lvl="1" eaLnBrk="1" hangingPunct="1">
              <a:defRPr/>
            </a:pPr>
            <a:r>
              <a:rPr lang="zh-CN" altLang="en-US" sz="2600" dirty="0">
                <a:solidFill>
                  <a:srgbClr val="FF0000"/>
                </a:solidFill>
              </a:rPr>
              <a:t>反对称性</a:t>
            </a:r>
            <a:r>
              <a:rPr lang="zh-CN" altLang="en-US" sz="2600" dirty="0"/>
              <a:t>：对所有 </a:t>
            </a:r>
            <a:r>
              <a:rPr lang="en-US" altLang="zh-CN" sz="2600" dirty="0" err="1"/>
              <a:t>u,v</a:t>
            </a:r>
            <a:r>
              <a:rPr lang="en-US" altLang="zh-CN" sz="2600" dirty="0"/>
              <a:t> </a:t>
            </a:r>
            <a:r>
              <a:rPr lang="en-US" altLang="zh-CN" sz="2600" dirty="0">
                <a:latin typeface="MS UI Gothic"/>
                <a:ea typeface="MS UI Gothic"/>
              </a:rPr>
              <a:t>∊ V,</a:t>
            </a:r>
            <a:r>
              <a:rPr lang="zh-CN" altLang="en-US" sz="2600" dirty="0">
                <a:latin typeface="宋体" pitchFamily="2" charset="-122"/>
              </a:rPr>
              <a:t>要求</a:t>
            </a:r>
            <a:r>
              <a:rPr lang="en-US" altLang="zh-CN" sz="2600" dirty="0">
                <a:latin typeface="宋体" pitchFamily="2" charset="-122"/>
              </a:rPr>
              <a:t>f(</a:t>
            </a:r>
            <a:r>
              <a:rPr lang="en-US" altLang="zh-CN" sz="2600" dirty="0" err="1">
                <a:latin typeface="宋体" pitchFamily="2" charset="-122"/>
              </a:rPr>
              <a:t>u,v</a:t>
            </a:r>
            <a:r>
              <a:rPr lang="en-US" altLang="zh-CN" sz="2600" dirty="0">
                <a:latin typeface="宋体" pitchFamily="2" charset="-122"/>
              </a:rPr>
              <a:t>)= -f(</a:t>
            </a:r>
            <a:r>
              <a:rPr lang="en-US" altLang="zh-CN" sz="2600" dirty="0" err="1">
                <a:latin typeface="宋体" pitchFamily="2" charset="-122"/>
              </a:rPr>
              <a:t>v,u</a:t>
            </a:r>
            <a:r>
              <a:rPr lang="en-US" altLang="zh-CN" sz="2600" dirty="0">
                <a:latin typeface="宋体" pitchFamily="2" charset="-122"/>
              </a:rPr>
              <a:t>)</a:t>
            </a:r>
            <a:endParaRPr lang="zh-CN" altLang="en-US" sz="2600" dirty="0"/>
          </a:p>
          <a:p>
            <a:pPr lvl="1" eaLnBrk="1" hangingPunct="1">
              <a:defRPr/>
            </a:pPr>
            <a:r>
              <a:rPr lang="zh-CN" altLang="en-US" sz="2600" dirty="0">
                <a:solidFill>
                  <a:srgbClr val="FF0000"/>
                </a:solidFill>
              </a:rPr>
              <a:t>流守恒性</a:t>
            </a:r>
            <a:r>
              <a:rPr lang="zh-CN" altLang="en-US" sz="2600" dirty="0"/>
              <a:t>：对于所有</a:t>
            </a:r>
            <a:r>
              <a:rPr lang="en-US" altLang="zh-CN" sz="2600" dirty="0"/>
              <a:t>u</a:t>
            </a:r>
            <a:r>
              <a:rPr lang="en-US" altLang="zh-CN" sz="2600" dirty="0">
                <a:latin typeface="MS UI Gothic"/>
                <a:ea typeface="MS UI Gothic"/>
              </a:rPr>
              <a:t> ∊ V-</a:t>
            </a:r>
            <a:r>
              <a:rPr lang="en-US" altLang="zh-CN" sz="2600" dirty="0"/>
              <a:t>{s,</a:t>
            </a:r>
            <a:r>
              <a:rPr lang="zh-CN" altLang="en-US" sz="2600" dirty="0"/>
              <a:t> </a:t>
            </a:r>
            <a:r>
              <a:rPr lang="en-US" altLang="zh-CN" sz="2600" dirty="0"/>
              <a:t>t}</a:t>
            </a:r>
            <a:r>
              <a:rPr lang="zh-CN" altLang="en-US" sz="2600" dirty="0"/>
              <a:t>，要求          ∑ </a:t>
            </a:r>
            <a:r>
              <a:rPr lang="en-US" altLang="zh-CN" sz="2600" dirty="0"/>
              <a:t>f(u, v)=0</a:t>
            </a:r>
          </a:p>
          <a:p>
            <a:endParaRPr lang="en-US" altLang="zh-CN" dirty="0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F86AB18E-B238-47F5-A3CC-3CD6E2C36F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B413B1EC-11F1-4B6D-90BB-815D50128B56}" type="slidenum">
              <a:rPr lang="en-US" altLang="zh-CN"/>
              <a:pPr eaLnBrk="1" hangingPunct="1"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91001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>
            <a:extLst>
              <a:ext uri="{FF2B5EF4-FFF2-40B4-BE49-F238E27FC236}">
                <a16:creationId xmlns:a16="http://schemas.microsoft.com/office/drawing/2014/main" id="{9445B3D9-72DE-4A80-A7C4-FE3A368CB49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9875" name="Notes Placeholder 2">
            <a:extLst>
              <a:ext uri="{FF2B5EF4-FFF2-40B4-BE49-F238E27FC236}">
                <a16:creationId xmlns:a16="http://schemas.microsoft.com/office/drawing/2014/main" id="{F8931155-9DD3-4838-95CD-E9A4F34F7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  <p:sp>
        <p:nvSpPr>
          <p:cNvPr id="79876" name="Slide Number Placeholder 3">
            <a:extLst>
              <a:ext uri="{FF2B5EF4-FFF2-40B4-BE49-F238E27FC236}">
                <a16:creationId xmlns:a16="http://schemas.microsoft.com/office/drawing/2014/main" id="{3A852966-7C4C-4C47-BC17-3A2CE2C569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C540976D-49C4-4EDF-9B8C-EE5E3F80B863}" type="slidenum">
              <a:rPr lang="en-US" altLang="zh-CN"/>
              <a:pPr eaLnBrk="1" hangingPunct="1"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20471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>
            <a:extLst>
              <a:ext uri="{FF2B5EF4-FFF2-40B4-BE49-F238E27FC236}">
                <a16:creationId xmlns:a16="http://schemas.microsoft.com/office/drawing/2014/main" id="{383B8207-2705-47F4-BB47-05CB99CF67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0899" name="Notes Placeholder 2">
            <a:extLst>
              <a:ext uri="{FF2B5EF4-FFF2-40B4-BE49-F238E27FC236}">
                <a16:creationId xmlns:a16="http://schemas.microsoft.com/office/drawing/2014/main" id="{927A49EA-038C-4141-BF6A-4F99358C9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  <p:sp>
        <p:nvSpPr>
          <p:cNvPr id="80900" name="Slide Number Placeholder 3">
            <a:extLst>
              <a:ext uri="{FF2B5EF4-FFF2-40B4-BE49-F238E27FC236}">
                <a16:creationId xmlns:a16="http://schemas.microsoft.com/office/drawing/2014/main" id="{65E8D3E8-38FA-42DA-AEAB-FB1D724D01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EBA008A9-BFD5-4BFC-8989-5D27FA4F1DE6}" type="slidenum">
              <a:rPr lang="en-US" altLang="zh-CN"/>
              <a:pPr eaLnBrk="1" hangingPunct="1"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01128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>
            <a:extLst>
              <a:ext uri="{FF2B5EF4-FFF2-40B4-BE49-F238E27FC236}">
                <a16:creationId xmlns:a16="http://schemas.microsoft.com/office/drawing/2014/main" id="{4C750EA2-8AB7-482D-B173-EDFBDACE09C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1923" name="Notes Placeholder 2">
            <a:extLst>
              <a:ext uri="{FF2B5EF4-FFF2-40B4-BE49-F238E27FC236}">
                <a16:creationId xmlns:a16="http://schemas.microsoft.com/office/drawing/2014/main" id="{9F2EB3A0-330D-4225-84BE-7E2660FE1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  <p:sp>
        <p:nvSpPr>
          <p:cNvPr id="81924" name="Slide Number Placeholder 3">
            <a:extLst>
              <a:ext uri="{FF2B5EF4-FFF2-40B4-BE49-F238E27FC236}">
                <a16:creationId xmlns:a16="http://schemas.microsoft.com/office/drawing/2014/main" id="{BBFE5DA2-0358-415E-8E52-C12A86377E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15A7D890-FE37-453C-8A73-586EEAFBF2F1}" type="slidenum">
              <a:rPr lang="en-US" altLang="zh-CN"/>
              <a:pPr eaLnBrk="1" hangingPunct="1"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68083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>
            <a:extLst>
              <a:ext uri="{FF2B5EF4-FFF2-40B4-BE49-F238E27FC236}">
                <a16:creationId xmlns:a16="http://schemas.microsoft.com/office/drawing/2014/main" id="{02B77BC3-88FE-40C0-BED5-64B58DE1C8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2947" name="Notes Placeholder 2">
            <a:extLst>
              <a:ext uri="{FF2B5EF4-FFF2-40B4-BE49-F238E27FC236}">
                <a16:creationId xmlns:a16="http://schemas.microsoft.com/office/drawing/2014/main" id="{E0A3A67F-3155-435A-93C2-DFD1D9208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  <p:sp>
        <p:nvSpPr>
          <p:cNvPr id="82948" name="Slide Number Placeholder 3">
            <a:extLst>
              <a:ext uri="{FF2B5EF4-FFF2-40B4-BE49-F238E27FC236}">
                <a16:creationId xmlns:a16="http://schemas.microsoft.com/office/drawing/2014/main" id="{FD49B794-8D56-4AAD-9559-95457C4E72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CE889F14-2A0E-46EC-8F6C-D26AA1EB4A15}" type="slidenum">
              <a:rPr lang="en-US" altLang="zh-CN"/>
              <a:pPr eaLnBrk="1" hangingPunct="1"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40720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981" tIns="48491" rIns="96981" bIns="48491"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B84A918-6E5E-4372-9DF9-D6797BF921E0}" type="slidenum">
              <a:rPr lang="zh-CN" altLang="en-US" sz="1300"/>
              <a:pPr algn="r" eaLnBrk="1" hangingPunct="1"/>
              <a:t>20</a:t>
            </a:fld>
            <a:endParaRPr lang="en-US" altLang="zh-CN" sz="1300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/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74328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981" tIns="48491" rIns="96981" bIns="48491"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B36F4314-72B8-4A7B-A970-71C21BDBA1BD}" type="slidenum">
              <a:rPr lang="zh-CN" altLang="en-US" sz="1300"/>
              <a:pPr algn="r" eaLnBrk="1" hangingPunct="1"/>
              <a:t>22</a:t>
            </a:fld>
            <a:endParaRPr lang="en-US" altLang="zh-CN" sz="1300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/>
            <a:r>
              <a:rPr lang="en-US" altLang="zh-CN" dirty="0">
                <a:latin typeface="Arial" panose="020B0604020202020204" pitchFamily="34" charset="0"/>
              </a:rPr>
              <a:t>c(S,v1)=16-11=5</a:t>
            </a:r>
          </a:p>
          <a:p>
            <a:pPr algn="just"/>
            <a:r>
              <a:rPr lang="en-US" altLang="zh-CN" dirty="0">
                <a:latin typeface="Arial" panose="020B0604020202020204" pitchFamily="34" charset="0"/>
              </a:rPr>
              <a:t>c(v1,S)=0-(-11)=11</a:t>
            </a:r>
          </a:p>
          <a:p>
            <a:pPr algn="just"/>
            <a:endParaRPr lang="en-US" altLang="zh-CN" dirty="0">
              <a:latin typeface="Arial" panose="020B0604020202020204" pitchFamily="34" charset="0"/>
            </a:endParaRPr>
          </a:p>
          <a:p>
            <a:pPr algn="just"/>
            <a:r>
              <a:rPr lang="en-US" altLang="zh-CN" dirty="0">
                <a:latin typeface="Arial" panose="020B0604020202020204" pitchFamily="34" charset="0"/>
              </a:rPr>
              <a:t>c(S,v2)=13-8=5</a:t>
            </a:r>
          </a:p>
          <a:p>
            <a:pPr algn="just"/>
            <a:r>
              <a:rPr lang="en-US" altLang="zh-CN" dirty="0">
                <a:latin typeface="Arial" panose="020B0604020202020204" pitchFamily="34" charset="0"/>
              </a:rPr>
              <a:t>c(v2,S)=0-(-8)=8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9899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981" tIns="48491" rIns="96981" bIns="48491"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98B88431-EFF8-4EA5-957F-4BE9FF093E4B}" type="slidenum">
              <a:rPr lang="zh-CN" altLang="en-US" sz="1300"/>
              <a:pPr algn="r" eaLnBrk="1" hangingPunct="1"/>
              <a:t>23</a:t>
            </a:fld>
            <a:endParaRPr lang="en-US" altLang="zh-CN" sz="1300"/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/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02618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981" tIns="48491" rIns="96981" bIns="48491"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729C3391-926D-4E81-920E-8F284BC720E9}" type="slidenum">
              <a:rPr lang="zh-CN" altLang="en-US" sz="1300"/>
              <a:pPr algn="r" eaLnBrk="1" hangingPunct="1"/>
              <a:t>24</a:t>
            </a:fld>
            <a:endParaRPr lang="en-US" altLang="zh-CN" sz="1300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/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1740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981" tIns="48491" rIns="96981" bIns="48491"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A4BBFF9B-BA85-47D3-913C-0EEDFAE5E8D6}" type="slidenum">
              <a:rPr lang="zh-CN" altLang="en-US" sz="1300"/>
              <a:pPr algn="r" eaLnBrk="1" hangingPunct="1"/>
              <a:t>25</a:t>
            </a:fld>
            <a:endParaRPr lang="en-US" altLang="zh-CN" sz="1300"/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/>
            <a:r>
              <a:rPr lang="zh-CN" altLang="en-US" dirty="0">
                <a:latin typeface="Arial" panose="020B0604020202020204" pitchFamily="34" charset="0"/>
              </a:rPr>
              <a:t>剩余网络</a:t>
            </a:r>
          </a:p>
        </p:txBody>
      </p:sp>
    </p:spTree>
    <p:extLst>
      <p:ext uri="{BB962C8B-B14F-4D97-AF65-F5344CB8AC3E}">
        <p14:creationId xmlns:p14="http://schemas.microsoft.com/office/powerpoint/2010/main" val="11543117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981" tIns="48491" rIns="96981" bIns="48491"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87DA18CF-8BB0-40A2-A552-87C5C42B4745}" type="slidenum">
              <a:rPr lang="zh-CN" altLang="en-US" sz="1300"/>
              <a:pPr algn="r" eaLnBrk="1" hangingPunct="1"/>
              <a:t>26</a:t>
            </a:fld>
            <a:endParaRPr lang="en-US" altLang="zh-CN" sz="1300"/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/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29826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981" tIns="48491" rIns="96981" bIns="48491"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BA6A405D-3B79-4C4B-B934-B3BAEC37D5EC}" type="slidenum">
              <a:rPr lang="zh-CN" altLang="en-US" sz="1300"/>
              <a:pPr algn="r" eaLnBrk="1" hangingPunct="1"/>
              <a:t>27</a:t>
            </a:fld>
            <a:endParaRPr lang="en-US" altLang="zh-CN" sz="1300"/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/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95996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981" tIns="48491" rIns="96981" bIns="48491"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25FAEA26-E70C-433C-82A6-B7D8CC52F04C}" type="slidenum">
              <a:rPr lang="zh-CN" altLang="en-US" sz="1300"/>
              <a:pPr algn="r" eaLnBrk="1" hangingPunct="1"/>
              <a:t>28</a:t>
            </a:fld>
            <a:endParaRPr lang="en-US" altLang="zh-CN" sz="1300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/>
            <a:r>
              <a:rPr lang="zh-CN" altLang="en-US" dirty="0">
                <a:latin typeface="Arial" panose="020B0604020202020204" pitchFamily="34" charset="0"/>
              </a:rPr>
              <a:t>回顾流的定义</a:t>
            </a:r>
          </a:p>
        </p:txBody>
      </p:sp>
    </p:spTree>
    <p:extLst>
      <p:ext uri="{BB962C8B-B14F-4D97-AF65-F5344CB8AC3E}">
        <p14:creationId xmlns:p14="http://schemas.microsoft.com/office/powerpoint/2010/main" val="37797591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981" tIns="48491" rIns="96981" bIns="48491"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856F7750-7CB8-4D18-8BFA-4654DC040D7F}" type="slidenum">
              <a:rPr lang="zh-CN" altLang="en-US" sz="1300"/>
              <a:pPr algn="r" eaLnBrk="1" hangingPunct="1"/>
              <a:t>29</a:t>
            </a:fld>
            <a:endParaRPr lang="en-US" altLang="zh-CN" sz="1300"/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/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367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156225F-5D3B-46CB-8E77-2B3EB7DB686C}" type="slidenum">
              <a:rPr lang="zh-CN" altLang="en-US"/>
              <a:pPr eaLnBrk="1" hangingPunct="1"/>
              <a:t>49</a:t>
            </a:fld>
            <a:endParaRPr lang="en-US" altLang="zh-CN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/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95427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>
            <a:extLst>
              <a:ext uri="{FF2B5EF4-FFF2-40B4-BE49-F238E27FC236}">
                <a16:creationId xmlns:a16="http://schemas.microsoft.com/office/drawing/2014/main" id="{0A3D3386-2639-46BF-8F16-E540B02B65C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2163" name="Notes Placeholder 2">
            <a:extLst>
              <a:ext uri="{FF2B5EF4-FFF2-40B4-BE49-F238E27FC236}">
                <a16:creationId xmlns:a16="http://schemas.microsoft.com/office/drawing/2014/main" id="{C1BF7BA9-681D-4FC8-AC02-5ADD52693D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  <p:sp>
        <p:nvSpPr>
          <p:cNvPr id="92164" name="Slide Number Placeholder 3">
            <a:extLst>
              <a:ext uri="{FF2B5EF4-FFF2-40B4-BE49-F238E27FC236}">
                <a16:creationId xmlns:a16="http://schemas.microsoft.com/office/drawing/2014/main" id="{4CAFCF36-47FB-4EF0-8BEE-8E2585C2D8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A1357821-43FA-4866-A9FB-505E150CE23D}" type="slidenum">
              <a:rPr lang="en-US" altLang="zh-CN"/>
              <a:pPr eaLnBrk="1" hangingPunct="1"/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96929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>
            <a:extLst>
              <a:ext uri="{FF2B5EF4-FFF2-40B4-BE49-F238E27FC236}">
                <a16:creationId xmlns:a16="http://schemas.microsoft.com/office/drawing/2014/main" id="{23047C9A-D7D1-4885-B03D-B0D1C1E424A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3187" name="Notes Placeholder 2">
            <a:extLst>
              <a:ext uri="{FF2B5EF4-FFF2-40B4-BE49-F238E27FC236}">
                <a16:creationId xmlns:a16="http://schemas.microsoft.com/office/drawing/2014/main" id="{A11DDA9C-B49D-4DA0-949B-7AA20FF3F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  <p:sp>
        <p:nvSpPr>
          <p:cNvPr id="93188" name="Slide Number Placeholder 3">
            <a:extLst>
              <a:ext uri="{FF2B5EF4-FFF2-40B4-BE49-F238E27FC236}">
                <a16:creationId xmlns:a16="http://schemas.microsoft.com/office/drawing/2014/main" id="{9ACBE407-756B-4534-87A4-AE8E01EBA8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95C7C1E6-5CDB-4DC1-BB73-5D5941ED1E68}" type="slidenum">
              <a:rPr lang="en-US" altLang="zh-CN"/>
              <a:pPr eaLnBrk="1" hangingPunct="1"/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67057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Image Placeholder 1">
            <a:extLst>
              <a:ext uri="{FF2B5EF4-FFF2-40B4-BE49-F238E27FC236}">
                <a16:creationId xmlns:a16="http://schemas.microsoft.com/office/drawing/2014/main" id="{C0EF200C-C308-4496-B627-1D21A9CB1DD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4211" name="Notes Placeholder 2">
            <a:extLst>
              <a:ext uri="{FF2B5EF4-FFF2-40B4-BE49-F238E27FC236}">
                <a16:creationId xmlns:a16="http://schemas.microsoft.com/office/drawing/2014/main" id="{58433155-CB02-44AA-9A98-756CAF7EB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  <p:sp>
        <p:nvSpPr>
          <p:cNvPr id="94212" name="Slide Number Placeholder 3">
            <a:extLst>
              <a:ext uri="{FF2B5EF4-FFF2-40B4-BE49-F238E27FC236}">
                <a16:creationId xmlns:a16="http://schemas.microsoft.com/office/drawing/2014/main" id="{F7D2C5A7-55E4-438C-868A-E94FD4DC1A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E082BED7-F38E-4F15-A94A-2CB2D2E0CCB6}" type="slidenum">
              <a:rPr lang="en-US" altLang="zh-CN"/>
              <a:pPr eaLnBrk="1" hangingPunct="1"/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873826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Image Placeholder 1">
            <a:extLst>
              <a:ext uri="{FF2B5EF4-FFF2-40B4-BE49-F238E27FC236}">
                <a16:creationId xmlns:a16="http://schemas.microsoft.com/office/drawing/2014/main" id="{FFEBF64A-A7FD-4E23-8696-314471DC3A1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5235" name="Notes Placeholder 2">
            <a:extLst>
              <a:ext uri="{FF2B5EF4-FFF2-40B4-BE49-F238E27FC236}">
                <a16:creationId xmlns:a16="http://schemas.microsoft.com/office/drawing/2014/main" id="{1410C240-5392-4107-93E7-2C3FD6890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  <p:sp>
        <p:nvSpPr>
          <p:cNvPr id="95236" name="Slide Number Placeholder 3">
            <a:extLst>
              <a:ext uri="{FF2B5EF4-FFF2-40B4-BE49-F238E27FC236}">
                <a16:creationId xmlns:a16="http://schemas.microsoft.com/office/drawing/2014/main" id="{7BED5921-49BF-411E-8538-088C82A7B2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6069CF00-6B3A-4AD3-B2CF-4AFEAD9CCACE}" type="slidenum">
              <a:rPr lang="en-US" altLang="zh-CN"/>
              <a:pPr eaLnBrk="1" hangingPunct="1"/>
              <a:t>54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12069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>
            <a:extLst>
              <a:ext uri="{FF2B5EF4-FFF2-40B4-BE49-F238E27FC236}">
                <a16:creationId xmlns:a16="http://schemas.microsoft.com/office/drawing/2014/main" id="{5DA1BCA1-ADC2-4C88-977C-2F64D0E57A9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6259" name="Notes Placeholder 2">
            <a:extLst>
              <a:ext uri="{FF2B5EF4-FFF2-40B4-BE49-F238E27FC236}">
                <a16:creationId xmlns:a16="http://schemas.microsoft.com/office/drawing/2014/main" id="{E96D41AF-D407-4E7B-85CE-B10E79056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  <p:sp>
        <p:nvSpPr>
          <p:cNvPr id="96260" name="Slide Number Placeholder 3">
            <a:extLst>
              <a:ext uri="{FF2B5EF4-FFF2-40B4-BE49-F238E27FC236}">
                <a16:creationId xmlns:a16="http://schemas.microsoft.com/office/drawing/2014/main" id="{D3A7763C-DB3F-415F-839B-E970D8CB72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AD820689-80A4-4E83-B6DE-C99CE679DB21}" type="slidenum">
              <a:rPr lang="en-US" altLang="zh-CN"/>
              <a:pPr eaLnBrk="1" hangingPunct="1"/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9937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>
            <a:extLst>
              <a:ext uri="{FF2B5EF4-FFF2-40B4-BE49-F238E27FC236}">
                <a16:creationId xmlns:a16="http://schemas.microsoft.com/office/drawing/2014/main" id="{CFE1ACA2-E6B2-4F8F-95A0-B2B8C33951E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7283" name="Notes Placeholder 2">
            <a:extLst>
              <a:ext uri="{FF2B5EF4-FFF2-40B4-BE49-F238E27FC236}">
                <a16:creationId xmlns:a16="http://schemas.microsoft.com/office/drawing/2014/main" id="{E85FD716-38D6-4DA3-907F-C0A1F0232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  <p:sp>
        <p:nvSpPr>
          <p:cNvPr id="97284" name="Slide Number Placeholder 3">
            <a:extLst>
              <a:ext uri="{FF2B5EF4-FFF2-40B4-BE49-F238E27FC236}">
                <a16:creationId xmlns:a16="http://schemas.microsoft.com/office/drawing/2014/main" id="{57EF4587-4B52-4427-AB0B-2BCA07F93D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36CBE119-2500-4F8D-A6C5-4C0790B1FA6D}" type="slidenum">
              <a:rPr lang="en-US" altLang="zh-CN"/>
              <a:pPr eaLnBrk="1" hangingPunct="1"/>
              <a:t>56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26348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>
            <a:extLst>
              <a:ext uri="{FF2B5EF4-FFF2-40B4-BE49-F238E27FC236}">
                <a16:creationId xmlns:a16="http://schemas.microsoft.com/office/drawing/2014/main" id="{CFE1ACA2-E6B2-4F8F-95A0-B2B8C33951E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7283" name="Notes Placeholder 2">
            <a:extLst>
              <a:ext uri="{FF2B5EF4-FFF2-40B4-BE49-F238E27FC236}">
                <a16:creationId xmlns:a16="http://schemas.microsoft.com/office/drawing/2014/main" id="{E85FD716-38D6-4DA3-907F-C0A1F0232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  <p:sp>
        <p:nvSpPr>
          <p:cNvPr id="97284" name="Slide Number Placeholder 3">
            <a:extLst>
              <a:ext uri="{FF2B5EF4-FFF2-40B4-BE49-F238E27FC236}">
                <a16:creationId xmlns:a16="http://schemas.microsoft.com/office/drawing/2014/main" id="{57EF4587-4B52-4427-AB0B-2BCA07F93D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36CBE119-2500-4F8D-A6C5-4C0790B1FA6D}" type="slidenum">
              <a:rPr lang="en-US" altLang="zh-CN"/>
              <a:pPr eaLnBrk="1" hangingPunct="1"/>
              <a:t>57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27914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>
            <a:extLst>
              <a:ext uri="{FF2B5EF4-FFF2-40B4-BE49-F238E27FC236}">
                <a16:creationId xmlns:a16="http://schemas.microsoft.com/office/drawing/2014/main" id="{CFE1ACA2-E6B2-4F8F-95A0-B2B8C33951E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7283" name="Notes Placeholder 2">
            <a:extLst>
              <a:ext uri="{FF2B5EF4-FFF2-40B4-BE49-F238E27FC236}">
                <a16:creationId xmlns:a16="http://schemas.microsoft.com/office/drawing/2014/main" id="{E85FD716-38D6-4DA3-907F-C0A1F0232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  <p:sp>
        <p:nvSpPr>
          <p:cNvPr id="97284" name="Slide Number Placeholder 3">
            <a:extLst>
              <a:ext uri="{FF2B5EF4-FFF2-40B4-BE49-F238E27FC236}">
                <a16:creationId xmlns:a16="http://schemas.microsoft.com/office/drawing/2014/main" id="{57EF4587-4B52-4427-AB0B-2BCA07F93D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36CBE119-2500-4F8D-A6C5-4C0790B1FA6D}" type="slidenum">
              <a:rPr lang="en-US" altLang="zh-CN"/>
              <a:pPr eaLnBrk="1" hangingPunct="1"/>
              <a:t>58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34881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>
            <a:extLst>
              <a:ext uri="{FF2B5EF4-FFF2-40B4-BE49-F238E27FC236}">
                <a16:creationId xmlns:a16="http://schemas.microsoft.com/office/drawing/2014/main" id="{CFE1ACA2-E6B2-4F8F-95A0-B2B8C33951E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7283" name="Notes Placeholder 2">
            <a:extLst>
              <a:ext uri="{FF2B5EF4-FFF2-40B4-BE49-F238E27FC236}">
                <a16:creationId xmlns:a16="http://schemas.microsoft.com/office/drawing/2014/main" id="{E85FD716-38D6-4DA3-907F-C0A1F0232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  <p:sp>
        <p:nvSpPr>
          <p:cNvPr id="97284" name="Slide Number Placeholder 3">
            <a:extLst>
              <a:ext uri="{FF2B5EF4-FFF2-40B4-BE49-F238E27FC236}">
                <a16:creationId xmlns:a16="http://schemas.microsoft.com/office/drawing/2014/main" id="{57EF4587-4B52-4427-AB0B-2BCA07F93D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36CBE119-2500-4F8D-A6C5-4C0790B1FA6D}" type="slidenum">
              <a:rPr lang="en-US" altLang="zh-CN"/>
              <a:pPr eaLnBrk="1" hangingPunct="1"/>
              <a:t>59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606033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Image Placeholder 1">
            <a:extLst>
              <a:ext uri="{FF2B5EF4-FFF2-40B4-BE49-F238E27FC236}">
                <a16:creationId xmlns:a16="http://schemas.microsoft.com/office/drawing/2014/main" id="{DD3171F7-46E6-4805-8302-B0612EBB262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4451" name="Notes Placeholder 2">
            <a:extLst>
              <a:ext uri="{FF2B5EF4-FFF2-40B4-BE49-F238E27FC236}">
                <a16:creationId xmlns:a16="http://schemas.microsoft.com/office/drawing/2014/main" id="{C80E5974-B819-44A5-96A7-92A1758352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  <p:sp>
        <p:nvSpPr>
          <p:cNvPr id="104452" name="Slide Number Placeholder 3">
            <a:extLst>
              <a:ext uri="{FF2B5EF4-FFF2-40B4-BE49-F238E27FC236}">
                <a16:creationId xmlns:a16="http://schemas.microsoft.com/office/drawing/2014/main" id="{E582C06A-9B65-469F-9515-40DE73D7BD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C7AA9D91-BC94-42D0-BAC9-A2E399871327}" type="slidenum">
              <a:rPr lang="en-US" altLang="zh-CN"/>
              <a:pPr eaLnBrk="1" hangingPunct="1"/>
              <a:t>60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084120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Image Placeholder 1">
            <a:extLst>
              <a:ext uri="{FF2B5EF4-FFF2-40B4-BE49-F238E27FC236}">
                <a16:creationId xmlns:a16="http://schemas.microsoft.com/office/drawing/2014/main" id="{A4AFF89E-6027-4290-A628-407ED23E2F2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5475" name="Notes Placeholder 2">
            <a:extLst>
              <a:ext uri="{FF2B5EF4-FFF2-40B4-BE49-F238E27FC236}">
                <a16:creationId xmlns:a16="http://schemas.microsoft.com/office/drawing/2014/main" id="{BA18F623-31FF-4310-A8B4-82990A3B4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  <p:sp>
        <p:nvSpPr>
          <p:cNvPr id="105476" name="Slide Number Placeholder 3">
            <a:extLst>
              <a:ext uri="{FF2B5EF4-FFF2-40B4-BE49-F238E27FC236}">
                <a16:creationId xmlns:a16="http://schemas.microsoft.com/office/drawing/2014/main" id="{DC97A9CC-300C-4C7B-B100-1EB8069C17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2EBB3E96-CFDA-45E5-A413-F7B1F8EF8189}" type="slidenum">
              <a:rPr lang="en-US" altLang="zh-CN"/>
              <a:pPr eaLnBrk="1" hangingPunct="1"/>
              <a:t>61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786885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Image Placeholder 1">
            <a:extLst>
              <a:ext uri="{FF2B5EF4-FFF2-40B4-BE49-F238E27FC236}">
                <a16:creationId xmlns:a16="http://schemas.microsoft.com/office/drawing/2014/main" id="{CCE9C6DA-1A16-4BC3-99D0-F56EB9EE2C1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6499" name="Notes Placeholder 2">
            <a:extLst>
              <a:ext uri="{FF2B5EF4-FFF2-40B4-BE49-F238E27FC236}">
                <a16:creationId xmlns:a16="http://schemas.microsoft.com/office/drawing/2014/main" id="{0538F787-9A60-4DF3-9414-A6E907BA3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  <p:sp>
        <p:nvSpPr>
          <p:cNvPr id="106500" name="Slide Number Placeholder 3">
            <a:extLst>
              <a:ext uri="{FF2B5EF4-FFF2-40B4-BE49-F238E27FC236}">
                <a16:creationId xmlns:a16="http://schemas.microsoft.com/office/drawing/2014/main" id="{65989C59-4AFC-4A80-B4A0-148B8CFDC6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15430C04-247D-4F32-AD06-B1B4321E4E4D}" type="slidenum">
              <a:rPr lang="en-US" altLang="zh-CN"/>
              <a:pPr eaLnBrk="1" hangingPunct="1"/>
              <a:t>63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553112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Image Placeholder 1">
            <a:extLst>
              <a:ext uri="{FF2B5EF4-FFF2-40B4-BE49-F238E27FC236}">
                <a16:creationId xmlns:a16="http://schemas.microsoft.com/office/drawing/2014/main" id="{6FD3F38A-B4F0-4C4C-BAF9-02B9BBA9B15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7523" name="Notes Placeholder 2">
            <a:extLst>
              <a:ext uri="{FF2B5EF4-FFF2-40B4-BE49-F238E27FC236}">
                <a16:creationId xmlns:a16="http://schemas.microsoft.com/office/drawing/2014/main" id="{3D5B7790-EC63-4FD6-9D32-AA377EDC1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1" lang="zh-CN" altLang="en-US" dirty="0"/>
              <a:t>上面之前：</a:t>
            </a:r>
            <a:r>
              <a:rPr kumimoji="1" lang="en-US" altLang="zh-CN" dirty="0" err="1"/>
              <a:t>cf</a:t>
            </a:r>
            <a:r>
              <a:rPr kumimoji="1" lang="en-US" altLang="zh-CN" dirty="0"/>
              <a:t>(</a:t>
            </a:r>
            <a:r>
              <a:rPr kumimoji="1" lang="en-US" altLang="zh-CN" dirty="0" err="1"/>
              <a:t>u,v</a:t>
            </a:r>
            <a:r>
              <a:rPr kumimoji="1" lang="en-US" altLang="zh-CN" dirty="0"/>
              <a:t>)=c(</a:t>
            </a:r>
            <a:r>
              <a:rPr kumimoji="1" lang="en-US" altLang="zh-CN" dirty="0" err="1"/>
              <a:t>u,v</a:t>
            </a:r>
            <a:r>
              <a:rPr kumimoji="1" lang="en-US" altLang="zh-CN" dirty="0"/>
              <a:t>)-f(</a:t>
            </a:r>
            <a:r>
              <a:rPr kumimoji="1" lang="en-US" altLang="zh-CN" dirty="0" err="1"/>
              <a:t>u,v</a:t>
            </a:r>
            <a:r>
              <a:rPr kumimoji="1" lang="en-US" altLang="zh-CN" dirty="0"/>
              <a:t>)=1-0=1</a:t>
            </a:r>
          </a:p>
          <a:p>
            <a:r>
              <a:rPr kumimoji="1" lang="en-US" altLang="zh-CN" dirty="0" err="1"/>
              <a:t>cf</a:t>
            </a:r>
            <a:r>
              <a:rPr kumimoji="1" lang="en-US" altLang="zh-CN" dirty="0"/>
              <a:t>(</a:t>
            </a:r>
            <a:r>
              <a:rPr kumimoji="1" lang="en-US" altLang="zh-CN" dirty="0" err="1"/>
              <a:t>v,u</a:t>
            </a:r>
            <a:r>
              <a:rPr kumimoji="1" lang="en-US" altLang="zh-CN" dirty="0"/>
              <a:t>)=c(</a:t>
            </a:r>
            <a:r>
              <a:rPr kumimoji="1" lang="en-US" altLang="zh-CN" dirty="0" err="1"/>
              <a:t>v,u</a:t>
            </a:r>
            <a:r>
              <a:rPr kumimoji="1" lang="en-US" altLang="zh-CN" dirty="0"/>
              <a:t>)-f(</a:t>
            </a:r>
            <a:r>
              <a:rPr kumimoji="1" lang="en-US" altLang="zh-CN" dirty="0" err="1"/>
              <a:t>v,u</a:t>
            </a:r>
            <a:r>
              <a:rPr kumimoji="1" lang="en-US" altLang="zh-CN" dirty="0"/>
              <a:t>)=0-0=0</a:t>
            </a:r>
          </a:p>
          <a:p>
            <a:endParaRPr kumimoji="1" lang="en-US" altLang="zh-CN" dirty="0"/>
          </a:p>
          <a:p>
            <a:r>
              <a:rPr kumimoji="1" lang="zh-CN" altLang="en-US" dirty="0"/>
              <a:t>上面走了之后：</a:t>
            </a:r>
            <a:r>
              <a:rPr kumimoji="1" lang="en-US" altLang="zh-CN" dirty="0" err="1"/>
              <a:t>cf</a:t>
            </a:r>
            <a:r>
              <a:rPr kumimoji="1" lang="en-US" altLang="zh-CN" dirty="0"/>
              <a:t>(</a:t>
            </a:r>
            <a:r>
              <a:rPr kumimoji="1" lang="en-US" altLang="zh-CN" dirty="0" err="1"/>
              <a:t>u,v</a:t>
            </a:r>
            <a:r>
              <a:rPr kumimoji="1" lang="en-US" altLang="zh-CN" dirty="0"/>
              <a:t>)=c(</a:t>
            </a:r>
            <a:r>
              <a:rPr kumimoji="1" lang="en-US" altLang="zh-CN" dirty="0" err="1"/>
              <a:t>u,v</a:t>
            </a:r>
            <a:r>
              <a:rPr kumimoji="1" lang="en-US" altLang="zh-CN" dirty="0"/>
              <a:t>)-f(</a:t>
            </a:r>
            <a:r>
              <a:rPr kumimoji="1" lang="en-US" altLang="zh-CN" dirty="0" err="1"/>
              <a:t>u,v</a:t>
            </a:r>
            <a:r>
              <a:rPr kumimoji="1" lang="en-US" altLang="zh-CN" dirty="0"/>
              <a:t>)=1-1=0</a:t>
            </a:r>
          </a:p>
          <a:p>
            <a:r>
              <a:rPr kumimoji="1" lang="en-US" altLang="zh-CN" dirty="0" err="1"/>
              <a:t>cf</a:t>
            </a:r>
            <a:r>
              <a:rPr kumimoji="1" lang="en-US" altLang="zh-CN" dirty="0"/>
              <a:t>(</a:t>
            </a:r>
            <a:r>
              <a:rPr kumimoji="1" lang="en-US" altLang="zh-CN" dirty="0" err="1"/>
              <a:t>v,u</a:t>
            </a:r>
            <a:r>
              <a:rPr kumimoji="1" lang="en-US" altLang="zh-CN" dirty="0"/>
              <a:t>)=c(</a:t>
            </a:r>
            <a:r>
              <a:rPr kumimoji="1" lang="en-US" altLang="zh-CN" dirty="0" err="1"/>
              <a:t>v,u</a:t>
            </a:r>
            <a:r>
              <a:rPr kumimoji="1" lang="en-US" altLang="zh-CN" dirty="0"/>
              <a:t>)-f(</a:t>
            </a:r>
            <a:r>
              <a:rPr kumimoji="1" lang="en-US" altLang="zh-CN" dirty="0" err="1"/>
              <a:t>v,u</a:t>
            </a:r>
            <a:r>
              <a:rPr kumimoji="1" lang="en-US" altLang="zh-CN" dirty="0"/>
              <a:t>)=0-(-(f(</a:t>
            </a:r>
            <a:r>
              <a:rPr kumimoji="1" lang="en-US" altLang="zh-CN" dirty="0" err="1"/>
              <a:t>u,v</a:t>
            </a:r>
            <a:r>
              <a:rPr kumimoji="1" lang="en-US" altLang="zh-CN" dirty="0"/>
              <a:t>))=0-(-1)=1</a:t>
            </a:r>
            <a:endParaRPr kumimoji="1" lang="zh-CN" altLang="en-US" dirty="0"/>
          </a:p>
          <a:p>
            <a:endParaRPr lang="en-US" altLang="zh-CN" dirty="0"/>
          </a:p>
        </p:txBody>
      </p:sp>
      <p:sp>
        <p:nvSpPr>
          <p:cNvPr id="107524" name="Slide Number Placeholder 3">
            <a:extLst>
              <a:ext uri="{FF2B5EF4-FFF2-40B4-BE49-F238E27FC236}">
                <a16:creationId xmlns:a16="http://schemas.microsoft.com/office/drawing/2014/main" id="{98C9DA12-B9CB-487F-B52F-52EC57983F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A5B7A153-9D56-4B39-871F-F852233902EE}" type="slidenum">
              <a:rPr lang="en-US" altLang="zh-CN"/>
              <a:pPr eaLnBrk="1" hangingPunct="1"/>
              <a:t>64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8497988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Image Placeholder 1">
            <a:extLst>
              <a:ext uri="{FF2B5EF4-FFF2-40B4-BE49-F238E27FC236}">
                <a16:creationId xmlns:a16="http://schemas.microsoft.com/office/drawing/2014/main" id="{E59F5F12-BB5E-463D-9C4A-016054A3686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8547" name="Notes Placeholder 2">
            <a:extLst>
              <a:ext uri="{FF2B5EF4-FFF2-40B4-BE49-F238E27FC236}">
                <a16:creationId xmlns:a16="http://schemas.microsoft.com/office/drawing/2014/main" id="{318F9B04-F481-44DC-91DE-CB1E16F0CC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1" lang="zh-CN" altLang="en-US" dirty="0"/>
              <a:t>上面之前：</a:t>
            </a:r>
            <a:r>
              <a:rPr kumimoji="1" lang="en-US" altLang="zh-CN" dirty="0" err="1"/>
              <a:t>cf</a:t>
            </a:r>
            <a:r>
              <a:rPr kumimoji="1" lang="en-US" altLang="zh-CN" dirty="0"/>
              <a:t>(</a:t>
            </a:r>
            <a:r>
              <a:rPr kumimoji="1" lang="en-US" altLang="zh-CN" dirty="0" err="1"/>
              <a:t>v,u</a:t>
            </a:r>
            <a:r>
              <a:rPr kumimoji="1" lang="en-US" altLang="zh-CN" dirty="0"/>
              <a:t>)=1</a:t>
            </a:r>
          </a:p>
          <a:p>
            <a:r>
              <a:rPr kumimoji="1" lang="en-US" altLang="zh-CN" dirty="0"/>
              <a:t>do f(</a:t>
            </a:r>
            <a:r>
              <a:rPr kumimoji="1" lang="en-US" altLang="zh-CN" dirty="0" err="1"/>
              <a:t>v,u</a:t>
            </a:r>
            <a:r>
              <a:rPr kumimoji="1" lang="en-US" altLang="zh-CN" dirty="0"/>
              <a:t>)=f(</a:t>
            </a:r>
            <a:r>
              <a:rPr kumimoji="1" lang="en-US" altLang="zh-CN" dirty="0" err="1"/>
              <a:t>v,u</a:t>
            </a:r>
            <a:r>
              <a:rPr kumimoji="1" lang="en-US" altLang="zh-CN" dirty="0"/>
              <a:t>)+</a:t>
            </a:r>
            <a:r>
              <a:rPr kumimoji="1" lang="en-US" altLang="zh-CN" dirty="0" err="1"/>
              <a:t>cf</a:t>
            </a:r>
            <a:r>
              <a:rPr kumimoji="1" lang="en-US" altLang="zh-CN" dirty="0"/>
              <a:t>(p)=f(</a:t>
            </a:r>
            <a:r>
              <a:rPr kumimoji="1" lang="en-US" altLang="zh-CN" dirty="0" err="1"/>
              <a:t>v,u</a:t>
            </a:r>
            <a:r>
              <a:rPr kumimoji="1" lang="en-US" altLang="zh-CN" dirty="0"/>
              <a:t>)+</a:t>
            </a:r>
            <a:r>
              <a:rPr kumimoji="1" lang="en-US" altLang="zh-CN" dirty="0" err="1"/>
              <a:t>cf</a:t>
            </a:r>
            <a:r>
              <a:rPr kumimoji="1" lang="en-US" altLang="zh-CN" dirty="0"/>
              <a:t>(</a:t>
            </a:r>
            <a:r>
              <a:rPr kumimoji="1" lang="en-US" altLang="zh-CN" dirty="0" err="1"/>
              <a:t>v,u</a:t>
            </a:r>
            <a:r>
              <a:rPr kumimoji="1" lang="en-US" altLang="zh-CN" dirty="0"/>
              <a:t>)=0+1=1</a:t>
            </a:r>
          </a:p>
          <a:p>
            <a:endParaRPr kumimoji="1" lang="en-US" altLang="zh-CN" dirty="0"/>
          </a:p>
          <a:p>
            <a:endParaRPr lang="en-US" altLang="zh-CN" dirty="0"/>
          </a:p>
        </p:txBody>
      </p:sp>
      <p:sp>
        <p:nvSpPr>
          <p:cNvPr id="108548" name="Slide Number Placeholder 3">
            <a:extLst>
              <a:ext uri="{FF2B5EF4-FFF2-40B4-BE49-F238E27FC236}">
                <a16:creationId xmlns:a16="http://schemas.microsoft.com/office/drawing/2014/main" id="{E3144976-0C8C-47DC-B3CB-26AB944A37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3C74E090-67B3-4EA4-992E-009704FD5BF2}" type="slidenum">
              <a:rPr lang="en-US" altLang="zh-CN"/>
              <a:pPr eaLnBrk="1" hangingPunct="1"/>
              <a:t>65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104207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Image Placeholder 1">
            <a:extLst>
              <a:ext uri="{FF2B5EF4-FFF2-40B4-BE49-F238E27FC236}">
                <a16:creationId xmlns:a16="http://schemas.microsoft.com/office/drawing/2014/main" id="{2C9C631A-505C-40BE-BD4C-C2D7755FA43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9571" name="Notes Placeholder 2">
            <a:extLst>
              <a:ext uri="{FF2B5EF4-FFF2-40B4-BE49-F238E27FC236}">
                <a16:creationId xmlns:a16="http://schemas.microsoft.com/office/drawing/2014/main" id="{22B86BCA-80E9-414A-96C9-30D04F34F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  <p:sp>
        <p:nvSpPr>
          <p:cNvPr id="109572" name="Slide Number Placeholder 3">
            <a:extLst>
              <a:ext uri="{FF2B5EF4-FFF2-40B4-BE49-F238E27FC236}">
                <a16:creationId xmlns:a16="http://schemas.microsoft.com/office/drawing/2014/main" id="{FA7B1C9D-9CC6-48D3-B310-DF84708B52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39FFA678-D9EA-4513-9C43-DD6A9719940F}" type="slidenum">
              <a:rPr lang="en-US" altLang="zh-CN"/>
              <a:pPr eaLnBrk="1" hangingPunct="1"/>
              <a:t>66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579897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Image Placeholder 1">
            <a:extLst>
              <a:ext uri="{FF2B5EF4-FFF2-40B4-BE49-F238E27FC236}">
                <a16:creationId xmlns:a16="http://schemas.microsoft.com/office/drawing/2014/main" id="{4EF3AECD-0C67-4542-8EDE-A7B945535D6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0595" name="Notes Placeholder 2">
            <a:extLst>
              <a:ext uri="{FF2B5EF4-FFF2-40B4-BE49-F238E27FC236}">
                <a16:creationId xmlns:a16="http://schemas.microsoft.com/office/drawing/2014/main" id="{735EC840-5ACE-4A19-A769-1A76B2794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  <p:sp>
        <p:nvSpPr>
          <p:cNvPr id="110596" name="Slide Number Placeholder 3">
            <a:extLst>
              <a:ext uri="{FF2B5EF4-FFF2-40B4-BE49-F238E27FC236}">
                <a16:creationId xmlns:a16="http://schemas.microsoft.com/office/drawing/2014/main" id="{794A1152-FF86-47F5-9E0E-162423928A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68FB421D-68EC-4A8B-8574-C52A9EDF49C2}" type="slidenum">
              <a:rPr lang="en-US" altLang="zh-CN"/>
              <a:pPr eaLnBrk="1" hangingPunct="1"/>
              <a:t>67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086769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Image Placeholder 1">
            <a:extLst>
              <a:ext uri="{FF2B5EF4-FFF2-40B4-BE49-F238E27FC236}">
                <a16:creationId xmlns:a16="http://schemas.microsoft.com/office/drawing/2014/main" id="{B09F46BA-6187-49F8-9407-2BF2A0507D9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1619" name="Notes Placeholder 2">
            <a:extLst>
              <a:ext uri="{FF2B5EF4-FFF2-40B4-BE49-F238E27FC236}">
                <a16:creationId xmlns:a16="http://schemas.microsoft.com/office/drawing/2014/main" id="{65A5D703-1BDA-41EB-B07F-FF6646F333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  <p:sp>
        <p:nvSpPr>
          <p:cNvPr id="111620" name="Slide Number Placeholder 3">
            <a:extLst>
              <a:ext uri="{FF2B5EF4-FFF2-40B4-BE49-F238E27FC236}">
                <a16:creationId xmlns:a16="http://schemas.microsoft.com/office/drawing/2014/main" id="{13FA223F-2665-4A14-B94C-C7B082138E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073F105C-CB77-4556-8423-FBB6EE8BF949}" type="slidenum">
              <a:rPr lang="en-US" altLang="zh-CN"/>
              <a:pPr eaLnBrk="1" hangingPunct="1"/>
              <a:t>68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443845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Slide Image Placeholder 1">
            <a:extLst>
              <a:ext uri="{FF2B5EF4-FFF2-40B4-BE49-F238E27FC236}">
                <a16:creationId xmlns:a16="http://schemas.microsoft.com/office/drawing/2014/main" id="{842F7FE0-BB38-45D7-B7CA-C52574E2701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3667" name="Notes Placeholder 2">
            <a:extLst>
              <a:ext uri="{FF2B5EF4-FFF2-40B4-BE49-F238E27FC236}">
                <a16:creationId xmlns:a16="http://schemas.microsoft.com/office/drawing/2014/main" id="{1F56C963-0C3A-4106-A4B5-1BD3B11F6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  <p:sp>
        <p:nvSpPr>
          <p:cNvPr id="113668" name="Slide Number Placeholder 3">
            <a:extLst>
              <a:ext uri="{FF2B5EF4-FFF2-40B4-BE49-F238E27FC236}">
                <a16:creationId xmlns:a16="http://schemas.microsoft.com/office/drawing/2014/main" id="{4C5AA20F-5F75-468A-AD34-BACE645E93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67313232-8BD5-4331-8366-E2FD1950DF9E}" type="slidenum">
              <a:rPr lang="en-US" altLang="zh-CN"/>
              <a:pPr eaLnBrk="1" hangingPunct="1"/>
              <a:t>72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392348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Image Placeholder 1">
            <a:extLst>
              <a:ext uri="{FF2B5EF4-FFF2-40B4-BE49-F238E27FC236}">
                <a16:creationId xmlns:a16="http://schemas.microsoft.com/office/drawing/2014/main" id="{2524B245-01DD-4659-9DBF-86E60BAFEED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4691" name="Notes Placeholder 2">
            <a:extLst>
              <a:ext uri="{FF2B5EF4-FFF2-40B4-BE49-F238E27FC236}">
                <a16:creationId xmlns:a16="http://schemas.microsoft.com/office/drawing/2014/main" id="{71510281-8760-4E27-9D8F-820DAB940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  <p:sp>
        <p:nvSpPr>
          <p:cNvPr id="114692" name="Slide Number Placeholder 3">
            <a:extLst>
              <a:ext uri="{FF2B5EF4-FFF2-40B4-BE49-F238E27FC236}">
                <a16:creationId xmlns:a16="http://schemas.microsoft.com/office/drawing/2014/main" id="{F7FCD286-2129-4807-8EA1-F89E9BE8E1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36A71DD5-2BA4-4F45-84C8-E121703EE548}" type="slidenum">
              <a:rPr lang="en-US" altLang="zh-CN"/>
              <a:pPr eaLnBrk="1" hangingPunct="1"/>
              <a:t>73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271364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Slide Image Placeholder 1">
            <a:extLst>
              <a:ext uri="{FF2B5EF4-FFF2-40B4-BE49-F238E27FC236}">
                <a16:creationId xmlns:a16="http://schemas.microsoft.com/office/drawing/2014/main" id="{FAFD2F9C-88DB-41FC-88B8-CD2B03E6A44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5715" name="Notes Placeholder 2">
            <a:extLst>
              <a:ext uri="{FF2B5EF4-FFF2-40B4-BE49-F238E27FC236}">
                <a16:creationId xmlns:a16="http://schemas.microsoft.com/office/drawing/2014/main" id="{9C3915DA-C174-446E-A6BC-CBDC7561F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  <p:sp>
        <p:nvSpPr>
          <p:cNvPr id="115716" name="Slide Number Placeholder 3">
            <a:extLst>
              <a:ext uri="{FF2B5EF4-FFF2-40B4-BE49-F238E27FC236}">
                <a16:creationId xmlns:a16="http://schemas.microsoft.com/office/drawing/2014/main" id="{C797DE09-1E7C-4E1B-B3E5-B3A4F778FB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437187F5-CF69-4D0D-B7B1-D475B8B62A62}" type="slidenum">
              <a:rPr lang="en-US" altLang="zh-CN"/>
              <a:pPr eaLnBrk="1" hangingPunct="1"/>
              <a:t>75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526177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>
            <a:extLst>
              <a:ext uri="{FF2B5EF4-FFF2-40B4-BE49-F238E27FC236}">
                <a16:creationId xmlns:a16="http://schemas.microsoft.com/office/drawing/2014/main" id="{A27E2C81-4584-4E32-930F-746361A9B93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6739" name="Notes Placeholder 2">
            <a:extLst>
              <a:ext uri="{FF2B5EF4-FFF2-40B4-BE49-F238E27FC236}">
                <a16:creationId xmlns:a16="http://schemas.microsoft.com/office/drawing/2014/main" id="{914175AA-6ABC-4F06-99C8-CC2A91ED2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  <p:sp>
        <p:nvSpPr>
          <p:cNvPr id="116740" name="Slide Number Placeholder 3">
            <a:extLst>
              <a:ext uri="{FF2B5EF4-FFF2-40B4-BE49-F238E27FC236}">
                <a16:creationId xmlns:a16="http://schemas.microsoft.com/office/drawing/2014/main" id="{8CB1A8C5-8AFD-4F38-914F-45DF0205A3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E533BDB8-593F-4E75-88CD-DA708E88BAC0}" type="slidenum">
              <a:rPr lang="en-US" altLang="zh-CN"/>
              <a:pPr eaLnBrk="1" hangingPunct="1"/>
              <a:t>76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605379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Slide Image Placeholder 1">
            <a:extLst>
              <a:ext uri="{FF2B5EF4-FFF2-40B4-BE49-F238E27FC236}">
                <a16:creationId xmlns:a16="http://schemas.microsoft.com/office/drawing/2014/main" id="{9FA36CCB-5B5F-47F1-90CA-4D015BCCD57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7763" name="Notes Placeholder 2">
            <a:extLst>
              <a:ext uri="{FF2B5EF4-FFF2-40B4-BE49-F238E27FC236}">
                <a16:creationId xmlns:a16="http://schemas.microsoft.com/office/drawing/2014/main" id="{91A53C10-0AE9-4663-B751-4E5C0423D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  <p:sp>
        <p:nvSpPr>
          <p:cNvPr id="117764" name="Slide Number Placeholder 3">
            <a:extLst>
              <a:ext uri="{FF2B5EF4-FFF2-40B4-BE49-F238E27FC236}">
                <a16:creationId xmlns:a16="http://schemas.microsoft.com/office/drawing/2014/main" id="{8F114072-7010-4570-B85B-B5901AD496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A737ABE-C94F-4769-970F-0821DF422A30}" type="slidenum">
              <a:rPr lang="en-US" altLang="zh-CN"/>
              <a:pPr eaLnBrk="1" hangingPunct="1"/>
              <a:t>77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36274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lide Image Placeholder 1">
            <a:extLst>
              <a:ext uri="{FF2B5EF4-FFF2-40B4-BE49-F238E27FC236}">
                <a16:creationId xmlns:a16="http://schemas.microsoft.com/office/drawing/2014/main" id="{5C7E2DD5-0BF8-4A36-BBAC-8D42413B1E6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8787" name="Notes Placeholder 2">
            <a:extLst>
              <a:ext uri="{FF2B5EF4-FFF2-40B4-BE49-F238E27FC236}">
                <a16:creationId xmlns:a16="http://schemas.microsoft.com/office/drawing/2014/main" id="{A8D9B313-0D94-4593-AAAB-6CB79837C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  <p:sp>
        <p:nvSpPr>
          <p:cNvPr id="118788" name="Slide Number Placeholder 3">
            <a:extLst>
              <a:ext uri="{FF2B5EF4-FFF2-40B4-BE49-F238E27FC236}">
                <a16:creationId xmlns:a16="http://schemas.microsoft.com/office/drawing/2014/main" id="{58ABEB1D-A284-49F5-83C0-5FEFB0D1AB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2B890FB-AC31-42C8-BD33-80A4F768F40B}" type="slidenum">
              <a:rPr lang="en-US" altLang="zh-CN"/>
              <a:pPr eaLnBrk="1" hangingPunct="1"/>
              <a:t>78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182815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Slide Image Placeholder 1">
            <a:extLst>
              <a:ext uri="{FF2B5EF4-FFF2-40B4-BE49-F238E27FC236}">
                <a16:creationId xmlns:a16="http://schemas.microsoft.com/office/drawing/2014/main" id="{FFA91FE1-73BE-4208-A49B-93366E8FE4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0835" name="Notes Placeholder 2">
            <a:extLst>
              <a:ext uri="{FF2B5EF4-FFF2-40B4-BE49-F238E27FC236}">
                <a16:creationId xmlns:a16="http://schemas.microsoft.com/office/drawing/2014/main" id="{FD602B93-51CB-4BBA-AB3E-D9561DCEA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  <p:sp>
        <p:nvSpPr>
          <p:cNvPr id="120836" name="Slide Number Placeholder 3">
            <a:extLst>
              <a:ext uri="{FF2B5EF4-FFF2-40B4-BE49-F238E27FC236}">
                <a16:creationId xmlns:a16="http://schemas.microsoft.com/office/drawing/2014/main" id="{604931AF-BAAB-4693-9214-3733E33E61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FFE1286-1825-4083-AEF6-F7D02E2247C4}" type="slidenum">
              <a:rPr lang="en-US" altLang="zh-CN"/>
              <a:pPr eaLnBrk="1" hangingPunct="1"/>
              <a:t>81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08584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Slide Image Placeholder 1">
            <a:extLst>
              <a:ext uri="{FF2B5EF4-FFF2-40B4-BE49-F238E27FC236}">
                <a16:creationId xmlns:a16="http://schemas.microsoft.com/office/drawing/2014/main" id="{D4493253-839E-4AAA-8D35-5E345A5EAE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2883" name="Notes Placeholder 2">
            <a:extLst>
              <a:ext uri="{FF2B5EF4-FFF2-40B4-BE49-F238E27FC236}">
                <a16:creationId xmlns:a16="http://schemas.microsoft.com/office/drawing/2014/main" id="{BEA848F1-96D4-4620-BDF8-94B2B4633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  <p:sp>
        <p:nvSpPr>
          <p:cNvPr id="122884" name="Slide Number Placeholder 3">
            <a:extLst>
              <a:ext uri="{FF2B5EF4-FFF2-40B4-BE49-F238E27FC236}">
                <a16:creationId xmlns:a16="http://schemas.microsoft.com/office/drawing/2014/main" id="{2D714F7E-0608-47A4-B8C9-0AD4E36005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AC02DC62-B299-42A7-9596-A1563B7142A1}" type="slidenum">
              <a:rPr lang="en-US" altLang="zh-CN"/>
              <a:pPr eaLnBrk="1" hangingPunct="1"/>
              <a:t>82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5428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3578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2173225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9437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927203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410289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7848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4490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813461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2938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6287843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93795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26607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98929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59373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25178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50140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43788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38509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11659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51678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36362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52923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79758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77258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69029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6365364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8613351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1811250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8740728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6603329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6238237"/>
      </p:ext>
    </p:extLst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8308132"/>
      </p:ext>
    </p:extLst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1438047"/>
      </p:ext>
    </p:extLst>
  </p:cSld>
  <p:clrMapOvr>
    <a:masterClrMapping/>
  </p:clrMapOvr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7995590"/>
      </p:ext>
    </p:extLst>
  </p:cSld>
  <p:clrMapOvr>
    <a:masterClrMapping/>
  </p:clrMapOvr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8763097"/>
      </p:ext>
    </p:extLst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241484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5525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  <p:sldLayoutId id="2147483930" r:id="rId2"/>
    <p:sldLayoutId id="2147483931" r:id="rId3"/>
    <p:sldLayoutId id="2147483932" r:id="rId4"/>
    <p:sldLayoutId id="2147483933" r:id="rId5"/>
    <p:sldLayoutId id="2147483934" r:id="rId6"/>
    <p:sldLayoutId id="2147483935" r:id="rId7"/>
    <p:sldLayoutId id="2147483936" r:id="rId8"/>
    <p:sldLayoutId id="2147483937" r:id="rId9"/>
    <p:sldLayoutId id="2147483938" r:id="rId10"/>
    <p:sldLayoutId id="2147483939" r:id="rId11"/>
    <p:sldLayoutId id="2147483940" r:id="rId12"/>
    <p:sldLayoutId id="2147483941" r:id="rId13"/>
    <p:sldLayoutId id="2147483942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7962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4" r:id="rId1"/>
    <p:sldLayoutId id="2147483945" r:id="rId2"/>
    <p:sldLayoutId id="2147483946" r:id="rId3"/>
    <p:sldLayoutId id="2147483947" r:id="rId4"/>
    <p:sldLayoutId id="2147483948" r:id="rId5"/>
    <p:sldLayoutId id="2147483949" r:id="rId6"/>
    <p:sldLayoutId id="2147483950" r:id="rId7"/>
    <p:sldLayoutId id="2147483951" r:id="rId8"/>
    <p:sldLayoutId id="2147483952" r:id="rId9"/>
    <p:sldLayoutId id="2147483953" r:id="rId10"/>
    <p:sldLayoutId id="214748395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08E96-F24C-C244-A704-A4D358A2FE3B}" type="datetime1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409CFC-1E7E-D345-9273-4ED8A141D8B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矩形 10"/>
          <p:cNvSpPr/>
          <p:nvPr userDrawn="1"/>
        </p:nvSpPr>
        <p:spPr>
          <a:xfrm>
            <a:off x="0" y="740229"/>
            <a:ext cx="12192000" cy="55953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986972"/>
            <a:ext cx="12192000" cy="57089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0" i="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0" y="0"/>
            <a:ext cx="12192000" cy="6858000"/>
            <a:chOff x="0" y="0"/>
            <a:chExt cx="14400" cy="8100"/>
          </a:xfrm>
        </p:grpSpPr>
        <p:pic>
          <p:nvPicPr>
            <p:cNvPr id="15" name="图片 14"/>
            <p:cNvPicPr>
              <a:picLocks noChangeAspect="1"/>
            </p:cNvPicPr>
            <p:nvPr userDrawn="1"/>
          </p:nvPicPr>
          <p:blipFill>
            <a:blip r:embed="rId13" cstate="screen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saturation sat="4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0" y="0"/>
              <a:ext cx="14400" cy="8100"/>
            </a:xfrm>
            <a:prstGeom prst="rect">
              <a:avLst/>
            </a:prstGeom>
          </p:spPr>
        </p:pic>
        <p:sp>
          <p:nvSpPr>
            <p:cNvPr id="16" name="矩形 15"/>
            <p:cNvSpPr/>
            <p:nvPr userDrawn="1"/>
          </p:nvSpPr>
          <p:spPr>
            <a:xfrm>
              <a:off x="0" y="1166"/>
              <a:ext cx="14400" cy="674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0" i="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77816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6" r:id="rId1"/>
    <p:sldLayoutId id="2147483957" r:id="rId2"/>
    <p:sldLayoutId id="2147483958" r:id="rId3"/>
    <p:sldLayoutId id="2147483959" r:id="rId4"/>
    <p:sldLayoutId id="2147483960" r:id="rId5"/>
    <p:sldLayoutId id="2147483961" r:id="rId6"/>
    <p:sldLayoutId id="2147483962" r:id="rId7"/>
    <p:sldLayoutId id="2147483963" r:id="rId8"/>
    <p:sldLayoutId id="2147483964" r:id="rId9"/>
    <p:sldLayoutId id="2147483965" r:id="rId10"/>
    <p:sldLayoutId id="2147483966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思源黑体 Bold" panose="020B0800000000000000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Bold" panose="020B0800000000000000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Bold" panose="020B0800000000000000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Bold" panose="020B0800000000000000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Bold" panose="020B0800000000000000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Bold" panose="020B0800000000000000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zh.wikipedia.org/wiki/%E6%9C%80%E5%A4%A7%E6%B5%81%E9%97%AE%E9%A2%98#cite_note-4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s://zh.wikipedia.org/wiki/Ford%E2%80%93Fulkerson%E7%AE%97%E6%B3%95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zh.wikipedia.org/wiki/%E6%9C%80%E5%A4%A7%E6%B5%81%E9%97%AE%E9%A2%98#cite_note-3" TargetMode="External"/><Relationship Id="rId5" Type="http://schemas.openxmlformats.org/officeDocument/2006/relationships/hyperlink" Target="https://zh.wikipedia.org/wiki/%E6%9C%80%E5%A4%A7%E6%B5%81%E9%97%AE%E9%A2%98#cite_note-2" TargetMode="External"/><Relationship Id="rId4" Type="http://schemas.openxmlformats.org/officeDocument/2006/relationships/hyperlink" Target="https://zh.wikipedia.org/wiki/%E6%9C%80%E5%A4%A7%E6%B5%81%E9%97%AE%E9%A2%98#cite_note-1" TargetMode="External"/><Relationship Id="rId9" Type="http://schemas.openxmlformats.org/officeDocument/2006/relationships/hyperlink" Target="https://zh.wikipedia.org/wiki/%E6%9C%80%E5%A4%A7%E6%B5%81%E9%97%AE%E9%A2%98#cite_note-5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9.w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wmf"/><Relationship Id="rId4" Type="http://schemas.openxmlformats.org/officeDocument/2006/relationships/oleObject" Target="../embeddings/oleObject23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29.w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w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w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wmf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wm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36.w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37.wm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39.wm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wmf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1.wmf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2.wm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9.bin"/><Relationship Id="rId5" Type="http://schemas.openxmlformats.org/officeDocument/2006/relationships/image" Target="../media/image41.wmf"/><Relationship Id="rId4" Type="http://schemas.openxmlformats.org/officeDocument/2006/relationships/oleObject" Target="../embeddings/oleObject38.bin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7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41.wmf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wmf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44.bin"/><Relationship Id="rId4" Type="http://schemas.openxmlformats.org/officeDocument/2006/relationships/image" Target="../media/image4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58" r="-8568"/>
          <a:stretch>
            <a:fillRect/>
          </a:stretch>
        </p:blipFill>
        <p:spPr>
          <a:xfrm>
            <a:off x="0" y="0"/>
            <a:ext cx="13680000" cy="6889444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>
            <a:off x="2066927" y="2108384"/>
            <a:ext cx="1023072" cy="1023072"/>
            <a:chOff x="2175776" y="1517788"/>
            <a:chExt cx="767304" cy="767304"/>
          </a:xfrm>
        </p:grpSpPr>
        <p:sp>
          <p:nvSpPr>
            <p:cNvPr id="4" name="椭圆 3"/>
            <p:cNvSpPr/>
            <p:nvPr/>
          </p:nvSpPr>
          <p:spPr>
            <a:xfrm>
              <a:off x="2175776" y="1517788"/>
              <a:ext cx="767304" cy="767304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65" b="0" i="0" u="none" strike="noStrike" kern="1200" cap="none" spc="0" normalizeH="0" baseline="0" noProof="0" dirty="0">
                <a:ln>
                  <a:noFill/>
                </a:ln>
                <a:solidFill>
                  <a:srgbClr val="B6302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2273390" y="1642258"/>
              <a:ext cx="441226" cy="561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265" b="0" i="0" u="none" strike="noStrike" kern="1200" cap="none" spc="0" normalizeH="0" baseline="0" noProof="0" dirty="0">
                  <a:ln>
                    <a:noFill/>
                  </a:ln>
                  <a:solidFill>
                    <a:srgbClr val="23158B"/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+mn-cs"/>
                </a:rPr>
                <a:t>算</a:t>
              </a: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3241533" y="2108384"/>
            <a:ext cx="1023072" cy="1023072"/>
            <a:chOff x="3089954" y="1517788"/>
            <a:chExt cx="767304" cy="767304"/>
          </a:xfrm>
        </p:grpSpPr>
        <p:sp>
          <p:nvSpPr>
            <p:cNvPr id="7" name="椭圆 6"/>
            <p:cNvSpPr/>
            <p:nvPr/>
          </p:nvSpPr>
          <p:spPr>
            <a:xfrm>
              <a:off x="3089954" y="1517788"/>
              <a:ext cx="767304" cy="767304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65" b="0" i="0" u="none" strike="noStrike" kern="1200" cap="none" spc="0" normalizeH="0" baseline="0" noProof="0" dirty="0">
                <a:ln>
                  <a:noFill/>
                </a:ln>
                <a:solidFill>
                  <a:srgbClr val="B6302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197093" y="1651783"/>
              <a:ext cx="441226" cy="561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265" b="0" i="0" u="none" strike="noStrike" kern="1200" cap="none" spc="0" normalizeH="0" baseline="0" noProof="0" dirty="0">
                  <a:ln>
                    <a:noFill/>
                  </a:ln>
                  <a:solidFill>
                    <a:srgbClr val="23158B"/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+mn-cs"/>
                </a:rPr>
                <a:t>法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416140" y="2108384"/>
            <a:ext cx="1023072" cy="1023072"/>
            <a:chOff x="3958877" y="1517788"/>
            <a:chExt cx="767304" cy="767304"/>
          </a:xfrm>
        </p:grpSpPr>
        <p:sp>
          <p:nvSpPr>
            <p:cNvPr id="10" name="椭圆 9"/>
            <p:cNvSpPr/>
            <p:nvPr/>
          </p:nvSpPr>
          <p:spPr>
            <a:xfrm>
              <a:off x="3958877" y="1517788"/>
              <a:ext cx="767304" cy="767304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65" b="0" i="0" u="none" strike="noStrike" kern="1200" cap="none" spc="0" normalizeH="0" baseline="0" noProof="0" dirty="0">
                <a:ln>
                  <a:noFill/>
                </a:ln>
                <a:solidFill>
                  <a:srgbClr val="B6302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4058416" y="1658880"/>
              <a:ext cx="441226" cy="561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265" b="0" i="0" u="none" strike="noStrike" kern="1200" cap="none" spc="0" normalizeH="0" baseline="0" noProof="0" dirty="0">
                  <a:ln>
                    <a:noFill/>
                  </a:ln>
                  <a:solidFill>
                    <a:srgbClr val="23158B"/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+mn-cs"/>
                </a:rPr>
                <a:t>设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5590747" y="2108384"/>
            <a:ext cx="1023072" cy="1023072"/>
            <a:chOff x="4833659" y="1517788"/>
            <a:chExt cx="767304" cy="767304"/>
          </a:xfrm>
        </p:grpSpPr>
        <p:sp>
          <p:nvSpPr>
            <p:cNvPr id="13" name="椭圆 12"/>
            <p:cNvSpPr/>
            <p:nvPr/>
          </p:nvSpPr>
          <p:spPr>
            <a:xfrm>
              <a:off x="4833659" y="1517788"/>
              <a:ext cx="767304" cy="767304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65" b="0" i="0" u="none" strike="noStrike" kern="1200" cap="none" spc="0" normalizeH="0" baseline="0" noProof="0" dirty="0">
                <a:ln>
                  <a:noFill/>
                </a:ln>
                <a:solidFill>
                  <a:srgbClr val="B6302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4933198" y="1658880"/>
              <a:ext cx="441226" cy="561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265" b="0" i="0" u="none" strike="noStrike" kern="1200" cap="none" spc="0" normalizeH="0" baseline="0" noProof="0" dirty="0">
                  <a:ln>
                    <a:noFill/>
                  </a:ln>
                  <a:solidFill>
                    <a:srgbClr val="23158B"/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+mn-cs"/>
                </a:rPr>
                <a:t>计</a:t>
              </a: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6765353" y="2108384"/>
            <a:ext cx="1023072" cy="1023072"/>
            <a:chOff x="5666375" y="1517788"/>
            <a:chExt cx="767304" cy="767304"/>
          </a:xfrm>
        </p:grpSpPr>
        <p:sp>
          <p:nvSpPr>
            <p:cNvPr id="16" name="椭圆 15"/>
            <p:cNvSpPr/>
            <p:nvPr/>
          </p:nvSpPr>
          <p:spPr>
            <a:xfrm>
              <a:off x="5666375" y="1517788"/>
              <a:ext cx="767304" cy="767304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65" b="0" i="0" u="none" strike="noStrike" kern="1200" cap="none" spc="0" normalizeH="0" baseline="0" noProof="0" dirty="0">
                <a:ln>
                  <a:noFill/>
                </a:ln>
                <a:solidFill>
                  <a:srgbClr val="B6302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5775439" y="1649355"/>
              <a:ext cx="441226" cy="561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265" b="0" i="0" u="none" strike="noStrike" kern="1200" cap="none" spc="0" normalizeH="0" baseline="0" noProof="0" dirty="0">
                  <a:ln>
                    <a:noFill/>
                  </a:ln>
                  <a:solidFill>
                    <a:srgbClr val="23158B"/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+mn-cs"/>
                </a:rPr>
                <a:t>与</a:t>
              </a: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7921144" y="2038804"/>
            <a:ext cx="1023072" cy="1023072"/>
            <a:chOff x="6580553" y="1517788"/>
            <a:chExt cx="767304" cy="767304"/>
          </a:xfrm>
        </p:grpSpPr>
        <p:sp>
          <p:nvSpPr>
            <p:cNvPr id="19" name="椭圆 18"/>
            <p:cNvSpPr/>
            <p:nvPr/>
          </p:nvSpPr>
          <p:spPr>
            <a:xfrm>
              <a:off x="6580553" y="1517788"/>
              <a:ext cx="767304" cy="767304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65" b="0" i="0" u="none" strike="noStrike" kern="1200" cap="none" spc="0" normalizeH="0" baseline="0" noProof="0" dirty="0">
                <a:ln>
                  <a:noFill/>
                </a:ln>
                <a:solidFill>
                  <a:srgbClr val="B6302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6708667" y="1649355"/>
              <a:ext cx="441226" cy="561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265" b="0" i="0" u="none" strike="noStrike" kern="1200" cap="none" spc="0" normalizeH="0" baseline="0" noProof="0" dirty="0">
                  <a:ln>
                    <a:noFill/>
                  </a:ln>
                  <a:solidFill>
                    <a:srgbClr val="23158B"/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+mn-cs"/>
                </a:rPr>
                <a:t>分</a:t>
              </a:r>
            </a:p>
          </p:txBody>
        </p:sp>
      </p:grpSp>
      <p:sp>
        <p:nvSpPr>
          <p:cNvPr id="28" name="圆角矩形 27"/>
          <p:cNvSpPr/>
          <p:nvPr/>
        </p:nvSpPr>
        <p:spPr>
          <a:xfrm>
            <a:off x="3757930" y="3412490"/>
            <a:ext cx="5335270" cy="99822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757930" y="3499075"/>
            <a:ext cx="53352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4800" dirty="0">
                <a:solidFill>
                  <a:srgbClr val="FFFFFF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最大流算法</a:t>
            </a:r>
            <a:endParaRPr lang="en-US" altLang="zh-CN" sz="4800" dirty="0">
              <a:solidFill>
                <a:srgbClr val="FFFFFF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9228469" y="2038804"/>
            <a:ext cx="1023072" cy="1023072"/>
            <a:chOff x="6580553" y="1517788"/>
            <a:chExt cx="767304" cy="767304"/>
          </a:xfrm>
        </p:grpSpPr>
        <p:sp>
          <p:nvSpPr>
            <p:cNvPr id="12" name="椭圆 11"/>
            <p:cNvSpPr/>
            <p:nvPr/>
          </p:nvSpPr>
          <p:spPr>
            <a:xfrm>
              <a:off x="6580553" y="1517788"/>
              <a:ext cx="767304" cy="767304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65" b="0" i="0" u="none" strike="noStrike" kern="1200" cap="none" spc="0" normalizeH="0" baseline="0" noProof="0" dirty="0">
                <a:ln>
                  <a:noFill/>
                </a:ln>
                <a:solidFill>
                  <a:srgbClr val="B6302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6699142" y="1639830"/>
              <a:ext cx="441226" cy="561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265" b="0" i="0" u="none" strike="noStrike" kern="1200" cap="none" spc="0" normalizeH="0" baseline="0" noProof="0" dirty="0">
                  <a:ln>
                    <a:noFill/>
                  </a:ln>
                  <a:solidFill>
                    <a:srgbClr val="23158B"/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+mn-cs"/>
                </a:rPr>
                <a:t>析</a:t>
              </a:r>
            </a:p>
          </p:txBody>
        </p:sp>
      </p:grpSp>
      <p:sp>
        <p:nvSpPr>
          <p:cNvPr id="3" name="Subtitle 2"/>
          <p:cNvSpPr>
            <a:spLocks noGrp="1"/>
          </p:cNvSpPr>
          <p:nvPr/>
        </p:nvSpPr>
        <p:spPr>
          <a:xfrm>
            <a:off x="4097157" y="4733077"/>
            <a:ext cx="4742275" cy="11478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韦淳于</a:t>
            </a:r>
            <a:endParaRPr kumimoji="0" lang="en-US" altLang="zh-CN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Renmin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University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of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China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4000"/>
    </mc:Choice>
    <mc:Fallback xmlns="">
      <p:transition advClick="0" advTm="4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69784" y="239697"/>
            <a:ext cx="248892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思源黑体 Bold" panose="020B0800000000000000" pitchFamily="34" charset="-122"/>
                <a:cs typeface="+mn-cs"/>
                <a:sym typeface="+mn-ea"/>
              </a:rPr>
              <a:t>主要内容</a:t>
            </a:r>
            <a:endParaRPr kumimoji="0" lang="en-US" altLang="en-US" sz="3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+mn-ea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79070" y="233045"/>
            <a:ext cx="3131820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endParaRP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D1D1F0BD-17FF-E750-0835-3164E58557E7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" name="内容占位符 5">
            <a:extLst>
              <a:ext uri="{FF2B5EF4-FFF2-40B4-BE49-F238E27FC236}">
                <a16:creationId xmlns:a16="http://schemas.microsoft.com/office/drawing/2014/main" id="{EFDE6F33-EAD8-51D1-F2B0-7AF9E1CE13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6712187"/>
              </p:ext>
            </p:extLst>
          </p:nvPr>
        </p:nvGraphicFramePr>
        <p:xfrm>
          <a:off x="3921774" y="1018096"/>
          <a:ext cx="5184322" cy="56664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Picture 2">
            <a:extLst>
              <a:ext uri="{FF2B5EF4-FFF2-40B4-BE49-F238E27FC236}">
                <a16:creationId xmlns:a16="http://schemas.microsoft.com/office/drawing/2014/main" id="{5D161BB7-3D8E-4D22-9238-D39AFFA27B61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55"/>
          <a:stretch/>
        </p:blipFill>
        <p:spPr>
          <a:xfrm>
            <a:off x="1981200" y="1607280"/>
            <a:ext cx="8039493" cy="4983627"/>
          </a:xfrm>
          <a:prstGeom prst="rect">
            <a:avLst/>
          </a:prstGeom>
        </p:spPr>
      </p:pic>
      <p:sp>
        <p:nvSpPr>
          <p:cNvPr id="61443" name="Text Box 3">
            <a:extLst>
              <a:ext uri="{FF2B5EF4-FFF2-40B4-BE49-F238E27FC236}">
                <a16:creationId xmlns:a16="http://schemas.microsoft.com/office/drawing/2014/main" id="{7DA10985-3481-4C28-B683-7B419101E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007" y="6370769"/>
            <a:ext cx="6096786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FontTx/>
              <a:buChar char="•"/>
            </a:pPr>
            <a:r>
              <a:rPr lang="en-US" altLang="zh-CN" dirty="0">
                <a:solidFill>
                  <a:srgbClr val="FF0000"/>
                </a:solidFill>
              </a:rPr>
              <a:t>material coursing through a system</a:t>
            </a:r>
            <a:r>
              <a:rPr lang="en-US" altLang="zh-CN" dirty="0"/>
              <a:t> from a source  to a sink</a:t>
            </a:r>
          </a:p>
          <a:p>
            <a:pPr>
              <a:spcBef>
                <a:spcPct val="50000"/>
              </a:spcBef>
            </a:pPr>
            <a:endParaRPr lang="en-US" altLang="zh-CN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FA88BF3-A2FD-CF48-A93C-DE1048FE572D}"/>
              </a:ext>
            </a:extLst>
          </p:cNvPr>
          <p:cNvSpPr/>
          <p:nvPr/>
        </p:nvSpPr>
        <p:spPr>
          <a:xfrm>
            <a:off x="1244338" y="1048873"/>
            <a:ext cx="963419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202122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最大流问题最早是在</a:t>
            </a:r>
            <a:r>
              <a:rPr lang="en-US" altLang="zh-CN" sz="1600" dirty="0">
                <a:solidFill>
                  <a:srgbClr val="202122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1954</a:t>
            </a:r>
            <a:r>
              <a:rPr lang="zh-CN" altLang="en-US" sz="1600" dirty="0">
                <a:solidFill>
                  <a:srgbClr val="202122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年，由</a:t>
            </a:r>
            <a:r>
              <a:rPr lang="en" altLang="zh-CN" sz="1600" dirty="0" err="1">
                <a:solidFill>
                  <a:srgbClr val="202122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T.E.Harris</a:t>
            </a:r>
            <a:r>
              <a:rPr lang="en" altLang="zh-CN" sz="1600" dirty="0">
                <a:solidFill>
                  <a:srgbClr val="202122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 </a:t>
            </a:r>
            <a:r>
              <a:rPr lang="zh-CN" altLang="en-US" sz="1600" dirty="0">
                <a:solidFill>
                  <a:srgbClr val="202122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和</a:t>
            </a:r>
            <a:r>
              <a:rPr lang="en" altLang="zh-CN" sz="1600" dirty="0" err="1">
                <a:solidFill>
                  <a:srgbClr val="202122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F.S.Ross</a:t>
            </a:r>
            <a:r>
              <a:rPr lang="zh-CN" altLang="en-US" sz="1600" dirty="0">
                <a:solidFill>
                  <a:srgbClr val="202122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通过一个苏联铁路的交通流量的简化模型提出的。</a:t>
            </a:r>
            <a:r>
              <a:rPr lang="en-US" altLang="zh-CN" sz="1600" baseline="30000" dirty="0">
                <a:solidFill>
                  <a:srgbClr val="0645AD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hlinkClick r:id="rId4"/>
              </a:rPr>
              <a:t>[1]</a:t>
            </a:r>
            <a:r>
              <a:rPr lang="en-US" altLang="zh-CN" sz="1600" baseline="30000" dirty="0">
                <a:solidFill>
                  <a:srgbClr val="0645AD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hlinkClick r:id="rId5"/>
              </a:rPr>
              <a:t>[2]</a:t>
            </a:r>
            <a:r>
              <a:rPr lang="en-US" altLang="zh-CN" sz="1600" baseline="30000" dirty="0">
                <a:solidFill>
                  <a:srgbClr val="0645AD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hlinkClick r:id="rId6"/>
              </a:rPr>
              <a:t>[3]</a:t>
            </a:r>
            <a:r>
              <a:rPr lang="zh-CN" altLang="en-US" sz="1600" dirty="0">
                <a:solidFill>
                  <a:srgbClr val="202122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 </a:t>
            </a:r>
            <a:r>
              <a:rPr lang="en-US" altLang="zh-CN" sz="1600" dirty="0">
                <a:solidFill>
                  <a:srgbClr val="202122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1955</a:t>
            </a:r>
            <a:r>
              <a:rPr lang="zh-CN" altLang="en-US" sz="1600" dirty="0">
                <a:solidFill>
                  <a:srgbClr val="202122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年，</a:t>
            </a:r>
            <a:r>
              <a:rPr lang="en" altLang="zh-CN" sz="1600" dirty="0">
                <a:solidFill>
                  <a:srgbClr val="202122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L.R. Ford, Jr.</a:t>
            </a:r>
            <a:r>
              <a:rPr lang="zh-CN" altLang="en-US" sz="1600" dirty="0">
                <a:solidFill>
                  <a:srgbClr val="202122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和</a:t>
            </a:r>
            <a:r>
              <a:rPr lang="en" altLang="zh-CN" sz="1600" dirty="0">
                <a:solidFill>
                  <a:srgbClr val="202122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D.R. Fulkerson</a:t>
            </a:r>
            <a:r>
              <a:rPr lang="zh-CN" altLang="en-US" sz="1600" dirty="0">
                <a:solidFill>
                  <a:srgbClr val="202122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创建了第一个已知的算法， </a:t>
            </a:r>
            <a:r>
              <a:rPr lang="en" altLang="zh-CN" sz="1600" dirty="0">
                <a:solidFill>
                  <a:srgbClr val="0645AD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hlinkClick r:id="rId7" tooltip="Ford–Fulkerson算法"/>
              </a:rPr>
              <a:t>Ford–Fulkerson</a:t>
            </a:r>
            <a:r>
              <a:rPr lang="zh-CN" altLang="en-US" sz="1600" dirty="0">
                <a:solidFill>
                  <a:srgbClr val="0645AD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hlinkClick r:id="rId7" tooltip="Ford–Fulkerson算法"/>
              </a:rPr>
              <a:t>算法</a:t>
            </a:r>
            <a:r>
              <a:rPr lang="zh-CN" altLang="en-US" sz="1600" dirty="0">
                <a:solidFill>
                  <a:srgbClr val="202122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。</a:t>
            </a:r>
            <a:r>
              <a:rPr lang="en-US" altLang="zh-CN" sz="1600" baseline="30000" dirty="0">
                <a:solidFill>
                  <a:srgbClr val="0645AD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hlinkClick r:id="rId8"/>
              </a:rPr>
              <a:t>[4]</a:t>
            </a:r>
            <a:r>
              <a:rPr lang="en-US" altLang="zh-CN" sz="1600" baseline="30000" dirty="0">
                <a:solidFill>
                  <a:srgbClr val="0645AD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hlinkClick r:id="rId9"/>
              </a:rPr>
              <a:t>[5]</a:t>
            </a:r>
            <a:endParaRPr lang="zh-CN" altLang="en-US" sz="1600" dirty="0">
              <a:solidFill>
                <a:srgbClr val="202122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42A84FE-87A4-6538-0429-88CBA93E5B1E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89B89C9-34E3-74E1-AFFC-BE42A2ABD2F6}"/>
              </a:ext>
            </a:extLst>
          </p:cNvPr>
          <p:cNvSpPr txBox="1"/>
          <p:nvPr/>
        </p:nvSpPr>
        <p:spPr>
          <a:xfrm>
            <a:off x="380725" y="299408"/>
            <a:ext cx="50114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ea typeface="思源黑体 CN Regular" panose="020B0500000000000000" pitchFamily="34" charset="-122"/>
              </a:rPr>
              <a:t>Soviet Rail Network,1955</a:t>
            </a:r>
            <a:r>
              <a:rPr lang="zh-CN" altLang="en-US" sz="3600" b="1" dirty="0">
                <a:solidFill>
                  <a:schemeClr val="bg1"/>
                </a:solidFill>
                <a:ea typeface="思源黑体 CN Regular" panose="020B0500000000000000" pitchFamily="34" charset="-122"/>
              </a:rPr>
              <a:t> </a:t>
            </a:r>
          </a:p>
        </p:txBody>
      </p:sp>
      <p:sp>
        <p:nvSpPr>
          <p:cNvPr id="6" name="圆角矩形 8">
            <a:extLst>
              <a:ext uri="{FF2B5EF4-FFF2-40B4-BE49-F238E27FC236}">
                <a16:creationId xmlns:a16="http://schemas.microsoft.com/office/drawing/2014/main" id="{DE255E6D-9A95-84E0-EEAA-70720B88CB6A}"/>
              </a:ext>
            </a:extLst>
          </p:cNvPr>
          <p:cNvSpPr/>
          <p:nvPr/>
        </p:nvSpPr>
        <p:spPr>
          <a:xfrm>
            <a:off x="238662" y="311105"/>
            <a:ext cx="5285445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8EF2C3-1673-2BC9-A894-35C7A5BB1CC4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5785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DA1F7D55-AB1C-4453-B5DB-025A9F68E116}"/>
              </a:ext>
            </a:extLst>
          </p:cNvPr>
          <p:cNvSpPr/>
          <p:nvPr/>
        </p:nvSpPr>
        <p:spPr>
          <a:xfrm>
            <a:off x="0" y="485479"/>
            <a:ext cx="12192000" cy="7392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3B75F44-3E88-F544-9600-161F53479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314" y="512404"/>
            <a:ext cx="8461375" cy="619493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D9AE3D9-C200-365C-443E-F48B101E3D94}"/>
              </a:ext>
            </a:extLst>
          </p:cNvPr>
          <p:cNvSpPr txBox="1"/>
          <p:nvPr/>
        </p:nvSpPr>
        <p:spPr>
          <a:xfrm>
            <a:off x="9082027" y="189239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9DCC0719-412D-3BAF-3FAE-AB6E5E7657D0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7573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2B812BAA-0A74-9090-0A12-3877DB19A5BD}"/>
              </a:ext>
            </a:extLst>
          </p:cNvPr>
          <p:cNvSpPr/>
          <p:nvPr/>
        </p:nvSpPr>
        <p:spPr>
          <a:xfrm>
            <a:off x="0" y="485479"/>
            <a:ext cx="12192000" cy="7392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内容占位符 5" descr="图形用户界面, 文本, 应用程序, 电子邮件&#10;&#10;描述已自动生成">
            <a:extLst>
              <a:ext uri="{FF2B5EF4-FFF2-40B4-BE49-F238E27FC236}">
                <a16:creationId xmlns:a16="http://schemas.microsoft.com/office/drawing/2014/main" id="{0DB72E70-4755-9941-8EE1-C0FACBC710A1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/>
          <a:stretch>
            <a:fillRect/>
          </a:stretch>
        </p:blipFill>
        <p:spPr>
          <a:xfrm>
            <a:off x="2177592" y="500026"/>
            <a:ext cx="8107051" cy="620224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0749D99-34E4-7384-057F-F0C3D188BE26}"/>
              </a:ext>
            </a:extLst>
          </p:cNvPr>
          <p:cNvSpPr txBox="1"/>
          <p:nvPr/>
        </p:nvSpPr>
        <p:spPr>
          <a:xfrm>
            <a:off x="9082027" y="189239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135AAD-8A69-E959-DB5F-FAE6B4F5A312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8303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3C6EEB4-E665-5141-68C6-E8D9F980139C}"/>
              </a:ext>
            </a:extLst>
          </p:cNvPr>
          <p:cNvSpPr/>
          <p:nvPr/>
        </p:nvSpPr>
        <p:spPr>
          <a:xfrm>
            <a:off x="0" y="485479"/>
            <a:ext cx="12192000" cy="7392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内容占位符 5" descr="图形用户界面, 文本, 应用程序, 电子邮件&#10;&#10;描述已自动生成">
            <a:extLst>
              <a:ext uri="{FF2B5EF4-FFF2-40B4-BE49-F238E27FC236}">
                <a16:creationId xmlns:a16="http://schemas.microsoft.com/office/drawing/2014/main" id="{A8B39E53-872F-5042-AA5C-F33EC3BA925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/>
          <a:stretch>
            <a:fillRect/>
          </a:stretch>
        </p:blipFill>
        <p:spPr>
          <a:xfrm>
            <a:off x="1293880" y="512404"/>
            <a:ext cx="9604240" cy="601404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624C393-E5CB-523F-A034-ADBE674DBB54}"/>
              </a:ext>
            </a:extLst>
          </p:cNvPr>
          <p:cNvSpPr txBox="1"/>
          <p:nvPr/>
        </p:nvSpPr>
        <p:spPr>
          <a:xfrm>
            <a:off x="9082027" y="189239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7123FE-9C62-0EFC-113E-C2EB1900F55A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769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2DD95A-556F-4763-9DA3-1EA0BC9072D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885361" y="1363352"/>
            <a:ext cx="8757501" cy="508000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最大流问题是一类应用极为广泛的问题，例如在交通运输网络中有人流、车流、货物流，供水网络中有水流，金融系统中有现金流，通讯系统中有信息流，等等。</a:t>
            </a:r>
          </a:p>
          <a:p>
            <a:endParaRPr lang="zh-CN" altLang="en-US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网络流理论：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50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年代福特（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Ford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）、富克逊（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Fulkerson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）建立，是网络应用的重要组成部分。</a:t>
            </a: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lvl="1"/>
            <a:r>
              <a:rPr lang="zh-CN" altLang="en-US" sz="20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美国希望计算苏联通过铁路网络从东欧获取资源的速度（最大流）</a:t>
            </a:r>
            <a:endParaRPr lang="en-US" altLang="zh-CN" sz="20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lvl="1"/>
            <a:r>
              <a:rPr lang="zh-CN" altLang="en-US" sz="20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也希望计算通过摧毁部分铁路，使苏联铁路网络瘫痪的方法（最小割）</a:t>
            </a:r>
            <a:endParaRPr lang="en-US" altLang="zh-CN" sz="20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lvl="1"/>
            <a:r>
              <a:rPr lang="zh-CN" altLang="en-US" sz="20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两个问题对等</a:t>
            </a:r>
          </a:p>
          <a:p>
            <a:endParaRPr lang="zh-CN" altLang="en-US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网络流理论基本概念</a:t>
            </a:r>
          </a:p>
          <a:p>
            <a:endParaRPr lang="zh-CN" altLang="en-US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4E59458-E43F-983A-4750-E6C5FA4DE963}"/>
              </a:ext>
            </a:extLst>
          </p:cNvPr>
          <p:cNvSpPr txBox="1"/>
          <p:nvPr/>
        </p:nvSpPr>
        <p:spPr>
          <a:xfrm>
            <a:off x="380724" y="299408"/>
            <a:ext cx="26075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最大流问题</a:t>
            </a:r>
          </a:p>
        </p:txBody>
      </p:sp>
      <p:sp>
        <p:nvSpPr>
          <p:cNvPr id="5" name="圆角矩形 8">
            <a:extLst>
              <a:ext uri="{FF2B5EF4-FFF2-40B4-BE49-F238E27FC236}">
                <a16:creationId xmlns:a16="http://schemas.microsoft.com/office/drawing/2014/main" id="{2D44D0BA-4D3D-BF62-6062-DEEE880DBCCE}"/>
              </a:ext>
            </a:extLst>
          </p:cNvPr>
          <p:cNvSpPr/>
          <p:nvPr/>
        </p:nvSpPr>
        <p:spPr>
          <a:xfrm>
            <a:off x="238662" y="311105"/>
            <a:ext cx="2749635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D385FF9-8DC4-EDF6-748C-12FB8F5D5566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1521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E53B3A-A92C-4975-8FC2-0BE6080BF95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687349" y="1163010"/>
            <a:ext cx="9380326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Nova" panose="020F0502020204030204" pitchFamily="34" charset="0"/>
              </a:rPr>
              <a:t>一个</a:t>
            </a:r>
            <a:r>
              <a:rPr lang="zh-CN" altLang="en-US" sz="2400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Nova" panose="020F0502020204030204" pitchFamily="34" charset="0"/>
              </a:rPr>
              <a:t>流网络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Nova" panose="020F0502020204030204" pitchFamily="34" charset="0"/>
              </a:rPr>
              <a:t>是具备下述特征的有向图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Nova" panose="020F0502020204030204" pitchFamily="34" charset="0"/>
              </a:rPr>
              <a:t>G = (V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Nova" panose="020F0502020204030204" pitchFamily="34" charset="0"/>
              </a:rPr>
              <a:t>，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Nova" panose="020F0502020204030204" pitchFamily="34" charset="0"/>
              </a:rPr>
              <a:t>E)</a:t>
            </a:r>
          </a:p>
          <a:p>
            <a:pPr lvl="1"/>
            <a:r>
              <a:rPr lang="zh-CN" altLang="en-US" sz="20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Nova" panose="020F0502020204030204" pitchFamily="34" charset="0"/>
              </a:rPr>
              <a:t>每条边</a:t>
            </a:r>
            <a:r>
              <a:rPr lang="en-US" altLang="zh-CN" sz="20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Nova" panose="020F0502020204030204" pitchFamily="34" charset="0"/>
              </a:rPr>
              <a:t>(u</a:t>
            </a:r>
            <a:r>
              <a:rPr lang="zh-CN" altLang="en-US" sz="20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Nova" panose="020F0502020204030204" pitchFamily="34" charset="0"/>
              </a:rPr>
              <a:t>，</a:t>
            </a:r>
            <a:r>
              <a:rPr lang="en-US" altLang="zh-CN" sz="20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Nova" panose="020F0502020204030204" pitchFamily="34" charset="0"/>
              </a:rPr>
              <a:t>v)</a:t>
            </a:r>
            <a:r>
              <a:rPr lang="zh-CN" altLang="en-US" sz="20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Nova" panose="020F0502020204030204" pitchFamily="34" charset="0"/>
              </a:rPr>
              <a:t>有一个</a:t>
            </a:r>
            <a:r>
              <a:rPr lang="zh-CN" altLang="en-US" sz="20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Nova" panose="020F0502020204030204" pitchFamily="34" charset="0"/>
              </a:rPr>
              <a:t>非负容量</a:t>
            </a:r>
            <a:r>
              <a:rPr lang="en-US" altLang="zh-CN" sz="20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Nova" panose="020F0502020204030204" pitchFamily="34" charset="0"/>
              </a:rPr>
              <a:t>(capacity) c(u</a:t>
            </a:r>
            <a:r>
              <a:rPr lang="zh-CN" altLang="en-US" sz="20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Nova" panose="020F0502020204030204" pitchFamily="34" charset="0"/>
              </a:rPr>
              <a:t>，</a:t>
            </a:r>
            <a:r>
              <a:rPr lang="en-US" altLang="zh-CN" sz="20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Nova" panose="020F0502020204030204" pitchFamily="34" charset="0"/>
              </a:rPr>
              <a:t>v)≥ 0</a:t>
            </a:r>
            <a:r>
              <a:rPr lang="zh-CN" altLang="en-US" sz="20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Nova" panose="020F0502020204030204" pitchFamily="34" charset="0"/>
              </a:rPr>
              <a:t>，对于不在</a:t>
            </a:r>
            <a:r>
              <a:rPr lang="en-US" altLang="zh-CN" sz="20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Nova" panose="020F0502020204030204" pitchFamily="34" charset="0"/>
              </a:rPr>
              <a:t>E</a:t>
            </a:r>
            <a:r>
              <a:rPr lang="zh-CN" altLang="en-US" sz="20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Nova" panose="020F0502020204030204" pitchFamily="34" charset="0"/>
              </a:rPr>
              <a:t>中的</a:t>
            </a:r>
            <a:r>
              <a:rPr lang="en-US" altLang="zh-CN" sz="20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Nova" panose="020F0502020204030204" pitchFamily="34" charset="0"/>
              </a:rPr>
              <a:t>(</a:t>
            </a:r>
            <a:r>
              <a:rPr lang="en-US" altLang="zh-CN" sz="2000" dirty="0" err="1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Nova" panose="020F0502020204030204" pitchFamily="34" charset="0"/>
              </a:rPr>
              <a:t>u,v</a:t>
            </a:r>
            <a:r>
              <a:rPr lang="en-US" altLang="zh-CN" sz="20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Nova" panose="020F0502020204030204" pitchFamily="34" charset="0"/>
              </a:rPr>
              <a:t>)</a:t>
            </a:r>
            <a:r>
              <a:rPr lang="zh-CN" altLang="en-US" sz="20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Nova" panose="020F0502020204030204" pitchFamily="34" charset="0"/>
              </a:rPr>
              <a:t>，规定</a:t>
            </a:r>
            <a:r>
              <a:rPr lang="en-US" altLang="zh-CN" sz="20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Nova" panose="020F0502020204030204" pitchFamily="34" charset="0"/>
              </a:rPr>
              <a:t>c(</a:t>
            </a:r>
            <a:r>
              <a:rPr lang="en-US" altLang="zh-CN" sz="2000" dirty="0" err="1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Nova" panose="020F0502020204030204" pitchFamily="34" charset="0"/>
              </a:rPr>
              <a:t>u,v</a:t>
            </a:r>
            <a:r>
              <a:rPr lang="en-US" altLang="zh-CN" sz="20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Nova" panose="020F0502020204030204" pitchFamily="34" charset="0"/>
              </a:rPr>
              <a:t>) = 0</a:t>
            </a:r>
            <a:r>
              <a:rPr lang="zh-CN" altLang="en-US" sz="20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Nova" panose="020F0502020204030204" pitchFamily="34" charset="0"/>
              </a:rPr>
              <a:t>。</a:t>
            </a:r>
          </a:p>
          <a:p>
            <a:pPr lvl="1"/>
            <a:r>
              <a:rPr lang="zh-CN" altLang="en-US" sz="20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Nova" panose="020F0502020204030204" pitchFamily="34" charset="0"/>
              </a:rPr>
              <a:t>存在单一源点 </a:t>
            </a:r>
            <a:r>
              <a:rPr lang="en-US" altLang="zh-CN" sz="20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Nova" panose="020F0502020204030204" pitchFamily="34" charset="0"/>
              </a:rPr>
              <a:t>s ∊ V</a:t>
            </a:r>
          </a:p>
          <a:p>
            <a:pPr lvl="1"/>
            <a:r>
              <a:rPr lang="zh-CN" altLang="en-US" sz="20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Nova" panose="020F0502020204030204" pitchFamily="34" charset="0"/>
              </a:rPr>
              <a:t>存在单一汇点 </a:t>
            </a:r>
            <a:r>
              <a:rPr lang="en-US" altLang="zh-CN" sz="20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Nova" panose="020F0502020204030204" pitchFamily="34" charset="0"/>
              </a:rPr>
              <a:t>t ∊ V</a:t>
            </a:r>
          </a:p>
          <a:p>
            <a:pPr lvl="1"/>
            <a:r>
              <a:rPr lang="zh-CN" altLang="en-US" sz="20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Nova" panose="020F0502020204030204" pitchFamily="34" charset="0"/>
              </a:rPr>
              <a:t>除</a:t>
            </a:r>
            <a:r>
              <a:rPr lang="en-US" altLang="zh-CN" sz="20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Nova" panose="020F0502020204030204" pitchFamily="34" charset="0"/>
              </a:rPr>
              <a:t>s</a:t>
            </a:r>
            <a:r>
              <a:rPr lang="zh-CN" altLang="en-US" sz="20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Nova" panose="020F0502020204030204" pitchFamily="34" charset="0"/>
              </a:rPr>
              <a:t>、</a:t>
            </a:r>
            <a:r>
              <a:rPr lang="en-US" altLang="zh-CN" sz="20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Nova" panose="020F0502020204030204" pitchFamily="34" charset="0"/>
              </a:rPr>
              <a:t>t </a:t>
            </a:r>
            <a:r>
              <a:rPr lang="zh-CN" altLang="en-US" sz="20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Nova" panose="020F0502020204030204" pitchFamily="34" charset="0"/>
              </a:rPr>
              <a:t>之外的其他结点称为内部结点。 </a:t>
            </a:r>
          </a:p>
          <a:p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Nova" panose="020F0502020204030204" pitchFamily="34" charset="0"/>
              </a:rPr>
              <a:t>三点假设：</a:t>
            </a:r>
          </a:p>
          <a:p>
            <a:pPr lvl="1"/>
            <a:r>
              <a:rPr lang="zh-CN" altLang="en-US" sz="20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Nova" panose="020F0502020204030204" pitchFamily="34" charset="0"/>
              </a:rPr>
              <a:t>没有边进入源点</a:t>
            </a:r>
            <a:r>
              <a:rPr lang="en-US" altLang="zh-CN" sz="20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Nova" panose="020F0502020204030204" pitchFamily="34" charset="0"/>
              </a:rPr>
              <a:t>(source)</a:t>
            </a:r>
            <a:r>
              <a:rPr lang="zh-CN" altLang="en-US" sz="20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Nova" panose="020F0502020204030204" pitchFamily="34" charset="0"/>
              </a:rPr>
              <a:t>，没有边离开汇点</a:t>
            </a:r>
            <a:r>
              <a:rPr lang="en-US" altLang="zh-CN" sz="20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Nova" panose="020F0502020204030204" pitchFamily="34" charset="0"/>
              </a:rPr>
              <a:t>(sink)</a:t>
            </a:r>
          </a:p>
          <a:p>
            <a:pPr lvl="1"/>
            <a:r>
              <a:rPr lang="zh-CN" altLang="en-US" sz="20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Nova" panose="020F0502020204030204" pitchFamily="34" charset="0"/>
              </a:rPr>
              <a:t>每个结点至少存在一条边与之相连，</a:t>
            </a:r>
            <a:r>
              <a:rPr lang="en-US" altLang="zh-CN" sz="20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Nova" panose="020F0502020204030204" pitchFamily="34" charset="0"/>
              </a:rPr>
              <a:t>G</a:t>
            </a:r>
            <a:r>
              <a:rPr lang="zh-CN" altLang="en-US" sz="20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Nova" panose="020F0502020204030204" pitchFamily="34" charset="0"/>
              </a:rPr>
              <a:t>为连通图，且</a:t>
            </a:r>
            <a:r>
              <a:rPr lang="en-US" altLang="zh-CN" sz="20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Nova" panose="020F0502020204030204" pitchFamily="34" charset="0"/>
              </a:rPr>
              <a:t>|E|≥|V|-1</a:t>
            </a:r>
            <a:r>
              <a:rPr lang="zh-CN" altLang="en-US" sz="20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Nova" panose="020F0502020204030204" pitchFamily="34" charset="0"/>
              </a:rPr>
              <a:t>。</a:t>
            </a:r>
          </a:p>
          <a:p>
            <a:pPr lvl="1"/>
            <a:r>
              <a:rPr lang="zh-CN" altLang="en-US" sz="20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Nova" panose="020F0502020204030204" pitchFamily="34" charset="0"/>
              </a:rPr>
              <a:t>所有的容量都是整数</a:t>
            </a:r>
          </a:p>
        </p:txBody>
      </p:sp>
      <p:grpSp>
        <p:nvGrpSpPr>
          <p:cNvPr id="4" name="Group 6">
            <a:extLst>
              <a:ext uri="{FF2B5EF4-FFF2-40B4-BE49-F238E27FC236}">
                <a16:creationId xmlns:a16="http://schemas.microsoft.com/office/drawing/2014/main" id="{D4FA2E51-9799-469B-A28B-A78DFAE79E3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896139" y="4579628"/>
            <a:ext cx="4608512" cy="1948434"/>
            <a:chOff x="1056" y="2732"/>
            <a:chExt cx="3756" cy="1588"/>
          </a:xfrm>
        </p:grpSpPr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1136A071-590D-4BD1-A5B7-7E262C405575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056" y="2732"/>
              <a:ext cx="3756" cy="1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6" name="Picture 7">
              <a:extLst>
                <a:ext uri="{FF2B5EF4-FFF2-40B4-BE49-F238E27FC236}">
                  <a16:creationId xmlns:a16="http://schemas.microsoft.com/office/drawing/2014/main" id="{1169A3E2-FBB8-4A83-8BF5-8EECCE97E4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6" y="2732"/>
              <a:ext cx="3756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8">
              <a:extLst>
                <a:ext uri="{FF2B5EF4-FFF2-40B4-BE49-F238E27FC236}">
                  <a16:creationId xmlns:a16="http://schemas.microsoft.com/office/drawing/2014/main" id="{01BACDA1-494E-489F-BB8C-B9724005F9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6" y="3095"/>
              <a:ext cx="3756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9">
              <a:extLst>
                <a:ext uri="{FF2B5EF4-FFF2-40B4-BE49-F238E27FC236}">
                  <a16:creationId xmlns:a16="http://schemas.microsoft.com/office/drawing/2014/main" id="{2C17E22A-5C05-4854-837B-1024788EF1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6" y="3457"/>
              <a:ext cx="3756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10">
              <a:extLst>
                <a:ext uri="{FF2B5EF4-FFF2-40B4-BE49-F238E27FC236}">
                  <a16:creationId xmlns:a16="http://schemas.microsoft.com/office/drawing/2014/main" id="{EC4C9643-C498-426D-B8E4-25C05C7B59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6" y="3820"/>
              <a:ext cx="3756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11">
              <a:extLst>
                <a:ext uri="{FF2B5EF4-FFF2-40B4-BE49-F238E27FC236}">
                  <a16:creationId xmlns:a16="http://schemas.microsoft.com/office/drawing/2014/main" id="{497E44AC-38A2-4ACA-90D6-F0AFBF7643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6" y="4183"/>
              <a:ext cx="3756" cy="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5193F63D-A49F-B48B-8A01-C7C3C428E32F}"/>
              </a:ext>
            </a:extLst>
          </p:cNvPr>
          <p:cNvSpPr txBox="1"/>
          <p:nvPr/>
        </p:nvSpPr>
        <p:spPr>
          <a:xfrm>
            <a:off x="380724" y="299408"/>
            <a:ext cx="20702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基本概念</a:t>
            </a:r>
          </a:p>
        </p:txBody>
      </p:sp>
      <p:sp>
        <p:nvSpPr>
          <p:cNvPr id="12" name="圆角矩形 8">
            <a:extLst>
              <a:ext uri="{FF2B5EF4-FFF2-40B4-BE49-F238E27FC236}">
                <a16:creationId xmlns:a16="http://schemas.microsoft.com/office/drawing/2014/main" id="{D422877A-CC2E-6B95-21D6-9AF6555FD7BA}"/>
              </a:ext>
            </a:extLst>
          </p:cNvPr>
          <p:cNvSpPr/>
          <p:nvPr/>
        </p:nvSpPr>
        <p:spPr>
          <a:xfrm>
            <a:off x="238663" y="311105"/>
            <a:ext cx="2297148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7B775D7A-9A26-92CA-9F44-AED26166B9E1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4AE5121-8814-8621-CAA5-E33EF320B867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1209372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635288" y="1481163"/>
            <a:ext cx="9233603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流</a:t>
            </a: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：一个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s-t </a:t>
            </a: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流是一个实值函数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f</a:t>
            </a: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，它把每条边映射到一个实数，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f: </a:t>
            </a:r>
            <a:r>
              <a:rPr lang="en-US" altLang="zh-CN" dirty="0" err="1"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VxV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 →R,</a:t>
            </a: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满足三个性质：</a:t>
            </a:r>
          </a:p>
          <a:p>
            <a:pPr lvl="1" eaLnBrk="1" hangingPunct="1">
              <a:defRPr/>
            </a:pPr>
            <a:r>
              <a:rPr lang="zh-CN" altLang="en-US" sz="26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容量限制</a:t>
            </a:r>
            <a:r>
              <a:rPr lang="zh-CN" altLang="en-US" sz="26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：对所有 </a:t>
            </a:r>
            <a:r>
              <a:rPr lang="en-US" altLang="zh-CN" sz="2600" dirty="0" err="1"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u,v</a:t>
            </a:r>
            <a:r>
              <a:rPr lang="en-US" altLang="zh-CN" sz="26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 ∊ V,</a:t>
            </a:r>
            <a:r>
              <a:rPr lang="zh-CN" altLang="en-US" sz="26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要求</a:t>
            </a:r>
            <a:r>
              <a:rPr lang="en-US" altLang="zh-CN" sz="26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f(</a:t>
            </a:r>
            <a:r>
              <a:rPr lang="en-US" altLang="zh-CN" sz="2600" dirty="0" err="1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u,v</a:t>
            </a:r>
            <a:r>
              <a:rPr lang="en-US" altLang="zh-CN" sz="26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)≤c(</a:t>
            </a:r>
            <a:r>
              <a:rPr lang="en-US" altLang="zh-CN" sz="2600" dirty="0" err="1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u,v</a:t>
            </a:r>
            <a:r>
              <a:rPr lang="en-US" altLang="zh-CN" sz="26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)</a:t>
            </a:r>
            <a:endParaRPr lang="zh-CN" altLang="en-US" sz="2600" dirty="0">
              <a:solidFill>
                <a:srgbClr val="00B05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Times New Roman" panose="02020603050405020304" pitchFamily="18" charset="0"/>
            </a:endParaRPr>
          </a:p>
          <a:p>
            <a:pPr lvl="1" eaLnBrk="1" hangingPunct="1">
              <a:defRPr/>
            </a:pPr>
            <a:r>
              <a:rPr lang="zh-CN" altLang="en-US" sz="26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反对称性</a:t>
            </a:r>
            <a:r>
              <a:rPr lang="zh-CN" altLang="en-US" sz="26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：对所有 </a:t>
            </a:r>
            <a:r>
              <a:rPr lang="en-US" altLang="zh-CN" sz="2600" dirty="0" err="1"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u,v</a:t>
            </a:r>
            <a:r>
              <a:rPr lang="en-US" altLang="zh-CN" sz="26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 ∊ V,</a:t>
            </a:r>
            <a:r>
              <a:rPr lang="zh-CN" altLang="en-US" sz="26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要求</a:t>
            </a:r>
            <a:r>
              <a:rPr lang="en-US" altLang="zh-CN" sz="26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f(</a:t>
            </a:r>
            <a:r>
              <a:rPr lang="en-US" altLang="zh-CN" sz="2600" dirty="0" err="1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u,v</a:t>
            </a:r>
            <a:r>
              <a:rPr lang="en-US" altLang="zh-CN" sz="26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)= -f(</a:t>
            </a:r>
            <a:r>
              <a:rPr lang="en-US" altLang="zh-CN" sz="2600" dirty="0" err="1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v,u</a:t>
            </a:r>
            <a:r>
              <a:rPr lang="en-US" altLang="zh-CN" sz="26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)</a:t>
            </a:r>
            <a:endParaRPr lang="zh-CN" altLang="en-US" sz="2600" dirty="0">
              <a:solidFill>
                <a:srgbClr val="00B05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Times New Roman" panose="02020603050405020304" pitchFamily="18" charset="0"/>
            </a:endParaRPr>
          </a:p>
          <a:p>
            <a:pPr lvl="1" eaLnBrk="1" hangingPunct="1">
              <a:defRPr/>
            </a:pPr>
            <a:r>
              <a:rPr lang="zh-CN" altLang="en-US" sz="26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流守恒性</a:t>
            </a:r>
            <a:r>
              <a:rPr lang="zh-CN" altLang="en-US" sz="26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：对于所有</a:t>
            </a:r>
            <a:r>
              <a:rPr lang="en-US" altLang="zh-CN" sz="26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u ∊ V-{s,</a:t>
            </a:r>
            <a:r>
              <a:rPr lang="zh-CN" altLang="en-US" sz="26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6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t}</a:t>
            </a:r>
            <a:r>
              <a:rPr lang="zh-CN" altLang="en-US" sz="26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26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要求</a:t>
            </a:r>
            <a:r>
              <a:rPr lang="zh-CN" altLang="en-US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       </a:t>
            </a:r>
            <a:r>
              <a:rPr lang="zh-CN" altLang="en-US" sz="26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   ∑ </a:t>
            </a:r>
            <a:r>
              <a:rPr lang="en-US" altLang="zh-CN" sz="26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f(u, v)=0</a:t>
            </a:r>
          </a:p>
          <a:p>
            <a:pPr lvl="1" eaLnBrk="1" hangingPunct="1">
              <a:defRPr/>
            </a:pPr>
            <a:endParaRPr lang="en-US" altLang="zh-CN" sz="2600" dirty="0">
              <a:latin typeface="思源黑体 CN Normal" panose="020B0400000000000000" pitchFamily="34" charset="-122"/>
              <a:ea typeface="思源黑体 CN Normal" panose="020B0400000000000000" pitchFamily="34" charset="-122"/>
              <a:cs typeface="Times New Roman" panose="02020603050405020304" pitchFamily="18" charset="0"/>
            </a:endParaRPr>
          </a:p>
          <a:p>
            <a:pPr marL="438150" lvl="1">
              <a:buNone/>
              <a:defRPr/>
            </a:pPr>
            <a:r>
              <a:rPr lang="zh-CN" altLang="en-US" sz="3000" b="1" dirty="0">
                <a:solidFill>
                  <a:srgbClr val="3333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     </a:t>
            </a:r>
            <a:r>
              <a:rPr lang="en-US" altLang="zh-CN" sz="26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f(u, v)</a:t>
            </a:r>
            <a:r>
              <a:rPr lang="zh-CN" altLang="en-US" sz="26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称为从顶点</a:t>
            </a:r>
            <a:r>
              <a:rPr lang="en-US" altLang="zh-CN" sz="26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u</a:t>
            </a:r>
            <a:r>
              <a:rPr lang="zh-CN" altLang="en-US" sz="26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到顶点</a:t>
            </a:r>
            <a:r>
              <a:rPr lang="en-US" altLang="zh-CN" sz="26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v</a:t>
            </a:r>
            <a:r>
              <a:rPr lang="zh-CN" altLang="en-US" sz="26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的流，它可以为</a:t>
            </a:r>
            <a:r>
              <a:rPr lang="en-US" altLang="zh-CN" sz="26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+,0,-</a:t>
            </a:r>
            <a:r>
              <a:rPr lang="zh-CN" altLang="en-US" sz="26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。</a:t>
            </a:r>
            <a:endParaRPr lang="en-US" altLang="zh-CN" sz="2600" dirty="0">
              <a:latin typeface="思源黑体 CN Normal" panose="020B0400000000000000" pitchFamily="34" charset="-122"/>
              <a:ea typeface="思源黑体 CN Normal" panose="020B0400000000000000" pitchFamily="34" charset="-122"/>
              <a:cs typeface="Times New Roman" panose="02020603050405020304" pitchFamily="18" charset="0"/>
            </a:endParaRPr>
          </a:p>
          <a:p>
            <a:pPr marL="438150" lvl="1">
              <a:buNone/>
              <a:defRPr/>
            </a:pPr>
            <a:endParaRPr lang="en-US" altLang="zh-CN" sz="2600" b="1" dirty="0">
              <a:solidFill>
                <a:srgbClr val="3333FF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Times New Roman" panose="02020603050405020304" pitchFamily="18" charset="0"/>
            </a:endParaRPr>
          </a:p>
          <a:p>
            <a:pPr marL="438150" lvl="1">
              <a:buNone/>
              <a:defRPr/>
            </a:pPr>
            <a:r>
              <a:rPr lang="zh-CN" altLang="en-US" sz="3000" b="1" dirty="0">
                <a:solidFill>
                  <a:srgbClr val="3333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从非源点或非汇点的顶点出发的总网络流为零</a:t>
            </a:r>
          </a:p>
        </p:txBody>
      </p:sp>
      <p:sp>
        <p:nvSpPr>
          <p:cNvPr id="5" name="矩形标注 4"/>
          <p:cNvSpPr/>
          <p:nvPr/>
        </p:nvSpPr>
        <p:spPr>
          <a:xfrm>
            <a:off x="7761931" y="3243791"/>
            <a:ext cx="1447800" cy="523372"/>
          </a:xfrm>
          <a:prstGeom prst="wedgeRectCallou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altLang="zh-CN" sz="2800" b="1" dirty="0">
                <a:solidFill>
                  <a:srgbClr val="00B050"/>
                </a:solidFill>
              </a:rPr>
              <a:t>v </a:t>
            </a:r>
            <a:r>
              <a:rPr lang="de-DE" altLang="zh-CN" sz="2800" b="1" dirty="0">
                <a:solidFill>
                  <a:srgbClr val="00B050"/>
                </a:solidFill>
                <a:sym typeface="Symbol"/>
              </a:rPr>
              <a:t></a:t>
            </a:r>
            <a:r>
              <a:rPr lang="de-DE" altLang="zh-CN" sz="2800" b="1" dirty="0">
                <a:solidFill>
                  <a:srgbClr val="00B050"/>
                </a:solidFill>
              </a:rPr>
              <a:t> V </a:t>
            </a:r>
            <a:endParaRPr lang="zh-CN" altLang="zh-CN" sz="2800" dirty="0">
              <a:solidFill>
                <a:srgbClr val="00B050"/>
              </a:solidFill>
            </a:endParaRPr>
          </a:p>
          <a:p>
            <a:pPr algn="ctr">
              <a:defRPr/>
            </a:pP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001E9A6-3FCA-EB77-D7FA-0E7A36209066}"/>
              </a:ext>
            </a:extLst>
          </p:cNvPr>
          <p:cNvSpPr txBox="1"/>
          <p:nvPr/>
        </p:nvSpPr>
        <p:spPr>
          <a:xfrm>
            <a:off x="380724" y="299408"/>
            <a:ext cx="20702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流的定义</a:t>
            </a:r>
          </a:p>
        </p:txBody>
      </p:sp>
      <p:sp>
        <p:nvSpPr>
          <p:cNvPr id="3" name="圆角矩形 8">
            <a:extLst>
              <a:ext uri="{FF2B5EF4-FFF2-40B4-BE49-F238E27FC236}">
                <a16:creationId xmlns:a16="http://schemas.microsoft.com/office/drawing/2014/main" id="{9299B804-65AE-9AEA-FAAC-7F5CBCD64027}"/>
              </a:ext>
            </a:extLst>
          </p:cNvPr>
          <p:cNvSpPr/>
          <p:nvPr/>
        </p:nvSpPr>
        <p:spPr>
          <a:xfrm>
            <a:off x="238663" y="311105"/>
            <a:ext cx="2297148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18CFF67-727E-9EFB-5D46-4EA65A669DE8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0440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115" name="Rectangle 3">
            <a:extLst>
              <a:ext uri="{FF2B5EF4-FFF2-40B4-BE49-F238E27FC236}">
                <a16:creationId xmlns:a16="http://schemas.microsoft.com/office/drawing/2014/main" id="{53D35C60-B9F4-4257-95CF-E1FF676E0CE9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2924175" y="4159308"/>
            <a:ext cx="7772400" cy="22098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r>
              <a:rPr lang="en-US" altLang="zh-CN" dirty="0"/>
              <a:t>f(v</a:t>
            </a:r>
            <a:r>
              <a:rPr lang="en-US" altLang="zh-CN" baseline="-25000" dirty="0"/>
              <a:t>2</a:t>
            </a:r>
            <a:r>
              <a:rPr lang="en-US" altLang="zh-CN" dirty="0"/>
              <a:t>, v</a:t>
            </a:r>
            <a:r>
              <a:rPr lang="en-US" altLang="zh-CN" baseline="-25000" dirty="0"/>
              <a:t>1</a:t>
            </a:r>
            <a:r>
              <a:rPr lang="en-US" altLang="zh-CN" dirty="0"/>
              <a:t>) = 1, c(v</a:t>
            </a:r>
            <a:r>
              <a:rPr lang="en-US" altLang="zh-CN" baseline="-25000" dirty="0"/>
              <a:t>2</a:t>
            </a:r>
            <a:r>
              <a:rPr lang="en-US" altLang="zh-CN" dirty="0"/>
              <a:t>, v</a:t>
            </a:r>
            <a:r>
              <a:rPr lang="en-US" altLang="zh-CN" baseline="-25000" dirty="0"/>
              <a:t>1</a:t>
            </a:r>
            <a:r>
              <a:rPr lang="en-US" altLang="zh-CN" dirty="0"/>
              <a:t>) = 4.</a:t>
            </a:r>
          </a:p>
          <a:p>
            <a:r>
              <a:rPr lang="en-US" altLang="zh-CN" dirty="0"/>
              <a:t>f(v</a:t>
            </a:r>
            <a:r>
              <a:rPr lang="en-US" altLang="zh-CN" baseline="-25000" dirty="0"/>
              <a:t>1</a:t>
            </a:r>
            <a:r>
              <a:rPr lang="en-US" altLang="zh-CN" dirty="0"/>
              <a:t>, v</a:t>
            </a:r>
            <a:r>
              <a:rPr lang="en-US" altLang="zh-CN" baseline="-25000" dirty="0"/>
              <a:t>2</a:t>
            </a:r>
            <a:r>
              <a:rPr lang="en-US" altLang="zh-CN" dirty="0"/>
              <a:t>) = -1, c(v</a:t>
            </a:r>
            <a:r>
              <a:rPr lang="en-US" altLang="zh-CN" baseline="-25000" dirty="0"/>
              <a:t>1</a:t>
            </a:r>
            <a:r>
              <a:rPr lang="en-US" altLang="zh-CN" dirty="0"/>
              <a:t>, v</a:t>
            </a:r>
            <a:r>
              <a:rPr lang="en-US" altLang="zh-CN" baseline="-25000" dirty="0"/>
              <a:t>2</a:t>
            </a:r>
            <a:r>
              <a:rPr lang="en-US" altLang="zh-CN" dirty="0"/>
              <a:t>) = 10.</a:t>
            </a:r>
          </a:p>
          <a:p>
            <a:r>
              <a:rPr lang="en-US" altLang="zh-CN" dirty="0"/>
              <a:t>f(v</a:t>
            </a:r>
            <a:r>
              <a:rPr lang="en-US" altLang="zh-CN" baseline="-25000" dirty="0"/>
              <a:t>3</a:t>
            </a:r>
            <a:r>
              <a:rPr lang="en-US" altLang="zh-CN" dirty="0"/>
              <a:t>, s) + f(v</a:t>
            </a:r>
            <a:r>
              <a:rPr lang="en-US" altLang="zh-CN" baseline="-25000" dirty="0"/>
              <a:t>3</a:t>
            </a:r>
            <a:r>
              <a:rPr lang="en-US" altLang="zh-CN" dirty="0"/>
              <a:t>, v</a:t>
            </a:r>
            <a:r>
              <a:rPr lang="en-US" altLang="zh-CN" baseline="-25000" dirty="0"/>
              <a:t>1</a:t>
            </a:r>
            <a:r>
              <a:rPr lang="en-US" altLang="zh-CN" dirty="0"/>
              <a:t>) + f(v</a:t>
            </a:r>
            <a:r>
              <a:rPr lang="en-US" altLang="zh-CN" baseline="-25000" dirty="0"/>
              <a:t>3</a:t>
            </a:r>
            <a:r>
              <a:rPr lang="en-US" altLang="zh-CN" dirty="0"/>
              <a:t>, v</a:t>
            </a:r>
            <a:r>
              <a:rPr lang="en-US" altLang="zh-CN" baseline="-25000" dirty="0"/>
              <a:t>2</a:t>
            </a:r>
            <a:r>
              <a:rPr lang="en-US" altLang="zh-CN" dirty="0"/>
              <a:t>) + f(v</a:t>
            </a:r>
            <a:r>
              <a:rPr lang="en-US" altLang="zh-CN" baseline="-25000" dirty="0"/>
              <a:t>3</a:t>
            </a:r>
            <a:r>
              <a:rPr lang="en-US" altLang="zh-CN" dirty="0"/>
              <a:t>, v</a:t>
            </a:r>
            <a:r>
              <a:rPr lang="en-US" altLang="zh-CN" baseline="-25000" dirty="0"/>
              <a:t>4</a:t>
            </a:r>
            <a:r>
              <a:rPr lang="en-US" altLang="zh-CN" dirty="0"/>
              <a:t>) + f(v</a:t>
            </a:r>
            <a:r>
              <a:rPr lang="en-US" altLang="zh-CN" baseline="-25000" dirty="0"/>
              <a:t>3</a:t>
            </a:r>
            <a:r>
              <a:rPr lang="en-US" altLang="zh-CN" dirty="0"/>
              <a:t>, t) =</a:t>
            </a:r>
          </a:p>
          <a:p>
            <a:pPr>
              <a:buFontTx/>
              <a:buNone/>
            </a:pPr>
            <a:r>
              <a:rPr lang="en-US" altLang="zh-CN" dirty="0"/>
              <a:t>         0    +    (-12)   +       4   +      (-7)    +    15     =  0</a:t>
            </a:r>
          </a:p>
        </p:txBody>
      </p:sp>
      <p:graphicFrame>
        <p:nvGraphicFramePr>
          <p:cNvPr id="11269" name="Object 2">
            <a:extLst>
              <a:ext uri="{FF2B5EF4-FFF2-40B4-BE49-F238E27FC236}">
                <a16:creationId xmlns:a16="http://schemas.microsoft.com/office/drawing/2014/main" id="{2102269F-EA65-4C65-A754-3666ADA0AA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4492541"/>
              </p:ext>
            </p:extLst>
          </p:nvPr>
        </p:nvGraphicFramePr>
        <p:xfrm>
          <a:off x="3606801" y="1621632"/>
          <a:ext cx="4733925" cy="232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 Publisher Image" r:id="rId3" imgW="3781425" imgH="1857375" progId="PictPub.Image.8">
                  <p:embed/>
                </p:oleObj>
              </mc:Choice>
              <mc:Fallback>
                <p:oleObj name="Picture Publisher Image" r:id="rId3" imgW="3781425" imgH="1857375" progId="PictPub.Image.8">
                  <p:embed/>
                  <p:pic>
                    <p:nvPicPr>
                      <p:cNvPr id="11269" name="Object 2">
                        <a:extLst>
                          <a:ext uri="{FF2B5EF4-FFF2-40B4-BE49-F238E27FC236}">
                            <a16:creationId xmlns:a16="http://schemas.microsoft.com/office/drawing/2014/main" id="{2102269F-EA65-4C65-A754-3666ADA0AA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6801" y="1621632"/>
                        <a:ext cx="4733925" cy="2325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>
            <a:extLst>
              <a:ext uri="{FF2B5EF4-FFF2-40B4-BE49-F238E27FC236}">
                <a16:creationId xmlns:a16="http://schemas.microsoft.com/office/drawing/2014/main" id="{1AB848B3-6895-400F-8083-41A7E65565A8}"/>
              </a:ext>
            </a:extLst>
          </p:cNvPr>
          <p:cNvGrpSpPr>
            <a:grpSpLocks/>
          </p:cNvGrpSpPr>
          <p:nvPr/>
        </p:nvGrpSpPr>
        <p:grpSpPr bwMode="auto">
          <a:xfrm>
            <a:off x="7348537" y="1264443"/>
            <a:ext cx="2033588" cy="852488"/>
            <a:chOff x="2998" y="927"/>
            <a:chExt cx="1281" cy="537"/>
          </a:xfrm>
        </p:grpSpPr>
        <p:sp>
          <p:nvSpPr>
            <p:cNvPr id="11277" name="Text Box 6">
              <a:extLst>
                <a:ext uri="{FF2B5EF4-FFF2-40B4-BE49-F238E27FC236}">
                  <a16:creationId xmlns:a16="http://schemas.microsoft.com/office/drawing/2014/main" id="{CFB4B6E2-2F69-41B4-84B4-9372B9EBDE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4" y="1045"/>
              <a:ext cx="50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FF000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流</a:t>
              </a:r>
              <a:endParaRPr lang="en-US" altLang="zh-CN" sz="2400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1278" name="Freeform 7">
              <a:extLst>
                <a:ext uri="{FF2B5EF4-FFF2-40B4-BE49-F238E27FC236}">
                  <a16:creationId xmlns:a16="http://schemas.microsoft.com/office/drawing/2014/main" id="{92AD0219-60C5-4398-B892-74745DBEBB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8" y="927"/>
              <a:ext cx="764" cy="537"/>
            </a:xfrm>
            <a:custGeom>
              <a:avLst/>
              <a:gdLst>
                <a:gd name="T0" fmla="*/ 764 w 764"/>
                <a:gd name="T1" fmla="*/ 278 h 537"/>
                <a:gd name="T2" fmla="*/ 299 w 764"/>
                <a:gd name="T3" fmla="*/ 43 h 537"/>
                <a:gd name="T4" fmla="*/ 0 w 764"/>
                <a:gd name="T5" fmla="*/ 537 h 537"/>
                <a:gd name="T6" fmla="*/ 0 60000 65536"/>
                <a:gd name="T7" fmla="*/ 0 60000 65536"/>
                <a:gd name="T8" fmla="*/ 0 60000 65536"/>
                <a:gd name="T9" fmla="*/ 0 w 764"/>
                <a:gd name="T10" fmla="*/ 0 h 537"/>
                <a:gd name="T11" fmla="*/ 764 w 764"/>
                <a:gd name="T12" fmla="*/ 537 h 5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4" h="537">
                  <a:moveTo>
                    <a:pt x="764" y="278"/>
                  </a:moveTo>
                  <a:cubicBezTo>
                    <a:pt x="595" y="139"/>
                    <a:pt x="426" y="0"/>
                    <a:pt x="299" y="43"/>
                  </a:cubicBezTo>
                  <a:cubicBezTo>
                    <a:pt x="172" y="86"/>
                    <a:pt x="86" y="311"/>
                    <a:pt x="0" y="537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</p:grpSp>
      <p:grpSp>
        <p:nvGrpSpPr>
          <p:cNvPr id="3" name="Group 8">
            <a:extLst>
              <a:ext uri="{FF2B5EF4-FFF2-40B4-BE49-F238E27FC236}">
                <a16:creationId xmlns:a16="http://schemas.microsoft.com/office/drawing/2014/main" id="{5E17947D-3387-474F-B706-EC82B0E925AB}"/>
              </a:ext>
            </a:extLst>
          </p:cNvPr>
          <p:cNvGrpSpPr>
            <a:grpSpLocks/>
          </p:cNvGrpSpPr>
          <p:nvPr/>
        </p:nvGrpSpPr>
        <p:grpSpPr bwMode="auto">
          <a:xfrm>
            <a:off x="7739063" y="1875631"/>
            <a:ext cx="2212975" cy="525462"/>
            <a:chOff x="3244" y="1312"/>
            <a:chExt cx="1394" cy="331"/>
          </a:xfrm>
        </p:grpSpPr>
        <p:sp>
          <p:nvSpPr>
            <p:cNvPr id="11275" name="Text Box 9">
              <a:extLst>
                <a:ext uri="{FF2B5EF4-FFF2-40B4-BE49-F238E27FC236}">
                  <a16:creationId xmlns:a16="http://schemas.microsoft.com/office/drawing/2014/main" id="{58641951-8318-4CEE-8B15-6746049113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8" y="1312"/>
              <a:ext cx="9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FF000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容量</a:t>
              </a:r>
              <a:endParaRPr lang="en-US" altLang="zh-CN" sz="2400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1276" name="Freeform 10">
              <a:extLst>
                <a:ext uri="{FF2B5EF4-FFF2-40B4-BE49-F238E27FC236}">
                  <a16:creationId xmlns:a16="http://schemas.microsoft.com/office/drawing/2014/main" id="{A6B58DB8-8A2A-4AB4-B345-3315F32A98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4" y="1481"/>
              <a:ext cx="453" cy="162"/>
            </a:xfrm>
            <a:custGeom>
              <a:avLst/>
              <a:gdLst>
                <a:gd name="T0" fmla="*/ 453 w 453"/>
                <a:gd name="T1" fmla="*/ 0 h 162"/>
                <a:gd name="T2" fmla="*/ 183 w 453"/>
                <a:gd name="T3" fmla="*/ 135 h 162"/>
                <a:gd name="T4" fmla="*/ 0 w 453"/>
                <a:gd name="T5" fmla="*/ 159 h 162"/>
                <a:gd name="T6" fmla="*/ 0 60000 65536"/>
                <a:gd name="T7" fmla="*/ 0 60000 65536"/>
                <a:gd name="T8" fmla="*/ 0 60000 65536"/>
                <a:gd name="T9" fmla="*/ 0 w 453"/>
                <a:gd name="T10" fmla="*/ 0 h 162"/>
                <a:gd name="T11" fmla="*/ 453 w 453"/>
                <a:gd name="T12" fmla="*/ 162 h 1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53" h="162">
                  <a:moveTo>
                    <a:pt x="453" y="0"/>
                  </a:moveTo>
                  <a:cubicBezTo>
                    <a:pt x="356" y="54"/>
                    <a:pt x="259" y="108"/>
                    <a:pt x="183" y="135"/>
                  </a:cubicBezTo>
                  <a:cubicBezTo>
                    <a:pt x="107" y="162"/>
                    <a:pt x="53" y="160"/>
                    <a:pt x="0" y="159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</p:grpSp>
      <p:grpSp>
        <p:nvGrpSpPr>
          <p:cNvPr id="4" name="Group 14">
            <a:extLst>
              <a:ext uri="{FF2B5EF4-FFF2-40B4-BE49-F238E27FC236}">
                <a16:creationId xmlns:a16="http://schemas.microsoft.com/office/drawing/2014/main" id="{5E555EF9-ABCE-4468-A938-3C1387D69761}"/>
              </a:ext>
            </a:extLst>
          </p:cNvPr>
          <p:cNvGrpSpPr>
            <a:grpSpLocks/>
          </p:cNvGrpSpPr>
          <p:nvPr/>
        </p:nvGrpSpPr>
        <p:grpSpPr bwMode="auto">
          <a:xfrm>
            <a:off x="2924175" y="967582"/>
            <a:ext cx="2201862" cy="1951037"/>
            <a:chOff x="211" y="615"/>
            <a:chExt cx="1387" cy="1229"/>
          </a:xfrm>
        </p:grpSpPr>
        <p:sp>
          <p:nvSpPr>
            <p:cNvPr id="11273" name="Freeform 12">
              <a:extLst>
                <a:ext uri="{FF2B5EF4-FFF2-40B4-BE49-F238E27FC236}">
                  <a16:creationId xmlns:a16="http://schemas.microsoft.com/office/drawing/2014/main" id="{6D0538B1-EFD2-499A-BA19-9032D52F19EE}"/>
                </a:ext>
              </a:extLst>
            </p:cNvPr>
            <p:cNvSpPr>
              <a:spLocks/>
            </p:cNvSpPr>
            <p:nvPr/>
          </p:nvSpPr>
          <p:spPr bwMode="auto">
            <a:xfrm>
              <a:off x="806" y="912"/>
              <a:ext cx="792" cy="932"/>
            </a:xfrm>
            <a:custGeom>
              <a:avLst/>
              <a:gdLst>
                <a:gd name="T0" fmla="*/ 792 w 792"/>
                <a:gd name="T1" fmla="*/ 840 h 932"/>
                <a:gd name="T2" fmla="*/ 466 w 792"/>
                <a:gd name="T3" fmla="*/ 826 h 932"/>
                <a:gd name="T4" fmla="*/ 269 w 792"/>
                <a:gd name="T5" fmla="*/ 202 h 932"/>
                <a:gd name="T6" fmla="*/ 0 w 792"/>
                <a:gd name="T7" fmla="*/ 0 h 9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92"/>
                <a:gd name="T13" fmla="*/ 0 h 932"/>
                <a:gd name="T14" fmla="*/ 792 w 792"/>
                <a:gd name="T15" fmla="*/ 932 h 9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92" h="932">
                  <a:moveTo>
                    <a:pt x="792" y="840"/>
                  </a:moveTo>
                  <a:cubicBezTo>
                    <a:pt x="672" y="886"/>
                    <a:pt x="553" y="932"/>
                    <a:pt x="466" y="826"/>
                  </a:cubicBezTo>
                  <a:cubicBezTo>
                    <a:pt x="379" y="720"/>
                    <a:pt x="347" y="340"/>
                    <a:pt x="269" y="202"/>
                  </a:cubicBezTo>
                  <a:cubicBezTo>
                    <a:pt x="191" y="64"/>
                    <a:pt x="46" y="34"/>
                    <a:pt x="0" y="0"/>
                  </a:cubicBezTo>
                </a:path>
              </a:pathLst>
            </a:custGeom>
            <a:noFill/>
            <a:ln w="28575" cmpd="sng">
              <a:solidFill>
                <a:srgbClr val="FF0000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1274" name="Text Box 13">
              <a:extLst>
                <a:ext uri="{FF2B5EF4-FFF2-40B4-BE49-F238E27FC236}">
                  <a16:creationId xmlns:a16="http://schemas.microsoft.com/office/drawing/2014/main" id="{DE9E995B-B119-49D1-A3A1-22E8808E53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" y="615"/>
              <a:ext cx="50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zh-CN" altLang="en-US" sz="2400" dirty="0">
                  <a:solidFill>
                    <a:srgbClr val="FF000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容量</a:t>
              </a:r>
              <a:endParaRPr lang="en-US" altLang="zh-CN" sz="2400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E09AF94B-A200-337C-D735-08C84D1DBF18}"/>
              </a:ext>
            </a:extLst>
          </p:cNvPr>
          <p:cNvSpPr txBox="1"/>
          <p:nvPr/>
        </p:nvSpPr>
        <p:spPr>
          <a:xfrm>
            <a:off x="380724" y="299408"/>
            <a:ext cx="20702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流的例子</a:t>
            </a:r>
          </a:p>
        </p:txBody>
      </p:sp>
      <p:sp>
        <p:nvSpPr>
          <p:cNvPr id="6" name="圆角矩形 8">
            <a:extLst>
              <a:ext uri="{FF2B5EF4-FFF2-40B4-BE49-F238E27FC236}">
                <a16:creationId xmlns:a16="http://schemas.microsoft.com/office/drawing/2014/main" id="{6D6B221D-1C31-479C-48AF-983458A23191}"/>
              </a:ext>
            </a:extLst>
          </p:cNvPr>
          <p:cNvSpPr/>
          <p:nvPr/>
        </p:nvSpPr>
        <p:spPr>
          <a:xfrm>
            <a:off x="238663" y="311105"/>
            <a:ext cx="2297148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2B5293-E0E8-BF6A-2569-7F59C79F5EED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B013F0E-45FD-0430-5049-A591224190D4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3669782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6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6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6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6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6115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7D04BB2-61DF-44CC-A5FD-8138200163F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152650" y="1825626"/>
            <a:ext cx="7886700" cy="390763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zh-CN" altLang="en-US" b="1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流的值定义为</a:t>
            </a:r>
          </a:p>
        </p:txBody>
      </p:sp>
      <p:sp>
        <p:nvSpPr>
          <p:cNvPr id="987143" name="Rectangle 7">
            <a:extLst>
              <a:ext uri="{FF2B5EF4-FFF2-40B4-BE49-F238E27FC236}">
                <a16:creationId xmlns:a16="http://schemas.microsoft.com/office/drawing/2014/main" id="{E41FB526-C68B-4646-97FE-92B31355A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8838" y="4007696"/>
            <a:ext cx="619432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</a:pPr>
            <a:r>
              <a:rPr lang="en-US" altLang="zh-CN" sz="2800" dirty="0">
                <a:latin typeface="Arial Rounded MT Bold" panose="020F0704030504030204" pitchFamily="34" charset="0"/>
              </a:rPr>
              <a:t> 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从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流出的总流量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= 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流入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t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的总流量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. 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502234-4D6E-277C-4F87-BD928AE06A01}"/>
              </a:ext>
            </a:extLst>
          </p:cNvPr>
          <p:cNvSpPr txBox="1"/>
          <p:nvPr/>
        </p:nvSpPr>
        <p:spPr>
          <a:xfrm>
            <a:off x="380725" y="299408"/>
            <a:ext cx="16366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流的值</a:t>
            </a:r>
          </a:p>
        </p:txBody>
      </p:sp>
      <p:sp>
        <p:nvSpPr>
          <p:cNvPr id="5" name="圆角矩形 8">
            <a:extLst>
              <a:ext uri="{FF2B5EF4-FFF2-40B4-BE49-F238E27FC236}">
                <a16:creationId xmlns:a16="http://schemas.microsoft.com/office/drawing/2014/main" id="{A7CBB9A7-1666-9516-0FBC-D69E2B5D33DE}"/>
              </a:ext>
            </a:extLst>
          </p:cNvPr>
          <p:cNvSpPr/>
          <p:nvPr/>
        </p:nvSpPr>
        <p:spPr>
          <a:xfrm>
            <a:off x="238663" y="311105"/>
            <a:ext cx="1913987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C67938A-D167-BF1E-F7BD-8F4D53C680F1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826D857-68A0-0A5D-2E15-AAA68540A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200" y="2407841"/>
            <a:ext cx="7416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417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7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7143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163" name="Rectangle 3">
            <a:extLst>
              <a:ext uri="{FF2B5EF4-FFF2-40B4-BE49-F238E27FC236}">
                <a16:creationId xmlns:a16="http://schemas.microsoft.com/office/drawing/2014/main" id="{6FE83B91-02F9-4D8A-A435-42C703505BE9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62079" y="3820391"/>
            <a:ext cx="9000330" cy="22098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FontTx/>
              <a:buNone/>
            </a:pP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|f| = f(s, v</a:t>
            </a:r>
            <a:r>
              <a:rPr lang="en-US" altLang="zh-CN" sz="2400" baseline="-250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) + f(s, v</a:t>
            </a:r>
            <a:r>
              <a:rPr lang="en-US" altLang="zh-CN" sz="2400" baseline="-250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) + f(s, v</a:t>
            </a:r>
            <a:r>
              <a:rPr lang="en-US" altLang="zh-CN" sz="2400" baseline="-250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) + f(s, v</a:t>
            </a:r>
            <a:r>
              <a:rPr lang="en-US" altLang="zh-CN" sz="2400" baseline="-250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) + f(s, t) = </a:t>
            </a:r>
          </a:p>
          <a:p>
            <a:pPr>
              <a:buFontTx/>
              <a:buNone/>
            </a:pP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         11    +     8     +     0      +      0    +     0     = 19 </a:t>
            </a:r>
          </a:p>
          <a:p>
            <a:pPr>
              <a:buFontTx/>
              <a:buNone/>
            </a:pP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buFontTx/>
              <a:buNone/>
            </a:pP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|f|= f(s, t) +  f(v</a:t>
            </a:r>
            <a:r>
              <a:rPr lang="en-US" altLang="zh-CN" sz="2400" baseline="-250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t) + f(v</a:t>
            </a:r>
            <a:r>
              <a:rPr lang="en-US" altLang="zh-CN" sz="2400" baseline="-250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t) + f(v</a:t>
            </a:r>
            <a:r>
              <a:rPr lang="en-US" altLang="zh-CN" sz="2400" baseline="-250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t) +  f(v</a:t>
            </a:r>
            <a:r>
              <a:rPr lang="en-US" altLang="zh-CN" sz="2400" baseline="-250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t) =</a:t>
            </a:r>
          </a:p>
          <a:p>
            <a:pPr>
              <a:buFontTx/>
              <a:buNone/>
            </a:pP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       0     +     0      +     0     +     15    +       4     = 19 </a:t>
            </a:r>
          </a:p>
          <a:p>
            <a:pPr>
              <a:buFontTx/>
              <a:buNone/>
            </a:pP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graphicFrame>
        <p:nvGraphicFramePr>
          <p:cNvPr id="13317" name="Object 2">
            <a:extLst>
              <a:ext uri="{FF2B5EF4-FFF2-40B4-BE49-F238E27FC236}">
                <a16:creationId xmlns:a16="http://schemas.microsoft.com/office/drawing/2014/main" id="{EEA2CD12-105C-411C-A785-9BB232AB91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7889" y="1371600"/>
          <a:ext cx="4733925" cy="232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 Publisher Image" r:id="rId3" imgW="3781425" imgH="1857375" progId="PictPub.Image.8">
                  <p:embed/>
                </p:oleObj>
              </mc:Choice>
              <mc:Fallback>
                <p:oleObj name="Picture Publisher Image" r:id="rId3" imgW="3781425" imgH="1857375" progId="PictPub.Image.8">
                  <p:embed/>
                  <p:pic>
                    <p:nvPicPr>
                      <p:cNvPr id="13317" name="Object 2">
                        <a:extLst>
                          <a:ext uri="{FF2B5EF4-FFF2-40B4-BE49-F238E27FC236}">
                            <a16:creationId xmlns:a16="http://schemas.microsoft.com/office/drawing/2014/main" id="{EEA2CD12-105C-411C-A785-9BB232AB91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7889" y="1371600"/>
                        <a:ext cx="4733925" cy="2325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EC944CD0-2AD4-9262-F0EF-8B271335B45F}"/>
              </a:ext>
            </a:extLst>
          </p:cNvPr>
          <p:cNvSpPr txBox="1"/>
          <p:nvPr/>
        </p:nvSpPr>
        <p:spPr>
          <a:xfrm>
            <a:off x="380725" y="299408"/>
            <a:ext cx="12124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举例</a:t>
            </a:r>
            <a:r>
              <a:rPr lang="en-US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:</a:t>
            </a:r>
            <a:endParaRPr lang="zh-CN" altLang="en-US" sz="3600" b="1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3" name="圆角矩形 8">
            <a:extLst>
              <a:ext uri="{FF2B5EF4-FFF2-40B4-BE49-F238E27FC236}">
                <a16:creationId xmlns:a16="http://schemas.microsoft.com/office/drawing/2014/main" id="{171B109E-792F-686A-91B8-9551B5CA694C}"/>
              </a:ext>
            </a:extLst>
          </p:cNvPr>
          <p:cNvSpPr/>
          <p:nvPr/>
        </p:nvSpPr>
        <p:spPr>
          <a:xfrm>
            <a:off x="238663" y="311105"/>
            <a:ext cx="1495869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00C4AB7-6742-9FB7-4F41-3EE733F2DDBD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0FB1439-0414-1F18-E96B-2CFDB2CA0531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1437401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88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88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88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88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88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88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88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88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8163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60007" y="1583937"/>
            <a:ext cx="65963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720">
              <a:spcBef>
                <a:spcPts val="95"/>
              </a:spcBef>
              <a:buFont typeface="Arial"/>
              <a:buChar char="•"/>
              <a:tabLst>
                <a:tab pos="185420" algn="l"/>
              </a:tabLst>
            </a:pPr>
            <a:r>
              <a:rPr sz="2800" spc="-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进入一个顶点</a:t>
            </a:r>
            <a:r>
              <a:rPr sz="2800" spc="-2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 </a:t>
            </a:r>
            <a:r>
              <a:rPr sz="2800" spc="-1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v</a:t>
            </a:r>
            <a:r>
              <a:rPr sz="2800" spc="-7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 </a:t>
            </a:r>
            <a:r>
              <a:rPr sz="2800" spc="-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的总的正网络流定义为：</a:t>
            </a:r>
            <a:endParaRPr sz="2800" dirty="0">
              <a:latin typeface="思源黑体 CN Normal" panose="020B0400000000000000" pitchFamily="34" charset="-122"/>
              <a:ea typeface="思源黑体 CN Normal" panose="020B0400000000000000" pitchFamily="34" charset="-122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76739" y="3082284"/>
            <a:ext cx="472440" cy="206375"/>
          </a:xfrm>
          <a:custGeom>
            <a:avLst/>
            <a:gdLst/>
            <a:ahLst/>
            <a:cxnLst/>
            <a:rect l="l" t="t" r="r" b="b"/>
            <a:pathLst>
              <a:path w="472439" h="206375">
                <a:moveTo>
                  <a:pt x="406653" y="0"/>
                </a:moveTo>
                <a:lnTo>
                  <a:pt x="403732" y="8382"/>
                </a:lnTo>
                <a:lnTo>
                  <a:pt x="415663" y="13553"/>
                </a:lnTo>
                <a:lnTo>
                  <a:pt x="425926" y="20701"/>
                </a:lnTo>
                <a:lnTo>
                  <a:pt x="446785" y="53903"/>
                </a:lnTo>
                <a:lnTo>
                  <a:pt x="453643" y="101981"/>
                </a:lnTo>
                <a:lnTo>
                  <a:pt x="452880" y="120177"/>
                </a:lnTo>
                <a:lnTo>
                  <a:pt x="441325" y="164719"/>
                </a:lnTo>
                <a:lnTo>
                  <a:pt x="404113" y="197738"/>
                </a:lnTo>
                <a:lnTo>
                  <a:pt x="406653" y="206121"/>
                </a:lnTo>
                <a:lnTo>
                  <a:pt x="446016" y="182671"/>
                </a:lnTo>
                <a:lnTo>
                  <a:pt x="468169" y="139493"/>
                </a:lnTo>
                <a:lnTo>
                  <a:pt x="472439" y="103124"/>
                </a:lnTo>
                <a:lnTo>
                  <a:pt x="471370" y="84216"/>
                </a:lnTo>
                <a:lnTo>
                  <a:pt x="455422" y="36067"/>
                </a:lnTo>
                <a:lnTo>
                  <a:pt x="421632" y="5403"/>
                </a:lnTo>
                <a:lnTo>
                  <a:pt x="406653" y="0"/>
                </a:lnTo>
                <a:close/>
              </a:path>
              <a:path w="472439" h="206375">
                <a:moveTo>
                  <a:pt x="65786" y="0"/>
                </a:moveTo>
                <a:lnTo>
                  <a:pt x="26495" y="23449"/>
                </a:lnTo>
                <a:lnTo>
                  <a:pt x="4270" y="66738"/>
                </a:lnTo>
                <a:lnTo>
                  <a:pt x="0" y="103124"/>
                </a:lnTo>
                <a:lnTo>
                  <a:pt x="1069" y="122029"/>
                </a:lnTo>
                <a:lnTo>
                  <a:pt x="17017" y="170052"/>
                </a:lnTo>
                <a:lnTo>
                  <a:pt x="50807" y="200717"/>
                </a:lnTo>
                <a:lnTo>
                  <a:pt x="65786" y="206121"/>
                </a:lnTo>
                <a:lnTo>
                  <a:pt x="68452" y="197738"/>
                </a:lnTo>
                <a:lnTo>
                  <a:pt x="56689" y="192526"/>
                </a:lnTo>
                <a:lnTo>
                  <a:pt x="46545" y="185277"/>
                </a:lnTo>
                <a:lnTo>
                  <a:pt x="25761" y="151522"/>
                </a:lnTo>
                <a:lnTo>
                  <a:pt x="18796" y="101981"/>
                </a:lnTo>
                <a:lnTo>
                  <a:pt x="19577" y="84383"/>
                </a:lnTo>
                <a:lnTo>
                  <a:pt x="31114" y="41021"/>
                </a:lnTo>
                <a:lnTo>
                  <a:pt x="68706" y="8382"/>
                </a:lnTo>
                <a:lnTo>
                  <a:pt x="657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706560" y="2217383"/>
            <a:ext cx="968375" cy="1089025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algn="ctr">
              <a:spcBef>
                <a:spcPts val="969"/>
              </a:spcBef>
            </a:pPr>
            <a:r>
              <a:rPr sz="2400" spc="780" dirty="0">
                <a:latin typeface="Arial Unicode MS"/>
                <a:cs typeface="Arial Unicode MS"/>
              </a:rPr>
              <a:t>෍</a:t>
            </a:r>
            <a:endParaRPr sz="2400">
              <a:latin typeface="Arial Unicode MS"/>
              <a:cs typeface="Arial Unicode MS"/>
            </a:endParaRPr>
          </a:p>
          <a:p>
            <a:pPr algn="ctr">
              <a:lnSpc>
                <a:spcPts val="1989"/>
              </a:lnSpc>
              <a:spcBef>
                <a:spcPts val="640"/>
              </a:spcBef>
            </a:pPr>
            <a:r>
              <a:rPr sz="1750" spc="-355" dirty="0">
                <a:latin typeface="Arial Unicode MS"/>
                <a:cs typeface="Arial Unicode MS"/>
              </a:rPr>
              <a:t>𝑢∈𝑉</a:t>
            </a:r>
            <a:endParaRPr sz="1750">
              <a:latin typeface="Arial Unicode MS"/>
              <a:cs typeface="Arial Unicode MS"/>
            </a:endParaRPr>
          </a:p>
          <a:p>
            <a:pPr algn="ctr">
              <a:lnSpc>
                <a:spcPts val="1989"/>
              </a:lnSpc>
            </a:pPr>
            <a:r>
              <a:rPr sz="1750" spc="-700" dirty="0">
                <a:latin typeface="Arial Unicode MS"/>
                <a:cs typeface="Arial Unicode MS"/>
              </a:rPr>
              <a:t>𝑓</a:t>
            </a:r>
            <a:r>
              <a:rPr sz="1750" spc="250" dirty="0">
                <a:latin typeface="Arial Unicode MS"/>
                <a:cs typeface="Arial Unicode MS"/>
              </a:rPr>
              <a:t> </a:t>
            </a:r>
            <a:r>
              <a:rPr sz="1750" spc="-495" dirty="0">
                <a:latin typeface="Arial Unicode MS"/>
                <a:cs typeface="Arial Unicode MS"/>
              </a:rPr>
              <a:t>𝑢,𝑣</a:t>
            </a:r>
            <a:r>
              <a:rPr sz="1750" spc="254" dirty="0">
                <a:latin typeface="Arial Unicode MS"/>
                <a:cs typeface="Arial Unicode MS"/>
              </a:rPr>
              <a:t> </a:t>
            </a:r>
            <a:r>
              <a:rPr sz="1750" spc="145" dirty="0">
                <a:latin typeface="Arial Unicode MS"/>
                <a:cs typeface="Arial Unicode MS"/>
              </a:rPr>
              <a:t>&gt;0</a:t>
            </a:r>
            <a:endParaRPr sz="175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98683" y="2328029"/>
            <a:ext cx="92519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490" dirty="0">
                <a:latin typeface="Arial Unicode MS"/>
                <a:cs typeface="Arial Unicode MS"/>
              </a:rPr>
              <a:t>𝑓(𝑢,</a:t>
            </a:r>
            <a:r>
              <a:rPr sz="2400" spc="-345" dirty="0">
                <a:latin typeface="Arial Unicode MS"/>
                <a:cs typeface="Arial Unicode MS"/>
              </a:rPr>
              <a:t> </a:t>
            </a:r>
            <a:r>
              <a:rPr sz="2400" spc="-420" dirty="0">
                <a:latin typeface="Arial Unicode MS"/>
                <a:cs typeface="Arial Unicode MS"/>
              </a:rPr>
              <a:t>𝑣)</a:t>
            </a:r>
            <a:endParaRPr sz="24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60007" y="3773035"/>
            <a:ext cx="65970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720">
              <a:spcBef>
                <a:spcPts val="95"/>
              </a:spcBef>
              <a:buFont typeface="Arial"/>
              <a:buChar char="•"/>
              <a:tabLst>
                <a:tab pos="185420" algn="l"/>
              </a:tabLst>
            </a:pPr>
            <a:r>
              <a:rPr sz="2800" spc="-5" dirty="0" err="1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离开一个顶点</a:t>
            </a:r>
            <a:r>
              <a:rPr sz="2800" spc="-3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 </a:t>
            </a:r>
            <a:r>
              <a:rPr sz="2800" spc="-1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v</a:t>
            </a:r>
            <a:r>
              <a:rPr sz="2800" spc="-6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 </a:t>
            </a:r>
            <a:r>
              <a:rPr sz="2800" spc="-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的总的正网络流定义为：</a:t>
            </a:r>
            <a:endParaRPr sz="2800" dirty="0">
              <a:latin typeface="思源黑体 CN Normal" panose="020B0400000000000000" pitchFamily="34" charset="-122"/>
              <a:ea typeface="思源黑体 CN Normal" panose="020B0400000000000000" pitchFamily="34" charset="-122"/>
              <a:cs typeface="Arial Unicode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92921" y="5322563"/>
            <a:ext cx="467995" cy="206375"/>
          </a:xfrm>
          <a:custGeom>
            <a:avLst/>
            <a:gdLst/>
            <a:ahLst/>
            <a:cxnLst/>
            <a:rect l="l" t="t" r="r" b="b"/>
            <a:pathLst>
              <a:path w="467995" h="206375">
                <a:moveTo>
                  <a:pt x="402082" y="0"/>
                </a:moveTo>
                <a:lnTo>
                  <a:pt x="399161" y="8381"/>
                </a:lnTo>
                <a:lnTo>
                  <a:pt x="411091" y="13553"/>
                </a:lnTo>
                <a:lnTo>
                  <a:pt x="421354" y="20700"/>
                </a:lnTo>
                <a:lnTo>
                  <a:pt x="442213" y="53903"/>
                </a:lnTo>
                <a:lnTo>
                  <a:pt x="449072" y="101980"/>
                </a:lnTo>
                <a:lnTo>
                  <a:pt x="448308" y="120177"/>
                </a:lnTo>
                <a:lnTo>
                  <a:pt x="436752" y="164718"/>
                </a:lnTo>
                <a:lnTo>
                  <a:pt x="399542" y="197738"/>
                </a:lnTo>
                <a:lnTo>
                  <a:pt x="402082" y="206120"/>
                </a:lnTo>
                <a:lnTo>
                  <a:pt x="441444" y="182671"/>
                </a:lnTo>
                <a:lnTo>
                  <a:pt x="463597" y="139493"/>
                </a:lnTo>
                <a:lnTo>
                  <a:pt x="467868" y="103123"/>
                </a:lnTo>
                <a:lnTo>
                  <a:pt x="466798" y="84216"/>
                </a:lnTo>
                <a:lnTo>
                  <a:pt x="450850" y="36067"/>
                </a:lnTo>
                <a:lnTo>
                  <a:pt x="417060" y="5403"/>
                </a:lnTo>
                <a:lnTo>
                  <a:pt x="402082" y="0"/>
                </a:lnTo>
                <a:close/>
              </a:path>
              <a:path w="467995" h="206375">
                <a:moveTo>
                  <a:pt x="65786" y="0"/>
                </a:moveTo>
                <a:lnTo>
                  <a:pt x="26495" y="23449"/>
                </a:lnTo>
                <a:lnTo>
                  <a:pt x="4270" y="66738"/>
                </a:lnTo>
                <a:lnTo>
                  <a:pt x="0" y="103123"/>
                </a:lnTo>
                <a:lnTo>
                  <a:pt x="1069" y="122029"/>
                </a:lnTo>
                <a:lnTo>
                  <a:pt x="17018" y="170052"/>
                </a:lnTo>
                <a:lnTo>
                  <a:pt x="50807" y="200717"/>
                </a:lnTo>
                <a:lnTo>
                  <a:pt x="65786" y="206120"/>
                </a:lnTo>
                <a:lnTo>
                  <a:pt x="68452" y="197738"/>
                </a:lnTo>
                <a:lnTo>
                  <a:pt x="56689" y="192526"/>
                </a:lnTo>
                <a:lnTo>
                  <a:pt x="46545" y="185277"/>
                </a:lnTo>
                <a:lnTo>
                  <a:pt x="25761" y="151522"/>
                </a:lnTo>
                <a:lnTo>
                  <a:pt x="18796" y="101980"/>
                </a:lnTo>
                <a:lnTo>
                  <a:pt x="19577" y="84383"/>
                </a:lnTo>
                <a:lnTo>
                  <a:pt x="31114" y="41020"/>
                </a:lnTo>
                <a:lnTo>
                  <a:pt x="68707" y="8381"/>
                </a:lnTo>
                <a:lnTo>
                  <a:pt x="657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621216" y="4457918"/>
            <a:ext cx="967105" cy="1089025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algn="ctr">
              <a:spcBef>
                <a:spcPts val="969"/>
              </a:spcBef>
            </a:pPr>
            <a:r>
              <a:rPr sz="2400" spc="780" dirty="0">
                <a:latin typeface="Arial Unicode MS"/>
                <a:cs typeface="Arial Unicode MS"/>
              </a:rPr>
              <a:t>෍</a:t>
            </a:r>
            <a:endParaRPr sz="2400">
              <a:latin typeface="Arial Unicode MS"/>
              <a:cs typeface="Arial Unicode MS"/>
            </a:endParaRPr>
          </a:p>
          <a:p>
            <a:pPr algn="ctr">
              <a:lnSpc>
                <a:spcPts val="1989"/>
              </a:lnSpc>
              <a:spcBef>
                <a:spcPts val="640"/>
              </a:spcBef>
            </a:pPr>
            <a:r>
              <a:rPr sz="1750" spc="-355" dirty="0">
                <a:latin typeface="Arial Unicode MS"/>
                <a:cs typeface="Arial Unicode MS"/>
              </a:rPr>
              <a:t>𝑢∈𝑉</a:t>
            </a:r>
            <a:endParaRPr sz="1750">
              <a:latin typeface="Arial Unicode MS"/>
              <a:cs typeface="Arial Unicode MS"/>
            </a:endParaRPr>
          </a:p>
          <a:p>
            <a:pPr algn="ctr">
              <a:lnSpc>
                <a:spcPts val="1989"/>
              </a:lnSpc>
            </a:pPr>
            <a:r>
              <a:rPr sz="1750" spc="-700" dirty="0">
                <a:latin typeface="Arial Unicode MS"/>
                <a:cs typeface="Arial Unicode MS"/>
              </a:rPr>
              <a:t>𝑓</a:t>
            </a:r>
            <a:r>
              <a:rPr sz="1750" spc="250" dirty="0">
                <a:latin typeface="Arial Unicode MS"/>
                <a:cs typeface="Arial Unicode MS"/>
              </a:rPr>
              <a:t> </a:t>
            </a:r>
            <a:r>
              <a:rPr sz="1750" spc="-204" dirty="0">
                <a:latin typeface="Arial Unicode MS"/>
                <a:cs typeface="Arial Unicode MS"/>
              </a:rPr>
              <a:t>v,𝑢</a:t>
            </a:r>
            <a:r>
              <a:rPr sz="1750" spc="-50" dirty="0">
                <a:latin typeface="Arial Unicode MS"/>
                <a:cs typeface="Arial Unicode MS"/>
              </a:rPr>
              <a:t> </a:t>
            </a:r>
            <a:r>
              <a:rPr sz="1750" spc="155" dirty="0">
                <a:latin typeface="Arial Unicode MS"/>
                <a:cs typeface="Arial Unicode MS"/>
              </a:rPr>
              <a:t>&gt;0</a:t>
            </a:r>
            <a:endParaRPr sz="175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11815" y="4568564"/>
            <a:ext cx="10972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15" dirty="0">
                <a:latin typeface="Arial Unicode MS"/>
                <a:cs typeface="Arial Unicode MS"/>
              </a:rPr>
              <a:t>𝑓</a:t>
            </a:r>
            <a:r>
              <a:rPr sz="2400" spc="190" dirty="0">
                <a:latin typeface="Arial Unicode MS"/>
                <a:cs typeface="Arial Unicode MS"/>
              </a:rPr>
              <a:t>(</a:t>
            </a:r>
            <a:r>
              <a:rPr sz="2400" spc="5" dirty="0">
                <a:latin typeface="Arial Unicode MS"/>
                <a:cs typeface="Arial Unicode MS"/>
              </a:rPr>
              <a:t>v</a:t>
            </a:r>
            <a:r>
              <a:rPr sz="2400" dirty="0">
                <a:latin typeface="Arial Unicode MS"/>
                <a:cs typeface="Arial Unicode MS"/>
              </a:rPr>
              <a:t>，</a:t>
            </a:r>
            <a:r>
              <a:rPr sz="2400" spc="-965" dirty="0">
                <a:latin typeface="Arial Unicode MS"/>
                <a:cs typeface="Arial Unicode MS"/>
              </a:rPr>
              <a:t>𝑢</a:t>
            </a:r>
            <a:r>
              <a:rPr sz="2400" spc="195" dirty="0">
                <a:latin typeface="Arial Unicode MS"/>
                <a:cs typeface="Arial Unicode MS"/>
              </a:rPr>
              <a:t>)</a:t>
            </a:r>
            <a:endParaRPr sz="2400">
              <a:latin typeface="Arial Unicode MS"/>
              <a:cs typeface="Arial Unicode MS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B4DE435-96B5-9248-A8BC-9A90721CB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812" y="2112512"/>
            <a:ext cx="2562734" cy="151598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FA7A74F-0F77-A742-8564-CA7A556DD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813" y="4371329"/>
            <a:ext cx="2939171" cy="160318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C06E7B19-4D21-4E30-68B8-2E912A070EF3}"/>
              </a:ext>
            </a:extLst>
          </p:cNvPr>
          <p:cNvSpPr txBox="1"/>
          <p:nvPr/>
        </p:nvSpPr>
        <p:spPr>
          <a:xfrm>
            <a:off x="380724" y="299408"/>
            <a:ext cx="20702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流的性质</a:t>
            </a:r>
          </a:p>
        </p:txBody>
      </p:sp>
      <p:sp>
        <p:nvSpPr>
          <p:cNvPr id="15" name="圆角矩形 8">
            <a:extLst>
              <a:ext uri="{FF2B5EF4-FFF2-40B4-BE49-F238E27FC236}">
                <a16:creationId xmlns:a16="http://schemas.microsoft.com/office/drawing/2014/main" id="{BC7AD460-87C1-D553-0F15-1D251C47A105}"/>
              </a:ext>
            </a:extLst>
          </p:cNvPr>
          <p:cNvSpPr/>
          <p:nvPr/>
        </p:nvSpPr>
        <p:spPr>
          <a:xfrm>
            <a:off x="238663" y="311105"/>
            <a:ext cx="2297148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BA6E2C8E-E4FE-A3D5-4A94-94B4401DF7D9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700463" y="1448561"/>
            <a:ext cx="1053465" cy="472440"/>
          </a:xfrm>
          <a:custGeom>
            <a:avLst/>
            <a:gdLst/>
            <a:ahLst/>
            <a:cxnLst/>
            <a:rect l="l" t="t" r="r" b="b"/>
            <a:pathLst>
              <a:path w="1053464" h="472439">
                <a:moveTo>
                  <a:pt x="0" y="236220"/>
                </a:moveTo>
                <a:lnTo>
                  <a:pt x="16079" y="178066"/>
                </a:lnTo>
                <a:lnTo>
                  <a:pt x="61686" y="125185"/>
                </a:lnTo>
                <a:lnTo>
                  <a:pt x="94330" y="101276"/>
                </a:lnTo>
                <a:lnTo>
                  <a:pt x="132877" y="79349"/>
                </a:lnTo>
                <a:lnTo>
                  <a:pt x="176832" y="59627"/>
                </a:lnTo>
                <a:lnTo>
                  <a:pt x="225704" y="42331"/>
                </a:lnTo>
                <a:lnTo>
                  <a:pt x="278999" y="27683"/>
                </a:lnTo>
                <a:lnTo>
                  <a:pt x="336223" y="15904"/>
                </a:lnTo>
                <a:lnTo>
                  <a:pt x="396884" y="7216"/>
                </a:lnTo>
                <a:lnTo>
                  <a:pt x="460488" y="1841"/>
                </a:lnTo>
                <a:lnTo>
                  <a:pt x="526542" y="0"/>
                </a:lnTo>
                <a:lnTo>
                  <a:pt x="592595" y="1841"/>
                </a:lnTo>
                <a:lnTo>
                  <a:pt x="656199" y="7216"/>
                </a:lnTo>
                <a:lnTo>
                  <a:pt x="716860" y="15904"/>
                </a:lnTo>
                <a:lnTo>
                  <a:pt x="774084" y="27683"/>
                </a:lnTo>
                <a:lnTo>
                  <a:pt x="827379" y="42331"/>
                </a:lnTo>
                <a:lnTo>
                  <a:pt x="876251" y="59627"/>
                </a:lnTo>
                <a:lnTo>
                  <a:pt x="920206" y="79349"/>
                </a:lnTo>
                <a:lnTo>
                  <a:pt x="958753" y="101276"/>
                </a:lnTo>
                <a:lnTo>
                  <a:pt x="991397" y="125185"/>
                </a:lnTo>
                <a:lnTo>
                  <a:pt x="1037004" y="178066"/>
                </a:lnTo>
                <a:lnTo>
                  <a:pt x="1053083" y="236220"/>
                </a:lnTo>
                <a:lnTo>
                  <a:pt x="1048981" y="265844"/>
                </a:lnTo>
                <a:lnTo>
                  <a:pt x="1017645" y="321583"/>
                </a:lnTo>
                <a:lnTo>
                  <a:pt x="958753" y="371163"/>
                </a:lnTo>
                <a:lnTo>
                  <a:pt x="920206" y="393090"/>
                </a:lnTo>
                <a:lnTo>
                  <a:pt x="876251" y="412812"/>
                </a:lnTo>
                <a:lnTo>
                  <a:pt x="827379" y="430108"/>
                </a:lnTo>
                <a:lnTo>
                  <a:pt x="774084" y="444756"/>
                </a:lnTo>
                <a:lnTo>
                  <a:pt x="716860" y="456535"/>
                </a:lnTo>
                <a:lnTo>
                  <a:pt x="656199" y="465223"/>
                </a:lnTo>
                <a:lnTo>
                  <a:pt x="592595" y="470598"/>
                </a:lnTo>
                <a:lnTo>
                  <a:pt x="526542" y="472439"/>
                </a:lnTo>
                <a:lnTo>
                  <a:pt x="460488" y="470598"/>
                </a:lnTo>
                <a:lnTo>
                  <a:pt x="396884" y="465223"/>
                </a:lnTo>
                <a:lnTo>
                  <a:pt x="336223" y="456535"/>
                </a:lnTo>
                <a:lnTo>
                  <a:pt x="278999" y="444756"/>
                </a:lnTo>
                <a:lnTo>
                  <a:pt x="225704" y="430108"/>
                </a:lnTo>
                <a:lnTo>
                  <a:pt x="176832" y="412812"/>
                </a:lnTo>
                <a:lnTo>
                  <a:pt x="132877" y="393090"/>
                </a:lnTo>
                <a:lnTo>
                  <a:pt x="94330" y="371163"/>
                </a:lnTo>
                <a:lnTo>
                  <a:pt x="61686" y="347254"/>
                </a:lnTo>
                <a:lnTo>
                  <a:pt x="16079" y="294373"/>
                </a:lnTo>
                <a:lnTo>
                  <a:pt x="0" y="236220"/>
                </a:lnTo>
                <a:close/>
              </a:path>
            </a:pathLst>
          </a:custGeom>
          <a:ln w="22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Arial Rounded MT Bold" panose="020F070403050403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36327" y="1511301"/>
            <a:ext cx="1809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b="1" dirty="0">
                <a:latin typeface="Arial Rounded MT Bold" panose="020F0704030504030204" pitchFamily="34" charset="0"/>
                <a:cs typeface="Arial"/>
              </a:rPr>
              <a:t>u</a:t>
            </a:r>
            <a:endParaRPr sz="2000">
              <a:latin typeface="Arial Rounded MT Bold" panose="020F0704030504030204" pitchFamily="34" charset="0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700463" y="2957322"/>
            <a:ext cx="1053465" cy="472440"/>
          </a:xfrm>
          <a:custGeom>
            <a:avLst/>
            <a:gdLst/>
            <a:ahLst/>
            <a:cxnLst/>
            <a:rect l="l" t="t" r="r" b="b"/>
            <a:pathLst>
              <a:path w="1053464" h="472439">
                <a:moveTo>
                  <a:pt x="0" y="236219"/>
                </a:moveTo>
                <a:lnTo>
                  <a:pt x="16079" y="178066"/>
                </a:lnTo>
                <a:lnTo>
                  <a:pt x="61686" y="125185"/>
                </a:lnTo>
                <a:lnTo>
                  <a:pt x="94330" y="101276"/>
                </a:lnTo>
                <a:lnTo>
                  <a:pt x="132877" y="79349"/>
                </a:lnTo>
                <a:lnTo>
                  <a:pt x="176832" y="59627"/>
                </a:lnTo>
                <a:lnTo>
                  <a:pt x="225704" y="42331"/>
                </a:lnTo>
                <a:lnTo>
                  <a:pt x="278999" y="27683"/>
                </a:lnTo>
                <a:lnTo>
                  <a:pt x="336223" y="15904"/>
                </a:lnTo>
                <a:lnTo>
                  <a:pt x="396884" y="7216"/>
                </a:lnTo>
                <a:lnTo>
                  <a:pt x="460488" y="1841"/>
                </a:lnTo>
                <a:lnTo>
                  <a:pt x="526542" y="0"/>
                </a:lnTo>
                <a:lnTo>
                  <a:pt x="592595" y="1841"/>
                </a:lnTo>
                <a:lnTo>
                  <a:pt x="656199" y="7216"/>
                </a:lnTo>
                <a:lnTo>
                  <a:pt x="716860" y="15904"/>
                </a:lnTo>
                <a:lnTo>
                  <a:pt x="774084" y="27683"/>
                </a:lnTo>
                <a:lnTo>
                  <a:pt x="827379" y="42331"/>
                </a:lnTo>
                <a:lnTo>
                  <a:pt x="876251" y="59627"/>
                </a:lnTo>
                <a:lnTo>
                  <a:pt x="920206" y="79349"/>
                </a:lnTo>
                <a:lnTo>
                  <a:pt x="958753" y="101276"/>
                </a:lnTo>
                <a:lnTo>
                  <a:pt x="991397" y="125185"/>
                </a:lnTo>
                <a:lnTo>
                  <a:pt x="1037004" y="178066"/>
                </a:lnTo>
                <a:lnTo>
                  <a:pt x="1053083" y="236219"/>
                </a:lnTo>
                <a:lnTo>
                  <a:pt x="1048981" y="265844"/>
                </a:lnTo>
                <a:lnTo>
                  <a:pt x="1017645" y="321583"/>
                </a:lnTo>
                <a:lnTo>
                  <a:pt x="958753" y="371163"/>
                </a:lnTo>
                <a:lnTo>
                  <a:pt x="920206" y="393090"/>
                </a:lnTo>
                <a:lnTo>
                  <a:pt x="876251" y="412812"/>
                </a:lnTo>
                <a:lnTo>
                  <a:pt x="827379" y="430108"/>
                </a:lnTo>
                <a:lnTo>
                  <a:pt x="774084" y="444756"/>
                </a:lnTo>
                <a:lnTo>
                  <a:pt x="716860" y="456535"/>
                </a:lnTo>
                <a:lnTo>
                  <a:pt x="656199" y="465223"/>
                </a:lnTo>
                <a:lnTo>
                  <a:pt x="592595" y="470598"/>
                </a:lnTo>
                <a:lnTo>
                  <a:pt x="526542" y="472439"/>
                </a:lnTo>
                <a:lnTo>
                  <a:pt x="460488" y="470598"/>
                </a:lnTo>
                <a:lnTo>
                  <a:pt x="396884" y="465223"/>
                </a:lnTo>
                <a:lnTo>
                  <a:pt x="336223" y="456535"/>
                </a:lnTo>
                <a:lnTo>
                  <a:pt x="278999" y="444756"/>
                </a:lnTo>
                <a:lnTo>
                  <a:pt x="225704" y="430108"/>
                </a:lnTo>
                <a:lnTo>
                  <a:pt x="176832" y="412812"/>
                </a:lnTo>
                <a:lnTo>
                  <a:pt x="132877" y="393090"/>
                </a:lnTo>
                <a:lnTo>
                  <a:pt x="94330" y="371163"/>
                </a:lnTo>
                <a:lnTo>
                  <a:pt x="61686" y="347254"/>
                </a:lnTo>
                <a:lnTo>
                  <a:pt x="16079" y="294373"/>
                </a:lnTo>
                <a:lnTo>
                  <a:pt x="0" y="236219"/>
                </a:lnTo>
                <a:close/>
              </a:path>
            </a:pathLst>
          </a:custGeom>
          <a:ln w="22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Arial Rounded MT Bold" panose="020F0704030504030204" pitchFamily="34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871913" y="1921002"/>
            <a:ext cx="78105" cy="1130935"/>
          </a:xfrm>
          <a:custGeom>
            <a:avLst/>
            <a:gdLst/>
            <a:ahLst/>
            <a:cxnLst/>
            <a:rect l="l" t="t" r="r" b="b"/>
            <a:pathLst>
              <a:path w="78105" h="1130935">
                <a:moveTo>
                  <a:pt x="0" y="1001268"/>
                </a:moveTo>
                <a:lnTo>
                  <a:pt x="38862" y="1130808"/>
                </a:lnTo>
                <a:lnTo>
                  <a:pt x="62179" y="1053084"/>
                </a:lnTo>
                <a:lnTo>
                  <a:pt x="25908" y="1053084"/>
                </a:lnTo>
                <a:lnTo>
                  <a:pt x="25908" y="1035812"/>
                </a:lnTo>
                <a:lnTo>
                  <a:pt x="0" y="1001268"/>
                </a:lnTo>
                <a:close/>
              </a:path>
              <a:path w="78105" h="1130935">
                <a:moveTo>
                  <a:pt x="25908" y="1035812"/>
                </a:moveTo>
                <a:lnTo>
                  <a:pt x="25908" y="1053084"/>
                </a:lnTo>
                <a:lnTo>
                  <a:pt x="38862" y="1053084"/>
                </a:lnTo>
                <a:lnTo>
                  <a:pt x="25908" y="1035812"/>
                </a:lnTo>
                <a:close/>
              </a:path>
              <a:path w="78105" h="1130935">
                <a:moveTo>
                  <a:pt x="51816" y="0"/>
                </a:moveTo>
                <a:lnTo>
                  <a:pt x="25908" y="0"/>
                </a:lnTo>
                <a:lnTo>
                  <a:pt x="25908" y="1035812"/>
                </a:lnTo>
                <a:lnTo>
                  <a:pt x="38862" y="1053084"/>
                </a:lnTo>
                <a:lnTo>
                  <a:pt x="51815" y="1035812"/>
                </a:lnTo>
                <a:lnTo>
                  <a:pt x="51816" y="0"/>
                </a:lnTo>
                <a:close/>
              </a:path>
              <a:path w="78105" h="1130935">
                <a:moveTo>
                  <a:pt x="51816" y="1035812"/>
                </a:moveTo>
                <a:lnTo>
                  <a:pt x="38862" y="1053084"/>
                </a:lnTo>
                <a:lnTo>
                  <a:pt x="51816" y="1053084"/>
                </a:lnTo>
                <a:lnTo>
                  <a:pt x="51816" y="1035812"/>
                </a:lnTo>
                <a:close/>
              </a:path>
              <a:path w="78105" h="1130935">
                <a:moveTo>
                  <a:pt x="77724" y="1001268"/>
                </a:moveTo>
                <a:lnTo>
                  <a:pt x="51816" y="1035812"/>
                </a:lnTo>
                <a:lnTo>
                  <a:pt x="51816" y="1053084"/>
                </a:lnTo>
                <a:lnTo>
                  <a:pt x="62179" y="1053084"/>
                </a:lnTo>
                <a:lnTo>
                  <a:pt x="77724" y="10012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Arial Rounded MT Bold" panose="020F0704030504030204" pitchFamily="34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04373" y="1921002"/>
            <a:ext cx="78105" cy="1036319"/>
          </a:xfrm>
          <a:custGeom>
            <a:avLst/>
            <a:gdLst/>
            <a:ahLst/>
            <a:cxnLst/>
            <a:rect l="l" t="t" r="r" b="b"/>
            <a:pathLst>
              <a:path w="78104" h="1036319">
                <a:moveTo>
                  <a:pt x="38862" y="77724"/>
                </a:moveTo>
                <a:lnTo>
                  <a:pt x="25908" y="94996"/>
                </a:lnTo>
                <a:lnTo>
                  <a:pt x="25908" y="1036320"/>
                </a:lnTo>
                <a:lnTo>
                  <a:pt x="51816" y="1036320"/>
                </a:lnTo>
                <a:lnTo>
                  <a:pt x="51816" y="94996"/>
                </a:lnTo>
                <a:lnTo>
                  <a:pt x="38862" y="77724"/>
                </a:lnTo>
                <a:close/>
              </a:path>
              <a:path w="78104" h="1036319">
                <a:moveTo>
                  <a:pt x="38862" y="0"/>
                </a:moveTo>
                <a:lnTo>
                  <a:pt x="0" y="129539"/>
                </a:lnTo>
                <a:lnTo>
                  <a:pt x="25907" y="94996"/>
                </a:lnTo>
                <a:lnTo>
                  <a:pt x="25908" y="77724"/>
                </a:lnTo>
                <a:lnTo>
                  <a:pt x="62179" y="77724"/>
                </a:lnTo>
                <a:lnTo>
                  <a:pt x="38862" y="0"/>
                </a:lnTo>
                <a:close/>
              </a:path>
              <a:path w="78104" h="1036319">
                <a:moveTo>
                  <a:pt x="62179" y="77724"/>
                </a:moveTo>
                <a:lnTo>
                  <a:pt x="51816" y="77724"/>
                </a:lnTo>
                <a:lnTo>
                  <a:pt x="51816" y="94996"/>
                </a:lnTo>
                <a:lnTo>
                  <a:pt x="77724" y="129539"/>
                </a:lnTo>
                <a:lnTo>
                  <a:pt x="62179" y="77724"/>
                </a:lnTo>
                <a:close/>
              </a:path>
              <a:path w="78104" h="1036319">
                <a:moveTo>
                  <a:pt x="38862" y="77724"/>
                </a:moveTo>
                <a:lnTo>
                  <a:pt x="25908" y="77724"/>
                </a:lnTo>
                <a:lnTo>
                  <a:pt x="25908" y="94996"/>
                </a:lnTo>
                <a:lnTo>
                  <a:pt x="38862" y="77724"/>
                </a:lnTo>
                <a:close/>
              </a:path>
              <a:path w="78104" h="1036319">
                <a:moveTo>
                  <a:pt x="51816" y="77724"/>
                </a:moveTo>
                <a:lnTo>
                  <a:pt x="38862" y="77724"/>
                </a:lnTo>
                <a:lnTo>
                  <a:pt x="51816" y="94996"/>
                </a:lnTo>
                <a:lnTo>
                  <a:pt x="51816" y="777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Arial Rounded MT Bold" panose="020F0704030504030204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69095" y="2228469"/>
            <a:ext cx="649096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b="1" dirty="0">
                <a:latin typeface="Arial Rounded MT Bold" panose="020F0704030504030204" pitchFamily="34" charset="0"/>
                <a:cs typeface="Arial"/>
              </a:rPr>
              <a:t>8/10</a:t>
            </a:r>
            <a:endParaRPr sz="2000" dirty="0">
              <a:latin typeface="Arial Rounded MT Bold" panose="020F0704030504030204" pitchFamily="34" charset="0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09351" y="2228469"/>
            <a:ext cx="520699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b="1" dirty="0">
                <a:latin typeface="Arial Rounded MT Bold" panose="020F0704030504030204" pitchFamily="34" charset="0"/>
                <a:cs typeface="Arial"/>
              </a:rPr>
              <a:t>3/4</a:t>
            </a:r>
            <a:endParaRPr sz="2000" dirty="0">
              <a:latin typeface="Arial Rounded MT Bold" panose="020F0704030504030204" pitchFamily="34" charset="0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502398" y="1435912"/>
            <a:ext cx="1051560" cy="472440"/>
          </a:xfrm>
          <a:custGeom>
            <a:avLst/>
            <a:gdLst/>
            <a:ahLst/>
            <a:cxnLst/>
            <a:rect l="l" t="t" r="r" b="b"/>
            <a:pathLst>
              <a:path w="1051559" h="472439">
                <a:moveTo>
                  <a:pt x="0" y="236220"/>
                </a:moveTo>
                <a:lnTo>
                  <a:pt x="16061" y="178066"/>
                </a:lnTo>
                <a:lnTo>
                  <a:pt x="61614" y="125185"/>
                </a:lnTo>
                <a:lnTo>
                  <a:pt x="94218" y="101276"/>
                </a:lnTo>
                <a:lnTo>
                  <a:pt x="132714" y="79349"/>
                </a:lnTo>
                <a:lnTo>
                  <a:pt x="176611" y="59627"/>
                </a:lnTo>
                <a:lnTo>
                  <a:pt x="225416" y="42331"/>
                </a:lnTo>
                <a:lnTo>
                  <a:pt x="278633" y="27683"/>
                </a:lnTo>
                <a:lnTo>
                  <a:pt x="335772" y="15904"/>
                </a:lnTo>
                <a:lnTo>
                  <a:pt x="396338" y="7216"/>
                </a:lnTo>
                <a:lnTo>
                  <a:pt x="459838" y="1841"/>
                </a:lnTo>
                <a:lnTo>
                  <a:pt x="525780" y="0"/>
                </a:lnTo>
                <a:lnTo>
                  <a:pt x="591721" y="1841"/>
                </a:lnTo>
                <a:lnTo>
                  <a:pt x="655221" y="7216"/>
                </a:lnTo>
                <a:lnTo>
                  <a:pt x="715787" y="15904"/>
                </a:lnTo>
                <a:lnTo>
                  <a:pt x="772926" y="27683"/>
                </a:lnTo>
                <a:lnTo>
                  <a:pt x="826143" y="42331"/>
                </a:lnTo>
                <a:lnTo>
                  <a:pt x="874948" y="59627"/>
                </a:lnTo>
                <a:lnTo>
                  <a:pt x="918845" y="79349"/>
                </a:lnTo>
                <a:lnTo>
                  <a:pt x="957341" y="101276"/>
                </a:lnTo>
                <a:lnTo>
                  <a:pt x="989945" y="125185"/>
                </a:lnTo>
                <a:lnTo>
                  <a:pt x="1035498" y="178066"/>
                </a:lnTo>
                <a:lnTo>
                  <a:pt x="1051560" y="236220"/>
                </a:lnTo>
                <a:lnTo>
                  <a:pt x="1047462" y="265844"/>
                </a:lnTo>
                <a:lnTo>
                  <a:pt x="1016161" y="321583"/>
                </a:lnTo>
                <a:lnTo>
                  <a:pt x="957341" y="371163"/>
                </a:lnTo>
                <a:lnTo>
                  <a:pt x="918845" y="393090"/>
                </a:lnTo>
                <a:lnTo>
                  <a:pt x="874948" y="412812"/>
                </a:lnTo>
                <a:lnTo>
                  <a:pt x="826143" y="430108"/>
                </a:lnTo>
                <a:lnTo>
                  <a:pt x="772926" y="444756"/>
                </a:lnTo>
                <a:lnTo>
                  <a:pt x="715787" y="456535"/>
                </a:lnTo>
                <a:lnTo>
                  <a:pt x="655221" y="465223"/>
                </a:lnTo>
                <a:lnTo>
                  <a:pt x="591721" y="470598"/>
                </a:lnTo>
                <a:lnTo>
                  <a:pt x="525780" y="472439"/>
                </a:lnTo>
                <a:lnTo>
                  <a:pt x="459838" y="470598"/>
                </a:lnTo>
                <a:lnTo>
                  <a:pt x="396338" y="465223"/>
                </a:lnTo>
                <a:lnTo>
                  <a:pt x="335772" y="456535"/>
                </a:lnTo>
                <a:lnTo>
                  <a:pt x="278633" y="444756"/>
                </a:lnTo>
                <a:lnTo>
                  <a:pt x="225416" y="430108"/>
                </a:lnTo>
                <a:lnTo>
                  <a:pt x="176611" y="412812"/>
                </a:lnTo>
                <a:lnTo>
                  <a:pt x="132714" y="393090"/>
                </a:lnTo>
                <a:lnTo>
                  <a:pt x="94218" y="371163"/>
                </a:lnTo>
                <a:lnTo>
                  <a:pt x="61614" y="347254"/>
                </a:lnTo>
                <a:lnTo>
                  <a:pt x="16061" y="294373"/>
                </a:lnTo>
                <a:lnTo>
                  <a:pt x="0" y="236220"/>
                </a:lnTo>
                <a:close/>
              </a:path>
            </a:pathLst>
          </a:custGeom>
          <a:ln w="22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Arial Rounded MT Bold" panose="020F0704030504030204" pitchFamily="34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38262" y="1498652"/>
            <a:ext cx="1809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b="1" dirty="0">
                <a:latin typeface="Arial Rounded MT Bold" panose="020F0704030504030204" pitchFamily="34" charset="0"/>
                <a:cs typeface="Arial"/>
              </a:rPr>
              <a:t>u</a:t>
            </a:r>
            <a:endParaRPr sz="2000">
              <a:latin typeface="Arial Rounded MT Bold" panose="020F0704030504030204" pitchFamily="34" charset="0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502398" y="2944673"/>
            <a:ext cx="1051560" cy="472440"/>
          </a:xfrm>
          <a:custGeom>
            <a:avLst/>
            <a:gdLst/>
            <a:ahLst/>
            <a:cxnLst/>
            <a:rect l="l" t="t" r="r" b="b"/>
            <a:pathLst>
              <a:path w="1051559" h="472439">
                <a:moveTo>
                  <a:pt x="0" y="236219"/>
                </a:moveTo>
                <a:lnTo>
                  <a:pt x="16061" y="178066"/>
                </a:lnTo>
                <a:lnTo>
                  <a:pt x="61614" y="125185"/>
                </a:lnTo>
                <a:lnTo>
                  <a:pt x="94218" y="101276"/>
                </a:lnTo>
                <a:lnTo>
                  <a:pt x="132714" y="79349"/>
                </a:lnTo>
                <a:lnTo>
                  <a:pt x="176611" y="59627"/>
                </a:lnTo>
                <a:lnTo>
                  <a:pt x="225416" y="42331"/>
                </a:lnTo>
                <a:lnTo>
                  <a:pt x="278633" y="27683"/>
                </a:lnTo>
                <a:lnTo>
                  <a:pt x="335772" y="15904"/>
                </a:lnTo>
                <a:lnTo>
                  <a:pt x="396338" y="7216"/>
                </a:lnTo>
                <a:lnTo>
                  <a:pt x="459838" y="1841"/>
                </a:lnTo>
                <a:lnTo>
                  <a:pt x="525780" y="0"/>
                </a:lnTo>
                <a:lnTo>
                  <a:pt x="591721" y="1841"/>
                </a:lnTo>
                <a:lnTo>
                  <a:pt x="655221" y="7216"/>
                </a:lnTo>
                <a:lnTo>
                  <a:pt x="715787" y="15904"/>
                </a:lnTo>
                <a:lnTo>
                  <a:pt x="772926" y="27683"/>
                </a:lnTo>
                <a:lnTo>
                  <a:pt x="826143" y="42331"/>
                </a:lnTo>
                <a:lnTo>
                  <a:pt x="874948" y="59627"/>
                </a:lnTo>
                <a:lnTo>
                  <a:pt x="918845" y="79349"/>
                </a:lnTo>
                <a:lnTo>
                  <a:pt x="957341" y="101276"/>
                </a:lnTo>
                <a:lnTo>
                  <a:pt x="989945" y="125185"/>
                </a:lnTo>
                <a:lnTo>
                  <a:pt x="1035498" y="178066"/>
                </a:lnTo>
                <a:lnTo>
                  <a:pt x="1051560" y="236219"/>
                </a:lnTo>
                <a:lnTo>
                  <a:pt x="1047462" y="265844"/>
                </a:lnTo>
                <a:lnTo>
                  <a:pt x="1016161" y="321583"/>
                </a:lnTo>
                <a:lnTo>
                  <a:pt x="957341" y="371163"/>
                </a:lnTo>
                <a:lnTo>
                  <a:pt x="918845" y="393090"/>
                </a:lnTo>
                <a:lnTo>
                  <a:pt x="874948" y="412812"/>
                </a:lnTo>
                <a:lnTo>
                  <a:pt x="826143" y="430108"/>
                </a:lnTo>
                <a:lnTo>
                  <a:pt x="772926" y="444756"/>
                </a:lnTo>
                <a:lnTo>
                  <a:pt x="715787" y="456535"/>
                </a:lnTo>
                <a:lnTo>
                  <a:pt x="655221" y="465223"/>
                </a:lnTo>
                <a:lnTo>
                  <a:pt x="591721" y="470598"/>
                </a:lnTo>
                <a:lnTo>
                  <a:pt x="525780" y="472439"/>
                </a:lnTo>
                <a:lnTo>
                  <a:pt x="459838" y="470598"/>
                </a:lnTo>
                <a:lnTo>
                  <a:pt x="396338" y="465223"/>
                </a:lnTo>
                <a:lnTo>
                  <a:pt x="335772" y="456535"/>
                </a:lnTo>
                <a:lnTo>
                  <a:pt x="278633" y="444756"/>
                </a:lnTo>
                <a:lnTo>
                  <a:pt x="225416" y="430108"/>
                </a:lnTo>
                <a:lnTo>
                  <a:pt x="176611" y="412812"/>
                </a:lnTo>
                <a:lnTo>
                  <a:pt x="132714" y="393090"/>
                </a:lnTo>
                <a:lnTo>
                  <a:pt x="94218" y="371163"/>
                </a:lnTo>
                <a:lnTo>
                  <a:pt x="61614" y="347254"/>
                </a:lnTo>
                <a:lnTo>
                  <a:pt x="16061" y="294373"/>
                </a:lnTo>
                <a:lnTo>
                  <a:pt x="0" y="236219"/>
                </a:lnTo>
                <a:close/>
              </a:path>
            </a:pathLst>
          </a:custGeom>
          <a:ln w="22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Arial Rounded MT Bold" panose="020F0704030504030204" pitchFamily="34" charset="0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673848" y="1908353"/>
            <a:ext cx="78105" cy="1130935"/>
          </a:xfrm>
          <a:custGeom>
            <a:avLst/>
            <a:gdLst/>
            <a:ahLst/>
            <a:cxnLst/>
            <a:rect l="l" t="t" r="r" b="b"/>
            <a:pathLst>
              <a:path w="78104" h="1130935">
                <a:moveTo>
                  <a:pt x="0" y="1001268"/>
                </a:moveTo>
                <a:lnTo>
                  <a:pt x="38862" y="1130808"/>
                </a:lnTo>
                <a:lnTo>
                  <a:pt x="62179" y="1053084"/>
                </a:lnTo>
                <a:lnTo>
                  <a:pt x="25908" y="1053084"/>
                </a:lnTo>
                <a:lnTo>
                  <a:pt x="25908" y="1035812"/>
                </a:lnTo>
                <a:lnTo>
                  <a:pt x="0" y="1001268"/>
                </a:lnTo>
                <a:close/>
              </a:path>
              <a:path w="78104" h="1130935">
                <a:moveTo>
                  <a:pt x="25908" y="1035812"/>
                </a:moveTo>
                <a:lnTo>
                  <a:pt x="25908" y="1053084"/>
                </a:lnTo>
                <a:lnTo>
                  <a:pt x="38862" y="1053084"/>
                </a:lnTo>
                <a:lnTo>
                  <a:pt x="25908" y="1035812"/>
                </a:lnTo>
                <a:close/>
              </a:path>
              <a:path w="78104" h="1130935">
                <a:moveTo>
                  <a:pt x="51816" y="0"/>
                </a:moveTo>
                <a:lnTo>
                  <a:pt x="25908" y="0"/>
                </a:lnTo>
                <a:lnTo>
                  <a:pt x="25908" y="1035812"/>
                </a:lnTo>
                <a:lnTo>
                  <a:pt x="38862" y="1053084"/>
                </a:lnTo>
                <a:lnTo>
                  <a:pt x="51816" y="1035812"/>
                </a:lnTo>
                <a:lnTo>
                  <a:pt x="51816" y="0"/>
                </a:lnTo>
                <a:close/>
              </a:path>
              <a:path w="78104" h="1130935">
                <a:moveTo>
                  <a:pt x="51816" y="1035812"/>
                </a:moveTo>
                <a:lnTo>
                  <a:pt x="38862" y="1053084"/>
                </a:lnTo>
                <a:lnTo>
                  <a:pt x="51816" y="1053084"/>
                </a:lnTo>
                <a:lnTo>
                  <a:pt x="51816" y="1035812"/>
                </a:lnTo>
                <a:close/>
              </a:path>
              <a:path w="78104" h="1130935">
                <a:moveTo>
                  <a:pt x="77724" y="1001268"/>
                </a:moveTo>
                <a:lnTo>
                  <a:pt x="51816" y="1035812"/>
                </a:lnTo>
                <a:lnTo>
                  <a:pt x="51816" y="1053084"/>
                </a:lnTo>
                <a:lnTo>
                  <a:pt x="62179" y="1053084"/>
                </a:lnTo>
                <a:lnTo>
                  <a:pt x="77724" y="10012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Arial Rounded MT Bold" panose="020F0704030504030204" pitchFamily="34" charset="0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280400" y="1893113"/>
            <a:ext cx="78105" cy="1038225"/>
          </a:xfrm>
          <a:custGeom>
            <a:avLst/>
            <a:gdLst/>
            <a:ahLst/>
            <a:cxnLst/>
            <a:rect l="l" t="t" r="r" b="b"/>
            <a:pathLst>
              <a:path w="78104" h="1038225">
                <a:moveTo>
                  <a:pt x="38862" y="77724"/>
                </a:moveTo>
                <a:lnTo>
                  <a:pt x="25908" y="94996"/>
                </a:lnTo>
                <a:lnTo>
                  <a:pt x="25908" y="1037843"/>
                </a:lnTo>
                <a:lnTo>
                  <a:pt x="51816" y="1037843"/>
                </a:lnTo>
                <a:lnTo>
                  <a:pt x="51816" y="94996"/>
                </a:lnTo>
                <a:lnTo>
                  <a:pt x="38862" y="77724"/>
                </a:lnTo>
                <a:close/>
              </a:path>
              <a:path w="78104" h="1038225">
                <a:moveTo>
                  <a:pt x="38862" y="0"/>
                </a:moveTo>
                <a:lnTo>
                  <a:pt x="0" y="129539"/>
                </a:lnTo>
                <a:lnTo>
                  <a:pt x="25908" y="94996"/>
                </a:lnTo>
                <a:lnTo>
                  <a:pt x="25908" y="77724"/>
                </a:lnTo>
                <a:lnTo>
                  <a:pt x="62179" y="77724"/>
                </a:lnTo>
                <a:lnTo>
                  <a:pt x="38862" y="0"/>
                </a:lnTo>
                <a:close/>
              </a:path>
              <a:path w="78104" h="1038225">
                <a:moveTo>
                  <a:pt x="62179" y="77724"/>
                </a:moveTo>
                <a:lnTo>
                  <a:pt x="51816" y="77724"/>
                </a:lnTo>
                <a:lnTo>
                  <a:pt x="51816" y="94996"/>
                </a:lnTo>
                <a:lnTo>
                  <a:pt x="77724" y="129539"/>
                </a:lnTo>
                <a:lnTo>
                  <a:pt x="62179" y="77724"/>
                </a:lnTo>
                <a:close/>
              </a:path>
              <a:path w="78104" h="1038225">
                <a:moveTo>
                  <a:pt x="38862" y="77724"/>
                </a:moveTo>
                <a:lnTo>
                  <a:pt x="25908" y="77724"/>
                </a:lnTo>
                <a:lnTo>
                  <a:pt x="25908" y="94996"/>
                </a:lnTo>
                <a:lnTo>
                  <a:pt x="38862" y="77724"/>
                </a:lnTo>
                <a:close/>
              </a:path>
              <a:path w="78104" h="1038225">
                <a:moveTo>
                  <a:pt x="51816" y="77724"/>
                </a:moveTo>
                <a:lnTo>
                  <a:pt x="38862" y="77724"/>
                </a:lnTo>
                <a:lnTo>
                  <a:pt x="51816" y="94996"/>
                </a:lnTo>
                <a:lnTo>
                  <a:pt x="51816" y="777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Arial Rounded MT Bold" panose="020F0704030504030204" pitchFamily="34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26276" y="2215820"/>
            <a:ext cx="607567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b="1" dirty="0">
                <a:latin typeface="Arial Rounded MT Bold" panose="020F0704030504030204" pitchFamily="34" charset="0"/>
                <a:cs typeface="Arial"/>
              </a:rPr>
              <a:t>5/10</a:t>
            </a:r>
            <a:endParaRPr sz="2000" dirty="0">
              <a:latin typeface="Arial Rounded MT Bold" panose="020F0704030504030204" pitchFamily="34" charset="0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368031" y="2223186"/>
            <a:ext cx="518921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b="1" dirty="0">
                <a:latin typeface="Arial Rounded MT Bold" panose="020F0704030504030204" pitchFamily="34" charset="0"/>
                <a:cs typeface="Arial"/>
              </a:rPr>
              <a:t>0</a:t>
            </a:r>
            <a:r>
              <a:rPr sz="2000" b="1" spc="-10" dirty="0">
                <a:latin typeface="Arial Rounded MT Bold" panose="020F0704030504030204" pitchFamily="34" charset="0"/>
                <a:cs typeface="Arial"/>
              </a:rPr>
              <a:t>/</a:t>
            </a:r>
            <a:r>
              <a:rPr sz="2000" b="1" dirty="0">
                <a:latin typeface="Arial Rounded MT Bold" panose="020F0704030504030204" pitchFamily="34" charset="0"/>
                <a:cs typeface="Arial"/>
              </a:rPr>
              <a:t>4</a:t>
            </a:r>
            <a:endParaRPr sz="2000" dirty="0">
              <a:latin typeface="Arial Rounded MT Bold" panose="020F0704030504030204" pitchFamily="34" charset="0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29700" y="3020644"/>
            <a:ext cx="1588135" cy="842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620" algn="ctr">
              <a:spcBef>
                <a:spcPts val="105"/>
              </a:spcBef>
            </a:pPr>
            <a:r>
              <a:rPr sz="2000" b="1" dirty="0">
                <a:latin typeface="Arial Rounded MT Bold" panose="020F0704030504030204" pitchFamily="34" charset="0"/>
                <a:cs typeface="Arial"/>
              </a:rPr>
              <a:t>v</a:t>
            </a:r>
            <a:endParaRPr sz="2000" dirty="0">
              <a:latin typeface="Arial Rounded MT Bold" panose="020F0704030504030204" pitchFamily="34" charset="0"/>
              <a:cs typeface="Arial"/>
            </a:endParaRPr>
          </a:p>
          <a:p>
            <a:pPr algn="ctr">
              <a:spcBef>
                <a:spcPts val="1620"/>
              </a:spcBef>
            </a:pPr>
            <a:r>
              <a:rPr sz="2000" b="1" spc="-5" dirty="0">
                <a:latin typeface="Arial Rounded MT Bold" panose="020F0704030504030204" pitchFamily="34" charset="0"/>
                <a:cs typeface="Arial"/>
              </a:rPr>
              <a:t>f(u,v) </a:t>
            </a:r>
            <a:r>
              <a:rPr sz="2000" b="1" dirty="0">
                <a:latin typeface="Arial Rounded MT Bold" panose="020F0704030504030204" pitchFamily="34" charset="0"/>
                <a:cs typeface="Arial"/>
              </a:rPr>
              <a:t>=8-3=</a:t>
            </a:r>
            <a:r>
              <a:rPr sz="2000" b="1" spc="-120" dirty="0">
                <a:latin typeface="Arial Rounded MT Bold" panose="020F0704030504030204" pitchFamily="34" charset="0"/>
                <a:cs typeface="Arial"/>
              </a:rPr>
              <a:t> </a:t>
            </a:r>
            <a:r>
              <a:rPr sz="2000" b="1" dirty="0">
                <a:latin typeface="Arial Rounded MT Bold" panose="020F0704030504030204" pitchFamily="34" charset="0"/>
                <a:cs typeface="Arial"/>
              </a:rPr>
              <a:t>5</a:t>
            </a:r>
            <a:endParaRPr sz="2000" dirty="0">
              <a:latin typeface="Arial Rounded MT Bold" panose="020F0704030504030204" pitchFamily="34" charset="0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09991" y="3007995"/>
            <a:ext cx="1772035" cy="842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207645" algn="ctr">
              <a:spcBef>
                <a:spcPts val="105"/>
              </a:spcBef>
            </a:pPr>
            <a:r>
              <a:rPr sz="2000" b="1" dirty="0">
                <a:latin typeface="Arial Rounded MT Bold" panose="020F0704030504030204" pitchFamily="34" charset="0"/>
                <a:cs typeface="Arial"/>
              </a:rPr>
              <a:t>v</a:t>
            </a:r>
            <a:endParaRPr sz="2000" dirty="0">
              <a:latin typeface="Arial Rounded MT Bold" panose="020F0704030504030204" pitchFamily="34" charset="0"/>
              <a:cs typeface="Arial"/>
            </a:endParaRPr>
          </a:p>
          <a:p>
            <a:pPr marL="12700">
              <a:spcBef>
                <a:spcPts val="1620"/>
              </a:spcBef>
            </a:pPr>
            <a:r>
              <a:rPr sz="2000" b="1" spc="-30" dirty="0">
                <a:latin typeface="Arial Rounded MT Bold" panose="020F0704030504030204" pitchFamily="34" charset="0"/>
                <a:cs typeface="Arial"/>
              </a:rPr>
              <a:t>f(v,u) </a:t>
            </a:r>
            <a:r>
              <a:rPr sz="2000" b="1" dirty="0">
                <a:latin typeface="Arial Rounded MT Bold" panose="020F0704030504030204" pitchFamily="34" charset="0"/>
                <a:cs typeface="Arial"/>
              </a:rPr>
              <a:t>=0-5=</a:t>
            </a:r>
            <a:r>
              <a:rPr sz="2000" b="1" spc="-90" dirty="0">
                <a:latin typeface="Arial Rounded MT Bold" panose="020F0704030504030204" pitchFamily="34" charset="0"/>
                <a:cs typeface="Arial"/>
              </a:rPr>
              <a:t> </a:t>
            </a:r>
            <a:r>
              <a:rPr sz="2000" b="1" dirty="0">
                <a:latin typeface="Arial Rounded MT Bold" panose="020F0704030504030204" pitchFamily="34" charset="0"/>
                <a:cs typeface="Arial"/>
              </a:rPr>
              <a:t>-5</a:t>
            </a:r>
            <a:endParaRPr sz="2000" dirty="0">
              <a:latin typeface="Arial Rounded MT Bold" panose="020F0704030504030204" pitchFamily="34" charset="0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92350" y="4466083"/>
            <a:ext cx="7905750" cy="11496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indent="-457200">
              <a:spcBef>
                <a:spcPts val="105"/>
              </a:spcBef>
              <a:buClr>
                <a:srgbClr val="5B9BD4"/>
              </a:buClr>
              <a:buSzPct val="79687"/>
              <a:buFont typeface="Wingdings" panose="05000000000000000000" pitchFamily="2" charset="2"/>
              <a:buChar char="u"/>
              <a:tabLst>
                <a:tab pos="355600" algn="l"/>
              </a:tabLst>
            </a:pPr>
            <a:r>
              <a:rPr sz="3200" spc="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顶</a:t>
            </a:r>
            <a:r>
              <a:rPr sz="32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点</a:t>
            </a:r>
            <a:r>
              <a:rPr sz="3200" spc="-2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u</a:t>
            </a:r>
            <a:r>
              <a:rPr sz="32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处的总净流量(total</a:t>
            </a:r>
            <a:r>
              <a:rPr sz="3200" spc="-6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 </a:t>
            </a:r>
            <a:r>
              <a:rPr sz="3200" spc="-1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net</a:t>
            </a:r>
            <a:r>
              <a:rPr sz="3200" spc="-2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 </a:t>
            </a:r>
            <a:r>
              <a:rPr sz="3200" spc="-2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flow)</a:t>
            </a:r>
            <a:endParaRPr sz="3200" dirty="0">
              <a:latin typeface="思源黑体 CN Normal" panose="020B0400000000000000" pitchFamily="34" charset="-122"/>
              <a:ea typeface="思源黑体 CN Normal" panose="020B0400000000000000" pitchFamily="34" charset="-122"/>
              <a:cs typeface="Arial Unicode MS"/>
            </a:endParaRPr>
          </a:p>
          <a:p>
            <a:pPr marL="12700">
              <a:spcBef>
                <a:spcPts val="1920"/>
              </a:spcBef>
            </a:pPr>
            <a:r>
              <a:rPr sz="2600" spc="-3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f(u,v)=</a:t>
            </a:r>
            <a:r>
              <a:rPr sz="26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离开顶点</a:t>
            </a:r>
            <a:r>
              <a:rPr sz="2600" spc="-1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u</a:t>
            </a:r>
            <a:r>
              <a:rPr sz="26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的总正流量</a:t>
            </a:r>
            <a:r>
              <a:rPr sz="2600" spc="-5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 </a:t>
            </a:r>
            <a:r>
              <a:rPr sz="2600" spc="434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-</a:t>
            </a:r>
            <a:r>
              <a:rPr sz="2600" spc="-1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 </a:t>
            </a:r>
            <a:r>
              <a:rPr sz="26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进入顶点</a:t>
            </a:r>
            <a:r>
              <a:rPr sz="2600" spc="-1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u</a:t>
            </a:r>
            <a:r>
              <a:rPr sz="26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的总</a:t>
            </a:r>
            <a:r>
              <a:rPr sz="2600" spc="-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正</a:t>
            </a:r>
            <a:r>
              <a:rPr sz="26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流量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24A555F-DA93-5C4A-9EF8-0F38DF715B23}"/>
              </a:ext>
            </a:extLst>
          </p:cNvPr>
          <p:cNvSpPr txBox="1"/>
          <p:nvPr/>
        </p:nvSpPr>
        <p:spPr>
          <a:xfrm>
            <a:off x="3712526" y="5831332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620"/>
              </a:spcBef>
            </a:pPr>
            <a:r>
              <a:rPr lang="zh-CN" altLang="en-US" sz="2800" spc="-5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/>
              </a:rPr>
              <a:t>例如</a:t>
            </a:r>
            <a:r>
              <a:rPr lang="zh-CN" altLang="en-US" sz="2800" spc="-5" dirty="0">
                <a:solidFill>
                  <a:srgbClr val="00B050"/>
                </a:solidFill>
                <a:latin typeface="Arial Rounded MT Bold" panose="020F0704030504030204" pitchFamily="34" charset="0"/>
                <a:cs typeface="Arial"/>
              </a:rPr>
              <a:t> </a:t>
            </a:r>
            <a:r>
              <a:rPr lang="en-US" altLang="zh-CN" sz="2800" b="1" spc="-5" dirty="0">
                <a:solidFill>
                  <a:srgbClr val="00B050"/>
                </a:solidFill>
                <a:cs typeface="Arial"/>
              </a:rPr>
              <a:t>f(</a:t>
            </a:r>
            <a:r>
              <a:rPr lang="en-US" altLang="zh-CN" sz="2800" b="1" spc="-5" dirty="0" err="1">
                <a:solidFill>
                  <a:srgbClr val="00B050"/>
                </a:solidFill>
                <a:cs typeface="Arial"/>
              </a:rPr>
              <a:t>u,v</a:t>
            </a:r>
            <a:r>
              <a:rPr lang="en-US" altLang="zh-CN" sz="2800" b="1" spc="-5" dirty="0">
                <a:solidFill>
                  <a:srgbClr val="00B050"/>
                </a:solidFill>
                <a:cs typeface="Arial"/>
              </a:rPr>
              <a:t>) </a:t>
            </a:r>
            <a:r>
              <a:rPr lang="en-US" altLang="zh-CN" sz="2800" b="1" dirty="0">
                <a:solidFill>
                  <a:srgbClr val="00B050"/>
                </a:solidFill>
                <a:cs typeface="Arial"/>
              </a:rPr>
              <a:t>=8-3=</a:t>
            </a:r>
            <a:r>
              <a:rPr lang="en-US" altLang="zh-CN" sz="2800" b="1" spc="-120" dirty="0">
                <a:solidFill>
                  <a:srgbClr val="00B050"/>
                </a:solidFill>
                <a:cs typeface="Arial"/>
              </a:rPr>
              <a:t> </a:t>
            </a:r>
            <a:r>
              <a:rPr lang="en-US" altLang="zh-CN" sz="2800" b="1" dirty="0">
                <a:solidFill>
                  <a:srgbClr val="00B050"/>
                </a:solidFill>
                <a:cs typeface="Arial"/>
              </a:rPr>
              <a:t>5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9706CF0-A3A2-C336-1497-291479071452}"/>
              </a:ext>
            </a:extLst>
          </p:cNvPr>
          <p:cNvSpPr txBox="1"/>
          <p:nvPr/>
        </p:nvSpPr>
        <p:spPr>
          <a:xfrm>
            <a:off x="380724" y="299408"/>
            <a:ext cx="20702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基本概念</a:t>
            </a:r>
          </a:p>
        </p:txBody>
      </p:sp>
      <p:sp>
        <p:nvSpPr>
          <p:cNvPr id="22" name="圆角矩形 8">
            <a:extLst>
              <a:ext uri="{FF2B5EF4-FFF2-40B4-BE49-F238E27FC236}">
                <a16:creationId xmlns:a16="http://schemas.microsoft.com/office/drawing/2014/main" id="{D928F5ED-5470-62B9-10CA-EC26A11A334C}"/>
              </a:ext>
            </a:extLst>
          </p:cNvPr>
          <p:cNvSpPr/>
          <p:nvPr/>
        </p:nvSpPr>
        <p:spPr>
          <a:xfrm>
            <a:off x="238663" y="311105"/>
            <a:ext cx="2297148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7316F420-1C57-2259-9E73-FCDD74901726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9982CDF-9D4A-5153-9912-995BC34AB53D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072383" y="1583727"/>
            <a:ext cx="5687568" cy="33220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F6A514A-7AED-5B3E-6F10-9790150F91EC}"/>
              </a:ext>
            </a:extLst>
          </p:cNvPr>
          <p:cNvSpPr txBox="1"/>
          <p:nvPr/>
        </p:nvSpPr>
        <p:spPr>
          <a:xfrm>
            <a:off x="380724" y="299408"/>
            <a:ext cx="20702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流的相消</a:t>
            </a:r>
          </a:p>
        </p:txBody>
      </p:sp>
      <p:sp>
        <p:nvSpPr>
          <p:cNvPr id="6" name="圆角矩形 8">
            <a:extLst>
              <a:ext uri="{FF2B5EF4-FFF2-40B4-BE49-F238E27FC236}">
                <a16:creationId xmlns:a16="http://schemas.microsoft.com/office/drawing/2014/main" id="{B4DD7684-8249-242F-6A83-161E2460E8F1}"/>
              </a:ext>
            </a:extLst>
          </p:cNvPr>
          <p:cNvSpPr/>
          <p:nvPr/>
        </p:nvSpPr>
        <p:spPr>
          <a:xfrm>
            <a:off x="238663" y="311105"/>
            <a:ext cx="2297148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D30CDD-6FE6-1535-DEB7-D68BE125BD2D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E12B35F-DE12-C8CC-EC06-3E87005AF4E7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187" name="Rectangle 3">
            <a:extLst>
              <a:ext uri="{FF2B5EF4-FFF2-40B4-BE49-F238E27FC236}">
                <a16:creationId xmlns:a16="http://schemas.microsoft.com/office/drawing/2014/main" id="{28D004DA-1EA5-4E3E-BEB1-66F37E51DA3E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997595" y="1527800"/>
            <a:ext cx="10196810" cy="41148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我们假设任意确定时间下，两个节点之间只有一个方向有流量</a:t>
            </a:r>
            <a:endParaRPr lang="en-US" altLang="zh-CN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从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Edmonton</a:t>
            </a: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到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Calgary</a:t>
            </a: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送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7</a:t>
            </a: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个流量并且从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Calgary</a:t>
            </a: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到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Edmonton</a:t>
            </a: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送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个流量，</a:t>
            </a:r>
            <a:r>
              <a:rPr lang="zh-CN" altLang="en-US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相当于从</a:t>
            </a:r>
            <a:r>
              <a:rPr lang="en-US" altLang="zh-CN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Edmonton</a:t>
            </a:r>
            <a:r>
              <a:rPr lang="zh-CN" altLang="en-US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到</a:t>
            </a:r>
            <a:r>
              <a:rPr lang="en-US" altLang="zh-CN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Calgary</a:t>
            </a:r>
            <a:r>
              <a:rPr lang="zh-CN" altLang="en-US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送</a:t>
            </a:r>
            <a:r>
              <a:rPr lang="en-US" altLang="zh-CN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个流量</a:t>
            </a:r>
            <a:r>
              <a:rPr lang="en-US" altLang="zh-CN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. </a:t>
            </a:r>
          </a:p>
        </p:txBody>
      </p:sp>
      <p:graphicFrame>
        <p:nvGraphicFramePr>
          <p:cNvPr id="14341" name="Object 2">
            <a:extLst>
              <a:ext uri="{FF2B5EF4-FFF2-40B4-BE49-F238E27FC236}">
                <a16:creationId xmlns:a16="http://schemas.microsoft.com/office/drawing/2014/main" id="{3EB5800F-3DF9-4D86-AA44-E7CCBA1764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233526"/>
              </p:ext>
            </p:extLst>
          </p:nvPr>
        </p:nvGraphicFramePr>
        <p:xfrm>
          <a:off x="3365369" y="2266179"/>
          <a:ext cx="5583988" cy="236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 Publisher Image" r:id="rId3" imgW="4438650" imgH="1876425" progId="PictPub.Image.8">
                  <p:embed/>
                </p:oleObj>
              </mc:Choice>
              <mc:Fallback>
                <p:oleObj name="Picture Publisher Image" r:id="rId3" imgW="4438650" imgH="1876425" progId="PictPub.Image.8">
                  <p:embed/>
                  <p:pic>
                    <p:nvPicPr>
                      <p:cNvPr id="14341" name="Object 2">
                        <a:extLst>
                          <a:ext uri="{FF2B5EF4-FFF2-40B4-BE49-F238E27FC236}">
                            <a16:creationId xmlns:a16="http://schemas.microsoft.com/office/drawing/2014/main" id="{3EB5800F-3DF9-4D86-AA44-E7CCBA1764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5369" y="2266179"/>
                        <a:ext cx="5583988" cy="2360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A4C1A7FD-76A0-71B8-F453-9A840AAD2A01}"/>
              </a:ext>
            </a:extLst>
          </p:cNvPr>
          <p:cNvSpPr txBox="1"/>
          <p:nvPr/>
        </p:nvSpPr>
        <p:spPr>
          <a:xfrm>
            <a:off x="380724" y="299408"/>
            <a:ext cx="32398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单一流向假设</a:t>
            </a:r>
          </a:p>
        </p:txBody>
      </p:sp>
      <p:sp>
        <p:nvSpPr>
          <p:cNvPr id="5" name="圆角矩形 8">
            <a:extLst>
              <a:ext uri="{FF2B5EF4-FFF2-40B4-BE49-F238E27FC236}">
                <a16:creationId xmlns:a16="http://schemas.microsoft.com/office/drawing/2014/main" id="{F804E962-C06B-5F1F-B79E-9D47715F94D7}"/>
              </a:ext>
            </a:extLst>
          </p:cNvPr>
          <p:cNvSpPr/>
          <p:nvPr/>
        </p:nvSpPr>
        <p:spPr>
          <a:xfrm>
            <a:off x="238662" y="311105"/>
            <a:ext cx="3239829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0EE6AB3-F0BB-99BA-C4A8-CC61276FDCEC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9BB7B45-D55A-BA99-75AB-F18BD345AA74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3236839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89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89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89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89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9187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211" name="Rectangle 3">
            <a:extLst>
              <a:ext uri="{FF2B5EF4-FFF2-40B4-BE49-F238E27FC236}">
                <a16:creationId xmlns:a16="http://schemas.microsoft.com/office/drawing/2014/main" id="{18E66FA2-A276-4E4F-BE7D-7E745900E769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263192" y="1139825"/>
            <a:ext cx="9558779" cy="1509106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假设有多个源点和多个汇点，希望最大化从所有源点到所有汇点的流</a:t>
            </a: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建立一个超源点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</a:t>
            </a:r>
            <a:r>
              <a:rPr lang="en-US" altLang="zh-CN" sz="2400" baseline="-250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从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</a:t>
            </a:r>
            <a:r>
              <a:rPr lang="en-US" altLang="zh-CN" sz="2400" baseline="-250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各引容量为∞的边与原来各源点相连。</a:t>
            </a:r>
          </a:p>
          <a:p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建立一个超汇点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t</a:t>
            </a:r>
            <a:r>
              <a:rPr lang="en-US" altLang="zh-CN" sz="2400" baseline="-250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从原来各汇点各引容量为∞的边与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t</a:t>
            </a:r>
            <a:r>
              <a:rPr lang="en-US" altLang="zh-CN" sz="2400" baseline="-250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相连。</a:t>
            </a:r>
          </a:p>
        </p:txBody>
      </p:sp>
      <p:graphicFrame>
        <p:nvGraphicFramePr>
          <p:cNvPr id="990212" name="Object 2">
            <a:extLst>
              <a:ext uri="{FF2B5EF4-FFF2-40B4-BE49-F238E27FC236}">
                <a16:creationId xmlns:a16="http://schemas.microsoft.com/office/drawing/2014/main" id="{4EEA01B8-CA24-4DCD-9735-DF5381216A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4426328"/>
              </p:ext>
            </p:extLst>
          </p:nvPr>
        </p:nvGraphicFramePr>
        <p:xfrm>
          <a:off x="2003238" y="2745834"/>
          <a:ext cx="2444750" cy="3741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 Publisher Image" r:id="rId3" imgW="2962275" imgH="4533900" progId="PictPub.Image.8">
                  <p:embed/>
                </p:oleObj>
              </mc:Choice>
              <mc:Fallback>
                <p:oleObj name="Picture Publisher Image" r:id="rId3" imgW="2962275" imgH="4533900" progId="PictPub.Image.8">
                  <p:embed/>
                  <p:pic>
                    <p:nvPicPr>
                      <p:cNvPr id="990212" name="Object 2">
                        <a:extLst>
                          <a:ext uri="{FF2B5EF4-FFF2-40B4-BE49-F238E27FC236}">
                            <a16:creationId xmlns:a16="http://schemas.microsoft.com/office/drawing/2014/main" id="{4EEA01B8-CA24-4DCD-9735-DF5381216A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3238" y="2745834"/>
                        <a:ext cx="2444750" cy="3741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0213" name="Object 3">
            <a:extLst>
              <a:ext uri="{FF2B5EF4-FFF2-40B4-BE49-F238E27FC236}">
                <a16:creationId xmlns:a16="http://schemas.microsoft.com/office/drawing/2014/main" id="{DCBE621E-4F89-4A62-B5F2-16CE367AFB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9786779"/>
              </p:ext>
            </p:extLst>
          </p:nvPr>
        </p:nvGraphicFramePr>
        <p:xfrm>
          <a:off x="6608950" y="2727578"/>
          <a:ext cx="3514725" cy="377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 Publisher Image" r:id="rId5" imgW="4762500" imgH="4524375" progId="PictPub.Image.8">
                  <p:embed/>
                </p:oleObj>
              </mc:Choice>
              <mc:Fallback>
                <p:oleObj name="Picture Publisher Image" r:id="rId5" imgW="4762500" imgH="4524375" progId="PictPub.Image.8">
                  <p:embed/>
                  <p:pic>
                    <p:nvPicPr>
                      <p:cNvPr id="990213" name="Object 3">
                        <a:extLst>
                          <a:ext uri="{FF2B5EF4-FFF2-40B4-BE49-F238E27FC236}">
                            <a16:creationId xmlns:a16="http://schemas.microsoft.com/office/drawing/2014/main" id="{DCBE621E-4F89-4A62-B5F2-16CE367AFB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8950" y="2727578"/>
                        <a:ext cx="3514725" cy="3778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0214" name="Line 6">
            <a:extLst>
              <a:ext uri="{FF2B5EF4-FFF2-40B4-BE49-F238E27FC236}">
                <a16:creationId xmlns:a16="http://schemas.microsoft.com/office/drawing/2014/main" id="{8A788EF3-D55C-4906-885D-9BD7FB86EEF6}"/>
              </a:ext>
            </a:extLst>
          </p:cNvPr>
          <p:cNvSpPr>
            <a:spLocks noChangeShapeType="1"/>
          </p:cNvSpPr>
          <p:nvPr/>
        </p:nvSpPr>
        <p:spPr bwMode="auto">
          <a:xfrm>
            <a:off x="4656138" y="4546034"/>
            <a:ext cx="1744663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3F442C3-DF22-8313-EF6D-2F026F5B6DD1}"/>
              </a:ext>
            </a:extLst>
          </p:cNvPr>
          <p:cNvSpPr txBox="1"/>
          <p:nvPr/>
        </p:nvSpPr>
        <p:spPr>
          <a:xfrm>
            <a:off x="380724" y="299408"/>
            <a:ext cx="45603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单一源点、汇点假设</a:t>
            </a:r>
          </a:p>
        </p:txBody>
      </p:sp>
      <p:sp>
        <p:nvSpPr>
          <p:cNvPr id="3" name="圆角矩形 8">
            <a:extLst>
              <a:ext uri="{FF2B5EF4-FFF2-40B4-BE49-F238E27FC236}">
                <a16:creationId xmlns:a16="http://schemas.microsoft.com/office/drawing/2014/main" id="{669CCB83-19DE-6359-41E6-7C247C78291C}"/>
              </a:ext>
            </a:extLst>
          </p:cNvPr>
          <p:cNvSpPr/>
          <p:nvPr/>
        </p:nvSpPr>
        <p:spPr>
          <a:xfrm>
            <a:off x="238662" y="311105"/>
            <a:ext cx="4625569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E25F796-8159-D6D2-78B9-BC16C33156AC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1A3A138-4CC0-EFAD-E79C-30B6C9FCB587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656555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0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0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0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83740" y="1281209"/>
            <a:ext cx="8300720" cy="2738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12065" indent="-172720">
              <a:lnSpc>
                <a:spcPct val="120000"/>
              </a:lnSpc>
              <a:spcBef>
                <a:spcPts val="100"/>
              </a:spcBef>
              <a:buFont typeface="Arial"/>
              <a:buChar char="•"/>
              <a:tabLst>
                <a:tab pos="185420" algn="l"/>
              </a:tabLst>
            </a:pPr>
            <a:r>
              <a:rPr sz="2800" spc="-5" dirty="0" err="1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最大</a:t>
            </a:r>
            <a:r>
              <a:rPr sz="2800" spc="-10" dirty="0" err="1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流</a:t>
            </a:r>
            <a:r>
              <a:rPr sz="2800" spc="-5" dirty="0" err="1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：给定一个</a:t>
            </a:r>
            <a:r>
              <a:rPr sz="2800" spc="100" dirty="0" err="1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s-t</a:t>
            </a:r>
            <a:r>
              <a:rPr sz="2800" spc="-5" dirty="0" err="1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网，找出一个流，</a:t>
            </a:r>
            <a:r>
              <a:rPr sz="2800" dirty="0" err="1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使</a:t>
            </a:r>
            <a:r>
              <a:rPr sz="2800" spc="-5" dirty="0" err="1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从</a:t>
            </a:r>
            <a:r>
              <a:rPr sz="2800" spc="2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 </a:t>
            </a:r>
            <a:r>
              <a:rPr sz="2800" spc="-26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s</a:t>
            </a:r>
            <a:r>
              <a:rPr lang="zh-CN" altLang="en-US" sz="2800" spc="-26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 </a:t>
            </a:r>
            <a:r>
              <a:rPr sz="2800" spc="-5" dirty="0" err="1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到</a:t>
            </a:r>
            <a:r>
              <a:rPr sz="2800" spc="-3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 </a:t>
            </a:r>
            <a:r>
              <a:rPr sz="2800" spc="11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t</a:t>
            </a:r>
            <a:r>
              <a:rPr sz="2800" spc="-4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 </a:t>
            </a:r>
            <a:r>
              <a:rPr sz="2800" spc="-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的 任何其他流不会比此流值大。</a:t>
            </a:r>
            <a:endParaRPr sz="2800" dirty="0">
              <a:latin typeface="思源黑体 CN Normal" panose="020B0400000000000000" pitchFamily="34" charset="-122"/>
              <a:ea typeface="思源黑体 CN Normal" panose="020B0400000000000000" pitchFamily="34" charset="-122"/>
              <a:cs typeface="Arial Unicode MS"/>
            </a:endParaRPr>
          </a:p>
          <a:p>
            <a:pPr marL="184785" marR="5080" indent="-172720">
              <a:lnSpc>
                <a:spcPct val="120000"/>
              </a:lnSpc>
              <a:spcBef>
                <a:spcPts val="1200"/>
              </a:spcBef>
              <a:buFont typeface="Arial"/>
              <a:buChar char="•"/>
              <a:tabLst>
                <a:tab pos="185420" algn="l"/>
              </a:tabLst>
            </a:pPr>
            <a:r>
              <a:rPr sz="2800" spc="-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最大流问题可以看成交通运输问题</a:t>
            </a:r>
            <a:r>
              <a:rPr sz="28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：</a:t>
            </a:r>
            <a:r>
              <a:rPr sz="2800" spc="-3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从</a:t>
            </a:r>
            <a:r>
              <a:rPr sz="2800" spc="-1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源</a:t>
            </a:r>
            <a:r>
              <a:rPr sz="2800" spc="-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点</a:t>
            </a:r>
            <a:r>
              <a:rPr sz="2800" spc="2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 </a:t>
            </a:r>
            <a:r>
              <a:rPr sz="2800" spc="-43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S</a:t>
            </a:r>
            <a:r>
              <a:rPr sz="2800" spc="-1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向汇点 </a:t>
            </a:r>
            <a:r>
              <a:rPr sz="2800" spc="-26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T</a:t>
            </a:r>
            <a:r>
              <a:rPr sz="2800" spc="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运送</a:t>
            </a:r>
            <a:r>
              <a:rPr sz="28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“</a:t>
            </a:r>
            <a:r>
              <a:rPr sz="2800" spc="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物品</a:t>
            </a:r>
            <a:r>
              <a:rPr sz="28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”</a:t>
            </a:r>
            <a:r>
              <a:rPr sz="2800" spc="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。其中每</a:t>
            </a:r>
            <a:r>
              <a:rPr sz="2800" spc="-1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条</a:t>
            </a:r>
            <a:r>
              <a:rPr sz="2800" spc="-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路</a:t>
            </a:r>
            <a:r>
              <a:rPr sz="2800" spc="1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 </a:t>
            </a:r>
            <a:r>
              <a:rPr sz="2800" spc="-11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(u,v)</a:t>
            </a:r>
            <a:r>
              <a:rPr sz="2800" spc="-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上都有一个流量的上 限</a:t>
            </a:r>
            <a:r>
              <a:rPr sz="2800" spc="-1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 </a:t>
            </a:r>
            <a:r>
              <a:rPr sz="2800" spc="-114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c(u,v)</a:t>
            </a:r>
            <a:r>
              <a:rPr sz="2800" spc="-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。求最多能将多少物品</a:t>
            </a:r>
            <a:r>
              <a:rPr sz="28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从</a:t>
            </a:r>
            <a:r>
              <a:rPr sz="2800" spc="-43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S</a:t>
            </a:r>
            <a:r>
              <a:rPr sz="2800" spc="-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运送到</a:t>
            </a:r>
            <a:r>
              <a:rPr sz="2800" spc="-26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T</a:t>
            </a:r>
            <a:r>
              <a:rPr sz="2800" spc="-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。</a:t>
            </a:r>
            <a:endParaRPr sz="2800" dirty="0">
              <a:latin typeface="思源黑体 CN Normal" panose="020B0400000000000000" pitchFamily="34" charset="-122"/>
              <a:ea typeface="思源黑体 CN Normal" panose="020B0400000000000000" pitchFamily="34" charset="-122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65219" y="4270067"/>
            <a:ext cx="5202475" cy="20561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AA3832D-05BD-764A-9EE7-B6A13EAE9D71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D3B0B1C-DD7B-CAB5-BBE1-D3138ACFAC64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69784" y="239697"/>
            <a:ext cx="248892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思源黑体 Bold" panose="020B0800000000000000" pitchFamily="34" charset="-122"/>
                <a:cs typeface="+mn-cs"/>
                <a:sym typeface="+mn-ea"/>
              </a:rPr>
              <a:t>主要内容</a:t>
            </a:r>
            <a:endParaRPr kumimoji="0" lang="en-US" altLang="en-US" sz="3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+mn-ea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79070" y="233045"/>
            <a:ext cx="3131820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endParaRP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D1D1F0BD-17FF-E750-0835-3164E58557E7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" name="内容占位符 5">
            <a:extLst>
              <a:ext uri="{FF2B5EF4-FFF2-40B4-BE49-F238E27FC236}">
                <a16:creationId xmlns:a16="http://schemas.microsoft.com/office/drawing/2014/main" id="{EFDE6F33-EAD8-51D1-F2B0-7AF9E1CE131D}"/>
              </a:ext>
            </a:extLst>
          </p:cNvPr>
          <p:cNvGraphicFramePr>
            <a:graphicFrameLocks/>
          </p:cNvGraphicFramePr>
          <p:nvPr/>
        </p:nvGraphicFramePr>
        <p:xfrm>
          <a:off x="3921774" y="1018096"/>
          <a:ext cx="5184322" cy="56664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585270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43">
            <a:extLst>
              <a:ext uri="{FF2B5EF4-FFF2-40B4-BE49-F238E27FC236}">
                <a16:creationId xmlns:a16="http://schemas.microsoft.com/office/drawing/2014/main" id="{932D8F9B-F2A6-8B2E-4476-EA428299A793}"/>
              </a:ext>
            </a:extLst>
          </p:cNvPr>
          <p:cNvSpPr/>
          <p:nvPr/>
        </p:nvSpPr>
        <p:spPr bwMode="auto">
          <a:xfrm>
            <a:off x="1951348" y="1818049"/>
            <a:ext cx="8213497" cy="3319560"/>
          </a:xfrm>
          <a:prstGeom prst="roundRect">
            <a:avLst>
              <a:gd name="adj" fmla="val 9992"/>
            </a:avLst>
          </a:prstGeom>
          <a:solidFill>
            <a:schemeClr val="bg1">
              <a:lumMod val="95000"/>
            </a:schemeClr>
          </a:solidFill>
          <a:ln w="3175" cap="flat" cmpd="sng">
            <a:solidFill>
              <a:schemeClr val="bg1">
                <a:lumMod val="50000"/>
              </a:schemeClr>
            </a:solidFill>
            <a:bevel/>
          </a:ln>
        </p:spPr>
        <p:txBody>
          <a:bodyPr lIns="62118" tIns="31058" rIns="62118" bIns="31058" anchor="ctr"/>
          <a:lstStyle/>
          <a:p>
            <a:pPr marL="914400" lvl="2" defTabSz="914400">
              <a:lnSpc>
                <a:spcPts val="1700"/>
              </a:lnSpc>
              <a:defRPr/>
            </a:pPr>
            <a:endParaRPr lang="zh-CN" altLang="en-US" sz="18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7373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316245" y="1919927"/>
            <a:ext cx="7848600" cy="381000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最大网络流的经典算法，</a:t>
            </a:r>
            <a:r>
              <a:rPr lang="zh-CN" altLang="en-US" sz="3200" u="sng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三个重要概念</a:t>
            </a:r>
            <a:r>
              <a:rPr lang="en-GB" altLang="zh-CN" sz="3200" u="sng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:</a:t>
            </a:r>
            <a:r>
              <a:rPr lang="en-GB" altLang="zh-CN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 </a:t>
            </a:r>
            <a:endParaRPr lang="de-DE" altLang="zh-CN" sz="3200" dirty="0">
              <a:latin typeface="思源黑体 CN Normal" panose="020B0400000000000000" pitchFamily="34" charset="-122"/>
              <a:ea typeface="思源黑体 CN Normal" panose="020B0400000000000000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剩余网络（</a:t>
            </a:r>
            <a:r>
              <a:rPr lang="en-GB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residual networks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）</a:t>
            </a:r>
            <a:endParaRPr lang="de-DE" altLang="zh-CN" sz="2800" dirty="0">
              <a:latin typeface="思源黑体 CN Normal" panose="020B0400000000000000" pitchFamily="34" charset="-122"/>
              <a:ea typeface="思源黑体 CN Normal" panose="020B0400000000000000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增广路径（</a:t>
            </a:r>
            <a:r>
              <a:rPr lang="en-GB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augmenting paths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）</a:t>
            </a:r>
            <a:endParaRPr lang="en-GB" altLang="zh-CN" sz="2800" dirty="0">
              <a:latin typeface="思源黑体 CN Normal" panose="020B0400000000000000" pitchFamily="34" charset="-122"/>
              <a:ea typeface="思源黑体 CN Normal" panose="020B0400000000000000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流网络的割（</a:t>
            </a:r>
            <a:r>
              <a:rPr lang="en-GB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cuts of flow networks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）</a:t>
            </a:r>
            <a:endParaRPr lang="de-DE" altLang="zh-CN" sz="2800" dirty="0">
              <a:latin typeface="思源黑体 CN Normal" panose="020B0400000000000000" pitchFamily="34" charset="-122"/>
              <a:ea typeface="思源黑体 CN Normal" panose="020B04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B52652E-EB9F-8FD5-B871-AF9584CDB151}"/>
              </a:ext>
            </a:extLst>
          </p:cNvPr>
          <p:cNvSpPr txBox="1"/>
          <p:nvPr/>
        </p:nvSpPr>
        <p:spPr>
          <a:xfrm>
            <a:off x="380724" y="299408"/>
            <a:ext cx="62381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Ford-Fulkerson</a:t>
            </a:r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算法</a:t>
            </a:r>
            <a:r>
              <a:rPr lang="en-US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(1956)</a:t>
            </a:r>
            <a:endParaRPr lang="zh-CN" altLang="en-US" sz="3600" b="1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3" name="圆角矩形 8">
            <a:extLst>
              <a:ext uri="{FF2B5EF4-FFF2-40B4-BE49-F238E27FC236}">
                <a16:creationId xmlns:a16="http://schemas.microsoft.com/office/drawing/2014/main" id="{14B6B453-0974-E38E-0600-D86F00AF8DDF}"/>
              </a:ext>
            </a:extLst>
          </p:cNvPr>
          <p:cNvSpPr/>
          <p:nvPr/>
        </p:nvSpPr>
        <p:spPr>
          <a:xfrm>
            <a:off x="238663" y="311105"/>
            <a:ext cx="6001882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6C4595F-22F8-9953-223B-34E2E863D850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00256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10152" y="1436016"/>
            <a:ext cx="10564305" cy="4953000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lvl="1" eaLnBrk="1" hangingPunct="1">
              <a:lnSpc>
                <a:spcPct val="110000"/>
              </a:lnSpc>
            </a:pP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给定流网络和一个流，其</a:t>
            </a:r>
            <a:r>
              <a:rPr lang="zh-CN" altLang="en-US" sz="2800" b="1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剩余网络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由可以容纳更多网络流的边所组成。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剩余网络是把已有的流看作网络本身的一部分，把有流的网络转化成无流的网络。</a:t>
            </a:r>
            <a:endParaRPr lang="en-US" altLang="zh-CN" sz="28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c(u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v) 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为容量，定义弧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</a:t>
            </a:r>
            <a:r>
              <a:rPr lang="en-US" altLang="zh-CN" sz="2800" dirty="0" err="1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u,v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)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的</a:t>
            </a:r>
            <a:r>
              <a:rPr lang="zh-CN" altLang="en-US" sz="2800" b="1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剩余容量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为</a:t>
            </a:r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		   </a:t>
            </a:r>
            <a:r>
              <a:rPr lang="en-US" altLang="zh-CN" sz="2800" dirty="0" err="1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</a:t>
            </a:r>
            <a:r>
              <a:rPr lang="en-US" altLang="zh-CN" sz="2800" baseline="-25000" dirty="0" err="1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f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(u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v) = c(u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v) - f(u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v)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</a:t>
            </a:r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它的含义是该弧的最大流增量。</a:t>
            </a:r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注意：流量为负时，剩余容量比原始容量还要大！可以这样理解：在取消反向容量以后还可以增加正向流量，因此</a:t>
            </a:r>
            <a:r>
              <a:rPr lang="zh-CN" altLang="en-US" sz="2800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流量增量（而不是终值）可以大于原始容量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。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90A6BF5-29E8-81B1-5C4D-2FEDF5D49B31}"/>
              </a:ext>
            </a:extLst>
          </p:cNvPr>
          <p:cNvSpPr txBox="1"/>
          <p:nvPr/>
        </p:nvSpPr>
        <p:spPr>
          <a:xfrm>
            <a:off x="380723" y="299408"/>
            <a:ext cx="43804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基本概念</a:t>
            </a:r>
            <a:r>
              <a:rPr lang="en-US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: </a:t>
            </a:r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剩余网络</a:t>
            </a:r>
          </a:p>
        </p:txBody>
      </p:sp>
      <p:sp>
        <p:nvSpPr>
          <p:cNvPr id="3" name="圆角矩形 8">
            <a:extLst>
              <a:ext uri="{FF2B5EF4-FFF2-40B4-BE49-F238E27FC236}">
                <a16:creationId xmlns:a16="http://schemas.microsoft.com/office/drawing/2014/main" id="{5E4F8F16-DE9E-43C8-1F07-57B7AD268AD2}"/>
              </a:ext>
            </a:extLst>
          </p:cNvPr>
          <p:cNvSpPr/>
          <p:nvPr/>
        </p:nvSpPr>
        <p:spPr>
          <a:xfrm>
            <a:off x="238663" y="311105"/>
            <a:ext cx="4380471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6C3BC1C-74B2-8BFF-5CC7-765ECCCDBB81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99154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628900" y="1077502"/>
            <a:ext cx="6470130" cy="167640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剩余网络</a:t>
            </a:r>
            <a:r>
              <a:rPr lang="en-US" altLang="zh-CN" sz="3200" b="1" dirty="0"/>
              <a:t>(</a:t>
            </a:r>
            <a:r>
              <a:rPr lang="de-DE" altLang="zh-CN" sz="3200" b="1" dirty="0"/>
              <a:t>residual network) G</a:t>
            </a:r>
            <a:r>
              <a:rPr lang="de-DE" altLang="zh-CN" sz="3200" b="1" baseline="-25000" dirty="0"/>
              <a:t>f </a:t>
            </a:r>
            <a:r>
              <a:rPr lang="de-DE" altLang="zh-CN" sz="3200" b="1" dirty="0"/>
              <a:t>: </a:t>
            </a:r>
          </a:p>
          <a:p>
            <a:pPr lvl="1">
              <a:lnSpc>
                <a:spcPct val="150000"/>
              </a:lnSpc>
            </a:pPr>
            <a:r>
              <a:rPr lang="de-DE" altLang="zh-CN" sz="2800" b="1" dirty="0"/>
              <a:t>(V, E</a:t>
            </a:r>
            <a:r>
              <a:rPr lang="de-DE" altLang="zh-CN" sz="2800" b="1" baseline="-25000" dirty="0"/>
              <a:t>f</a:t>
            </a:r>
            <a:r>
              <a:rPr lang="de-DE" altLang="zh-CN" sz="2800" b="1" dirty="0"/>
              <a:t>), (u,v) </a:t>
            </a:r>
            <a:r>
              <a:rPr lang="en-GB" altLang="zh-CN" sz="2800" b="1" dirty="0"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de-DE" altLang="zh-CN" sz="2800" b="1" dirty="0"/>
              <a:t> E</a:t>
            </a:r>
            <a:r>
              <a:rPr lang="de-DE" altLang="zh-CN" sz="2800" b="1" baseline="-25000" dirty="0"/>
              <a:t>f </a:t>
            </a:r>
            <a:r>
              <a:rPr lang="zh-CN" altLang="en-US" sz="2800" b="1" baseline="-25000" dirty="0"/>
              <a:t> </a:t>
            </a:r>
            <a:r>
              <a:rPr lang="de-DE" altLang="zh-CN" sz="2800" b="1" dirty="0"/>
              <a:t>iff</a:t>
            </a:r>
            <a:r>
              <a:rPr lang="zh-CN" altLang="en-US" sz="2800" b="1" dirty="0"/>
              <a:t> </a:t>
            </a:r>
            <a:r>
              <a:rPr lang="de-DE" altLang="zh-CN" sz="2800" b="1" dirty="0"/>
              <a:t> c</a:t>
            </a:r>
            <a:r>
              <a:rPr lang="de-DE" altLang="zh-CN" sz="2800" b="1" baseline="-25000" dirty="0"/>
              <a:t>f</a:t>
            </a:r>
            <a:r>
              <a:rPr lang="de-DE" altLang="zh-CN" sz="2800" b="1" dirty="0"/>
              <a:t>=c(u,v)-f(u,v) </a:t>
            </a:r>
            <a:r>
              <a:rPr lang="de-DE" altLang="zh-CN" sz="2800" b="1" dirty="0">
                <a:solidFill>
                  <a:srgbClr val="FF0000"/>
                </a:solidFill>
              </a:rPr>
              <a:t>&gt;</a:t>
            </a:r>
            <a:r>
              <a:rPr lang="de-DE" altLang="zh-CN" sz="2800" b="1" dirty="0"/>
              <a:t> 0</a:t>
            </a:r>
            <a:endParaRPr lang="en-US" altLang="zh-CN" sz="4400" b="1" dirty="0">
              <a:solidFill>
                <a:schemeClr val="tx2"/>
              </a:solidFill>
            </a:endParaRPr>
          </a:p>
        </p:txBody>
      </p:sp>
      <p:sp>
        <p:nvSpPr>
          <p:cNvPr id="76804" name="Oval 3"/>
          <p:cNvSpPr>
            <a:spLocks noChangeArrowheads="1"/>
          </p:cNvSpPr>
          <p:nvPr/>
        </p:nvSpPr>
        <p:spPr bwMode="auto">
          <a:xfrm>
            <a:off x="1866900" y="398145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sz="1400" b="1">
                <a:latin typeface="Arial Rounded MT Bold" panose="020F0704030504030204" pitchFamily="34" charset="0"/>
              </a:rPr>
              <a:t>S</a:t>
            </a:r>
          </a:p>
        </p:txBody>
      </p:sp>
      <p:sp>
        <p:nvSpPr>
          <p:cNvPr id="76805" name="Oval 4"/>
          <p:cNvSpPr>
            <a:spLocks noChangeArrowheads="1"/>
          </p:cNvSpPr>
          <p:nvPr/>
        </p:nvSpPr>
        <p:spPr bwMode="auto">
          <a:xfrm>
            <a:off x="5295900" y="398145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sz="1400" b="1">
                <a:latin typeface="Arial Rounded MT Bold" panose="020F0704030504030204" pitchFamily="34" charset="0"/>
              </a:rPr>
              <a:t>t</a:t>
            </a:r>
          </a:p>
        </p:txBody>
      </p:sp>
      <p:sp>
        <p:nvSpPr>
          <p:cNvPr id="76806" name="Oval 5"/>
          <p:cNvSpPr>
            <a:spLocks noChangeArrowheads="1"/>
          </p:cNvSpPr>
          <p:nvPr/>
        </p:nvSpPr>
        <p:spPr bwMode="auto">
          <a:xfrm>
            <a:off x="3009900" y="321945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sz="1400" b="1">
                <a:latin typeface="Arial Rounded MT Bold" panose="020F0704030504030204" pitchFamily="34" charset="0"/>
              </a:rPr>
              <a:t>v</a:t>
            </a:r>
            <a:r>
              <a:rPr lang="de-DE" altLang="zh-CN" sz="1400" b="1" baseline="-25000">
                <a:latin typeface="Arial Rounded MT Bold" panose="020F0704030504030204" pitchFamily="34" charset="0"/>
              </a:rPr>
              <a:t>1</a:t>
            </a:r>
          </a:p>
        </p:txBody>
      </p:sp>
      <p:sp>
        <p:nvSpPr>
          <p:cNvPr id="76807" name="Oval 6"/>
          <p:cNvSpPr>
            <a:spLocks noChangeArrowheads="1"/>
          </p:cNvSpPr>
          <p:nvPr/>
        </p:nvSpPr>
        <p:spPr bwMode="auto">
          <a:xfrm>
            <a:off x="3009900" y="474345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sz="1400" b="1">
                <a:latin typeface="Arial Rounded MT Bold" panose="020F0704030504030204" pitchFamily="34" charset="0"/>
              </a:rPr>
              <a:t>v</a:t>
            </a:r>
            <a:r>
              <a:rPr lang="de-DE" altLang="zh-CN" sz="1400" b="1" baseline="-25000"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76808" name="Oval 7"/>
          <p:cNvSpPr>
            <a:spLocks noChangeArrowheads="1"/>
          </p:cNvSpPr>
          <p:nvPr/>
        </p:nvSpPr>
        <p:spPr bwMode="auto">
          <a:xfrm>
            <a:off x="4152900" y="318135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sz="1400" b="1">
                <a:latin typeface="Arial Rounded MT Bold" panose="020F0704030504030204" pitchFamily="34" charset="0"/>
              </a:rPr>
              <a:t>v</a:t>
            </a:r>
            <a:r>
              <a:rPr lang="de-DE" altLang="zh-CN" sz="1400" b="1" baseline="-25000">
                <a:latin typeface="Arial Rounded MT Bold" panose="020F0704030504030204" pitchFamily="34" charset="0"/>
              </a:rPr>
              <a:t>3</a:t>
            </a:r>
          </a:p>
        </p:txBody>
      </p:sp>
      <p:sp>
        <p:nvSpPr>
          <p:cNvPr id="76809" name="Oval 8"/>
          <p:cNvSpPr>
            <a:spLocks noChangeArrowheads="1"/>
          </p:cNvSpPr>
          <p:nvPr/>
        </p:nvSpPr>
        <p:spPr bwMode="auto">
          <a:xfrm>
            <a:off x="4152900" y="474345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sz="1400" b="1">
                <a:latin typeface="Arial Rounded MT Bold" panose="020F0704030504030204" pitchFamily="34" charset="0"/>
              </a:rPr>
              <a:t>v</a:t>
            </a:r>
            <a:r>
              <a:rPr lang="de-DE" altLang="zh-CN" sz="1400" b="1" baseline="-25000"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76810" name="Line 9"/>
          <p:cNvSpPr>
            <a:spLocks noChangeShapeType="1"/>
          </p:cNvSpPr>
          <p:nvPr/>
        </p:nvSpPr>
        <p:spPr bwMode="auto">
          <a:xfrm>
            <a:off x="3429000" y="340995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76811" name="Line 10"/>
          <p:cNvSpPr>
            <a:spLocks noChangeShapeType="1"/>
          </p:cNvSpPr>
          <p:nvPr/>
        </p:nvSpPr>
        <p:spPr bwMode="auto">
          <a:xfrm>
            <a:off x="3429000" y="493395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76812" name="Line 11"/>
          <p:cNvSpPr>
            <a:spLocks noChangeShapeType="1"/>
          </p:cNvSpPr>
          <p:nvPr/>
        </p:nvSpPr>
        <p:spPr bwMode="auto">
          <a:xfrm flipV="1">
            <a:off x="2055813" y="3484563"/>
            <a:ext cx="989012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76813" name="Line 12"/>
          <p:cNvSpPr>
            <a:spLocks noChangeShapeType="1"/>
          </p:cNvSpPr>
          <p:nvPr/>
        </p:nvSpPr>
        <p:spPr bwMode="auto">
          <a:xfrm>
            <a:off x="2057400" y="4324350"/>
            <a:ext cx="9144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76814" name="Line 13"/>
          <p:cNvSpPr>
            <a:spLocks noChangeShapeType="1"/>
          </p:cNvSpPr>
          <p:nvPr/>
        </p:nvSpPr>
        <p:spPr bwMode="auto">
          <a:xfrm>
            <a:off x="3124200" y="3562350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76815" name="Line 14"/>
          <p:cNvSpPr>
            <a:spLocks noChangeShapeType="1"/>
          </p:cNvSpPr>
          <p:nvPr/>
        </p:nvSpPr>
        <p:spPr bwMode="auto">
          <a:xfrm flipV="1">
            <a:off x="3276600" y="3562350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76816" name="Line 15"/>
          <p:cNvSpPr>
            <a:spLocks noChangeShapeType="1"/>
          </p:cNvSpPr>
          <p:nvPr/>
        </p:nvSpPr>
        <p:spPr bwMode="auto">
          <a:xfrm flipV="1">
            <a:off x="4343400" y="3562350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76817" name="Line 16"/>
          <p:cNvSpPr>
            <a:spLocks noChangeShapeType="1"/>
          </p:cNvSpPr>
          <p:nvPr/>
        </p:nvSpPr>
        <p:spPr bwMode="auto">
          <a:xfrm flipH="1">
            <a:off x="3352800" y="3562350"/>
            <a:ext cx="91440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76818" name="Line 17"/>
          <p:cNvSpPr>
            <a:spLocks noChangeShapeType="1"/>
          </p:cNvSpPr>
          <p:nvPr/>
        </p:nvSpPr>
        <p:spPr bwMode="auto">
          <a:xfrm>
            <a:off x="4495800" y="3486150"/>
            <a:ext cx="8382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76819" name="Line 18"/>
          <p:cNvSpPr>
            <a:spLocks noChangeShapeType="1"/>
          </p:cNvSpPr>
          <p:nvPr/>
        </p:nvSpPr>
        <p:spPr bwMode="auto">
          <a:xfrm flipV="1">
            <a:off x="4572000" y="4324350"/>
            <a:ext cx="7620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76820" name="Text Box 19"/>
          <p:cNvSpPr txBox="1">
            <a:spLocks noChangeArrowheads="1"/>
          </p:cNvSpPr>
          <p:nvPr/>
        </p:nvSpPr>
        <p:spPr bwMode="auto">
          <a:xfrm rot="-5348452">
            <a:off x="2625725" y="3827463"/>
            <a:ext cx="685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sz="1400" b="1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76821" name="Text Box 20"/>
          <p:cNvSpPr txBox="1">
            <a:spLocks noChangeArrowheads="1"/>
          </p:cNvSpPr>
          <p:nvPr/>
        </p:nvSpPr>
        <p:spPr bwMode="auto">
          <a:xfrm rot="1671448">
            <a:off x="2216150" y="4706938"/>
            <a:ext cx="685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sz="1400" b="1">
                <a:latin typeface="Arial Rounded MT Bold" panose="020F0704030504030204" pitchFamily="34" charset="0"/>
              </a:rPr>
              <a:t>8/13</a:t>
            </a:r>
          </a:p>
        </p:txBody>
      </p:sp>
      <p:sp>
        <p:nvSpPr>
          <p:cNvPr id="76822" name="Text Box 21"/>
          <p:cNvSpPr txBox="1">
            <a:spLocks noChangeArrowheads="1"/>
          </p:cNvSpPr>
          <p:nvPr/>
        </p:nvSpPr>
        <p:spPr bwMode="auto">
          <a:xfrm>
            <a:off x="3429000" y="3136900"/>
            <a:ext cx="685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sz="1400" b="1">
                <a:latin typeface="Arial Rounded MT Bold" panose="020F0704030504030204" pitchFamily="34" charset="0"/>
              </a:rPr>
              <a:t>12/12</a:t>
            </a:r>
          </a:p>
        </p:txBody>
      </p:sp>
      <p:sp>
        <p:nvSpPr>
          <p:cNvPr id="76823" name="Text Box 22"/>
          <p:cNvSpPr txBox="1">
            <a:spLocks noChangeArrowheads="1"/>
          </p:cNvSpPr>
          <p:nvPr/>
        </p:nvSpPr>
        <p:spPr bwMode="auto">
          <a:xfrm rot="-1613086">
            <a:off x="2286000" y="3409950"/>
            <a:ext cx="685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sz="1400" b="1">
                <a:latin typeface="Arial Rounded MT Bold" panose="020F0704030504030204" pitchFamily="34" charset="0"/>
              </a:rPr>
              <a:t>11/16</a:t>
            </a:r>
          </a:p>
        </p:txBody>
      </p:sp>
      <p:sp>
        <p:nvSpPr>
          <p:cNvPr id="76824" name="Text Box 23"/>
          <p:cNvSpPr txBox="1">
            <a:spLocks noChangeArrowheads="1"/>
          </p:cNvSpPr>
          <p:nvPr/>
        </p:nvSpPr>
        <p:spPr bwMode="auto">
          <a:xfrm rot="-5348452">
            <a:off x="3082925" y="3825875"/>
            <a:ext cx="685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sz="1400" b="1">
                <a:latin typeface="Arial Rounded MT Bold" panose="020F0704030504030204" pitchFamily="34" charset="0"/>
              </a:rPr>
              <a:t>1/4</a:t>
            </a:r>
          </a:p>
        </p:txBody>
      </p:sp>
      <p:sp>
        <p:nvSpPr>
          <p:cNvPr id="76825" name="Text Box 24"/>
          <p:cNvSpPr txBox="1">
            <a:spLocks noChangeArrowheads="1"/>
          </p:cNvSpPr>
          <p:nvPr/>
        </p:nvSpPr>
        <p:spPr bwMode="auto">
          <a:xfrm rot="-2120564">
            <a:off x="4791075" y="4478338"/>
            <a:ext cx="685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sz="1400" b="1">
                <a:latin typeface="Arial Rounded MT Bold" panose="020F0704030504030204" pitchFamily="34" charset="0"/>
              </a:rPr>
              <a:t>4/4</a:t>
            </a:r>
          </a:p>
        </p:txBody>
      </p:sp>
      <p:sp>
        <p:nvSpPr>
          <p:cNvPr id="76826" name="Text Box 25"/>
          <p:cNvSpPr txBox="1">
            <a:spLocks noChangeArrowheads="1"/>
          </p:cNvSpPr>
          <p:nvPr/>
        </p:nvSpPr>
        <p:spPr bwMode="auto">
          <a:xfrm>
            <a:off x="3505200" y="4933950"/>
            <a:ext cx="685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sz="1400" b="1">
                <a:latin typeface="Arial Rounded MT Bold" panose="020F0704030504030204" pitchFamily="34" charset="0"/>
              </a:rPr>
              <a:t>11/14</a:t>
            </a:r>
          </a:p>
        </p:txBody>
      </p:sp>
      <p:sp>
        <p:nvSpPr>
          <p:cNvPr id="76827" name="Text Box 26"/>
          <p:cNvSpPr txBox="1">
            <a:spLocks noChangeArrowheads="1"/>
          </p:cNvSpPr>
          <p:nvPr/>
        </p:nvSpPr>
        <p:spPr bwMode="auto">
          <a:xfrm rot="1953558">
            <a:off x="4732338" y="3487738"/>
            <a:ext cx="685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sz="1400" b="1">
                <a:latin typeface="Arial Rounded MT Bold" panose="020F0704030504030204" pitchFamily="34" charset="0"/>
              </a:rPr>
              <a:t>15/20</a:t>
            </a:r>
          </a:p>
        </p:txBody>
      </p:sp>
      <p:sp>
        <p:nvSpPr>
          <p:cNvPr id="76828" name="Text Box 27"/>
          <p:cNvSpPr txBox="1">
            <a:spLocks noChangeArrowheads="1"/>
          </p:cNvSpPr>
          <p:nvPr/>
        </p:nvSpPr>
        <p:spPr bwMode="auto">
          <a:xfrm rot="-5348452">
            <a:off x="4152900" y="3827463"/>
            <a:ext cx="685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sz="1400" b="1">
                <a:latin typeface="Arial Rounded MT Bold" panose="020F0704030504030204" pitchFamily="34" charset="0"/>
              </a:rPr>
              <a:t>7/7</a:t>
            </a:r>
          </a:p>
        </p:txBody>
      </p:sp>
      <p:sp>
        <p:nvSpPr>
          <p:cNvPr id="76829" name="Text Box 28"/>
          <p:cNvSpPr txBox="1">
            <a:spLocks noChangeArrowheads="1"/>
          </p:cNvSpPr>
          <p:nvPr/>
        </p:nvSpPr>
        <p:spPr bwMode="auto">
          <a:xfrm rot="-3155862">
            <a:off x="3698875" y="4046538"/>
            <a:ext cx="685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sz="1400" b="1">
                <a:latin typeface="Arial Rounded MT Bold" panose="020F0704030504030204" pitchFamily="34" charset="0"/>
              </a:rPr>
              <a:t>4/9</a:t>
            </a:r>
          </a:p>
        </p:txBody>
      </p:sp>
      <p:grpSp>
        <p:nvGrpSpPr>
          <p:cNvPr id="76830" name="Group 74"/>
          <p:cNvGrpSpPr>
            <a:grpSpLocks/>
          </p:cNvGrpSpPr>
          <p:nvPr/>
        </p:nvGrpSpPr>
        <p:grpSpPr bwMode="auto">
          <a:xfrm>
            <a:off x="4191000" y="5175266"/>
            <a:ext cx="4191000" cy="954090"/>
            <a:chOff x="1680" y="3684"/>
            <a:chExt cx="2640" cy="601"/>
          </a:xfrm>
        </p:grpSpPr>
        <p:sp>
          <p:nvSpPr>
            <p:cNvPr id="76848" name="Text Box 32"/>
            <p:cNvSpPr txBox="1">
              <a:spLocks noChangeArrowheads="1"/>
            </p:cNvSpPr>
            <p:nvPr/>
          </p:nvSpPr>
          <p:spPr bwMode="auto">
            <a:xfrm>
              <a:off x="2178" y="3684"/>
              <a:ext cx="1536" cy="601"/>
            </a:xfrm>
            <a:prstGeom prst="rect">
              <a:avLst/>
            </a:prstGeom>
            <a:solidFill>
              <a:srgbClr val="CCFFCC"/>
            </a:solidFill>
            <a:ln w="222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sz="2800" b="1" dirty="0">
                  <a:latin typeface="Arial Rounded MT Bold" panose="020F0704030504030204" pitchFamily="34" charset="0"/>
                </a:rPr>
                <a:t>c</a:t>
              </a:r>
              <a:r>
                <a:rPr lang="de-DE" altLang="zh-CN" sz="2800" b="1" baseline="-25000" dirty="0">
                  <a:latin typeface="Arial Rounded MT Bold" panose="020F0704030504030204" pitchFamily="34" charset="0"/>
                </a:rPr>
                <a:t>f</a:t>
              </a:r>
              <a:r>
                <a:rPr lang="de-DE" altLang="zh-CN" sz="2800" b="1" dirty="0">
                  <a:latin typeface="Arial Rounded MT Bold" panose="020F0704030504030204" pitchFamily="34" charset="0"/>
                </a:rPr>
                <a:t>(</a:t>
              </a:r>
              <a:r>
                <a:rPr lang="de-DE" altLang="zh-CN" sz="2800" b="1" dirty="0" err="1">
                  <a:latin typeface="Arial Rounded MT Bold" panose="020F0704030504030204" pitchFamily="34" charset="0"/>
                </a:rPr>
                <a:t>u,v</a:t>
              </a:r>
              <a:r>
                <a:rPr lang="de-DE" altLang="zh-CN" sz="2800" b="1" dirty="0">
                  <a:latin typeface="Arial Rounded MT Bold" panose="020F0704030504030204" pitchFamily="34" charset="0"/>
                </a:rPr>
                <a:t>) = c(</a:t>
              </a:r>
              <a:r>
                <a:rPr lang="de-DE" altLang="zh-CN" sz="2800" b="1" dirty="0" err="1">
                  <a:latin typeface="Arial Rounded MT Bold" panose="020F0704030504030204" pitchFamily="34" charset="0"/>
                </a:rPr>
                <a:t>u,v</a:t>
              </a:r>
              <a:r>
                <a:rPr lang="de-DE" altLang="zh-CN" sz="2800" b="1" dirty="0">
                  <a:latin typeface="Arial Rounded MT Bold" panose="020F0704030504030204" pitchFamily="34" charset="0"/>
                </a:rPr>
                <a:t>) – f(</a:t>
              </a:r>
              <a:r>
                <a:rPr lang="de-DE" altLang="zh-CN" sz="2800" b="1" dirty="0" err="1">
                  <a:latin typeface="Arial Rounded MT Bold" panose="020F0704030504030204" pitchFamily="34" charset="0"/>
                </a:rPr>
                <a:t>u,v</a:t>
              </a:r>
              <a:r>
                <a:rPr lang="de-DE" altLang="zh-CN" sz="2800" b="1" dirty="0">
                  <a:latin typeface="Arial Rounded MT Bold" panose="020F0704030504030204" pitchFamily="34" charset="0"/>
                </a:rPr>
                <a:t>)</a:t>
              </a:r>
              <a:endParaRPr lang="de-DE" altLang="zh-CN" sz="2800" b="1" baseline="-250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76849" name="AutoShape 33"/>
            <p:cNvSpPr>
              <a:spLocks noChangeArrowheads="1"/>
            </p:cNvSpPr>
            <p:nvPr/>
          </p:nvSpPr>
          <p:spPr bwMode="auto">
            <a:xfrm>
              <a:off x="3840" y="3840"/>
              <a:ext cx="480" cy="14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17694720 60000 65536"/>
                <a:gd name="T13" fmla="*/ 11796480 60000 65536"/>
                <a:gd name="T14" fmla="*/ 11796480 60000 65536"/>
                <a:gd name="T15" fmla="*/ 5898240 60000 65536"/>
                <a:gd name="T16" fmla="*/ 0 60000 65536"/>
                <a:gd name="T17" fmla="*/ 0 60000 65536"/>
                <a:gd name="T18" fmla="*/ 0 w 21600"/>
                <a:gd name="T19" fmla="*/ 14400 h 21600"/>
                <a:gd name="T20" fmla="*/ 18495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5429" y="0"/>
                  </a:moveTo>
                  <a:lnTo>
                    <a:pt x="9257" y="7200"/>
                  </a:lnTo>
                  <a:lnTo>
                    <a:pt x="12343" y="7200"/>
                  </a:lnTo>
                  <a:lnTo>
                    <a:pt x="12343" y="14400"/>
                  </a:lnTo>
                  <a:lnTo>
                    <a:pt x="0" y="14400"/>
                  </a:lnTo>
                  <a:lnTo>
                    <a:pt x="0" y="21600"/>
                  </a:lnTo>
                  <a:lnTo>
                    <a:pt x="18514" y="21600"/>
                  </a:lnTo>
                  <a:lnTo>
                    <a:pt x="18514" y="7200"/>
                  </a:lnTo>
                  <a:lnTo>
                    <a:pt x="21600" y="7200"/>
                  </a:lnTo>
                  <a:lnTo>
                    <a:pt x="15429" y="0"/>
                  </a:lnTo>
                  <a:close/>
                </a:path>
              </a:pathLst>
            </a:custGeom>
            <a:solidFill>
              <a:schemeClr val="accent1"/>
            </a:solidFill>
            <a:ln w="222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Arial Rounded MT Bold" panose="020F0704030504030204" pitchFamily="34" charset="0"/>
              </a:endParaRPr>
            </a:p>
          </p:txBody>
        </p:sp>
        <p:sp>
          <p:nvSpPr>
            <p:cNvPr id="76850" name="AutoShape 34"/>
            <p:cNvSpPr>
              <a:spLocks noChangeArrowheads="1"/>
            </p:cNvSpPr>
            <p:nvPr/>
          </p:nvSpPr>
          <p:spPr bwMode="auto">
            <a:xfrm rot="5400000">
              <a:off x="1776" y="3696"/>
              <a:ext cx="192" cy="38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17694720 60000 65536"/>
                <a:gd name="T13" fmla="*/ 11796480 60000 65536"/>
                <a:gd name="T14" fmla="*/ 11796480 60000 65536"/>
                <a:gd name="T15" fmla="*/ 5898240 60000 65536"/>
                <a:gd name="T16" fmla="*/ 0 60000 65536"/>
                <a:gd name="T17" fmla="*/ 0 60000 65536"/>
                <a:gd name="T18" fmla="*/ 0 w 21600"/>
                <a:gd name="T19" fmla="*/ 14400 h 21600"/>
                <a:gd name="T20" fmla="*/ 18563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5429" y="0"/>
                  </a:moveTo>
                  <a:lnTo>
                    <a:pt x="9257" y="7200"/>
                  </a:lnTo>
                  <a:lnTo>
                    <a:pt x="12343" y="7200"/>
                  </a:lnTo>
                  <a:lnTo>
                    <a:pt x="12343" y="14400"/>
                  </a:lnTo>
                  <a:lnTo>
                    <a:pt x="0" y="14400"/>
                  </a:lnTo>
                  <a:lnTo>
                    <a:pt x="0" y="21600"/>
                  </a:lnTo>
                  <a:lnTo>
                    <a:pt x="18514" y="21600"/>
                  </a:lnTo>
                  <a:lnTo>
                    <a:pt x="18514" y="7200"/>
                  </a:lnTo>
                  <a:lnTo>
                    <a:pt x="21600" y="7200"/>
                  </a:lnTo>
                  <a:lnTo>
                    <a:pt x="15429" y="0"/>
                  </a:lnTo>
                  <a:close/>
                </a:path>
              </a:pathLst>
            </a:custGeom>
            <a:solidFill>
              <a:schemeClr val="accent1"/>
            </a:solidFill>
            <a:ln w="222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76831" name="Oval 35"/>
          <p:cNvSpPr>
            <a:spLocks noChangeArrowheads="1"/>
          </p:cNvSpPr>
          <p:nvPr/>
        </p:nvSpPr>
        <p:spPr bwMode="auto">
          <a:xfrm>
            <a:off x="6515100" y="398145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sz="1400" b="1">
                <a:latin typeface="Arial Rounded MT Bold" panose="020F0704030504030204" pitchFamily="34" charset="0"/>
              </a:rPr>
              <a:t>S</a:t>
            </a:r>
          </a:p>
        </p:txBody>
      </p:sp>
      <p:sp>
        <p:nvSpPr>
          <p:cNvPr id="76832" name="Oval 36"/>
          <p:cNvSpPr>
            <a:spLocks noChangeArrowheads="1"/>
          </p:cNvSpPr>
          <p:nvPr/>
        </p:nvSpPr>
        <p:spPr bwMode="auto">
          <a:xfrm>
            <a:off x="9944100" y="398145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sz="1400" b="1">
                <a:latin typeface="Arial Rounded MT Bold" panose="020F0704030504030204" pitchFamily="34" charset="0"/>
              </a:rPr>
              <a:t>t</a:t>
            </a:r>
          </a:p>
        </p:txBody>
      </p:sp>
      <p:sp>
        <p:nvSpPr>
          <p:cNvPr id="76833" name="Oval 37"/>
          <p:cNvSpPr>
            <a:spLocks noChangeArrowheads="1"/>
          </p:cNvSpPr>
          <p:nvPr/>
        </p:nvSpPr>
        <p:spPr bwMode="auto">
          <a:xfrm>
            <a:off x="7658100" y="321945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sz="1400" b="1">
                <a:latin typeface="Arial Rounded MT Bold" panose="020F0704030504030204" pitchFamily="34" charset="0"/>
              </a:rPr>
              <a:t>v</a:t>
            </a:r>
            <a:r>
              <a:rPr lang="de-DE" altLang="zh-CN" sz="1400" b="1" baseline="-25000">
                <a:latin typeface="Arial Rounded MT Bold" panose="020F0704030504030204" pitchFamily="34" charset="0"/>
              </a:rPr>
              <a:t>1</a:t>
            </a:r>
          </a:p>
        </p:txBody>
      </p:sp>
      <p:sp>
        <p:nvSpPr>
          <p:cNvPr id="76834" name="Oval 38"/>
          <p:cNvSpPr>
            <a:spLocks noChangeArrowheads="1"/>
          </p:cNvSpPr>
          <p:nvPr/>
        </p:nvSpPr>
        <p:spPr bwMode="auto">
          <a:xfrm>
            <a:off x="7658100" y="474345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sz="1400" b="1">
                <a:latin typeface="Arial Rounded MT Bold" panose="020F0704030504030204" pitchFamily="34" charset="0"/>
              </a:rPr>
              <a:t>v</a:t>
            </a:r>
            <a:r>
              <a:rPr lang="de-DE" altLang="zh-CN" sz="1400" b="1" baseline="-25000"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76835" name="Oval 39"/>
          <p:cNvSpPr>
            <a:spLocks noChangeArrowheads="1"/>
          </p:cNvSpPr>
          <p:nvPr/>
        </p:nvSpPr>
        <p:spPr bwMode="auto">
          <a:xfrm>
            <a:off x="8801100" y="318135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sz="1400" b="1">
                <a:latin typeface="Arial Rounded MT Bold" panose="020F0704030504030204" pitchFamily="34" charset="0"/>
              </a:rPr>
              <a:t>v</a:t>
            </a:r>
            <a:r>
              <a:rPr lang="de-DE" altLang="zh-CN" sz="1400" b="1" baseline="-25000">
                <a:latin typeface="Arial Rounded MT Bold" panose="020F0704030504030204" pitchFamily="34" charset="0"/>
              </a:rPr>
              <a:t>3</a:t>
            </a:r>
          </a:p>
        </p:txBody>
      </p:sp>
      <p:sp>
        <p:nvSpPr>
          <p:cNvPr id="76836" name="Oval 40"/>
          <p:cNvSpPr>
            <a:spLocks noChangeArrowheads="1"/>
          </p:cNvSpPr>
          <p:nvPr/>
        </p:nvSpPr>
        <p:spPr bwMode="auto">
          <a:xfrm>
            <a:off x="8801100" y="474345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sz="1400" b="1">
                <a:latin typeface="Arial Rounded MT Bold" panose="020F0704030504030204" pitchFamily="34" charset="0"/>
              </a:rPr>
              <a:t>v</a:t>
            </a:r>
            <a:r>
              <a:rPr lang="de-DE" altLang="zh-CN" sz="1400" b="1" baseline="-25000">
                <a:latin typeface="Arial Rounded MT Bold" panose="020F0704030504030204" pitchFamily="34" charset="0"/>
              </a:rPr>
              <a:t>4</a:t>
            </a:r>
          </a:p>
        </p:txBody>
      </p:sp>
      <p:grpSp>
        <p:nvGrpSpPr>
          <p:cNvPr id="3" name="Group 72"/>
          <p:cNvGrpSpPr>
            <a:grpSpLocks/>
          </p:cNvGrpSpPr>
          <p:nvPr/>
        </p:nvGrpSpPr>
        <p:grpSpPr bwMode="auto">
          <a:xfrm>
            <a:off x="6770690" y="3275014"/>
            <a:ext cx="992188" cy="828675"/>
            <a:chOff x="3305" y="2487"/>
            <a:chExt cx="625" cy="522"/>
          </a:xfrm>
        </p:grpSpPr>
        <p:sp>
          <p:nvSpPr>
            <p:cNvPr id="76844" name="Line 45"/>
            <p:cNvSpPr>
              <a:spLocks noChangeShapeType="1"/>
            </p:cNvSpPr>
            <p:nvPr/>
          </p:nvSpPr>
          <p:spPr bwMode="auto">
            <a:xfrm rot="21232646" flipV="1">
              <a:off x="3305" y="2590"/>
              <a:ext cx="581" cy="31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Arial Rounded MT Bold" panose="020F0704030504030204" pitchFamily="34" charset="0"/>
              </a:endParaRPr>
            </a:p>
          </p:txBody>
        </p:sp>
        <p:sp>
          <p:nvSpPr>
            <p:cNvPr id="76845" name="Text Box 56"/>
            <p:cNvSpPr txBox="1">
              <a:spLocks noChangeArrowheads="1"/>
            </p:cNvSpPr>
            <p:nvPr/>
          </p:nvSpPr>
          <p:spPr bwMode="auto">
            <a:xfrm rot="-2145434">
              <a:off x="3354" y="2487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sz="1400" b="1">
                  <a:solidFill>
                    <a:srgbClr val="FF3300"/>
                  </a:solidFill>
                  <a:latin typeface="Arial Rounded MT Bold" panose="020F0704030504030204" pitchFamily="34" charset="0"/>
                </a:rPr>
                <a:t>5</a:t>
              </a:r>
            </a:p>
          </p:txBody>
        </p:sp>
        <p:sp>
          <p:nvSpPr>
            <p:cNvPr id="76846" name="Line 63"/>
            <p:cNvSpPr>
              <a:spLocks noChangeShapeType="1"/>
            </p:cNvSpPr>
            <p:nvPr/>
          </p:nvSpPr>
          <p:spPr bwMode="auto">
            <a:xfrm flipH="1">
              <a:off x="3355" y="2641"/>
              <a:ext cx="532" cy="3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Arial Rounded MT Bold" panose="020F0704030504030204" pitchFamily="34" charset="0"/>
              </a:endParaRPr>
            </a:p>
          </p:txBody>
        </p:sp>
        <p:sp>
          <p:nvSpPr>
            <p:cNvPr id="76847" name="Text Box 68"/>
            <p:cNvSpPr txBox="1">
              <a:spLocks noChangeArrowheads="1"/>
            </p:cNvSpPr>
            <p:nvPr/>
          </p:nvSpPr>
          <p:spPr bwMode="auto">
            <a:xfrm rot="-2120564">
              <a:off x="3498" y="2737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sz="1400" b="1">
                  <a:solidFill>
                    <a:srgbClr val="FF3300"/>
                  </a:solidFill>
                  <a:latin typeface="Arial Rounded MT Bold" panose="020F0704030504030204" pitchFamily="34" charset="0"/>
                </a:rPr>
                <a:t>11</a:t>
              </a:r>
            </a:p>
          </p:txBody>
        </p:sp>
      </p:grpSp>
      <p:grpSp>
        <p:nvGrpSpPr>
          <p:cNvPr id="4" name="Group 73"/>
          <p:cNvGrpSpPr>
            <a:grpSpLocks/>
          </p:cNvGrpSpPr>
          <p:nvPr/>
        </p:nvGrpSpPr>
        <p:grpSpPr bwMode="auto">
          <a:xfrm>
            <a:off x="6732591" y="4279900"/>
            <a:ext cx="1046163" cy="731838"/>
            <a:chOff x="3281" y="3120"/>
            <a:chExt cx="659" cy="461"/>
          </a:xfrm>
        </p:grpSpPr>
        <p:sp>
          <p:nvSpPr>
            <p:cNvPr id="76840" name="Line 46"/>
            <p:cNvSpPr>
              <a:spLocks noChangeShapeType="1"/>
            </p:cNvSpPr>
            <p:nvPr/>
          </p:nvSpPr>
          <p:spPr bwMode="auto">
            <a:xfrm rot="10948727">
              <a:off x="3281" y="3184"/>
              <a:ext cx="558" cy="3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Arial Rounded MT Bold" panose="020F0704030504030204" pitchFamily="34" charset="0"/>
              </a:endParaRPr>
            </a:p>
          </p:txBody>
        </p:sp>
        <p:sp>
          <p:nvSpPr>
            <p:cNvPr id="76841" name="Text Box 54"/>
            <p:cNvSpPr txBox="1">
              <a:spLocks noChangeArrowheads="1"/>
            </p:cNvSpPr>
            <p:nvPr/>
          </p:nvSpPr>
          <p:spPr bwMode="auto">
            <a:xfrm rot="1671448">
              <a:off x="3364" y="3389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sz="1400" b="1">
                  <a:solidFill>
                    <a:srgbClr val="FF3300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sp>
          <p:nvSpPr>
            <p:cNvPr id="76842" name="Line 64"/>
            <p:cNvSpPr>
              <a:spLocks noChangeShapeType="1"/>
            </p:cNvSpPr>
            <p:nvPr/>
          </p:nvSpPr>
          <p:spPr bwMode="auto">
            <a:xfrm rot="10705793" flipH="1" flipV="1">
              <a:off x="3360" y="3120"/>
              <a:ext cx="528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Arial Rounded MT Bold" panose="020F0704030504030204" pitchFamily="34" charset="0"/>
              </a:endParaRPr>
            </a:p>
          </p:txBody>
        </p:sp>
        <p:sp>
          <p:nvSpPr>
            <p:cNvPr id="76843" name="Text Box 69"/>
            <p:cNvSpPr txBox="1">
              <a:spLocks noChangeArrowheads="1"/>
            </p:cNvSpPr>
            <p:nvPr/>
          </p:nvSpPr>
          <p:spPr bwMode="auto">
            <a:xfrm rot="1671448">
              <a:off x="3508" y="3121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sz="1400" b="1">
                  <a:solidFill>
                    <a:srgbClr val="FF3300"/>
                  </a:solidFill>
                  <a:latin typeface="Arial Rounded MT Bold" panose="020F0704030504030204" pitchFamily="34" charset="0"/>
                </a:rPr>
                <a:t>5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952D22F5-3B42-D3EB-B6DE-6FFA6AD37C2D}"/>
              </a:ext>
            </a:extLst>
          </p:cNvPr>
          <p:cNvSpPr txBox="1"/>
          <p:nvPr/>
        </p:nvSpPr>
        <p:spPr>
          <a:xfrm>
            <a:off x="380723" y="299408"/>
            <a:ext cx="68589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Ford-Fulkerson</a:t>
            </a:r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算法</a:t>
            </a:r>
            <a:r>
              <a:rPr lang="en-US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: </a:t>
            </a:r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剩余网络</a:t>
            </a:r>
          </a:p>
        </p:txBody>
      </p:sp>
      <p:sp>
        <p:nvSpPr>
          <p:cNvPr id="5" name="圆角矩形 8">
            <a:extLst>
              <a:ext uri="{FF2B5EF4-FFF2-40B4-BE49-F238E27FC236}">
                <a16:creationId xmlns:a16="http://schemas.microsoft.com/office/drawing/2014/main" id="{107F894F-8065-7E11-8E33-D7CCBB9AA60A}"/>
              </a:ext>
            </a:extLst>
          </p:cNvPr>
          <p:cNvSpPr/>
          <p:nvPr/>
        </p:nvSpPr>
        <p:spPr>
          <a:xfrm>
            <a:off x="238663" y="311105"/>
            <a:ext cx="7001036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343DE57-63F9-E2DE-1ECF-4F0670DE66FF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7470CB3-F049-640A-D629-7331098BDD55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2479742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Oval 3"/>
          <p:cNvSpPr>
            <a:spLocks noChangeArrowheads="1"/>
          </p:cNvSpPr>
          <p:nvPr/>
        </p:nvSpPr>
        <p:spPr bwMode="auto">
          <a:xfrm>
            <a:off x="1866900" y="3787775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sz="1400" b="1">
                <a:latin typeface="Arial Rounded MT Bold" panose="020F0704030504030204" pitchFamily="34" charset="0"/>
              </a:rPr>
              <a:t>S</a:t>
            </a:r>
          </a:p>
        </p:txBody>
      </p:sp>
      <p:sp>
        <p:nvSpPr>
          <p:cNvPr id="77828" name="Oval 4"/>
          <p:cNvSpPr>
            <a:spLocks noChangeArrowheads="1"/>
          </p:cNvSpPr>
          <p:nvPr/>
        </p:nvSpPr>
        <p:spPr bwMode="auto">
          <a:xfrm>
            <a:off x="5295900" y="3787775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sz="1400" b="1">
                <a:latin typeface="Arial Rounded MT Bold" panose="020F0704030504030204" pitchFamily="34" charset="0"/>
              </a:rPr>
              <a:t>t</a:t>
            </a:r>
          </a:p>
        </p:txBody>
      </p:sp>
      <p:sp>
        <p:nvSpPr>
          <p:cNvPr id="77829" name="Oval 5"/>
          <p:cNvSpPr>
            <a:spLocks noChangeArrowheads="1"/>
          </p:cNvSpPr>
          <p:nvPr/>
        </p:nvSpPr>
        <p:spPr bwMode="auto">
          <a:xfrm>
            <a:off x="3009900" y="3025775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sz="1400" b="1">
                <a:latin typeface="Arial Rounded MT Bold" panose="020F0704030504030204" pitchFamily="34" charset="0"/>
              </a:rPr>
              <a:t>v</a:t>
            </a:r>
            <a:r>
              <a:rPr lang="de-DE" altLang="zh-CN" sz="1400" b="1" baseline="-25000">
                <a:latin typeface="Arial Rounded MT Bold" panose="020F0704030504030204" pitchFamily="34" charset="0"/>
              </a:rPr>
              <a:t>1</a:t>
            </a:r>
          </a:p>
        </p:txBody>
      </p:sp>
      <p:sp>
        <p:nvSpPr>
          <p:cNvPr id="77830" name="Oval 6"/>
          <p:cNvSpPr>
            <a:spLocks noChangeArrowheads="1"/>
          </p:cNvSpPr>
          <p:nvPr/>
        </p:nvSpPr>
        <p:spPr bwMode="auto">
          <a:xfrm>
            <a:off x="3009900" y="4549775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sz="1400" b="1">
                <a:latin typeface="Arial Rounded MT Bold" panose="020F0704030504030204" pitchFamily="34" charset="0"/>
              </a:rPr>
              <a:t>v</a:t>
            </a:r>
            <a:r>
              <a:rPr lang="de-DE" altLang="zh-CN" sz="1400" b="1" baseline="-25000"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77831" name="Oval 7"/>
          <p:cNvSpPr>
            <a:spLocks noChangeArrowheads="1"/>
          </p:cNvSpPr>
          <p:nvPr/>
        </p:nvSpPr>
        <p:spPr bwMode="auto">
          <a:xfrm>
            <a:off x="4152900" y="2987675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sz="1400" b="1">
                <a:latin typeface="Arial Rounded MT Bold" panose="020F0704030504030204" pitchFamily="34" charset="0"/>
              </a:rPr>
              <a:t>v</a:t>
            </a:r>
            <a:r>
              <a:rPr lang="de-DE" altLang="zh-CN" sz="1400" b="1" baseline="-25000">
                <a:latin typeface="Arial Rounded MT Bold" panose="020F0704030504030204" pitchFamily="34" charset="0"/>
              </a:rPr>
              <a:t>3</a:t>
            </a:r>
          </a:p>
        </p:txBody>
      </p:sp>
      <p:sp>
        <p:nvSpPr>
          <p:cNvPr id="77832" name="Oval 8"/>
          <p:cNvSpPr>
            <a:spLocks noChangeArrowheads="1"/>
          </p:cNvSpPr>
          <p:nvPr/>
        </p:nvSpPr>
        <p:spPr bwMode="auto">
          <a:xfrm>
            <a:off x="4152900" y="4549775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sz="1400" b="1">
                <a:latin typeface="Arial Rounded MT Bold" panose="020F0704030504030204" pitchFamily="34" charset="0"/>
              </a:rPr>
              <a:t>v</a:t>
            </a:r>
            <a:r>
              <a:rPr lang="de-DE" altLang="zh-CN" sz="1400" b="1" baseline="-25000"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56" name="Line 9"/>
          <p:cNvSpPr>
            <a:spLocks noChangeShapeType="1"/>
          </p:cNvSpPr>
          <p:nvPr/>
        </p:nvSpPr>
        <p:spPr bwMode="auto">
          <a:xfrm>
            <a:off x="3429000" y="3216275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</p:spPr>
        <p:txBody>
          <a:bodyPr wrap="none">
            <a:spAutoFit/>
          </a:bodyPr>
          <a:lstStyle/>
          <a:p>
            <a:pPr>
              <a:defRPr/>
            </a:pPr>
            <a:endParaRPr lang="zh-CN" altLang="en-US" b="1">
              <a:latin typeface="Arial Rounded MT Bold" panose="020F0704030504030204" pitchFamily="34" charset="0"/>
            </a:endParaRPr>
          </a:p>
        </p:txBody>
      </p:sp>
      <p:sp>
        <p:nvSpPr>
          <p:cNvPr id="57" name="Line 10"/>
          <p:cNvSpPr>
            <a:spLocks noChangeShapeType="1"/>
          </p:cNvSpPr>
          <p:nvPr/>
        </p:nvSpPr>
        <p:spPr bwMode="auto">
          <a:xfrm>
            <a:off x="3429000" y="4740275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</p:spPr>
        <p:txBody>
          <a:bodyPr wrap="none">
            <a:spAutoFit/>
          </a:bodyPr>
          <a:lstStyle/>
          <a:p>
            <a:pPr>
              <a:defRPr/>
            </a:pPr>
            <a:endParaRPr lang="zh-CN" altLang="en-US" b="1">
              <a:latin typeface="Arial Rounded MT Bold" panose="020F0704030504030204" pitchFamily="34" charset="0"/>
            </a:endParaRPr>
          </a:p>
        </p:txBody>
      </p:sp>
      <p:sp>
        <p:nvSpPr>
          <p:cNvPr id="58" name="Line 11"/>
          <p:cNvSpPr>
            <a:spLocks noChangeShapeType="1"/>
          </p:cNvSpPr>
          <p:nvPr/>
        </p:nvSpPr>
        <p:spPr bwMode="auto">
          <a:xfrm flipV="1">
            <a:off x="2055813" y="3290888"/>
            <a:ext cx="989012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pPr>
              <a:defRPr/>
            </a:pPr>
            <a:endParaRPr lang="zh-CN" altLang="en-US" b="1">
              <a:latin typeface="Arial Rounded MT Bold" panose="020F0704030504030204" pitchFamily="34" charset="0"/>
            </a:endParaRPr>
          </a:p>
        </p:txBody>
      </p:sp>
      <p:sp>
        <p:nvSpPr>
          <p:cNvPr id="59" name="Line 12"/>
          <p:cNvSpPr>
            <a:spLocks noChangeShapeType="1"/>
          </p:cNvSpPr>
          <p:nvPr/>
        </p:nvSpPr>
        <p:spPr bwMode="auto">
          <a:xfrm>
            <a:off x="2057400" y="4130675"/>
            <a:ext cx="9144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pPr>
              <a:defRPr/>
            </a:pPr>
            <a:endParaRPr lang="zh-CN" altLang="en-US" b="1">
              <a:latin typeface="Arial Rounded MT Bold" panose="020F0704030504030204" pitchFamily="34" charset="0"/>
            </a:endParaRPr>
          </a:p>
        </p:txBody>
      </p:sp>
      <p:sp>
        <p:nvSpPr>
          <p:cNvPr id="60" name="Line 13"/>
          <p:cNvSpPr>
            <a:spLocks noChangeShapeType="1"/>
          </p:cNvSpPr>
          <p:nvPr/>
        </p:nvSpPr>
        <p:spPr bwMode="auto">
          <a:xfrm>
            <a:off x="3124200" y="3368675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pPr>
              <a:defRPr/>
            </a:pPr>
            <a:endParaRPr lang="zh-CN" altLang="en-US" b="1">
              <a:latin typeface="Arial Rounded MT Bold" panose="020F0704030504030204" pitchFamily="34" charset="0"/>
            </a:endParaRPr>
          </a:p>
        </p:txBody>
      </p:sp>
      <p:sp>
        <p:nvSpPr>
          <p:cNvPr id="61" name="Line 14"/>
          <p:cNvSpPr>
            <a:spLocks noChangeShapeType="1"/>
          </p:cNvSpPr>
          <p:nvPr/>
        </p:nvSpPr>
        <p:spPr bwMode="auto">
          <a:xfrm flipV="1">
            <a:off x="3276600" y="3368675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pPr>
              <a:defRPr/>
            </a:pPr>
            <a:endParaRPr lang="zh-CN" altLang="en-US" b="1">
              <a:latin typeface="Arial Rounded MT Bold" panose="020F0704030504030204" pitchFamily="34" charset="0"/>
            </a:endParaRPr>
          </a:p>
        </p:txBody>
      </p:sp>
      <p:sp>
        <p:nvSpPr>
          <p:cNvPr id="62" name="Line 15"/>
          <p:cNvSpPr>
            <a:spLocks noChangeShapeType="1"/>
          </p:cNvSpPr>
          <p:nvPr/>
        </p:nvSpPr>
        <p:spPr bwMode="auto">
          <a:xfrm flipV="1">
            <a:off x="4343400" y="3368675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pPr>
              <a:defRPr/>
            </a:pPr>
            <a:endParaRPr lang="zh-CN" altLang="en-US" b="1">
              <a:latin typeface="Arial Rounded MT Bold" panose="020F0704030504030204" pitchFamily="34" charset="0"/>
            </a:endParaRPr>
          </a:p>
        </p:txBody>
      </p:sp>
      <p:sp>
        <p:nvSpPr>
          <p:cNvPr id="63" name="Line 16"/>
          <p:cNvSpPr>
            <a:spLocks noChangeShapeType="1"/>
          </p:cNvSpPr>
          <p:nvPr/>
        </p:nvSpPr>
        <p:spPr bwMode="auto">
          <a:xfrm flipH="1">
            <a:off x="3352800" y="3368675"/>
            <a:ext cx="91440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pPr>
              <a:defRPr/>
            </a:pPr>
            <a:endParaRPr lang="zh-CN" altLang="en-US" b="1">
              <a:latin typeface="Arial Rounded MT Bold" panose="020F0704030504030204" pitchFamily="34" charset="0"/>
            </a:endParaRPr>
          </a:p>
        </p:txBody>
      </p:sp>
      <p:sp>
        <p:nvSpPr>
          <p:cNvPr id="64" name="Line 17"/>
          <p:cNvSpPr>
            <a:spLocks noChangeShapeType="1"/>
          </p:cNvSpPr>
          <p:nvPr/>
        </p:nvSpPr>
        <p:spPr bwMode="auto">
          <a:xfrm>
            <a:off x="4495800" y="3292475"/>
            <a:ext cx="8382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pPr>
              <a:defRPr/>
            </a:pPr>
            <a:endParaRPr lang="zh-CN" altLang="en-US" b="1">
              <a:latin typeface="Arial Rounded MT Bold" panose="020F0704030504030204" pitchFamily="34" charset="0"/>
            </a:endParaRPr>
          </a:p>
        </p:txBody>
      </p:sp>
      <p:sp>
        <p:nvSpPr>
          <p:cNvPr id="65" name="Line 18"/>
          <p:cNvSpPr>
            <a:spLocks noChangeShapeType="1"/>
          </p:cNvSpPr>
          <p:nvPr/>
        </p:nvSpPr>
        <p:spPr bwMode="auto">
          <a:xfrm flipV="1">
            <a:off x="4572000" y="4130675"/>
            <a:ext cx="7620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pPr>
              <a:defRPr/>
            </a:pPr>
            <a:endParaRPr lang="zh-CN" altLang="en-US" b="1">
              <a:latin typeface="Arial Rounded MT Bold" panose="020F0704030504030204" pitchFamily="34" charset="0"/>
            </a:endParaRPr>
          </a:p>
        </p:txBody>
      </p:sp>
      <p:sp>
        <p:nvSpPr>
          <p:cNvPr id="66" name="Text Box 19"/>
          <p:cNvSpPr txBox="1">
            <a:spLocks noChangeArrowheads="1"/>
          </p:cNvSpPr>
          <p:nvPr/>
        </p:nvSpPr>
        <p:spPr bwMode="auto">
          <a:xfrm rot="16251548">
            <a:off x="2625725" y="3633788"/>
            <a:ext cx="685800" cy="304800"/>
          </a:xfrm>
          <a:prstGeom prst="rect">
            <a:avLst/>
          </a:prstGeom>
          <a:noFill/>
          <a:ln w="25400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de-DE" altLang="zh-CN" sz="1400" b="1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67" name="Text Box 20"/>
          <p:cNvSpPr txBox="1">
            <a:spLocks noChangeArrowheads="1"/>
          </p:cNvSpPr>
          <p:nvPr/>
        </p:nvSpPr>
        <p:spPr bwMode="auto">
          <a:xfrm rot="1671448">
            <a:off x="2216150" y="4513263"/>
            <a:ext cx="685800" cy="304800"/>
          </a:xfrm>
          <a:prstGeom prst="rect">
            <a:avLst/>
          </a:prstGeom>
          <a:noFill/>
          <a:ln w="25400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de-DE" altLang="zh-CN" sz="1400" b="1">
                <a:latin typeface="Arial Rounded MT Bold" panose="020F0704030504030204" pitchFamily="34" charset="0"/>
              </a:rPr>
              <a:t>8/13</a:t>
            </a:r>
          </a:p>
        </p:txBody>
      </p:sp>
      <p:sp>
        <p:nvSpPr>
          <p:cNvPr id="68" name="Text Box 21"/>
          <p:cNvSpPr txBox="1">
            <a:spLocks noChangeArrowheads="1"/>
          </p:cNvSpPr>
          <p:nvPr/>
        </p:nvSpPr>
        <p:spPr bwMode="auto">
          <a:xfrm>
            <a:off x="3429000" y="2943225"/>
            <a:ext cx="685800" cy="304800"/>
          </a:xfrm>
          <a:prstGeom prst="rect">
            <a:avLst/>
          </a:prstGeom>
          <a:noFill/>
          <a:ln w="25400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de-DE" altLang="zh-CN" sz="1400" b="1">
                <a:latin typeface="Arial Rounded MT Bold" panose="020F0704030504030204" pitchFamily="34" charset="0"/>
              </a:rPr>
              <a:t>12/12</a:t>
            </a:r>
          </a:p>
        </p:txBody>
      </p:sp>
      <p:sp>
        <p:nvSpPr>
          <p:cNvPr id="69" name="Text Box 22"/>
          <p:cNvSpPr txBox="1">
            <a:spLocks noChangeArrowheads="1"/>
          </p:cNvSpPr>
          <p:nvPr/>
        </p:nvSpPr>
        <p:spPr bwMode="auto">
          <a:xfrm rot="19986914">
            <a:off x="2286000" y="3216275"/>
            <a:ext cx="685800" cy="304800"/>
          </a:xfrm>
          <a:prstGeom prst="rect">
            <a:avLst/>
          </a:prstGeom>
          <a:noFill/>
          <a:ln w="25400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de-DE" altLang="zh-CN" sz="1400" b="1">
                <a:latin typeface="Arial Rounded MT Bold" panose="020F0704030504030204" pitchFamily="34" charset="0"/>
              </a:rPr>
              <a:t>11/16</a:t>
            </a:r>
          </a:p>
        </p:txBody>
      </p:sp>
      <p:sp>
        <p:nvSpPr>
          <p:cNvPr id="70" name="Text Box 23"/>
          <p:cNvSpPr txBox="1">
            <a:spLocks noChangeArrowheads="1"/>
          </p:cNvSpPr>
          <p:nvPr/>
        </p:nvSpPr>
        <p:spPr bwMode="auto">
          <a:xfrm rot="16251548">
            <a:off x="3082925" y="3632200"/>
            <a:ext cx="685800" cy="304800"/>
          </a:xfrm>
          <a:prstGeom prst="rect">
            <a:avLst/>
          </a:prstGeom>
          <a:noFill/>
          <a:ln w="25400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de-DE" altLang="zh-CN" sz="1400" b="1">
                <a:latin typeface="Arial Rounded MT Bold" panose="020F0704030504030204" pitchFamily="34" charset="0"/>
              </a:rPr>
              <a:t>1/4</a:t>
            </a:r>
          </a:p>
        </p:txBody>
      </p:sp>
      <p:sp>
        <p:nvSpPr>
          <p:cNvPr id="71" name="Text Box 24"/>
          <p:cNvSpPr txBox="1">
            <a:spLocks noChangeArrowheads="1"/>
          </p:cNvSpPr>
          <p:nvPr/>
        </p:nvSpPr>
        <p:spPr bwMode="auto">
          <a:xfrm rot="19479436">
            <a:off x="4791075" y="4284663"/>
            <a:ext cx="685800" cy="304800"/>
          </a:xfrm>
          <a:prstGeom prst="rect">
            <a:avLst/>
          </a:prstGeom>
          <a:noFill/>
          <a:ln w="25400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de-DE" altLang="zh-CN" sz="1400" b="1">
                <a:latin typeface="Arial Rounded MT Bold" panose="020F0704030504030204" pitchFamily="34" charset="0"/>
              </a:rPr>
              <a:t>4/4</a:t>
            </a:r>
          </a:p>
        </p:txBody>
      </p:sp>
      <p:sp>
        <p:nvSpPr>
          <p:cNvPr id="72" name="Text Box 25"/>
          <p:cNvSpPr txBox="1">
            <a:spLocks noChangeArrowheads="1"/>
          </p:cNvSpPr>
          <p:nvPr/>
        </p:nvSpPr>
        <p:spPr bwMode="auto">
          <a:xfrm>
            <a:off x="3505200" y="4740275"/>
            <a:ext cx="685800" cy="304800"/>
          </a:xfrm>
          <a:prstGeom prst="rect">
            <a:avLst/>
          </a:prstGeom>
          <a:noFill/>
          <a:ln w="25400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de-DE" altLang="zh-CN" sz="1400" b="1">
                <a:latin typeface="Arial Rounded MT Bold" panose="020F0704030504030204" pitchFamily="34" charset="0"/>
              </a:rPr>
              <a:t>11/14</a:t>
            </a:r>
          </a:p>
        </p:txBody>
      </p:sp>
      <p:sp>
        <p:nvSpPr>
          <p:cNvPr id="73" name="Text Box 26"/>
          <p:cNvSpPr txBox="1">
            <a:spLocks noChangeArrowheads="1"/>
          </p:cNvSpPr>
          <p:nvPr/>
        </p:nvSpPr>
        <p:spPr bwMode="auto">
          <a:xfrm rot="1953558">
            <a:off x="4732338" y="3294063"/>
            <a:ext cx="685800" cy="304800"/>
          </a:xfrm>
          <a:prstGeom prst="rect">
            <a:avLst/>
          </a:prstGeom>
          <a:noFill/>
          <a:ln w="25400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de-DE" altLang="zh-CN" sz="1400" b="1">
                <a:latin typeface="Arial Rounded MT Bold" panose="020F0704030504030204" pitchFamily="34" charset="0"/>
              </a:rPr>
              <a:t>15/20</a:t>
            </a:r>
          </a:p>
        </p:txBody>
      </p:sp>
      <p:sp>
        <p:nvSpPr>
          <p:cNvPr id="74" name="Text Box 27"/>
          <p:cNvSpPr txBox="1">
            <a:spLocks noChangeArrowheads="1"/>
          </p:cNvSpPr>
          <p:nvPr/>
        </p:nvSpPr>
        <p:spPr bwMode="auto">
          <a:xfrm rot="16251548">
            <a:off x="4152900" y="3633788"/>
            <a:ext cx="685800" cy="304800"/>
          </a:xfrm>
          <a:prstGeom prst="rect">
            <a:avLst/>
          </a:prstGeom>
          <a:noFill/>
          <a:ln w="25400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de-DE" altLang="zh-CN" sz="1400" b="1">
                <a:latin typeface="Arial Rounded MT Bold" panose="020F0704030504030204" pitchFamily="34" charset="0"/>
              </a:rPr>
              <a:t>7/7</a:t>
            </a:r>
          </a:p>
        </p:txBody>
      </p:sp>
      <p:sp>
        <p:nvSpPr>
          <p:cNvPr id="75" name="Text Box 28"/>
          <p:cNvSpPr txBox="1">
            <a:spLocks noChangeArrowheads="1"/>
          </p:cNvSpPr>
          <p:nvPr/>
        </p:nvSpPr>
        <p:spPr bwMode="auto">
          <a:xfrm rot="18444138">
            <a:off x="3698875" y="3852863"/>
            <a:ext cx="685800" cy="304800"/>
          </a:xfrm>
          <a:prstGeom prst="rect">
            <a:avLst/>
          </a:prstGeom>
          <a:noFill/>
          <a:ln w="25400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de-DE" altLang="zh-CN" sz="1400" b="1">
                <a:latin typeface="Arial Rounded MT Bold" panose="020F0704030504030204" pitchFamily="34" charset="0"/>
              </a:rPr>
              <a:t>4/9</a:t>
            </a:r>
          </a:p>
        </p:txBody>
      </p:sp>
      <p:sp>
        <p:nvSpPr>
          <p:cNvPr id="76" name="Text Box 30"/>
          <p:cNvSpPr txBox="1">
            <a:spLocks noChangeArrowheads="1"/>
          </p:cNvSpPr>
          <p:nvPr/>
        </p:nvSpPr>
        <p:spPr bwMode="auto">
          <a:xfrm>
            <a:off x="1752600" y="1828801"/>
            <a:ext cx="4343400" cy="523875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 b="1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流网络</a:t>
            </a:r>
            <a:r>
              <a:rPr lang="en-US" altLang="zh-CN" sz="2800" b="1" dirty="0">
                <a:latin typeface="Arial Rounded MT Bold" panose="020F0704030504030204" pitchFamily="34" charset="0"/>
              </a:rPr>
              <a:t>N</a:t>
            </a:r>
            <a:r>
              <a:rPr lang="de-DE" altLang="zh-CN" sz="2800" b="1" dirty="0">
                <a:latin typeface="Arial Rounded MT Bold" panose="020F0704030504030204" pitchFamily="34" charset="0"/>
              </a:rPr>
              <a:t> = (V, E</a:t>
            </a:r>
            <a:r>
              <a:rPr lang="en-US" altLang="zh-CN" sz="2800" b="1" dirty="0">
                <a:latin typeface="Arial Rounded MT Bold" panose="020F0704030504030204" pitchFamily="34" charset="0"/>
              </a:rPr>
              <a:t>, s, t, c</a:t>
            </a:r>
            <a:r>
              <a:rPr lang="de-DE" altLang="zh-CN" sz="2800" b="1" dirty="0">
                <a:latin typeface="Arial Rounded MT Bold" panose="020F0704030504030204" pitchFamily="34" charset="0"/>
              </a:rPr>
              <a:t>)</a:t>
            </a:r>
          </a:p>
        </p:txBody>
      </p:sp>
      <p:grpSp>
        <p:nvGrpSpPr>
          <p:cNvPr id="77854" name="Group 31"/>
          <p:cNvGrpSpPr>
            <a:grpSpLocks/>
          </p:cNvGrpSpPr>
          <p:nvPr/>
        </p:nvGrpSpPr>
        <p:grpSpPr bwMode="auto">
          <a:xfrm>
            <a:off x="4191000" y="5153035"/>
            <a:ext cx="4191000" cy="954089"/>
            <a:chOff x="1680" y="3792"/>
            <a:chExt cx="2640" cy="601"/>
          </a:xfrm>
        </p:grpSpPr>
        <p:sp>
          <p:nvSpPr>
            <p:cNvPr id="78" name="Text Box 32"/>
            <p:cNvSpPr txBox="1">
              <a:spLocks noChangeArrowheads="1"/>
            </p:cNvSpPr>
            <p:nvPr/>
          </p:nvSpPr>
          <p:spPr bwMode="auto">
            <a:xfrm>
              <a:off x="2137" y="3792"/>
              <a:ext cx="1632" cy="601"/>
            </a:xfrm>
            <a:prstGeom prst="rect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de-DE" altLang="zh-CN" sz="2800" b="1" dirty="0">
                  <a:latin typeface="Arial Rounded MT Bold" panose="020F0704030504030204" pitchFamily="34" charset="0"/>
                </a:rPr>
                <a:t>c</a:t>
              </a:r>
              <a:r>
                <a:rPr lang="de-DE" altLang="zh-CN" sz="2800" b="1" baseline="-25000" dirty="0">
                  <a:latin typeface="Arial Rounded MT Bold" panose="020F0704030504030204" pitchFamily="34" charset="0"/>
                </a:rPr>
                <a:t>f</a:t>
              </a:r>
              <a:r>
                <a:rPr lang="de-DE" altLang="zh-CN" sz="2800" b="1" dirty="0">
                  <a:latin typeface="Arial Rounded MT Bold" panose="020F0704030504030204" pitchFamily="34" charset="0"/>
                </a:rPr>
                <a:t>(u,v) = c(u,v)</a:t>
              </a:r>
              <a:r>
                <a:rPr lang="en-US" altLang="zh-CN" sz="2800" b="1" dirty="0">
                  <a:latin typeface="Arial Rounded MT Bold" panose="020F0704030504030204" pitchFamily="34" charset="0"/>
                </a:rPr>
                <a:t>-</a:t>
              </a:r>
              <a:r>
                <a:rPr lang="de-DE" altLang="zh-CN" sz="2800" b="1" dirty="0">
                  <a:latin typeface="Arial Rounded MT Bold" panose="020F0704030504030204" pitchFamily="34" charset="0"/>
                </a:rPr>
                <a:t> f(u,v)</a:t>
              </a:r>
              <a:endParaRPr lang="de-DE" altLang="zh-CN" sz="2800" b="1" baseline="-250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79" name="AutoShape 33"/>
            <p:cNvSpPr>
              <a:spLocks noChangeArrowheads="1"/>
            </p:cNvSpPr>
            <p:nvPr/>
          </p:nvSpPr>
          <p:spPr bwMode="auto">
            <a:xfrm>
              <a:off x="3840" y="3840"/>
              <a:ext cx="480" cy="144"/>
            </a:xfrm>
            <a:custGeom>
              <a:avLst/>
              <a:gdLst>
                <a:gd name="T0" fmla="*/ 343 w 21600"/>
                <a:gd name="T1" fmla="*/ 0 h 21600"/>
                <a:gd name="T2" fmla="*/ 206 w 21600"/>
                <a:gd name="T3" fmla="*/ 48 h 21600"/>
                <a:gd name="T4" fmla="*/ 0 w 21600"/>
                <a:gd name="T5" fmla="*/ 120 h 21600"/>
                <a:gd name="T6" fmla="*/ 206 w 21600"/>
                <a:gd name="T7" fmla="*/ 144 h 21600"/>
                <a:gd name="T8" fmla="*/ 411 w 21600"/>
                <a:gd name="T9" fmla="*/ 100 h 21600"/>
                <a:gd name="T10" fmla="*/ 480 w 21600"/>
                <a:gd name="T11" fmla="*/ 48 h 21600"/>
                <a:gd name="T12" fmla="*/ 17694720 60000 65536"/>
                <a:gd name="T13" fmla="*/ 11796480 60000 65536"/>
                <a:gd name="T14" fmla="*/ 11796480 60000 65536"/>
                <a:gd name="T15" fmla="*/ 5898240 60000 65536"/>
                <a:gd name="T16" fmla="*/ 0 60000 65536"/>
                <a:gd name="T17" fmla="*/ 0 60000 65536"/>
                <a:gd name="T18" fmla="*/ 0 w 21600"/>
                <a:gd name="T19" fmla="*/ 14400 h 21600"/>
                <a:gd name="T20" fmla="*/ 18495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5429" y="0"/>
                  </a:moveTo>
                  <a:lnTo>
                    <a:pt x="9257" y="7200"/>
                  </a:lnTo>
                  <a:lnTo>
                    <a:pt x="12343" y="7200"/>
                  </a:lnTo>
                  <a:lnTo>
                    <a:pt x="12343" y="14400"/>
                  </a:lnTo>
                  <a:lnTo>
                    <a:pt x="0" y="14400"/>
                  </a:lnTo>
                  <a:lnTo>
                    <a:pt x="0" y="21600"/>
                  </a:lnTo>
                  <a:lnTo>
                    <a:pt x="18514" y="21600"/>
                  </a:lnTo>
                  <a:lnTo>
                    <a:pt x="18514" y="7200"/>
                  </a:lnTo>
                  <a:lnTo>
                    <a:pt x="21600" y="7200"/>
                  </a:lnTo>
                  <a:close/>
                </a:path>
              </a:pathLst>
            </a:custGeom>
            <a:solidFill>
              <a:schemeClr val="accent1"/>
            </a:solidFill>
            <a:ln w="222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b="1">
                <a:latin typeface="Arial Rounded MT Bold" panose="020F0704030504030204" pitchFamily="34" charset="0"/>
              </a:endParaRPr>
            </a:p>
          </p:txBody>
        </p:sp>
        <p:sp>
          <p:nvSpPr>
            <p:cNvPr id="80" name="AutoShape 34"/>
            <p:cNvSpPr>
              <a:spLocks noChangeArrowheads="1"/>
            </p:cNvSpPr>
            <p:nvPr/>
          </p:nvSpPr>
          <p:spPr bwMode="auto">
            <a:xfrm rot="5400000">
              <a:off x="1776" y="3696"/>
              <a:ext cx="192" cy="384"/>
            </a:xfrm>
            <a:custGeom>
              <a:avLst/>
              <a:gdLst>
                <a:gd name="T0" fmla="*/ 137 w 21600"/>
                <a:gd name="T1" fmla="*/ 0 h 21600"/>
                <a:gd name="T2" fmla="*/ 82 w 21600"/>
                <a:gd name="T3" fmla="*/ 128 h 21600"/>
                <a:gd name="T4" fmla="*/ 0 w 21600"/>
                <a:gd name="T5" fmla="*/ 320 h 21600"/>
                <a:gd name="T6" fmla="*/ 82 w 21600"/>
                <a:gd name="T7" fmla="*/ 384 h 21600"/>
                <a:gd name="T8" fmla="*/ 165 w 21600"/>
                <a:gd name="T9" fmla="*/ 267 h 21600"/>
                <a:gd name="T10" fmla="*/ 192 w 21600"/>
                <a:gd name="T11" fmla="*/ 128 h 21600"/>
                <a:gd name="T12" fmla="*/ 17694720 60000 65536"/>
                <a:gd name="T13" fmla="*/ 11796480 60000 65536"/>
                <a:gd name="T14" fmla="*/ 11796480 60000 65536"/>
                <a:gd name="T15" fmla="*/ 5898240 60000 65536"/>
                <a:gd name="T16" fmla="*/ 0 60000 65536"/>
                <a:gd name="T17" fmla="*/ 0 60000 65536"/>
                <a:gd name="T18" fmla="*/ 0 w 21600"/>
                <a:gd name="T19" fmla="*/ 14400 h 21600"/>
                <a:gd name="T20" fmla="*/ 18563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5429" y="0"/>
                  </a:moveTo>
                  <a:lnTo>
                    <a:pt x="9257" y="7200"/>
                  </a:lnTo>
                  <a:lnTo>
                    <a:pt x="12343" y="7200"/>
                  </a:lnTo>
                  <a:lnTo>
                    <a:pt x="12343" y="14400"/>
                  </a:lnTo>
                  <a:lnTo>
                    <a:pt x="0" y="14400"/>
                  </a:lnTo>
                  <a:lnTo>
                    <a:pt x="0" y="21600"/>
                  </a:lnTo>
                  <a:lnTo>
                    <a:pt x="18514" y="21600"/>
                  </a:lnTo>
                  <a:lnTo>
                    <a:pt x="18514" y="7200"/>
                  </a:lnTo>
                  <a:lnTo>
                    <a:pt x="21600" y="7200"/>
                  </a:lnTo>
                  <a:close/>
                </a:path>
              </a:pathLst>
            </a:custGeom>
            <a:solidFill>
              <a:schemeClr val="accent1"/>
            </a:solidFill>
            <a:ln w="222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b="1"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77855" name="Oval 35"/>
          <p:cNvSpPr>
            <a:spLocks noChangeArrowheads="1"/>
          </p:cNvSpPr>
          <p:nvPr/>
        </p:nvSpPr>
        <p:spPr bwMode="auto">
          <a:xfrm>
            <a:off x="6515100" y="3787775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sz="1400" b="1">
                <a:latin typeface="Arial Rounded MT Bold" panose="020F0704030504030204" pitchFamily="34" charset="0"/>
              </a:rPr>
              <a:t>S</a:t>
            </a:r>
          </a:p>
        </p:txBody>
      </p:sp>
      <p:sp>
        <p:nvSpPr>
          <p:cNvPr id="77856" name="Oval 36"/>
          <p:cNvSpPr>
            <a:spLocks noChangeArrowheads="1"/>
          </p:cNvSpPr>
          <p:nvPr/>
        </p:nvSpPr>
        <p:spPr bwMode="auto">
          <a:xfrm>
            <a:off x="9944100" y="3787775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sz="1400" b="1">
                <a:latin typeface="Arial Rounded MT Bold" panose="020F0704030504030204" pitchFamily="34" charset="0"/>
              </a:rPr>
              <a:t>t</a:t>
            </a:r>
          </a:p>
        </p:txBody>
      </p:sp>
      <p:sp>
        <p:nvSpPr>
          <p:cNvPr id="77857" name="Oval 37"/>
          <p:cNvSpPr>
            <a:spLocks noChangeArrowheads="1"/>
          </p:cNvSpPr>
          <p:nvPr/>
        </p:nvSpPr>
        <p:spPr bwMode="auto">
          <a:xfrm>
            <a:off x="7658100" y="3025775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sz="1400" b="1">
                <a:latin typeface="Arial Rounded MT Bold" panose="020F0704030504030204" pitchFamily="34" charset="0"/>
              </a:rPr>
              <a:t>v</a:t>
            </a:r>
            <a:r>
              <a:rPr lang="de-DE" altLang="zh-CN" sz="1400" b="1" baseline="-25000">
                <a:latin typeface="Arial Rounded MT Bold" panose="020F0704030504030204" pitchFamily="34" charset="0"/>
              </a:rPr>
              <a:t>1</a:t>
            </a:r>
          </a:p>
        </p:txBody>
      </p:sp>
      <p:sp>
        <p:nvSpPr>
          <p:cNvPr id="77858" name="Oval 38"/>
          <p:cNvSpPr>
            <a:spLocks noChangeArrowheads="1"/>
          </p:cNvSpPr>
          <p:nvPr/>
        </p:nvSpPr>
        <p:spPr bwMode="auto">
          <a:xfrm>
            <a:off x="7658100" y="4549775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sz="1400" b="1">
                <a:latin typeface="Arial Rounded MT Bold" panose="020F0704030504030204" pitchFamily="34" charset="0"/>
              </a:rPr>
              <a:t>v</a:t>
            </a:r>
            <a:r>
              <a:rPr lang="de-DE" altLang="zh-CN" sz="1400" b="1" baseline="-25000"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77859" name="Oval 39"/>
          <p:cNvSpPr>
            <a:spLocks noChangeArrowheads="1"/>
          </p:cNvSpPr>
          <p:nvPr/>
        </p:nvSpPr>
        <p:spPr bwMode="auto">
          <a:xfrm>
            <a:off x="8801100" y="2987675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sz="1400" b="1">
                <a:latin typeface="Arial Rounded MT Bold" panose="020F0704030504030204" pitchFamily="34" charset="0"/>
              </a:rPr>
              <a:t>v</a:t>
            </a:r>
            <a:r>
              <a:rPr lang="de-DE" altLang="zh-CN" sz="1400" b="1" baseline="-25000">
                <a:latin typeface="Arial Rounded MT Bold" panose="020F0704030504030204" pitchFamily="34" charset="0"/>
              </a:rPr>
              <a:t>3</a:t>
            </a:r>
          </a:p>
        </p:txBody>
      </p:sp>
      <p:sp>
        <p:nvSpPr>
          <p:cNvPr id="77860" name="Oval 40"/>
          <p:cNvSpPr>
            <a:spLocks noChangeArrowheads="1"/>
          </p:cNvSpPr>
          <p:nvPr/>
        </p:nvSpPr>
        <p:spPr bwMode="auto">
          <a:xfrm>
            <a:off x="8801100" y="4549775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sz="1400" b="1">
                <a:latin typeface="Arial Rounded MT Bold" panose="020F0704030504030204" pitchFamily="34" charset="0"/>
              </a:rPr>
              <a:t>v</a:t>
            </a:r>
            <a:r>
              <a:rPr lang="de-DE" altLang="zh-CN" sz="1400" b="1" baseline="-25000"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87" name="Text Box 41"/>
          <p:cNvSpPr txBox="1">
            <a:spLocks noChangeArrowheads="1"/>
          </p:cNvSpPr>
          <p:nvPr/>
        </p:nvSpPr>
        <p:spPr bwMode="auto">
          <a:xfrm>
            <a:off x="6553200" y="1828801"/>
            <a:ext cx="3733800" cy="523875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 b="1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剩余网络</a:t>
            </a:r>
            <a:r>
              <a:rPr lang="de-DE" altLang="zh-CN" sz="2800" b="1" dirty="0">
                <a:latin typeface="Arial Rounded MT Bold" panose="020F0704030504030204" pitchFamily="34" charset="0"/>
              </a:rPr>
              <a:t>G</a:t>
            </a:r>
            <a:r>
              <a:rPr lang="de-DE" altLang="zh-CN" sz="2800" b="1" baseline="-25000" dirty="0">
                <a:latin typeface="Arial Rounded MT Bold" panose="020F0704030504030204" pitchFamily="34" charset="0"/>
              </a:rPr>
              <a:t>f</a:t>
            </a:r>
            <a:r>
              <a:rPr lang="de-DE" altLang="zh-CN" sz="2800" b="1" dirty="0">
                <a:latin typeface="Arial Rounded MT Bold" panose="020F0704030504030204" pitchFamily="34" charset="0"/>
              </a:rPr>
              <a:t> = (V,E</a:t>
            </a:r>
            <a:r>
              <a:rPr lang="de-DE" altLang="zh-CN" sz="2800" b="1" baseline="-25000" dirty="0">
                <a:latin typeface="Arial Rounded MT Bold" panose="020F0704030504030204" pitchFamily="34" charset="0"/>
              </a:rPr>
              <a:t>f</a:t>
            </a:r>
            <a:r>
              <a:rPr lang="de-DE" altLang="zh-CN" sz="2800" b="1" dirty="0">
                <a:latin typeface="Arial Rounded MT Bold" panose="020F0704030504030204" pitchFamily="34" charset="0"/>
              </a:rPr>
              <a:t>)</a:t>
            </a:r>
          </a:p>
        </p:txBody>
      </p:sp>
      <p:sp>
        <p:nvSpPr>
          <p:cNvPr id="88" name="Text Box 42"/>
          <p:cNvSpPr txBox="1">
            <a:spLocks noChangeArrowheads="1"/>
          </p:cNvSpPr>
          <p:nvPr/>
        </p:nvSpPr>
        <p:spPr bwMode="auto">
          <a:xfrm>
            <a:off x="8305800" y="4848225"/>
            <a:ext cx="685800" cy="304800"/>
          </a:xfrm>
          <a:prstGeom prst="rect">
            <a:avLst/>
          </a:prstGeom>
          <a:noFill/>
          <a:ln w="25400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de-DE" altLang="zh-CN" sz="1400" b="1">
                <a:latin typeface="Arial Rounded MT Bold" panose="020F0704030504030204" pitchFamily="34" charset="0"/>
              </a:rPr>
              <a:t>11</a:t>
            </a:r>
          </a:p>
        </p:txBody>
      </p:sp>
      <p:sp>
        <p:nvSpPr>
          <p:cNvPr id="89" name="Line 43"/>
          <p:cNvSpPr>
            <a:spLocks noChangeShapeType="1"/>
          </p:cNvSpPr>
          <p:nvPr/>
        </p:nvSpPr>
        <p:spPr bwMode="auto">
          <a:xfrm flipH="1">
            <a:off x="8077200" y="3216275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</p:spPr>
        <p:txBody>
          <a:bodyPr wrap="none">
            <a:spAutoFit/>
          </a:bodyPr>
          <a:lstStyle/>
          <a:p>
            <a:pPr>
              <a:defRPr/>
            </a:pPr>
            <a:endParaRPr lang="zh-CN" altLang="en-US" b="1">
              <a:latin typeface="Arial Rounded MT Bold" panose="020F0704030504030204" pitchFamily="34" charset="0"/>
            </a:endParaRPr>
          </a:p>
        </p:txBody>
      </p:sp>
      <p:sp>
        <p:nvSpPr>
          <p:cNvPr id="90" name="Line 44"/>
          <p:cNvSpPr>
            <a:spLocks noChangeShapeType="1"/>
          </p:cNvSpPr>
          <p:nvPr/>
        </p:nvSpPr>
        <p:spPr bwMode="auto">
          <a:xfrm>
            <a:off x="8077200" y="4772025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</p:spPr>
        <p:txBody>
          <a:bodyPr wrap="none">
            <a:spAutoFit/>
          </a:bodyPr>
          <a:lstStyle/>
          <a:p>
            <a:pPr>
              <a:defRPr/>
            </a:pPr>
            <a:endParaRPr lang="zh-CN" altLang="en-US" b="1">
              <a:latin typeface="Arial Rounded MT Bold" panose="020F0704030504030204" pitchFamily="34" charset="0"/>
            </a:endParaRPr>
          </a:p>
        </p:txBody>
      </p:sp>
      <p:sp>
        <p:nvSpPr>
          <p:cNvPr id="91" name="Line 45"/>
          <p:cNvSpPr>
            <a:spLocks noChangeShapeType="1"/>
          </p:cNvSpPr>
          <p:nvPr/>
        </p:nvSpPr>
        <p:spPr bwMode="auto">
          <a:xfrm rot="21232646" flipV="1">
            <a:off x="6705601" y="3248025"/>
            <a:ext cx="989013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pPr>
              <a:defRPr/>
            </a:pPr>
            <a:endParaRPr lang="zh-CN" altLang="en-US" b="1">
              <a:latin typeface="Arial Rounded MT Bold" panose="020F0704030504030204" pitchFamily="34" charset="0"/>
            </a:endParaRPr>
          </a:p>
        </p:txBody>
      </p:sp>
      <p:sp>
        <p:nvSpPr>
          <p:cNvPr id="92" name="Line 46"/>
          <p:cNvSpPr>
            <a:spLocks noChangeShapeType="1"/>
          </p:cNvSpPr>
          <p:nvPr/>
        </p:nvSpPr>
        <p:spPr bwMode="auto">
          <a:xfrm rot="10948727">
            <a:off x="6705600" y="4130675"/>
            <a:ext cx="9144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pPr>
              <a:defRPr/>
            </a:pPr>
            <a:endParaRPr lang="zh-CN" altLang="en-US" b="1">
              <a:latin typeface="Arial Rounded MT Bold" panose="020F0704030504030204" pitchFamily="34" charset="0"/>
            </a:endParaRPr>
          </a:p>
        </p:txBody>
      </p:sp>
      <p:sp>
        <p:nvSpPr>
          <p:cNvPr id="93" name="Line 47"/>
          <p:cNvSpPr>
            <a:spLocks noChangeShapeType="1"/>
          </p:cNvSpPr>
          <p:nvPr/>
        </p:nvSpPr>
        <p:spPr bwMode="auto">
          <a:xfrm>
            <a:off x="7772400" y="3368675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pPr>
              <a:defRPr/>
            </a:pPr>
            <a:endParaRPr lang="zh-CN" altLang="en-US" b="1">
              <a:latin typeface="Arial Rounded MT Bold" panose="020F0704030504030204" pitchFamily="34" charset="0"/>
            </a:endParaRPr>
          </a:p>
        </p:txBody>
      </p:sp>
      <p:sp>
        <p:nvSpPr>
          <p:cNvPr id="94" name="Line 48"/>
          <p:cNvSpPr>
            <a:spLocks noChangeShapeType="1"/>
          </p:cNvSpPr>
          <p:nvPr/>
        </p:nvSpPr>
        <p:spPr bwMode="auto">
          <a:xfrm flipV="1">
            <a:off x="7924800" y="3368675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pPr>
              <a:defRPr/>
            </a:pPr>
            <a:endParaRPr lang="zh-CN" altLang="en-US" b="1">
              <a:latin typeface="Arial Rounded MT Bold" panose="020F0704030504030204" pitchFamily="34" charset="0"/>
            </a:endParaRPr>
          </a:p>
        </p:txBody>
      </p:sp>
      <p:sp>
        <p:nvSpPr>
          <p:cNvPr id="95" name="Line 49"/>
          <p:cNvSpPr>
            <a:spLocks noChangeShapeType="1"/>
          </p:cNvSpPr>
          <p:nvPr/>
        </p:nvSpPr>
        <p:spPr bwMode="auto">
          <a:xfrm>
            <a:off x="8991600" y="3368675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pPr>
              <a:defRPr/>
            </a:pPr>
            <a:endParaRPr lang="zh-CN" altLang="en-US" b="1">
              <a:latin typeface="Arial Rounded MT Bold" panose="020F0704030504030204" pitchFamily="34" charset="0"/>
            </a:endParaRPr>
          </a:p>
        </p:txBody>
      </p:sp>
      <p:sp>
        <p:nvSpPr>
          <p:cNvPr id="96" name="Line 50"/>
          <p:cNvSpPr>
            <a:spLocks noChangeShapeType="1"/>
          </p:cNvSpPr>
          <p:nvPr/>
        </p:nvSpPr>
        <p:spPr bwMode="auto">
          <a:xfrm flipH="1">
            <a:off x="8001000" y="3368675"/>
            <a:ext cx="91440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pPr>
              <a:defRPr/>
            </a:pPr>
            <a:endParaRPr lang="zh-CN" altLang="en-US" b="1">
              <a:latin typeface="Arial Rounded MT Bold" panose="020F0704030504030204" pitchFamily="34" charset="0"/>
            </a:endParaRPr>
          </a:p>
        </p:txBody>
      </p:sp>
      <p:sp>
        <p:nvSpPr>
          <p:cNvPr id="97" name="Line 51"/>
          <p:cNvSpPr>
            <a:spLocks noChangeShapeType="1"/>
          </p:cNvSpPr>
          <p:nvPr/>
        </p:nvSpPr>
        <p:spPr bwMode="auto">
          <a:xfrm>
            <a:off x="9220200" y="3248025"/>
            <a:ext cx="8382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pPr>
              <a:defRPr/>
            </a:pPr>
            <a:endParaRPr lang="zh-CN" altLang="en-US" b="1">
              <a:latin typeface="Arial Rounded MT Bold" panose="020F0704030504030204" pitchFamily="34" charset="0"/>
            </a:endParaRPr>
          </a:p>
        </p:txBody>
      </p:sp>
      <p:sp>
        <p:nvSpPr>
          <p:cNvPr id="98" name="Line 52"/>
          <p:cNvSpPr>
            <a:spLocks noChangeShapeType="1"/>
          </p:cNvSpPr>
          <p:nvPr/>
        </p:nvSpPr>
        <p:spPr bwMode="auto">
          <a:xfrm rot="10800000" flipV="1">
            <a:off x="9220200" y="4130675"/>
            <a:ext cx="7620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pPr>
              <a:defRPr/>
            </a:pPr>
            <a:endParaRPr lang="zh-CN" altLang="en-US" b="1">
              <a:latin typeface="Arial Rounded MT Bold" panose="020F0704030504030204" pitchFamily="34" charset="0"/>
            </a:endParaRPr>
          </a:p>
        </p:txBody>
      </p:sp>
      <p:sp>
        <p:nvSpPr>
          <p:cNvPr id="99" name="Text Box 53"/>
          <p:cNvSpPr txBox="1">
            <a:spLocks noChangeArrowheads="1"/>
          </p:cNvSpPr>
          <p:nvPr/>
        </p:nvSpPr>
        <p:spPr bwMode="auto">
          <a:xfrm rot="16251548">
            <a:off x="7275513" y="3632200"/>
            <a:ext cx="685800" cy="304800"/>
          </a:xfrm>
          <a:prstGeom prst="rect">
            <a:avLst/>
          </a:prstGeom>
          <a:noFill/>
          <a:ln w="25400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de-DE" altLang="zh-CN" sz="1400" b="1">
                <a:solidFill>
                  <a:srgbClr val="FF3300"/>
                </a:solidFill>
                <a:latin typeface="Arial Rounded MT Bold" panose="020F0704030504030204" pitchFamily="34" charset="0"/>
              </a:rPr>
              <a:t>11</a:t>
            </a:r>
          </a:p>
        </p:txBody>
      </p:sp>
      <p:sp>
        <p:nvSpPr>
          <p:cNvPr id="77874" name="Text Box 54"/>
          <p:cNvSpPr txBox="1">
            <a:spLocks noChangeArrowheads="1"/>
          </p:cNvSpPr>
          <p:nvPr/>
        </p:nvSpPr>
        <p:spPr bwMode="auto">
          <a:xfrm rot="1671448">
            <a:off x="6864350" y="4513263"/>
            <a:ext cx="685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sz="1400" b="1">
                <a:latin typeface="Arial Rounded MT Bold" panose="020F0704030504030204" pitchFamily="34" charset="0"/>
              </a:rPr>
              <a:t>8</a:t>
            </a:r>
          </a:p>
        </p:txBody>
      </p:sp>
      <p:sp>
        <p:nvSpPr>
          <p:cNvPr id="101" name="Text Box 55"/>
          <p:cNvSpPr txBox="1">
            <a:spLocks noChangeArrowheads="1"/>
          </p:cNvSpPr>
          <p:nvPr/>
        </p:nvSpPr>
        <p:spPr bwMode="auto">
          <a:xfrm>
            <a:off x="8229600" y="2911475"/>
            <a:ext cx="685800" cy="304800"/>
          </a:xfrm>
          <a:prstGeom prst="rect">
            <a:avLst/>
          </a:prstGeom>
          <a:noFill/>
          <a:ln w="25400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de-DE" altLang="zh-CN" sz="1400" b="1">
                <a:latin typeface="Arial Rounded MT Bold" panose="020F0704030504030204" pitchFamily="34" charset="0"/>
              </a:rPr>
              <a:t>12</a:t>
            </a:r>
          </a:p>
        </p:txBody>
      </p:sp>
      <p:sp>
        <p:nvSpPr>
          <p:cNvPr id="77876" name="Text Box 56"/>
          <p:cNvSpPr txBox="1">
            <a:spLocks noChangeArrowheads="1"/>
          </p:cNvSpPr>
          <p:nvPr/>
        </p:nvSpPr>
        <p:spPr bwMode="auto">
          <a:xfrm rot="-2145434">
            <a:off x="6848475" y="3081338"/>
            <a:ext cx="685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sz="1400" b="1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77877" name="Text Box 57"/>
          <p:cNvSpPr txBox="1">
            <a:spLocks noChangeArrowheads="1"/>
          </p:cNvSpPr>
          <p:nvPr/>
        </p:nvSpPr>
        <p:spPr bwMode="auto">
          <a:xfrm rot="-5348452">
            <a:off x="7734300" y="3667125"/>
            <a:ext cx="685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sz="1400" b="1">
                <a:latin typeface="Arial Rounded MT Bold" panose="020F0704030504030204" pitchFamily="34" charset="0"/>
              </a:rPr>
              <a:t>3</a:t>
            </a:r>
          </a:p>
        </p:txBody>
      </p:sp>
      <p:sp>
        <p:nvSpPr>
          <p:cNvPr id="77878" name="Text Box 58"/>
          <p:cNvSpPr txBox="1">
            <a:spLocks noChangeArrowheads="1"/>
          </p:cNvSpPr>
          <p:nvPr/>
        </p:nvSpPr>
        <p:spPr bwMode="auto">
          <a:xfrm rot="-2120564">
            <a:off x="9439275" y="4284663"/>
            <a:ext cx="685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sz="1400" b="1"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77879" name="Text Box 59"/>
          <p:cNvSpPr txBox="1">
            <a:spLocks noChangeArrowheads="1"/>
          </p:cNvSpPr>
          <p:nvPr/>
        </p:nvSpPr>
        <p:spPr bwMode="auto">
          <a:xfrm>
            <a:off x="8305800" y="4495800"/>
            <a:ext cx="38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sz="1400" b="1">
                <a:latin typeface="Arial Rounded MT Bold" panose="020F0704030504030204" pitchFamily="34" charset="0"/>
              </a:rPr>
              <a:t>3</a:t>
            </a:r>
          </a:p>
        </p:txBody>
      </p:sp>
      <p:sp>
        <p:nvSpPr>
          <p:cNvPr id="77880" name="Text Box 60"/>
          <p:cNvSpPr txBox="1">
            <a:spLocks noChangeArrowheads="1"/>
          </p:cNvSpPr>
          <p:nvPr/>
        </p:nvSpPr>
        <p:spPr bwMode="auto">
          <a:xfrm rot="1953558">
            <a:off x="9456738" y="3173413"/>
            <a:ext cx="685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sz="1400" b="1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77881" name="Text Box 61"/>
          <p:cNvSpPr txBox="1">
            <a:spLocks noChangeArrowheads="1"/>
          </p:cNvSpPr>
          <p:nvPr/>
        </p:nvSpPr>
        <p:spPr bwMode="auto">
          <a:xfrm rot="-5348452">
            <a:off x="8801100" y="3635375"/>
            <a:ext cx="685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sz="1400" b="1">
                <a:latin typeface="Arial Rounded MT Bold" panose="020F0704030504030204" pitchFamily="34" charset="0"/>
              </a:rPr>
              <a:t>7</a:t>
            </a:r>
          </a:p>
        </p:txBody>
      </p:sp>
      <p:sp>
        <p:nvSpPr>
          <p:cNvPr id="77882" name="Text Box 62"/>
          <p:cNvSpPr txBox="1">
            <a:spLocks noChangeArrowheads="1"/>
          </p:cNvSpPr>
          <p:nvPr/>
        </p:nvSpPr>
        <p:spPr bwMode="auto">
          <a:xfrm rot="-3155862">
            <a:off x="8347075" y="3852863"/>
            <a:ext cx="685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sz="1400" b="1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109" name="Line 63"/>
          <p:cNvSpPr>
            <a:spLocks noChangeShapeType="1"/>
          </p:cNvSpPr>
          <p:nvPr/>
        </p:nvSpPr>
        <p:spPr bwMode="auto">
          <a:xfrm flipH="1">
            <a:off x="6856413" y="3325813"/>
            <a:ext cx="8382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pPr>
              <a:defRPr/>
            </a:pPr>
            <a:endParaRPr lang="zh-CN" altLang="en-US" b="1">
              <a:latin typeface="Arial Rounded MT Bold" panose="020F0704030504030204" pitchFamily="34" charset="0"/>
            </a:endParaRPr>
          </a:p>
        </p:txBody>
      </p:sp>
      <p:sp>
        <p:nvSpPr>
          <p:cNvPr id="110" name="Line 64"/>
          <p:cNvSpPr>
            <a:spLocks noChangeShapeType="1"/>
          </p:cNvSpPr>
          <p:nvPr/>
        </p:nvSpPr>
        <p:spPr bwMode="auto">
          <a:xfrm rot="10705793" flipH="1" flipV="1">
            <a:off x="6858000" y="4086225"/>
            <a:ext cx="8382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pPr>
              <a:defRPr/>
            </a:pPr>
            <a:endParaRPr lang="zh-CN" altLang="en-US" b="1">
              <a:latin typeface="Arial Rounded MT Bold" panose="020F0704030504030204" pitchFamily="34" charset="0"/>
            </a:endParaRPr>
          </a:p>
        </p:txBody>
      </p:sp>
      <p:sp>
        <p:nvSpPr>
          <p:cNvPr id="111" name="Line 65"/>
          <p:cNvSpPr>
            <a:spLocks noChangeShapeType="1"/>
          </p:cNvSpPr>
          <p:nvPr/>
        </p:nvSpPr>
        <p:spPr bwMode="auto">
          <a:xfrm flipV="1">
            <a:off x="7924800" y="3324225"/>
            <a:ext cx="91440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pPr>
              <a:defRPr/>
            </a:pPr>
            <a:endParaRPr lang="zh-CN" altLang="en-US" b="1">
              <a:latin typeface="Arial Rounded MT Bold" panose="020F0704030504030204" pitchFamily="34" charset="0"/>
            </a:endParaRPr>
          </a:p>
        </p:txBody>
      </p:sp>
      <p:sp>
        <p:nvSpPr>
          <p:cNvPr id="112" name="Line 66"/>
          <p:cNvSpPr>
            <a:spLocks noChangeShapeType="1"/>
          </p:cNvSpPr>
          <p:nvPr/>
        </p:nvSpPr>
        <p:spPr bwMode="auto">
          <a:xfrm flipH="1">
            <a:off x="8001000" y="4848225"/>
            <a:ext cx="838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pPr>
              <a:defRPr/>
            </a:pPr>
            <a:endParaRPr lang="zh-CN" altLang="en-US" b="1">
              <a:latin typeface="Arial Rounded MT Bold" panose="020F0704030504030204" pitchFamily="34" charset="0"/>
            </a:endParaRPr>
          </a:p>
        </p:txBody>
      </p:sp>
      <p:sp>
        <p:nvSpPr>
          <p:cNvPr id="113" name="Line 67"/>
          <p:cNvSpPr>
            <a:spLocks noChangeShapeType="1"/>
          </p:cNvSpPr>
          <p:nvPr/>
        </p:nvSpPr>
        <p:spPr bwMode="auto">
          <a:xfrm flipH="1" flipV="1">
            <a:off x="9144000" y="3324225"/>
            <a:ext cx="8382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pPr>
              <a:defRPr/>
            </a:pPr>
            <a:endParaRPr lang="zh-CN" altLang="en-US" b="1">
              <a:latin typeface="Arial Rounded MT Bold" panose="020F0704030504030204" pitchFamily="34" charset="0"/>
            </a:endParaRPr>
          </a:p>
        </p:txBody>
      </p:sp>
      <p:sp>
        <p:nvSpPr>
          <p:cNvPr id="114" name="Text Box 68"/>
          <p:cNvSpPr txBox="1">
            <a:spLocks noChangeArrowheads="1"/>
          </p:cNvSpPr>
          <p:nvPr/>
        </p:nvSpPr>
        <p:spPr bwMode="auto">
          <a:xfrm rot="19479436">
            <a:off x="7077075" y="3478213"/>
            <a:ext cx="685800" cy="304800"/>
          </a:xfrm>
          <a:prstGeom prst="rect">
            <a:avLst/>
          </a:prstGeom>
          <a:noFill/>
          <a:ln w="25400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de-DE" altLang="zh-CN" sz="1400" b="1">
                <a:latin typeface="Arial Rounded MT Bold" panose="020F0704030504030204" pitchFamily="34" charset="0"/>
              </a:rPr>
              <a:t>11</a:t>
            </a:r>
          </a:p>
        </p:txBody>
      </p:sp>
      <p:sp>
        <p:nvSpPr>
          <p:cNvPr id="77889" name="Text Box 69"/>
          <p:cNvSpPr txBox="1">
            <a:spLocks noChangeArrowheads="1"/>
          </p:cNvSpPr>
          <p:nvPr/>
        </p:nvSpPr>
        <p:spPr bwMode="auto">
          <a:xfrm rot="1671448">
            <a:off x="7092950" y="4087813"/>
            <a:ext cx="685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sz="1400" b="1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116" name="Text Box 70"/>
          <p:cNvSpPr txBox="1">
            <a:spLocks noChangeArrowheads="1"/>
          </p:cNvSpPr>
          <p:nvPr/>
        </p:nvSpPr>
        <p:spPr bwMode="auto">
          <a:xfrm rot="1953558">
            <a:off x="9228138" y="3630613"/>
            <a:ext cx="685800" cy="304800"/>
          </a:xfrm>
          <a:prstGeom prst="rect">
            <a:avLst/>
          </a:prstGeom>
          <a:noFill/>
          <a:ln w="25400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de-DE" altLang="zh-CN" sz="1400" b="1">
                <a:latin typeface="Arial Rounded MT Bold" panose="020F0704030504030204" pitchFamily="34" charset="0"/>
              </a:rPr>
              <a:t>15</a:t>
            </a:r>
          </a:p>
        </p:txBody>
      </p:sp>
      <p:sp>
        <p:nvSpPr>
          <p:cNvPr id="77891" name="Text Box 71"/>
          <p:cNvSpPr txBox="1">
            <a:spLocks noChangeArrowheads="1"/>
          </p:cNvSpPr>
          <p:nvPr/>
        </p:nvSpPr>
        <p:spPr bwMode="auto">
          <a:xfrm rot="-3155862">
            <a:off x="8118475" y="3427413"/>
            <a:ext cx="685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sz="1400" b="1"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C104BEF-5F04-32F7-67E1-C79EDDBED7E4}"/>
              </a:ext>
            </a:extLst>
          </p:cNvPr>
          <p:cNvSpPr txBox="1"/>
          <p:nvPr/>
        </p:nvSpPr>
        <p:spPr>
          <a:xfrm>
            <a:off x="380723" y="299408"/>
            <a:ext cx="67918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Ford-Fulkerson</a:t>
            </a:r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算法</a:t>
            </a:r>
            <a:r>
              <a:rPr lang="en-US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: </a:t>
            </a:r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剩余网络</a:t>
            </a:r>
          </a:p>
        </p:txBody>
      </p:sp>
      <p:sp>
        <p:nvSpPr>
          <p:cNvPr id="3" name="圆角矩形 8">
            <a:extLst>
              <a:ext uri="{FF2B5EF4-FFF2-40B4-BE49-F238E27FC236}">
                <a16:creationId xmlns:a16="http://schemas.microsoft.com/office/drawing/2014/main" id="{45262C56-0551-3537-1B9D-B268EE78F757}"/>
              </a:ext>
            </a:extLst>
          </p:cNvPr>
          <p:cNvSpPr/>
          <p:nvPr/>
        </p:nvSpPr>
        <p:spPr>
          <a:xfrm>
            <a:off x="238663" y="311105"/>
            <a:ext cx="7017814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50AC1A5-7827-25ED-15BE-C244221CB6C6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5F4CE67-2F72-23F1-F3F3-47978F70A047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9373345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43">
            <a:extLst>
              <a:ext uri="{FF2B5EF4-FFF2-40B4-BE49-F238E27FC236}">
                <a16:creationId xmlns:a16="http://schemas.microsoft.com/office/drawing/2014/main" id="{DD3B6033-F0C1-59D1-34B6-F1825B3F5BEB}"/>
              </a:ext>
            </a:extLst>
          </p:cNvPr>
          <p:cNvSpPr/>
          <p:nvPr/>
        </p:nvSpPr>
        <p:spPr bwMode="auto">
          <a:xfrm>
            <a:off x="2535810" y="1818049"/>
            <a:ext cx="6919275" cy="3319560"/>
          </a:xfrm>
          <a:prstGeom prst="roundRect">
            <a:avLst>
              <a:gd name="adj" fmla="val 9992"/>
            </a:avLst>
          </a:prstGeom>
          <a:solidFill>
            <a:schemeClr val="bg1">
              <a:lumMod val="95000"/>
            </a:schemeClr>
          </a:solidFill>
          <a:ln w="3175" cap="flat" cmpd="sng">
            <a:solidFill>
              <a:schemeClr val="bg1">
                <a:lumMod val="50000"/>
              </a:schemeClr>
            </a:solidFill>
            <a:bevel/>
          </a:ln>
        </p:spPr>
        <p:txBody>
          <a:bodyPr lIns="62118" tIns="31058" rIns="62118" bIns="31058" anchor="ctr"/>
          <a:lstStyle/>
          <a:p>
            <a:pPr marL="914400" lvl="2" defTabSz="914400">
              <a:lnSpc>
                <a:spcPts val="1700"/>
              </a:lnSpc>
              <a:defRPr/>
            </a:pPr>
            <a:endParaRPr lang="zh-CN" altLang="en-US" sz="18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7885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860935" y="1927258"/>
            <a:ext cx="6470130" cy="3352800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增广路径</a:t>
            </a:r>
            <a:r>
              <a:rPr lang="en-US" altLang="zh-CN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</a:t>
            </a:r>
            <a:r>
              <a:rPr lang="de-DE" altLang="zh-CN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augmenting path</a:t>
            </a:r>
            <a:r>
              <a:rPr lang="en-US" altLang="zh-CN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剩余网络</a:t>
            </a:r>
            <a:r>
              <a:rPr lang="de-DE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</a:t>
            </a:r>
            <a:r>
              <a:rPr lang="de-DE" altLang="zh-CN" sz="2800" baseline="-250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f 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到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t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的</a:t>
            </a:r>
            <a:r>
              <a:rPr lang="en-US" altLang="zh-CN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</a:t>
            </a:r>
            <a:r>
              <a:rPr lang="zh-CN" altLang="en-US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简单</a:t>
            </a:r>
            <a:r>
              <a:rPr lang="en-US" altLang="zh-CN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)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路径</a:t>
            </a:r>
            <a:endParaRPr lang="en-US" altLang="zh-CN" sz="28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2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增广路径</a:t>
            </a:r>
            <a:r>
              <a:rPr lang="en-US" altLang="zh-CN" sz="32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</a:t>
            </a:r>
            <a:r>
              <a:rPr lang="zh-CN" altLang="en-US" sz="32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的剩余容量</a:t>
            </a:r>
            <a:r>
              <a:rPr lang="en-US" altLang="zh-CN" sz="32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: </a:t>
            </a:r>
          </a:p>
          <a:p>
            <a:pPr lvl="1">
              <a:lnSpc>
                <a:spcPct val="150000"/>
              </a:lnSpc>
            </a:pPr>
            <a:r>
              <a:rPr lang="de-DE" altLang="zh-CN" sz="3200" dirty="0">
                <a:solidFill>
                  <a:srgbClr val="00B050"/>
                </a:solidFill>
                <a:ea typeface="思源黑体 CN Normal" panose="020B0400000000000000" pitchFamily="34" charset="-122"/>
              </a:rPr>
              <a:t>c</a:t>
            </a:r>
            <a:r>
              <a:rPr lang="de-DE" altLang="zh-CN" sz="3200" baseline="-25000" dirty="0">
                <a:solidFill>
                  <a:srgbClr val="00B050"/>
                </a:solidFill>
                <a:ea typeface="思源黑体 CN Normal" panose="020B0400000000000000" pitchFamily="34" charset="-122"/>
              </a:rPr>
              <a:t>f</a:t>
            </a:r>
            <a:r>
              <a:rPr lang="de-DE" altLang="zh-CN" sz="3200" dirty="0">
                <a:solidFill>
                  <a:srgbClr val="00B050"/>
                </a:solidFill>
                <a:ea typeface="思源黑体 CN Normal" panose="020B0400000000000000" pitchFamily="34" charset="-122"/>
              </a:rPr>
              <a:t>(p) =</a:t>
            </a:r>
            <a:r>
              <a:rPr lang="zh-CN" altLang="en-US" sz="3200" dirty="0">
                <a:solidFill>
                  <a:srgbClr val="00B050"/>
                </a:solidFill>
                <a:ea typeface="思源黑体 CN Normal" panose="020B0400000000000000" pitchFamily="34" charset="-122"/>
              </a:rPr>
              <a:t> </a:t>
            </a:r>
            <a:r>
              <a:rPr lang="de-DE" altLang="zh-CN" sz="3200" dirty="0">
                <a:solidFill>
                  <a:srgbClr val="00B050"/>
                </a:solidFill>
                <a:ea typeface="思源黑体 CN Normal" panose="020B0400000000000000" pitchFamily="34" charset="-122"/>
              </a:rPr>
              <a:t>min{</a:t>
            </a:r>
            <a:r>
              <a:rPr lang="zh-CN" altLang="en-US" sz="3200" dirty="0">
                <a:solidFill>
                  <a:srgbClr val="00B050"/>
                </a:solidFill>
                <a:ea typeface="思源黑体 CN Normal" panose="020B0400000000000000" pitchFamily="34" charset="-122"/>
              </a:rPr>
              <a:t> </a:t>
            </a:r>
            <a:r>
              <a:rPr lang="de-DE" altLang="zh-CN" sz="3200" dirty="0">
                <a:solidFill>
                  <a:srgbClr val="00B050"/>
                </a:solidFill>
                <a:ea typeface="思源黑体 CN Normal" panose="020B0400000000000000" pitchFamily="34" charset="-122"/>
              </a:rPr>
              <a:t>c</a:t>
            </a:r>
            <a:r>
              <a:rPr lang="de-DE" altLang="zh-CN" sz="3200" baseline="-25000" dirty="0">
                <a:solidFill>
                  <a:srgbClr val="00B050"/>
                </a:solidFill>
                <a:ea typeface="思源黑体 CN Normal" panose="020B0400000000000000" pitchFamily="34" charset="-122"/>
              </a:rPr>
              <a:t>f</a:t>
            </a:r>
            <a:r>
              <a:rPr lang="de-DE" altLang="zh-CN" sz="3200" dirty="0">
                <a:solidFill>
                  <a:srgbClr val="00B050"/>
                </a:solidFill>
                <a:ea typeface="思源黑体 CN Normal" panose="020B0400000000000000" pitchFamily="34" charset="-122"/>
              </a:rPr>
              <a:t>(u,v): (u,v) </a:t>
            </a:r>
            <a:r>
              <a:rPr lang="zh-CN" altLang="en-US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在路径</a:t>
            </a:r>
            <a:r>
              <a:rPr lang="de-DE" altLang="zh-CN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</a:t>
            </a:r>
            <a:r>
              <a:rPr lang="zh-CN" altLang="en-US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上 </a:t>
            </a:r>
            <a:r>
              <a:rPr lang="de-DE" altLang="zh-CN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}</a:t>
            </a:r>
            <a:endParaRPr lang="en-US" altLang="zh-CN" sz="2800" dirty="0">
              <a:solidFill>
                <a:srgbClr val="00B05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92D5DC-1A6E-6979-B683-8F51082B4850}"/>
              </a:ext>
            </a:extLst>
          </p:cNvPr>
          <p:cNvSpPr txBox="1"/>
          <p:nvPr/>
        </p:nvSpPr>
        <p:spPr>
          <a:xfrm>
            <a:off x="380723" y="299408"/>
            <a:ext cx="67415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Ford-Fulkerson</a:t>
            </a:r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算法</a:t>
            </a:r>
            <a:r>
              <a:rPr lang="en-US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:</a:t>
            </a:r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增广路径</a:t>
            </a:r>
          </a:p>
        </p:txBody>
      </p:sp>
      <p:sp>
        <p:nvSpPr>
          <p:cNvPr id="3" name="圆角矩形 8">
            <a:extLst>
              <a:ext uri="{FF2B5EF4-FFF2-40B4-BE49-F238E27FC236}">
                <a16:creationId xmlns:a16="http://schemas.microsoft.com/office/drawing/2014/main" id="{09F8E0FF-EB7C-9D2D-0187-6A25CE02D511}"/>
              </a:ext>
            </a:extLst>
          </p:cNvPr>
          <p:cNvSpPr/>
          <p:nvPr/>
        </p:nvSpPr>
        <p:spPr>
          <a:xfrm>
            <a:off x="238663" y="311105"/>
            <a:ext cx="6883589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3A7223B-ADB6-4DB7-B036-A00B324FE18A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84297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Oval 73"/>
          <p:cNvSpPr>
            <a:spLocks noChangeArrowheads="1"/>
          </p:cNvSpPr>
          <p:nvPr/>
        </p:nvSpPr>
        <p:spPr bwMode="auto">
          <a:xfrm>
            <a:off x="3429000" y="3211514"/>
            <a:ext cx="490538" cy="50323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sz="2000" b="1">
                <a:latin typeface="Arial Rounded MT Bold" panose="020F0704030504030204" pitchFamily="34" charset="0"/>
              </a:rPr>
              <a:t>S</a:t>
            </a:r>
          </a:p>
        </p:txBody>
      </p:sp>
      <p:sp>
        <p:nvSpPr>
          <p:cNvPr id="79876" name="Oval 74"/>
          <p:cNvSpPr>
            <a:spLocks noChangeArrowheads="1"/>
          </p:cNvSpPr>
          <p:nvPr/>
        </p:nvSpPr>
        <p:spPr bwMode="auto">
          <a:xfrm>
            <a:off x="7845425" y="3211514"/>
            <a:ext cx="490538" cy="50323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sz="2000" b="1">
                <a:latin typeface="Arial Rounded MT Bold" panose="020F0704030504030204" pitchFamily="34" charset="0"/>
              </a:rPr>
              <a:t>t</a:t>
            </a:r>
          </a:p>
        </p:txBody>
      </p:sp>
      <p:sp>
        <p:nvSpPr>
          <p:cNvPr id="79877" name="Oval 75"/>
          <p:cNvSpPr>
            <a:spLocks noChangeArrowheads="1"/>
          </p:cNvSpPr>
          <p:nvPr/>
        </p:nvSpPr>
        <p:spPr bwMode="auto">
          <a:xfrm>
            <a:off x="4900614" y="2208213"/>
            <a:ext cx="490537" cy="501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sz="2000" b="1">
                <a:latin typeface="Arial Rounded MT Bold" panose="020F0704030504030204" pitchFamily="34" charset="0"/>
              </a:rPr>
              <a:t>v</a:t>
            </a:r>
            <a:r>
              <a:rPr lang="de-DE" altLang="zh-CN" sz="2000" b="1" baseline="-25000">
                <a:latin typeface="Arial Rounded MT Bold" panose="020F0704030504030204" pitchFamily="34" charset="0"/>
              </a:rPr>
              <a:t>1</a:t>
            </a:r>
          </a:p>
        </p:txBody>
      </p:sp>
      <p:sp>
        <p:nvSpPr>
          <p:cNvPr id="79878" name="Oval 76"/>
          <p:cNvSpPr>
            <a:spLocks noChangeArrowheads="1"/>
          </p:cNvSpPr>
          <p:nvPr/>
        </p:nvSpPr>
        <p:spPr bwMode="auto">
          <a:xfrm>
            <a:off x="4900614" y="4216400"/>
            <a:ext cx="490537" cy="501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sz="2000" b="1">
                <a:latin typeface="Arial Rounded MT Bold" panose="020F0704030504030204" pitchFamily="34" charset="0"/>
              </a:rPr>
              <a:t>v</a:t>
            </a:r>
            <a:r>
              <a:rPr lang="de-DE" altLang="zh-CN" sz="2000" b="1" baseline="-25000"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79879" name="Oval 77"/>
          <p:cNvSpPr>
            <a:spLocks noChangeArrowheads="1"/>
          </p:cNvSpPr>
          <p:nvPr/>
        </p:nvSpPr>
        <p:spPr bwMode="auto">
          <a:xfrm>
            <a:off x="6373814" y="2157413"/>
            <a:ext cx="490537" cy="501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sz="2000" b="1">
                <a:latin typeface="Arial Rounded MT Bold" panose="020F0704030504030204" pitchFamily="34" charset="0"/>
              </a:rPr>
              <a:t>v</a:t>
            </a:r>
            <a:r>
              <a:rPr lang="de-DE" altLang="zh-CN" sz="2000" b="1" baseline="-25000">
                <a:latin typeface="Arial Rounded MT Bold" panose="020F0704030504030204" pitchFamily="34" charset="0"/>
              </a:rPr>
              <a:t>3</a:t>
            </a:r>
          </a:p>
        </p:txBody>
      </p:sp>
      <p:sp>
        <p:nvSpPr>
          <p:cNvPr id="79880" name="Oval 78"/>
          <p:cNvSpPr>
            <a:spLocks noChangeArrowheads="1"/>
          </p:cNvSpPr>
          <p:nvPr/>
        </p:nvSpPr>
        <p:spPr bwMode="auto">
          <a:xfrm>
            <a:off x="6373814" y="4216400"/>
            <a:ext cx="490537" cy="501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sz="2000" b="1">
                <a:latin typeface="Arial Rounded MT Bold" panose="020F0704030504030204" pitchFamily="34" charset="0"/>
              </a:rPr>
              <a:t>v</a:t>
            </a:r>
            <a:r>
              <a:rPr lang="de-DE" altLang="zh-CN" sz="2000" b="1" baseline="-25000"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79881" name="Line 79"/>
          <p:cNvSpPr>
            <a:spLocks noChangeShapeType="1"/>
          </p:cNvSpPr>
          <p:nvPr/>
        </p:nvSpPr>
        <p:spPr bwMode="auto">
          <a:xfrm flipH="1">
            <a:off x="5440364" y="2459038"/>
            <a:ext cx="9810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79882" name="Line 80"/>
          <p:cNvSpPr>
            <a:spLocks noChangeShapeType="1"/>
          </p:cNvSpPr>
          <p:nvPr/>
        </p:nvSpPr>
        <p:spPr bwMode="auto">
          <a:xfrm>
            <a:off x="5440364" y="4508500"/>
            <a:ext cx="9810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79883" name="Line 81"/>
          <p:cNvSpPr>
            <a:spLocks noChangeShapeType="1"/>
          </p:cNvSpPr>
          <p:nvPr/>
        </p:nvSpPr>
        <p:spPr bwMode="auto">
          <a:xfrm rot="21232646" flipV="1">
            <a:off x="3675064" y="2500313"/>
            <a:ext cx="1273175" cy="7032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79884" name="Line 82"/>
          <p:cNvSpPr>
            <a:spLocks noChangeShapeType="1"/>
          </p:cNvSpPr>
          <p:nvPr/>
        </p:nvSpPr>
        <p:spPr bwMode="auto">
          <a:xfrm rot="-10651273">
            <a:off x="3675064" y="3663951"/>
            <a:ext cx="1176337" cy="7032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79885" name="Line 83"/>
          <p:cNvSpPr>
            <a:spLocks noChangeShapeType="1"/>
          </p:cNvSpPr>
          <p:nvPr/>
        </p:nvSpPr>
        <p:spPr bwMode="auto">
          <a:xfrm>
            <a:off x="5048250" y="2659063"/>
            <a:ext cx="0" cy="16065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79886" name="Line 84"/>
          <p:cNvSpPr>
            <a:spLocks noChangeShapeType="1"/>
          </p:cNvSpPr>
          <p:nvPr/>
        </p:nvSpPr>
        <p:spPr bwMode="auto">
          <a:xfrm flipV="1">
            <a:off x="5245100" y="2659063"/>
            <a:ext cx="0" cy="16065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79887" name="Line 85"/>
          <p:cNvSpPr>
            <a:spLocks noChangeShapeType="1"/>
          </p:cNvSpPr>
          <p:nvPr/>
        </p:nvSpPr>
        <p:spPr bwMode="auto">
          <a:xfrm>
            <a:off x="6618288" y="2659063"/>
            <a:ext cx="0" cy="16065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79888" name="Line 86"/>
          <p:cNvSpPr>
            <a:spLocks noChangeShapeType="1"/>
          </p:cNvSpPr>
          <p:nvPr/>
        </p:nvSpPr>
        <p:spPr bwMode="auto">
          <a:xfrm flipH="1">
            <a:off x="5341939" y="2659063"/>
            <a:ext cx="1177925" cy="16065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79889" name="Line 87"/>
          <p:cNvSpPr>
            <a:spLocks noChangeShapeType="1"/>
          </p:cNvSpPr>
          <p:nvPr/>
        </p:nvSpPr>
        <p:spPr bwMode="auto">
          <a:xfrm>
            <a:off x="6913563" y="2500313"/>
            <a:ext cx="1079500" cy="703262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79890" name="Line 88"/>
          <p:cNvSpPr>
            <a:spLocks noChangeShapeType="1"/>
          </p:cNvSpPr>
          <p:nvPr/>
        </p:nvSpPr>
        <p:spPr bwMode="auto">
          <a:xfrm rot="10800000" flipV="1">
            <a:off x="6913564" y="3663951"/>
            <a:ext cx="981075" cy="7032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79891" name="Text Box 89"/>
          <p:cNvSpPr txBox="1">
            <a:spLocks noChangeArrowheads="1"/>
          </p:cNvSpPr>
          <p:nvPr/>
        </p:nvSpPr>
        <p:spPr bwMode="auto">
          <a:xfrm rot="-5348452">
            <a:off x="4339433" y="3007520"/>
            <a:ext cx="9032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sz="2000" b="1">
                <a:latin typeface="Arial Rounded MT Bold" panose="020F0704030504030204" pitchFamily="34" charset="0"/>
              </a:rPr>
              <a:t>11</a:t>
            </a:r>
          </a:p>
        </p:txBody>
      </p:sp>
      <p:sp>
        <p:nvSpPr>
          <p:cNvPr id="79892" name="Text Box 90"/>
          <p:cNvSpPr txBox="1">
            <a:spLocks noChangeArrowheads="1"/>
          </p:cNvSpPr>
          <p:nvPr/>
        </p:nvSpPr>
        <p:spPr bwMode="auto">
          <a:xfrm rot="1671448">
            <a:off x="3908425" y="4111626"/>
            <a:ext cx="8842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sz="2000" b="1">
                <a:latin typeface="Arial Rounded MT Bold" panose="020F0704030504030204" pitchFamily="34" charset="0"/>
              </a:rPr>
              <a:t>8</a:t>
            </a:r>
          </a:p>
        </p:txBody>
      </p:sp>
      <p:sp>
        <p:nvSpPr>
          <p:cNvPr id="79893" name="Text Box 91"/>
          <p:cNvSpPr txBox="1">
            <a:spLocks noChangeArrowheads="1"/>
          </p:cNvSpPr>
          <p:nvPr/>
        </p:nvSpPr>
        <p:spPr bwMode="auto">
          <a:xfrm>
            <a:off x="5637213" y="2057401"/>
            <a:ext cx="882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sz="2000" b="1">
                <a:latin typeface="Arial Rounded MT Bold" panose="020F0704030504030204" pitchFamily="34" charset="0"/>
              </a:rPr>
              <a:t>12</a:t>
            </a:r>
          </a:p>
        </p:txBody>
      </p:sp>
      <p:sp>
        <p:nvSpPr>
          <p:cNvPr id="79894" name="Text Box 92"/>
          <p:cNvSpPr txBox="1">
            <a:spLocks noChangeArrowheads="1"/>
          </p:cNvSpPr>
          <p:nvPr/>
        </p:nvSpPr>
        <p:spPr bwMode="auto">
          <a:xfrm rot="-2145434">
            <a:off x="3946526" y="2425701"/>
            <a:ext cx="608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sz="2000" b="1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79895" name="Text Box 93"/>
          <p:cNvSpPr txBox="1">
            <a:spLocks noChangeArrowheads="1"/>
          </p:cNvSpPr>
          <p:nvPr/>
        </p:nvSpPr>
        <p:spPr bwMode="auto">
          <a:xfrm rot="-5348452">
            <a:off x="4931569" y="3053557"/>
            <a:ext cx="903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sz="2000" b="1">
                <a:latin typeface="Arial Rounded MT Bold" panose="020F0704030504030204" pitchFamily="34" charset="0"/>
              </a:rPr>
              <a:t>3</a:t>
            </a:r>
          </a:p>
        </p:txBody>
      </p:sp>
      <p:sp>
        <p:nvSpPr>
          <p:cNvPr id="79896" name="Text Box 94"/>
          <p:cNvSpPr txBox="1">
            <a:spLocks noChangeArrowheads="1"/>
          </p:cNvSpPr>
          <p:nvPr/>
        </p:nvSpPr>
        <p:spPr bwMode="auto">
          <a:xfrm rot="-2120564">
            <a:off x="7156450" y="3814764"/>
            <a:ext cx="8842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sz="2000" b="1"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79897" name="Text Box 95"/>
          <p:cNvSpPr txBox="1">
            <a:spLocks noChangeArrowheads="1"/>
          </p:cNvSpPr>
          <p:nvPr/>
        </p:nvSpPr>
        <p:spPr bwMode="auto">
          <a:xfrm>
            <a:off x="5778500" y="4114801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sz="2000" b="1">
                <a:latin typeface="Arial Rounded MT Bold" panose="020F0704030504030204" pitchFamily="34" charset="0"/>
              </a:rPr>
              <a:t>3</a:t>
            </a:r>
          </a:p>
        </p:txBody>
      </p:sp>
      <p:sp>
        <p:nvSpPr>
          <p:cNvPr id="79898" name="Text Box 96"/>
          <p:cNvSpPr txBox="1">
            <a:spLocks noChangeArrowheads="1"/>
          </p:cNvSpPr>
          <p:nvPr/>
        </p:nvSpPr>
        <p:spPr bwMode="auto">
          <a:xfrm rot="1953558">
            <a:off x="7423150" y="2568576"/>
            <a:ext cx="882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sz="2000" b="1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79899" name="Text Box 97"/>
          <p:cNvSpPr txBox="1">
            <a:spLocks noChangeArrowheads="1"/>
          </p:cNvSpPr>
          <p:nvPr/>
        </p:nvSpPr>
        <p:spPr bwMode="auto">
          <a:xfrm rot="-5348452">
            <a:off x="6304757" y="3012282"/>
            <a:ext cx="903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sz="2000" b="1">
                <a:latin typeface="Arial Rounded MT Bold" panose="020F0704030504030204" pitchFamily="34" charset="0"/>
              </a:rPr>
              <a:t>7</a:t>
            </a:r>
          </a:p>
        </p:txBody>
      </p:sp>
      <p:sp>
        <p:nvSpPr>
          <p:cNvPr id="79900" name="Text Box 98"/>
          <p:cNvSpPr txBox="1">
            <a:spLocks noChangeArrowheads="1"/>
          </p:cNvSpPr>
          <p:nvPr/>
        </p:nvSpPr>
        <p:spPr bwMode="auto">
          <a:xfrm rot="-3155862">
            <a:off x="5733257" y="3263107"/>
            <a:ext cx="903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sz="2000" b="1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79901" name="Line 99"/>
          <p:cNvSpPr>
            <a:spLocks noChangeShapeType="1"/>
          </p:cNvSpPr>
          <p:nvPr/>
        </p:nvSpPr>
        <p:spPr bwMode="auto">
          <a:xfrm flipH="1">
            <a:off x="3868738" y="2603501"/>
            <a:ext cx="1079500" cy="7032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79902" name="Line 100"/>
          <p:cNvSpPr>
            <a:spLocks noChangeShapeType="1"/>
          </p:cNvSpPr>
          <p:nvPr/>
        </p:nvSpPr>
        <p:spPr bwMode="auto">
          <a:xfrm rot="10705793" flipH="1" flipV="1">
            <a:off x="3870325" y="3605213"/>
            <a:ext cx="1079500" cy="703262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79903" name="Line 101"/>
          <p:cNvSpPr>
            <a:spLocks noChangeShapeType="1"/>
          </p:cNvSpPr>
          <p:nvPr/>
        </p:nvSpPr>
        <p:spPr bwMode="auto">
          <a:xfrm flipV="1">
            <a:off x="5245100" y="2601913"/>
            <a:ext cx="1176338" cy="160655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79904" name="Line 102"/>
          <p:cNvSpPr>
            <a:spLocks noChangeShapeType="1"/>
          </p:cNvSpPr>
          <p:nvPr/>
        </p:nvSpPr>
        <p:spPr bwMode="auto">
          <a:xfrm flipH="1">
            <a:off x="5341938" y="4610100"/>
            <a:ext cx="10795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79905" name="Line 103"/>
          <p:cNvSpPr>
            <a:spLocks noChangeShapeType="1"/>
          </p:cNvSpPr>
          <p:nvPr/>
        </p:nvSpPr>
        <p:spPr bwMode="auto">
          <a:xfrm flipH="1" flipV="1">
            <a:off x="6815138" y="2601914"/>
            <a:ext cx="1079500" cy="7016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79906" name="Text Box 104"/>
          <p:cNvSpPr txBox="1">
            <a:spLocks noChangeArrowheads="1"/>
          </p:cNvSpPr>
          <p:nvPr/>
        </p:nvSpPr>
        <p:spPr bwMode="auto">
          <a:xfrm rot="-2120564">
            <a:off x="4178300" y="2803526"/>
            <a:ext cx="882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sz="2000" b="1">
                <a:latin typeface="Arial Rounded MT Bold" panose="020F0704030504030204" pitchFamily="34" charset="0"/>
              </a:rPr>
              <a:t>11</a:t>
            </a:r>
          </a:p>
        </p:txBody>
      </p:sp>
      <p:sp>
        <p:nvSpPr>
          <p:cNvPr id="79907" name="Text Box 105"/>
          <p:cNvSpPr txBox="1">
            <a:spLocks noChangeArrowheads="1"/>
          </p:cNvSpPr>
          <p:nvPr/>
        </p:nvSpPr>
        <p:spPr bwMode="auto">
          <a:xfrm rot="1671448">
            <a:off x="4203700" y="3551239"/>
            <a:ext cx="882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sz="2000" b="1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79908" name="Text Box 106"/>
          <p:cNvSpPr txBox="1">
            <a:spLocks noChangeArrowheads="1"/>
          </p:cNvSpPr>
          <p:nvPr/>
        </p:nvSpPr>
        <p:spPr bwMode="auto">
          <a:xfrm>
            <a:off x="5735638" y="4610101"/>
            <a:ext cx="882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sz="2000" b="1">
                <a:latin typeface="Arial Rounded MT Bold" panose="020F0704030504030204" pitchFamily="34" charset="0"/>
              </a:rPr>
              <a:t>11</a:t>
            </a:r>
          </a:p>
        </p:txBody>
      </p:sp>
      <p:sp>
        <p:nvSpPr>
          <p:cNvPr id="79909" name="Text Box 107"/>
          <p:cNvSpPr txBox="1">
            <a:spLocks noChangeArrowheads="1"/>
          </p:cNvSpPr>
          <p:nvPr/>
        </p:nvSpPr>
        <p:spPr bwMode="auto">
          <a:xfrm rot="1953558">
            <a:off x="6958013" y="2951164"/>
            <a:ext cx="882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sz="2000" b="1">
                <a:latin typeface="Arial Rounded MT Bold" panose="020F0704030504030204" pitchFamily="34" charset="0"/>
              </a:rPr>
              <a:t>15</a:t>
            </a:r>
          </a:p>
        </p:txBody>
      </p:sp>
      <p:sp>
        <p:nvSpPr>
          <p:cNvPr id="79910" name="Text Box 108"/>
          <p:cNvSpPr txBox="1">
            <a:spLocks noChangeArrowheads="1"/>
          </p:cNvSpPr>
          <p:nvPr/>
        </p:nvSpPr>
        <p:spPr bwMode="auto">
          <a:xfrm rot="-3155862">
            <a:off x="5437982" y="2701132"/>
            <a:ext cx="903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sz="2000" b="1"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4A05E97-782C-EF48-BAE7-B7631B71F08F}"/>
              </a:ext>
            </a:extLst>
          </p:cNvPr>
          <p:cNvSpPr txBox="1"/>
          <p:nvPr/>
        </p:nvSpPr>
        <p:spPr>
          <a:xfrm>
            <a:off x="3919538" y="5221287"/>
            <a:ext cx="4572000" cy="587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此增广路径</a:t>
            </a:r>
            <a:r>
              <a:rPr lang="en-US" altLang="zh-CN" sz="2400" b="1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</a:t>
            </a:r>
            <a:r>
              <a:rPr lang="zh-CN" altLang="en-US" sz="2400" b="1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的剩余容量</a:t>
            </a:r>
            <a:r>
              <a:rPr lang="en-US" altLang="zh-CN" sz="2400" b="1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: </a:t>
            </a:r>
            <a:r>
              <a:rPr lang="zh-CN" altLang="en-US" sz="2400" b="1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49C6E3F-AB0F-29C7-E7B9-BDC21D1F7F4A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231DB63-E649-4209-E895-BEE56CBEB57D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2FE8CCF-3BB8-46EF-D0F1-D60E036A4DC6}"/>
              </a:ext>
            </a:extLst>
          </p:cNvPr>
          <p:cNvSpPr txBox="1"/>
          <p:nvPr/>
        </p:nvSpPr>
        <p:spPr>
          <a:xfrm>
            <a:off x="380723" y="299408"/>
            <a:ext cx="67415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Ford-Fulkerson</a:t>
            </a:r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算法</a:t>
            </a:r>
            <a:r>
              <a:rPr lang="en-US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:</a:t>
            </a:r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增广路径</a:t>
            </a:r>
          </a:p>
        </p:txBody>
      </p:sp>
      <p:sp>
        <p:nvSpPr>
          <p:cNvPr id="7" name="圆角矩形 8">
            <a:extLst>
              <a:ext uri="{FF2B5EF4-FFF2-40B4-BE49-F238E27FC236}">
                <a16:creationId xmlns:a16="http://schemas.microsoft.com/office/drawing/2014/main" id="{CF6D065C-0181-8D53-5F88-E2D900ED4EEF}"/>
              </a:ext>
            </a:extLst>
          </p:cNvPr>
          <p:cNvSpPr/>
          <p:nvPr/>
        </p:nvSpPr>
        <p:spPr>
          <a:xfrm>
            <a:off x="238663" y="311105"/>
            <a:ext cx="6883589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04131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150921" y="1065213"/>
            <a:ext cx="7554175" cy="251460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对于增广路径</a:t>
            </a:r>
            <a:r>
              <a:rPr lang="de-DE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</a:t>
            </a: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定义流函数 </a:t>
            </a:r>
            <a:r>
              <a:rPr lang="de-DE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f</a:t>
            </a:r>
            <a:r>
              <a:rPr lang="de-DE" altLang="zh-CN" baseline="-250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</a:t>
            </a:r>
            <a:r>
              <a:rPr lang="de-DE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: V x V </a:t>
            </a:r>
            <a:r>
              <a:rPr lang="de-DE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de-DE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R</a:t>
            </a: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</a:t>
            </a:r>
            <a:endParaRPr lang="de-DE" altLang="zh-CN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90000"/>
              </a:lnSpc>
            </a:pPr>
            <a:r>
              <a:rPr lang="de-DE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f</a:t>
            </a:r>
            <a:r>
              <a:rPr lang="de-DE" altLang="zh-CN" baseline="-250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</a:t>
            </a:r>
            <a:r>
              <a:rPr lang="de-DE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(u,v)</a:t>
            </a: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  <a:r>
              <a:rPr lang="de-DE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=     </a:t>
            </a:r>
          </a:p>
          <a:p>
            <a:pPr lvl="1">
              <a:lnSpc>
                <a:spcPct val="90000"/>
              </a:lnSpc>
            </a:pPr>
            <a:r>
              <a:rPr lang="de-DE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</a:t>
            </a:r>
            <a:r>
              <a:rPr lang="de-DE" altLang="zh-CN" baseline="-250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f</a:t>
            </a:r>
            <a:r>
              <a:rPr lang="de-DE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(p)    </a:t>
            </a: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如果</a:t>
            </a:r>
            <a:r>
              <a:rPr lang="de-DE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(u,v)</a:t>
            </a: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在路径</a:t>
            </a:r>
            <a:r>
              <a:rPr lang="de-DE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</a:t>
            </a: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上</a:t>
            </a:r>
            <a:endParaRPr lang="de-DE" altLang="zh-CN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lvl="1"/>
            <a:r>
              <a:rPr lang="de-DE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- c</a:t>
            </a:r>
            <a:r>
              <a:rPr lang="de-DE" altLang="zh-CN" baseline="-250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f</a:t>
            </a:r>
            <a:r>
              <a:rPr lang="de-DE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(p)  </a:t>
            </a: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如果</a:t>
            </a:r>
            <a:r>
              <a:rPr lang="de-DE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v</a:t>
            </a:r>
            <a:r>
              <a:rPr lang="de-DE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,u)</a:t>
            </a: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在路径</a:t>
            </a:r>
            <a:r>
              <a:rPr lang="de-DE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</a:t>
            </a: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上</a:t>
            </a:r>
            <a:endParaRPr lang="de-DE" altLang="zh-CN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lvl="1"/>
            <a:r>
              <a:rPr lang="de-DE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0          </a:t>
            </a: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其它</a:t>
            </a:r>
            <a:endParaRPr lang="de-DE" altLang="zh-CN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grpSp>
        <p:nvGrpSpPr>
          <p:cNvPr id="80901" name="组合 39"/>
          <p:cNvGrpSpPr>
            <a:grpSpLocks/>
          </p:cNvGrpSpPr>
          <p:nvPr/>
        </p:nvGrpSpPr>
        <p:grpSpPr bwMode="auto">
          <a:xfrm>
            <a:off x="3561764" y="3234223"/>
            <a:ext cx="4906963" cy="2660650"/>
            <a:chOff x="1905000" y="3581390"/>
            <a:chExt cx="4906864" cy="2660718"/>
          </a:xfrm>
        </p:grpSpPr>
        <p:sp>
          <p:nvSpPr>
            <p:cNvPr id="80903" name="Oval 73"/>
            <p:cNvSpPr>
              <a:spLocks noChangeArrowheads="1"/>
            </p:cNvSpPr>
            <p:nvPr/>
          </p:nvSpPr>
          <p:spPr bwMode="auto">
            <a:xfrm>
              <a:off x="1905000" y="4736042"/>
              <a:ext cx="490686" cy="502022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de-DE" altLang="zh-CN" sz="2000" b="1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80904" name="Oval 74"/>
            <p:cNvSpPr>
              <a:spLocks noChangeArrowheads="1"/>
            </p:cNvSpPr>
            <p:nvPr/>
          </p:nvSpPr>
          <p:spPr bwMode="auto">
            <a:xfrm>
              <a:off x="6321178" y="4736042"/>
              <a:ext cx="490686" cy="502022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de-DE" altLang="zh-CN" sz="2000" b="1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80905" name="Oval 75"/>
            <p:cNvSpPr>
              <a:spLocks noChangeArrowheads="1"/>
            </p:cNvSpPr>
            <p:nvPr/>
          </p:nvSpPr>
          <p:spPr bwMode="auto">
            <a:xfrm>
              <a:off x="3377059" y="3731997"/>
              <a:ext cx="490686" cy="502022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de-DE" altLang="zh-CN" sz="2000" b="1">
                  <a:latin typeface="Times New Roman" panose="02020603050405020304" pitchFamily="18" charset="0"/>
                </a:rPr>
                <a:t>v</a:t>
              </a:r>
              <a:r>
                <a:rPr lang="de-DE" altLang="zh-CN" sz="2000" b="1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0906" name="Oval 76"/>
            <p:cNvSpPr>
              <a:spLocks noChangeArrowheads="1"/>
            </p:cNvSpPr>
            <p:nvPr/>
          </p:nvSpPr>
          <p:spPr bwMode="auto">
            <a:xfrm>
              <a:off x="3377059" y="5740086"/>
              <a:ext cx="490686" cy="502022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de-DE" altLang="zh-CN" sz="2000" b="1">
                  <a:latin typeface="Times New Roman" panose="02020603050405020304" pitchFamily="18" charset="0"/>
                </a:rPr>
                <a:t>v</a:t>
              </a:r>
              <a:r>
                <a:rPr lang="de-DE" altLang="zh-CN" sz="2000" b="1" baseline="-25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80907" name="Oval 77"/>
            <p:cNvSpPr>
              <a:spLocks noChangeArrowheads="1"/>
            </p:cNvSpPr>
            <p:nvPr/>
          </p:nvSpPr>
          <p:spPr bwMode="auto">
            <a:xfrm>
              <a:off x="4849118" y="3681794"/>
              <a:ext cx="490686" cy="502022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de-DE" altLang="zh-CN" sz="2000" b="1">
                  <a:latin typeface="Times New Roman" panose="02020603050405020304" pitchFamily="18" charset="0"/>
                </a:rPr>
                <a:t>v</a:t>
              </a:r>
              <a:r>
                <a:rPr lang="de-DE" altLang="zh-CN" sz="2000" b="1" baseline="-250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80908" name="Oval 78"/>
            <p:cNvSpPr>
              <a:spLocks noChangeArrowheads="1"/>
            </p:cNvSpPr>
            <p:nvPr/>
          </p:nvSpPr>
          <p:spPr bwMode="auto">
            <a:xfrm>
              <a:off x="4849118" y="5740086"/>
              <a:ext cx="490686" cy="502022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de-DE" altLang="zh-CN" sz="2000" b="1">
                  <a:latin typeface="Times New Roman" panose="02020603050405020304" pitchFamily="18" charset="0"/>
                </a:rPr>
                <a:t>v</a:t>
              </a:r>
              <a:r>
                <a:rPr lang="de-DE" altLang="zh-CN" sz="2000" b="1" baseline="-250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80909" name="Line 79"/>
            <p:cNvSpPr>
              <a:spLocks noChangeShapeType="1"/>
            </p:cNvSpPr>
            <p:nvPr/>
          </p:nvSpPr>
          <p:spPr bwMode="auto">
            <a:xfrm flipH="1">
              <a:off x="3916814" y="3983008"/>
              <a:ext cx="98137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80910" name="Line 80"/>
            <p:cNvSpPr>
              <a:spLocks noChangeShapeType="1"/>
            </p:cNvSpPr>
            <p:nvPr/>
          </p:nvSpPr>
          <p:spPr bwMode="auto">
            <a:xfrm>
              <a:off x="3916814" y="6032933"/>
              <a:ext cx="98137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80911" name="Line 81"/>
            <p:cNvSpPr>
              <a:spLocks noChangeShapeType="1"/>
            </p:cNvSpPr>
            <p:nvPr/>
          </p:nvSpPr>
          <p:spPr bwMode="auto">
            <a:xfrm rot="21232646" flipV="1">
              <a:off x="2150343" y="4024843"/>
              <a:ext cx="1273741" cy="7028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12" name="Line 82"/>
            <p:cNvSpPr>
              <a:spLocks noChangeShapeType="1"/>
            </p:cNvSpPr>
            <p:nvPr/>
          </p:nvSpPr>
          <p:spPr bwMode="auto">
            <a:xfrm rot="-10651273">
              <a:off x="2150343" y="5187862"/>
              <a:ext cx="1177647" cy="7028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13" name="Line 83"/>
            <p:cNvSpPr>
              <a:spLocks noChangeShapeType="1"/>
            </p:cNvSpPr>
            <p:nvPr/>
          </p:nvSpPr>
          <p:spPr bwMode="auto">
            <a:xfrm>
              <a:off x="3524265" y="4183817"/>
              <a:ext cx="0" cy="16064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14" name="Line 84"/>
            <p:cNvSpPr>
              <a:spLocks noChangeShapeType="1"/>
            </p:cNvSpPr>
            <p:nvPr/>
          </p:nvSpPr>
          <p:spPr bwMode="auto">
            <a:xfrm flipV="1">
              <a:off x="3720540" y="4183817"/>
              <a:ext cx="0" cy="16064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15" name="Line 85"/>
            <p:cNvSpPr>
              <a:spLocks noChangeShapeType="1"/>
            </p:cNvSpPr>
            <p:nvPr/>
          </p:nvSpPr>
          <p:spPr bwMode="auto">
            <a:xfrm>
              <a:off x="5094462" y="4183817"/>
              <a:ext cx="0" cy="16064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16" name="Line 86"/>
            <p:cNvSpPr>
              <a:spLocks noChangeShapeType="1"/>
            </p:cNvSpPr>
            <p:nvPr/>
          </p:nvSpPr>
          <p:spPr bwMode="auto">
            <a:xfrm flipH="1">
              <a:off x="3818677" y="4183817"/>
              <a:ext cx="1177647" cy="16064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17" name="Line 87"/>
            <p:cNvSpPr>
              <a:spLocks noChangeShapeType="1"/>
            </p:cNvSpPr>
            <p:nvPr/>
          </p:nvSpPr>
          <p:spPr bwMode="auto">
            <a:xfrm>
              <a:off x="5388873" y="4024843"/>
              <a:ext cx="1079510" cy="702831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18" name="Line 88"/>
            <p:cNvSpPr>
              <a:spLocks noChangeShapeType="1"/>
            </p:cNvSpPr>
            <p:nvPr/>
          </p:nvSpPr>
          <p:spPr bwMode="auto">
            <a:xfrm rot="10800000" flipV="1">
              <a:off x="5388873" y="5187862"/>
              <a:ext cx="981373" cy="7028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19" name="Text Box 89"/>
            <p:cNvSpPr txBox="1">
              <a:spLocks noChangeArrowheads="1"/>
            </p:cNvSpPr>
            <p:nvPr/>
          </p:nvSpPr>
          <p:spPr bwMode="auto">
            <a:xfrm rot="-5348452">
              <a:off x="2815392" y="4531542"/>
              <a:ext cx="903311" cy="3968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sz="2000" b="1">
                  <a:latin typeface="Times New Roman" panose="02020603050405020304" pitchFamily="18" charset="0"/>
                </a:rPr>
                <a:t>11</a:t>
              </a:r>
            </a:p>
          </p:txBody>
        </p:sp>
        <p:sp>
          <p:nvSpPr>
            <p:cNvPr id="80920" name="Text Box 90"/>
            <p:cNvSpPr txBox="1">
              <a:spLocks noChangeArrowheads="1"/>
            </p:cNvSpPr>
            <p:nvPr/>
          </p:nvSpPr>
          <p:spPr bwMode="auto">
            <a:xfrm rot="1671448">
              <a:off x="2354253" y="5692819"/>
              <a:ext cx="884220" cy="3968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sz="2000" b="1">
                  <a:latin typeface="Times New Roman" panose="02020603050405020304" pitchFamily="18" charset="0"/>
                </a:rPr>
                <a:t>-4/8</a:t>
              </a:r>
            </a:p>
          </p:txBody>
        </p:sp>
        <p:sp>
          <p:nvSpPr>
            <p:cNvPr id="80921" name="Text Box 91"/>
            <p:cNvSpPr txBox="1">
              <a:spLocks noChangeArrowheads="1"/>
            </p:cNvSpPr>
            <p:nvPr/>
          </p:nvSpPr>
          <p:spPr bwMode="auto">
            <a:xfrm>
              <a:off x="4113168" y="3581390"/>
              <a:ext cx="882632" cy="3968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sz="2000" b="1">
                  <a:latin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80922" name="Text Box 92"/>
            <p:cNvSpPr txBox="1">
              <a:spLocks noChangeArrowheads="1"/>
            </p:cNvSpPr>
            <p:nvPr/>
          </p:nvSpPr>
          <p:spPr bwMode="auto">
            <a:xfrm rot="-2145434">
              <a:off x="2422515" y="3949699"/>
              <a:ext cx="608000" cy="396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sz="2000" b="1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80923" name="Text Box 93"/>
            <p:cNvSpPr txBox="1">
              <a:spLocks noChangeArrowheads="1"/>
            </p:cNvSpPr>
            <p:nvPr/>
          </p:nvSpPr>
          <p:spPr bwMode="auto">
            <a:xfrm rot="-5348452">
              <a:off x="3407518" y="4577581"/>
              <a:ext cx="903311" cy="3968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sz="2000" b="1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80924" name="Text Box 94"/>
            <p:cNvSpPr txBox="1">
              <a:spLocks noChangeArrowheads="1"/>
            </p:cNvSpPr>
            <p:nvPr/>
          </p:nvSpPr>
          <p:spPr bwMode="auto">
            <a:xfrm rot="-2120564">
              <a:off x="5632375" y="5338797"/>
              <a:ext cx="884220" cy="396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sz="2000" b="1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80925" name="Text Box 95"/>
            <p:cNvSpPr txBox="1">
              <a:spLocks noChangeArrowheads="1"/>
            </p:cNvSpPr>
            <p:nvPr/>
          </p:nvSpPr>
          <p:spPr bwMode="auto">
            <a:xfrm>
              <a:off x="4211591" y="5630905"/>
              <a:ext cx="882632" cy="3968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sz="2000" b="1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80926" name="Text Box 96"/>
            <p:cNvSpPr txBox="1">
              <a:spLocks noChangeArrowheads="1"/>
            </p:cNvSpPr>
            <p:nvPr/>
          </p:nvSpPr>
          <p:spPr bwMode="auto">
            <a:xfrm rot="1953558">
              <a:off x="5864146" y="4222756"/>
              <a:ext cx="882632" cy="396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4</a:t>
              </a:r>
              <a:r>
                <a:rPr lang="de-DE" altLang="zh-CN" sz="2000" b="1">
                  <a:latin typeface="Times New Roman" panose="02020603050405020304" pitchFamily="18" charset="0"/>
                </a:rPr>
                <a:t>/5</a:t>
              </a:r>
            </a:p>
          </p:txBody>
        </p:sp>
        <p:sp>
          <p:nvSpPr>
            <p:cNvPr id="80927" name="Text Box 97"/>
            <p:cNvSpPr txBox="1">
              <a:spLocks noChangeArrowheads="1"/>
            </p:cNvSpPr>
            <p:nvPr/>
          </p:nvSpPr>
          <p:spPr bwMode="auto">
            <a:xfrm rot="-5348452">
              <a:off x="4780678" y="4536305"/>
              <a:ext cx="903311" cy="3968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sz="2000" b="1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80928" name="Text Box 98"/>
            <p:cNvSpPr txBox="1">
              <a:spLocks noChangeArrowheads="1"/>
            </p:cNvSpPr>
            <p:nvPr/>
          </p:nvSpPr>
          <p:spPr bwMode="auto">
            <a:xfrm rot="-3155862">
              <a:off x="4252051" y="4822062"/>
              <a:ext cx="903311" cy="3968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sz="2000" b="1">
                  <a:latin typeface="Times New Roman" panose="02020603050405020304" pitchFamily="18" charset="0"/>
                </a:rPr>
                <a:t>-4/5</a:t>
              </a:r>
            </a:p>
          </p:txBody>
        </p:sp>
        <p:sp>
          <p:nvSpPr>
            <p:cNvPr id="80929" name="Line 99"/>
            <p:cNvSpPr>
              <a:spLocks noChangeShapeType="1"/>
            </p:cNvSpPr>
            <p:nvPr/>
          </p:nvSpPr>
          <p:spPr bwMode="auto">
            <a:xfrm flipH="1">
              <a:off x="2344574" y="4127340"/>
              <a:ext cx="1079510" cy="7028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30" name="Line 100"/>
            <p:cNvSpPr>
              <a:spLocks noChangeShapeType="1"/>
            </p:cNvSpPr>
            <p:nvPr/>
          </p:nvSpPr>
          <p:spPr bwMode="auto">
            <a:xfrm rot="10705793" flipH="1" flipV="1">
              <a:off x="2346618" y="5129293"/>
              <a:ext cx="1079510" cy="702831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31" name="Line 101"/>
            <p:cNvSpPr>
              <a:spLocks noChangeShapeType="1"/>
            </p:cNvSpPr>
            <p:nvPr/>
          </p:nvSpPr>
          <p:spPr bwMode="auto">
            <a:xfrm flipV="1">
              <a:off x="3720540" y="4125248"/>
              <a:ext cx="1177647" cy="160647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32" name="Line 102"/>
            <p:cNvSpPr>
              <a:spLocks noChangeShapeType="1"/>
            </p:cNvSpPr>
            <p:nvPr/>
          </p:nvSpPr>
          <p:spPr bwMode="auto">
            <a:xfrm flipH="1">
              <a:off x="3818677" y="6133337"/>
              <a:ext cx="107951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33" name="Line 103"/>
            <p:cNvSpPr>
              <a:spLocks noChangeShapeType="1"/>
            </p:cNvSpPr>
            <p:nvPr/>
          </p:nvSpPr>
          <p:spPr bwMode="auto">
            <a:xfrm flipH="1" flipV="1">
              <a:off x="5290736" y="4125248"/>
              <a:ext cx="1079510" cy="7028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34" name="Text Box 104"/>
            <p:cNvSpPr txBox="1">
              <a:spLocks noChangeArrowheads="1"/>
            </p:cNvSpPr>
            <p:nvPr/>
          </p:nvSpPr>
          <p:spPr bwMode="auto">
            <a:xfrm rot="-2120564">
              <a:off x="2590786" y="4276733"/>
              <a:ext cx="882633" cy="3968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sz="2000" b="1">
                  <a:latin typeface="Times New Roman" panose="02020603050405020304" pitchFamily="18" charset="0"/>
                </a:rPr>
                <a:t>11</a:t>
              </a:r>
            </a:p>
          </p:txBody>
        </p:sp>
        <p:sp>
          <p:nvSpPr>
            <p:cNvPr id="80935" name="Text Box 105"/>
            <p:cNvSpPr txBox="1">
              <a:spLocks noChangeArrowheads="1"/>
            </p:cNvSpPr>
            <p:nvPr/>
          </p:nvSpPr>
          <p:spPr bwMode="auto">
            <a:xfrm rot="1671448">
              <a:off x="2662222" y="5268946"/>
              <a:ext cx="884220" cy="3968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4</a:t>
              </a:r>
              <a:r>
                <a:rPr lang="de-DE" altLang="zh-CN" sz="2000" b="1">
                  <a:latin typeface="Times New Roman" panose="02020603050405020304" pitchFamily="18" charset="0"/>
                </a:rPr>
                <a:t>/5</a:t>
              </a:r>
            </a:p>
          </p:txBody>
        </p:sp>
        <p:sp>
          <p:nvSpPr>
            <p:cNvPr id="80936" name="Text Box 107"/>
            <p:cNvSpPr txBox="1">
              <a:spLocks noChangeArrowheads="1"/>
            </p:cNvSpPr>
            <p:nvPr/>
          </p:nvSpPr>
          <p:spPr bwMode="auto">
            <a:xfrm rot="1953558">
              <a:off x="5399017" y="4529152"/>
              <a:ext cx="882633" cy="3968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sz="2000" b="1">
                  <a:latin typeface="Times New Roman" panose="02020603050405020304" pitchFamily="18" charset="0"/>
                </a:rPr>
                <a:t>-4/15</a:t>
              </a:r>
            </a:p>
          </p:txBody>
        </p:sp>
        <p:sp>
          <p:nvSpPr>
            <p:cNvPr id="80937" name="Text Box 108"/>
            <p:cNvSpPr txBox="1">
              <a:spLocks noChangeArrowheads="1"/>
            </p:cNvSpPr>
            <p:nvPr/>
          </p:nvSpPr>
          <p:spPr bwMode="auto">
            <a:xfrm rot="-3155862">
              <a:off x="4006313" y="4298551"/>
              <a:ext cx="903640" cy="3981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4</a:t>
              </a:r>
              <a:r>
                <a:rPr lang="en-US" altLang="zh-CN" sz="2000" b="1">
                  <a:latin typeface="Times New Roman" panose="02020603050405020304" pitchFamily="18" charset="0"/>
                </a:rPr>
                <a:t>/</a:t>
              </a:r>
              <a:r>
                <a:rPr lang="de-DE" altLang="zh-CN" sz="2000" b="1">
                  <a:latin typeface="Times New Roman" panose="02020603050405020304" pitchFamily="18" charset="0"/>
                </a:rPr>
                <a:t>4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0629FCDB-1DA9-2244-90E9-52B655F76B05}"/>
              </a:ext>
            </a:extLst>
          </p:cNvPr>
          <p:cNvSpPr txBox="1"/>
          <p:nvPr/>
        </p:nvSpPr>
        <p:spPr>
          <a:xfrm>
            <a:off x="2447131" y="6058728"/>
            <a:ext cx="77251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根据增广路径的剩余容量</a:t>
            </a:r>
            <a:r>
              <a:rPr lang="zh-CN" altLang="en-US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，正向为正，反向为负</a:t>
            </a:r>
            <a:endParaRPr lang="en-US" sz="2800" dirty="0">
              <a:solidFill>
                <a:srgbClr val="00B05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61FD62C-76CA-B163-E6E0-B9202BFE78F7}"/>
              </a:ext>
            </a:extLst>
          </p:cNvPr>
          <p:cNvSpPr txBox="1"/>
          <p:nvPr/>
        </p:nvSpPr>
        <p:spPr>
          <a:xfrm>
            <a:off x="380723" y="299408"/>
            <a:ext cx="61252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Ford-Fulkerson</a:t>
            </a:r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算法</a:t>
            </a:r>
            <a:r>
              <a:rPr lang="en-US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:</a:t>
            </a:r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流增广</a:t>
            </a:r>
          </a:p>
        </p:txBody>
      </p:sp>
      <p:sp>
        <p:nvSpPr>
          <p:cNvPr id="4" name="圆角矩形 8">
            <a:extLst>
              <a:ext uri="{FF2B5EF4-FFF2-40B4-BE49-F238E27FC236}">
                <a16:creationId xmlns:a16="http://schemas.microsoft.com/office/drawing/2014/main" id="{B385D22B-369C-BE17-A8EA-DA373FAD8FEB}"/>
              </a:ext>
            </a:extLst>
          </p:cNvPr>
          <p:cNvSpPr/>
          <p:nvPr/>
        </p:nvSpPr>
        <p:spPr>
          <a:xfrm>
            <a:off x="238663" y="311105"/>
            <a:ext cx="6232131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3B1DD2D-6037-F3A4-B8D6-A38045F72FD7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30B1D5D-BF1D-CAEB-0837-110EBB9C6862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26381332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79122" y="1136109"/>
            <a:ext cx="11104169" cy="83820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zh-CN" altLang="en-US" b="1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在增广路径上的每条边上新的流</a:t>
            </a:r>
            <a:r>
              <a:rPr lang="de-DE" altLang="zh-CN" b="1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f´</a:t>
            </a:r>
            <a:r>
              <a:rPr lang="zh-CN" altLang="de-DE" b="1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等于</a:t>
            </a:r>
            <a:r>
              <a:rPr lang="zh-CN" altLang="en-US" b="1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原流量加上增广流</a:t>
            </a:r>
            <a:r>
              <a:rPr lang="de-DE" altLang="zh-CN" b="1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: </a:t>
            </a:r>
            <a:r>
              <a:rPr lang="de-DE" altLang="zh-CN" b="1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f´=</a:t>
            </a:r>
            <a:r>
              <a:rPr lang="zh-CN" altLang="en-US" b="1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  <a:r>
              <a:rPr lang="de-DE" altLang="zh-CN" b="1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f + f</a:t>
            </a:r>
            <a:r>
              <a:rPr lang="de-DE" altLang="zh-CN" b="1" baseline="-250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</a:t>
            </a:r>
            <a:r>
              <a:rPr lang="de-DE" altLang="zh-CN" b="1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</a:t>
            </a:r>
          </a:p>
        </p:txBody>
      </p:sp>
      <p:sp>
        <p:nvSpPr>
          <p:cNvPr id="81924" name="Text Box 106"/>
          <p:cNvSpPr txBox="1">
            <a:spLocks noChangeArrowheads="1"/>
          </p:cNvSpPr>
          <p:nvPr/>
        </p:nvSpPr>
        <p:spPr bwMode="auto">
          <a:xfrm>
            <a:off x="5735638" y="5992697"/>
            <a:ext cx="8826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sz="2000" b="1"/>
              <a:t>11</a:t>
            </a:r>
          </a:p>
        </p:txBody>
      </p:sp>
      <p:grpSp>
        <p:nvGrpSpPr>
          <p:cNvPr id="81925" name="组合 66"/>
          <p:cNvGrpSpPr>
            <a:grpSpLocks/>
          </p:cNvGrpSpPr>
          <p:nvPr/>
        </p:nvGrpSpPr>
        <p:grpSpPr bwMode="auto">
          <a:xfrm>
            <a:off x="1730374" y="1693531"/>
            <a:ext cx="4148354" cy="2411216"/>
            <a:chOff x="342900" y="2943732"/>
            <a:chExt cx="3810000" cy="2122338"/>
          </a:xfrm>
        </p:grpSpPr>
        <p:sp>
          <p:nvSpPr>
            <p:cNvPr id="81954" name="Oval 3"/>
            <p:cNvSpPr>
              <a:spLocks noChangeArrowheads="1"/>
            </p:cNvSpPr>
            <p:nvPr/>
          </p:nvSpPr>
          <p:spPr bwMode="auto">
            <a:xfrm>
              <a:off x="342900" y="3787637"/>
              <a:ext cx="380428" cy="38107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de-DE" altLang="zh-CN" b="1">
                  <a:latin typeface="Arial Rounded MT Bold" panose="020F0704030504030204" pitchFamily="34" charset="0"/>
                </a:rPr>
                <a:t>S</a:t>
              </a:r>
            </a:p>
          </p:txBody>
        </p:sp>
        <p:sp>
          <p:nvSpPr>
            <p:cNvPr id="81955" name="Oval 4"/>
            <p:cNvSpPr>
              <a:spLocks noChangeArrowheads="1"/>
            </p:cNvSpPr>
            <p:nvPr/>
          </p:nvSpPr>
          <p:spPr bwMode="auto">
            <a:xfrm>
              <a:off x="3772472" y="3787637"/>
              <a:ext cx="380428" cy="38107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de-DE" altLang="zh-CN" b="1">
                  <a:latin typeface="Arial Rounded MT Bold" panose="020F0704030504030204" pitchFamily="34" charset="0"/>
                </a:rPr>
                <a:t>t</a:t>
              </a:r>
            </a:p>
          </p:txBody>
        </p:sp>
        <p:sp>
          <p:nvSpPr>
            <p:cNvPr id="81956" name="Oval 5"/>
            <p:cNvSpPr>
              <a:spLocks noChangeArrowheads="1"/>
            </p:cNvSpPr>
            <p:nvPr/>
          </p:nvSpPr>
          <p:spPr bwMode="auto">
            <a:xfrm>
              <a:off x="1485614" y="3026804"/>
              <a:ext cx="381858" cy="381075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de-DE" altLang="zh-CN" b="1" dirty="0">
                  <a:latin typeface="Arial Rounded MT Bold" panose="020F0704030504030204" pitchFamily="34" charset="0"/>
                </a:rPr>
                <a:t>v</a:t>
              </a:r>
              <a:r>
                <a:rPr lang="de-DE" altLang="zh-CN" b="1" baseline="-25000" dirty="0"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81957" name="Oval 6"/>
            <p:cNvSpPr>
              <a:spLocks noChangeArrowheads="1"/>
            </p:cNvSpPr>
            <p:nvPr/>
          </p:nvSpPr>
          <p:spPr bwMode="auto">
            <a:xfrm>
              <a:off x="1485614" y="4549788"/>
              <a:ext cx="381858" cy="38107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de-DE" altLang="zh-CN" b="1">
                  <a:latin typeface="Arial Rounded MT Bold" panose="020F0704030504030204" pitchFamily="34" charset="0"/>
                </a:rPr>
                <a:t>v</a:t>
              </a:r>
              <a:r>
                <a:rPr lang="de-DE" altLang="zh-CN" b="1" baseline="-25000">
                  <a:latin typeface="Arial Rounded MT Bold" panose="020F0704030504030204" pitchFamily="34" charset="0"/>
                </a:rPr>
                <a:t>2</a:t>
              </a:r>
            </a:p>
          </p:txBody>
        </p:sp>
        <p:sp>
          <p:nvSpPr>
            <p:cNvPr id="81958" name="Oval 7"/>
            <p:cNvSpPr>
              <a:spLocks noChangeArrowheads="1"/>
            </p:cNvSpPr>
            <p:nvPr/>
          </p:nvSpPr>
          <p:spPr bwMode="auto">
            <a:xfrm>
              <a:off x="2628328" y="2988564"/>
              <a:ext cx="381859" cy="38107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de-DE" altLang="zh-CN" b="1">
                  <a:latin typeface="Arial Rounded MT Bold" panose="020F0704030504030204" pitchFamily="34" charset="0"/>
                </a:rPr>
                <a:t>v</a:t>
              </a:r>
              <a:r>
                <a:rPr lang="de-DE" altLang="zh-CN" b="1" baseline="-25000">
                  <a:latin typeface="Arial Rounded MT Bold" panose="020F0704030504030204" pitchFamily="34" charset="0"/>
                </a:rPr>
                <a:t>3</a:t>
              </a:r>
            </a:p>
          </p:txBody>
        </p:sp>
        <p:sp>
          <p:nvSpPr>
            <p:cNvPr id="81959" name="Oval 8"/>
            <p:cNvSpPr>
              <a:spLocks noChangeArrowheads="1"/>
            </p:cNvSpPr>
            <p:nvPr/>
          </p:nvSpPr>
          <p:spPr bwMode="auto">
            <a:xfrm>
              <a:off x="2628328" y="4549788"/>
              <a:ext cx="381859" cy="38107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de-DE" altLang="zh-CN" b="1">
                  <a:latin typeface="Arial Rounded MT Bold" panose="020F0704030504030204" pitchFamily="34" charset="0"/>
                </a:rPr>
                <a:t>v</a:t>
              </a:r>
              <a:r>
                <a:rPr lang="de-DE" altLang="zh-CN" b="1" baseline="-25000">
                  <a:latin typeface="Arial Rounded MT Bold" panose="020F0704030504030204" pitchFamily="34" charset="0"/>
                </a:rPr>
                <a:t>4</a:t>
              </a:r>
            </a:p>
          </p:txBody>
        </p:sp>
        <p:sp>
          <p:nvSpPr>
            <p:cNvPr id="47" name="Line 9"/>
            <p:cNvSpPr>
              <a:spLocks noChangeShapeType="1"/>
            </p:cNvSpPr>
            <p:nvPr/>
          </p:nvSpPr>
          <p:spPr bwMode="auto">
            <a:xfrm>
              <a:off x="1904657" y="3216683"/>
              <a:ext cx="7622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endParaRPr lang="zh-CN" altLang="en-US" b="1">
                <a:latin typeface="Arial Rounded MT Bold" panose="020F0704030504030204" pitchFamily="34" charset="0"/>
              </a:endParaRPr>
            </a:p>
          </p:txBody>
        </p:sp>
        <p:sp>
          <p:nvSpPr>
            <p:cNvPr id="48" name="Line 10"/>
            <p:cNvSpPr>
              <a:spLocks noChangeShapeType="1"/>
            </p:cNvSpPr>
            <p:nvPr/>
          </p:nvSpPr>
          <p:spPr bwMode="auto">
            <a:xfrm>
              <a:off x="1904657" y="4740986"/>
              <a:ext cx="7622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endParaRPr lang="zh-CN" altLang="en-US" b="1">
                <a:latin typeface="Arial Rounded MT Bold" panose="020F0704030504030204" pitchFamily="34" charset="0"/>
              </a:endParaRPr>
            </a:p>
          </p:txBody>
        </p:sp>
        <p:sp>
          <p:nvSpPr>
            <p:cNvPr id="49" name="Line 11"/>
            <p:cNvSpPr>
              <a:spLocks noChangeShapeType="1"/>
            </p:cNvSpPr>
            <p:nvPr/>
          </p:nvSpPr>
          <p:spPr bwMode="auto">
            <a:xfrm flipV="1">
              <a:off x="531684" y="3291843"/>
              <a:ext cx="989685" cy="53271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pPr>
                <a:defRPr/>
              </a:pPr>
              <a:endParaRPr lang="zh-CN" altLang="en-US" b="1">
                <a:latin typeface="Arial Rounded MT Bold" panose="020F0704030504030204" pitchFamily="34" charset="0"/>
              </a:endParaRPr>
            </a:p>
          </p:txBody>
        </p:sp>
        <p:sp>
          <p:nvSpPr>
            <p:cNvPr id="50" name="Line 12"/>
            <p:cNvSpPr>
              <a:spLocks noChangeShapeType="1"/>
            </p:cNvSpPr>
            <p:nvPr/>
          </p:nvSpPr>
          <p:spPr bwMode="auto">
            <a:xfrm>
              <a:off x="533114" y="4131792"/>
              <a:ext cx="915315" cy="53271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pPr>
                <a:defRPr/>
              </a:pPr>
              <a:endParaRPr lang="zh-CN" altLang="en-US" b="1">
                <a:latin typeface="Arial Rounded MT Bold" panose="020F0704030504030204" pitchFamily="34" charset="0"/>
              </a:endParaRPr>
            </a:p>
          </p:txBody>
        </p:sp>
        <p:sp>
          <p:nvSpPr>
            <p:cNvPr id="51" name="Line 13"/>
            <p:cNvSpPr>
              <a:spLocks noChangeShapeType="1"/>
            </p:cNvSpPr>
            <p:nvPr/>
          </p:nvSpPr>
          <p:spPr bwMode="auto">
            <a:xfrm>
              <a:off x="1600029" y="3369641"/>
              <a:ext cx="0" cy="12183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pPr>
                <a:defRPr/>
              </a:pPr>
              <a:endParaRPr lang="zh-CN" altLang="en-US" b="1">
                <a:latin typeface="Arial Rounded MT Bold" panose="020F0704030504030204" pitchFamily="34" charset="0"/>
              </a:endParaRPr>
            </a:p>
          </p:txBody>
        </p:sp>
        <p:sp>
          <p:nvSpPr>
            <p:cNvPr id="52" name="Line 14"/>
            <p:cNvSpPr>
              <a:spLocks noChangeShapeType="1"/>
            </p:cNvSpPr>
            <p:nvPr/>
          </p:nvSpPr>
          <p:spPr bwMode="auto">
            <a:xfrm flipV="1">
              <a:off x="1753058" y="3369641"/>
              <a:ext cx="0" cy="12183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pPr>
                <a:defRPr/>
              </a:pPr>
              <a:endParaRPr lang="zh-CN" altLang="en-US" b="1">
                <a:latin typeface="Arial Rounded MT Bold" panose="020F0704030504030204" pitchFamily="34" charset="0"/>
              </a:endParaRPr>
            </a:p>
          </p:txBody>
        </p:sp>
        <p:sp>
          <p:nvSpPr>
            <p:cNvPr id="53" name="Line 15"/>
            <p:cNvSpPr>
              <a:spLocks noChangeShapeType="1"/>
            </p:cNvSpPr>
            <p:nvPr/>
          </p:nvSpPr>
          <p:spPr bwMode="auto">
            <a:xfrm flipV="1">
              <a:off x="2819972" y="3369641"/>
              <a:ext cx="0" cy="12183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pPr>
                <a:defRPr/>
              </a:pPr>
              <a:endParaRPr lang="zh-CN" altLang="en-US" b="1">
                <a:latin typeface="Arial Rounded MT Bold" panose="020F0704030504030204" pitchFamily="34" charset="0"/>
              </a:endParaRPr>
            </a:p>
          </p:txBody>
        </p:sp>
        <p:sp>
          <p:nvSpPr>
            <p:cNvPr id="54" name="Line 16"/>
            <p:cNvSpPr>
              <a:spLocks noChangeShapeType="1"/>
            </p:cNvSpPr>
            <p:nvPr/>
          </p:nvSpPr>
          <p:spPr bwMode="auto">
            <a:xfrm flipH="1">
              <a:off x="1828858" y="3369641"/>
              <a:ext cx="913885" cy="121838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pPr>
                <a:defRPr/>
              </a:pPr>
              <a:endParaRPr lang="zh-CN" altLang="en-US" b="1">
                <a:latin typeface="Arial Rounded MT Bold" panose="020F0704030504030204" pitchFamily="34" charset="0"/>
              </a:endParaRPr>
            </a:p>
          </p:txBody>
        </p:sp>
        <p:sp>
          <p:nvSpPr>
            <p:cNvPr id="55" name="Line 17"/>
            <p:cNvSpPr>
              <a:spLocks noChangeShapeType="1"/>
            </p:cNvSpPr>
            <p:nvPr/>
          </p:nvSpPr>
          <p:spPr bwMode="auto">
            <a:xfrm>
              <a:off x="2971571" y="3293162"/>
              <a:ext cx="838086" cy="53271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pPr>
                <a:defRPr/>
              </a:pPr>
              <a:endParaRPr lang="zh-CN" altLang="en-US" b="1">
                <a:latin typeface="Arial Rounded MT Bold" panose="020F0704030504030204" pitchFamily="34" charset="0"/>
              </a:endParaRPr>
            </a:p>
          </p:txBody>
        </p:sp>
        <p:sp>
          <p:nvSpPr>
            <p:cNvPr id="56" name="Line 18"/>
            <p:cNvSpPr>
              <a:spLocks noChangeShapeType="1"/>
            </p:cNvSpPr>
            <p:nvPr/>
          </p:nvSpPr>
          <p:spPr bwMode="auto">
            <a:xfrm flipV="1">
              <a:off x="3047371" y="4131792"/>
              <a:ext cx="762286" cy="53271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pPr>
                <a:defRPr/>
              </a:pPr>
              <a:endParaRPr lang="zh-CN" altLang="en-US" b="1">
                <a:latin typeface="Arial Rounded MT Bold" panose="020F0704030504030204" pitchFamily="34" charset="0"/>
              </a:endParaRPr>
            </a:p>
          </p:txBody>
        </p:sp>
        <p:sp>
          <p:nvSpPr>
            <p:cNvPr id="57" name="Text Box 19"/>
            <p:cNvSpPr txBox="1">
              <a:spLocks noChangeArrowheads="1"/>
            </p:cNvSpPr>
            <p:nvPr/>
          </p:nvSpPr>
          <p:spPr bwMode="auto">
            <a:xfrm rot="16251548">
              <a:off x="1102018" y="3616714"/>
              <a:ext cx="685673" cy="33920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 type="none" w="med" len="lg"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de-DE" altLang="zh-CN" b="1">
                  <a:latin typeface="Arial Rounded MT Bold" panose="020F0704030504030204" pitchFamily="34" charset="0"/>
                </a:rPr>
                <a:t>10</a:t>
              </a:r>
            </a:p>
          </p:txBody>
        </p:sp>
        <p:sp>
          <p:nvSpPr>
            <p:cNvPr id="58" name="Text Box 20"/>
            <p:cNvSpPr txBox="1">
              <a:spLocks noChangeArrowheads="1"/>
            </p:cNvSpPr>
            <p:nvPr/>
          </p:nvSpPr>
          <p:spPr bwMode="auto">
            <a:xfrm rot="1671448">
              <a:off x="654679" y="4455814"/>
              <a:ext cx="686486" cy="32508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 type="none" w="med" len="lg"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de-DE" altLang="zh-CN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8</a:t>
              </a:r>
              <a:r>
                <a:rPr lang="de-DE" altLang="zh-CN" b="1" dirty="0">
                  <a:latin typeface="Arial Rounded MT Bold" panose="020F0704030504030204" pitchFamily="34" charset="0"/>
                </a:rPr>
                <a:t>/13</a:t>
              </a:r>
            </a:p>
          </p:txBody>
        </p:sp>
        <p:sp>
          <p:nvSpPr>
            <p:cNvPr id="59" name="Text Box 21"/>
            <p:cNvSpPr txBox="1">
              <a:spLocks noChangeArrowheads="1"/>
            </p:cNvSpPr>
            <p:nvPr/>
          </p:nvSpPr>
          <p:spPr bwMode="auto">
            <a:xfrm>
              <a:off x="1904657" y="2943732"/>
              <a:ext cx="723671" cy="56889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 type="none" w="med" len="lg"/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de-DE" altLang="zh-CN" b="1" dirty="0">
                  <a:latin typeface="Arial Rounded MT Bold" panose="020F0704030504030204" pitchFamily="34" charset="0"/>
                </a:rPr>
                <a:t>12/12</a:t>
              </a:r>
            </a:p>
          </p:txBody>
        </p:sp>
        <p:sp>
          <p:nvSpPr>
            <p:cNvPr id="60" name="Text Box 22"/>
            <p:cNvSpPr txBox="1">
              <a:spLocks noChangeArrowheads="1"/>
            </p:cNvSpPr>
            <p:nvPr/>
          </p:nvSpPr>
          <p:spPr bwMode="auto">
            <a:xfrm rot="19986914">
              <a:off x="757935" y="3190979"/>
              <a:ext cx="760653" cy="32508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 type="none" w="med" len="lg"/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de-DE" altLang="zh-CN" b="1" dirty="0">
                  <a:latin typeface="Arial Rounded MT Bold" panose="020F0704030504030204" pitchFamily="34" charset="0"/>
                </a:rPr>
                <a:t>11/16</a:t>
              </a:r>
            </a:p>
          </p:txBody>
        </p:sp>
        <p:sp>
          <p:nvSpPr>
            <p:cNvPr id="61" name="Text Box 23"/>
            <p:cNvSpPr txBox="1">
              <a:spLocks noChangeArrowheads="1"/>
            </p:cNvSpPr>
            <p:nvPr/>
          </p:nvSpPr>
          <p:spPr bwMode="auto">
            <a:xfrm rot="16251548">
              <a:off x="1558960" y="3615396"/>
              <a:ext cx="685673" cy="33920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 type="none" w="med" len="lg"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de-DE" altLang="zh-CN" b="1">
                  <a:latin typeface="Arial Rounded MT Bold" panose="020F0704030504030204" pitchFamily="34" charset="0"/>
                </a:rPr>
                <a:t>1/4</a:t>
              </a:r>
            </a:p>
          </p:txBody>
        </p:sp>
        <p:sp>
          <p:nvSpPr>
            <p:cNvPr id="62" name="Text Box 24"/>
            <p:cNvSpPr txBox="1">
              <a:spLocks noChangeArrowheads="1"/>
            </p:cNvSpPr>
            <p:nvPr/>
          </p:nvSpPr>
          <p:spPr bwMode="auto">
            <a:xfrm rot="19479436">
              <a:off x="3267619" y="4274506"/>
              <a:ext cx="685056" cy="32508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 type="none" w="med" len="lg"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de-DE" altLang="zh-CN" b="1">
                  <a:latin typeface="Arial Rounded MT Bold" panose="020F0704030504030204" pitchFamily="34" charset="0"/>
                </a:rPr>
                <a:t>4/4</a:t>
              </a:r>
            </a:p>
          </p:txBody>
        </p:sp>
        <p:sp>
          <p:nvSpPr>
            <p:cNvPr id="63" name="Text Box 25"/>
            <p:cNvSpPr txBox="1">
              <a:spLocks noChangeArrowheads="1"/>
            </p:cNvSpPr>
            <p:nvPr/>
          </p:nvSpPr>
          <p:spPr bwMode="auto">
            <a:xfrm>
              <a:off x="1867473" y="4740986"/>
              <a:ext cx="799470" cy="32508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 type="none" w="med" len="lg"/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de-DE" altLang="zh-CN" b="1" dirty="0">
                  <a:latin typeface="Arial Rounded MT Bold" panose="020F0704030504030204" pitchFamily="34" charset="0"/>
                </a:rPr>
                <a:t>11/14</a:t>
              </a:r>
            </a:p>
          </p:txBody>
        </p:sp>
        <p:sp>
          <p:nvSpPr>
            <p:cNvPr id="64" name="Text Box 26"/>
            <p:cNvSpPr txBox="1">
              <a:spLocks noChangeArrowheads="1"/>
            </p:cNvSpPr>
            <p:nvPr/>
          </p:nvSpPr>
          <p:spPr bwMode="auto">
            <a:xfrm rot="1953558">
              <a:off x="3206159" y="3171242"/>
              <a:ext cx="720982" cy="56889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 type="none" w="med" len="lg"/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de-DE" altLang="zh-CN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15</a:t>
              </a:r>
              <a:r>
                <a:rPr lang="de-DE" altLang="zh-CN" b="1" dirty="0">
                  <a:latin typeface="Arial Rounded MT Bold" panose="020F0704030504030204" pitchFamily="34" charset="0"/>
                </a:rPr>
                <a:t>/20</a:t>
              </a:r>
            </a:p>
          </p:txBody>
        </p:sp>
        <p:sp>
          <p:nvSpPr>
            <p:cNvPr id="65" name="Text Box 27"/>
            <p:cNvSpPr txBox="1">
              <a:spLocks noChangeArrowheads="1"/>
            </p:cNvSpPr>
            <p:nvPr/>
          </p:nvSpPr>
          <p:spPr bwMode="auto">
            <a:xfrm rot="16251548">
              <a:off x="2628735" y="3616715"/>
              <a:ext cx="685673" cy="33920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 type="none" w="med" len="lg"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de-DE" altLang="zh-CN" b="1">
                  <a:latin typeface="Arial Rounded MT Bold" panose="020F0704030504030204" pitchFamily="34" charset="0"/>
                </a:rPr>
                <a:t>7/7</a:t>
              </a:r>
            </a:p>
          </p:txBody>
        </p:sp>
        <p:sp>
          <p:nvSpPr>
            <p:cNvPr id="66" name="Text Box 28"/>
            <p:cNvSpPr txBox="1">
              <a:spLocks noChangeArrowheads="1"/>
            </p:cNvSpPr>
            <p:nvPr/>
          </p:nvSpPr>
          <p:spPr bwMode="auto">
            <a:xfrm rot="18444138">
              <a:off x="2174653" y="3835602"/>
              <a:ext cx="685673" cy="33920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 type="none" w="med" len="lg"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de-DE" altLang="zh-CN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4</a:t>
              </a:r>
              <a:r>
                <a:rPr lang="en-US" altLang="zh-CN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/</a:t>
              </a:r>
              <a:r>
                <a:rPr lang="de-DE" altLang="zh-CN" b="1" dirty="0">
                  <a:latin typeface="Arial Rounded MT Bold" panose="020F0704030504030204" pitchFamily="34" charset="0"/>
                </a:rPr>
                <a:t>9</a:t>
              </a:r>
            </a:p>
          </p:txBody>
        </p:sp>
      </p:grpSp>
      <p:grpSp>
        <p:nvGrpSpPr>
          <p:cNvPr id="81926" name="组合 67"/>
          <p:cNvGrpSpPr>
            <a:grpSpLocks/>
          </p:cNvGrpSpPr>
          <p:nvPr/>
        </p:nvGrpSpPr>
        <p:grpSpPr bwMode="auto">
          <a:xfrm>
            <a:off x="6172200" y="2754198"/>
            <a:ext cx="4229100" cy="2530475"/>
            <a:chOff x="342900" y="2943732"/>
            <a:chExt cx="3810000" cy="2101850"/>
          </a:xfrm>
        </p:grpSpPr>
        <p:sp>
          <p:nvSpPr>
            <p:cNvPr id="81928" name="Oval 3"/>
            <p:cNvSpPr>
              <a:spLocks noChangeArrowheads="1"/>
            </p:cNvSpPr>
            <p:nvPr/>
          </p:nvSpPr>
          <p:spPr bwMode="auto">
            <a:xfrm>
              <a:off x="342900" y="3787637"/>
              <a:ext cx="380428" cy="38107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de-DE" altLang="zh-CN" b="1">
                  <a:latin typeface="Arial Rounded MT Bold" panose="020F0704030504030204" pitchFamily="34" charset="0"/>
                </a:rPr>
                <a:t>S</a:t>
              </a:r>
            </a:p>
          </p:txBody>
        </p:sp>
        <p:sp>
          <p:nvSpPr>
            <p:cNvPr id="81929" name="Oval 4"/>
            <p:cNvSpPr>
              <a:spLocks noChangeArrowheads="1"/>
            </p:cNvSpPr>
            <p:nvPr/>
          </p:nvSpPr>
          <p:spPr bwMode="auto">
            <a:xfrm>
              <a:off x="3772472" y="3787637"/>
              <a:ext cx="380428" cy="38107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de-DE" altLang="zh-CN" b="1">
                  <a:latin typeface="Arial Rounded MT Bold" panose="020F0704030504030204" pitchFamily="34" charset="0"/>
                </a:rPr>
                <a:t>t</a:t>
              </a:r>
            </a:p>
          </p:txBody>
        </p:sp>
        <p:sp>
          <p:nvSpPr>
            <p:cNvPr id="81930" name="Oval 5"/>
            <p:cNvSpPr>
              <a:spLocks noChangeArrowheads="1"/>
            </p:cNvSpPr>
            <p:nvPr/>
          </p:nvSpPr>
          <p:spPr bwMode="auto">
            <a:xfrm>
              <a:off x="1485614" y="3026804"/>
              <a:ext cx="381858" cy="381075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de-DE" altLang="zh-CN" b="1">
                  <a:latin typeface="Arial Rounded MT Bold" panose="020F0704030504030204" pitchFamily="34" charset="0"/>
                </a:rPr>
                <a:t>v</a:t>
              </a:r>
              <a:r>
                <a:rPr lang="de-DE" altLang="zh-CN" b="1" baseline="-25000"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81931" name="Oval 6"/>
            <p:cNvSpPr>
              <a:spLocks noChangeArrowheads="1"/>
            </p:cNvSpPr>
            <p:nvPr/>
          </p:nvSpPr>
          <p:spPr bwMode="auto">
            <a:xfrm>
              <a:off x="1485614" y="4549788"/>
              <a:ext cx="381858" cy="38107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de-DE" altLang="zh-CN" b="1">
                  <a:latin typeface="Arial Rounded MT Bold" panose="020F0704030504030204" pitchFamily="34" charset="0"/>
                </a:rPr>
                <a:t>v</a:t>
              </a:r>
              <a:r>
                <a:rPr lang="de-DE" altLang="zh-CN" b="1" baseline="-25000">
                  <a:latin typeface="Arial Rounded MT Bold" panose="020F0704030504030204" pitchFamily="34" charset="0"/>
                </a:rPr>
                <a:t>2</a:t>
              </a:r>
            </a:p>
          </p:txBody>
        </p:sp>
        <p:sp>
          <p:nvSpPr>
            <p:cNvPr id="81932" name="Oval 7"/>
            <p:cNvSpPr>
              <a:spLocks noChangeArrowheads="1"/>
            </p:cNvSpPr>
            <p:nvPr/>
          </p:nvSpPr>
          <p:spPr bwMode="auto">
            <a:xfrm>
              <a:off x="2628328" y="2988564"/>
              <a:ext cx="381859" cy="38107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de-DE" altLang="zh-CN" b="1">
                  <a:latin typeface="Arial Rounded MT Bold" panose="020F0704030504030204" pitchFamily="34" charset="0"/>
                </a:rPr>
                <a:t>v</a:t>
              </a:r>
              <a:r>
                <a:rPr lang="de-DE" altLang="zh-CN" b="1" baseline="-25000">
                  <a:latin typeface="Arial Rounded MT Bold" panose="020F0704030504030204" pitchFamily="34" charset="0"/>
                </a:rPr>
                <a:t>3</a:t>
              </a:r>
            </a:p>
          </p:txBody>
        </p:sp>
        <p:sp>
          <p:nvSpPr>
            <p:cNvPr id="81933" name="Oval 8"/>
            <p:cNvSpPr>
              <a:spLocks noChangeArrowheads="1"/>
            </p:cNvSpPr>
            <p:nvPr/>
          </p:nvSpPr>
          <p:spPr bwMode="auto">
            <a:xfrm>
              <a:off x="2628328" y="4549788"/>
              <a:ext cx="381859" cy="38107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de-DE" altLang="zh-CN" b="1">
                  <a:latin typeface="Arial Rounded MT Bold" panose="020F0704030504030204" pitchFamily="34" charset="0"/>
                </a:rPr>
                <a:t>v</a:t>
              </a:r>
              <a:r>
                <a:rPr lang="de-DE" altLang="zh-CN" b="1" baseline="-25000">
                  <a:latin typeface="Arial Rounded MT Bold" panose="020F0704030504030204" pitchFamily="34" charset="0"/>
                </a:rPr>
                <a:t>4</a:t>
              </a:r>
            </a:p>
          </p:txBody>
        </p:sp>
        <p:sp>
          <p:nvSpPr>
            <p:cNvPr id="75" name="Line 9"/>
            <p:cNvSpPr>
              <a:spLocks noChangeShapeType="1"/>
            </p:cNvSpPr>
            <p:nvPr/>
          </p:nvSpPr>
          <p:spPr bwMode="auto">
            <a:xfrm>
              <a:off x="1904657" y="3216683"/>
              <a:ext cx="7622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endParaRPr lang="zh-CN" altLang="en-US" b="1">
                <a:latin typeface="Arial Rounded MT Bold" panose="020F0704030504030204" pitchFamily="34" charset="0"/>
              </a:endParaRPr>
            </a:p>
          </p:txBody>
        </p:sp>
        <p:sp>
          <p:nvSpPr>
            <p:cNvPr id="76" name="Line 10"/>
            <p:cNvSpPr>
              <a:spLocks noChangeShapeType="1"/>
            </p:cNvSpPr>
            <p:nvPr/>
          </p:nvSpPr>
          <p:spPr bwMode="auto">
            <a:xfrm>
              <a:off x="1904657" y="4740986"/>
              <a:ext cx="7622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endParaRPr lang="zh-CN" altLang="en-US" b="1">
                <a:latin typeface="Arial Rounded MT Bold" panose="020F0704030504030204" pitchFamily="34" charset="0"/>
              </a:endParaRPr>
            </a:p>
          </p:txBody>
        </p:sp>
        <p:sp>
          <p:nvSpPr>
            <p:cNvPr id="77" name="Line 11"/>
            <p:cNvSpPr>
              <a:spLocks noChangeShapeType="1"/>
            </p:cNvSpPr>
            <p:nvPr/>
          </p:nvSpPr>
          <p:spPr bwMode="auto">
            <a:xfrm flipV="1">
              <a:off x="531684" y="3291843"/>
              <a:ext cx="989685" cy="53271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pPr>
                <a:defRPr/>
              </a:pPr>
              <a:endParaRPr lang="zh-CN" altLang="en-US" b="1">
                <a:latin typeface="Arial Rounded MT Bold" panose="020F0704030504030204" pitchFamily="34" charset="0"/>
              </a:endParaRPr>
            </a:p>
          </p:txBody>
        </p:sp>
        <p:sp>
          <p:nvSpPr>
            <p:cNvPr id="78" name="Line 12"/>
            <p:cNvSpPr>
              <a:spLocks noChangeShapeType="1"/>
            </p:cNvSpPr>
            <p:nvPr/>
          </p:nvSpPr>
          <p:spPr bwMode="auto">
            <a:xfrm>
              <a:off x="533114" y="4131792"/>
              <a:ext cx="915315" cy="53271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pPr>
                <a:defRPr/>
              </a:pPr>
              <a:endParaRPr lang="zh-CN" altLang="en-US" b="1">
                <a:latin typeface="Arial Rounded MT Bold" panose="020F0704030504030204" pitchFamily="34" charset="0"/>
              </a:endParaRPr>
            </a:p>
          </p:txBody>
        </p:sp>
        <p:sp>
          <p:nvSpPr>
            <p:cNvPr id="79" name="Line 13"/>
            <p:cNvSpPr>
              <a:spLocks noChangeShapeType="1"/>
            </p:cNvSpPr>
            <p:nvPr/>
          </p:nvSpPr>
          <p:spPr bwMode="auto">
            <a:xfrm>
              <a:off x="1600029" y="3369641"/>
              <a:ext cx="0" cy="12183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pPr>
                <a:defRPr/>
              </a:pPr>
              <a:endParaRPr lang="zh-CN" altLang="en-US" b="1">
                <a:latin typeface="Arial Rounded MT Bold" panose="020F0704030504030204" pitchFamily="34" charset="0"/>
              </a:endParaRPr>
            </a:p>
          </p:txBody>
        </p:sp>
        <p:sp>
          <p:nvSpPr>
            <p:cNvPr id="80" name="Line 14"/>
            <p:cNvSpPr>
              <a:spLocks noChangeShapeType="1"/>
            </p:cNvSpPr>
            <p:nvPr/>
          </p:nvSpPr>
          <p:spPr bwMode="auto">
            <a:xfrm flipV="1">
              <a:off x="1753058" y="3369641"/>
              <a:ext cx="0" cy="12183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pPr>
                <a:defRPr/>
              </a:pPr>
              <a:endParaRPr lang="zh-CN" altLang="en-US" b="1">
                <a:latin typeface="Arial Rounded MT Bold" panose="020F0704030504030204" pitchFamily="34" charset="0"/>
              </a:endParaRPr>
            </a:p>
          </p:txBody>
        </p:sp>
        <p:sp>
          <p:nvSpPr>
            <p:cNvPr id="81" name="Line 15"/>
            <p:cNvSpPr>
              <a:spLocks noChangeShapeType="1"/>
            </p:cNvSpPr>
            <p:nvPr/>
          </p:nvSpPr>
          <p:spPr bwMode="auto">
            <a:xfrm flipV="1">
              <a:off x="2819972" y="3369641"/>
              <a:ext cx="0" cy="12183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pPr>
                <a:defRPr/>
              </a:pPr>
              <a:endParaRPr lang="zh-CN" altLang="en-US" b="1">
                <a:latin typeface="Arial Rounded MT Bold" panose="020F0704030504030204" pitchFamily="34" charset="0"/>
              </a:endParaRPr>
            </a:p>
          </p:txBody>
        </p:sp>
        <p:sp>
          <p:nvSpPr>
            <p:cNvPr id="82" name="Line 16"/>
            <p:cNvSpPr>
              <a:spLocks noChangeShapeType="1"/>
            </p:cNvSpPr>
            <p:nvPr/>
          </p:nvSpPr>
          <p:spPr bwMode="auto">
            <a:xfrm flipH="1">
              <a:off x="1828858" y="3369641"/>
              <a:ext cx="913885" cy="12183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pPr>
                <a:defRPr/>
              </a:pPr>
              <a:endParaRPr lang="zh-CN" altLang="en-US" b="1">
                <a:latin typeface="Arial Rounded MT Bold" panose="020F0704030504030204" pitchFamily="34" charset="0"/>
              </a:endParaRPr>
            </a:p>
          </p:txBody>
        </p:sp>
        <p:sp>
          <p:nvSpPr>
            <p:cNvPr id="83" name="Line 17"/>
            <p:cNvSpPr>
              <a:spLocks noChangeShapeType="1"/>
            </p:cNvSpPr>
            <p:nvPr/>
          </p:nvSpPr>
          <p:spPr bwMode="auto">
            <a:xfrm>
              <a:off x="2971571" y="3293162"/>
              <a:ext cx="838086" cy="53271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pPr>
                <a:defRPr/>
              </a:pPr>
              <a:endParaRPr lang="zh-CN" altLang="en-US" b="1">
                <a:latin typeface="Arial Rounded MT Bold" panose="020F0704030504030204" pitchFamily="34" charset="0"/>
              </a:endParaRPr>
            </a:p>
          </p:txBody>
        </p:sp>
        <p:sp>
          <p:nvSpPr>
            <p:cNvPr id="84" name="Line 18"/>
            <p:cNvSpPr>
              <a:spLocks noChangeShapeType="1"/>
            </p:cNvSpPr>
            <p:nvPr/>
          </p:nvSpPr>
          <p:spPr bwMode="auto">
            <a:xfrm flipV="1">
              <a:off x="3047371" y="4131792"/>
              <a:ext cx="762286" cy="53271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pPr>
                <a:defRPr/>
              </a:pPr>
              <a:endParaRPr lang="zh-CN" altLang="en-US" b="1">
                <a:latin typeface="Arial Rounded MT Bold" panose="020F0704030504030204" pitchFamily="34" charset="0"/>
              </a:endParaRPr>
            </a:p>
          </p:txBody>
        </p:sp>
        <p:sp>
          <p:nvSpPr>
            <p:cNvPr id="85" name="Text Box 19"/>
            <p:cNvSpPr txBox="1">
              <a:spLocks noChangeArrowheads="1"/>
            </p:cNvSpPr>
            <p:nvPr/>
          </p:nvSpPr>
          <p:spPr bwMode="auto">
            <a:xfrm rot="16251548">
              <a:off x="1102018" y="3619702"/>
              <a:ext cx="685673" cy="3332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 type="none" w="med" len="lg"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de-DE" altLang="zh-CN" b="1">
                  <a:latin typeface="Arial Rounded MT Bold" panose="020F0704030504030204" pitchFamily="34" charset="0"/>
                </a:rPr>
                <a:t>10</a:t>
              </a:r>
            </a:p>
          </p:txBody>
        </p:sp>
        <p:sp>
          <p:nvSpPr>
            <p:cNvPr id="86" name="Text Box 20"/>
            <p:cNvSpPr txBox="1">
              <a:spLocks noChangeArrowheads="1"/>
            </p:cNvSpPr>
            <p:nvPr/>
          </p:nvSpPr>
          <p:spPr bwMode="auto">
            <a:xfrm rot="1671448">
              <a:off x="562741" y="4451471"/>
              <a:ext cx="813198" cy="30591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 type="none" w="med" len="lg"/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de-DE" altLang="zh-CN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12</a:t>
              </a:r>
              <a:r>
                <a:rPr lang="de-DE" altLang="zh-CN" b="1" dirty="0">
                  <a:latin typeface="Arial Rounded MT Bold" panose="020F0704030504030204" pitchFamily="34" charset="0"/>
                </a:rPr>
                <a:t>/13</a:t>
              </a:r>
            </a:p>
          </p:txBody>
        </p:sp>
        <p:sp>
          <p:nvSpPr>
            <p:cNvPr id="87" name="Text Box 21"/>
            <p:cNvSpPr txBox="1">
              <a:spLocks noChangeArrowheads="1"/>
            </p:cNvSpPr>
            <p:nvPr/>
          </p:nvSpPr>
          <p:spPr bwMode="auto">
            <a:xfrm>
              <a:off x="1904657" y="2943732"/>
              <a:ext cx="762286" cy="30459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 type="none" w="med" len="lg"/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de-DE" altLang="zh-CN" b="1" dirty="0">
                  <a:latin typeface="Arial Rounded MT Bold" panose="020F0704030504030204" pitchFamily="34" charset="0"/>
                </a:rPr>
                <a:t>12/12</a:t>
              </a:r>
            </a:p>
          </p:txBody>
        </p:sp>
        <p:sp>
          <p:nvSpPr>
            <p:cNvPr id="88" name="Text Box 22"/>
            <p:cNvSpPr txBox="1">
              <a:spLocks noChangeArrowheads="1"/>
            </p:cNvSpPr>
            <p:nvPr/>
          </p:nvSpPr>
          <p:spPr bwMode="auto">
            <a:xfrm rot="19986914">
              <a:off x="759657" y="3207865"/>
              <a:ext cx="728786" cy="30459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 type="none" w="med" len="lg"/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de-DE" altLang="zh-CN" b="1" dirty="0">
                  <a:latin typeface="Arial Rounded MT Bold" panose="020F0704030504030204" pitchFamily="34" charset="0"/>
                </a:rPr>
                <a:t>11/16</a:t>
              </a:r>
            </a:p>
          </p:txBody>
        </p:sp>
        <p:sp>
          <p:nvSpPr>
            <p:cNvPr id="89" name="Text Box 23"/>
            <p:cNvSpPr txBox="1">
              <a:spLocks noChangeArrowheads="1"/>
            </p:cNvSpPr>
            <p:nvPr/>
          </p:nvSpPr>
          <p:spPr bwMode="auto">
            <a:xfrm rot="16251548">
              <a:off x="1558960" y="3619099"/>
              <a:ext cx="685673" cy="33180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 type="none" w="med" len="lg"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de-DE" altLang="zh-CN" b="1">
                  <a:latin typeface="Arial Rounded MT Bold" panose="020F0704030504030204" pitchFamily="34" charset="0"/>
                </a:rPr>
                <a:t>1/4</a:t>
              </a:r>
            </a:p>
          </p:txBody>
        </p:sp>
        <p:sp>
          <p:nvSpPr>
            <p:cNvPr id="90" name="Text Box 24"/>
            <p:cNvSpPr txBox="1">
              <a:spLocks noChangeArrowheads="1"/>
            </p:cNvSpPr>
            <p:nvPr/>
          </p:nvSpPr>
          <p:spPr bwMode="auto">
            <a:xfrm rot="19479436">
              <a:off x="3267619" y="4284750"/>
              <a:ext cx="685056" cy="30459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 type="none" w="med" len="lg"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de-DE" altLang="zh-CN" b="1">
                  <a:latin typeface="Arial Rounded MT Bold" panose="020F0704030504030204" pitchFamily="34" charset="0"/>
                </a:rPr>
                <a:t>4/4</a:t>
              </a:r>
            </a:p>
          </p:txBody>
        </p:sp>
        <p:sp>
          <p:nvSpPr>
            <p:cNvPr id="91" name="Text Box 25"/>
            <p:cNvSpPr txBox="1">
              <a:spLocks noChangeArrowheads="1"/>
            </p:cNvSpPr>
            <p:nvPr/>
          </p:nvSpPr>
          <p:spPr bwMode="auto">
            <a:xfrm>
              <a:off x="1959632" y="4740986"/>
              <a:ext cx="744495" cy="30459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 type="none" w="med" len="lg"/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de-DE" altLang="zh-CN" b="1" dirty="0">
                  <a:latin typeface="Arial Rounded MT Bold" panose="020F0704030504030204" pitchFamily="34" charset="0"/>
                </a:rPr>
                <a:t>11/14</a:t>
              </a:r>
            </a:p>
          </p:txBody>
        </p:sp>
        <p:sp>
          <p:nvSpPr>
            <p:cNvPr id="92" name="Text Box 26"/>
            <p:cNvSpPr txBox="1">
              <a:spLocks noChangeArrowheads="1"/>
            </p:cNvSpPr>
            <p:nvPr/>
          </p:nvSpPr>
          <p:spPr bwMode="auto">
            <a:xfrm rot="1953558">
              <a:off x="3202380" y="3315321"/>
              <a:ext cx="769061" cy="30459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 type="none" w="med" len="lg"/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de-DE" altLang="zh-CN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19</a:t>
              </a:r>
              <a:r>
                <a:rPr lang="de-DE" altLang="zh-CN" b="1" dirty="0">
                  <a:latin typeface="Arial Rounded MT Bold" panose="020F0704030504030204" pitchFamily="34" charset="0"/>
                </a:rPr>
                <a:t>/20</a:t>
              </a:r>
            </a:p>
          </p:txBody>
        </p:sp>
        <p:sp>
          <p:nvSpPr>
            <p:cNvPr id="93" name="Text Box 27"/>
            <p:cNvSpPr txBox="1">
              <a:spLocks noChangeArrowheads="1"/>
            </p:cNvSpPr>
            <p:nvPr/>
          </p:nvSpPr>
          <p:spPr bwMode="auto">
            <a:xfrm rot="16251548">
              <a:off x="2628735" y="3620418"/>
              <a:ext cx="685673" cy="33180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 type="none" w="med" len="lg"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de-DE" altLang="zh-CN" b="1">
                  <a:latin typeface="Arial Rounded MT Bold" panose="020F0704030504030204" pitchFamily="34" charset="0"/>
                </a:rPr>
                <a:t>7/7</a:t>
              </a:r>
            </a:p>
          </p:txBody>
        </p:sp>
        <p:sp>
          <p:nvSpPr>
            <p:cNvPr id="94" name="Text Box 28"/>
            <p:cNvSpPr txBox="1">
              <a:spLocks noChangeArrowheads="1"/>
            </p:cNvSpPr>
            <p:nvPr/>
          </p:nvSpPr>
          <p:spPr bwMode="auto">
            <a:xfrm rot="18444138">
              <a:off x="2174653" y="3838590"/>
              <a:ext cx="685673" cy="3332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 type="none" w="med" len="lg"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de-DE" altLang="zh-CN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  <a:r>
                <a:rPr lang="en-US" altLang="zh-CN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/</a:t>
              </a:r>
              <a:r>
                <a:rPr lang="de-DE" altLang="zh-CN" b="1" dirty="0">
                  <a:latin typeface="Arial Rounded MT Bold" panose="020F0704030504030204" pitchFamily="34" charset="0"/>
                </a:rPr>
                <a:t>9</a:t>
              </a:r>
            </a:p>
          </p:txBody>
        </p:sp>
      </p:grpSp>
      <p:grpSp>
        <p:nvGrpSpPr>
          <p:cNvPr id="67" name="组合 39">
            <a:extLst>
              <a:ext uri="{FF2B5EF4-FFF2-40B4-BE49-F238E27FC236}">
                <a16:creationId xmlns:a16="http://schemas.microsoft.com/office/drawing/2014/main" id="{79FB3C65-F751-3D4D-96E1-D3ADDBE816EE}"/>
              </a:ext>
            </a:extLst>
          </p:cNvPr>
          <p:cNvGrpSpPr>
            <a:grpSpLocks/>
          </p:cNvGrpSpPr>
          <p:nvPr/>
        </p:nvGrpSpPr>
        <p:grpSpPr bwMode="auto">
          <a:xfrm>
            <a:off x="1764938" y="4429483"/>
            <a:ext cx="4151376" cy="2247660"/>
            <a:chOff x="1905000" y="3581390"/>
            <a:chExt cx="4906864" cy="2660718"/>
          </a:xfrm>
        </p:grpSpPr>
        <p:sp>
          <p:nvSpPr>
            <p:cNvPr id="68" name="Oval 73">
              <a:extLst>
                <a:ext uri="{FF2B5EF4-FFF2-40B4-BE49-F238E27FC236}">
                  <a16:creationId xmlns:a16="http://schemas.microsoft.com/office/drawing/2014/main" id="{1A14972B-FF0E-D04F-AC40-599D6BA8B0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4736042"/>
              <a:ext cx="490686" cy="502022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de-DE" altLang="zh-CN" sz="2000" b="1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69" name="Oval 74">
              <a:extLst>
                <a:ext uri="{FF2B5EF4-FFF2-40B4-BE49-F238E27FC236}">
                  <a16:creationId xmlns:a16="http://schemas.microsoft.com/office/drawing/2014/main" id="{90939FBE-6447-E444-BA5E-3632FEEA3D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1178" y="4736042"/>
              <a:ext cx="490686" cy="502022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de-DE" altLang="zh-CN" sz="2000" b="1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70" name="Oval 75">
              <a:extLst>
                <a:ext uri="{FF2B5EF4-FFF2-40B4-BE49-F238E27FC236}">
                  <a16:creationId xmlns:a16="http://schemas.microsoft.com/office/drawing/2014/main" id="{0F06DBAD-B5D8-9641-A6B7-BF0395A54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7059" y="3731997"/>
              <a:ext cx="490686" cy="502022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de-DE" altLang="zh-CN" sz="2000" b="1">
                  <a:latin typeface="Times New Roman" panose="02020603050405020304" pitchFamily="18" charset="0"/>
                </a:rPr>
                <a:t>v</a:t>
              </a:r>
              <a:r>
                <a:rPr lang="de-DE" altLang="zh-CN" sz="2000" b="1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71" name="Oval 76">
              <a:extLst>
                <a:ext uri="{FF2B5EF4-FFF2-40B4-BE49-F238E27FC236}">
                  <a16:creationId xmlns:a16="http://schemas.microsoft.com/office/drawing/2014/main" id="{B1D1F487-7C3F-0541-9E90-14710A7586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7059" y="5740086"/>
              <a:ext cx="490686" cy="502022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de-DE" altLang="zh-CN" sz="2000" b="1">
                  <a:latin typeface="Times New Roman" panose="02020603050405020304" pitchFamily="18" charset="0"/>
                </a:rPr>
                <a:t>v</a:t>
              </a:r>
              <a:r>
                <a:rPr lang="de-DE" altLang="zh-CN" sz="2000" b="1" baseline="-25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72" name="Oval 77">
              <a:extLst>
                <a:ext uri="{FF2B5EF4-FFF2-40B4-BE49-F238E27FC236}">
                  <a16:creationId xmlns:a16="http://schemas.microsoft.com/office/drawing/2014/main" id="{81801362-D772-5745-83B6-B95351175E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9118" y="3681794"/>
              <a:ext cx="490686" cy="502022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de-DE" altLang="zh-CN" sz="2000" b="1">
                  <a:latin typeface="Times New Roman" panose="02020603050405020304" pitchFamily="18" charset="0"/>
                </a:rPr>
                <a:t>v</a:t>
              </a:r>
              <a:r>
                <a:rPr lang="de-DE" altLang="zh-CN" sz="2000" b="1" baseline="-250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73" name="Oval 78">
              <a:extLst>
                <a:ext uri="{FF2B5EF4-FFF2-40B4-BE49-F238E27FC236}">
                  <a16:creationId xmlns:a16="http://schemas.microsoft.com/office/drawing/2014/main" id="{A2891DDB-709F-5B42-A5C2-2F38085498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9118" y="5740086"/>
              <a:ext cx="490686" cy="502022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de-DE" altLang="zh-CN" sz="2000" b="1">
                  <a:latin typeface="Times New Roman" panose="02020603050405020304" pitchFamily="18" charset="0"/>
                </a:rPr>
                <a:t>v</a:t>
              </a:r>
              <a:r>
                <a:rPr lang="de-DE" altLang="zh-CN" sz="2000" b="1" baseline="-250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74" name="Line 79">
              <a:extLst>
                <a:ext uri="{FF2B5EF4-FFF2-40B4-BE49-F238E27FC236}">
                  <a16:creationId xmlns:a16="http://schemas.microsoft.com/office/drawing/2014/main" id="{6DBF9283-774E-4E41-BC37-7C68B46D3D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16814" y="3983008"/>
              <a:ext cx="98137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95" name="Line 80">
              <a:extLst>
                <a:ext uri="{FF2B5EF4-FFF2-40B4-BE49-F238E27FC236}">
                  <a16:creationId xmlns:a16="http://schemas.microsoft.com/office/drawing/2014/main" id="{B0C61408-820F-404D-B4D4-23766EB7CF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6814" y="6032933"/>
              <a:ext cx="98137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96" name="Line 81">
              <a:extLst>
                <a:ext uri="{FF2B5EF4-FFF2-40B4-BE49-F238E27FC236}">
                  <a16:creationId xmlns:a16="http://schemas.microsoft.com/office/drawing/2014/main" id="{C4573F99-71A7-4342-BC72-BF3126DCA18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1232646" flipV="1">
              <a:off x="2150343" y="4024843"/>
              <a:ext cx="1273741" cy="7028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Line 82">
              <a:extLst>
                <a:ext uri="{FF2B5EF4-FFF2-40B4-BE49-F238E27FC236}">
                  <a16:creationId xmlns:a16="http://schemas.microsoft.com/office/drawing/2014/main" id="{AC8B0618-B9B7-D947-ADC7-D1A1D76FD61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10651273">
              <a:off x="2150343" y="5187862"/>
              <a:ext cx="1177647" cy="7028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Line 83">
              <a:extLst>
                <a:ext uri="{FF2B5EF4-FFF2-40B4-BE49-F238E27FC236}">
                  <a16:creationId xmlns:a16="http://schemas.microsoft.com/office/drawing/2014/main" id="{61F17745-2E1E-0D45-8D0E-8509B2F74B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4265" y="4183817"/>
              <a:ext cx="0" cy="16064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Line 84">
              <a:extLst>
                <a:ext uri="{FF2B5EF4-FFF2-40B4-BE49-F238E27FC236}">
                  <a16:creationId xmlns:a16="http://schemas.microsoft.com/office/drawing/2014/main" id="{5A1E1343-F97E-D147-A9CC-0E3406207B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20540" y="4183817"/>
              <a:ext cx="0" cy="16064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Line 85">
              <a:extLst>
                <a:ext uri="{FF2B5EF4-FFF2-40B4-BE49-F238E27FC236}">
                  <a16:creationId xmlns:a16="http://schemas.microsoft.com/office/drawing/2014/main" id="{1B660710-EAA4-504C-8E73-A7D8E10D6D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94462" y="4183817"/>
              <a:ext cx="0" cy="16064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Line 86">
              <a:extLst>
                <a:ext uri="{FF2B5EF4-FFF2-40B4-BE49-F238E27FC236}">
                  <a16:creationId xmlns:a16="http://schemas.microsoft.com/office/drawing/2014/main" id="{D4BADA83-9486-E04E-B792-4495A80DAB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18677" y="4183817"/>
              <a:ext cx="1177647" cy="16064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Line 87">
              <a:extLst>
                <a:ext uri="{FF2B5EF4-FFF2-40B4-BE49-F238E27FC236}">
                  <a16:creationId xmlns:a16="http://schemas.microsoft.com/office/drawing/2014/main" id="{BAD6751A-B909-FD4D-98A2-5D4F965FF8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8873" y="4024843"/>
              <a:ext cx="1079510" cy="702831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Line 88">
              <a:extLst>
                <a:ext uri="{FF2B5EF4-FFF2-40B4-BE49-F238E27FC236}">
                  <a16:creationId xmlns:a16="http://schemas.microsoft.com/office/drawing/2014/main" id="{0D42F5BC-9584-AB47-9529-C7F80EC26AB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V="1">
              <a:off x="5388873" y="5187862"/>
              <a:ext cx="981373" cy="7028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Text Box 89">
              <a:extLst>
                <a:ext uri="{FF2B5EF4-FFF2-40B4-BE49-F238E27FC236}">
                  <a16:creationId xmlns:a16="http://schemas.microsoft.com/office/drawing/2014/main" id="{97276938-F830-A84F-969B-AB1BEB050C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51548">
              <a:off x="2815392" y="4493514"/>
              <a:ext cx="903311" cy="472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sz="2000" b="1">
                  <a:latin typeface="Times New Roman" panose="02020603050405020304" pitchFamily="18" charset="0"/>
                </a:rPr>
                <a:t>11</a:t>
              </a:r>
            </a:p>
          </p:txBody>
        </p:sp>
        <p:sp>
          <p:nvSpPr>
            <p:cNvPr id="105" name="Text Box 90">
              <a:extLst>
                <a:ext uri="{FF2B5EF4-FFF2-40B4-BE49-F238E27FC236}">
                  <a16:creationId xmlns:a16="http://schemas.microsoft.com/office/drawing/2014/main" id="{D3BCA73A-4685-684B-B72B-CD70CE86F6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71448">
              <a:off x="2354254" y="5654442"/>
              <a:ext cx="884220" cy="4736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sz="2000" b="1">
                  <a:latin typeface="Times New Roman" panose="02020603050405020304" pitchFamily="18" charset="0"/>
                </a:rPr>
                <a:t>-4/8</a:t>
              </a:r>
            </a:p>
          </p:txBody>
        </p:sp>
        <p:sp>
          <p:nvSpPr>
            <p:cNvPr id="106" name="Text Box 91">
              <a:extLst>
                <a:ext uri="{FF2B5EF4-FFF2-40B4-BE49-F238E27FC236}">
                  <a16:creationId xmlns:a16="http://schemas.microsoft.com/office/drawing/2014/main" id="{6431F4DB-D7D0-F647-8CA9-4865A26C7F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3168" y="3581390"/>
              <a:ext cx="882632" cy="4736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sz="2000" b="1">
                  <a:latin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107" name="Text Box 92">
              <a:extLst>
                <a:ext uri="{FF2B5EF4-FFF2-40B4-BE49-F238E27FC236}">
                  <a16:creationId xmlns:a16="http://schemas.microsoft.com/office/drawing/2014/main" id="{AACF858C-FC44-6B49-846B-DD4D9DFD20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454566">
              <a:off x="2422516" y="3911323"/>
              <a:ext cx="608000" cy="4736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sz="2000" b="1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08" name="Text Box 93">
              <a:extLst>
                <a:ext uri="{FF2B5EF4-FFF2-40B4-BE49-F238E27FC236}">
                  <a16:creationId xmlns:a16="http://schemas.microsoft.com/office/drawing/2014/main" id="{44849646-F5B1-6E4A-88EA-404E3CE357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51548">
              <a:off x="3407518" y="4539553"/>
              <a:ext cx="903311" cy="472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sz="2000" b="1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09" name="Text Box 94">
              <a:extLst>
                <a:ext uri="{FF2B5EF4-FFF2-40B4-BE49-F238E27FC236}">
                  <a16:creationId xmlns:a16="http://schemas.microsoft.com/office/drawing/2014/main" id="{4AE17301-049A-8844-9EE0-12054DFB34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479436">
              <a:off x="5632375" y="5300421"/>
              <a:ext cx="884220" cy="4736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sz="2000" b="1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10" name="Text Box 95">
              <a:extLst>
                <a:ext uri="{FF2B5EF4-FFF2-40B4-BE49-F238E27FC236}">
                  <a16:creationId xmlns:a16="http://schemas.microsoft.com/office/drawing/2014/main" id="{FEE6FB1C-4911-ED45-9B85-0CF8324896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1590" y="5630905"/>
              <a:ext cx="882632" cy="4736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sz="2000" b="1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11" name="Text Box 96">
              <a:extLst>
                <a:ext uri="{FF2B5EF4-FFF2-40B4-BE49-F238E27FC236}">
                  <a16:creationId xmlns:a16="http://schemas.microsoft.com/office/drawing/2014/main" id="{CA7A3A23-F455-E643-BE05-79EE7AC8E1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53558">
              <a:off x="5864146" y="4184379"/>
              <a:ext cx="882632" cy="4736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4</a:t>
              </a:r>
              <a:r>
                <a:rPr lang="de-DE" altLang="zh-CN" sz="2000" b="1">
                  <a:latin typeface="Times New Roman" panose="02020603050405020304" pitchFamily="18" charset="0"/>
                </a:rPr>
                <a:t>/5</a:t>
              </a:r>
            </a:p>
          </p:txBody>
        </p:sp>
        <p:sp>
          <p:nvSpPr>
            <p:cNvPr id="112" name="Text Box 97">
              <a:extLst>
                <a:ext uri="{FF2B5EF4-FFF2-40B4-BE49-F238E27FC236}">
                  <a16:creationId xmlns:a16="http://schemas.microsoft.com/office/drawing/2014/main" id="{77C6FDB3-E04B-3542-A669-B1F9CD7E29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51548">
              <a:off x="4780678" y="4498278"/>
              <a:ext cx="903311" cy="472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sz="2000" b="1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13" name="Text Box 98">
              <a:extLst>
                <a:ext uri="{FF2B5EF4-FFF2-40B4-BE49-F238E27FC236}">
                  <a16:creationId xmlns:a16="http://schemas.microsoft.com/office/drawing/2014/main" id="{B769C7EB-9C3E-2140-A2CF-292FAE7E2E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8444138">
              <a:off x="4252051" y="4784034"/>
              <a:ext cx="903311" cy="472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sz="2000" b="1">
                  <a:latin typeface="Times New Roman" panose="02020603050405020304" pitchFamily="18" charset="0"/>
                </a:rPr>
                <a:t>-4/5</a:t>
              </a:r>
            </a:p>
          </p:txBody>
        </p:sp>
        <p:sp>
          <p:nvSpPr>
            <p:cNvPr id="114" name="Line 99">
              <a:extLst>
                <a:ext uri="{FF2B5EF4-FFF2-40B4-BE49-F238E27FC236}">
                  <a16:creationId xmlns:a16="http://schemas.microsoft.com/office/drawing/2014/main" id="{827CDB80-B24B-5041-90D1-3F678DC1FC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44574" y="4127340"/>
              <a:ext cx="1079510" cy="7028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Line 100">
              <a:extLst>
                <a:ext uri="{FF2B5EF4-FFF2-40B4-BE49-F238E27FC236}">
                  <a16:creationId xmlns:a16="http://schemas.microsoft.com/office/drawing/2014/main" id="{C850DC62-5B98-F34E-A9BA-3530459DBD4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705793" flipH="1" flipV="1">
              <a:off x="2346618" y="5129293"/>
              <a:ext cx="1079510" cy="702831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Line 101">
              <a:extLst>
                <a:ext uri="{FF2B5EF4-FFF2-40B4-BE49-F238E27FC236}">
                  <a16:creationId xmlns:a16="http://schemas.microsoft.com/office/drawing/2014/main" id="{9814300A-3E01-274D-A85E-B569E1E0EC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20540" y="4125248"/>
              <a:ext cx="1177647" cy="160647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Line 102">
              <a:extLst>
                <a:ext uri="{FF2B5EF4-FFF2-40B4-BE49-F238E27FC236}">
                  <a16:creationId xmlns:a16="http://schemas.microsoft.com/office/drawing/2014/main" id="{EA7A4B3C-5A0B-EF45-9360-E616ADF2BA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18677" y="6133337"/>
              <a:ext cx="107951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Line 103">
              <a:extLst>
                <a:ext uri="{FF2B5EF4-FFF2-40B4-BE49-F238E27FC236}">
                  <a16:creationId xmlns:a16="http://schemas.microsoft.com/office/drawing/2014/main" id="{0A6A73AB-7FB2-AE41-A6D8-2FFAFEC9B5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290736" y="4125248"/>
              <a:ext cx="1079510" cy="7028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Text Box 104">
              <a:extLst>
                <a:ext uri="{FF2B5EF4-FFF2-40B4-BE49-F238E27FC236}">
                  <a16:creationId xmlns:a16="http://schemas.microsoft.com/office/drawing/2014/main" id="{7F808B13-2B95-B14C-B468-539A09E525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479436">
              <a:off x="2590786" y="4238356"/>
              <a:ext cx="882633" cy="4736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sz="2000" b="1">
                  <a:latin typeface="Times New Roman" panose="02020603050405020304" pitchFamily="18" charset="0"/>
                </a:rPr>
                <a:t>11</a:t>
              </a:r>
            </a:p>
          </p:txBody>
        </p:sp>
        <p:sp>
          <p:nvSpPr>
            <p:cNvPr id="120" name="Text Box 105">
              <a:extLst>
                <a:ext uri="{FF2B5EF4-FFF2-40B4-BE49-F238E27FC236}">
                  <a16:creationId xmlns:a16="http://schemas.microsoft.com/office/drawing/2014/main" id="{8C0FDA3B-A1B2-4B4E-A49B-A3695BF1C4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71448">
              <a:off x="2662222" y="5230570"/>
              <a:ext cx="884220" cy="4736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4</a:t>
              </a:r>
              <a:r>
                <a:rPr lang="de-DE" altLang="zh-CN" sz="2000" b="1">
                  <a:latin typeface="Times New Roman" panose="02020603050405020304" pitchFamily="18" charset="0"/>
                </a:rPr>
                <a:t>/5</a:t>
              </a:r>
            </a:p>
          </p:txBody>
        </p:sp>
        <p:sp>
          <p:nvSpPr>
            <p:cNvPr id="121" name="Text Box 107">
              <a:extLst>
                <a:ext uri="{FF2B5EF4-FFF2-40B4-BE49-F238E27FC236}">
                  <a16:creationId xmlns:a16="http://schemas.microsoft.com/office/drawing/2014/main" id="{FC6A20E8-5DF7-C54F-86A6-E0F8B340E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53558">
              <a:off x="5399017" y="4490776"/>
              <a:ext cx="882633" cy="4736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sz="2000" b="1">
                  <a:latin typeface="Times New Roman" panose="02020603050405020304" pitchFamily="18" charset="0"/>
                </a:rPr>
                <a:t>-4/15</a:t>
              </a:r>
            </a:p>
          </p:txBody>
        </p:sp>
        <p:sp>
          <p:nvSpPr>
            <p:cNvPr id="122" name="Text Box 108">
              <a:extLst>
                <a:ext uri="{FF2B5EF4-FFF2-40B4-BE49-F238E27FC236}">
                  <a16:creationId xmlns:a16="http://schemas.microsoft.com/office/drawing/2014/main" id="{D252A7EB-CC9E-E143-94AC-5961E6C9AA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8444138">
              <a:off x="4006313" y="4261148"/>
              <a:ext cx="903640" cy="472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4</a:t>
              </a:r>
              <a:r>
                <a:rPr lang="en-US" altLang="zh-CN" sz="2000" b="1">
                  <a:latin typeface="Times New Roman" panose="02020603050405020304" pitchFamily="18" charset="0"/>
                </a:rPr>
                <a:t>/</a:t>
              </a:r>
              <a:r>
                <a:rPr lang="de-DE" altLang="zh-CN" sz="2000" b="1">
                  <a:latin typeface="Times New Roman" panose="02020603050405020304" pitchFamily="18" charset="0"/>
                </a:rPr>
                <a:t>4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FF68C1AC-39FC-0046-A8F4-D4760DD67FA6}"/>
              </a:ext>
            </a:extLst>
          </p:cNvPr>
          <p:cNvSpPr txBox="1"/>
          <p:nvPr/>
        </p:nvSpPr>
        <p:spPr>
          <a:xfrm>
            <a:off x="5024379" y="167458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原流量</a:t>
            </a:r>
            <a:endParaRPr lang="en-US" b="1" dirty="0">
              <a:solidFill>
                <a:srgbClr val="00B05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FF483E1A-DEFF-4046-B996-987515067449}"/>
              </a:ext>
            </a:extLst>
          </p:cNvPr>
          <p:cNvSpPr txBox="1"/>
          <p:nvPr/>
        </p:nvSpPr>
        <p:spPr>
          <a:xfrm>
            <a:off x="4949870" y="440465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增广流</a:t>
            </a:r>
            <a:endParaRPr lang="en-US" b="1" dirty="0">
              <a:solidFill>
                <a:srgbClr val="00B05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CB348756-9BC0-CB4A-A6B1-5B25251B04FA}"/>
              </a:ext>
            </a:extLst>
          </p:cNvPr>
          <p:cNvSpPr txBox="1"/>
          <p:nvPr/>
        </p:nvSpPr>
        <p:spPr>
          <a:xfrm>
            <a:off x="9494623" y="275848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新流量</a:t>
            </a:r>
            <a:endParaRPr lang="en-US" b="1" dirty="0">
              <a:solidFill>
                <a:srgbClr val="00B05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4" name="直线箭头连接符 3">
            <a:extLst>
              <a:ext uri="{FF2B5EF4-FFF2-40B4-BE49-F238E27FC236}">
                <a16:creationId xmlns:a16="http://schemas.microsoft.com/office/drawing/2014/main" id="{806920D1-784D-BF43-B6C8-922E271F10F8}"/>
              </a:ext>
            </a:extLst>
          </p:cNvPr>
          <p:cNvCxnSpPr>
            <a:cxnSpLocks/>
          </p:cNvCxnSpPr>
          <p:nvPr/>
        </p:nvCxnSpPr>
        <p:spPr>
          <a:xfrm>
            <a:off x="3767626" y="4107877"/>
            <a:ext cx="0" cy="32160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线箭头连接符 124">
            <a:extLst>
              <a:ext uri="{FF2B5EF4-FFF2-40B4-BE49-F238E27FC236}">
                <a16:creationId xmlns:a16="http://schemas.microsoft.com/office/drawing/2014/main" id="{63CBD713-E326-1749-84BE-96C0A69C44D3}"/>
              </a:ext>
            </a:extLst>
          </p:cNvPr>
          <p:cNvCxnSpPr>
            <a:cxnSpLocks/>
          </p:cNvCxnSpPr>
          <p:nvPr/>
        </p:nvCxnSpPr>
        <p:spPr>
          <a:xfrm>
            <a:off x="6057900" y="5194580"/>
            <a:ext cx="433876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6">
            <a:extLst>
              <a:ext uri="{FF2B5EF4-FFF2-40B4-BE49-F238E27FC236}">
                <a16:creationId xmlns:a16="http://schemas.microsoft.com/office/drawing/2014/main" id="{2811D301-E7C4-5079-E7AF-F50339DD1CF5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D03446D-AEA0-556F-50B8-B4A2442A074B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254FC79-EBF0-E5F3-2C80-8CB6238E5B91}"/>
              </a:ext>
            </a:extLst>
          </p:cNvPr>
          <p:cNvSpPr txBox="1"/>
          <p:nvPr/>
        </p:nvSpPr>
        <p:spPr>
          <a:xfrm>
            <a:off x="380723" y="299408"/>
            <a:ext cx="61252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Ford-Fulkerson</a:t>
            </a:r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算法</a:t>
            </a:r>
            <a:r>
              <a:rPr lang="en-US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:</a:t>
            </a:r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流增广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45EA20FF-B468-7D3F-D58D-10D78FFA76D0}"/>
              </a:ext>
            </a:extLst>
          </p:cNvPr>
          <p:cNvSpPr/>
          <p:nvPr/>
        </p:nvSpPr>
        <p:spPr>
          <a:xfrm>
            <a:off x="238663" y="311105"/>
            <a:ext cx="6232131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11343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621410" y="1143000"/>
            <a:ext cx="8748075" cy="548640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命题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. </a:t>
            </a:r>
            <a:r>
              <a:rPr lang="de-DE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f´=f + f</a:t>
            </a:r>
            <a:r>
              <a:rPr lang="de-DE" altLang="zh-CN" baseline="-250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</a:t>
            </a:r>
            <a:r>
              <a:rPr lang="de-DE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</a:t>
            </a: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是一个有效的网络流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证明，</a:t>
            </a:r>
            <a:r>
              <a:rPr lang="zh-CN" altLang="en-US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需要证明满足容量限制、反对称性、流守恒性</a:t>
            </a:r>
            <a:endParaRPr lang="en-US" altLang="zh-CN" dirty="0">
              <a:solidFill>
                <a:srgbClr val="00B05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>
                <a:latin typeface="Arial Rounded MT Bold" panose="020F0704030504030204" pitchFamily="34" charset="0"/>
                <a:cs typeface="Times New Roman" panose="02020603050405020304" pitchFamily="18" charset="0"/>
              </a:rPr>
              <a:t>   </a:t>
            </a:r>
            <a:r>
              <a:rPr lang="en-GB" altLang="zh-CN" b="1" dirty="0" err="1">
                <a:cs typeface="Times New Roman" panose="02020603050405020304" pitchFamily="18" charset="0"/>
              </a:rPr>
              <a:t>f</a:t>
            </a:r>
            <a:r>
              <a:rPr lang="en-GB" altLang="zh-CN" b="1" baseline="-30000" dirty="0" err="1">
                <a:cs typeface="Times New Roman" panose="02020603050405020304" pitchFamily="18" charset="0"/>
              </a:rPr>
              <a:t>p</a:t>
            </a:r>
            <a:r>
              <a:rPr lang="en-GB" altLang="zh-CN" b="1" dirty="0">
                <a:cs typeface="Times New Roman" panose="02020603050405020304" pitchFamily="18" charset="0"/>
              </a:rPr>
              <a:t>(</a:t>
            </a:r>
            <a:r>
              <a:rPr lang="en-GB" altLang="zh-CN" b="1" dirty="0" err="1">
                <a:cs typeface="Times New Roman" panose="02020603050405020304" pitchFamily="18" charset="0"/>
              </a:rPr>
              <a:t>u,v</a:t>
            </a:r>
            <a:r>
              <a:rPr lang="en-GB" altLang="zh-CN" b="1" dirty="0">
                <a:cs typeface="Times New Roman" panose="02020603050405020304" pitchFamily="18" charset="0"/>
              </a:rPr>
              <a:t>) ≤ </a:t>
            </a:r>
            <a:r>
              <a:rPr lang="en-GB" altLang="zh-CN" b="1" dirty="0" err="1">
                <a:cs typeface="Times New Roman" panose="02020603050405020304" pitchFamily="18" charset="0"/>
              </a:rPr>
              <a:t>c</a:t>
            </a:r>
            <a:r>
              <a:rPr lang="en-GB" altLang="zh-CN" b="1" baseline="-30000" dirty="0" err="1">
                <a:cs typeface="Times New Roman" panose="02020603050405020304" pitchFamily="18" charset="0"/>
              </a:rPr>
              <a:t>f</a:t>
            </a:r>
            <a:r>
              <a:rPr lang="en-GB" altLang="zh-CN" b="1" dirty="0">
                <a:cs typeface="Times New Roman" panose="02020603050405020304" pitchFamily="18" charset="0"/>
              </a:rPr>
              <a:t>(</a:t>
            </a:r>
            <a:r>
              <a:rPr lang="en-GB" altLang="zh-CN" b="1" dirty="0" err="1">
                <a:cs typeface="Times New Roman" panose="02020603050405020304" pitchFamily="18" charset="0"/>
              </a:rPr>
              <a:t>u,v</a:t>
            </a:r>
            <a:r>
              <a:rPr lang="en-GB" altLang="zh-CN" b="1" dirty="0">
                <a:cs typeface="Times New Roman" panose="02020603050405020304" pitchFamily="18" charset="0"/>
              </a:rPr>
              <a:t>) = c(</a:t>
            </a:r>
            <a:r>
              <a:rPr lang="en-GB" altLang="zh-CN" b="1" dirty="0" err="1">
                <a:cs typeface="Times New Roman" panose="02020603050405020304" pitchFamily="18" charset="0"/>
              </a:rPr>
              <a:t>u,v</a:t>
            </a:r>
            <a:r>
              <a:rPr lang="en-GB" altLang="zh-CN" b="1" dirty="0">
                <a:cs typeface="Times New Roman" panose="02020603050405020304" pitchFamily="18" charset="0"/>
              </a:rPr>
              <a:t>) – f(</a:t>
            </a:r>
            <a:r>
              <a:rPr lang="en-GB" altLang="zh-CN" b="1" dirty="0" err="1">
                <a:cs typeface="Times New Roman" panose="02020603050405020304" pitchFamily="18" charset="0"/>
              </a:rPr>
              <a:t>u,v</a:t>
            </a:r>
            <a:r>
              <a:rPr lang="en-GB" altLang="zh-CN" b="1" dirty="0">
                <a:cs typeface="Times New Roman" panose="02020603050405020304" pitchFamily="18" charset="0"/>
              </a:rPr>
              <a:t>)</a:t>
            </a:r>
            <a:endParaRPr lang="de-DE" altLang="zh-CN" b="1" dirty="0"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cs typeface="Times New Roman" panose="02020603050405020304" pitchFamily="18" charset="0"/>
              </a:rPr>
              <a:t>   </a:t>
            </a:r>
            <a:r>
              <a:rPr lang="en-GB" altLang="zh-CN" b="1" dirty="0">
                <a:cs typeface="Times New Roman" panose="02020603050405020304" pitchFamily="18" charset="0"/>
              </a:rPr>
              <a:t>(f +</a:t>
            </a:r>
            <a:r>
              <a:rPr lang="en-GB" altLang="zh-CN" b="1" dirty="0" err="1">
                <a:cs typeface="Times New Roman" panose="02020603050405020304" pitchFamily="18" charset="0"/>
              </a:rPr>
              <a:t>f</a:t>
            </a:r>
            <a:r>
              <a:rPr lang="en-GB" altLang="zh-CN" b="1" baseline="-30000" dirty="0" err="1">
                <a:cs typeface="Times New Roman" panose="02020603050405020304" pitchFamily="18" charset="0"/>
              </a:rPr>
              <a:t>p</a:t>
            </a:r>
            <a:r>
              <a:rPr lang="en-GB" altLang="zh-CN" b="1" dirty="0">
                <a:cs typeface="Times New Roman" panose="02020603050405020304" pitchFamily="18" charset="0"/>
              </a:rPr>
              <a:t>)(</a:t>
            </a:r>
            <a:r>
              <a:rPr lang="en-GB" altLang="zh-CN" b="1" dirty="0" err="1">
                <a:cs typeface="Times New Roman" panose="02020603050405020304" pitchFamily="18" charset="0"/>
              </a:rPr>
              <a:t>u,v</a:t>
            </a:r>
            <a:r>
              <a:rPr lang="en-GB" altLang="zh-CN" b="1" dirty="0">
                <a:cs typeface="Times New Roman" panose="02020603050405020304" pitchFamily="18" charset="0"/>
              </a:rPr>
              <a:t>) = f (</a:t>
            </a:r>
            <a:r>
              <a:rPr lang="en-GB" altLang="zh-CN" b="1" dirty="0" err="1">
                <a:cs typeface="Times New Roman" panose="02020603050405020304" pitchFamily="18" charset="0"/>
              </a:rPr>
              <a:t>u,v</a:t>
            </a:r>
            <a:r>
              <a:rPr lang="en-GB" altLang="zh-CN" b="1" dirty="0">
                <a:cs typeface="Times New Roman" panose="02020603050405020304" pitchFamily="18" charset="0"/>
              </a:rPr>
              <a:t>) + </a:t>
            </a:r>
            <a:r>
              <a:rPr lang="en-GB" altLang="zh-CN" b="1" dirty="0" err="1">
                <a:cs typeface="Times New Roman" panose="02020603050405020304" pitchFamily="18" charset="0"/>
              </a:rPr>
              <a:t>f</a:t>
            </a:r>
            <a:r>
              <a:rPr lang="en-GB" altLang="zh-CN" b="1" baseline="-30000" dirty="0" err="1">
                <a:cs typeface="Times New Roman" panose="02020603050405020304" pitchFamily="18" charset="0"/>
              </a:rPr>
              <a:t>p</a:t>
            </a:r>
            <a:r>
              <a:rPr lang="en-GB" altLang="zh-CN" b="1" dirty="0">
                <a:cs typeface="Times New Roman" panose="02020603050405020304" pitchFamily="18" charset="0"/>
              </a:rPr>
              <a:t>(</a:t>
            </a:r>
            <a:r>
              <a:rPr lang="en-GB" altLang="zh-CN" b="1" dirty="0" err="1">
                <a:cs typeface="Times New Roman" panose="02020603050405020304" pitchFamily="18" charset="0"/>
              </a:rPr>
              <a:t>u,v</a:t>
            </a:r>
            <a:r>
              <a:rPr lang="en-GB" altLang="zh-CN" b="1" dirty="0">
                <a:cs typeface="Times New Roman" panose="02020603050405020304" pitchFamily="18" charset="0"/>
              </a:rPr>
              <a:t>) ≤ c(</a:t>
            </a:r>
            <a:r>
              <a:rPr lang="en-GB" altLang="zh-CN" b="1" dirty="0" err="1">
                <a:cs typeface="Times New Roman" panose="02020603050405020304" pitchFamily="18" charset="0"/>
              </a:rPr>
              <a:t>u,v</a:t>
            </a:r>
            <a:r>
              <a:rPr lang="en-GB" altLang="zh-CN" b="1" dirty="0"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cs typeface="Times New Roman" panose="02020603050405020304" pitchFamily="18" charset="0"/>
              </a:rPr>
              <a:t>   </a:t>
            </a:r>
            <a:r>
              <a:rPr lang="en-GB" altLang="zh-CN" b="1" dirty="0">
                <a:cs typeface="Times New Roman" panose="02020603050405020304" pitchFamily="18" charset="0"/>
              </a:rPr>
              <a:t>(f +</a:t>
            </a:r>
            <a:r>
              <a:rPr lang="en-GB" altLang="zh-CN" b="1" dirty="0" err="1">
                <a:cs typeface="Times New Roman" panose="02020603050405020304" pitchFamily="18" charset="0"/>
              </a:rPr>
              <a:t>f</a:t>
            </a:r>
            <a:r>
              <a:rPr lang="en-GB" altLang="zh-CN" b="1" baseline="-30000" dirty="0" err="1">
                <a:cs typeface="Times New Roman" panose="02020603050405020304" pitchFamily="18" charset="0"/>
              </a:rPr>
              <a:t>p</a:t>
            </a:r>
            <a:r>
              <a:rPr lang="en-GB" altLang="zh-CN" b="1" dirty="0">
                <a:cs typeface="Times New Roman" panose="02020603050405020304" pitchFamily="18" charset="0"/>
              </a:rPr>
              <a:t>)(</a:t>
            </a:r>
            <a:r>
              <a:rPr lang="en-GB" altLang="zh-CN" b="1" dirty="0" err="1">
                <a:cs typeface="Times New Roman" panose="02020603050405020304" pitchFamily="18" charset="0"/>
              </a:rPr>
              <a:t>u,v</a:t>
            </a:r>
            <a:r>
              <a:rPr lang="en-GB" altLang="zh-CN" b="1" dirty="0">
                <a:cs typeface="Times New Roman" panose="02020603050405020304" pitchFamily="18" charset="0"/>
              </a:rPr>
              <a:t>) = f (</a:t>
            </a:r>
            <a:r>
              <a:rPr lang="en-GB" altLang="zh-CN" b="1" dirty="0" err="1">
                <a:cs typeface="Times New Roman" panose="02020603050405020304" pitchFamily="18" charset="0"/>
              </a:rPr>
              <a:t>u,v</a:t>
            </a:r>
            <a:r>
              <a:rPr lang="en-GB" altLang="zh-CN" b="1" dirty="0">
                <a:cs typeface="Times New Roman" panose="02020603050405020304" pitchFamily="18" charset="0"/>
              </a:rPr>
              <a:t>) + </a:t>
            </a:r>
            <a:r>
              <a:rPr lang="en-GB" altLang="zh-CN" b="1" dirty="0" err="1">
                <a:cs typeface="Times New Roman" panose="02020603050405020304" pitchFamily="18" charset="0"/>
              </a:rPr>
              <a:t>f</a:t>
            </a:r>
            <a:r>
              <a:rPr lang="en-GB" altLang="zh-CN" b="1" baseline="-30000" dirty="0" err="1">
                <a:cs typeface="Times New Roman" panose="02020603050405020304" pitchFamily="18" charset="0"/>
              </a:rPr>
              <a:t>p</a:t>
            </a:r>
            <a:r>
              <a:rPr lang="en-GB" altLang="zh-CN" b="1" dirty="0">
                <a:cs typeface="Times New Roman" panose="02020603050405020304" pitchFamily="18" charset="0"/>
              </a:rPr>
              <a:t> (u ,v) = - f(</a:t>
            </a:r>
            <a:r>
              <a:rPr lang="en-GB" altLang="zh-CN" b="1" dirty="0" err="1">
                <a:cs typeface="Times New Roman" panose="02020603050405020304" pitchFamily="18" charset="0"/>
              </a:rPr>
              <a:t>v,u</a:t>
            </a:r>
            <a:r>
              <a:rPr lang="en-GB" altLang="zh-CN" b="1" dirty="0">
                <a:cs typeface="Times New Roman" panose="02020603050405020304" pitchFamily="18" charset="0"/>
              </a:rPr>
              <a:t>) – </a:t>
            </a:r>
            <a:r>
              <a:rPr lang="en-GB" altLang="zh-CN" b="1" dirty="0" err="1">
                <a:cs typeface="Times New Roman" panose="02020603050405020304" pitchFamily="18" charset="0"/>
              </a:rPr>
              <a:t>f</a:t>
            </a:r>
            <a:r>
              <a:rPr lang="en-GB" altLang="zh-CN" b="1" baseline="-30000" dirty="0" err="1">
                <a:cs typeface="Times New Roman" panose="02020603050405020304" pitchFamily="18" charset="0"/>
              </a:rPr>
              <a:t>p</a:t>
            </a:r>
            <a:r>
              <a:rPr lang="en-GB" altLang="zh-CN" b="1" dirty="0">
                <a:cs typeface="Times New Roman" panose="02020603050405020304" pitchFamily="18" charset="0"/>
              </a:rPr>
              <a:t>(</a:t>
            </a:r>
            <a:r>
              <a:rPr lang="en-GB" altLang="zh-CN" b="1" dirty="0" err="1">
                <a:cs typeface="Times New Roman" panose="02020603050405020304" pitchFamily="18" charset="0"/>
              </a:rPr>
              <a:t>v,u</a:t>
            </a:r>
            <a:r>
              <a:rPr lang="en-GB" altLang="zh-CN" b="1" dirty="0">
                <a:cs typeface="Times New Roman" panose="02020603050405020304" pitchFamily="18" charset="0"/>
              </a:rPr>
              <a:t>)</a:t>
            </a:r>
            <a:endParaRPr lang="de-DE" altLang="zh-CN" b="1" dirty="0"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Tx/>
              <a:buNone/>
            </a:pPr>
            <a:r>
              <a:rPr lang="en-GB" altLang="zh-CN" b="1" dirty="0">
                <a:cs typeface="Times New Roman" panose="02020603050405020304" pitchFamily="18" charset="0"/>
              </a:rPr>
              <a:t>     	             = - [f(</a:t>
            </a:r>
            <a:r>
              <a:rPr lang="en-GB" altLang="zh-CN" b="1" dirty="0" err="1">
                <a:cs typeface="Times New Roman" panose="02020603050405020304" pitchFamily="18" charset="0"/>
              </a:rPr>
              <a:t>v,u</a:t>
            </a:r>
            <a:r>
              <a:rPr lang="en-GB" altLang="zh-CN" b="1" dirty="0">
                <a:cs typeface="Times New Roman" panose="02020603050405020304" pitchFamily="18" charset="0"/>
              </a:rPr>
              <a:t>) + </a:t>
            </a:r>
            <a:r>
              <a:rPr lang="en-GB" altLang="zh-CN" b="1" dirty="0" err="1">
                <a:cs typeface="Times New Roman" panose="02020603050405020304" pitchFamily="18" charset="0"/>
              </a:rPr>
              <a:t>f</a:t>
            </a:r>
            <a:r>
              <a:rPr lang="en-GB" altLang="zh-CN" b="1" baseline="-30000" dirty="0" err="1">
                <a:cs typeface="Times New Roman" panose="02020603050405020304" pitchFamily="18" charset="0"/>
              </a:rPr>
              <a:t>p</a:t>
            </a:r>
            <a:r>
              <a:rPr lang="en-GB" altLang="zh-CN" b="1" dirty="0">
                <a:cs typeface="Times New Roman" panose="02020603050405020304" pitchFamily="18" charset="0"/>
              </a:rPr>
              <a:t>(</a:t>
            </a:r>
            <a:r>
              <a:rPr lang="en-GB" altLang="zh-CN" b="1" dirty="0" err="1">
                <a:cs typeface="Times New Roman" panose="02020603050405020304" pitchFamily="18" charset="0"/>
              </a:rPr>
              <a:t>v,u</a:t>
            </a:r>
            <a:r>
              <a:rPr lang="en-GB" altLang="zh-CN" b="1" dirty="0">
                <a:cs typeface="Times New Roman" panose="02020603050405020304" pitchFamily="18" charset="0"/>
              </a:rPr>
              <a:t>)] = - (f +</a:t>
            </a:r>
            <a:r>
              <a:rPr lang="en-GB" altLang="zh-CN" b="1" dirty="0" err="1">
                <a:cs typeface="Times New Roman" panose="02020603050405020304" pitchFamily="18" charset="0"/>
              </a:rPr>
              <a:t>f</a:t>
            </a:r>
            <a:r>
              <a:rPr lang="en-GB" altLang="zh-CN" b="1" baseline="-30000" dirty="0" err="1">
                <a:cs typeface="Times New Roman" panose="02020603050405020304" pitchFamily="18" charset="0"/>
              </a:rPr>
              <a:t>p</a:t>
            </a:r>
            <a:r>
              <a:rPr lang="en-GB" altLang="zh-CN" b="1" dirty="0">
                <a:cs typeface="Times New Roman" panose="02020603050405020304" pitchFamily="18" charset="0"/>
              </a:rPr>
              <a:t>) (</a:t>
            </a:r>
            <a:r>
              <a:rPr lang="en-GB" altLang="zh-CN" b="1" dirty="0" err="1">
                <a:cs typeface="Times New Roman" panose="02020603050405020304" pitchFamily="18" charset="0"/>
              </a:rPr>
              <a:t>v,u</a:t>
            </a:r>
            <a:r>
              <a:rPr lang="en-GB" altLang="zh-CN" b="1" dirty="0">
                <a:cs typeface="Times New Roman" panose="02020603050405020304" pitchFamily="18" charset="0"/>
              </a:rPr>
              <a:t>)</a:t>
            </a:r>
            <a:r>
              <a:rPr lang="de-DE" altLang="zh-CN" b="1" dirty="0"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de-DE" altLang="zh-CN" b="1" dirty="0"/>
              <a:t>    </a:t>
            </a:r>
            <a:r>
              <a:rPr lang="en-GB" altLang="zh-CN" b="1" dirty="0"/>
              <a:t>u </a:t>
            </a:r>
            <a:r>
              <a:rPr lang="en-GB" altLang="zh-CN" b="1" dirty="0">
                <a:sym typeface="Symbol" panose="05050102010706020507" pitchFamily="18" charset="2"/>
              </a:rPr>
              <a:t></a:t>
            </a:r>
            <a:r>
              <a:rPr lang="en-GB" altLang="zh-CN" b="1" dirty="0"/>
              <a:t>V\{s ,t}, </a:t>
            </a:r>
            <a:r>
              <a:rPr lang="en-GB" altLang="zh-CN" sz="4400" b="1" dirty="0">
                <a:sym typeface="Symbol" panose="05050102010706020507" pitchFamily="18" charset="2"/>
              </a:rPr>
              <a:t></a:t>
            </a:r>
            <a:r>
              <a:rPr lang="en-GB" altLang="zh-CN" b="1" dirty="0"/>
              <a:t> (f +</a:t>
            </a:r>
            <a:r>
              <a:rPr lang="en-GB" altLang="zh-CN" b="1" dirty="0" err="1"/>
              <a:t>f</a:t>
            </a:r>
            <a:r>
              <a:rPr lang="en-GB" altLang="zh-CN" b="1" baseline="-30000" dirty="0" err="1"/>
              <a:t>p</a:t>
            </a:r>
            <a:r>
              <a:rPr lang="en-GB" altLang="zh-CN" b="1" dirty="0"/>
              <a:t>) (</a:t>
            </a:r>
            <a:r>
              <a:rPr lang="en-GB" altLang="zh-CN" b="1" dirty="0" err="1"/>
              <a:t>u,v</a:t>
            </a:r>
            <a:r>
              <a:rPr lang="en-GB" altLang="zh-CN" b="1" dirty="0"/>
              <a:t>) = </a:t>
            </a:r>
            <a:r>
              <a:rPr lang="en-GB" altLang="zh-CN" sz="4400" b="1" dirty="0">
                <a:sym typeface="Symbol" panose="05050102010706020507" pitchFamily="18" charset="2"/>
              </a:rPr>
              <a:t> </a:t>
            </a:r>
            <a:r>
              <a:rPr lang="en-GB" altLang="zh-CN" b="1" dirty="0"/>
              <a:t>[f(</a:t>
            </a:r>
            <a:r>
              <a:rPr lang="en-GB" altLang="zh-CN" b="1" dirty="0" err="1"/>
              <a:t>u,v</a:t>
            </a:r>
            <a:r>
              <a:rPr lang="en-GB" altLang="zh-CN" b="1" dirty="0"/>
              <a:t>) + </a:t>
            </a:r>
            <a:r>
              <a:rPr lang="en-GB" altLang="zh-CN" b="1" dirty="0" err="1"/>
              <a:t>f</a:t>
            </a:r>
            <a:r>
              <a:rPr lang="en-GB" altLang="zh-CN" b="1" baseline="-30000" dirty="0" err="1"/>
              <a:t>p</a:t>
            </a:r>
            <a:r>
              <a:rPr lang="en-GB" altLang="zh-CN" b="1" dirty="0"/>
              <a:t>(</a:t>
            </a:r>
            <a:r>
              <a:rPr lang="en-GB" altLang="zh-CN" b="1" dirty="0" err="1"/>
              <a:t>u,v</a:t>
            </a:r>
            <a:r>
              <a:rPr lang="en-GB" altLang="zh-CN" b="1" dirty="0"/>
              <a:t>)]</a:t>
            </a:r>
            <a:endParaRPr lang="de-DE" altLang="zh-CN" b="1" dirty="0"/>
          </a:p>
          <a:p>
            <a:pPr>
              <a:lnSpc>
                <a:spcPct val="100000"/>
              </a:lnSpc>
              <a:buFontTx/>
              <a:buNone/>
            </a:pPr>
            <a:r>
              <a:rPr lang="en-GB" altLang="zh-CN" b="1" dirty="0"/>
              <a:t>	                  = </a:t>
            </a:r>
            <a:r>
              <a:rPr lang="en-GB" altLang="zh-CN" sz="4400" b="1" dirty="0">
                <a:sym typeface="Symbol" panose="05050102010706020507" pitchFamily="18" charset="2"/>
              </a:rPr>
              <a:t> </a:t>
            </a:r>
            <a:r>
              <a:rPr lang="en-GB" altLang="zh-CN" b="1" dirty="0"/>
              <a:t> f(</a:t>
            </a:r>
            <a:r>
              <a:rPr lang="en-GB" altLang="zh-CN" b="1" dirty="0" err="1"/>
              <a:t>u,v</a:t>
            </a:r>
            <a:r>
              <a:rPr lang="en-GB" altLang="zh-CN" b="1" dirty="0"/>
              <a:t>) + </a:t>
            </a:r>
            <a:r>
              <a:rPr lang="en-GB" altLang="zh-CN" sz="4400" b="1" dirty="0">
                <a:sym typeface="Symbol" panose="05050102010706020507" pitchFamily="18" charset="2"/>
              </a:rPr>
              <a:t> </a:t>
            </a:r>
            <a:r>
              <a:rPr lang="en-GB" altLang="zh-CN" b="1" dirty="0"/>
              <a:t> </a:t>
            </a:r>
            <a:r>
              <a:rPr lang="en-GB" altLang="zh-CN" b="1" dirty="0" err="1"/>
              <a:t>f</a:t>
            </a:r>
            <a:r>
              <a:rPr lang="en-GB" altLang="zh-CN" b="1" baseline="-30000" dirty="0" err="1"/>
              <a:t>p</a:t>
            </a:r>
            <a:r>
              <a:rPr lang="en-GB" altLang="zh-CN" b="1" dirty="0"/>
              <a:t>(</a:t>
            </a:r>
            <a:r>
              <a:rPr lang="en-GB" altLang="zh-CN" b="1" dirty="0" err="1"/>
              <a:t>u,v</a:t>
            </a:r>
            <a:r>
              <a:rPr lang="en-GB" altLang="zh-CN" b="1" dirty="0"/>
              <a:t>) = 0 + 0 = 0</a:t>
            </a:r>
            <a:endParaRPr lang="de-DE" altLang="zh-CN" b="1" dirty="0"/>
          </a:p>
          <a:p>
            <a:pPr>
              <a:lnSpc>
                <a:spcPct val="100000"/>
              </a:lnSpc>
              <a:buFontTx/>
              <a:buNone/>
            </a:pPr>
            <a:r>
              <a:rPr lang="zh-CN" altLang="en-US" sz="2400" dirty="0">
                <a:latin typeface="Arial Rounded MT Bold" panose="020F0704030504030204" pitchFamily="34" charset="0"/>
              </a:rPr>
              <a:t>    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得证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.</a:t>
            </a:r>
            <a:endParaRPr lang="de-DE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de-DE" altLang="zh-CN" dirty="0">
              <a:latin typeface="Arial Rounded MT Bold" panose="020F0704030504030204" pitchFamily="34" charset="0"/>
            </a:endParaRPr>
          </a:p>
          <a:p>
            <a:endParaRPr lang="de-DE" altLang="zh-CN" dirty="0">
              <a:latin typeface="Arial Rounded MT Bold" panose="020F0704030504030204" pitchFamily="34" charset="0"/>
            </a:endParaRPr>
          </a:p>
          <a:p>
            <a:endParaRPr lang="de-DE" altLang="zh-CN" dirty="0">
              <a:latin typeface="Arial Rounded MT Bold" panose="020F0704030504030204" pitchFamily="34" charset="0"/>
            </a:endParaRPr>
          </a:p>
        </p:txBody>
      </p:sp>
      <p:sp>
        <p:nvSpPr>
          <p:cNvPr id="6" name="Text Box 20"/>
          <p:cNvSpPr txBox="1">
            <a:spLocks noChangeArrowheads="1"/>
          </p:cNvSpPr>
          <p:nvPr/>
        </p:nvSpPr>
        <p:spPr bwMode="auto">
          <a:xfrm>
            <a:off x="3599803" y="4968946"/>
            <a:ext cx="7620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de-DE" altLang="zh-CN" dirty="0"/>
              <a:t>v</a:t>
            </a:r>
            <a:r>
              <a:rPr lang="de-DE" altLang="zh-CN" dirty="0">
                <a:sym typeface="Symbol" panose="05050102010706020507" pitchFamily="18" charset="2"/>
              </a:rPr>
              <a:t></a:t>
            </a:r>
            <a:r>
              <a:rPr lang="de-DE" altLang="zh-CN" dirty="0"/>
              <a:t>V </a:t>
            </a:r>
          </a:p>
        </p:txBody>
      </p:sp>
      <p:sp>
        <p:nvSpPr>
          <p:cNvPr id="7" name="Text Box 20"/>
          <p:cNvSpPr txBox="1">
            <a:spLocks noChangeArrowheads="1"/>
          </p:cNvSpPr>
          <p:nvPr/>
        </p:nvSpPr>
        <p:spPr bwMode="auto">
          <a:xfrm>
            <a:off x="6032536" y="4968946"/>
            <a:ext cx="7620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de-DE" altLang="zh-CN" dirty="0"/>
              <a:t>v</a:t>
            </a:r>
            <a:r>
              <a:rPr lang="de-DE" altLang="zh-CN" dirty="0">
                <a:sym typeface="Symbol" panose="05050102010706020507" pitchFamily="18" charset="2"/>
              </a:rPr>
              <a:t></a:t>
            </a:r>
            <a:r>
              <a:rPr lang="de-DE" altLang="zh-CN" dirty="0"/>
              <a:t>V </a:t>
            </a:r>
          </a:p>
        </p:txBody>
      </p:sp>
      <p:sp>
        <p:nvSpPr>
          <p:cNvPr id="8" name="Text Box 20"/>
          <p:cNvSpPr txBox="1">
            <a:spLocks noChangeArrowheads="1"/>
          </p:cNvSpPr>
          <p:nvPr/>
        </p:nvSpPr>
        <p:spPr bwMode="auto">
          <a:xfrm>
            <a:off x="3516273" y="5822884"/>
            <a:ext cx="7620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de-DE" altLang="zh-CN" dirty="0"/>
              <a:t>v</a:t>
            </a:r>
            <a:r>
              <a:rPr lang="de-DE" altLang="zh-CN" dirty="0">
                <a:sym typeface="Symbol" panose="05050102010706020507" pitchFamily="18" charset="2"/>
              </a:rPr>
              <a:t></a:t>
            </a:r>
            <a:r>
              <a:rPr lang="de-DE" altLang="zh-CN" dirty="0"/>
              <a:t>V </a:t>
            </a:r>
          </a:p>
        </p:txBody>
      </p:sp>
      <p:sp>
        <p:nvSpPr>
          <p:cNvPr id="9" name="Text Box 20"/>
          <p:cNvSpPr txBox="1">
            <a:spLocks noChangeArrowheads="1"/>
          </p:cNvSpPr>
          <p:nvPr/>
        </p:nvSpPr>
        <p:spPr bwMode="auto">
          <a:xfrm>
            <a:off x="5166281" y="5822884"/>
            <a:ext cx="7620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de-DE" altLang="zh-CN" dirty="0"/>
              <a:t>v</a:t>
            </a:r>
            <a:r>
              <a:rPr lang="de-DE" altLang="zh-CN" dirty="0">
                <a:sym typeface="Symbol" panose="05050102010706020507" pitchFamily="18" charset="2"/>
              </a:rPr>
              <a:t></a:t>
            </a:r>
            <a:r>
              <a:rPr lang="de-DE" altLang="zh-CN" dirty="0"/>
              <a:t>V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9C7B44F-4FB5-B5A3-9004-5EBF36F20703}"/>
              </a:ext>
            </a:extLst>
          </p:cNvPr>
          <p:cNvSpPr txBox="1"/>
          <p:nvPr/>
        </p:nvSpPr>
        <p:spPr>
          <a:xfrm>
            <a:off x="380724" y="299408"/>
            <a:ext cx="6090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Ford-Fulkerson</a:t>
            </a:r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算法</a:t>
            </a:r>
            <a:r>
              <a:rPr lang="en-US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:</a:t>
            </a:r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流增广</a:t>
            </a:r>
          </a:p>
        </p:txBody>
      </p:sp>
      <p:sp>
        <p:nvSpPr>
          <p:cNvPr id="3" name="圆角矩形 8">
            <a:extLst>
              <a:ext uri="{FF2B5EF4-FFF2-40B4-BE49-F238E27FC236}">
                <a16:creationId xmlns:a16="http://schemas.microsoft.com/office/drawing/2014/main" id="{357B97EF-79BD-D6D8-DAD6-F4B53334EBD3}"/>
              </a:ext>
            </a:extLst>
          </p:cNvPr>
          <p:cNvSpPr/>
          <p:nvPr/>
        </p:nvSpPr>
        <p:spPr>
          <a:xfrm>
            <a:off x="238663" y="311105"/>
            <a:ext cx="6232131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1415742-9892-69FA-8B62-7B80886B2A21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4833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83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83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583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583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583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521668" y="1237270"/>
            <a:ext cx="7649852" cy="32766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b="1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命题</a:t>
            </a:r>
            <a:r>
              <a:rPr lang="en-US" altLang="zh-CN" b="1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. </a:t>
            </a:r>
            <a:r>
              <a:rPr lang="en-GB" altLang="zh-CN" b="1" dirty="0">
                <a:solidFill>
                  <a:srgbClr val="00B050"/>
                </a:solidFill>
                <a:ea typeface="思源黑体 CN Normal" panose="020B0400000000000000" pitchFamily="34" charset="-122"/>
                <a:cs typeface="Times New Roman" panose="02020603050405020304" pitchFamily="18" charset="0"/>
              </a:rPr>
              <a:t>|(f + </a:t>
            </a:r>
            <a:r>
              <a:rPr lang="en-GB" altLang="zh-CN" b="1" dirty="0" err="1">
                <a:solidFill>
                  <a:srgbClr val="00B050"/>
                </a:solidFill>
                <a:ea typeface="思源黑体 CN Normal" panose="020B0400000000000000" pitchFamily="34" charset="-122"/>
                <a:cs typeface="Times New Roman" panose="02020603050405020304" pitchFamily="18" charset="0"/>
              </a:rPr>
              <a:t>f</a:t>
            </a:r>
            <a:r>
              <a:rPr lang="en-GB" altLang="zh-CN" b="1" baseline="-30000" dirty="0" err="1">
                <a:solidFill>
                  <a:srgbClr val="00B050"/>
                </a:solidFill>
                <a:ea typeface="思源黑体 CN Normal" panose="020B0400000000000000" pitchFamily="34" charset="-122"/>
                <a:cs typeface="Times New Roman" panose="02020603050405020304" pitchFamily="18" charset="0"/>
              </a:rPr>
              <a:t>p</a:t>
            </a:r>
            <a:r>
              <a:rPr lang="en-GB" altLang="zh-CN" b="1" dirty="0">
                <a:solidFill>
                  <a:srgbClr val="00B050"/>
                </a:solidFill>
                <a:ea typeface="思源黑体 CN Normal" panose="020B0400000000000000" pitchFamily="34" charset="-122"/>
                <a:cs typeface="Times New Roman" panose="02020603050405020304" pitchFamily="18" charset="0"/>
              </a:rPr>
              <a:t>)| = |f| + |</a:t>
            </a:r>
            <a:r>
              <a:rPr lang="en-GB" altLang="zh-CN" b="1" dirty="0" err="1">
                <a:solidFill>
                  <a:srgbClr val="00B050"/>
                </a:solidFill>
                <a:ea typeface="思源黑体 CN Normal" panose="020B0400000000000000" pitchFamily="34" charset="-122"/>
                <a:cs typeface="Times New Roman" panose="02020603050405020304" pitchFamily="18" charset="0"/>
              </a:rPr>
              <a:t>f</a:t>
            </a:r>
            <a:r>
              <a:rPr lang="en-GB" altLang="zh-CN" b="1" baseline="-30000" dirty="0" err="1">
                <a:solidFill>
                  <a:srgbClr val="00B050"/>
                </a:solidFill>
                <a:ea typeface="思源黑体 CN Normal" panose="020B0400000000000000" pitchFamily="34" charset="-122"/>
                <a:cs typeface="Times New Roman" panose="02020603050405020304" pitchFamily="18" charset="0"/>
              </a:rPr>
              <a:t>p</a:t>
            </a:r>
            <a:r>
              <a:rPr lang="en-GB" altLang="zh-CN" b="1" dirty="0">
                <a:solidFill>
                  <a:srgbClr val="00B050"/>
                </a:solidFill>
                <a:ea typeface="思源黑体 CN Normal" panose="020B0400000000000000" pitchFamily="34" charset="-122"/>
                <a:cs typeface="Times New Roman" panose="02020603050405020304" pitchFamily="18" charset="0"/>
              </a:rPr>
              <a:t>|</a:t>
            </a:r>
            <a:r>
              <a:rPr lang="de-DE" altLang="zh-CN" b="1" dirty="0">
                <a:solidFill>
                  <a:srgbClr val="00B050"/>
                </a:solidFill>
                <a:ea typeface="思源黑体 CN Normal" panose="020B0400000000000000" pitchFamily="34" charset="-122"/>
              </a:rPr>
              <a:t> </a:t>
            </a:r>
            <a:r>
              <a:rPr lang="zh-CN" altLang="en-US" b="1" dirty="0">
                <a:solidFill>
                  <a:srgbClr val="00B050"/>
                </a:solidFill>
                <a:ea typeface="思源黑体 CN Normal" panose="020B0400000000000000" pitchFamily="34" charset="-122"/>
              </a:rPr>
              <a:t>  </a:t>
            </a:r>
            <a:endParaRPr lang="de-DE" altLang="zh-CN" b="1" dirty="0">
              <a:solidFill>
                <a:srgbClr val="00B050"/>
              </a:solidFill>
              <a:ea typeface="思源黑体 CN Normal" panose="020B0400000000000000" pitchFamily="34" charset="-122"/>
            </a:endParaRPr>
          </a:p>
          <a:p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证明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.  </a:t>
            </a: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流的值是等于由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</a:t>
            </a: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流出的所有流之和</a:t>
            </a:r>
            <a:endParaRPr lang="de-DE" altLang="zh-CN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GB" altLang="zh-CN" b="1" dirty="0">
                <a:ea typeface="思源黑体 CN Normal" panose="020B0400000000000000" pitchFamily="34" charset="-122"/>
              </a:rPr>
              <a:t>|(f + </a:t>
            </a:r>
            <a:r>
              <a:rPr lang="en-GB" altLang="zh-CN" b="1" dirty="0" err="1">
                <a:ea typeface="思源黑体 CN Normal" panose="020B0400000000000000" pitchFamily="34" charset="-122"/>
              </a:rPr>
              <a:t>f</a:t>
            </a:r>
            <a:r>
              <a:rPr lang="en-GB" altLang="zh-CN" b="1" baseline="-30000" dirty="0" err="1">
                <a:ea typeface="思源黑体 CN Normal" panose="020B0400000000000000" pitchFamily="34" charset="-122"/>
              </a:rPr>
              <a:t>p</a:t>
            </a:r>
            <a:r>
              <a:rPr lang="en-GB" altLang="zh-CN" b="1" dirty="0">
                <a:ea typeface="思源黑体 CN Normal" panose="020B0400000000000000" pitchFamily="34" charset="-122"/>
              </a:rPr>
              <a:t>)| = </a:t>
            </a:r>
            <a:r>
              <a:rPr lang="en-GB" altLang="zh-CN" sz="4400" b="1" dirty="0">
                <a:ea typeface="思源黑体 CN Normal" panose="020B0400000000000000" pitchFamily="34" charset="-122"/>
                <a:sym typeface="Symbol" panose="05050102010706020507" pitchFamily="18" charset="2"/>
              </a:rPr>
              <a:t></a:t>
            </a:r>
            <a:r>
              <a:rPr lang="en-GB" altLang="zh-CN" b="1" dirty="0">
                <a:ea typeface="思源黑体 CN Normal" panose="020B0400000000000000" pitchFamily="34" charset="-122"/>
              </a:rPr>
              <a:t> (f +</a:t>
            </a:r>
            <a:r>
              <a:rPr lang="en-GB" altLang="zh-CN" b="1" dirty="0" err="1">
                <a:ea typeface="思源黑体 CN Normal" panose="020B0400000000000000" pitchFamily="34" charset="-122"/>
              </a:rPr>
              <a:t>f</a:t>
            </a:r>
            <a:r>
              <a:rPr lang="en-GB" altLang="zh-CN" b="1" baseline="-30000" dirty="0" err="1">
                <a:ea typeface="思源黑体 CN Normal" panose="020B0400000000000000" pitchFamily="34" charset="-122"/>
              </a:rPr>
              <a:t>p</a:t>
            </a:r>
            <a:r>
              <a:rPr lang="en-GB" altLang="zh-CN" b="1" dirty="0">
                <a:ea typeface="思源黑体 CN Normal" panose="020B0400000000000000" pitchFamily="34" charset="-122"/>
              </a:rPr>
              <a:t>) (</a:t>
            </a:r>
            <a:r>
              <a:rPr lang="en-GB" altLang="zh-CN" b="1" dirty="0" err="1">
                <a:ea typeface="思源黑体 CN Normal" panose="020B0400000000000000" pitchFamily="34" charset="-122"/>
              </a:rPr>
              <a:t>s,v</a:t>
            </a:r>
            <a:r>
              <a:rPr lang="en-GB" altLang="zh-CN" b="1" dirty="0">
                <a:ea typeface="思源黑体 CN Normal" panose="020B0400000000000000" pitchFamily="34" charset="-122"/>
              </a:rPr>
              <a:t>) = </a:t>
            </a:r>
            <a:r>
              <a:rPr lang="en-GB" altLang="zh-CN" sz="4400" b="1" dirty="0">
                <a:ea typeface="思源黑体 CN Normal" panose="020B0400000000000000" pitchFamily="34" charset="-122"/>
                <a:sym typeface="Symbol" panose="05050102010706020507" pitchFamily="18" charset="2"/>
              </a:rPr>
              <a:t> </a:t>
            </a:r>
            <a:r>
              <a:rPr lang="en-GB" altLang="zh-CN" b="1" dirty="0">
                <a:ea typeface="思源黑体 CN Normal" panose="020B0400000000000000" pitchFamily="34" charset="-122"/>
              </a:rPr>
              <a:t>[</a:t>
            </a:r>
            <a:r>
              <a:rPr lang="zh-CN" altLang="en-US" b="1" dirty="0">
                <a:ea typeface="思源黑体 CN Normal" panose="020B0400000000000000" pitchFamily="34" charset="-122"/>
              </a:rPr>
              <a:t> </a:t>
            </a:r>
            <a:r>
              <a:rPr lang="en-GB" altLang="zh-CN" b="1" dirty="0">
                <a:ea typeface="思源黑体 CN Normal" panose="020B0400000000000000" pitchFamily="34" charset="-122"/>
              </a:rPr>
              <a:t>f(</a:t>
            </a:r>
            <a:r>
              <a:rPr lang="en-GB" altLang="zh-CN" b="1" dirty="0" err="1">
                <a:ea typeface="思源黑体 CN Normal" panose="020B0400000000000000" pitchFamily="34" charset="-122"/>
              </a:rPr>
              <a:t>s,v</a:t>
            </a:r>
            <a:r>
              <a:rPr lang="en-GB" altLang="zh-CN" b="1" dirty="0">
                <a:ea typeface="思源黑体 CN Normal" panose="020B0400000000000000" pitchFamily="34" charset="-122"/>
              </a:rPr>
              <a:t>) + </a:t>
            </a:r>
            <a:r>
              <a:rPr lang="en-GB" altLang="zh-CN" b="1" dirty="0" err="1">
                <a:ea typeface="思源黑体 CN Normal" panose="020B0400000000000000" pitchFamily="34" charset="-122"/>
              </a:rPr>
              <a:t>f</a:t>
            </a:r>
            <a:r>
              <a:rPr lang="en-GB" altLang="zh-CN" b="1" baseline="-30000" dirty="0" err="1">
                <a:ea typeface="思源黑体 CN Normal" panose="020B0400000000000000" pitchFamily="34" charset="-122"/>
              </a:rPr>
              <a:t>p</a:t>
            </a:r>
            <a:r>
              <a:rPr lang="en-GB" altLang="zh-CN" b="1" dirty="0">
                <a:ea typeface="思源黑体 CN Normal" panose="020B0400000000000000" pitchFamily="34" charset="-122"/>
              </a:rPr>
              <a:t>(</a:t>
            </a:r>
            <a:r>
              <a:rPr lang="en-GB" altLang="zh-CN" b="1" dirty="0" err="1">
                <a:ea typeface="思源黑体 CN Normal" panose="020B0400000000000000" pitchFamily="34" charset="-122"/>
              </a:rPr>
              <a:t>s,v</a:t>
            </a:r>
            <a:r>
              <a:rPr lang="en-GB" altLang="zh-CN" b="1" dirty="0">
                <a:ea typeface="思源黑体 CN Normal" panose="020B0400000000000000" pitchFamily="34" charset="-122"/>
              </a:rPr>
              <a:t>)</a:t>
            </a:r>
            <a:r>
              <a:rPr lang="zh-CN" altLang="en-US" b="1" dirty="0">
                <a:ea typeface="思源黑体 CN Normal" panose="020B0400000000000000" pitchFamily="34" charset="-122"/>
              </a:rPr>
              <a:t> </a:t>
            </a:r>
            <a:r>
              <a:rPr lang="en-GB" altLang="zh-CN" b="1" dirty="0">
                <a:ea typeface="思源黑体 CN Normal" panose="020B0400000000000000" pitchFamily="34" charset="-122"/>
              </a:rPr>
              <a:t>]</a:t>
            </a:r>
            <a:endParaRPr lang="de-DE" altLang="zh-CN" b="1" dirty="0">
              <a:ea typeface="思源黑体 CN Normal" panose="020B0400000000000000" pitchFamily="34" charset="-122"/>
            </a:endParaRPr>
          </a:p>
          <a:p>
            <a:pPr>
              <a:lnSpc>
                <a:spcPct val="125000"/>
              </a:lnSpc>
              <a:buFontTx/>
              <a:buNone/>
            </a:pPr>
            <a:r>
              <a:rPr lang="en-GB" altLang="zh-CN" b="1" dirty="0">
                <a:ea typeface="思源黑体 CN Normal" panose="020B0400000000000000" pitchFamily="34" charset="-122"/>
              </a:rPr>
              <a:t>	                = </a:t>
            </a:r>
            <a:r>
              <a:rPr lang="en-GB" altLang="zh-CN" sz="4400" b="1" dirty="0">
                <a:ea typeface="思源黑体 CN Normal" panose="020B0400000000000000" pitchFamily="34" charset="-122"/>
                <a:sym typeface="Symbol" panose="05050102010706020507" pitchFamily="18" charset="2"/>
              </a:rPr>
              <a:t> </a:t>
            </a:r>
            <a:r>
              <a:rPr lang="en-GB" altLang="zh-CN" b="1" dirty="0">
                <a:ea typeface="思源黑体 CN Normal" panose="020B0400000000000000" pitchFamily="34" charset="-122"/>
              </a:rPr>
              <a:t> f(</a:t>
            </a:r>
            <a:r>
              <a:rPr lang="en-GB" altLang="zh-CN" b="1" dirty="0" err="1">
                <a:ea typeface="思源黑体 CN Normal" panose="020B0400000000000000" pitchFamily="34" charset="-122"/>
              </a:rPr>
              <a:t>s,v</a:t>
            </a:r>
            <a:r>
              <a:rPr lang="en-GB" altLang="zh-CN" b="1" dirty="0">
                <a:ea typeface="思源黑体 CN Normal" panose="020B0400000000000000" pitchFamily="34" charset="-122"/>
              </a:rPr>
              <a:t>) + </a:t>
            </a:r>
            <a:r>
              <a:rPr lang="en-GB" altLang="zh-CN" sz="4400" b="1" dirty="0">
                <a:ea typeface="思源黑体 CN Normal" panose="020B0400000000000000" pitchFamily="34" charset="-122"/>
                <a:sym typeface="Symbol" panose="05050102010706020507" pitchFamily="18" charset="2"/>
              </a:rPr>
              <a:t> </a:t>
            </a:r>
            <a:r>
              <a:rPr lang="en-GB" altLang="zh-CN" b="1" dirty="0">
                <a:ea typeface="思源黑体 CN Normal" panose="020B0400000000000000" pitchFamily="34" charset="-122"/>
              </a:rPr>
              <a:t> </a:t>
            </a:r>
            <a:r>
              <a:rPr lang="en-GB" altLang="zh-CN" b="1" dirty="0" err="1">
                <a:ea typeface="思源黑体 CN Normal" panose="020B0400000000000000" pitchFamily="34" charset="-122"/>
              </a:rPr>
              <a:t>f</a:t>
            </a:r>
            <a:r>
              <a:rPr lang="en-GB" altLang="zh-CN" b="1" baseline="-30000" dirty="0" err="1">
                <a:ea typeface="思源黑体 CN Normal" panose="020B0400000000000000" pitchFamily="34" charset="-122"/>
              </a:rPr>
              <a:t>p</a:t>
            </a:r>
            <a:r>
              <a:rPr lang="en-GB" altLang="zh-CN" b="1" dirty="0">
                <a:ea typeface="思源黑体 CN Normal" panose="020B0400000000000000" pitchFamily="34" charset="-122"/>
              </a:rPr>
              <a:t>(</a:t>
            </a:r>
            <a:r>
              <a:rPr lang="en-GB" altLang="zh-CN" b="1" dirty="0" err="1">
                <a:ea typeface="思源黑体 CN Normal" panose="020B0400000000000000" pitchFamily="34" charset="-122"/>
              </a:rPr>
              <a:t>s,v</a:t>
            </a:r>
            <a:r>
              <a:rPr lang="en-GB" altLang="zh-CN" b="1" dirty="0">
                <a:ea typeface="思源黑体 CN Normal" panose="020B0400000000000000" pitchFamily="34" charset="-122"/>
              </a:rPr>
              <a:t>) = |f| + |</a:t>
            </a:r>
            <a:r>
              <a:rPr lang="en-GB" altLang="zh-CN" b="1" dirty="0" err="1">
                <a:ea typeface="思源黑体 CN Normal" panose="020B0400000000000000" pitchFamily="34" charset="-122"/>
              </a:rPr>
              <a:t>f</a:t>
            </a:r>
            <a:r>
              <a:rPr lang="en-GB" altLang="zh-CN" b="1" baseline="-30000" dirty="0" err="1">
                <a:ea typeface="思源黑体 CN Normal" panose="020B0400000000000000" pitchFamily="34" charset="-122"/>
              </a:rPr>
              <a:t>p</a:t>
            </a:r>
            <a:r>
              <a:rPr lang="en-GB" altLang="zh-CN" b="1" dirty="0">
                <a:ea typeface="思源黑体 CN Normal" panose="020B0400000000000000" pitchFamily="34" charset="-122"/>
              </a:rPr>
              <a:t>|</a:t>
            </a:r>
          </a:p>
          <a:p>
            <a:pPr>
              <a:lnSpc>
                <a:spcPct val="125000"/>
              </a:lnSpc>
              <a:buFontTx/>
              <a:buNone/>
            </a:pPr>
            <a:r>
              <a:rPr lang="zh-CN" altLang="en-US" sz="36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</a:t>
            </a:r>
            <a:r>
              <a:rPr lang="zh-CN" altLang="en-US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得证</a:t>
            </a:r>
            <a:r>
              <a:rPr lang="en-US" altLang="zh-CN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.</a:t>
            </a:r>
            <a:endParaRPr lang="en-US" altLang="zh-CN" sz="36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25000"/>
              </a:lnSpc>
              <a:buFontTx/>
              <a:buNone/>
            </a:pP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  <a:endParaRPr lang="en-GB" altLang="zh-CN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找到一条增广路径 </a:t>
            </a:r>
            <a:r>
              <a:rPr lang="en-GB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  <a:sym typeface="Symbol" panose="05050102010706020507" pitchFamily="18" charset="2"/>
              </a:rPr>
              <a:t></a:t>
            </a: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得到更大的流（流增广）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. </a:t>
            </a:r>
            <a:endParaRPr lang="en-GB" altLang="zh-CN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6" name="Text Box 20"/>
          <p:cNvSpPr txBox="1">
            <a:spLocks noChangeArrowheads="1"/>
          </p:cNvSpPr>
          <p:nvPr/>
        </p:nvSpPr>
        <p:spPr bwMode="auto">
          <a:xfrm>
            <a:off x="4261637" y="3950620"/>
            <a:ext cx="7620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de-DE" altLang="zh-CN" b="1" dirty="0"/>
              <a:t>v</a:t>
            </a:r>
            <a:r>
              <a:rPr lang="de-DE" altLang="zh-CN" b="1" dirty="0">
                <a:sym typeface="Symbol" panose="05050102010706020507" pitchFamily="18" charset="2"/>
              </a:rPr>
              <a:t></a:t>
            </a:r>
            <a:r>
              <a:rPr lang="de-DE" altLang="zh-CN" b="1" dirty="0"/>
              <a:t>V </a:t>
            </a:r>
          </a:p>
        </p:txBody>
      </p:sp>
      <p:sp>
        <p:nvSpPr>
          <p:cNvPr id="7" name="Text Box 20"/>
          <p:cNvSpPr txBox="1">
            <a:spLocks noChangeArrowheads="1"/>
          </p:cNvSpPr>
          <p:nvPr/>
        </p:nvSpPr>
        <p:spPr bwMode="auto">
          <a:xfrm>
            <a:off x="6342802" y="2947320"/>
            <a:ext cx="7620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de-DE" altLang="zh-CN" b="1" dirty="0"/>
              <a:t>v</a:t>
            </a:r>
            <a:r>
              <a:rPr lang="de-DE" altLang="zh-CN" b="1" dirty="0">
                <a:sym typeface="Symbol" panose="05050102010706020507" pitchFamily="18" charset="2"/>
              </a:rPr>
              <a:t></a:t>
            </a:r>
            <a:r>
              <a:rPr lang="de-DE" altLang="zh-CN" b="1" dirty="0"/>
              <a:t>V </a:t>
            </a:r>
          </a:p>
        </p:txBody>
      </p:sp>
      <p:sp>
        <p:nvSpPr>
          <p:cNvPr id="8" name="Text Box 20"/>
          <p:cNvSpPr txBox="1">
            <a:spLocks noChangeArrowheads="1"/>
          </p:cNvSpPr>
          <p:nvPr/>
        </p:nvSpPr>
        <p:spPr bwMode="auto">
          <a:xfrm>
            <a:off x="4121937" y="2972720"/>
            <a:ext cx="7620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de-DE" altLang="zh-CN" b="1" dirty="0"/>
              <a:t>v</a:t>
            </a:r>
            <a:r>
              <a:rPr lang="de-DE" altLang="zh-CN" b="1" dirty="0">
                <a:sym typeface="Symbol" panose="05050102010706020507" pitchFamily="18" charset="2"/>
              </a:rPr>
              <a:t></a:t>
            </a:r>
            <a:r>
              <a:rPr lang="de-DE" altLang="zh-CN" b="1" dirty="0"/>
              <a:t>V </a:t>
            </a:r>
          </a:p>
        </p:txBody>
      </p:sp>
      <p:sp>
        <p:nvSpPr>
          <p:cNvPr id="9" name="Text Box 20"/>
          <p:cNvSpPr txBox="1">
            <a:spLocks noChangeArrowheads="1"/>
          </p:cNvSpPr>
          <p:nvPr/>
        </p:nvSpPr>
        <p:spPr bwMode="auto">
          <a:xfrm>
            <a:off x="5899612" y="3950620"/>
            <a:ext cx="7620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de-DE" altLang="zh-CN" b="1" dirty="0"/>
              <a:t>v</a:t>
            </a:r>
            <a:r>
              <a:rPr lang="de-DE" altLang="zh-CN" b="1" dirty="0">
                <a:sym typeface="Symbol" panose="05050102010706020507" pitchFamily="18" charset="2"/>
              </a:rPr>
              <a:t></a:t>
            </a:r>
            <a:r>
              <a:rPr lang="de-DE" altLang="zh-CN" b="1" dirty="0"/>
              <a:t>V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125F0C2-6E73-14A8-12FD-33202028CD50}"/>
              </a:ext>
            </a:extLst>
          </p:cNvPr>
          <p:cNvSpPr txBox="1"/>
          <p:nvPr/>
        </p:nvSpPr>
        <p:spPr>
          <a:xfrm>
            <a:off x="380724" y="299408"/>
            <a:ext cx="6090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Ford-Fulkerson</a:t>
            </a:r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算法</a:t>
            </a:r>
            <a:r>
              <a:rPr lang="en-US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:</a:t>
            </a:r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流的值</a:t>
            </a:r>
          </a:p>
        </p:txBody>
      </p:sp>
      <p:sp>
        <p:nvSpPr>
          <p:cNvPr id="3" name="圆角矩形 8">
            <a:extLst>
              <a:ext uri="{FF2B5EF4-FFF2-40B4-BE49-F238E27FC236}">
                <a16:creationId xmlns:a16="http://schemas.microsoft.com/office/drawing/2014/main" id="{AA59A30B-0697-134C-CECB-0A322EA20BBD}"/>
              </a:ext>
            </a:extLst>
          </p:cNvPr>
          <p:cNvSpPr/>
          <p:nvPr/>
        </p:nvSpPr>
        <p:spPr>
          <a:xfrm>
            <a:off x="238663" y="311105"/>
            <a:ext cx="6232131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52476EE-01EE-5F63-6EFB-1D98BA89BF53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8623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83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583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583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583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2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968690615"/>
              </p:ext>
            </p:extLst>
          </p:nvPr>
        </p:nvGraphicFramePr>
        <p:xfrm>
          <a:off x="2059781" y="1670951"/>
          <a:ext cx="8072437" cy="446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6732122" imgH="3724290" progId="Word.Document.8">
                  <p:embed/>
                </p:oleObj>
              </mc:Choice>
              <mc:Fallback>
                <p:oleObj name="文档" r:id="rId2" imgW="6732122" imgH="3724290" progId="Word.Document.8">
                  <p:embed/>
                  <p:pic>
                    <p:nvPicPr>
                      <p:cNvPr id="1945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9781" y="1670951"/>
                        <a:ext cx="8072437" cy="4465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5BC41ED9-C287-9EA2-FEF8-06836D48F696}"/>
              </a:ext>
            </a:extLst>
          </p:cNvPr>
          <p:cNvSpPr txBox="1"/>
          <p:nvPr/>
        </p:nvSpPr>
        <p:spPr>
          <a:xfrm>
            <a:off x="380724" y="299408"/>
            <a:ext cx="46444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Ford-Fulkerson</a:t>
            </a:r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算法</a:t>
            </a:r>
          </a:p>
        </p:txBody>
      </p:sp>
      <p:sp>
        <p:nvSpPr>
          <p:cNvPr id="3" name="圆角矩形 8">
            <a:extLst>
              <a:ext uri="{FF2B5EF4-FFF2-40B4-BE49-F238E27FC236}">
                <a16:creationId xmlns:a16="http://schemas.microsoft.com/office/drawing/2014/main" id="{093568EB-EF3D-764D-4AE2-924A0701B259}"/>
              </a:ext>
            </a:extLst>
          </p:cNvPr>
          <p:cNvSpPr/>
          <p:nvPr/>
        </p:nvSpPr>
        <p:spPr>
          <a:xfrm>
            <a:off x="238664" y="311105"/>
            <a:ext cx="4644422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818739D-004C-DA27-5A14-AE3FFC689BBC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34303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Oval 3"/>
          <p:cNvSpPr>
            <a:spLocks noChangeArrowheads="1"/>
          </p:cNvSpPr>
          <p:nvPr/>
        </p:nvSpPr>
        <p:spPr bwMode="auto">
          <a:xfrm>
            <a:off x="1944688" y="2859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0484" name="Oval 4"/>
          <p:cNvSpPr>
            <a:spLocks noChangeArrowheads="1"/>
          </p:cNvSpPr>
          <p:nvPr/>
        </p:nvSpPr>
        <p:spPr bwMode="auto">
          <a:xfrm>
            <a:off x="5373688" y="2859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0485" name="Oval 5"/>
          <p:cNvSpPr>
            <a:spLocks noChangeArrowheads="1"/>
          </p:cNvSpPr>
          <p:nvPr/>
        </p:nvSpPr>
        <p:spPr bwMode="auto">
          <a:xfrm>
            <a:off x="3087688" y="2097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0486" name="Oval 6"/>
          <p:cNvSpPr>
            <a:spLocks noChangeArrowheads="1"/>
          </p:cNvSpPr>
          <p:nvPr/>
        </p:nvSpPr>
        <p:spPr bwMode="auto">
          <a:xfrm>
            <a:off x="3087688" y="3621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0487" name="Oval 7"/>
          <p:cNvSpPr>
            <a:spLocks noChangeArrowheads="1"/>
          </p:cNvSpPr>
          <p:nvPr/>
        </p:nvSpPr>
        <p:spPr bwMode="auto">
          <a:xfrm>
            <a:off x="4230688" y="20589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0488" name="Oval 8"/>
          <p:cNvSpPr>
            <a:spLocks noChangeArrowheads="1"/>
          </p:cNvSpPr>
          <p:nvPr/>
        </p:nvSpPr>
        <p:spPr bwMode="auto">
          <a:xfrm>
            <a:off x="4230688" y="3621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0489" name="Line 9"/>
          <p:cNvSpPr>
            <a:spLocks noChangeShapeType="1"/>
          </p:cNvSpPr>
          <p:nvPr/>
        </p:nvSpPr>
        <p:spPr bwMode="auto">
          <a:xfrm>
            <a:off x="3506788" y="2287588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0490" name="Line 10"/>
          <p:cNvSpPr>
            <a:spLocks noChangeShapeType="1"/>
          </p:cNvSpPr>
          <p:nvPr/>
        </p:nvSpPr>
        <p:spPr bwMode="auto">
          <a:xfrm>
            <a:off x="3506788" y="3811588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0491" name="Line 11"/>
          <p:cNvSpPr>
            <a:spLocks noChangeShapeType="1"/>
          </p:cNvSpPr>
          <p:nvPr/>
        </p:nvSpPr>
        <p:spPr bwMode="auto">
          <a:xfrm flipV="1">
            <a:off x="2133601" y="2362200"/>
            <a:ext cx="989013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2" name="Line 12"/>
          <p:cNvSpPr>
            <a:spLocks noChangeShapeType="1"/>
          </p:cNvSpPr>
          <p:nvPr/>
        </p:nvSpPr>
        <p:spPr bwMode="auto">
          <a:xfrm>
            <a:off x="2135188" y="3201988"/>
            <a:ext cx="9144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3" name="Line 13"/>
          <p:cNvSpPr>
            <a:spLocks noChangeShapeType="1"/>
          </p:cNvSpPr>
          <p:nvPr/>
        </p:nvSpPr>
        <p:spPr bwMode="auto">
          <a:xfrm>
            <a:off x="3201988" y="2439988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4" name="Line 14"/>
          <p:cNvSpPr>
            <a:spLocks noChangeShapeType="1"/>
          </p:cNvSpPr>
          <p:nvPr/>
        </p:nvSpPr>
        <p:spPr bwMode="auto">
          <a:xfrm flipV="1">
            <a:off x="3354388" y="2439988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5" name="Line 15"/>
          <p:cNvSpPr>
            <a:spLocks noChangeShapeType="1"/>
          </p:cNvSpPr>
          <p:nvPr/>
        </p:nvSpPr>
        <p:spPr bwMode="auto">
          <a:xfrm flipV="1">
            <a:off x="4421188" y="2439988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6" name="Line 16"/>
          <p:cNvSpPr>
            <a:spLocks noChangeShapeType="1"/>
          </p:cNvSpPr>
          <p:nvPr/>
        </p:nvSpPr>
        <p:spPr bwMode="auto">
          <a:xfrm flipH="1">
            <a:off x="3430588" y="2439988"/>
            <a:ext cx="91440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7" name="Line 17"/>
          <p:cNvSpPr>
            <a:spLocks noChangeShapeType="1"/>
          </p:cNvSpPr>
          <p:nvPr/>
        </p:nvSpPr>
        <p:spPr bwMode="auto">
          <a:xfrm>
            <a:off x="4573588" y="2363788"/>
            <a:ext cx="8382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8" name="Line 18"/>
          <p:cNvSpPr>
            <a:spLocks noChangeShapeType="1"/>
          </p:cNvSpPr>
          <p:nvPr/>
        </p:nvSpPr>
        <p:spPr bwMode="auto">
          <a:xfrm flipV="1">
            <a:off x="4649788" y="3201988"/>
            <a:ext cx="7620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9" name="Text Box 19"/>
          <p:cNvSpPr txBox="1">
            <a:spLocks noChangeArrowheads="1"/>
          </p:cNvSpPr>
          <p:nvPr/>
        </p:nvSpPr>
        <p:spPr bwMode="auto">
          <a:xfrm rot="16251548">
            <a:off x="2734469" y="2674144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solidFill>
                  <a:srgbClr val="FF3300"/>
                </a:solidFill>
                <a:latin typeface="Times New Roman" panose="02020603050405020304" pitchFamily="18" charset="0"/>
              </a:rPr>
              <a:t>0</a:t>
            </a:r>
            <a:r>
              <a:rPr lang="de-DE" altLang="zh-CN" b="1">
                <a:latin typeface="Times New Roman" panose="02020603050405020304" pitchFamily="18" charset="0"/>
              </a:rPr>
              <a:t>/10</a:t>
            </a:r>
          </a:p>
        </p:txBody>
      </p:sp>
      <p:sp>
        <p:nvSpPr>
          <p:cNvPr id="20500" name="Text Box 20"/>
          <p:cNvSpPr txBox="1">
            <a:spLocks noChangeArrowheads="1"/>
          </p:cNvSpPr>
          <p:nvPr/>
        </p:nvSpPr>
        <p:spPr bwMode="auto">
          <a:xfrm rot="1671448">
            <a:off x="2279650" y="3579813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solidFill>
                  <a:srgbClr val="FF3300"/>
                </a:solidFill>
                <a:latin typeface="Times New Roman" panose="02020603050405020304" pitchFamily="18" charset="0"/>
              </a:rPr>
              <a:t>0</a:t>
            </a:r>
            <a:r>
              <a:rPr lang="de-DE" altLang="zh-CN" b="1">
                <a:latin typeface="Times New Roman" panose="02020603050405020304" pitchFamily="18" charset="0"/>
              </a:rPr>
              <a:t>/13</a:t>
            </a:r>
          </a:p>
        </p:txBody>
      </p:sp>
      <p:sp>
        <p:nvSpPr>
          <p:cNvPr id="20501" name="Text Box 21"/>
          <p:cNvSpPr txBox="1">
            <a:spLocks noChangeArrowheads="1"/>
          </p:cNvSpPr>
          <p:nvPr/>
        </p:nvSpPr>
        <p:spPr bwMode="auto">
          <a:xfrm>
            <a:off x="3659188" y="201453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solidFill>
                  <a:srgbClr val="FF3300"/>
                </a:solidFill>
                <a:latin typeface="Times New Roman" panose="02020603050405020304" pitchFamily="18" charset="0"/>
              </a:rPr>
              <a:t>0</a:t>
            </a:r>
            <a:r>
              <a:rPr lang="de-DE" altLang="zh-CN" b="1">
                <a:latin typeface="Times New Roman" panose="02020603050405020304" pitchFamily="18" charset="0"/>
              </a:rPr>
              <a:t>/12</a:t>
            </a:r>
          </a:p>
        </p:txBody>
      </p:sp>
      <p:sp>
        <p:nvSpPr>
          <p:cNvPr id="20502" name="Text Box 22"/>
          <p:cNvSpPr txBox="1">
            <a:spLocks noChangeArrowheads="1"/>
          </p:cNvSpPr>
          <p:nvPr/>
        </p:nvSpPr>
        <p:spPr bwMode="auto">
          <a:xfrm rot="19986914">
            <a:off x="2378075" y="2284413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solidFill>
                  <a:srgbClr val="FF3300"/>
                </a:solidFill>
                <a:latin typeface="Times New Roman" panose="02020603050405020304" pitchFamily="18" charset="0"/>
              </a:rPr>
              <a:t>0</a:t>
            </a:r>
            <a:r>
              <a:rPr lang="de-DE" altLang="zh-CN" b="1">
                <a:latin typeface="Times New Roman" panose="02020603050405020304" pitchFamily="18" charset="0"/>
              </a:rPr>
              <a:t>/16</a:t>
            </a:r>
          </a:p>
        </p:txBody>
      </p:sp>
      <p:sp>
        <p:nvSpPr>
          <p:cNvPr id="20503" name="Text Box 23"/>
          <p:cNvSpPr txBox="1">
            <a:spLocks noChangeArrowheads="1"/>
          </p:cNvSpPr>
          <p:nvPr/>
        </p:nvSpPr>
        <p:spPr bwMode="auto">
          <a:xfrm rot="16251548">
            <a:off x="3193257" y="2672557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solidFill>
                  <a:srgbClr val="FF3300"/>
                </a:solidFill>
                <a:latin typeface="Times New Roman" panose="02020603050405020304" pitchFamily="18" charset="0"/>
              </a:rPr>
              <a:t>0</a:t>
            </a:r>
            <a:r>
              <a:rPr lang="de-DE" altLang="zh-CN" b="1">
                <a:latin typeface="Times New Roman" panose="02020603050405020304" pitchFamily="18" charset="0"/>
              </a:rPr>
              <a:t>/4</a:t>
            </a:r>
          </a:p>
        </p:txBody>
      </p:sp>
      <p:sp>
        <p:nvSpPr>
          <p:cNvPr id="20504" name="Text Box 24"/>
          <p:cNvSpPr txBox="1">
            <a:spLocks noChangeArrowheads="1"/>
          </p:cNvSpPr>
          <p:nvPr/>
        </p:nvSpPr>
        <p:spPr bwMode="auto">
          <a:xfrm rot="19479436">
            <a:off x="4886325" y="3351213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solidFill>
                  <a:srgbClr val="FF3300"/>
                </a:solidFill>
                <a:latin typeface="Times New Roman" panose="02020603050405020304" pitchFamily="18" charset="0"/>
              </a:rPr>
              <a:t>0</a:t>
            </a:r>
            <a:r>
              <a:rPr lang="de-DE" altLang="zh-CN" b="1">
                <a:latin typeface="Times New Roman" panose="02020603050405020304" pitchFamily="18" charset="0"/>
              </a:rPr>
              <a:t>/4</a:t>
            </a:r>
          </a:p>
        </p:txBody>
      </p:sp>
      <p:sp>
        <p:nvSpPr>
          <p:cNvPr id="20505" name="Text Box 25"/>
          <p:cNvSpPr txBox="1">
            <a:spLocks noChangeArrowheads="1"/>
          </p:cNvSpPr>
          <p:nvPr/>
        </p:nvSpPr>
        <p:spPr bwMode="auto">
          <a:xfrm>
            <a:off x="3582988" y="381158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solidFill>
                  <a:srgbClr val="FF3300"/>
                </a:solidFill>
                <a:latin typeface="Times New Roman" panose="02020603050405020304" pitchFamily="18" charset="0"/>
              </a:rPr>
              <a:t> 0</a:t>
            </a:r>
            <a:r>
              <a:rPr lang="de-DE" altLang="zh-CN" b="1">
                <a:latin typeface="Times New Roman" panose="02020603050405020304" pitchFamily="18" charset="0"/>
              </a:rPr>
              <a:t>/14</a:t>
            </a:r>
          </a:p>
        </p:txBody>
      </p:sp>
      <p:sp>
        <p:nvSpPr>
          <p:cNvPr id="20506" name="Text Box 26"/>
          <p:cNvSpPr txBox="1">
            <a:spLocks noChangeArrowheads="1"/>
          </p:cNvSpPr>
          <p:nvPr/>
        </p:nvSpPr>
        <p:spPr bwMode="auto">
          <a:xfrm rot="1953558">
            <a:off x="4794250" y="2360613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solidFill>
                  <a:srgbClr val="FF3300"/>
                </a:solidFill>
                <a:latin typeface="Times New Roman" panose="02020603050405020304" pitchFamily="18" charset="0"/>
              </a:rPr>
              <a:t>0</a:t>
            </a:r>
            <a:r>
              <a:rPr lang="de-DE" altLang="zh-CN" b="1">
                <a:latin typeface="Times New Roman" panose="02020603050405020304" pitchFamily="18" charset="0"/>
              </a:rPr>
              <a:t>/20</a:t>
            </a:r>
          </a:p>
        </p:txBody>
      </p:sp>
      <p:sp>
        <p:nvSpPr>
          <p:cNvPr id="20507" name="Text Box 27"/>
          <p:cNvSpPr txBox="1">
            <a:spLocks noChangeArrowheads="1"/>
          </p:cNvSpPr>
          <p:nvPr/>
        </p:nvSpPr>
        <p:spPr bwMode="auto">
          <a:xfrm rot="16251548">
            <a:off x="4261644" y="2674144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20508" name="Text Box 28"/>
          <p:cNvSpPr txBox="1">
            <a:spLocks noChangeArrowheads="1"/>
          </p:cNvSpPr>
          <p:nvPr/>
        </p:nvSpPr>
        <p:spPr bwMode="auto">
          <a:xfrm rot="18444138">
            <a:off x="3801269" y="2912269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solidFill>
                  <a:srgbClr val="FF3300"/>
                </a:solidFill>
                <a:latin typeface="Times New Roman" panose="02020603050405020304" pitchFamily="18" charset="0"/>
              </a:rPr>
              <a:t>0</a:t>
            </a:r>
            <a:r>
              <a:rPr lang="de-DE" altLang="zh-CN" b="1">
                <a:latin typeface="Times New Roman" panose="02020603050405020304" pitchFamily="18" charset="0"/>
              </a:rPr>
              <a:t>/9</a:t>
            </a:r>
          </a:p>
        </p:txBody>
      </p:sp>
      <p:sp>
        <p:nvSpPr>
          <p:cNvPr id="20509" name="Text Box 30"/>
          <p:cNvSpPr txBox="1">
            <a:spLocks noChangeArrowheads="1"/>
          </p:cNvSpPr>
          <p:nvPr/>
        </p:nvSpPr>
        <p:spPr bwMode="auto">
          <a:xfrm>
            <a:off x="2362200" y="1447801"/>
            <a:ext cx="2743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 dirty="0">
                <a:cs typeface="Times New Roman" panose="02020603050405020304" pitchFamily="18" charset="0"/>
              </a:rPr>
              <a:t>流网络</a:t>
            </a:r>
            <a:endParaRPr lang="de-DE" altLang="zh-CN" sz="2800" b="1" dirty="0"/>
          </a:p>
        </p:txBody>
      </p:sp>
      <p:graphicFrame>
        <p:nvGraphicFramePr>
          <p:cNvPr id="20482" name="Object 2"/>
          <p:cNvGraphicFramePr>
            <a:graphicFrameLocks noChangeAspect="1"/>
          </p:cNvGraphicFramePr>
          <p:nvPr/>
        </p:nvGraphicFramePr>
        <p:xfrm>
          <a:off x="5891214" y="1676400"/>
          <a:ext cx="4776787" cy="367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kument" r:id="rId2" imgW="4516120" imgH="3467100" progId="Word.Document.8">
                  <p:embed/>
                </p:oleObj>
              </mc:Choice>
              <mc:Fallback>
                <p:oleObj name="Dokument" r:id="rId2" imgW="4516120" imgH="3467100" progId="Word.Document.8">
                  <p:embed/>
                  <p:pic>
                    <p:nvPicPr>
                      <p:cNvPr id="2048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1214" y="1676400"/>
                        <a:ext cx="4776787" cy="367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B209D5F6-CD55-338E-2753-F3FD56AB587A}"/>
              </a:ext>
            </a:extLst>
          </p:cNvPr>
          <p:cNvSpPr txBox="1"/>
          <p:nvPr/>
        </p:nvSpPr>
        <p:spPr>
          <a:xfrm>
            <a:off x="380724" y="299408"/>
            <a:ext cx="5943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Ford-Fulkerson</a:t>
            </a:r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算法（示例）</a:t>
            </a:r>
          </a:p>
        </p:txBody>
      </p:sp>
      <p:sp>
        <p:nvSpPr>
          <p:cNvPr id="3" name="圆角矩形 8">
            <a:extLst>
              <a:ext uri="{FF2B5EF4-FFF2-40B4-BE49-F238E27FC236}">
                <a16:creationId xmlns:a16="http://schemas.microsoft.com/office/drawing/2014/main" id="{DF70775E-5A25-B983-1E5E-1F137AE54231}"/>
              </a:ext>
            </a:extLst>
          </p:cNvPr>
          <p:cNvSpPr/>
          <p:nvPr/>
        </p:nvSpPr>
        <p:spPr>
          <a:xfrm>
            <a:off x="238663" y="311105"/>
            <a:ext cx="6232131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EEA1FFC-ADFD-82F8-AEAD-A126AC3300A2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E5C6734-2EB9-516A-943B-74633B8E1B80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36287122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7" name="组合 30"/>
          <p:cNvGrpSpPr>
            <a:grpSpLocks/>
          </p:cNvGrpSpPr>
          <p:nvPr/>
        </p:nvGrpSpPr>
        <p:grpSpPr bwMode="auto">
          <a:xfrm>
            <a:off x="1944688" y="2014538"/>
            <a:ext cx="3810000" cy="2163762"/>
            <a:chOff x="420688" y="2014538"/>
            <a:chExt cx="3810000" cy="2163208"/>
          </a:xfrm>
        </p:grpSpPr>
        <p:sp>
          <p:nvSpPr>
            <p:cNvPr id="21511" name="Oval 3"/>
            <p:cNvSpPr>
              <a:spLocks noChangeArrowheads="1"/>
            </p:cNvSpPr>
            <p:nvPr/>
          </p:nvSpPr>
          <p:spPr bwMode="auto">
            <a:xfrm>
              <a:off x="420688" y="2859088"/>
              <a:ext cx="381000" cy="381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de-DE" altLang="zh-CN" b="1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21512" name="Oval 4"/>
            <p:cNvSpPr>
              <a:spLocks noChangeArrowheads="1"/>
            </p:cNvSpPr>
            <p:nvPr/>
          </p:nvSpPr>
          <p:spPr bwMode="auto">
            <a:xfrm>
              <a:off x="3849688" y="2859088"/>
              <a:ext cx="381000" cy="381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de-DE" altLang="zh-CN" b="1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21513" name="Oval 5"/>
            <p:cNvSpPr>
              <a:spLocks noChangeArrowheads="1"/>
            </p:cNvSpPr>
            <p:nvPr/>
          </p:nvSpPr>
          <p:spPr bwMode="auto">
            <a:xfrm>
              <a:off x="1563688" y="2097088"/>
              <a:ext cx="381000" cy="381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de-DE" altLang="zh-CN" b="1">
                  <a:latin typeface="Times New Roman" panose="02020603050405020304" pitchFamily="18" charset="0"/>
                </a:rPr>
                <a:t>v</a:t>
              </a:r>
              <a:r>
                <a:rPr lang="de-DE" altLang="zh-CN" b="1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1514" name="Oval 6"/>
            <p:cNvSpPr>
              <a:spLocks noChangeArrowheads="1"/>
            </p:cNvSpPr>
            <p:nvPr/>
          </p:nvSpPr>
          <p:spPr bwMode="auto">
            <a:xfrm>
              <a:off x="1563688" y="3621088"/>
              <a:ext cx="381000" cy="381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de-DE" altLang="zh-CN" b="1">
                  <a:latin typeface="Times New Roman" panose="02020603050405020304" pitchFamily="18" charset="0"/>
                </a:rPr>
                <a:t>v</a:t>
              </a:r>
              <a:r>
                <a:rPr lang="de-DE" altLang="zh-CN" b="1" baseline="-25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1515" name="Oval 7"/>
            <p:cNvSpPr>
              <a:spLocks noChangeArrowheads="1"/>
            </p:cNvSpPr>
            <p:nvPr/>
          </p:nvSpPr>
          <p:spPr bwMode="auto">
            <a:xfrm>
              <a:off x="2706688" y="2058988"/>
              <a:ext cx="381000" cy="381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de-DE" altLang="zh-CN" b="1">
                  <a:latin typeface="Times New Roman" panose="02020603050405020304" pitchFamily="18" charset="0"/>
                </a:rPr>
                <a:t>v</a:t>
              </a:r>
              <a:r>
                <a:rPr lang="de-DE" altLang="zh-CN" b="1" baseline="-250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1516" name="Oval 8"/>
            <p:cNvSpPr>
              <a:spLocks noChangeArrowheads="1"/>
            </p:cNvSpPr>
            <p:nvPr/>
          </p:nvSpPr>
          <p:spPr bwMode="auto">
            <a:xfrm>
              <a:off x="2706688" y="3621088"/>
              <a:ext cx="381000" cy="381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de-DE" altLang="zh-CN" b="1">
                  <a:latin typeface="Times New Roman" panose="02020603050405020304" pitchFamily="18" charset="0"/>
                </a:rPr>
                <a:t>v</a:t>
              </a:r>
              <a:r>
                <a:rPr lang="de-DE" altLang="zh-CN" b="1" baseline="-250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1517" name="Line 9"/>
            <p:cNvSpPr>
              <a:spLocks noChangeShapeType="1"/>
            </p:cNvSpPr>
            <p:nvPr/>
          </p:nvSpPr>
          <p:spPr bwMode="auto">
            <a:xfrm>
              <a:off x="1982788" y="2287588"/>
              <a:ext cx="762000" cy="0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18" name="Line 10"/>
            <p:cNvSpPr>
              <a:spLocks noChangeShapeType="1"/>
            </p:cNvSpPr>
            <p:nvPr/>
          </p:nvSpPr>
          <p:spPr bwMode="auto">
            <a:xfrm>
              <a:off x="1982788" y="3811588"/>
              <a:ext cx="762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19" name="Line 11"/>
            <p:cNvSpPr>
              <a:spLocks noChangeShapeType="1"/>
            </p:cNvSpPr>
            <p:nvPr/>
          </p:nvSpPr>
          <p:spPr bwMode="auto">
            <a:xfrm flipV="1">
              <a:off x="609600" y="2362200"/>
              <a:ext cx="989013" cy="533400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20" name="Line 12"/>
            <p:cNvSpPr>
              <a:spLocks noChangeShapeType="1"/>
            </p:cNvSpPr>
            <p:nvPr/>
          </p:nvSpPr>
          <p:spPr bwMode="auto">
            <a:xfrm>
              <a:off x="611188" y="3201988"/>
              <a:ext cx="914400" cy="5334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21" name="Line 13"/>
            <p:cNvSpPr>
              <a:spLocks noChangeShapeType="1"/>
            </p:cNvSpPr>
            <p:nvPr/>
          </p:nvSpPr>
          <p:spPr bwMode="auto">
            <a:xfrm>
              <a:off x="1677988" y="2439988"/>
              <a:ext cx="0" cy="1219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22" name="Line 14"/>
            <p:cNvSpPr>
              <a:spLocks noChangeShapeType="1"/>
            </p:cNvSpPr>
            <p:nvPr/>
          </p:nvSpPr>
          <p:spPr bwMode="auto">
            <a:xfrm flipV="1">
              <a:off x="1830388" y="2439988"/>
              <a:ext cx="0" cy="1219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23" name="Line 15"/>
            <p:cNvSpPr>
              <a:spLocks noChangeShapeType="1"/>
            </p:cNvSpPr>
            <p:nvPr/>
          </p:nvSpPr>
          <p:spPr bwMode="auto">
            <a:xfrm flipV="1">
              <a:off x="2897188" y="2439988"/>
              <a:ext cx="0" cy="1219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24" name="Line 16"/>
            <p:cNvSpPr>
              <a:spLocks noChangeShapeType="1"/>
            </p:cNvSpPr>
            <p:nvPr/>
          </p:nvSpPr>
          <p:spPr bwMode="auto">
            <a:xfrm flipH="1">
              <a:off x="1906588" y="2439988"/>
              <a:ext cx="914400" cy="1219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25" name="Line 17"/>
            <p:cNvSpPr>
              <a:spLocks noChangeShapeType="1"/>
            </p:cNvSpPr>
            <p:nvPr/>
          </p:nvSpPr>
          <p:spPr bwMode="auto">
            <a:xfrm>
              <a:off x="3049588" y="2363788"/>
              <a:ext cx="838200" cy="533400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26" name="Line 18"/>
            <p:cNvSpPr>
              <a:spLocks noChangeShapeType="1"/>
            </p:cNvSpPr>
            <p:nvPr/>
          </p:nvSpPr>
          <p:spPr bwMode="auto">
            <a:xfrm flipV="1">
              <a:off x="3125788" y="3201988"/>
              <a:ext cx="762000" cy="5334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27" name="Text Box 19"/>
            <p:cNvSpPr txBox="1">
              <a:spLocks noChangeArrowheads="1"/>
            </p:cNvSpPr>
            <p:nvPr/>
          </p:nvSpPr>
          <p:spPr bwMode="auto">
            <a:xfrm rot="-5348452">
              <a:off x="1196975" y="2672834"/>
              <a:ext cx="6858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b="1"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21528" name="Text Box 20"/>
            <p:cNvSpPr txBox="1">
              <a:spLocks noChangeArrowheads="1"/>
            </p:cNvSpPr>
            <p:nvPr/>
          </p:nvSpPr>
          <p:spPr bwMode="auto">
            <a:xfrm rot="1671448">
              <a:off x="763588" y="3566715"/>
              <a:ext cx="685800" cy="366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b="1">
                  <a:latin typeface="Times New Roman" panose="02020603050405020304" pitchFamily="18" charset="0"/>
                </a:rPr>
                <a:t>13</a:t>
              </a:r>
            </a:p>
          </p:txBody>
        </p:sp>
        <p:sp>
          <p:nvSpPr>
            <p:cNvPr id="21529" name="Text Box 21"/>
            <p:cNvSpPr txBox="1">
              <a:spLocks noChangeArrowheads="1"/>
            </p:cNvSpPr>
            <p:nvPr/>
          </p:nvSpPr>
          <p:spPr bwMode="auto">
            <a:xfrm>
              <a:off x="2135188" y="2014538"/>
              <a:ext cx="685800" cy="366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b="1">
                  <a:latin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21530" name="Text Box 22"/>
            <p:cNvSpPr txBox="1">
              <a:spLocks noChangeArrowheads="1"/>
            </p:cNvSpPr>
            <p:nvPr/>
          </p:nvSpPr>
          <p:spPr bwMode="auto">
            <a:xfrm rot="-1613086">
              <a:off x="847725" y="2269609"/>
              <a:ext cx="6858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b="1">
                  <a:latin typeface="Times New Roman" panose="02020603050405020304" pitchFamily="18" charset="0"/>
                </a:rPr>
                <a:t>16</a:t>
              </a:r>
            </a:p>
          </p:txBody>
        </p:sp>
        <p:sp>
          <p:nvSpPr>
            <p:cNvPr id="21531" name="Text Box 23"/>
            <p:cNvSpPr txBox="1">
              <a:spLocks noChangeArrowheads="1"/>
            </p:cNvSpPr>
            <p:nvPr/>
          </p:nvSpPr>
          <p:spPr bwMode="auto">
            <a:xfrm rot="-5348452">
              <a:off x="1654175" y="2672834"/>
              <a:ext cx="6858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b="1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1532" name="Text Box 24"/>
            <p:cNvSpPr txBox="1">
              <a:spLocks noChangeArrowheads="1"/>
            </p:cNvSpPr>
            <p:nvPr/>
          </p:nvSpPr>
          <p:spPr bwMode="auto">
            <a:xfrm rot="-2120564">
              <a:off x="3354388" y="3338174"/>
              <a:ext cx="685800" cy="366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b="1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1533" name="Text Box 25"/>
            <p:cNvSpPr txBox="1">
              <a:spLocks noChangeArrowheads="1"/>
            </p:cNvSpPr>
            <p:nvPr/>
          </p:nvSpPr>
          <p:spPr bwMode="auto">
            <a:xfrm>
              <a:off x="2058988" y="3811127"/>
              <a:ext cx="685800" cy="3666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b="1">
                  <a:latin typeface="Times New Roman" panose="02020603050405020304" pitchFamily="18" charset="0"/>
                </a:rPr>
                <a:t> 14</a:t>
              </a:r>
            </a:p>
          </p:txBody>
        </p:sp>
        <p:sp>
          <p:nvSpPr>
            <p:cNvPr id="21534" name="Text Box 26"/>
            <p:cNvSpPr txBox="1">
              <a:spLocks noChangeArrowheads="1"/>
            </p:cNvSpPr>
            <p:nvPr/>
          </p:nvSpPr>
          <p:spPr bwMode="auto">
            <a:xfrm rot="1953558">
              <a:off x="3278188" y="2347397"/>
              <a:ext cx="6858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b="1">
                  <a:latin typeface="Times New Roman" panose="02020603050405020304" pitchFamily="18" charset="0"/>
                </a:rPr>
                <a:t>20</a:t>
              </a:r>
            </a:p>
          </p:txBody>
        </p:sp>
        <p:sp>
          <p:nvSpPr>
            <p:cNvPr id="21535" name="Text Box 27"/>
            <p:cNvSpPr txBox="1">
              <a:spLocks noChangeArrowheads="1"/>
            </p:cNvSpPr>
            <p:nvPr/>
          </p:nvSpPr>
          <p:spPr bwMode="auto">
            <a:xfrm rot="-5348452">
              <a:off x="2722563" y="2674422"/>
              <a:ext cx="6858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b="1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21536" name="Text Box 28"/>
            <p:cNvSpPr txBox="1">
              <a:spLocks noChangeArrowheads="1"/>
            </p:cNvSpPr>
            <p:nvPr/>
          </p:nvSpPr>
          <p:spPr bwMode="auto">
            <a:xfrm rot="-3155862">
              <a:off x="2265363" y="2903022"/>
              <a:ext cx="6858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b="1">
                  <a:latin typeface="Times New Roman" panose="02020603050405020304" pitchFamily="18" charset="0"/>
                </a:rPr>
                <a:t>9</a:t>
              </a:r>
            </a:p>
          </p:txBody>
        </p:sp>
      </p:grpSp>
      <p:graphicFrame>
        <p:nvGraphicFramePr>
          <p:cNvPr id="21506" name="Object 2"/>
          <p:cNvGraphicFramePr>
            <a:graphicFrameLocks noChangeAspect="1"/>
          </p:cNvGraphicFramePr>
          <p:nvPr/>
        </p:nvGraphicFramePr>
        <p:xfrm>
          <a:off x="5835650" y="1676401"/>
          <a:ext cx="4832350" cy="371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kument" r:id="rId2" imgW="4516120" imgH="3467100" progId="Word.Document.8">
                  <p:embed/>
                </p:oleObj>
              </mc:Choice>
              <mc:Fallback>
                <p:oleObj name="Dokument" r:id="rId2" imgW="4516120" imgH="3467100" progId="Word.Document.8">
                  <p:embed/>
                  <p:pic>
                    <p:nvPicPr>
                      <p:cNvPr id="2150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5650" y="1676401"/>
                        <a:ext cx="4832350" cy="371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9" name="Text Box 30"/>
          <p:cNvSpPr txBox="1">
            <a:spLocks noChangeArrowheads="1"/>
          </p:cNvSpPr>
          <p:nvPr/>
        </p:nvSpPr>
        <p:spPr bwMode="auto">
          <a:xfrm>
            <a:off x="2362200" y="1447801"/>
            <a:ext cx="2743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剩余网络</a:t>
            </a:r>
            <a:endParaRPr lang="de-DE" altLang="zh-CN" sz="2800" b="1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38626D0-A13E-5A06-36DC-026A17BCF989}"/>
              </a:ext>
            </a:extLst>
          </p:cNvPr>
          <p:cNvSpPr txBox="1"/>
          <p:nvPr/>
        </p:nvSpPr>
        <p:spPr>
          <a:xfrm>
            <a:off x="380724" y="299408"/>
            <a:ext cx="5943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Ford-Fulkerson</a:t>
            </a:r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算法（示例）</a:t>
            </a:r>
          </a:p>
        </p:txBody>
      </p:sp>
      <p:sp>
        <p:nvSpPr>
          <p:cNvPr id="3" name="圆角矩形 8">
            <a:extLst>
              <a:ext uri="{FF2B5EF4-FFF2-40B4-BE49-F238E27FC236}">
                <a16:creationId xmlns:a16="http://schemas.microsoft.com/office/drawing/2014/main" id="{B620AF53-EBBA-5DFE-F6F1-BC69FB240781}"/>
              </a:ext>
            </a:extLst>
          </p:cNvPr>
          <p:cNvSpPr/>
          <p:nvPr/>
        </p:nvSpPr>
        <p:spPr>
          <a:xfrm>
            <a:off x="238663" y="311105"/>
            <a:ext cx="6232131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8483EFC-617B-DA8D-2E0B-627E4BC886B2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F0B0F64-17F4-6516-5C81-B9383709B4BA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5256631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Oval 3"/>
          <p:cNvSpPr>
            <a:spLocks noChangeArrowheads="1"/>
          </p:cNvSpPr>
          <p:nvPr/>
        </p:nvSpPr>
        <p:spPr bwMode="auto">
          <a:xfrm>
            <a:off x="1944688" y="2859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2532" name="Oval 4"/>
          <p:cNvSpPr>
            <a:spLocks noChangeArrowheads="1"/>
          </p:cNvSpPr>
          <p:nvPr/>
        </p:nvSpPr>
        <p:spPr bwMode="auto">
          <a:xfrm>
            <a:off x="5373688" y="2859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2533" name="Oval 5"/>
          <p:cNvSpPr>
            <a:spLocks noChangeArrowheads="1"/>
          </p:cNvSpPr>
          <p:nvPr/>
        </p:nvSpPr>
        <p:spPr bwMode="auto">
          <a:xfrm>
            <a:off x="3087688" y="2097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2534" name="Oval 6"/>
          <p:cNvSpPr>
            <a:spLocks noChangeArrowheads="1"/>
          </p:cNvSpPr>
          <p:nvPr/>
        </p:nvSpPr>
        <p:spPr bwMode="auto">
          <a:xfrm>
            <a:off x="3087688" y="3621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2535" name="Oval 7"/>
          <p:cNvSpPr>
            <a:spLocks noChangeArrowheads="1"/>
          </p:cNvSpPr>
          <p:nvPr/>
        </p:nvSpPr>
        <p:spPr bwMode="auto">
          <a:xfrm>
            <a:off x="4230688" y="20589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2536" name="Oval 8"/>
          <p:cNvSpPr>
            <a:spLocks noChangeArrowheads="1"/>
          </p:cNvSpPr>
          <p:nvPr/>
        </p:nvSpPr>
        <p:spPr bwMode="auto">
          <a:xfrm>
            <a:off x="4230688" y="3621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2537" name="Line 9"/>
          <p:cNvSpPr>
            <a:spLocks noChangeShapeType="1"/>
          </p:cNvSpPr>
          <p:nvPr/>
        </p:nvSpPr>
        <p:spPr bwMode="auto">
          <a:xfrm>
            <a:off x="3506788" y="2287588"/>
            <a:ext cx="762000" cy="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2538" name="Line 10"/>
          <p:cNvSpPr>
            <a:spLocks noChangeShapeType="1"/>
          </p:cNvSpPr>
          <p:nvPr/>
        </p:nvSpPr>
        <p:spPr bwMode="auto">
          <a:xfrm>
            <a:off x="3506788" y="3811588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2539" name="Line 11"/>
          <p:cNvSpPr>
            <a:spLocks noChangeShapeType="1"/>
          </p:cNvSpPr>
          <p:nvPr/>
        </p:nvSpPr>
        <p:spPr bwMode="auto">
          <a:xfrm flipV="1">
            <a:off x="2133601" y="2362200"/>
            <a:ext cx="989013" cy="533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0" name="Line 12"/>
          <p:cNvSpPr>
            <a:spLocks noChangeShapeType="1"/>
          </p:cNvSpPr>
          <p:nvPr/>
        </p:nvSpPr>
        <p:spPr bwMode="auto">
          <a:xfrm>
            <a:off x="2135188" y="3201988"/>
            <a:ext cx="9144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1" name="Line 13"/>
          <p:cNvSpPr>
            <a:spLocks noChangeShapeType="1"/>
          </p:cNvSpPr>
          <p:nvPr/>
        </p:nvSpPr>
        <p:spPr bwMode="auto">
          <a:xfrm>
            <a:off x="3201988" y="2439988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2" name="Line 14"/>
          <p:cNvSpPr>
            <a:spLocks noChangeShapeType="1"/>
          </p:cNvSpPr>
          <p:nvPr/>
        </p:nvSpPr>
        <p:spPr bwMode="auto">
          <a:xfrm flipV="1">
            <a:off x="3354388" y="2439988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3" name="Line 15"/>
          <p:cNvSpPr>
            <a:spLocks noChangeShapeType="1"/>
          </p:cNvSpPr>
          <p:nvPr/>
        </p:nvSpPr>
        <p:spPr bwMode="auto">
          <a:xfrm flipV="1">
            <a:off x="4421188" y="2439988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4" name="Line 16"/>
          <p:cNvSpPr>
            <a:spLocks noChangeShapeType="1"/>
          </p:cNvSpPr>
          <p:nvPr/>
        </p:nvSpPr>
        <p:spPr bwMode="auto">
          <a:xfrm flipH="1">
            <a:off x="3430588" y="2439988"/>
            <a:ext cx="91440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5" name="Line 17"/>
          <p:cNvSpPr>
            <a:spLocks noChangeShapeType="1"/>
          </p:cNvSpPr>
          <p:nvPr/>
        </p:nvSpPr>
        <p:spPr bwMode="auto">
          <a:xfrm>
            <a:off x="4573588" y="2363788"/>
            <a:ext cx="838200" cy="533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6" name="Line 18"/>
          <p:cNvSpPr>
            <a:spLocks noChangeShapeType="1"/>
          </p:cNvSpPr>
          <p:nvPr/>
        </p:nvSpPr>
        <p:spPr bwMode="auto">
          <a:xfrm flipV="1">
            <a:off x="4649788" y="3201988"/>
            <a:ext cx="7620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7" name="Text Box 19"/>
          <p:cNvSpPr txBox="1">
            <a:spLocks noChangeArrowheads="1"/>
          </p:cNvSpPr>
          <p:nvPr/>
        </p:nvSpPr>
        <p:spPr bwMode="auto">
          <a:xfrm rot="16251548">
            <a:off x="2734469" y="2674144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22548" name="Text Box 20"/>
          <p:cNvSpPr txBox="1">
            <a:spLocks noChangeArrowheads="1"/>
          </p:cNvSpPr>
          <p:nvPr/>
        </p:nvSpPr>
        <p:spPr bwMode="auto">
          <a:xfrm rot="1671448">
            <a:off x="2279650" y="3579813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13</a:t>
            </a:r>
          </a:p>
        </p:txBody>
      </p:sp>
      <p:sp>
        <p:nvSpPr>
          <p:cNvPr id="22549" name="Text Box 21"/>
          <p:cNvSpPr txBox="1">
            <a:spLocks noChangeArrowheads="1"/>
          </p:cNvSpPr>
          <p:nvPr/>
        </p:nvSpPr>
        <p:spPr bwMode="auto">
          <a:xfrm>
            <a:off x="3657600" y="1981201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solidFill>
                  <a:srgbClr val="FF3300"/>
                </a:solidFill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22550" name="Text Box 22"/>
          <p:cNvSpPr txBox="1">
            <a:spLocks noChangeArrowheads="1"/>
          </p:cNvSpPr>
          <p:nvPr/>
        </p:nvSpPr>
        <p:spPr bwMode="auto">
          <a:xfrm rot="19986914">
            <a:off x="2378075" y="2284413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16</a:t>
            </a:r>
          </a:p>
        </p:txBody>
      </p:sp>
      <p:sp>
        <p:nvSpPr>
          <p:cNvPr id="22551" name="Text Box 23"/>
          <p:cNvSpPr txBox="1">
            <a:spLocks noChangeArrowheads="1"/>
          </p:cNvSpPr>
          <p:nvPr/>
        </p:nvSpPr>
        <p:spPr bwMode="auto">
          <a:xfrm rot="16251548">
            <a:off x="3193257" y="2672557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2552" name="Text Box 24"/>
          <p:cNvSpPr txBox="1">
            <a:spLocks noChangeArrowheads="1"/>
          </p:cNvSpPr>
          <p:nvPr/>
        </p:nvSpPr>
        <p:spPr bwMode="auto">
          <a:xfrm rot="19479436">
            <a:off x="4886325" y="3351213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2553" name="Text Box 25"/>
          <p:cNvSpPr txBox="1">
            <a:spLocks noChangeArrowheads="1"/>
          </p:cNvSpPr>
          <p:nvPr/>
        </p:nvSpPr>
        <p:spPr bwMode="auto">
          <a:xfrm>
            <a:off x="3582988" y="381158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 14</a:t>
            </a:r>
          </a:p>
        </p:txBody>
      </p:sp>
      <p:sp>
        <p:nvSpPr>
          <p:cNvPr id="22554" name="Text Box 26"/>
          <p:cNvSpPr txBox="1">
            <a:spLocks noChangeArrowheads="1"/>
          </p:cNvSpPr>
          <p:nvPr/>
        </p:nvSpPr>
        <p:spPr bwMode="auto">
          <a:xfrm rot="1953558">
            <a:off x="4794250" y="2360613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22555" name="Text Box 27"/>
          <p:cNvSpPr txBox="1">
            <a:spLocks noChangeArrowheads="1"/>
          </p:cNvSpPr>
          <p:nvPr/>
        </p:nvSpPr>
        <p:spPr bwMode="auto">
          <a:xfrm rot="16251548">
            <a:off x="4261644" y="2674144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22556" name="Text Box 28"/>
          <p:cNvSpPr txBox="1">
            <a:spLocks noChangeArrowheads="1"/>
          </p:cNvSpPr>
          <p:nvPr/>
        </p:nvSpPr>
        <p:spPr bwMode="auto">
          <a:xfrm rot="18444138">
            <a:off x="3801269" y="2912269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22557" name="Text Box 31"/>
          <p:cNvSpPr txBox="1">
            <a:spLocks noChangeArrowheads="1"/>
          </p:cNvSpPr>
          <p:nvPr/>
        </p:nvSpPr>
        <p:spPr bwMode="auto">
          <a:xfrm>
            <a:off x="6324600" y="5257801"/>
            <a:ext cx="36576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GB" altLang="zh-CN" sz="2400" b="1" dirty="0">
                <a:latin typeface="+mn-lt"/>
              </a:rPr>
              <a:t>temporary variable:</a:t>
            </a:r>
          </a:p>
          <a:p>
            <a:pPr eaLnBrk="1" hangingPunct="1"/>
            <a:r>
              <a:rPr lang="en-GB" altLang="zh-CN" sz="2400" b="1" dirty="0" err="1">
                <a:solidFill>
                  <a:srgbClr val="FF3300"/>
                </a:solidFill>
                <a:latin typeface="+mn-lt"/>
              </a:rPr>
              <a:t>c</a:t>
            </a:r>
            <a:r>
              <a:rPr lang="en-GB" altLang="zh-CN" sz="2400" b="1" baseline="-25000" dirty="0" err="1">
                <a:solidFill>
                  <a:srgbClr val="FF3300"/>
                </a:solidFill>
                <a:latin typeface="+mn-lt"/>
              </a:rPr>
              <a:t>f</a:t>
            </a:r>
            <a:r>
              <a:rPr lang="en-GB" altLang="zh-CN" sz="2400" b="1" dirty="0">
                <a:solidFill>
                  <a:srgbClr val="FF3300"/>
                </a:solidFill>
                <a:latin typeface="+mn-lt"/>
              </a:rPr>
              <a:t> (p) = 12</a:t>
            </a:r>
            <a:endParaRPr lang="de-DE" altLang="zh-CN" sz="2400" b="1" dirty="0">
              <a:solidFill>
                <a:srgbClr val="FF3300"/>
              </a:solidFill>
              <a:latin typeface="+mn-lt"/>
            </a:endParaRPr>
          </a:p>
        </p:txBody>
      </p:sp>
      <p:graphicFrame>
        <p:nvGraphicFramePr>
          <p:cNvPr id="22530" name="Object 2"/>
          <p:cNvGraphicFramePr>
            <a:graphicFrameLocks noChangeAspect="1"/>
          </p:cNvGraphicFramePr>
          <p:nvPr/>
        </p:nvGraphicFramePr>
        <p:xfrm>
          <a:off x="5754688" y="1681164"/>
          <a:ext cx="4832350" cy="371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kument" r:id="rId2" imgW="4516120" imgH="3467100" progId="Word.Document.8">
                  <p:embed/>
                </p:oleObj>
              </mc:Choice>
              <mc:Fallback>
                <p:oleObj name="Dokument" r:id="rId2" imgW="4516120" imgH="3467100" progId="Word.Document.8">
                  <p:embed/>
                  <p:pic>
                    <p:nvPicPr>
                      <p:cNvPr id="2253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4688" y="1681164"/>
                        <a:ext cx="4832350" cy="371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59" name="Text Box 29"/>
          <p:cNvSpPr txBox="1">
            <a:spLocks noChangeArrowheads="1"/>
          </p:cNvSpPr>
          <p:nvPr/>
        </p:nvSpPr>
        <p:spPr bwMode="auto">
          <a:xfrm>
            <a:off x="1524000" y="1676401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GB" altLang="zh-CN" sz="2000" b="1" dirty="0">
                <a:latin typeface="+mn-lt"/>
                <a:cs typeface="Times New Roman" panose="02020603050405020304" pitchFamily="18" charset="0"/>
              </a:rPr>
              <a:t>residual network G</a:t>
            </a:r>
            <a:r>
              <a:rPr lang="en-GB" altLang="zh-CN" sz="2000" b="1" baseline="-30000" dirty="0">
                <a:latin typeface="+mn-lt"/>
                <a:cs typeface="Times New Roman" panose="02020603050405020304" pitchFamily="18" charset="0"/>
              </a:rPr>
              <a:t>f</a:t>
            </a:r>
            <a:r>
              <a:rPr lang="de-DE" altLang="zh-CN" b="1" dirty="0">
                <a:latin typeface="+mn-lt"/>
              </a:rPr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9537AD4-2DCE-297F-7E09-D1E893CAB0A3}"/>
              </a:ext>
            </a:extLst>
          </p:cNvPr>
          <p:cNvSpPr txBox="1"/>
          <p:nvPr/>
        </p:nvSpPr>
        <p:spPr>
          <a:xfrm>
            <a:off x="380724" y="299408"/>
            <a:ext cx="5943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Ford-Fulkerson</a:t>
            </a:r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算法（示例）</a:t>
            </a:r>
          </a:p>
        </p:txBody>
      </p:sp>
      <p:sp>
        <p:nvSpPr>
          <p:cNvPr id="3" name="圆角矩形 8">
            <a:extLst>
              <a:ext uri="{FF2B5EF4-FFF2-40B4-BE49-F238E27FC236}">
                <a16:creationId xmlns:a16="http://schemas.microsoft.com/office/drawing/2014/main" id="{4C35A37D-7704-3E2F-E68C-3123A7D8F184}"/>
              </a:ext>
            </a:extLst>
          </p:cNvPr>
          <p:cNvSpPr/>
          <p:nvPr/>
        </p:nvSpPr>
        <p:spPr>
          <a:xfrm>
            <a:off x="238663" y="311105"/>
            <a:ext cx="6232131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35A56BB-47A1-543D-8604-637C9770A957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1204CE3-86C9-994D-2526-8B28911CFED7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4876249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Oval 3"/>
          <p:cNvSpPr>
            <a:spLocks noChangeArrowheads="1"/>
          </p:cNvSpPr>
          <p:nvPr/>
        </p:nvSpPr>
        <p:spPr bwMode="auto">
          <a:xfrm>
            <a:off x="1894255" y="2376489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3556" name="Oval 4"/>
          <p:cNvSpPr>
            <a:spLocks noChangeArrowheads="1"/>
          </p:cNvSpPr>
          <p:nvPr/>
        </p:nvSpPr>
        <p:spPr bwMode="auto">
          <a:xfrm>
            <a:off x="5323255" y="2376489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3557" name="Oval 5"/>
          <p:cNvSpPr>
            <a:spLocks noChangeArrowheads="1"/>
          </p:cNvSpPr>
          <p:nvPr/>
        </p:nvSpPr>
        <p:spPr bwMode="auto">
          <a:xfrm>
            <a:off x="3037255" y="1614489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3558" name="Oval 6"/>
          <p:cNvSpPr>
            <a:spLocks noChangeArrowheads="1"/>
          </p:cNvSpPr>
          <p:nvPr/>
        </p:nvSpPr>
        <p:spPr bwMode="auto">
          <a:xfrm>
            <a:off x="3037255" y="3138489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3559" name="Oval 7"/>
          <p:cNvSpPr>
            <a:spLocks noChangeArrowheads="1"/>
          </p:cNvSpPr>
          <p:nvPr/>
        </p:nvSpPr>
        <p:spPr bwMode="auto">
          <a:xfrm>
            <a:off x="4180255" y="1576389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3560" name="Oval 8"/>
          <p:cNvSpPr>
            <a:spLocks noChangeArrowheads="1"/>
          </p:cNvSpPr>
          <p:nvPr/>
        </p:nvSpPr>
        <p:spPr bwMode="auto">
          <a:xfrm>
            <a:off x="4180255" y="3138489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3561" name="Line 9"/>
          <p:cNvSpPr>
            <a:spLocks noChangeShapeType="1"/>
          </p:cNvSpPr>
          <p:nvPr/>
        </p:nvSpPr>
        <p:spPr bwMode="auto">
          <a:xfrm>
            <a:off x="3456355" y="1804989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3562" name="Line 10"/>
          <p:cNvSpPr>
            <a:spLocks noChangeShapeType="1"/>
          </p:cNvSpPr>
          <p:nvPr/>
        </p:nvSpPr>
        <p:spPr bwMode="auto">
          <a:xfrm>
            <a:off x="3456355" y="3328989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3563" name="Line 11"/>
          <p:cNvSpPr>
            <a:spLocks noChangeShapeType="1"/>
          </p:cNvSpPr>
          <p:nvPr/>
        </p:nvSpPr>
        <p:spPr bwMode="auto">
          <a:xfrm flipV="1">
            <a:off x="2083168" y="1879601"/>
            <a:ext cx="989013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4" name="Line 12"/>
          <p:cNvSpPr>
            <a:spLocks noChangeShapeType="1"/>
          </p:cNvSpPr>
          <p:nvPr/>
        </p:nvSpPr>
        <p:spPr bwMode="auto">
          <a:xfrm>
            <a:off x="2084755" y="2719389"/>
            <a:ext cx="9144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5" name="Line 13"/>
          <p:cNvSpPr>
            <a:spLocks noChangeShapeType="1"/>
          </p:cNvSpPr>
          <p:nvPr/>
        </p:nvSpPr>
        <p:spPr bwMode="auto">
          <a:xfrm>
            <a:off x="3151555" y="1957389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6" name="Line 14"/>
          <p:cNvSpPr>
            <a:spLocks noChangeShapeType="1"/>
          </p:cNvSpPr>
          <p:nvPr/>
        </p:nvSpPr>
        <p:spPr bwMode="auto">
          <a:xfrm flipV="1">
            <a:off x="3303955" y="1957389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7" name="Line 15"/>
          <p:cNvSpPr>
            <a:spLocks noChangeShapeType="1"/>
          </p:cNvSpPr>
          <p:nvPr/>
        </p:nvSpPr>
        <p:spPr bwMode="auto">
          <a:xfrm flipV="1">
            <a:off x="4370755" y="1957389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8" name="Line 16"/>
          <p:cNvSpPr>
            <a:spLocks noChangeShapeType="1"/>
          </p:cNvSpPr>
          <p:nvPr/>
        </p:nvSpPr>
        <p:spPr bwMode="auto">
          <a:xfrm flipH="1">
            <a:off x="3380155" y="1957389"/>
            <a:ext cx="91440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9" name="Line 17"/>
          <p:cNvSpPr>
            <a:spLocks noChangeShapeType="1"/>
          </p:cNvSpPr>
          <p:nvPr/>
        </p:nvSpPr>
        <p:spPr bwMode="auto">
          <a:xfrm>
            <a:off x="4523155" y="1881189"/>
            <a:ext cx="8382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0" name="Line 18"/>
          <p:cNvSpPr>
            <a:spLocks noChangeShapeType="1"/>
          </p:cNvSpPr>
          <p:nvPr/>
        </p:nvSpPr>
        <p:spPr bwMode="auto">
          <a:xfrm flipV="1">
            <a:off x="4599355" y="2719389"/>
            <a:ext cx="7620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1" name="Text Box 19"/>
          <p:cNvSpPr txBox="1">
            <a:spLocks noChangeArrowheads="1"/>
          </p:cNvSpPr>
          <p:nvPr/>
        </p:nvSpPr>
        <p:spPr bwMode="auto">
          <a:xfrm rot="16251548">
            <a:off x="2684036" y="2191545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23572" name="Text Box 20"/>
          <p:cNvSpPr txBox="1">
            <a:spLocks noChangeArrowheads="1"/>
          </p:cNvSpPr>
          <p:nvPr/>
        </p:nvSpPr>
        <p:spPr bwMode="auto">
          <a:xfrm rot="1671448">
            <a:off x="2229217" y="3097214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13</a:t>
            </a:r>
          </a:p>
        </p:txBody>
      </p:sp>
      <p:sp>
        <p:nvSpPr>
          <p:cNvPr id="23573" name="Text Box 21"/>
          <p:cNvSpPr txBox="1">
            <a:spLocks noChangeArrowheads="1"/>
          </p:cNvSpPr>
          <p:nvPr/>
        </p:nvSpPr>
        <p:spPr bwMode="auto">
          <a:xfrm>
            <a:off x="3608755" y="1531939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23574" name="Text Box 22"/>
          <p:cNvSpPr txBox="1">
            <a:spLocks noChangeArrowheads="1"/>
          </p:cNvSpPr>
          <p:nvPr/>
        </p:nvSpPr>
        <p:spPr bwMode="auto">
          <a:xfrm rot="19986914">
            <a:off x="2326055" y="1800227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16</a:t>
            </a:r>
          </a:p>
        </p:txBody>
      </p:sp>
      <p:sp>
        <p:nvSpPr>
          <p:cNvPr id="23575" name="Text Box 23"/>
          <p:cNvSpPr txBox="1">
            <a:spLocks noChangeArrowheads="1"/>
          </p:cNvSpPr>
          <p:nvPr/>
        </p:nvSpPr>
        <p:spPr bwMode="auto">
          <a:xfrm rot="16251548">
            <a:off x="3142824" y="2188370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3576" name="Text Box 24"/>
          <p:cNvSpPr txBox="1">
            <a:spLocks noChangeArrowheads="1"/>
          </p:cNvSpPr>
          <p:nvPr/>
        </p:nvSpPr>
        <p:spPr bwMode="auto">
          <a:xfrm rot="19479436">
            <a:off x="4834305" y="2867027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3577" name="Text Box 25"/>
          <p:cNvSpPr txBox="1">
            <a:spLocks noChangeArrowheads="1"/>
          </p:cNvSpPr>
          <p:nvPr/>
        </p:nvSpPr>
        <p:spPr bwMode="auto">
          <a:xfrm>
            <a:off x="3532555" y="3328989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 14</a:t>
            </a:r>
          </a:p>
        </p:txBody>
      </p:sp>
      <p:sp>
        <p:nvSpPr>
          <p:cNvPr id="23578" name="Text Box 26"/>
          <p:cNvSpPr txBox="1">
            <a:spLocks noChangeArrowheads="1"/>
          </p:cNvSpPr>
          <p:nvPr/>
        </p:nvSpPr>
        <p:spPr bwMode="auto">
          <a:xfrm rot="1953558">
            <a:off x="4742230" y="1878014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23579" name="Text Box 27"/>
          <p:cNvSpPr txBox="1">
            <a:spLocks noChangeArrowheads="1"/>
          </p:cNvSpPr>
          <p:nvPr/>
        </p:nvSpPr>
        <p:spPr bwMode="auto">
          <a:xfrm rot="16251548">
            <a:off x="4211211" y="218995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23580" name="Text Box 28"/>
          <p:cNvSpPr txBox="1">
            <a:spLocks noChangeArrowheads="1"/>
          </p:cNvSpPr>
          <p:nvPr/>
        </p:nvSpPr>
        <p:spPr bwMode="auto">
          <a:xfrm rot="18444138">
            <a:off x="3750836" y="2428083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23581" name="Text Box 31"/>
          <p:cNvSpPr txBox="1">
            <a:spLocks noChangeArrowheads="1"/>
          </p:cNvSpPr>
          <p:nvPr/>
        </p:nvSpPr>
        <p:spPr bwMode="auto">
          <a:xfrm>
            <a:off x="6400800" y="5105401"/>
            <a:ext cx="3352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GB" altLang="zh-CN" sz="2400" b="1">
                <a:latin typeface="+mn-lt"/>
                <a:cs typeface="Times New Roman" panose="02020603050405020304" pitchFamily="18" charset="0"/>
              </a:rPr>
              <a:t>temporary variable:</a:t>
            </a:r>
          </a:p>
          <a:p>
            <a:pPr eaLnBrk="1" hangingPunct="1"/>
            <a:r>
              <a:rPr lang="en-GB" altLang="zh-CN" sz="2400" b="1">
                <a:solidFill>
                  <a:srgbClr val="FF3300"/>
                </a:solidFill>
                <a:latin typeface="+mn-lt"/>
                <a:cs typeface="Times New Roman" panose="02020603050405020304" pitchFamily="18" charset="0"/>
              </a:rPr>
              <a:t>c</a:t>
            </a:r>
            <a:r>
              <a:rPr lang="en-GB" altLang="zh-CN" sz="2400" b="1" baseline="-30000">
                <a:solidFill>
                  <a:srgbClr val="FF3300"/>
                </a:solidFill>
                <a:latin typeface="+mn-lt"/>
                <a:cs typeface="Times New Roman" panose="02020603050405020304" pitchFamily="18" charset="0"/>
              </a:rPr>
              <a:t>f </a:t>
            </a:r>
            <a:r>
              <a:rPr lang="en-GB" altLang="zh-CN" sz="2400" b="1">
                <a:solidFill>
                  <a:srgbClr val="FF3300"/>
                </a:solidFill>
                <a:latin typeface="+mn-lt"/>
                <a:cs typeface="Times New Roman" panose="02020603050405020304" pitchFamily="18" charset="0"/>
              </a:rPr>
              <a:t>(p) = 12</a:t>
            </a:r>
            <a:endParaRPr lang="de-DE" altLang="zh-CN" sz="2400" b="1">
              <a:solidFill>
                <a:srgbClr val="FF330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3582" name="Oval 32"/>
          <p:cNvSpPr>
            <a:spLocks noChangeArrowheads="1"/>
          </p:cNvSpPr>
          <p:nvPr/>
        </p:nvSpPr>
        <p:spPr bwMode="auto">
          <a:xfrm>
            <a:off x="1944688" y="5410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3583" name="Oval 33"/>
          <p:cNvSpPr>
            <a:spLocks noChangeArrowheads="1"/>
          </p:cNvSpPr>
          <p:nvPr/>
        </p:nvSpPr>
        <p:spPr bwMode="auto">
          <a:xfrm>
            <a:off x="5373688" y="5410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3584" name="Oval 34"/>
          <p:cNvSpPr>
            <a:spLocks noChangeArrowheads="1"/>
          </p:cNvSpPr>
          <p:nvPr/>
        </p:nvSpPr>
        <p:spPr bwMode="auto">
          <a:xfrm>
            <a:off x="3087688" y="4648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3585" name="Oval 35"/>
          <p:cNvSpPr>
            <a:spLocks noChangeArrowheads="1"/>
          </p:cNvSpPr>
          <p:nvPr/>
        </p:nvSpPr>
        <p:spPr bwMode="auto">
          <a:xfrm>
            <a:off x="3087688" y="6172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3586" name="Oval 36"/>
          <p:cNvSpPr>
            <a:spLocks noChangeArrowheads="1"/>
          </p:cNvSpPr>
          <p:nvPr/>
        </p:nvSpPr>
        <p:spPr bwMode="auto">
          <a:xfrm>
            <a:off x="4230688" y="46101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3587" name="Oval 37"/>
          <p:cNvSpPr>
            <a:spLocks noChangeArrowheads="1"/>
          </p:cNvSpPr>
          <p:nvPr/>
        </p:nvSpPr>
        <p:spPr bwMode="auto">
          <a:xfrm>
            <a:off x="4267200" y="6172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3588" name="Line 38"/>
          <p:cNvSpPr>
            <a:spLocks noChangeShapeType="1"/>
          </p:cNvSpPr>
          <p:nvPr/>
        </p:nvSpPr>
        <p:spPr bwMode="auto">
          <a:xfrm>
            <a:off x="3506788" y="4838700"/>
            <a:ext cx="762000" cy="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3589" name="Line 39"/>
          <p:cNvSpPr>
            <a:spLocks noChangeShapeType="1"/>
          </p:cNvSpPr>
          <p:nvPr/>
        </p:nvSpPr>
        <p:spPr bwMode="auto">
          <a:xfrm>
            <a:off x="3506788" y="63627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3590" name="Line 40"/>
          <p:cNvSpPr>
            <a:spLocks noChangeShapeType="1"/>
          </p:cNvSpPr>
          <p:nvPr/>
        </p:nvSpPr>
        <p:spPr bwMode="auto">
          <a:xfrm flipV="1">
            <a:off x="2133601" y="4913313"/>
            <a:ext cx="989013" cy="533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91" name="Line 41"/>
          <p:cNvSpPr>
            <a:spLocks noChangeShapeType="1"/>
          </p:cNvSpPr>
          <p:nvPr/>
        </p:nvSpPr>
        <p:spPr bwMode="auto">
          <a:xfrm>
            <a:off x="2135188" y="5753100"/>
            <a:ext cx="9144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92" name="Line 42"/>
          <p:cNvSpPr>
            <a:spLocks noChangeShapeType="1"/>
          </p:cNvSpPr>
          <p:nvPr/>
        </p:nvSpPr>
        <p:spPr bwMode="auto">
          <a:xfrm>
            <a:off x="3201988" y="4991100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93" name="Line 43"/>
          <p:cNvSpPr>
            <a:spLocks noChangeShapeType="1"/>
          </p:cNvSpPr>
          <p:nvPr/>
        </p:nvSpPr>
        <p:spPr bwMode="auto">
          <a:xfrm flipV="1">
            <a:off x="3354388" y="4991100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94" name="Line 44"/>
          <p:cNvSpPr>
            <a:spLocks noChangeShapeType="1"/>
          </p:cNvSpPr>
          <p:nvPr/>
        </p:nvSpPr>
        <p:spPr bwMode="auto">
          <a:xfrm flipV="1">
            <a:off x="4421188" y="4991100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95" name="Line 45"/>
          <p:cNvSpPr>
            <a:spLocks noChangeShapeType="1"/>
          </p:cNvSpPr>
          <p:nvPr/>
        </p:nvSpPr>
        <p:spPr bwMode="auto">
          <a:xfrm flipH="1">
            <a:off x="3430588" y="4991100"/>
            <a:ext cx="91440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96" name="Line 46"/>
          <p:cNvSpPr>
            <a:spLocks noChangeShapeType="1"/>
          </p:cNvSpPr>
          <p:nvPr/>
        </p:nvSpPr>
        <p:spPr bwMode="auto">
          <a:xfrm>
            <a:off x="4573588" y="4914900"/>
            <a:ext cx="838200" cy="533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97" name="Line 47"/>
          <p:cNvSpPr>
            <a:spLocks noChangeShapeType="1"/>
          </p:cNvSpPr>
          <p:nvPr/>
        </p:nvSpPr>
        <p:spPr bwMode="auto">
          <a:xfrm flipV="1">
            <a:off x="4649788" y="5753100"/>
            <a:ext cx="7620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98" name="Text Box 48"/>
          <p:cNvSpPr txBox="1">
            <a:spLocks noChangeArrowheads="1"/>
          </p:cNvSpPr>
          <p:nvPr/>
        </p:nvSpPr>
        <p:spPr bwMode="auto">
          <a:xfrm rot="16251548">
            <a:off x="2732882" y="5225257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23599" name="Text Box 49"/>
          <p:cNvSpPr txBox="1">
            <a:spLocks noChangeArrowheads="1"/>
          </p:cNvSpPr>
          <p:nvPr/>
        </p:nvSpPr>
        <p:spPr bwMode="auto">
          <a:xfrm rot="1671448">
            <a:off x="2279650" y="61309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13</a:t>
            </a:r>
          </a:p>
        </p:txBody>
      </p:sp>
      <p:sp>
        <p:nvSpPr>
          <p:cNvPr id="23600" name="Text Box 50"/>
          <p:cNvSpPr txBox="1">
            <a:spLocks noChangeArrowheads="1"/>
          </p:cNvSpPr>
          <p:nvPr/>
        </p:nvSpPr>
        <p:spPr bwMode="auto">
          <a:xfrm>
            <a:off x="3505200" y="4454526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12/12</a:t>
            </a:r>
          </a:p>
        </p:txBody>
      </p:sp>
      <p:sp>
        <p:nvSpPr>
          <p:cNvPr id="23601" name="Text Box 51"/>
          <p:cNvSpPr txBox="1">
            <a:spLocks noChangeArrowheads="1"/>
          </p:cNvSpPr>
          <p:nvPr/>
        </p:nvSpPr>
        <p:spPr bwMode="auto">
          <a:xfrm rot="19986914">
            <a:off x="2230438" y="4819651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12/16</a:t>
            </a:r>
          </a:p>
        </p:txBody>
      </p:sp>
      <p:sp>
        <p:nvSpPr>
          <p:cNvPr id="23602" name="Text Box 52"/>
          <p:cNvSpPr txBox="1">
            <a:spLocks noChangeArrowheads="1"/>
          </p:cNvSpPr>
          <p:nvPr/>
        </p:nvSpPr>
        <p:spPr bwMode="auto">
          <a:xfrm rot="16251548">
            <a:off x="3191669" y="5225257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3603" name="Text Box 53"/>
          <p:cNvSpPr txBox="1">
            <a:spLocks noChangeArrowheads="1"/>
          </p:cNvSpPr>
          <p:nvPr/>
        </p:nvSpPr>
        <p:spPr bwMode="auto">
          <a:xfrm rot="19479436">
            <a:off x="4884738" y="590073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3604" name="Text Box 54"/>
          <p:cNvSpPr txBox="1">
            <a:spLocks noChangeArrowheads="1"/>
          </p:cNvSpPr>
          <p:nvPr/>
        </p:nvSpPr>
        <p:spPr bwMode="auto">
          <a:xfrm>
            <a:off x="3582988" y="6362701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 14</a:t>
            </a:r>
          </a:p>
        </p:txBody>
      </p:sp>
      <p:sp>
        <p:nvSpPr>
          <p:cNvPr id="23605" name="Text Box 55"/>
          <p:cNvSpPr txBox="1">
            <a:spLocks noChangeArrowheads="1"/>
          </p:cNvSpPr>
          <p:nvPr/>
        </p:nvSpPr>
        <p:spPr bwMode="auto">
          <a:xfrm rot="1953558">
            <a:off x="4772025" y="4972051"/>
            <a:ext cx="920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12/20</a:t>
            </a:r>
          </a:p>
        </p:txBody>
      </p:sp>
      <p:sp>
        <p:nvSpPr>
          <p:cNvPr id="23606" name="Text Box 56"/>
          <p:cNvSpPr txBox="1">
            <a:spLocks noChangeArrowheads="1"/>
          </p:cNvSpPr>
          <p:nvPr/>
        </p:nvSpPr>
        <p:spPr bwMode="auto">
          <a:xfrm rot="16251548">
            <a:off x="4260057" y="5226844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23607" name="Text Box 57"/>
          <p:cNvSpPr txBox="1">
            <a:spLocks noChangeArrowheads="1"/>
          </p:cNvSpPr>
          <p:nvPr/>
        </p:nvSpPr>
        <p:spPr bwMode="auto">
          <a:xfrm rot="18444138">
            <a:off x="3801269" y="5461794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9</a:t>
            </a:r>
          </a:p>
        </p:txBody>
      </p:sp>
      <p:graphicFrame>
        <p:nvGraphicFramePr>
          <p:cNvPr id="23554" name="Object 2"/>
          <p:cNvGraphicFramePr>
            <a:graphicFrameLocks noChangeAspect="1"/>
          </p:cNvGraphicFramePr>
          <p:nvPr/>
        </p:nvGraphicFramePr>
        <p:xfrm>
          <a:off x="5835650" y="1524001"/>
          <a:ext cx="4832350" cy="371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kument" r:id="rId2" imgW="4516120" imgH="3467100" progId="Word.Document.8">
                  <p:embed/>
                </p:oleObj>
              </mc:Choice>
              <mc:Fallback>
                <p:oleObj name="Dokument" r:id="rId2" imgW="4516120" imgH="3467100" progId="Word.Document.8">
                  <p:embed/>
                  <p:pic>
                    <p:nvPicPr>
                      <p:cNvPr id="2355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5650" y="1524001"/>
                        <a:ext cx="4832350" cy="371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09" name="Text Box 29"/>
          <p:cNvSpPr txBox="1">
            <a:spLocks noChangeArrowheads="1"/>
          </p:cNvSpPr>
          <p:nvPr/>
        </p:nvSpPr>
        <p:spPr bwMode="auto">
          <a:xfrm>
            <a:off x="1473567" y="1193802"/>
            <a:ext cx="2514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GB" altLang="zh-CN" b="1" dirty="0">
                <a:latin typeface="+mn-lt"/>
                <a:cs typeface="Times New Roman" panose="02020603050405020304" pitchFamily="18" charset="0"/>
              </a:rPr>
              <a:t>residual network G</a:t>
            </a:r>
            <a:r>
              <a:rPr lang="en-GB" altLang="zh-CN" b="1" baseline="-30000" dirty="0">
                <a:latin typeface="+mn-lt"/>
                <a:cs typeface="Times New Roman" panose="02020603050405020304" pitchFamily="18" charset="0"/>
              </a:rPr>
              <a:t>f</a:t>
            </a:r>
            <a:r>
              <a:rPr lang="de-DE" altLang="zh-CN" b="1" dirty="0">
                <a:latin typeface="+mn-lt"/>
              </a:rPr>
              <a:t> </a:t>
            </a:r>
          </a:p>
        </p:txBody>
      </p:sp>
      <p:sp>
        <p:nvSpPr>
          <p:cNvPr id="23610" name="Text Box 56"/>
          <p:cNvSpPr txBox="1">
            <a:spLocks noChangeArrowheads="1"/>
          </p:cNvSpPr>
          <p:nvPr/>
        </p:nvSpPr>
        <p:spPr bwMode="auto">
          <a:xfrm>
            <a:off x="1524000" y="4210051"/>
            <a:ext cx="228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GB" altLang="zh-CN" b="1">
                <a:latin typeface="+mn-lt"/>
                <a:cs typeface="Times New Roman" panose="02020603050405020304" pitchFamily="18" charset="0"/>
              </a:rPr>
              <a:t>new flow network G</a:t>
            </a:r>
            <a:r>
              <a:rPr lang="de-DE" altLang="zh-CN" b="1">
                <a:latin typeface="+mn-lt"/>
              </a:rPr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08FED05-3889-7774-B947-A5C3882D616C}"/>
              </a:ext>
            </a:extLst>
          </p:cNvPr>
          <p:cNvSpPr txBox="1"/>
          <p:nvPr/>
        </p:nvSpPr>
        <p:spPr>
          <a:xfrm>
            <a:off x="380724" y="299408"/>
            <a:ext cx="5943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Ford-Fulkerson</a:t>
            </a:r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算法（示例）</a:t>
            </a:r>
          </a:p>
        </p:txBody>
      </p:sp>
      <p:sp>
        <p:nvSpPr>
          <p:cNvPr id="3" name="圆角矩形 8">
            <a:extLst>
              <a:ext uri="{FF2B5EF4-FFF2-40B4-BE49-F238E27FC236}">
                <a16:creationId xmlns:a16="http://schemas.microsoft.com/office/drawing/2014/main" id="{81BF322C-95EB-6D4B-56BA-2405EF6D5D1A}"/>
              </a:ext>
            </a:extLst>
          </p:cNvPr>
          <p:cNvSpPr/>
          <p:nvPr/>
        </p:nvSpPr>
        <p:spPr>
          <a:xfrm>
            <a:off x="238663" y="311105"/>
            <a:ext cx="6232131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662F65A-4F27-350C-B7E8-B4E2E53E1683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4515A8A-6941-C143-3561-6DA4142DED94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32273882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Oval 3"/>
          <p:cNvSpPr>
            <a:spLocks noChangeArrowheads="1"/>
          </p:cNvSpPr>
          <p:nvPr/>
        </p:nvSpPr>
        <p:spPr bwMode="auto">
          <a:xfrm>
            <a:off x="1944688" y="2859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4580" name="Oval 4"/>
          <p:cNvSpPr>
            <a:spLocks noChangeArrowheads="1"/>
          </p:cNvSpPr>
          <p:nvPr/>
        </p:nvSpPr>
        <p:spPr bwMode="auto">
          <a:xfrm>
            <a:off x="5373688" y="2859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4581" name="Oval 5"/>
          <p:cNvSpPr>
            <a:spLocks noChangeArrowheads="1"/>
          </p:cNvSpPr>
          <p:nvPr/>
        </p:nvSpPr>
        <p:spPr bwMode="auto">
          <a:xfrm>
            <a:off x="3087688" y="2097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4582" name="Oval 6"/>
          <p:cNvSpPr>
            <a:spLocks noChangeArrowheads="1"/>
          </p:cNvSpPr>
          <p:nvPr/>
        </p:nvSpPr>
        <p:spPr bwMode="auto">
          <a:xfrm>
            <a:off x="3087688" y="3621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4583" name="Oval 7"/>
          <p:cNvSpPr>
            <a:spLocks noChangeArrowheads="1"/>
          </p:cNvSpPr>
          <p:nvPr/>
        </p:nvSpPr>
        <p:spPr bwMode="auto">
          <a:xfrm>
            <a:off x="4230688" y="20589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4584" name="Oval 8"/>
          <p:cNvSpPr>
            <a:spLocks noChangeArrowheads="1"/>
          </p:cNvSpPr>
          <p:nvPr/>
        </p:nvSpPr>
        <p:spPr bwMode="auto">
          <a:xfrm>
            <a:off x="4230688" y="3621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4585" name="Line 9"/>
          <p:cNvSpPr>
            <a:spLocks noChangeShapeType="1"/>
          </p:cNvSpPr>
          <p:nvPr/>
        </p:nvSpPr>
        <p:spPr bwMode="auto">
          <a:xfrm flipH="1">
            <a:off x="3506788" y="2287588"/>
            <a:ext cx="762000" cy="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4586" name="Line 10"/>
          <p:cNvSpPr>
            <a:spLocks noChangeShapeType="1"/>
          </p:cNvSpPr>
          <p:nvPr/>
        </p:nvSpPr>
        <p:spPr bwMode="auto">
          <a:xfrm>
            <a:off x="3506788" y="3811588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4587" name="Line 11"/>
          <p:cNvSpPr>
            <a:spLocks noChangeShapeType="1"/>
          </p:cNvSpPr>
          <p:nvPr/>
        </p:nvSpPr>
        <p:spPr bwMode="auto">
          <a:xfrm flipV="1">
            <a:off x="2133601" y="2362200"/>
            <a:ext cx="989013" cy="533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8" name="Line 12"/>
          <p:cNvSpPr>
            <a:spLocks noChangeShapeType="1"/>
          </p:cNvSpPr>
          <p:nvPr/>
        </p:nvSpPr>
        <p:spPr bwMode="auto">
          <a:xfrm>
            <a:off x="2135188" y="3201988"/>
            <a:ext cx="9144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9" name="Line 13"/>
          <p:cNvSpPr>
            <a:spLocks noChangeShapeType="1"/>
          </p:cNvSpPr>
          <p:nvPr/>
        </p:nvSpPr>
        <p:spPr bwMode="auto">
          <a:xfrm>
            <a:off x="3201988" y="2439988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0" name="Line 14"/>
          <p:cNvSpPr>
            <a:spLocks noChangeShapeType="1"/>
          </p:cNvSpPr>
          <p:nvPr/>
        </p:nvSpPr>
        <p:spPr bwMode="auto">
          <a:xfrm flipV="1">
            <a:off x="3354388" y="2439988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1" name="Line 15"/>
          <p:cNvSpPr>
            <a:spLocks noChangeShapeType="1"/>
          </p:cNvSpPr>
          <p:nvPr/>
        </p:nvSpPr>
        <p:spPr bwMode="auto">
          <a:xfrm flipV="1">
            <a:off x="4421188" y="2439988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2" name="Line 16"/>
          <p:cNvSpPr>
            <a:spLocks noChangeShapeType="1"/>
          </p:cNvSpPr>
          <p:nvPr/>
        </p:nvSpPr>
        <p:spPr bwMode="auto">
          <a:xfrm flipH="1">
            <a:off x="3430588" y="2439988"/>
            <a:ext cx="91440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3" name="Line 17"/>
          <p:cNvSpPr>
            <a:spLocks noChangeShapeType="1"/>
          </p:cNvSpPr>
          <p:nvPr/>
        </p:nvSpPr>
        <p:spPr bwMode="auto">
          <a:xfrm>
            <a:off x="4573588" y="2363788"/>
            <a:ext cx="838200" cy="533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4" name="Line 18"/>
          <p:cNvSpPr>
            <a:spLocks noChangeShapeType="1"/>
          </p:cNvSpPr>
          <p:nvPr/>
        </p:nvSpPr>
        <p:spPr bwMode="auto">
          <a:xfrm flipV="1">
            <a:off x="4649788" y="3201988"/>
            <a:ext cx="7620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5" name="Text Box 19"/>
          <p:cNvSpPr txBox="1">
            <a:spLocks noChangeArrowheads="1"/>
          </p:cNvSpPr>
          <p:nvPr/>
        </p:nvSpPr>
        <p:spPr bwMode="auto">
          <a:xfrm rot="16251548">
            <a:off x="2734469" y="2674144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24596" name="Text Box 20"/>
          <p:cNvSpPr txBox="1">
            <a:spLocks noChangeArrowheads="1"/>
          </p:cNvSpPr>
          <p:nvPr/>
        </p:nvSpPr>
        <p:spPr bwMode="auto">
          <a:xfrm rot="1671448">
            <a:off x="2279650" y="3579813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13</a:t>
            </a:r>
          </a:p>
        </p:txBody>
      </p:sp>
      <p:sp>
        <p:nvSpPr>
          <p:cNvPr id="24597" name="Text Box 21"/>
          <p:cNvSpPr txBox="1">
            <a:spLocks noChangeArrowheads="1"/>
          </p:cNvSpPr>
          <p:nvPr/>
        </p:nvSpPr>
        <p:spPr bwMode="auto">
          <a:xfrm>
            <a:off x="3659188" y="201453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solidFill>
                  <a:srgbClr val="FF3300"/>
                </a:solidFill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24598" name="Text Box 22"/>
          <p:cNvSpPr txBox="1">
            <a:spLocks noChangeArrowheads="1"/>
          </p:cNvSpPr>
          <p:nvPr/>
        </p:nvSpPr>
        <p:spPr bwMode="auto">
          <a:xfrm rot="19986914">
            <a:off x="2376488" y="22828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solidFill>
                  <a:srgbClr val="FF3300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4599" name="Text Box 23"/>
          <p:cNvSpPr txBox="1">
            <a:spLocks noChangeArrowheads="1"/>
          </p:cNvSpPr>
          <p:nvPr/>
        </p:nvSpPr>
        <p:spPr bwMode="auto">
          <a:xfrm rot="16251548">
            <a:off x="3193257" y="2670969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4600" name="Text Box 24"/>
          <p:cNvSpPr txBox="1">
            <a:spLocks noChangeArrowheads="1"/>
          </p:cNvSpPr>
          <p:nvPr/>
        </p:nvSpPr>
        <p:spPr bwMode="auto">
          <a:xfrm rot="19479436">
            <a:off x="4884738" y="33496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4601" name="Text Box 25"/>
          <p:cNvSpPr txBox="1">
            <a:spLocks noChangeArrowheads="1"/>
          </p:cNvSpPr>
          <p:nvPr/>
        </p:nvSpPr>
        <p:spPr bwMode="auto">
          <a:xfrm>
            <a:off x="3582988" y="381158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 14</a:t>
            </a:r>
          </a:p>
        </p:txBody>
      </p:sp>
      <p:sp>
        <p:nvSpPr>
          <p:cNvPr id="24602" name="Text Box 26"/>
          <p:cNvSpPr txBox="1">
            <a:spLocks noChangeArrowheads="1"/>
          </p:cNvSpPr>
          <p:nvPr/>
        </p:nvSpPr>
        <p:spPr bwMode="auto">
          <a:xfrm rot="1953558">
            <a:off x="4792663" y="2360613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solidFill>
                  <a:srgbClr val="FF3300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24603" name="Text Box 27"/>
          <p:cNvSpPr txBox="1">
            <a:spLocks noChangeArrowheads="1"/>
          </p:cNvSpPr>
          <p:nvPr/>
        </p:nvSpPr>
        <p:spPr bwMode="auto">
          <a:xfrm rot="16251548">
            <a:off x="4261644" y="2672557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24604" name="Text Box 28"/>
          <p:cNvSpPr txBox="1">
            <a:spLocks noChangeArrowheads="1"/>
          </p:cNvSpPr>
          <p:nvPr/>
        </p:nvSpPr>
        <p:spPr bwMode="auto">
          <a:xfrm rot="18444138">
            <a:off x="3801269" y="2910682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24605" name="Oval 31"/>
          <p:cNvSpPr>
            <a:spLocks noChangeArrowheads="1"/>
          </p:cNvSpPr>
          <p:nvPr/>
        </p:nvSpPr>
        <p:spPr bwMode="auto">
          <a:xfrm>
            <a:off x="1944688" y="5410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4606" name="Oval 32"/>
          <p:cNvSpPr>
            <a:spLocks noChangeArrowheads="1"/>
          </p:cNvSpPr>
          <p:nvPr/>
        </p:nvSpPr>
        <p:spPr bwMode="auto">
          <a:xfrm>
            <a:off x="5373688" y="5410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4607" name="Oval 33"/>
          <p:cNvSpPr>
            <a:spLocks noChangeArrowheads="1"/>
          </p:cNvSpPr>
          <p:nvPr/>
        </p:nvSpPr>
        <p:spPr bwMode="auto">
          <a:xfrm>
            <a:off x="3087688" y="4648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4608" name="Oval 34"/>
          <p:cNvSpPr>
            <a:spLocks noChangeArrowheads="1"/>
          </p:cNvSpPr>
          <p:nvPr/>
        </p:nvSpPr>
        <p:spPr bwMode="auto">
          <a:xfrm>
            <a:off x="3087688" y="6172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4609" name="Oval 35"/>
          <p:cNvSpPr>
            <a:spLocks noChangeArrowheads="1"/>
          </p:cNvSpPr>
          <p:nvPr/>
        </p:nvSpPr>
        <p:spPr bwMode="auto">
          <a:xfrm>
            <a:off x="4230688" y="46101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4610" name="Oval 36"/>
          <p:cNvSpPr>
            <a:spLocks noChangeArrowheads="1"/>
          </p:cNvSpPr>
          <p:nvPr/>
        </p:nvSpPr>
        <p:spPr bwMode="auto">
          <a:xfrm>
            <a:off x="4230688" y="6172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4611" name="Line 37"/>
          <p:cNvSpPr>
            <a:spLocks noChangeShapeType="1"/>
          </p:cNvSpPr>
          <p:nvPr/>
        </p:nvSpPr>
        <p:spPr bwMode="auto">
          <a:xfrm>
            <a:off x="3506788" y="48387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4612" name="Line 38"/>
          <p:cNvSpPr>
            <a:spLocks noChangeShapeType="1"/>
          </p:cNvSpPr>
          <p:nvPr/>
        </p:nvSpPr>
        <p:spPr bwMode="auto">
          <a:xfrm>
            <a:off x="3506788" y="63627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4613" name="Line 39"/>
          <p:cNvSpPr>
            <a:spLocks noChangeShapeType="1"/>
          </p:cNvSpPr>
          <p:nvPr/>
        </p:nvSpPr>
        <p:spPr bwMode="auto">
          <a:xfrm flipV="1">
            <a:off x="2133601" y="4913313"/>
            <a:ext cx="989013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14" name="Line 40"/>
          <p:cNvSpPr>
            <a:spLocks noChangeShapeType="1"/>
          </p:cNvSpPr>
          <p:nvPr/>
        </p:nvSpPr>
        <p:spPr bwMode="auto">
          <a:xfrm>
            <a:off x="2135188" y="5753100"/>
            <a:ext cx="9144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15" name="Line 41"/>
          <p:cNvSpPr>
            <a:spLocks noChangeShapeType="1"/>
          </p:cNvSpPr>
          <p:nvPr/>
        </p:nvSpPr>
        <p:spPr bwMode="auto">
          <a:xfrm>
            <a:off x="3201988" y="4991100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16" name="Line 42"/>
          <p:cNvSpPr>
            <a:spLocks noChangeShapeType="1"/>
          </p:cNvSpPr>
          <p:nvPr/>
        </p:nvSpPr>
        <p:spPr bwMode="auto">
          <a:xfrm flipV="1">
            <a:off x="3354388" y="4991100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17" name="Line 43"/>
          <p:cNvSpPr>
            <a:spLocks noChangeShapeType="1"/>
          </p:cNvSpPr>
          <p:nvPr/>
        </p:nvSpPr>
        <p:spPr bwMode="auto">
          <a:xfrm flipV="1">
            <a:off x="4421188" y="4991100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18" name="Line 44"/>
          <p:cNvSpPr>
            <a:spLocks noChangeShapeType="1"/>
          </p:cNvSpPr>
          <p:nvPr/>
        </p:nvSpPr>
        <p:spPr bwMode="auto">
          <a:xfrm flipH="1">
            <a:off x="3430588" y="4991100"/>
            <a:ext cx="91440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19" name="Line 45"/>
          <p:cNvSpPr>
            <a:spLocks noChangeShapeType="1"/>
          </p:cNvSpPr>
          <p:nvPr/>
        </p:nvSpPr>
        <p:spPr bwMode="auto">
          <a:xfrm>
            <a:off x="4573588" y="4914900"/>
            <a:ext cx="8382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20" name="Line 46"/>
          <p:cNvSpPr>
            <a:spLocks noChangeShapeType="1"/>
          </p:cNvSpPr>
          <p:nvPr/>
        </p:nvSpPr>
        <p:spPr bwMode="auto">
          <a:xfrm flipV="1">
            <a:off x="4649788" y="5753100"/>
            <a:ext cx="7620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21" name="Text Box 47"/>
          <p:cNvSpPr txBox="1">
            <a:spLocks noChangeArrowheads="1"/>
          </p:cNvSpPr>
          <p:nvPr/>
        </p:nvSpPr>
        <p:spPr bwMode="auto">
          <a:xfrm rot="16251548">
            <a:off x="2732882" y="5225257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24622" name="Text Box 48"/>
          <p:cNvSpPr txBox="1">
            <a:spLocks noChangeArrowheads="1"/>
          </p:cNvSpPr>
          <p:nvPr/>
        </p:nvSpPr>
        <p:spPr bwMode="auto">
          <a:xfrm rot="1671448">
            <a:off x="2279650" y="61309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13</a:t>
            </a:r>
          </a:p>
        </p:txBody>
      </p:sp>
      <p:sp>
        <p:nvSpPr>
          <p:cNvPr id="24623" name="Text Box 49"/>
          <p:cNvSpPr txBox="1">
            <a:spLocks noChangeArrowheads="1"/>
          </p:cNvSpPr>
          <p:nvPr/>
        </p:nvSpPr>
        <p:spPr bwMode="auto">
          <a:xfrm>
            <a:off x="3505200" y="4489451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12/12</a:t>
            </a:r>
          </a:p>
        </p:txBody>
      </p:sp>
      <p:sp>
        <p:nvSpPr>
          <p:cNvPr id="24624" name="Text Box 50"/>
          <p:cNvSpPr txBox="1">
            <a:spLocks noChangeArrowheads="1"/>
          </p:cNvSpPr>
          <p:nvPr/>
        </p:nvSpPr>
        <p:spPr bwMode="auto">
          <a:xfrm rot="19986914">
            <a:off x="2190750" y="4692651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12/16</a:t>
            </a:r>
          </a:p>
        </p:txBody>
      </p:sp>
      <p:sp>
        <p:nvSpPr>
          <p:cNvPr id="24625" name="Text Box 51"/>
          <p:cNvSpPr txBox="1">
            <a:spLocks noChangeArrowheads="1"/>
          </p:cNvSpPr>
          <p:nvPr/>
        </p:nvSpPr>
        <p:spPr bwMode="auto">
          <a:xfrm rot="16251548">
            <a:off x="3191669" y="5225257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4626" name="Text Box 52"/>
          <p:cNvSpPr txBox="1">
            <a:spLocks noChangeArrowheads="1"/>
          </p:cNvSpPr>
          <p:nvPr/>
        </p:nvSpPr>
        <p:spPr bwMode="auto">
          <a:xfrm rot="19479436">
            <a:off x="4884738" y="590073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4627" name="Text Box 53"/>
          <p:cNvSpPr txBox="1">
            <a:spLocks noChangeArrowheads="1"/>
          </p:cNvSpPr>
          <p:nvPr/>
        </p:nvSpPr>
        <p:spPr bwMode="auto">
          <a:xfrm>
            <a:off x="3582988" y="6362701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 14</a:t>
            </a:r>
          </a:p>
        </p:txBody>
      </p:sp>
      <p:sp>
        <p:nvSpPr>
          <p:cNvPr id="24628" name="Text Box 54"/>
          <p:cNvSpPr txBox="1">
            <a:spLocks noChangeArrowheads="1"/>
          </p:cNvSpPr>
          <p:nvPr/>
        </p:nvSpPr>
        <p:spPr bwMode="auto">
          <a:xfrm rot="1953558">
            <a:off x="4838700" y="4943476"/>
            <a:ext cx="920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12/20</a:t>
            </a:r>
          </a:p>
        </p:txBody>
      </p:sp>
      <p:sp>
        <p:nvSpPr>
          <p:cNvPr id="24629" name="Text Box 55"/>
          <p:cNvSpPr txBox="1">
            <a:spLocks noChangeArrowheads="1"/>
          </p:cNvSpPr>
          <p:nvPr/>
        </p:nvSpPr>
        <p:spPr bwMode="auto">
          <a:xfrm rot="16251548">
            <a:off x="4260057" y="5226844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24630" name="Text Box 56"/>
          <p:cNvSpPr txBox="1">
            <a:spLocks noChangeArrowheads="1"/>
          </p:cNvSpPr>
          <p:nvPr/>
        </p:nvSpPr>
        <p:spPr bwMode="auto">
          <a:xfrm rot="18444138">
            <a:off x="3801269" y="5461794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24631" name="Line 61"/>
          <p:cNvSpPr>
            <a:spLocks noChangeShapeType="1"/>
          </p:cNvSpPr>
          <p:nvPr/>
        </p:nvSpPr>
        <p:spPr bwMode="auto">
          <a:xfrm flipH="1">
            <a:off x="2286000" y="2438400"/>
            <a:ext cx="838200" cy="457200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4632" name="Line 63"/>
          <p:cNvSpPr>
            <a:spLocks noChangeShapeType="1"/>
          </p:cNvSpPr>
          <p:nvPr/>
        </p:nvSpPr>
        <p:spPr bwMode="auto">
          <a:xfrm flipH="1" flipV="1">
            <a:off x="4419600" y="2362200"/>
            <a:ext cx="914400" cy="609600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4633" name="Text Box 64"/>
          <p:cNvSpPr txBox="1">
            <a:spLocks noChangeArrowheads="1"/>
          </p:cNvSpPr>
          <p:nvPr/>
        </p:nvSpPr>
        <p:spPr bwMode="auto">
          <a:xfrm rot="19882963">
            <a:off x="2444750" y="25876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solidFill>
                  <a:srgbClr val="FF3300"/>
                </a:solidFill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24634" name="Text Box 65"/>
          <p:cNvSpPr txBox="1">
            <a:spLocks noChangeArrowheads="1"/>
          </p:cNvSpPr>
          <p:nvPr/>
        </p:nvSpPr>
        <p:spPr bwMode="auto">
          <a:xfrm rot="1953558">
            <a:off x="4562475" y="26638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solidFill>
                  <a:srgbClr val="FF3300"/>
                </a:solidFill>
                <a:latin typeface="Times New Roman" panose="02020603050405020304" pitchFamily="18" charset="0"/>
              </a:rPr>
              <a:t>12 </a:t>
            </a:r>
          </a:p>
        </p:txBody>
      </p:sp>
      <p:graphicFrame>
        <p:nvGraphicFramePr>
          <p:cNvPr id="24578" name="Object 2"/>
          <p:cNvGraphicFramePr>
            <a:graphicFrameLocks noChangeAspect="1"/>
          </p:cNvGraphicFramePr>
          <p:nvPr/>
        </p:nvGraphicFramePr>
        <p:xfrm>
          <a:off x="5754688" y="1681164"/>
          <a:ext cx="4832350" cy="371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kument" r:id="rId2" imgW="4516120" imgH="3467100" progId="Word.Document.8">
                  <p:embed/>
                </p:oleObj>
              </mc:Choice>
              <mc:Fallback>
                <p:oleObj name="Dokument" r:id="rId2" imgW="4516120" imgH="3467100" progId="Word.Document.8">
                  <p:embed/>
                  <p:pic>
                    <p:nvPicPr>
                      <p:cNvPr id="2457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4688" y="1681164"/>
                        <a:ext cx="4832350" cy="371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36" name="Text Box 56"/>
          <p:cNvSpPr txBox="1">
            <a:spLocks noChangeArrowheads="1"/>
          </p:cNvSpPr>
          <p:nvPr/>
        </p:nvSpPr>
        <p:spPr bwMode="auto">
          <a:xfrm>
            <a:off x="1524000" y="4210051"/>
            <a:ext cx="228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GB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new flow network G</a:t>
            </a:r>
            <a:r>
              <a:rPr lang="de-DE" altLang="zh-CN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4637" name="Text Box 29"/>
          <p:cNvSpPr txBox="1">
            <a:spLocks noChangeArrowheads="1"/>
          </p:cNvSpPr>
          <p:nvPr/>
        </p:nvSpPr>
        <p:spPr bwMode="auto">
          <a:xfrm>
            <a:off x="1524000" y="1676401"/>
            <a:ext cx="2514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GB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residual network G</a:t>
            </a:r>
            <a:r>
              <a:rPr lang="en-GB" altLang="zh-CN" b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de-DE" altLang="zh-CN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31028CB-3E6B-C576-C418-556DECEA9DD1}"/>
              </a:ext>
            </a:extLst>
          </p:cNvPr>
          <p:cNvSpPr txBox="1"/>
          <p:nvPr/>
        </p:nvSpPr>
        <p:spPr>
          <a:xfrm>
            <a:off x="380724" y="299408"/>
            <a:ext cx="46444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Ford-Fulkerson</a:t>
            </a:r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算法</a:t>
            </a:r>
          </a:p>
        </p:txBody>
      </p:sp>
      <p:sp>
        <p:nvSpPr>
          <p:cNvPr id="3" name="圆角矩形 8">
            <a:extLst>
              <a:ext uri="{FF2B5EF4-FFF2-40B4-BE49-F238E27FC236}">
                <a16:creationId xmlns:a16="http://schemas.microsoft.com/office/drawing/2014/main" id="{6AA22D99-20CC-0F11-B211-45C38572BFF8}"/>
              </a:ext>
            </a:extLst>
          </p:cNvPr>
          <p:cNvSpPr/>
          <p:nvPr/>
        </p:nvSpPr>
        <p:spPr>
          <a:xfrm>
            <a:off x="238664" y="311105"/>
            <a:ext cx="4644422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0B491CE-50F0-0BD9-2CD1-B6D95B8DA7D3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E8DF92F-278A-A4A0-878E-BBE70D977D80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23361259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Oval 3"/>
          <p:cNvSpPr>
            <a:spLocks noChangeArrowheads="1"/>
          </p:cNvSpPr>
          <p:nvPr/>
        </p:nvSpPr>
        <p:spPr bwMode="auto">
          <a:xfrm>
            <a:off x="1944688" y="2859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5604" name="Oval 4"/>
          <p:cNvSpPr>
            <a:spLocks noChangeArrowheads="1"/>
          </p:cNvSpPr>
          <p:nvPr/>
        </p:nvSpPr>
        <p:spPr bwMode="auto">
          <a:xfrm>
            <a:off x="5373688" y="2859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5605" name="Oval 5"/>
          <p:cNvSpPr>
            <a:spLocks noChangeArrowheads="1"/>
          </p:cNvSpPr>
          <p:nvPr/>
        </p:nvSpPr>
        <p:spPr bwMode="auto">
          <a:xfrm>
            <a:off x="3087688" y="2097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5606" name="Oval 6"/>
          <p:cNvSpPr>
            <a:spLocks noChangeArrowheads="1"/>
          </p:cNvSpPr>
          <p:nvPr/>
        </p:nvSpPr>
        <p:spPr bwMode="auto">
          <a:xfrm>
            <a:off x="3087688" y="3621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5607" name="Oval 7"/>
          <p:cNvSpPr>
            <a:spLocks noChangeArrowheads="1"/>
          </p:cNvSpPr>
          <p:nvPr/>
        </p:nvSpPr>
        <p:spPr bwMode="auto">
          <a:xfrm>
            <a:off x="4267200" y="20574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5608" name="Oval 8"/>
          <p:cNvSpPr>
            <a:spLocks noChangeArrowheads="1"/>
          </p:cNvSpPr>
          <p:nvPr/>
        </p:nvSpPr>
        <p:spPr bwMode="auto">
          <a:xfrm>
            <a:off x="4230688" y="3621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5609" name="Line 9"/>
          <p:cNvSpPr>
            <a:spLocks noChangeShapeType="1"/>
          </p:cNvSpPr>
          <p:nvPr/>
        </p:nvSpPr>
        <p:spPr bwMode="auto">
          <a:xfrm flipH="1">
            <a:off x="3506788" y="2287588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5610" name="Line 10"/>
          <p:cNvSpPr>
            <a:spLocks noChangeShapeType="1"/>
          </p:cNvSpPr>
          <p:nvPr/>
        </p:nvSpPr>
        <p:spPr bwMode="auto">
          <a:xfrm>
            <a:off x="3506788" y="3811588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5611" name="Line 11"/>
          <p:cNvSpPr>
            <a:spLocks noChangeShapeType="1"/>
          </p:cNvSpPr>
          <p:nvPr/>
        </p:nvSpPr>
        <p:spPr bwMode="auto">
          <a:xfrm flipV="1">
            <a:off x="2133601" y="2362200"/>
            <a:ext cx="989013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12" name="Line 12"/>
          <p:cNvSpPr>
            <a:spLocks noChangeShapeType="1"/>
          </p:cNvSpPr>
          <p:nvPr/>
        </p:nvSpPr>
        <p:spPr bwMode="auto">
          <a:xfrm>
            <a:off x="2135188" y="3201988"/>
            <a:ext cx="9144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13" name="Line 13"/>
          <p:cNvSpPr>
            <a:spLocks noChangeShapeType="1"/>
          </p:cNvSpPr>
          <p:nvPr/>
        </p:nvSpPr>
        <p:spPr bwMode="auto">
          <a:xfrm>
            <a:off x="3201988" y="2439988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14" name="Line 14"/>
          <p:cNvSpPr>
            <a:spLocks noChangeShapeType="1"/>
          </p:cNvSpPr>
          <p:nvPr/>
        </p:nvSpPr>
        <p:spPr bwMode="auto">
          <a:xfrm flipV="1">
            <a:off x="3354388" y="2439988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15" name="Line 15"/>
          <p:cNvSpPr>
            <a:spLocks noChangeShapeType="1"/>
          </p:cNvSpPr>
          <p:nvPr/>
        </p:nvSpPr>
        <p:spPr bwMode="auto">
          <a:xfrm flipV="1">
            <a:off x="4421188" y="2439988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16" name="Line 16"/>
          <p:cNvSpPr>
            <a:spLocks noChangeShapeType="1"/>
          </p:cNvSpPr>
          <p:nvPr/>
        </p:nvSpPr>
        <p:spPr bwMode="auto">
          <a:xfrm flipH="1">
            <a:off x="3430588" y="2439988"/>
            <a:ext cx="91440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17" name="Line 17"/>
          <p:cNvSpPr>
            <a:spLocks noChangeShapeType="1"/>
          </p:cNvSpPr>
          <p:nvPr/>
        </p:nvSpPr>
        <p:spPr bwMode="auto">
          <a:xfrm>
            <a:off x="4573588" y="2363788"/>
            <a:ext cx="8382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18" name="Line 18"/>
          <p:cNvSpPr>
            <a:spLocks noChangeShapeType="1"/>
          </p:cNvSpPr>
          <p:nvPr/>
        </p:nvSpPr>
        <p:spPr bwMode="auto">
          <a:xfrm flipV="1">
            <a:off x="4649788" y="3201988"/>
            <a:ext cx="7620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19" name="Text Box 19"/>
          <p:cNvSpPr txBox="1">
            <a:spLocks noChangeArrowheads="1"/>
          </p:cNvSpPr>
          <p:nvPr/>
        </p:nvSpPr>
        <p:spPr bwMode="auto">
          <a:xfrm rot="16251548">
            <a:off x="2734469" y="2674144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25620" name="Text Box 20"/>
          <p:cNvSpPr txBox="1">
            <a:spLocks noChangeArrowheads="1"/>
          </p:cNvSpPr>
          <p:nvPr/>
        </p:nvSpPr>
        <p:spPr bwMode="auto">
          <a:xfrm rot="1671448">
            <a:off x="2279650" y="3579813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13</a:t>
            </a:r>
          </a:p>
        </p:txBody>
      </p:sp>
      <p:sp>
        <p:nvSpPr>
          <p:cNvPr id="25621" name="Text Box 21"/>
          <p:cNvSpPr txBox="1">
            <a:spLocks noChangeArrowheads="1"/>
          </p:cNvSpPr>
          <p:nvPr/>
        </p:nvSpPr>
        <p:spPr bwMode="auto">
          <a:xfrm>
            <a:off x="3659188" y="201453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25622" name="Text Box 22"/>
          <p:cNvSpPr txBox="1">
            <a:spLocks noChangeArrowheads="1"/>
          </p:cNvSpPr>
          <p:nvPr/>
        </p:nvSpPr>
        <p:spPr bwMode="auto">
          <a:xfrm rot="19986914">
            <a:off x="2376488" y="22828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5623" name="Text Box 23"/>
          <p:cNvSpPr txBox="1">
            <a:spLocks noChangeArrowheads="1"/>
          </p:cNvSpPr>
          <p:nvPr/>
        </p:nvSpPr>
        <p:spPr bwMode="auto">
          <a:xfrm rot="16251548">
            <a:off x="3193257" y="2670969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5624" name="Text Box 24"/>
          <p:cNvSpPr txBox="1">
            <a:spLocks noChangeArrowheads="1"/>
          </p:cNvSpPr>
          <p:nvPr/>
        </p:nvSpPr>
        <p:spPr bwMode="auto">
          <a:xfrm rot="19479436">
            <a:off x="4884738" y="33496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5625" name="Text Box 25"/>
          <p:cNvSpPr txBox="1">
            <a:spLocks noChangeArrowheads="1"/>
          </p:cNvSpPr>
          <p:nvPr/>
        </p:nvSpPr>
        <p:spPr bwMode="auto">
          <a:xfrm>
            <a:off x="3582988" y="381158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 14</a:t>
            </a:r>
          </a:p>
        </p:txBody>
      </p:sp>
      <p:sp>
        <p:nvSpPr>
          <p:cNvPr id="25626" name="Text Box 26"/>
          <p:cNvSpPr txBox="1">
            <a:spLocks noChangeArrowheads="1"/>
          </p:cNvSpPr>
          <p:nvPr/>
        </p:nvSpPr>
        <p:spPr bwMode="auto">
          <a:xfrm rot="1953558">
            <a:off x="4792663" y="2360613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25627" name="Text Box 27"/>
          <p:cNvSpPr txBox="1">
            <a:spLocks noChangeArrowheads="1"/>
          </p:cNvSpPr>
          <p:nvPr/>
        </p:nvSpPr>
        <p:spPr bwMode="auto">
          <a:xfrm rot="16251548">
            <a:off x="4261644" y="2672557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25628" name="Text Box 28"/>
          <p:cNvSpPr txBox="1">
            <a:spLocks noChangeArrowheads="1"/>
          </p:cNvSpPr>
          <p:nvPr/>
        </p:nvSpPr>
        <p:spPr bwMode="auto">
          <a:xfrm rot="18444138">
            <a:off x="3801269" y="2910682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25629" name="Oval 30"/>
          <p:cNvSpPr>
            <a:spLocks noChangeArrowheads="1"/>
          </p:cNvSpPr>
          <p:nvPr/>
        </p:nvSpPr>
        <p:spPr bwMode="auto">
          <a:xfrm>
            <a:off x="1944688" y="5410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5630" name="Oval 31"/>
          <p:cNvSpPr>
            <a:spLocks noChangeArrowheads="1"/>
          </p:cNvSpPr>
          <p:nvPr/>
        </p:nvSpPr>
        <p:spPr bwMode="auto">
          <a:xfrm>
            <a:off x="5373688" y="5410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5631" name="Oval 32"/>
          <p:cNvSpPr>
            <a:spLocks noChangeArrowheads="1"/>
          </p:cNvSpPr>
          <p:nvPr/>
        </p:nvSpPr>
        <p:spPr bwMode="auto">
          <a:xfrm>
            <a:off x="3087688" y="4648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5632" name="Oval 33"/>
          <p:cNvSpPr>
            <a:spLocks noChangeArrowheads="1"/>
          </p:cNvSpPr>
          <p:nvPr/>
        </p:nvSpPr>
        <p:spPr bwMode="auto">
          <a:xfrm>
            <a:off x="3087688" y="6172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5633" name="Oval 34"/>
          <p:cNvSpPr>
            <a:spLocks noChangeArrowheads="1"/>
          </p:cNvSpPr>
          <p:nvPr/>
        </p:nvSpPr>
        <p:spPr bwMode="auto">
          <a:xfrm>
            <a:off x="4230688" y="46101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5634" name="Oval 35"/>
          <p:cNvSpPr>
            <a:spLocks noChangeArrowheads="1"/>
          </p:cNvSpPr>
          <p:nvPr/>
        </p:nvSpPr>
        <p:spPr bwMode="auto">
          <a:xfrm>
            <a:off x="4230688" y="6172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5635" name="Line 36"/>
          <p:cNvSpPr>
            <a:spLocks noChangeShapeType="1"/>
          </p:cNvSpPr>
          <p:nvPr/>
        </p:nvSpPr>
        <p:spPr bwMode="auto">
          <a:xfrm>
            <a:off x="3506788" y="48387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5636" name="Line 37"/>
          <p:cNvSpPr>
            <a:spLocks noChangeShapeType="1"/>
          </p:cNvSpPr>
          <p:nvPr/>
        </p:nvSpPr>
        <p:spPr bwMode="auto">
          <a:xfrm>
            <a:off x="3506788" y="63627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5637" name="Line 38"/>
          <p:cNvSpPr>
            <a:spLocks noChangeShapeType="1"/>
          </p:cNvSpPr>
          <p:nvPr/>
        </p:nvSpPr>
        <p:spPr bwMode="auto">
          <a:xfrm flipV="1">
            <a:off x="2133601" y="4913313"/>
            <a:ext cx="989013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38" name="Line 39"/>
          <p:cNvSpPr>
            <a:spLocks noChangeShapeType="1"/>
          </p:cNvSpPr>
          <p:nvPr/>
        </p:nvSpPr>
        <p:spPr bwMode="auto">
          <a:xfrm>
            <a:off x="2135188" y="5753100"/>
            <a:ext cx="9144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39" name="Line 40"/>
          <p:cNvSpPr>
            <a:spLocks noChangeShapeType="1"/>
          </p:cNvSpPr>
          <p:nvPr/>
        </p:nvSpPr>
        <p:spPr bwMode="auto">
          <a:xfrm>
            <a:off x="3201988" y="4991100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40" name="Line 41"/>
          <p:cNvSpPr>
            <a:spLocks noChangeShapeType="1"/>
          </p:cNvSpPr>
          <p:nvPr/>
        </p:nvSpPr>
        <p:spPr bwMode="auto">
          <a:xfrm flipV="1">
            <a:off x="3354388" y="4991100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41" name="Line 42"/>
          <p:cNvSpPr>
            <a:spLocks noChangeShapeType="1"/>
          </p:cNvSpPr>
          <p:nvPr/>
        </p:nvSpPr>
        <p:spPr bwMode="auto">
          <a:xfrm flipV="1">
            <a:off x="4421188" y="4991100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42" name="Line 43"/>
          <p:cNvSpPr>
            <a:spLocks noChangeShapeType="1"/>
          </p:cNvSpPr>
          <p:nvPr/>
        </p:nvSpPr>
        <p:spPr bwMode="auto">
          <a:xfrm flipH="1">
            <a:off x="3430588" y="4991100"/>
            <a:ext cx="91440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43" name="Line 44"/>
          <p:cNvSpPr>
            <a:spLocks noChangeShapeType="1"/>
          </p:cNvSpPr>
          <p:nvPr/>
        </p:nvSpPr>
        <p:spPr bwMode="auto">
          <a:xfrm>
            <a:off x="4573588" y="4914900"/>
            <a:ext cx="8382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44" name="Line 45"/>
          <p:cNvSpPr>
            <a:spLocks noChangeShapeType="1"/>
          </p:cNvSpPr>
          <p:nvPr/>
        </p:nvSpPr>
        <p:spPr bwMode="auto">
          <a:xfrm flipV="1">
            <a:off x="4649788" y="5753100"/>
            <a:ext cx="7620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45" name="Text Box 46"/>
          <p:cNvSpPr txBox="1">
            <a:spLocks noChangeArrowheads="1"/>
          </p:cNvSpPr>
          <p:nvPr/>
        </p:nvSpPr>
        <p:spPr bwMode="auto">
          <a:xfrm rot="16251548">
            <a:off x="2736057" y="5188744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25646" name="Text Box 47"/>
          <p:cNvSpPr txBox="1">
            <a:spLocks noChangeArrowheads="1"/>
          </p:cNvSpPr>
          <p:nvPr/>
        </p:nvSpPr>
        <p:spPr bwMode="auto">
          <a:xfrm rot="1671448">
            <a:off x="2279650" y="61309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13</a:t>
            </a:r>
          </a:p>
        </p:txBody>
      </p:sp>
      <p:sp>
        <p:nvSpPr>
          <p:cNvPr id="25647" name="Text Box 48"/>
          <p:cNvSpPr txBox="1">
            <a:spLocks noChangeArrowheads="1"/>
          </p:cNvSpPr>
          <p:nvPr/>
        </p:nvSpPr>
        <p:spPr bwMode="auto">
          <a:xfrm>
            <a:off x="3505200" y="4419601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12/12</a:t>
            </a:r>
          </a:p>
        </p:txBody>
      </p:sp>
      <p:sp>
        <p:nvSpPr>
          <p:cNvPr id="25648" name="Text Box 49"/>
          <p:cNvSpPr txBox="1">
            <a:spLocks noChangeArrowheads="1"/>
          </p:cNvSpPr>
          <p:nvPr/>
        </p:nvSpPr>
        <p:spPr bwMode="auto">
          <a:xfrm rot="19986914">
            <a:off x="2133600" y="4724401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12/16</a:t>
            </a:r>
          </a:p>
        </p:txBody>
      </p:sp>
      <p:sp>
        <p:nvSpPr>
          <p:cNvPr id="25649" name="Text Box 50"/>
          <p:cNvSpPr txBox="1">
            <a:spLocks noChangeArrowheads="1"/>
          </p:cNvSpPr>
          <p:nvPr/>
        </p:nvSpPr>
        <p:spPr bwMode="auto">
          <a:xfrm rot="16251548">
            <a:off x="3191669" y="5225257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5650" name="Text Box 51"/>
          <p:cNvSpPr txBox="1">
            <a:spLocks noChangeArrowheads="1"/>
          </p:cNvSpPr>
          <p:nvPr/>
        </p:nvSpPr>
        <p:spPr bwMode="auto">
          <a:xfrm rot="19479436">
            <a:off x="4884738" y="590073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5651" name="Text Box 52"/>
          <p:cNvSpPr txBox="1">
            <a:spLocks noChangeArrowheads="1"/>
          </p:cNvSpPr>
          <p:nvPr/>
        </p:nvSpPr>
        <p:spPr bwMode="auto">
          <a:xfrm>
            <a:off x="3582988" y="6362701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 14</a:t>
            </a:r>
          </a:p>
        </p:txBody>
      </p:sp>
      <p:sp>
        <p:nvSpPr>
          <p:cNvPr id="25652" name="Text Box 53"/>
          <p:cNvSpPr txBox="1">
            <a:spLocks noChangeArrowheads="1"/>
          </p:cNvSpPr>
          <p:nvPr/>
        </p:nvSpPr>
        <p:spPr bwMode="auto">
          <a:xfrm rot="1953558">
            <a:off x="4826000" y="4878388"/>
            <a:ext cx="844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12/20</a:t>
            </a:r>
          </a:p>
        </p:txBody>
      </p:sp>
      <p:sp>
        <p:nvSpPr>
          <p:cNvPr id="25653" name="Text Box 54"/>
          <p:cNvSpPr txBox="1">
            <a:spLocks noChangeArrowheads="1"/>
          </p:cNvSpPr>
          <p:nvPr/>
        </p:nvSpPr>
        <p:spPr bwMode="auto">
          <a:xfrm rot="16251548">
            <a:off x="4260057" y="5226844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25654" name="Text Box 55"/>
          <p:cNvSpPr txBox="1">
            <a:spLocks noChangeArrowheads="1"/>
          </p:cNvSpPr>
          <p:nvPr/>
        </p:nvSpPr>
        <p:spPr bwMode="auto">
          <a:xfrm rot="18444138">
            <a:off x="3801269" y="5461794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25655" name="Line 58"/>
          <p:cNvSpPr>
            <a:spLocks noChangeShapeType="1"/>
          </p:cNvSpPr>
          <p:nvPr/>
        </p:nvSpPr>
        <p:spPr bwMode="auto">
          <a:xfrm flipH="1">
            <a:off x="2286000" y="2438400"/>
            <a:ext cx="838200" cy="4572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5656" name="Line 59"/>
          <p:cNvSpPr>
            <a:spLocks noChangeShapeType="1"/>
          </p:cNvSpPr>
          <p:nvPr/>
        </p:nvSpPr>
        <p:spPr bwMode="auto">
          <a:xfrm flipH="1" flipV="1">
            <a:off x="4419600" y="2362200"/>
            <a:ext cx="914400" cy="6096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5657" name="Text Box 60"/>
          <p:cNvSpPr txBox="1">
            <a:spLocks noChangeArrowheads="1"/>
          </p:cNvSpPr>
          <p:nvPr/>
        </p:nvSpPr>
        <p:spPr bwMode="auto">
          <a:xfrm rot="19882963">
            <a:off x="2444750" y="25876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25658" name="Text Box 61"/>
          <p:cNvSpPr txBox="1">
            <a:spLocks noChangeArrowheads="1"/>
          </p:cNvSpPr>
          <p:nvPr/>
        </p:nvSpPr>
        <p:spPr bwMode="auto">
          <a:xfrm rot="1953558">
            <a:off x="4562475" y="26638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 </a:t>
            </a:r>
          </a:p>
        </p:txBody>
      </p:sp>
      <p:graphicFrame>
        <p:nvGraphicFramePr>
          <p:cNvPr id="25602" name="Object 2"/>
          <p:cNvGraphicFramePr>
            <a:graphicFrameLocks noChangeAspect="1"/>
          </p:cNvGraphicFramePr>
          <p:nvPr/>
        </p:nvGraphicFramePr>
        <p:xfrm>
          <a:off x="5754688" y="1681164"/>
          <a:ext cx="4832350" cy="371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kument" r:id="rId2" imgW="4516120" imgH="3467100" progId="Word.Document.8">
                  <p:embed/>
                </p:oleObj>
              </mc:Choice>
              <mc:Fallback>
                <p:oleObj name="Dokument" r:id="rId2" imgW="4516120" imgH="3467100" progId="Word.Document.8">
                  <p:embed/>
                  <p:pic>
                    <p:nvPicPr>
                      <p:cNvPr id="2560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4688" y="1681164"/>
                        <a:ext cx="4832350" cy="371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60" name="Text Box 29"/>
          <p:cNvSpPr txBox="1">
            <a:spLocks noChangeArrowheads="1"/>
          </p:cNvSpPr>
          <p:nvPr/>
        </p:nvSpPr>
        <p:spPr bwMode="auto">
          <a:xfrm>
            <a:off x="1524000" y="1676401"/>
            <a:ext cx="2514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GB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residual network G</a:t>
            </a:r>
            <a:r>
              <a:rPr lang="en-GB" altLang="zh-CN" b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de-DE" altLang="zh-CN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5661" name="Text Box 56"/>
          <p:cNvSpPr txBox="1">
            <a:spLocks noChangeArrowheads="1"/>
          </p:cNvSpPr>
          <p:nvPr/>
        </p:nvSpPr>
        <p:spPr bwMode="auto">
          <a:xfrm>
            <a:off x="1524000" y="4227513"/>
            <a:ext cx="2286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GB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new flow network G</a:t>
            </a:r>
            <a:r>
              <a:rPr lang="de-DE" altLang="zh-CN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832E365-EF98-AFDB-4B66-503D374E89BB}"/>
              </a:ext>
            </a:extLst>
          </p:cNvPr>
          <p:cNvSpPr txBox="1"/>
          <p:nvPr/>
        </p:nvSpPr>
        <p:spPr>
          <a:xfrm>
            <a:off x="380723" y="299408"/>
            <a:ext cx="45855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Ford-Fulkerson</a:t>
            </a:r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算法</a:t>
            </a:r>
          </a:p>
        </p:txBody>
      </p:sp>
      <p:sp>
        <p:nvSpPr>
          <p:cNvPr id="3" name="圆角矩形 8">
            <a:extLst>
              <a:ext uri="{FF2B5EF4-FFF2-40B4-BE49-F238E27FC236}">
                <a16:creationId xmlns:a16="http://schemas.microsoft.com/office/drawing/2014/main" id="{B1C574F0-18A4-0C8B-4C13-6794B01956D7}"/>
              </a:ext>
            </a:extLst>
          </p:cNvPr>
          <p:cNvSpPr/>
          <p:nvPr/>
        </p:nvSpPr>
        <p:spPr>
          <a:xfrm>
            <a:off x="238664" y="311105"/>
            <a:ext cx="4644422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1C5B7BD-783B-E68A-FCA7-FFA8C22FF543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AAF7824-BFEC-E9A0-F33D-1E4535767447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12471359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Oval 3"/>
          <p:cNvSpPr>
            <a:spLocks noChangeArrowheads="1"/>
          </p:cNvSpPr>
          <p:nvPr/>
        </p:nvSpPr>
        <p:spPr bwMode="auto">
          <a:xfrm>
            <a:off x="1944688" y="2859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6628" name="Oval 4"/>
          <p:cNvSpPr>
            <a:spLocks noChangeArrowheads="1"/>
          </p:cNvSpPr>
          <p:nvPr/>
        </p:nvSpPr>
        <p:spPr bwMode="auto">
          <a:xfrm>
            <a:off x="5373688" y="2859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6629" name="Oval 5"/>
          <p:cNvSpPr>
            <a:spLocks noChangeArrowheads="1"/>
          </p:cNvSpPr>
          <p:nvPr/>
        </p:nvSpPr>
        <p:spPr bwMode="auto">
          <a:xfrm>
            <a:off x="3087688" y="2097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6630" name="Oval 6"/>
          <p:cNvSpPr>
            <a:spLocks noChangeArrowheads="1"/>
          </p:cNvSpPr>
          <p:nvPr/>
        </p:nvSpPr>
        <p:spPr bwMode="auto">
          <a:xfrm>
            <a:off x="3087688" y="3621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6631" name="Oval 7"/>
          <p:cNvSpPr>
            <a:spLocks noChangeArrowheads="1"/>
          </p:cNvSpPr>
          <p:nvPr/>
        </p:nvSpPr>
        <p:spPr bwMode="auto">
          <a:xfrm>
            <a:off x="4230688" y="20589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6632" name="Oval 8"/>
          <p:cNvSpPr>
            <a:spLocks noChangeArrowheads="1"/>
          </p:cNvSpPr>
          <p:nvPr/>
        </p:nvSpPr>
        <p:spPr bwMode="auto">
          <a:xfrm>
            <a:off x="4230688" y="3621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6633" name="Line 9"/>
          <p:cNvSpPr>
            <a:spLocks noChangeShapeType="1"/>
          </p:cNvSpPr>
          <p:nvPr/>
        </p:nvSpPr>
        <p:spPr bwMode="auto">
          <a:xfrm flipH="1">
            <a:off x="3506788" y="2287588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6634" name="Line 10"/>
          <p:cNvSpPr>
            <a:spLocks noChangeShapeType="1"/>
          </p:cNvSpPr>
          <p:nvPr/>
        </p:nvSpPr>
        <p:spPr bwMode="auto">
          <a:xfrm>
            <a:off x="3506788" y="3811588"/>
            <a:ext cx="762000" cy="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6635" name="Line 11"/>
          <p:cNvSpPr>
            <a:spLocks noChangeShapeType="1"/>
          </p:cNvSpPr>
          <p:nvPr/>
        </p:nvSpPr>
        <p:spPr bwMode="auto">
          <a:xfrm flipV="1">
            <a:off x="2133601" y="2362200"/>
            <a:ext cx="989013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6" name="Line 12"/>
          <p:cNvSpPr>
            <a:spLocks noChangeShapeType="1"/>
          </p:cNvSpPr>
          <p:nvPr/>
        </p:nvSpPr>
        <p:spPr bwMode="auto">
          <a:xfrm>
            <a:off x="2135188" y="3201988"/>
            <a:ext cx="914400" cy="533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7" name="Line 13"/>
          <p:cNvSpPr>
            <a:spLocks noChangeShapeType="1"/>
          </p:cNvSpPr>
          <p:nvPr/>
        </p:nvSpPr>
        <p:spPr bwMode="auto">
          <a:xfrm>
            <a:off x="3201988" y="2439988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8" name="Line 14"/>
          <p:cNvSpPr>
            <a:spLocks noChangeShapeType="1"/>
          </p:cNvSpPr>
          <p:nvPr/>
        </p:nvSpPr>
        <p:spPr bwMode="auto">
          <a:xfrm flipV="1">
            <a:off x="3354388" y="2439988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9" name="Line 15"/>
          <p:cNvSpPr>
            <a:spLocks noChangeShapeType="1"/>
          </p:cNvSpPr>
          <p:nvPr/>
        </p:nvSpPr>
        <p:spPr bwMode="auto">
          <a:xfrm flipV="1">
            <a:off x="4421188" y="2439988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40" name="Line 16"/>
          <p:cNvSpPr>
            <a:spLocks noChangeShapeType="1"/>
          </p:cNvSpPr>
          <p:nvPr/>
        </p:nvSpPr>
        <p:spPr bwMode="auto">
          <a:xfrm flipH="1">
            <a:off x="3430588" y="2439988"/>
            <a:ext cx="91440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41" name="Line 17"/>
          <p:cNvSpPr>
            <a:spLocks noChangeShapeType="1"/>
          </p:cNvSpPr>
          <p:nvPr/>
        </p:nvSpPr>
        <p:spPr bwMode="auto">
          <a:xfrm>
            <a:off x="4573588" y="2363788"/>
            <a:ext cx="8382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42" name="Line 18"/>
          <p:cNvSpPr>
            <a:spLocks noChangeShapeType="1"/>
          </p:cNvSpPr>
          <p:nvPr/>
        </p:nvSpPr>
        <p:spPr bwMode="auto">
          <a:xfrm flipV="1">
            <a:off x="4649788" y="3201988"/>
            <a:ext cx="762000" cy="533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43" name="Text Box 19"/>
          <p:cNvSpPr txBox="1">
            <a:spLocks noChangeArrowheads="1"/>
          </p:cNvSpPr>
          <p:nvPr/>
        </p:nvSpPr>
        <p:spPr bwMode="auto">
          <a:xfrm rot="16251548">
            <a:off x="2734469" y="2674144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26644" name="Text Box 20"/>
          <p:cNvSpPr txBox="1">
            <a:spLocks noChangeArrowheads="1"/>
          </p:cNvSpPr>
          <p:nvPr/>
        </p:nvSpPr>
        <p:spPr bwMode="auto">
          <a:xfrm rot="1671448">
            <a:off x="2279650" y="3579813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13</a:t>
            </a:r>
          </a:p>
        </p:txBody>
      </p:sp>
      <p:sp>
        <p:nvSpPr>
          <p:cNvPr id="26645" name="Text Box 21"/>
          <p:cNvSpPr txBox="1">
            <a:spLocks noChangeArrowheads="1"/>
          </p:cNvSpPr>
          <p:nvPr/>
        </p:nvSpPr>
        <p:spPr bwMode="auto">
          <a:xfrm>
            <a:off x="3659188" y="201453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26646" name="Text Box 22"/>
          <p:cNvSpPr txBox="1">
            <a:spLocks noChangeArrowheads="1"/>
          </p:cNvSpPr>
          <p:nvPr/>
        </p:nvSpPr>
        <p:spPr bwMode="auto">
          <a:xfrm rot="19986914">
            <a:off x="2376488" y="22828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6647" name="Text Box 23"/>
          <p:cNvSpPr txBox="1">
            <a:spLocks noChangeArrowheads="1"/>
          </p:cNvSpPr>
          <p:nvPr/>
        </p:nvSpPr>
        <p:spPr bwMode="auto">
          <a:xfrm rot="16251548">
            <a:off x="3193257" y="2670969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6648" name="Text Box 24"/>
          <p:cNvSpPr txBox="1">
            <a:spLocks noChangeArrowheads="1"/>
          </p:cNvSpPr>
          <p:nvPr/>
        </p:nvSpPr>
        <p:spPr bwMode="auto">
          <a:xfrm rot="19479436">
            <a:off x="4884738" y="33496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6649" name="Text Box 25"/>
          <p:cNvSpPr txBox="1">
            <a:spLocks noChangeArrowheads="1"/>
          </p:cNvSpPr>
          <p:nvPr/>
        </p:nvSpPr>
        <p:spPr bwMode="auto">
          <a:xfrm>
            <a:off x="3582988" y="381158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 14</a:t>
            </a:r>
          </a:p>
        </p:txBody>
      </p:sp>
      <p:sp>
        <p:nvSpPr>
          <p:cNvPr id="26650" name="Text Box 26"/>
          <p:cNvSpPr txBox="1">
            <a:spLocks noChangeArrowheads="1"/>
          </p:cNvSpPr>
          <p:nvPr/>
        </p:nvSpPr>
        <p:spPr bwMode="auto">
          <a:xfrm rot="1953558">
            <a:off x="4792663" y="2360613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26651" name="Text Box 27"/>
          <p:cNvSpPr txBox="1">
            <a:spLocks noChangeArrowheads="1"/>
          </p:cNvSpPr>
          <p:nvPr/>
        </p:nvSpPr>
        <p:spPr bwMode="auto">
          <a:xfrm rot="16251548">
            <a:off x="4261644" y="2672557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26652" name="Text Box 28"/>
          <p:cNvSpPr txBox="1">
            <a:spLocks noChangeArrowheads="1"/>
          </p:cNvSpPr>
          <p:nvPr/>
        </p:nvSpPr>
        <p:spPr bwMode="auto">
          <a:xfrm rot="18444138">
            <a:off x="3801269" y="2910682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26653" name="Oval 30"/>
          <p:cNvSpPr>
            <a:spLocks noChangeArrowheads="1"/>
          </p:cNvSpPr>
          <p:nvPr/>
        </p:nvSpPr>
        <p:spPr bwMode="auto">
          <a:xfrm>
            <a:off x="1944688" y="5410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6654" name="Oval 31"/>
          <p:cNvSpPr>
            <a:spLocks noChangeArrowheads="1"/>
          </p:cNvSpPr>
          <p:nvPr/>
        </p:nvSpPr>
        <p:spPr bwMode="auto">
          <a:xfrm>
            <a:off x="5373688" y="5410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6655" name="Oval 32"/>
          <p:cNvSpPr>
            <a:spLocks noChangeArrowheads="1"/>
          </p:cNvSpPr>
          <p:nvPr/>
        </p:nvSpPr>
        <p:spPr bwMode="auto">
          <a:xfrm>
            <a:off x="3087688" y="4648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6656" name="Oval 33"/>
          <p:cNvSpPr>
            <a:spLocks noChangeArrowheads="1"/>
          </p:cNvSpPr>
          <p:nvPr/>
        </p:nvSpPr>
        <p:spPr bwMode="auto">
          <a:xfrm>
            <a:off x="3087688" y="6172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6657" name="Oval 34"/>
          <p:cNvSpPr>
            <a:spLocks noChangeArrowheads="1"/>
          </p:cNvSpPr>
          <p:nvPr/>
        </p:nvSpPr>
        <p:spPr bwMode="auto">
          <a:xfrm>
            <a:off x="4230688" y="46101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6658" name="Oval 35"/>
          <p:cNvSpPr>
            <a:spLocks noChangeArrowheads="1"/>
          </p:cNvSpPr>
          <p:nvPr/>
        </p:nvSpPr>
        <p:spPr bwMode="auto">
          <a:xfrm>
            <a:off x="4230688" y="6172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6659" name="Line 36"/>
          <p:cNvSpPr>
            <a:spLocks noChangeShapeType="1"/>
          </p:cNvSpPr>
          <p:nvPr/>
        </p:nvSpPr>
        <p:spPr bwMode="auto">
          <a:xfrm>
            <a:off x="3506788" y="48387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6660" name="Line 37"/>
          <p:cNvSpPr>
            <a:spLocks noChangeShapeType="1"/>
          </p:cNvSpPr>
          <p:nvPr/>
        </p:nvSpPr>
        <p:spPr bwMode="auto">
          <a:xfrm>
            <a:off x="3506788" y="63627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6661" name="Line 38"/>
          <p:cNvSpPr>
            <a:spLocks noChangeShapeType="1"/>
          </p:cNvSpPr>
          <p:nvPr/>
        </p:nvSpPr>
        <p:spPr bwMode="auto">
          <a:xfrm flipV="1">
            <a:off x="2133601" y="4913313"/>
            <a:ext cx="989013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62" name="Line 39"/>
          <p:cNvSpPr>
            <a:spLocks noChangeShapeType="1"/>
          </p:cNvSpPr>
          <p:nvPr/>
        </p:nvSpPr>
        <p:spPr bwMode="auto">
          <a:xfrm>
            <a:off x="2135188" y="5753100"/>
            <a:ext cx="9144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63" name="Line 40"/>
          <p:cNvSpPr>
            <a:spLocks noChangeShapeType="1"/>
          </p:cNvSpPr>
          <p:nvPr/>
        </p:nvSpPr>
        <p:spPr bwMode="auto">
          <a:xfrm>
            <a:off x="3201988" y="4991100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64" name="Line 41"/>
          <p:cNvSpPr>
            <a:spLocks noChangeShapeType="1"/>
          </p:cNvSpPr>
          <p:nvPr/>
        </p:nvSpPr>
        <p:spPr bwMode="auto">
          <a:xfrm flipV="1">
            <a:off x="3354388" y="4991100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65" name="Line 42"/>
          <p:cNvSpPr>
            <a:spLocks noChangeShapeType="1"/>
          </p:cNvSpPr>
          <p:nvPr/>
        </p:nvSpPr>
        <p:spPr bwMode="auto">
          <a:xfrm flipV="1">
            <a:off x="4421188" y="4991100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66" name="Line 43"/>
          <p:cNvSpPr>
            <a:spLocks noChangeShapeType="1"/>
          </p:cNvSpPr>
          <p:nvPr/>
        </p:nvSpPr>
        <p:spPr bwMode="auto">
          <a:xfrm flipH="1">
            <a:off x="3430588" y="4991100"/>
            <a:ext cx="91440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67" name="Line 44"/>
          <p:cNvSpPr>
            <a:spLocks noChangeShapeType="1"/>
          </p:cNvSpPr>
          <p:nvPr/>
        </p:nvSpPr>
        <p:spPr bwMode="auto">
          <a:xfrm>
            <a:off x="4573588" y="4914900"/>
            <a:ext cx="8382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68" name="Line 45"/>
          <p:cNvSpPr>
            <a:spLocks noChangeShapeType="1"/>
          </p:cNvSpPr>
          <p:nvPr/>
        </p:nvSpPr>
        <p:spPr bwMode="auto">
          <a:xfrm flipV="1">
            <a:off x="4649788" y="5753100"/>
            <a:ext cx="7620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69" name="Text Box 46"/>
          <p:cNvSpPr txBox="1">
            <a:spLocks noChangeArrowheads="1"/>
          </p:cNvSpPr>
          <p:nvPr/>
        </p:nvSpPr>
        <p:spPr bwMode="auto">
          <a:xfrm rot="16251548">
            <a:off x="2732882" y="5225257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26670" name="Text Box 47"/>
          <p:cNvSpPr txBox="1">
            <a:spLocks noChangeArrowheads="1"/>
          </p:cNvSpPr>
          <p:nvPr/>
        </p:nvSpPr>
        <p:spPr bwMode="auto">
          <a:xfrm rot="1671448">
            <a:off x="2279650" y="61309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13</a:t>
            </a:r>
          </a:p>
        </p:txBody>
      </p:sp>
      <p:sp>
        <p:nvSpPr>
          <p:cNvPr id="26671" name="Text Box 48"/>
          <p:cNvSpPr txBox="1">
            <a:spLocks noChangeArrowheads="1"/>
          </p:cNvSpPr>
          <p:nvPr/>
        </p:nvSpPr>
        <p:spPr bwMode="auto">
          <a:xfrm>
            <a:off x="3505200" y="4419601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12/12</a:t>
            </a:r>
          </a:p>
        </p:txBody>
      </p:sp>
      <p:sp>
        <p:nvSpPr>
          <p:cNvPr id="26672" name="Text Box 49"/>
          <p:cNvSpPr txBox="1">
            <a:spLocks noChangeArrowheads="1"/>
          </p:cNvSpPr>
          <p:nvPr/>
        </p:nvSpPr>
        <p:spPr bwMode="auto">
          <a:xfrm rot="19986914">
            <a:off x="2116138" y="4806951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12/16</a:t>
            </a:r>
          </a:p>
        </p:txBody>
      </p:sp>
      <p:sp>
        <p:nvSpPr>
          <p:cNvPr id="26673" name="Text Box 50"/>
          <p:cNvSpPr txBox="1">
            <a:spLocks noChangeArrowheads="1"/>
          </p:cNvSpPr>
          <p:nvPr/>
        </p:nvSpPr>
        <p:spPr bwMode="auto">
          <a:xfrm rot="16251548">
            <a:off x="3191669" y="5225257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6674" name="Text Box 51"/>
          <p:cNvSpPr txBox="1">
            <a:spLocks noChangeArrowheads="1"/>
          </p:cNvSpPr>
          <p:nvPr/>
        </p:nvSpPr>
        <p:spPr bwMode="auto">
          <a:xfrm rot="19479436">
            <a:off x="4884738" y="590073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6675" name="Text Box 52"/>
          <p:cNvSpPr txBox="1">
            <a:spLocks noChangeArrowheads="1"/>
          </p:cNvSpPr>
          <p:nvPr/>
        </p:nvSpPr>
        <p:spPr bwMode="auto">
          <a:xfrm>
            <a:off x="3582988" y="6362701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 14</a:t>
            </a:r>
          </a:p>
        </p:txBody>
      </p:sp>
      <p:sp>
        <p:nvSpPr>
          <p:cNvPr id="26676" name="Text Box 53"/>
          <p:cNvSpPr txBox="1">
            <a:spLocks noChangeArrowheads="1"/>
          </p:cNvSpPr>
          <p:nvPr/>
        </p:nvSpPr>
        <p:spPr bwMode="auto">
          <a:xfrm rot="1953558">
            <a:off x="4772025" y="4972051"/>
            <a:ext cx="920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12/20</a:t>
            </a:r>
          </a:p>
        </p:txBody>
      </p:sp>
      <p:sp>
        <p:nvSpPr>
          <p:cNvPr id="26677" name="Text Box 54"/>
          <p:cNvSpPr txBox="1">
            <a:spLocks noChangeArrowheads="1"/>
          </p:cNvSpPr>
          <p:nvPr/>
        </p:nvSpPr>
        <p:spPr bwMode="auto">
          <a:xfrm rot="16251548">
            <a:off x="4260057" y="5226844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26678" name="Text Box 55"/>
          <p:cNvSpPr txBox="1">
            <a:spLocks noChangeArrowheads="1"/>
          </p:cNvSpPr>
          <p:nvPr/>
        </p:nvSpPr>
        <p:spPr bwMode="auto">
          <a:xfrm rot="18444138">
            <a:off x="3801269" y="5461794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26679" name="Text Box 56"/>
          <p:cNvSpPr txBox="1">
            <a:spLocks noChangeArrowheads="1"/>
          </p:cNvSpPr>
          <p:nvPr/>
        </p:nvSpPr>
        <p:spPr bwMode="auto">
          <a:xfrm>
            <a:off x="1524000" y="4227513"/>
            <a:ext cx="2286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GB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new flow network G</a:t>
            </a:r>
            <a:r>
              <a:rPr lang="de-DE" altLang="zh-CN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6680" name="Line 58"/>
          <p:cNvSpPr>
            <a:spLocks noChangeShapeType="1"/>
          </p:cNvSpPr>
          <p:nvPr/>
        </p:nvSpPr>
        <p:spPr bwMode="auto">
          <a:xfrm flipH="1">
            <a:off x="2286000" y="2438400"/>
            <a:ext cx="838200" cy="4572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6681" name="Line 59"/>
          <p:cNvSpPr>
            <a:spLocks noChangeShapeType="1"/>
          </p:cNvSpPr>
          <p:nvPr/>
        </p:nvSpPr>
        <p:spPr bwMode="auto">
          <a:xfrm flipH="1" flipV="1">
            <a:off x="4419600" y="2362200"/>
            <a:ext cx="914400" cy="6096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6682" name="Text Box 60"/>
          <p:cNvSpPr txBox="1">
            <a:spLocks noChangeArrowheads="1"/>
          </p:cNvSpPr>
          <p:nvPr/>
        </p:nvSpPr>
        <p:spPr bwMode="auto">
          <a:xfrm rot="19882963">
            <a:off x="2444750" y="25876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26683" name="Text Box 61"/>
          <p:cNvSpPr txBox="1">
            <a:spLocks noChangeArrowheads="1"/>
          </p:cNvSpPr>
          <p:nvPr/>
        </p:nvSpPr>
        <p:spPr bwMode="auto">
          <a:xfrm rot="1953558">
            <a:off x="4562475" y="26638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 </a:t>
            </a:r>
          </a:p>
        </p:txBody>
      </p:sp>
      <p:graphicFrame>
        <p:nvGraphicFramePr>
          <p:cNvPr id="26626" name="Object 2"/>
          <p:cNvGraphicFramePr>
            <a:graphicFrameLocks noChangeAspect="1"/>
          </p:cNvGraphicFramePr>
          <p:nvPr/>
        </p:nvGraphicFramePr>
        <p:xfrm>
          <a:off x="5754688" y="1681164"/>
          <a:ext cx="4832350" cy="371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kument" r:id="rId2" imgW="4516120" imgH="3467100" progId="Word.Document.8">
                  <p:embed/>
                </p:oleObj>
              </mc:Choice>
              <mc:Fallback>
                <p:oleObj name="Dokument" r:id="rId2" imgW="4516120" imgH="3467100" progId="Word.Document.8">
                  <p:embed/>
                  <p:pic>
                    <p:nvPicPr>
                      <p:cNvPr id="266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4688" y="1681164"/>
                        <a:ext cx="4832350" cy="371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85" name="Text Box 29"/>
          <p:cNvSpPr txBox="1">
            <a:spLocks noChangeArrowheads="1"/>
          </p:cNvSpPr>
          <p:nvPr/>
        </p:nvSpPr>
        <p:spPr bwMode="auto">
          <a:xfrm>
            <a:off x="1524000" y="1676401"/>
            <a:ext cx="2514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GB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residual network G</a:t>
            </a:r>
            <a:r>
              <a:rPr lang="en-GB" altLang="zh-CN" b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de-DE" altLang="zh-CN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1B89CF-0A6A-A780-025C-9A3AB5164123}"/>
              </a:ext>
            </a:extLst>
          </p:cNvPr>
          <p:cNvSpPr txBox="1"/>
          <p:nvPr/>
        </p:nvSpPr>
        <p:spPr>
          <a:xfrm>
            <a:off x="380724" y="299408"/>
            <a:ext cx="45771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Ford-Fulkerson</a:t>
            </a:r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算法</a:t>
            </a:r>
          </a:p>
        </p:txBody>
      </p:sp>
      <p:sp>
        <p:nvSpPr>
          <p:cNvPr id="3" name="圆角矩形 8">
            <a:extLst>
              <a:ext uri="{FF2B5EF4-FFF2-40B4-BE49-F238E27FC236}">
                <a16:creationId xmlns:a16="http://schemas.microsoft.com/office/drawing/2014/main" id="{557F7E30-2A74-F311-0AF9-C1536B6D5B0E}"/>
              </a:ext>
            </a:extLst>
          </p:cNvPr>
          <p:cNvSpPr/>
          <p:nvPr/>
        </p:nvSpPr>
        <p:spPr>
          <a:xfrm>
            <a:off x="238664" y="311105"/>
            <a:ext cx="4644422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63EFED4-9378-B049-7FC3-EF69DB45C6E4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F7D0611-6B92-7E08-E20D-886355521CA3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16584771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Oval 30"/>
          <p:cNvSpPr>
            <a:spLocks noChangeArrowheads="1"/>
          </p:cNvSpPr>
          <p:nvPr/>
        </p:nvSpPr>
        <p:spPr bwMode="auto">
          <a:xfrm>
            <a:off x="1944688" y="5410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7652" name="Oval 31"/>
          <p:cNvSpPr>
            <a:spLocks noChangeArrowheads="1"/>
          </p:cNvSpPr>
          <p:nvPr/>
        </p:nvSpPr>
        <p:spPr bwMode="auto">
          <a:xfrm>
            <a:off x="5373688" y="5410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7653" name="Oval 32"/>
          <p:cNvSpPr>
            <a:spLocks noChangeArrowheads="1"/>
          </p:cNvSpPr>
          <p:nvPr/>
        </p:nvSpPr>
        <p:spPr bwMode="auto">
          <a:xfrm>
            <a:off x="3124200" y="4648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7654" name="Oval 33"/>
          <p:cNvSpPr>
            <a:spLocks noChangeArrowheads="1"/>
          </p:cNvSpPr>
          <p:nvPr/>
        </p:nvSpPr>
        <p:spPr bwMode="auto">
          <a:xfrm>
            <a:off x="3087688" y="6172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7655" name="Oval 34"/>
          <p:cNvSpPr>
            <a:spLocks noChangeArrowheads="1"/>
          </p:cNvSpPr>
          <p:nvPr/>
        </p:nvSpPr>
        <p:spPr bwMode="auto">
          <a:xfrm>
            <a:off x="4238625" y="4632325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7656" name="Oval 35"/>
          <p:cNvSpPr>
            <a:spLocks noChangeArrowheads="1"/>
          </p:cNvSpPr>
          <p:nvPr/>
        </p:nvSpPr>
        <p:spPr bwMode="auto">
          <a:xfrm>
            <a:off x="4230688" y="6172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7657" name="Line 36"/>
          <p:cNvSpPr>
            <a:spLocks noChangeShapeType="1"/>
          </p:cNvSpPr>
          <p:nvPr/>
        </p:nvSpPr>
        <p:spPr bwMode="auto">
          <a:xfrm>
            <a:off x="3506788" y="48387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7658" name="Line 37"/>
          <p:cNvSpPr>
            <a:spLocks noChangeShapeType="1"/>
          </p:cNvSpPr>
          <p:nvPr/>
        </p:nvSpPr>
        <p:spPr bwMode="auto">
          <a:xfrm>
            <a:off x="3506788" y="63627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7659" name="Line 38"/>
          <p:cNvSpPr>
            <a:spLocks noChangeShapeType="1"/>
          </p:cNvSpPr>
          <p:nvPr/>
        </p:nvSpPr>
        <p:spPr bwMode="auto">
          <a:xfrm flipV="1">
            <a:off x="2133601" y="4913313"/>
            <a:ext cx="989013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0" name="Line 39"/>
          <p:cNvSpPr>
            <a:spLocks noChangeShapeType="1"/>
          </p:cNvSpPr>
          <p:nvPr/>
        </p:nvSpPr>
        <p:spPr bwMode="auto">
          <a:xfrm>
            <a:off x="2135188" y="5753100"/>
            <a:ext cx="9144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1" name="Line 40"/>
          <p:cNvSpPr>
            <a:spLocks noChangeShapeType="1"/>
          </p:cNvSpPr>
          <p:nvPr/>
        </p:nvSpPr>
        <p:spPr bwMode="auto">
          <a:xfrm>
            <a:off x="3201988" y="4991100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2" name="Line 41"/>
          <p:cNvSpPr>
            <a:spLocks noChangeShapeType="1"/>
          </p:cNvSpPr>
          <p:nvPr/>
        </p:nvSpPr>
        <p:spPr bwMode="auto">
          <a:xfrm flipV="1">
            <a:off x="3354388" y="4991100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3" name="Line 42"/>
          <p:cNvSpPr>
            <a:spLocks noChangeShapeType="1"/>
          </p:cNvSpPr>
          <p:nvPr/>
        </p:nvSpPr>
        <p:spPr bwMode="auto">
          <a:xfrm flipV="1">
            <a:off x="4421188" y="4991100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4" name="Line 43"/>
          <p:cNvSpPr>
            <a:spLocks noChangeShapeType="1"/>
          </p:cNvSpPr>
          <p:nvPr/>
        </p:nvSpPr>
        <p:spPr bwMode="auto">
          <a:xfrm flipH="1">
            <a:off x="3430588" y="4991100"/>
            <a:ext cx="91440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5" name="Line 44"/>
          <p:cNvSpPr>
            <a:spLocks noChangeShapeType="1"/>
          </p:cNvSpPr>
          <p:nvPr/>
        </p:nvSpPr>
        <p:spPr bwMode="auto">
          <a:xfrm>
            <a:off x="4573588" y="4914900"/>
            <a:ext cx="8382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6" name="Line 45"/>
          <p:cNvSpPr>
            <a:spLocks noChangeShapeType="1"/>
          </p:cNvSpPr>
          <p:nvPr/>
        </p:nvSpPr>
        <p:spPr bwMode="auto">
          <a:xfrm flipV="1">
            <a:off x="4649788" y="5753100"/>
            <a:ext cx="7620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7" name="Text Box 46"/>
          <p:cNvSpPr txBox="1">
            <a:spLocks noChangeArrowheads="1"/>
          </p:cNvSpPr>
          <p:nvPr/>
        </p:nvSpPr>
        <p:spPr bwMode="auto">
          <a:xfrm rot="16251548">
            <a:off x="2736057" y="5188744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27668" name="Text Box 47"/>
          <p:cNvSpPr txBox="1">
            <a:spLocks noChangeArrowheads="1"/>
          </p:cNvSpPr>
          <p:nvPr/>
        </p:nvSpPr>
        <p:spPr bwMode="auto">
          <a:xfrm rot="1671448">
            <a:off x="2279650" y="61309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13</a:t>
            </a:r>
          </a:p>
        </p:txBody>
      </p:sp>
      <p:sp>
        <p:nvSpPr>
          <p:cNvPr id="27669" name="Text Box 48"/>
          <p:cNvSpPr txBox="1">
            <a:spLocks noChangeArrowheads="1"/>
          </p:cNvSpPr>
          <p:nvPr/>
        </p:nvSpPr>
        <p:spPr bwMode="auto">
          <a:xfrm>
            <a:off x="3505200" y="4495801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12/12</a:t>
            </a:r>
          </a:p>
        </p:txBody>
      </p:sp>
      <p:sp>
        <p:nvSpPr>
          <p:cNvPr id="27670" name="Text Box 49"/>
          <p:cNvSpPr txBox="1">
            <a:spLocks noChangeArrowheads="1"/>
          </p:cNvSpPr>
          <p:nvPr/>
        </p:nvSpPr>
        <p:spPr bwMode="auto">
          <a:xfrm rot="19986914">
            <a:off x="2154238" y="4695826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12/16</a:t>
            </a:r>
          </a:p>
        </p:txBody>
      </p:sp>
      <p:sp>
        <p:nvSpPr>
          <p:cNvPr id="27671" name="Text Box 50"/>
          <p:cNvSpPr txBox="1">
            <a:spLocks noChangeArrowheads="1"/>
          </p:cNvSpPr>
          <p:nvPr/>
        </p:nvSpPr>
        <p:spPr bwMode="auto">
          <a:xfrm rot="16251548">
            <a:off x="3191669" y="5225257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7672" name="Text Box 51"/>
          <p:cNvSpPr txBox="1">
            <a:spLocks noChangeArrowheads="1"/>
          </p:cNvSpPr>
          <p:nvPr/>
        </p:nvSpPr>
        <p:spPr bwMode="auto">
          <a:xfrm rot="19479436">
            <a:off x="4884738" y="590073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7673" name="Text Box 52"/>
          <p:cNvSpPr txBox="1">
            <a:spLocks noChangeArrowheads="1"/>
          </p:cNvSpPr>
          <p:nvPr/>
        </p:nvSpPr>
        <p:spPr bwMode="auto">
          <a:xfrm>
            <a:off x="3582988" y="6362701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 14</a:t>
            </a:r>
          </a:p>
        </p:txBody>
      </p:sp>
      <p:sp>
        <p:nvSpPr>
          <p:cNvPr id="27674" name="Text Box 53"/>
          <p:cNvSpPr txBox="1">
            <a:spLocks noChangeArrowheads="1"/>
          </p:cNvSpPr>
          <p:nvPr/>
        </p:nvSpPr>
        <p:spPr bwMode="auto">
          <a:xfrm rot="1953558">
            <a:off x="4803775" y="4848226"/>
            <a:ext cx="920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12/20</a:t>
            </a:r>
          </a:p>
        </p:txBody>
      </p:sp>
      <p:sp>
        <p:nvSpPr>
          <p:cNvPr id="27675" name="Text Box 54"/>
          <p:cNvSpPr txBox="1">
            <a:spLocks noChangeArrowheads="1"/>
          </p:cNvSpPr>
          <p:nvPr/>
        </p:nvSpPr>
        <p:spPr bwMode="auto">
          <a:xfrm rot="16251548">
            <a:off x="4260057" y="5226844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27676" name="Text Box 55"/>
          <p:cNvSpPr txBox="1">
            <a:spLocks noChangeArrowheads="1"/>
          </p:cNvSpPr>
          <p:nvPr/>
        </p:nvSpPr>
        <p:spPr bwMode="auto">
          <a:xfrm rot="18444138">
            <a:off x="3801269" y="5461794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27677" name="Text Box 56"/>
          <p:cNvSpPr txBox="1">
            <a:spLocks noChangeArrowheads="1"/>
          </p:cNvSpPr>
          <p:nvPr/>
        </p:nvSpPr>
        <p:spPr bwMode="auto">
          <a:xfrm>
            <a:off x="1524000" y="4227513"/>
            <a:ext cx="2286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GB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new flow network G</a:t>
            </a:r>
            <a:r>
              <a:rPr lang="de-DE" altLang="zh-CN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7678" name="Text Box 62"/>
          <p:cNvSpPr txBox="1">
            <a:spLocks noChangeArrowheads="1"/>
          </p:cNvSpPr>
          <p:nvPr/>
        </p:nvSpPr>
        <p:spPr bwMode="auto">
          <a:xfrm>
            <a:off x="6324600" y="5257801"/>
            <a:ext cx="4114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GB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temporary variable:</a:t>
            </a:r>
          </a:p>
          <a:p>
            <a:pPr eaLnBrk="1" hangingPunct="1"/>
            <a:r>
              <a:rPr lang="en-GB" altLang="zh-CN" sz="24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altLang="zh-CN" sz="2400" b="1" baseline="-3000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GB" altLang="zh-CN" sz="24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(p) = 4</a:t>
            </a:r>
            <a:endParaRPr lang="de-DE" altLang="zh-CN" sz="2400" b="1">
              <a:solidFill>
                <a:srgbClr val="FF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679" name="Oval 64"/>
          <p:cNvSpPr>
            <a:spLocks noChangeArrowheads="1"/>
          </p:cNvSpPr>
          <p:nvPr/>
        </p:nvSpPr>
        <p:spPr bwMode="auto">
          <a:xfrm>
            <a:off x="1944688" y="2859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7680" name="Oval 65"/>
          <p:cNvSpPr>
            <a:spLocks noChangeArrowheads="1"/>
          </p:cNvSpPr>
          <p:nvPr/>
        </p:nvSpPr>
        <p:spPr bwMode="auto">
          <a:xfrm>
            <a:off x="5373688" y="2859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7681" name="Oval 66"/>
          <p:cNvSpPr>
            <a:spLocks noChangeArrowheads="1"/>
          </p:cNvSpPr>
          <p:nvPr/>
        </p:nvSpPr>
        <p:spPr bwMode="auto">
          <a:xfrm>
            <a:off x="3087688" y="2097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7682" name="Oval 67"/>
          <p:cNvSpPr>
            <a:spLocks noChangeArrowheads="1"/>
          </p:cNvSpPr>
          <p:nvPr/>
        </p:nvSpPr>
        <p:spPr bwMode="auto">
          <a:xfrm>
            <a:off x="3087688" y="3621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7683" name="Oval 68"/>
          <p:cNvSpPr>
            <a:spLocks noChangeArrowheads="1"/>
          </p:cNvSpPr>
          <p:nvPr/>
        </p:nvSpPr>
        <p:spPr bwMode="auto">
          <a:xfrm>
            <a:off x="4230688" y="20589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7684" name="Oval 69"/>
          <p:cNvSpPr>
            <a:spLocks noChangeArrowheads="1"/>
          </p:cNvSpPr>
          <p:nvPr/>
        </p:nvSpPr>
        <p:spPr bwMode="auto">
          <a:xfrm>
            <a:off x="4230688" y="3621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7685" name="Line 70"/>
          <p:cNvSpPr>
            <a:spLocks noChangeShapeType="1"/>
          </p:cNvSpPr>
          <p:nvPr/>
        </p:nvSpPr>
        <p:spPr bwMode="auto">
          <a:xfrm flipH="1">
            <a:off x="3506788" y="2287588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7686" name="Line 71"/>
          <p:cNvSpPr>
            <a:spLocks noChangeShapeType="1"/>
          </p:cNvSpPr>
          <p:nvPr/>
        </p:nvSpPr>
        <p:spPr bwMode="auto">
          <a:xfrm>
            <a:off x="3506788" y="3811588"/>
            <a:ext cx="762000" cy="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7687" name="Line 72"/>
          <p:cNvSpPr>
            <a:spLocks noChangeShapeType="1"/>
          </p:cNvSpPr>
          <p:nvPr/>
        </p:nvSpPr>
        <p:spPr bwMode="auto">
          <a:xfrm flipV="1">
            <a:off x="2133601" y="2362200"/>
            <a:ext cx="989013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88" name="Line 73"/>
          <p:cNvSpPr>
            <a:spLocks noChangeShapeType="1"/>
          </p:cNvSpPr>
          <p:nvPr/>
        </p:nvSpPr>
        <p:spPr bwMode="auto">
          <a:xfrm>
            <a:off x="2135188" y="3201988"/>
            <a:ext cx="914400" cy="533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89" name="Line 74"/>
          <p:cNvSpPr>
            <a:spLocks noChangeShapeType="1"/>
          </p:cNvSpPr>
          <p:nvPr/>
        </p:nvSpPr>
        <p:spPr bwMode="auto">
          <a:xfrm>
            <a:off x="3201988" y="2439988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90" name="Line 75"/>
          <p:cNvSpPr>
            <a:spLocks noChangeShapeType="1"/>
          </p:cNvSpPr>
          <p:nvPr/>
        </p:nvSpPr>
        <p:spPr bwMode="auto">
          <a:xfrm flipV="1">
            <a:off x="3354388" y="2439988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91" name="Line 76"/>
          <p:cNvSpPr>
            <a:spLocks noChangeShapeType="1"/>
          </p:cNvSpPr>
          <p:nvPr/>
        </p:nvSpPr>
        <p:spPr bwMode="auto">
          <a:xfrm flipV="1">
            <a:off x="4421188" y="2439988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92" name="Line 77"/>
          <p:cNvSpPr>
            <a:spLocks noChangeShapeType="1"/>
          </p:cNvSpPr>
          <p:nvPr/>
        </p:nvSpPr>
        <p:spPr bwMode="auto">
          <a:xfrm flipH="1">
            <a:off x="3430588" y="2439988"/>
            <a:ext cx="91440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93" name="Line 78"/>
          <p:cNvSpPr>
            <a:spLocks noChangeShapeType="1"/>
          </p:cNvSpPr>
          <p:nvPr/>
        </p:nvSpPr>
        <p:spPr bwMode="auto">
          <a:xfrm>
            <a:off x="4573588" y="2363788"/>
            <a:ext cx="8382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94" name="Line 79"/>
          <p:cNvSpPr>
            <a:spLocks noChangeShapeType="1"/>
          </p:cNvSpPr>
          <p:nvPr/>
        </p:nvSpPr>
        <p:spPr bwMode="auto">
          <a:xfrm flipV="1">
            <a:off x="4649788" y="3201988"/>
            <a:ext cx="762000" cy="533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95" name="Text Box 80"/>
          <p:cNvSpPr txBox="1">
            <a:spLocks noChangeArrowheads="1"/>
          </p:cNvSpPr>
          <p:nvPr/>
        </p:nvSpPr>
        <p:spPr bwMode="auto">
          <a:xfrm rot="16251548">
            <a:off x="2734469" y="2674144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27696" name="Text Box 81"/>
          <p:cNvSpPr txBox="1">
            <a:spLocks noChangeArrowheads="1"/>
          </p:cNvSpPr>
          <p:nvPr/>
        </p:nvSpPr>
        <p:spPr bwMode="auto">
          <a:xfrm rot="1671448">
            <a:off x="2279650" y="3579813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13</a:t>
            </a:r>
          </a:p>
        </p:txBody>
      </p:sp>
      <p:sp>
        <p:nvSpPr>
          <p:cNvPr id="27697" name="Text Box 82"/>
          <p:cNvSpPr txBox="1">
            <a:spLocks noChangeArrowheads="1"/>
          </p:cNvSpPr>
          <p:nvPr/>
        </p:nvSpPr>
        <p:spPr bwMode="auto">
          <a:xfrm>
            <a:off x="3659188" y="201453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27698" name="Text Box 83"/>
          <p:cNvSpPr txBox="1">
            <a:spLocks noChangeArrowheads="1"/>
          </p:cNvSpPr>
          <p:nvPr/>
        </p:nvSpPr>
        <p:spPr bwMode="auto">
          <a:xfrm rot="19986914">
            <a:off x="2376488" y="22828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7699" name="Text Box 84"/>
          <p:cNvSpPr txBox="1">
            <a:spLocks noChangeArrowheads="1"/>
          </p:cNvSpPr>
          <p:nvPr/>
        </p:nvSpPr>
        <p:spPr bwMode="auto">
          <a:xfrm rot="16251548">
            <a:off x="3193257" y="2670969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7700" name="Text Box 85"/>
          <p:cNvSpPr txBox="1">
            <a:spLocks noChangeArrowheads="1"/>
          </p:cNvSpPr>
          <p:nvPr/>
        </p:nvSpPr>
        <p:spPr bwMode="auto">
          <a:xfrm rot="19479436">
            <a:off x="4884738" y="33496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solidFill>
                  <a:srgbClr val="FF3300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7701" name="Text Box 86"/>
          <p:cNvSpPr txBox="1">
            <a:spLocks noChangeArrowheads="1"/>
          </p:cNvSpPr>
          <p:nvPr/>
        </p:nvSpPr>
        <p:spPr bwMode="auto">
          <a:xfrm>
            <a:off x="3582988" y="381158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 14</a:t>
            </a:r>
          </a:p>
        </p:txBody>
      </p:sp>
      <p:sp>
        <p:nvSpPr>
          <p:cNvPr id="27702" name="Text Box 87"/>
          <p:cNvSpPr txBox="1">
            <a:spLocks noChangeArrowheads="1"/>
          </p:cNvSpPr>
          <p:nvPr/>
        </p:nvSpPr>
        <p:spPr bwMode="auto">
          <a:xfrm rot="1953558">
            <a:off x="4792663" y="2360613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27703" name="Text Box 88"/>
          <p:cNvSpPr txBox="1">
            <a:spLocks noChangeArrowheads="1"/>
          </p:cNvSpPr>
          <p:nvPr/>
        </p:nvSpPr>
        <p:spPr bwMode="auto">
          <a:xfrm rot="16251548">
            <a:off x="4261644" y="2672557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27704" name="Text Box 89"/>
          <p:cNvSpPr txBox="1">
            <a:spLocks noChangeArrowheads="1"/>
          </p:cNvSpPr>
          <p:nvPr/>
        </p:nvSpPr>
        <p:spPr bwMode="auto">
          <a:xfrm rot="18444138">
            <a:off x="3801269" y="2910682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27705" name="Line 90"/>
          <p:cNvSpPr>
            <a:spLocks noChangeShapeType="1"/>
          </p:cNvSpPr>
          <p:nvPr/>
        </p:nvSpPr>
        <p:spPr bwMode="auto">
          <a:xfrm flipH="1">
            <a:off x="2286000" y="2438400"/>
            <a:ext cx="838200" cy="4572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7706" name="Line 91"/>
          <p:cNvSpPr>
            <a:spLocks noChangeShapeType="1"/>
          </p:cNvSpPr>
          <p:nvPr/>
        </p:nvSpPr>
        <p:spPr bwMode="auto">
          <a:xfrm flipH="1" flipV="1">
            <a:off x="4419600" y="2362200"/>
            <a:ext cx="914400" cy="6096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7707" name="Text Box 92"/>
          <p:cNvSpPr txBox="1">
            <a:spLocks noChangeArrowheads="1"/>
          </p:cNvSpPr>
          <p:nvPr/>
        </p:nvSpPr>
        <p:spPr bwMode="auto">
          <a:xfrm rot="19882963">
            <a:off x="2444750" y="25876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27708" name="Text Box 93"/>
          <p:cNvSpPr txBox="1">
            <a:spLocks noChangeArrowheads="1"/>
          </p:cNvSpPr>
          <p:nvPr/>
        </p:nvSpPr>
        <p:spPr bwMode="auto">
          <a:xfrm rot="1953558">
            <a:off x="4562475" y="26638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 </a:t>
            </a:r>
          </a:p>
        </p:txBody>
      </p:sp>
      <p:graphicFrame>
        <p:nvGraphicFramePr>
          <p:cNvPr id="27650" name="Object 2"/>
          <p:cNvGraphicFramePr>
            <a:graphicFrameLocks noChangeAspect="1"/>
          </p:cNvGraphicFramePr>
          <p:nvPr/>
        </p:nvGraphicFramePr>
        <p:xfrm>
          <a:off x="5754688" y="1681164"/>
          <a:ext cx="4832350" cy="371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kument" r:id="rId2" imgW="4516120" imgH="3467100" progId="Word.Document.8">
                  <p:embed/>
                </p:oleObj>
              </mc:Choice>
              <mc:Fallback>
                <p:oleObj name="Dokument" r:id="rId2" imgW="4516120" imgH="3467100" progId="Word.Document.8">
                  <p:embed/>
                  <p:pic>
                    <p:nvPicPr>
                      <p:cNvPr id="276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4688" y="1681164"/>
                        <a:ext cx="4832350" cy="371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10" name="Text Box 29"/>
          <p:cNvSpPr txBox="1">
            <a:spLocks noChangeArrowheads="1"/>
          </p:cNvSpPr>
          <p:nvPr/>
        </p:nvSpPr>
        <p:spPr bwMode="auto">
          <a:xfrm>
            <a:off x="1524000" y="1676401"/>
            <a:ext cx="2514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GB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residual network G</a:t>
            </a:r>
            <a:r>
              <a:rPr lang="en-GB" altLang="zh-CN" b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de-DE" altLang="zh-CN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0143721-6B9E-AECC-3FD5-E641512E8E7F}"/>
              </a:ext>
            </a:extLst>
          </p:cNvPr>
          <p:cNvSpPr txBox="1"/>
          <p:nvPr/>
        </p:nvSpPr>
        <p:spPr>
          <a:xfrm>
            <a:off x="380724" y="299408"/>
            <a:ext cx="46444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Ford-Fulkerson</a:t>
            </a:r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算法</a:t>
            </a:r>
          </a:p>
        </p:txBody>
      </p:sp>
      <p:sp>
        <p:nvSpPr>
          <p:cNvPr id="3" name="圆角矩形 8">
            <a:extLst>
              <a:ext uri="{FF2B5EF4-FFF2-40B4-BE49-F238E27FC236}">
                <a16:creationId xmlns:a16="http://schemas.microsoft.com/office/drawing/2014/main" id="{E841E25F-F65D-623D-8216-7FA61958ADCC}"/>
              </a:ext>
            </a:extLst>
          </p:cNvPr>
          <p:cNvSpPr/>
          <p:nvPr/>
        </p:nvSpPr>
        <p:spPr>
          <a:xfrm>
            <a:off x="238664" y="311105"/>
            <a:ext cx="4644422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F075663-439B-2149-F7A7-D6AE00A67CDD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793FF39-D135-E20F-A4C2-4149E7EDE7C4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27450203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Oval 3"/>
          <p:cNvSpPr>
            <a:spLocks noChangeArrowheads="1"/>
          </p:cNvSpPr>
          <p:nvPr/>
        </p:nvSpPr>
        <p:spPr bwMode="auto">
          <a:xfrm>
            <a:off x="1944688" y="2859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8676" name="Oval 4"/>
          <p:cNvSpPr>
            <a:spLocks noChangeArrowheads="1"/>
          </p:cNvSpPr>
          <p:nvPr/>
        </p:nvSpPr>
        <p:spPr bwMode="auto">
          <a:xfrm>
            <a:off x="5373688" y="2859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8677" name="Oval 5"/>
          <p:cNvSpPr>
            <a:spLocks noChangeArrowheads="1"/>
          </p:cNvSpPr>
          <p:nvPr/>
        </p:nvSpPr>
        <p:spPr bwMode="auto">
          <a:xfrm>
            <a:off x="3087688" y="2097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8678" name="Oval 6"/>
          <p:cNvSpPr>
            <a:spLocks noChangeArrowheads="1"/>
          </p:cNvSpPr>
          <p:nvPr/>
        </p:nvSpPr>
        <p:spPr bwMode="auto">
          <a:xfrm>
            <a:off x="3087688" y="3621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8679" name="Oval 7"/>
          <p:cNvSpPr>
            <a:spLocks noChangeArrowheads="1"/>
          </p:cNvSpPr>
          <p:nvPr/>
        </p:nvSpPr>
        <p:spPr bwMode="auto">
          <a:xfrm>
            <a:off x="4230688" y="20589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8680" name="Oval 8"/>
          <p:cNvSpPr>
            <a:spLocks noChangeArrowheads="1"/>
          </p:cNvSpPr>
          <p:nvPr/>
        </p:nvSpPr>
        <p:spPr bwMode="auto">
          <a:xfrm>
            <a:off x="4230688" y="3621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8681" name="Line 9"/>
          <p:cNvSpPr>
            <a:spLocks noChangeShapeType="1"/>
          </p:cNvSpPr>
          <p:nvPr/>
        </p:nvSpPr>
        <p:spPr bwMode="auto">
          <a:xfrm flipH="1">
            <a:off x="3506788" y="2287588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8682" name="Line 10"/>
          <p:cNvSpPr>
            <a:spLocks noChangeShapeType="1"/>
          </p:cNvSpPr>
          <p:nvPr/>
        </p:nvSpPr>
        <p:spPr bwMode="auto">
          <a:xfrm>
            <a:off x="3506788" y="3811588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8683" name="Line 11"/>
          <p:cNvSpPr>
            <a:spLocks noChangeShapeType="1"/>
          </p:cNvSpPr>
          <p:nvPr/>
        </p:nvSpPr>
        <p:spPr bwMode="auto">
          <a:xfrm flipV="1">
            <a:off x="2133601" y="2362200"/>
            <a:ext cx="989013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4" name="Line 12"/>
          <p:cNvSpPr>
            <a:spLocks noChangeShapeType="1"/>
          </p:cNvSpPr>
          <p:nvPr/>
        </p:nvSpPr>
        <p:spPr bwMode="auto">
          <a:xfrm>
            <a:off x="2135188" y="3201988"/>
            <a:ext cx="9144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5" name="Line 13"/>
          <p:cNvSpPr>
            <a:spLocks noChangeShapeType="1"/>
          </p:cNvSpPr>
          <p:nvPr/>
        </p:nvSpPr>
        <p:spPr bwMode="auto">
          <a:xfrm>
            <a:off x="3201988" y="2439988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6" name="Line 14"/>
          <p:cNvSpPr>
            <a:spLocks noChangeShapeType="1"/>
          </p:cNvSpPr>
          <p:nvPr/>
        </p:nvSpPr>
        <p:spPr bwMode="auto">
          <a:xfrm flipV="1">
            <a:off x="3354388" y="2439988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7" name="Line 15"/>
          <p:cNvSpPr>
            <a:spLocks noChangeShapeType="1"/>
          </p:cNvSpPr>
          <p:nvPr/>
        </p:nvSpPr>
        <p:spPr bwMode="auto">
          <a:xfrm flipV="1">
            <a:off x="4421188" y="2439988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8" name="Line 16"/>
          <p:cNvSpPr>
            <a:spLocks noChangeShapeType="1"/>
          </p:cNvSpPr>
          <p:nvPr/>
        </p:nvSpPr>
        <p:spPr bwMode="auto">
          <a:xfrm flipH="1">
            <a:off x="3430588" y="2439988"/>
            <a:ext cx="91440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9" name="Line 17"/>
          <p:cNvSpPr>
            <a:spLocks noChangeShapeType="1"/>
          </p:cNvSpPr>
          <p:nvPr/>
        </p:nvSpPr>
        <p:spPr bwMode="auto">
          <a:xfrm>
            <a:off x="4573588" y="2363788"/>
            <a:ext cx="8382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90" name="Line 18"/>
          <p:cNvSpPr>
            <a:spLocks noChangeShapeType="1"/>
          </p:cNvSpPr>
          <p:nvPr/>
        </p:nvSpPr>
        <p:spPr bwMode="auto">
          <a:xfrm flipV="1">
            <a:off x="4649788" y="3201988"/>
            <a:ext cx="7620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91" name="Text Box 19"/>
          <p:cNvSpPr txBox="1">
            <a:spLocks noChangeArrowheads="1"/>
          </p:cNvSpPr>
          <p:nvPr/>
        </p:nvSpPr>
        <p:spPr bwMode="auto">
          <a:xfrm rot="16251548">
            <a:off x="2734469" y="2674144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28692" name="Text Box 20"/>
          <p:cNvSpPr txBox="1">
            <a:spLocks noChangeArrowheads="1"/>
          </p:cNvSpPr>
          <p:nvPr/>
        </p:nvSpPr>
        <p:spPr bwMode="auto">
          <a:xfrm rot="1671448">
            <a:off x="2279650" y="3579813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13</a:t>
            </a:r>
          </a:p>
        </p:txBody>
      </p:sp>
      <p:sp>
        <p:nvSpPr>
          <p:cNvPr id="28693" name="Text Box 21"/>
          <p:cNvSpPr txBox="1">
            <a:spLocks noChangeArrowheads="1"/>
          </p:cNvSpPr>
          <p:nvPr/>
        </p:nvSpPr>
        <p:spPr bwMode="auto">
          <a:xfrm>
            <a:off x="3659188" y="201453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28694" name="Text Box 22"/>
          <p:cNvSpPr txBox="1">
            <a:spLocks noChangeArrowheads="1"/>
          </p:cNvSpPr>
          <p:nvPr/>
        </p:nvSpPr>
        <p:spPr bwMode="auto">
          <a:xfrm rot="19986914">
            <a:off x="2376488" y="22828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8695" name="Text Box 23"/>
          <p:cNvSpPr txBox="1">
            <a:spLocks noChangeArrowheads="1"/>
          </p:cNvSpPr>
          <p:nvPr/>
        </p:nvSpPr>
        <p:spPr bwMode="auto">
          <a:xfrm rot="16251548">
            <a:off x="3193257" y="2670969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8696" name="Text Box 24"/>
          <p:cNvSpPr txBox="1">
            <a:spLocks noChangeArrowheads="1"/>
          </p:cNvSpPr>
          <p:nvPr/>
        </p:nvSpPr>
        <p:spPr bwMode="auto">
          <a:xfrm rot="19479436">
            <a:off x="4884738" y="33496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8697" name="Text Box 25"/>
          <p:cNvSpPr txBox="1">
            <a:spLocks noChangeArrowheads="1"/>
          </p:cNvSpPr>
          <p:nvPr/>
        </p:nvSpPr>
        <p:spPr bwMode="auto">
          <a:xfrm>
            <a:off x="3582988" y="381158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 14</a:t>
            </a:r>
          </a:p>
        </p:txBody>
      </p:sp>
      <p:sp>
        <p:nvSpPr>
          <p:cNvPr id="28698" name="Text Box 26"/>
          <p:cNvSpPr txBox="1">
            <a:spLocks noChangeArrowheads="1"/>
          </p:cNvSpPr>
          <p:nvPr/>
        </p:nvSpPr>
        <p:spPr bwMode="auto">
          <a:xfrm rot="1953558">
            <a:off x="4792663" y="2360613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28699" name="Text Box 27"/>
          <p:cNvSpPr txBox="1">
            <a:spLocks noChangeArrowheads="1"/>
          </p:cNvSpPr>
          <p:nvPr/>
        </p:nvSpPr>
        <p:spPr bwMode="auto">
          <a:xfrm rot="16251548">
            <a:off x="4261644" y="2672557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28700" name="Text Box 28"/>
          <p:cNvSpPr txBox="1">
            <a:spLocks noChangeArrowheads="1"/>
          </p:cNvSpPr>
          <p:nvPr/>
        </p:nvSpPr>
        <p:spPr bwMode="auto">
          <a:xfrm rot="18444138">
            <a:off x="3801269" y="2910682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28701" name="Text Box 29"/>
          <p:cNvSpPr txBox="1">
            <a:spLocks noChangeArrowheads="1"/>
          </p:cNvSpPr>
          <p:nvPr/>
        </p:nvSpPr>
        <p:spPr bwMode="auto">
          <a:xfrm>
            <a:off x="1524000" y="1676401"/>
            <a:ext cx="2514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GB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residual network G</a:t>
            </a:r>
            <a:r>
              <a:rPr lang="en-GB" altLang="zh-CN" b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de-DE" altLang="zh-CN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8702" name="Oval 30"/>
          <p:cNvSpPr>
            <a:spLocks noChangeArrowheads="1"/>
          </p:cNvSpPr>
          <p:nvPr/>
        </p:nvSpPr>
        <p:spPr bwMode="auto">
          <a:xfrm>
            <a:off x="1944688" y="5410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8703" name="Oval 31"/>
          <p:cNvSpPr>
            <a:spLocks noChangeArrowheads="1"/>
          </p:cNvSpPr>
          <p:nvPr/>
        </p:nvSpPr>
        <p:spPr bwMode="auto">
          <a:xfrm>
            <a:off x="5373688" y="5410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8704" name="Oval 32"/>
          <p:cNvSpPr>
            <a:spLocks noChangeArrowheads="1"/>
          </p:cNvSpPr>
          <p:nvPr/>
        </p:nvSpPr>
        <p:spPr bwMode="auto">
          <a:xfrm>
            <a:off x="3087688" y="4648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8705" name="Oval 33"/>
          <p:cNvSpPr>
            <a:spLocks noChangeArrowheads="1"/>
          </p:cNvSpPr>
          <p:nvPr/>
        </p:nvSpPr>
        <p:spPr bwMode="auto">
          <a:xfrm>
            <a:off x="3087688" y="6172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8706" name="Oval 34"/>
          <p:cNvSpPr>
            <a:spLocks noChangeArrowheads="1"/>
          </p:cNvSpPr>
          <p:nvPr/>
        </p:nvSpPr>
        <p:spPr bwMode="auto">
          <a:xfrm>
            <a:off x="4230688" y="46101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8707" name="Oval 35"/>
          <p:cNvSpPr>
            <a:spLocks noChangeArrowheads="1"/>
          </p:cNvSpPr>
          <p:nvPr/>
        </p:nvSpPr>
        <p:spPr bwMode="auto">
          <a:xfrm>
            <a:off x="4230688" y="6172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8708" name="Line 36"/>
          <p:cNvSpPr>
            <a:spLocks noChangeShapeType="1"/>
          </p:cNvSpPr>
          <p:nvPr/>
        </p:nvSpPr>
        <p:spPr bwMode="auto">
          <a:xfrm>
            <a:off x="3506788" y="48387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8709" name="Line 37"/>
          <p:cNvSpPr>
            <a:spLocks noChangeShapeType="1"/>
          </p:cNvSpPr>
          <p:nvPr/>
        </p:nvSpPr>
        <p:spPr bwMode="auto">
          <a:xfrm>
            <a:off x="3506788" y="6362700"/>
            <a:ext cx="762000" cy="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8710" name="Line 38"/>
          <p:cNvSpPr>
            <a:spLocks noChangeShapeType="1"/>
          </p:cNvSpPr>
          <p:nvPr/>
        </p:nvSpPr>
        <p:spPr bwMode="auto">
          <a:xfrm flipV="1">
            <a:off x="2133601" y="4913313"/>
            <a:ext cx="989013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11" name="Line 39"/>
          <p:cNvSpPr>
            <a:spLocks noChangeShapeType="1"/>
          </p:cNvSpPr>
          <p:nvPr/>
        </p:nvSpPr>
        <p:spPr bwMode="auto">
          <a:xfrm>
            <a:off x="2135188" y="5753100"/>
            <a:ext cx="914400" cy="533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12" name="Line 40"/>
          <p:cNvSpPr>
            <a:spLocks noChangeShapeType="1"/>
          </p:cNvSpPr>
          <p:nvPr/>
        </p:nvSpPr>
        <p:spPr bwMode="auto">
          <a:xfrm>
            <a:off x="3201988" y="4991100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13" name="Line 41"/>
          <p:cNvSpPr>
            <a:spLocks noChangeShapeType="1"/>
          </p:cNvSpPr>
          <p:nvPr/>
        </p:nvSpPr>
        <p:spPr bwMode="auto">
          <a:xfrm flipV="1">
            <a:off x="3354388" y="4991100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14" name="Line 42"/>
          <p:cNvSpPr>
            <a:spLocks noChangeShapeType="1"/>
          </p:cNvSpPr>
          <p:nvPr/>
        </p:nvSpPr>
        <p:spPr bwMode="auto">
          <a:xfrm flipV="1">
            <a:off x="4421188" y="4991100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15" name="Line 43"/>
          <p:cNvSpPr>
            <a:spLocks noChangeShapeType="1"/>
          </p:cNvSpPr>
          <p:nvPr/>
        </p:nvSpPr>
        <p:spPr bwMode="auto">
          <a:xfrm flipH="1">
            <a:off x="3430588" y="4991100"/>
            <a:ext cx="91440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16" name="Line 44"/>
          <p:cNvSpPr>
            <a:spLocks noChangeShapeType="1"/>
          </p:cNvSpPr>
          <p:nvPr/>
        </p:nvSpPr>
        <p:spPr bwMode="auto">
          <a:xfrm>
            <a:off x="4573588" y="4914900"/>
            <a:ext cx="8382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17" name="Line 45"/>
          <p:cNvSpPr>
            <a:spLocks noChangeShapeType="1"/>
          </p:cNvSpPr>
          <p:nvPr/>
        </p:nvSpPr>
        <p:spPr bwMode="auto">
          <a:xfrm flipV="1">
            <a:off x="4649788" y="5753100"/>
            <a:ext cx="762000" cy="533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18" name="Text Box 46"/>
          <p:cNvSpPr txBox="1">
            <a:spLocks noChangeArrowheads="1"/>
          </p:cNvSpPr>
          <p:nvPr/>
        </p:nvSpPr>
        <p:spPr bwMode="auto">
          <a:xfrm rot="16251548">
            <a:off x="2732882" y="5225257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28719" name="Text Box 47"/>
          <p:cNvSpPr txBox="1">
            <a:spLocks noChangeArrowheads="1"/>
          </p:cNvSpPr>
          <p:nvPr/>
        </p:nvSpPr>
        <p:spPr bwMode="auto">
          <a:xfrm rot="1671448">
            <a:off x="2279650" y="61309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4/13</a:t>
            </a:r>
          </a:p>
        </p:txBody>
      </p:sp>
      <p:sp>
        <p:nvSpPr>
          <p:cNvPr id="28720" name="Text Box 48"/>
          <p:cNvSpPr txBox="1">
            <a:spLocks noChangeArrowheads="1"/>
          </p:cNvSpPr>
          <p:nvPr/>
        </p:nvSpPr>
        <p:spPr bwMode="auto">
          <a:xfrm>
            <a:off x="3505200" y="4495801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12/12</a:t>
            </a:r>
          </a:p>
        </p:txBody>
      </p:sp>
      <p:sp>
        <p:nvSpPr>
          <p:cNvPr id="28721" name="Text Box 49"/>
          <p:cNvSpPr txBox="1">
            <a:spLocks noChangeArrowheads="1"/>
          </p:cNvSpPr>
          <p:nvPr/>
        </p:nvSpPr>
        <p:spPr bwMode="auto">
          <a:xfrm rot="19986914">
            <a:off x="2151063" y="4705351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12/16</a:t>
            </a:r>
          </a:p>
        </p:txBody>
      </p:sp>
      <p:sp>
        <p:nvSpPr>
          <p:cNvPr id="28722" name="Text Box 50"/>
          <p:cNvSpPr txBox="1">
            <a:spLocks noChangeArrowheads="1"/>
          </p:cNvSpPr>
          <p:nvPr/>
        </p:nvSpPr>
        <p:spPr bwMode="auto">
          <a:xfrm rot="16251548">
            <a:off x="3191669" y="5225257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8723" name="Text Box 51"/>
          <p:cNvSpPr txBox="1">
            <a:spLocks noChangeArrowheads="1"/>
          </p:cNvSpPr>
          <p:nvPr/>
        </p:nvSpPr>
        <p:spPr bwMode="auto">
          <a:xfrm rot="19479436">
            <a:off x="4884738" y="590073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4/4</a:t>
            </a:r>
          </a:p>
        </p:txBody>
      </p:sp>
      <p:sp>
        <p:nvSpPr>
          <p:cNvPr id="28724" name="Text Box 52"/>
          <p:cNvSpPr txBox="1">
            <a:spLocks noChangeArrowheads="1"/>
          </p:cNvSpPr>
          <p:nvPr/>
        </p:nvSpPr>
        <p:spPr bwMode="auto">
          <a:xfrm>
            <a:off x="3582988" y="6362701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 4/14</a:t>
            </a:r>
          </a:p>
        </p:txBody>
      </p:sp>
      <p:sp>
        <p:nvSpPr>
          <p:cNvPr id="28725" name="Text Box 53"/>
          <p:cNvSpPr txBox="1">
            <a:spLocks noChangeArrowheads="1"/>
          </p:cNvSpPr>
          <p:nvPr/>
        </p:nvSpPr>
        <p:spPr bwMode="auto">
          <a:xfrm rot="1953558">
            <a:off x="4772025" y="4972051"/>
            <a:ext cx="920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12/20</a:t>
            </a:r>
          </a:p>
        </p:txBody>
      </p:sp>
      <p:sp>
        <p:nvSpPr>
          <p:cNvPr id="28726" name="Text Box 54"/>
          <p:cNvSpPr txBox="1">
            <a:spLocks noChangeArrowheads="1"/>
          </p:cNvSpPr>
          <p:nvPr/>
        </p:nvSpPr>
        <p:spPr bwMode="auto">
          <a:xfrm rot="16251548">
            <a:off x="4260057" y="5226844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28727" name="Text Box 55"/>
          <p:cNvSpPr txBox="1">
            <a:spLocks noChangeArrowheads="1"/>
          </p:cNvSpPr>
          <p:nvPr/>
        </p:nvSpPr>
        <p:spPr bwMode="auto">
          <a:xfrm rot="18444138">
            <a:off x="3801269" y="5461794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28728" name="Text Box 56"/>
          <p:cNvSpPr txBox="1">
            <a:spLocks noChangeArrowheads="1"/>
          </p:cNvSpPr>
          <p:nvPr/>
        </p:nvSpPr>
        <p:spPr bwMode="auto">
          <a:xfrm>
            <a:off x="1524000" y="4227513"/>
            <a:ext cx="2286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GB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new flow network G</a:t>
            </a:r>
            <a:r>
              <a:rPr lang="de-DE" altLang="zh-CN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8729" name="Line 57"/>
          <p:cNvSpPr>
            <a:spLocks noChangeShapeType="1"/>
          </p:cNvSpPr>
          <p:nvPr/>
        </p:nvSpPr>
        <p:spPr bwMode="auto">
          <a:xfrm flipH="1">
            <a:off x="2286000" y="2438400"/>
            <a:ext cx="838200" cy="4572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8730" name="Line 58"/>
          <p:cNvSpPr>
            <a:spLocks noChangeShapeType="1"/>
          </p:cNvSpPr>
          <p:nvPr/>
        </p:nvSpPr>
        <p:spPr bwMode="auto">
          <a:xfrm flipH="1" flipV="1">
            <a:off x="4419600" y="2362200"/>
            <a:ext cx="914400" cy="6096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8731" name="Text Box 59"/>
          <p:cNvSpPr txBox="1">
            <a:spLocks noChangeArrowheads="1"/>
          </p:cNvSpPr>
          <p:nvPr/>
        </p:nvSpPr>
        <p:spPr bwMode="auto">
          <a:xfrm rot="19882963">
            <a:off x="2444750" y="25876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28732" name="Text Box 60"/>
          <p:cNvSpPr txBox="1">
            <a:spLocks noChangeArrowheads="1"/>
          </p:cNvSpPr>
          <p:nvPr/>
        </p:nvSpPr>
        <p:spPr bwMode="auto">
          <a:xfrm rot="1953558">
            <a:off x="4562475" y="26638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 </a:t>
            </a:r>
          </a:p>
        </p:txBody>
      </p:sp>
      <p:sp>
        <p:nvSpPr>
          <p:cNvPr id="28733" name="Text Box 61"/>
          <p:cNvSpPr txBox="1">
            <a:spLocks noChangeArrowheads="1"/>
          </p:cNvSpPr>
          <p:nvPr/>
        </p:nvSpPr>
        <p:spPr bwMode="auto">
          <a:xfrm>
            <a:off x="6400800" y="4876801"/>
            <a:ext cx="35814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GB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temporary variable:</a:t>
            </a:r>
          </a:p>
          <a:p>
            <a:pPr eaLnBrk="1" hangingPunct="1"/>
            <a:r>
              <a:rPr lang="en-GB" altLang="zh-CN" sz="24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altLang="zh-CN" sz="2400" b="1" baseline="-3000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GB" altLang="zh-CN" sz="24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(p) = 4</a:t>
            </a:r>
            <a:endParaRPr lang="de-DE" altLang="zh-CN" sz="2400" b="1">
              <a:solidFill>
                <a:srgbClr val="FF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8674" name="Object 2"/>
          <p:cNvGraphicFramePr>
            <a:graphicFrameLocks noChangeAspect="1"/>
          </p:cNvGraphicFramePr>
          <p:nvPr/>
        </p:nvGraphicFramePr>
        <p:xfrm>
          <a:off x="5754688" y="1681164"/>
          <a:ext cx="4832350" cy="371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kument" r:id="rId2" imgW="4516120" imgH="3467100" progId="Word.Document.8">
                  <p:embed/>
                </p:oleObj>
              </mc:Choice>
              <mc:Fallback>
                <p:oleObj name="Dokument" r:id="rId2" imgW="4516120" imgH="3467100" progId="Word.Document.8">
                  <p:embed/>
                  <p:pic>
                    <p:nvPicPr>
                      <p:cNvPr id="2867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4688" y="1681164"/>
                        <a:ext cx="4832350" cy="371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6">
            <a:extLst>
              <a:ext uri="{FF2B5EF4-FFF2-40B4-BE49-F238E27FC236}">
                <a16:creationId xmlns:a16="http://schemas.microsoft.com/office/drawing/2014/main" id="{BA76C2AE-D81D-A5E4-4C02-6252E4790482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A720A52-7DB3-6A69-B632-25B8FD5D9B42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EFE094-3366-7FBC-1D87-925CC3A1CA72}"/>
              </a:ext>
            </a:extLst>
          </p:cNvPr>
          <p:cNvSpPr txBox="1"/>
          <p:nvPr/>
        </p:nvSpPr>
        <p:spPr>
          <a:xfrm>
            <a:off x="380724" y="299408"/>
            <a:ext cx="46444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Ford-Fulkerson</a:t>
            </a:r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算法</a:t>
            </a:r>
          </a:p>
        </p:txBody>
      </p:sp>
      <p:sp>
        <p:nvSpPr>
          <p:cNvPr id="7" name="圆角矩形 8">
            <a:extLst>
              <a:ext uri="{FF2B5EF4-FFF2-40B4-BE49-F238E27FC236}">
                <a16:creationId xmlns:a16="http://schemas.microsoft.com/office/drawing/2014/main" id="{855BDAF9-FD09-6470-C979-60E3BE976199}"/>
              </a:ext>
            </a:extLst>
          </p:cNvPr>
          <p:cNvSpPr/>
          <p:nvPr/>
        </p:nvSpPr>
        <p:spPr>
          <a:xfrm>
            <a:off x="238664" y="311105"/>
            <a:ext cx="4644422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496548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Oval 3"/>
          <p:cNvSpPr>
            <a:spLocks noChangeArrowheads="1"/>
          </p:cNvSpPr>
          <p:nvPr/>
        </p:nvSpPr>
        <p:spPr bwMode="auto">
          <a:xfrm>
            <a:off x="1944688" y="2859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9700" name="Oval 4"/>
          <p:cNvSpPr>
            <a:spLocks noChangeArrowheads="1"/>
          </p:cNvSpPr>
          <p:nvPr/>
        </p:nvSpPr>
        <p:spPr bwMode="auto">
          <a:xfrm>
            <a:off x="5373688" y="2859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9701" name="Oval 5"/>
          <p:cNvSpPr>
            <a:spLocks noChangeArrowheads="1"/>
          </p:cNvSpPr>
          <p:nvPr/>
        </p:nvSpPr>
        <p:spPr bwMode="auto">
          <a:xfrm>
            <a:off x="3087688" y="2097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9702" name="Oval 6"/>
          <p:cNvSpPr>
            <a:spLocks noChangeArrowheads="1"/>
          </p:cNvSpPr>
          <p:nvPr/>
        </p:nvSpPr>
        <p:spPr bwMode="auto">
          <a:xfrm>
            <a:off x="3124200" y="36576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9703" name="Oval 7"/>
          <p:cNvSpPr>
            <a:spLocks noChangeArrowheads="1"/>
          </p:cNvSpPr>
          <p:nvPr/>
        </p:nvSpPr>
        <p:spPr bwMode="auto">
          <a:xfrm>
            <a:off x="4230688" y="20589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9704" name="Oval 8"/>
          <p:cNvSpPr>
            <a:spLocks noChangeArrowheads="1"/>
          </p:cNvSpPr>
          <p:nvPr/>
        </p:nvSpPr>
        <p:spPr bwMode="auto">
          <a:xfrm>
            <a:off x="4230688" y="3621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9705" name="Line 9"/>
          <p:cNvSpPr>
            <a:spLocks noChangeShapeType="1"/>
          </p:cNvSpPr>
          <p:nvPr/>
        </p:nvSpPr>
        <p:spPr bwMode="auto">
          <a:xfrm flipH="1">
            <a:off x="3506788" y="2287588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9706" name="Line 10"/>
          <p:cNvSpPr>
            <a:spLocks noChangeShapeType="1"/>
          </p:cNvSpPr>
          <p:nvPr/>
        </p:nvSpPr>
        <p:spPr bwMode="auto">
          <a:xfrm>
            <a:off x="3506788" y="3811588"/>
            <a:ext cx="762000" cy="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9707" name="Line 11"/>
          <p:cNvSpPr>
            <a:spLocks noChangeShapeType="1"/>
          </p:cNvSpPr>
          <p:nvPr/>
        </p:nvSpPr>
        <p:spPr bwMode="auto">
          <a:xfrm flipV="1">
            <a:off x="2133601" y="2362200"/>
            <a:ext cx="989013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8" name="Line 12"/>
          <p:cNvSpPr>
            <a:spLocks noChangeShapeType="1"/>
          </p:cNvSpPr>
          <p:nvPr/>
        </p:nvSpPr>
        <p:spPr bwMode="auto">
          <a:xfrm>
            <a:off x="2135188" y="3201988"/>
            <a:ext cx="914400" cy="533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9" name="Line 13"/>
          <p:cNvSpPr>
            <a:spLocks noChangeShapeType="1"/>
          </p:cNvSpPr>
          <p:nvPr/>
        </p:nvSpPr>
        <p:spPr bwMode="auto">
          <a:xfrm>
            <a:off x="3201988" y="2439988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10" name="Line 14"/>
          <p:cNvSpPr>
            <a:spLocks noChangeShapeType="1"/>
          </p:cNvSpPr>
          <p:nvPr/>
        </p:nvSpPr>
        <p:spPr bwMode="auto">
          <a:xfrm flipV="1">
            <a:off x="3354388" y="2439988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11" name="Line 15"/>
          <p:cNvSpPr>
            <a:spLocks noChangeShapeType="1"/>
          </p:cNvSpPr>
          <p:nvPr/>
        </p:nvSpPr>
        <p:spPr bwMode="auto">
          <a:xfrm flipV="1">
            <a:off x="4421188" y="2439988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12" name="Line 16"/>
          <p:cNvSpPr>
            <a:spLocks noChangeShapeType="1"/>
          </p:cNvSpPr>
          <p:nvPr/>
        </p:nvSpPr>
        <p:spPr bwMode="auto">
          <a:xfrm flipH="1">
            <a:off x="3430588" y="2439988"/>
            <a:ext cx="91440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13" name="Line 17"/>
          <p:cNvSpPr>
            <a:spLocks noChangeShapeType="1"/>
          </p:cNvSpPr>
          <p:nvPr/>
        </p:nvSpPr>
        <p:spPr bwMode="auto">
          <a:xfrm>
            <a:off x="4573588" y="2363788"/>
            <a:ext cx="8382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14" name="Line 18"/>
          <p:cNvSpPr>
            <a:spLocks noChangeShapeType="1"/>
          </p:cNvSpPr>
          <p:nvPr/>
        </p:nvSpPr>
        <p:spPr bwMode="auto">
          <a:xfrm rot="10900883" flipV="1">
            <a:off x="4649788" y="3201988"/>
            <a:ext cx="762000" cy="533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15" name="Text Box 19"/>
          <p:cNvSpPr txBox="1">
            <a:spLocks noChangeArrowheads="1"/>
          </p:cNvSpPr>
          <p:nvPr/>
        </p:nvSpPr>
        <p:spPr bwMode="auto">
          <a:xfrm rot="16251548">
            <a:off x="2734469" y="2674144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29716" name="Text Box 20"/>
          <p:cNvSpPr txBox="1">
            <a:spLocks noChangeArrowheads="1"/>
          </p:cNvSpPr>
          <p:nvPr/>
        </p:nvSpPr>
        <p:spPr bwMode="auto">
          <a:xfrm rot="1671448">
            <a:off x="2279650" y="3579813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solidFill>
                  <a:srgbClr val="FF3300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29717" name="Text Box 21"/>
          <p:cNvSpPr txBox="1">
            <a:spLocks noChangeArrowheads="1"/>
          </p:cNvSpPr>
          <p:nvPr/>
        </p:nvSpPr>
        <p:spPr bwMode="auto">
          <a:xfrm>
            <a:off x="3659188" y="201453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29718" name="Text Box 22"/>
          <p:cNvSpPr txBox="1">
            <a:spLocks noChangeArrowheads="1"/>
          </p:cNvSpPr>
          <p:nvPr/>
        </p:nvSpPr>
        <p:spPr bwMode="auto">
          <a:xfrm rot="19986914">
            <a:off x="2376488" y="22828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9719" name="Text Box 23"/>
          <p:cNvSpPr txBox="1">
            <a:spLocks noChangeArrowheads="1"/>
          </p:cNvSpPr>
          <p:nvPr/>
        </p:nvSpPr>
        <p:spPr bwMode="auto">
          <a:xfrm rot="16251548">
            <a:off x="3193257" y="2670969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9720" name="Text Box 24"/>
          <p:cNvSpPr txBox="1">
            <a:spLocks noChangeArrowheads="1"/>
          </p:cNvSpPr>
          <p:nvPr/>
        </p:nvSpPr>
        <p:spPr bwMode="auto">
          <a:xfrm rot="19479436">
            <a:off x="4884738" y="33496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solidFill>
                  <a:srgbClr val="FF3300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9721" name="Text Box 25"/>
          <p:cNvSpPr txBox="1">
            <a:spLocks noChangeArrowheads="1"/>
          </p:cNvSpPr>
          <p:nvPr/>
        </p:nvSpPr>
        <p:spPr bwMode="auto">
          <a:xfrm>
            <a:off x="3582988" y="381158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solidFill>
                  <a:srgbClr val="FF3300"/>
                </a:solidFill>
                <a:latin typeface="Times New Roman" panose="02020603050405020304" pitchFamily="18" charset="0"/>
              </a:rPr>
              <a:t> 10</a:t>
            </a:r>
          </a:p>
        </p:txBody>
      </p:sp>
      <p:sp>
        <p:nvSpPr>
          <p:cNvPr id="29722" name="Text Box 26"/>
          <p:cNvSpPr txBox="1">
            <a:spLocks noChangeArrowheads="1"/>
          </p:cNvSpPr>
          <p:nvPr/>
        </p:nvSpPr>
        <p:spPr bwMode="auto">
          <a:xfrm rot="1953558">
            <a:off x="4792663" y="2360613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29723" name="Text Box 27"/>
          <p:cNvSpPr txBox="1">
            <a:spLocks noChangeArrowheads="1"/>
          </p:cNvSpPr>
          <p:nvPr/>
        </p:nvSpPr>
        <p:spPr bwMode="auto">
          <a:xfrm rot="16251548">
            <a:off x="4261644" y="2672557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29724" name="Text Box 28"/>
          <p:cNvSpPr txBox="1">
            <a:spLocks noChangeArrowheads="1"/>
          </p:cNvSpPr>
          <p:nvPr/>
        </p:nvSpPr>
        <p:spPr bwMode="auto">
          <a:xfrm rot="18444138">
            <a:off x="3801269" y="2910682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29725" name="Text Box 29"/>
          <p:cNvSpPr txBox="1">
            <a:spLocks noChangeArrowheads="1"/>
          </p:cNvSpPr>
          <p:nvPr/>
        </p:nvSpPr>
        <p:spPr bwMode="auto">
          <a:xfrm>
            <a:off x="1524000" y="1676401"/>
            <a:ext cx="2590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GB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residual network G</a:t>
            </a:r>
            <a:r>
              <a:rPr lang="en-GB" altLang="zh-CN" sz="2000" b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de-DE" altLang="zh-CN" sz="2000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9726" name="Oval 30"/>
          <p:cNvSpPr>
            <a:spLocks noChangeArrowheads="1"/>
          </p:cNvSpPr>
          <p:nvPr/>
        </p:nvSpPr>
        <p:spPr bwMode="auto">
          <a:xfrm>
            <a:off x="1944688" y="5410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9727" name="Oval 31"/>
          <p:cNvSpPr>
            <a:spLocks noChangeArrowheads="1"/>
          </p:cNvSpPr>
          <p:nvPr/>
        </p:nvSpPr>
        <p:spPr bwMode="auto">
          <a:xfrm>
            <a:off x="5373688" y="5410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9728" name="Oval 32"/>
          <p:cNvSpPr>
            <a:spLocks noChangeArrowheads="1"/>
          </p:cNvSpPr>
          <p:nvPr/>
        </p:nvSpPr>
        <p:spPr bwMode="auto">
          <a:xfrm>
            <a:off x="3087688" y="4648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9729" name="Oval 33"/>
          <p:cNvSpPr>
            <a:spLocks noChangeArrowheads="1"/>
          </p:cNvSpPr>
          <p:nvPr/>
        </p:nvSpPr>
        <p:spPr bwMode="auto">
          <a:xfrm>
            <a:off x="3087688" y="6172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9730" name="Oval 34"/>
          <p:cNvSpPr>
            <a:spLocks noChangeArrowheads="1"/>
          </p:cNvSpPr>
          <p:nvPr/>
        </p:nvSpPr>
        <p:spPr bwMode="auto">
          <a:xfrm>
            <a:off x="4230688" y="46101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9731" name="Oval 35"/>
          <p:cNvSpPr>
            <a:spLocks noChangeArrowheads="1"/>
          </p:cNvSpPr>
          <p:nvPr/>
        </p:nvSpPr>
        <p:spPr bwMode="auto">
          <a:xfrm>
            <a:off x="4230688" y="6172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9732" name="Line 36"/>
          <p:cNvSpPr>
            <a:spLocks noChangeShapeType="1"/>
          </p:cNvSpPr>
          <p:nvPr/>
        </p:nvSpPr>
        <p:spPr bwMode="auto">
          <a:xfrm>
            <a:off x="3506788" y="48387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9733" name="Line 37"/>
          <p:cNvSpPr>
            <a:spLocks noChangeShapeType="1"/>
          </p:cNvSpPr>
          <p:nvPr/>
        </p:nvSpPr>
        <p:spPr bwMode="auto">
          <a:xfrm>
            <a:off x="3506788" y="63627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9734" name="Line 38"/>
          <p:cNvSpPr>
            <a:spLocks noChangeShapeType="1"/>
          </p:cNvSpPr>
          <p:nvPr/>
        </p:nvSpPr>
        <p:spPr bwMode="auto">
          <a:xfrm flipV="1">
            <a:off x="2133601" y="4913313"/>
            <a:ext cx="989013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35" name="Line 39"/>
          <p:cNvSpPr>
            <a:spLocks noChangeShapeType="1"/>
          </p:cNvSpPr>
          <p:nvPr/>
        </p:nvSpPr>
        <p:spPr bwMode="auto">
          <a:xfrm>
            <a:off x="2135188" y="5753100"/>
            <a:ext cx="9144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36" name="Line 40"/>
          <p:cNvSpPr>
            <a:spLocks noChangeShapeType="1"/>
          </p:cNvSpPr>
          <p:nvPr/>
        </p:nvSpPr>
        <p:spPr bwMode="auto">
          <a:xfrm>
            <a:off x="3201988" y="4991100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37" name="Line 41"/>
          <p:cNvSpPr>
            <a:spLocks noChangeShapeType="1"/>
          </p:cNvSpPr>
          <p:nvPr/>
        </p:nvSpPr>
        <p:spPr bwMode="auto">
          <a:xfrm flipV="1">
            <a:off x="3354388" y="4991100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38" name="Line 42"/>
          <p:cNvSpPr>
            <a:spLocks noChangeShapeType="1"/>
          </p:cNvSpPr>
          <p:nvPr/>
        </p:nvSpPr>
        <p:spPr bwMode="auto">
          <a:xfrm flipV="1">
            <a:off x="4421188" y="4991100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39" name="Line 43"/>
          <p:cNvSpPr>
            <a:spLocks noChangeShapeType="1"/>
          </p:cNvSpPr>
          <p:nvPr/>
        </p:nvSpPr>
        <p:spPr bwMode="auto">
          <a:xfrm flipH="1">
            <a:off x="3430588" y="4991100"/>
            <a:ext cx="91440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40" name="Line 44"/>
          <p:cNvSpPr>
            <a:spLocks noChangeShapeType="1"/>
          </p:cNvSpPr>
          <p:nvPr/>
        </p:nvSpPr>
        <p:spPr bwMode="auto">
          <a:xfrm>
            <a:off x="4573588" y="4914900"/>
            <a:ext cx="8382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41" name="Line 45"/>
          <p:cNvSpPr>
            <a:spLocks noChangeShapeType="1"/>
          </p:cNvSpPr>
          <p:nvPr/>
        </p:nvSpPr>
        <p:spPr bwMode="auto">
          <a:xfrm flipV="1">
            <a:off x="4649788" y="5753100"/>
            <a:ext cx="7620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42" name="Text Box 46"/>
          <p:cNvSpPr txBox="1">
            <a:spLocks noChangeArrowheads="1"/>
          </p:cNvSpPr>
          <p:nvPr/>
        </p:nvSpPr>
        <p:spPr bwMode="auto">
          <a:xfrm rot="16251548">
            <a:off x="2732882" y="5225257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29743" name="Text Box 47"/>
          <p:cNvSpPr txBox="1">
            <a:spLocks noChangeArrowheads="1"/>
          </p:cNvSpPr>
          <p:nvPr/>
        </p:nvSpPr>
        <p:spPr bwMode="auto">
          <a:xfrm rot="1671448">
            <a:off x="2279650" y="61309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4/13</a:t>
            </a:r>
          </a:p>
        </p:txBody>
      </p:sp>
      <p:sp>
        <p:nvSpPr>
          <p:cNvPr id="29744" name="Text Box 48"/>
          <p:cNvSpPr txBox="1">
            <a:spLocks noChangeArrowheads="1"/>
          </p:cNvSpPr>
          <p:nvPr/>
        </p:nvSpPr>
        <p:spPr bwMode="auto">
          <a:xfrm>
            <a:off x="3505200" y="4495801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12/12</a:t>
            </a:r>
          </a:p>
        </p:txBody>
      </p:sp>
      <p:sp>
        <p:nvSpPr>
          <p:cNvPr id="29745" name="Text Box 49"/>
          <p:cNvSpPr txBox="1">
            <a:spLocks noChangeArrowheads="1"/>
          </p:cNvSpPr>
          <p:nvPr/>
        </p:nvSpPr>
        <p:spPr bwMode="auto">
          <a:xfrm rot="19986914">
            <a:off x="2070101" y="4886326"/>
            <a:ext cx="752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12/16</a:t>
            </a:r>
          </a:p>
        </p:txBody>
      </p:sp>
      <p:sp>
        <p:nvSpPr>
          <p:cNvPr id="29746" name="Text Box 50"/>
          <p:cNvSpPr txBox="1">
            <a:spLocks noChangeArrowheads="1"/>
          </p:cNvSpPr>
          <p:nvPr/>
        </p:nvSpPr>
        <p:spPr bwMode="auto">
          <a:xfrm rot="16251548">
            <a:off x="3191669" y="5225257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9747" name="Text Box 51"/>
          <p:cNvSpPr txBox="1">
            <a:spLocks noChangeArrowheads="1"/>
          </p:cNvSpPr>
          <p:nvPr/>
        </p:nvSpPr>
        <p:spPr bwMode="auto">
          <a:xfrm rot="19479436">
            <a:off x="4884738" y="590073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4/4</a:t>
            </a:r>
          </a:p>
        </p:txBody>
      </p:sp>
      <p:sp>
        <p:nvSpPr>
          <p:cNvPr id="29748" name="Text Box 52"/>
          <p:cNvSpPr txBox="1">
            <a:spLocks noChangeArrowheads="1"/>
          </p:cNvSpPr>
          <p:nvPr/>
        </p:nvSpPr>
        <p:spPr bwMode="auto">
          <a:xfrm>
            <a:off x="3582988" y="6362701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 4/14</a:t>
            </a:r>
          </a:p>
        </p:txBody>
      </p:sp>
      <p:sp>
        <p:nvSpPr>
          <p:cNvPr id="29749" name="Text Box 53"/>
          <p:cNvSpPr txBox="1">
            <a:spLocks noChangeArrowheads="1"/>
          </p:cNvSpPr>
          <p:nvPr/>
        </p:nvSpPr>
        <p:spPr bwMode="auto">
          <a:xfrm rot="1953558">
            <a:off x="4778375" y="4951413"/>
            <a:ext cx="844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12/20</a:t>
            </a:r>
          </a:p>
        </p:txBody>
      </p:sp>
      <p:sp>
        <p:nvSpPr>
          <p:cNvPr id="29750" name="Text Box 54"/>
          <p:cNvSpPr txBox="1">
            <a:spLocks noChangeArrowheads="1"/>
          </p:cNvSpPr>
          <p:nvPr/>
        </p:nvSpPr>
        <p:spPr bwMode="auto">
          <a:xfrm rot="16251548">
            <a:off x="4260057" y="5226844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29751" name="Text Box 55"/>
          <p:cNvSpPr txBox="1">
            <a:spLocks noChangeArrowheads="1"/>
          </p:cNvSpPr>
          <p:nvPr/>
        </p:nvSpPr>
        <p:spPr bwMode="auto">
          <a:xfrm rot="18444138">
            <a:off x="3801269" y="5461794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29752" name="Text Box 56"/>
          <p:cNvSpPr txBox="1">
            <a:spLocks noChangeArrowheads="1"/>
          </p:cNvSpPr>
          <p:nvPr/>
        </p:nvSpPr>
        <p:spPr bwMode="auto">
          <a:xfrm>
            <a:off x="1524000" y="4227514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GB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new flow network G</a:t>
            </a:r>
            <a:r>
              <a:rPr lang="de-DE" altLang="zh-CN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9753" name="Line 57"/>
          <p:cNvSpPr>
            <a:spLocks noChangeShapeType="1"/>
          </p:cNvSpPr>
          <p:nvPr/>
        </p:nvSpPr>
        <p:spPr bwMode="auto">
          <a:xfrm flipH="1">
            <a:off x="2286000" y="2438400"/>
            <a:ext cx="838200" cy="4572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9754" name="Line 58"/>
          <p:cNvSpPr>
            <a:spLocks noChangeShapeType="1"/>
          </p:cNvSpPr>
          <p:nvPr/>
        </p:nvSpPr>
        <p:spPr bwMode="auto">
          <a:xfrm flipH="1" flipV="1">
            <a:off x="4419600" y="2362200"/>
            <a:ext cx="914400" cy="6096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9755" name="Text Box 59"/>
          <p:cNvSpPr txBox="1">
            <a:spLocks noChangeArrowheads="1"/>
          </p:cNvSpPr>
          <p:nvPr/>
        </p:nvSpPr>
        <p:spPr bwMode="auto">
          <a:xfrm rot="19882963">
            <a:off x="2444750" y="25876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29756" name="Text Box 60"/>
          <p:cNvSpPr txBox="1">
            <a:spLocks noChangeArrowheads="1"/>
          </p:cNvSpPr>
          <p:nvPr/>
        </p:nvSpPr>
        <p:spPr bwMode="auto">
          <a:xfrm rot="1953558">
            <a:off x="4562475" y="26638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 </a:t>
            </a:r>
          </a:p>
        </p:txBody>
      </p:sp>
      <p:sp>
        <p:nvSpPr>
          <p:cNvPr id="29757" name="Line 62"/>
          <p:cNvSpPr>
            <a:spLocks noChangeShapeType="1"/>
          </p:cNvSpPr>
          <p:nvPr/>
        </p:nvSpPr>
        <p:spPr bwMode="auto">
          <a:xfrm flipH="1">
            <a:off x="3429000" y="3733800"/>
            <a:ext cx="838200" cy="0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9758" name="Line 63"/>
          <p:cNvSpPr>
            <a:spLocks noChangeShapeType="1"/>
          </p:cNvSpPr>
          <p:nvPr/>
        </p:nvSpPr>
        <p:spPr bwMode="auto">
          <a:xfrm flipH="1" flipV="1">
            <a:off x="2286000" y="3200400"/>
            <a:ext cx="838200" cy="457200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9759" name="Text Box 64"/>
          <p:cNvSpPr txBox="1">
            <a:spLocks noChangeArrowheads="1"/>
          </p:cNvSpPr>
          <p:nvPr/>
        </p:nvSpPr>
        <p:spPr bwMode="auto">
          <a:xfrm rot="1671448">
            <a:off x="2582863" y="31972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solidFill>
                  <a:srgbClr val="FF3300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9760" name="Text Box 65"/>
          <p:cNvSpPr txBox="1">
            <a:spLocks noChangeArrowheads="1"/>
          </p:cNvSpPr>
          <p:nvPr/>
        </p:nvSpPr>
        <p:spPr bwMode="auto">
          <a:xfrm>
            <a:off x="3581400" y="3429001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solidFill>
                  <a:srgbClr val="FF3300"/>
                </a:solidFill>
                <a:latin typeface="Times New Roman" panose="02020603050405020304" pitchFamily="18" charset="0"/>
              </a:rPr>
              <a:t> 4</a:t>
            </a:r>
          </a:p>
        </p:txBody>
      </p:sp>
      <p:graphicFrame>
        <p:nvGraphicFramePr>
          <p:cNvPr id="29698" name="Object 2"/>
          <p:cNvGraphicFramePr>
            <a:graphicFrameLocks noChangeAspect="1"/>
          </p:cNvGraphicFramePr>
          <p:nvPr/>
        </p:nvGraphicFramePr>
        <p:xfrm>
          <a:off x="5754688" y="1681164"/>
          <a:ext cx="4832350" cy="371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kument" r:id="rId2" imgW="4516120" imgH="3467100" progId="Word.Document.8">
                  <p:embed/>
                </p:oleObj>
              </mc:Choice>
              <mc:Fallback>
                <p:oleObj name="Dokument" r:id="rId2" imgW="4516120" imgH="3467100" progId="Word.Document.8">
                  <p:embed/>
                  <p:pic>
                    <p:nvPicPr>
                      <p:cNvPr id="2969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4688" y="1681164"/>
                        <a:ext cx="4832350" cy="371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6">
            <a:extLst>
              <a:ext uri="{FF2B5EF4-FFF2-40B4-BE49-F238E27FC236}">
                <a16:creationId xmlns:a16="http://schemas.microsoft.com/office/drawing/2014/main" id="{C408E75E-DE71-DCD1-D082-706C37BA610D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6DF1A49-7646-37EB-3E8F-FBE9A5CAFB39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DEA3B6B-A061-0F98-243B-2A6AEEB18D62}"/>
              </a:ext>
            </a:extLst>
          </p:cNvPr>
          <p:cNvSpPr txBox="1"/>
          <p:nvPr/>
        </p:nvSpPr>
        <p:spPr>
          <a:xfrm>
            <a:off x="380724" y="299408"/>
            <a:ext cx="46444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Ford-Fulkerson</a:t>
            </a:r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算法</a:t>
            </a:r>
          </a:p>
        </p:txBody>
      </p:sp>
      <p:sp>
        <p:nvSpPr>
          <p:cNvPr id="7" name="圆角矩形 8">
            <a:extLst>
              <a:ext uri="{FF2B5EF4-FFF2-40B4-BE49-F238E27FC236}">
                <a16:creationId xmlns:a16="http://schemas.microsoft.com/office/drawing/2014/main" id="{EC620F1B-3FB6-71E0-0C93-65D126F88027}"/>
              </a:ext>
            </a:extLst>
          </p:cNvPr>
          <p:cNvSpPr/>
          <p:nvPr/>
        </p:nvSpPr>
        <p:spPr>
          <a:xfrm>
            <a:off x="238664" y="311105"/>
            <a:ext cx="4644422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362805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Oval 3"/>
          <p:cNvSpPr>
            <a:spLocks noChangeArrowheads="1"/>
          </p:cNvSpPr>
          <p:nvPr/>
        </p:nvSpPr>
        <p:spPr bwMode="auto">
          <a:xfrm>
            <a:off x="1944688" y="2859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30724" name="Oval 4"/>
          <p:cNvSpPr>
            <a:spLocks noChangeArrowheads="1"/>
          </p:cNvSpPr>
          <p:nvPr/>
        </p:nvSpPr>
        <p:spPr bwMode="auto">
          <a:xfrm>
            <a:off x="5373688" y="2859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30725" name="Oval 5"/>
          <p:cNvSpPr>
            <a:spLocks noChangeArrowheads="1"/>
          </p:cNvSpPr>
          <p:nvPr/>
        </p:nvSpPr>
        <p:spPr bwMode="auto">
          <a:xfrm>
            <a:off x="3087688" y="2097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0726" name="Oval 6"/>
          <p:cNvSpPr>
            <a:spLocks noChangeArrowheads="1"/>
          </p:cNvSpPr>
          <p:nvPr/>
        </p:nvSpPr>
        <p:spPr bwMode="auto">
          <a:xfrm>
            <a:off x="3087688" y="3621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0727" name="Oval 7"/>
          <p:cNvSpPr>
            <a:spLocks noChangeArrowheads="1"/>
          </p:cNvSpPr>
          <p:nvPr/>
        </p:nvSpPr>
        <p:spPr bwMode="auto">
          <a:xfrm>
            <a:off x="4230688" y="20589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0728" name="Oval 8"/>
          <p:cNvSpPr>
            <a:spLocks noChangeArrowheads="1"/>
          </p:cNvSpPr>
          <p:nvPr/>
        </p:nvSpPr>
        <p:spPr bwMode="auto">
          <a:xfrm>
            <a:off x="4230688" y="3621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0729" name="Line 9"/>
          <p:cNvSpPr>
            <a:spLocks noChangeShapeType="1"/>
          </p:cNvSpPr>
          <p:nvPr/>
        </p:nvSpPr>
        <p:spPr bwMode="auto">
          <a:xfrm flipH="1">
            <a:off x="3506788" y="2287588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0730" name="Line 10"/>
          <p:cNvSpPr>
            <a:spLocks noChangeShapeType="1"/>
          </p:cNvSpPr>
          <p:nvPr/>
        </p:nvSpPr>
        <p:spPr bwMode="auto">
          <a:xfrm>
            <a:off x="3506788" y="3811588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0731" name="Line 11"/>
          <p:cNvSpPr>
            <a:spLocks noChangeShapeType="1"/>
          </p:cNvSpPr>
          <p:nvPr/>
        </p:nvSpPr>
        <p:spPr bwMode="auto">
          <a:xfrm flipV="1">
            <a:off x="2133601" y="2362200"/>
            <a:ext cx="989013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32" name="Line 12"/>
          <p:cNvSpPr>
            <a:spLocks noChangeShapeType="1"/>
          </p:cNvSpPr>
          <p:nvPr/>
        </p:nvSpPr>
        <p:spPr bwMode="auto">
          <a:xfrm>
            <a:off x="2135188" y="3201988"/>
            <a:ext cx="9144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33" name="Line 13"/>
          <p:cNvSpPr>
            <a:spLocks noChangeShapeType="1"/>
          </p:cNvSpPr>
          <p:nvPr/>
        </p:nvSpPr>
        <p:spPr bwMode="auto">
          <a:xfrm>
            <a:off x="3201988" y="2439988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34" name="Line 14"/>
          <p:cNvSpPr>
            <a:spLocks noChangeShapeType="1"/>
          </p:cNvSpPr>
          <p:nvPr/>
        </p:nvSpPr>
        <p:spPr bwMode="auto">
          <a:xfrm flipV="1">
            <a:off x="3354388" y="2439988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35" name="Line 15"/>
          <p:cNvSpPr>
            <a:spLocks noChangeShapeType="1"/>
          </p:cNvSpPr>
          <p:nvPr/>
        </p:nvSpPr>
        <p:spPr bwMode="auto">
          <a:xfrm flipV="1">
            <a:off x="4421188" y="2439988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36" name="Line 16"/>
          <p:cNvSpPr>
            <a:spLocks noChangeShapeType="1"/>
          </p:cNvSpPr>
          <p:nvPr/>
        </p:nvSpPr>
        <p:spPr bwMode="auto">
          <a:xfrm flipH="1">
            <a:off x="3430588" y="2439988"/>
            <a:ext cx="91440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37" name="Line 17"/>
          <p:cNvSpPr>
            <a:spLocks noChangeShapeType="1"/>
          </p:cNvSpPr>
          <p:nvPr/>
        </p:nvSpPr>
        <p:spPr bwMode="auto">
          <a:xfrm>
            <a:off x="4573588" y="2363788"/>
            <a:ext cx="8382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38" name="Line 18"/>
          <p:cNvSpPr>
            <a:spLocks noChangeShapeType="1"/>
          </p:cNvSpPr>
          <p:nvPr/>
        </p:nvSpPr>
        <p:spPr bwMode="auto">
          <a:xfrm rot="10900883" flipV="1">
            <a:off x="4649788" y="3201988"/>
            <a:ext cx="7620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39" name="Text Box 19"/>
          <p:cNvSpPr txBox="1">
            <a:spLocks noChangeArrowheads="1"/>
          </p:cNvSpPr>
          <p:nvPr/>
        </p:nvSpPr>
        <p:spPr bwMode="auto">
          <a:xfrm rot="16251548">
            <a:off x="2734469" y="2674144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30740" name="Text Box 20"/>
          <p:cNvSpPr txBox="1">
            <a:spLocks noChangeArrowheads="1"/>
          </p:cNvSpPr>
          <p:nvPr/>
        </p:nvSpPr>
        <p:spPr bwMode="auto">
          <a:xfrm rot="1671448">
            <a:off x="2279650" y="3579813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0741" name="Text Box 21"/>
          <p:cNvSpPr txBox="1">
            <a:spLocks noChangeArrowheads="1"/>
          </p:cNvSpPr>
          <p:nvPr/>
        </p:nvSpPr>
        <p:spPr bwMode="auto">
          <a:xfrm>
            <a:off x="3659188" y="201453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30742" name="Text Box 22"/>
          <p:cNvSpPr txBox="1">
            <a:spLocks noChangeArrowheads="1"/>
          </p:cNvSpPr>
          <p:nvPr/>
        </p:nvSpPr>
        <p:spPr bwMode="auto">
          <a:xfrm rot="19986914">
            <a:off x="2376488" y="22828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0743" name="Text Box 23"/>
          <p:cNvSpPr txBox="1">
            <a:spLocks noChangeArrowheads="1"/>
          </p:cNvSpPr>
          <p:nvPr/>
        </p:nvSpPr>
        <p:spPr bwMode="auto">
          <a:xfrm rot="16251548">
            <a:off x="3193257" y="2670969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0744" name="Text Box 24"/>
          <p:cNvSpPr txBox="1">
            <a:spLocks noChangeArrowheads="1"/>
          </p:cNvSpPr>
          <p:nvPr/>
        </p:nvSpPr>
        <p:spPr bwMode="auto">
          <a:xfrm rot="19479436">
            <a:off x="4884738" y="33496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0745" name="Text Box 25"/>
          <p:cNvSpPr txBox="1">
            <a:spLocks noChangeArrowheads="1"/>
          </p:cNvSpPr>
          <p:nvPr/>
        </p:nvSpPr>
        <p:spPr bwMode="auto">
          <a:xfrm>
            <a:off x="3582988" y="381158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 10</a:t>
            </a:r>
          </a:p>
        </p:txBody>
      </p:sp>
      <p:sp>
        <p:nvSpPr>
          <p:cNvPr id="30746" name="Text Box 26"/>
          <p:cNvSpPr txBox="1">
            <a:spLocks noChangeArrowheads="1"/>
          </p:cNvSpPr>
          <p:nvPr/>
        </p:nvSpPr>
        <p:spPr bwMode="auto">
          <a:xfrm rot="1953558">
            <a:off x="4792663" y="2360613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30747" name="Text Box 27"/>
          <p:cNvSpPr txBox="1">
            <a:spLocks noChangeArrowheads="1"/>
          </p:cNvSpPr>
          <p:nvPr/>
        </p:nvSpPr>
        <p:spPr bwMode="auto">
          <a:xfrm rot="16251548">
            <a:off x="4261644" y="2672557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0748" name="Text Box 28"/>
          <p:cNvSpPr txBox="1">
            <a:spLocks noChangeArrowheads="1"/>
          </p:cNvSpPr>
          <p:nvPr/>
        </p:nvSpPr>
        <p:spPr bwMode="auto">
          <a:xfrm rot="18444138">
            <a:off x="3801269" y="2910682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0749" name="Text Box 29"/>
          <p:cNvSpPr txBox="1">
            <a:spLocks noChangeArrowheads="1"/>
          </p:cNvSpPr>
          <p:nvPr/>
        </p:nvSpPr>
        <p:spPr bwMode="auto">
          <a:xfrm>
            <a:off x="1524000" y="1676401"/>
            <a:ext cx="2667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GB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residual network G</a:t>
            </a:r>
            <a:r>
              <a:rPr lang="en-GB" altLang="zh-CN" b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de-DE" altLang="zh-CN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0750" name="Oval 30"/>
          <p:cNvSpPr>
            <a:spLocks noChangeArrowheads="1"/>
          </p:cNvSpPr>
          <p:nvPr/>
        </p:nvSpPr>
        <p:spPr bwMode="auto">
          <a:xfrm>
            <a:off x="1944688" y="5410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30751" name="Oval 31"/>
          <p:cNvSpPr>
            <a:spLocks noChangeArrowheads="1"/>
          </p:cNvSpPr>
          <p:nvPr/>
        </p:nvSpPr>
        <p:spPr bwMode="auto">
          <a:xfrm>
            <a:off x="5373688" y="5410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30752" name="Oval 32"/>
          <p:cNvSpPr>
            <a:spLocks noChangeArrowheads="1"/>
          </p:cNvSpPr>
          <p:nvPr/>
        </p:nvSpPr>
        <p:spPr bwMode="auto">
          <a:xfrm>
            <a:off x="3087688" y="4648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0753" name="Oval 33"/>
          <p:cNvSpPr>
            <a:spLocks noChangeArrowheads="1"/>
          </p:cNvSpPr>
          <p:nvPr/>
        </p:nvSpPr>
        <p:spPr bwMode="auto">
          <a:xfrm>
            <a:off x="3087688" y="6172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0754" name="Oval 34"/>
          <p:cNvSpPr>
            <a:spLocks noChangeArrowheads="1"/>
          </p:cNvSpPr>
          <p:nvPr/>
        </p:nvSpPr>
        <p:spPr bwMode="auto">
          <a:xfrm>
            <a:off x="4230688" y="46101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0755" name="Oval 35"/>
          <p:cNvSpPr>
            <a:spLocks noChangeArrowheads="1"/>
          </p:cNvSpPr>
          <p:nvPr/>
        </p:nvSpPr>
        <p:spPr bwMode="auto">
          <a:xfrm>
            <a:off x="4230688" y="6172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0756" name="Line 36"/>
          <p:cNvSpPr>
            <a:spLocks noChangeShapeType="1"/>
          </p:cNvSpPr>
          <p:nvPr/>
        </p:nvSpPr>
        <p:spPr bwMode="auto">
          <a:xfrm>
            <a:off x="3506788" y="48387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0757" name="Line 37"/>
          <p:cNvSpPr>
            <a:spLocks noChangeShapeType="1"/>
          </p:cNvSpPr>
          <p:nvPr/>
        </p:nvSpPr>
        <p:spPr bwMode="auto">
          <a:xfrm>
            <a:off x="3506788" y="63627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0758" name="Line 38"/>
          <p:cNvSpPr>
            <a:spLocks noChangeShapeType="1"/>
          </p:cNvSpPr>
          <p:nvPr/>
        </p:nvSpPr>
        <p:spPr bwMode="auto">
          <a:xfrm flipV="1">
            <a:off x="2133601" y="4913313"/>
            <a:ext cx="989013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59" name="Line 39"/>
          <p:cNvSpPr>
            <a:spLocks noChangeShapeType="1"/>
          </p:cNvSpPr>
          <p:nvPr/>
        </p:nvSpPr>
        <p:spPr bwMode="auto">
          <a:xfrm>
            <a:off x="2135188" y="5753100"/>
            <a:ext cx="9144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60" name="Line 40"/>
          <p:cNvSpPr>
            <a:spLocks noChangeShapeType="1"/>
          </p:cNvSpPr>
          <p:nvPr/>
        </p:nvSpPr>
        <p:spPr bwMode="auto">
          <a:xfrm>
            <a:off x="3201988" y="4991100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61" name="Line 41"/>
          <p:cNvSpPr>
            <a:spLocks noChangeShapeType="1"/>
          </p:cNvSpPr>
          <p:nvPr/>
        </p:nvSpPr>
        <p:spPr bwMode="auto">
          <a:xfrm flipV="1">
            <a:off x="3354388" y="4991100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62" name="Line 42"/>
          <p:cNvSpPr>
            <a:spLocks noChangeShapeType="1"/>
          </p:cNvSpPr>
          <p:nvPr/>
        </p:nvSpPr>
        <p:spPr bwMode="auto">
          <a:xfrm flipV="1">
            <a:off x="4421188" y="4991100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63" name="Line 43"/>
          <p:cNvSpPr>
            <a:spLocks noChangeShapeType="1"/>
          </p:cNvSpPr>
          <p:nvPr/>
        </p:nvSpPr>
        <p:spPr bwMode="auto">
          <a:xfrm flipH="1">
            <a:off x="3430588" y="4991100"/>
            <a:ext cx="91440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64" name="Line 44"/>
          <p:cNvSpPr>
            <a:spLocks noChangeShapeType="1"/>
          </p:cNvSpPr>
          <p:nvPr/>
        </p:nvSpPr>
        <p:spPr bwMode="auto">
          <a:xfrm>
            <a:off x="4573588" y="4914900"/>
            <a:ext cx="8382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65" name="Line 45"/>
          <p:cNvSpPr>
            <a:spLocks noChangeShapeType="1"/>
          </p:cNvSpPr>
          <p:nvPr/>
        </p:nvSpPr>
        <p:spPr bwMode="auto">
          <a:xfrm flipV="1">
            <a:off x="4649788" y="5753100"/>
            <a:ext cx="7620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66" name="Text Box 46"/>
          <p:cNvSpPr txBox="1">
            <a:spLocks noChangeArrowheads="1"/>
          </p:cNvSpPr>
          <p:nvPr/>
        </p:nvSpPr>
        <p:spPr bwMode="auto">
          <a:xfrm rot="16251548">
            <a:off x="2732882" y="5225257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30767" name="Text Box 47"/>
          <p:cNvSpPr txBox="1">
            <a:spLocks noChangeArrowheads="1"/>
          </p:cNvSpPr>
          <p:nvPr/>
        </p:nvSpPr>
        <p:spPr bwMode="auto">
          <a:xfrm rot="1671448">
            <a:off x="2279650" y="61309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4/13</a:t>
            </a:r>
          </a:p>
        </p:txBody>
      </p:sp>
      <p:sp>
        <p:nvSpPr>
          <p:cNvPr id="30768" name="Text Box 48"/>
          <p:cNvSpPr txBox="1">
            <a:spLocks noChangeArrowheads="1"/>
          </p:cNvSpPr>
          <p:nvPr/>
        </p:nvSpPr>
        <p:spPr bwMode="auto">
          <a:xfrm>
            <a:off x="3505200" y="4572001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12/12</a:t>
            </a:r>
          </a:p>
        </p:txBody>
      </p:sp>
      <p:sp>
        <p:nvSpPr>
          <p:cNvPr id="30769" name="Text Box 49"/>
          <p:cNvSpPr txBox="1">
            <a:spLocks noChangeArrowheads="1"/>
          </p:cNvSpPr>
          <p:nvPr/>
        </p:nvSpPr>
        <p:spPr bwMode="auto">
          <a:xfrm rot="19986914">
            <a:off x="2117725" y="4791076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12/16</a:t>
            </a:r>
          </a:p>
        </p:txBody>
      </p:sp>
      <p:sp>
        <p:nvSpPr>
          <p:cNvPr id="30770" name="Text Box 50"/>
          <p:cNvSpPr txBox="1">
            <a:spLocks noChangeArrowheads="1"/>
          </p:cNvSpPr>
          <p:nvPr/>
        </p:nvSpPr>
        <p:spPr bwMode="auto">
          <a:xfrm rot="16251548">
            <a:off x="3191669" y="5225257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0771" name="Text Box 51"/>
          <p:cNvSpPr txBox="1">
            <a:spLocks noChangeArrowheads="1"/>
          </p:cNvSpPr>
          <p:nvPr/>
        </p:nvSpPr>
        <p:spPr bwMode="auto">
          <a:xfrm rot="19479436">
            <a:off x="4884738" y="590073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4/4</a:t>
            </a:r>
          </a:p>
        </p:txBody>
      </p:sp>
      <p:sp>
        <p:nvSpPr>
          <p:cNvPr id="30772" name="Text Box 52"/>
          <p:cNvSpPr txBox="1">
            <a:spLocks noChangeArrowheads="1"/>
          </p:cNvSpPr>
          <p:nvPr/>
        </p:nvSpPr>
        <p:spPr bwMode="auto">
          <a:xfrm>
            <a:off x="3582988" y="6362701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 4/14</a:t>
            </a:r>
          </a:p>
        </p:txBody>
      </p:sp>
      <p:sp>
        <p:nvSpPr>
          <p:cNvPr id="30773" name="Text Box 53"/>
          <p:cNvSpPr txBox="1">
            <a:spLocks noChangeArrowheads="1"/>
          </p:cNvSpPr>
          <p:nvPr/>
        </p:nvSpPr>
        <p:spPr bwMode="auto">
          <a:xfrm rot="1953558">
            <a:off x="4826000" y="4878388"/>
            <a:ext cx="844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12/20</a:t>
            </a:r>
          </a:p>
        </p:txBody>
      </p:sp>
      <p:sp>
        <p:nvSpPr>
          <p:cNvPr id="30774" name="Text Box 54"/>
          <p:cNvSpPr txBox="1">
            <a:spLocks noChangeArrowheads="1"/>
          </p:cNvSpPr>
          <p:nvPr/>
        </p:nvSpPr>
        <p:spPr bwMode="auto">
          <a:xfrm rot="16251548">
            <a:off x="4260057" y="5226844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0775" name="Text Box 55"/>
          <p:cNvSpPr txBox="1">
            <a:spLocks noChangeArrowheads="1"/>
          </p:cNvSpPr>
          <p:nvPr/>
        </p:nvSpPr>
        <p:spPr bwMode="auto">
          <a:xfrm rot="18444138">
            <a:off x="3801269" y="5461794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0776" name="Text Box 56"/>
          <p:cNvSpPr txBox="1">
            <a:spLocks noChangeArrowheads="1"/>
          </p:cNvSpPr>
          <p:nvPr/>
        </p:nvSpPr>
        <p:spPr bwMode="auto">
          <a:xfrm>
            <a:off x="1524000" y="4227513"/>
            <a:ext cx="2286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GB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new flow network G</a:t>
            </a:r>
            <a:r>
              <a:rPr lang="de-DE" altLang="zh-CN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0777" name="Line 57"/>
          <p:cNvSpPr>
            <a:spLocks noChangeShapeType="1"/>
          </p:cNvSpPr>
          <p:nvPr/>
        </p:nvSpPr>
        <p:spPr bwMode="auto">
          <a:xfrm flipH="1">
            <a:off x="2286000" y="2438400"/>
            <a:ext cx="838200" cy="4572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0778" name="Line 58"/>
          <p:cNvSpPr>
            <a:spLocks noChangeShapeType="1"/>
          </p:cNvSpPr>
          <p:nvPr/>
        </p:nvSpPr>
        <p:spPr bwMode="auto">
          <a:xfrm flipH="1" flipV="1">
            <a:off x="4419600" y="2362200"/>
            <a:ext cx="914400" cy="6096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0779" name="Text Box 59"/>
          <p:cNvSpPr txBox="1">
            <a:spLocks noChangeArrowheads="1"/>
          </p:cNvSpPr>
          <p:nvPr/>
        </p:nvSpPr>
        <p:spPr bwMode="auto">
          <a:xfrm rot="19882963">
            <a:off x="2444750" y="25876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30780" name="Text Box 60"/>
          <p:cNvSpPr txBox="1">
            <a:spLocks noChangeArrowheads="1"/>
          </p:cNvSpPr>
          <p:nvPr/>
        </p:nvSpPr>
        <p:spPr bwMode="auto">
          <a:xfrm rot="1953558">
            <a:off x="4562475" y="26638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 </a:t>
            </a:r>
          </a:p>
        </p:txBody>
      </p:sp>
      <p:sp>
        <p:nvSpPr>
          <p:cNvPr id="30781" name="Line 62"/>
          <p:cNvSpPr>
            <a:spLocks noChangeShapeType="1"/>
          </p:cNvSpPr>
          <p:nvPr/>
        </p:nvSpPr>
        <p:spPr bwMode="auto">
          <a:xfrm flipH="1">
            <a:off x="3429000" y="3733800"/>
            <a:ext cx="8382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0782" name="Line 63"/>
          <p:cNvSpPr>
            <a:spLocks noChangeShapeType="1"/>
          </p:cNvSpPr>
          <p:nvPr/>
        </p:nvSpPr>
        <p:spPr bwMode="auto">
          <a:xfrm flipH="1" flipV="1">
            <a:off x="2286000" y="3200400"/>
            <a:ext cx="838200" cy="4572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0783" name="Text Box 64"/>
          <p:cNvSpPr txBox="1">
            <a:spLocks noChangeArrowheads="1"/>
          </p:cNvSpPr>
          <p:nvPr/>
        </p:nvSpPr>
        <p:spPr bwMode="auto">
          <a:xfrm rot="1671448">
            <a:off x="2582863" y="31972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0784" name="Text Box 65"/>
          <p:cNvSpPr txBox="1">
            <a:spLocks noChangeArrowheads="1"/>
          </p:cNvSpPr>
          <p:nvPr/>
        </p:nvSpPr>
        <p:spPr bwMode="auto">
          <a:xfrm>
            <a:off x="3581400" y="3429001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 4</a:t>
            </a:r>
          </a:p>
        </p:txBody>
      </p:sp>
      <p:graphicFrame>
        <p:nvGraphicFramePr>
          <p:cNvPr id="30722" name="Object 2"/>
          <p:cNvGraphicFramePr>
            <a:graphicFrameLocks noChangeAspect="1"/>
          </p:cNvGraphicFramePr>
          <p:nvPr/>
        </p:nvGraphicFramePr>
        <p:xfrm>
          <a:off x="5754688" y="1681164"/>
          <a:ext cx="4832350" cy="371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kument" r:id="rId2" imgW="4516120" imgH="3467100" progId="Word.Document.8">
                  <p:embed/>
                </p:oleObj>
              </mc:Choice>
              <mc:Fallback>
                <p:oleObj name="Dokument" r:id="rId2" imgW="4516120" imgH="3467100" progId="Word.Document.8">
                  <p:embed/>
                  <p:pic>
                    <p:nvPicPr>
                      <p:cNvPr id="3072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4688" y="1681164"/>
                        <a:ext cx="4832350" cy="371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6">
            <a:extLst>
              <a:ext uri="{FF2B5EF4-FFF2-40B4-BE49-F238E27FC236}">
                <a16:creationId xmlns:a16="http://schemas.microsoft.com/office/drawing/2014/main" id="{C5F6D514-A5F1-2693-8453-09875105CD0E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6F29F02-91A3-15DC-E812-BB7DA936D6C2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B29D1E0-F816-452F-B0C6-42E1CD9CCD71}"/>
              </a:ext>
            </a:extLst>
          </p:cNvPr>
          <p:cNvSpPr txBox="1"/>
          <p:nvPr/>
        </p:nvSpPr>
        <p:spPr>
          <a:xfrm>
            <a:off x="380724" y="299408"/>
            <a:ext cx="46444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Ford-Fulkerson</a:t>
            </a:r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算法</a:t>
            </a:r>
          </a:p>
        </p:txBody>
      </p:sp>
      <p:sp>
        <p:nvSpPr>
          <p:cNvPr id="7" name="圆角矩形 8">
            <a:extLst>
              <a:ext uri="{FF2B5EF4-FFF2-40B4-BE49-F238E27FC236}">
                <a16:creationId xmlns:a16="http://schemas.microsoft.com/office/drawing/2014/main" id="{14874A3F-389D-DCAD-540D-097F7F35DC93}"/>
              </a:ext>
            </a:extLst>
          </p:cNvPr>
          <p:cNvSpPr/>
          <p:nvPr/>
        </p:nvSpPr>
        <p:spPr>
          <a:xfrm>
            <a:off x="238664" y="311105"/>
            <a:ext cx="4644422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20225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Oval 3"/>
          <p:cNvSpPr>
            <a:spLocks noChangeArrowheads="1"/>
          </p:cNvSpPr>
          <p:nvPr/>
        </p:nvSpPr>
        <p:spPr bwMode="auto">
          <a:xfrm>
            <a:off x="1944688" y="2859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31748" name="Oval 4"/>
          <p:cNvSpPr>
            <a:spLocks noChangeArrowheads="1"/>
          </p:cNvSpPr>
          <p:nvPr/>
        </p:nvSpPr>
        <p:spPr bwMode="auto">
          <a:xfrm>
            <a:off x="5373688" y="2859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31749" name="Oval 5"/>
          <p:cNvSpPr>
            <a:spLocks noChangeArrowheads="1"/>
          </p:cNvSpPr>
          <p:nvPr/>
        </p:nvSpPr>
        <p:spPr bwMode="auto">
          <a:xfrm>
            <a:off x="3087688" y="2097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1750" name="Oval 6"/>
          <p:cNvSpPr>
            <a:spLocks noChangeArrowheads="1"/>
          </p:cNvSpPr>
          <p:nvPr/>
        </p:nvSpPr>
        <p:spPr bwMode="auto">
          <a:xfrm>
            <a:off x="3087688" y="3621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1751" name="Oval 7"/>
          <p:cNvSpPr>
            <a:spLocks noChangeArrowheads="1"/>
          </p:cNvSpPr>
          <p:nvPr/>
        </p:nvSpPr>
        <p:spPr bwMode="auto">
          <a:xfrm>
            <a:off x="4230688" y="20589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1752" name="Oval 8"/>
          <p:cNvSpPr>
            <a:spLocks noChangeArrowheads="1"/>
          </p:cNvSpPr>
          <p:nvPr/>
        </p:nvSpPr>
        <p:spPr bwMode="auto">
          <a:xfrm>
            <a:off x="4230688" y="3621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1753" name="Line 9"/>
          <p:cNvSpPr>
            <a:spLocks noChangeShapeType="1"/>
          </p:cNvSpPr>
          <p:nvPr/>
        </p:nvSpPr>
        <p:spPr bwMode="auto">
          <a:xfrm flipH="1">
            <a:off x="3506788" y="2287588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1754" name="Line 10"/>
          <p:cNvSpPr>
            <a:spLocks noChangeShapeType="1"/>
          </p:cNvSpPr>
          <p:nvPr/>
        </p:nvSpPr>
        <p:spPr bwMode="auto">
          <a:xfrm>
            <a:off x="3506788" y="3811588"/>
            <a:ext cx="762000" cy="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1755" name="Line 11"/>
          <p:cNvSpPr>
            <a:spLocks noChangeShapeType="1"/>
          </p:cNvSpPr>
          <p:nvPr/>
        </p:nvSpPr>
        <p:spPr bwMode="auto">
          <a:xfrm flipV="1">
            <a:off x="2133601" y="2362200"/>
            <a:ext cx="989013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6" name="Line 12"/>
          <p:cNvSpPr>
            <a:spLocks noChangeShapeType="1"/>
          </p:cNvSpPr>
          <p:nvPr/>
        </p:nvSpPr>
        <p:spPr bwMode="auto">
          <a:xfrm>
            <a:off x="2135188" y="3201988"/>
            <a:ext cx="914400" cy="533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7" name="Line 13"/>
          <p:cNvSpPr>
            <a:spLocks noChangeShapeType="1"/>
          </p:cNvSpPr>
          <p:nvPr/>
        </p:nvSpPr>
        <p:spPr bwMode="auto">
          <a:xfrm>
            <a:off x="3201988" y="2439988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8" name="Line 14"/>
          <p:cNvSpPr>
            <a:spLocks noChangeShapeType="1"/>
          </p:cNvSpPr>
          <p:nvPr/>
        </p:nvSpPr>
        <p:spPr bwMode="auto">
          <a:xfrm flipV="1">
            <a:off x="3354388" y="2439988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9" name="Line 15"/>
          <p:cNvSpPr>
            <a:spLocks noChangeShapeType="1"/>
          </p:cNvSpPr>
          <p:nvPr/>
        </p:nvSpPr>
        <p:spPr bwMode="auto">
          <a:xfrm flipV="1">
            <a:off x="4421188" y="2439988"/>
            <a:ext cx="0" cy="12192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0" name="Line 16"/>
          <p:cNvSpPr>
            <a:spLocks noChangeShapeType="1"/>
          </p:cNvSpPr>
          <p:nvPr/>
        </p:nvSpPr>
        <p:spPr bwMode="auto">
          <a:xfrm flipH="1">
            <a:off x="3430588" y="2439988"/>
            <a:ext cx="91440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1" name="Line 17"/>
          <p:cNvSpPr>
            <a:spLocks noChangeShapeType="1"/>
          </p:cNvSpPr>
          <p:nvPr/>
        </p:nvSpPr>
        <p:spPr bwMode="auto">
          <a:xfrm>
            <a:off x="4573588" y="2363788"/>
            <a:ext cx="838200" cy="533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2" name="Line 18"/>
          <p:cNvSpPr>
            <a:spLocks noChangeShapeType="1"/>
          </p:cNvSpPr>
          <p:nvPr/>
        </p:nvSpPr>
        <p:spPr bwMode="auto">
          <a:xfrm rot="10900883" flipV="1">
            <a:off x="4649788" y="3201988"/>
            <a:ext cx="7620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3" name="Text Box 19"/>
          <p:cNvSpPr txBox="1">
            <a:spLocks noChangeArrowheads="1"/>
          </p:cNvSpPr>
          <p:nvPr/>
        </p:nvSpPr>
        <p:spPr bwMode="auto">
          <a:xfrm rot="16251548">
            <a:off x="2734469" y="2674144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31764" name="Text Box 20"/>
          <p:cNvSpPr txBox="1">
            <a:spLocks noChangeArrowheads="1"/>
          </p:cNvSpPr>
          <p:nvPr/>
        </p:nvSpPr>
        <p:spPr bwMode="auto">
          <a:xfrm rot="1671448">
            <a:off x="2279650" y="3579813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1765" name="Text Box 21"/>
          <p:cNvSpPr txBox="1">
            <a:spLocks noChangeArrowheads="1"/>
          </p:cNvSpPr>
          <p:nvPr/>
        </p:nvSpPr>
        <p:spPr bwMode="auto">
          <a:xfrm>
            <a:off x="3659188" y="201453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31766" name="Text Box 22"/>
          <p:cNvSpPr txBox="1">
            <a:spLocks noChangeArrowheads="1"/>
          </p:cNvSpPr>
          <p:nvPr/>
        </p:nvSpPr>
        <p:spPr bwMode="auto">
          <a:xfrm rot="19986914">
            <a:off x="2376488" y="22828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1767" name="Text Box 23"/>
          <p:cNvSpPr txBox="1">
            <a:spLocks noChangeArrowheads="1"/>
          </p:cNvSpPr>
          <p:nvPr/>
        </p:nvSpPr>
        <p:spPr bwMode="auto">
          <a:xfrm rot="16251548">
            <a:off x="3193257" y="2670969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1768" name="Text Box 24"/>
          <p:cNvSpPr txBox="1">
            <a:spLocks noChangeArrowheads="1"/>
          </p:cNvSpPr>
          <p:nvPr/>
        </p:nvSpPr>
        <p:spPr bwMode="auto">
          <a:xfrm rot="19479436">
            <a:off x="4884738" y="33496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1769" name="Text Box 25"/>
          <p:cNvSpPr txBox="1">
            <a:spLocks noChangeArrowheads="1"/>
          </p:cNvSpPr>
          <p:nvPr/>
        </p:nvSpPr>
        <p:spPr bwMode="auto">
          <a:xfrm>
            <a:off x="3582988" y="381158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 10</a:t>
            </a:r>
          </a:p>
        </p:txBody>
      </p:sp>
      <p:sp>
        <p:nvSpPr>
          <p:cNvPr id="31770" name="Text Box 26"/>
          <p:cNvSpPr txBox="1">
            <a:spLocks noChangeArrowheads="1"/>
          </p:cNvSpPr>
          <p:nvPr/>
        </p:nvSpPr>
        <p:spPr bwMode="auto">
          <a:xfrm rot="1953558">
            <a:off x="4792663" y="2360613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31771" name="Text Box 27"/>
          <p:cNvSpPr txBox="1">
            <a:spLocks noChangeArrowheads="1"/>
          </p:cNvSpPr>
          <p:nvPr/>
        </p:nvSpPr>
        <p:spPr bwMode="auto">
          <a:xfrm rot="16251548">
            <a:off x="4261644" y="2672557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1772" name="Text Box 28"/>
          <p:cNvSpPr txBox="1">
            <a:spLocks noChangeArrowheads="1"/>
          </p:cNvSpPr>
          <p:nvPr/>
        </p:nvSpPr>
        <p:spPr bwMode="auto">
          <a:xfrm rot="18444138">
            <a:off x="3801269" y="2910682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1773" name="Text Box 29"/>
          <p:cNvSpPr txBox="1">
            <a:spLocks noChangeArrowheads="1"/>
          </p:cNvSpPr>
          <p:nvPr/>
        </p:nvSpPr>
        <p:spPr bwMode="auto">
          <a:xfrm>
            <a:off x="1524000" y="1676401"/>
            <a:ext cx="2514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GB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residual network G</a:t>
            </a:r>
            <a:r>
              <a:rPr lang="en-GB" altLang="zh-CN" b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de-DE" altLang="zh-CN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1774" name="Oval 30"/>
          <p:cNvSpPr>
            <a:spLocks noChangeArrowheads="1"/>
          </p:cNvSpPr>
          <p:nvPr/>
        </p:nvSpPr>
        <p:spPr bwMode="auto">
          <a:xfrm>
            <a:off x="1944688" y="5410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31775" name="Oval 31"/>
          <p:cNvSpPr>
            <a:spLocks noChangeArrowheads="1"/>
          </p:cNvSpPr>
          <p:nvPr/>
        </p:nvSpPr>
        <p:spPr bwMode="auto">
          <a:xfrm>
            <a:off x="5373688" y="5410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31776" name="Oval 32"/>
          <p:cNvSpPr>
            <a:spLocks noChangeArrowheads="1"/>
          </p:cNvSpPr>
          <p:nvPr/>
        </p:nvSpPr>
        <p:spPr bwMode="auto">
          <a:xfrm>
            <a:off x="3087688" y="4648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1777" name="Oval 33"/>
          <p:cNvSpPr>
            <a:spLocks noChangeArrowheads="1"/>
          </p:cNvSpPr>
          <p:nvPr/>
        </p:nvSpPr>
        <p:spPr bwMode="auto">
          <a:xfrm>
            <a:off x="3087688" y="6172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1778" name="Oval 34"/>
          <p:cNvSpPr>
            <a:spLocks noChangeArrowheads="1"/>
          </p:cNvSpPr>
          <p:nvPr/>
        </p:nvSpPr>
        <p:spPr bwMode="auto">
          <a:xfrm>
            <a:off x="4230688" y="46101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1779" name="Oval 35"/>
          <p:cNvSpPr>
            <a:spLocks noChangeArrowheads="1"/>
          </p:cNvSpPr>
          <p:nvPr/>
        </p:nvSpPr>
        <p:spPr bwMode="auto">
          <a:xfrm>
            <a:off x="4230688" y="6172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1780" name="Line 36"/>
          <p:cNvSpPr>
            <a:spLocks noChangeShapeType="1"/>
          </p:cNvSpPr>
          <p:nvPr/>
        </p:nvSpPr>
        <p:spPr bwMode="auto">
          <a:xfrm>
            <a:off x="3506788" y="48387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1781" name="Line 37"/>
          <p:cNvSpPr>
            <a:spLocks noChangeShapeType="1"/>
          </p:cNvSpPr>
          <p:nvPr/>
        </p:nvSpPr>
        <p:spPr bwMode="auto">
          <a:xfrm>
            <a:off x="3506788" y="63627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1782" name="Line 38"/>
          <p:cNvSpPr>
            <a:spLocks noChangeShapeType="1"/>
          </p:cNvSpPr>
          <p:nvPr/>
        </p:nvSpPr>
        <p:spPr bwMode="auto">
          <a:xfrm flipV="1">
            <a:off x="2133601" y="4913313"/>
            <a:ext cx="989013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83" name="Line 39"/>
          <p:cNvSpPr>
            <a:spLocks noChangeShapeType="1"/>
          </p:cNvSpPr>
          <p:nvPr/>
        </p:nvSpPr>
        <p:spPr bwMode="auto">
          <a:xfrm>
            <a:off x="2135188" y="5753100"/>
            <a:ext cx="9144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84" name="Line 40"/>
          <p:cNvSpPr>
            <a:spLocks noChangeShapeType="1"/>
          </p:cNvSpPr>
          <p:nvPr/>
        </p:nvSpPr>
        <p:spPr bwMode="auto">
          <a:xfrm>
            <a:off x="3201988" y="4991100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85" name="Line 41"/>
          <p:cNvSpPr>
            <a:spLocks noChangeShapeType="1"/>
          </p:cNvSpPr>
          <p:nvPr/>
        </p:nvSpPr>
        <p:spPr bwMode="auto">
          <a:xfrm flipV="1">
            <a:off x="3354388" y="4991100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86" name="Line 42"/>
          <p:cNvSpPr>
            <a:spLocks noChangeShapeType="1"/>
          </p:cNvSpPr>
          <p:nvPr/>
        </p:nvSpPr>
        <p:spPr bwMode="auto">
          <a:xfrm flipV="1">
            <a:off x="4421188" y="4991100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87" name="Line 43"/>
          <p:cNvSpPr>
            <a:spLocks noChangeShapeType="1"/>
          </p:cNvSpPr>
          <p:nvPr/>
        </p:nvSpPr>
        <p:spPr bwMode="auto">
          <a:xfrm flipH="1">
            <a:off x="3430588" y="4991100"/>
            <a:ext cx="91440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88" name="Line 44"/>
          <p:cNvSpPr>
            <a:spLocks noChangeShapeType="1"/>
          </p:cNvSpPr>
          <p:nvPr/>
        </p:nvSpPr>
        <p:spPr bwMode="auto">
          <a:xfrm>
            <a:off x="4573588" y="4914900"/>
            <a:ext cx="8382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89" name="Line 45"/>
          <p:cNvSpPr>
            <a:spLocks noChangeShapeType="1"/>
          </p:cNvSpPr>
          <p:nvPr/>
        </p:nvSpPr>
        <p:spPr bwMode="auto">
          <a:xfrm flipV="1">
            <a:off x="4649788" y="5753100"/>
            <a:ext cx="7620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90" name="Text Box 46"/>
          <p:cNvSpPr txBox="1">
            <a:spLocks noChangeArrowheads="1"/>
          </p:cNvSpPr>
          <p:nvPr/>
        </p:nvSpPr>
        <p:spPr bwMode="auto">
          <a:xfrm rot="16251548">
            <a:off x="2732882" y="5225257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31791" name="Text Box 47"/>
          <p:cNvSpPr txBox="1">
            <a:spLocks noChangeArrowheads="1"/>
          </p:cNvSpPr>
          <p:nvPr/>
        </p:nvSpPr>
        <p:spPr bwMode="auto">
          <a:xfrm rot="1671448">
            <a:off x="2279650" y="61309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4/13</a:t>
            </a:r>
          </a:p>
        </p:txBody>
      </p:sp>
      <p:sp>
        <p:nvSpPr>
          <p:cNvPr id="31792" name="Text Box 48"/>
          <p:cNvSpPr txBox="1">
            <a:spLocks noChangeArrowheads="1"/>
          </p:cNvSpPr>
          <p:nvPr/>
        </p:nvSpPr>
        <p:spPr bwMode="auto">
          <a:xfrm>
            <a:off x="3505200" y="4572001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12/12</a:t>
            </a:r>
          </a:p>
        </p:txBody>
      </p:sp>
      <p:sp>
        <p:nvSpPr>
          <p:cNvPr id="31793" name="Text Box 49"/>
          <p:cNvSpPr txBox="1">
            <a:spLocks noChangeArrowheads="1"/>
          </p:cNvSpPr>
          <p:nvPr/>
        </p:nvSpPr>
        <p:spPr bwMode="auto">
          <a:xfrm rot="19986914">
            <a:off x="2219325" y="4760913"/>
            <a:ext cx="1066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12/16</a:t>
            </a:r>
          </a:p>
        </p:txBody>
      </p:sp>
      <p:sp>
        <p:nvSpPr>
          <p:cNvPr id="31794" name="Text Box 50"/>
          <p:cNvSpPr txBox="1">
            <a:spLocks noChangeArrowheads="1"/>
          </p:cNvSpPr>
          <p:nvPr/>
        </p:nvSpPr>
        <p:spPr bwMode="auto">
          <a:xfrm rot="16251548">
            <a:off x="3191669" y="5225257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1795" name="Text Box 51"/>
          <p:cNvSpPr txBox="1">
            <a:spLocks noChangeArrowheads="1"/>
          </p:cNvSpPr>
          <p:nvPr/>
        </p:nvSpPr>
        <p:spPr bwMode="auto">
          <a:xfrm rot="19479436">
            <a:off x="4884738" y="590073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4/4</a:t>
            </a:r>
          </a:p>
        </p:txBody>
      </p:sp>
      <p:sp>
        <p:nvSpPr>
          <p:cNvPr id="31796" name="Text Box 52"/>
          <p:cNvSpPr txBox="1">
            <a:spLocks noChangeArrowheads="1"/>
          </p:cNvSpPr>
          <p:nvPr/>
        </p:nvSpPr>
        <p:spPr bwMode="auto">
          <a:xfrm>
            <a:off x="3582988" y="6362701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sz="1400"/>
              <a:t> </a:t>
            </a:r>
            <a:r>
              <a:rPr lang="de-DE" altLang="zh-CN" b="1">
                <a:latin typeface="Times New Roman" panose="02020603050405020304" pitchFamily="18" charset="0"/>
              </a:rPr>
              <a:t>4/14</a:t>
            </a:r>
          </a:p>
        </p:txBody>
      </p:sp>
      <p:sp>
        <p:nvSpPr>
          <p:cNvPr id="31797" name="Text Box 53"/>
          <p:cNvSpPr txBox="1">
            <a:spLocks noChangeArrowheads="1"/>
          </p:cNvSpPr>
          <p:nvPr/>
        </p:nvSpPr>
        <p:spPr bwMode="auto">
          <a:xfrm rot="1953558">
            <a:off x="4778375" y="4951413"/>
            <a:ext cx="844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12/20</a:t>
            </a:r>
          </a:p>
        </p:txBody>
      </p:sp>
      <p:sp>
        <p:nvSpPr>
          <p:cNvPr id="31798" name="Text Box 54"/>
          <p:cNvSpPr txBox="1">
            <a:spLocks noChangeArrowheads="1"/>
          </p:cNvSpPr>
          <p:nvPr/>
        </p:nvSpPr>
        <p:spPr bwMode="auto">
          <a:xfrm rot="16251548">
            <a:off x="4260057" y="5226844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1799" name="Text Box 55"/>
          <p:cNvSpPr txBox="1">
            <a:spLocks noChangeArrowheads="1"/>
          </p:cNvSpPr>
          <p:nvPr/>
        </p:nvSpPr>
        <p:spPr bwMode="auto">
          <a:xfrm rot="18444138">
            <a:off x="3801269" y="5461794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1800" name="Text Box 56"/>
          <p:cNvSpPr txBox="1">
            <a:spLocks noChangeArrowheads="1"/>
          </p:cNvSpPr>
          <p:nvPr/>
        </p:nvSpPr>
        <p:spPr bwMode="auto">
          <a:xfrm>
            <a:off x="1524000" y="4227513"/>
            <a:ext cx="2286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GB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new flow network G</a:t>
            </a:r>
            <a:r>
              <a:rPr lang="de-DE" altLang="zh-CN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1801" name="Line 57"/>
          <p:cNvSpPr>
            <a:spLocks noChangeShapeType="1"/>
          </p:cNvSpPr>
          <p:nvPr/>
        </p:nvSpPr>
        <p:spPr bwMode="auto">
          <a:xfrm flipH="1">
            <a:off x="2286000" y="2438400"/>
            <a:ext cx="838200" cy="4572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802" name="Line 58"/>
          <p:cNvSpPr>
            <a:spLocks noChangeShapeType="1"/>
          </p:cNvSpPr>
          <p:nvPr/>
        </p:nvSpPr>
        <p:spPr bwMode="auto">
          <a:xfrm flipH="1" flipV="1">
            <a:off x="4419600" y="2362200"/>
            <a:ext cx="914400" cy="6096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803" name="Text Box 59"/>
          <p:cNvSpPr txBox="1">
            <a:spLocks noChangeArrowheads="1"/>
          </p:cNvSpPr>
          <p:nvPr/>
        </p:nvSpPr>
        <p:spPr bwMode="auto">
          <a:xfrm rot="19882963">
            <a:off x="2444750" y="25876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31804" name="Text Box 60"/>
          <p:cNvSpPr txBox="1">
            <a:spLocks noChangeArrowheads="1"/>
          </p:cNvSpPr>
          <p:nvPr/>
        </p:nvSpPr>
        <p:spPr bwMode="auto">
          <a:xfrm rot="1953558">
            <a:off x="4562475" y="26638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 </a:t>
            </a:r>
          </a:p>
        </p:txBody>
      </p:sp>
      <p:sp>
        <p:nvSpPr>
          <p:cNvPr id="31805" name="Line 62"/>
          <p:cNvSpPr>
            <a:spLocks noChangeShapeType="1"/>
          </p:cNvSpPr>
          <p:nvPr/>
        </p:nvSpPr>
        <p:spPr bwMode="auto">
          <a:xfrm flipH="1">
            <a:off x="3429000" y="3733800"/>
            <a:ext cx="8382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806" name="Line 63"/>
          <p:cNvSpPr>
            <a:spLocks noChangeShapeType="1"/>
          </p:cNvSpPr>
          <p:nvPr/>
        </p:nvSpPr>
        <p:spPr bwMode="auto">
          <a:xfrm flipH="1" flipV="1">
            <a:off x="2286000" y="3200400"/>
            <a:ext cx="838200" cy="4572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807" name="Text Box 64"/>
          <p:cNvSpPr txBox="1">
            <a:spLocks noChangeArrowheads="1"/>
          </p:cNvSpPr>
          <p:nvPr/>
        </p:nvSpPr>
        <p:spPr bwMode="auto">
          <a:xfrm rot="1671448">
            <a:off x="2582863" y="31972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1808" name="Text Box 65"/>
          <p:cNvSpPr txBox="1">
            <a:spLocks noChangeArrowheads="1"/>
          </p:cNvSpPr>
          <p:nvPr/>
        </p:nvSpPr>
        <p:spPr bwMode="auto">
          <a:xfrm>
            <a:off x="3581400" y="3429001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 4</a:t>
            </a:r>
          </a:p>
        </p:txBody>
      </p:sp>
      <p:graphicFrame>
        <p:nvGraphicFramePr>
          <p:cNvPr id="31746" name="Object 2"/>
          <p:cNvGraphicFramePr>
            <a:graphicFrameLocks noChangeAspect="1"/>
          </p:cNvGraphicFramePr>
          <p:nvPr/>
        </p:nvGraphicFramePr>
        <p:xfrm>
          <a:off x="5754688" y="1681164"/>
          <a:ext cx="4832350" cy="371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kument" r:id="rId2" imgW="4516120" imgH="3467100" progId="Word.Document.8">
                  <p:embed/>
                </p:oleObj>
              </mc:Choice>
              <mc:Fallback>
                <p:oleObj name="Dokument" r:id="rId2" imgW="4516120" imgH="3467100" progId="Word.Document.8">
                  <p:embed/>
                  <p:pic>
                    <p:nvPicPr>
                      <p:cNvPr id="3174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4688" y="1681164"/>
                        <a:ext cx="4832350" cy="371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6">
            <a:extLst>
              <a:ext uri="{FF2B5EF4-FFF2-40B4-BE49-F238E27FC236}">
                <a16:creationId xmlns:a16="http://schemas.microsoft.com/office/drawing/2014/main" id="{DAC6202A-C957-EDDA-B34C-99D94178F028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A52548D-8097-4992-17A3-A8401DF3111F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7C2193E-60E6-C890-3D21-3C099706B845}"/>
              </a:ext>
            </a:extLst>
          </p:cNvPr>
          <p:cNvSpPr txBox="1"/>
          <p:nvPr/>
        </p:nvSpPr>
        <p:spPr>
          <a:xfrm>
            <a:off x="380724" y="299408"/>
            <a:ext cx="46444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Ford-Fulkerson</a:t>
            </a:r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算法</a:t>
            </a:r>
          </a:p>
        </p:txBody>
      </p:sp>
      <p:sp>
        <p:nvSpPr>
          <p:cNvPr id="7" name="圆角矩形 8">
            <a:extLst>
              <a:ext uri="{FF2B5EF4-FFF2-40B4-BE49-F238E27FC236}">
                <a16:creationId xmlns:a16="http://schemas.microsoft.com/office/drawing/2014/main" id="{75DD4795-FD3C-42C7-7B66-4E23CF81CF32}"/>
              </a:ext>
            </a:extLst>
          </p:cNvPr>
          <p:cNvSpPr/>
          <p:nvPr/>
        </p:nvSpPr>
        <p:spPr>
          <a:xfrm>
            <a:off x="238664" y="311105"/>
            <a:ext cx="4644422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40834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Oval 3"/>
          <p:cNvSpPr>
            <a:spLocks noChangeArrowheads="1"/>
          </p:cNvSpPr>
          <p:nvPr/>
        </p:nvSpPr>
        <p:spPr bwMode="auto">
          <a:xfrm>
            <a:off x="1944688" y="2859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32772" name="Oval 4"/>
          <p:cNvSpPr>
            <a:spLocks noChangeArrowheads="1"/>
          </p:cNvSpPr>
          <p:nvPr/>
        </p:nvSpPr>
        <p:spPr bwMode="auto">
          <a:xfrm>
            <a:off x="5373688" y="2859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32773" name="Oval 5"/>
          <p:cNvSpPr>
            <a:spLocks noChangeArrowheads="1"/>
          </p:cNvSpPr>
          <p:nvPr/>
        </p:nvSpPr>
        <p:spPr bwMode="auto">
          <a:xfrm>
            <a:off x="3087688" y="2097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2774" name="Oval 6"/>
          <p:cNvSpPr>
            <a:spLocks noChangeArrowheads="1"/>
          </p:cNvSpPr>
          <p:nvPr/>
        </p:nvSpPr>
        <p:spPr bwMode="auto">
          <a:xfrm>
            <a:off x="3087688" y="3621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2775" name="Oval 7"/>
          <p:cNvSpPr>
            <a:spLocks noChangeArrowheads="1"/>
          </p:cNvSpPr>
          <p:nvPr/>
        </p:nvSpPr>
        <p:spPr bwMode="auto">
          <a:xfrm>
            <a:off x="4230688" y="20589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2776" name="Oval 8"/>
          <p:cNvSpPr>
            <a:spLocks noChangeArrowheads="1"/>
          </p:cNvSpPr>
          <p:nvPr/>
        </p:nvSpPr>
        <p:spPr bwMode="auto">
          <a:xfrm>
            <a:off x="4230688" y="3621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2777" name="Line 9"/>
          <p:cNvSpPr>
            <a:spLocks noChangeShapeType="1"/>
          </p:cNvSpPr>
          <p:nvPr/>
        </p:nvSpPr>
        <p:spPr bwMode="auto">
          <a:xfrm flipH="1">
            <a:off x="3506788" y="2287588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2778" name="Line 10"/>
          <p:cNvSpPr>
            <a:spLocks noChangeShapeType="1"/>
          </p:cNvSpPr>
          <p:nvPr/>
        </p:nvSpPr>
        <p:spPr bwMode="auto">
          <a:xfrm>
            <a:off x="3506788" y="3811588"/>
            <a:ext cx="762000" cy="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2779" name="Line 11"/>
          <p:cNvSpPr>
            <a:spLocks noChangeShapeType="1"/>
          </p:cNvSpPr>
          <p:nvPr/>
        </p:nvSpPr>
        <p:spPr bwMode="auto">
          <a:xfrm flipV="1">
            <a:off x="2133601" y="2362200"/>
            <a:ext cx="989013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80" name="Line 12"/>
          <p:cNvSpPr>
            <a:spLocks noChangeShapeType="1"/>
          </p:cNvSpPr>
          <p:nvPr/>
        </p:nvSpPr>
        <p:spPr bwMode="auto">
          <a:xfrm>
            <a:off x="2135188" y="3201988"/>
            <a:ext cx="914400" cy="533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81" name="Line 13"/>
          <p:cNvSpPr>
            <a:spLocks noChangeShapeType="1"/>
          </p:cNvSpPr>
          <p:nvPr/>
        </p:nvSpPr>
        <p:spPr bwMode="auto">
          <a:xfrm>
            <a:off x="3201988" y="2439988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82" name="Line 14"/>
          <p:cNvSpPr>
            <a:spLocks noChangeShapeType="1"/>
          </p:cNvSpPr>
          <p:nvPr/>
        </p:nvSpPr>
        <p:spPr bwMode="auto">
          <a:xfrm flipV="1">
            <a:off x="3354388" y="2439988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83" name="Line 15"/>
          <p:cNvSpPr>
            <a:spLocks noChangeShapeType="1"/>
          </p:cNvSpPr>
          <p:nvPr/>
        </p:nvSpPr>
        <p:spPr bwMode="auto">
          <a:xfrm flipV="1">
            <a:off x="4421188" y="2439988"/>
            <a:ext cx="0" cy="12192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84" name="Line 16"/>
          <p:cNvSpPr>
            <a:spLocks noChangeShapeType="1"/>
          </p:cNvSpPr>
          <p:nvPr/>
        </p:nvSpPr>
        <p:spPr bwMode="auto">
          <a:xfrm flipH="1">
            <a:off x="3430588" y="2439988"/>
            <a:ext cx="91440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85" name="Line 17"/>
          <p:cNvSpPr>
            <a:spLocks noChangeShapeType="1"/>
          </p:cNvSpPr>
          <p:nvPr/>
        </p:nvSpPr>
        <p:spPr bwMode="auto">
          <a:xfrm>
            <a:off x="4573588" y="2363788"/>
            <a:ext cx="838200" cy="533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86" name="Line 18"/>
          <p:cNvSpPr>
            <a:spLocks noChangeShapeType="1"/>
          </p:cNvSpPr>
          <p:nvPr/>
        </p:nvSpPr>
        <p:spPr bwMode="auto">
          <a:xfrm rot="10900883" flipV="1">
            <a:off x="4649788" y="3201988"/>
            <a:ext cx="7620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87" name="Text Box 19"/>
          <p:cNvSpPr txBox="1">
            <a:spLocks noChangeArrowheads="1"/>
          </p:cNvSpPr>
          <p:nvPr/>
        </p:nvSpPr>
        <p:spPr bwMode="auto">
          <a:xfrm rot="16251548">
            <a:off x="2734469" y="2674144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32788" name="Text Box 20"/>
          <p:cNvSpPr txBox="1">
            <a:spLocks noChangeArrowheads="1"/>
          </p:cNvSpPr>
          <p:nvPr/>
        </p:nvSpPr>
        <p:spPr bwMode="auto">
          <a:xfrm rot="1671448">
            <a:off x="2279650" y="3579813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2789" name="Text Box 21"/>
          <p:cNvSpPr txBox="1">
            <a:spLocks noChangeArrowheads="1"/>
          </p:cNvSpPr>
          <p:nvPr/>
        </p:nvSpPr>
        <p:spPr bwMode="auto">
          <a:xfrm>
            <a:off x="3657600" y="1981201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32790" name="Text Box 22"/>
          <p:cNvSpPr txBox="1">
            <a:spLocks noChangeArrowheads="1"/>
          </p:cNvSpPr>
          <p:nvPr/>
        </p:nvSpPr>
        <p:spPr bwMode="auto">
          <a:xfrm rot="19986914">
            <a:off x="2376488" y="22828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2791" name="Text Box 23"/>
          <p:cNvSpPr txBox="1">
            <a:spLocks noChangeArrowheads="1"/>
          </p:cNvSpPr>
          <p:nvPr/>
        </p:nvSpPr>
        <p:spPr bwMode="auto">
          <a:xfrm rot="16251548">
            <a:off x="3193257" y="2670969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2792" name="Text Box 24"/>
          <p:cNvSpPr txBox="1">
            <a:spLocks noChangeArrowheads="1"/>
          </p:cNvSpPr>
          <p:nvPr/>
        </p:nvSpPr>
        <p:spPr bwMode="auto">
          <a:xfrm rot="19479436">
            <a:off x="4884738" y="33496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2793" name="Text Box 25"/>
          <p:cNvSpPr txBox="1">
            <a:spLocks noChangeArrowheads="1"/>
          </p:cNvSpPr>
          <p:nvPr/>
        </p:nvSpPr>
        <p:spPr bwMode="auto">
          <a:xfrm>
            <a:off x="3582988" y="381158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 10</a:t>
            </a:r>
          </a:p>
        </p:txBody>
      </p:sp>
      <p:sp>
        <p:nvSpPr>
          <p:cNvPr id="32794" name="Text Box 26"/>
          <p:cNvSpPr txBox="1">
            <a:spLocks noChangeArrowheads="1"/>
          </p:cNvSpPr>
          <p:nvPr/>
        </p:nvSpPr>
        <p:spPr bwMode="auto">
          <a:xfrm rot="1953558">
            <a:off x="4792663" y="2360613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32795" name="Text Box 27"/>
          <p:cNvSpPr txBox="1">
            <a:spLocks noChangeArrowheads="1"/>
          </p:cNvSpPr>
          <p:nvPr/>
        </p:nvSpPr>
        <p:spPr bwMode="auto">
          <a:xfrm rot="16251548">
            <a:off x="4261644" y="2672557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solidFill>
                  <a:srgbClr val="FF3300"/>
                </a:solidFill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2796" name="Text Box 28"/>
          <p:cNvSpPr txBox="1">
            <a:spLocks noChangeArrowheads="1"/>
          </p:cNvSpPr>
          <p:nvPr/>
        </p:nvSpPr>
        <p:spPr bwMode="auto">
          <a:xfrm rot="18444138">
            <a:off x="3801269" y="2910682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2797" name="Text Box 29"/>
          <p:cNvSpPr txBox="1">
            <a:spLocks noChangeArrowheads="1"/>
          </p:cNvSpPr>
          <p:nvPr/>
        </p:nvSpPr>
        <p:spPr bwMode="auto">
          <a:xfrm>
            <a:off x="1524000" y="1676401"/>
            <a:ext cx="3352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GB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residual network G</a:t>
            </a:r>
            <a:r>
              <a:rPr lang="en-GB" altLang="zh-CN" b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de-DE" altLang="zh-CN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2798" name="Oval 30"/>
          <p:cNvSpPr>
            <a:spLocks noChangeArrowheads="1"/>
          </p:cNvSpPr>
          <p:nvPr/>
        </p:nvSpPr>
        <p:spPr bwMode="auto">
          <a:xfrm>
            <a:off x="1944688" y="5410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32799" name="Oval 31"/>
          <p:cNvSpPr>
            <a:spLocks noChangeArrowheads="1"/>
          </p:cNvSpPr>
          <p:nvPr/>
        </p:nvSpPr>
        <p:spPr bwMode="auto">
          <a:xfrm>
            <a:off x="5373688" y="5410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32800" name="Oval 32"/>
          <p:cNvSpPr>
            <a:spLocks noChangeArrowheads="1"/>
          </p:cNvSpPr>
          <p:nvPr/>
        </p:nvSpPr>
        <p:spPr bwMode="auto">
          <a:xfrm>
            <a:off x="3087688" y="4648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2801" name="Oval 33"/>
          <p:cNvSpPr>
            <a:spLocks noChangeArrowheads="1"/>
          </p:cNvSpPr>
          <p:nvPr/>
        </p:nvSpPr>
        <p:spPr bwMode="auto">
          <a:xfrm>
            <a:off x="3087688" y="6172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2802" name="Oval 34"/>
          <p:cNvSpPr>
            <a:spLocks noChangeArrowheads="1"/>
          </p:cNvSpPr>
          <p:nvPr/>
        </p:nvSpPr>
        <p:spPr bwMode="auto">
          <a:xfrm>
            <a:off x="4230688" y="46101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2803" name="Oval 35"/>
          <p:cNvSpPr>
            <a:spLocks noChangeArrowheads="1"/>
          </p:cNvSpPr>
          <p:nvPr/>
        </p:nvSpPr>
        <p:spPr bwMode="auto">
          <a:xfrm>
            <a:off x="4230688" y="6172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2804" name="Line 36"/>
          <p:cNvSpPr>
            <a:spLocks noChangeShapeType="1"/>
          </p:cNvSpPr>
          <p:nvPr/>
        </p:nvSpPr>
        <p:spPr bwMode="auto">
          <a:xfrm>
            <a:off x="3506788" y="48387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2805" name="Line 37"/>
          <p:cNvSpPr>
            <a:spLocks noChangeShapeType="1"/>
          </p:cNvSpPr>
          <p:nvPr/>
        </p:nvSpPr>
        <p:spPr bwMode="auto">
          <a:xfrm>
            <a:off x="3506788" y="63627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2806" name="Line 38"/>
          <p:cNvSpPr>
            <a:spLocks noChangeShapeType="1"/>
          </p:cNvSpPr>
          <p:nvPr/>
        </p:nvSpPr>
        <p:spPr bwMode="auto">
          <a:xfrm flipV="1">
            <a:off x="2133601" y="4913313"/>
            <a:ext cx="989013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807" name="Line 39"/>
          <p:cNvSpPr>
            <a:spLocks noChangeShapeType="1"/>
          </p:cNvSpPr>
          <p:nvPr/>
        </p:nvSpPr>
        <p:spPr bwMode="auto">
          <a:xfrm>
            <a:off x="2135188" y="5753100"/>
            <a:ext cx="9144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808" name="Line 40"/>
          <p:cNvSpPr>
            <a:spLocks noChangeShapeType="1"/>
          </p:cNvSpPr>
          <p:nvPr/>
        </p:nvSpPr>
        <p:spPr bwMode="auto">
          <a:xfrm>
            <a:off x="3201988" y="4991100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809" name="Line 41"/>
          <p:cNvSpPr>
            <a:spLocks noChangeShapeType="1"/>
          </p:cNvSpPr>
          <p:nvPr/>
        </p:nvSpPr>
        <p:spPr bwMode="auto">
          <a:xfrm flipV="1">
            <a:off x="3354388" y="4991100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810" name="Line 42"/>
          <p:cNvSpPr>
            <a:spLocks noChangeShapeType="1"/>
          </p:cNvSpPr>
          <p:nvPr/>
        </p:nvSpPr>
        <p:spPr bwMode="auto">
          <a:xfrm flipV="1">
            <a:off x="4421188" y="4991100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811" name="Line 43"/>
          <p:cNvSpPr>
            <a:spLocks noChangeShapeType="1"/>
          </p:cNvSpPr>
          <p:nvPr/>
        </p:nvSpPr>
        <p:spPr bwMode="auto">
          <a:xfrm flipH="1">
            <a:off x="3430588" y="4991100"/>
            <a:ext cx="91440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812" name="Line 44"/>
          <p:cNvSpPr>
            <a:spLocks noChangeShapeType="1"/>
          </p:cNvSpPr>
          <p:nvPr/>
        </p:nvSpPr>
        <p:spPr bwMode="auto">
          <a:xfrm>
            <a:off x="4573588" y="4914900"/>
            <a:ext cx="8382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813" name="Line 45"/>
          <p:cNvSpPr>
            <a:spLocks noChangeShapeType="1"/>
          </p:cNvSpPr>
          <p:nvPr/>
        </p:nvSpPr>
        <p:spPr bwMode="auto">
          <a:xfrm flipV="1">
            <a:off x="4649788" y="5753100"/>
            <a:ext cx="7620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814" name="Text Box 46"/>
          <p:cNvSpPr txBox="1">
            <a:spLocks noChangeArrowheads="1"/>
          </p:cNvSpPr>
          <p:nvPr/>
        </p:nvSpPr>
        <p:spPr bwMode="auto">
          <a:xfrm rot="16251548">
            <a:off x="2732882" y="5225257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32815" name="Text Box 47"/>
          <p:cNvSpPr txBox="1">
            <a:spLocks noChangeArrowheads="1"/>
          </p:cNvSpPr>
          <p:nvPr/>
        </p:nvSpPr>
        <p:spPr bwMode="auto">
          <a:xfrm rot="1671448">
            <a:off x="2279650" y="61309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4/13</a:t>
            </a:r>
          </a:p>
        </p:txBody>
      </p:sp>
      <p:sp>
        <p:nvSpPr>
          <p:cNvPr id="32816" name="Text Box 48"/>
          <p:cNvSpPr txBox="1">
            <a:spLocks noChangeArrowheads="1"/>
          </p:cNvSpPr>
          <p:nvPr/>
        </p:nvSpPr>
        <p:spPr bwMode="auto">
          <a:xfrm>
            <a:off x="3505200" y="4495801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12/12</a:t>
            </a:r>
          </a:p>
        </p:txBody>
      </p:sp>
      <p:sp>
        <p:nvSpPr>
          <p:cNvPr id="32817" name="Text Box 49"/>
          <p:cNvSpPr txBox="1">
            <a:spLocks noChangeArrowheads="1"/>
          </p:cNvSpPr>
          <p:nvPr/>
        </p:nvSpPr>
        <p:spPr bwMode="auto">
          <a:xfrm rot="19986914">
            <a:off x="2157413" y="4805363"/>
            <a:ext cx="914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12/16</a:t>
            </a:r>
          </a:p>
        </p:txBody>
      </p:sp>
      <p:sp>
        <p:nvSpPr>
          <p:cNvPr id="32818" name="Text Box 50"/>
          <p:cNvSpPr txBox="1">
            <a:spLocks noChangeArrowheads="1"/>
          </p:cNvSpPr>
          <p:nvPr/>
        </p:nvSpPr>
        <p:spPr bwMode="auto">
          <a:xfrm rot="16251548">
            <a:off x="3191669" y="5225257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2819" name="Text Box 51"/>
          <p:cNvSpPr txBox="1">
            <a:spLocks noChangeArrowheads="1"/>
          </p:cNvSpPr>
          <p:nvPr/>
        </p:nvSpPr>
        <p:spPr bwMode="auto">
          <a:xfrm rot="19479436">
            <a:off x="4884738" y="590073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4/4</a:t>
            </a:r>
          </a:p>
        </p:txBody>
      </p:sp>
      <p:sp>
        <p:nvSpPr>
          <p:cNvPr id="32820" name="Text Box 52"/>
          <p:cNvSpPr txBox="1">
            <a:spLocks noChangeArrowheads="1"/>
          </p:cNvSpPr>
          <p:nvPr/>
        </p:nvSpPr>
        <p:spPr bwMode="auto">
          <a:xfrm>
            <a:off x="3582988" y="6362701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 4/14</a:t>
            </a:r>
          </a:p>
        </p:txBody>
      </p:sp>
      <p:sp>
        <p:nvSpPr>
          <p:cNvPr id="32821" name="Text Box 53"/>
          <p:cNvSpPr txBox="1">
            <a:spLocks noChangeArrowheads="1"/>
          </p:cNvSpPr>
          <p:nvPr/>
        </p:nvSpPr>
        <p:spPr bwMode="auto">
          <a:xfrm rot="1953558">
            <a:off x="4778375" y="4951413"/>
            <a:ext cx="844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12/20</a:t>
            </a:r>
          </a:p>
        </p:txBody>
      </p:sp>
      <p:sp>
        <p:nvSpPr>
          <p:cNvPr id="32822" name="Text Box 54"/>
          <p:cNvSpPr txBox="1">
            <a:spLocks noChangeArrowheads="1"/>
          </p:cNvSpPr>
          <p:nvPr/>
        </p:nvSpPr>
        <p:spPr bwMode="auto">
          <a:xfrm rot="16251548">
            <a:off x="4260057" y="5226844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2823" name="Text Box 55"/>
          <p:cNvSpPr txBox="1">
            <a:spLocks noChangeArrowheads="1"/>
          </p:cNvSpPr>
          <p:nvPr/>
        </p:nvSpPr>
        <p:spPr bwMode="auto">
          <a:xfrm rot="18444138">
            <a:off x="3801269" y="5461794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2824" name="Text Box 56"/>
          <p:cNvSpPr txBox="1">
            <a:spLocks noChangeArrowheads="1"/>
          </p:cNvSpPr>
          <p:nvPr/>
        </p:nvSpPr>
        <p:spPr bwMode="auto">
          <a:xfrm>
            <a:off x="1524000" y="4227513"/>
            <a:ext cx="2286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GB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new flow network G</a:t>
            </a:r>
            <a:r>
              <a:rPr lang="de-DE" altLang="zh-CN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2825" name="Line 57"/>
          <p:cNvSpPr>
            <a:spLocks noChangeShapeType="1"/>
          </p:cNvSpPr>
          <p:nvPr/>
        </p:nvSpPr>
        <p:spPr bwMode="auto">
          <a:xfrm flipH="1">
            <a:off x="2286000" y="2438400"/>
            <a:ext cx="838200" cy="4572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2826" name="Line 58"/>
          <p:cNvSpPr>
            <a:spLocks noChangeShapeType="1"/>
          </p:cNvSpPr>
          <p:nvPr/>
        </p:nvSpPr>
        <p:spPr bwMode="auto">
          <a:xfrm flipH="1" flipV="1">
            <a:off x="4419600" y="2362200"/>
            <a:ext cx="914400" cy="6096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2827" name="Text Box 59"/>
          <p:cNvSpPr txBox="1">
            <a:spLocks noChangeArrowheads="1"/>
          </p:cNvSpPr>
          <p:nvPr/>
        </p:nvSpPr>
        <p:spPr bwMode="auto">
          <a:xfrm rot="19882963">
            <a:off x="2444750" y="25876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32828" name="Text Box 60"/>
          <p:cNvSpPr txBox="1">
            <a:spLocks noChangeArrowheads="1"/>
          </p:cNvSpPr>
          <p:nvPr/>
        </p:nvSpPr>
        <p:spPr bwMode="auto">
          <a:xfrm rot="1953558">
            <a:off x="4562475" y="26638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 </a:t>
            </a:r>
          </a:p>
        </p:txBody>
      </p:sp>
      <p:sp>
        <p:nvSpPr>
          <p:cNvPr id="32829" name="Line 62"/>
          <p:cNvSpPr>
            <a:spLocks noChangeShapeType="1"/>
          </p:cNvSpPr>
          <p:nvPr/>
        </p:nvSpPr>
        <p:spPr bwMode="auto">
          <a:xfrm flipH="1">
            <a:off x="3429000" y="3733800"/>
            <a:ext cx="8382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2830" name="Line 63"/>
          <p:cNvSpPr>
            <a:spLocks noChangeShapeType="1"/>
          </p:cNvSpPr>
          <p:nvPr/>
        </p:nvSpPr>
        <p:spPr bwMode="auto">
          <a:xfrm flipH="1" flipV="1">
            <a:off x="2286000" y="3200400"/>
            <a:ext cx="838200" cy="4572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2831" name="Text Box 64"/>
          <p:cNvSpPr txBox="1">
            <a:spLocks noChangeArrowheads="1"/>
          </p:cNvSpPr>
          <p:nvPr/>
        </p:nvSpPr>
        <p:spPr bwMode="auto">
          <a:xfrm rot="1671448">
            <a:off x="2582863" y="31972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2832" name="Text Box 65"/>
          <p:cNvSpPr txBox="1">
            <a:spLocks noChangeArrowheads="1"/>
          </p:cNvSpPr>
          <p:nvPr/>
        </p:nvSpPr>
        <p:spPr bwMode="auto">
          <a:xfrm>
            <a:off x="3581400" y="3429001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 4</a:t>
            </a:r>
          </a:p>
        </p:txBody>
      </p:sp>
      <p:sp>
        <p:nvSpPr>
          <p:cNvPr id="32833" name="Text Box 66"/>
          <p:cNvSpPr txBox="1">
            <a:spLocks noChangeArrowheads="1"/>
          </p:cNvSpPr>
          <p:nvPr/>
        </p:nvSpPr>
        <p:spPr bwMode="auto">
          <a:xfrm>
            <a:off x="6400800" y="5181601"/>
            <a:ext cx="3352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GB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temporary variable:</a:t>
            </a:r>
          </a:p>
          <a:p>
            <a:pPr eaLnBrk="1" hangingPunct="1"/>
            <a:r>
              <a:rPr lang="en-GB" altLang="zh-CN" sz="24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altLang="zh-CN" sz="2400" b="1" baseline="-3000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GB" altLang="zh-CN" sz="24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(p) = 7</a:t>
            </a:r>
            <a:endParaRPr lang="de-DE" altLang="zh-CN" sz="2400" b="1">
              <a:solidFill>
                <a:srgbClr val="FF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2770" name="Object 2"/>
          <p:cNvGraphicFramePr>
            <a:graphicFrameLocks noChangeAspect="1"/>
          </p:cNvGraphicFramePr>
          <p:nvPr/>
        </p:nvGraphicFramePr>
        <p:xfrm>
          <a:off x="5754688" y="1681164"/>
          <a:ext cx="4832350" cy="371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kument" r:id="rId2" imgW="4516120" imgH="3467100" progId="Word.Document.8">
                  <p:embed/>
                </p:oleObj>
              </mc:Choice>
              <mc:Fallback>
                <p:oleObj name="Dokument" r:id="rId2" imgW="4516120" imgH="3467100" progId="Word.Document.8">
                  <p:embed/>
                  <p:pic>
                    <p:nvPicPr>
                      <p:cNvPr id="3277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4688" y="1681164"/>
                        <a:ext cx="4832350" cy="371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6">
            <a:extLst>
              <a:ext uri="{FF2B5EF4-FFF2-40B4-BE49-F238E27FC236}">
                <a16:creationId xmlns:a16="http://schemas.microsoft.com/office/drawing/2014/main" id="{20CA3F8A-EB2A-87F7-0B4A-BFE6B46A337F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57DAAFE-FCB6-3BE0-5BA9-59D63DC24F2C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E2A35AF-C5EC-F7C9-ABD4-AEEFD7B3AD39}"/>
              </a:ext>
            </a:extLst>
          </p:cNvPr>
          <p:cNvSpPr txBox="1"/>
          <p:nvPr/>
        </p:nvSpPr>
        <p:spPr>
          <a:xfrm>
            <a:off x="380724" y="299408"/>
            <a:ext cx="46444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Ford-Fulkerson</a:t>
            </a:r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算法</a:t>
            </a:r>
          </a:p>
        </p:txBody>
      </p:sp>
      <p:sp>
        <p:nvSpPr>
          <p:cNvPr id="7" name="圆角矩形 8">
            <a:extLst>
              <a:ext uri="{FF2B5EF4-FFF2-40B4-BE49-F238E27FC236}">
                <a16:creationId xmlns:a16="http://schemas.microsoft.com/office/drawing/2014/main" id="{FE6C25F7-A626-CDDA-A021-E3AE150382D2}"/>
              </a:ext>
            </a:extLst>
          </p:cNvPr>
          <p:cNvSpPr/>
          <p:nvPr/>
        </p:nvSpPr>
        <p:spPr>
          <a:xfrm>
            <a:off x="238664" y="311105"/>
            <a:ext cx="4644422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318637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Oval 3"/>
          <p:cNvSpPr>
            <a:spLocks noChangeArrowheads="1"/>
          </p:cNvSpPr>
          <p:nvPr/>
        </p:nvSpPr>
        <p:spPr bwMode="auto">
          <a:xfrm>
            <a:off x="1944688" y="2859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33796" name="Oval 4"/>
          <p:cNvSpPr>
            <a:spLocks noChangeArrowheads="1"/>
          </p:cNvSpPr>
          <p:nvPr/>
        </p:nvSpPr>
        <p:spPr bwMode="auto">
          <a:xfrm>
            <a:off x="5373688" y="2859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33797" name="Oval 5"/>
          <p:cNvSpPr>
            <a:spLocks noChangeArrowheads="1"/>
          </p:cNvSpPr>
          <p:nvPr/>
        </p:nvSpPr>
        <p:spPr bwMode="auto">
          <a:xfrm>
            <a:off x="3087688" y="2097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3798" name="Oval 6"/>
          <p:cNvSpPr>
            <a:spLocks noChangeArrowheads="1"/>
          </p:cNvSpPr>
          <p:nvPr/>
        </p:nvSpPr>
        <p:spPr bwMode="auto">
          <a:xfrm>
            <a:off x="3087688" y="3621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3799" name="Oval 7"/>
          <p:cNvSpPr>
            <a:spLocks noChangeArrowheads="1"/>
          </p:cNvSpPr>
          <p:nvPr/>
        </p:nvSpPr>
        <p:spPr bwMode="auto">
          <a:xfrm>
            <a:off x="4230688" y="20589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3800" name="Oval 8"/>
          <p:cNvSpPr>
            <a:spLocks noChangeArrowheads="1"/>
          </p:cNvSpPr>
          <p:nvPr/>
        </p:nvSpPr>
        <p:spPr bwMode="auto">
          <a:xfrm>
            <a:off x="4230688" y="3621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3801" name="Line 9"/>
          <p:cNvSpPr>
            <a:spLocks noChangeShapeType="1"/>
          </p:cNvSpPr>
          <p:nvPr/>
        </p:nvSpPr>
        <p:spPr bwMode="auto">
          <a:xfrm flipH="1">
            <a:off x="3506788" y="2287588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3802" name="Line 10"/>
          <p:cNvSpPr>
            <a:spLocks noChangeShapeType="1"/>
          </p:cNvSpPr>
          <p:nvPr/>
        </p:nvSpPr>
        <p:spPr bwMode="auto">
          <a:xfrm>
            <a:off x="3506788" y="3811588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3803" name="Line 11"/>
          <p:cNvSpPr>
            <a:spLocks noChangeShapeType="1"/>
          </p:cNvSpPr>
          <p:nvPr/>
        </p:nvSpPr>
        <p:spPr bwMode="auto">
          <a:xfrm flipV="1">
            <a:off x="2133601" y="2362200"/>
            <a:ext cx="989013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04" name="Line 12"/>
          <p:cNvSpPr>
            <a:spLocks noChangeShapeType="1"/>
          </p:cNvSpPr>
          <p:nvPr/>
        </p:nvSpPr>
        <p:spPr bwMode="auto">
          <a:xfrm>
            <a:off x="2135188" y="3201988"/>
            <a:ext cx="9144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05" name="Line 13"/>
          <p:cNvSpPr>
            <a:spLocks noChangeShapeType="1"/>
          </p:cNvSpPr>
          <p:nvPr/>
        </p:nvSpPr>
        <p:spPr bwMode="auto">
          <a:xfrm>
            <a:off x="3201988" y="2439988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06" name="Line 14"/>
          <p:cNvSpPr>
            <a:spLocks noChangeShapeType="1"/>
          </p:cNvSpPr>
          <p:nvPr/>
        </p:nvSpPr>
        <p:spPr bwMode="auto">
          <a:xfrm flipV="1">
            <a:off x="3354388" y="2439988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07" name="Line 15"/>
          <p:cNvSpPr>
            <a:spLocks noChangeShapeType="1"/>
          </p:cNvSpPr>
          <p:nvPr/>
        </p:nvSpPr>
        <p:spPr bwMode="auto">
          <a:xfrm flipV="1">
            <a:off x="4421188" y="2439988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08" name="Line 16"/>
          <p:cNvSpPr>
            <a:spLocks noChangeShapeType="1"/>
          </p:cNvSpPr>
          <p:nvPr/>
        </p:nvSpPr>
        <p:spPr bwMode="auto">
          <a:xfrm flipH="1">
            <a:off x="3430588" y="2439988"/>
            <a:ext cx="91440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09" name="Line 17"/>
          <p:cNvSpPr>
            <a:spLocks noChangeShapeType="1"/>
          </p:cNvSpPr>
          <p:nvPr/>
        </p:nvSpPr>
        <p:spPr bwMode="auto">
          <a:xfrm>
            <a:off x="4573588" y="2363788"/>
            <a:ext cx="8382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10" name="Line 18"/>
          <p:cNvSpPr>
            <a:spLocks noChangeShapeType="1"/>
          </p:cNvSpPr>
          <p:nvPr/>
        </p:nvSpPr>
        <p:spPr bwMode="auto">
          <a:xfrm rot="10900883" flipV="1">
            <a:off x="4649788" y="3201988"/>
            <a:ext cx="7620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11" name="Text Box 19"/>
          <p:cNvSpPr txBox="1">
            <a:spLocks noChangeArrowheads="1"/>
          </p:cNvSpPr>
          <p:nvPr/>
        </p:nvSpPr>
        <p:spPr bwMode="auto">
          <a:xfrm rot="16251548">
            <a:off x="2734469" y="2674144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33812" name="Text Box 20"/>
          <p:cNvSpPr txBox="1">
            <a:spLocks noChangeArrowheads="1"/>
          </p:cNvSpPr>
          <p:nvPr/>
        </p:nvSpPr>
        <p:spPr bwMode="auto">
          <a:xfrm rot="1671448">
            <a:off x="2279650" y="3579813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3813" name="Text Box 21"/>
          <p:cNvSpPr txBox="1">
            <a:spLocks noChangeArrowheads="1"/>
          </p:cNvSpPr>
          <p:nvPr/>
        </p:nvSpPr>
        <p:spPr bwMode="auto">
          <a:xfrm>
            <a:off x="3659188" y="201453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33814" name="Text Box 22"/>
          <p:cNvSpPr txBox="1">
            <a:spLocks noChangeArrowheads="1"/>
          </p:cNvSpPr>
          <p:nvPr/>
        </p:nvSpPr>
        <p:spPr bwMode="auto">
          <a:xfrm rot="19986914">
            <a:off x="2376488" y="22828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3815" name="Text Box 23"/>
          <p:cNvSpPr txBox="1">
            <a:spLocks noChangeArrowheads="1"/>
          </p:cNvSpPr>
          <p:nvPr/>
        </p:nvSpPr>
        <p:spPr bwMode="auto">
          <a:xfrm rot="16251548">
            <a:off x="3193257" y="2670969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3816" name="Text Box 24"/>
          <p:cNvSpPr txBox="1">
            <a:spLocks noChangeArrowheads="1"/>
          </p:cNvSpPr>
          <p:nvPr/>
        </p:nvSpPr>
        <p:spPr bwMode="auto">
          <a:xfrm rot="19479436">
            <a:off x="4884738" y="33496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3817" name="Text Box 25"/>
          <p:cNvSpPr txBox="1">
            <a:spLocks noChangeArrowheads="1"/>
          </p:cNvSpPr>
          <p:nvPr/>
        </p:nvSpPr>
        <p:spPr bwMode="auto">
          <a:xfrm>
            <a:off x="3582988" y="381158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 10</a:t>
            </a:r>
          </a:p>
        </p:txBody>
      </p:sp>
      <p:sp>
        <p:nvSpPr>
          <p:cNvPr id="33818" name="Text Box 26"/>
          <p:cNvSpPr txBox="1">
            <a:spLocks noChangeArrowheads="1"/>
          </p:cNvSpPr>
          <p:nvPr/>
        </p:nvSpPr>
        <p:spPr bwMode="auto">
          <a:xfrm rot="1953558">
            <a:off x="4792663" y="2360613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33819" name="Text Box 27"/>
          <p:cNvSpPr txBox="1">
            <a:spLocks noChangeArrowheads="1"/>
          </p:cNvSpPr>
          <p:nvPr/>
        </p:nvSpPr>
        <p:spPr bwMode="auto">
          <a:xfrm rot="16251548">
            <a:off x="4261644" y="2672557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3820" name="Text Box 28"/>
          <p:cNvSpPr txBox="1">
            <a:spLocks noChangeArrowheads="1"/>
          </p:cNvSpPr>
          <p:nvPr/>
        </p:nvSpPr>
        <p:spPr bwMode="auto">
          <a:xfrm rot="18444138">
            <a:off x="3801269" y="2910682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3821" name="Text Box 29"/>
          <p:cNvSpPr txBox="1">
            <a:spLocks noChangeArrowheads="1"/>
          </p:cNvSpPr>
          <p:nvPr/>
        </p:nvSpPr>
        <p:spPr bwMode="auto">
          <a:xfrm>
            <a:off x="1524000" y="1676401"/>
            <a:ext cx="3048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GB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residual network G</a:t>
            </a:r>
            <a:r>
              <a:rPr lang="en-GB" altLang="zh-CN" b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de-DE" altLang="zh-CN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3822" name="Oval 30"/>
          <p:cNvSpPr>
            <a:spLocks noChangeArrowheads="1"/>
          </p:cNvSpPr>
          <p:nvPr/>
        </p:nvSpPr>
        <p:spPr bwMode="auto">
          <a:xfrm>
            <a:off x="1944688" y="5410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33823" name="Oval 31"/>
          <p:cNvSpPr>
            <a:spLocks noChangeArrowheads="1"/>
          </p:cNvSpPr>
          <p:nvPr/>
        </p:nvSpPr>
        <p:spPr bwMode="auto">
          <a:xfrm>
            <a:off x="5373688" y="5410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33824" name="Oval 32"/>
          <p:cNvSpPr>
            <a:spLocks noChangeArrowheads="1"/>
          </p:cNvSpPr>
          <p:nvPr/>
        </p:nvSpPr>
        <p:spPr bwMode="auto">
          <a:xfrm>
            <a:off x="3087688" y="4648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3825" name="Oval 33"/>
          <p:cNvSpPr>
            <a:spLocks noChangeArrowheads="1"/>
          </p:cNvSpPr>
          <p:nvPr/>
        </p:nvSpPr>
        <p:spPr bwMode="auto">
          <a:xfrm>
            <a:off x="3087688" y="6172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3826" name="Oval 34"/>
          <p:cNvSpPr>
            <a:spLocks noChangeArrowheads="1"/>
          </p:cNvSpPr>
          <p:nvPr/>
        </p:nvSpPr>
        <p:spPr bwMode="auto">
          <a:xfrm>
            <a:off x="4295775" y="4648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3827" name="Oval 35"/>
          <p:cNvSpPr>
            <a:spLocks noChangeArrowheads="1"/>
          </p:cNvSpPr>
          <p:nvPr/>
        </p:nvSpPr>
        <p:spPr bwMode="auto">
          <a:xfrm>
            <a:off x="4230688" y="6172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3828" name="Line 36"/>
          <p:cNvSpPr>
            <a:spLocks noChangeShapeType="1"/>
          </p:cNvSpPr>
          <p:nvPr/>
        </p:nvSpPr>
        <p:spPr bwMode="auto">
          <a:xfrm>
            <a:off x="3506788" y="48387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3829" name="Line 37"/>
          <p:cNvSpPr>
            <a:spLocks noChangeShapeType="1"/>
          </p:cNvSpPr>
          <p:nvPr/>
        </p:nvSpPr>
        <p:spPr bwMode="auto">
          <a:xfrm>
            <a:off x="3506788" y="6362700"/>
            <a:ext cx="762000" cy="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3830" name="Line 38"/>
          <p:cNvSpPr>
            <a:spLocks noChangeShapeType="1"/>
          </p:cNvSpPr>
          <p:nvPr/>
        </p:nvSpPr>
        <p:spPr bwMode="auto">
          <a:xfrm flipV="1">
            <a:off x="2133601" y="4913313"/>
            <a:ext cx="989013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31" name="Line 39"/>
          <p:cNvSpPr>
            <a:spLocks noChangeShapeType="1"/>
          </p:cNvSpPr>
          <p:nvPr/>
        </p:nvSpPr>
        <p:spPr bwMode="auto">
          <a:xfrm>
            <a:off x="2135188" y="5753100"/>
            <a:ext cx="914400" cy="533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32" name="Line 40"/>
          <p:cNvSpPr>
            <a:spLocks noChangeShapeType="1"/>
          </p:cNvSpPr>
          <p:nvPr/>
        </p:nvSpPr>
        <p:spPr bwMode="auto">
          <a:xfrm>
            <a:off x="3201988" y="4991100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33" name="Line 41"/>
          <p:cNvSpPr>
            <a:spLocks noChangeShapeType="1"/>
          </p:cNvSpPr>
          <p:nvPr/>
        </p:nvSpPr>
        <p:spPr bwMode="auto">
          <a:xfrm flipV="1">
            <a:off x="3354388" y="4991100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34" name="Line 42"/>
          <p:cNvSpPr>
            <a:spLocks noChangeShapeType="1"/>
          </p:cNvSpPr>
          <p:nvPr/>
        </p:nvSpPr>
        <p:spPr bwMode="auto">
          <a:xfrm flipV="1">
            <a:off x="4421188" y="4991100"/>
            <a:ext cx="0" cy="12192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35" name="Line 43"/>
          <p:cNvSpPr>
            <a:spLocks noChangeShapeType="1"/>
          </p:cNvSpPr>
          <p:nvPr/>
        </p:nvSpPr>
        <p:spPr bwMode="auto">
          <a:xfrm flipH="1">
            <a:off x="3430588" y="4991100"/>
            <a:ext cx="91440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36" name="Line 44"/>
          <p:cNvSpPr>
            <a:spLocks noChangeShapeType="1"/>
          </p:cNvSpPr>
          <p:nvPr/>
        </p:nvSpPr>
        <p:spPr bwMode="auto">
          <a:xfrm>
            <a:off x="4573588" y="4914900"/>
            <a:ext cx="838200" cy="533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37" name="Line 45"/>
          <p:cNvSpPr>
            <a:spLocks noChangeShapeType="1"/>
          </p:cNvSpPr>
          <p:nvPr/>
        </p:nvSpPr>
        <p:spPr bwMode="auto">
          <a:xfrm flipV="1">
            <a:off x="4649788" y="5753100"/>
            <a:ext cx="7620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38" name="Text Box 46"/>
          <p:cNvSpPr txBox="1">
            <a:spLocks noChangeArrowheads="1"/>
          </p:cNvSpPr>
          <p:nvPr/>
        </p:nvSpPr>
        <p:spPr bwMode="auto">
          <a:xfrm rot="16251548">
            <a:off x="2732882" y="5225257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33839" name="Text Box 47"/>
          <p:cNvSpPr txBox="1">
            <a:spLocks noChangeArrowheads="1"/>
          </p:cNvSpPr>
          <p:nvPr/>
        </p:nvSpPr>
        <p:spPr bwMode="auto">
          <a:xfrm rot="1671448">
            <a:off x="2128838" y="6094413"/>
            <a:ext cx="8429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11/13</a:t>
            </a:r>
          </a:p>
        </p:txBody>
      </p:sp>
      <p:sp>
        <p:nvSpPr>
          <p:cNvPr id="33840" name="Text Box 48"/>
          <p:cNvSpPr txBox="1">
            <a:spLocks noChangeArrowheads="1"/>
          </p:cNvSpPr>
          <p:nvPr/>
        </p:nvSpPr>
        <p:spPr bwMode="auto">
          <a:xfrm>
            <a:off x="3505200" y="4572001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12/12</a:t>
            </a:r>
          </a:p>
        </p:txBody>
      </p:sp>
      <p:sp>
        <p:nvSpPr>
          <p:cNvPr id="33841" name="Text Box 49"/>
          <p:cNvSpPr txBox="1">
            <a:spLocks noChangeArrowheads="1"/>
          </p:cNvSpPr>
          <p:nvPr/>
        </p:nvSpPr>
        <p:spPr bwMode="auto">
          <a:xfrm rot="19986914">
            <a:off x="2370138" y="4816476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12/16</a:t>
            </a:r>
          </a:p>
        </p:txBody>
      </p:sp>
      <p:sp>
        <p:nvSpPr>
          <p:cNvPr id="33842" name="Text Box 50"/>
          <p:cNvSpPr txBox="1">
            <a:spLocks noChangeArrowheads="1"/>
          </p:cNvSpPr>
          <p:nvPr/>
        </p:nvSpPr>
        <p:spPr bwMode="auto">
          <a:xfrm rot="16251548">
            <a:off x="3191669" y="5225257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3843" name="Text Box 51"/>
          <p:cNvSpPr txBox="1">
            <a:spLocks noChangeArrowheads="1"/>
          </p:cNvSpPr>
          <p:nvPr/>
        </p:nvSpPr>
        <p:spPr bwMode="auto">
          <a:xfrm rot="19479436">
            <a:off x="4884738" y="590073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4/4</a:t>
            </a:r>
          </a:p>
        </p:txBody>
      </p:sp>
      <p:sp>
        <p:nvSpPr>
          <p:cNvPr id="33844" name="Text Box 52"/>
          <p:cNvSpPr txBox="1">
            <a:spLocks noChangeArrowheads="1"/>
          </p:cNvSpPr>
          <p:nvPr/>
        </p:nvSpPr>
        <p:spPr bwMode="auto">
          <a:xfrm>
            <a:off x="3429000" y="6324601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 11/14</a:t>
            </a:r>
          </a:p>
        </p:txBody>
      </p:sp>
      <p:sp>
        <p:nvSpPr>
          <p:cNvPr id="33845" name="Text Box 53"/>
          <p:cNvSpPr txBox="1">
            <a:spLocks noChangeArrowheads="1"/>
          </p:cNvSpPr>
          <p:nvPr/>
        </p:nvSpPr>
        <p:spPr bwMode="auto">
          <a:xfrm rot="1953558">
            <a:off x="4772025" y="4972051"/>
            <a:ext cx="920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19/20</a:t>
            </a:r>
          </a:p>
        </p:txBody>
      </p:sp>
      <p:sp>
        <p:nvSpPr>
          <p:cNvPr id="33846" name="Text Box 54"/>
          <p:cNvSpPr txBox="1">
            <a:spLocks noChangeArrowheads="1"/>
          </p:cNvSpPr>
          <p:nvPr/>
        </p:nvSpPr>
        <p:spPr bwMode="auto">
          <a:xfrm rot="16251548">
            <a:off x="4260057" y="5226844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7/7</a:t>
            </a:r>
          </a:p>
        </p:txBody>
      </p:sp>
      <p:sp>
        <p:nvSpPr>
          <p:cNvPr id="33847" name="Text Box 55"/>
          <p:cNvSpPr txBox="1">
            <a:spLocks noChangeArrowheads="1"/>
          </p:cNvSpPr>
          <p:nvPr/>
        </p:nvSpPr>
        <p:spPr bwMode="auto">
          <a:xfrm rot="18444138">
            <a:off x="3801269" y="5461794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3848" name="Text Box 56"/>
          <p:cNvSpPr txBox="1">
            <a:spLocks noChangeArrowheads="1"/>
          </p:cNvSpPr>
          <p:nvPr/>
        </p:nvSpPr>
        <p:spPr bwMode="auto">
          <a:xfrm>
            <a:off x="1524000" y="4227513"/>
            <a:ext cx="2286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GB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new flow network G</a:t>
            </a:r>
            <a:r>
              <a:rPr lang="de-DE" altLang="zh-CN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3849" name="Line 57"/>
          <p:cNvSpPr>
            <a:spLocks noChangeShapeType="1"/>
          </p:cNvSpPr>
          <p:nvPr/>
        </p:nvSpPr>
        <p:spPr bwMode="auto">
          <a:xfrm flipH="1">
            <a:off x="2286000" y="2438400"/>
            <a:ext cx="838200" cy="4572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3850" name="Line 58"/>
          <p:cNvSpPr>
            <a:spLocks noChangeShapeType="1"/>
          </p:cNvSpPr>
          <p:nvPr/>
        </p:nvSpPr>
        <p:spPr bwMode="auto">
          <a:xfrm flipH="1" flipV="1">
            <a:off x="4419600" y="2362200"/>
            <a:ext cx="914400" cy="6096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3851" name="Text Box 59"/>
          <p:cNvSpPr txBox="1">
            <a:spLocks noChangeArrowheads="1"/>
          </p:cNvSpPr>
          <p:nvPr/>
        </p:nvSpPr>
        <p:spPr bwMode="auto">
          <a:xfrm rot="19882963">
            <a:off x="2444750" y="25876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33852" name="Text Box 60"/>
          <p:cNvSpPr txBox="1">
            <a:spLocks noChangeArrowheads="1"/>
          </p:cNvSpPr>
          <p:nvPr/>
        </p:nvSpPr>
        <p:spPr bwMode="auto">
          <a:xfrm rot="1953558">
            <a:off x="4562475" y="26638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 </a:t>
            </a:r>
          </a:p>
        </p:txBody>
      </p:sp>
      <p:sp>
        <p:nvSpPr>
          <p:cNvPr id="33853" name="Line 62"/>
          <p:cNvSpPr>
            <a:spLocks noChangeShapeType="1"/>
          </p:cNvSpPr>
          <p:nvPr/>
        </p:nvSpPr>
        <p:spPr bwMode="auto">
          <a:xfrm flipH="1">
            <a:off x="3429000" y="3733800"/>
            <a:ext cx="8382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3854" name="Line 63"/>
          <p:cNvSpPr>
            <a:spLocks noChangeShapeType="1"/>
          </p:cNvSpPr>
          <p:nvPr/>
        </p:nvSpPr>
        <p:spPr bwMode="auto">
          <a:xfrm flipH="1" flipV="1">
            <a:off x="2286000" y="3200400"/>
            <a:ext cx="838200" cy="4572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3855" name="Text Box 64"/>
          <p:cNvSpPr txBox="1">
            <a:spLocks noChangeArrowheads="1"/>
          </p:cNvSpPr>
          <p:nvPr/>
        </p:nvSpPr>
        <p:spPr bwMode="auto">
          <a:xfrm rot="1671448">
            <a:off x="2582863" y="31972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3856" name="Text Box 65"/>
          <p:cNvSpPr txBox="1">
            <a:spLocks noChangeArrowheads="1"/>
          </p:cNvSpPr>
          <p:nvPr/>
        </p:nvSpPr>
        <p:spPr bwMode="auto">
          <a:xfrm>
            <a:off x="3581400" y="3429001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 4</a:t>
            </a:r>
          </a:p>
        </p:txBody>
      </p:sp>
      <p:sp>
        <p:nvSpPr>
          <p:cNvPr id="33857" name="Text Box 66"/>
          <p:cNvSpPr txBox="1">
            <a:spLocks noChangeArrowheads="1"/>
          </p:cNvSpPr>
          <p:nvPr/>
        </p:nvSpPr>
        <p:spPr bwMode="auto">
          <a:xfrm>
            <a:off x="6400800" y="5257801"/>
            <a:ext cx="28956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GB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temporary variable:</a:t>
            </a:r>
          </a:p>
          <a:p>
            <a:pPr eaLnBrk="1" hangingPunct="1"/>
            <a:r>
              <a:rPr lang="en-GB" altLang="zh-CN" sz="24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altLang="zh-CN" sz="2400" b="1" baseline="-3000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GB" altLang="zh-CN" sz="24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(p) = 7</a:t>
            </a:r>
            <a:endParaRPr lang="de-DE" altLang="zh-CN" sz="2400" b="1">
              <a:solidFill>
                <a:srgbClr val="FF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3794" name="Object 2"/>
          <p:cNvGraphicFramePr>
            <a:graphicFrameLocks noChangeAspect="1"/>
          </p:cNvGraphicFramePr>
          <p:nvPr/>
        </p:nvGraphicFramePr>
        <p:xfrm>
          <a:off x="5754688" y="1681164"/>
          <a:ext cx="4832350" cy="371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kument" r:id="rId2" imgW="4516120" imgH="3467100" progId="Word.Document.8">
                  <p:embed/>
                </p:oleObj>
              </mc:Choice>
              <mc:Fallback>
                <p:oleObj name="Dokument" r:id="rId2" imgW="4516120" imgH="3467100" progId="Word.Document.8">
                  <p:embed/>
                  <p:pic>
                    <p:nvPicPr>
                      <p:cNvPr id="3379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4688" y="1681164"/>
                        <a:ext cx="4832350" cy="371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6">
            <a:extLst>
              <a:ext uri="{FF2B5EF4-FFF2-40B4-BE49-F238E27FC236}">
                <a16:creationId xmlns:a16="http://schemas.microsoft.com/office/drawing/2014/main" id="{0C926C9A-6A74-7B7A-44EC-95F447235FC1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7F7F356-163D-9C29-E96C-79663EC20104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A01E686-4451-3C07-6182-00DE28D7B306}"/>
              </a:ext>
            </a:extLst>
          </p:cNvPr>
          <p:cNvSpPr txBox="1"/>
          <p:nvPr/>
        </p:nvSpPr>
        <p:spPr>
          <a:xfrm>
            <a:off x="380724" y="299408"/>
            <a:ext cx="46444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Ford-Fulkerson</a:t>
            </a:r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算法</a:t>
            </a:r>
          </a:p>
        </p:txBody>
      </p:sp>
      <p:sp>
        <p:nvSpPr>
          <p:cNvPr id="7" name="圆角矩形 8">
            <a:extLst>
              <a:ext uri="{FF2B5EF4-FFF2-40B4-BE49-F238E27FC236}">
                <a16:creationId xmlns:a16="http://schemas.microsoft.com/office/drawing/2014/main" id="{5A67CE7D-442C-5D53-AA85-F8BC52361A90}"/>
              </a:ext>
            </a:extLst>
          </p:cNvPr>
          <p:cNvSpPr/>
          <p:nvPr/>
        </p:nvSpPr>
        <p:spPr>
          <a:xfrm>
            <a:off x="238664" y="311105"/>
            <a:ext cx="4644422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2140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Text Box 29"/>
          <p:cNvSpPr txBox="1">
            <a:spLocks noChangeArrowheads="1"/>
          </p:cNvSpPr>
          <p:nvPr/>
        </p:nvSpPr>
        <p:spPr bwMode="auto">
          <a:xfrm>
            <a:off x="1524000" y="1676401"/>
            <a:ext cx="3276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GB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residual network G</a:t>
            </a:r>
            <a:r>
              <a:rPr lang="en-GB" altLang="zh-CN" b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de-DE" altLang="zh-CN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4820" name="Oval 30"/>
          <p:cNvSpPr>
            <a:spLocks noChangeArrowheads="1"/>
          </p:cNvSpPr>
          <p:nvPr/>
        </p:nvSpPr>
        <p:spPr bwMode="auto">
          <a:xfrm>
            <a:off x="1944688" y="5410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34821" name="Oval 31"/>
          <p:cNvSpPr>
            <a:spLocks noChangeArrowheads="1"/>
          </p:cNvSpPr>
          <p:nvPr/>
        </p:nvSpPr>
        <p:spPr bwMode="auto">
          <a:xfrm>
            <a:off x="5373688" y="5410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34822" name="Oval 32"/>
          <p:cNvSpPr>
            <a:spLocks noChangeArrowheads="1"/>
          </p:cNvSpPr>
          <p:nvPr/>
        </p:nvSpPr>
        <p:spPr bwMode="auto">
          <a:xfrm>
            <a:off x="3087688" y="4648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4823" name="Oval 33"/>
          <p:cNvSpPr>
            <a:spLocks noChangeArrowheads="1"/>
          </p:cNvSpPr>
          <p:nvPr/>
        </p:nvSpPr>
        <p:spPr bwMode="auto">
          <a:xfrm>
            <a:off x="3087688" y="6172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4824" name="Oval 34"/>
          <p:cNvSpPr>
            <a:spLocks noChangeArrowheads="1"/>
          </p:cNvSpPr>
          <p:nvPr/>
        </p:nvSpPr>
        <p:spPr bwMode="auto">
          <a:xfrm>
            <a:off x="4230688" y="46101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4825" name="Oval 35"/>
          <p:cNvSpPr>
            <a:spLocks noChangeArrowheads="1"/>
          </p:cNvSpPr>
          <p:nvPr/>
        </p:nvSpPr>
        <p:spPr bwMode="auto">
          <a:xfrm>
            <a:off x="4230688" y="6172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4826" name="Line 36"/>
          <p:cNvSpPr>
            <a:spLocks noChangeShapeType="1"/>
          </p:cNvSpPr>
          <p:nvPr/>
        </p:nvSpPr>
        <p:spPr bwMode="auto">
          <a:xfrm>
            <a:off x="3506788" y="48387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4827" name="Line 37"/>
          <p:cNvSpPr>
            <a:spLocks noChangeShapeType="1"/>
          </p:cNvSpPr>
          <p:nvPr/>
        </p:nvSpPr>
        <p:spPr bwMode="auto">
          <a:xfrm>
            <a:off x="3506788" y="63627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4828" name="Line 38"/>
          <p:cNvSpPr>
            <a:spLocks noChangeShapeType="1"/>
          </p:cNvSpPr>
          <p:nvPr/>
        </p:nvSpPr>
        <p:spPr bwMode="auto">
          <a:xfrm flipV="1">
            <a:off x="2133601" y="4913313"/>
            <a:ext cx="989013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9" name="Line 39"/>
          <p:cNvSpPr>
            <a:spLocks noChangeShapeType="1"/>
          </p:cNvSpPr>
          <p:nvPr/>
        </p:nvSpPr>
        <p:spPr bwMode="auto">
          <a:xfrm>
            <a:off x="2135188" y="5753100"/>
            <a:ext cx="9144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0" name="Line 40"/>
          <p:cNvSpPr>
            <a:spLocks noChangeShapeType="1"/>
          </p:cNvSpPr>
          <p:nvPr/>
        </p:nvSpPr>
        <p:spPr bwMode="auto">
          <a:xfrm>
            <a:off x="3201988" y="4991100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1" name="Line 41"/>
          <p:cNvSpPr>
            <a:spLocks noChangeShapeType="1"/>
          </p:cNvSpPr>
          <p:nvPr/>
        </p:nvSpPr>
        <p:spPr bwMode="auto">
          <a:xfrm flipV="1">
            <a:off x="3354388" y="4991100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2" name="Line 42"/>
          <p:cNvSpPr>
            <a:spLocks noChangeShapeType="1"/>
          </p:cNvSpPr>
          <p:nvPr/>
        </p:nvSpPr>
        <p:spPr bwMode="auto">
          <a:xfrm flipV="1">
            <a:off x="4421188" y="4991100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3" name="Line 43"/>
          <p:cNvSpPr>
            <a:spLocks noChangeShapeType="1"/>
          </p:cNvSpPr>
          <p:nvPr/>
        </p:nvSpPr>
        <p:spPr bwMode="auto">
          <a:xfrm flipH="1">
            <a:off x="3430588" y="4991100"/>
            <a:ext cx="91440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4" name="Line 44"/>
          <p:cNvSpPr>
            <a:spLocks noChangeShapeType="1"/>
          </p:cNvSpPr>
          <p:nvPr/>
        </p:nvSpPr>
        <p:spPr bwMode="auto">
          <a:xfrm>
            <a:off x="4573588" y="4914900"/>
            <a:ext cx="8382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5" name="Line 45"/>
          <p:cNvSpPr>
            <a:spLocks noChangeShapeType="1"/>
          </p:cNvSpPr>
          <p:nvPr/>
        </p:nvSpPr>
        <p:spPr bwMode="auto">
          <a:xfrm flipV="1">
            <a:off x="4649788" y="5753100"/>
            <a:ext cx="7620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6" name="Text Box 46"/>
          <p:cNvSpPr txBox="1">
            <a:spLocks noChangeArrowheads="1"/>
          </p:cNvSpPr>
          <p:nvPr/>
        </p:nvSpPr>
        <p:spPr bwMode="auto">
          <a:xfrm rot="16251548">
            <a:off x="2732882" y="5225257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34837" name="Text Box 47"/>
          <p:cNvSpPr txBox="1">
            <a:spLocks noChangeArrowheads="1"/>
          </p:cNvSpPr>
          <p:nvPr/>
        </p:nvSpPr>
        <p:spPr bwMode="auto">
          <a:xfrm rot="1671448">
            <a:off x="2057401" y="6075363"/>
            <a:ext cx="919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11/13</a:t>
            </a:r>
          </a:p>
        </p:txBody>
      </p:sp>
      <p:sp>
        <p:nvSpPr>
          <p:cNvPr id="34838" name="Text Box 48"/>
          <p:cNvSpPr txBox="1">
            <a:spLocks noChangeArrowheads="1"/>
          </p:cNvSpPr>
          <p:nvPr/>
        </p:nvSpPr>
        <p:spPr bwMode="auto">
          <a:xfrm>
            <a:off x="3505200" y="4540251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12/12</a:t>
            </a:r>
          </a:p>
        </p:txBody>
      </p:sp>
      <p:sp>
        <p:nvSpPr>
          <p:cNvPr id="34839" name="Text Box 49"/>
          <p:cNvSpPr txBox="1">
            <a:spLocks noChangeArrowheads="1"/>
          </p:cNvSpPr>
          <p:nvPr/>
        </p:nvSpPr>
        <p:spPr bwMode="auto">
          <a:xfrm rot="19986914">
            <a:off x="2365375" y="4799013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12/16</a:t>
            </a:r>
          </a:p>
        </p:txBody>
      </p:sp>
      <p:sp>
        <p:nvSpPr>
          <p:cNvPr id="34840" name="Text Box 50"/>
          <p:cNvSpPr txBox="1">
            <a:spLocks noChangeArrowheads="1"/>
          </p:cNvSpPr>
          <p:nvPr/>
        </p:nvSpPr>
        <p:spPr bwMode="auto">
          <a:xfrm rot="16251548">
            <a:off x="3191669" y="5225257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4841" name="Text Box 51"/>
          <p:cNvSpPr txBox="1">
            <a:spLocks noChangeArrowheads="1"/>
          </p:cNvSpPr>
          <p:nvPr/>
        </p:nvSpPr>
        <p:spPr bwMode="auto">
          <a:xfrm rot="19479436">
            <a:off x="4884738" y="590073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4/4</a:t>
            </a:r>
          </a:p>
        </p:txBody>
      </p:sp>
      <p:sp>
        <p:nvSpPr>
          <p:cNvPr id="34842" name="Text Box 52"/>
          <p:cNvSpPr txBox="1">
            <a:spLocks noChangeArrowheads="1"/>
          </p:cNvSpPr>
          <p:nvPr/>
        </p:nvSpPr>
        <p:spPr bwMode="auto">
          <a:xfrm>
            <a:off x="3429000" y="6324601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 11/14</a:t>
            </a:r>
          </a:p>
        </p:txBody>
      </p:sp>
      <p:sp>
        <p:nvSpPr>
          <p:cNvPr id="34843" name="Text Box 53"/>
          <p:cNvSpPr txBox="1">
            <a:spLocks noChangeArrowheads="1"/>
          </p:cNvSpPr>
          <p:nvPr/>
        </p:nvSpPr>
        <p:spPr bwMode="auto">
          <a:xfrm rot="1953558">
            <a:off x="4778375" y="4951413"/>
            <a:ext cx="844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19/20</a:t>
            </a:r>
          </a:p>
        </p:txBody>
      </p:sp>
      <p:sp>
        <p:nvSpPr>
          <p:cNvPr id="34844" name="Text Box 54"/>
          <p:cNvSpPr txBox="1">
            <a:spLocks noChangeArrowheads="1"/>
          </p:cNvSpPr>
          <p:nvPr/>
        </p:nvSpPr>
        <p:spPr bwMode="auto">
          <a:xfrm rot="16251548">
            <a:off x="4260057" y="5226844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7/7</a:t>
            </a:r>
          </a:p>
        </p:txBody>
      </p:sp>
      <p:sp>
        <p:nvSpPr>
          <p:cNvPr id="34845" name="Text Box 55"/>
          <p:cNvSpPr txBox="1">
            <a:spLocks noChangeArrowheads="1"/>
          </p:cNvSpPr>
          <p:nvPr/>
        </p:nvSpPr>
        <p:spPr bwMode="auto">
          <a:xfrm rot="18444138">
            <a:off x="3801269" y="5461794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4846" name="Text Box 56"/>
          <p:cNvSpPr txBox="1">
            <a:spLocks noChangeArrowheads="1"/>
          </p:cNvSpPr>
          <p:nvPr/>
        </p:nvSpPr>
        <p:spPr bwMode="auto">
          <a:xfrm>
            <a:off x="1524000" y="4227513"/>
            <a:ext cx="2286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GB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new flow network G</a:t>
            </a:r>
            <a:r>
              <a:rPr lang="de-DE" altLang="zh-CN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4847" name="Oval 102"/>
          <p:cNvSpPr>
            <a:spLocks noChangeArrowheads="1"/>
          </p:cNvSpPr>
          <p:nvPr/>
        </p:nvSpPr>
        <p:spPr bwMode="auto">
          <a:xfrm>
            <a:off x="1944688" y="2859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34848" name="Oval 103"/>
          <p:cNvSpPr>
            <a:spLocks noChangeArrowheads="1"/>
          </p:cNvSpPr>
          <p:nvPr/>
        </p:nvSpPr>
        <p:spPr bwMode="auto">
          <a:xfrm>
            <a:off x="5373688" y="2859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34849" name="Oval 104"/>
          <p:cNvSpPr>
            <a:spLocks noChangeArrowheads="1"/>
          </p:cNvSpPr>
          <p:nvPr/>
        </p:nvSpPr>
        <p:spPr bwMode="auto">
          <a:xfrm>
            <a:off x="3087688" y="2097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4850" name="Oval 105"/>
          <p:cNvSpPr>
            <a:spLocks noChangeArrowheads="1"/>
          </p:cNvSpPr>
          <p:nvPr/>
        </p:nvSpPr>
        <p:spPr bwMode="auto">
          <a:xfrm>
            <a:off x="3087688" y="3621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4851" name="Oval 106"/>
          <p:cNvSpPr>
            <a:spLocks noChangeArrowheads="1"/>
          </p:cNvSpPr>
          <p:nvPr/>
        </p:nvSpPr>
        <p:spPr bwMode="auto">
          <a:xfrm>
            <a:off x="4230688" y="20589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4852" name="Oval 107"/>
          <p:cNvSpPr>
            <a:spLocks noChangeArrowheads="1"/>
          </p:cNvSpPr>
          <p:nvPr/>
        </p:nvSpPr>
        <p:spPr bwMode="auto">
          <a:xfrm>
            <a:off x="4230688" y="3621088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4853" name="Line 108"/>
          <p:cNvSpPr>
            <a:spLocks noChangeShapeType="1"/>
          </p:cNvSpPr>
          <p:nvPr/>
        </p:nvSpPr>
        <p:spPr bwMode="auto">
          <a:xfrm flipH="1">
            <a:off x="3506788" y="2287588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4854" name="Line 109"/>
          <p:cNvSpPr>
            <a:spLocks noChangeShapeType="1"/>
          </p:cNvSpPr>
          <p:nvPr/>
        </p:nvSpPr>
        <p:spPr bwMode="auto">
          <a:xfrm>
            <a:off x="3506788" y="3811588"/>
            <a:ext cx="762000" cy="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4855" name="Line 110"/>
          <p:cNvSpPr>
            <a:spLocks noChangeShapeType="1"/>
          </p:cNvSpPr>
          <p:nvPr/>
        </p:nvSpPr>
        <p:spPr bwMode="auto">
          <a:xfrm flipV="1">
            <a:off x="2133601" y="2362200"/>
            <a:ext cx="989013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56" name="Line 111"/>
          <p:cNvSpPr>
            <a:spLocks noChangeShapeType="1"/>
          </p:cNvSpPr>
          <p:nvPr/>
        </p:nvSpPr>
        <p:spPr bwMode="auto">
          <a:xfrm>
            <a:off x="2135188" y="3201988"/>
            <a:ext cx="914400" cy="533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57" name="Line 112"/>
          <p:cNvSpPr>
            <a:spLocks noChangeShapeType="1"/>
          </p:cNvSpPr>
          <p:nvPr/>
        </p:nvSpPr>
        <p:spPr bwMode="auto">
          <a:xfrm>
            <a:off x="3201988" y="2439988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58" name="Line 113"/>
          <p:cNvSpPr>
            <a:spLocks noChangeShapeType="1"/>
          </p:cNvSpPr>
          <p:nvPr/>
        </p:nvSpPr>
        <p:spPr bwMode="auto">
          <a:xfrm flipV="1">
            <a:off x="3354388" y="2439988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59" name="Line 114"/>
          <p:cNvSpPr>
            <a:spLocks noChangeShapeType="1"/>
          </p:cNvSpPr>
          <p:nvPr/>
        </p:nvSpPr>
        <p:spPr bwMode="auto">
          <a:xfrm>
            <a:off x="4421188" y="2439988"/>
            <a:ext cx="0" cy="12192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60" name="Line 115"/>
          <p:cNvSpPr>
            <a:spLocks noChangeShapeType="1"/>
          </p:cNvSpPr>
          <p:nvPr/>
        </p:nvSpPr>
        <p:spPr bwMode="auto">
          <a:xfrm flipH="1">
            <a:off x="3430588" y="2439988"/>
            <a:ext cx="91440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61" name="Line 116"/>
          <p:cNvSpPr>
            <a:spLocks noChangeShapeType="1"/>
          </p:cNvSpPr>
          <p:nvPr/>
        </p:nvSpPr>
        <p:spPr bwMode="auto">
          <a:xfrm>
            <a:off x="4573588" y="2363788"/>
            <a:ext cx="838200" cy="533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62" name="Line 117"/>
          <p:cNvSpPr>
            <a:spLocks noChangeShapeType="1"/>
          </p:cNvSpPr>
          <p:nvPr/>
        </p:nvSpPr>
        <p:spPr bwMode="auto">
          <a:xfrm rot="10900883" flipV="1">
            <a:off x="4649788" y="3201988"/>
            <a:ext cx="7620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63" name="Text Box 118"/>
          <p:cNvSpPr txBox="1">
            <a:spLocks noChangeArrowheads="1"/>
          </p:cNvSpPr>
          <p:nvPr/>
        </p:nvSpPr>
        <p:spPr bwMode="auto">
          <a:xfrm rot="16251548">
            <a:off x="2734469" y="2674144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34864" name="Text Box 119"/>
          <p:cNvSpPr txBox="1">
            <a:spLocks noChangeArrowheads="1"/>
          </p:cNvSpPr>
          <p:nvPr/>
        </p:nvSpPr>
        <p:spPr bwMode="auto">
          <a:xfrm rot="1671448">
            <a:off x="2354263" y="35782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solidFill>
                  <a:srgbClr val="FF3300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4865" name="Text Box 120"/>
          <p:cNvSpPr txBox="1">
            <a:spLocks noChangeArrowheads="1"/>
          </p:cNvSpPr>
          <p:nvPr/>
        </p:nvSpPr>
        <p:spPr bwMode="auto">
          <a:xfrm>
            <a:off x="3659188" y="201453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34866" name="Text Box 121"/>
          <p:cNvSpPr txBox="1">
            <a:spLocks noChangeArrowheads="1"/>
          </p:cNvSpPr>
          <p:nvPr/>
        </p:nvSpPr>
        <p:spPr bwMode="auto">
          <a:xfrm rot="19986914">
            <a:off x="2376488" y="22828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4867" name="Text Box 122"/>
          <p:cNvSpPr txBox="1">
            <a:spLocks noChangeArrowheads="1"/>
          </p:cNvSpPr>
          <p:nvPr/>
        </p:nvSpPr>
        <p:spPr bwMode="auto">
          <a:xfrm rot="16251548">
            <a:off x="3193257" y="2670969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4868" name="Text Box 123"/>
          <p:cNvSpPr txBox="1">
            <a:spLocks noChangeArrowheads="1"/>
          </p:cNvSpPr>
          <p:nvPr/>
        </p:nvSpPr>
        <p:spPr bwMode="auto">
          <a:xfrm rot="19479436">
            <a:off x="4884738" y="33496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4869" name="Text Box 124"/>
          <p:cNvSpPr txBox="1">
            <a:spLocks noChangeArrowheads="1"/>
          </p:cNvSpPr>
          <p:nvPr/>
        </p:nvSpPr>
        <p:spPr bwMode="auto">
          <a:xfrm>
            <a:off x="3582988" y="381158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solidFill>
                  <a:srgbClr val="FF3300"/>
                </a:solidFill>
                <a:latin typeface="Times New Roman" panose="02020603050405020304" pitchFamily="18" charset="0"/>
              </a:rPr>
              <a:t> 3</a:t>
            </a:r>
          </a:p>
        </p:txBody>
      </p:sp>
      <p:sp>
        <p:nvSpPr>
          <p:cNvPr id="34870" name="Text Box 125"/>
          <p:cNvSpPr txBox="1">
            <a:spLocks noChangeArrowheads="1"/>
          </p:cNvSpPr>
          <p:nvPr/>
        </p:nvSpPr>
        <p:spPr bwMode="auto">
          <a:xfrm rot="1953558">
            <a:off x="4792663" y="2360613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solidFill>
                  <a:srgbClr val="FF33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4871" name="Text Box 126"/>
          <p:cNvSpPr txBox="1">
            <a:spLocks noChangeArrowheads="1"/>
          </p:cNvSpPr>
          <p:nvPr/>
        </p:nvSpPr>
        <p:spPr bwMode="auto">
          <a:xfrm rot="16251548">
            <a:off x="4261644" y="2672557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solidFill>
                  <a:srgbClr val="FF3300"/>
                </a:solidFill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4872" name="Text Box 127"/>
          <p:cNvSpPr txBox="1">
            <a:spLocks noChangeArrowheads="1"/>
          </p:cNvSpPr>
          <p:nvPr/>
        </p:nvSpPr>
        <p:spPr bwMode="auto">
          <a:xfrm rot="18444138">
            <a:off x="3801269" y="2910682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4873" name="Line 128"/>
          <p:cNvSpPr>
            <a:spLocks noChangeShapeType="1"/>
          </p:cNvSpPr>
          <p:nvPr/>
        </p:nvSpPr>
        <p:spPr bwMode="auto">
          <a:xfrm flipH="1">
            <a:off x="2286000" y="2438400"/>
            <a:ext cx="838200" cy="4572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4874" name="Line 129"/>
          <p:cNvSpPr>
            <a:spLocks noChangeShapeType="1"/>
          </p:cNvSpPr>
          <p:nvPr/>
        </p:nvSpPr>
        <p:spPr bwMode="auto">
          <a:xfrm flipH="1" flipV="1">
            <a:off x="4419600" y="2362200"/>
            <a:ext cx="914400" cy="609600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4875" name="Text Box 130"/>
          <p:cNvSpPr txBox="1">
            <a:spLocks noChangeArrowheads="1"/>
          </p:cNvSpPr>
          <p:nvPr/>
        </p:nvSpPr>
        <p:spPr bwMode="auto">
          <a:xfrm rot="19882963">
            <a:off x="2444750" y="25876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34876" name="Text Box 131"/>
          <p:cNvSpPr txBox="1">
            <a:spLocks noChangeArrowheads="1"/>
          </p:cNvSpPr>
          <p:nvPr/>
        </p:nvSpPr>
        <p:spPr bwMode="auto">
          <a:xfrm rot="1953558">
            <a:off x="4562475" y="26638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solidFill>
                  <a:srgbClr val="FF3300"/>
                </a:solidFill>
                <a:latin typeface="Times New Roman" panose="02020603050405020304" pitchFamily="18" charset="0"/>
              </a:rPr>
              <a:t>19</a:t>
            </a:r>
            <a:r>
              <a:rPr lang="de-DE" altLang="zh-CN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4877" name="Line 132"/>
          <p:cNvSpPr>
            <a:spLocks noChangeShapeType="1"/>
          </p:cNvSpPr>
          <p:nvPr/>
        </p:nvSpPr>
        <p:spPr bwMode="auto">
          <a:xfrm flipH="1">
            <a:off x="3429000" y="3733800"/>
            <a:ext cx="838200" cy="0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4878" name="Line 133"/>
          <p:cNvSpPr>
            <a:spLocks noChangeShapeType="1"/>
          </p:cNvSpPr>
          <p:nvPr/>
        </p:nvSpPr>
        <p:spPr bwMode="auto">
          <a:xfrm flipH="1" flipV="1">
            <a:off x="2286000" y="3200400"/>
            <a:ext cx="838200" cy="457200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4879" name="Text Box 134"/>
          <p:cNvSpPr txBox="1">
            <a:spLocks noChangeArrowheads="1"/>
          </p:cNvSpPr>
          <p:nvPr/>
        </p:nvSpPr>
        <p:spPr bwMode="auto">
          <a:xfrm rot="1671448">
            <a:off x="2582863" y="31972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solidFill>
                  <a:srgbClr val="FF3300"/>
                </a:solidFill>
                <a:latin typeface="Times New Roman" panose="02020603050405020304" pitchFamily="18" charset="0"/>
              </a:rPr>
              <a:t>11</a:t>
            </a:r>
          </a:p>
        </p:txBody>
      </p:sp>
      <p:sp>
        <p:nvSpPr>
          <p:cNvPr id="34880" name="Text Box 135"/>
          <p:cNvSpPr txBox="1">
            <a:spLocks noChangeArrowheads="1"/>
          </p:cNvSpPr>
          <p:nvPr/>
        </p:nvSpPr>
        <p:spPr bwMode="auto">
          <a:xfrm>
            <a:off x="3581400" y="3429001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solidFill>
                  <a:srgbClr val="FF3300"/>
                </a:solidFill>
                <a:latin typeface="Times New Roman" panose="02020603050405020304" pitchFamily="18" charset="0"/>
              </a:rPr>
              <a:t> 11</a:t>
            </a:r>
          </a:p>
        </p:txBody>
      </p:sp>
      <p:graphicFrame>
        <p:nvGraphicFramePr>
          <p:cNvPr id="34818" name="Object 2"/>
          <p:cNvGraphicFramePr>
            <a:graphicFrameLocks noChangeAspect="1"/>
          </p:cNvGraphicFramePr>
          <p:nvPr/>
        </p:nvGraphicFramePr>
        <p:xfrm>
          <a:off x="5754688" y="1681164"/>
          <a:ext cx="4832350" cy="371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kument" r:id="rId2" imgW="4516120" imgH="3467100" progId="Word.Document.8">
                  <p:embed/>
                </p:oleObj>
              </mc:Choice>
              <mc:Fallback>
                <p:oleObj name="Dokument" r:id="rId2" imgW="4516120" imgH="3467100" progId="Word.Document.8">
                  <p:embed/>
                  <p:pic>
                    <p:nvPicPr>
                      <p:cNvPr id="3481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4688" y="1681164"/>
                        <a:ext cx="4832350" cy="371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6">
            <a:extLst>
              <a:ext uri="{FF2B5EF4-FFF2-40B4-BE49-F238E27FC236}">
                <a16:creationId xmlns:a16="http://schemas.microsoft.com/office/drawing/2014/main" id="{2BC99C3E-ED26-B8BD-F814-0AF750313A3F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4535C9D-3BF9-537F-21DD-D4BE0B8B2A81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EE6223B-5D2D-9DEA-BE0A-EA7094E644BF}"/>
              </a:ext>
            </a:extLst>
          </p:cNvPr>
          <p:cNvSpPr txBox="1"/>
          <p:nvPr/>
        </p:nvSpPr>
        <p:spPr>
          <a:xfrm>
            <a:off x="380724" y="299408"/>
            <a:ext cx="46444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Ford-Fulkerson</a:t>
            </a:r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算法</a:t>
            </a:r>
          </a:p>
        </p:txBody>
      </p:sp>
      <p:sp>
        <p:nvSpPr>
          <p:cNvPr id="7" name="圆角矩形 8">
            <a:extLst>
              <a:ext uri="{FF2B5EF4-FFF2-40B4-BE49-F238E27FC236}">
                <a16:creationId xmlns:a16="http://schemas.microsoft.com/office/drawing/2014/main" id="{503F5437-83D7-83FB-DA58-F91459896F7D}"/>
              </a:ext>
            </a:extLst>
          </p:cNvPr>
          <p:cNvSpPr/>
          <p:nvPr/>
        </p:nvSpPr>
        <p:spPr>
          <a:xfrm>
            <a:off x="238664" y="311105"/>
            <a:ext cx="4644422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68114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Oval 4"/>
          <p:cNvSpPr>
            <a:spLocks noChangeArrowheads="1"/>
          </p:cNvSpPr>
          <p:nvPr/>
        </p:nvSpPr>
        <p:spPr bwMode="auto">
          <a:xfrm>
            <a:off x="1944688" y="5410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35844" name="Oval 5"/>
          <p:cNvSpPr>
            <a:spLocks noChangeArrowheads="1"/>
          </p:cNvSpPr>
          <p:nvPr/>
        </p:nvSpPr>
        <p:spPr bwMode="auto">
          <a:xfrm>
            <a:off x="5373688" y="5410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35845" name="Oval 6"/>
          <p:cNvSpPr>
            <a:spLocks noChangeArrowheads="1"/>
          </p:cNvSpPr>
          <p:nvPr/>
        </p:nvSpPr>
        <p:spPr bwMode="auto">
          <a:xfrm>
            <a:off x="3087688" y="4648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5846" name="Oval 7"/>
          <p:cNvSpPr>
            <a:spLocks noChangeArrowheads="1"/>
          </p:cNvSpPr>
          <p:nvPr/>
        </p:nvSpPr>
        <p:spPr bwMode="auto">
          <a:xfrm>
            <a:off x="3087688" y="6172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5847" name="Oval 8"/>
          <p:cNvSpPr>
            <a:spLocks noChangeArrowheads="1"/>
          </p:cNvSpPr>
          <p:nvPr/>
        </p:nvSpPr>
        <p:spPr bwMode="auto">
          <a:xfrm>
            <a:off x="4230688" y="46101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5848" name="Oval 9"/>
          <p:cNvSpPr>
            <a:spLocks noChangeArrowheads="1"/>
          </p:cNvSpPr>
          <p:nvPr/>
        </p:nvSpPr>
        <p:spPr bwMode="auto">
          <a:xfrm>
            <a:off x="4230688" y="6172200"/>
            <a:ext cx="381000" cy="381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5849" name="Line 10"/>
          <p:cNvSpPr>
            <a:spLocks noChangeShapeType="1"/>
          </p:cNvSpPr>
          <p:nvPr/>
        </p:nvSpPr>
        <p:spPr bwMode="auto">
          <a:xfrm>
            <a:off x="3506788" y="48387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5850" name="Line 11"/>
          <p:cNvSpPr>
            <a:spLocks noChangeShapeType="1"/>
          </p:cNvSpPr>
          <p:nvPr/>
        </p:nvSpPr>
        <p:spPr bwMode="auto">
          <a:xfrm>
            <a:off x="3506788" y="63627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5851" name="Line 12"/>
          <p:cNvSpPr>
            <a:spLocks noChangeShapeType="1"/>
          </p:cNvSpPr>
          <p:nvPr/>
        </p:nvSpPr>
        <p:spPr bwMode="auto">
          <a:xfrm flipV="1">
            <a:off x="2133601" y="4913313"/>
            <a:ext cx="989013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52" name="Line 13"/>
          <p:cNvSpPr>
            <a:spLocks noChangeShapeType="1"/>
          </p:cNvSpPr>
          <p:nvPr/>
        </p:nvSpPr>
        <p:spPr bwMode="auto">
          <a:xfrm>
            <a:off x="2135188" y="5753100"/>
            <a:ext cx="9144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53" name="Line 14"/>
          <p:cNvSpPr>
            <a:spLocks noChangeShapeType="1"/>
          </p:cNvSpPr>
          <p:nvPr/>
        </p:nvSpPr>
        <p:spPr bwMode="auto">
          <a:xfrm>
            <a:off x="3201988" y="4991100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54" name="Line 15"/>
          <p:cNvSpPr>
            <a:spLocks noChangeShapeType="1"/>
          </p:cNvSpPr>
          <p:nvPr/>
        </p:nvSpPr>
        <p:spPr bwMode="auto">
          <a:xfrm flipV="1">
            <a:off x="3354388" y="4991100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55" name="Line 16"/>
          <p:cNvSpPr>
            <a:spLocks noChangeShapeType="1"/>
          </p:cNvSpPr>
          <p:nvPr/>
        </p:nvSpPr>
        <p:spPr bwMode="auto">
          <a:xfrm flipV="1">
            <a:off x="4421188" y="4991100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56" name="Line 17"/>
          <p:cNvSpPr>
            <a:spLocks noChangeShapeType="1"/>
          </p:cNvSpPr>
          <p:nvPr/>
        </p:nvSpPr>
        <p:spPr bwMode="auto">
          <a:xfrm flipH="1">
            <a:off x="3430588" y="4991100"/>
            <a:ext cx="91440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57" name="Line 18"/>
          <p:cNvSpPr>
            <a:spLocks noChangeShapeType="1"/>
          </p:cNvSpPr>
          <p:nvPr/>
        </p:nvSpPr>
        <p:spPr bwMode="auto">
          <a:xfrm>
            <a:off x="4573588" y="4914900"/>
            <a:ext cx="8382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58" name="Line 19"/>
          <p:cNvSpPr>
            <a:spLocks noChangeShapeType="1"/>
          </p:cNvSpPr>
          <p:nvPr/>
        </p:nvSpPr>
        <p:spPr bwMode="auto">
          <a:xfrm flipV="1">
            <a:off x="4649788" y="5753100"/>
            <a:ext cx="7620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59" name="Text Box 20"/>
          <p:cNvSpPr txBox="1">
            <a:spLocks noChangeArrowheads="1"/>
          </p:cNvSpPr>
          <p:nvPr/>
        </p:nvSpPr>
        <p:spPr bwMode="auto">
          <a:xfrm rot="16251548">
            <a:off x="2732882" y="5225257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35860" name="Text Box 21"/>
          <p:cNvSpPr txBox="1">
            <a:spLocks noChangeArrowheads="1"/>
          </p:cNvSpPr>
          <p:nvPr/>
        </p:nvSpPr>
        <p:spPr bwMode="auto">
          <a:xfrm rot="1671448">
            <a:off x="2057401" y="6075363"/>
            <a:ext cx="919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solidFill>
                  <a:srgbClr val="FF3300"/>
                </a:solidFill>
                <a:latin typeface="Times New Roman" panose="02020603050405020304" pitchFamily="18" charset="0"/>
              </a:rPr>
              <a:t>11</a:t>
            </a:r>
            <a:r>
              <a:rPr lang="de-DE" altLang="zh-CN" b="1">
                <a:latin typeface="Times New Roman" panose="02020603050405020304" pitchFamily="18" charset="0"/>
              </a:rPr>
              <a:t>/13</a:t>
            </a:r>
          </a:p>
        </p:txBody>
      </p:sp>
      <p:sp>
        <p:nvSpPr>
          <p:cNvPr id="35861" name="Text Box 22"/>
          <p:cNvSpPr txBox="1">
            <a:spLocks noChangeArrowheads="1"/>
          </p:cNvSpPr>
          <p:nvPr/>
        </p:nvSpPr>
        <p:spPr bwMode="auto">
          <a:xfrm>
            <a:off x="3505200" y="4492626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12/12</a:t>
            </a:r>
          </a:p>
        </p:txBody>
      </p:sp>
      <p:sp>
        <p:nvSpPr>
          <p:cNvPr id="35862" name="Text Box 23"/>
          <p:cNvSpPr txBox="1">
            <a:spLocks noChangeArrowheads="1"/>
          </p:cNvSpPr>
          <p:nvPr/>
        </p:nvSpPr>
        <p:spPr bwMode="auto">
          <a:xfrm rot="19986914">
            <a:off x="2370138" y="4816476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solidFill>
                  <a:srgbClr val="FF3300"/>
                </a:solidFill>
                <a:latin typeface="Times New Roman" panose="02020603050405020304" pitchFamily="18" charset="0"/>
              </a:rPr>
              <a:t>12</a:t>
            </a:r>
            <a:r>
              <a:rPr lang="de-DE" altLang="zh-CN" b="1">
                <a:latin typeface="Times New Roman" panose="02020603050405020304" pitchFamily="18" charset="0"/>
              </a:rPr>
              <a:t>/16</a:t>
            </a:r>
          </a:p>
        </p:txBody>
      </p:sp>
      <p:sp>
        <p:nvSpPr>
          <p:cNvPr id="35863" name="Text Box 24"/>
          <p:cNvSpPr txBox="1">
            <a:spLocks noChangeArrowheads="1"/>
          </p:cNvSpPr>
          <p:nvPr/>
        </p:nvSpPr>
        <p:spPr bwMode="auto">
          <a:xfrm rot="16251548">
            <a:off x="3191669" y="5225257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5864" name="Text Box 25"/>
          <p:cNvSpPr txBox="1">
            <a:spLocks noChangeArrowheads="1"/>
          </p:cNvSpPr>
          <p:nvPr/>
        </p:nvSpPr>
        <p:spPr bwMode="auto">
          <a:xfrm rot="19479436">
            <a:off x="4884738" y="590073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4/4</a:t>
            </a:r>
          </a:p>
        </p:txBody>
      </p:sp>
      <p:sp>
        <p:nvSpPr>
          <p:cNvPr id="35865" name="Text Box 26"/>
          <p:cNvSpPr txBox="1">
            <a:spLocks noChangeArrowheads="1"/>
          </p:cNvSpPr>
          <p:nvPr/>
        </p:nvSpPr>
        <p:spPr bwMode="auto">
          <a:xfrm>
            <a:off x="3505200" y="6348413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 11/14</a:t>
            </a:r>
          </a:p>
        </p:txBody>
      </p:sp>
      <p:sp>
        <p:nvSpPr>
          <p:cNvPr id="35866" name="Text Box 27"/>
          <p:cNvSpPr txBox="1">
            <a:spLocks noChangeArrowheads="1"/>
          </p:cNvSpPr>
          <p:nvPr/>
        </p:nvSpPr>
        <p:spPr bwMode="auto">
          <a:xfrm rot="1953558">
            <a:off x="4772025" y="4972051"/>
            <a:ext cx="920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19/20</a:t>
            </a:r>
          </a:p>
        </p:txBody>
      </p:sp>
      <p:sp>
        <p:nvSpPr>
          <p:cNvPr id="35867" name="Text Box 28"/>
          <p:cNvSpPr txBox="1">
            <a:spLocks noChangeArrowheads="1"/>
          </p:cNvSpPr>
          <p:nvPr/>
        </p:nvSpPr>
        <p:spPr bwMode="auto">
          <a:xfrm rot="16251548">
            <a:off x="4260057" y="5226844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7/7</a:t>
            </a:r>
          </a:p>
        </p:txBody>
      </p:sp>
      <p:sp>
        <p:nvSpPr>
          <p:cNvPr id="35868" name="Text Box 29"/>
          <p:cNvSpPr txBox="1">
            <a:spLocks noChangeArrowheads="1"/>
          </p:cNvSpPr>
          <p:nvPr/>
        </p:nvSpPr>
        <p:spPr bwMode="auto">
          <a:xfrm rot="18444138">
            <a:off x="3801269" y="5461794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5869" name="Oval 32"/>
          <p:cNvSpPr>
            <a:spLocks noChangeArrowheads="1"/>
          </p:cNvSpPr>
          <p:nvPr/>
        </p:nvSpPr>
        <p:spPr bwMode="auto">
          <a:xfrm>
            <a:off x="1944688" y="2859088"/>
            <a:ext cx="381000" cy="381000"/>
          </a:xfrm>
          <a:prstGeom prst="ellipse">
            <a:avLst/>
          </a:prstGeom>
          <a:solidFill>
            <a:srgbClr val="FFFF99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35870" name="Oval 33"/>
          <p:cNvSpPr>
            <a:spLocks noChangeArrowheads="1"/>
          </p:cNvSpPr>
          <p:nvPr/>
        </p:nvSpPr>
        <p:spPr bwMode="auto">
          <a:xfrm>
            <a:off x="5373688" y="2859088"/>
            <a:ext cx="381000" cy="381000"/>
          </a:xfrm>
          <a:prstGeom prst="ellipse">
            <a:avLst/>
          </a:prstGeom>
          <a:solidFill>
            <a:srgbClr val="66FF99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35871" name="Oval 34"/>
          <p:cNvSpPr>
            <a:spLocks noChangeArrowheads="1"/>
          </p:cNvSpPr>
          <p:nvPr/>
        </p:nvSpPr>
        <p:spPr bwMode="auto">
          <a:xfrm>
            <a:off x="3087688" y="2097088"/>
            <a:ext cx="381000" cy="381000"/>
          </a:xfrm>
          <a:prstGeom prst="ellipse">
            <a:avLst/>
          </a:prstGeom>
          <a:solidFill>
            <a:srgbClr val="FFFF99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5872" name="Oval 35"/>
          <p:cNvSpPr>
            <a:spLocks noChangeArrowheads="1"/>
          </p:cNvSpPr>
          <p:nvPr/>
        </p:nvSpPr>
        <p:spPr bwMode="auto">
          <a:xfrm>
            <a:off x="3087688" y="3621088"/>
            <a:ext cx="381000" cy="381000"/>
          </a:xfrm>
          <a:prstGeom prst="ellipse">
            <a:avLst/>
          </a:prstGeom>
          <a:solidFill>
            <a:srgbClr val="FFFF99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5873" name="Oval 36"/>
          <p:cNvSpPr>
            <a:spLocks noChangeArrowheads="1"/>
          </p:cNvSpPr>
          <p:nvPr/>
        </p:nvSpPr>
        <p:spPr bwMode="auto">
          <a:xfrm>
            <a:off x="4230688" y="2058988"/>
            <a:ext cx="381000" cy="381000"/>
          </a:xfrm>
          <a:prstGeom prst="ellipse">
            <a:avLst/>
          </a:prstGeom>
          <a:solidFill>
            <a:srgbClr val="66FF99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5874" name="Oval 37"/>
          <p:cNvSpPr>
            <a:spLocks noChangeArrowheads="1"/>
          </p:cNvSpPr>
          <p:nvPr/>
        </p:nvSpPr>
        <p:spPr bwMode="auto">
          <a:xfrm>
            <a:off x="4230688" y="3621088"/>
            <a:ext cx="381000" cy="381000"/>
          </a:xfrm>
          <a:prstGeom prst="ellipse">
            <a:avLst/>
          </a:prstGeom>
          <a:solidFill>
            <a:srgbClr val="FFFF99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5875" name="Line 38"/>
          <p:cNvSpPr>
            <a:spLocks noChangeShapeType="1"/>
          </p:cNvSpPr>
          <p:nvPr/>
        </p:nvSpPr>
        <p:spPr bwMode="auto">
          <a:xfrm flipH="1">
            <a:off x="3506788" y="2287588"/>
            <a:ext cx="762000" cy="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5876" name="Line 39"/>
          <p:cNvSpPr>
            <a:spLocks noChangeShapeType="1"/>
          </p:cNvSpPr>
          <p:nvPr/>
        </p:nvSpPr>
        <p:spPr bwMode="auto">
          <a:xfrm>
            <a:off x="3506788" y="3811588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5877" name="Line 40"/>
          <p:cNvSpPr>
            <a:spLocks noChangeShapeType="1"/>
          </p:cNvSpPr>
          <p:nvPr/>
        </p:nvSpPr>
        <p:spPr bwMode="auto">
          <a:xfrm flipV="1">
            <a:off x="2133601" y="2362200"/>
            <a:ext cx="989013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78" name="Line 41"/>
          <p:cNvSpPr>
            <a:spLocks noChangeShapeType="1"/>
          </p:cNvSpPr>
          <p:nvPr/>
        </p:nvSpPr>
        <p:spPr bwMode="auto">
          <a:xfrm>
            <a:off x="2135188" y="3201988"/>
            <a:ext cx="9144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79" name="Line 42"/>
          <p:cNvSpPr>
            <a:spLocks noChangeShapeType="1"/>
          </p:cNvSpPr>
          <p:nvPr/>
        </p:nvSpPr>
        <p:spPr bwMode="auto">
          <a:xfrm>
            <a:off x="3201988" y="2439988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80" name="Line 43"/>
          <p:cNvSpPr>
            <a:spLocks noChangeShapeType="1"/>
          </p:cNvSpPr>
          <p:nvPr/>
        </p:nvSpPr>
        <p:spPr bwMode="auto">
          <a:xfrm flipV="1">
            <a:off x="3354388" y="2439988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81" name="Line 44"/>
          <p:cNvSpPr>
            <a:spLocks noChangeShapeType="1"/>
          </p:cNvSpPr>
          <p:nvPr/>
        </p:nvSpPr>
        <p:spPr bwMode="auto">
          <a:xfrm>
            <a:off x="4421188" y="2439988"/>
            <a:ext cx="0" cy="12192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82" name="Line 45"/>
          <p:cNvSpPr>
            <a:spLocks noChangeShapeType="1"/>
          </p:cNvSpPr>
          <p:nvPr/>
        </p:nvSpPr>
        <p:spPr bwMode="auto">
          <a:xfrm flipH="1">
            <a:off x="3430588" y="2439988"/>
            <a:ext cx="914400" cy="12192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83" name="Line 46"/>
          <p:cNvSpPr>
            <a:spLocks noChangeShapeType="1"/>
          </p:cNvSpPr>
          <p:nvPr/>
        </p:nvSpPr>
        <p:spPr bwMode="auto">
          <a:xfrm>
            <a:off x="4573588" y="2363788"/>
            <a:ext cx="8382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84" name="Line 47"/>
          <p:cNvSpPr>
            <a:spLocks noChangeShapeType="1"/>
          </p:cNvSpPr>
          <p:nvPr/>
        </p:nvSpPr>
        <p:spPr bwMode="auto">
          <a:xfrm rot="10900883" flipV="1">
            <a:off x="4649788" y="3201988"/>
            <a:ext cx="762000" cy="533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85" name="Text Box 48"/>
          <p:cNvSpPr txBox="1">
            <a:spLocks noChangeArrowheads="1"/>
          </p:cNvSpPr>
          <p:nvPr/>
        </p:nvSpPr>
        <p:spPr bwMode="auto">
          <a:xfrm rot="16251548">
            <a:off x="2734469" y="2674144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35886" name="Text Box 49"/>
          <p:cNvSpPr txBox="1">
            <a:spLocks noChangeArrowheads="1"/>
          </p:cNvSpPr>
          <p:nvPr/>
        </p:nvSpPr>
        <p:spPr bwMode="auto">
          <a:xfrm rot="1671448">
            <a:off x="2354263" y="35782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5887" name="Text Box 50"/>
          <p:cNvSpPr txBox="1">
            <a:spLocks noChangeArrowheads="1"/>
          </p:cNvSpPr>
          <p:nvPr/>
        </p:nvSpPr>
        <p:spPr bwMode="auto">
          <a:xfrm>
            <a:off x="3733800" y="1981201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35888" name="Text Box 51"/>
          <p:cNvSpPr txBox="1">
            <a:spLocks noChangeArrowheads="1"/>
          </p:cNvSpPr>
          <p:nvPr/>
        </p:nvSpPr>
        <p:spPr bwMode="auto">
          <a:xfrm rot="19986914">
            <a:off x="2376488" y="22828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5889" name="Text Box 52"/>
          <p:cNvSpPr txBox="1">
            <a:spLocks noChangeArrowheads="1"/>
          </p:cNvSpPr>
          <p:nvPr/>
        </p:nvSpPr>
        <p:spPr bwMode="auto">
          <a:xfrm rot="16251548">
            <a:off x="3193257" y="2670969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5890" name="Text Box 53"/>
          <p:cNvSpPr txBox="1">
            <a:spLocks noChangeArrowheads="1"/>
          </p:cNvSpPr>
          <p:nvPr/>
        </p:nvSpPr>
        <p:spPr bwMode="auto">
          <a:xfrm rot="19479436">
            <a:off x="4884738" y="33496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5891" name="Text Box 54"/>
          <p:cNvSpPr txBox="1">
            <a:spLocks noChangeArrowheads="1"/>
          </p:cNvSpPr>
          <p:nvPr/>
        </p:nvSpPr>
        <p:spPr bwMode="auto">
          <a:xfrm>
            <a:off x="3582988" y="381158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 3</a:t>
            </a:r>
          </a:p>
        </p:txBody>
      </p:sp>
      <p:sp>
        <p:nvSpPr>
          <p:cNvPr id="35892" name="Text Box 55"/>
          <p:cNvSpPr txBox="1">
            <a:spLocks noChangeArrowheads="1"/>
          </p:cNvSpPr>
          <p:nvPr/>
        </p:nvSpPr>
        <p:spPr bwMode="auto">
          <a:xfrm rot="1953558">
            <a:off x="4792663" y="2360613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5893" name="Text Box 56"/>
          <p:cNvSpPr txBox="1">
            <a:spLocks noChangeArrowheads="1"/>
          </p:cNvSpPr>
          <p:nvPr/>
        </p:nvSpPr>
        <p:spPr bwMode="auto">
          <a:xfrm rot="16251548">
            <a:off x="4261644" y="2672557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5894" name="Text Box 57"/>
          <p:cNvSpPr txBox="1">
            <a:spLocks noChangeArrowheads="1"/>
          </p:cNvSpPr>
          <p:nvPr/>
        </p:nvSpPr>
        <p:spPr bwMode="auto">
          <a:xfrm rot="18444138">
            <a:off x="3801269" y="2910682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5895" name="Line 58"/>
          <p:cNvSpPr>
            <a:spLocks noChangeShapeType="1"/>
          </p:cNvSpPr>
          <p:nvPr/>
        </p:nvSpPr>
        <p:spPr bwMode="auto">
          <a:xfrm flipH="1">
            <a:off x="2286000" y="2438400"/>
            <a:ext cx="838200" cy="4572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5896" name="Line 59"/>
          <p:cNvSpPr>
            <a:spLocks noChangeShapeType="1"/>
          </p:cNvSpPr>
          <p:nvPr/>
        </p:nvSpPr>
        <p:spPr bwMode="auto">
          <a:xfrm flipH="1" flipV="1">
            <a:off x="4419600" y="2362200"/>
            <a:ext cx="914400" cy="6096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5897" name="Text Box 60"/>
          <p:cNvSpPr txBox="1">
            <a:spLocks noChangeArrowheads="1"/>
          </p:cNvSpPr>
          <p:nvPr/>
        </p:nvSpPr>
        <p:spPr bwMode="auto">
          <a:xfrm rot="19882963">
            <a:off x="2444750" y="25876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35898" name="Text Box 61"/>
          <p:cNvSpPr txBox="1">
            <a:spLocks noChangeArrowheads="1"/>
          </p:cNvSpPr>
          <p:nvPr/>
        </p:nvSpPr>
        <p:spPr bwMode="auto">
          <a:xfrm rot="1953558">
            <a:off x="4562475" y="26638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19 </a:t>
            </a:r>
          </a:p>
        </p:txBody>
      </p:sp>
      <p:sp>
        <p:nvSpPr>
          <p:cNvPr id="35899" name="Line 62"/>
          <p:cNvSpPr>
            <a:spLocks noChangeShapeType="1"/>
          </p:cNvSpPr>
          <p:nvPr/>
        </p:nvSpPr>
        <p:spPr bwMode="auto">
          <a:xfrm flipH="1">
            <a:off x="3429000" y="3733800"/>
            <a:ext cx="8382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5900" name="Line 63"/>
          <p:cNvSpPr>
            <a:spLocks noChangeShapeType="1"/>
          </p:cNvSpPr>
          <p:nvPr/>
        </p:nvSpPr>
        <p:spPr bwMode="auto">
          <a:xfrm flipH="1" flipV="1">
            <a:off x="2286000" y="3200400"/>
            <a:ext cx="838200" cy="4572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5901" name="Text Box 64"/>
          <p:cNvSpPr txBox="1">
            <a:spLocks noChangeArrowheads="1"/>
          </p:cNvSpPr>
          <p:nvPr/>
        </p:nvSpPr>
        <p:spPr bwMode="auto">
          <a:xfrm rot="1671448">
            <a:off x="2582863" y="31972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11</a:t>
            </a:r>
          </a:p>
        </p:txBody>
      </p:sp>
      <p:sp>
        <p:nvSpPr>
          <p:cNvPr id="35902" name="Text Box 65"/>
          <p:cNvSpPr txBox="1">
            <a:spLocks noChangeArrowheads="1"/>
          </p:cNvSpPr>
          <p:nvPr/>
        </p:nvSpPr>
        <p:spPr bwMode="auto">
          <a:xfrm>
            <a:off x="3581400" y="3429001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 11</a:t>
            </a:r>
          </a:p>
        </p:txBody>
      </p:sp>
      <p:sp>
        <p:nvSpPr>
          <p:cNvPr id="35903" name="Text Box 66"/>
          <p:cNvSpPr txBox="1">
            <a:spLocks noChangeArrowheads="1"/>
          </p:cNvSpPr>
          <p:nvPr/>
        </p:nvSpPr>
        <p:spPr bwMode="auto">
          <a:xfrm>
            <a:off x="6477000" y="5181601"/>
            <a:ext cx="2667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sz="2400" b="1">
                <a:latin typeface="Times New Roman" panose="02020603050405020304" pitchFamily="18" charset="0"/>
              </a:rPr>
              <a:t>Finally we have:</a:t>
            </a:r>
          </a:p>
          <a:p>
            <a:pPr eaLnBrk="1" hangingPunct="1"/>
            <a:r>
              <a:rPr lang="de-DE" altLang="zh-CN" sz="2400" b="1">
                <a:solidFill>
                  <a:srgbClr val="FF3300"/>
                </a:solidFill>
                <a:latin typeface="Times New Roman" panose="02020603050405020304" pitchFamily="18" charset="0"/>
              </a:rPr>
              <a:t>| f | = f (s, V) = 23</a:t>
            </a:r>
          </a:p>
        </p:txBody>
      </p:sp>
      <p:graphicFrame>
        <p:nvGraphicFramePr>
          <p:cNvPr id="35842" name="Object 2"/>
          <p:cNvGraphicFramePr>
            <a:graphicFrameLocks noChangeAspect="1"/>
          </p:cNvGraphicFramePr>
          <p:nvPr/>
        </p:nvGraphicFramePr>
        <p:xfrm>
          <a:off x="5754688" y="1681164"/>
          <a:ext cx="4832350" cy="371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kument" r:id="rId2" imgW="4516120" imgH="3467100" progId="Word.Document.8">
                  <p:embed/>
                </p:oleObj>
              </mc:Choice>
              <mc:Fallback>
                <p:oleObj name="Dokument" r:id="rId2" imgW="4516120" imgH="3467100" progId="Word.Document.8">
                  <p:embed/>
                  <p:pic>
                    <p:nvPicPr>
                      <p:cNvPr id="3584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4688" y="1681164"/>
                        <a:ext cx="4832350" cy="371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905" name="Text Box 29"/>
          <p:cNvSpPr txBox="1">
            <a:spLocks noChangeArrowheads="1"/>
          </p:cNvSpPr>
          <p:nvPr/>
        </p:nvSpPr>
        <p:spPr bwMode="auto">
          <a:xfrm>
            <a:off x="1524000" y="1676401"/>
            <a:ext cx="3276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GB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residual network G</a:t>
            </a:r>
            <a:r>
              <a:rPr lang="en-GB" altLang="zh-CN" b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de-DE" altLang="zh-CN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5906" name="Text Box 56"/>
          <p:cNvSpPr txBox="1">
            <a:spLocks noChangeArrowheads="1"/>
          </p:cNvSpPr>
          <p:nvPr/>
        </p:nvSpPr>
        <p:spPr bwMode="auto">
          <a:xfrm>
            <a:off x="1524000" y="4227513"/>
            <a:ext cx="2286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GB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new flow network G</a:t>
            </a:r>
            <a:r>
              <a:rPr lang="de-DE" altLang="zh-CN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7BE7336-F65A-CF47-CE47-7D2BFC152EDB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937CE7A-62D8-FE95-9DC9-E36B24EE098A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5D601D9-1DDF-366D-8854-3373ECD59FC3}"/>
              </a:ext>
            </a:extLst>
          </p:cNvPr>
          <p:cNvSpPr txBox="1"/>
          <p:nvPr/>
        </p:nvSpPr>
        <p:spPr>
          <a:xfrm>
            <a:off x="380724" y="299408"/>
            <a:ext cx="46444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Ford-Fulkerson</a:t>
            </a:r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算法</a:t>
            </a:r>
          </a:p>
        </p:txBody>
      </p:sp>
      <p:sp>
        <p:nvSpPr>
          <p:cNvPr id="7" name="圆角矩形 8">
            <a:extLst>
              <a:ext uri="{FF2B5EF4-FFF2-40B4-BE49-F238E27FC236}">
                <a16:creationId xmlns:a16="http://schemas.microsoft.com/office/drawing/2014/main" id="{5A61E376-A1E1-969B-8FCE-94F9DBABC23E}"/>
              </a:ext>
            </a:extLst>
          </p:cNvPr>
          <p:cNvSpPr/>
          <p:nvPr/>
        </p:nvSpPr>
        <p:spPr>
          <a:xfrm>
            <a:off x="238664" y="311105"/>
            <a:ext cx="4644422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0328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0" name="Rectangle 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9" name="Oval 32">
            <a:extLst>
              <a:ext uri="{FF2B5EF4-FFF2-40B4-BE49-F238E27FC236}">
                <a16:creationId xmlns:a16="http://schemas.microsoft.com/office/drawing/2014/main" id="{26EC5821-2392-454D-B957-03E748320D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4488" y="4741569"/>
            <a:ext cx="381000" cy="381000"/>
          </a:xfrm>
          <a:prstGeom prst="ellipse">
            <a:avLst/>
          </a:prstGeom>
          <a:solidFill>
            <a:srgbClr val="FFFF99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60" name="Oval 33">
            <a:extLst>
              <a:ext uri="{FF2B5EF4-FFF2-40B4-BE49-F238E27FC236}">
                <a16:creationId xmlns:a16="http://schemas.microsoft.com/office/drawing/2014/main" id="{1E5247D3-F5B2-444F-AB30-ADFF7A130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3488" y="4741569"/>
            <a:ext cx="381000" cy="381000"/>
          </a:xfrm>
          <a:prstGeom prst="ellipse">
            <a:avLst/>
          </a:prstGeom>
          <a:solidFill>
            <a:srgbClr val="66FF99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61" name="Oval 34">
            <a:extLst>
              <a:ext uri="{FF2B5EF4-FFF2-40B4-BE49-F238E27FC236}">
                <a16:creationId xmlns:a16="http://schemas.microsoft.com/office/drawing/2014/main" id="{C9C889B5-A133-C14E-9FCA-0BB51A7EE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7488" y="3979569"/>
            <a:ext cx="381000" cy="381000"/>
          </a:xfrm>
          <a:prstGeom prst="ellipse">
            <a:avLst/>
          </a:prstGeom>
          <a:solidFill>
            <a:srgbClr val="FFFF99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62" name="Oval 35">
            <a:extLst>
              <a:ext uri="{FF2B5EF4-FFF2-40B4-BE49-F238E27FC236}">
                <a16:creationId xmlns:a16="http://schemas.microsoft.com/office/drawing/2014/main" id="{EF09C9F4-0C16-0148-9761-607FAF6B3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7488" y="5503569"/>
            <a:ext cx="381000" cy="381000"/>
          </a:xfrm>
          <a:prstGeom prst="ellipse">
            <a:avLst/>
          </a:prstGeom>
          <a:solidFill>
            <a:srgbClr val="FFFF99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63" name="Oval 36">
            <a:extLst>
              <a:ext uri="{FF2B5EF4-FFF2-40B4-BE49-F238E27FC236}">
                <a16:creationId xmlns:a16="http://schemas.microsoft.com/office/drawing/2014/main" id="{CBCCDEE0-F319-7C41-B047-689EA7259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0488" y="3941469"/>
            <a:ext cx="381000" cy="381000"/>
          </a:xfrm>
          <a:prstGeom prst="ellipse">
            <a:avLst/>
          </a:prstGeom>
          <a:solidFill>
            <a:srgbClr val="66FF99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64" name="Oval 37">
            <a:extLst>
              <a:ext uri="{FF2B5EF4-FFF2-40B4-BE49-F238E27FC236}">
                <a16:creationId xmlns:a16="http://schemas.microsoft.com/office/drawing/2014/main" id="{4AFE3CEF-2279-E345-AD86-63D2B5F436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0488" y="5503569"/>
            <a:ext cx="381000" cy="381000"/>
          </a:xfrm>
          <a:prstGeom prst="ellipse">
            <a:avLst/>
          </a:prstGeom>
          <a:solidFill>
            <a:srgbClr val="FFFF99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de-DE" altLang="zh-CN" b="1">
                <a:latin typeface="Times New Roman" panose="02020603050405020304" pitchFamily="18" charset="0"/>
              </a:rPr>
              <a:t>v</a:t>
            </a:r>
            <a:r>
              <a:rPr lang="de-DE" altLang="zh-CN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65" name="Line 38">
            <a:extLst>
              <a:ext uri="{FF2B5EF4-FFF2-40B4-BE49-F238E27FC236}">
                <a16:creationId xmlns:a16="http://schemas.microsoft.com/office/drawing/2014/main" id="{AFD31761-0FBF-4F44-8A9B-70D4D5CA97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16588" y="4170069"/>
            <a:ext cx="762000" cy="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66" name="Line 39">
            <a:extLst>
              <a:ext uri="{FF2B5EF4-FFF2-40B4-BE49-F238E27FC236}">
                <a16:creationId xmlns:a16="http://schemas.microsoft.com/office/drawing/2014/main" id="{F7D82763-0CFD-A942-87DE-AE92AABB94ED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6588" y="5694069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67" name="Line 40">
            <a:extLst>
              <a:ext uri="{FF2B5EF4-FFF2-40B4-BE49-F238E27FC236}">
                <a16:creationId xmlns:a16="http://schemas.microsoft.com/office/drawing/2014/main" id="{2F05484D-0949-6F4B-95B2-2343C5610C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3401" y="4244681"/>
            <a:ext cx="989013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Line 41">
            <a:extLst>
              <a:ext uri="{FF2B5EF4-FFF2-40B4-BE49-F238E27FC236}">
                <a16:creationId xmlns:a16="http://schemas.microsoft.com/office/drawing/2014/main" id="{A513BA14-113C-4D45-9211-43E5F1BB56DE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4988" y="5084469"/>
            <a:ext cx="9144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" name="Line 42">
            <a:extLst>
              <a:ext uri="{FF2B5EF4-FFF2-40B4-BE49-F238E27FC236}">
                <a16:creationId xmlns:a16="http://schemas.microsoft.com/office/drawing/2014/main" id="{6050A2FA-4022-E04A-9C1C-8082F1EAC1C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1788" y="4322469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Line 43">
            <a:extLst>
              <a:ext uri="{FF2B5EF4-FFF2-40B4-BE49-F238E27FC236}">
                <a16:creationId xmlns:a16="http://schemas.microsoft.com/office/drawing/2014/main" id="{A2A423AD-A30F-544B-9C99-A187929815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64188" y="4322469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Line 44">
            <a:extLst>
              <a:ext uri="{FF2B5EF4-FFF2-40B4-BE49-F238E27FC236}">
                <a16:creationId xmlns:a16="http://schemas.microsoft.com/office/drawing/2014/main" id="{40ED4672-8F40-6349-96B2-F484249EAECF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0988" y="4322469"/>
            <a:ext cx="0" cy="12192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Line 45">
            <a:extLst>
              <a:ext uri="{FF2B5EF4-FFF2-40B4-BE49-F238E27FC236}">
                <a16:creationId xmlns:a16="http://schemas.microsoft.com/office/drawing/2014/main" id="{3BFBD649-5572-CC46-8056-7D337E807E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40388" y="4322469"/>
            <a:ext cx="914400" cy="12192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Line 46">
            <a:extLst>
              <a:ext uri="{FF2B5EF4-FFF2-40B4-BE49-F238E27FC236}">
                <a16:creationId xmlns:a16="http://schemas.microsoft.com/office/drawing/2014/main" id="{D16DC542-F85E-6645-8420-10CB697DECB6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3388" y="4246269"/>
            <a:ext cx="8382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Line 47">
            <a:extLst>
              <a:ext uri="{FF2B5EF4-FFF2-40B4-BE49-F238E27FC236}">
                <a16:creationId xmlns:a16="http://schemas.microsoft.com/office/drawing/2014/main" id="{F28A6145-76B0-424D-8840-D5575C006810}"/>
              </a:ext>
            </a:extLst>
          </p:cNvPr>
          <p:cNvSpPr>
            <a:spLocks noChangeShapeType="1"/>
          </p:cNvSpPr>
          <p:nvPr/>
        </p:nvSpPr>
        <p:spPr bwMode="auto">
          <a:xfrm rot="10900883" flipV="1">
            <a:off x="6859588" y="5084469"/>
            <a:ext cx="762000" cy="533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Text Box 48">
            <a:extLst>
              <a:ext uri="{FF2B5EF4-FFF2-40B4-BE49-F238E27FC236}">
                <a16:creationId xmlns:a16="http://schemas.microsoft.com/office/drawing/2014/main" id="{E4C322CC-15E8-F241-80E9-7E8389033A2E}"/>
              </a:ext>
            </a:extLst>
          </p:cNvPr>
          <p:cNvSpPr txBox="1">
            <a:spLocks noChangeArrowheads="1"/>
          </p:cNvSpPr>
          <p:nvPr/>
        </p:nvSpPr>
        <p:spPr bwMode="auto">
          <a:xfrm rot="16251548">
            <a:off x="4944269" y="4556625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76" name="Text Box 49">
            <a:extLst>
              <a:ext uri="{FF2B5EF4-FFF2-40B4-BE49-F238E27FC236}">
                <a16:creationId xmlns:a16="http://schemas.microsoft.com/office/drawing/2014/main" id="{DB1EE12E-0A32-4846-AE87-89EF99FDD8EC}"/>
              </a:ext>
            </a:extLst>
          </p:cNvPr>
          <p:cNvSpPr txBox="1">
            <a:spLocks noChangeArrowheads="1"/>
          </p:cNvSpPr>
          <p:nvPr/>
        </p:nvSpPr>
        <p:spPr bwMode="auto">
          <a:xfrm rot="1671448">
            <a:off x="4564063" y="5460707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77" name="Text Box 50">
            <a:extLst>
              <a:ext uri="{FF2B5EF4-FFF2-40B4-BE49-F238E27FC236}">
                <a16:creationId xmlns:a16="http://schemas.microsoft.com/office/drawing/2014/main" id="{401EDE07-224E-0B44-AFC7-0C6F79C54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3863682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78" name="Text Box 51">
            <a:extLst>
              <a:ext uri="{FF2B5EF4-FFF2-40B4-BE49-F238E27FC236}">
                <a16:creationId xmlns:a16="http://schemas.microsoft.com/office/drawing/2014/main" id="{CA09913E-4CBA-584C-9BA1-004666AB5B36}"/>
              </a:ext>
            </a:extLst>
          </p:cNvPr>
          <p:cNvSpPr txBox="1">
            <a:spLocks noChangeArrowheads="1"/>
          </p:cNvSpPr>
          <p:nvPr/>
        </p:nvSpPr>
        <p:spPr bwMode="auto">
          <a:xfrm rot="19986914">
            <a:off x="4586288" y="4165307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79" name="Text Box 52">
            <a:extLst>
              <a:ext uri="{FF2B5EF4-FFF2-40B4-BE49-F238E27FC236}">
                <a16:creationId xmlns:a16="http://schemas.microsoft.com/office/drawing/2014/main" id="{AADE2820-9C43-6B45-BD5B-980E6831ACE5}"/>
              </a:ext>
            </a:extLst>
          </p:cNvPr>
          <p:cNvSpPr txBox="1">
            <a:spLocks noChangeArrowheads="1"/>
          </p:cNvSpPr>
          <p:nvPr/>
        </p:nvSpPr>
        <p:spPr bwMode="auto">
          <a:xfrm rot="16251548">
            <a:off x="5403057" y="4553450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80" name="Text Box 53">
            <a:extLst>
              <a:ext uri="{FF2B5EF4-FFF2-40B4-BE49-F238E27FC236}">
                <a16:creationId xmlns:a16="http://schemas.microsoft.com/office/drawing/2014/main" id="{A328BEFF-EF1C-554B-99C9-090741C0E291}"/>
              </a:ext>
            </a:extLst>
          </p:cNvPr>
          <p:cNvSpPr txBox="1">
            <a:spLocks noChangeArrowheads="1"/>
          </p:cNvSpPr>
          <p:nvPr/>
        </p:nvSpPr>
        <p:spPr bwMode="auto">
          <a:xfrm rot="19479436">
            <a:off x="7094538" y="5232107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81" name="Text Box 54">
            <a:extLst>
              <a:ext uri="{FF2B5EF4-FFF2-40B4-BE49-F238E27FC236}">
                <a16:creationId xmlns:a16="http://schemas.microsoft.com/office/drawing/2014/main" id="{3BA398AC-9F3F-4A40-A39E-5643A63982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2788" y="5694069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 3</a:t>
            </a:r>
          </a:p>
        </p:txBody>
      </p:sp>
      <p:sp>
        <p:nvSpPr>
          <p:cNvPr id="82" name="Text Box 55">
            <a:extLst>
              <a:ext uri="{FF2B5EF4-FFF2-40B4-BE49-F238E27FC236}">
                <a16:creationId xmlns:a16="http://schemas.microsoft.com/office/drawing/2014/main" id="{6D10F38B-FD32-0140-B966-4E1CC807CCCE}"/>
              </a:ext>
            </a:extLst>
          </p:cNvPr>
          <p:cNvSpPr txBox="1">
            <a:spLocks noChangeArrowheads="1"/>
          </p:cNvSpPr>
          <p:nvPr/>
        </p:nvSpPr>
        <p:spPr bwMode="auto">
          <a:xfrm rot="1953558">
            <a:off x="7002463" y="4243094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83" name="Text Box 56">
            <a:extLst>
              <a:ext uri="{FF2B5EF4-FFF2-40B4-BE49-F238E27FC236}">
                <a16:creationId xmlns:a16="http://schemas.microsoft.com/office/drawing/2014/main" id="{EAB9C9EA-97C7-154E-B6C2-8E2ED77EE1D4}"/>
              </a:ext>
            </a:extLst>
          </p:cNvPr>
          <p:cNvSpPr txBox="1">
            <a:spLocks noChangeArrowheads="1"/>
          </p:cNvSpPr>
          <p:nvPr/>
        </p:nvSpPr>
        <p:spPr bwMode="auto">
          <a:xfrm rot="16251548">
            <a:off x="6471444" y="455503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84" name="Text Box 57">
            <a:extLst>
              <a:ext uri="{FF2B5EF4-FFF2-40B4-BE49-F238E27FC236}">
                <a16:creationId xmlns:a16="http://schemas.microsoft.com/office/drawing/2014/main" id="{7F764058-46E0-B245-9A28-41C75D342BD8}"/>
              </a:ext>
            </a:extLst>
          </p:cNvPr>
          <p:cNvSpPr txBox="1">
            <a:spLocks noChangeArrowheads="1"/>
          </p:cNvSpPr>
          <p:nvPr/>
        </p:nvSpPr>
        <p:spPr bwMode="auto">
          <a:xfrm rot="18444138">
            <a:off x="6011069" y="4793163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85" name="Line 58">
            <a:extLst>
              <a:ext uri="{FF2B5EF4-FFF2-40B4-BE49-F238E27FC236}">
                <a16:creationId xmlns:a16="http://schemas.microsoft.com/office/drawing/2014/main" id="{6F5D9E38-9144-3C49-8539-45B42EBFED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95800" y="4320881"/>
            <a:ext cx="838200" cy="4572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6" name="Line 59">
            <a:extLst>
              <a:ext uri="{FF2B5EF4-FFF2-40B4-BE49-F238E27FC236}">
                <a16:creationId xmlns:a16="http://schemas.microsoft.com/office/drawing/2014/main" id="{3CFD1B59-07C3-2447-914A-C321B1CA3EE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629400" y="4244681"/>
            <a:ext cx="914400" cy="6096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7" name="Text Box 60">
            <a:extLst>
              <a:ext uri="{FF2B5EF4-FFF2-40B4-BE49-F238E27FC236}">
                <a16:creationId xmlns:a16="http://schemas.microsoft.com/office/drawing/2014/main" id="{D9CAED57-99FF-F249-A79B-58AF3213D6D1}"/>
              </a:ext>
            </a:extLst>
          </p:cNvPr>
          <p:cNvSpPr txBox="1">
            <a:spLocks noChangeArrowheads="1"/>
          </p:cNvSpPr>
          <p:nvPr/>
        </p:nvSpPr>
        <p:spPr bwMode="auto">
          <a:xfrm rot="19882963">
            <a:off x="4654550" y="4470107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88" name="Text Box 61">
            <a:extLst>
              <a:ext uri="{FF2B5EF4-FFF2-40B4-BE49-F238E27FC236}">
                <a16:creationId xmlns:a16="http://schemas.microsoft.com/office/drawing/2014/main" id="{761524E4-A620-D74A-88A2-0B1C8127F7FD}"/>
              </a:ext>
            </a:extLst>
          </p:cNvPr>
          <p:cNvSpPr txBox="1">
            <a:spLocks noChangeArrowheads="1"/>
          </p:cNvSpPr>
          <p:nvPr/>
        </p:nvSpPr>
        <p:spPr bwMode="auto">
          <a:xfrm rot="1953558">
            <a:off x="6772275" y="4546307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19 </a:t>
            </a:r>
          </a:p>
        </p:txBody>
      </p:sp>
      <p:sp>
        <p:nvSpPr>
          <p:cNvPr id="89" name="Line 62">
            <a:extLst>
              <a:ext uri="{FF2B5EF4-FFF2-40B4-BE49-F238E27FC236}">
                <a16:creationId xmlns:a16="http://schemas.microsoft.com/office/drawing/2014/main" id="{40016566-A3BB-8541-A243-DC62A4500AC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38800" y="5616281"/>
            <a:ext cx="8382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0" name="Line 63">
            <a:extLst>
              <a:ext uri="{FF2B5EF4-FFF2-40B4-BE49-F238E27FC236}">
                <a16:creationId xmlns:a16="http://schemas.microsoft.com/office/drawing/2014/main" id="{F5D0C5F9-DA20-6644-BD8B-71B2CEA7826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495800" y="5082881"/>
            <a:ext cx="838200" cy="4572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1" name="Text Box 64">
            <a:extLst>
              <a:ext uri="{FF2B5EF4-FFF2-40B4-BE49-F238E27FC236}">
                <a16:creationId xmlns:a16="http://schemas.microsoft.com/office/drawing/2014/main" id="{44228C70-2F10-7E41-8987-935E107A34C8}"/>
              </a:ext>
            </a:extLst>
          </p:cNvPr>
          <p:cNvSpPr txBox="1">
            <a:spLocks noChangeArrowheads="1"/>
          </p:cNvSpPr>
          <p:nvPr/>
        </p:nvSpPr>
        <p:spPr bwMode="auto">
          <a:xfrm rot="1671448">
            <a:off x="4792663" y="5079707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11</a:t>
            </a:r>
          </a:p>
        </p:txBody>
      </p:sp>
      <p:sp>
        <p:nvSpPr>
          <p:cNvPr id="92" name="Text Box 65">
            <a:extLst>
              <a:ext uri="{FF2B5EF4-FFF2-40B4-BE49-F238E27FC236}">
                <a16:creationId xmlns:a16="http://schemas.microsoft.com/office/drawing/2014/main" id="{C4464BCF-53DA-4248-8F18-B22D16500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5311482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 11</a:t>
            </a:r>
          </a:p>
        </p:txBody>
      </p:sp>
      <p:grpSp>
        <p:nvGrpSpPr>
          <p:cNvPr id="93" name="组合 30">
            <a:extLst>
              <a:ext uri="{FF2B5EF4-FFF2-40B4-BE49-F238E27FC236}">
                <a16:creationId xmlns:a16="http://schemas.microsoft.com/office/drawing/2014/main" id="{93B2306E-1704-C041-9831-A36DFEB29B74}"/>
              </a:ext>
            </a:extLst>
          </p:cNvPr>
          <p:cNvGrpSpPr>
            <a:grpSpLocks/>
          </p:cNvGrpSpPr>
          <p:nvPr/>
        </p:nvGrpSpPr>
        <p:grpSpPr bwMode="auto">
          <a:xfrm>
            <a:off x="4095032" y="1447324"/>
            <a:ext cx="3810000" cy="2163762"/>
            <a:chOff x="420688" y="2014538"/>
            <a:chExt cx="3810000" cy="2163208"/>
          </a:xfrm>
        </p:grpSpPr>
        <p:sp>
          <p:nvSpPr>
            <p:cNvPr id="94" name="Oval 3">
              <a:extLst>
                <a:ext uri="{FF2B5EF4-FFF2-40B4-BE49-F238E27FC236}">
                  <a16:creationId xmlns:a16="http://schemas.microsoft.com/office/drawing/2014/main" id="{AD9A0D37-DAAB-194B-A973-D6C310A059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88" y="2859088"/>
              <a:ext cx="381000" cy="381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de-DE" altLang="zh-CN" b="1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95" name="Oval 4">
              <a:extLst>
                <a:ext uri="{FF2B5EF4-FFF2-40B4-BE49-F238E27FC236}">
                  <a16:creationId xmlns:a16="http://schemas.microsoft.com/office/drawing/2014/main" id="{BE24AC24-A539-BB41-8579-0C633610DD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9688" y="2859088"/>
              <a:ext cx="381000" cy="381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de-DE" altLang="zh-CN" b="1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96" name="Oval 5">
              <a:extLst>
                <a:ext uri="{FF2B5EF4-FFF2-40B4-BE49-F238E27FC236}">
                  <a16:creationId xmlns:a16="http://schemas.microsoft.com/office/drawing/2014/main" id="{CB4A9A20-891A-9E47-A7DA-14FD3E295A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3688" y="2097088"/>
              <a:ext cx="381000" cy="381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de-DE" altLang="zh-CN" b="1">
                  <a:latin typeface="Times New Roman" panose="02020603050405020304" pitchFamily="18" charset="0"/>
                </a:rPr>
                <a:t>v</a:t>
              </a:r>
              <a:r>
                <a:rPr lang="de-DE" altLang="zh-CN" b="1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7" name="Oval 6">
              <a:extLst>
                <a:ext uri="{FF2B5EF4-FFF2-40B4-BE49-F238E27FC236}">
                  <a16:creationId xmlns:a16="http://schemas.microsoft.com/office/drawing/2014/main" id="{9DB13727-B7DF-9B41-AA6A-05A891D369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3688" y="3621088"/>
              <a:ext cx="381000" cy="381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de-DE" altLang="zh-CN" b="1">
                  <a:latin typeface="Times New Roman" panose="02020603050405020304" pitchFamily="18" charset="0"/>
                </a:rPr>
                <a:t>v</a:t>
              </a:r>
              <a:r>
                <a:rPr lang="de-DE" altLang="zh-CN" b="1" baseline="-25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98" name="Oval 7">
              <a:extLst>
                <a:ext uri="{FF2B5EF4-FFF2-40B4-BE49-F238E27FC236}">
                  <a16:creationId xmlns:a16="http://schemas.microsoft.com/office/drawing/2014/main" id="{32C25429-ACD9-9E43-80B4-C1FD08184E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6688" y="2058988"/>
              <a:ext cx="381000" cy="381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de-DE" altLang="zh-CN" b="1">
                  <a:latin typeface="Times New Roman" panose="02020603050405020304" pitchFamily="18" charset="0"/>
                </a:rPr>
                <a:t>v</a:t>
              </a:r>
              <a:r>
                <a:rPr lang="de-DE" altLang="zh-CN" b="1" baseline="-250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99" name="Oval 8">
              <a:extLst>
                <a:ext uri="{FF2B5EF4-FFF2-40B4-BE49-F238E27FC236}">
                  <a16:creationId xmlns:a16="http://schemas.microsoft.com/office/drawing/2014/main" id="{C7F407D3-32B5-CD4D-8BFB-74D85A7718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6688" y="3621088"/>
              <a:ext cx="381000" cy="381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de-DE" altLang="zh-CN" b="1">
                  <a:latin typeface="Times New Roman" panose="02020603050405020304" pitchFamily="18" charset="0"/>
                </a:rPr>
                <a:t>v</a:t>
              </a:r>
              <a:r>
                <a:rPr lang="de-DE" altLang="zh-CN" b="1" baseline="-250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00" name="Line 9">
              <a:extLst>
                <a:ext uri="{FF2B5EF4-FFF2-40B4-BE49-F238E27FC236}">
                  <a16:creationId xmlns:a16="http://schemas.microsoft.com/office/drawing/2014/main" id="{B981E850-62AD-104D-B779-277EACDD9C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2788" y="2287588"/>
              <a:ext cx="762000" cy="0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01" name="Line 10">
              <a:extLst>
                <a:ext uri="{FF2B5EF4-FFF2-40B4-BE49-F238E27FC236}">
                  <a16:creationId xmlns:a16="http://schemas.microsoft.com/office/drawing/2014/main" id="{D05A046C-20D2-9F4C-9542-13C8D28B21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2788" y="3811588"/>
              <a:ext cx="762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02" name="Line 11">
              <a:extLst>
                <a:ext uri="{FF2B5EF4-FFF2-40B4-BE49-F238E27FC236}">
                  <a16:creationId xmlns:a16="http://schemas.microsoft.com/office/drawing/2014/main" id="{747E3305-EF86-5547-A7ED-9603B32675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9600" y="2362200"/>
              <a:ext cx="989013" cy="533400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Line 12">
              <a:extLst>
                <a:ext uri="{FF2B5EF4-FFF2-40B4-BE49-F238E27FC236}">
                  <a16:creationId xmlns:a16="http://schemas.microsoft.com/office/drawing/2014/main" id="{64CABF32-6781-1D49-A3DE-149E3623A2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1188" y="3201988"/>
              <a:ext cx="914400" cy="5334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Line 13">
              <a:extLst>
                <a:ext uri="{FF2B5EF4-FFF2-40B4-BE49-F238E27FC236}">
                  <a16:creationId xmlns:a16="http://schemas.microsoft.com/office/drawing/2014/main" id="{4CCFF65D-5941-254F-9D7F-6FE5BA7AF3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7988" y="2439988"/>
              <a:ext cx="0" cy="1219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Line 14">
              <a:extLst>
                <a:ext uri="{FF2B5EF4-FFF2-40B4-BE49-F238E27FC236}">
                  <a16:creationId xmlns:a16="http://schemas.microsoft.com/office/drawing/2014/main" id="{CE8CA85F-DC74-2445-B2BC-80F1E64551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30388" y="2439988"/>
              <a:ext cx="0" cy="1219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Line 15">
              <a:extLst>
                <a:ext uri="{FF2B5EF4-FFF2-40B4-BE49-F238E27FC236}">
                  <a16:creationId xmlns:a16="http://schemas.microsoft.com/office/drawing/2014/main" id="{FFD2F77A-8E18-7341-AA9D-038EEC1F72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97188" y="2439988"/>
              <a:ext cx="0" cy="1219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Line 16">
              <a:extLst>
                <a:ext uri="{FF2B5EF4-FFF2-40B4-BE49-F238E27FC236}">
                  <a16:creationId xmlns:a16="http://schemas.microsoft.com/office/drawing/2014/main" id="{A145C172-2D33-994F-9BEC-2EEA28FA93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06588" y="2439988"/>
              <a:ext cx="914400" cy="1219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Line 17">
              <a:extLst>
                <a:ext uri="{FF2B5EF4-FFF2-40B4-BE49-F238E27FC236}">
                  <a16:creationId xmlns:a16="http://schemas.microsoft.com/office/drawing/2014/main" id="{26AEF996-EBFE-EB4C-8030-2E7921D9F1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9588" y="2363788"/>
              <a:ext cx="838200" cy="533400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Line 18">
              <a:extLst>
                <a:ext uri="{FF2B5EF4-FFF2-40B4-BE49-F238E27FC236}">
                  <a16:creationId xmlns:a16="http://schemas.microsoft.com/office/drawing/2014/main" id="{A94EEE21-DBFB-9848-BCE1-F530F59DAE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25788" y="3201988"/>
              <a:ext cx="762000" cy="5334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Text Box 19">
              <a:extLst>
                <a:ext uri="{FF2B5EF4-FFF2-40B4-BE49-F238E27FC236}">
                  <a16:creationId xmlns:a16="http://schemas.microsoft.com/office/drawing/2014/main" id="{52ED1BD4-642D-A64D-899E-E8C84F1A5B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348452">
              <a:off x="1196975" y="2672834"/>
              <a:ext cx="6858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b="1"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111" name="Text Box 20">
              <a:extLst>
                <a:ext uri="{FF2B5EF4-FFF2-40B4-BE49-F238E27FC236}">
                  <a16:creationId xmlns:a16="http://schemas.microsoft.com/office/drawing/2014/main" id="{62A1CF95-B3FB-DB43-BB47-09D34F1229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71448">
              <a:off x="763588" y="3566715"/>
              <a:ext cx="685800" cy="366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b="1">
                  <a:latin typeface="Times New Roman" panose="02020603050405020304" pitchFamily="18" charset="0"/>
                </a:rPr>
                <a:t>13</a:t>
              </a:r>
            </a:p>
          </p:txBody>
        </p:sp>
        <p:sp>
          <p:nvSpPr>
            <p:cNvPr id="112" name="Text Box 21">
              <a:extLst>
                <a:ext uri="{FF2B5EF4-FFF2-40B4-BE49-F238E27FC236}">
                  <a16:creationId xmlns:a16="http://schemas.microsoft.com/office/drawing/2014/main" id="{F82BCBCC-BAB2-0E4D-A53B-BD6910A3C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5188" y="2014538"/>
              <a:ext cx="685800" cy="366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b="1">
                  <a:latin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113" name="Text Box 22">
              <a:extLst>
                <a:ext uri="{FF2B5EF4-FFF2-40B4-BE49-F238E27FC236}">
                  <a16:creationId xmlns:a16="http://schemas.microsoft.com/office/drawing/2014/main" id="{CCD0C0B7-40B4-4C47-AADB-6AA304607C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613086">
              <a:off x="847725" y="2269609"/>
              <a:ext cx="6858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b="1">
                  <a:latin typeface="Times New Roman" panose="02020603050405020304" pitchFamily="18" charset="0"/>
                </a:rPr>
                <a:t>16</a:t>
              </a:r>
            </a:p>
          </p:txBody>
        </p:sp>
        <p:sp>
          <p:nvSpPr>
            <p:cNvPr id="114" name="Text Box 23">
              <a:extLst>
                <a:ext uri="{FF2B5EF4-FFF2-40B4-BE49-F238E27FC236}">
                  <a16:creationId xmlns:a16="http://schemas.microsoft.com/office/drawing/2014/main" id="{9A040CAB-99A5-C743-ACF3-AAFC4F1FA8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348452">
              <a:off x="1654175" y="2672834"/>
              <a:ext cx="6858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b="1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15" name="Text Box 24">
              <a:extLst>
                <a:ext uri="{FF2B5EF4-FFF2-40B4-BE49-F238E27FC236}">
                  <a16:creationId xmlns:a16="http://schemas.microsoft.com/office/drawing/2014/main" id="{0C95AFFE-3D8E-9A4A-9815-A162DFE7B7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2120564">
              <a:off x="3354388" y="3338174"/>
              <a:ext cx="685800" cy="366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b="1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16" name="Text Box 25">
              <a:extLst>
                <a:ext uri="{FF2B5EF4-FFF2-40B4-BE49-F238E27FC236}">
                  <a16:creationId xmlns:a16="http://schemas.microsoft.com/office/drawing/2014/main" id="{65D4696B-9C26-6D4D-8B97-33645838A1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8988" y="3811127"/>
              <a:ext cx="685800" cy="3666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b="1">
                  <a:latin typeface="Times New Roman" panose="02020603050405020304" pitchFamily="18" charset="0"/>
                </a:rPr>
                <a:t> 14</a:t>
              </a:r>
            </a:p>
          </p:txBody>
        </p:sp>
        <p:sp>
          <p:nvSpPr>
            <p:cNvPr id="117" name="Text Box 26">
              <a:extLst>
                <a:ext uri="{FF2B5EF4-FFF2-40B4-BE49-F238E27FC236}">
                  <a16:creationId xmlns:a16="http://schemas.microsoft.com/office/drawing/2014/main" id="{C9C6F3F7-E008-0A46-9DBE-614D1095BF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53558">
              <a:off x="3278188" y="2347397"/>
              <a:ext cx="6858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b="1">
                  <a:latin typeface="Times New Roman" panose="02020603050405020304" pitchFamily="18" charset="0"/>
                </a:rPr>
                <a:t>20</a:t>
              </a:r>
            </a:p>
          </p:txBody>
        </p:sp>
        <p:sp>
          <p:nvSpPr>
            <p:cNvPr id="118" name="Text Box 27">
              <a:extLst>
                <a:ext uri="{FF2B5EF4-FFF2-40B4-BE49-F238E27FC236}">
                  <a16:creationId xmlns:a16="http://schemas.microsoft.com/office/drawing/2014/main" id="{25F7039E-8D6C-6945-AD10-32C100E7C4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348452">
              <a:off x="2722563" y="2674422"/>
              <a:ext cx="6858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b="1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19" name="Text Box 28">
              <a:extLst>
                <a:ext uri="{FF2B5EF4-FFF2-40B4-BE49-F238E27FC236}">
                  <a16:creationId xmlns:a16="http://schemas.microsoft.com/office/drawing/2014/main" id="{5FAAD418-CC97-3A4F-9BF3-158CE8D7A6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3155862">
              <a:off x="2265363" y="2903022"/>
              <a:ext cx="6858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de-DE" altLang="zh-CN" b="1">
                  <a:latin typeface="Times New Roman" panose="02020603050405020304" pitchFamily="18" charset="0"/>
                </a:rPr>
                <a:t>9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B51ED572-ED3B-3902-AB9B-E3CA6F0ADA5B}"/>
              </a:ext>
            </a:extLst>
          </p:cNvPr>
          <p:cNvSpPr txBox="1"/>
          <p:nvPr/>
        </p:nvSpPr>
        <p:spPr>
          <a:xfrm>
            <a:off x="380723" y="299408"/>
            <a:ext cx="69596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网络流：剩余网络的初态和终态</a:t>
            </a:r>
          </a:p>
        </p:txBody>
      </p:sp>
      <p:sp>
        <p:nvSpPr>
          <p:cNvPr id="3" name="圆角矩形 8">
            <a:extLst>
              <a:ext uri="{FF2B5EF4-FFF2-40B4-BE49-F238E27FC236}">
                <a16:creationId xmlns:a16="http://schemas.microsoft.com/office/drawing/2014/main" id="{0623FE59-1AA8-633C-9FA3-48D3BC3C65D3}"/>
              </a:ext>
            </a:extLst>
          </p:cNvPr>
          <p:cNvSpPr/>
          <p:nvPr/>
        </p:nvSpPr>
        <p:spPr>
          <a:xfrm>
            <a:off x="238663" y="311105"/>
            <a:ext cx="6888001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5D9ADBA-FB41-1C95-4241-2168129E89A1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F6798FB-8030-1466-10DF-EABECE4379D5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12514162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69784" y="239697"/>
            <a:ext cx="248892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思源黑体 Bold" panose="020B0800000000000000" pitchFamily="34" charset="-122"/>
                <a:cs typeface="+mn-cs"/>
                <a:sym typeface="+mn-ea"/>
              </a:rPr>
              <a:t>主要内容</a:t>
            </a:r>
            <a:endParaRPr kumimoji="0" lang="en-US" altLang="en-US" sz="3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+mn-ea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79070" y="233045"/>
            <a:ext cx="3131820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endParaRP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D1D1F0BD-17FF-E750-0835-3164E58557E7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" name="内容占位符 5">
            <a:extLst>
              <a:ext uri="{FF2B5EF4-FFF2-40B4-BE49-F238E27FC236}">
                <a16:creationId xmlns:a16="http://schemas.microsoft.com/office/drawing/2014/main" id="{EFDE6F33-EAD8-51D1-F2B0-7AF9E1CE131D}"/>
              </a:ext>
            </a:extLst>
          </p:cNvPr>
          <p:cNvGraphicFramePr>
            <a:graphicFrameLocks/>
          </p:cNvGraphicFramePr>
          <p:nvPr/>
        </p:nvGraphicFramePr>
        <p:xfrm>
          <a:off x="3921774" y="1018096"/>
          <a:ext cx="5184322" cy="56664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098639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1676400" y="1371600"/>
            <a:ext cx="899160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lvl="1" indent="-342900">
              <a:lnSpc>
                <a:spcPct val="120000"/>
              </a:lnSpc>
              <a:buBlip>
                <a:blip r:embed="rId3"/>
              </a:buBlip>
            </a:pPr>
            <a:r>
              <a:rPr lang="zh-CN" altLang="en-US" sz="3200" dirty="0">
                <a:solidFill>
                  <a:srgbClr val="00B050"/>
                </a:solidFill>
                <a:latin typeface="Arial Rounded MT Bold" panose="020F0704030504030204" pitchFamily="34" charset="0"/>
              </a:rPr>
              <a:t>网络中割</a:t>
            </a:r>
            <a:r>
              <a:rPr lang="en-US" altLang="zh-CN" sz="3200" dirty="0">
                <a:solidFill>
                  <a:srgbClr val="00B050"/>
                </a:solidFill>
                <a:latin typeface="Arial Rounded MT Bold" panose="020F0704030504030204" pitchFamily="34" charset="0"/>
              </a:rPr>
              <a:t>(cut)</a:t>
            </a:r>
            <a:r>
              <a:rPr lang="zh-CN" altLang="en-US" sz="3200" dirty="0">
                <a:latin typeface="Arial Rounded MT Bold" panose="020F0704030504030204" pitchFamily="34" charset="0"/>
              </a:rPr>
              <a:t>：</a:t>
            </a:r>
            <a:r>
              <a:rPr lang="en-US" altLang="zh-CN" sz="3200" dirty="0">
                <a:latin typeface="Arial Rounded MT Bold" panose="020F0704030504030204" pitchFamily="34" charset="0"/>
              </a:rPr>
              <a:t> </a:t>
            </a:r>
            <a:r>
              <a:rPr lang="zh-CN" altLang="en-US" sz="3200" dirty="0">
                <a:latin typeface="Arial Rounded MT Bold" panose="020F0704030504030204" pitchFamily="34" charset="0"/>
              </a:rPr>
              <a:t>顶点集合的一个划分</a:t>
            </a:r>
            <a:r>
              <a:rPr lang="en-US" altLang="zh-CN" sz="3200" dirty="0">
                <a:latin typeface="Arial Rounded MT Bold" panose="020F0704030504030204" pitchFamily="34" charset="0"/>
              </a:rPr>
              <a:t>, V=S∪</a:t>
            </a:r>
            <a:r>
              <a:rPr lang="en-US" altLang="zh-CN" sz="3200" dirty="0">
                <a:latin typeface="Arial Rounded MT Bold" panose="020F0704030504030204" pitchFamily="34" charset="0"/>
                <a:sym typeface="Symbol" panose="05050102010706020507" pitchFamily="18" charset="2"/>
              </a:rPr>
              <a:t>T,</a:t>
            </a:r>
            <a:r>
              <a:rPr lang="en-US" altLang="zh-CN" sz="3200" dirty="0">
                <a:latin typeface="Arial Rounded MT Bold" panose="020F0704030504030204" pitchFamily="34" charset="0"/>
              </a:rPr>
              <a:t> S∩</a:t>
            </a:r>
            <a:r>
              <a:rPr lang="en-US" altLang="zh-CN" sz="3200" dirty="0">
                <a:latin typeface="Arial Rounded MT Bold" panose="020F0704030504030204" pitchFamily="34" charset="0"/>
                <a:sym typeface="Symbol" panose="05050102010706020507" pitchFamily="18" charset="2"/>
              </a:rPr>
              <a:t>T</a:t>
            </a:r>
            <a:r>
              <a:rPr lang="en-US" altLang="zh-CN" sz="3200" dirty="0">
                <a:latin typeface="Arial Rounded MT Bold" panose="020F0704030504030204" pitchFamily="34" charset="0"/>
              </a:rPr>
              <a:t>=</a:t>
            </a:r>
            <a:r>
              <a:rPr lang="en-US" altLang="zh-CN" sz="3200" dirty="0">
                <a:latin typeface="Arial Rounded MT Bold" panose="020F0704030504030204" pitchFamily="34" charset="0"/>
                <a:sym typeface="Symbol" panose="05050102010706020507" pitchFamily="18" charset="2"/>
              </a:rPr>
              <a:t>, </a:t>
            </a:r>
            <a:r>
              <a:rPr lang="en-US" altLang="zh-CN" sz="3200" dirty="0" err="1">
                <a:latin typeface="Arial Rounded MT Bold" panose="020F0704030504030204" pitchFamily="34" charset="0"/>
              </a:rPr>
              <a:t>s</a:t>
            </a:r>
            <a:r>
              <a:rPr lang="en-US" altLang="zh-CN" sz="3200" dirty="0" err="1">
                <a:latin typeface="Arial Rounded MT Bold" panose="020F070403050403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3200" dirty="0" err="1">
                <a:latin typeface="Arial Rounded MT Bold" panose="020F0704030504030204" pitchFamily="34" charset="0"/>
              </a:rPr>
              <a:t>S</a:t>
            </a:r>
            <a:r>
              <a:rPr lang="en-US" altLang="zh-CN" sz="3200" dirty="0">
                <a:latin typeface="Arial Rounded MT Bold" panose="020F0704030504030204" pitchFamily="34" charset="0"/>
              </a:rPr>
              <a:t>,</a:t>
            </a:r>
            <a:r>
              <a:rPr lang="en-US" altLang="zh-CN" sz="3200" dirty="0">
                <a:latin typeface="Arial Rounded MT Bold" panose="020F0704030504030204" pitchFamily="34" charset="0"/>
                <a:sym typeface="Symbol" panose="05050102010706020507" pitchFamily="18" charset="2"/>
              </a:rPr>
              <a:t>  </a:t>
            </a:r>
            <a:r>
              <a:rPr lang="en-US" altLang="zh-CN" sz="3200" dirty="0" err="1">
                <a:latin typeface="Arial Rounded MT Bold" panose="020F0704030504030204" pitchFamily="34" charset="0"/>
                <a:sym typeface="Symbol" panose="05050102010706020507" pitchFamily="18" charset="2"/>
              </a:rPr>
              <a:t>tT</a:t>
            </a:r>
            <a:endParaRPr lang="en-US" altLang="zh-CN" sz="3200" dirty="0">
              <a:latin typeface="Arial Rounded MT Bold" panose="020F0704030504030204" pitchFamily="34" charset="0"/>
              <a:sym typeface="Symbol" panose="05050102010706020507" pitchFamily="18" charset="2"/>
            </a:endParaRPr>
          </a:p>
          <a:p>
            <a:pPr marL="342900" lvl="1" indent="-342900">
              <a:lnSpc>
                <a:spcPct val="120000"/>
              </a:lnSpc>
              <a:buBlip>
                <a:blip r:embed="rId3"/>
              </a:buBlip>
            </a:pPr>
            <a:endParaRPr lang="en-US" altLang="zh-CN" sz="2800" dirty="0">
              <a:latin typeface="Arial Rounded MT Bold" panose="020F0704030504030204" pitchFamily="34" charset="0"/>
            </a:endParaRPr>
          </a:p>
        </p:txBody>
      </p:sp>
      <p:sp>
        <p:nvSpPr>
          <p:cNvPr id="69637" name="Text Box 49"/>
          <p:cNvSpPr txBox="1">
            <a:spLocks noChangeArrowheads="1"/>
          </p:cNvSpPr>
          <p:nvPr/>
        </p:nvSpPr>
        <p:spPr bwMode="auto">
          <a:xfrm>
            <a:off x="5249416" y="4437112"/>
            <a:ext cx="19812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de-DE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lang="de-DE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de-DE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    </a:t>
            </a:r>
            <a:r>
              <a:rPr lang="de-DE" altLang="zh-CN" b="1" dirty="0">
                <a:solidFill>
                  <a:srgbClr val="000000"/>
                </a:solidFill>
              </a:rPr>
              <a:t>v</a:t>
            </a:r>
            <a:r>
              <a:rPr lang="de-DE" altLang="zh-CN" b="1" dirty="0">
                <a:solidFill>
                  <a:srgbClr val="000000"/>
                </a:solidFill>
                <a:sym typeface="Symbol" panose="05050102010706020507" pitchFamily="18" charset="2"/>
              </a:rPr>
              <a:t></a:t>
            </a:r>
            <a:r>
              <a:rPr lang="de-DE" altLang="zh-CN" b="1" dirty="0">
                <a:solidFill>
                  <a:srgbClr val="000000"/>
                </a:solidFill>
              </a:rPr>
              <a:t>T</a:t>
            </a:r>
            <a:r>
              <a:rPr lang="de-DE" altLang="zh-CN" sz="1400" dirty="0"/>
              <a:t> </a:t>
            </a:r>
          </a:p>
        </p:txBody>
      </p:sp>
      <p:graphicFrame>
        <p:nvGraphicFramePr>
          <p:cNvPr id="7" name="Object 2">
            <a:extLst>
              <a:ext uri="{FF2B5EF4-FFF2-40B4-BE49-F238E27FC236}">
                <a16:creationId xmlns:a16="http://schemas.microsoft.com/office/drawing/2014/main" id="{C9EE3A56-7ADD-40D7-B2AA-EA6AF585A2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3713" y="2780928"/>
          <a:ext cx="5407025" cy="285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 Publisher Image" r:id="rId4" imgW="3514725" imgH="1857375" progId="PictPub.Image.8">
                  <p:embed/>
                </p:oleObj>
              </mc:Choice>
              <mc:Fallback>
                <p:oleObj name="Picture Publisher Image" r:id="rId4" imgW="3514725" imgH="1857375" progId="PictPub.Image.8">
                  <p:embed/>
                  <p:pic>
                    <p:nvPicPr>
                      <p:cNvPr id="7" name="Object 2">
                        <a:extLst>
                          <a:ext uri="{FF2B5EF4-FFF2-40B4-BE49-F238E27FC236}">
                            <a16:creationId xmlns:a16="http://schemas.microsoft.com/office/drawing/2014/main" id="{C9EE3A56-7ADD-40D7-B2AA-EA6AF585A2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713" y="2780928"/>
                        <a:ext cx="5407025" cy="285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Line 7">
            <a:extLst>
              <a:ext uri="{FF2B5EF4-FFF2-40B4-BE49-F238E27FC236}">
                <a16:creationId xmlns:a16="http://schemas.microsoft.com/office/drawing/2014/main" id="{7FB17D71-8C7E-46A8-8671-E9D5C06351CC}"/>
              </a:ext>
            </a:extLst>
          </p:cNvPr>
          <p:cNvSpPr>
            <a:spLocks noChangeShapeType="1"/>
          </p:cNvSpPr>
          <p:nvPr/>
        </p:nvSpPr>
        <p:spPr bwMode="auto">
          <a:xfrm>
            <a:off x="6200874" y="2650754"/>
            <a:ext cx="0" cy="3138487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1E8250B-6BD7-A1FF-8F06-034C44A2FC61}"/>
              </a:ext>
            </a:extLst>
          </p:cNvPr>
          <p:cNvSpPr txBox="1"/>
          <p:nvPr/>
        </p:nvSpPr>
        <p:spPr>
          <a:xfrm>
            <a:off x="380723" y="299408"/>
            <a:ext cx="38997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基本概念</a:t>
            </a:r>
            <a:r>
              <a:rPr lang="en-US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: </a:t>
            </a:r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流和割</a:t>
            </a:r>
          </a:p>
        </p:txBody>
      </p:sp>
      <p:sp>
        <p:nvSpPr>
          <p:cNvPr id="5" name="圆角矩形 8">
            <a:extLst>
              <a:ext uri="{FF2B5EF4-FFF2-40B4-BE49-F238E27FC236}">
                <a16:creationId xmlns:a16="http://schemas.microsoft.com/office/drawing/2014/main" id="{585983D0-569B-C357-22C3-D85E6052D334}"/>
              </a:ext>
            </a:extLst>
          </p:cNvPr>
          <p:cNvSpPr/>
          <p:nvPr/>
        </p:nvSpPr>
        <p:spPr>
          <a:xfrm>
            <a:off x="238664" y="311105"/>
            <a:ext cx="3899703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D6F0167-4B71-4F1A-E153-AC5B12313807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2BB1FDB-67F2-FC8F-9444-38A580B51F60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24234725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3">
            <a:extLst>
              <a:ext uri="{FF2B5EF4-FFF2-40B4-BE49-F238E27FC236}">
                <a16:creationId xmlns:a16="http://schemas.microsoft.com/office/drawing/2014/main" id="{848E5F67-391C-4E03-A129-6F39B6CB53A6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3541366" y="5600097"/>
            <a:ext cx="7772400" cy="889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altLang="zh-CN" dirty="0">
                <a:latin typeface="Arial Rounded MT Bold" panose="020F0704030504030204" pitchFamily="34" charset="0"/>
              </a:rPr>
              <a:t>f(S,T) = 12 </a:t>
            </a:r>
            <a:r>
              <a:rPr lang="en-US" altLang="zh-CN" dirty="0">
                <a:solidFill>
                  <a:srgbClr val="00B050"/>
                </a:solidFill>
                <a:latin typeface="Arial Rounded MT Bold" panose="020F0704030504030204" pitchFamily="34" charset="0"/>
              </a:rPr>
              <a:t>– 4 </a:t>
            </a:r>
            <a:r>
              <a:rPr lang="en-US" altLang="zh-CN" dirty="0">
                <a:latin typeface="Arial Rounded MT Bold" panose="020F0704030504030204" pitchFamily="34" charset="0"/>
              </a:rPr>
              <a:t>+ 11 = 19</a:t>
            </a:r>
          </a:p>
        </p:txBody>
      </p:sp>
      <p:graphicFrame>
        <p:nvGraphicFramePr>
          <p:cNvPr id="24583" name="Object 3">
            <a:extLst>
              <a:ext uri="{FF2B5EF4-FFF2-40B4-BE49-F238E27FC236}">
                <a16:creationId xmlns:a16="http://schemas.microsoft.com/office/drawing/2014/main" id="{6A57F498-A29C-41D9-AFC0-D2B9BB1BDD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08389" y="2749551"/>
          <a:ext cx="4606925" cy="243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 Publisher Image" r:id="rId3" imgW="3514725" imgH="1857375" progId="PictPub.Image.8">
                  <p:embed/>
                </p:oleObj>
              </mc:Choice>
              <mc:Fallback>
                <p:oleObj name="Picture Publisher Image" r:id="rId3" imgW="3514725" imgH="1857375" progId="PictPub.Image.8">
                  <p:embed/>
                  <p:pic>
                    <p:nvPicPr>
                      <p:cNvPr id="24583" name="Object 3">
                        <a:extLst>
                          <a:ext uri="{FF2B5EF4-FFF2-40B4-BE49-F238E27FC236}">
                            <a16:creationId xmlns:a16="http://schemas.microsoft.com/office/drawing/2014/main" id="{6A57F498-A29C-41D9-AFC0-D2B9BB1BDD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8389" y="2749551"/>
                        <a:ext cx="4606925" cy="2435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4" name="Line 7">
            <a:extLst>
              <a:ext uri="{FF2B5EF4-FFF2-40B4-BE49-F238E27FC236}">
                <a16:creationId xmlns:a16="http://schemas.microsoft.com/office/drawing/2014/main" id="{86957B31-D9CC-42EA-A51B-9351D81271A9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5500" y="2636839"/>
            <a:ext cx="0" cy="3138487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3E11A3E-8927-C481-75EE-CE0F50CFD789}"/>
              </a:ext>
            </a:extLst>
          </p:cNvPr>
          <p:cNvSpPr txBox="1"/>
          <p:nvPr/>
        </p:nvSpPr>
        <p:spPr>
          <a:xfrm>
            <a:off x="380724" y="299408"/>
            <a:ext cx="41818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de-DE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跨越割的净流</a:t>
            </a:r>
            <a:r>
              <a:rPr lang="en-US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f(S,T)</a:t>
            </a:r>
            <a:endParaRPr lang="zh-CN" altLang="en-US" sz="3600" b="1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3" name="圆角矩形 8">
            <a:extLst>
              <a:ext uri="{FF2B5EF4-FFF2-40B4-BE49-F238E27FC236}">
                <a16:creationId xmlns:a16="http://schemas.microsoft.com/office/drawing/2014/main" id="{6E047FF2-F22D-B4CF-94BC-0373B0D63C92}"/>
              </a:ext>
            </a:extLst>
          </p:cNvPr>
          <p:cNvSpPr/>
          <p:nvPr/>
        </p:nvSpPr>
        <p:spPr>
          <a:xfrm>
            <a:off x="238665" y="311105"/>
            <a:ext cx="4399324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D032440-5619-6716-5FFF-9C0E1896F4B4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250636D-8B0F-5FEB-B922-EEFFE7A4C94C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93AFFD6-41EE-344D-F0B5-16202C72A6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4001" y="1361060"/>
            <a:ext cx="3695700" cy="100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8118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3">
            <a:extLst>
              <a:ext uri="{FF2B5EF4-FFF2-40B4-BE49-F238E27FC236}">
                <a16:creationId xmlns:a16="http://schemas.microsoft.com/office/drawing/2014/main" id="{F5F3BCA7-E992-4B9B-916A-2C915C2000DB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3402013" y="5842000"/>
            <a:ext cx="7772400" cy="5969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altLang="zh-CN" dirty="0">
                <a:latin typeface="Arial Rounded MT Bold" panose="020F0704030504030204" pitchFamily="34" charset="0"/>
              </a:rPr>
              <a:t>c(S,T)= 12+ </a:t>
            </a:r>
            <a:r>
              <a:rPr lang="en-US" altLang="zh-CN" dirty="0">
                <a:solidFill>
                  <a:srgbClr val="00B050"/>
                </a:solidFill>
                <a:latin typeface="Arial Rounded MT Bold" panose="020F0704030504030204" pitchFamily="34" charset="0"/>
              </a:rPr>
              <a:t>0 </a:t>
            </a:r>
            <a:r>
              <a:rPr lang="en-US" altLang="zh-CN" dirty="0">
                <a:latin typeface="Arial Rounded MT Bold" panose="020F0704030504030204" pitchFamily="34" charset="0"/>
              </a:rPr>
              <a:t>+ 14 = 26</a:t>
            </a:r>
          </a:p>
        </p:txBody>
      </p:sp>
      <p:graphicFrame>
        <p:nvGraphicFramePr>
          <p:cNvPr id="25607" name="Object 3">
            <a:extLst>
              <a:ext uri="{FF2B5EF4-FFF2-40B4-BE49-F238E27FC236}">
                <a16:creationId xmlns:a16="http://schemas.microsoft.com/office/drawing/2014/main" id="{FD653763-3963-4C69-8356-243E6B6570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00451" y="2930526"/>
          <a:ext cx="4606925" cy="243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 Publisher Image" r:id="rId3" imgW="3514725" imgH="1857375" progId="PictPub.Image.8">
                  <p:embed/>
                </p:oleObj>
              </mc:Choice>
              <mc:Fallback>
                <p:oleObj name="Picture Publisher Image" r:id="rId3" imgW="3514725" imgH="1857375" progId="PictPub.Image.8">
                  <p:embed/>
                  <p:pic>
                    <p:nvPicPr>
                      <p:cNvPr id="25607" name="Object 3">
                        <a:extLst>
                          <a:ext uri="{FF2B5EF4-FFF2-40B4-BE49-F238E27FC236}">
                            <a16:creationId xmlns:a16="http://schemas.microsoft.com/office/drawing/2014/main" id="{FD653763-3963-4C69-8356-243E6B6570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0451" y="2930526"/>
                        <a:ext cx="4606925" cy="2435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8" name="Line 7">
            <a:extLst>
              <a:ext uri="{FF2B5EF4-FFF2-40B4-BE49-F238E27FC236}">
                <a16:creationId xmlns:a16="http://schemas.microsoft.com/office/drawing/2014/main" id="{E117AB0D-EBC6-402A-8E7B-DE21322B538C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5500" y="2636839"/>
            <a:ext cx="0" cy="3138487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78AE390-9CB2-41CD-D23C-9603EAB3C619}"/>
              </a:ext>
            </a:extLst>
          </p:cNvPr>
          <p:cNvSpPr txBox="1"/>
          <p:nvPr/>
        </p:nvSpPr>
        <p:spPr>
          <a:xfrm>
            <a:off x="380725" y="299408"/>
            <a:ext cx="33051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割的容量</a:t>
            </a:r>
            <a:r>
              <a:rPr lang="en-US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c(S,T)</a:t>
            </a:r>
            <a:endParaRPr lang="zh-CN" altLang="en-US" sz="3600" b="1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3" name="圆角矩形 8">
            <a:extLst>
              <a:ext uri="{FF2B5EF4-FFF2-40B4-BE49-F238E27FC236}">
                <a16:creationId xmlns:a16="http://schemas.microsoft.com/office/drawing/2014/main" id="{F3EF2E2A-1361-09E5-A52C-CD8E8E1FB60F}"/>
              </a:ext>
            </a:extLst>
          </p:cNvPr>
          <p:cNvSpPr/>
          <p:nvPr/>
        </p:nvSpPr>
        <p:spPr>
          <a:xfrm>
            <a:off x="238665" y="311105"/>
            <a:ext cx="3569764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BE63731-C59B-3CCE-533D-177DCF9FE70C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7B6D680-9D81-A17F-4CD0-7A65AD791A1B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6BB1E00-12F4-E186-2482-4C5EAF7283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6063" y="1391893"/>
            <a:ext cx="36957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0896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78160F-77A8-5D4F-AF74-9CFDA849370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252980" y="1561674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一个网络的最小切割是整个网络中容量最小的切割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452CE6DD-FE99-9340-86FB-0218D043E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1706" y="2830483"/>
            <a:ext cx="5650808" cy="303173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EFC874C-42AC-76A9-B706-1F62890B2475}"/>
              </a:ext>
            </a:extLst>
          </p:cNvPr>
          <p:cNvSpPr txBox="1"/>
          <p:nvPr/>
        </p:nvSpPr>
        <p:spPr>
          <a:xfrm>
            <a:off x="380724" y="299408"/>
            <a:ext cx="37293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最小割</a:t>
            </a:r>
            <a:r>
              <a:rPr lang="en-US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/</a:t>
            </a:r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最小切割</a:t>
            </a:r>
          </a:p>
        </p:txBody>
      </p:sp>
      <p:sp>
        <p:nvSpPr>
          <p:cNvPr id="6" name="圆角矩形 8">
            <a:extLst>
              <a:ext uri="{FF2B5EF4-FFF2-40B4-BE49-F238E27FC236}">
                <a16:creationId xmlns:a16="http://schemas.microsoft.com/office/drawing/2014/main" id="{2C00187E-17C3-48A6-DE27-D2DACD2DAE6E}"/>
              </a:ext>
            </a:extLst>
          </p:cNvPr>
          <p:cNvSpPr/>
          <p:nvPr/>
        </p:nvSpPr>
        <p:spPr>
          <a:xfrm>
            <a:off x="238664" y="311105"/>
            <a:ext cx="3871423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DC55D6-5EB7-EA62-B446-10F3CE4FABDE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7169C65-DC2C-1BBF-B1F3-451C4ABBEAE4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D505453-FE71-B26A-37F2-CB5CEF61F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436" y="2950256"/>
            <a:ext cx="567690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71088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3">
            <a:extLst>
              <a:ext uri="{FF2B5EF4-FFF2-40B4-BE49-F238E27FC236}">
                <a16:creationId xmlns:a16="http://schemas.microsoft.com/office/drawing/2014/main" id="{0EC3E564-45F7-41F3-A011-CEAE02B87412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864519" y="1273970"/>
            <a:ext cx="8462963" cy="1158875"/>
          </a:xfrm>
          <a:prstGeom prst="rect">
            <a:avLst/>
          </a:prstGeom>
          <a:noFill/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zh-CN" altLang="en-US" sz="2400" b="1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割的容量</a:t>
            </a:r>
            <a:r>
              <a:rPr lang="en-US" altLang="zh-CN" sz="2400" b="1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= </a:t>
            </a:r>
            <a:r>
              <a:rPr lang="zh-CN" altLang="en-US" sz="2400" b="1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最大可能通过割的流量</a:t>
            </a:r>
            <a:endParaRPr lang="en-US" altLang="zh-CN" sz="2400" b="1" dirty="0">
              <a:solidFill>
                <a:srgbClr val="00B05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= 12 + 7 + 4 = 23</a:t>
            </a:r>
          </a:p>
        </p:txBody>
      </p:sp>
      <p:sp>
        <p:nvSpPr>
          <p:cNvPr id="26629" name="Text Box 4">
            <a:extLst>
              <a:ext uri="{FF2B5EF4-FFF2-40B4-BE49-F238E27FC236}">
                <a16:creationId xmlns:a16="http://schemas.microsoft.com/office/drawing/2014/main" id="{5E4B95C3-F2D2-47C2-8D20-EDC0E94A50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4100" y="5537200"/>
            <a:ext cx="7099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zh-CN" sz="2400">
              <a:latin typeface="Comic Sans MS" panose="030F0702030302020204" pitchFamily="66" charset="0"/>
            </a:endParaRPr>
          </a:p>
        </p:txBody>
      </p:sp>
      <p:graphicFrame>
        <p:nvGraphicFramePr>
          <p:cNvPr id="26630" name="Object 2">
            <a:extLst>
              <a:ext uri="{FF2B5EF4-FFF2-40B4-BE49-F238E27FC236}">
                <a16:creationId xmlns:a16="http://schemas.microsoft.com/office/drawing/2014/main" id="{2DBEDB23-5C81-4B27-A89D-FE139138F9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71750" y="2501901"/>
          <a:ext cx="5994400" cy="2665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 Publisher Image" r:id="rId3" imgW="3771900" imgH="1676400" progId="PictPub.Image.8">
                  <p:embed/>
                </p:oleObj>
              </mc:Choice>
              <mc:Fallback>
                <p:oleObj name="Picture Publisher Image" r:id="rId3" imgW="3771900" imgH="1676400" progId="PictPub.Image.8">
                  <p:embed/>
                  <p:pic>
                    <p:nvPicPr>
                      <p:cNvPr id="26630" name="Object 2">
                        <a:extLst>
                          <a:ext uri="{FF2B5EF4-FFF2-40B4-BE49-F238E27FC236}">
                            <a16:creationId xmlns:a16="http://schemas.microsoft.com/office/drawing/2014/main" id="{2DBEDB23-5C81-4B27-A89D-FE139138F9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0" y="2501901"/>
                        <a:ext cx="5994400" cy="2665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1" name="Line 6">
            <a:extLst>
              <a:ext uri="{FF2B5EF4-FFF2-40B4-BE49-F238E27FC236}">
                <a16:creationId xmlns:a16="http://schemas.microsoft.com/office/drawing/2014/main" id="{DBD68249-C130-44DE-BB33-2714671491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02200" y="2476500"/>
            <a:ext cx="3225800" cy="2819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98407" name="Text Box 7">
            <a:extLst>
              <a:ext uri="{FF2B5EF4-FFF2-40B4-BE49-F238E27FC236}">
                <a16:creationId xmlns:a16="http://schemas.microsoft.com/office/drawing/2014/main" id="{BA39E731-76EE-491B-B650-99EB6D3E4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5276851"/>
            <a:ext cx="84328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该网络的流量</a:t>
            </a:r>
            <a:r>
              <a:rPr lang="zh-CN" altLang="en-US" sz="2400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最多不超过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23. 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上图中网络流量确实达到了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23, 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因为我们选取了</a:t>
            </a:r>
            <a:r>
              <a:rPr lang="zh-CN" altLang="en-US" sz="2400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最小割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.</a:t>
            </a:r>
          </a:p>
        </p:txBody>
      </p:sp>
      <p:sp>
        <p:nvSpPr>
          <p:cNvPr id="26633" name="Text Box 8">
            <a:extLst>
              <a:ext uri="{FF2B5EF4-FFF2-40B4-BE49-F238E27FC236}">
                <a16:creationId xmlns:a16="http://schemas.microsoft.com/office/drawing/2014/main" id="{82B428AC-809A-4962-A87A-A328C809B9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4888" y="3349625"/>
            <a:ext cx="20431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rgbClr val="FF0000"/>
                </a:solidFill>
                <a:latin typeface="Comic Sans MS" panose="030F0702030302020204" pitchFamily="66" charset="0"/>
              </a:rPr>
              <a:t>Flow(2)</a:t>
            </a:r>
          </a:p>
        </p:txBody>
      </p:sp>
      <p:sp>
        <p:nvSpPr>
          <p:cNvPr id="26634" name="Text Box 9">
            <a:extLst>
              <a:ext uri="{FF2B5EF4-FFF2-40B4-BE49-F238E27FC236}">
                <a16:creationId xmlns:a16="http://schemas.microsoft.com/office/drawing/2014/main" id="{E322F0A6-A29C-43E9-A6AF-9019DB76B6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5053013"/>
            <a:ext cx="642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latin typeface="Comic Sans MS" panose="030F0702030302020204" pitchFamily="66" charset="0"/>
              </a:rPr>
              <a:t>cut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B01B4A2-C1B7-DE41-ECE5-DE7E3CE67E6D}"/>
              </a:ext>
            </a:extLst>
          </p:cNvPr>
          <p:cNvSpPr txBox="1"/>
          <p:nvPr/>
        </p:nvSpPr>
        <p:spPr>
          <a:xfrm>
            <a:off x="380725" y="299408"/>
            <a:ext cx="33711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增广路径</a:t>
            </a:r>
            <a:r>
              <a:rPr lang="en-US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–</a:t>
            </a:r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例子</a:t>
            </a:r>
          </a:p>
        </p:txBody>
      </p:sp>
      <p:sp>
        <p:nvSpPr>
          <p:cNvPr id="3" name="圆角矩形 8">
            <a:extLst>
              <a:ext uri="{FF2B5EF4-FFF2-40B4-BE49-F238E27FC236}">
                <a16:creationId xmlns:a16="http://schemas.microsoft.com/office/drawing/2014/main" id="{578E5165-33D5-3221-0641-03FAE8113C14}"/>
              </a:ext>
            </a:extLst>
          </p:cNvPr>
          <p:cNvSpPr/>
          <p:nvPr/>
        </p:nvSpPr>
        <p:spPr>
          <a:xfrm>
            <a:off x="238665" y="311105"/>
            <a:ext cx="3513204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1D9D093-370A-F9FB-5165-BCDB8DDA5FEC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BA31B53-275E-5C9A-5C54-4B8A71F77603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1202001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984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984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984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984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8407" grpId="0" build="p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3">
            <a:extLst>
              <a:ext uri="{FF2B5EF4-FFF2-40B4-BE49-F238E27FC236}">
                <a16:creationId xmlns:a16="http://schemas.microsoft.com/office/drawing/2014/main" id="{31E778DA-6934-4971-920F-CF5E825C449C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2209800" y="1462088"/>
            <a:ext cx="7772400" cy="4114800"/>
          </a:xfrm>
          <a:prstGeom prst="rect">
            <a:avLst/>
          </a:prstGeom>
          <a:noFill/>
        </p:spPr>
        <p:txBody>
          <a:bodyPr/>
          <a:lstStyle/>
          <a:p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通过任意割的流量与网络流量</a:t>
            </a:r>
            <a:r>
              <a:rPr lang="en-US" altLang="zh-CN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|f|</a:t>
            </a: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相等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.</a:t>
            </a:r>
          </a:p>
        </p:txBody>
      </p:sp>
      <p:graphicFrame>
        <p:nvGraphicFramePr>
          <p:cNvPr id="27653" name="Object 2">
            <a:extLst>
              <a:ext uri="{FF2B5EF4-FFF2-40B4-BE49-F238E27FC236}">
                <a16:creationId xmlns:a16="http://schemas.microsoft.com/office/drawing/2014/main" id="{F84780F6-8997-488E-BD6C-B8572CFED8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2850" y="2794001"/>
          <a:ext cx="6953250" cy="309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 Publisher Image" r:id="rId3" imgW="3771900" imgH="1676400" progId="PictPub.Image.8">
                  <p:embed/>
                </p:oleObj>
              </mc:Choice>
              <mc:Fallback>
                <p:oleObj name="Picture Publisher Image" r:id="rId3" imgW="3771900" imgH="1676400" progId="PictPub.Image.8">
                  <p:embed/>
                  <p:pic>
                    <p:nvPicPr>
                      <p:cNvPr id="27653" name="Object 2">
                        <a:extLst>
                          <a:ext uri="{FF2B5EF4-FFF2-40B4-BE49-F238E27FC236}">
                            <a16:creationId xmlns:a16="http://schemas.microsoft.com/office/drawing/2014/main" id="{F84780F6-8997-488E-BD6C-B8572CFED8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2850" y="2794001"/>
                        <a:ext cx="6953250" cy="309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2501" name="Line 5">
            <a:extLst>
              <a:ext uri="{FF2B5EF4-FFF2-40B4-BE49-F238E27FC236}">
                <a16:creationId xmlns:a16="http://schemas.microsoft.com/office/drawing/2014/main" id="{08D57E29-A5C3-49E8-8B9B-578DD2A364E3}"/>
              </a:ext>
            </a:extLst>
          </p:cNvPr>
          <p:cNvSpPr>
            <a:spLocks noChangeShapeType="1"/>
          </p:cNvSpPr>
          <p:nvPr/>
        </p:nvSpPr>
        <p:spPr bwMode="auto">
          <a:xfrm>
            <a:off x="3378200" y="2717800"/>
            <a:ext cx="1244600" cy="3530600"/>
          </a:xfrm>
          <a:prstGeom prst="line">
            <a:avLst/>
          </a:prstGeom>
          <a:noFill/>
          <a:ln w="4445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02502" name="Line 6">
            <a:extLst>
              <a:ext uri="{FF2B5EF4-FFF2-40B4-BE49-F238E27FC236}">
                <a16:creationId xmlns:a16="http://schemas.microsoft.com/office/drawing/2014/main" id="{6905AFDA-1DCB-4A75-B3C0-DDDDB1EFC024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2794000"/>
            <a:ext cx="2451100" cy="3441700"/>
          </a:xfrm>
          <a:prstGeom prst="line">
            <a:avLst/>
          </a:prstGeom>
          <a:noFill/>
          <a:ln w="4445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02503" name="Line 7">
            <a:extLst>
              <a:ext uri="{FF2B5EF4-FFF2-40B4-BE49-F238E27FC236}">
                <a16:creationId xmlns:a16="http://schemas.microsoft.com/office/drawing/2014/main" id="{1615D9E5-BCF9-4C40-87EB-B685C8950B32}"/>
              </a:ext>
            </a:extLst>
          </p:cNvPr>
          <p:cNvSpPr>
            <a:spLocks noChangeShapeType="1"/>
          </p:cNvSpPr>
          <p:nvPr/>
        </p:nvSpPr>
        <p:spPr bwMode="auto">
          <a:xfrm>
            <a:off x="5829300" y="2730500"/>
            <a:ext cx="1943100" cy="3479800"/>
          </a:xfrm>
          <a:prstGeom prst="line">
            <a:avLst/>
          </a:prstGeom>
          <a:noFill/>
          <a:ln w="4445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9362DB7-9A38-89BB-2990-C7AC2D7FE063}"/>
              </a:ext>
            </a:extLst>
          </p:cNvPr>
          <p:cNvSpPr txBox="1"/>
          <p:nvPr/>
        </p:nvSpPr>
        <p:spPr>
          <a:xfrm>
            <a:off x="380724" y="299408"/>
            <a:ext cx="35125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网络流与割流量</a:t>
            </a:r>
          </a:p>
        </p:txBody>
      </p:sp>
      <p:sp>
        <p:nvSpPr>
          <p:cNvPr id="3" name="圆角矩形 8">
            <a:extLst>
              <a:ext uri="{FF2B5EF4-FFF2-40B4-BE49-F238E27FC236}">
                <a16:creationId xmlns:a16="http://schemas.microsoft.com/office/drawing/2014/main" id="{3C5C096E-9266-C0A5-E104-7053471F2FDF}"/>
              </a:ext>
            </a:extLst>
          </p:cNvPr>
          <p:cNvSpPr/>
          <p:nvPr/>
        </p:nvSpPr>
        <p:spPr>
          <a:xfrm>
            <a:off x="238665" y="311105"/>
            <a:ext cx="3739446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9283F10-18A7-7492-8EDE-79A22FC6DEDF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1413A8C-0FF4-EBFA-4E48-085E7F32BF43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1858417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2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2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2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74" name="Object 2">
            <a:extLst>
              <a:ext uri="{FF2B5EF4-FFF2-40B4-BE49-F238E27FC236}">
                <a16:creationId xmlns:a16="http://schemas.microsoft.com/office/drawing/2014/main" id="{134A1752-F7FA-4156-8EE7-85D1E25466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2850" y="2794001"/>
          <a:ext cx="6953250" cy="309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 Publisher Image" r:id="rId3" imgW="3771900" imgH="1676400" progId="PictPub.Image.8">
                  <p:embed/>
                </p:oleObj>
              </mc:Choice>
              <mc:Fallback>
                <p:oleObj name="Picture Publisher Image" r:id="rId3" imgW="3771900" imgH="1676400" progId="PictPub.Image.8">
                  <p:embed/>
                  <p:pic>
                    <p:nvPicPr>
                      <p:cNvPr id="28674" name="Object 2">
                        <a:extLst>
                          <a:ext uri="{FF2B5EF4-FFF2-40B4-BE49-F238E27FC236}">
                            <a16:creationId xmlns:a16="http://schemas.microsoft.com/office/drawing/2014/main" id="{134A1752-F7FA-4156-8EE7-85D1E25466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2850" y="2794001"/>
                        <a:ext cx="6953250" cy="309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7" name="Rectangle 3">
            <a:extLst>
              <a:ext uri="{FF2B5EF4-FFF2-40B4-BE49-F238E27FC236}">
                <a16:creationId xmlns:a16="http://schemas.microsoft.com/office/drawing/2014/main" id="{C7EC61F2-5DFD-4622-B226-68C4163F4C77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413006" y="1563116"/>
            <a:ext cx="9092938" cy="9144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网络中任意一个割的容量都是网络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</a:t>
            </a: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的最大流量的上界</a:t>
            </a:r>
            <a:endParaRPr lang="en-US" altLang="zh-CN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8678" name="Line 5">
            <a:extLst>
              <a:ext uri="{FF2B5EF4-FFF2-40B4-BE49-F238E27FC236}">
                <a16:creationId xmlns:a16="http://schemas.microsoft.com/office/drawing/2014/main" id="{5CDAD9D2-2A70-4167-91DB-EC0B95D68E0A}"/>
              </a:ext>
            </a:extLst>
          </p:cNvPr>
          <p:cNvSpPr>
            <a:spLocks noChangeShapeType="1"/>
          </p:cNvSpPr>
          <p:nvPr/>
        </p:nvSpPr>
        <p:spPr bwMode="auto">
          <a:xfrm>
            <a:off x="5829300" y="2730500"/>
            <a:ext cx="1943100" cy="3479800"/>
          </a:xfrm>
          <a:prstGeom prst="line">
            <a:avLst/>
          </a:prstGeom>
          <a:noFill/>
          <a:ln w="4445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C5DF455-33A0-DF42-1740-BBF4CA3FAB33}"/>
              </a:ext>
            </a:extLst>
          </p:cNvPr>
          <p:cNvSpPr txBox="1"/>
          <p:nvPr/>
        </p:nvSpPr>
        <p:spPr>
          <a:xfrm>
            <a:off x="380724" y="299408"/>
            <a:ext cx="35125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网络流量的上界</a:t>
            </a:r>
          </a:p>
        </p:txBody>
      </p:sp>
      <p:sp>
        <p:nvSpPr>
          <p:cNvPr id="3" name="圆角矩形 8">
            <a:extLst>
              <a:ext uri="{FF2B5EF4-FFF2-40B4-BE49-F238E27FC236}">
                <a16:creationId xmlns:a16="http://schemas.microsoft.com/office/drawing/2014/main" id="{CE6ADD68-C0AE-D849-1E62-9651059F7B4E}"/>
              </a:ext>
            </a:extLst>
          </p:cNvPr>
          <p:cNvSpPr/>
          <p:nvPr/>
        </p:nvSpPr>
        <p:spPr>
          <a:xfrm>
            <a:off x="238665" y="311105"/>
            <a:ext cx="3739446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54F67FC-84AA-45D5-1C95-82A6D7F6046D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67E36DB-6409-D878-6113-2939838F5999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103527675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547" name="Rectangle 3">
            <a:extLst>
              <a:ext uri="{FF2B5EF4-FFF2-40B4-BE49-F238E27FC236}">
                <a16:creationId xmlns:a16="http://schemas.microsoft.com/office/drawing/2014/main" id="{C999DE3F-760B-4423-B2C4-B19A1DA78C4C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862138" y="1690689"/>
            <a:ext cx="8031162" cy="41148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marL="381000" indent="-381000">
              <a:lnSpc>
                <a:spcPct val="150000"/>
              </a:lnSpc>
            </a:pPr>
            <a:r>
              <a:rPr lang="zh-CN" altLang="en-US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假设</a:t>
            </a:r>
            <a:r>
              <a:rPr lang="en-US" altLang="zh-CN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f</a:t>
            </a:r>
            <a:r>
              <a:rPr lang="zh-CN" altLang="en-US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是流网络</a:t>
            </a:r>
            <a:r>
              <a:rPr lang="en-US" altLang="zh-CN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G=(V,E)</a:t>
            </a:r>
            <a:r>
              <a:rPr lang="zh-CN" altLang="en-US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上的一个流</a:t>
            </a:r>
            <a:r>
              <a:rPr lang="en-US" altLang="zh-CN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s </a:t>
            </a:r>
            <a:r>
              <a:rPr lang="zh-CN" altLang="en-US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和</a:t>
            </a:r>
            <a:r>
              <a:rPr lang="en-US" altLang="zh-CN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t</a:t>
            </a:r>
            <a:r>
              <a:rPr lang="zh-CN" altLang="en-US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分别为源点和汇点</a:t>
            </a:r>
            <a:r>
              <a:rPr lang="en-US" altLang="zh-CN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</a:t>
            </a:r>
            <a:r>
              <a:rPr lang="zh-CN" altLang="en-US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则以下条件等价</a:t>
            </a:r>
            <a:r>
              <a:rPr lang="en-US" altLang="zh-CN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AutoNum type="arabicPeriod"/>
            </a:pPr>
            <a:r>
              <a:rPr lang="en-US" altLang="zh-CN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f </a:t>
            </a:r>
            <a:r>
              <a:rPr lang="zh-CN" altLang="en-US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是</a:t>
            </a:r>
            <a:r>
              <a:rPr lang="en-US" altLang="zh-CN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</a:t>
            </a:r>
            <a:r>
              <a:rPr lang="zh-CN" altLang="en-US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中的最大流</a:t>
            </a:r>
            <a:r>
              <a:rPr lang="en-US" altLang="zh-CN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AutoNum type="arabicPeriod"/>
            </a:pPr>
            <a:r>
              <a:rPr lang="zh-CN" altLang="en-US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剩余网络</a:t>
            </a:r>
            <a:r>
              <a:rPr lang="en-US" altLang="zh-CN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</a:t>
            </a:r>
            <a:r>
              <a:rPr lang="en-US" altLang="zh-CN" sz="2800" baseline="-250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f</a:t>
            </a:r>
            <a:r>
              <a:rPr lang="en-US" altLang="zh-CN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  <a:r>
              <a:rPr lang="zh-CN" altLang="en-US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中不包含任何增广路径</a:t>
            </a:r>
            <a:r>
              <a:rPr lang="en-US" altLang="zh-CN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. 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AutoNum type="arabicPeriod"/>
            </a:pPr>
            <a:r>
              <a:rPr lang="zh-CN" altLang="en-US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存在割</a:t>
            </a:r>
            <a:r>
              <a:rPr lang="en-US" altLang="zh-CN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(S, T)</a:t>
            </a:r>
            <a:r>
              <a:rPr lang="zh-CN" altLang="en-US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，使得</a:t>
            </a:r>
            <a:r>
              <a:rPr lang="en-US" altLang="zh-CN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|f| = c(S,T).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ABFF2FF-0814-C2BC-1A87-C017F185E3CA}"/>
              </a:ext>
            </a:extLst>
          </p:cNvPr>
          <p:cNvSpPr txBox="1"/>
          <p:nvPr/>
        </p:nvSpPr>
        <p:spPr>
          <a:xfrm>
            <a:off x="380723" y="299408"/>
            <a:ext cx="39815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最大流最小割定理</a:t>
            </a:r>
          </a:p>
        </p:txBody>
      </p:sp>
      <p:sp>
        <p:nvSpPr>
          <p:cNvPr id="3" name="圆角矩形 8">
            <a:extLst>
              <a:ext uri="{FF2B5EF4-FFF2-40B4-BE49-F238E27FC236}">
                <a16:creationId xmlns:a16="http://schemas.microsoft.com/office/drawing/2014/main" id="{BD9A2A5A-9EDD-74E7-63F0-A42B2695A852}"/>
              </a:ext>
            </a:extLst>
          </p:cNvPr>
          <p:cNvSpPr/>
          <p:nvPr/>
        </p:nvSpPr>
        <p:spPr>
          <a:xfrm>
            <a:off x="238665" y="311105"/>
            <a:ext cx="4220214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C5B2C57-BFBC-C2E3-56EF-35487AF873D7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9020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4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4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4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4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4547" grpId="0" build="p" bldLvl="2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547" name="Rectangle 3">
            <a:extLst>
              <a:ext uri="{FF2B5EF4-FFF2-40B4-BE49-F238E27FC236}">
                <a16:creationId xmlns:a16="http://schemas.microsoft.com/office/drawing/2014/main" id="{C999DE3F-760B-4423-B2C4-B19A1DA78C4C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12938" y="1536700"/>
            <a:ext cx="8031162" cy="4864100"/>
          </a:xfrm>
          <a:prstGeom prst="rect">
            <a:avLst/>
          </a:prstGeom>
          <a:noFill/>
        </p:spPr>
        <p:txBody>
          <a:bodyPr>
            <a:normAutofit fontScale="92500" lnSpcReduction="20000"/>
          </a:bodyPr>
          <a:lstStyle/>
          <a:p>
            <a:pPr marL="381000" indent="-381000">
              <a:lnSpc>
                <a:spcPct val="150000"/>
              </a:lnSpc>
            </a:pPr>
            <a:r>
              <a:rPr lang="zh-CN" altLang="en-US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假设</a:t>
            </a:r>
            <a:r>
              <a:rPr lang="en-US" altLang="zh-CN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f</a:t>
            </a:r>
            <a:r>
              <a:rPr lang="zh-CN" altLang="en-US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是流网络</a:t>
            </a:r>
            <a:r>
              <a:rPr lang="en-US" altLang="zh-CN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G=(V,E)</a:t>
            </a:r>
            <a:r>
              <a:rPr lang="zh-CN" altLang="en-US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上的一个流</a:t>
            </a:r>
            <a:r>
              <a:rPr lang="en-US" altLang="zh-CN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s </a:t>
            </a:r>
            <a:r>
              <a:rPr lang="zh-CN" altLang="en-US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和</a:t>
            </a:r>
            <a:r>
              <a:rPr lang="en-US" altLang="zh-CN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t</a:t>
            </a:r>
            <a:r>
              <a:rPr lang="zh-CN" altLang="en-US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分别为源点和汇点</a:t>
            </a:r>
            <a:r>
              <a:rPr lang="en-US" altLang="zh-CN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</a:t>
            </a:r>
            <a:r>
              <a:rPr lang="zh-CN" altLang="en-US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则以下条件等价</a:t>
            </a:r>
            <a:r>
              <a:rPr lang="en-US" altLang="zh-CN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AutoNum type="arabicPeriod"/>
            </a:pP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f 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是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中的最大流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AutoNum type="arabicPeriod"/>
            </a:pP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剩余网络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</a:t>
            </a:r>
            <a:r>
              <a:rPr lang="en-US" altLang="zh-CN" sz="2800" baseline="-250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f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中不包含任何增广路径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.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AutoNum type="arabicPeriod"/>
            </a:pPr>
            <a:r>
              <a:rPr lang="zh-CN" altLang="en-US" sz="2800" dirty="0">
                <a:solidFill>
                  <a:schemeClr val="bg1">
                    <a:lumMod val="8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存在割</a:t>
            </a:r>
            <a:r>
              <a:rPr lang="en-US" altLang="zh-CN" sz="2800" dirty="0">
                <a:solidFill>
                  <a:schemeClr val="bg1">
                    <a:lumMod val="8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(S, T)</a:t>
            </a:r>
            <a:r>
              <a:rPr lang="zh-CN" altLang="en-US" sz="2800" dirty="0">
                <a:solidFill>
                  <a:schemeClr val="bg1">
                    <a:lumMod val="8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，使得</a:t>
            </a:r>
            <a:r>
              <a:rPr lang="en-US" altLang="zh-CN" sz="2800" dirty="0">
                <a:solidFill>
                  <a:schemeClr val="bg1">
                    <a:lumMod val="8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|f| = c(S,T). 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证明：</a:t>
            </a:r>
            <a:r>
              <a:rPr lang="en-US" altLang="zh-CN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1-&gt;2 </a:t>
            </a:r>
            <a:r>
              <a:rPr lang="zh-CN" altLang="en-US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反证法：如果剩余网络</a:t>
            </a:r>
            <a:r>
              <a:rPr lang="en-US" altLang="zh-CN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</a:t>
            </a:r>
            <a:r>
              <a:rPr lang="en-US" altLang="zh-CN" sz="2800" baseline="-250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f</a:t>
            </a:r>
            <a:r>
              <a:rPr lang="en-US" altLang="zh-CN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  <a:r>
              <a:rPr lang="zh-CN" altLang="en-US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中包含一条增广路径，我们可以利用这条增广路径增加</a:t>
            </a:r>
            <a:r>
              <a:rPr lang="en-US" altLang="zh-CN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f</a:t>
            </a:r>
            <a:r>
              <a:rPr lang="zh-CN" altLang="en-US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的流量，与</a:t>
            </a:r>
            <a:r>
              <a:rPr lang="en-US" altLang="zh-CN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f </a:t>
            </a:r>
            <a:r>
              <a:rPr lang="zh-CN" altLang="en-US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是</a:t>
            </a:r>
            <a:r>
              <a:rPr lang="en-US" altLang="zh-CN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</a:t>
            </a:r>
            <a:r>
              <a:rPr lang="zh-CN" altLang="en-US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中的最大流矛盾</a:t>
            </a:r>
            <a:endParaRPr lang="en-US" altLang="zh-CN" sz="2800" dirty="0">
              <a:solidFill>
                <a:srgbClr val="00B05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28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57084FE-FBBC-24AB-4CFA-24DCA59C0EE1}"/>
              </a:ext>
            </a:extLst>
          </p:cNvPr>
          <p:cNvSpPr txBox="1"/>
          <p:nvPr/>
        </p:nvSpPr>
        <p:spPr>
          <a:xfrm>
            <a:off x="380723" y="299408"/>
            <a:ext cx="39815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最大流最小割定理</a:t>
            </a:r>
          </a:p>
        </p:txBody>
      </p:sp>
      <p:sp>
        <p:nvSpPr>
          <p:cNvPr id="3" name="圆角矩形 8">
            <a:extLst>
              <a:ext uri="{FF2B5EF4-FFF2-40B4-BE49-F238E27FC236}">
                <a16:creationId xmlns:a16="http://schemas.microsoft.com/office/drawing/2014/main" id="{7AAE09FC-DBAB-C3A8-D48E-ED6F726BF014}"/>
              </a:ext>
            </a:extLst>
          </p:cNvPr>
          <p:cNvSpPr/>
          <p:nvPr/>
        </p:nvSpPr>
        <p:spPr>
          <a:xfrm>
            <a:off x="238665" y="311105"/>
            <a:ext cx="4220214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2263965-A6E6-619A-9DC6-74727872DE90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0714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4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4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4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4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4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4547" grpId="0" build="p" bldLvl="2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547" name="Rectangle 3">
            <a:extLst>
              <a:ext uri="{FF2B5EF4-FFF2-40B4-BE49-F238E27FC236}">
                <a16:creationId xmlns:a16="http://schemas.microsoft.com/office/drawing/2014/main" id="{C999DE3F-760B-4423-B2C4-B19A1DA78C4C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874838" y="1424782"/>
            <a:ext cx="8031162" cy="5039519"/>
          </a:xfrm>
          <a:prstGeom prst="rect">
            <a:avLst/>
          </a:prstGeom>
          <a:noFill/>
        </p:spPr>
        <p:txBody>
          <a:bodyPr>
            <a:normAutofit fontScale="85000" lnSpcReduction="20000"/>
          </a:bodyPr>
          <a:lstStyle/>
          <a:p>
            <a:pPr marL="381000" indent="-381000">
              <a:lnSpc>
                <a:spcPct val="150000"/>
              </a:lnSpc>
            </a:pPr>
            <a:r>
              <a:rPr lang="zh-CN" altLang="en-US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假设</a:t>
            </a:r>
            <a:r>
              <a:rPr lang="en-US" altLang="zh-CN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f</a:t>
            </a:r>
            <a:r>
              <a:rPr lang="zh-CN" altLang="en-US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是流网络</a:t>
            </a:r>
            <a:r>
              <a:rPr lang="en-US" altLang="zh-CN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G=(V,E)</a:t>
            </a:r>
            <a:r>
              <a:rPr lang="zh-CN" altLang="en-US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上的一个流</a:t>
            </a:r>
            <a:r>
              <a:rPr lang="en-US" altLang="zh-CN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s </a:t>
            </a:r>
            <a:r>
              <a:rPr lang="zh-CN" altLang="en-US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和</a:t>
            </a:r>
            <a:r>
              <a:rPr lang="en-US" altLang="zh-CN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t</a:t>
            </a:r>
            <a:r>
              <a:rPr lang="zh-CN" altLang="en-US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分别为源点和汇点</a:t>
            </a:r>
            <a:r>
              <a:rPr lang="en-US" altLang="zh-CN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</a:t>
            </a:r>
            <a:r>
              <a:rPr lang="zh-CN" altLang="en-US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则以下条件等价</a:t>
            </a:r>
            <a:r>
              <a:rPr lang="en-US" altLang="zh-CN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AutoNum type="arabicPeriod"/>
            </a:pPr>
            <a:r>
              <a:rPr lang="en-US" altLang="zh-CN" sz="2800" dirty="0">
                <a:solidFill>
                  <a:schemeClr val="bg1">
                    <a:lumMod val="8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f </a:t>
            </a:r>
            <a:r>
              <a:rPr lang="zh-CN" altLang="en-US" sz="2800" dirty="0">
                <a:solidFill>
                  <a:schemeClr val="bg1">
                    <a:lumMod val="8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是</a:t>
            </a:r>
            <a:r>
              <a:rPr lang="en-US" altLang="zh-CN" sz="2800" dirty="0">
                <a:solidFill>
                  <a:schemeClr val="bg1">
                    <a:lumMod val="8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</a:t>
            </a:r>
            <a:r>
              <a:rPr lang="zh-CN" altLang="en-US" sz="2800" dirty="0">
                <a:solidFill>
                  <a:schemeClr val="bg1">
                    <a:lumMod val="8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中的最大流</a:t>
            </a:r>
            <a:r>
              <a:rPr lang="en-US" altLang="zh-CN" sz="2800" dirty="0">
                <a:solidFill>
                  <a:schemeClr val="bg1">
                    <a:lumMod val="8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AutoNum type="arabicPeriod"/>
            </a:pP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剩余网络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</a:t>
            </a:r>
            <a:r>
              <a:rPr lang="en-US" altLang="zh-CN" sz="2800" baseline="-250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f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中不包含任何增广路径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. 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AutoNum type="arabicPeriod"/>
            </a:pP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存在割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(S, T)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，使得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|f| = c(S,T).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证明：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2-&gt;3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，如果剩余网络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</a:t>
            </a:r>
            <a:r>
              <a:rPr lang="en-US" altLang="zh-CN" sz="2800" baseline="-250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f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中不包含任何增广路径，</a:t>
            </a:r>
            <a:r>
              <a:rPr lang="zh-CN" altLang="en-US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</a:t>
            </a:r>
            <a:r>
              <a:rPr lang="en-US" altLang="zh-CN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</a:t>
            </a:r>
            <a:r>
              <a:rPr lang="en-US" altLang="zh-CN" sz="2800" baseline="-250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f</a:t>
            </a:r>
            <a:r>
              <a:rPr lang="zh-CN" altLang="en-US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</a:t>
            </a:r>
            <a:r>
              <a:rPr lang="en-US" altLang="zh-CN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</a:t>
            </a:r>
            <a:r>
              <a:rPr lang="zh-CN" altLang="en-US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能到达的点组成集合</a:t>
            </a:r>
            <a:r>
              <a:rPr lang="en-US" altLang="zh-CN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，其他点组成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T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。由于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</a:t>
            </a:r>
            <a:r>
              <a:rPr lang="en-US" altLang="zh-CN" sz="2800" baseline="-250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f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中没有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到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T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的边，</a:t>
            </a:r>
            <a:r>
              <a:rPr lang="zh-CN" altLang="en-US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说明</a:t>
            </a:r>
            <a:r>
              <a:rPr lang="en-US" altLang="zh-CN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</a:t>
            </a:r>
            <a:r>
              <a:rPr lang="zh-CN" altLang="en-US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</a:t>
            </a:r>
            <a:r>
              <a:rPr lang="en-US" altLang="zh-CN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</a:t>
            </a:r>
            <a:r>
              <a:rPr lang="zh-CN" altLang="en-US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到</a:t>
            </a:r>
            <a:r>
              <a:rPr lang="en-US" altLang="zh-CN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T</a:t>
            </a:r>
            <a:r>
              <a:rPr lang="zh-CN" altLang="en-US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的流量都满了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，即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|f| = c(S,T).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28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EE889B0-EBED-8E3A-92AE-214269E11822}"/>
              </a:ext>
            </a:extLst>
          </p:cNvPr>
          <p:cNvSpPr txBox="1"/>
          <p:nvPr/>
        </p:nvSpPr>
        <p:spPr>
          <a:xfrm>
            <a:off x="380724" y="299408"/>
            <a:ext cx="39899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最大流最小割定理</a:t>
            </a:r>
          </a:p>
        </p:txBody>
      </p:sp>
      <p:sp>
        <p:nvSpPr>
          <p:cNvPr id="3" name="圆角矩形 8">
            <a:extLst>
              <a:ext uri="{FF2B5EF4-FFF2-40B4-BE49-F238E27FC236}">
                <a16:creationId xmlns:a16="http://schemas.microsoft.com/office/drawing/2014/main" id="{35919917-CB7F-5F3A-2C0A-DB7B3249C8C5}"/>
              </a:ext>
            </a:extLst>
          </p:cNvPr>
          <p:cNvSpPr/>
          <p:nvPr/>
        </p:nvSpPr>
        <p:spPr>
          <a:xfrm>
            <a:off x="238665" y="311105"/>
            <a:ext cx="4220214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097E619-E406-4276-5F16-00810CB3A35E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4415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4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4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4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4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4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4547" grpId="0" build="p" bldLvl="2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547" name="Rectangle 3">
            <a:extLst>
              <a:ext uri="{FF2B5EF4-FFF2-40B4-BE49-F238E27FC236}">
                <a16:creationId xmlns:a16="http://schemas.microsoft.com/office/drawing/2014/main" id="{C999DE3F-760B-4423-B2C4-B19A1DA78C4C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51038" y="1790700"/>
            <a:ext cx="8031162" cy="4889500"/>
          </a:xfrm>
          <a:prstGeom prst="rect">
            <a:avLst/>
          </a:prstGeom>
          <a:noFill/>
        </p:spPr>
        <p:txBody>
          <a:bodyPr>
            <a:normAutofit fontScale="92500" lnSpcReduction="20000"/>
          </a:bodyPr>
          <a:lstStyle/>
          <a:p>
            <a:pPr marL="381000" indent="-381000">
              <a:lnSpc>
                <a:spcPct val="150000"/>
              </a:lnSpc>
            </a:pPr>
            <a:r>
              <a:rPr lang="zh-CN" altLang="en-US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假设</a:t>
            </a:r>
            <a:r>
              <a:rPr lang="en-US" altLang="zh-CN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f</a:t>
            </a:r>
            <a:r>
              <a:rPr lang="zh-CN" altLang="en-US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是流网络</a:t>
            </a:r>
            <a:r>
              <a:rPr lang="en-US" altLang="zh-CN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G=(V,E)</a:t>
            </a:r>
            <a:r>
              <a:rPr lang="zh-CN" altLang="en-US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上的一个流</a:t>
            </a:r>
            <a:r>
              <a:rPr lang="en-US" altLang="zh-CN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s </a:t>
            </a:r>
            <a:r>
              <a:rPr lang="zh-CN" altLang="en-US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和</a:t>
            </a:r>
            <a:r>
              <a:rPr lang="en-US" altLang="zh-CN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t</a:t>
            </a:r>
            <a:r>
              <a:rPr lang="zh-CN" altLang="en-US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分别为源点和汇点</a:t>
            </a:r>
            <a:r>
              <a:rPr lang="en-US" altLang="zh-CN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</a:t>
            </a:r>
            <a:r>
              <a:rPr lang="zh-CN" altLang="en-US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则以下条件等价</a:t>
            </a:r>
            <a:r>
              <a:rPr lang="en-US" altLang="zh-CN" sz="32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AutoNum type="arabicPeriod"/>
            </a:pP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f 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是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中的最大流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AutoNum type="arabicPeriod"/>
            </a:pPr>
            <a:r>
              <a:rPr lang="zh-CN" altLang="en-US" sz="2800" dirty="0">
                <a:solidFill>
                  <a:schemeClr val="bg1">
                    <a:lumMod val="8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剩余网络</a:t>
            </a:r>
            <a:r>
              <a:rPr lang="en-US" altLang="zh-CN" sz="2800" i="1" dirty="0">
                <a:solidFill>
                  <a:schemeClr val="bg1">
                    <a:lumMod val="8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</a:t>
            </a:r>
            <a:r>
              <a:rPr lang="en-US" altLang="zh-CN" sz="2800" i="1" baseline="-25000" dirty="0">
                <a:solidFill>
                  <a:schemeClr val="bg1">
                    <a:lumMod val="8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f</a:t>
            </a:r>
            <a:r>
              <a:rPr lang="en-US" altLang="zh-CN" sz="2800" dirty="0">
                <a:solidFill>
                  <a:schemeClr val="bg1">
                    <a:lumMod val="8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  <a:r>
              <a:rPr lang="zh-CN" altLang="en-US" sz="2800" dirty="0">
                <a:solidFill>
                  <a:schemeClr val="bg1">
                    <a:lumMod val="8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中不包含任何增广路径</a:t>
            </a:r>
            <a:r>
              <a:rPr lang="en-US" altLang="zh-CN" sz="2800" dirty="0">
                <a:solidFill>
                  <a:schemeClr val="bg1">
                    <a:lumMod val="8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. 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AutoNum type="arabicPeriod"/>
            </a:pP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存在割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(S, T)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，使得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|f| = c(S,T).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证明：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3-&gt;1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：由于</a:t>
            </a:r>
            <a:r>
              <a:rPr lang="zh-CN" altLang="en-US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最大流</a:t>
            </a:r>
            <a:r>
              <a:rPr lang="en-US" altLang="zh-CN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&lt;=</a:t>
            </a:r>
            <a:r>
              <a:rPr lang="zh-CN" altLang="en-US"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最小割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，如果存在某个流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|f|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等于某个割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c(S,T)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，那么他们分别是最大流和最小割。</a:t>
            </a:r>
            <a:endParaRPr lang="en-US" altLang="zh-CN" sz="28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28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3669618-25F8-A118-0D39-CE579F52D79A}"/>
              </a:ext>
            </a:extLst>
          </p:cNvPr>
          <p:cNvSpPr txBox="1"/>
          <p:nvPr/>
        </p:nvSpPr>
        <p:spPr>
          <a:xfrm>
            <a:off x="380723" y="299408"/>
            <a:ext cx="40781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最大流最小割定理</a:t>
            </a:r>
          </a:p>
        </p:txBody>
      </p:sp>
      <p:sp>
        <p:nvSpPr>
          <p:cNvPr id="3" name="圆角矩形 8">
            <a:extLst>
              <a:ext uri="{FF2B5EF4-FFF2-40B4-BE49-F238E27FC236}">
                <a16:creationId xmlns:a16="http://schemas.microsoft.com/office/drawing/2014/main" id="{CF4E61AC-3A77-A187-19D1-57763567F283}"/>
              </a:ext>
            </a:extLst>
          </p:cNvPr>
          <p:cNvSpPr/>
          <p:nvPr/>
        </p:nvSpPr>
        <p:spPr>
          <a:xfrm>
            <a:off x="238665" y="311105"/>
            <a:ext cx="4220214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2D7807C-88EF-63F0-B142-0E692033D630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0872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4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4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4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4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4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4547" grpId="0" build="p" bldLvl="2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8" name="Picture 3" descr="ford_fulkerson">
            <a:extLst>
              <a:ext uri="{FF2B5EF4-FFF2-40B4-BE49-F238E27FC236}">
                <a16:creationId xmlns:a16="http://schemas.microsoft.com/office/drawing/2014/main" id="{36B4D5B7-8D50-441D-B2ED-0430CEE657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743075"/>
            <a:ext cx="8534400" cy="337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4">
            <a:extLst>
              <a:ext uri="{FF2B5EF4-FFF2-40B4-BE49-F238E27FC236}">
                <a16:creationId xmlns:a16="http://schemas.microsoft.com/office/drawing/2014/main" id="{41326C4E-B9F7-4DB4-BC99-7CAD29D3D8A3}"/>
              </a:ext>
            </a:extLst>
          </p:cNvPr>
          <p:cNvGrpSpPr>
            <a:grpSpLocks/>
          </p:cNvGrpSpPr>
          <p:nvPr/>
        </p:nvGrpSpPr>
        <p:grpSpPr bwMode="auto">
          <a:xfrm>
            <a:off x="5908675" y="2241551"/>
            <a:ext cx="3754438" cy="923925"/>
            <a:chOff x="2762" y="1412"/>
            <a:chExt cx="2365" cy="582"/>
          </a:xfrm>
        </p:grpSpPr>
        <p:sp>
          <p:nvSpPr>
            <p:cNvPr id="36876" name="Text Box 5">
              <a:extLst>
                <a:ext uri="{FF2B5EF4-FFF2-40B4-BE49-F238E27FC236}">
                  <a16:creationId xmlns:a16="http://schemas.microsoft.com/office/drawing/2014/main" id="{24EB7E84-0820-4156-A0F8-39616FB56A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9" y="1597"/>
              <a:ext cx="217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>
                  <a:solidFill>
                    <a:srgbClr val="FF0000"/>
                  </a:solidFill>
                  <a:latin typeface="Comic Sans MS" panose="030F0702030302020204" pitchFamily="66" charset="0"/>
                </a:rPr>
                <a:t>O(E)</a:t>
              </a:r>
            </a:p>
          </p:txBody>
        </p:sp>
        <p:sp>
          <p:nvSpPr>
            <p:cNvPr id="36877" name="AutoShape 6">
              <a:extLst>
                <a:ext uri="{FF2B5EF4-FFF2-40B4-BE49-F238E27FC236}">
                  <a16:creationId xmlns:a16="http://schemas.microsoft.com/office/drawing/2014/main" id="{5887A79D-C536-451E-9D42-0E8C69A337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2" y="1412"/>
              <a:ext cx="182" cy="582"/>
            </a:xfrm>
            <a:prstGeom prst="rightBrace">
              <a:avLst>
                <a:gd name="adj1" fmla="val 26648"/>
                <a:gd name="adj2" fmla="val 50000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en-US" altLang="zh-CN"/>
            </a:p>
          </p:txBody>
        </p:sp>
      </p:grpSp>
      <p:grpSp>
        <p:nvGrpSpPr>
          <p:cNvPr id="3" name="Group 7">
            <a:extLst>
              <a:ext uri="{FF2B5EF4-FFF2-40B4-BE49-F238E27FC236}">
                <a16:creationId xmlns:a16="http://schemas.microsoft.com/office/drawing/2014/main" id="{1C419A82-FC47-4E22-B585-806BE4B16749}"/>
              </a:ext>
            </a:extLst>
          </p:cNvPr>
          <p:cNvGrpSpPr>
            <a:grpSpLocks/>
          </p:cNvGrpSpPr>
          <p:nvPr/>
        </p:nvGrpSpPr>
        <p:grpSpPr bwMode="auto">
          <a:xfrm>
            <a:off x="8113714" y="3578226"/>
            <a:ext cx="1196975" cy="1446213"/>
            <a:chOff x="4151" y="2254"/>
            <a:chExt cx="754" cy="911"/>
          </a:xfrm>
        </p:grpSpPr>
        <p:sp>
          <p:nvSpPr>
            <p:cNvPr id="36874" name="AutoShape 8">
              <a:extLst>
                <a:ext uri="{FF2B5EF4-FFF2-40B4-BE49-F238E27FC236}">
                  <a16:creationId xmlns:a16="http://schemas.microsoft.com/office/drawing/2014/main" id="{2E8665E0-458D-4B61-A9F5-70AF73E1F1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1" y="2254"/>
              <a:ext cx="182" cy="911"/>
            </a:xfrm>
            <a:prstGeom prst="rightBrace">
              <a:avLst>
                <a:gd name="adj1" fmla="val 41712"/>
                <a:gd name="adj2" fmla="val 50000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en-US" altLang="zh-CN"/>
            </a:p>
          </p:txBody>
        </p:sp>
        <p:sp>
          <p:nvSpPr>
            <p:cNvPr id="36875" name="Text Box 9">
              <a:extLst>
                <a:ext uri="{FF2B5EF4-FFF2-40B4-BE49-F238E27FC236}">
                  <a16:creationId xmlns:a16="http://schemas.microsoft.com/office/drawing/2014/main" id="{F717BFA2-6445-49CF-8269-CCDEBA991D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3" y="2586"/>
              <a:ext cx="5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>
                  <a:solidFill>
                    <a:srgbClr val="FF0000"/>
                  </a:solidFill>
                  <a:latin typeface="Comic Sans MS" panose="030F0702030302020204" pitchFamily="66" charset="0"/>
                </a:rPr>
                <a:t>O(V)</a:t>
              </a:r>
            </a:p>
          </p:txBody>
        </p:sp>
      </p:grpSp>
      <p:grpSp>
        <p:nvGrpSpPr>
          <p:cNvPr id="4" name="Group 12">
            <a:extLst>
              <a:ext uri="{FF2B5EF4-FFF2-40B4-BE49-F238E27FC236}">
                <a16:creationId xmlns:a16="http://schemas.microsoft.com/office/drawing/2014/main" id="{88EEF4FF-05F8-4575-8A45-F73AB8A33D46}"/>
              </a:ext>
            </a:extLst>
          </p:cNvPr>
          <p:cNvGrpSpPr>
            <a:grpSpLocks/>
          </p:cNvGrpSpPr>
          <p:nvPr/>
        </p:nvGrpSpPr>
        <p:grpSpPr bwMode="auto">
          <a:xfrm>
            <a:off x="1852614" y="2635250"/>
            <a:ext cx="8815387" cy="1162050"/>
            <a:chOff x="207" y="1660"/>
            <a:chExt cx="5553" cy="732"/>
          </a:xfrm>
        </p:grpSpPr>
        <p:sp>
          <p:nvSpPr>
            <p:cNvPr id="36872" name="Oval 10">
              <a:extLst>
                <a:ext uri="{FF2B5EF4-FFF2-40B4-BE49-F238E27FC236}">
                  <a16:creationId xmlns:a16="http://schemas.microsoft.com/office/drawing/2014/main" id="{C3D9E46C-4436-4637-9CC8-DDBE34380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" y="1927"/>
              <a:ext cx="5553" cy="465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en-US" altLang="zh-CN"/>
            </a:p>
          </p:txBody>
        </p:sp>
        <p:sp>
          <p:nvSpPr>
            <p:cNvPr id="36873" name="Text Box 11">
              <a:extLst>
                <a:ext uri="{FF2B5EF4-FFF2-40B4-BE49-F238E27FC236}">
                  <a16:creationId xmlns:a16="http://schemas.microsoft.com/office/drawing/2014/main" id="{BEC31A2C-A720-4400-8C16-0C8C9C313C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6" y="1660"/>
              <a:ext cx="2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CN" sz="2400">
                  <a:solidFill>
                    <a:srgbClr val="FF0000"/>
                  </a:solidFill>
                </a:rPr>
                <a:t>?</a:t>
              </a: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8A9A2A2A-C9BB-FB05-3186-127FC2559BA2}"/>
              </a:ext>
            </a:extLst>
          </p:cNvPr>
          <p:cNvSpPr txBox="1"/>
          <p:nvPr/>
        </p:nvSpPr>
        <p:spPr>
          <a:xfrm>
            <a:off x="380724" y="299408"/>
            <a:ext cx="59026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Ford-Fulkerson</a:t>
            </a:r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算法分析</a:t>
            </a:r>
          </a:p>
        </p:txBody>
      </p:sp>
      <p:sp>
        <p:nvSpPr>
          <p:cNvPr id="8" name="圆角矩形 8">
            <a:extLst>
              <a:ext uri="{FF2B5EF4-FFF2-40B4-BE49-F238E27FC236}">
                <a16:creationId xmlns:a16="http://schemas.microsoft.com/office/drawing/2014/main" id="{2548D65A-F2CA-986E-7629-1B8F3C6B3A2D}"/>
              </a:ext>
            </a:extLst>
          </p:cNvPr>
          <p:cNvSpPr/>
          <p:nvPr/>
        </p:nvSpPr>
        <p:spPr>
          <a:xfrm>
            <a:off x="238664" y="311105"/>
            <a:ext cx="5670012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D6CAE6E-46EF-BBD9-750C-C149CC122431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3984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811" name="Rectangle 3">
            <a:extLst>
              <a:ext uri="{FF2B5EF4-FFF2-40B4-BE49-F238E27FC236}">
                <a16:creationId xmlns:a16="http://schemas.microsoft.com/office/drawing/2014/main" id="{870DFB69-F42F-4D10-B77D-20713A1A8D21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294869" y="1308102"/>
            <a:ext cx="9602261" cy="5156199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假设所有容量为正整数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则每次增广至少使流量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|f|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增加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1.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假设最大流为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f*, 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则增广次数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≤ |f*| 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  <a:sym typeface="Wingdings" panose="05000000000000000000" pitchFamily="2" charset="2"/>
              </a:rPr>
              <a:t> 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  <a:sym typeface="Wingdings" panose="05000000000000000000" pitchFamily="2" charset="2"/>
              </a:rPr>
              <a:t>时间复杂度为</a:t>
            </a:r>
            <a:r>
              <a:rPr lang="en-US" altLang="zh-CN" sz="24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O(</a:t>
            </a:r>
            <a:r>
              <a:rPr lang="en-US" altLang="zh-CN" sz="2400" dirty="0" err="1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E|f</a:t>
            </a:r>
            <a:r>
              <a:rPr lang="en-US" altLang="zh-CN" sz="24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*|).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注意这不是一个关于输入数据的</a:t>
            </a:r>
            <a:r>
              <a:rPr lang="zh-CN" altLang="en-US" sz="24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多项式时间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算法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. 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它的时间和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|f*|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相关。</a:t>
            </a: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如果容量</a:t>
            </a:r>
            <a:r>
              <a:rPr lang="en-US" altLang="zh-CN" sz="24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</a:t>
            </a:r>
            <a:r>
              <a:rPr lang="zh-CN" altLang="en-US" sz="24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为有理数，可以乘系数变为整数</a:t>
            </a:r>
            <a:endParaRPr lang="en-US" altLang="zh-CN" sz="2400" dirty="0">
              <a:solidFill>
                <a:srgbClr val="00B05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如果容量</a:t>
            </a:r>
            <a:r>
              <a:rPr lang="en-US" altLang="zh-CN" sz="24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</a:t>
            </a:r>
            <a:r>
              <a:rPr lang="zh-CN" altLang="en-US" sz="24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为无理数</a:t>
            </a:r>
            <a:r>
              <a:rPr lang="en-US" altLang="zh-CN" sz="24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FORD-FULKERSON</a:t>
            </a:r>
            <a:r>
              <a:rPr lang="zh-CN" altLang="en-US" sz="24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可能不会停止！</a:t>
            </a:r>
            <a:endParaRPr lang="en-US" altLang="zh-CN" sz="2400" dirty="0">
              <a:solidFill>
                <a:srgbClr val="00B05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C2738B0-BA4E-2CEF-D712-D4831F52AEAF}"/>
              </a:ext>
            </a:extLst>
          </p:cNvPr>
          <p:cNvSpPr txBox="1"/>
          <p:nvPr/>
        </p:nvSpPr>
        <p:spPr>
          <a:xfrm>
            <a:off x="380725" y="299408"/>
            <a:ext cx="11464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分析</a:t>
            </a:r>
          </a:p>
        </p:txBody>
      </p:sp>
      <p:sp>
        <p:nvSpPr>
          <p:cNvPr id="3" name="圆角矩形 8">
            <a:extLst>
              <a:ext uri="{FF2B5EF4-FFF2-40B4-BE49-F238E27FC236}">
                <a16:creationId xmlns:a16="http://schemas.microsoft.com/office/drawing/2014/main" id="{C8EE6FBD-209E-7404-F358-52F1EB10203A}"/>
              </a:ext>
            </a:extLst>
          </p:cNvPr>
          <p:cNvSpPr/>
          <p:nvPr/>
        </p:nvSpPr>
        <p:spPr>
          <a:xfrm>
            <a:off x="238664" y="311105"/>
            <a:ext cx="1448734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0F17CF3-954F-D354-6F00-01DEEFA3F3EF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0912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5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5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5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5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5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5811" grpId="0" build="p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69784" y="239697"/>
            <a:ext cx="248892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思源黑体 Bold" panose="020B0800000000000000" pitchFamily="34" charset="-122"/>
                <a:cs typeface="+mn-cs"/>
                <a:sym typeface="+mn-ea"/>
              </a:rPr>
              <a:t>主要内容</a:t>
            </a:r>
            <a:endParaRPr kumimoji="0" lang="en-US" altLang="en-US" sz="3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+mn-ea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79070" y="233045"/>
            <a:ext cx="3131820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endParaRPr>
          </a:p>
        </p:txBody>
      </p:sp>
      <p:graphicFrame>
        <p:nvGraphicFramePr>
          <p:cNvPr id="3" name="内容占位符 5">
            <a:extLst>
              <a:ext uri="{FF2B5EF4-FFF2-40B4-BE49-F238E27FC236}">
                <a16:creationId xmlns:a16="http://schemas.microsoft.com/office/drawing/2014/main" id="{EFDE6F33-EAD8-51D1-F2B0-7AF9E1CE131D}"/>
              </a:ext>
            </a:extLst>
          </p:cNvPr>
          <p:cNvGraphicFramePr>
            <a:graphicFrameLocks/>
          </p:cNvGraphicFramePr>
          <p:nvPr/>
        </p:nvGraphicFramePr>
        <p:xfrm>
          <a:off x="3921774" y="1018096"/>
          <a:ext cx="5184322" cy="56664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Rectangle 6">
            <a:extLst>
              <a:ext uri="{FF2B5EF4-FFF2-40B4-BE49-F238E27FC236}">
                <a16:creationId xmlns:a16="http://schemas.microsoft.com/office/drawing/2014/main" id="{29F13A72-648E-C604-1276-B2A0FEC51BA6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577770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Rectangle 3">
            <a:extLst>
              <a:ext uri="{FF2B5EF4-FFF2-40B4-BE49-F238E27FC236}">
                <a16:creationId xmlns:a16="http://schemas.microsoft.com/office/drawing/2014/main" id="{5E3F5DE9-2B02-4E57-ACAE-6835CC87380A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2208213" y="1700213"/>
            <a:ext cx="7772400" cy="1651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时间复杂度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 ( E |f*|),  </a:t>
            </a: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不是多项式时间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. </a:t>
            </a:r>
          </a:p>
          <a:p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高时间复杂度确实可能发生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:</a:t>
            </a:r>
          </a:p>
        </p:txBody>
      </p:sp>
      <p:graphicFrame>
        <p:nvGraphicFramePr>
          <p:cNvPr id="38917" name="Object 2">
            <a:extLst>
              <a:ext uri="{FF2B5EF4-FFF2-40B4-BE49-F238E27FC236}">
                <a16:creationId xmlns:a16="http://schemas.microsoft.com/office/drawing/2014/main" id="{89BA6CB3-1C10-4A08-B34F-18934B9CB2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8584259"/>
              </p:ext>
            </p:extLst>
          </p:nvPr>
        </p:nvGraphicFramePr>
        <p:xfrm>
          <a:off x="2640013" y="3536950"/>
          <a:ext cx="4464050" cy="2659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 Publisher Image" r:id="rId3" imgW="2686050" imgH="1600200" progId="PictPub.Image.8">
                  <p:embed/>
                </p:oleObj>
              </mc:Choice>
              <mc:Fallback>
                <p:oleObj name="Picture Publisher Image" r:id="rId3" imgW="2686050" imgH="1600200" progId="PictPub.Image.8">
                  <p:embed/>
                  <p:pic>
                    <p:nvPicPr>
                      <p:cNvPr id="38917" name="Object 2">
                        <a:extLst>
                          <a:ext uri="{FF2B5EF4-FFF2-40B4-BE49-F238E27FC236}">
                            <a16:creationId xmlns:a16="http://schemas.microsoft.com/office/drawing/2014/main" id="{89BA6CB3-1C10-4A08-B34F-18934B9CB2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3536950"/>
                        <a:ext cx="4464050" cy="2659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8" name="Text Box 5">
            <a:extLst>
              <a:ext uri="{FF2B5EF4-FFF2-40B4-BE49-F238E27FC236}">
                <a16:creationId xmlns:a16="http://schemas.microsoft.com/office/drawing/2014/main" id="{D2B65FE4-AEF5-4179-95D0-F32FAA6498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1863" y="4409281"/>
            <a:ext cx="2514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latin typeface="Arial Rounded MT Bold" panose="020F0704030504030204" pitchFamily="34" charset="0"/>
              </a:rPr>
              <a:t>|f*|=2,000,000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F64D090-D8EA-3EBB-1096-D0BDB2EBACD8}"/>
              </a:ext>
            </a:extLst>
          </p:cNvPr>
          <p:cNvSpPr txBox="1"/>
          <p:nvPr/>
        </p:nvSpPr>
        <p:spPr>
          <a:xfrm>
            <a:off x="380724" y="299408"/>
            <a:ext cx="60584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Ford-Fulkerson</a:t>
            </a:r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算法的问题</a:t>
            </a:r>
          </a:p>
        </p:txBody>
      </p:sp>
      <p:sp>
        <p:nvSpPr>
          <p:cNvPr id="3" name="圆角矩形 8">
            <a:extLst>
              <a:ext uri="{FF2B5EF4-FFF2-40B4-BE49-F238E27FC236}">
                <a16:creationId xmlns:a16="http://schemas.microsoft.com/office/drawing/2014/main" id="{8323D340-3D64-3A1B-58E2-6C0118F3ECB1}"/>
              </a:ext>
            </a:extLst>
          </p:cNvPr>
          <p:cNvSpPr/>
          <p:nvPr/>
        </p:nvSpPr>
        <p:spPr>
          <a:xfrm>
            <a:off x="238664" y="311105"/>
            <a:ext cx="6058442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7E5130D-B0C2-7151-49AE-C5254C7AA4B3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2BE0E96-B468-6F03-AF21-375251920761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12999422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940" name="Object 2">
            <a:extLst>
              <a:ext uri="{FF2B5EF4-FFF2-40B4-BE49-F238E27FC236}">
                <a16:creationId xmlns:a16="http://schemas.microsoft.com/office/drawing/2014/main" id="{7CBBB993-A854-4AF6-A94F-9A92A04F57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47875" y="1447801"/>
          <a:ext cx="4057650" cy="2417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 Publisher Image" r:id="rId3" imgW="2686050" imgH="1600200" progId="PictPub.Image.8">
                  <p:embed/>
                </p:oleObj>
              </mc:Choice>
              <mc:Fallback>
                <p:oleObj name="Picture Publisher Image" r:id="rId3" imgW="2686050" imgH="1600200" progId="PictPub.Image.8">
                  <p:embed/>
                  <p:pic>
                    <p:nvPicPr>
                      <p:cNvPr id="39940" name="Object 2">
                        <a:extLst>
                          <a:ext uri="{FF2B5EF4-FFF2-40B4-BE49-F238E27FC236}">
                            <a16:creationId xmlns:a16="http://schemas.microsoft.com/office/drawing/2014/main" id="{7CBBB993-A854-4AF6-A94F-9A92A04F57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7875" y="1447801"/>
                        <a:ext cx="4057650" cy="2417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1" name="Text Box 4">
            <a:extLst>
              <a:ext uri="{FF2B5EF4-FFF2-40B4-BE49-F238E27FC236}">
                <a16:creationId xmlns:a16="http://schemas.microsoft.com/office/drawing/2014/main" id="{8986CC44-A3D0-4502-8A22-B46F8B6431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5100" y="2209800"/>
            <a:ext cx="3517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增广路径</a:t>
            </a: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graphicFrame>
        <p:nvGraphicFramePr>
          <p:cNvPr id="39942" name="Object 3">
            <a:extLst>
              <a:ext uri="{FF2B5EF4-FFF2-40B4-BE49-F238E27FC236}">
                <a16:creationId xmlns:a16="http://schemas.microsoft.com/office/drawing/2014/main" id="{EE5B2D5F-F49B-433C-9BEE-0A7E9D0786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20889" y="3968751"/>
          <a:ext cx="4073525" cy="221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 Publisher Image" r:id="rId5" imgW="2867025" imgH="1562100" progId="PictPub.Image.8">
                  <p:embed/>
                </p:oleObj>
              </mc:Choice>
              <mc:Fallback>
                <p:oleObj name="Picture Publisher Image" r:id="rId5" imgW="2867025" imgH="1562100" progId="PictPub.Image.8">
                  <p:embed/>
                  <p:pic>
                    <p:nvPicPr>
                      <p:cNvPr id="39942" name="Object 3">
                        <a:extLst>
                          <a:ext uri="{FF2B5EF4-FFF2-40B4-BE49-F238E27FC236}">
                            <a16:creationId xmlns:a16="http://schemas.microsoft.com/office/drawing/2014/main" id="{EE5B2D5F-F49B-433C-9BEE-0A7E9D0786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0889" y="3968751"/>
                        <a:ext cx="4073525" cy="221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3" name="Text Box 6">
            <a:extLst>
              <a:ext uri="{FF2B5EF4-FFF2-40B4-BE49-F238E27FC236}">
                <a16:creationId xmlns:a16="http://schemas.microsoft.com/office/drawing/2014/main" id="{D1163F73-2A4B-41EA-9AE2-1CBF9B2506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1300" y="4787900"/>
            <a:ext cx="3517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剩余网络</a:t>
            </a: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11A4A24-04C0-17A9-5322-C310647B52A5}"/>
              </a:ext>
            </a:extLst>
          </p:cNvPr>
          <p:cNvSpPr txBox="1"/>
          <p:nvPr/>
        </p:nvSpPr>
        <p:spPr>
          <a:xfrm>
            <a:off x="380724" y="299408"/>
            <a:ext cx="60584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Ford-Fulkerson</a:t>
            </a:r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算法的问题</a:t>
            </a:r>
          </a:p>
        </p:txBody>
      </p:sp>
      <p:sp>
        <p:nvSpPr>
          <p:cNvPr id="3" name="圆角矩形 8">
            <a:extLst>
              <a:ext uri="{FF2B5EF4-FFF2-40B4-BE49-F238E27FC236}">
                <a16:creationId xmlns:a16="http://schemas.microsoft.com/office/drawing/2014/main" id="{219FC8D9-0C39-967F-7696-513280DEBFA5}"/>
              </a:ext>
            </a:extLst>
          </p:cNvPr>
          <p:cNvSpPr/>
          <p:nvPr/>
        </p:nvSpPr>
        <p:spPr>
          <a:xfrm>
            <a:off x="238664" y="311105"/>
            <a:ext cx="6058442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BD9B7B1-E711-C635-440F-E042C6328A89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E505CB7-739B-A6C9-5CAB-FE08FB60F691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237025151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Text Box 3">
            <a:extLst>
              <a:ext uri="{FF2B5EF4-FFF2-40B4-BE49-F238E27FC236}">
                <a16:creationId xmlns:a16="http://schemas.microsoft.com/office/drawing/2014/main" id="{5A535387-E570-4ECA-959A-0D9A859CB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0713" y="2022418"/>
            <a:ext cx="3517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增广路径</a:t>
            </a: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0965" name="Text Box 4">
            <a:extLst>
              <a:ext uri="{FF2B5EF4-FFF2-40B4-BE49-F238E27FC236}">
                <a16:creationId xmlns:a16="http://schemas.microsoft.com/office/drawing/2014/main" id="{22D4CB49-7E8A-430E-BBE1-53889D22D8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0263" y="5592840"/>
            <a:ext cx="3517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剩余网络</a:t>
            </a: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graphicFrame>
        <p:nvGraphicFramePr>
          <p:cNvPr id="40966" name="Object 2">
            <a:extLst>
              <a:ext uri="{FF2B5EF4-FFF2-40B4-BE49-F238E27FC236}">
                <a16:creationId xmlns:a16="http://schemas.microsoft.com/office/drawing/2014/main" id="{2FB25DF8-6E95-46C1-BD0B-77284B9872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770879"/>
              </p:ext>
            </p:extLst>
          </p:nvPr>
        </p:nvGraphicFramePr>
        <p:xfrm>
          <a:off x="1627189" y="1316078"/>
          <a:ext cx="4073525" cy="221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 Publisher Image" r:id="rId3" imgW="2867025" imgH="1562100" progId="PictPub.Image.8">
                  <p:embed/>
                </p:oleObj>
              </mc:Choice>
              <mc:Fallback>
                <p:oleObj name="Picture Publisher Image" r:id="rId3" imgW="2867025" imgH="1562100" progId="PictPub.Image.8">
                  <p:embed/>
                  <p:pic>
                    <p:nvPicPr>
                      <p:cNvPr id="40966" name="Object 2">
                        <a:extLst>
                          <a:ext uri="{FF2B5EF4-FFF2-40B4-BE49-F238E27FC236}">
                            <a16:creationId xmlns:a16="http://schemas.microsoft.com/office/drawing/2014/main" id="{2FB25DF8-6E95-46C1-BD0B-77284B9872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7189" y="1316078"/>
                        <a:ext cx="4073525" cy="221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7" name="Object 3">
            <a:extLst>
              <a:ext uri="{FF2B5EF4-FFF2-40B4-BE49-F238E27FC236}">
                <a16:creationId xmlns:a16="http://schemas.microsoft.com/office/drawing/2014/main" id="{606E5DAB-14E8-4297-BCA7-87035870DE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0289497"/>
              </p:ext>
            </p:extLst>
          </p:nvPr>
        </p:nvGraphicFramePr>
        <p:xfrm>
          <a:off x="1626395" y="4281951"/>
          <a:ext cx="4060825" cy="2395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 Publisher Image" r:id="rId5" imgW="2600325" imgH="1533525" progId="PictPub.Image.8">
                  <p:embed/>
                </p:oleObj>
              </mc:Choice>
              <mc:Fallback>
                <p:oleObj name="Picture Publisher Image" r:id="rId5" imgW="2600325" imgH="1533525" progId="PictPub.Image.8">
                  <p:embed/>
                  <p:pic>
                    <p:nvPicPr>
                      <p:cNvPr id="40967" name="Object 3">
                        <a:extLst>
                          <a:ext uri="{FF2B5EF4-FFF2-40B4-BE49-F238E27FC236}">
                            <a16:creationId xmlns:a16="http://schemas.microsoft.com/office/drawing/2014/main" id="{606E5DAB-14E8-4297-BCA7-87035870DE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6395" y="4281951"/>
                        <a:ext cx="4060825" cy="2395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3" descr="ford_fulkerson">
            <a:extLst>
              <a:ext uri="{FF2B5EF4-FFF2-40B4-BE49-F238E27FC236}">
                <a16:creationId xmlns:a16="http://schemas.microsoft.com/office/drawing/2014/main" id="{9A436C6F-3319-9644-B08F-234C8E2B7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5691" y="2746016"/>
            <a:ext cx="5755509" cy="2273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CC391CAE-6628-BB76-4D78-0F1DB9CC2F7F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21C9285-571C-26E5-616C-7165F931F099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CD16D76-480B-BF25-1B99-21993D1C58B5}"/>
              </a:ext>
            </a:extLst>
          </p:cNvPr>
          <p:cNvSpPr txBox="1"/>
          <p:nvPr/>
        </p:nvSpPr>
        <p:spPr>
          <a:xfrm>
            <a:off x="380724" y="299408"/>
            <a:ext cx="60584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Ford-Fulkerson</a:t>
            </a:r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算法的问题</a:t>
            </a:r>
          </a:p>
        </p:txBody>
      </p:sp>
      <p:sp>
        <p:nvSpPr>
          <p:cNvPr id="8" name="圆角矩形 8">
            <a:extLst>
              <a:ext uri="{FF2B5EF4-FFF2-40B4-BE49-F238E27FC236}">
                <a16:creationId xmlns:a16="http://schemas.microsoft.com/office/drawing/2014/main" id="{6A80217C-CE9E-8E32-6704-9145C1A27856}"/>
              </a:ext>
            </a:extLst>
          </p:cNvPr>
          <p:cNvSpPr/>
          <p:nvPr/>
        </p:nvSpPr>
        <p:spPr>
          <a:xfrm>
            <a:off x="238664" y="311105"/>
            <a:ext cx="6058442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0556283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3">
            <a:extLst>
              <a:ext uri="{FF2B5EF4-FFF2-40B4-BE49-F238E27FC236}">
                <a16:creationId xmlns:a16="http://schemas.microsoft.com/office/drawing/2014/main" id="{37049306-6136-4C13-9DD9-7B0EACDB7751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2209800" y="4435475"/>
            <a:ext cx="7772400" cy="1042988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重复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999,999 </a:t>
            </a: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次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…</a:t>
            </a:r>
          </a:p>
          <a:p>
            <a:r>
              <a:rPr lang="zh-CN" altLang="en-US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如何得到更好的算法</a:t>
            </a:r>
            <a:r>
              <a:rPr lang="en-US" altLang="zh-CN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?</a:t>
            </a:r>
          </a:p>
        </p:txBody>
      </p:sp>
      <p:graphicFrame>
        <p:nvGraphicFramePr>
          <p:cNvPr id="41989" name="Object 2">
            <a:extLst>
              <a:ext uri="{FF2B5EF4-FFF2-40B4-BE49-F238E27FC236}">
                <a16:creationId xmlns:a16="http://schemas.microsoft.com/office/drawing/2014/main" id="{B2175256-7DA5-4F8D-B260-9AFAF9E479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4375" y="2044701"/>
          <a:ext cx="3333750" cy="198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 Publisher Image" r:id="rId3" imgW="2686050" imgH="1600200" progId="PictPub.Image.8">
                  <p:embed/>
                </p:oleObj>
              </mc:Choice>
              <mc:Fallback>
                <p:oleObj name="Picture Publisher Image" r:id="rId3" imgW="2686050" imgH="1600200" progId="PictPub.Image.8">
                  <p:embed/>
                  <p:pic>
                    <p:nvPicPr>
                      <p:cNvPr id="41989" name="Object 2">
                        <a:extLst>
                          <a:ext uri="{FF2B5EF4-FFF2-40B4-BE49-F238E27FC236}">
                            <a16:creationId xmlns:a16="http://schemas.microsoft.com/office/drawing/2014/main" id="{B2175256-7DA5-4F8D-B260-9AFAF9E479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4375" y="2044701"/>
                        <a:ext cx="3333750" cy="198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0" name="Object 3">
            <a:extLst>
              <a:ext uri="{FF2B5EF4-FFF2-40B4-BE49-F238E27FC236}">
                <a16:creationId xmlns:a16="http://schemas.microsoft.com/office/drawing/2014/main" id="{9C44FC2E-991F-468C-810E-7D9A4E9B4B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10339" y="2112963"/>
          <a:ext cx="3311525" cy="195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 Publisher Image" r:id="rId5" imgW="2600325" imgH="1533525" progId="PictPub.Image.8">
                  <p:embed/>
                </p:oleObj>
              </mc:Choice>
              <mc:Fallback>
                <p:oleObj name="Picture Publisher Image" r:id="rId5" imgW="2600325" imgH="1533525" progId="PictPub.Image.8">
                  <p:embed/>
                  <p:pic>
                    <p:nvPicPr>
                      <p:cNvPr id="41990" name="Object 3">
                        <a:extLst>
                          <a:ext uri="{FF2B5EF4-FFF2-40B4-BE49-F238E27FC236}">
                            <a16:creationId xmlns:a16="http://schemas.microsoft.com/office/drawing/2014/main" id="{9C44FC2E-991F-468C-810E-7D9A4E9B4B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0339" y="2112963"/>
                        <a:ext cx="3311525" cy="195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1" name="Line 6">
            <a:extLst>
              <a:ext uri="{FF2B5EF4-FFF2-40B4-BE49-F238E27FC236}">
                <a16:creationId xmlns:a16="http://schemas.microsoft.com/office/drawing/2014/main" id="{81943DE1-5189-4386-8DA1-B28E7F2667E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3539" y="3022600"/>
            <a:ext cx="866775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9E52D13-96A6-132D-80D7-E51ECD4B79A2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CFFE2E3-AB5A-3ECF-5B5B-3C14122759AF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C62DE3E-93EE-BFA2-FAA2-643001DF29DB}"/>
              </a:ext>
            </a:extLst>
          </p:cNvPr>
          <p:cNvSpPr txBox="1"/>
          <p:nvPr/>
        </p:nvSpPr>
        <p:spPr>
          <a:xfrm>
            <a:off x="380724" y="299408"/>
            <a:ext cx="60584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Ford-Fulkerson</a:t>
            </a:r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算法的问题</a:t>
            </a:r>
          </a:p>
        </p:txBody>
      </p:sp>
      <p:sp>
        <p:nvSpPr>
          <p:cNvPr id="7" name="圆角矩形 8">
            <a:extLst>
              <a:ext uri="{FF2B5EF4-FFF2-40B4-BE49-F238E27FC236}">
                <a16:creationId xmlns:a16="http://schemas.microsoft.com/office/drawing/2014/main" id="{A7B4F310-7A2B-45EF-B54A-F31CC914BA42}"/>
              </a:ext>
            </a:extLst>
          </p:cNvPr>
          <p:cNvSpPr/>
          <p:nvPr/>
        </p:nvSpPr>
        <p:spPr>
          <a:xfrm>
            <a:off x="238664" y="311105"/>
            <a:ext cx="6058442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196123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955" name="Rectangle 3">
            <a:extLst>
              <a:ext uri="{FF2B5EF4-FFF2-40B4-BE49-F238E27FC236}">
                <a16:creationId xmlns:a16="http://schemas.microsoft.com/office/drawing/2014/main" id="{47278EB7-7141-4205-BAC7-A80C9887647C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22464" y="1109664"/>
            <a:ext cx="8288337" cy="2352675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将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Ford-Fulkerson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算法修改为多项式时间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. </a:t>
            </a:r>
          </a:p>
          <a:p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在剩余网络上利用</a:t>
            </a:r>
            <a:r>
              <a:rPr lang="zh-CN" altLang="en-US" sz="24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广度优先搜索（</a:t>
            </a:r>
            <a:r>
              <a:rPr lang="en-US" altLang="zh-CN" sz="24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BFS</a:t>
            </a:r>
            <a:r>
              <a:rPr lang="zh-CN" altLang="en-US" sz="24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算法找寻增广路径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.</a:t>
            </a:r>
          </a:p>
          <a:p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选取剩余网络中</a:t>
            </a:r>
            <a:r>
              <a:rPr lang="zh-CN" altLang="en-US" sz="24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从</a:t>
            </a:r>
            <a:r>
              <a:rPr lang="en-US" altLang="zh-CN" sz="24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</a:t>
            </a:r>
            <a:r>
              <a:rPr lang="zh-CN" altLang="en-US" sz="24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到</a:t>
            </a:r>
            <a:r>
              <a:rPr lang="en-US" altLang="zh-CN" sz="24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t</a:t>
            </a:r>
            <a:r>
              <a:rPr lang="zh-CN" altLang="en-US" sz="24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的路径中最短的那一条路径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作为增广路径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(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假设所有边的权重为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1). </a:t>
            </a:r>
          </a:p>
          <a:p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运行时间</a:t>
            </a:r>
            <a:r>
              <a:rPr lang="zh-CN" altLang="en-US" sz="24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</a:t>
            </a:r>
            <a:r>
              <a:rPr lang="en-US" altLang="zh-CN" sz="24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O(VE</a:t>
            </a:r>
            <a:r>
              <a:rPr lang="en-US" altLang="zh-CN" sz="2400" baseline="300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en-US" altLang="zh-CN" sz="24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).</a:t>
            </a:r>
          </a:p>
        </p:txBody>
      </p:sp>
      <p:pic>
        <p:nvPicPr>
          <p:cNvPr id="43013" name="Picture 4" descr="ford_fulkerson">
            <a:extLst>
              <a:ext uri="{FF2B5EF4-FFF2-40B4-BE49-F238E27FC236}">
                <a16:creationId xmlns:a16="http://schemas.microsoft.com/office/drawing/2014/main" id="{AE2491CF-D665-420B-AA96-A0B82793FC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7215" y="3576639"/>
            <a:ext cx="7554299" cy="2984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1957" name="Freeform 5">
            <a:extLst>
              <a:ext uri="{FF2B5EF4-FFF2-40B4-BE49-F238E27FC236}">
                <a16:creationId xmlns:a16="http://schemas.microsoft.com/office/drawing/2014/main" id="{DC624744-6A6C-465E-9097-2A89FA3EE051}"/>
              </a:ext>
            </a:extLst>
          </p:cNvPr>
          <p:cNvSpPr>
            <a:spLocks/>
          </p:cNvSpPr>
          <p:nvPr/>
        </p:nvSpPr>
        <p:spPr bwMode="auto">
          <a:xfrm>
            <a:off x="9561513" y="2197101"/>
            <a:ext cx="908050" cy="2887663"/>
          </a:xfrm>
          <a:custGeom>
            <a:avLst/>
            <a:gdLst>
              <a:gd name="T0" fmla="*/ 546100 w 572"/>
              <a:gd name="T1" fmla="*/ 0 h 1923"/>
              <a:gd name="T2" fmla="*/ 908050 w 572"/>
              <a:gd name="T3" fmla="*/ 0 h 1923"/>
              <a:gd name="T4" fmla="*/ 908050 w 572"/>
              <a:gd name="T5" fmla="*/ 3052763 h 1923"/>
              <a:gd name="T6" fmla="*/ 0 w 572"/>
              <a:gd name="T7" fmla="*/ 3052763 h 1923"/>
              <a:gd name="T8" fmla="*/ 0 60000 65536"/>
              <a:gd name="T9" fmla="*/ 0 60000 65536"/>
              <a:gd name="T10" fmla="*/ 0 60000 65536"/>
              <a:gd name="T11" fmla="*/ 0 60000 65536"/>
              <a:gd name="T12" fmla="*/ 0 w 572"/>
              <a:gd name="T13" fmla="*/ 0 h 1923"/>
              <a:gd name="T14" fmla="*/ 572 w 572"/>
              <a:gd name="T15" fmla="*/ 1923 h 192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2" h="1923">
                <a:moveTo>
                  <a:pt x="344" y="0"/>
                </a:moveTo>
                <a:lnTo>
                  <a:pt x="572" y="0"/>
                </a:lnTo>
                <a:lnTo>
                  <a:pt x="572" y="1923"/>
                </a:lnTo>
                <a:lnTo>
                  <a:pt x="0" y="1923"/>
                </a:lnTo>
              </a:path>
            </a:pathLst>
          </a:custGeom>
          <a:noFill/>
          <a:ln w="1905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7F7A4C-F21F-900F-7790-073FDFAF141C}"/>
              </a:ext>
            </a:extLst>
          </p:cNvPr>
          <p:cNvSpPr txBox="1"/>
          <p:nvPr/>
        </p:nvSpPr>
        <p:spPr>
          <a:xfrm>
            <a:off x="380724" y="299408"/>
            <a:ext cx="58409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ea typeface="思源黑体 CN Regular" panose="020B0500000000000000" pitchFamily="34" charset="-122"/>
              </a:rPr>
              <a:t>The Edmonds-Karp Algorithm</a:t>
            </a:r>
            <a:endParaRPr lang="zh-CN" altLang="en-US" sz="3600" b="1" dirty="0">
              <a:solidFill>
                <a:schemeClr val="bg1"/>
              </a:solidFill>
              <a:ea typeface="思源黑体 CN Regular" panose="020B0500000000000000" pitchFamily="34" charset="-122"/>
            </a:endParaRPr>
          </a:p>
        </p:txBody>
      </p:sp>
      <p:sp>
        <p:nvSpPr>
          <p:cNvPr id="3" name="圆角矩形 8">
            <a:extLst>
              <a:ext uri="{FF2B5EF4-FFF2-40B4-BE49-F238E27FC236}">
                <a16:creationId xmlns:a16="http://schemas.microsoft.com/office/drawing/2014/main" id="{5B8C3AE6-5633-6529-E9B8-D1E4E3FED945}"/>
              </a:ext>
            </a:extLst>
          </p:cNvPr>
          <p:cNvSpPr/>
          <p:nvPr/>
        </p:nvSpPr>
        <p:spPr>
          <a:xfrm>
            <a:off x="238664" y="311105"/>
            <a:ext cx="5983027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CBCF169-4AB9-ED22-5BAA-4F516CF63886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7418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1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1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1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1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1955" grpId="0" build="p" autoUpdateAnimBg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3">
            <a:extLst>
              <a:ext uri="{FF2B5EF4-FFF2-40B4-BE49-F238E27FC236}">
                <a16:creationId xmlns:a16="http://schemas.microsoft.com/office/drawing/2014/main" id="{2F996409-1424-4577-910A-41A1708CA4BB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2971800" y="4456906"/>
            <a:ext cx="6743700" cy="940594"/>
          </a:xfrm>
          <a:prstGeom prst="rect">
            <a:avLst/>
          </a:prstGeom>
          <a:noFill/>
        </p:spPr>
        <p:txBody>
          <a:bodyPr/>
          <a:lstStyle/>
          <a:p>
            <a:r>
              <a:rPr lang="en-US" altLang="zh-CN" dirty="0"/>
              <a:t>Edmonds-Karp</a:t>
            </a: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算法在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次迭代后停止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graphicFrame>
        <p:nvGraphicFramePr>
          <p:cNvPr id="44037" name="Object 2">
            <a:extLst>
              <a:ext uri="{FF2B5EF4-FFF2-40B4-BE49-F238E27FC236}">
                <a16:creationId xmlns:a16="http://schemas.microsoft.com/office/drawing/2014/main" id="{4265F445-B8C1-409D-9ACB-A7BB944431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8509135"/>
              </p:ext>
            </p:extLst>
          </p:nvPr>
        </p:nvGraphicFramePr>
        <p:xfrm>
          <a:off x="3990975" y="1773238"/>
          <a:ext cx="4057650" cy="2417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 Publisher Image" r:id="rId3" imgW="2686050" imgH="1600200" progId="PictPub.Image.8">
                  <p:embed/>
                </p:oleObj>
              </mc:Choice>
              <mc:Fallback>
                <p:oleObj name="Picture Publisher Image" r:id="rId3" imgW="2686050" imgH="1600200" progId="PictPub.Image.8">
                  <p:embed/>
                  <p:pic>
                    <p:nvPicPr>
                      <p:cNvPr id="44037" name="Object 2">
                        <a:extLst>
                          <a:ext uri="{FF2B5EF4-FFF2-40B4-BE49-F238E27FC236}">
                            <a16:creationId xmlns:a16="http://schemas.microsoft.com/office/drawing/2014/main" id="{4265F445-B8C1-409D-9ACB-A7BB944431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0975" y="1773238"/>
                        <a:ext cx="4057650" cy="2417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454BDF6B-7D36-D28D-65BB-2137A146D886}"/>
              </a:ext>
            </a:extLst>
          </p:cNvPr>
          <p:cNvSpPr txBox="1"/>
          <p:nvPr/>
        </p:nvSpPr>
        <p:spPr>
          <a:xfrm>
            <a:off x="380724" y="299408"/>
            <a:ext cx="78017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ea typeface="思源黑体 CN Regular" panose="020B0500000000000000" pitchFamily="34" charset="-122"/>
              </a:rPr>
              <a:t>The Edmonds-Karp Algorithm - example</a:t>
            </a:r>
            <a:endParaRPr lang="zh-CN" altLang="en-US" sz="3600" b="1" dirty="0">
              <a:solidFill>
                <a:schemeClr val="bg1"/>
              </a:solidFill>
              <a:ea typeface="思源黑体 CN Regular" panose="020B0500000000000000" pitchFamily="34" charset="-122"/>
            </a:endParaRPr>
          </a:p>
        </p:txBody>
      </p:sp>
      <p:sp>
        <p:nvSpPr>
          <p:cNvPr id="3" name="圆角矩形 8">
            <a:extLst>
              <a:ext uri="{FF2B5EF4-FFF2-40B4-BE49-F238E27FC236}">
                <a16:creationId xmlns:a16="http://schemas.microsoft.com/office/drawing/2014/main" id="{D91EA117-8262-36F2-9F80-D3B53E772584}"/>
              </a:ext>
            </a:extLst>
          </p:cNvPr>
          <p:cNvSpPr/>
          <p:nvPr/>
        </p:nvSpPr>
        <p:spPr>
          <a:xfrm>
            <a:off x="238665" y="311105"/>
            <a:ext cx="8009790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F6B2CE9-51CF-EEA3-0728-86FDB5E68D59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4E09D53-5852-BF84-1A2E-FFC00E551C4F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21661517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820185" y="1620625"/>
            <a:ext cx="6389803" cy="4419600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解网络流的算法列举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Edmonds</a:t>
            </a: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算法	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O(nm</a:t>
            </a:r>
            <a:r>
              <a:rPr lang="en-US" altLang="zh-CN" baseline="300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最短增广路算法	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O(n</a:t>
            </a:r>
            <a:r>
              <a:rPr lang="en-US" altLang="zh-CN" baseline="300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m)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预留推进算法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一般算法		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O(n</a:t>
            </a:r>
            <a:r>
              <a:rPr lang="en-US" altLang="zh-CN" baseline="300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m)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FIFO		O(n</a:t>
            </a:r>
            <a:r>
              <a:rPr lang="en-US" altLang="zh-CN" baseline="300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)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最高标号		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O(n</a:t>
            </a:r>
            <a:r>
              <a:rPr lang="en-US" altLang="zh-CN" baseline="300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</a:t>
            </a:r>
            <a:r>
              <a:rPr lang="en-US" altLang="zh-CN" baseline="300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1/2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连续最短路算法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基本实现		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O(</a:t>
            </a:r>
            <a:r>
              <a:rPr lang="en-US" altLang="zh-CN" dirty="0" err="1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knm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)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改进实现		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O(</a:t>
            </a: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k*min{n</a:t>
            </a:r>
            <a:r>
              <a:rPr lang="en-US" altLang="zh-CN" baseline="300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,mlogn}</a:t>
            </a: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)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CBA930D-5046-78E3-2572-BFAA33CE44DE}"/>
              </a:ext>
            </a:extLst>
          </p:cNvPr>
          <p:cNvSpPr txBox="1"/>
          <p:nvPr/>
        </p:nvSpPr>
        <p:spPr>
          <a:xfrm>
            <a:off x="380724" y="299408"/>
            <a:ext cx="1600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网络流</a:t>
            </a:r>
          </a:p>
        </p:txBody>
      </p:sp>
      <p:sp>
        <p:nvSpPr>
          <p:cNvPr id="3" name="圆角矩形 8">
            <a:extLst>
              <a:ext uri="{FF2B5EF4-FFF2-40B4-BE49-F238E27FC236}">
                <a16:creationId xmlns:a16="http://schemas.microsoft.com/office/drawing/2014/main" id="{C1C881DB-67D4-80AB-43EE-7D3C2372B62B}"/>
              </a:ext>
            </a:extLst>
          </p:cNvPr>
          <p:cNvSpPr/>
          <p:nvPr/>
        </p:nvSpPr>
        <p:spPr>
          <a:xfrm>
            <a:off x="238665" y="311105"/>
            <a:ext cx="1891793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08435BD-623D-2DDA-DDDE-D776799A10D2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645751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8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DF40196-D014-4B00-9E30-D4E1FDDC862F}" type="slidenum">
              <a:rPr lang="en-US" altLang="zh-CN">
                <a:latin typeface="Arial Black" panose="020B0A04020102020204" pitchFamily="34" charset="0"/>
              </a:rPr>
              <a:pPr eaLnBrk="1" hangingPunct="1"/>
              <a:t>70</a:t>
            </a:fld>
            <a:endParaRPr lang="en-US" altLang="zh-CN">
              <a:latin typeface="Arial Black" panose="020B0A04020102020204" pitchFamily="34" charset="0"/>
            </a:endParaRPr>
          </a:p>
        </p:txBody>
      </p:sp>
      <p:pic>
        <p:nvPicPr>
          <p:cNvPr id="8806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9600" y="1029880"/>
            <a:ext cx="8331200" cy="56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5D48AD25-3772-8644-5224-2E382AE27E86}"/>
              </a:ext>
            </a:extLst>
          </p:cNvPr>
          <p:cNvSpPr txBox="1"/>
          <p:nvPr/>
        </p:nvSpPr>
        <p:spPr>
          <a:xfrm>
            <a:off x="380724" y="299408"/>
            <a:ext cx="27772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最大流算法：</a:t>
            </a:r>
          </a:p>
        </p:txBody>
      </p:sp>
      <p:sp>
        <p:nvSpPr>
          <p:cNvPr id="3" name="圆角矩形 8">
            <a:extLst>
              <a:ext uri="{FF2B5EF4-FFF2-40B4-BE49-F238E27FC236}">
                <a16:creationId xmlns:a16="http://schemas.microsoft.com/office/drawing/2014/main" id="{6D255485-2D41-2ECF-2940-41B0078C2E4C}"/>
              </a:ext>
            </a:extLst>
          </p:cNvPr>
          <p:cNvSpPr/>
          <p:nvPr/>
        </p:nvSpPr>
        <p:spPr>
          <a:xfrm>
            <a:off x="238665" y="311105"/>
            <a:ext cx="2919315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272F9B0-1776-362B-695C-A1B79A480518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CBEB1B1-42B8-5B3B-2E61-1E883B189B59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377616223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69784" y="239697"/>
            <a:ext cx="248892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思源黑体 Bold" panose="020B0800000000000000" pitchFamily="34" charset="-122"/>
                <a:cs typeface="+mn-cs"/>
                <a:sym typeface="+mn-ea"/>
              </a:rPr>
              <a:t>主要内容</a:t>
            </a:r>
            <a:endParaRPr kumimoji="0" lang="en-US" altLang="en-US" sz="3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+mn-ea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79070" y="233045"/>
            <a:ext cx="3131820" cy="5822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endParaRPr>
          </a:p>
        </p:txBody>
      </p:sp>
      <p:graphicFrame>
        <p:nvGraphicFramePr>
          <p:cNvPr id="3" name="内容占位符 5">
            <a:extLst>
              <a:ext uri="{FF2B5EF4-FFF2-40B4-BE49-F238E27FC236}">
                <a16:creationId xmlns:a16="http://schemas.microsoft.com/office/drawing/2014/main" id="{EFDE6F33-EAD8-51D1-F2B0-7AF9E1CE131D}"/>
              </a:ext>
            </a:extLst>
          </p:cNvPr>
          <p:cNvGraphicFramePr>
            <a:graphicFrameLocks/>
          </p:cNvGraphicFramePr>
          <p:nvPr/>
        </p:nvGraphicFramePr>
        <p:xfrm>
          <a:off x="3921774" y="1018096"/>
          <a:ext cx="5184322" cy="56664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Rectangle 6">
            <a:extLst>
              <a:ext uri="{FF2B5EF4-FFF2-40B4-BE49-F238E27FC236}">
                <a16:creationId xmlns:a16="http://schemas.microsoft.com/office/drawing/2014/main" id="{12BE9563-C925-0BFE-60FD-1CBCA612B41C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490186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123" name="Rectangle 3">
            <a:extLst>
              <a:ext uri="{FF2B5EF4-FFF2-40B4-BE49-F238E27FC236}">
                <a16:creationId xmlns:a16="http://schemas.microsoft.com/office/drawing/2014/main" id="{A9B3C313-0D94-4997-968E-37523BFB2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572" y="1522011"/>
            <a:ext cx="5995448" cy="504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若无向图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G=〈</a:t>
            </a:r>
            <a:r>
              <a:rPr lang="en-US" altLang="zh-CN" sz="2400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V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</a:t>
            </a:r>
            <a:r>
              <a:rPr lang="en-US" altLang="zh-CN" sz="2400" dirty="0">
                <a:solidFill>
                  <a:srgbClr val="0066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〉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的顶点集</a:t>
            </a:r>
            <a:r>
              <a:rPr lang="en-US" altLang="zh-CN" sz="2400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V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能分成两个子集</a:t>
            </a:r>
            <a:r>
              <a:rPr lang="en-US" altLang="zh-CN" sz="2400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和</a:t>
            </a:r>
            <a:r>
              <a:rPr lang="en-US" altLang="zh-CN" sz="2400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R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，满足：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 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(1)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V=L∪R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L∩R=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  <a:r>
              <a:rPr lang="en-US" altLang="zh-CN" sz="2400" b="1" dirty="0">
                <a:latin typeface="思源黑体 CN Normal" panose="020B0400000000000000" pitchFamily="34" charset="-122"/>
                <a:ea typeface="思源黑体 CN Normal" panose="020B0400000000000000" pitchFamily="34" charset="-122"/>
                <a:sym typeface="Symbol" panose="05050102010706020507" pitchFamily="18" charset="2"/>
              </a:rPr>
              <a:t> 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；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 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(2)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e=(</a:t>
            </a:r>
            <a:r>
              <a:rPr lang="en-US" altLang="zh-CN" sz="2400" dirty="0" err="1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u,v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)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∈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，均有</a:t>
            </a:r>
            <a:r>
              <a:rPr lang="en-US" altLang="zh-CN" sz="2400" dirty="0" err="1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u∈L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</a:t>
            </a:r>
            <a:r>
              <a:rPr lang="en-US" altLang="zh-CN" sz="2400" dirty="0" err="1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v∈R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。</a:t>
            </a: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则称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为</a:t>
            </a:r>
            <a:r>
              <a:rPr lang="zh-CN" altLang="en-US" sz="2400" b="1" dirty="0">
                <a:solidFill>
                  <a:srgbClr val="3333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二分图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和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R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称为互补顶点子集，常记为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G=〈L,R,E〉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。</a:t>
            </a: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如果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中每个顶点都与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R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中所有顶点邻接，则称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为</a:t>
            </a:r>
            <a:r>
              <a:rPr lang="zh-CN" altLang="en-US" sz="2400" b="1" dirty="0">
                <a:solidFill>
                  <a:srgbClr val="3333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完全二分图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，并记为</a:t>
            </a:r>
            <a:r>
              <a:rPr lang="en-US" altLang="zh-CN" sz="2400" dirty="0" err="1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K</a:t>
            </a:r>
            <a:r>
              <a:rPr lang="en-US" altLang="zh-CN" sz="2400" baseline="-25000" dirty="0" err="1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r,s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，其中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r =|L|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s=|R|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。</a:t>
            </a:r>
          </a:p>
        </p:txBody>
      </p:sp>
      <p:graphicFrame>
        <p:nvGraphicFramePr>
          <p:cNvPr id="46085" name="Object 2">
            <a:extLst>
              <a:ext uri="{FF2B5EF4-FFF2-40B4-BE49-F238E27FC236}">
                <a16:creationId xmlns:a16="http://schemas.microsoft.com/office/drawing/2014/main" id="{64DC8408-E9F9-4BC3-B466-715E06688D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08826" y="1284288"/>
          <a:ext cx="2811463" cy="504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 Publisher Image" r:id="rId3" imgW="1552575" imgH="2790825" progId="PictPub.Image.8">
                  <p:embed/>
                </p:oleObj>
              </mc:Choice>
              <mc:Fallback>
                <p:oleObj name="Picture Publisher Image" r:id="rId3" imgW="1552575" imgH="2790825" progId="PictPub.Image.8">
                  <p:embed/>
                  <p:pic>
                    <p:nvPicPr>
                      <p:cNvPr id="46085" name="Object 2">
                        <a:extLst>
                          <a:ext uri="{FF2B5EF4-FFF2-40B4-BE49-F238E27FC236}">
                            <a16:creationId xmlns:a16="http://schemas.microsoft.com/office/drawing/2014/main" id="{64DC8408-E9F9-4BC3-B466-715E06688D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8826" y="1284288"/>
                        <a:ext cx="2811463" cy="5048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93FDDA3D-65EF-A092-8ACA-1A682D70F373}"/>
              </a:ext>
            </a:extLst>
          </p:cNvPr>
          <p:cNvSpPr txBox="1"/>
          <p:nvPr/>
        </p:nvSpPr>
        <p:spPr>
          <a:xfrm>
            <a:off x="380723" y="299408"/>
            <a:ext cx="30587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最大二分匹配</a:t>
            </a:r>
          </a:p>
        </p:txBody>
      </p:sp>
      <p:sp>
        <p:nvSpPr>
          <p:cNvPr id="3" name="圆角矩形 8">
            <a:extLst>
              <a:ext uri="{FF2B5EF4-FFF2-40B4-BE49-F238E27FC236}">
                <a16:creationId xmlns:a16="http://schemas.microsoft.com/office/drawing/2014/main" id="{F6AD0987-6456-6CBB-B357-EAE5C1FC6E63}"/>
              </a:ext>
            </a:extLst>
          </p:cNvPr>
          <p:cNvSpPr/>
          <p:nvPr/>
        </p:nvSpPr>
        <p:spPr>
          <a:xfrm>
            <a:off x="238665" y="311105"/>
            <a:ext cx="3371801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5E13101-2A4B-E73E-E7F9-DAEC81EA51CE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2289FC6-6BDB-0391-4B67-1FCB9C72A54C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679030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9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9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9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9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9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9123" grpId="0" build="p" autoUpdateAnimBg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107" name="Rectangle 2">
                <a:extLst>
                  <a:ext uri="{FF2B5EF4-FFF2-40B4-BE49-F238E27FC236}">
                    <a16:creationId xmlns:a16="http://schemas.microsoft.com/office/drawing/2014/main" id="{21D13FF2-095B-46FD-903B-712E8E3E172F}"/>
                  </a:ext>
                </a:extLst>
              </p:cNvPr>
              <p:cNvSpPr>
                <a:spLocks noGrp="1" noChangeArrowheads="1"/>
              </p:cNvSpPr>
              <p:nvPr>
                <p:ph idx="4294967295"/>
              </p:nvPr>
            </p:nvSpPr>
            <p:spPr>
              <a:xfrm>
                <a:off x="2336800" y="1308100"/>
                <a:ext cx="7899400" cy="9779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r>
                  <a:rPr lang="zh-CN" altLang="en-US" sz="2400" dirty="0">
                    <a:solidFill>
                      <a:srgbClr val="00B050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匹配</a:t>
                </a:r>
                <a:r>
                  <a:rPr lang="en-US" altLang="zh-CN" sz="2400" dirty="0">
                    <a:solidFill>
                      <a:srgbClr val="00B050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M</a:t>
                </a:r>
                <a:r>
                  <a:rPr lang="zh-CN" altLang="en-US" sz="2400" dirty="0"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是指的一个边集</a:t>
                </a:r>
                <a:r>
                  <a:rPr lang="en-US" altLang="zh-CN" sz="2400" dirty="0"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E</a:t>
                </a:r>
                <a:r>
                  <a:rPr lang="zh-CN" altLang="en-US" sz="2400" dirty="0"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的子集，使得对于所有顶点</a:t>
                </a:r>
                <a:r>
                  <a:rPr lang="en-US" altLang="zh-CN" sz="2400" dirty="0"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v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altLang="zh-CN" sz="2400" dirty="0"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V, </a:t>
                </a:r>
                <a:r>
                  <a:rPr lang="zh-CN" altLang="en-US" sz="2400" dirty="0"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至多有一条</a:t>
                </a:r>
                <a:r>
                  <a:rPr lang="en-US" altLang="zh-CN" sz="2400" dirty="0"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M</a:t>
                </a:r>
                <a:r>
                  <a:rPr lang="zh-CN" altLang="en-US" sz="2400" dirty="0"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中的边与</a:t>
                </a:r>
                <a:r>
                  <a:rPr lang="en-US" altLang="zh-CN" sz="2400" dirty="0"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v</a:t>
                </a:r>
                <a:r>
                  <a:rPr lang="zh-CN" altLang="en-US" sz="2400" dirty="0"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相连</a:t>
                </a:r>
                <a:r>
                  <a:rPr lang="en-US" altLang="zh-CN" sz="2400" dirty="0"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.  </a:t>
                </a:r>
              </a:p>
            </p:txBody>
          </p:sp>
        </mc:Choice>
        <mc:Fallback xmlns="">
          <p:sp>
            <p:nvSpPr>
              <p:cNvPr id="47107" name="Rectangle 2">
                <a:extLst>
                  <a:ext uri="{FF2B5EF4-FFF2-40B4-BE49-F238E27FC236}">
                    <a16:creationId xmlns:a16="http://schemas.microsoft.com/office/drawing/2014/main" id="{21D13FF2-095B-46FD-903B-712E8E3E17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2336800" y="1308100"/>
                <a:ext cx="7899400" cy="977900"/>
              </a:xfrm>
              <a:prstGeom prst="rect">
                <a:avLst/>
              </a:prstGeom>
              <a:blipFill>
                <a:blip r:embed="rId3"/>
                <a:stretch>
                  <a:fillRect l="-1003" t="-8750" r="-13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7108" name="Object 2">
            <a:extLst>
              <a:ext uri="{FF2B5EF4-FFF2-40B4-BE49-F238E27FC236}">
                <a16:creationId xmlns:a16="http://schemas.microsoft.com/office/drawing/2014/main" id="{D8A41091-9675-42C2-A6E3-1EB2BC293A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569130"/>
              </p:ext>
            </p:extLst>
          </p:nvPr>
        </p:nvGraphicFramePr>
        <p:xfrm>
          <a:off x="3297238" y="2484438"/>
          <a:ext cx="2178050" cy="3910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 Publisher Image" r:id="rId4" imgW="1552575" imgH="2790825" progId="PictPub.Image.8">
                  <p:embed/>
                </p:oleObj>
              </mc:Choice>
              <mc:Fallback>
                <p:oleObj name="Picture Publisher Image" r:id="rId4" imgW="1552575" imgH="2790825" progId="PictPub.Image.8">
                  <p:embed/>
                  <p:pic>
                    <p:nvPicPr>
                      <p:cNvPr id="47108" name="Object 2">
                        <a:extLst>
                          <a:ext uri="{FF2B5EF4-FFF2-40B4-BE49-F238E27FC236}">
                            <a16:creationId xmlns:a16="http://schemas.microsoft.com/office/drawing/2014/main" id="{D8A41091-9675-42C2-A6E3-1EB2BC293A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7238" y="2484438"/>
                        <a:ext cx="2178050" cy="3910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9" name="Object 3">
            <a:extLst>
              <a:ext uri="{FF2B5EF4-FFF2-40B4-BE49-F238E27FC236}">
                <a16:creationId xmlns:a16="http://schemas.microsoft.com/office/drawing/2014/main" id="{7EC22636-E885-4881-874C-D6A5BBDD95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0170116"/>
              </p:ext>
            </p:extLst>
          </p:nvPr>
        </p:nvGraphicFramePr>
        <p:xfrm>
          <a:off x="6446839" y="2459039"/>
          <a:ext cx="2257425" cy="3913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 Publisher Image" r:id="rId6" imgW="1609725" imgH="2790825" progId="PictPub.Image.8">
                  <p:embed/>
                </p:oleObj>
              </mc:Choice>
              <mc:Fallback>
                <p:oleObj name="Picture Publisher Image" r:id="rId6" imgW="1609725" imgH="2790825" progId="PictPub.Image.8">
                  <p:embed/>
                  <p:pic>
                    <p:nvPicPr>
                      <p:cNvPr id="47109" name="Object 3">
                        <a:extLst>
                          <a:ext uri="{FF2B5EF4-FFF2-40B4-BE49-F238E27FC236}">
                            <a16:creationId xmlns:a16="http://schemas.microsoft.com/office/drawing/2014/main" id="{7EC22636-E885-4881-874C-D6A5BBDD95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6839" y="2459039"/>
                        <a:ext cx="2257425" cy="3913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9C6B812A-94F3-4075-9D9B-FB0527B49B12}"/>
              </a:ext>
            </a:extLst>
          </p:cNvPr>
          <p:cNvSpPr txBox="1"/>
          <p:nvPr/>
        </p:nvSpPr>
        <p:spPr>
          <a:xfrm>
            <a:off x="380724" y="299408"/>
            <a:ext cx="12501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匹配</a:t>
            </a:r>
          </a:p>
        </p:txBody>
      </p:sp>
      <p:sp>
        <p:nvSpPr>
          <p:cNvPr id="3" name="圆角矩形 8">
            <a:extLst>
              <a:ext uri="{FF2B5EF4-FFF2-40B4-BE49-F238E27FC236}">
                <a16:creationId xmlns:a16="http://schemas.microsoft.com/office/drawing/2014/main" id="{EABBC20B-1AE3-B3EF-F26C-A16761F606ED}"/>
              </a:ext>
            </a:extLst>
          </p:cNvPr>
          <p:cNvSpPr/>
          <p:nvPr/>
        </p:nvSpPr>
        <p:spPr>
          <a:xfrm>
            <a:off x="238665" y="311105"/>
            <a:ext cx="1392173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DA9C03B-42DD-2BDC-D0B6-AC06B2F5C894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B1BD089-A156-FA06-0E1E-0ABEFA2240A3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242226391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A7F5D511-06E2-6846-9BD0-A048626DE58B}"/>
              </a:ext>
            </a:extLst>
          </p:cNvPr>
          <p:cNvSpPr txBox="1"/>
          <p:nvPr/>
        </p:nvSpPr>
        <p:spPr>
          <a:xfrm>
            <a:off x="2152650" y="1171442"/>
            <a:ext cx="7639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</a:t>
            </a:r>
            <a:r>
              <a:rPr lang="zh-CN" altLang="en-US" sz="24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的一个任意</a:t>
            </a:r>
            <a:r>
              <a:rPr lang="zh-CN" altLang="en-US" sz="24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两边不相邻的边集合</a:t>
            </a:r>
            <a:r>
              <a:rPr lang="en-US" altLang="zh-CN" sz="24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</a:t>
            </a:r>
            <a:r>
              <a:rPr lang="zh-CN" altLang="en-US" sz="24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称为 </a:t>
            </a:r>
            <a:r>
              <a:rPr lang="en-US" altLang="zh-CN" sz="24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</a:t>
            </a:r>
            <a:r>
              <a:rPr lang="zh-CN" altLang="en-US" sz="24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的一个匹配。</a:t>
            </a:r>
            <a:endParaRPr lang="en-US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8D106BD-25FA-8649-BB64-634052025ED5}"/>
                  </a:ext>
                </a:extLst>
              </p:cNvPr>
              <p:cNvSpPr txBox="1"/>
              <p:nvPr/>
            </p:nvSpPr>
            <p:spPr>
              <a:xfrm>
                <a:off x="2152650" y="1946276"/>
                <a:ext cx="763905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>
                    <a:solidFill>
                      <a:srgbClr val="00B050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[</a:t>
                </a:r>
                <a:r>
                  <a:rPr lang="en-US" altLang="zh-CN" sz="2400" dirty="0" err="1">
                    <a:solidFill>
                      <a:srgbClr val="00B050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极大匹配</a:t>
                </a:r>
                <a:r>
                  <a:rPr lang="en-US" altLang="zh-CN" sz="2400" dirty="0">
                    <a:solidFill>
                      <a:srgbClr val="00B050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]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en-US" altLang="zh-CN" sz="2400" dirty="0">
                    <a:solidFill>
                      <a:srgbClr val="00B050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 </a:t>
                </a:r>
                <a:r>
                  <a:rPr lang="en-US" altLang="zh-CN" sz="2400" dirty="0" err="1">
                    <a:solidFill>
                      <a:srgbClr val="00B050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是</a:t>
                </a:r>
                <a:r>
                  <a:rPr lang="en-US" altLang="zh-CN" sz="2400" dirty="0">
                    <a:solidFill>
                      <a:srgbClr val="00B050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G</m:t>
                    </m:r>
                  </m:oMath>
                </a14:m>
                <a:r>
                  <a:rPr lang="en-US" altLang="zh-CN" sz="2400" dirty="0">
                    <a:solidFill>
                      <a:srgbClr val="00B050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 </a:t>
                </a:r>
                <a:r>
                  <a:rPr lang="en-US" altLang="zh-CN" sz="2400" dirty="0" err="1">
                    <a:solidFill>
                      <a:srgbClr val="00B050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的一个极大匹配</a:t>
                </a:r>
                <a:r>
                  <a:rPr lang="en-US" altLang="zh-CN" sz="2400" dirty="0">
                    <a:solidFill>
                      <a:srgbClr val="00B050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br>
                  <a:rPr lang="en-US" altLang="zh-CN" sz="2400" dirty="0">
                    <a:solidFill>
                      <a:srgbClr val="00B050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en-US" altLang="zh-CN" sz="2400" dirty="0">
                    <a:solidFill>
                      <a:srgbClr val="00B050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 </a:t>
                </a:r>
                <a:r>
                  <a:rPr lang="en-US" altLang="zh-CN" sz="2400" dirty="0" err="1">
                    <a:solidFill>
                      <a:srgbClr val="00B050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为</a:t>
                </a:r>
                <a:r>
                  <a:rPr lang="en-US" altLang="zh-CN" sz="2400" dirty="0">
                    <a:solidFill>
                      <a:srgbClr val="00B050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G</m:t>
                    </m:r>
                  </m:oMath>
                </a14:m>
                <a:r>
                  <a:rPr lang="en-US" altLang="zh-CN" sz="2400" dirty="0">
                    <a:solidFill>
                      <a:srgbClr val="00B050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 </a:t>
                </a:r>
                <a:r>
                  <a:rPr lang="en-US" altLang="zh-CN" sz="2400" dirty="0" err="1">
                    <a:solidFill>
                      <a:srgbClr val="00B050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的一个匹配</a:t>
                </a:r>
                <a:r>
                  <a:rPr lang="en-US" altLang="zh-CN" sz="2400" dirty="0">
                    <a:solidFill>
                      <a:srgbClr val="00B050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zh-CN" altLang="zh-CN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altLang="zh-CN" sz="240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zh-CN" sz="240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CN" sz="240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altLang="zh-CN" sz="240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altLang="zh-CN" sz="240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altLang="zh-CN" sz="240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∪{</m:t>
                    </m:r>
                    <m:r>
                      <a:rPr lang="en-US" altLang="zh-CN" sz="240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CN" sz="240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sz="2400" dirty="0">
                    <a:solidFill>
                      <a:srgbClr val="00B050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 </a:t>
                </a:r>
                <a:r>
                  <a:rPr lang="en-US" altLang="zh-CN" sz="2400" dirty="0" err="1">
                    <a:solidFill>
                      <a:srgbClr val="00B050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不是</a:t>
                </a:r>
                <a:r>
                  <a:rPr lang="en-US" altLang="zh-CN" sz="2400" dirty="0">
                    <a:solidFill>
                      <a:srgbClr val="00B050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G</m:t>
                    </m:r>
                  </m:oMath>
                </a14:m>
                <a:r>
                  <a:rPr lang="en-US" altLang="zh-CN" sz="2400" dirty="0">
                    <a:solidFill>
                      <a:srgbClr val="00B050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 </a:t>
                </a:r>
                <a:r>
                  <a:rPr lang="en-US" altLang="zh-CN" sz="2400" dirty="0" err="1">
                    <a:solidFill>
                      <a:srgbClr val="00B050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的匹配</a:t>
                </a:r>
                <a:r>
                  <a:rPr lang="en-US" altLang="zh-CN" sz="2400" dirty="0">
                    <a:solidFill>
                      <a:srgbClr val="00B050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)</a:t>
                </a:r>
                <a:r>
                  <a:rPr lang="zh-CN" altLang="zh-CN" sz="2400" dirty="0">
                    <a:solidFill>
                      <a:srgbClr val="00B050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 </a:t>
                </a:r>
                <a:endParaRPr lang="en-US" sz="2400" dirty="0">
                  <a:solidFill>
                    <a:srgbClr val="00B05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8D106BD-25FA-8649-BB64-634052025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50" y="1946276"/>
                <a:ext cx="7639050" cy="1200329"/>
              </a:xfrm>
              <a:prstGeom prst="rect">
                <a:avLst/>
              </a:prstGeom>
              <a:blipFill>
                <a:blip r:embed="rId2"/>
                <a:stretch>
                  <a:fillRect l="-1197" t="-4061" b="-10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87A68B6-72A9-324A-85F5-8005CABF0E36}"/>
                  </a:ext>
                </a:extLst>
              </p:cNvPr>
              <p:cNvSpPr txBox="1"/>
              <p:nvPr/>
            </p:nvSpPr>
            <p:spPr>
              <a:xfrm>
                <a:off x="2152650" y="3475513"/>
                <a:ext cx="8058150" cy="18640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altLang="zh-CN" sz="2800" dirty="0">
                    <a:solidFill>
                      <a:srgbClr val="00B050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  <a:cs typeface="Times New Roman" panose="02020603050405020304" pitchFamily="18" charset="0"/>
                  </a:rPr>
                  <a:t>[</a:t>
                </a:r>
                <a:r>
                  <a:rPr lang="zh-CN" altLang="zh-CN" sz="2800" dirty="0">
                    <a:solidFill>
                      <a:srgbClr val="00B050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  <a:cs typeface="Times New Roman" panose="02020603050405020304" pitchFamily="18" charset="0"/>
                  </a:rPr>
                  <a:t>匹配数</a:t>
                </a:r>
                <a:r>
                  <a:rPr lang="en-US" altLang="zh-CN" sz="2800" dirty="0">
                    <a:solidFill>
                      <a:srgbClr val="00B050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  <a:cs typeface="Times New Roman" panose="02020603050405020304" pitchFamily="18" charset="0"/>
                  </a:rPr>
                  <a:t>] </a:t>
                </a:r>
                <a:r>
                  <a:rPr lang="zh-CN" altLang="zh-CN" sz="2800" dirty="0">
                    <a:latin typeface="思源黑体 CN Normal" panose="020B0400000000000000" pitchFamily="34" charset="-122"/>
                    <a:ea typeface="思源黑体 CN Normal" panose="020B0400000000000000" pitchFamily="34" charset="-122"/>
                    <a:cs typeface="Times New Roman" panose="02020603050405020304" pitchFamily="18" charset="0"/>
                  </a:rPr>
                  <a:t>设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𝐺</m:t>
                    </m:r>
                  </m:oMath>
                </a14:m>
                <a:r>
                  <a:rPr lang="en-US" altLang="zh-CN" sz="2800" dirty="0">
                    <a:latin typeface="思源黑体 CN Normal" panose="020B0400000000000000" pitchFamily="34" charset="-122"/>
                    <a:ea typeface="思源黑体 CN Normal" panose="020B0400000000000000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800" dirty="0">
                    <a:latin typeface="思源黑体 CN Normal" panose="020B0400000000000000" pitchFamily="34" charset="-122"/>
                    <a:ea typeface="思源黑体 CN Normal" panose="020B0400000000000000" pitchFamily="34" charset="-122"/>
                    <a:cs typeface="Times New Roman" panose="02020603050405020304" pitchFamily="18" charset="0"/>
                  </a:rPr>
                  <a:t>的所有匹配为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zh-CN" altLang="zh-CN" sz="28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、</m:t>
                    </m:r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zh-CN" altLang="zh-CN" sz="28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、</m:t>
                    </m:r>
                    <m:r>
                      <a:rPr lang="en-US" altLang="zh-CN" sz="28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⋯</m:t>
                    </m:r>
                    <m:r>
                      <a:rPr lang="zh-CN" altLang="zh-CN" sz="28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、</m:t>
                    </m:r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2800" dirty="0">
                    <a:latin typeface="思源黑体 CN Normal" panose="020B0400000000000000" pitchFamily="34" charset="-122"/>
                    <a:ea typeface="思源黑体 CN Normal" panose="020B0400000000000000" pitchFamily="34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zh-CN" sz="2800" dirty="0">
                    <a:latin typeface="思源黑体 CN Normal" panose="020B0400000000000000" pitchFamily="34" charset="-122"/>
                    <a:ea typeface="思源黑体 CN Normal" panose="020B0400000000000000" pitchFamily="34" charset="-122"/>
                    <a:cs typeface="Times New Roman" panose="02020603050405020304" pitchFamily="18" charset="0"/>
                  </a:rPr>
                  <a:t>记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zh-CN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280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altLang="zh-CN" sz="280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lim>
                      </m:limLow>
                      <m:d>
                        <m:dPr>
                          <m:begChr m:val="|"/>
                          <m:endChr m:val="|"/>
                          <m:ctrlPr>
                            <a:rPr lang="zh-CN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 </m:t>
                      </m:r>
                    </m:oMath>
                  </m:oMathPara>
                </a14:m>
                <a:endParaRPr lang="en-US" altLang="zh-CN" sz="2800" dirty="0"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2800" dirty="0">
                    <a:latin typeface="思源黑体 CN Normal" panose="020B0400000000000000" pitchFamily="34" charset="-122"/>
                    <a:ea typeface="思源黑体 CN Normal" panose="020B0400000000000000" pitchFamily="34" charset="-122"/>
                    <a:cs typeface="Times New Roman" panose="02020603050405020304" pitchFamily="18" charset="0"/>
                  </a:rPr>
                  <a:t>为 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𝐆</m:t>
                    </m:r>
                  </m:oMath>
                </a14:m>
                <a:r>
                  <a:rPr lang="en-US" altLang="zh-CN" sz="2800" dirty="0">
                    <a:latin typeface="思源黑体 CN Normal" panose="020B0400000000000000" pitchFamily="34" charset="-122"/>
                    <a:ea typeface="思源黑体 CN Normal" panose="020B0400000000000000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800" dirty="0">
                    <a:latin typeface="思源黑体 CN Normal" panose="020B0400000000000000" pitchFamily="34" charset="-122"/>
                    <a:ea typeface="思源黑体 CN Normal" panose="020B0400000000000000" pitchFamily="34" charset="-122"/>
                    <a:cs typeface="Times New Roman" panose="02020603050405020304" pitchFamily="18" charset="0"/>
                  </a:rPr>
                  <a:t>的匹配数</a:t>
                </a:r>
                <a:r>
                  <a:rPr lang="en-US" altLang="zh-CN" sz="2800" dirty="0">
                    <a:latin typeface="思源黑体 CN Normal" panose="020B0400000000000000" pitchFamily="34" charset="-122"/>
                    <a:ea typeface="思源黑体 CN Normal" panose="020B0400000000000000" pitchFamily="34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zh-CN" sz="2800" dirty="0">
                    <a:latin typeface="思源黑体 CN Normal" panose="020B0400000000000000" pitchFamily="34" charset="-122"/>
                    <a:ea typeface="思源黑体 CN Normal" panose="020B0400000000000000" pitchFamily="34" charset="-122"/>
                    <a:cs typeface="Times New Roman" panose="02020603050405020304" pitchFamily="18" charset="0"/>
                  </a:rPr>
                  <a:t>即最大匹配的数。</a:t>
                </a:r>
                <a:endParaRPr lang="zh-CN" altLang="zh-CN" sz="4000" dirty="0"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87A68B6-72A9-324A-85F5-8005CABF0E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50" y="3475513"/>
                <a:ext cx="8058150" cy="1864036"/>
              </a:xfrm>
              <a:prstGeom prst="rect">
                <a:avLst/>
              </a:prstGeom>
              <a:blipFill>
                <a:blip r:embed="rId3"/>
                <a:stretch>
                  <a:fillRect l="-1513" t="-3268" b="-81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0E510B0A-EB2A-3240-B2FF-6FE68DC89EEC}"/>
                  </a:ext>
                </a:extLst>
              </p:cNvPr>
              <p:cNvSpPr txBox="1"/>
              <p:nvPr/>
            </p:nvSpPr>
            <p:spPr>
              <a:xfrm>
                <a:off x="2152650" y="5668458"/>
                <a:ext cx="823595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r>
                      <a:rPr lang="en-US" altLang="zh-CN" sz="240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</m:oMath>
                </a14:m>
                <a:r>
                  <a:rPr lang="zh-CN" altLang="zh-CN" sz="2400" dirty="0">
                    <a:solidFill>
                      <a:srgbClr val="00B050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  <a:cs typeface="Times New Roman" panose="02020603050405020304" pitchFamily="18" charset="0"/>
                  </a:rPr>
                  <a:t>最大匹配</a:t>
                </a:r>
                <a14:m>
                  <m:oMath xmlns:m="http://schemas.openxmlformats.org/officeDocument/2006/math">
                    <m:r>
                      <a:rPr lang="en-US" altLang="zh-CN" sz="240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  <m:sSub>
                      <m:sSubPr>
                        <m:ctrlPr>
                          <a:rPr lang="zh-CN" altLang="zh-CN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𝐌</m:t>
                        </m:r>
                      </m:e>
                      <m:sub>
                        <m:r>
                          <a:rPr lang="en-US" altLang="zh-CN" sz="240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800" dirty="0">
                    <a:latin typeface="思源黑体 CN Normal" panose="020B0400000000000000" pitchFamily="34" charset="-122"/>
                    <a:ea typeface="思源黑体 CN Normal" panose="020B0400000000000000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800" dirty="0">
                    <a:latin typeface="思源黑体 CN Normal" panose="020B0400000000000000" pitchFamily="34" charset="-122"/>
                    <a:ea typeface="思源黑体 CN Normal" panose="020B0400000000000000" pitchFamily="34" charset="-122"/>
                    <a:cs typeface="Times New Roman" panose="02020603050405020304" pitchFamily="18" charset="0"/>
                  </a:rPr>
                  <a:t>称为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𝐺</m:t>
                    </m:r>
                  </m:oMath>
                </a14:m>
                <a:r>
                  <a:rPr lang="en-US" altLang="zh-CN" sz="2800" dirty="0">
                    <a:latin typeface="思源黑体 CN Normal" panose="020B0400000000000000" pitchFamily="34" charset="-122"/>
                    <a:ea typeface="思源黑体 CN Normal" panose="020B0400000000000000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800" dirty="0">
                    <a:latin typeface="思源黑体 CN Normal" panose="020B0400000000000000" pitchFamily="34" charset="-122"/>
                    <a:ea typeface="思源黑体 CN Normal" panose="020B0400000000000000" pitchFamily="34" charset="-122"/>
                    <a:cs typeface="Times New Roman" panose="02020603050405020304" pitchFamily="18" charset="0"/>
                  </a:rPr>
                  <a:t>的一个</a:t>
                </a:r>
                <a:r>
                  <a:rPr lang="zh-CN" altLang="zh-CN" sz="2800" dirty="0">
                    <a:solidFill>
                      <a:srgbClr val="00B050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  <a:cs typeface="Times New Roman" panose="02020603050405020304" pitchFamily="18" charset="0"/>
                  </a:rPr>
                  <a:t>最大匹配</a:t>
                </a:r>
                <a:r>
                  <a:rPr lang="zh-CN" altLang="zh-CN" sz="2800" dirty="0">
                    <a:latin typeface="思源黑体 CN Normal" panose="020B0400000000000000" pitchFamily="34" charset="-122"/>
                    <a:ea typeface="思源黑体 CN Normal" panose="020B0400000000000000" pitchFamily="34" charset="-122"/>
                    <a:cs typeface="Times New Roman" panose="02020603050405020304" pitchFamily="18" charset="0"/>
                  </a:rPr>
                  <a:t>若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CN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𝐌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28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CN" altLang="zh-CN" sz="2800" dirty="0"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0E510B0A-EB2A-3240-B2FF-6FE68DC89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50" y="5668458"/>
                <a:ext cx="8235950" cy="523220"/>
              </a:xfrm>
              <a:prstGeom prst="rect">
                <a:avLst/>
              </a:prstGeom>
              <a:blipFill>
                <a:blip r:embed="rId4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3D039B5E-2A31-02A8-3449-76FDA89AD8BD}"/>
              </a:ext>
            </a:extLst>
          </p:cNvPr>
          <p:cNvSpPr txBox="1"/>
          <p:nvPr/>
        </p:nvSpPr>
        <p:spPr>
          <a:xfrm>
            <a:off x="380724" y="299408"/>
            <a:ext cx="45117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极大匹配，最大匹配</a:t>
            </a:r>
          </a:p>
        </p:txBody>
      </p:sp>
      <p:sp>
        <p:nvSpPr>
          <p:cNvPr id="5" name="圆角矩形 8">
            <a:extLst>
              <a:ext uri="{FF2B5EF4-FFF2-40B4-BE49-F238E27FC236}">
                <a16:creationId xmlns:a16="http://schemas.microsoft.com/office/drawing/2014/main" id="{CBE702B2-BD41-B8C9-D0D1-23B3EA2C3FAE}"/>
              </a:ext>
            </a:extLst>
          </p:cNvPr>
          <p:cNvSpPr/>
          <p:nvPr/>
        </p:nvSpPr>
        <p:spPr>
          <a:xfrm>
            <a:off x="238666" y="311105"/>
            <a:ext cx="4653846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1C7BC2-6F89-2C24-2CA5-FE93B8EDBFDC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856765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F327EAD7-7AE2-4275-8DFA-362878BA7DF3}"/>
              </a:ext>
            </a:extLst>
          </p:cNvPr>
          <p:cNvGrpSpPr>
            <a:grpSpLocks/>
          </p:cNvGrpSpPr>
          <p:nvPr/>
        </p:nvGrpSpPr>
        <p:grpSpPr bwMode="auto">
          <a:xfrm>
            <a:off x="3128963" y="1354139"/>
            <a:ext cx="2387600" cy="4513263"/>
            <a:chOff x="1011" y="853"/>
            <a:chExt cx="1504" cy="2843"/>
          </a:xfrm>
        </p:grpSpPr>
        <p:graphicFrame>
          <p:nvGraphicFramePr>
            <p:cNvPr id="48136" name="Object 3">
              <a:extLst>
                <a:ext uri="{FF2B5EF4-FFF2-40B4-BE49-F238E27FC236}">
                  <a16:creationId xmlns:a16="http://schemas.microsoft.com/office/drawing/2014/main" id="{B1F00797-7B59-4DCF-8A65-CA63DFA0DD4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41" y="1463"/>
            <a:ext cx="1244" cy="2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icture Publisher Image" r:id="rId3" imgW="1552575" imgH="2790825" progId="PictPub.Image.8">
                    <p:embed/>
                  </p:oleObj>
                </mc:Choice>
                <mc:Fallback>
                  <p:oleObj name="Picture Publisher Image" r:id="rId3" imgW="1552575" imgH="2790825" progId="PictPub.Image.8">
                    <p:embed/>
                    <p:pic>
                      <p:nvPicPr>
                        <p:cNvPr id="48136" name="Object 3">
                          <a:extLst>
                            <a:ext uri="{FF2B5EF4-FFF2-40B4-BE49-F238E27FC236}">
                              <a16:creationId xmlns:a16="http://schemas.microsoft.com/office/drawing/2014/main" id="{B1F00797-7B59-4DCF-8A65-CA63DFA0DD4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1" y="1463"/>
                          <a:ext cx="1244" cy="22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37" name="Text Box 5">
              <a:extLst>
                <a:ext uri="{FF2B5EF4-FFF2-40B4-BE49-F238E27FC236}">
                  <a16:creationId xmlns:a16="http://schemas.microsoft.com/office/drawing/2014/main" id="{E1A58161-4F51-4CBF-9F20-4B66354CE0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1" y="853"/>
              <a:ext cx="1504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accent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极大匹配，但非最大匹配</a:t>
              </a:r>
              <a:endParaRPr lang="en-US" altLang="zh-CN" sz="2400" dirty="0">
                <a:solidFill>
                  <a:schemeClr val="accent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</p:grpSp>
      <p:grpSp>
        <p:nvGrpSpPr>
          <p:cNvPr id="3" name="Group 8">
            <a:extLst>
              <a:ext uri="{FF2B5EF4-FFF2-40B4-BE49-F238E27FC236}">
                <a16:creationId xmlns:a16="http://schemas.microsoft.com/office/drawing/2014/main" id="{5A796D96-7403-4A8B-B83B-C71231E3B76C}"/>
              </a:ext>
            </a:extLst>
          </p:cNvPr>
          <p:cNvGrpSpPr>
            <a:grpSpLocks/>
          </p:cNvGrpSpPr>
          <p:nvPr/>
        </p:nvGrpSpPr>
        <p:grpSpPr bwMode="auto">
          <a:xfrm>
            <a:off x="6484938" y="1701801"/>
            <a:ext cx="2646362" cy="4143375"/>
            <a:chOff x="3125" y="1072"/>
            <a:chExt cx="1667" cy="2610"/>
          </a:xfrm>
        </p:grpSpPr>
        <p:graphicFrame>
          <p:nvGraphicFramePr>
            <p:cNvPr id="48134" name="Object 2">
              <a:extLst>
                <a:ext uri="{FF2B5EF4-FFF2-40B4-BE49-F238E27FC236}">
                  <a16:creationId xmlns:a16="http://schemas.microsoft.com/office/drawing/2014/main" id="{D335EED8-4EFC-4D43-98D5-915FA678EF6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25" y="1465"/>
            <a:ext cx="1279" cy="2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icture Publisher Image" r:id="rId5" imgW="1609725" imgH="2790825" progId="PictPub.Image.8">
                    <p:embed/>
                  </p:oleObj>
                </mc:Choice>
                <mc:Fallback>
                  <p:oleObj name="Picture Publisher Image" r:id="rId5" imgW="1609725" imgH="2790825" progId="PictPub.Image.8">
                    <p:embed/>
                    <p:pic>
                      <p:nvPicPr>
                        <p:cNvPr id="48134" name="Object 2">
                          <a:extLst>
                            <a:ext uri="{FF2B5EF4-FFF2-40B4-BE49-F238E27FC236}">
                              <a16:creationId xmlns:a16="http://schemas.microsoft.com/office/drawing/2014/main" id="{D335EED8-4EFC-4D43-98D5-915FA678EF6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5" y="1465"/>
                          <a:ext cx="1279" cy="2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35" name="Text Box 6">
              <a:extLst>
                <a:ext uri="{FF2B5EF4-FFF2-40B4-BE49-F238E27FC236}">
                  <a16:creationId xmlns:a16="http://schemas.microsoft.com/office/drawing/2014/main" id="{11D855F6-D2DE-4505-96F1-7EDA531E09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8" y="1072"/>
              <a:ext cx="15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accent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最大匹配</a:t>
              </a:r>
              <a:endParaRPr lang="en-US" altLang="zh-CN" sz="2400" dirty="0">
                <a:solidFill>
                  <a:schemeClr val="accent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33D79CED-E4E9-B976-56DB-D323FD88E774}"/>
              </a:ext>
            </a:extLst>
          </p:cNvPr>
          <p:cNvSpPr txBox="1"/>
          <p:nvPr/>
        </p:nvSpPr>
        <p:spPr>
          <a:xfrm>
            <a:off x="380724" y="299408"/>
            <a:ext cx="45117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极大匹配，最大匹配</a:t>
            </a:r>
          </a:p>
        </p:txBody>
      </p:sp>
      <p:sp>
        <p:nvSpPr>
          <p:cNvPr id="5" name="圆角矩形 8">
            <a:extLst>
              <a:ext uri="{FF2B5EF4-FFF2-40B4-BE49-F238E27FC236}">
                <a16:creationId xmlns:a16="http://schemas.microsoft.com/office/drawing/2014/main" id="{572046E5-DC4D-A28E-8B10-3106C15CDF4E}"/>
              </a:ext>
            </a:extLst>
          </p:cNvPr>
          <p:cNvSpPr/>
          <p:nvPr/>
        </p:nvSpPr>
        <p:spPr>
          <a:xfrm>
            <a:off x="238666" y="311105"/>
            <a:ext cx="4653846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5B20883-94F1-AA53-7413-F82A4864C815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8D9ECB1-6379-AC9D-3BFE-F8F488604276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2505582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195" name="Rectangle 3">
            <a:extLst>
              <a:ext uri="{FF2B5EF4-FFF2-40B4-BE49-F238E27FC236}">
                <a16:creationId xmlns:a16="http://schemas.microsoft.com/office/drawing/2014/main" id="{BA2EE096-E3E0-4A48-A5FF-CEB0D94CC6D7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2152650" y="3212976"/>
            <a:ext cx="3778250" cy="1536946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不可能有大小为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的匹配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, 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因为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u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和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v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中只有一个点能被匹配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. </a:t>
            </a:r>
          </a:p>
        </p:txBody>
      </p:sp>
      <p:graphicFrame>
        <p:nvGraphicFramePr>
          <p:cNvPr id="49157" name="Object 2">
            <a:extLst>
              <a:ext uri="{FF2B5EF4-FFF2-40B4-BE49-F238E27FC236}">
                <a16:creationId xmlns:a16="http://schemas.microsoft.com/office/drawing/2014/main" id="{4CB22E29-47B8-4104-9A96-93EB3AA558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26200" y="1916113"/>
          <a:ext cx="2463800" cy="427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 Publisher Image" r:id="rId3" imgW="1609725" imgH="2790825" progId="PictPub.Image.8">
                  <p:embed/>
                </p:oleObj>
              </mc:Choice>
              <mc:Fallback>
                <p:oleObj name="Picture Publisher Image" r:id="rId3" imgW="1609725" imgH="2790825" progId="PictPub.Image.8">
                  <p:embed/>
                  <p:pic>
                    <p:nvPicPr>
                      <p:cNvPr id="49157" name="Object 2">
                        <a:extLst>
                          <a:ext uri="{FF2B5EF4-FFF2-40B4-BE49-F238E27FC236}">
                            <a16:creationId xmlns:a16="http://schemas.microsoft.com/office/drawing/2014/main" id="{4CB22E29-47B8-4104-9A96-93EB3AA558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6200" y="1916113"/>
                        <a:ext cx="2463800" cy="427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8" name="Text Box 5">
            <a:extLst>
              <a:ext uri="{FF2B5EF4-FFF2-40B4-BE49-F238E27FC236}">
                <a16:creationId xmlns:a16="http://schemas.microsoft.com/office/drawing/2014/main" id="{08400AF5-9182-4CC7-BA95-44F022F477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0813" y="3003550"/>
            <a:ext cx="584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6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v</a:t>
            </a:r>
          </a:p>
        </p:txBody>
      </p:sp>
      <p:sp>
        <p:nvSpPr>
          <p:cNvPr id="49159" name="Text Box 6">
            <a:extLst>
              <a:ext uri="{FF2B5EF4-FFF2-40B4-BE49-F238E27FC236}">
                <a16:creationId xmlns:a16="http://schemas.microsoft.com/office/drawing/2014/main" id="{87EA5688-A26E-401A-985D-9E86D84429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8750" y="4652963"/>
            <a:ext cx="584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600">
                <a:solidFill>
                  <a:srgbClr val="FF0000"/>
                </a:solidFill>
                <a:latin typeface="Arial Rounded MT Bold" panose="020F0704030504030204" pitchFamily="34" charset="0"/>
              </a:rPr>
              <a:t>u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F5E2037-2D59-9D33-3862-D882996EA5F2}"/>
              </a:ext>
            </a:extLst>
          </p:cNvPr>
          <p:cNvSpPr txBox="1"/>
          <p:nvPr/>
        </p:nvSpPr>
        <p:spPr>
          <a:xfrm>
            <a:off x="380724" y="299408"/>
            <a:ext cx="45117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极大匹配，最大匹配</a:t>
            </a:r>
          </a:p>
        </p:txBody>
      </p:sp>
      <p:sp>
        <p:nvSpPr>
          <p:cNvPr id="3" name="圆角矩形 8">
            <a:extLst>
              <a:ext uri="{FF2B5EF4-FFF2-40B4-BE49-F238E27FC236}">
                <a16:creationId xmlns:a16="http://schemas.microsoft.com/office/drawing/2014/main" id="{0C441003-EA05-16D9-B936-382CEB6BA917}"/>
              </a:ext>
            </a:extLst>
          </p:cNvPr>
          <p:cNvSpPr/>
          <p:nvPr/>
        </p:nvSpPr>
        <p:spPr>
          <a:xfrm>
            <a:off x="238666" y="311105"/>
            <a:ext cx="4653846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10BFA05-1BE1-F2A8-8856-159B2D4D14B0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4A35CB5-286D-6FBF-51D7-F0A23E38EB20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3106608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2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2195" grpId="0" build="p" autoUpdateAnimBg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219" name="Rectangle 3">
            <a:extLst>
              <a:ext uri="{FF2B5EF4-FFF2-40B4-BE49-F238E27FC236}">
                <a16:creationId xmlns:a16="http://schemas.microsoft.com/office/drawing/2014/main" id="{4FF86D99-2F2C-4197-AE41-046A8F78E664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2384196" y="1967027"/>
            <a:ext cx="8211532" cy="2303315"/>
          </a:xfrm>
          <a:prstGeom prst="rect">
            <a:avLst/>
          </a:prstGeom>
          <a:noFill/>
        </p:spPr>
        <p:txBody>
          <a:bodyPr/>
          <a:lstStyle/>
          <a:p>
            <a:pPr>
              <a:spcBef>
                <a:spcPct val="100000"/>
              </a:spcBef>
            </a:pP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将图</a:t>
            </a:r>
            <a:r>
              <a:rPr lang="en-US" altLang="zh-CN" sz="2400" dirty="0">
                <a:solidFill>
                  <a:srgbClr val="CC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上的最大匹配问题转化为网络</a:t>
            </a:r>
            <a:r>
              <a:rPr lang="en-US" altLang="zh-CN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G’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上的最大流问题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</a:p>
          <a:p>
            <a:pPr>
              <a:spcBef>
                <a:spcPct val="100000"/>
              </a:spcBef>
            </a:pP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spcBef>
                <a:spcPct val="100000"/>
              </a:spcBef>
            </a:pP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利用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Ford-Fulkerson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算法解决最大流问题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.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A7B3407-77B1-0A66-A110-F22201FC08D2}"/>
              </a:ext>
            </a:extLst>
          </p:cNvPr>
          <p:cNvSpPr txBox="1"/>
          <p:nvPr/>
        </p:nvSpPr>
        <p:spPr>
          <a:xfrm>
            <a:off x="380724" y="299408"/>
            <a:ext cx="4389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最大匹配问题解法</a:t>
            </a:r>
          </a:p>
        </p:txBody>
      </p:sp>
      <p:sp>
        <p:nvSpPr>
          <p:cNvPr id="3" name="圆角矩形 8">
            <a:extLst>
              <a:ext uri="{FF2B5EF4-FFF2-40B4-BE49-F238E27FC236}">
                <a16:creationId xmlns:a16="http://schemas.microsoft.com/office/drawing/2014/main" id="{1D731906-6498-28DA-8B58-8471D0783102}"/>
              </a:ext>
            </a:extLst>
          </p:cNvPr>
          <p:cNvSpPr/>
          <p:nvPr/>
        </p:nvSpPr>
        <p:spPr>
          <a:xfrm>
            <a:off x="238666" y="311105"/>
            <a:ext cx="4220212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F5C1B43-6FD4-5504-39FC-0B87EA776311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2411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3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3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3219" grpId="0" build="p" autoUpdateAnimBg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43" name="Rectangle 3">
            <a:extLst>
              <a:ext uri="{FF2B5EF4-FFF2-40B4-BE49-F238E27FC236}">
                <a16:creationId xmlns:a16="http://schemas.microsoft.com/office/drawing/2014/main" id="{E29231D6-E760-439B-AF12-FB12AFA4F72D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81201" y="981076"/>
            <a:ext cx="8385175" cy="2613025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建立二部图</a:t>
            </a:r>
            <a:r>
              <a:rPr lang="en-US" altLang="zh-CN" sz="2400" b="1" dirty="0">
                <a:solidFill>
                  <a:srgbClr val="CC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的流网络</a:t>
            </a:r>
            <a:r>
              <a:rPr lang="en-US" altLang="zh-CN" sz="2400" b="1" dirty="0">
                <a:solidFill>
                  <a:srgbClr val="0066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G’</a:t>
            </a: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lvl="1"/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增加一个源点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，从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建一条边到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中每个顶点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.</a:t>
            </a:r>
          </a:p>
          <a:p>
            <a:pPr lvl="1">
              <a:lnSpc>
                <a:spcPct val="90000"/>
              </a:lnSpc>
            </a:pP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将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到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R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的边改为有向边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. </a:t>
            </a:r>
          </a:p>
          <a:p>
            <a:pPr lvl="1">
              <a:lnSpc>
                <a:spcPct val="90000"/>
              </a:lnSpc>
            </a:pP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增加一个汇点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t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，从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R</a:t>
            </a:r>
            <a:r>
              <a:rPr lang="zh-CN" altLang="en-US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中每个顶点建一条边到</a:t>
            </a:r>
            <a:r>
              <a:rPr lang="en-US" altLang="zh-CN" sz="2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t. </a:t>
            </a:r>
          </a:p>
          <a:p>
            <a:pPr lvl="1">
              <a:lnSpc>
                <a:spcPct val="90000"/>
              </a:lnSpc>
            </a:pPr>
            <a:r>
              <a:rPr lang="zh-CN" altLang="en-US" sz="20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将所有边的容量设为</a:t>
            </a:r>
            <a:r>
              <a:rPr lang="en-US" altLang="zh-CN" sz="20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</a:p>
          <a:p>
            <a:pPr>
              <a:lnSpc>
                <a:spcPct val="90000"/>
              </a:lnSpc>
            </a:pP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命题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:  </a:t>
            </a:r>
            <a:r>
              <a:rPr lang="en-US" altLang="zh-CN" sz="2400" b="1" dirty="0">
                <a:solidFill>
                  <a:srgbClr val="0066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G’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中的最大流对应了</a:t>
            </a:r>
            <a:r>
              <a:rPr lang="en-US" altLang="zh-CN" sz="2400" b="1" dirty="0">
                <a:solidFill>
                  <a:srgbClr val="CC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中的最大二分匹配</a:t>
            </a: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90000"/>
              </a:lnSpc>
            </a:pP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1205" name="Oval 4">
            <a:extLst>
              <a:ext uri="{FF2B5EF4-FFF2-40B4-BE49-F238E27FC236}">
                <a16:creationId xmlns:a16="http://schemas.microsoft.com/office/drawing/2014/main" id="{2E47D34C-0E20-410C-B9C9-0A58EAC87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2325" y="4095750"/>
            <a:ext cx="279400" cy="279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en-US" altLang="zh-CN"/>
          </a:p>
        </p:txBody>
      </p:sp>
      <p:sp>
        <p:nvSpPr>
          <p:cNvPr id="51206" name="Oval 5">
            <a:extLst>
              <a:ext uri="{FF2B5EF4-FFF2-40B4-BE49-F238E27FC236}">
                <a16:creationId xmlns:a16="http://schemas.microsoft.com/office/drawing/2014/main" id="{3996C2F7-4373-47CF-889F-3D76E10D2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2325" y="4484688"/>
            <a:ext cx="279400" cy="279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en-US" altLang="zh-CN"/>
          </a:p>
        </p:txBody>
      </p:sp>
      <p:sp>
        <p:nvSpPr>
          <p:cNvPr id="51207" name="Oval 6">
            <a:extLst>
              <a:ext uri="{FF2B5EF4-FFF2-40B4-BE49-F238E27FC236}">
                <a16:creationId xmlns:a16="http://schemas.microsoft.com/office/drawing/2014/main" id="{B6FB3332-25E9-4BCA-8F4E-C592A5806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2325" y="4895850"/>
            <a:ext cx="279400" cy="279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en-US" altLang="zh-CN"/>
          </a:p>
        </p:txBody>
      </p:sp>
      <p:sp>
        <p:nvSpPr>
          <p:cNvPr id="51208" name="Oval 7">
            <a:extLst>
              <a:ext uri="{FF2B5EF4-FFF2-40B4-BE49-F238E27FC236}">
                <a16:creationId xmlns:a16="http://schemas.microsoft.com/office/drawing/2014/main" id="{0B9ECE95-6840-4890-8B84-2D1867E25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2325" y="5297488"/>
            <a:ext cx="279400" cy="279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en-US" altLang="zh-CN"/>
          </a:p>
        </p:txBody>
      </p:sp>
      <p:sp>
        <p:nvSpPr>
          <p:cNvPr id="51209" name="Oval 8">
            <a:extLst>
              <a:ext uri="{FF2B5EF4-FFF2-40B4-BE49-F238E27FC236}">
                <a16:creationId xmlns:a16="http://schemas.microsoft.com/office/drawing/2014/main" id="{DDBFE89C-E6F8-4AF7-86F9-169145D80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2325" y="5730875"/>
            <a:ext cx="279400" cy="279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en-US" altLang="zh-CN"/>
          </a:p>
        </p:txBody>
      </p:sp>
      <p:sp>
        <p:nvSpPr>
          <p:cNvPr id="51210" name="Oval 10">
            <a:extLst>
              <a:ext uri="{FF2B5EF4-FFF2-40B4-BE49-F238E27FC236}">
                <a16:creationId xmlns:a16="http://schemas.microsoft.com/office/drawing/2014/main" id="{89C600AD-C2BB-49C3-BB77-FC867BD63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8088" y="4246563"/>
            <a:ext cx="279400" cy="279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en-US" altLang="zh-CN"/>
          </a:p>
        </p:txBody>
      </p:sp>
      <p:sp>
        <p:nvSpPr>
          <p:cNvPr id="51211" name="Oval 11">
            <a:extLst>
              <a:ext uri="{FF2B5EF4-FFF2-40B4-BE49-F238E27FC236}">
                <a16:creationId xmlns:a16="http://schemas.microsoft.com/office/drawing/2014/main" id="{A216B8BC-9813-404A-B488-E292274B02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8088" y="4657725"/>
            <a:ext cx="279400" cy="279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en-US" altLang="zh-CN"/>
          </a:p>
        </p:txBody>
      </p:sp>
      <p:sp>
        <p:nvSpPr>
          <p:cNvPr id="51212" name="Oval 12">
            <a:extLst>
              <a:ext uri="{FF2B5EF4-FFF2-40B4-BE49-F238E27FC236}">
                <a16:creationId xmlns:a16="http://schemas.microsoft.com/office/drawing/2014/main" id="{730A56CB-60A9-427A-8382-F8CF1F7A4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8088" y="5059363"/>
            <a:ext cx="279400" cy="279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en-US" altLang="zh-CN"/>
          </a:p>
        </p:txBody>
      </p:sp>
      <p:sp>
        <p:nvSpPr>
          <p:cNvPr id="51213" name="Oval 13">
            <a:extLst>
              <a:ext uri="{FF2B5EF4-FFF2-40B4-BE49-F238E27FC236}">
                <a16:creationId xmlns:a16="http://schemas.microsoft.com/office/drawing/2014/main" id="{B910581F-84F1-4BD8-B7A3-8DCAB3586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8088" y="5492750"/>
            <a:ext cx="279400" cy="279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en-US" altLang="zh-CN"/>
          </a:p>
        </p:txBody>
      </p:sp>
      <p:sp>
        <p:nvSpPr>
          <p:cNvPr id="51214" name="Line 14">
            <a:extLst>
              <a:ext uri="{FF2B5EF4-FFF2-40B4-BE49-F238E27FC236}">
                <a16:creationId xmlns:a16="http://schemas.microsoft.com/office/drawing/2014/main" id="{D7D4544C-8173-4651-A24B-50AD30BD647A}"/>
              </a:ext>
            </a:extLst>
          </p:cNvPr>
          <p:cNvSpPr>
            <a:spLocks noChangeShapeType="1"/>
          </p:cNvSpPr>
          <p:nvPr/>
        </p:nvSpPr>
        <p:spPr bwMode="auto">
          <a:xfrm>
            <a:off x="4905375" y="4235450"/>
            <a:ext cx="1385888" cy="139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15" name="Line 15">
            <a:extLst>
              <a:ext uri="{FF2B5EF4-FFF2-40B4-BE49-F238E27FC236}">
                <a16:creationId xmlns:a16="http://schemas.microsoft.com/office/drawing/2014/main" id="{0CB6CDD7-E4BD-4EAF-A56C-85828DC2D658}"/>
              </a:ext>
            </a:extLst>
          </p:cNvPr>
          <p:cNvSpPr>
            <a:spLocks noChangeShapeType="1"/>
          </p:cNvSpPr>
          <p:nvPr/>
        </p:nvSpPr>
        <p:spPr bwMode="auto">
          <a:xfrm>
            <a:off x="4905375" y="4243388"/>
            <a:ext cx="1377950" cy="957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16" name="Line 16">
            <a:extLst>
              <a:ext uri="{FF2B5EF4-FFF2-40B4-BE49-F238E27FC236}">
                <a16:creationId xmlns:a16="http://schemas.microsoft.com/office/drawing/2014/main" id="{9C035968-58F5-4F8A-A9F5-D55D5E8C26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05375" y="4810126"/>
            <a:ext cx="1385888" cy="619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17" name="Line 17">
            <a:extLst>
              <a:ext uri="{FF2B5EF4-FFF2-40B4-BE49-F238E27FC236}">
                <a16:creationId xmlns:a16="http://schemas.microsoft.com/office/drawing/2014/main" id="{3D6D4180-B1D5-4FC8-BA92-2033D51836B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05375" y="5651500"/>
            <a:ext cx="1377950" cy="192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18" name="Line 18">
            <a:extLst>
              <a:ext uri="{FF2B5EF4-FFF2-40B4-BE49-F238E27FC236}">
                <a16:creationId xmlns:a16="http://schemas.microsoft.com/office/drawing/2014/main" id="{F9733046-5F7C-49A2-90A9-5D03E8FD3C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05375" y="4375151"/>
            <a:ext cx="1385888" cy="258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19" name="Line 19">
            <a:extLst>
              <a:ext uri="{FF2B5EF4-FFF2-40B4-BE49-F238E27FC236}">
                <a16:creationId xmlns:a16="http://schemas.microsoft.com/office/drawing/2014/main" id="{DCF513A4-63F5-46CE-94C4-2054874F015D}"/>
              </a:ext>
            </a:extLst>
          </p:cNvPr>
          <p:cNvSpPr>
            <a:spLocks noChangeShapeType="1"/>
          </p:cNvSpPr>
          <p:nvPr/>
        </p:nvSpPr>
        <p:spPr bwMode="auto">
          <a:xfrm>
            <a:off x="4905375" y="5024439"/>
            <a:ext cx="1392238" cy="611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32">
            <a:extLst>
              <a:ext uri="{FF2B5EF4-FFF2-40B4-BE49-F238E27FC236}">
                <a16:creationId xmlns:a16="http://schemas.microsoft.com/office/drawing/2014/main" id="{3CF9F183-DD74-49EF-8010-59E1BBC9F0DE}"/>
              </a:ext>
            </a:extLst>
          </p:cNvPr>
          <p:cNvGrpSpPr>
            <a:grpSpLocks/>
          </p:cNvGrpSpPr>
          <p:nvPr/>
        </p:nvGrpSpPr>
        <p:grpSpPr bwMode="auto">
          <a:xfrm>
            <a:off x="4891089" y="4237039"/>
            <a:ext cx="1392237" cy="1608137"/>
            <a:chOff x="1961" y="2477"/>
            <a:chExt cx="877" cy="1013"/>
          </a:xfrm>
        </p:grpSpPr>
        <p:sp>
          <p:nvSpPr>
            <p:cNvPr id="51260" name="Line 26">
              <a:extLst>
                <a:ext uri="{FF2B5EF4-FFF2-40B4-BE49-F238E27FC236}">
                  <a16:creationId xmlns:a16="http://schemas.microsoft.com/office/drawing/2014/main" id="{E66FC9E9-66DD-46E2-8E41-11EB055AB6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1" y="2477"/>
              <a:ext cx="873" cy="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61" name="Line 27">
              <a:extLst>
                <a:ext uri="{FF2B5EF4-FFF2-40B4-BE49-F238E27FC236}">
                  <a16:creationId xmlns:a16="http://schemas.microsoft.com/office/drawing/2014/main" id="{01153E61-0CF0-4615-B8B4-1F05C89BAB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1" y="2482"/>
              <a:ext cx="868" cy="6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62" name="Line 28">
              <a:extLst>
                <a:ext uri="{FF2B5EF4-FFF2-40B4-BE49-F238E27FC236}">
                  <a16:creationId xmlns:a16="http://schemas.microsoft.com/office/drawing/2014/main" id="{862F861D-FB31-4AE1-80DF-0AF6593C40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1" y="2839"/>
              <a:ext cx="873" cy="3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63" name="Line 29">
              <a:extLst>
                <a:ext uri="{FF2B5EF4-FFF2-40B4-BE49-F238E27FC236}">
                  <a16:creationId xmlns:a16="http://schemas.microsoft.com/office/drawing/2014/main" id="{B11CE83E-27BD-403A-809B-5DA2608250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1" y="3369"/>
              <a:ext cx="868" cy="1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64" name="Line 30">
              <a:extLst>
                <a:ext uri="{FF2B5EF4-FFF2-40B4-BE49-F238E27FC236}">
                  <a16:creationId xmlns:a16="http://schemas.microsoft.com/office/drawing/2014/main" id="{6DEACA71-B0FB-43D0-AC3B-2F37D7E1EA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1" y="2565"/>
              <a:ext cx="873" cy="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65" name="Line 31">
              <a:extLst>
                <a:ext uri="{FF2B5EF4-FFF2-40B4-BE49-F238E27FC236}">
                  <a16:creationId xmlns:a16="http://schemas.microsoft.com/office/drawing/2014/main" id="{71D1E6F8-3C29-476A-9598-1CAFD2A6BD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1" y="2974"/>
              <a:ext cx="877" cy="3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45">
            <a:extLst>
              <a:ext uri="{FF2B5EF4-FFF2-40B4-BE49-F238E27FC236}">
                <a16:creationId xmlns:a16="http://schemas.microsoft.com/office/drawing/2014/main" id="{F3CE2164-473A-4DCD-B2F3-598FEADA6FD0}"/>
              </a:ext>
            </a:extLst>
          </p:cNvPr>
          <p:cNvGrpSpPr>
            <a:grpSpLocks/>
          </p:cNvGrpSpPr>
          <p:nvPr/>
        </p:nvGrpSpPr>
        <p:grpSpPr bwMode="auto">
          <a:xfrm>
            <a:off x="3403601" y="4271963"/>
            <a:ext cx="1228725" cy="1592262"/>
            <a:chOff x="1024" y="2499"/>
            <a:chExt cx="774" cy="1003"/>
          </a:xfrm>
        </p:grpSpPr>
        <p:grpSp>
          <p:nvGrpSpPr>
            <p:cNvPr id="51252" name="Group 39">
              <a:extLst>
                <a:ext uri="{FF2B5EF4-FFF2-40B4-BE49-F238E27FC236}">
                  <a16:creationId xmlns:a16="http://schemas.microsoft.com/office/drawing/2014/main" id="{D6E55850-08B0-4CEC-A94C-1E9A267666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8" y="2499"/>
              <a:ext cx="740" cy="1003"/>
              <a:chOff x="1058" y="2499"/>
              <a:chExt cx="740" cy="1003"/>
            </a:xfrm>
          </p:grpSpPr>
          <p:sp>
            <p:nvSpPr>
              <p:cNvPr id="51254" name="Oval 20">
                <a:extLst>
                  <a:ext uri="{FF2B5EF4-FFF2-40B4-BE49-F238E27FC236}">
                    <a16:creationId xmlns:a16="http://schemas.microsoft.com/office/drawing/2014/main" id="{F22CCA53-F7DA-40C0-BD48-A2CBD824E7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8" y="2860"/>
                <a:ext cx="176" cy="17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/>
                <a:endParaRPr lang="en-US" altLang="zh-CN"/>
              </a:p>
            </p:txBody>
          </p:sp>
          <p:sp>
            <p:nvSpPr>
              <p:cNvPr id="51255" name="Line 21">
                <a:extLst>
                  <a:ext uri="{FF2B5EF4-FFF2-40B4-BE49-F238E27FC236}">
                    <a16:creationId xmlns:a16="http://schemas.microsoft.com/office/drawing/2014/main" id="{FC081245-4E1E-4B89-BA45-44D9AD6A85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31" y="2499"/>
                <a:ext cx="567" cy="4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56" name="Line 22">
                <a:extLst>
                  <a:ext uri="{FF2B5EF4-FFF2-40B4-BE49-F238E27FC236}">
                    <a16:creationId xmlns:a16="http://schemas.microsoft.com/office/drawing/2014/main" id="{C016928B-7428-4C65-8E3F-526F2F6DA2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31" y="2741"/>
                <a:ext cx="567" cy="19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57" name="Line 23">
                <a:extLst>
                  <a:ext uri="{FF2B5EF4-FFF2-40B4-BE49-F238E27FC236}">
                    <a16:creationId xmlns:a16="http://schemas.microsoft.com/office/drawing/2014/main" id="{ED8C07D8-3628-44E4-A2D6-BE7F91BF13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1" y="2940"/>
                <a:ext cx="567" cy="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58" name="Line 24">
                <a:extLst>
                  <a:ext uri="{FF2B5EF4-FFF2-40B4-BE49-F238E27FC236}">
                    <a16:creationId xmlns:a16="http://schemas.microsoft.com/office/drawing/2014/main" id="{6A783513-DF4E-405A-9A13-693683D447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1" y="2936"/>
                <a:ext cx="562" cy="30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59" name="Line 25">
                <a:extLst>
                  <a:ext uri="{FF2B5EF4-FFF2-40B4-BE49-F238E27FC236}">
                    <a16:creationId xmlns:a16="http://schemas.microsoft.com/office/drawing/2014/main" id="{8D3D63D4-93F6-4DE3-831E-CC58838A35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1" y="2940"/>
                <a:ext cx="567" cy="5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1253" name="Text Box 41">
              <a:extLst>
                <a:ext uri="{FF2B5EF4-FFF2-40B4-BE49-F238E27FC236}">
                  <a16:creationId xmlns:a16="http://schemas.microsoft.com/office/drawing/2014/main" id="{B2072685-116F-4137-B919-77C3BA676B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4" y="3013"/>
              <a:ext cx="21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CN" sz="2400"/>
                <a:t>s</a:t>
              </a:r>
            </a:p>
          </p:txBody>
        </p:sp>
      </p:grpSp>
      <p:sp>
        <p:nvSpPr>
          <p:cNvPr id="51222" name="Text Box 42">
            <a:extLst>
              <a:ext uri="{FF2B5EF4-FFF2-40B4-BE49-F238E27FC236}">
                <a16:creationId xmlns:a16="http://schemas.microsoft.com/office/drawing/2014/main" id="{3B4E3C40-3DD9-45B8-8A14-52650D36E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8514" y="6081713"/>
            <a:ext cx="369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CN" sz="2400" dirty="0"/>
              <a:t>L</a:t>
            </a:r>
          </a:p>
        </p:txBody>
      </p:sp>
      <p:sp>
        <p:nvSpPr>
          <p:cNvPr id="51223" name="Text Box 43">
            <a:extLst>
              <a:ext uri="{FF2B5EF4-FFF2-40B4-BE49-F238E27FC236}">
                <a16:creationId xmlns:a16="http://schemas.microsoft.com/office/drawing/2014/main" id="{5B5DEC84-DE93-46CF-BD5A-B0F39CD7BC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2051" y="6073775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CN" sz="2400"/>
              <a:t>R</a:t>
            </a:r>
          </a:p>
        </p:txBody>
      </p:sp>
      <p:grpSp>
        <p:nvGrpSpPr>
          <p:cNvPr id="5" name="Group 46">
            <a:extLst>
              <a:ext uri="{FF2B5EF4-FFF2-40B4-BE49-F238E27FC236}">
                <a16:creationId xmlns:a16="http://schemas.microsoft.com/office/drawing/2014/main" id="{06BCAB69-EA34-4465-B506-D748832F41B1}"/>
              </a:ext>
            </a:extLst>
          </p:cNvPr>
          <p:cNvGrpSpPr>
            <a:grpSpLocks/>
          </p:cNvGrpSpPr>
          <p:nvPr/>
        </p:nvGrpSpPr>
        <p:grpSpPr bwMode="auto">
          <a:xfrm>
            <a:off x="6556374" y="4389439"/>
            <a:ext cx="1196975" cy="1246187"/>
            <a:chOff x="3010" y="2573"/>
            <a:chExt cx="754" cy="785"/>
          </a:xfrm>
        </p:grpSpPr>
        <p:grpSp>
          <p:nvGrpSpPr>
            <p:cNvPr id="51245" name="Group 40">
              <a:extLst>
                <a:ext uri="{FF2B5EF4-FFF2-40B4-BE49-F238E27FC236}">
                  <a16:creationId xmlns:a16="http://schemas.microsoft.com/office/drawing/2014/main" id="{4CD0FD26-6A5B-4AA9-9C2D-C677870871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10" y="2573"/>
              <a:ext cx="754" cy="785"/>
              <a:chOff x="3010" y="2573"/>
              <a:chExt cx="754" cy="785"/>
            </a:xfrm>
          </p:grpSpPr>
          <p:sp>
            <p:nvSpPr>
              <p:cNvPr id="51247" name="Oval 33">
                <a:extLst>
                  <a:ext uri="{FF2B5EF4-FFF2-40B4-BE49-F238E27FC236}">
                    <a16:creationId xmlns:a16="http://schemas.microsoft.com/office/drawing/2014/main" id="{6E456121-E05C-4915-90FD-A442F5CD0E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8" y="2844"/>
                <a:ext cx="176" cy="17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/>
                <a:endParaRPr lang="en-US" altLang="zh-CN"/>
              </a:p>
            </p:txBody>
          </p:sp>
          <p:sp>
            <p:nvSpPr>
              <p:cNvPr id="51248" name="Line 34">
                <a:extLst>
                  <a:ext uri="{FF2B5EF4-FFF2-40B4-BE49-F238E27FC236}">
                    <a16:creationId xmlns:a16="http://schemas.microsoft.com/office/drawing/2014/main" id="{37858C6C-3AE2-407D-9BD2-7F64387110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0" y="2573"/>
                <a:ext cx="576" cy="3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49" name="Line 35">
                <a:extLst>
                  <a:ext uri="{FF2B5EF4-FFF2-40B4-BE49-F238E27FC236}">
                    <a16:creationId xmlns:a16="http://schemas.microsoft.com/office/drawing/2014/main" id="{60137763-454F-4654-944C-2EA6B0545C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0" y="2824"/>
                <a:ext cx="576" cy="10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50" name="Line 36">
                <a:extLst>
                  <a:ext uri="{FF2B5EF4-FFF2-40B4-BE49-F238E27FC236}">
                    <a16:creationId xmlns:a16="http://schemas.microsoft.com/office/drawing/2014/main" id="{2E0D6A60-7F2C-4867-9789-ACBB0749BB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10" y="2945"/>
                <a:ext cx="571" cy="13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51" name="Line 37">
                <a:extLst>
                  <a:ext uri="{FF2B5EF4-FFF2-40B4-BE49-F238E27FC236}">
                    <a16:creationId xmlns:a16="http://schemas.microsoft.com/office/drawing/2014/main" id="{3DA91B98-401A-400F-A5B7-F981A993A1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15" y="2940"/>
                <a:ext cx="571" cy="4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1246" name="Text Box 44">
              <a:extLst>
                <a:ext uri="{FF2B5EF4-FFF2-40B4-BE49-F238E27FC236}">
                  <a16:creationId xmlns:a16="http://schemas.microsoft.com/office/drawing/2014/main" id="{8956B92D-7869-42DC-87A3-88E46C5FC1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1" y="3062"/>
              <a:ext cx="17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CN" sz="2400"/>
                <a:t>t</a:t>
              </a:r>
            </a:p>
          </p:txBody>
        </p:sp>
      </p:grpSp>
      <p:sp>
        <p:nvSpPr>
          <p:cNvPr id="51225" name="Text Box 47">
            <a:extLst>
              <a:ext uri="{FF2B5EF4-FFF2-40B4-BE49-F238E27FC236}">
                <a16:creationId xmlns:a16="http://schemas.microsoft.com/office/drawing/2014/main" id="{8E15372E-79DD-4443-985C-8FD421450A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0175" y="3733800"/>
            <a:ext cx="420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CC0000"/>
                </a:solidFill>
              </a:rPr>
              <a:t>G</a:t>
            </a:r>
          </a:p>
        </p:txBody>
      </p:sp>
      <p:grpSp>
        <p:nvGrpSpPr>
          <p:cNvPr id="7" name="Group 50">
            <a:extLst>
              <a:ext uri="{FF2B5EF4-FFF2-40B4-BE49-F238E27FC236}">
                <a16:creationId xmlns:a16="http://schemas.microsoft.com/office/drawing/2014/main" id="{27DD09A2-CEBC-4673-B355-BF69AACF5871}"/>
              </a:ext>
            </a:extLst>
          </p:cNvPr>
          <p:cNvGrpSpPr>
            <a:grpSpLocks/>
          </p:cNvGrpSpPr>
          <p:nvPr/>
        </p:nvGrpSpPr>
        <p:grpSpPr bwMode="auto">
          <a:xfrm>
            <a:off x="2536825" y="3732213"/>
            <a:ext cx="6269038" cy="2855912"/>
            <a:chOff x="478" y="2159"/>
            <a:chExt cx="3949" cy="1799"/>
          </a:xfrm>
        </p:grpSpPr>
        <p:sp>
          <p:nvSpPr>
            <p:cNvPr id="51243" name="Oval 48">
              <a:extLst>
                <a:ext uri="{FF2B5EF4-FFF2-40B4-BE49-F238E27FC236}">
                  <a16:creationId xmlns:a16="http://schemas.microsoft.com/office/drawing/2014/main" id="{C4BAB20F-204B-4F35-B451-F3502D1825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" y="2178"/>
              <a:ext cx="3949" cy="1780"/>
            </a:xfrm>
            <a:prstGeom prst="ellips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/>
              <a:endParaRPr lang="en-US" altLang="zh-CN">
                <a:solidFill>
                  <a:srgbClr val="0066FF"/>
                </a:solidFill>
              </a:endParaRPr>
            </a:p>
          </p:txBody>
        </p:sp>
        <p:sp>
          <p:nvSpPr>
            <p:cNvPr id="51244" name="Text Box 49">
              <a:extLst>
                <a:ext uri="{FF2B5EF4-FFF2-40B4-BE49-F238E27FC236}">
                  <a16:creationId xmlns:a16="http://schemas.microsoft.com/office/drawing/2014/main" id="{524CD891-6BE7-4561-A76C-EC4F817159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0" y="2159"/>
              <a:ext cx="50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CN" sz="2400">
                  <a:solidFill>
                    <a:srgbClr val="0066FF"/>
                  </a:solidFill>
                  <a:sym typeface="Wingdings" panose="05000000000000000000" pitchFamily="2" charset="2"/>
                </a:rPr>
                <a:t>G’</a:t>
              </a:r>
              <a:endParaRPr lang="en-US" altLang="zh-CN" sz="2400">
                <a:solidFill>
                  <a:srgbClr val="0066FF"/>
                </a:solidFill>
              </a:endParaRPr>
            </a:p>
          </p:txBody>
        </p:sp>
      </p:grpSp>
      <p:grpSp>
        <p:nvGrpSpPr>
          <p:cNvPr id="8" name="Group 66">
            <a:extLst>
              <a:ext uri="{FF2B5EF4-FFF2-40B4-BE49-F238E27FC236}">
                <a16:creationId xmlns:a16="http://schemas.microsoft.com/office/drawing/2014/main" id="{01FCDD19-9B6E-40C2-AEAB-32EE2180BFE3}"/>
              </a:ext>
            </a:extLst>
          </p:cNvPr>
          <p:cNvGrpSpPr>
            <a:grpSpLocks/>
          </p:cNvGrpSpPr>
          <p:nvPr/>
        </p:nvGrpSpPr>
        <p:grpSpPr bwMode="auto">
          <a:xfrm>
            <a:off x="4051300" y="4052888"/>
            <a:ext cx="3157538" cy="1738312"/>
            <a:chOff x="1432" y="2361"/>
            <a:chExt cx="1989" cy="1095"/>
          </a:xfrm>
        </p:grpSpPr>
        <p:sp>
          <p:nvSpPr>
            <p:cNvPr id="51228" name="Text Box 51">
              <a:extLst>
                <a:ext uri="{FF2B5EF4-FFF2-40B4-BE49-F238E27FC236}">
                  <a16:creationId xmlns:a16="http://schemas.microsoft.com/office/drawing/2014/main" id="{799DE870-4989-45B8-AF9C-0B5C56B840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2" y="2473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CN" sz="1400"/>
                <a:t>1</a:t>
              </a:r>
            </a:p>
          </p:txBody>
        </p:sp>
        <p:sp>
          <p:nvSpPr>
            <p:cNvPr id="51229" name="Text Box 52">
              <a:extLst>
                <a:ext uri="{FF2B5EF4-FFF2-40B4-BE49-F238E27FC236}">
                  <a16:creationId xmlns:a16="http://schemas.microsoft.com/office/drawing/2014/main" id="{B6704289-F189-4268-BAE2-7001CE61A2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1" y="2623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CN" sz="1400"/>
                <a:t>1</a:t>
              </a:r>
            </a:p>
          </p:txBody>
        </p:sp>
        <p:sp>
          <p:nvSpPr>
            <p:cNvPr id="51230" name="Text Box 53">
              <a:extLst>
                <a:ext uri="{FF2B5EF4-FFF2-40B4-BE49-F238E27FC236}">
                  <a16:creationId xmlns:a16="http://schemas.microsoft.com/office/drawing/2014/main" id="{FCCAE730-7DD6-416A-AFB0-FAA8FC3ACC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0" y="2799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CN" sz="1400"/>
                <a:t>1</a:t>
              </a:r>
            </a:p>
          </p:txBody>
        </p:sp>
        <p:sp>
          <p:nvSpPr>
            <p:cNvPr id="51231" name="Text Box 54">
              <a:extLst>
                <a:ext uri="{FF2B5EF4-FFF2-40B4-BE49-F238E27FC236}">
                  <a16:creationId xmlns:a16="http://schemas.microsoft.com/office/drawing/2014/main" id="{B58A87D4-B075-43B4-A878-79126C9719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9" y="2992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CN" sz="1400"/>
                <a:t>1</a:t>
              </a:r>
            </a:p>
          </p:txBody>
        </p:sp>
        <p:sp>
          <p:nvSpPr>
            <p:cNvPr id="51232" name="Text Box 55">
              <a:extLst>
                <a:ext uri="{FF2B5EF4-FFF2-40B4-BE49-F238E27FC236}">
                  <a16:creationId xmlns:a16="http://schemas.microsoft.com/office/drawing/2014/main" id="{28C59058-3805-43D8-A8C0-AB3A7FBC8C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2" y="3226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CN" sz="1400"/>
                <a:t>1</a:t>
              </a:r>
            </a:p>
          </p:txBody>
        </p:sp>
        <p:sp>
          <p:nvSpPr>
            <p:cNvPr id="51233" name="Text Box 56">
              <a:extLst>
                <a:ext uri="{FF2B5EF4-FFF2-40B4-BE49-F238E27FC236}">
                  <a16:creationId xmlns:a16="http://schemas.microsoft.com/office/drawing/2014/main" id="{F9465E24-AD74-456E-87B9-A7342693A0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0" y="2361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CN" sz="1400"/>
                <a:t>1</a:t>
              </a:r>
            </a:p>
          </p:txBody>
        </p:sp>
        <p:sp>
          <p:nvSpPr>
            <p:cNvPr id="51234" name="Text Box 57">
              <a:extLst>
                <a:ext uri="{FF2B5EF4-FFF2-40B4-BE49-F238E27FC236}">
                  <a16:creationId xmlns:a16="http://schemas.microsoft.com/office/drawing/2014/main" id="{0D96766E-5594-45A5-9173-F6A2B3D8DE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2" y="2596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CN" sz="1400"/>
                <a:t>1</a:t>
              </a:r>
            </a:p>
          </p:txBody>
        </p:sp>
        <p:sp>
          <p:nvSpPr>
            <p:cNvPr id="51235" name="Text Box 58">
              <a:extLst>
                <a:ext uri="{FF2B5EF4-FFF2-40B4-BE49-F238E27FC236}">
                  <a16:creationId xmlns:a16="http://schemas.microsoft.com/office/drawing/2014/main" id="{038E1992-4927-4427-9D47-A957F9D613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5" y="2724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CN" sz="1400"/>
                <a:t>1</a:t>
              </a:r>
            </a:p>
          </p:txBody>
        </p:sp>
        <p:sp>
          <p:nvSpPr>
            <p:cNvPr id="51236" name="Text Box 59">
              <a:extLst>
                <a:ext uri="{FF2B5EF4-FFF2-40B4-BE49-F238E27FC236}">
                  <a16:creationId xmlns:a16="http://schemas.microsoft.com/office/drawing/2014/main" id="{363C3215-777A-410B-A011-2101EDE848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8" y="2881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CN" sz="1400"/>
                <a:t>1</a:t>
              </a:r>
            </a:p>
          </p:txBody>
        </p:sp>
        <p:sp>
          <p:nvSpPr>
            <p:cNvPr id="51237" name="Text Box 60">
              <a:extLst>
                <a:ext uri="{FF2B5EF4-FFF2-40B4-BE49-F238E27FC236}">
                  <a16:creationId xmlns:a16="http://schemas.microsoft.com/office/drawing/2014/main" id="{D694C499-EB7A-471D-9F68-B92B00DE64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5" y="3107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CN" sz="1400"/>
                <a:t>1</a:t>
              </a:r>
            </a:p>
          </p:txBody>
        </p:sp>
        <p:sp>
          <p:nvSpPr>
            <p:cNvPr id="51238" name="Text Box 61">
              <a:extLst>
                <a:ext uri="{FF2B5EF4-FFF2-40B4-BE49-F238E27FC236}">
                  <a16:creationId xmlns:a16="http://schemas.microsoft.com/office/drawing/2014/main" id="{9DBFC889-3219-484B-96B6-94EF243699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3" y="3264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CN" sz="1400"/>
                <a:t>1</a:t>
              </a:r>
            </a:p>
          </p:txBody>
        </p:sp>
        <p:sp>
          <p:nvSpPr>
            <p:cNvPr id="51239" name="Text Box 62">
              <a:extLst>
                <a:ext uri="{FF2B5EF4-FFF2-40B4-BE49-F238E27FC236}">
                  <a16:creationId xmlns:a16="http://schemas.microsoft.com/office/drawing/2014/main" id="{2CEA1043-87E2-4E10-BD88-C18A0F45EB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3" y="3142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CN" sz="1400"/>
                <a:t>1</a:t>
              </a:r>
            </a:p>
          </p:txBody>
        </p:sp>
        <p:sp>
          <p:nvSpPr>
            <p:cNvPr id="51240" name="Text Box 63">
              <a:extLst>
                <a:ext uri="{FF2B5EF4-FFF2-40B4-BE49-F238E27FC236}">
                  <a16:creationId xmlns:a16="http://schemas.microsoft.com/office/drawing/2014/main" id="{4CF4B97F-95A6-488C-8E8F-324F09CADF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8" y="2992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CN" sz="1400"/>
                <a:t>1</a:t>
              </a:r>
            </a:p>
          </p:txBody>
        </p:sp>
        <p:sp>
          <p:nvSpPr>
            <p:cNvPr id="51241" name="Text Box 64">
              <a:extLst>
                <a:ext uri="{FF2B5EF4-FFF2-40B4-BE49-F238E27FC236}">
                  <a16:creationId xmlns:a16="http://schemas.microsoft.com/office/drawing/2014/main" id="{55BCE392-E3D4-4244-B00B-A938D28AF3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0" y="2684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CN" sz="1400"/>
                <a:t>1</a:t>
              </a:r>
            </a:p>
          </p:txBody>
        </p:sp>
        <p:sp>
          <p:nvSpPr>
            <p:cNvPr id="51242" name="Text Box 65">
              <a:extLst>
                <a:ext uri="{FF2B5EF4-FFF2-40B4-BE49-F238E27FC236}">
                  <a16:creationId xmlns:a16="http://schemas.microsoft.com/office/drawing/2014/main" id="{04E95353-4CBD-4730-A5B4-4024DCF7F4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9" y="2557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CN" sz="1400"/>
                <a:t>1</a:t>
              </a:r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654DC090-E7B2-820B-E536-6E4BB7CD4509}"/>
              </a:ext>
            </a:extLst>
          </p:cNvPr>
          <p:cNvSpPr txBox="1"/>
          <p:nvPr/>
        </p:nvSpPr>
        <p:spPr>
          <a:xfrm>
            <a:off x="380724" y="299408"/>
            <a:ext cx="4389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对应的最大流问题</a:t>
            </a:r>
          </a:p>
        </p:txBody>
      </p:sp>
      <p:sp>
        <p:nvSpPr>
          <p:cNvPr id="6" name="圆角矩形 8">
            <a:extLst>
              <a:ext uri="{FF2B5EF4-FFF2-40B4-BE49-F238E27FC236}">
                <a16:creationId xmlns:a16="http://schemas.microsoft.com/office/drawing/2014/main" id="{6D1BA0E4-1176-3C43-C2C5-F8FB095FE629}"/>
              </a:ext>
            </a:extLst>
          </p:cNvPr>
          <p:cNvSpPr/>
          <p:nvPr/>
        </p:nvSpPr>
        <p:spPr>
          <a:xfrm>
            <a:off x="238666" y="311105"/>
            <a:ext cx="4220212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CC51970-4F5B-F427-EA1F-0F38DB0C9F83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D17089F-AB64-AF9F-9FD6-D98655413479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1528549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43" grpId="0" build="p" bldLvl="2" autoUpdateAnimBg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1535" y="1731420"/>
            <a:ext cx="10661715" cy="3395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spcBef>
                <a:spcPts val="55"/>
              </a:spcBef>
            </a:pPr>
            <a:endParaRPr sz="2650" dirty="0">
              <a:latin typeface="思源黑体 CN Normal" panose="020B0400000000000000" pitchFamily="34" charset="-122"/>
              <a:ea typeface="思源黑体 CN Normal" panose="020B0400000000000000" pitchFamily="34" charset="-122"/>
              <a:cs typeface="Heiti SC"/>
            </a:endParaRPr>
          </a:p>
          <a:p>
            <a:pPr marL="12700"/>
            <a:r>
              <a:rPr sz="2800" spc="-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引理：</a:t>
            </a:r>
            <a:endParaRPr sz="2800" dirty="0">
              <a:latin typeface="思源黑体 CN Normal" panose="020B0400000000000000" pitchFamily="34" charset="-122"/>
              <a:ea typeface="思源黑体 CN Normal" panose="020B0400000000000000" pitchFamily="34" charset="-122"/>
              <a:cs typeface="Arial Unicode MS"/>
            </a:endParaRPr>
          </a:p>
          <a:p>
            <a:pPr marL="12700" marR="271145">
              <a:lnSpc>
                <a:spcPts val="3310"/>
              </a:lnSpc>
              <a:spcBef>
                <a:spcPts val="200"/>
              </a:spcBef>
              <a:buClr>
                <a:srgbClr val="0000CC"/>
              </a:buClr>
              <a:buChar char="*"/>
              <a:tabLst>
                <a:tab pos="255270" algn="l"/>
              </a:tabLst>
            </a:pPr>
            <a:r>
              <a:rPr sz="2800" spc="-1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设</a:t>
            </a:r>
            <a:r>
              <a:rPr sz="2800" spc="-15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G=(V,E)</a:t>
            </a:r>
            <a:r>
              <a:rPr sz="2800" spc="-1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是一个二分图，其顶点划</a:t>
            </a:r>
            <a:r>
              <a:rPr sz="2800" spc="-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分</a:t>
            </a:r>
            <a:r>
              <a:rPr sz="2800" spc="17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V=L∪R,</a:t>
            </a:r>
            <a:r>
              <a:rPr sz="2800" spc="-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设 </a:t>
            </a:r>
            <a:r>
              <a:rPr sz="2800" spc="-11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G’=(V’,E’)</a:t>
            </a:r>
            <a:r>
              <a:rPr sz="2800" spc="-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是</a:t>
            </a:r>
            <a:r>
              <a:rPr lang="en-US" sz="2800" spc="-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     </a:t>
            </a:r>
            <a:r>
              <a:rPr sz="2800" spc="-5" dirty="0" err="1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其对应的流网络</a:t>
            </a:r>
            <a:r>
              <a:rPr sz="2800" spc="-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。</a:t>
            </a:r>
            <a:endParaRPr sz="2800" dirty="0">
              <a:latin typeface="思源黑体 CN Normal" panose="020B0400000000000000" pitchFamily="34" charset="-122"/>
              <a:ea typeface="思源黑体 CN Normal" panose="020B0400000000000000" pitchFamily="34" charset="-122"/>
              <a:cs typeface="Arial Unicode MS"/>
            </a:endParaRPr>
          </a:p>
          <a:p>
            <a:pPr marL="12700" marR="5080">
              <a:lnSpc>
                <a:spcPts val="3360"/>
              </a:lnSpc>
              <a:spcBef>
                <a:spcPts val="15"/>
              </a:spcBef>
              <a:buClr>
                <a:srgbClr val="0000CC"/>
              </a:buClr>
              <a:buChar char="*"/>
              <a:tabLst>
                <a:tab pos="256540" algn="l"/>
              </a:tabLst>
            </a:pPr>
            <a:r>
              <a:rPr sz="2800" spc="-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如果</a:t>
            </a:r>
            <a:r>
              <a:rPr sz="2800" spc="9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M</a:t>
            </a:r>
            <a:r>
              <a:rPr sz="2800" spc="-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是</a:t>
            </a:r>
            <a:r>
              <a:rPr sz="2800" spc="-29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G</a:t>
            </a:r>
            <a:r>
              <a:rPr sz="2800" spc="-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的</a:t>
            </a:r>
            <a:r>
              <a:rPr sz="28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匹</a:t>
            </a:r>
            <a:r>
              <a:rPr sz="2800" spc="-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配，</a:t>
            </a:r>
            <a:r>
              <a:rPr sz="28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则</a:t>
            </a:r>
            <a:r>
              <a:rPr sz="2800" spc="-22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G</a:t>
            </a:r>
            <a:r>
              <a:rPr sz="2800" spc="-5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’</a:t>
            </a:r>
            <a:r>
              <a:rPr sz="2800" spc="-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中存在</a:t>
            </a:r>
            <a:r>
              <a:rPr sz="28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一</a:t>
            </a:r>
            <a:r>
              <a:rPr sz="2800" spc="-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个整数</a:t>
            </a:r>
            <a:r>
              <a:rPr sz="28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值</a:t>
            </a:r>
            <a:r>
              <a:rPr sz="2800" spc="-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的</a:t>
            </a:r>
            <a:r>
              <a:rPr sz="2800" spc="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流</a:t>
            </a:r>
            <a:r>
              <a:rPr sz="2800" spc="4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f</a:t>
            </a:r>
            <a:r>
              <a:rPr sz="2800" spc="-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， </a:t>
            </a:r>
            <a:r>
              <a:rPr sz="2800" spc="-1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且</a:t>
            </a:r>
            <a:r>
              <a:rPr sz="28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|f|=|M|</a:t>
            </a:r>
            <a:r>
              <a:rPr sz="2800" spc="-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。</a:t>
            </a:r>
            <a:endParaRPr sz="2800" dirty="0">
              <a:latin typeface="思源黑体 CN Normal" panose="020B0400000000000000" pitchFamily="34" charset="-122"/>
              <a:ea typeface="思源黑体 CN Normal" panose="020B0400000000000000" pitchFamily="34" charset="-122"/>
              <a:cs typeface="Arial Unicode MS"/>
            </a:endParaRPr>
          </a:p>
          <a:p>
            <a:pPr marL="12700" marR="220345">
              <a:lnSpc>
                <a:spcPts val="3360"/>
              </a:lnSpc>
              <a:buClr>
                <a:srgbClr val="0000CC"/>
              </a:buClr>
              <a:buChar char="*"/>
              <a:tabLst>
                <a:tab pos="255270" algn="l"/>
              </a:tabLst>
            </a:pPr>
            <a:r>
              <a:rPr sz="2800" spc="-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相反，如</a:t>
            </a:r>
            <a:r>
              <a:rPr sz="2800" spc="-1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果</a:t>
            </a:r>
            <a:r>
              <a:rPr sz="2800" spc="4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f</a:t>
            </a:r>
            <a:r>
              <a:rPr sz="2800" spc="-6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 </a:t>
            </a:r>
            <a:r>
              <a:rPr sz="2800" spc="-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是</a:t>
            </a:r>
            <a:r>
              <a:rPr sz="2800" spc="-14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G’</a:t>
            </a:r>
            <a:r>
              <a:rPr sz="2800" spc="-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中的整数值流，</a:t>
            </a:r>
            <a:r>
              <a:rPr sz="2800" spc="-2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则</a:t>
            </a:r>
            <a:r>
              <a:rPr sz="2800" spc="-29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G</a:t>
            </a:r>
            <a:r>
              <a:rPr sz="2800" spc="-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中存在</a:t>
            </a:r>
            <a:r>
              <a:rPr sz="28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一</a:t>
            </a:r>
            <a:r>
              <a:rPr sz="2800" spc="-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匹 配</a:t>
            </a:r>
            <a:r>
              <a:rPr sz="2800" spc="9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M</a:t>
            </a:r>
            <a:r>
              <a:rPr sz="2800" spc="-5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满足 </a:t>
            </a:r>
            <a:r>
              <a:rPr sz="28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|M|=|f|</a:t>
            </a:r>
          </a:p>
          <a:p>
            <a:pPr>
              <a:spcBef>
                <a:spcPts val="35"/>
              </a:spcBef>
            </a:pPr>
            <a:endParaRPr sz="2400" dirty="0">
              <a:latin typeface="思源黑体 CN Normal" panose="020B0400000000000000" pitchFamily="34" charset="-122"/>
              <a:ea typeface="思源黑体 CN Normal" panose="020B0400000000000000" pitchFamily="34" charset="-122"/>
              <a:cs typeface="Arial Unicode MS"/>
            </a:endParaRPr>
          </a:p>
          <a:p>
            <a:pPr marL="12700"/>
            <a:r>
              <a:rPr sz="2800" spc="-1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一个最大匹配对应于流网</a:t>
            </a:r>
            <a:r>
              <a:rPr sz="2800" spc="-5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络</a:t>
            </a:r>
            <a:r>
              <a:rPr sz="2800" spc="-145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G’</a:t>
            </a:r>
            <a:r>
              <a:rPr sz="2800" spc="-5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中的</a:t>
            </a:r>
            <a:r>
              <a:rPr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一</a:t>
            </a:r>
            <a:r>
              <a:rPr sz="2800" spc="-5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个最</a:t>
            </a:r>
            <a:r>
              <a:rPr sz="28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大</a:t>
            </a:r>
            <a:r>
              <a:rPr sz="2800" spc="-5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 Unicode MS"/>
              </a:rPr>
              <a:t>流。</a:t>
            </a:r>
            <a:endParaRPr sz="2800" dirty="0">
              <a:solidFill>
                <a:srgbClr val="00B05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Arial Unicode M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9316D98-BDAA-1835-9C5A-C6C0E4407255}"/>
              </a:ext>
            </a:extLst>
          </p:cNvPr>
          <p:cNvSpPr txBox="1"/>
          <p:nvPr/>
        </p:nvSpPr>
        <p:spPr>
          <a:xfrm>
            <a:off x="380723" y="299408"/>
            <a:ext cx="54921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从最大二分匹配到最大流</a:t>
            </a:r>
          </a:p>
        </p:txBody>
      </p:sp>
      <p:sp>
        <p:nvSpPr>
          <p:cNvPr id="4" name="圆角矩形 8">
            <a:extLst>
              <a:ext uri="{FF2B5EF4-FFF2-40B4-BE49-F238E27FC236}">
                <a16:creationId xmlns:a16="http://schemas.microsoft.com/office/drawing/2014/main" id="{DCCC9F38-23A7-DF8A-289F-B4B607A2942D}"/>
              </a:ext>
            </a:extLst>
          </p:cNvPr>
          <p:cNvSpPr/>
          <p:nvPr/>
        </p:nvSpPr>
        <p:spPr>
          <a:xfrm>
            <a:off x="238665" y="311105"/>
            <a:ext cx="5634233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2990181-81DC-953D-9D5B-6244E0A7DF33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CEA75C-7BD3-4F50-9358-DA3FC906407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234153" y="1637089"/>
            <a:ext cx="7618822" cy="4351338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假设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G=(V,E)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为一个二部图，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和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R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为其节点分类</a:t>
            </a: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10000"/>
              </a:lnSpc>
            </a:pP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令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G’=(V’,E’)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为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对应的流网络</a:t>
            </a: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10000"/>
              </a:lnSpc>
            </a:pP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如果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是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的一个匹配</a:t>
            </a: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sz="1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则存在</a:t>
            </a:r>
            <a:r>
              <a:rPr lang="en-US" altLang="zh-CN" sz="1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G’</a:t>
            </a:r>
            <a:r>
              <a:rPr lang="zh-CN" altLang="en-US" sz="1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的一个整数流</a:t>
            </a:r>
            <a:r>
              <a:rPr lang="en-US" altLang="zh-CN" sz="1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f</a:t>
            </a:r>
            <a:r>
              <a:rPr lang="zh-CN" altLang="en-US" sz="1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（每条边上的流量为整数），总流量为</a:t>
            </a:r>
            <a:r>
              <a:rPr lang="en-US" altLang="zh-CN" sz="1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|f|=|M</a:t>
            </a:r>
            <a:r>
              <a:rPr lang="en-US" altLang="zh-CN" sz="16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|</a:t>
            </a:r>
          </a:p>
          <a:p>
            <a:pPr lvl="1">
              <a:lnSpc>
                <a:spcPct val="110000"/>
              </a:lnSpc>
            </a:pPr>
            <a:endParaRPr lang="en-US" altLang="zh-CN" sz="16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反之如果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G’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存在一个整数流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f</a:t>
            </a:r>
          </a:p>
          <a:p>
            <a:pPr lvl="1">
              <a:lnSpc>
                <a:spcPct val="110000"/>
              </a:lnSpc>
            </a:pPr>
            <a:r>
              <a:rPr lang="zh-CN" altLang="en-US" sz="1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则可以构建</a:t>
            </a:r>
            <a:r>
              <a:rPr lang="en-US" altLang="zh-CN" sz="1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</a:t>
            </a:r>
            <a:r>
              <a:rPr lang="zh-CN" altLang="en-US" sz="1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的一个匹配</a:t>
            </a:r>
            <a:r>
              <a:rPr lang="en-US" altLang="zh-CN" sz="1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</a:t>
            </a:r>
            <a:r>
              <a:rPr lang="zh-CN" altLang="en-US" sz="1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，大小为</a:t>
            </a:r>
            <a:r>
              <a:rPr lang="en-US" altLang="zh-CN" sz="18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|M|=|f|</a:t>
            </a:r>
          </a:p>
          <a:p>
            <a:pPr lvl="1">
              <a:lnSpc>
                <a:spcPct val="110000"/>
              </a:lnSpc>
            </a:pPr>
            <a:endParaRPr lang="en-US" altLang="zh-CN" sz="16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因此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max{|M|} = max{integer |f|}</a:t>
            </a:r>
            <a:endParaRPr lang="zh-CN" altLang="en-US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2DD768E-F51B-D856-B101-A2C538E7BA8F}"/>
              </a:ext>
            </a:extLst>
          </p:cNvPr>
          <p:cNvSpPr txBox="1"/>
          <p:nvPr/>
        </p:nvSpPr>
        <p:spPr>
          <a:xfrm>
            <a:off x="380723" y="299408"/>
            <a:ext cx="49831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二部图匹配 </a:t>
            </a:r>
            <a:r>
              <a:rPr lang="en-US" altLang="zh-CN" sz="3600" b="1" dirty="0" err="1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v.s</a:t>
            </a:r>
            <a:r>
              <a:rPr lang="en-US" altLang="zh-CN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. </a:t>
            </a:r>
            <a:r>
              <a:rPr lang="zh-CN" altLang="en-US" sz="36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最大流</a:t>
            </a:r>
          </a:p>
        </p:txBody>
      </p:sp>
      <p:sp>
        <p:nvSpPr>
          <p:cNvPr id="5" name="圆角矩形 8">
            <a:extLst>
              <a:ext uri="{FF2B5EF4-FFF2-40B4-BE49-F238E27FC236}">
                <a16:creationId xmlns:a16="http://schemas.microsoft.com/office/drawing/2014/main" id="{812245E6-BB54-0942-3C79-D6BEF7F711A0}"/>
              </a:ext>
            </a:extLst>
          </p:cNvPr>
          <p:cNvSpPr/>
          <p:nvPr/>
        </p:nvSpPr>
        <p:spPr>
          <a:xfrm>
            <a:off x="238665" y="311105"/>
            <a:ext cx="5125187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990BDA4-DCC3-2444-BEB4-EAB9E8A1413E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334793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315" name="Rectangle 3">
            <a:extLst>
              <a:ext uri="{FF2B5EF4-FFF2-40B4-BE49-F238E27FC236}">
                <a16:creationId xmlns:a16="http://schemas.microsoft.com/office/drawing/2014/main" id="{0A1A503D-BDB1-46FD-BFE3-54A1B85A10DB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752600" y="1752600"/>
            <a:ext cx="8763000" cy="4114800"/>
          </a:xfrm>
          <a:prstGeom prst="rect">
            <a:avLst/>
          </a:prstGeom>
          <a:noFill/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>
                <a:solidFill>
                  <a:srgbClr val="CC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问题</a:t>
            </a:r>
            <a:r>
              <a:rPr lang="en-US" altLang="zh-CN" dirty="0">
                <a:solidFill>
                  <a:srgbClr val="CC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: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</a:t>
            </a: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我们并不知道流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f(</a:t>
            </a:r>
            <a:r>
              <a:rPr lang="en-US" altLang="zh-CN" dirty="0" err="1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u,v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)</a:t>
            </a: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是不是一定为整数</a:t>
            </a:r>
            <a:endParaRPr lang="en-US" altLang="zh-CN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1CB51E-2767-4347-AD69-8B403146C776}"/>
              </a:ext>
            </a:extLst>
          </p:cNvPr>
          <p:cNvSpPr txBox="1">
            <a:spLocks noChangeArrowheads="1"/>
          </p:cNvSpPr>
          <p:nvPr/>
        </p:nvSpPr>
        <p:spPr>
          <a:xfrm>
            <a:off x="2152650" y="2706688"/>
            <a:ext cx="7886700" cy="3294063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tabLst>
                <a:tab pos="858838" algn="l"/>
              </a:tabLst>
            </a:pPr>
            <a:r>
              <a:rPr lang="en-US" altLang="zh-CN" sz="20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如果容量函数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只取整数，则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:</a:t>
            </a:r>
          </a:p>
          <a:p>
            <a:pPr marL="1158875" lvl="1" indent="-533400">
              <a:buFontTx/>
              <a:buAutoNum type="arabicPeriod"/>
              <a:tabLst>
                <a:tab pos="858838" algn="l"/>
              </a:tabLst>
            </a:pP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Ford-Fulkerson</a:t>
            </a: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算法计算出的最大流为整数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. </a:t>
            </a:r>
          </a:p>
          <a:p>
            <a:pPr marL="1158875" lvl="1" indent="-533400">
              <a:buFontTx/>
              <a:buAutoNum type="arabicPeriod"/>
              <a:tabLst>
                <a:tab pos="858838" algn="l"/>
              </a:tabLst>
            </a:pP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对于节点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u</a:t>
            </a: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和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v</a:t>
            </a: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，流量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f(</a:t>
            </a:r>
            <a:r>
              <a:rPr lang="en-US" altLang="zh-CN" dirty="0" err="1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u,v</a:t>
            </a:r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)</a:t>
            </a: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也是整数</a:t>
            </a:r>
            <a:endParaRPr lang="en-US" altLang="zh-CN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marL="0" indent="0">
              <a:tabLst>
                <a:tab pos="858838" algn="l"/>
              </a:tabLst>
            </a:pP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marL="0" indent="0">
              <a:tabLst>
                <a:tab pos="858838" algn="l"/>
              </a:tabLst>
            </a:pP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因此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</a:t>
            </a:r>
            <a:r>
              <a:rPr lang="en-US" altLang="zh-CN" sz="2400" dirty="0" err="1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max</a:t>
            </a:r>
            <a:r>
              <a:rPr lang="en-US" altLang="zh-CN" sz="2400" dirty="0" err="1">
                <a:solidFill>
                  <a:schemeClr val="tx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|M</a:t>
            </a:r>
            <a:r>
              <a:rPr lang="en-US" altLang="zh-CN" sz="2400" dirty="0">
                <a:solidFill>
                  <a:schemeClr val="tx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| = max |f|</a:t>
            </a:r>
          </a:p>
          <a:p>
            <a:pPr marL="0" indent="0">
              <a:tabLst>
                <a:tab pos="858838" algn="l"/>
              </a:tabLst>
            </a:pPr>
            <a:endParaRPr lang="en-US" altLang="zh-CN" sz="2000" dirty="0">
              <a:solidFill>
                <a:schemeClr val="tx2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C038019-FC03-2506-502E-621B2874F263}"/>
              </a:ext>
            </a:extLst>
          </p:cNvPr>
          <p:cNvSpPr txBox="1"/>
          <p:nvPr/>
        </p:nvSpPr>
        <p:spPr>
          <a:xfrm>
            <a:off x="380723" y="299408"/>
            <a:ext cx="41252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ea typeface="思源黑体 CN Regular" panose="020B0500000000000000" pitchFamily="34" charset="-122"/>
              </a:rPr>
              <a:t>max |f| = max |M|?</a:t>
            </a:r>
            <a:endParaRPr lang="zh-CN" altLang="en-US" sz="3600" b="1" dirty="0">
              <a:solidFill>
                <a:schemeClr val="bg1"/>
              </a:solidFill>
              <a:ea typeface="思源黑体 CN Regular" panose="020B0500000000000000" pitchFamily="34" charset="-122"/>
            </a:endParaRPr>
          </a:p>
        </p:txBody>
      </p:sp>
      <p:sp>
        <p:nvSpPr>
          <p:cNvPr id="3" name="圆角矩形 8">
            <a:extLst>
              <a:ext uri="{FF2B5EF4-FFF2-40B4-BE49-F238E27FC236}">
                <a16:creationId xmlns:a16="http://schemas.microsoft.com/office/drawing/2014/main" id="{2EE076A8-4951-0C8B-360F-5E3B1D29AEB8}"/>
              </a:ext>
            </a:extLst>
          </p:cNvPr>
          <p:cNvSpPr/>
          <p:nvPr/>
        </p:nvSpPr>
        <p:spPr>
          <a:xfrm>
            <a:off x="238665" y="311105"/>
            <a:ext cx="4267347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4976AA3-D60E-EECF-A1CD-96002B261361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2815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7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7315" grpId="0" build="p" autoUpdateAnimBg="0"/>
      <p:bldP spid="4" grpId="0" build="p" bldLvl="2" autoUpdateAnimBg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300" name="Object 2">
            <a:extLst>
              <a:ext uri="{FF2B5EF4-FFF2-40B4-BE49-F238E27FC236}">
                <a16:creationId xmlns:a16="http://schemas.microsoft.com/office/drawing/2014/main" id="{B03C34F7-249C-4B54-B5B2-D2F52A024A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9206902"/>
              </p:ext>
            </p:extLst>
          </p:nvPr>
        </p:nvGraphicFramePr>
        <p:xfrm>
          <a:off x="2114764" y="1457326"/>
          <a:ext cx="2151062" cy="3986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 Publisher Image" r:id="rId3" imgW="1495425" imgH="2771775" progId="PictPub.Image.8">
                  <p:embed/>
                </p:oleObj>
              </mc:Choice>
              <mc:Fallback>
                <p:oleObj name="Picture Publisher Image" r:id="rId3" imgW="1495425" imgH="2771775" progId="PictPub.Image.8">
                  <p:embed/>
                  <p:pic>
                    <p:nvPicPr>
                      <p:cNvPr id="55300" name="Object 2">
                        <a:extLst>
                          <a:ext uri="{FF2B5EF4-FFF2-40B4-BE49-F238E27FC236}">
                            <a16:creationId xmlns:a16="http://schemas.microsoft.com/office/drawing/2014/main" id="{B03C34F7-249C-4B54-B5B2-D2F52A024A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4764" y="1457326"/>
                        <a:ext cx="2151062" cy="3986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1" name="Object 3">
            <a:extLst>
              <a:ext uri="{FF2B5EF4-FFF2-40B4-BE49-F238E27FC236}">
                <a16:creationId xmlns:a16="http://schemas.microsoft.com/office/drawing/2014/main" id="{2F98DDE6-CCDE-4301-ACC5-D43BD36F6E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4877289"/>
              </p:ext>
            </p:extLst>
          </p:nvPr>
        </p:nvGraphicFramePr>
        <p:xfrm>
          <a:off x="5508840" y="1489075"/>
          <a:ext cx="4948237" cy="387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 Publisher Image" r:id="rId5" imgW="3571875" imgH="2800350" progId="PictPub.Image.8">
                  <p:embed/>
                </p:oleObj>
              </mc:Choice>
              <mc:Fallback>
                <p:oleObj name="Picture Publisher Image" r:id="rId5" imgW="3571875" imgH="2800350" progId="PictPub.Image.8">
                  <p:embed/>
                  <p:pic>
                    <p:nvPicPr>
                      <p:cNvPr id="55301" name="Object 3">
                        <a:extLst>
                          <a:ext uri="{FF2B5EF4-FFF2-40B4-BE49-F238E27FC236}">
                            <a16:creationId xmlns:a16="http://schemas.microsoft.com/office/drawing/2014/main" id="{2F98DDE6-CCDE-4301-ACC5-D43BD36F6E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840" y="1489075"/>
                        <a:ext cx="4948237" cy="3879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2" name="Line 5">
            <a:extLst>
              <a:ext uri="{FF2B5EF4-FFF2-40B4-BE49-F238E27FC236}">
                <a16:creationId xmlns:a16="http://schemas.microsoft.com/office/drawing/2014/main" id="{94AF07CB-6C90-4369-8199-AAFB446FE24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9976" y="3143250"/>
            <a:ext cx="8890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4D0308DF-A645-4A69-9DBF-AE6DA662DD6F}"/>
              </a:ext>
            </a:extLst>
          </p:cNvPr>
          <p:cNvGrpSpPr>
            <a:grpSpLocks/>
          </p:cNvGrpSpPr>
          <p:nvPr/>
        </p:nvGrpSpPr>
        <p:grpSpPr bwMode="auto">
          <a:xfrm>
            <a:off x="6913776" y="1644650"/>
            <a:ext cx="4076700" cy="1955800"/>
            <a:chOff x="3312" y="1296"/>
            <a:chExt cx="2568" cy="1232"/>
          </a:xfrm>
        </p:grpSpPr>
        <p:grpSp>
          <p:nvGrpSpPr>
            <p:cNvPr id="55317" name="Group 7">
              <a:extLst>
                <a:ext uri="{FF2B5EF4-FFF2-40B4-BE49-F238E27FC236}">
                  <a16:creationId xmlns:a16="http://schemas.microsoft.com/office/drawing/2014/main" id="{B13112F3-12A9-422C-8CFA-AA368D1BDA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2" y="1632"/>
              <a:ext cx="1680" cy="896"/>
              <a:chOff x="3312" y="1632"/>
              <a:chExt cx="1680" cy="896"/>
            </a:xfrm>
          </p:grpSpPr>
          <p:sp>
            <p:nvSpPr>
              <p:cNvPr id="55319" name="Line 8">
                <a:extLst>
                  <a:ext uri="{FF2B5EF4-FFF2-40B4-BE49-F238E27FC236}">
                    <a16:creationId xmlns:a16="http://schemas.microsoft.com/office/drawing/2014/main" id="{08DA1941-E24A-49BD-99B6-E7A1918499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52" y="1632"/>
                <a:ext cx="240" cy="288"/>
              </a:xfrm>
              <a:prstGeom prst="line">
                <a:avLst/>
              </a:prstGeom>
              <a:noFill/>
              <a:ln w="28575" cap="sq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274320" rIns="27432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5320" name="Line 9">
                <a:extLst>
                  <a:ext uri="{FF2B5EF4-FFF2-40B4-BE49-F238E27FC236}">
                    <a16:creationId xmlns:a16="http://schemas.microsoft.com/office/drawing/2014/main" id="{943D70A3-DBE3-472F-80F6-100E0E5391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2" y="2240"/>
                <a:ext cx="96" cy="288"/>
              </a:xfrm>
              <a:prstGeom prst="line">
                <a:avLst/>
              </a:prstGeom>
              <a:noFill/>
              <a:ln w="28575" cap="sq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274320" rIns="27432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5321" name="Line 10">
                <a:extLst>
                  <a:ext uri="{FF2B5EF4-FFF2-40B4-BE49-F238E27FC236}">
                    <a16:creationId xmlns:a16="http://schemas.microsoft.com/office/drawing/2014/main" id="{CC3EFE78-9D30-46B5-B293-802614F409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096"/>
                <a:ext cx="0" cy="288"/>
              </a:xfrm>
              <a:prstGeom prst="line">
                <a:avLst/>
              </a:prstGeom>
              <a:noFill/>
              <a:ln w="28575" cap="sq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274320" rIns="27432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5318" name="Text Box 11">
              <a:extLst>
                <a:ext uri="{FF2B5EF4-FFF2-40B4-BE49-F238E27FC236}">
                  <a16:creationId xmlns:a16="http://schemas.microsoft.com/office/drawing/2014/main" id="{EBB6781F-49DF-4D10-9DB9-08E5F9FE68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1296"/>
              <a:ext cx="13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74320" rIns="27432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hlink"/>
                  </a:solidFill>
                  <a:latin typeface="Comic Sans MS" panose="030F0702030302020204" pitchFamily="66" charset="0"/>
                </a:rPr>
                <a:t>min cut</a:t>
              </a:r>
            </a:p>
          </p:txBody>
        </p:sp>
      </p:grpSp>
      <p:sp>
        <p:nvSpPr>
          <p:cNvPr id="1035276" name="Text Box 12">
            <a:extLst>
              <a:ext uri="{FF2B5EF4-FFF2-40B4-BE49-F238E27FC236}">
                <a16:creationId xmlns:a16="http://schemas.microsoft.com/office/drawing/2014/main" id="{074A8A83-3C33-4230-A85A-B769135D46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1776" y="5607051"/>
            <a:ext cx="7239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74320" rIns="27432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>
                <a:solidFill>
                  <a:schemeClr val="tx2"/>
                </a:solidFill>
                <a:latin typeface="Comic Sans MS" panose="030F0702030302020204" pitchFamily="66" charset="0"/>
              </a:rPr>
              <a:t>|M| = 3       </a:t>
            </a:r>
            <a:r>
              <a:rPr lang="en-US" altLang="zh-CN" sz="2800">
                <a:solidFill>
                  <a:schemeClr val="tx2"/>
                </a:solidFill>
                <a:latin typeface="Comic Sans MS" panose="030F0702030302020204" pitchFamily="66" charset="0"/>
                <a:sym typeface="Wingdings" panose="05000000000000000000" pitchFamily="2" charset="2"/>
              </a:rPr>
              <a:t>           </a:t>
            </a:r>
            <a:r>
              <a:rPr lang="en-US" altLang="zh-CN" sz="2800">
                <a:solidFill>
                  <a:schemeClr val="tx2"/>
                </a:solidFill>
                <a:latin typeface="Comic Sans MS" panose="030F0702030302020204" pitchFamily="66" charset="0"/>
              </a:rPr>
              <a:t>max flow =|f|= 3</a:t>
            </a:r>
          </a:p>
        </p:txBody>
      </p:sp>
      <p:grpSp>
        <p:nvGrpSpPr>
          <p:cNvPr id="4" name="Group 24">
            <a:extLst>
              <a:ext uri="{FF2B5EF4-FFF2-40B4-BE49-F238E27FC236}">
                <a16:creationId xmlns:a16="http://schemas.microsoft.com/office/drawing/2014/main" id="{C536F0B4-2684-4175-BFBE-BA0EAF8F52D1}"/>
              </a:ext>
            </a:extLst>
          </p:cNvPr>
          <p:cNvGrpSpPr>
            <a:grpSpLocks/>
          </p:cNvGrpSpPr>
          <p:nvPr/>
        </p:nvGrpSpPr>
        <p:grpSpPr bwMode="auto">
          <a:xfrm>
            <a:off x="5762839" y="1504951"/>
            <a:ext cx="4652962" cy="3224213"/>
            <a:chOff x="2587" y="1208"/>
            <a:chExt cx="2931" cy="2031"/>
          </a:xfrm>
        </p:grpSpPr>
        <p:sp>
          <p:nvSpPr>
            <p:cNvPr id="55306" name="Oval 13">
              <a:extLst>
                <a:ext uri="{FF2B5EF4-FFF2-40B4-BE49-F238E27FC236}">
                  <a16:creationId xmlns:a16="http://schemas.microsoft.com/office/drawing/2014/main" id="{67A9F3DD-1B14-4FF1-B6A8-4B7CC5300A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7" y="2112"/>
              <a:ext cx="233" cy="23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en-US" altLang="zh-CN"/>
            </a:p>
          </p:txBody>
        </p:sp>
        <p:sp>
          <p:nvSpPr>
            <p:cNvPr id="55307" name="Oval 14">
              <a:extLst>
                <a:ext uri="{FF2B5EF4-FFF2-40B4-BE49-F238E27FC236}">
                  <a16:creationId xmlns:a16="http://schemas.microsoft.com/office/drawing/2014/main" id="{13979375-ECB2-4C0E-A4C1-33FADB9498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1" y="1208"/>
              <a:ext cx="233" cy="23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en-US" altLang="zh-CN"/>
            </a:p>
          </p:txBody>
        </p:sp>
        <p:sp>
          <p:nvSpPr>
            <p:cNvPr id="55308" name="Oval 15">
              <a:extLst>
                <a:ext uri="{FF2B5EF4-FFF2-40B4-BE49-F238E27FC236}">
                  <a16:creationId xmlns:a16="http://schemas.microsoft.com/office/drawing/2014/main" id="{316C7463-D3C1-49C8-AD72-0F51D68A25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6" y="1663"/>
              <a:ext cx="233" cy="23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en-US" altLang="zh-CN"/>
            </a:p>
          </p:txBody>
        </p:sp>
        <p:sp>
          <p:nvSpPr>
            <p:cNvPr id="55309" name="Oval 16">
              <a:extLst>
                <a:ext uri="{FF2B5EF4-FFF2-40B4-BE49-F238E27FC236}">
                  <a16:creationId xmlns:a16="http://schemas.microsoft.com/office/drawing/2014/main" id="{3610CDE4-44B2-4BE3-BC46-B358D81EC2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7" y="2112"/>
              <a:ext cx="233" cy="233"/>
            </a:xfrm>
            <a:prstGeom prst="ellipse">
              <a:avLst/>
            </a:prstGeom>
            <a:solidFill>
              <a:srgbClr val="6699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en-US" altLang="zh-CN"/>
            </a:p>
          </p:txBody>
        </p:sp>
        <p:sp>
          <p:nvSpPr>
            <p:cNvPr id="55310" name="Oval 17">
              <a:extLst>
                <a:ext uri="{FF2B5EF4-FFF2-40B4-BE49-F238E27FC236}">
                  <a16:creationId xmlns:a16="http://schemas.microsoft.com/office/drawing/2014/main" id="{13D88E0E-4478-48A7-BC2B-56A53D4A7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2" y="2562"/>
              <a:ext cx="233" cy="23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en-US" altLang="zh-CN"/>
            </a:p>
          </p:txBody>
        </p:sp>
        <p:sp>
          <p:nvSpPr>
            <p:cNvPr id="55311" name="Oval 18">
              <a:extLst>
                <a:ext uri="{FF2B5EF4-FFF2-40B4-BE49-F238E27FC236}">
                  <a16:creationId xmlns:a16="http://schemas.microsoft.com/office/drawing/2014/main" id="{EF7EBC20-6408-44D0-A77E-C2CDF4D289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1" y="3006"/>
              <a:ext cx="233" cy="23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en-US" altLang="zh-CN"/>
            </a:p>
          </p:txBody>
        </p:sp>
        <p:sp>
          <p:nvSpPr>
            <p:cNvPr id="55312" name="Oval 19">
              <a:extLst>
                <a:ext uri="{FF2B5EF4-FFF2-40B4-BE49-F238E27FC236}">
                  <a16:creationId xmlns:a16="http://schemas.microsoft.com/office/drawing/2014/main" id="{CE0568E4-1C58-40C9-AA44-2E18CDB073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435"/>
              <a:ext cx="233" cy="23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en-US" altLang="zh-CN"/>
            </a:p>
          </p:txBody>
        </p:sp>
        <p:sp>
          <p:nvSpPr>
            <p:cNvPr id="55313" name="Oval 20">
              <a:extLst>
                <a:ext uri="{FF2B5EF4-FFF2-40B4-BE49-F238E27FC236}">
                  <a16:creationId xmlns:a16="http://schemas.microsoft.com/office/drawing/2014/main" id="{CC0E0796-CA76-4C10-819A-D4C23C67C4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0" y="1885"/>
              <a:ext cx="233" cy="233"/>
            </a:xfrm>
            <a:prstGeom prst="ellipse">
              <a:avLst/>
            </a:prstGeom>
            <a:solidFill>
              <a:srgbClr val="6699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en-US" altLang="zh-CN"/>
            </a:p>
          </p:txBody>
        </p:sp>
        <p:sp>
          <p:nvSpPr>
            <p:cNvPr id="55314" name="Oval 21">
              <a:extLst>
                <a:ext uri="{FF2B5EF4-FFF2-40B4-BE49-F238E27FC236}">
                  <a16:creationId xmlns:a16="http://schemas.microsoft.com/office/drawing/2014/main" id="{D688D082-5311-40B6-BBC8-4333330C43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" y="2334"/>
              <a:ext cx="233" cy="23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en-US" altLang="zh-CN"/>
            </a:p>
          </p:txBody>
        </p:sp>
        <p:sp>
          <p:nvSpPr>
            <p:cNvPr id="55315" name="Oval 22">
              <a:extLst>
                <a:ext uri="{FF2B5EF4-FFF2-40B4-BE49-F238E27FC236}">
                  <a16:creationId xmlns:a16="http://schemas.microsoft.com/office/drawing/2014/main" id="{7719285F-847F-44EB-8710-62B2186616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0" y="2789"/>
              <a:ext cx="233" cy="233"/>
            </a:xfrm>
            <a:prstGeom prst="ellipse">
              <a:avLst/>
            </a:prstGeom>
            <a:solidFill>
              <a:srgbClr val="6699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en-US" altLang="zh-CN"/>
            </a:p>
          </p:txBody>
        </p:sp>
        <p:sp>
          <p:nvSpPr>
            <p:cNvPr id="55316" name="Oval 23">
              <a:extLst>
                <a:ext uri="{FF2B5EF4-FFF2-40B4-BE49-F238E27FC236}">
                  <a16:creationId xmlns:a16="http://schemas.microsoft.com/office/drawing/2014/main" id="{B659D0B5-A409-46BF-B71F-25F3926676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5" y="2107"/>
              <a:ext cx="233" cy="233"/>
            </a:xfrm>
            <a:prstGeom prst="ellipse">
              <a:avLst/>
            </a:prstGeom>
            <a:solidFill>
              <a:srgbClr val="6699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en-US" altLang="zh-CN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0E497994-A80D-2CC2-4565-8177BAC8882B}"/>
              </a:ext>
            </a:extLst>
          </p:cNvPr>
          <p:cNvSpPr txBox="1"/>
          <p:nvPr/>
        </p:nvSpPr>
        <p:spPr>
          <a:xfrm>
            <a:off x="380723" y="299408"/>
            <a:ext cx="18290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ea typeface="思源黑体 CN Regular" panose="020B0500000000000000" pitchFamily="34" charset="-122"/>
              </a:rPr>
              <a:t>Example</a:t>
            </a:r>
            <a:endParaRPr lang="zh-CN" altLang="en-US" sz="3600" b="1" dirty="0">
              <a:solidFill>
                <a:schemeClr val="bg1"/>
              </a:solidFill>
              <a:ea typeface="思源黑体 CN Regular" panose="020B0500000000000000" pitchFamily="34" charset="-122"/>
            </a:endParaRPr>
          </a:p>
        </p:txBody>
      </p:sp>
      <p:sp>
        <p:nvSpPr>
          <p:cNvPr id="5" name="圆角矩形 8">
            <a:extLst>
              <a:ext uri="{FF2B5EF4-FFF2-40B4-BE49-F238E27FC236}">
                <a16:creationId xmlns:a16="http://schemas.microsoft.com/office/drawing/2014/main" id="{6C6AE6D3-6A39-1325-8942-7D1E09D35728}"/>
              </a:ext>
            </a:extLst>
          </p:cNvPr>
          <p:cNvSpPr/>
          <p:nvPr/>
        </p:nvSpPr>
        <p:spPr>
          <a:xfrm>
            <a:off x="238666" y="311105"/>
            <a:ext cx="2089756" cy="53275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57132DC-A3D1-F0DF-9B10-06B957E1F9CA}"/>
              </a:ext>
            </a:extLst>
          </p:cNvPr>
          <p:cNvSpPr txBox="1">
            <a:spLocks noChangeArrowheads="1"/>
          </p:cNvSpPr>
          <p:nvPr/>
        </p:nvSpPr>
        <p:spPr>
          <a:xfrm>
            <a:off x="9357022" y="6579766"/>
            <a:ext cx="2844800" cy="26828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F90313-C3C9-4AEF-8FC9-B1F8E5E64251}" type="slidenum"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1DDDED7-D4C4-B153-3AF1-EEA521254CA6}"/>
              </a:ext>
            </a:extLst>
          </p:cNvPr>
          <p:cNvSpPr txBox="1"/>
          <p:nvPr/>
        </p:nvSpPr>
        <p:spPr>
          <a:xfrm>
            <a:off x="9082027" y="579764"/>
            <a:ext cx="3193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Bold" panose="020B0800000000000000" pitchFamily="34" charset="-122"/>
                <a:ea typeface="思源黑体 Bold" panose="020B0800000000000000" pitchFamily="34" charset="-122"/>
              </a:rPr>
              <a:t>素材来源于网络，版权归原作者</a:t>
            </a:r>
          </a:p>
        </p:txBody>
      </p:sp>
    </p:spTree>
    <p:extLst>
      <p:ext uri="{BB962C8B-B14F-4D97-AF65-F5344CB8AC3E}">
        <p14:creationId xmlns:p14="http://schemas.microsoft.com/office/powerpoint/2010/main" val="1807367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5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5276" grpId="0" autoUpdateAnimBg="0"/>
    </p:bld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思源黑体 Bold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思源黑体 Bold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12334</TotalTime>
  <Words>5607</Words>
  <Application>Microsoft Office PowerPoint</Application>
  <PresentationFormat>宽屏</PresentationFormat>
  <Paragraphs>1349</Paragraphs>
  <Slides>82</Slides>
  <Notes>46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82</vt:i4>
      </vt:variant>
    </vt:vector>
  </HeadingPairs>
  <TitlesOfParts>
    <vt:vector size="104" baseType="lpstr">
      <vt:lpstr>Arial Unicode MS</vt:lpstr>
      <vt:lpstr>MS UI Gothic</vt:lpstr>
      <vt:lpstr>思源黑体 Bold</vt:lpstr>
      <vt:lpstr>思源黑体 CN Bold</vt:lpstr>
      <vt:lpstr>思源黑体 CN Normal</vt:lpstr>
      <vt:lpstr>思源黑体 CN Regular</vt:lpstr>
      <vt:lpstr>宋体</vt:lpstr>
      <vt:lpstr>Arial</vt:lpstr>
      <vt:lpstr>Arial Black</vt:lpstr>
      <vt:lpstr>Arial Rounded MT Bold</vt:lpstr>
      <vt:lpstr>Calibri</vt:lpstr>
      <vt:lpstr>Cambria Math</vt:lpstr>
      <vt:lpstr>Comic Sans MS</vt:lpstr>
      <vt:lpstr>Symbol</vt:lpstr>
      <vt:lpstr>Times New Roman</vt:lpstr>
      <vt:lpstr>Wingdings</vt:lpstr>
      <vt:lpstr>Office 主题​​</vt:lpstr>
      <vt:lpstr>1_Office 主题​​</vt:lpstr>
      <vt:lpstr>2_Office 主题​​</vt:lpstr>
      <vt:lpstr>Picture Publisher Image</vt:lpstr>
      <vt:lpstr>文档</vt:lpstr>
      <vt:lpstr>Dokument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峰 张</dc:creator>
  <cp:lastModifiedBy>淳于 韦</cp:lastModifiedBy>
  <cp:revision>579</cp:revision>
  <dcterms:created xsi:type="dcterms:W3CDTF">2017-10-09T06:50:29Z</dcterms:created>
  <dcterms:modified xsi:type="dcterms:W3CDTF">2026-06-10T12:05:30Z</dcterms:modified>
</cp:coreProperties>
</file>