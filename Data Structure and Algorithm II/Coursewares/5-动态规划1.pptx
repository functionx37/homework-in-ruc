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9"/>
  </p:notesMasterIdLst>
  <p:sldIdLst>
    <p:sldId id="596" r:id="rId2"/>
    <p:sldId id="571" r:id="rId3"/>
    <p:sldId id="572" r:id="rId4"/>
    <p:sldId id="573" r:id="rId5"/>
    <p:sldId id="574" r:id="rId6"/>
    <p:sldId id="575" r:id="rId7"/>
    <p:sldId id="576" r:id="rId8"/>
    <p:sldId id="577" r:id="rId9"/>
    <p:sldId id="578" r:id="rId10"/>
    <p:sldId id="601" r:id="rId11"/>
    <p:sldId id="579" r:id="rId12"/>
    <p:sldId id="580" r:id="rId13"/>
    <p:sldId id="602" r:id="rId14"/>
    <p:sldId id="597" r:id="rId15"/>
    <p:sldId id="288" r:id="rId16"/>
    <p:sldId id="289" r:id="rId17"/>
    <p:sldId id="290" r:id="rId18"/>
    <p:sldId id="291" r:id="rId19"/>
    <p:sldId id="316" r:id="rId20"/>
    <p:sldId id="293" r:id="rId21"/>
    <p:sldId id="377" r:id="rId22"/>
    <p:sldId id="294" r:id="rId23"/>
    <p:sldId id="295" r:id="rId24"/>
    <p:sldId id="296" r:id="rId25"/>
    <p:sldId id="297" r:id="rId26"/>
    <p:sldId id="301" r:id="rId27"/>
    <p:sldId id="374" r:id="rId28"/>
    <p:sldId id="302" r:id="rId29"/>
    <p:sldId id="306" r:id="rId30"/>
    <p:sldId id="307" r:id="rId31"/>
    <p:sldId id="319" r:id="rId32"/>
    <p:sldId id="308" r:id="rId33"/>
    <p:sldId id="320" r:id="rId34"/>
    <p:sldId id="309" r:id="rId35"/>
    <p:sldId id="321" r:id="rId36"/>
    <p:sldId id="310" r:id="rId37"/>
    <p:sldId id="311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D9A78"/>
    <a:srgbClr val="FFE363"/>
    <a:srgbClr val="FF0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843"/>
    <p:restoredTop sz="96197"/>
  </p:normalViewPr>
  <p:slideViewPr>
    <p:cSldViewPr snapToGrid="0" snapToObjects="1">
      <p:cViewPr varScale="1">
        <p:scale>
          <a:sx n="119" d="100"/>
          <a:sy n="119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/>
      <dgm:t>
        <a:bodyPr/>
        <a:lstStyle/>
        <a:p>
          <a:r>
            <a:rPr lang="en-US" altLang="zh-CN" b="1" dirty="0"/>
            <a:t>Introduction to Dynamic Programming</a:t>
          </a: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 b="1"/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 b="1"/>
        </a:p>
      </dgm:t>
    </dgm:pt>
    <dgm:pt modelId="{CF2444AC-25A3-45AF-9E27-F0625589132F}">
      <dgm:prSet/>
      <dgm:spPr/>
      <dgm:t>
        <a:bodyPr/>
        <a:lstStyle/>
        <a:p>
          <a:r>
            <a:rPr lang="en-US" altLang="zh-CN" b="1" dirty="0"/>
            <a:t>Weighted Interval</a:t>
          </a:r>
          <a:r>
            <a:rPr lang="zh-CN" altLang="en-US" b="1" dirty="0"/>
            <a:t> </a:t>
          </a:r>
          <a:r>
            <a:rPr lang="en-US" altLang="zh-CN" b="1" dirty="0"/>
            <a:t>Scheduling</a:t>
          </a:r>
          <a:endParaRPr lang="en-US" b="1" dirty="0"/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 b="1"/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 b="1"/>
        </a:p>
      </dgm:t>
    </dgm:pt>
    <dgm:pt modelId="{B3AC4ABD-3393-49E6-B22C-5258D54F3AA8}">
      <dgm:prSet/>
      <dgm:spPr/>
      <dgm:t>
        <a:bodyPr/>
        <a:lstStyle/>
        <a:p>
          <a:r>
            <a:rPr lang="en-US" altLang="zh-CN" b="1" dirty="0">
              <a:solidFill>
                <a:schemeClr val="bg1"/>
              </a:solidFill>
            </a:rPr>
            <a:t>Longest Common Subsequence</a:t>
          </a:r>
          <a:endParaRPr lang="en-US" b="1" dirty="0">
            <a:solidFill>
              <a:schemeClr val="bg1"/>
            </a:solidFill>
          </a:endParaRP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 b="1"/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 b="1"/>
        </a:p>
      </dgm:t>
    </dgm:pt>
    <dgm:pt modelId="{63A81FF4-263D-41CB-9071-D127CED2C26F}">
      <dgm:prSet custT="1"/>
      <dgm:spPr/>
      <dgm:t>
        <a:bodyPr/>
        <a:lstStyle/>
        <a:p>
          <a:r>
            <a:rPr lang="en-US" sz="20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Chain</a:t>
          </a:r>
          <a:r>
            <a:rPr lang="en-US" sz="2000" b="1" kern="1200" baseline="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Matrix Multiplication</a:t>
          </a:r>
          <a:endParaRPr lang="en-US" sz="20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 b="1"/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 b="1"/>
        </a:p>
      </dgm:t>
    </dgm:pt>
    <dgm:pt modelId="{F098D7CD-E34D-AB40-90A3-37F93F15ACF8}">
      <dgm:prSet/>
      <dgm:spPr/>
      <dgm:t>
        <a:bodyPr/>
        <a:lstStyle/>
        <a:p>
          <a:r>
            <a:rPr lang="en-US" altLang="zh-CN" b="1" dirty="0"/>
            <a:t>Infinite Knapsack Problem </a:t>
          </a:r>
          <a:endParaRPr lang="zh-CN" altLang="en-US" b="1" dirty="0"/>
        </a:p>
      </dgm:t>
    </dgm:pt>
    <dgm:pt modelId="{7D5CA1B6-D1C0-AA4A-B2BF-6C4BF6AAC8F0}" type="parTrans" cxnId="{217E5972-44E9-6446-AC97-FE587E6BFBE4}">
      <dgm:prSet/>
      <dgm:spPr/>
      <dgm:t>
        <a:bodyPr/>
        <a:lstStyle/>
        <a:p>
          <a:endParaRPr lang="zh-CN" altLang="en-US" b="1"/>
        </a:p>
      </dgm:t>
    </dgm:pt>
    <dgm:pt modelId="{4A049BBC-2731-7743-A63A-12E2DCEA7637}" type="sibTrans" cxnId="{217E5972-44E9-6446-AC97-FE587E6BFBE4}">
      <dgm:prSet/>
      <dgm:spPr/>
      <dgm:t>
        <a:bodyPr/>
        <a:lstStyle/>
        <a:p>
          <a:endParaRPr lang="zh-CN" altLang="en-US" b="1"/>
        </a:p>
      </dgm:t>
    </dgm:pt>
    <dgm:pt modelId="{C71D30CF-91E6-5241-AC6A-181A2EEFF699}">
      <dgm:prSet/>
      <dgm:spPr/>
      <dgm:t>
        <a:bodyPr/>
        <a:lstStyle/>
        <a:p>
          <a:r>
            <a:rPr lang="en-US" altLang="zh-CN" b="1" dirty="0"/>
            <a:t>0-1 Knapsack Problem </a:t>
          </a:r>
          <a:endParaRPr lang="zh-CN" altLang="en-US" b="1" dirty="0"/>
        </a:p>
      </dgm:t>
    </dgm:pt>
    <dgm:pt modelId="{EF24905C-034D-DB42-9541-EF86611E7A5B}" type="parTrans" cxnId="{BFE54DF6-2AF9-514E-887F-00A33F8E8B62}">
      <dgm:prSet/>
      <dgm:spPr/>
      <dgm:t>
        <a:bodyPr/>
        <a:lstStyle/>
        <a:p>
          <a:endParaRPr lang="zh-CN" altLang="en-US" b="1"/>
        </a:p>
      </dgm:t>
    </dgm:pt>
    <dgm:pt modelId="{A971A3FD-CD31-E242-82AF-B9F64BCF6241}" type="sibTrans" cxnId="{BFE54DF6-2AF9-514E-887F-00A33F8E8B62}">
      <dgm:prSet/>
      <dgm:spPr/>
      <dgm:t>
        <a:bodyPr/>
        <a:lstStyle/>
        <a:p>
          <a:endParaRPr lang="zh-CN" altLang="en-US" b="1"/>
        </a:p>
      </dgm:t>
    </dgm:pt>
    <dgm:pt modelId="{BEB40FAC-3C2F-D249-BCD7-CB20F15A2F2D}">
      <dgm:prSet/>
      <dgm:spPr/>
      <dgm:t>
        <a:bodyPr/>
        <a:lstStyle/>
        <a:p>
          <a:r>
            <a:rPr lang="en-US" altLang="zh-CN" b="1" dirty="0"/>
            <a:t>Maximal Independent Set</a:t>
          </a:r>
          <a:endParaRPr lang="zh-CN" altLang="en-US" b="1" dirty="0"/>
        </a:p>
      </dgm:t>
    </dgm:pt>
    <dgm:pt modelId="{AE85A0F3-E92F-E84C-9217-7D0D77F83808}" type="parTrans" cxnId="{C14B16E4-FB36-384B-A561-EA9A9B779A27}">
      <dgm:prSet/>
      <dgm:spPr/>
      <dgm:t>
        <a:bodyPr/>
        <a:lstStyle/>
        <a:p>
          <a:endParaRPr lang="zh-CN" altLang="en-US" b="1"/>
        </a:p>
      </dgm:t>
    </dgm:pt>
    <dgm:pt modelId="{C4E32C4A-39C3-114E-BF08-D0706BC8557F}" type="sibTrans" cxnId="{C14B16E4-FB36-384B-A561-EA9A9B779A27}">
      <dgm:prSet/>
      <dgm:spPr/>
      <dgm:t>
        <a:bodyPr/>
        <a:lstStyle/>
        <a:p>
          <a:endParaRPr lang="zh-CN" altLang="en-US" b="1"/>
        </a:p>
      </dgm:t>
    </dgm:pt>
    <dgm:pt modelId="{82BF780E-35C8-5244-A178-392312345216}">
      <dgm:prSet/>
      <dgm:spPr/>
      <dgm:t>
        <a:bodyPr/>
        <a:lstStyle/>
        <a:p>
          <a:r>
            <a:rPr lang="en-US" altLang="zh-CN" b="1" dirty="0"/>
            <a:t>Optimal Substructure</a:t>
          </a:r>
          <a:endParaRPr lang="zh-CN" altLang="en-US" b="1" dirty="0"/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 b="1"/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 b="1"/>
        </a:p>
      </dgm:t>
    </dgm:pt>
    <dgm:pt modelId="{2EEF85AF-4B87-C440-83AA-7A6F97371E15}">
      <dgm:prSet/>
      <dgm:spPr/>
      <dgm:t>
        <a:bodyPr/>
        <a:lstStyle/>
        <a:p>
          <a:r>
            <a:rPr lang="en-US" altLang="zh-CN" b="1" dirty="0"/>
            <a:t>Dynamic programming algorithm</a:t>
          </a:r>
          <a:endParaRPr lang="zh-CN" altLang="en-US" b="1" dirty="0"/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 b="1"/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 b="1"/>
        </a:p>
      </dgm:t>
    </dgm:pt>
    <dgm:pt modelId="{1CBB0942-040C-9D4E-B071-A1E7F6E3CCDD}">
      <dgm:prSet/>
      <dgm:spPr/>
      <dgm:t>
        <a:bodyPr/>
        <a:lstStyle/>
        <a:p>
          <a:r>
            <a:rPr lang="en-US" altLang="zh-CN" b="1" dirty="0"/>
            <a:t>Floyd-</a:t>
          </a:r>
          <a:r>
            <a:rPr lang="en-US" altLang="zh-CN" b="1" dirty="0" err="1"/>
            <a:t>Warshall</a:t>
          </a:r>
          <a:r>
            <a:rPr lang="en-US" altLang="zh-CN" b="1" dirty="0"/>
            <a:t> Algorithm</a:t>
          </a:r>
          <a:endParaRPr lang="zh-CN" altLang="en-US" b="1" dirty="0"/>
        </a:p>
      </dgm:t>
    </dgm:pt>
    <dgm:pt modelId="{FD8718B3-7D5D-BF4D-B540-D9212B862EFD}" type="parTrans" cxnId="{A2C18AA4-2D50-324C-AE17-93B49316388A}">
      <dgm:prSet/>
      <dgm:spPr/>
      <dgm:t>
        <a:bodyPr/>
        <a:lstStyle/>
        <a:p>
          <a:endParaRPr lang="zh-CN" altLang="en-US" b="1"/>
        </a:p>
      </dgm:t>
    </dgm:pt>
    <dgm:pt modelId="{5920D6D4-8CB7-714C-8D77-F84C45F79640}" type="sibTrans" cxnId="{A2C18AA4-2D50-324C-AE17-93B49316388A}">
      <dgm:prSet/>
      <dgm:spPr/>
      <dgm:t>
        <a:bodyPr/>
        <a:lstStyle/>
        <a:p>
          <a:endParaRPr lang="zh-CN" altLang="en-US" b="1"/>
        </a:p>
      </dgm:t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A93DEC5-4618-EE4A-9E3C-E5E43E382506}" type="pres">
      <dgm:prSet presAssocID="{8C98467B-A16D-46AB-89F9-E167C0071142}" presName="spacer" presStyleCnt="0"/>
      <dgm:spPr/>
    </dgm:pt>
    <dgm:pt modelId="{CAA1060A-F01D-234D-A5B5-15047FFE84C8}" type="pres">
      <dgm:prSet presAssocID="{CF2444AC-25A3-45AF-9E27-F0625589132F}" presName="parentText" presStyleLbl="node1" presStyleIdx="1" presStyleCnt="8" custLinFactNeighborX="-1034" custLinFactNeighborY="1077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0" presStyleCnt="1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2" presStyleCnt="8" custLinFactNeighborX="166" custLinFactNeighborY="-1958">
        <dgm:presLayoutVars>
          <dgm:chMax val="0"/>
          <dgm:bulletEnabled val="1"/>
        </dgm:presLayoutVars>
      </dgm:prSet>
      <dgm:spPr/>
    </dgm:pt>
    <dgm:pt modelId="{ACEDD40D-8786-0247-8BAE-04F45A8951D2}" type="pres">
      <dgm:prSet presAssocID="{7625B602-CC8D-40F6-A946-15E9FF8A917C}" presName="spacer" presStyleCnt="0"/>
      <dgm:spPr/>
    </dgm:pt>
    <dgm:pt modelId="{27CFC81F-1429-A241-BA29-F4FAC6F69A90}" type="pres">
      <dgm:prSet presAssocID="{63A81FF4-263D-41CB-9071-D127CED2C26F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20089F44-9124-6E48-853B-56327FBDADD4}" type="pres">
      <dgm:prSet presAssocID="{6204F9E9-B966-4ED3-9620-B8AD2FA0992D}" presName="spacer" presStyleCnt="0"/>
      <dgm:spPr/>
    </dgm:pt>
    <dgm:pt modelId="{74E7862E-A08A-E740-BD64-70A8C62E4534}" type="pres">
      <dgm:prSet presAssocID="{F098D7CD-E34D-AB40-90A3-37F93F15ACF8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8632870F-945C-1743-8411-1418D1E308AC}" type="pres">
      <dgm:prSet presAssocID="{4A049BBC-2731-7743-A63A-12E2DCEA7637}" presName="spacer" presStyleCnt="0"/>
      <dgm:spPr/>
    </dgm:pt>
    <dgm:pt modelId="{5A2B2C49-2F63-4841-9864-CB284F986961}" type="pres">
      <dgm:prSet presAssocID="{C71D30CF-91E6-5241-AC6A-181A2EEFF699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7E86CC68-0629-6344-9EC1-BE8028478DF0}" type="pres">
      <dgm:prSet presAssocID="{A971A3FD-CD31-E242-82AF-B9F64BCF6241}" presName="spacer" presStyleCnt="0"/>
      <dgm:spPr/>
    </dgm:pt>
    <dgm:pt modelId="{0BBB87FF-756B-B642-AE61-DB3A71271D95}" type="pres">
      <dgm:prSet presAssocID="{BEB40FAC-3C2F-D249-BCD7-CB20F15A2F2D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C262EDAB-4EEF-E54A-A34F-B08252A7DB0D}" type="pres">
      <dgm:prSet presAssocID="{C4E32C4A-39C3-114E-BF08-D0706BC8557F}" presName="spacer" presStyleCnt="0"/>
      <dgm:spPr/>
    </dgm:pt>
    <dgm:pt modelId="{C217D2B5-3E53-BD45-815A-E0B3ABE30EE7}" type="pres">
      <dgm:prSet presAssocID="{1CBB0942-040C-9D4E-B071-A1E7F6E3CCDD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C6CCCB3C-D198-BD40-999E-68845B587796}" type="presOf" srcId="{BEB40FAC-3C2F-D249-BCD7-CB20F15A2F2D}" destId="{0BBB87FF-756B-B642-AE61-DB3A71271D95}" srcOrd="0" destOrd="0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97BB4C4C-9569-9C46-819E-4A8976115266}" type="presOf" srcId="{AC918355-8F9B-4F09-B720-6574DA287041}" destId="{F36BEC44-DAC6-6343-85FD-985E84DAB391}" srcOrd="0" destOrd="0" presId="urn:microsoft.com/office/officeart/2005/8/layout/vList2"/>
    <dgm:cxn modelId="{907E6A52-30A9-C745-A5D9-082D7D5A300E}" type="presOf" srcId="{1CBB0942-040C-9D4E-B071-A1E7F6E3CCDD}" destId="{C217D2B5-3E53-BD45-815A-E0B3ABE30EE7}" srcOrd="0" destOrd="0" presId="urn:microsoft.com/office/officeart/2005/8/layout/vList2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94026755-DE43-3D45-8C77-553F70E5063F}" type="presOf" srcId="{B3AC4ABD-3393-49E6-B22C-5258D54F3AA8}" destId="{0F9D7059-6B5A-324D-BBB2-FF4779936521}" srcOrd="0" destOrd="0" presId="urn:microsoft.com/office/officeart/2005/8/layout/vList2"/>
    <dgm:cxn modelId="{AE04DE58-AB13-B24A-8054-0BE537E20E42}" type="presOf" srcId="{CF2444AC-25A3-45AF-9E27-F0625589132F}" destId="{CAA1060A-F01D-234D-A5B5-15047FFE84C8}" srcOrd="0" destOrd="0" presId="urn:microsoft.com/office/officeart/2005/8/layout/vList2"/>
    <dgm:cxn modelId="{EF02EC68-3DE4-1743-9B23-8D19D086DB8D}" type="presOf" srcId="{2EEF85AF-4B87-C440-83AA-7A6F97371E15}" destId="{B3D4FF40-A116-F443-A12B-EBBDAC4C5921}" srcOrd="0" destOrd="1" presId="urn:microsoft.com/office/officeart/2005/8/layout/vList2"/>
    <dgm:cxn modelId="{217E5972-44E9-6446-AC97-FE587E6BFBE4}" srcId="{CD4C4DF3-CDA3-4C1A-BA09-6F2AA9088C98}" destId="{F098D7CD-E34D-AB40-90A3-37F93F15ACF8}" srcOrd="4" destOrd="0" parTransId="{7D5CA1B6-D1C0-AA4A-B2BF-6C4BF6AAC8F0}" sibTransId="{4A049BBC-2731-7743-A63A-12E2DCEA7637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D8C00982-A6FC-3440-B75A-005F5BF8F986}" type="presOf" srcId="{C71D30CF-91E6-5241-AC6A-181A2EEFF699}" destId="{5A2B2C49-2F63-4841-9864-CB284F986961}" srcOrd="0" destOrd="0" presId="urn:microsoft.com/office/officeart/2005/8/layout/vList2"/>
    <dgm:cxn modelId="{D2C15B8E-264D-3440-84C3-525B5873AE39}" type="presOf" srcId="{F098D7CD-E34D-AB40-90A3-37F93F15ACF8}" destId="{74E7862E-A08A-E740-BD64-70A8C62E4534}" srcOrd="0" destOrd="0" presId="urn:microsoft.com/office/officeart/2005/8/layout/vList2"/>
    <dgm:cxn modelId="{2E262F90-040E-8D46-BA08-C21F1F4A5CD2}" type="presOf" srcId="{63A81FF4-263D-41CB-9071-D127CED2C26F}" destId="{27CFC81F-1429-A241-BA29-F4FAC6F69A90}" srcOrd="0" destOrd="0" presId="urn:microsoft.com/office/officeart/2005/8/layout/vList2"/>
    <dgm:cxn modelId="{A2C18AA4-2D50-324C-AE17-93B49316388A}" srcId="{CD4C4DF3-CDA3-4C1A-BA09-6F2AA9088C98}" destId="{1CBB0942-040C-9D4E-B071-A1E7F6E3CCDD}" srcOrd="7" destOrd="0" parTransId="{FD8718B3-7D5D-BF4D-B540-D9212B862EFD}" sibTransId="{5920D6D4-8CB7-714C-8D77-F84C45F79640}"/>
    <dgm:cxn modelId="{FF429AB5-D8A5-450C-949E-C5993CDA6CF8}" srcId="{CD4C4DF3-CDA3-4C1A-BA09-6F2AA9088C98}" destId="{63A81FF4-263D-41CB-9071-D127CED2C26F}" srcOrd="3" destOrd="0" parTransId="{871569B9-983E-4147-A2C2-AEAE4B538B9F}" sibTransId="{6204F9E9-B966-4ED3-9620-B8AD2FA0992D}"/>
    <dgm:cxn modelId="{20AAC4C0-0D10-49F9-94CC-7F9A98CD0892}" srcId="{CD4C4DF3-CDA3-4C1A-BA09-6F2AA9088C98}" destId="{B3AC4ABD-3393-49E6-B22C-5258D54F3AA8}" srcOrd="2" destOrd="0" parTransId="{217CAF8E-9194-4CEE-B13D-4E63A1D5BC08}" sibTransId="{7625B602-CC8D-40F6-A946-15E9FF8A917C}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72DD3FDF-998E-ED40-B203-A8A842484DE5}" type="presOf" srcId="{82BF780E-35C8-5244-A178-392312345216}" destId="{B3D4FF40-A116-F443-A12B-EBBDAC4C5921}" srcOrd="0" destOrd="0" presId="urn:microsoft.com/office/officeart/2005/8/layout/vList2"/>
    <dgm:cxn modelId="{C14B16E4-FB36-384B-A561-EA9A9B779A27}" srcId="{CD4C4DF3-CDA3-4C1A-BA09-6F2AA9088C98}" destId="{BEB40FAC-3C2F-D249-BCD7-CB20F15A2F2D}" srcOrd="6" destOrd="0" parTransId="{AE85A0F3-E92F-E84C-9217-7D0D77F83808}" sibTransId="{C4E32C4A-39C3-114E-BF08-D0706BC8557F}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BFE54DF6-2AF9-514E-887F-00A33F8E8B62}" srcId="{CD4C4DF3-CDA3-4C1A-BA09-6F2AA9088C98}" destId="{C71D30CF-91E6-5241-AC6A-181A2EEFF699}" srcOrd="5" destOrd="0" parTransId="{EF24905C-034D-DB42-9541-EF86611E7A5B}" sibTransId="{A971A3FD-CD31-E242-82AF-B9F64BCF6241}"/>
    <dgm:cxn modelId="{7F7FB686-798E-5342-8DDD-4603B2ACB674}" type="presParOf" srcId="{E3F036DE-6942-EB4D-9A0C-88DB77F2BE78}" destId="{F36BEC44-DAC6-6343-85FD-985E84DAB391}" srcOrd="0" destOrd="0" presId="urn:microsoft.com/office/officeart/2005/8/layout/vList2"/>
    <dgm:cxn modelId="{2BD7A73F-1C15-1841-92FF-EB2ECDDD08AE}" type="presParOf" srcId="{E3F036DE-6942-EB4D-9A0C-88DB77F2BE78}" destId="{3A93DEC5-4618-EE4A-9E3C-E5E43E382506}" srcOrd="1" destOrd="0" presId="urn:microsoft.com/office/officeart/2005/8/layout/vList2"/>
    <dgm:cxn modelId="{96D9C9FF-32FB-594B-8360-12EE92A92ECF}" type="presParOf" srcId="{E3F036DE-6942-EB4D-9A0C-88DB77F2BE78}" destId="{CAA1060A-F01D-234D-A5B5-15047FFE84C8}" srcOrd="2" destOrd="0" presId="urn:microsoft.com/office/officeart/2005/8/layout/vList2"/>
    <dgm:cxn modelId="{C0EF9506-2B4B-504D-A865-7EABDA17FD3E}" type="presParOf" srcId="{E3F036DE-6942-EB4D-9A0C-88DB77F2BE78}" destId="{B3D4FF40-A116-F443-A12B-EBBDAC4C5921}" srcOrd="3" destOrd="0" presId="urn:microsoft.com/office/officeart/2005/8/layout/vList2"/>
    <dgm:cxn modelId="{F24A70AF-72BE-1A4B-8A66-AC0BEE70CF99}" type="presParOf" srcId="{E3F036DE-6942-EB4D-9A0C-88DB77F2BE78}" destId="{0F9D7059-6B5A-324D-BBB2-FF4779936521}" srcOrd="4" destOrd="0" presId="urn:microsoft.com/office/officeart/2005/8/layout/vList2"/>
    <dgm:cxn modelId="{3FE64151-1108-384D-9BD5-4EBBEF709880}" type="presParOf" srcId="{E3F036DE-6942-EB4D-9A0C-88DB77F2BE78}" destId="{ACEDD40D-8786-0247-8BAE-04F45A8951D2}" srcOrd="5" destOrd="0" presId="urn:microsoft.com/office/officeart/2005/8/layout/vList2"/>
    <dgm:cxn modelId="{EE4C89DF-76AF-9D40-9263-B3BC0F2F9F8D}" type="presParOf" srcId="{E3F036DE-6942-EB4D-9A0C-88DB77F2BE78}" destId="{27CFC81F-1429-A241-BA29-F4FAC6F69A90}" srcOrd="6" destOrd="0" presId="urn:microsoft.com/office/officeart/2005/8/layout/vList2"/>
    <dgm:cxn modelId="{CC9811C3-912A-294A-9FEA-571B85FA739B}" type="presParOf" srcId="{E3F036DE-6942-EB4D-9A0C-88DB77F2BE78}" destId="{20089F44-9124-6E48-853B-56327FBDADD4}" srcOrd="7" destOrd="0" presId="urn:microsoft.com/office/officeart/2005/8/layout/vList2"/>
    <dgm:cxn modelId="{6F9426C5-2781-324B-A088-51559DEA6D26}" type="presParOf" srcId="{E3F036DE-6942-EB4D-9A0C-88DB77F2BE78}" destId="{74E7862E-A08A-E740-BD64-70A8C62E4534}" srcOrd="8" destOrd="0" presId="urn:microsoft.com/office/officeart/2005/8/layout/vList2"/>
    <dgm:cxn modelId="{713632CF-A8FE-F942-8860-860422F38757}" type="presParOf" srcId="{E3F036DE-6942-EB4D-9A0C-88DB77F2BE78}" destId="{8632870F-945C-1743-8411-1418D1E308AC}" srcOrd="9" destOrd="0" presId="urn:microsoft.com/office/officeart/2005/8/layout/vList2"/>
    <dgm:cxn modelId="{065570D7-B490-3A4B-9E4B-3EEC9B1C5EC1}" type="presParOf" srcId="{E3F036DE-6942-EB4D-9A0C-88DB77F2BE78}" destId="{5A2B2C49-2F63-4841-9864-CB284F986961}" srcOrd="10" destOrd="0" presId="urn:microsoft.com/office/officeart/2005/8/layout/vList2"/>
    <dgm:cxn modelId="{75F6BC26-6856-1247-A42C-49951FECD95D}" type="presParOf" srcId="{E3F036DE-6942-EB4D-9A0C-88DB77F2BE78}" destId="{7E86CC68-0629-6344-9EC1-BE8028478DF0}" srcOrd="11" destOrd="0" presId="urn:microsoft.com/office/officeart/2005/8/layout/vList2"/>
    <dgm:cxn modelId="{E1367A49-EFF4-8C4A-8054-5201505772FC}" type="presParOf" srcId="{E3F036DE-6942-EB4D-9A0C-88DB77F2BE78}" destId="{0BBB87FF-756B-B642-AE61-DB3A71271D95}" srcOrd="12" destOrd="0" presId="urn:microsoft.com/office/officeart/2005/8/layout/vList2"/>
    <dgm:cxn modelId="{F01F5EAD-0F1D-FF4B-B4EC-F404F443A084}" type="presParOf" srcId="{E3F036DE-6942-EB4D-9A0C-88DB77F2BE78}" destId="{C262EDAB-4EEF-E54A-A34F-B08252A7DB0D}" srcOrd="13" destOrd="0" presId="urn:microsoft.com/office/officeart/2005/8/layout/vList2"/>
    <dgm:cxn modelId="{7C5D8C65-C934-DE44-BF41-44527E83E6CE}" type="presParOf" srcId="{E3F036DE-6942-EB4D-9A0C-88DB77F2BE78}" destId="{C217D2B5-3E53-BD45-815A-E0B3ABE30EE7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/>
      <dgm:t>
        <a:bodyPr/>
        <a:lstStyle/>
        <a:p>
          <a:r>
            <a:rPr lang="en-US" altLang="zh-CN" b="1" dirty="0"/>
            <a:t>Introduction to Dynamic Programming</a:t>
          </a: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 b="1"/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 b="1"/>
        </a:p>
      </dgm:t>
    </dgm:pt>
    <dgm:pt modelId="{CF2444AC-25A3-45AF-9E27-F0625589132F}">
      <dgm:prSet/>
      <dgm:spPr/>
      <dgm:t>
        <a:bodyPr/>
        <a:lstStyle/>
        <a:p>
          <a:r>
            <a:rPr lang="en-US" altLang="zh-CN" b="1" dirty="0"/>
            <a:t>Weighted Interval</a:t>
          </a:r>
          <a:r>
            <a:rPr lang="zh-CN" altLang="en-US" b="1" dirty="0"/>
            <a:t> </a:t>
          </a:r>
          <a:r>
            <a:rPr lang="en-US" altLang="zh-CN" b="1" dirty="0"/>
            <a:t>Scheduling</a:t>
          </a:r>
          <a:endParaRPr lang="en-US" b="1" dirty="0"/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 b="1"/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 b="1"/>
        </a:p>
      </dgm:t>
    </dgm:pt>
    <dgm:pt modelId="{B3AC4ABD-3393-49E6-B22C-5258D54F3AA8}">
      <dgm:prSet/>
      <dgm:spPr/>
      <dgm:t>
        <a:bodyPr/>
        <a:lstStyle/>
        <a:p>
          <a:r>
            <a:rPr lang="en-US" altLang="zh-CN" b="1" dirty="0">
              <a:solidFill>
                <a:schemeClr val="bg1"/>
              </a:solidFill>
            </a:rPr>
            <a:t>Longest Common Subsequence</a:t>
          </a:r>
          <a:endParaRPr lang="en-US" b="1" dirty="0">
            <a:solidFill>
              <a:schemeClr val="bg1"/>
            </a:solidFill>
          </a:endParaRP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 b="1"/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 b="1"/>
        </a:p>
      </dgm:t>
    </dgm:pt>
    <dgm:pt modelId="{63A81FF4-263D-41CB-9071-D127CED2C26F}">
      <dgm:prSet custT="1"/>
      <dgm:spPr/>
      <dgm:t>
        <a:bodyPr/>
        <a:lstStyle/>
        <a:p>
          <a:r>
            <a:rPr lang="en-US" sz="20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Chain</a:t>
          </a:r>
          <a:r>
            <a:rPr lang="en-US" sz="2000" b="1" kern="1200" baseline="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Matrix Multiplication</a:t>
          </a:r>
          <a:endParaRPr lang="en-US" sz="20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 b="1"/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 b="1"/>
        </a:p>
      </dgm:t>
    </dgm:pt>
    <dgm:pt modelId="{F098D7CD-E34D-AB40-90A3-37F93F15ACF8}">
      <dgm:prSet/>
      <dgm:spPr/>
      <dgm:t>
        <a:bodyPr/>
        <a:lstStyle/>
        <a:p>
          <a:r>
            <a:rPr lang="en-US" altLang="zh-CN" b="1" dirty="0"/>
            <a:t>Infinite Knapsack Problem </a:t>
          </a:r>
          <a:endParaRPr lang="zh-CN" altLang="en-US" b="1" dirty="0"/>
        </a:p>
      </dgm:t>
    </dgm:pt>
    <dgm:pt modelId="{7D5CA1B6-D1C0-AA4A-B2BF-6C4BF6AAC8F0}" type="parTrans" cxnId="{217E5972-44E9-6446-AC97-FE587E6BFBE4}">
      <dgm:prSet/>
      <dgm:spPr/>
      <dgm:t>
        <a:bodyPr/>
        <a:lstStyle/>
        <a:p>
          <a:endParaRPr lang="zh-CN" altLang="en-US" b="1"/>
        </a:p>
      </dgm:t>
    </dgm:pt>
    <dgm:pt modelId="{4A049BBC-2731-7743-A63A-12E2DCEA7637}" type="sibTrans" cxnId="{217E5972-44E9-6446-AC97-FE587E6BFBE4}">
      <dgm:prSet/>
      <dgm:spPr/>
      <dgm:t>
        <a:bodyPr/>
        <a:lstStyle/>
        <a:p>
          <a:endParaRPr lang="zh-CN" altLang="en-US" b="1"/>
        </a:p>
      </dgm:t>
    </dgm:pt>
    <dgm:pt modelId="{C71D30CF-91E6-5241-AC6A-181A2EEFF699}">
      <dgm:prSet/>
      <dgm:spPr/>
      <dgm:t>
        <a:bodyPr/>
        <a:lstStyle/>
        <a:p>
          <a:r>
            <a:rPr lang="en-US" altLang="zh-CN" b="1" dirty="0"/>
            <a:t>0-1 Knapsack Problem </a:t>
          </a:r>
          <a:endParaRPr lang="zh-CN" altLang="en-US" b="1" dirty="0"/>
        </a:p>
      </dgm:t>
    </dgm:pt>
    <dgm:pt modelId="{EF24905C-034D-DB42-9541-EF86611E7A5B}" type="parTrans" cxnId="{BFE54DF6-2AF9-514E-887F-00A33F8E8B62}">
      <dgm:prSet/>
      <dgm:spPr/>
      <dgm:t>
        <a:bodyPr/>
        <a:lstStyle/>
        <a:p>
          <a:endParaRPr lang="zh-CN" altLang="en-US" b="1"/>
        </a:p>
      </dgm:t>
    </dgm:pt>
    <dgm:pt modelId="{A971A3FD-CD31-E242-82AF-B9F64BCF6241}" type="sibTrans" cxnId="{BFE54DF6-2AF9-514E-887F-00A33F8E8B62}">
      <dgm:prSet/>
      <dgm:spPr/>
      <dgm:t>
        <a:bodyPr/>
        <a:lstStyle/>
        <a:p>
          <a:endParaRPr lang="zh-CN" altLang="en-US" b="1"/>
        </a:p>
      </dgm:t>
    </dgm:pt>
    <dgm:pt modelId="{BEB40FAC-3C2F-D249-BCD7-CB20F15A2F2D}">
      <dgm:prSet/>
      <dgm:spPr/>
      <dgm:t>
        <a:bodyPr/>
        <a:lstStyle/>
        <a:p>
          <a:r>
            <a:rPr lang="en-US" altLang="zh-CN" b="1" dirty="0"/>
            <a:t>Maximal Independent Set</a:t>
          </a:r>
          <a:endParaRPr lang="zh-CN" altLang="en-US" b="1" dirty="0"/>
        </a:p>
      </dgm:t>
    </dgm:pt>
    <dgm:pt modelId="{AE85A0F3-E92F-E84C-9217-7D0D77F83808}" type="parTrans" cxnId="{C14B16E4-FB36-384B-A561-EA9A9B779A27}">
      <dgm:prSet/>
      <dgm:spPr/>
      <dgm:t>
        <a:bodyPr/>
        <a:lstStyle/>
        <a:p>
          <a:endParaRPr lang="zh-CN" altLang="en-US" b="1"/>
        </a:p>
      </dgm:t>
    </dgm:pt>
    <dgm:pt modelId="{C4E32C4A-39C3-114E-BF08-D0706BC8557F}" type="sibTrans" cxnId="{C14B16E4-FB36-384B-A561-EA9A9B779A27}">
      <dgm:prSet/>
      <dgm:spPr/>
      <dgm:t>
        <a:bodyPr/>
        <a:lstStyle/>
        <a:p>
          <a:endParaRPr lang="zh-CN" altLang="en-US" b="1"/>
        </a:p>
      </dgm:t>
    </dgm:pt>
    <dgm:pt modelId="{82BF780E-35C8-5244-A178-392312345216}">
      <dgm:prSet/>
      <dgm:spPr/>
      <dgm:t>
        <a:bodyPr/>
        <a:lstStyle/>
        <a:p>
          <a:r>
            <a:rPr lang="en-US" altLang="zh-CN" b="1" dirty="0"/>
            <a:t>Optimal Substructure</a:t>
          </a:r>
          <a:endParaRPr lang="zh-CN" altLang="en-US" b="1" dirty="0"/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 b="1"/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 b="1"/>
        </a:p>
      </dgm:t>
    </dgm:pt>
    <dgm:pt modelId="{2EEF85AF-4B87-C440-83AA-7A6F97371E15}">
      <dgm:prSet/>
      <dgm:spPr/>
      <dgm:t>
        <a:bodyPr/>
        <a:lstStyle/>
        <a:p>
          <a:r>
            <a:rPr lang="en-US" altLang="zh-CN" b="1" dirty="0"/>
            <a:t>Dynamic programming algorithm</a:t>
          </a:r>
          <a:endParaRPr lang="zh-CN" altLang="en-US" b="1" dirty="0"/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 b="1"/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 b="1"/>
        </a:p>
      </dgm:t>
    </dgm:pt>
    <dgm:pt modelId="{1CBB0942-040C-9D4E-B071-A1E7F6E3CCDD}">
      <dgm:prSet/>
      <dgm:spPr/>
      <dgm:t>
        <a:bodyPr/>
        <a:lstStyle/>
        <a:p>
          <a:r>
            <a:rPr lang="en-US" altLang="zh-CN" b="1" dirty="0"/>
            <a:t>Floyd-</a:t>
          </a:r>
          <a:r>
            <a:rPr lang="en-US" altLang="zh-CN" b="1" dirty="0" err="1"/>
            <a:t>Warshall</a:t>
          </a:r>
          <a:r>
            <a:rPr lang="en-US" altLang="zh-CN" b="1" dirty="0"/>
            <a:t> Algorithm</a:t>
          </a:r>
          <a:endParaRPr lang="zh-CN" altLang="en-US" b="1" dirty="0"/>
        </a:p>
      </dgm:t>
    </dgm:pt>
    <dgm:pt modelId="{FD8718B3-7D5D-BF4D-B540-D9212B862EFD}" type="parTrans" cxnId="{A2C18AA4-2D50-324C-AE17-93B49316388A}">
      <dgm:prSet/>
      <dgm:spPr/>
      <dgm:t>
        <a:bodyPr/>
        <a:lstStyle/>
        <a:p>
          <a:endParaRPr lang="zh-CN" altLang="en-US" b="1"/>
        </a:p>
      </dgm:t>
    </dgm:pt>
    <dgm:pt modelId="{5920D6D4-8CB7-714C-8D77-F84C45F79640}" type="sibTrans" cxnId="{A2C18AA4-2D50-324C-AE17-93B49316388A}">
      <dgm:prSet/>
      <dgm:spPr/>
      <dgm:t>
        <a:bodyPr/>
        <a:lstStyle/>
        <a:p>
          <a:endParaRPr lang="zh-CN" altLang="en-US" b="1"/>
        </a:p>
      </dgm:t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A93DEC5-4618-EE4A-9E3C-E5E43E382506}" type="pres">
      <dgm:prSet presAssocID="{8C98467B-A16D-46AB-89F9-E167C0071142}" presName="spacer" presStyleCnt="0"/>
      <dgm:spPr/>
    </dgm:pt>
    <dgm:pt modelId="{CAA1060A-F01D-234D-A5B5-15047FFE84C8}" type="pres">
      <dgm:prSet presAssocID="{CF2444AC-25A3-45AF-9E27-F0625589132F}" presName="parentText" presStyleLbl="node1" presStyleIdx="1" presStyleCnt="8" custLinFactNeighborX="-1034" custLinFactNeighborY="1077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0" presStyleCnt="1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2" presStyleCnt="8" custLinFactNeighborX="166" custLinFactNeighborY="-1958">
        <dgm:presLayoutVars>
          <dgm:chMax val="0"/>
          <dgm:bulletEnabled val="1"/>
        </dgm:presLayoutVars>
      </dgm:prSet>
      <dgm:spPr/>
    </dgm:pt>
    <dgm:pt modelId="{ACEDD40D-8786-0247-8BAE-04F45A8951D2}" type="pres">
      <dgm:prSet presAssocID="{7625B602-CC8D-40F6-A946-15E9FF8A917C}" presName="spacer" presStyleCnt="0"/>
      <dgm:spPr/>
    </dgm:pt>
    <dgm:pt modelId="{27CFC81F-1429-A241-BA29-F4FAC6F69A90}" type="pres">
      <dgm:prSet presAssocID="{63A81FF4-263D-41CB-9071-D127CED2C26F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20089F44-9124-6E48-853B-56327FBDADD4}" type="pres">
      <dgm:prSet presAssocID="{6204F9E9-B966-4ED3-9620-B8AD2FA0992D}" presName="spacer" presStyleCnt="0"/>
      <dgm:spPr/>
    </dgm:pt>
    <dgm:pt modelId="{74E7862E-A08A-E740-BD64-70A8C62E4534}" type="pres">
      <dgm:prSet presAssocID="{F098D7CD-E34D-AB40-90A3-37F93F15ACF8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8632870F-945C-1743-8411-1418D1E308AC}" type="pres">
      <dgm:prSet presAssocID="{4A049BBC-2731-7743-A63A-12E2DCEA7637}" presName="spacer" presStyleCnt="0"/>
      <dgm:spPr/>
    </dgm:pt>
    <dgm:pt modelId="{5A2B2C49-2F63-4841-9864-CB284F986961}" type="pres">
      <dgm:prSet presAssocID="{C71D30CF-91E6-5241-AC6A-181A2EEFF699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7E86CC68-0629-6344-9EC1-BE8028478DF0}" type="pres">
      <dgm:prSet presAssocID="{A971A3FD-CD31-E242-82AF-B9F64BCF6241}" presName="spacer" presStyleCnt="0"/>
      <dgm:spPr/>
    </dgm:pt>
    <dgm:pt modelId="{0BBB87FF-756B-B642-AE61-DB3A71271D95}" type="pres">
      <dgm:prSet presAssocID="{BEB40FAC-3C2F-D249-BCD7-CB20F15A2F2D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C262EDAB-4EEF-E54A-A34F-B08252A7DB0D}" type="pres">
      <dgm:prSet presAssocID="{C4E32C4A-39C3-114E-BF08-D0706BC8557F}" presName="spacer" presStyleCnt="0"/>
      <dgm:spPr/>
    </dgm:pt>
    <dgm:pt modelId="{C217D2B5-3E53-BD45-815A-E0B3ABE30EE7}" type="pres">
      <dgm:prSet presAssocID="{1CBB0942-040C-9D4E-B071-A1E7F6E3CCDD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C6CCCB3C-D198-BD40-999E-68845B587796}" type="presOf" srcId="{BEB40FAC-3C2F-D249-BCD7-CB20F15A2F2D}" destId="{0BBB87FF-756B-B642-AE61-DB3A71271D95}" srcOrd="0" destOrd="0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97BB4C4C-9569-9C46-819E-4A8976115266}" type="presOf" srcId="{AC918355-8F9B-4F09-B720-6574DA287041}" destId="{F36BEC44-DAC6-6343-85FD-985E84DAB391}" srcOrd="0" destOrd="0" presId="urn:microsoft.com/office/officeart/2005/8/layout/vList2"/>
    <dgm:cxn modelId="{907E6A52-30A9-C745-A5D9-082D7D5A300E}" type="presOf" srcId="{1CBB0942-040C-9D4E-B071-A1E7F6E3CCDD}" destId="{C217D2B5-3E53-BD45-815A-E0B3ABE30EE7}" srcOrd="0" destOrd="0" presId="urn:microsoft.com/office/officeart/2005/8/layout/vList2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94026755-DE43-3D45-8C77-553F70E5063F}" type="presOf" srcId="{B3AC4ABD-3393-49E6-B22C-5258D54F3AA8}" destId="{0F9D7059-6B5A-324D-BBB2-FF4779936521}" srcOrd="0" destOrd="0" presId="urn:microsoft.com/office/officeart/2005/8/layout/vList2"/>
    <dgm:cxn modelId="{AE04DE58-AB13-B24A-8054-0BE537E20E42}" type="presOf" srcId="{CF2444AC-25A3-45AF-9E27-F0625589132F}" destId="{CAA1060A-F01D-234D-A5B5-15047FFE84C8}" srcOrd="0" destOrd="0" presId="urn:microsoft.com/office/officeart/2005/8/layout/vList2"/>
    <dgm:cxn modelId="{EF02EC68-3DE4-1743-9B23-8D19D086DB8D}" type="presOf" srcId="{2EEF85AF-4B87-C440-83AA-7A6F97371E15}" destId="{B3D4FF40-A116-F443-A12B-EBBDAC4C5921}" srcOrd="0" destOrd="1" presId="urn:microsoft.com/office/officeart/2005/8/layout/vList2"/>
    <dgm:cxn modelId="{217E5972-44E9-6446-AC97-FE587E6BFBE4}" srcId="{CD4C4DF3-CDA3-4C1A-BA09-6F2AA9088C98}" destId="{F098D7CD-E34D-AB40-90A3-37F93F15ACF8}" srcOrd="4" destOrd="0" parTransId="{7D5CA1B6-D1C0-AA4A-B2BF-6C4BF6AAC8F0}" sibTransId="{4A049BBC-2731-7743-A63A-12E2DCEA7637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D8C00982-A6FC-3440-B75A-005F5BF8F986}" type="presOf" srcId="{C71D30CF-91E6-5241-AC6A-181A2EEFF699}" destId="{5A2B2C49-2F63-4841-9864-CB284F986961}" srcOrd="0" destOrd="0" presId="urn:microsoft.com/office/officeart/2005/8/layout/vList2"/>
    <dgm:cxn modelId="{D2C15B8E-264D-3440-84C3-525B5873AE39}" type="presOf" srcId="{F098D7CD-E34D-AB40-90A3-37F93F15ACF8}" destId="{74E7862E-A08A-E740-BD64-70A8C62E4534}" srcOrd="0" destOrd="0" presId="urn:microsoft.com/office/officeart/2005/8/layout/vList2"/>
    <dgm:cxn modelId="{2E262F90-040E-8D46-BA08-C21F1F4A5CD2}" type="presOf" srcId="{63A81FF4-263D-41CB-9071-D127CED2C26F}" destId="{27CFC81F-1429-A241-BA29-F4FAC6F69A90}" srcOrd="0" destOrd="0" presId="urn:microsoft.com/office/officeart/2005/8/layout/vList2"/>
    <dgm:cxn modelId="{A2C18AA4-2D50-324C-AE17-93B49316388A}" srcId="{CD4C4DF3-CDA3-4C1A-BA09-6F2AA9088C98}" destId="{1CBB0942-040C-9D4E-B071-A1E7F6E3CCDD}" srcOrd="7" destOrd="0" parTransId="{FD8718B3-7D5D-BF4D-B540-D9212B862EFD}" sibTransId="{5920D6D4-8CB7-714C-8D77-F84C45F79640}"/>
    <dgm:cxn modelId="{FF429AB5-D8A5-450C-949E-C5993CDA6CF8}" srcId="{CD4C4DF3-CDA3-4C1A-BA09-6F2AA9088C98}" destId="{63A81FF4-263D-41CB-9071-D127CED2C26F}" srcOrd="3" destOrd="0" parTransId="{871569B9-983E-4147-A2C2-AEAE4B538B9F}" sibTransId="{6204F9E9-B966-4ED3-9620-B8AD2FA0992D}"/>
    <dgm:cxn modelId="{20AAC4C0-0D10-49F9-94CC-7F9A98CD0892}" srcId="{CD4C4DF3-CDA3-4C1A-BA09-6F2AA9088C98}" destId="{B3AC4ABD-3393-49E6-B22C-5258D54F3AA8}" srcOrd="2" destOrd="0" parTransId="{217CAF8E-9194-4CEE-B13D-4E63A1D5BC08}" sibTransId="{7625B602-CC8D-40F6-A946-15E9FF8A917C}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72DD3FDF-998E-ED40-B203-A8A842484DE5}" type="presOf" srcId="{82BF780E-35C8-5244-A178-392312345216}" destId="{B3D4FF40-A116-F443-A12B-EBBDAC4C5921}" srcOrd="0" destOrd="0" presId="urn:microsoft.com/office/officeart/2005/8/layout/vList2"/>
    <dgm:cxn modelId="{C14B16E4-FB36-384B-A561-EA9A9B779A27}" srcId="{CD4C4DF3-CDA3-4C1A-BA09-6F2AA9088C98}" destId="{BEB40FAC-3C2F-D249-BCD7-CB20F15A2F2D}" srcOrd="6" destOrd="0" parTransId="{AE85A0F3-E92F-E84C-9217-7D0D77F83808}" sibTransId="{C4E32C4A-39C3-114E-BF08-D0706BC8557F}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BFE54DF6-2AF9-514E-887F-00A33F8E8B62}" srcId="{CD4C4DF3-CDA3-4C1A-BA09-6F2AA9088C98}" destId="{C71D30CF-91E6-5241-AC6A-181A2EEFF699}" srcOrd="5" destOrd="0" parTransId="{EF24905C-034D-DB42-9541-EF86611E7A5B}" sibTransId="{A971A3FD-CD31-E242-82AF-B9F64BCF6241}"/>
    <dgm:cxn modelId="{7F7FB686-798E-5342-8DDD-4603B2ACB674}" type="presParOf" srcId="{E3F036DE-6942-EB4D-9A0C-88DB77F2BE78}" destId="{F36BEC44-DAC6-6343-85FD-985E84DAB391}" srcOrd="0" destOrd="0" presId="urn:microsoft.com/office/officeart/2005/8/layout/vList2"/>
    <dgm:cxn modelId="{2BD7A73F-1C15-1841-92FF-EB2ECDDD08AE}" type="presParOf" srcId="{E3F036DE-6942-EB4D-9A0C-88DB77F2BE78}" destId="{3A93DEC5-4618-EE4A-9E3C-E5E43E382506}" srcOrd="1" destOrd="0" presId="urn:microsoft.com/office/officeart/2005/8/layout/vList2"/>
    <dgm:cxn modelId="{96D9C9FF-32FB-594B-8360-12EE92A92ECF}" type="presParOf" srcId="{E3F036DE-6942-EB4D-9A0C-88DB77F2BE78}" destId="{CAA1060A-F01D-234D-A5B5-15047FFE84C8}" srcOrd="2" destOrd="0" presId="urn:microsoft.com/office/officeart/2005/8/layout/vList2"/>
    <dgm:cxn modelId="{C0EF9506-2B4B-504D-A865-7EABDA17FD3E}" type="presParOf" srcId="{E3F036DE-6942-EB4D-9A0C-88DB77F2BE78}" destId="{B3D4FF40-A116-F443-A12B-EBBDAC4C5921}" srcOrd="3" destOrd="0" presId="urn:microsoft.com/office/officeart/2005/8/layout/vList2"/>
    <dgm:cxn modelId="{F24A70AF-72BE-1A4B-8A66-AC0BEE70CF99}" type="presParOf" srcId="{E3F036DE-6942-EB4D-9A0C-88DB77F2BE78}" destId="{0F9D7059-6B5A-324D-BBB2-FF4779936521}" srcOrd="4" destOrd="0" presId="urn:microsoft.com/office/officeart/2005/8/layout/vList2"/>
    <dgm:cxn modelId="{3FE64151-1108-384D-9BD5-4EBBEF709880}" type="presParOf" srcId="{E3F036DE-6942-EB4D-9A0C-88DB77F2BE78}" destId="{ACEDD40D-8786-0247-8BAE-04F45A8951D2}" srcOrd="5" destOrd="0" presId="urn:microsoft.com/office/officeart/2005/8/layout/vList2"/>
    <dgm:cxn modelId="{EE4C89DF-76AF-9D40-9263-B3BC0F2F9F8D}" type="presParOf" srcId="{E3F036DE-6942-EB4D-9A0C-88DB77F2BE78}" destId="{27CFC81F-1429-A241-BA29-F4FAC6F69A90}" srcOrd="6" destOrd="0" presId="urn:microsoft.com/office/officeart/2005/8/layout/vList2"/>
    <dgm:cxn modelId="{CC9811C3-912A-294A-9FEA-571B85FA739B}" type="presParOf" srcId="{E3F036DE-6942-EB4D-9A0C-88DB77F2BE78}" destId="{20089F44-9124-6E48-853B-56327FBDADD4}" srcOrd="7" destOrd="0" presId="urn:microsoft.com/office/officeart/2005/8/layout/vList2"/>
    <dgm:cxn modelId="{6F9426C5-2781-324B-A088-51559DEA6D26}" type="presParOf" srcId="{E3F036DE-6942-EB4D-9A0C-88DB77F2BE78}" destId="{74E7862E-A08A-E740-BD64-70A8C62E4534}" srcOrd="8" destOrd="0" presId="urn:microsoft.com/office/officeart/2005/8/layout/vList2"/>
    <dgm:cxn modelId="{713632CF-A8FE-F942-8860-860422F38757}" type="presParOf" srcId="{E3F036DE-6942-EB4D-9A0C-88DB77F2BE78}" destId="{8632870F-945C-1743-8411-1418D1E308AC}" srcOrd="9" destOrd="0" presId="urn:microsoft.com/office/officeart/2005/8/layout/vList2"/>
    <dgm:cxn modelId="{065570D7-B490-3A4B-9E4B-3EEC9B1C5EC1}" type="presParOf" srcId="{E3F036DE-6942-EB4D-9A0C-88DB77F2BE78}" destId="{5A2B2C49-2F63-4841-9864-CB284F986961}" srcOrd="10" destOrd="0" presId="urn:microsoft.com/office/officeart/2005/8/layout/vList2"/>
    <dgm:cxn modelId="{75F6BC26-6856-1247-A42C-49951FECD95D}" type="presParOf" srcId="{E3F036DE-6942-EB4D-9A0C-88DB77F2BE78}" destId="{7E86CC68-0629-6344-9EC1-BE8028478DF0}" srcOrd="11" destOrd="0" presId="urn:microsoft.com/office/officeart/2005/8/layout/vList2"/>
    <dgm:cxn modelId="{E1367A49-EFF4-8C4A-8054-5201505772FC}" type="presParOf" srcId="{E3F036DE-6942-EB4D-9A0C-88DB77F2BE78}" destId="{0BBB87FF-756B-B642-AE61-DB3A71271D95}" srcOrd="12" destOrd="0" presId="urn:microsoft.com/office/officeart/2005/8/layout/vList2"/>
    <dgm:cxn modelId="{F01F5EAD-0F1D-FF4B-B4EC-F404F443A084}" type="presParOf" srcId="{E3F036DE-6942-EB4D-9A0C-88DB77F2BE78}" destId="{C262EDAB-4EEF-E54A-A34F-B08252A7DB0D}" srcOrd="13" destOrd="0" presId="urn:microsoft.com/office/officeart/2005/8/layout/vList2"/>
    <dgm:cxn modelId="{7C5D8C65-C934-DE44-BF41-44527E83E6CE}" type="presParOf" srcId="{E3F036DE-6942-EB4D-9A0C-88DB77F2BE78}" destId="{C217D2B5-3E53-BD45-815A-E0B3ABE30EE7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326416"/>
          <a:ext cx="4697730" cy="5036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/>
            <a:t>Introduction to Dynamic Programming</a:t>
          </a:r>
        </a:p>
      </dsp:txBody>
      <dsp:txXfrm>
        <a:off x="24588" y="351004"/>
        <a:ext cx="4648554" cy="454509"/>
      </dsp:txXfrm>
    </dsp:sp>
    <dsp:sp modelId="{CAA1060A-F01D-234D-A5B5-15047FFE84C8}">
      <dsp:nvSpPr>
        <dsp:cNvPr id="0" name=""/>
        <dsp:cNvSpPr/>
      </dsp:nvSpPr>
      <dsp:spPr>
        <a:xfrm>
          <a:off x="0" y="896550"/>
          <a:ext cx="4697730" cy="503685"/>
        </a:xfrm>
        <a:prstGeom prst="roundRect">
          <a:avLst/>
        </a:prstGeom>
        <a:solidFill>
          <a:schemeClr val="accent2">
            <a:hueOff val="909495"/>
            <a:satOff val="1543"/>
            <a:lumOff val="-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/>
            <a:t>Weighted Interval</a:t>
          </a:r>
          <a:r>
            <a:rPr lang="zh-CN" altLang="en-US" sz="2100" b="1" kern="1200" dirty="0"/>
            <a:t> </a:t>
          </a:r>
          <a:r>
            <a:rPr lang="en-US" altLang="zh-CN" sz="2100" b="1" kern="1200" dirty="0"/>
            <a:t>Scheduling</a:t>
          </a:r>
          <a:endParaRPr lang="en-US" sz="2100" b="1" kern="1200" dirty="0"/>
        </a:p>
      </dsp:txBody>
      <dsp:txXfrm>
        <a:off x="24588" y="921138"/>
        <a:ext cx="4648554" cy="454509"/>
      </dsp:txXfrm>
    </dsp:sp>
    <dsp:sp modelId="{B3D4FF40-A116-F443-A12B-EBBDAC4C5921}">
      <dsp:nvSpPr>
        <dsp:cNvPr id="0" name=""/>
        <dsp:cNvSpPr/>
      </dsp:nvSpPr>
      <dsp:spPr>
        <a:xfrm>
          <a:off x="0" y="1394266"/>
          <a:ext cx="4697730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600" b="1" kern="1200" dirty="0"/>
            <a:t>Optimal Substructure</a:t>
          </a:r>
          <a:endParaRPr lang="zh-CN" alt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600" b="1" kern="1200" dirty="0"/>
            <a:t>Dynamic programming algorithm</a:t>
          </a:r>
          <a:endParaRPr lang="zh-CN" altLang="en-US" sz="1600" b="1" kern="1200" dirty="0"/>
        </a:p>
      </dsp:txBody>
      <dsp:txXfrm>
        <a:off x="0" y="1394266"/>
        <a:ext cx="4697730" cy="554242"/>
      </dsp:txXfrm>
    </dsp:sp>
    <dsp:sp modelId="{0F9D7059-6B5A-324D-BBB2-FF4779936521}">
      <dsp:nvSpPr>
        <dsp:cNvPr id="0" name=""/>
        <dsp:cNvSpPr/>
      </dsp:nvSpPr>
      <dsp:spPr>
        <a:xfrm>
          <a:off x="0" y="1947324"/>
          <a:ext cx="4697730" cy="503685"/>
        </a:xfrm>
        <a:prstGeom prst="roundRect">
          <a:avLst/>
        </a:prstGeom>
        <a:solidFill>
          <a:schemeClr val="accent2">
            <a:hueOff val="1818989"/>
            <a:satOff val="3086"/>
            <a:lumOff val="-1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>
              <a:solidFill>
                <a:schemeClr val="bg1"/>
              </a:solidFill>
            </a:rPr>
            <a:t>Longest Common Subsequence</a:t>
          </a:r>
          <a:endParaRPr lang="en-US" sz="2100" b="1" kern="1200" dirty="0">
            <a:solidFill>
              <a:schemeClr val="bg1"/>
            </a:solidFill>
          </a:endParaRPr>
        </a:p>
      </dsp:txBody>
      <dsp:txXfrm>
        <a:off x="24588" y="1971912"/>
        <a:ext cx="4648554" cy="454509"/>
      </dsp:txXfrm>
    </dsp:sp>
    <dsp:sp modelId="{27CFC81F-1429-A241-BA29-F4FAC6F69A90}">
      <dsp:nvSpPr>
        <dsp:cNvPr id="0" name=""/>
        <dsp:cNvSpPr/>
      </dsp:nvSpPr>
      <dsp:spPr>
        <a:xfrm>
          <a:off x="0" y="2512673"/>
          <a:ext cx="4697730" cy="503685"/>
        </a:xfrm>
        <a:prstGeom prst="roundRect">
          <a:avLst/>
        </a:prstGeom>
        <a:solidFill>
          <a:schemeClr val="accent2">
            <a:hueOff val="2728483"/>
            <a:satOff val="4629"/>
            <a:lumOff val="-1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Chain</a:t>
          </a:r>
          <a:r>
            <a:rPr lang="en-US" sz="2000" b="1" kern="1200" baseline="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Matrix Multiplication</a:t>
          </a:r>
          <a:endParaRPr lang="en-US" sz="20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24588" y="2537261"/>
        <a:ext cx="4648554" cy="454509"/>
      </dsp:txXfrm>
    </dsp:sp>
    <dsp:sp modelId="{74E7862E-A08A-E740-BD64-70A8C62E4534}">
      <dsp:nvSpPr>
        <dsp:cNvPr id="0" name=""/>
        <dsp:cNvSpPr/>
      </dsp:nvSpPr>
      <dsp:spPr>
        <a:xfrm>
          <a:off x="0" y="3076838"/>
          <a:ext cx="4697730" cy="503685"/>
        </a:xfrm>
        <a:prstGeom prst="roundRect">
          <a:avLst/>
        </a:prstGeom>
        <a:solidFill>
          <a:schemeClr val="accent2">
            <a:hueOff val="3637978"/>
            <a:satOff val="6171"/>
            <a:lumOff val="-2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/>
            <a:t>Infinite Knapsack Problem </a:t>
          </a:r>
          <a:endParaRPr lang="zh-CN" altLang="en-US" sz="2100" b="1" kern="1200" dirty="0"/>
        </a:p>
      </dsp:txBody>
      <dsp:txXfrm>
        <a:off x="24588" y="3101426"/>
        <a:ext cx="4648554" cy="454509"/>
      </dsp:txXfrm>
    </dsp:sp>
    <dsp:sp modelId="{5A2B2C49-2F63-4841-9864-CB284F986961}">
      <dsp:nvSpPr>
        <dsp:cNvPr id="0" name=""/>
        <dsp:cNvSpPr/>
      </dsp:nvSpPr>
      <dsp:spPr>
        <a:xfrm>
          <a:off x="0" y="3641003"/>
          <a:ext cx="4697730" cy="503685"/>
        </a:xfrm>
        <a:prstGeom prst="roundRect">
          <a:avLst/>
        </a:prstGeom>
        <a:solidFill>
          <a:schemeClr val="accent2">
            <a:hueOff val="4547472"/>
            <a:satOff val="7714"/>
            <a:lumOff val="-2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/>
            <a:t>0-1 Knapsack Problem </a:t>
          </a:r>
          <a:endParaRPr lang="zh-CN" altLang="en-US" sz="2100" b="1" kern="1200" dirty="0"/>
        </a:p>
      </dsp:txBody>
      <dsp:txXfrm>
        <a:off x="24588" y="3665591"/>
        <a:ext cx="4648554" cy="454509"/>
      </dsp:txXfrm>
    </dsp:sp>
    <dsp:sp modelId="{0BBB87FF-756B-B642-AE61-DB3A71271D95}">
      <dsp:nvSpPr>
        <dsp:cNvPr id="0" name=""/>
        <dsp:cNvSpPr/>
      </dsp:nvSpPr>
      <dsp:spPr>
        <a:xfrm>
          <a:off x="0" y="4205168"/>
          <a:ext cx="4697730" cy="503685"/>
        </a:xfrm>
        <a:prstGeom prst="roundRect">
          <a:avLst/>
        </a:prstGeom>
        <a:solidFill>
          <a:schemeClr val="accent2">
            <a:hueOff val="5456967"/>
            <a:satOff val="9257"/>
            <a:lumOff val="-3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/>
            <a:t>Maximal Independent Set</a:t>
          </a:r>
          <a:endParaRPr lang="zh-CN" altLang="en-US" sz="2100" b="1" kern="1200" dirty="0"/>
        </a:p>
      </dsp:txBody>
      <dsp:txXfrm>
        <a:off x="24588" y="4229756"/>
        <a:ext cx="4648554" cy="454509"/>
      </dsp:txXfrm>
    </dsp:sp>
    <dsp:sp modelId="{C217D2B5-3E53-BD45-815A-E0B3ABE30EE7}">
      <dsp:nvSpPr>
        <dsp:cNvPr id="0" name=""/>
        <dsp:cNvSpPr/>
      </dsp:nvSpPr>
      <dsp:spPr>
        <a:xfrm>
          <a:off x="0" y="4769333"/>
          <a:ext cx="4697730" cy="503685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/>
            <a:t>Floyd-</a:t>
          </a:r>
          <a:r>
            <a:rPr lang="en-US" altLang="zh-CN" sz="2100" b="1" kern="1200" dirty="0" err="1"/>
            <a:t>Warshall</a:t>
          </a:r>
          <a:r>
            <a:rPr lang="en-US" altLang="zh-CN" sz="2100" b="1" kern="1200" dirty="0"/>
            <a:t> Algorithm</a:t>
          </a:r>
          <a:endParaRPr lang="zh-CN" altLang="en-US" sz="2100" b="1" kern="1200" dirty="0"/>
        </a:p>
      </dsp:txBody>
      <dsp:txXfrm>
        <a:off x="24588" y="4793921"/>
        <a:ext cx="4648554" cy="4545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326416"/>
          <a:ext cx="4697730" cy="5036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/>
            <a:t>Introduction to Dynamic Programming</a:t>
          </a:r>
        </a:p>
      </dsp:txBody>
      <dsp:txXfrm>
        <a:off x="24588" y="351004"/>
        <a:ext cx="4648554" cy="454509"/>
      </dsp:txXfrm>
    </dsp:sp>
    <dsp:sp modelId="{CAA1060A-F01D-234D-A5B5-15047FFE84C8}">
      <dsp:nvSpPr>
        <dsp:cNvPr id="0" name=""/>
        <dsp:cNvSpPr/>
      </dsp:nvSpPr>
      <dsp:spPr>
        <a:xfrm>
          <a:off x="0" y="896550"/>
          <a:ext cx="4697730" cy="503685"/>
        </a:xfrm>
        <a:prstGeom prst="roundRect">
          <a:avLst/>
        </a:prstGeom>
        <a:solidFill>
          <a:schemeClr val="accent2">
            <a:hueOff val="909495"/>
            <a:satOff val="1543"/>
            <a:lumOff val="-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/>
            <a:t>Weighted Interval</a:t>
          </a:r>
          <a:r>
            <a:rPr lang="zh-CN" altLang="en-US" sz="2100" b="1" kern="1200" dirty="0"/>
            <a:t> </a:t>
          </a:r>
          <a:r>
            <a:rPr lang="en-US" altLang="zh-CN" sz="2100" b="1" kern="1200" dirty="0"/>
            <a:t>Scheduling</a:t>
          </a:r>
          <a:endParaRPr lang="en-US" sz="2100" b="1" kern="1200" dirty="0"/>
        </a:p>
      </dsp:txBody>
      <dsp:txXfrm>
        <a:off x="24588" y="921138"/>
        <a:ext cx="4648554" cy="454509"/>
      </dsp:txXfrm>
    </dsp:sp>
    <dsp:sp modelId="{B3D4FF40-A116-F443-A12B-EBBDAC4C5921}">
      <dsp:nvSpPr>
        <dsp:cNvPr id="0" name=""/>
        <dsp:cNvSpPr/>
      </dsp:nvSpPr>
      <dsp:spPr>
        <a:xfrm>
          <a:off x="0" y="1394266"/>
          <a:ext cx="4697730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600" b="1" kern="1200" dirty="0"/>
            <a:t>Optimal Substructure</a:t>
          </a:r>
          <a:endParaRPr lang="zh-CN" altLang="en-US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600" b="1" kern="1200" dirty="0"/>
            <a:t>Dynamic programming algorithm</a:t>
          </a:r>
          <a:endParaRPr lang="zh-CN" altLang="en-US" sz="1600" b="1" kern="1200" dirty="0"/>
        </a:p>
      </dsp:txBody>
      <dsp:txXfrm>
        <a:off x="0" y="1394266"/>
        <a:ext cx="4697730" cy="554242"/>
      </dsp:txXfrm>
    </dsp:sp>
    <dsp:sp modelId="{0F9D7059-6B5A-324D-BBB2-FF4779936521}">
      <dsp:nvSpPr>
        <dsp:cNvPr id="0" name=""/>
        <dsp:cNvSpPr/>
      </dsp:nvSpPr>
      <dsp:spPr>
        <a:xfrm>
          <a:off x="0" y="1947324"/>
          <a:ext cx="4697730" cy="503685"/>
        </a:xfrm>
        <a:prstGeom prst="roundRect">
          <a:avLst/>
        </a:prstGeom>
        <a:solidFill>
          <a:schemeClr val="accent2">
            <a:hueOff val="1818989"/>
            <a:satOff val="3086"/>
            <a:lumOff val="-1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>
              <a:solidFill>
                <a:schemeClr val="bg1"/>
              </a:solidFill>
            </a:rPr>
            <a:t>Longest Common Subsequence</a:t>
          </a:r>
          <a:endParaRPr lang="en-US" sz="2100" b="1" kern="1200" dirty="0">
            <a:solidFill>
              <a:schemeClr val="bg1"/>
            </a:solidFill>
          </a:endParaRPr>
        </a:p>
      </dsp:txBody>
      <dsp:txXfrm>
        <a:off x="24588" y="1971912"/>
        <a:ext cx="4648554" cy="454509"/>
      </dsp:txXfrm>
    </dsp:sp>
    <dsp:sp modelId="{27CFC81F-1429-A241-BA29-F4FAC6F69A90}">
      <dsp:nvSpPr>
        <dsp:cNvPr id="0" name=""/>
        <dsp:cNvSpPr/>
      </dsp:nvSpPr>
      <dsp:spPr>
        <a:xfrm>
          <a:off x="0" y="2512673"/>
          <a:ext cx="4697730" cy="503685"/>
        </a:xfrm>
        <a:prstGeom prst="roundRect">
          <a:avLst/>
        </a:prstGeom>
        <a:solidFill>
          <a:schemeClr val="accent2">
            <a:hueOff val="2728483"/>
            <a:satOff val="4629"/>
            <a:lumOff val="-1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Chain</a:t>
          </a:r>
          <a:r>
            <a:rPr lang="en-US" sz="2000" b="1" kern="1200" baseline="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Matrix Multiplication</a:t>
          </a:r>
          <a:endParaRPr lang="en-US" sz="2000" b="1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24588" y="2537261"/>
        <a:ext cx="4648554" cy="454509"/>
      </dsp:txXfrm>
    </dsp:sp>
    <dsp:sp modelId="{74E7862E-A08A-E740-BD64-70A8C62E4534}">
      <dsp:nvSpPr>
        <dsp:cNvPr id="0" name=""/>
        <dsp:cNvSpPr/>
      </dsp:nvSpPr>
      <dsp:spPr>
        <a:xfrm>
          <a:off x="0" y="3076838"/>
          <a:ext cx="4697730" cy="503685"/>
        </a:xfrm>
        <a:prstGeom prst="roundRect">
          <a:avLst/>
        </a:prstGeom>
        <a:solidFill>
          <a:schemeClr val="accent2">
            <a:hueOff val="3637978"/>
            <a:satOff val="6171"/>
            <a:lumOff val="-2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/>
            <a:t>Infinite Knapsack Problem </a:t>
          </a:r>
          <a:endParaRPr lang="zh-CN" altLang="en-US" sz="2100" b="1" kern="1200" dirty="0"/>
        </a:p>
      </dsp:txBody>
      <dsp:txXfrm>
        <a:off x="24588" y="3101426"/>
        <a:ext cx="4648554" cy="454509"/>
      </dsp:txXfrm>
    </dsp:sp>
    <dsp:sp modelId="{5A2B2C49-2F63-4841-9864-CB284F986961}">
      <dsp:nvSpPr>
        <dsp:cNvPr id="0" name=""/>
        <dsp:cNvSpPr/>
      </dsp:nvSpPr>
      <dsp:spPr>
        <a:xfrm>
          <a:off x="0" y="3641003"/>
          <a:ext cx="4697730" cy="503685"/>
        </a:xfrm>
        <a:prstGeom prst="roundRect">
          <a:avLst/>
        </a:prstGeom>
        <a:solidFill>
          <a:schemeClr val="accent2">
            <a:hueOff val="4547472"/>
            <a:satOff val="7714"/>
            <a:lumOff val="-2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/>
            <a:t>0-1 Knapsack Problem </a:t>
          </a:r>
          <a:endParaRPr lang="zh-CN" altLang="en-US" sz="2100" b="1" kern="1200" dirty="0"/>
        </a:p>
      </dsp:txBody>
      <dsp:txXfrm>
        <a:off x="24588" y="3665591"/>
        <a:ext cx="4648554" cy="454509"/>
      </dsp:txXfrm>
    </dsp:sp>
    <dsp:sp modelId="{0BBB87FF-756B-B642-AE61-DB3A71271D95}">
      <dsp:nvSpPr>
        <dsp:cNvPr id="0" name=""/>
        <dsp:cNvSpPr/>
      </dsp:nvSpPr>
      <dsp:spPr>
        <a:xfrm>
          <a:off x="0" y="4205168"/>
          <a:ext cx="4697730" cy="503685"/>
        </a:xfrm>
        <a:prstGeom prst="roundRect">
          <a:avLst/>
        </a:prstGeom>
        <a:solidFill>
          <a:schemeClr val="accent2">
            <a:hueOff val="5456967"/>
            <a:satOff val="9257"/>
            <a:lumOff val="-3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/>
            <a:t>Maximal Independent Set</a:t>
          </a:r>
          <a:endParaRPr lang="zh-CN" altLang="en-US" sz="2100" b="1" kern="1200" dirty="0"/>
        </a:p>
      </dsp:txBody>
      <dsp:txXfrm>
        <a:off x="24588" y="4229756"/>
        <a:ext cx="4648554" cy="454509"/>
      </dsp:txXfrm>
    </dsp:sp>
    <dsp:sp modelId="{C217D2B5-3E53-BD45-815A-E0B3ABE30EE7}">
      <dsp:nvSpPr>
        <dsp:cNvPr id="0" name=""/>
        <dsp:cNvSpPr/>
      </dsp:nvSpPr>
      <dsp:spPr>
        <a:xfrm>
          <a:off x="0" y="4769333"/>
          <a:ext cx="4697730" cy="503685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b="1" kern="1200" dirty="0"/>
            <a:t>Floyd-</a:t>
          </a:r>
          <a:r>
            <a:rPr lang="en-US" altLang="zh-CN" sz="2100" b="1" kern="1200" dirty="0" err="1"/>
            <a:t>Warshall</a:t>
          </a:r>
          <a:r>
            <a:rPr lang="en-US" altLang="zh-CN" sz="2100" b="1" kern="1200" dirty="0"/>
            <a:t> Algorithm</a:t>
          </a:r>
          <a:endParaRPr lang="zh-CN" altLang="en-US" sz="2100" b="1" kern="1200" dirty="0"/>
        </a:p>
      </dsp:txBody>
      <dsp:txXfrm>
        <a:off x="24588" y="4793921"/>
        <a:ext cx="4648554" cy="4545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0FF97-7240-CA4F-8841-0AC551CB748F}" type="datetimeFigureOut">
              <a:rPr lang="en-US" smtClean="0"/>
              <a:t>3/18/24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96655-90FC-BD4C-B636-A157F5318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5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6186-EA11-D14D-8599-5DD97C83FAEC}" type="datetime1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7201-1605-D54F-BD0D-AA80B6D81C25}" type="datetime1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CC5F-BD62-DB41-BE06-941909F0E397}" type="datetime1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26FA-52B1-6D46-8FE4-9DCFF6A7FF2E}" type="datetime1">
              <a:rPr lang="en-US" smtClean="0"/>
              <a:t>3/18/24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4942-7FF9-6E40-85FD-D252FBBBE9F6}" type="datetime1">
              <a:rPr lang="en-US" smtClean="0"/>
              <a:t>3/18/24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2D37-2737-254C-A171-F3D7799E7780}" type="datetime1">
              <a:rPr lang="en-US" smtClean="0"/>
              <a:t>3/18/24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0A9F-BB4C-DD4D-9D2A-BA66C3A3B8F9}" type="datetime1">
              <a:rPr lang="en-US" smtClean="0"/>
              <a:t>3/18/24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8AAB-ACBB-7647-A9C7-36A0D71109EB}" type="datetime1">
              <a:rPr lang="en-US" smtClean="0"/>
              <a:t>3/18/24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7B5E-4D3F-2E4B-99C8-F64C031C79B2}" type="datetime1">
              <a:rPr lang="en-US" smtClean="0"/>
              <a:t>3/18/24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2C7D-3156-F74F-A4E2-BD0BE3B9FC54}" type="datetime1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3ADC-21C4-1744-8BC8-4DCE9EABB5B0}" type="datetime1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08E96-F24C-C244-A704-A4D358A2FE3B}" type="datetime1">
              <a:rPr lang="en-US" smtClean="0"/>
              <a:t>3/18/24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1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7" Type="http://schemas.openxmlformats.org/officeDocument/2006/relationships/image" Target="../media/image16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7" Type="http://schemas.openxmlformats.org/officeDocument/2006/relationships/image" Target="../media/image22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tiff"/><Relationship Id="rId5" Type="http://schemas.openxmlformats.org/officeDocument/2006/relationships/image" Target="../media/image20.tiff"/><Relationship Id="rId4" Type="http://schemas.openxmlformats.org/officeDocument/2006/relationships/image" Target="../media/image19.tif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tiff"/><Relationship Id="rId5" Type="http://schemas.openxmlformats.org/officeDocument/2006/relationships/image" Target="../media/image26.tiff"/><Relationship Id="rId4" Type="http://schemas.openxmlformats.org/officeDocument/2006/relationships/image" Target="../media/image25.tif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7" Type="http://schemas.openxmlformats.org/officeDocument/2006/relationships/image" Target="../media/image35.tiff"/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tiff"/><Relationship Id="rId5" Type="http://schemas.openxmlformats.org/officeDocument/2006/relationships/image" Target="../media/image33.tiff"/><Relationship Id="rId4" Type="http://schemas.openxmlformats.org/officeDocument/2006/relationships/image" Target="../media/image32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7" Type="http://schemas.openxmlformats.org/officeDocument/2006/relationships/image" Target="../media/image35.tiff"/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tiff"/><Relationship Id="rId5" Type="http://schemas.openxmlformats.org/officeDocument/2006/relationships/image" Target="../media/image33.tiff"/><Relationship Id="rId4" Type="http://schemas.openxmlformats.org/officeDocument/2006/relationships/image" Target="../media/image32.tif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f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tiff"/><Relationship Id="rId4" Type="http://schemas.openxmlformats.org/officeDocument/2006/relationships/image" Target="../media/image19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tif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tiff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tif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4" Type="http://schemas.openxmlformats.org/officeDocument/2006/relationships/image" Target="../media/image18.tif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iff"/><Relationship Id="rId7" Type="http://schemas.openxmlformats.org/officeDocument/2006/relationships/image" Target="../media/image41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4" Type="http://schemas.openxmlformats.org/officeDocument/2006/relationships/image" Target="../media/image18.tif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iff"/><Relationship Id="rId7" Type="http://schemas.openxmlformats.org/officeDocument/2006/relationships/image" Target="../media/image41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4" Type="http://schemas.openxmlformats.org/officeDocument/2006/relationships/image" Target="../media/image18.tif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tiff"/><Relationship Id="rId3" Type="http://schemas.openxmlformats.org/officeDocument/2006/relationships/image" Target="../media/image40.tiff"/><Relationship Id="rId7" Type="http://schemas.openxmlformats.org/officeDocument/2006/relationships/image" Target="../media/image41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4" Type="http://schemas.openxmlformats.org/officeDocument/2006/relationships/image" Target="../media/image18.tiff"/><Relationship Id="rId9" Type="http://schemas.openxmlformats.org/officeDocument/2006/relationships/image" Target="../media/image43.tif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tiff"/><Relationship Id="rId3" Type="http://schemas.openxmlformats.org/officeDocument/2006/relationships/image" Target="../media/image40.tiff"/><Relationship Id="rId7" Type="http://schemas.openxmlformats.org/officeDocument/2006/relationships/image" Target="../media/image41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4" Type="http://schemas.openxmlformats.org/officeDocument/2006/relationships/image" Target="../media/image18.tif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tiff"/><Relationship Id="rId3" Type="http://schemas.openxmlformats.org/officeDocument/2006/relationships/image" Target="../media/image40.tiff"/><Relationship Id="rId7" Type="http://schemas.openxmlformats.org/officeDocument/2006/relationships/image" Target="../media/image41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10" Type="http://schemas.openxmlformats.org/officeDocument/2006/relationships/image" Target="../media/image45.tiff"/><Relationship Id="rId4" Type="http://schemas.openxmlformats.org/officeDocument/2006/relationships/image" Target="../media/image18.tiff"/><Relationship Id="rId9" Type="http://schemas.openxmlformats.org/officeDocument/2006/relationships/image" Target="../media/image44.tif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tiff"/><Relationship Id="rId3" Type="http://schemas.openxmlformats.org/officeDocument/2006/relationships/image" Target="../media/image40.tiff"/><Relationship Id="rId7" Type="http://schemas.openxmlformats.org/officeDocument/2006/relationships/image" Target="../media/image41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10" Type="http://schemas.openxmlformats.org/officeDocument/2006/relationships/image" Target="../media/image45.tiff"/><Relationship Id="rId4" Type="http://schemas.openxmlformats.org/officeDocument/2006/relationships/image" Target="../media/image18.tiff"/><Relationship Id="rId9" Type="http://schemas.openxmlformats.org/officeDocument/2006/relationships/image" Target="../media/image44.tif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tiff"/><Relationship Id="rId3" Type="http://schemas.openxmlformats.org/officeDocument/2006/relationships/image" Target="../media/image40.tiff"/><Relationship Id="rId7" Type="http://schemas.openxmlformats.org/officeDocument/2006/relationships/image" Target="../media/image41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4" Type="http://schemas.openxmlformats.org/officeDocument/2006/relationships/image" Target="../media/image18.tiff"/><Relationship Id="rId9" Type="http://schemas.openxmlformats.org/officeDocument/2006/relationships/image" Target="../media/image44.tif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618BC3E-C159-7C4A-A4AD-5D258853E934}"/>
              </a:ext>
            </a:extLst>
          </p:cNvPr>
          <p:cNvSpPr/>
          <p:nvPr/>
        </p:nvSpPr>
        <p:spPr>
          <a:xfrm>
            <a:off x="0" y="0"/>
            <a:ext cx="3891776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4D8C2F-B057-BC46-B29B-8549C3CA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 dirty="0" err="1">
                <a:solidFill>
                  <a:schemeClr val="bg1"/>
                </a:solidFill>
              </a:rPr>
              <a:t>主要内容</a:t>
            </a:r>
            <a:endParaRPr lang="en-US" sz="5200" dirty="0">
              <a:solidFill>
                <a:schemeClr val="bg1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605011D5-D7DF-D395-3AA9-3C30225BA1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01291" y="620391"/>
          <a:ext cx="4697730" cy="5599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DCA578-4958-C042-93CC-08AEB411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Algorithm design and analysis, </a:t>
            </a:r>
            <a:r>
              <a:rPr lang="en-US" altLang="zh-CN" dirty="0" err="1"/>
              <a:t>Yongcai</a:t>
            </a:r>
            <a:r>
              <a:rPr lang="en-US" altLang="zh-CN" dirty="0"/>
              <a:t> Wang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99857-20C5-3A4B-8E13-770B50CF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D7B5-3E88-6742-8EE5-BD15024C65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66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9474013-480E-2C43-A3FE-C772132FA4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Chain Matrix Multiplication</a:t>
            </a:r>
            <a:endParaRPr lang="en-US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3697A02D-247D-CD47-902C-B9F61EA3D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11996E-6465-3A4E-8BA7-03754EC0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9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EE491-0E4A-244B-8756-72E67421F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Chain Matrix Multiplication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8ECB31-5EA9-C346-A715-25CA95D0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3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8AAE75-8524-3A43-ADA6-F3BCA8111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604" y="1648862"/>
            <a:ext cx="3883139" cy="7897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846A4C2-6F34-9248-9A30-1DA4607FC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01" y="2627573"/>
            <a:ext cx="4435408" cy="109481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05C59D2-1311-514D-A9A8-5F176017A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04" y="3664696"/>
            <a:ext cx="7993639" cy="274506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8ABF35E-2571-2043-8B98-82E905FF88D3}"/>
              </a:ext>
            </a:extLst>
          </p:cNvPr>
          <p:cNvSpPr txBox="1"/>
          <p:nvPr/>
        </p:nvSpPr>
        <p:spPr>
          <a:xfrm>
            <a:off x="5948622" y="3008638"/>
            <a:ext cx="2566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考虑进行的乘法的次数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114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8DE14-0C3D-2145-8972-A9B8370D6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Chain Matrix Multiplication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7D339B-5610-BA4D-8687-2D538A0DE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Consider the case of 3 matrices: A</a:t>
            </a:r>
            <a:r>
              <a:rPr lang="en-US" altLang="zh-CN" baseline="-25000" dirty="0"/>
              <a:t>1</a:t>
            </a:r>
            <a:r>
              <a:rPr lang="en-US" altLang="zh-CN" dirty="0"/>
              <a:t> be 5 × 4, A</a:t>
            </a:r>
            <a:r>
              <a:rPr lang="en-US" altLang="zh-CN" baseline="-25000" dirty="0"/>
              <a:t>2</a:t>
            </a:r>
            <a:r>
              <a:rPr lang="en-US" altLang="zh-CN" dirty="0"/>
              <a:t> be 4 × 6 and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 be 6 × 2</a:t>
            </a:r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339295-88C0-254B-B89F-53CD8474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4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DE4094-01E2-1F4A-9CD6-3319FA6BF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39" y="2765325"/>
            <a:ext cx="6667813" cy="11023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CA5421D-8479-754F-A61A-67DD274D1DF7}"/>
              </a:ext>
            </a:extLst>
          </p:cNvPr>
          <p:cNvSpPr txBox="1"/>
          <p:nvPr/>
        </p:nvSpPr>
        <p:spPr>
          <a:xfrm>
            <a:off x="628650" y="4237971"/>
            <a:ext cx="80635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effectLst/>
                <a:latin typeface="Helvetica" pitchFamily="2" charset="0"/>
              </a:rPr>
              <a:t>Chain Matrix Multiplication Problem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: Given a sequence of matrices 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Helvetica" pitchFamily="2" charset="0"/>
              </a:rPr>
              <a:t>A</a:t>
            </a:r>
            <a:r>
              <a:rPr lang="en-US" altLang="zh-CN" sz="2400" baseline="-25000" dirty="0">
                <a:solidFill>
                  <a:srgbClr val="00B050"/>
                </a:solidFill>
                <a:effectLst/>
                <a:latin typeface="Helvetica" pitchFamily="2" charset="0"/>
              </a:rPr>
              <a:t>1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Helvetica" pitchFamily="2" charset="0"/>
              </a:rPr>
              <a:t>, . . . , A</a:t>
            </a:r>
            <a:r>
              <a:rPr lang="en-US" altLang="zh-CN" sz="2400" baseline="-25000" dirty="0">
                <a:solidFill>
                  <a:srgbClr val="00B050"/>
                </a:solidFill>
                <a:effectLst/>
                <a:latin typeface="Helvetica" pitchFamily="2" charset="0"/>
              </a:rPr>
              <a:t>n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and dimensions 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Helvetica" pitchFamily="2" charset="0"/>
              </a:rPr>
              <a:t>p</a:t>
            </a:r>
            <a:r>
              <a:rPr lang="en-US" altLang="zh-CN" sz="2400" baseline="-25000" dirty="0">
                <a:solidFill>
                  <a:srgbClr val="00B050"/>
                </a:solidFill>
                <a:effectLst/>
                <a:latin typeface="Helvetica" pitchFamily="2" charset="0"/>
              </a:rPr>
              <a:t>0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Helvetica" pitchFamily="2" charset="0"/>
              </a:rPr>
              <a:t>, . . . , </a:t>
            </a:r>
            <a:r>
              <a:rPr lang="en-US" altLang="zh-CN" sz="2400" dirty="0" err="1">
                <a:solidFill>
                  <a:srgbClr val="00B050"/>
                </a:solidFill>
                <a:effectLst/>
                <a:latin typeface="Helvetica" pitchFamily="2" charset="0"/>
              </a:rPr>
              <a:t>p</a:t>
            </a:r>
            <a:r>
              <a:rPr lang="en-US" altLang="zh-CN" sz="2400" baseline="-25000" dirty="0" err="1">
                <a:solidFill>
                  <a:srgbClr val="00B050"/>
                </a:solidFill>
                <a:effectLst/>
                <a:latin typeface="Helvetica" pitchFamily="2" charset="0"/>
              </a:rPr>
              <a:t>n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where 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Helvetica" pitchFamily="2" charset="0"/>
              </a:rPr>
              <a:t>A</a:t>
            </a:r>
            <a:r>
              <a:rPr lang="en-US" altLang="zh-CN" sz="2400" baseline="-25000" dirty="0">
                <a:solidFill>
                  <a:srgbClr val="00B05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 is of dimension 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Helvetica" pitchFamily="2" charset="0"/>
              </a:rPr>
              <a:t>p</a:t>
            </a:r>
            <a:r>
              <a:rPr lang="en-US" altLang="zh-CN" sz="2400" baseline="-25000" dirty="0">
                <a:solidFill>
                  <a:srgbClr val="00B050"/>
                </a:solidFill>
                <a:effectLst/>
                <a:latin typeface="Helvetica" pitchFamily="2" charset="0"/>
              </a:rPr>
              <a:t>i−1 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Helvetica" pitchFamily="2" charset="0"/>
              </a:rPr>
              <a:t>× p</a:t>
            </a:r>
            <a:r>
              <a:rPr lang="en-US" altLang="zh-CN" sz="2400" baseline="-25000" dirty="0">
                <a:solidFill>
                  <a:srgbClr val="00B05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, determine the order of multiplication (represented, say, as a binary tree) that </a:t>
            </a:r>
            <a:r>
              <a:rPr lang="en-US" altLang="zh-CN" sz="2400" dirty="0">
                <a:solidFill>
                  <a:srgbClr val="00B050"/>
                </a:solidFill>
                <a:effectLst/>
                <a:latin typeface="Helvetica" pitchFamily="2" charset="0"/>
              </a:rPr>
              <a:t>minimizes the number of operations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9274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3D95E-B0A4-7042-A534-413AB7EA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programming approach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D94B7-2AB4-414D-A03C-E35251396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9362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Let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i..j</a:t>
            </a:r>
            <a:r>
              <a:rPr lang="en-US" altLang="zh-CN" dirty="0"/>
              <a:t> denote the result of </a:t>
            </a:r>
            <a:r>
              <a:rPr lang="en-US" altLang="zh-CN" dirty="0">
                <a:solidFill>
                  <a:srgbClr val="00B050"/>
                </a:solidFill>
              </a:rPr>
              <a:t>multiplying matrices </a:t>
            </a:r>
            <a:r>
              <a:rPr lang="en-US" altLang="zh-CN" dirty="0" err="1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 through j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i..j</a:t>
            </a:r>
            <a:r>
              <a:rPr lang="en-US" altLang="zh-CN" dirty="0"/>
              <a:t> is a </a:t>
            </a:r>
            <a:r>
              <a:rPr lang="en-US" altLang="zh-CN" dirty="0">
                <a:solidFill>
                  <a:srgbClr val="00B050"/>
                </a:solidFill>
              </a:rPr>
              <a:t>p</a:t>
            </a:r>
            <a:r>
              <a:rPr lang="en-US" altLang="zh-CN" baseline="-25000" dirty="0">
                <a:solidFill>
                  <a:srgbClr val="00B050"/>
                </a:solidFill>
              </a:rPr>
              <a:t>i−1</a:t>
            </a:r>
            <a:r>
              <a:rPr lang="en-US" altLang="zh-CN" dirty="0">
                <a:solidFill>
                  <a:srgbClr val="00B050"/>
                </a:solidFill>
              </a:rPr>
              <a:t> × </a:t>
            </a:r>
            <a:r>
              <a:rPr lang="en-US" altLang="zh-CN" dirty="0" err="1">
                <a:solidFill>
                  <a:srgbClr val="00B050"/>
                </a:solidFill>
              </a:rPr>
              <a:t>p</a:t>
            </a:r>
            <a:r>
              <a:rPr lang="en-US" altLang="zh-CN" baseline="-25000" dirty="0" err="1">
                <a:solidFill>
                  <a:srgbClr val="00B050"/>
                </a:solidFill>
              </a:rPr>
              <a:t>j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/>
              <a:t>matrix.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highest</a:t>
            </a:r>
            <a:r>
              <a:rPr lang="zh-CN" altLang="en-US" dirty="0"/>
              <a:t> </a:t>
            </a:r>
            <a:r>
              <a:rPr lang="en-US" altLang="zh-CN" dirty="0"/>
              <a:t>level,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select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a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point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to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decompose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r>
              <a:rPr lang="zh-CN" altLang="en-US" dirty="0"/>
              <a:t> </a:t>
            </a:r>
            <a:r>
              <a:rPr lang="en-US" altLang="zh-CN" dirty="0"/>
              <a:t>multiplication.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reduces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problems: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B050"/>
                </a:solidFill>
              </a:rPr>
              <a:t>What is the best place to split </a:t>
            </a:r>
            <a:r>
              <a:rPr lang="en-US" altLang="zh-CN" dirty="0"/>
              <a:t>the chain? (what is k?)</a:t>
            </a:r>
          </a:p>
          <a:p>
            <a:pPr lvl="1"/>
            <a:r>
              <a:rPr lang="en-US" altLang="zh-CN" dirty="0"/>
              <a:t>How do we </a:t>
            </a:r>
            <a:r>
              <a:rPr lang="en-US" altLang="zh-CN" dirty="0">
                <a:solidFill>
                  <a:srgbClr val="00B050"/>
                </a:solidFill>
              </a:rPr>
              <a:t>further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split</a:t>
            </a:r>
            <a:r>
              <a:rPr lang="zh-CN" altLang="en-US" dirty="0"/>
              <a:t> </a:t>
            </a:r>
            <a:r>
              <a:rPr lang="en-US" altLang="zh-CN" dirty="0"/>
              <a:t>each of the subsequences A</a:t>
            </a:r>
            <a:r>
              <a:rPr lang="en-US" altLang="zh-CN" baseline="-25000" dirty="0"/>
              <a:t>1..k</a:t>
            </a:r>
            <a:r>
              <a:rPr lang="en-US" altLang="zh-CN" dirty="0"/>
              <a:t> and A</a:t>
            </a:r>
            <a:r>
              <a:rPr lang="en-US" altLang="zh-CN" baseline="-25000" dirty="0"/>
              <a:t>k+1..n</a:t>
            </a:r>
            <a:r>
              <a:rPr lang="en-US" altLang="zh-CN" dirty="0"/>
              <a:t>?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EA83CB-4047-6C4C-BAE4-5C39DBF8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5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D8FD6B-D71A-0B48-A63C-F501D91DD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10666"/>
            <a:ext cx="6965834" cy="71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084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52FEFB-1158-C441-8124-1B374AEA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95263"/>
          </a:xfrm>
        </p:spPr>
        <p:txBody>
          <a:bodyPr/>
          <a:lstStyle/>
          <a:p>
            <a:r>
              <a:rPr lang="en-US" altLang="zh-CN" dirty="0"/>
              <a:t>Recursive formulation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BF6550-AD2E-3549-B433-6AD94FDF9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0389"/>
            <a:ext cx="7886700" cy="4351338"/>
          </a:xfrm>
        </p:spPr>
        <p:txBody>
          <a:bodyPr/>
          <a:lstStyle/>
          <a:p>
            <a:r>
              <a:rPr lang="en-US" altLang="zh-CN" dirty="0"/>
              <a:t>For 1 ≤ </a:t>
            </a:r>
            <a:r>
              <a:rPr lang="en-US" altLang="zh-CN" dirty="0" err="1"/>
              <a:t>i</a:t>
            </a:r>
            <a:r>
              <a:rPr lang="en-US" altLang="zh-CN" dirty="0"/>
              <a:t> ≤ j ≤ n, let </a:t>
            </a:r>
            <a:r>
              <a:rPr lang="en-US" altLang="zh-CN" dirty="0">
                <a:solidFill>
                  <a:srgbClr val="00B050"/>
                </a:solidFill>
              </a:rPr>
              <a:t>m(</a:t>
            </a:r>
            <a:r>
              <a:rPr lang="en-US" altLang="zh-CN" dirty="0" err="1">
                <a:solidFill>
                  <a:srgbClr val="00B050"/>
                </a:solidFill>
              </a:rPr>
              <a:t>i,j</a:t>
            </a:r>
            <a:r>
              <a:rPr lang="en-US" altLang="zh-CN" dirty="0">
                <a:solidFill>
                  <a:srgbClr val="00B050"/>
                </a:solidFill>
              </a:rPr>
              <a:t>) </a:t>
            </a:r>
            <a:r>
              <a:rPr lang="en-US" altLang="zh-CN" dirty="0"/>
              <a:t>denote the minimum number of multiplications needed to compute </a:t>
            </a:r>
            <a:r>
              <a:rPr lang="en-US" altLang="zh-CN" dirty="0" err="1">
                <a:solidFill>
                  <a:srgbClr val="00B050"/>
                </a:solidFill>
              </a:rPr>
              <a:t>A</a:t>
            </a:r>
            <a:r>
              <a:rPr lang="en-US" altLang="zh-CN" baseline="-25000" dirty="0" err="1">
                <a:solidFill>
                  <a:srgbClr val="00B050"/>
                </a:solidFill>
              </a:rPr>
              <a:t>i..j</a:t>
            </a:r>
            <a:r>
              <a:rPr lang="en-US" altLang="zh-CN" dirty="0"/>
              <a:t>.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7713E3-24C6-6B4B-8E20-FE5B5777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6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534471-DF07-5E4A-939E-28457574F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54" y="2348496"/>
            <a:ext cx="6965092" cy="31301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3D7E8B-B1CB-784D-A470-089BC794B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74" y="5611727"/>
            <a:ext cx="8508076" cy="110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93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5D9CF8-D62D-9646-B7DB-5E849193B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1044126"/>
          </a:xfrm>
        </p:spPr>
        <p:txBody>
          <a:bodyPr/>
          <a:lstStyle/>
          <a:p>
            <a:r>
              <a:rPr lang="en-US" altLang="zh-CN" dirty="0"/>
              <a:t>Recursive formulation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FFED5D-F888-1444-A1F0-701A1DC87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91379"/>
            <a:ext cx="7886700" cy="4249270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we store the values of m(</a:t>
            </a:r>
            <a:r>
              <a:rPr lang="en-US" altLang="zh-CN" dirty="0" err="1"/>
              <a:t>i</a:t>
            </a:r>
            <a:r>
              <a:rPr lang="en-US" altLang="zh-CN" dirty="0"/>
              <a:t>, j ) in a 2-dimensional array m[1..n, 1..n].</a:t>
            </a:r>
          </a:p>
          <a:p>
            <a:r>
              <a:rPr lang="en-US" altLang="zh-CN" dirty="0"/>
              <a:t>In the process of computing m(</a:t>
            </a:r>
            <a:r>
              <a:rPr lang="en-US" altLang="zh-CN" dirty="0" err="1"/>
              <a:t>i</a:t>
            </a:r>
            <a:r>
              <a:rPr lang="en-US" altLang="zh-CN" dirty="0"/>
              <a:t>, j) we </a:t>
            </a:r>
            <a:r>
              <a:rPr lang="en-US" altLang="zh-CN" dirty="0">
                <a:solidFill>
                  <a:srgbClr val="00B050"/>
                </a:solidFill>
              </a:rPr>
              <a:t>need to access values m(</a:t>
            </a:r>
            <a:r>
              <a:rPr lang="en-US" altLang="zh-CN" dirty="0" err="1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, k) and m(k + 1, j) for k lying between </a:t>
            </a:r>
            <a:r>
              <a:rPr lang="en-US" altLang="zh-CN" dirty="0" err="1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 and j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cannot</a:t>
            </a:r>
            <a:r>
              <a:rPr lang="zh-CN" altLang="en-US" dirty="0"/>
              <a:t> </a:t>
            </a:r>
            <a:r>
              <a:rPr lang="en-US" altLang="zh-CN" dirty="0"/>
              <a:t>compute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m[][]</a:t>
            </a:r>
            <a:r>
              <a:rPr lang="zh-CN" altLang="en-US" dirty="0"/>
              <a:t> </a:t>
            </a:r>
            <a:r>
              <a:rPr lang="en-US" altLang="zh-CN" dirty="0"/>
              <a:t>row-by-row,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calculating</a:t>
            </a:r>
            <a:r>
              <a:rPr lang="zh-CN" altLang="en-US" dirty="0"/>
              <a:t> </a:t>
            </a:r>
            <a:r>
              <a:rPr lang="en-US" altLang="zh-CN" dirty="0"/>
              <a:t>m[3][5]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m[4][5]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been</a:t>
            </a:r>
            <a:r>
              <a:rPr lang="zh-CN" altLang="en-US" dirty="0"/>
              <a:t> </a:t>
            </a:r>
            <a:r>
              <a:rPr lang="en-US" altLang="zh-CN" dirty="0"/>
              <a:t>calculated</a:t>
            </a:r>
            <a:r>
              <a:rPr lang="zh-CN" altLang="en-US" dirty="0"/>
              <a:t> </a:t>
            </a:r>
            <a:r>
              <a:rPr lang="en-US" altLang="zh-CN" dirty="0"/>
              <a:t>yet.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We first solve the problem for </a:t>
            </a:r>
            <a:r>
              <a:rPr lang="en-US" altLang="zh-CN" dirty="0">
                <a:solidFill>
                  <a:srgbClr val="00B050"/>
                </a:solidFill>
              </a:rPr>
              <a:t>chains of length 1 </a:t>
            </a:r>
            <a:r>
              <a:rPr lang="en-US" altLang="zh-CN" dirty="0"/>
              <a:t>(which is trivial), </a:t>
            </a:r>
            <a:r>
              <a:rPr lang="en-US" altLang="zh-CN" dirty="0">
                <a:solidFill>
                  <a:srgbClr val="00B050"/>
                </a:solidFill>
              </a:rPr>
              <a:t>then chains of length 2</a:t>
            </a:r>
            <a:r>
              <a:rPr lang="en-US" altLang="zh-CN" dirty="0"/>
              <a:t>, and so on, </a:t>
            </a:r>
            <a:r>
              <a:rPr lang="en-US" altLang="zh-CN" dirty="0">
                <a:solidFill>
                  <a:srgbClr val="00B050"/>
                </a:solidFill>
              </a:rPr>
              <a:t>until we come to m[1, n]</a:t>
            </a:r>
            <a:r>
              <a:rPr lang="en-US" altLang="zh-CN" dirty="0"/>
              <a:t>, which is the total chain of length n.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02B53E-B22C-1D4D-ACD1-5FE8112A3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7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75981B-119C-3740-9ACD-AE8A0FE43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01" y="1091936"/>
            <a:ext cx="8508076" cy="110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39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13A35-EE38-414A-9CAD-8BC0DA0FD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28973"/>
          </a:xfrm>
        </p:spPr>
        <p:txBody>
          <a:bodyPr/>
          <a:lstStyle/>
          <a:p>
            <a:r>
              <a:rPr lang="en-US" altLang="zh-CN" dirty="0"/>
              <a:t>Recursive formulation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5B95C6-E62B-1E48-A3E5-551A51018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55464"/>
            <a:ext cx="7886700" cy="4821499"/>
          </a:xfrm>
        </p:spPr>
        <p:txBody>
          <a:bodyPr/>
          <a:lstStyle/>
          <a:p>
            <a:r>
              <a:rPr lang="en-US" altLang="zh-CN" dirty="0"/>
              <a:t>Let </a:t>
            </a:r>
            <a:r>
              <a:rPr lang="en-US" altLang="zh-CN" dirty="0">
                <a:solidFill>
                  <a:srgbClr val="C00000"/>
                </a:solidFill>
              </a:rPr>
              <a:t>L = j − </a:t>
            </a:r>
            <a:r>
              <a:rPr lang="en-US" altLang="zh-CN" dirty="0" err="1">
                <a:solidFill>
                  <a:srgbClr val="C00000"/>
                </a:solidFill>
              </a:rPr>
              <a:t>i</a:t>
            </a:r>
            <a:r>
              <a:rPr lang="en-US" altLang="zh-CN" dirty="0">
                <a:solidFill>
                  <a:srgbClr val="C00000"/>
                </a:solidFill>
              </a:rPr>
              <a:t> + 1 </a:t>
            </a:r>
            <a:r>
              <a:rPr lang="en-US" altLang="zh-CN" dirty="0"/>
              <a:t>denote the length of the </a:t>
            </a:r>
            <a:r>
              <a:rPr lang="en-US" altLang="zh-CN" dirty="0" err="1"/>
              <a:t>subchain</a:t>
            </a:r>
            <a:r>
              <a:rPr lang="en-US" altLang="zh-CN" dirty="0"/>
              <a:t> being multiplied.</a:t>
            </a:r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L=1,</a:t>
            </a:r>
            <a:r>
              <a:rPr lang="zh-CN" altLang="en-US" dirty="0"/>
              <a:t> </a:t>
            </a:r>
            <a:r>
              <a:rPr lang="en-US" altLang="zh-CN" dirty="0"/>
              <a:t>m[</a:t>
            </a:r>
            <a:r>
              <a:rPr lang="en-US" altLang="zh-CN" dirty="0" err="1"/>
              <a:t>i</a:t>
            </a:r>
            <a:r>
              <a:rPr lang="en-US" altLang="zh-CN" dirty="0"/>
              <a:t>][</a:t>
            </a:r>
            <a:r>
              <a:rPr lang="en-US" altLang="zh-CN" dirty="0" err="1"/>
              <a:t>i</a:t>
            </a:r>
            <a:r>
              <a:rPr lang="en-US" altLang="zh-CN" dirty="0"/>
              <a:t>]=0;</a:t>
            </a:r>
          </a:p>
          <a:p>
            <a:r>
              <a:rPr lang="en-US" altLang="zh-CN" dirty="0"/>
              <a:t>If a </a:t>
            </a:r>
            <a:r>
              <a:rPr lang="en-US" altLang="zh-CN" dirty="0" err="1"/>
              <a:t>subchain</a:t>
            </a:r>
            <a:r>
              <a:rPr lang="en-US" altLang="zh-CN" dirty="0"/>
              <a:t> of length L starts at position </a:t>
            </a:r>
            <a:r>
              <a:rPr lang="en-US" altLang="zh-CN" dirty="0" err="1"/>
              <a:t>i</a:t>
            </a:r>
            <a:r>
              <a:rPr lang="en-US" altLang="zh-CN" dirty="0"/>
              <a:t>, then j=i+L−1.</a:t>
            </a:r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48A143-7F35-A442-816F-A4550666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1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8F7546-99B1-B742-8F6D-AF5205884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0745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DP</a:t>
            </a:r>
            <a:r>
              <a:rPr lang="zh-CN" altLang="en-US" dirty="0"/>
              <a:t> </a:t>
            </a:r>
            <a:r>
              <a:rPr lang="en-US" altLang="zh-CN" dirty="0"/>
              <a:t>based</a:t>
            </a:r>
            <a:r>
              <a:rPr lang="zh-CN" altLang="en-US" dirty="0"/>
              <a:t> </a:t>
            </a:r>
            <a:r>
              <a:rPr lang="en-US" altLang="zh-CN" dirty="0"/>
              <a:t>chain</a:t>
            </a:r>
            <a:r>
              <a:rPr lang="zh-CN" altLang="en-US" dirty="0"/>
              <a:t> </a:t>
            </a:r>
            <a:r>
              <a:rPr lang="en-US" altLang="zh-CN" dirty="0"/>
              <a:t>matrix</a:t>
            </a:r>
            <a:r>
              <a:rPr lang="zh-CN" altLang="en-US" dirty="0"/>
              <a:t> </a:t>
            </a:r>
            <a:r>
              <a:rPr lang="en-US" altLang="zh-CN" dirty="0"/>
              <a:t>multiplication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7B53D6-ECB4-274B-BB3C-6AB523EE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9</a:t>
            </a:fld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2F7CC2-EC8E-2841-B697-4D77A91E189B}"/>
              </a:ext>
            </a:extLst>
          </p:cNvPr>
          <p:cNvSpPr txBox="1"/>
          <p:nvPr/>
        </p:nvSpPr>
        <p:spPr>
          <a:xfrm>
            <a:off x="763792" y="1172585"/>
            <a:ext cx="799293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Matrix-Chain(p[0..n]) {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Helvetica" pitchFamily="2" charset="0"/>
              </a:rPr>
              <a:t>  </a:t>
            </a:r>
            <a:r>
              <a:rPr lang="zh-CN" altLang="en-US" sz="2000" dirty="0">
                <a:solidFill>
                  <a:srgbClr val="000000"/>
                </a:solidFill>
                <a:latin typeface="Helvetica" pitchFamily="2" charset="0"/>
              </a:rPr>
              <a:t>  </a:t>
            </a:r>
            <a:r>
              <a:rPr lang="en-US" altLang="zh-CN" sz="2000" dirty="0">
                <a:solidFill>
                  <a:srgbClr val="000000"/>
                </a:solidFill>
                <a:latin typeface="Helvetica" pitchFamily="2" charset="0"/>
              </a:rPr>
              <a:t>m</a:t>
            </a:r>
            <a:r>
              <a:rPr lang="zh-CN" altLang="en-US" sz="20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zh-CN" altLang="en-US" sz="20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" pitchFamily="2" charset="0"/>
              </a:rPr>
              <a:t>array[1..n,</a:t>
            </a:r>
            <a:r>
              <a:rPr lang="zh-CN" altLang="en-US" sz="20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Helvetica" pitchFamily="2" charset="0"/>
              </a:rPr>
              <a:t>1..n]</a:t>
            </a:r>
            <a:endParaRPr lang="en-US" altLang="zh-CN" sz="2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    s = array[1..n-1, 2..n]</a:t>
            </a: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    for 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 = 1 to n) m[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] = 0</a:t>
            </a: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    for (L = 2 to n) {</a:t>
            </a: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	for 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 = 1 to n - L + 1) { 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Helvetica" pitchFamily="2" charset="0"/>
              </a:rPr>
              <a:t>                 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j=i+L-1</a:t>
            </a: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           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     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m[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Helvetica" pitchFamily="2" charset="0"/>
              </a:rPr>
              <a:t>i,j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] = INFINITY</a:t>
            </a: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           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     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for (k =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 to j - 1) {</a:t>
            </a: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		</a:t>
            </a:r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cost = m[</a:t>
            </a:r>
            <a:r>
              <a:rPr lang="en-US" altLang="zh-CN" sz="2000" dirty="0" err="1">
                <a:solidFill>
                  <a:srgbClr val="00B05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, k] + m[k+1, j] + p[i-1]*p[k]*p[j]</a:t>
            </a: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                	if (cost &lt; m[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, j]) {</a:t>
            </a:r>
          </a:p>
          <a:p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                    	</a:t>
            </a:r>
            <a:r>
              <a:rPr lang="zh-CN" altLang="en-US" sz="2000" dirty="0">
                <a:solidFill>
                  <a:srgbClr val="00B050"/>
                </a:solidFill>
                <a:effectLst/>
                <a:latin typeface="Helvetica" pitchFamily="2" charset="0"/>
              </a:rPr>
              <a:t>      </a:t>
            </a:r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m[</a:t>
            </a:r>
            <a:r>
              <a:rPr lang="en-US" altLang="zh-CN" sz="2000" dirty="0" err="1">
                <a:solidFill>
                  <a:srgbClr val="00B05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, j] = cost</a:t>
            </a:r>
          </a:p>
          <a:p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		</a:t>
            </a:r>
            <a:r>
              <a:rPr lang="zh-CN" altLang="en-US" sz="2000" dirty="0">
                <a:solidFill>
                  <a:srgbClr val="00B050"/>
                </a:solidFill>
                <a:effectLst/>
                <a:latin typeface="Helvetica" pitchFamily="2" charset="0"/>
              </a:rPr>
              <a:t>      </a:t>
            </a:r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s[</a:t>
            </a:r>
            <a:r>
              <a:rPr lang="en-US" altLang="zh-CN" sz="2000" dirty="0" err="1">
                <a:solidFill>
                  <a:srgbClr val="00B05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, j] = k</a:t>
            </a: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		} </a:t>
            </a: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Helvetica" pitchFamily="2" charset="0"/>
              </a:rPr>
              <a:t>   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}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Helvetica" pitchFamily="2" charset="0"/>
              </a:rPr>
              <a:t>            </a:t>
            </a:r>
            <a:r>
              <a:rPr lang="en-US" altLang="zh-CN" sz="2000" dirty="0">
                <a:solidFill>
                  <a:srgbClr val="000000"/>
                </a:solidFill>
                <a:latin typeface="Helvetica" pitchFamily="2" charset="0"/>
              </a:rPr>
              <a:t>}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Helvetica" pitchFamily="2" charset="0"/>
              </a:rPr>
              <a:t>     </a:t>
            </a:r>
            <a:r>
              <a:rPr lang="en-US" altLang="zh-CN" sz="2000" dirty="0">
                <a:solidFill>
                  <a:srgbClr val="000000"/>
                </a:solidFill>
                <a:latin typeface="Helvetica" pitchFamily="2" charset="0"/>
              </a:rPr>
              <a:t>}</a:t>
            </a:r>
            <a:endParaRPr lang="en-US" altLang="zh-CN" sz="20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    </a:t>
            </a:r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return m[1, n] (final cost) and s (splitting markers)</a:t>
            </a:r>
          </a:p>
          <a:p>
            <a:r>
              <a:rPr lang="en-US" altLang="zh-CN" sz="2000" dirty="0">
                <a:solidFill>
                  <a:srgbClr val="000000"/>
                </a:solidFill>
                <a:effectLst/>
                <a:latin typeface="Helvetica" pitchFamily="2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499D17-1DFA-B54A-9468-961B02126D50}"/>
              </a:ext>
            </a:extLst>
          </p:cNvPr>
          <p:cNvSpPr txBox="1"/>
          <p:nvPr/>
        </p:nvSpPr>
        <p:spPr>
          <a:xfrm>
            <a:off x="4953897" y="1723487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// initialize</a:t>
            </a:r>
          </a:p>
          <a:p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// L = length of </a:t>
            </a:r>
            <a:r>
              <a:rPr lang="en-US" altLang="zh-CN" sz="2000" dirty="0" err="1">
                <a:solidFill>
                  <a:srgbClr val="00B050"/>
                </a:solidFill>
                <a:effectLst/>
                <a:latin typeface="Helvetica" pitchFamily="2" charset="0"/>
              </a:rPr>
              <a:t>subchain</a:t>
            </a:r>
            <a:endParaRPr lang="en-US" altLang="zh-CN" sz="2000" dirty="0">
              <a:solidFill>
                <a:srgbClr val="00B050"/>
              </a:solidFill>
              <a:effectLst/>
              <a:latin typeface="Helvetica" pitchFamily="2" charset="0"/>
            </a:endParaRPr>
          </a:p>
          <a:p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// check all splits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CAFA59-3206-E040-9EC4-3B10B8B4BAC6}"/>
              </a:ext>
            </a:extLst>
          </p:cNvPr>
          <p:cNvSpPr txBox="1"/>
          <p:nvPr/>
        </p:nvSpPr>
        <p:spPr>
          <a:xfrm>
            <a:off x="5616010" y="4873676"/>
            <a:ext cx="2662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Complexity</a:t>
            </a:r>
            <a:r>
              <a:rPr lang="zh-CN" altLang="en-US" sz="2800" dirty="0"/>
              <a:t> </a:t>
            </a:r>
            <a:r>
              <a:rPr lang="en-US" altLang="zh-CN" sz="2800" dirty="0"/>
              <a:t>O(n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463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43763-7E60-AD4D-829B-F326995FD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70"/>
            <a:ext cx="7886700" cy="1325563"/>
          </a:xfrm>
        </p:spPr>
        <p:txBody>
          <a:bodyPr/>
          <a:lstStyle/>
          <a:p>
            <a:r>
              <a:rPr lang="zh-CN" altLang="en-US" dirty="0"/>
              <a:t>基于动态规划的链式矩阵乘法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37D908-A89C-E141-A5DB-520FD37D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10</a:t>
            </a:fld>
            <a:endParaRPr lang="en-US"/>
          </a:p>
        </p:txBody>
      </p:sp>
      <p:sp>
        <p:nvSpPr>
          <p:cNvPr id="5" name="菱形 4">
            <a:extLst>
              <a:ext uri="{FF2B5EF4-FFF2-40B4-BE49-F238E27FC236}">
                <a16:creationId xmlns:a16="http://schemas.microsoft.com/office/drawing/2014/main" id="{41893FBE-A13F-A542-8F2A-FD7385A22ACE}"/>
              </a:ext>
            </a:extLst>
          </p:cNvPr>
          <p:cNvSpPr/>
          <p:nvPr/>
        </p:nvSpPr>
        <p:spPr>
          <a:xfrm>
            <a:off x="1071301" y="5378569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en-US" dirty="0"/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FD5D3128-575B-C945-8714-F75FDE633740}"/>
              </a:ext>
            </a:extLst>
          </p:cNvPr>
          <p:cNvSpPr/>
          <p:nvPr/>
        </p:nvSpPr>
        <p:spPr>
          <a:xfrm>
            <a:off x="1811040" y="5378568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en-US" dirty="0"/>
          </a:p>
        </p:txBody>
      </p:sp>
      <p:sp>
        <p:nvSpPr>
          <p:cNvPr id="7" name="菱形 6">
            <a:extLst>
              <a:ext uri="{FF2B5EF4-FFF2-40B4-BE49-F238E27FC236}">
                <a16:creationId xmlns:a16="http://schemas.microsoft.com/office/drawing/2014/main" id="{C2A9D666-0798-334E-A40E-8B13B1DD3296}"/>
              </a:ext>
            </a:extLst>
          </p:cNvPr>
          <p:cNvSpPr/>
          <p:nvPr/>
        </p:nvSpPr>
        <p:spPr>
          <a:xfrm>
            <a:off x="2561053" y="5378568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0216FEBC-208C-5647-94E1-31BB0EA14CB6}"/>
              </a:ext>
            </a:extLst>
          </p:cNvPr>
          <p:cNvSpPr/>
          <p:nvPr/>
        </p:nvSpPr>
        <p:spPr>
          <a:xfrm>
            <a:off x="3300792" y="5378568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83983A-5B16-6F4C-A4E7-2E4AC29EEFC6}"/>
              </a:ext>
            </a:extLst>
          </p:cNvPr>
          <p:cNvSpPr txBox="1"/>
          <p:nvPr/>
        </p:nvSpPr>
        <p:spPr>
          <a:xfrm>
            <a:off x="968560" y="61080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91EE9C-2294-5A49-A012-40959851075C}"/>
              </a:ext>
            </a:extLst>
          </p:cNvPr>
          <p:cNvSpPr txBox="1"/>
          <p:nvPr/>
        </p:nvSpPr>
        <p:spPr>
          <a:xfrm>
            <a:off x="1660197" y="61080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602B6D-BAE8-5347-B993-06A4AB2D8C41}"/>
              </a:ext>
            </a:extLst>
          </p:cNvPr>
          <p:cNvSpPr txBox="1"/>
          <p:nvPr/>
        </p:nvSpPr>
        <p:spPr>
          <a:xfrm>
            <a:off x="2399936" y="61080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EC1435-520B-C648-A919-50CFB23FE6B1}"/>
              </a:ext>
            </a:extLst>
          </p:cNvPr>
          <p:cNvSpPr txBox="1"/>
          <p:nvPr/>
        </p:nvSpPr>
        <p:spPr>
          <a:xfrm>
            <a:off x="3139675" y="6108033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22573A-06E8-3940-957F-90196A32DF2C}"/>
              </a:ext>
            </a:extLst>
          </p:cNvPr>
          <p:cNvSpPr txBox="1"/>
          <p:nvPr/>
        </p:nvSpPr>
        <p:spPr>
          <a:xfrm>
            <a:off x="3899962" y="6108033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</a:t>
            </a:r>
            <a:endParaRPr 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54334F-3A77-C147-A8E4-03481F89445B}"/>
              </a:ext>
            </a:extLst>
          </p:cNvPr>
          <p:cNvSpPr txBox="1"/>
          <p:nvPr/>
        </p:nvSpPr>
        <p:spPr>
          <a:xfrm>
            <a:off x="968560" y="639927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baseline="-25000" dirty="0"/>
              <a:t>0</a:t>
            </a:r>
            <a:endParaRPr lang="en-US" baseline="-250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2D599B-2B8E-EB45-9CA3-899301C1A40F}"/>
              </a:ext>
            </a:extLst>
          </p:cNvPr>
          <p:cNvSpPr txBox="1"/>
          <p:nvPr/>
        </p:nvSpPr>
        <p:spPr>
          <a:xfrm>
            <a:off x="1660197" y="640708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baseline="-25000" dirty="0"/>
              <a:t>1</a:t>
            </a:r>
            <a:endParaRPr lang="en-US" baseline="-25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823B676-ED98-C44A-8272-D7F967098622}"/>
              </a:ext>
            </a:extLst>
          </p:cNvPr>
          <p:cNvSpPr txBox="1"/>
          <p:nvPr/>
        </p:nvSpPr>
        <p:spPr>
          <a:xfrm>
            <a:off x="2363634" y="643009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baseline="-25000" dirty="0"/>
              <a:t>2</a:t>
            </a:r>
            <a:endParaRPr lang="en-US" baseline="-25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909428A-4A58-2346-A104-974A76A51AEF}"/>
              </a:ext>
            </a:extLst>
          </p:cNvPr>
          <p:cNvSpPr txBox="1"/>
          <p:nvPr/>
        </p:nvSpPr>
        <p:spPr>
          <a:xfrm>
            <a:off x="3103373" y="643573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baseline="-25000" dirty="0"/>
              <a:t>3</a:t>
            </a:r>
            <a:endParaRPr lang="en-US" baseline="-25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58D52D-E264-7F4A-92A4-F5E4F63B209B}"/>
              </a:ext>
            </a:extLst>
          </p:cNvPr>
          <p:cNvSpPr txBox="1"/>
          <p:nvPr/>
        </p:nvSpPr>
        <p:spPr>
          <a:xfrm>
            <a:off x="3869139" y="642763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baseline="-25000" dirty="0"/>
              <a:t>4</a:t>
            </a:r>
            <a:endParaRPr lang="en-US" baseline="-25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24F491-2F6D-A94A-93E3-A62F5D46679F}"/>
              </a:ext>
            </a:extLst>
          </p:cNvPr>
          <p:cNvSpPr txBox="1"/>
          <p:nvPr/>
        </p:nvSpPr>
        <p:spPr>
          <a:xfrm>
            <a:off x="1270939" y="6159010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endParaRPr lang="en-US" baseline="-25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460323C-EB9A-694B-A3E2-255A0C529822}"/>
              </a:ext>
            </a:extLst>
          </p:cNvPr>
          <p:cNvSpPr txBox="1"/>
          <p:nvPr/>
        </p:nvSpPr>
        <p:spPr>
          <a:xfrm>
            <a:off x="2003673" y="6168621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endParaRPr lang="en-US" baseline="-25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EA5EF9-5D64-3A4F-BAAC-9D7654D5F561}"/>
              </a:ext>
            </a:extLst>
          </p:cNvPr>
          <p:cNvSpPr txBox="1"/>
          <p:nvPr/>
        </p:nvSpPr>
        <p:spPr>
          <a:xfrm>
            <a:off x="2732791" y="6158347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3</a:t>
            </a:r>
            <a:endParaRPr lang="en-US" baseline="-25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E33B08-5D56-134F-888A-303DE273EAD5}"/>
              </a:ext>
            </a:extLst>
          </p:cNvPr>
          <p:cNvSpPr txBox="1"/>
          <p:nvPr/>
        </p:nvSpPr>
        <p:spPr>
          <a:xfrm>
            <a:off x="3501958" y="6168621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4</a:t>
            </a:r>
            <a:endParaRPr lang="en-US" baseline="-25000" dirty="0"/>
          </a:p>
        </p:txBody>
      </p:sp>
      <p:sp>
        <p:nvSpPr>
          <p:cNvPr id="23" name="左大括号 22">
            <a:extLst>
              <a:ext uri="{FF2B5EF4-FFF2-40B4-BE49-F238E27FC236}">
                <a16:creationId xmlns:a16="http://schemas.microsoft.com/office/drawing/2014/main" id="{9AE34D48-6276-784A-B9B1-A43A06FBB7A2}"/>
              </a:ext>
            </a:extLst>
          </p:cNvPr>
          <p:cNvSpPr/>
          <p:nvPr/>
        </p:nvSpPr>
        <p:spPr>
          <a:xfrm rot="2598844">
            <a:off x="1357144" y="3597140"/>
            <a:ext cx="380144" cy="214669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FDC54D21-E241-EC49-B98B-89331D1980EE}"/>
              </a:ext>
            </a:extLst>
          </p:cNvPr>
          <p:cNvSpPr/>
          <p:nvPr/>
        </p:nvSpPr>
        <p:spPr>
          <a:xfrm rot="7921373">
            <a:off x="3227036" y="3545505"/>
            <a:ext cx="380144" cy="214669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6B39CAB-37C4-1646-A5D8-309BDC7C1BE4}"/>
              </a:ext>
            </a:extLst>
          </p:cNvPr>
          <p:cNvSpPr txBox="1"/>
          <p:nvPr/>
        </p:nvSpPr>
        <p:spPr>
          <a:xfrm>
            <a:off x="1203509" y="4213193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" pitchFamily="2" charset="0"/>
              </a:rPr>
              <a:t>j</a:t>
            </a:r>
            <a:endParaRPr lang="en-US" i="1" dirty="0">
              <a:latin typeface="Times" pitchFamily="2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5688D29-DCC4-2849-A8DA-BE6BD655C5A1}"/>
              </a:ext>
            </a:extLst>
          </p:cNvPr>
          <p:cNvSpPr txBox="1"/>
          <p:nvPr/>
        </p:nvSpPr>
        <p:spPr>
          <a:xfrm>
            <a:off x="3501958" y="4171058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latin typeface="Times" pitchFamily="2" charset="0"/>
              </a:rPr>
              <a:t>i</a:t>
            </a:r>
            <a:endParaRPr lang="en-US" i="1" dirty="0">
              <a:latin typeface="Times" pitchFamily="2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085AF14-0065-3445-973F-BF1C13BC6B68}"/>
              </a:ext>
            </a:extLst>
          </p:cNvPr>
          <p:cNvSpPr txBox="1"/>
          <p:nvPr/>
        </p:nvSpPr>
        <p:spPr>
          <a:xfrm>
            <a:off x="2061004" y="3511062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" pitchFamily="2" charset="0"/>
              </a:rPr>
              <a:t>m</a:t>
            </a:r>
            <a:r>
              <a:rPr lang="en-US" altLang="zh-CN" dirty="0">
                <a:latin typeface="Times" pitchFamily="2" charset="0"/>
              </a:rPr>
              <a:t>[</a:t>
            </a:r>
            <a:r>
              <a:rPr lang="en-US" altLang="zh-CN" i="1" dirty="0" err="1">
                <a:latin typeface="Times" pitchFamily="2" charset="0"/>
              </a:rPr>
              <a:t>i,j</a:t>
            </a:r>
            <a:r>
              <a:rPr lang="en-US" altLang="zh-CN" dirty="0">
                <a:latin typeface="Times" pitchFamily="2" charset="0"/>
              </a:rPr>
              <a:t>]</a:t>
            </a:r>
            <a:endParaRPr lang="en-US" dirty="0">
              <a:latin typeface="Times" pitchFamily="2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8AAE1AB-B4BA-934F-9A65-E1BD861358EC}"/>
              </a:ext>
            </a:extLst>
          </p:cNvPr>
          <p:cNvSpPr txBox="1"/>
          <p:nvPr/>
        </p:nvSpPr>
        <p:spPr>
          <a:xfrm>
            <a:off x="981437" y="5208005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5902F78-FEE1-8847-B87E-FF9085A14A81}"/>
              </a:ext>
            </a:extLst>
          </p:cNvPr>
          <p:cNvSpPr txBox="1"/>
          <p:nvPr/>
        </p:nvSpPr>
        <p:spPr>
          <a:xfrm>
            <a:off x="1354069" y="4812744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25CA23B-C540-8E41-B6E4-680D31806104}"/>
              </a:ext>
            </a:extLst>
          </p:cNvPr>
          <p:cNvSpPr txBox="1"/>
          <p:nvPr/>
        </p:nvSpPr>
        <p:spPr>
          <a:xfrm>
            <a:off x="1792656" y="4377960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7AC431E-2F2E-114D-B8C9-A0F53C3511CA}"/>
              </a:ext>
            </a:extLst>
          </p:cNvPr>
          <p:cNvSpPr txBox="1"/>
          <p:nvPr/>
        </p:nvSpPr>
        <p:spPr>
          <a:xfrm>
            <a:off x="2153549" y="3999263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BA4CCD5-71AE-FC43-A776-19F8B3738FDD}"/>
              </a:ext>
            </a:extLst>
          </p:cNvPr>
          <p:cNvSpPr txBox="1"/>
          <p:nvPr/>
        </p:nvSpPr>
        <p:spPr>
          <a:xfrm>
            <a:off x="2536086" y="3999263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98FF2BF-06E8-0148-9D9F-E3E51E111572}"/>
              </a:ext>
            </a:extLst>
          </p:cNvPr>
          <p:cNvSpPr txBox="1"/>
          <p:nvPr/>
        </p:nvSpPr>
        <p:spPr>
          <a:xfrm>
            <a:off x="2936545" y="4319584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027ACD2-AC7F-1B46-AB03-B0C401808D65}"/>
              </a:ext>
            </a:extLst>
          </p:cNvPr>
          <p:cNvSpPr txBox="1"/>
          <p:nvPr/>
        </p:nvSpPr>
        <p:spPr>
          <a:xfrm>
            <a:off x="3397473" y="4736706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9F7053D-3053-6F4A-A61C-344463292662}"/>
              </a:ext>
            </a:extLst>
          </p:cNvPr>
          <p:cNvSpPr txBox="1"/>
          <p:nvPr/>
        </p:nvSpPr>
        <p:spPr>
          <a:xfrm>
            <a:off x="3832280" y="5158192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2DA52A-473A-B048-8DE4-A9E6C7AD0013}"/>
              </a:ext>
            </a:extLst>
          </p:cNvPr>
          <p:cNvSpPr txBox="1"/>
          <p:nvPr/>
        </p:nvSpPr>
        <p:spPr>
          <a:xfrm>
            <a:off x="4827821" y="1473105"/>
            <a:ext cx="4572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Matrix-Chain(p[0..n]) {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  </a:t>
            </a:r>
            <a:r>
              <a:rPr lang="en-US" altLang="zh-CN" dirty="0">
                <a:solidFill>
                  <a:srgbClr val="000000"/>
                </a:solidFill>
                <a:latin typeface="Helvetica" pitchFamily="2" charset="0"/>
              </a:rPr>
              <a:t>m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Helvetica" pitchFamily="2" charset="0"/>
              </a:rPr>
              <a:t>=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Helvetica" pitchFamily="2" charset="0"/>
              </a:rPr>
              <a:t>array[1..n,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Helvetica" pitchFamily="2" charset="0"/>
              </a:rPr>
              <a:t>1..n]</a:t>
            </a:r>
          </a:p>
          <a:p>
            <a:r>
              <a:rPr lang="en-US" altLang="zh-CN" dirty="0">
                <a:solidFill>
                  <a:srgbClr val="000000"/>
                </a:solidFill>
                <a:latin typeface="Helvetica" pitchFamily="2" charset="0"/>
              </a:rPr>
              <a:t>  s = array[1..n-1, 2..n]</a:t>
            </a:r>
            <a:endParaRPr lang="en-US" altLang="zh-CN" sz="18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    for 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 = 1 to n) m[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] = 0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    for (L = 2 to n) {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	for 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 = 1 to n - L + 1) { </a:t>
            </a:r>
          </a:p>
          <a:p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                  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j=i+L-1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           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      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m[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Helvetica" pitchFamily="2" charset="0"/>
              </a:rPr>
              <a:t>i,j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] = INFINITY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           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      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for (k =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 to j - 1) {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		</a:t>
            </a:r>
            <a:r>
              <a:rPr lang="en-US" altLang="zh-CN" sz="1800" dirty="0">
                <a:solidFill>
                  <a:srgbClr val="00B050"/>
                </a:solidFill>
                <a:effectLst/>
                <a:latin typeface="Helvetica" pitchFamily="2" charset="0"/>
              </a:rPr>
              <a:t>cost = m[</a:t>
            </a:r>
            <a:r>
              <a:rPr lang="en-US" altLang="zh-CN" sz="1800" dirty="0" err="1">
                <a:solidFill>
                  <a:srgbClr val="00B05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1800" dirty="0">
                <a:solidFill>
                  <a:srgbClr val="00B050"/>
                </a:solidFill>
                <a:effectLst/>
                <a:latin typeface="Helvetica" pitchFamily="2" charset="0"/>
              </a:rPr>
              <a:t>, k] + m[k+1, j] + p[i-1]*p[k]*p[j]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                	if (cost &lt; m[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, j]) {</a:t>
            </a:r>
          </a:p>
          <a:p>
            <a:r>
              <a:rPr lang="en-US" altLang="zh-CN" sz="1800" dirty="0">
                <a:solidFill>
                  <a:srgbClr val="00B050"/>
                </a:solidFill>
                <a:effectLst/>
                <a:latin typeface="Helvetica" pitchFamily="2" charset="0"/>
              </a:rPr>
              <a:t>                    	</a:t>
            </a:r>
            <a:r>
              <a:rPr lang="zh-CN" altLang="en-US" sz="1800" dirty="0">
                <a:solidFill>
                  <a:srgbClr val="00B050"/>
                </a:solidFill>
                <a:effectLst/>
                <a:latin typeface="Helvetica" pitchFamily="2" charset="0"/>
              </a:rPr>
              <a:t>      </a:t>
            </a:r>
            <a:r>
              <a:rPr lang="en-US" altLang="zh-CN" sz="1800" dirty="0">
                <a:solidFill>
                  <a:srgbClr val="00B050"/>
                </a:solidFill>
                <a:effectLst/>
                <a:latin typeface="Helvetica" pitchFamily="2" charset="0"/>
              </a:rPr>
              <a:t>m[</a:t>
            </a:r>
            <a:r>
              <a:rPr lang="en-US" altLang="zh-CN" sz="1800" dirty="0" err="1">
                <a:solidFill>
                  <a:srgbClr val="00B05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1800" dirty="0">
                <a:solidFill>
                  <a:srgbClr val="00B050"/>
                </a:solidFill>
                <a:effectLst/>
                <a:latin typeface="Helvetica" pitchFamily="2" charset="0"/>
              </a:rPr>
              <a:t>, j] = cost</a:t>
            </a:r>
          </a:p>
          <a:p>
            <a:r>
              <a:rPr lang="en-US" altLang="zh-CN" sz="1800" dirty="0">
                <a:solidFill>
                  <a:srgbClr val="00B050"/>
                </a:solidFill>
                <a:effectLst/>
                <a:latin typeface="Helvetica" pitchFamily="2" charset="0"/>
              </a:rPr>
              <a:t>		</a:t>
            </a:r>
            <a:r>
              <a:rPr lang="zh-CN" altLang="en-US" sz="1800" dirty="0">
                <a:solidFill>
                  <a:srgbClr val="00B050"/>
                </a:solidFill>
                <a:effectLst/>
                <a:latin typeface="Helvetica" pitchFamily="2" charset="0"/>
              </a:rPr>
              <a:t>      </a:t>
            </a:r>
            <a:r>
              <a:rPr lang="en-US" altLang="zh-CN" sz="1800" dirty="0">
                <a:solidFill>
                  <a:srgbClr val="00B050"/>
                </a:solidFill>
                <a:effectLst/>
                <a:latin typeface="Helvetica" pitchFamily="2" charset="0"/>
              </a:rPr>
              <a:t>s[</a:t>
            </a:r>
            <a:r>
              <a:rPr lang="en-US" altLang="zh-CN" sz="1800" dirty="0" err="1">
                <a:solidFill>
                  <a:srgbClr val="00B05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1800" dirty="0">
                <a:solidFill>
                  <a:srgbClr val="00B050"/>
                </a:solidFill>
                <a:effectLst/>
                <a:latin typeface="Helvetica" pitchFamily="2" charset="0"/>
              </a:rPr>
              <a:t>, j] = k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		} </a:t>
            </a: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	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    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}</a:t>
            </a:r>
          </a:p>
          <a:p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            </a:t>
            </a:r>
            <a:r>
              <a:rPr lang="en-US" altLang="zh-CN" sz="1800" dirty="0">
                <a:solidFill>
                  <a:srgbClr val="000000"/>
                </a:solidFill>
                <a:latin typeface="Helvetica" pitchFamily="2" charset="0"/>
              </a:rPr>
              <a:t>}</a:t>
            </a:r>
          </a:p>
          <a:p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     </a:t>
            </a:r>
            <a:r>
              <a:rPr lang="en-US" altLang="zh-CN" sz="1800" dirty="0">
                <a:solidFill>
                  <a:srgbClr val="000000"/>
                </a:solidFill>
                <a:latin typeface="Helvetica" pitchFamily="2" charset="0"/>
              </a:rPr>
              <a:t>}</a:t>
            </a:r>
            <a:endParaRPr lang="en-US" altLang="zh-CN" sz="180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}</a:t>
            </a:r>
          </a:p>
        </p:txBody>
      </p:sp>
      <p:sp>
        <p:nvSpPr>
          <p:cNvPr id="40" name="菱形 39">
            <a:extLst>
              <a:ext uri="{FF2B5EF4-FFF2-40B4-BE49-F238E27FC236}">
                <a16:creationId xmlns:a16="http://schemas.microsoft.com/office/drawing/2014/main" id="{E7142F97-AF88-9F45-9774-2985F793A559}"/>
              </a:ext>
            </a:extLst>
          </p:cNvPr>
          <p:cNvSpPr/>
          <p:nvPr/>
        </p:nvSpPr>
        <p:spPr>
          <a:xfrm>
            <a:off x="1520156" y="2575668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41" name="菱形 40">
            <a:extLst>
              <a:ext uri="{FF2B5EF4-FFF2-40B4-BE49-F238E27FC236}">
                <a16:creationId xmlns:a16="http://schemas.microsoft.com/office/drawing/2014/main" id="{EC9DD751-82C9-174A-A6A9-B75C6F943C45}"/>
              </a:ext>
            </a:extLst>
          </p:cNvPr>
          <p:cNvSpPr/>
          <p:nvPr/>
        </p:nvSpPr>
        <p:spPr>
          <a:xfrm>
            <a:off x="2259895" y="2575667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B3629178-3386-9E4B-9230-C678EC0D8065}"/>
              </a:ext>
            </a:extLst>
          </p:cNvPr>
          <p:cNvSpPr/>
          <p:nvPr/>
        </p:nvSpPr>
        <p:spPr>
          <a:xfrm>
            <a:off x="3009908" y="2575667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44" name="左大括号 43">
            <a:extLst>
              <a:ext uri="{FF2B5EF4-FFF2-40B4-BE49-F238E27FC236}">
                <a16:creationId xmlns:a16="http://schemas.microsoft.com/office/drawing/2014/main" id="{AE82536B-9187-A24A-8B3E-3D54ED40B792}"/>
              </a:ext>
            </a:extLst>
          </p:cNvPr>
          <p:cNvSpPr/>
          <p:nvPr/>
        </p:nvSpPr>
        <p:spPr>
          <a:xfrm rot="2598844">
            <a:off x="1663421" y="1320091"/>
            <a:ext cx="380144" cy="15557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左大括号 44">
            <a:extLst>
              <a:ext uri="{FF2B5EF4-FFF2-40B4-BE49-F238E27FC236}">
                <a16:creationId xmlns:a16="http://schemas.microsoft.com/office/drawing/2014/main" id="{3A983E03-53BA-DF42-A6DB-AAF181846130}"/>
              </a:ext>
            </a:extLst>
          </p:cNvPr>
          <p:cNvSpPr/>
          <p:nvPr/>
        </p:nvSpPr>
        <p:spPr>
          <a:xfrm rot="7921373">
            <a:off x="3109242" y="1285363"/>
            <a:ext cx="382669" cy="15518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77ADA06-5925-3D47-8996-33B3852A9DCD}"/>
              </a:ext>
            </a:extLst>
          </p:cNvPr>
          <p:cNvSpPr txBox="1"/>
          <p:nvPr/>
        </p:nvSpPr>
        <p:spPr>
          <a:xfrm>
            <a:off x="1307098" y="185566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" pitchFamily="2" charset="0"/>
              </a:rPr>
              <a:t>j</a:t>
            </a:r>
            <a:endParaRPr lang="en-US" i="1" dirty="0">
              <a:latin typeface="Times" pitchFamily="2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702E5FC-22BE-364B-A381-D59CC10ED102}"/>
              </a:ext>
            </a:extLst>
          </p:cNvPr>
          <p:cNvSpPr txBox="1"/>
          <p:nvPr/>
        </p:nvSpPr>
        <p:spPr>
          <a:xfrm>
            <a:off x="3605547" y="1813526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latin typeface="Times" pitchFamily="2" charset="0"/>
              </a:rPr>
              <a:t>i</a:t>
            </a:r>
            <a:endParaRPr lang="en-US" i="1" dirty="0">
              <a:latin typeface="Times" pitchFamily="2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1070A2D-1A6F-8740-83B9-BD4430F74A6B}"/>
              </a:ext>
            </a:extLst>
          </p:cNvPr>
          <p:cNvSpPr txBox="1"/>
          <p:nvPr/>
        </p:nvSpPr>
        <p:spPr>
          <a:xfrm>
            <a:off x="2164593" y="115353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" pitchFamily="2" charset="0"/>
              </a:rPr>
              <a:t>s</a:t>
            </a:r>
            <a:r>
              <a:rPr lang="en-US" altLang="zh-CN" dirty="0">
                <a:latin typeface="Times" pitchFamily="2" charset="0"/>
              </a:rPr>
              <a:t>[</a:t>
            </a:r>
            <a:r>
              <a:rPr lang="en-US" altLang="zh-CN" i="1" dirty="0" err="1">
                <a:latin typeface="Times" pitchFamily="2" charset="0"/>
              </a:rPr>
              <a:t>i,j</a:t>
            </a:r>
            <a:r>
              <a:rPr lang="en-US" altLang="zh-CN" dirty="0">
                <a:latin typeface="Times" pitchFamily="2" charset="0"/>
              </a:rPr>
              <a:t>]</a:t>
            </a:r>
            <a:endParaRPr lang="en-US" dirty="0">
              <a:latin typeface="Times" pitchFamily="2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8503A3C-5D86-A448-A89E-9738ED35C088}"/>
              </a:ext>
            </a:extLst>
          </p:cNvPr>
          <p:cNvSpPr txBox="1"/>
          <p:nvPr/>
        </p:nvSpPr>
        <p:spPr>
          <a:xfrm>
            <a:off x="1457658" y="2455212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A2C68AA-1125-8644-969C-7C458453A468}"/>
              </a:ext>
            </a:extLst>
          </p:cNvPr>
          <p:cNvSpPr txBox="1"/>
          <p:nvPr/>
        </p:nvSpPr>
        <p:spPr>
          <a:xfrm>
            <a:off x="1896245" y="2020428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B81D95E-4304-7D46-972F-24B36F00FA0B}"/>
              </a:ext>
            </a:extLst>
          </p:cNvPr>
          <p:cNvSpPr txBox="1"/>
          <p:nvPr/>
        </p:nvSpPr>
        <p:spPr>
          <a:xfrm>
            <a:off x="2257138" y="1641731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6AE24AC-E638-534B-9FFA-0ED8168097DE}"/>
              </a:ext>
            </a:extLst>
          </p:cNvPr>
          <p:cNvSpPr txBox="1"/>
          <p:nvPr/>
        </p:nvSpPr>
        <p:spPr>
          <a:xfrm>
            <a:off x="2639675" y="1641731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67C2A27-EEF6-FD40-9F1D-3A8E6638DE45}"/>
              </a:ext>
            </a:extLst>
          </p:cNvPr>
          <p:cNvSpPr txBox="1"/>
          <p:nvPr/>
        </p:nvSpPr>
        <p:spPr>
          <a:xfrm>
            <a:off x="3040134" y="1962052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37708B0-1F2A-4341-AB91-747FE899ECA0}"/>
              </a:ext>
            </a:extLst>
          </p:cNvPr>
          <p:cNvSpPr txBox="1"/>
          <p:nvPr/>
        </p:nvSpPr>
        <p:spPr>
          <a:xfrm>
            <a:off x="3501062" y="2379174"/>
            <a:ext cx="28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57" name="菱形 56">
            <a:extLst>
              <a:ext uri="{FF2B5EF4-FFF2-40B4-BE49-F238E27FC236}">
                <a16:creationId xmlns:a16="http://schemas.microsoft.com/office/drawing/2014/main" id="{8F3821ED-24EE-E844-AB7C-366DE5942697}"/>
              </a:ext>
            </a:extLst>
          </p:cNvPr>
          <p:cNvSpPr/>
          <p:nvPr/>
        </p:nvSpPr>
        <p:spPr>
          <a:xfrm>
            <a:off x="1451436" y="5005621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/>
              <a:t>120</a:t>
            </a:r>
            <a:endParaRPr lang="en-US" dirty="0"/>
          </a:p>
        </p:txBody>
      </p:sp>
      <p:sp>
        <p:nvSpPr>
          <p:cNvPr id="58" name="菱形 57">
            <a:extLst>
              <a:ext uri="{FF2B5EF4-FFF2-40B4-BE49-F238E27FC236}">
                <a16:creationId xmlns:a16="http://schemas.microsoft.com/office/drawing/2014/main" id="{02A1AB0C-EF2D-5A4F-B3D9-6FAF3B622F44}"/>
              </a:ext>
            </a:extLst>
          </p:cNvPr>
          <p:cNvSpPr/>
          <p:nvPr/>
        </p:nvSpPr>
        <p:spPr>
          <a:xfrm>
            <a:off x="2178448" y="4992639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/>
              <a:t>48</a:t>
            </a:r>
            <a:endParaRPr lang="en-US" dirty="0"/>
          </a:p>
        </p:txBody>
      </p:sp>
      <p:sp>
        <p:nvSpPr>
          <p:cNvPr id="59" name="菱形 58">
            <a:extLst>
              <a:ext uri="{FF2B5EF4-FFF2-40B4-BE49-F238E27FC236}">
                <a16:creationId xmlns:a16="http://schemas.microsoft.com/office/drawing/2014/main" id="{6640F3A9-17F5-A74B-BC94-98537BC77334}"/>
              </a:ext>
            </a:extLst>
          </p:cNvPr>
          <p:cNvSpPr/>
          <p:nvPr/>
        </p:nvSpPr>
        <p:spPr>
          <a:xfrm>
            <a:off x="2928461" y="4992639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/>
              <a:t>84</a:t>
            </a:r>
            <a:endParaRPr lang="en-US" dirty="0"/>
          </a:p>
        </p:txBody>
      </p:sp>
      <p:sp>
        <p:nvSpPr>
          <p:cNvPr id="60" name="菱形 59">
            <a:extLst>
              <a:ext uri="{FF2B5EF4-FFF2-40B4-BE49-F238E27FC236}">
                <a16:creationId xmlns:a16="http://schemas.microsoft.com/office/drawing/2014/main" id="{3D339966-B68A-244E-A431-28546DD8881D}"/>
              </a:ext>
            </a:extLst>
          </p:cNvPr>
          <p:cNvSpPr/>
          <p:nvPr/>
        </p:nvSpPr>
        <p:spPr>
          <a:xfrm>
            <a:off x="1816391" y="4616998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/>
              <a:t>88</a:t>
            </a:r>
            <a:endParaRPr 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053D085-EB62-D04A-8466-717241BA49AC}"/>
              </a:ext>
            </a:extLst>
          </p:cNvPr>
          <p:cNvSpPr txBox="1"/>
          <p:nvPr/>
        </p:nvSpPr>
        <p:spPr>
          <a:xfrm>
            <a:off x="-41116" y="4594352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*</a:t>
            </a:r>
            <a:r>
              <a:rPr lang="en-US" altLang="zh-CN" dirty="0"/>
              <a:t>6</a:t>
            </a:r>
            <a:r>
              <a:rPr lang="zh-CN" altLang="en-US" dirty="0"/>
              <a:t>*</a:t>
            </a:r>
            <a:r>
              <a:rPr lang="en-US" altLang="zh-CN" dirty="0"/>
              <a:t>2+5</a:t>
            </a:r>
            <a:r>
              <a:rPr lang="zh-CN" altLang="en-US" dirty="0"/>
              <a:t>*</a:t>
            </a:r>
            <a:r>
              <a:rPr lang="en-US" altLang="zh-CN" dirty="0"/>
              <a:t>4</a:t>
            </a:r>
            <a:r>
              <a:rPr lang="zh-CN" altLang="en-US" dirty="0"/>
              <a:t>*</a:t>
            </a:r>
            <a:r>
              <a:rPr lang="en-US" altLang="zh-CN" dirty="0"/>
              <a:t>2</a:t>
            </a:r>
            <a:endParaRPr lang="en-US" dirty="0"/>
          </a:p>
        </p:txBody>
      </p: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6D55F683-3C36-284A-8D77-07ADAE595776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1422746" y="4779018"/>
            <a:ext cx="529270" cy="28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菱形 64">
            <a:extLst>
              <a:ext uri="{FF2B5EF4-FFF2-40B4-BE49-F238E27FC236}">
                <a16:creationId xmlns:a16="http://schemas.microsoft.com/office/drawing/2014/main" id="{17F6E7ED-8650-A541-88E7-5EFB30198554}"/>
              </a:ext>
            </a:extLst>
          </p:cNvPr>
          <p:cNvSpPr/>
          <p:nvPr/>
        </p:nvSpPr>
        <p:spPr>
          <a:xfrm>
            <a:off x="1897327" y="2189744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66" name="菱形 65">
            <a:extLst>
              <a:ext uri="{FF2B5EF4-FFF2-40B4-BE49-F238E27FC236}">
                <a16:creationId xmlns:a16="http://schemas.microsoft.com/office/drawing/2014/main" id="{BB622A24-5271-DB49-ACA1-01E184787985}"/>
              </a:ext>
            </a:extLst>
          </p:cNvPr>
          <p:cNvSpPr/>
          <p:nvPr/>
        </p:nvSpPr>
        <p:spPr>
          <a:xfrm>
            <a:off x="2555670" y="4604857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/>
              <a:t>104</a:t>
            </a:r>
            <a:endParaRPr lang="en-US" dirty="0"/>
          </a:p>
        </p:txBody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9F421FF6-0627-4049-A0CD-4B236BE04A64}"/>
              </a:ext>
            </a:extLst>
          </p:cNvPr>
          <p:cNvSpPr/>
          <p:nvPr/>
        </p:nvSpPr>
        <p:spPr>
          <a:xfrm>
            <a:off x="2647340" y="2214413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68" name="菱形 67">
            <a:extLst>
              <a:ext uri="{FF2B5EF4-FFF2-40B4-BE49-F238E27FC236}">
                <a16:creationId xmlns:a16="http://schemas.microsoft.com/office/drawing/2014/main" id="{3E743F6A-F22D-0E4B-8788-7CD30F40841E}"/>
              </a:ext>
            </a:extLst>
          </p:cNvPr>
          <p:cNvSpPr/>
          <p:nvPr/>
        </p:nvSpPr>
        <p:spPr>
          <a:xfrm>
            <a:off x="2192350" y="4227983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/>
              <a:t>158</a:t>
            </a:r>
            <a:endParaRPr lang="en-US" dirty="0"/>
          </a:p>
        </p:txBody>
      </p:sp>
      <p:sp>
        <p:nvSpPr>
          <p:cNvPr id="69" name="菱形 68">
            <a:extLst>
              <a:ext uri="{FF2B5EF4-FFF2-40B4-BE49-F238E27FC236}">
                <a16:creationId xmlns:a16="http://schemas.microsoft.com/office/drawing/2014/main" id="{A34B07C2-0A17-E140-AF6D-589B1CB24987}"/>
              </a:ext>
            </a:extLst>
          </p:cNvPr>
          <p:cNvSpPr/>
          <p:nvPr/>
        </p:nvSpPr>
        <p:spPr>
          <a:xfrm>
            <a:off x="2285970" y="1815646"/>
            <a:ext cx="739739" cy="72946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54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40" grpId="0" animBg="1"/>
      <p:bldP spid="41" grpId="0" animBg="1"/>
      <p:bldP spid="42" grpId="0" animBg="1"/>
      <p:bldP spid="44" grpId="0" animBg="1"/>
      <p:bldP spid="45" grpId="0" animBg="1"/>
      <p:bldP spid="46" grpId="0"/>
      <p:bldP spid="47" grpId="0"/>
      <p:bldP spid="48" grpId="0"/>
      <p:bldP spid="50" grpId="0"/>
      <p:bldP spid="51" grpId="0"/>
      <p:bldP spid="52" grpId="0"/>
      <p:bldP spid="53" grpId="0"/>
      <p:bldP spid="54" grpId="0"/>
      <p:bldP spid="55" grpId="0"/>
      <p:bldP spid="57" grpId="0" animBg="1"/>
      <p:bldP spid="58" grpId="0" animBg="1"/>
      <p:bldP spid="59" grpId="0" animBg="1"/>
      <p:bldP spid="60" grpId="0" animBg="1"/>
      <p:bldP spid="61" grpId="0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C3FFA-AE0D-E746-B85D-8855215A6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417" y="365126"/>
            <a:ext cx="8563232" cy="895263"/>
          </a:xfrm>
        </p:spPr>
        <p:txBody>
          <a:bodyPr/>
          <a:lstStyle/>
          <a:p>
            <a:r>
              <a:rPr lang="en-US" altLang="zh-CN" dirty="0"/>
              <a:t>DP</a:t>
            </a:r>
            <a:r>
              <a:rPr lang="zh-CN" altLang="en-US" dirty="0"/>
              <a:t> </a:t>
            </a:r>
            <a:r>
              <a:rPr lang="en-US" altLang="zh-CN" dirty="0"/>
              <a:t>based</a:t>
            </a:r>
            <a:r>
              <a:rPr lang="zh-CN" altLang="en-US" dirty="0"/>
              <a:t> </a:t>
            </a:r>
            <a:r>
              <a:rPr lang="en-US" altLang="zh-CN" dirty="0"/>
              <a:t>chain</a:t>
            </a:r>
            <a:r>
              <a:rPr lang="zh-CN" altLang="en-US" dirty="0"/>
              <a:t> </a:t>
            </a:r>
            <a:r>
              <a:rPr lang="en-US" altLang="zh-CN" dirty="0"/>
              <a:t>matrix</a:t>
            </a:r>
            <a:r>
              <a:rPr lang="zh-CN" altLang="en-US" dirty="0"/>
              <a:t> </a:t>
            </a:r>
            <a:r>
              <a:rPr lang="en-US" altLang="zh-CN" dirty="0"/>
              <a:t>multiplication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CEDB1C-1D98-7C40-87F1-CABDBB87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11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46633F-B7DB-A047-B8BC-CAD3BF7A2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95" y="1955270"/>
            <a:ext cx="4177083" cy="39141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18FCE81-8C26-BD4C-96B9-5F590F15E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875" y="2475185"/>
            <a:ext cx="3226659" cy="248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170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04757-DADE-5F47-AE8F-94F99EF64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4494645" cy="1325563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根据记录的</a:t>
            </a:r>
            <a:r>
              <a:rPr lang="en-US" altLang="zh-CN" dirty="0">
                <a:solidFill>
                  <a:srgbClr val="000000"/>
                </a:solidFill>
                <a:latin typeface="Helvetica" pitchFamily="2" charset="0"/>
              </a:rPr>
              <a:t>k</a:t>
            </a:r>
            <a:r>
              <a:rPr lang="zh-CN" altLang="en-US" dirty="0">
                <a:solidFill>
                  <a:srgbClr val="000000"/>
                </a:solidFill>
                <a:latin typeface="Helvetica" pitchFamily="2" charset="0"/>
              </a:rPr>
              <a:t>计算矩阵乘法 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46CB11-42EF-5144-AA47-556B4593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12</a:t>
            </a:fld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833495-1274-C445-BCFB-9C9BD5F6BCE9}"/>
              </a:ext>
            </a:extLst>
          </p:cNvPr>
          <p:cNvSpPr txBox="1"/>
          <p:nvPr/>
        </p:nvSpPr>
        <p:spPr>
          <a:xfrm>
            <a:off x="1188719" y="1901809"/>
            <a:ext cx="4572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do-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mult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, j) {</a:t>
            </a: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    if 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 == j)</a:t>
            </a: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        return A[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]</a:t>
            </a: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    else {</a:t>
            </a: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        k = s[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i,j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]</a:t>
            </a: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        X = do-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mult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, k)</a:t>
            </a: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        Y = do-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mult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(k+1, j)</a:t>
            </a: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        return X * Y</a:t>
            </a:r>
          </a:p>
          <a:p>
            <a:r>
              <a:rPr lang="zh-CN" altLang="en-US" sz="2400" dirty="0">
                <a:solidFill>
                  <a:srgbClr val="000000"/>
                </a:solidFill>
                <a:effectLst/>
                <a:latin typeface="Helvetica" pitchFamily="2" charset="0"/>
              </a:rPr>
              <a:t>    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}</a:t>
            </a: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}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DC5EBE3-5A72-D344-AF1E-DA44B78D9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295" y="4848312"/>
            <a:ext cx="3379198" cy="18236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DDBF50B-DB86-284D-ACD0-ECE3E40AA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295" y="84070"/>
            <a:ext cx="3226659" cy="248204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0345A21-2DD4-544E-9834-286B90BED008}"/>
              </a:ext>
            </a:extLst>
          </p:cNvPr>
          <p:cNvSpPr txBox="1"/>
          <p:nvPr/>
        </p:nvSpPr>
        <p:spPr>
          <a:xfrm>
            <a:off x="5803633" y="2659095"/>
            <a:ext cx="1656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X=do-multi(1,3)</a:t>
            </a:r>
          </a:p>
          <a:p>
            <a:r>
              <a:rPr lang="en-US" altLang="zh-CN" dirty="0"/>
              <a:t>Y=do-multi(4,4)</a:t>
            </a:r>
            <a:endParaRPr 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354BF17-999B-B245-B8C9-08A86C823EE9}"/>
              </a:ext>
            </a:extLst>
          </p:cNvPr>
          <p:cNvCxnSpPr/>
          <p:nvPr/>
        </p:nvCxnSpPr>
        <p:spPr>
          <a:xfrm>
            <a:off x="7459856" y="3079363"/>
            <a:ext cx="234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3B1285D-0306-6E49-82DF-995BE15104FE}"/>
              </a:ext>
            </a:extLst>
          </p:cNvPr>
          <p:cNvSpPr txBox="1"/>
          <p:nvPr/>
        </p:nvSpPr>
        <p:spPr>
          <a:xfrm>
            <a:off x="7780145" y="2923568"/>
            <a:ext cx="973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*</a:t>
            </a:r>
            <a:r>
              <a:rPr lang="en-US" altLang="zh-CN" dirty="0"/>
              <a:t>A</a:t>
            </a:r>
            <a:r>
              <a:rPr lang="en-US" altLang="zh-CN" baseline="-25000" dirty="0"/>
              <a:t>4</a:t>
            </a:r>
            <a:endParaRPr lang="en-US" baseline="-25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0F9563-3082-FB41-BC65-8228E5C32CAB}"/>
              </a:ext>
            </a:extLst>
          </p:cNvPr>
          <p:cNvSpPr txBox="1"/>
          <p:nvPr/>
        </p:nvSpPr>
        <p:spPr>
          <a:xfrm>
            <a:off x="5803633" y="3292900"/>
            <a:ext cx="1656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X=do-multi(1,1)</a:t>
            </a:r>
          </a:p>
          <a:p>
            <a:r>
              <a:rPr lang="en-US" altLang="zh-CN" dirty="0"/>
              <a:t>Y=do-multi(2,3)</a:t>
            </a:r>
            <a:endParaRPr 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C82FF8-D2FE-7D45-873F-145D21245D7E}"/>
              </a:ext>
            </a:extLst>
          </p:cNvPr>
          <p:cNvSpPr txBox="1"/>
          <p:nvPr/>
        </p:nvSpPr>
        <p:spPr>
          <a:xfrm>
            <a:off x="4644341" y="3295253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k=s[1,3]=1</a:t>
            </a:r>
            <a:endParaRPr 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D49BB5-AAB4-1941-A314-1BFF270B56C9}"/>
              </a:ext>
            </a:extLst>
          </p:cNvPr>
          <p:cNvSpPr txBox="1"/>
          <p:nvPr/>
        </p:nvSpPr>
        <p:spPr>
          <a:xfrm>
            <a:off x="4644341" y="266456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k=s[1,4]=3</a:t>
            </a:r>
            <a:endParaRPr 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941774BF-600C-9945-854C-09CFDEDF109D}"/>
              </a:ext>
            </a:extLst>
          </p:cNvPr>
          <p:cNvCxnSpPr/>
          <p:nvPr/>
        </p:nvCxnSpPr>
        <p:spPr>
          <a:xfrm>
            <a:off x="7438399" y="3794635"/>
            <a:ext cx="234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0A80C04-91BB-4843-8B4F-C817F32F4DDF}"/>
              </a:ext>
            </a:extLst>
          </p:cNvPr>
          <p:cNvSpPr txBox="1"/>
          <p:nvPr/>
        </p:nvSpPr>
        <p:spPr>
          <a:xfrm>
            <a:off x="7631723" y="3603962"/>
            <a:ext cx="126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*</a:t>
            </a:r>
            <a:r>
              <a:rPr lang="en-US" altLang="zh-CN" dirty="0"/>
              <a:t>Y</a:t>
            </a:r>
            <a:r>
              <a:rPr lang="zh-CN" altLang="en-US" dirty="0"/>
              <a:t>*</a:t>
            </a:r>
            <a:r>
              <a:rPr lang="en-US" altLang="zh-CN" dirty="0"/>
              <a:t>A</a:t>
            </a:r>
            <a:r>
              <a:rPr lang="en-US" altLang="zh-CN" baseline="-25000" dirty="0"/>
              <a:t>4</a:t>
            </a:r>
            <a:endParaRPr lang="en-US" baseline="-25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D69091-63EA-5B49-81FD-BE09FAC4DAF3}"/>
              </a:ext>
            </a:extLst>
          </p:cNvPr>
          <p:cNvSpPr txBox="1"/>
          <p:nvPr/>
        </p:nvSpPr>
        <p:spPr>
          <a:xfrm>
            <a:off x="4622884" y="389120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k=s[2,3]=2</a:t>
            </a:r>
            <a:endParaRPr 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0674656-628E-5A47-AC4F-41D72EEEE7C1}"/>
              </a:ext>
            </a:extLst>
          </p:cNvPr>
          <p:cNvSpPr txBox="1"/>
          <p:nvPr/>
        </p:nvSpPr>
        <p:spPr>
          <a:xfrm>
            <a:off x="5782176" y="3949717"/>
            <a:ext cx="1656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X=do-multi(2,2)</a:t>
            </a:r>
          </a:p>
          <a:p>
            <a:r>
              <a:rPr lang="en-US" altLang="zh-CN" dirty="0"/>
              <a:t>Y=do-multi(3,3)</a:t>
            </a:r>
            <a:endParaRPr 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6312236-F427-DE45-BD45-B07A3F95E232}"/>
              </a:ext>
            </a:extLst>
          </p:cNvPr>
          <p:cNvSpPr txBox="1"/>
          <p:nvPr/>
        </p:nvSpPr>
        <p:spPr>
          <a:xfrm>
            <a:off x="7672860" y="4201981"/>
            <a:ext cx="1975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 A</a:t>
            </a:r>
            <a:r>
              <a:rPr lang="en-US" altLang="zh-CN" baseline="-25000" dirty="0"/>
              <a:t>3</a:t>
            </a:r>
            <a:r>
              <a:rPr lang="en-US" altLang="zh-CN" dirty="0"/>
              <a:t> A</a:t>
            </a:r>
            <a:r>
              <a:rPr lang="en-US" altLang="zh-CN" baseline="-25000" dirty="0"/>
              <a:t>4</a:t>
            </a:r>
            <a:endParaRPr lang="en-US" baseline="-25000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69C7DF43-4ACA-1A4D-962A-158BE29EB7BF}"/>
              </a:ext>
            </a:extLst>
          </p:cNvPr>
          <p:cNvCxnSpPr/>
          <p:nvPr/>
        </p:nvCxnSpPr>
        <p:spPr>
          <a:xfrm>
            <a:off x="7369419" y="4453145"/>
            <a:ext cx="234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右大括号 20">
            <a:extLst>
              <a:ext uri="{FF2B5EF4-FFF2-40B4-BE49-F238E27FC236}">
                <a16:creationId xmlns:a16="http://schemas.microsoft.com/office/drawing/2014/main" id="{BF83706C-EB6F-5E43-9F4B-274FCBD11DB9}"/>
              </a:ext>
            </a:extLst>
          </p:cNvPr>
          <p:cNvSpPr/>
          <p:nvPr/>
        </p:nvSpPr>
        <p:spPr>
          <a:xfrm rot="16200000">
            <a:off x="7744944" y="3269833"/>
            <a:ext cx="369331" cy="2989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右大括号 21">
            <a:extLst>
              <a:ext uri="{FF2B5EF4-FFF2-40B4-BE49-F238E27FC236}">
                <a16:creationId xmlns:a16="http://schemas.microsoft.com/office/drawing/2014/main" id="{C71243D0-A1CC-0E40-BA91-70C713814F70}"/>
              </a:ext>
            </a:extLst>
          </p:cNvPr>
          <p:cNvSpPr/>
          <p:nvPr/>
        </p:nvSpPr>
        <p:spPr>
          <a:xfrm rot="16200000">
            <a:off x="7949055" y="3950227"/>
            <a:ext cx="369331" cy="2989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0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ED95E-1CCD-1743-82C2-900DAE8E0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练习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48F1FF-A2F7-2A48-9877-A6A835EA5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直观上总结一下矩阵链式乘法</a:t>
            </a:r>
            <a:endParaRPr lang="en-US" altLang="zh-CN" sz="1800" kern="0" dirty="0">
              <a:solidFill>
                <a:srgbClr val="1A1718"/>
              </a:solidFill>
              <a:effectLst/>
              <a:latin typeface="Helvetica" pitchFamily="2" charset="0"/>
              <a:ea typeface="DengXian" panose="02010600030101010101" pitchFamily="2" charset="-122"/>
              <a:cs typeface="Helvetica" pitchFamily="2" charset="0"/>
            </a:endParaRPr>
          </a:p>
          <a:p>
            <a:pPr marL="0" indent="0">
              <a:buNone/>
            </a:pP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       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5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4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6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2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7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</a:t>
            </a:r>
            <a:endParaRPr lang="en-US" altLang="zh-CN" sz="1800" kern="0" dirty="0">
              <a:solidFill>
                <a:srgbClr val="1A1718"/>
              </a:solidFill>
              <a:latin typeface="Helvetica" pitchFamily="2" charset="0"/>
              <a:ea typeface="DengXian" panose="02010600030101010101" pitchFamily="2" charset="-122"/>
              <a:cs typeface="Helvetica" pitchFamily="2" charset="0"/>
            </a:endParaRPr>
          </a:p>
          <a:p>
            <a:pPr marL="0" indent="0">
              <a:buNone/>
            </a:pP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        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5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4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2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7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</a:t>
            </a:r>
            <a:endParaRPr lang="en-US" altLang="zh-CN" sz="1800" kern="0" dirty="0">
              <a:solidFill>
                <a:srgbClr val="1A1718"/>
              </a:solidFill>
              <a:effectLst/>
              <a:latin typeface="Helvetica" pitchFamily="2" charset="0"/>
              <a:ea typeface="DengXian" panose="02010600030101010101" pitchFamily="2" charset="-122"/>
              <a:cs typeface="Helvetica" pitchFamily="2" charset="0"/>
            </a:endParaRPr>
          </a:p>
          <a:p>
            <a:pPr marL="0" indent="0">
              <a:buNone/>
            </a:pP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         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5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2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7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</a:t>
            </a:r>
            <a:endParaRPr lang="en-US" altLang="zh-CN" sz="1800" kern="0" dirty="0">
              <a:solidFill>
                <a:srgbClr val="1A1718"/>
              </a:solidFill>
              <a:latin typeface="Helvetica" pitchFamily="2" charset="0"/>
              <a:ea typeface="DengXian" panose="02010600030101010101" pitchFamily="2" charset="-122"/>
              <a:cs typeface="Helvetica" pitchFamily="2" charset="0"/>
            </a:endParaRPr>
          </a:p>
          <a:p>
            <a:pPr marL="0" indent="0">
              <a:buNone/>
            </a:pP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           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5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7</a:t>
            </a:r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</a:t>
            </a:r>
            <a:endParaRPr lang="en-US" altLang="zh-CN" sz="1800" kern="0" dirty="0">
              <a:solidFill>
                <a:srgbClr val="1A1718"/>
              </a:solidFill>
              <a:effectLst/>
              <a:latin typeface="Helvetica" pitchFamily="2" charset="0"/>
              <a:ea typeface="DengXian" panose="02010600030101010101" pitchFamily="2" charset="-122"/>
              <a:cs typeface="Helvetica" pitchFamily="2" charset="0"/>
            </a:endParaRPr>
          </a:p>
          <a:p>
            <a:r>
              <a:rPr lang="zh-CN" altLang="en-US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贪心算法和动态规划究竟是否有差异呢？</a:t>
            </a:r>
            <a:endParaRPr lang="en-US" altLang="zh-CN" sz="1800" kern="0" dirty="0">
              <a:solidFill>
                <a:srgbClr val="1A1718"/>
              </a:solidFill>
              <a:effectLst/>
              <a:latin typeface="Helvetica" pitchFamily="2" charset="0"/>
              <a:ea typeface="DengXian" panose="02010600030101010101" pitchFamily="2" charset="-122"/>
              <a:cs typeface="Helvetica" pitchFamily="2" charset="0"/>
            </a:endParaRPr>
          </a:p>
          <a:p>
            <a:r>
              <a:rPr lang="zh-CN" altLang="en-US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50</a:t>
            </a:r>
            <a:r>
              <a:rPr lang="zh-CN" altLang="en-US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10</a:t>
            </a:r>
            <a:r>
              <a:rPr lang="zh-CN" altLang="en-US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40</a:t>
            </a:r>
            <a:r>
              <a:rPr lang="zh-CN" altLang="en-US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30</a:t>
            </a:r>
            <a:r>
              <a:rPr lang="zh-CN" altLang="en-US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 </a:t>
            </a:r>
            <a:r>
              <a:rPr lang="en-US" altLang="zh-CN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5</a:t>
            </a:r>
            <a:r>
              <a:rPr lang="zh-CN" altLang="en-US" sz="1800" kern="0" dirty="0">
                <a:solidFill>
                  <a:srgbClr val="1A1718"/>
                </a:solidFill>
                <a:effectLst/>
                <a:latin typeface="Helvetica" pitchFamily="2" charset="0"/>
                <a:ea typeface="DengXian" panose="02010600030101010101" pitchFamily="2" charset="-122"/>
                <a:cs typeface="Helvetica" pitchFamily="2" charset="0"/>
              </a:rPr>
              <a:t> </a:t>
            </a:r>
            <a:endParaRPr lang="en-US" altLang="zh-CN" sz="1800" kern="0" dirty="0">
              <a:solidFill>
                <a:srgbClr val="1A1718"/>
              </a:solidFill>
              <a:effectLst/>
              <a:latin typeface="Helvetica" pitchFamily="2" charset="0"/>
              <a:ea typeface="DengXian" panose="02010600030101010101" pitchFamily="2" charset="-122"/>
              <a:cs typeface="Helvetica" pitchFamily="2" charset="0"/>
            </a:endParaRPr>
          </a:p>
          <a:p>
            <a:endParaRPr lang="en-US" altLang="zh-CN" sz="1800" kern="0" dirty="0">
              <a:solidFill>
                <a:srgbClr val="1A1718"/>
              </a:solidFill>
              <a:latin typeface="Helvetica" pitchFamily="2" charset="0"/>
              <a:ea typeface="DengXian" panose="02010600030101010101" pitchFamily="2" charset="-122"/>
            </a:endParaRPr>
          </a:p>
          <a:p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</a:rPr>
              <a:t>贪心算法的话，总乘法次数是多少？</a:t>
            </a:r>
            <a:endParaRPr lang="en-US" altLang="zh-CN" sz="1800" kern="0" dirty="0">
              <a:solidFill>
                <a:srgbClr val="1A1718"/>
              </a:solidFill>
              <a:latin typeface="Helvetica" pitchFamily="2" charset="0"/>
              <a:ea typeface="DengXian" panose="02010600030101010101" pitchFamily="2" charset="-122"/>
            </a:endParaRPr>
          </a:p>
          <a:p>
            <a:endParaRPr lang="en-US" altLang="zh-CN" sz="1800" kern="0" dirty="0">
              <a:solidFill>
                <a:srgbClr val="1A1718"/>
              </a:solidFill>
              <a:latin typeface="Helvetica" pitchFamily="2" charset="0"/>
              <a:ea typeface="DengXian" panose="02010600030101010101" pitchFamily="2" charset="-122"/>
            </a:endParaRPr>
          </a:p>
          <a:p>
            <a:r>
              <a:rPr lang="zh-CN" altLang="en-US" sz="1800" kern="0" dirty="0">
                <a:solidFill>
                  <a:srgbClr val="1A1718"/>
                </a:solidFill>
                <a:latin typeface="Helvetica" pitchFamily="2" charset="0"/>
                <a:ea typeface="DengXian" panose="02010600030101010101" pitchFamily="2" charset="-122"/>
              </a:rPr>
              <a:t>动态规划的话，总乘法次数是多少？ </a:t>
            </a:r>
            <a:endParaRPr lang="en-US" altLang="zh-CN" sz="1800" kern="0" dirty="0">
              <a:solidFill>
                <a:srgbClr val="1A1718"/>
              </a:solidFill>
              <a:latin typeface="Helvetica" pitchFamily="2" charset="0"/>
              <a:ea typeface="DengXian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716DD7-6EE7-C142-A2C0-C4F7CC92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13</a:t>
            </a:fld>
            <a:endParaRPr lang="en-US"/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9CE8E8DF-CCBC-1140-A918-6DBE74435522}"/>
              </a:ext>
            </a:extLst>
          </p:cNvPr>
          <p:cNvSpPr/>
          <p:nvPr/>
        </p:nvSpPr>
        <p:spPr>
          <a:xfrm rot="5400000">
            <a:off x="1863969" y="2306272"/>
            <a:ext cx="246185" cy="4955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875B3D33-E7C4-3945-9E89-471F04456F5C}"/>
              </a:ext>
            </a:extLst>
          </p:cNvPr>
          <p:cNvSpPr/>
          <p:nvPr/>
        </p:nvSpPr>
        <p:spPr>
          <a:xfrm rot="5400000">
            <a:off x="1723292" y="2687394"/>
            <a:ext cx="246185" cy="4955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2CF1A550-5DC2-F64A-A087-6B804E79121D}"/>
              </a:ext>
            </a:extLst>
          </p:cNvPr>
          <p:cNvSpPr/>
          <p:nvPr/>
        </p:nvSpPr>
        <p:spPr>
          <a:xfrm rot="5400000">
            <a:off x="1723291" y="3049588"/>
            <a:ext cx="246185" cy="4955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01312C-C874-7346-A8DB-7F90A055838A}"/>
              </a:ext>
            </a:extLst>
          </p:cNvPr>
          <p:cNvSpPr txBox="1"/>
          <p:nvPr/>
        </p:nvSpPr>
        <p:spPr>
          <a:xfrm>
            <a:off x="3598985" y="2184712"/>
            <a:ext cx="4480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有相邻的三个数中间大两边小的优先计算</a:t>
            </a:r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C34E29-F872-0F4B-B97F-EB72C92DABF8}"/>
              </a:ext>
            </a:extLst>
          </p:cNvPr>
          <p:cNvSpPr txBox="1"/>
          <p:nvPr/>
        </p:nvSpPr>
        <p:spPr>
          <a:xfrm>
            <a:off x="3598985" y="264919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看似可以设计一种贪心机制</a:t>
            </a:r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F236FD-0FDC-FE4C-9DB3-A8FF6D1AD104}"/>
              </a:ext>
            </a:extLst>
          </p:cNvPr>
          <p:cNvSpPr txBox="1"/>
          <p:nvPr/>
        </p:nvSpPr>
        <p:spPr>
          <a:xfrm>
            <a:off x="3598985" y="3059668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可以设计一种贪心算法来进行矩阵链式乘法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05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618BC3E-C159-7C4A-A4AD-5D258853E934}"/>
              </a:ext>
            </a:extLst>
          </p:cNvPr>
          <p:cNvSpPr/>
          <p:nvPr/>
        </p:nvSpPr>
        <p:spPr>
          <a:xfrm>
            <a:off x="0" y="0"/>
            <a:ext cx="3891776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4D8C2F-B057-BC46-B29B-8549C3CA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 dirty="0" err="1">
                <a:solidFill>
                  <a:schemeClr val="bg1"/>
                </a:solidFill>
              </a:rPr>
              <a:t>主要内容</a:t>
            </a:r>
            <a:endParaRPr lang="en-US" sz="5200" dirty="0">
              <a:solidFill>
                <a:schemeClr val="bg1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605011D5-D7DF-D395-3AA9-3C30225BA1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01291" y="620391"/>
          <a:ext cx="4697730" cy="5599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DCA578-4958-C042-93CC-08AEB411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Algorithm design and analysis, </a:t>
            </a:r>
            <a:r>
              <a:rPr lang="en-US" altLang="zh-CN" dirty="0" err="1"/>
              <a:t>Yongcai</a:t>
            </a:r>
            <a:r>
              <a:rPr lang="en-US" altLang="zh-CN" dirty="0"/>
              <a:t> Wang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99857-20C5-3A4B-8E13-770B50CF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D7B5-3E88-6742-8EE5-BD15024C65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35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4737" y="4313986"/>
            <a:ext cx="2535473" cy="25354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150" y="157356"/>
            <a:ext cx="7886700" cy="1325563"/>
          </a:xfrm>
        </p:spPr>
        <p:txBody>
          <a:bodyPr/>
          <a:lstStyle/>
          <a:p>
            <a:r>
              <a:rPr lang="en-US" dirty="0"/>
              <a:t>Example </a:t>
            </a:r>
            <a:r>
              <a:rPr lang="en-US" altLang="zh-CN" dirty="0"/>
              <a:t>4</a:t>
            </a:r>
            <a:r>
              <a:rPr lang="en-US" dirty="0"/>
              <a:t>: Knapsack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82919"/>
            <a:ext cx="78867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have n items with weights and values: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we have a knapsack: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it can only carry so much weight: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626" y="1998496"/>
            <a:ext cx="890016" cy="8900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3371" y="1998496"/>
            <a:ext cx="938946" cy="9389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00210" y="1998496"/>
            <a:ext cx="815140" cy="8151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8981" y="1966357"/>
            <a:ext cx="922155" cy="9221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3804" y="1751737"/>
            <a:ext cx="1136775" cy="1136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5665" y="3113587"/>
            <a:ext cx="914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Weight: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65" y="3701409"/>
            <a:ext cx="914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Value: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2501" y="3005865"/>
            <a:ext cx="682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0795" y="3005864"/>
            <a:ext cx="682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736" y="3005863"/>
            <a:ext cx="682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5590" y="3005863"/>
            <a:ext cx="682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3508" y="2988523"/>
            <a:ext cx="682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0246" y="3670274"/>
            <a:ext cx="682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5758" y="3667231"/>
            <a:ext cx="682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736" y="3655654"/>
            <a:ext cx="682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1488" y="3602770"/>
            <a:ext cx="682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1357" y="3664195"/>
            <a:ext cx="682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055" y="2402817"/>
            <a:ext cx="914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Item: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5506" y="4812038"/>
            <a:ext cx="2170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Capacity: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7C3AF-6654-1547-8CA5-88DC016D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1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111" y="115839"/>
            <a:ext cx="1413152" cy="141315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Unbounded Knapsack:</a:t>
            </a:r>
          </a:p>
          <a:p>
            <a:pPr lvl="1"/>
            <a:r>
              <a:rPr lang="en-US" dirty="0"/>
              <a:t>Suppose I have </a:t>
            </a:r>
            <a:r>
              <a:rPr lang="en-US" dirty="0">
                <a:solidFill>
                  <a:schemeClr val="accent4"/>
                </a:solidFill>
              </a:rPr>
              <a:t>infinite copies </a:t>
            </a:r>
            <a:r>
              <a:rPr lang="en-US" dirty="0"/>
              <a:t>of all items.</a:t>
            </a:r>
          </a:p>
          <a:p>
            <a:pPr lvl="1"/>
            <a:r>
              <a:rPr lang="en-US" dirty="0"/>
              <a:t>What’s the </a:t>
            </a:r>
            <a:r>
              <a:rPr lang="en-US" dirty="0">
                <a:solidFill>
                  <a:schemeClr val="accent1"/>
                </a:solidFill>
              </a:rPr>
              <a:t>most valuable way to fill the knapsack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0/1 Knapsack:</a:t>
            </a:r>
          </a:p>
          <a:p>
            <a:pPr lvl="1"/>
            <a:r>
              <a:rPr lang="en-US" dirty="0"/>
              <a:t>Suppose I have </a:t>
            </a:r>
            <a:r>
              <a:rPr lang="en-US" dirty="0">
                <a:solidFill>
                  <a:schemeClr val="accent4"/>
                </a:solidFill>
              </a:rPr>
              <a:t>only one copy</a:t>
            </a:r>
            <a:r>
              <a:rPr lang="en-US" dirty="0"/>
              <a:t> of each item.</a:t>
            </a:r>
          </a:p>
          <a:p>
            <a:pPr lvl="1"/>
            <a:r>
              <a:rPr lang="en-US" dirty="0"/>
              <a:t>What’s the </a:t>
            </a:r>
            <a:r>
              <a:rPr lang="en-US" dirty="0">
                <a:solidFill>
                  <a:schemeClr val="accent1"/>
                </a:solidFill>
              </a:rPr>
              <a:t>most valuable way to fill the knapsack</a:t>
            </a:r>
            <a:r>
              <a:rPr lang="en-US" dirty="0"/>
              <a:t>? 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3320937" y="0"/>
            <a:ext cx="5649593" cy="1475713"/>
            <a:chOff x="-479811" y="1751737"/>
            <a:chExt cx="9046225" cy="260051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1626" y="1998496"/>
              <a:ext cx="890016" cy="890016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83371" y="1998496"/>
              <a:ext cx="938946" cy="938946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00210" y="1998496"/>
              <a:ext cx="815140" cy="81514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8981" y="1966357"/>
              <a:ext cx="922155" cy="92215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3804" y="1751737"/>
              <a:ext cx="1136775" cy="1136775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-479809" y="3113586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Weight: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-479809" y="3701409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Value: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82501" y="3005866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6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50794" y="300586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18736" y="300586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4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75590" y="300586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83508" y="298852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11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80245" y="367027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20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15758" y="3667231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8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18736" y="3655655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14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71487" y="3602769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35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271357" y="366419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-479811" y="2402818"/>
              <a:ext cx="177038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Item: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222078" y="976707"/>
            <a:ext cx="1944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Capacity: 10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9115" y="3331947"/>
            <a:ext cx="575909" cy="5232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3108" y="3331947"/>
            <a:ext cx="575909" cy="523296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5411" y="3331947"/>
            <a:ext cx="586395" cy="53282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94109" y="3331947"/>
            <a:ext cx="586395" cy="5328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33807" y="3270429"/>
            <a:ext cx="3503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Total weight: 10</a:t>
            </a:r>
          </a:p>
          <a:p>
            <a:r>
              <a:rPr lang="en-US" dirty="0">
                <a:solidFill>
                  <a:schemeClr val="accent1"/>
                </a:solidFill>
              </a:rPr>
              <a:t>Total value: 42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1479" y="5915315"/>
            <a:ext cx="575909" cy="52329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1563" y="5913324"/>
            <a:ext cx="555837" cy="50505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4714" y="5913324"/>
            <a:ext cx="586395" cy="53282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86299" y="5842687"/>
            <a:ext cx="3503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Total weight: 9</a:t>
            </a:r>
          </a:p>
          <a:p>
            <a:r>
              <a:rPr lang="en-US" dirty="0">
                <a:solidFill>
                  <a:schemeClr val="accent1"/>
                </a:solidFill>
              </a:rPr>
              <a:t>Total value: 35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16689" y="1678329"/>
            <a:ext cx="8333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ight Arrow 38"/>
          <p:cNvSpPr/>
          <p:nvPr/>
        </p:nvSpPr>
        <p:spPr>
          <a:xfrm>
            <a:off x="-135279" y="1713651"/>
            <a:ext cx="763929" cy="6250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5E309C-EC8C-B742-B32C-49B8D657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3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1" grpId="0"/>
      <p:bldP spid="35" grpId="0"/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notation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1252" y="3907337"/>
            <a:ext cx="2028475" cy="2028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05902" y="5935812"/>
            <a:ext cx="2442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Capacity: W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828086" y="1700665"/>
            <a:ext cx="7394545" cy="2080209"/>
            <a:chOff x="182140" y="1751737"/>
            <a:chExt cx="8333210" cy="260571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1626" y="1998496"/>
              <a:ext cx="890016" cy="890016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00210" y="1998496"/>
              <a:ext cx="815140" cy="81514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8981" y="1966357"/>
              <a:ext cx="922155" cy="92215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23804" y="1751737"/>
              <a:ext cx="1136775" cy="1136775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82140" y="3105108"/>
              <a:ext cx="1257737" cy="462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Weight: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43261" y="3833016"/>
              <a:ext cx="914518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Value: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82500" y="3005863"/>
              <a:ext cx="1010713" cy="732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>
                  <a:solidFill>
                    <a:schemeClr val="accent4"/>
                  </a:solidFill>
                </a:rPr>
                <a:t>w</a:t>
              </a:r>
              <a:r>
                <a:rPr lang="en-US" sz="3200" baseline="-25000">
                  <a:solidFill>
                    <a:schemeClr val="accent4"/>
                  </a:solidFill>
                </a:rPr>
                <a:t>1</a:t>
              </a:r>
              <a:endParaRPr lang="en-US" sz="3200" dirty="0">
                <a:solidFill>
                  <a:schemeClr val="accent4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10349" y="3624948"/>
              <a:ext cx="682905" cy="732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>
                  <a:solidFill>
                    <a:schemeClr val="accent1"/>
                  </a:solidFill>
                </a:rPr>
                <a:t>v</a:t>
              </a:r>
              <a:r>
                <a:rPr lang="en-US" sz="3200" baseline="-25000">
                  <a:solidFill>
                    <a:schemeClr val="accent1"/>
                  </a:solidFill>
                </a:rPr>
                <a:t>1</a:t>
              </a:r>
              <a:endParaRPr lang="en-US" sz="3200" dirty="0">
                <a:solidFill>
                  <a:schemeClr val="accent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76055" y="2402817"/>
              <a:ext cx="914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Item: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410812" y="2701866"/>
            <a:ext cx="89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w</a:t>
            </a:r>
            <a:r>
              <a:rPr lang="en-US" sz="3200" baseline="-25000" dirty="0">
                <a:solidFill>
                  <a:schemeClr val="accent4"/>
                </a:solidFill>
              </a:rPr>
              <a:t>2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33877" y="2701866"/>
            <a:ext cx="89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w</a:t>
            </a:r>
            <a:r>
              <a:rPr lang="en-US" sz="3200" baseline="-25000" dirty="0">
                <a:solidFill>
                  <a:schemeClr val="accent4"/>
                </a:solidFill>
              </a:rPr>
              <a:t>3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51295" y="2623471"/>
            <a:ext cx="89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accent4"/>
                </a:solidFill>
              </a:rPr>
              <a:t>w</a:t>
            </a:r>
            <a:r>
              <a:rPr lang="en-US" sz="3200" baseline="-25000" dirty="0" err="1">
                <a:solidFill>
                  <a:schemeClr val="accent4"/>
                </a:solidFill>
              </a:rPr>
              <a:t>n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66563" y="3191586"/>
            <a:ext cx="841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v</a:t>
            </a:r>
            <a:r>
              <a:rPr lang="en-US" sz="3200" baseline="-25000" dirty="0">
                <a:solidFill>
                  <a:schemeClr val="accent1"/>
                </a:solidFill>
              </a:rPr>
              <a:t>2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79831" y="3217242"/>
            <a:ext cx="605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v</a:t>
            </a:r>
            <a:r>
              <a:rPr lang="en-US" sz="3200" baseline="-25000" dirty="0">
                <a:solidFill>
                  <a:schemeClr val="accent1"/>
                </a:solidFill>
              </a:rPr>
              <a:t>3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96736" y="3217242"/>
            <a:ext cx="605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accent1"/>
                </a:solidFill>
              </a:rPr>
              <a:t>v</a:t>
            </a:r>
            <a:r>
              <a:rPr lang="en-US" sz="3200" baseline="-25000" dirty="0" err="1">
                <a:solidFill>
                  <a:schemeClr val="accent1"/>
                </a:solidFill>
              </a:rPr>
              <a:t>n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22491" y="2466000"/>
            <a:ext cx="10532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400" dirty="0"/>
              <a:t>…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0A4599-FC54-894F-8FB8-726F231A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8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</a:t>
            </a:r>
            <a:r>
              <a:rPr lang="en-US" sz="2800" dirty="0">
                <a:solidFill>
                  <a:schemeClr val="accent3"/>
                </a:solidFill>
              </a:rPr>
              <a:t>for applying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16731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Step 1: </a:t>
            </a:r>
            <a:r>
              <a:rPr lang="en-US" dirty="0"/>
              <a:t>Identify </a:t>
            </a:r>
            <a:r>
              <a:rPr lang="en-US" dirty="0">
                <a:solidFill>
                  <a:schemeClr val="accent1"/>
                </a:solidFill>
              </a:rPr>
              <a:t>optimal substructure.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2: </a:t>
            </a:r>
            <a:r>
              <a:rPr lang="en-US" dirty="0"/>
              <a:t>Find a </a:t>
            </a:r>
            <a:r>
              <a:rPr lang="en-US" dirty="0">
                <a:solidFill>
                  <a:schemeClr val="accent6"/>
                </a:solidFill>
              </a:rPr>
              <a:t>recursive formulation </a:t>
            </a:r>
            <a:r>
              <a:rPr lang="en-US" dirty="0"/>
              <a:t>for the value of the optimal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3: </a:t>
            </a:r>
            <a:r>
              <a:rPr lang="en-US" dirty="0">
                <a:solidFill>
                  <a:schemeClr val="accent5"/>
                </a:solidFill>
              </a:rPr>
              <a:t>Use dynamic programming </a:t>
            </a:r>
            <a:r>
              <a:rPr lang="en-US" dirty="0"/>
              <a:t>to find the value of the optimal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4: </a:t>
            </a:r>
            <a:r>
              <a:rPr lang="en-US" dirty="0"/>
              <a:t>If needed, keep track of some additional info so that the algorithm from Step 3 can </a:t>
            </a:r>
            <a:r>
              <a:rPr lang="en-US" dirty="0">
                <a:solidFill>
                  <a:srgbClr val="B400AB"/>
                </a:solidFill>
              </a:rPr>
              <a:t>find the actual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5: </a:t>
            </a:r>
            <a:r>
              <a:rPr lang="en-US" dirty="0"/>
              <a:t>If needed, </a:t>
            </a:r>
            <a:r>
              <a:rPr lang="en-US" dirty="0">
                <a:solidFill>
                  <a:srgbClr val="7030A0"/>
                </a:solidFill>
              </a:rPr>
              <a:t>code this up like a reasonable person.</a:t>
            </a:r>
          </a:p>
        </p:txBody>
      </p:sp>
      <p:sp>
        <p:nvSpPr>
          <p:cNvPr id="4" name="Left Arrow 3"/>
          <p:cNvSpPr/>
          <p:nvPr/>
        </p:nvSpPr>
        <p:spPr>
          <a:xfrm>
            <a:off x="6658708" y="1690689"/>
            <a:ext cx="902677" cy="45463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45C86-B8DE-3A4E-A8CE-302814A6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75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1512" y="2899296"/>
            <a:ext cx="3088013" cy="30880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substructure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Sub-problems: 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Unbounded Knapsack with a smaller knapsack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K[x] = value you can fit in a knapsack of capacity 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7178" y="3306607"/>
            <a:ext cx="2090159" cy="20901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69" y="3727043"/>
            <a:ext cx="1277775" cy="1277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7639" y="5636608"/>
            <a:ext cx="1802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solve the problem for small knapsacks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5655" y="5775107"/>
            <a:ext cx="1802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Then larger knapsacks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7494" y="5987310"/>
            <a:ext cx="1802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Then </a:t>
            </a:r>
            <a:r>
              <a:rPr lang="en-US"/>
              <a:t>larger knapsacks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B76DE1-BE4F-9E44-8A8A-FAC1914D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9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9389"/>
            <a:ext cx="7886700" cy="1325563"/>
          </a:xfrm>
        </p:spPr>
        <p:txBody>
          <a:bodyPr/>
          <a:lstStyle/>
          <a:p>
            <a:r>
              <a:rPr lang="en-US" dirty="0"/>
              <a:t>Optimal substructure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202" y="1152859"/>
            <a:ext cx="7886700" cy="4351338"/>
          </a:xfrm>
        </p:spPr>
        <p:txBody>
          <a:bodyPr/>
          <a:lstStyle/>
          <a:p>
            <a:r>
              <a:rPr lang="en-US" dirty="0"/>
              <a:t>Suppose this is an optimal solution for capacity 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this is optimal for capacity x -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6554" y="1737828"/>
            <a:ext cx="1734517" cy="1734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7457" y="1725686"/>
            <a:ext cx="670682" cy="6706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0157" y="2404771"/>
            <a:ext cx="670682" cy="67068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4794" y="1824665"/>
            <a:ext cx="670682" cy="6706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0993" y="2659415"/>
            <a:ext cx="544059" cy="5440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2337" y="1788997"/>
            <a:ext cx="544059" cy="54405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6824" y="2754295"/>
            <a:ext cx="480922" cy="480922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5407898" y="2333056"/>
            <a:ext cx="858232" cy="5440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609144" y="3472345"/>
            <a:ext cx="1501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Capacity x</a:t>
            </a:r>
          </a:p>
          <a:p>
            <a:r>
              <a:rPr lang="en-US" dirty="0">
                <a:solidFill>
                  <a:schemeClr val="accent1"/>
                </a:solidFill>
              </a:rPr>
              <a:t>Value 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4584" y="3075453"/>
            <a:ext cx="1108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Weight </a:t>
            </a:r>
            <a:r>
              <a:rPr lang="en-US" dirty="0" err="1">
                <a:solidFill>
                  <a:schemeClr val="accent4"/>
                </a:solidFill>
              </a:rPr>
              <a:t>w</a:t>
            </a:r>
            <a:r>
              <a:rPr lang="en-US" baseline="-25000" dirty="0" err="1">
                <a:solidFill>
                  <a:schemeClr val="accent4"/>
                </a:solidFill>
              </a:rPr>
              <a:t>i</a:t>
            </a:r>
            <a:endParaRPr lang="en-US" baseline="-25000" dirty="0">
              <a:solidFill>
                <a:schemeClr val="accent4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Value v</a:t>
            </a:r>
            <a:r>
              <a:rPr lang="en-US" baseline="-25000" dirty="0">
                <a:solidFill>
                  <a:schemeClr val="accent1"/>
                </a:solidFill>
              </a:rPr>
              <a:t>i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5931" y="4637217"/>
            <a:ext cx="1139289" cy="113928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1013" y="4193395"/>
            <a:ext cx="670682" cy="67068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0457" y="4332732"/>
            <a:ext cx="670682" cy="67068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656" y="5167482"/>
            <a:ext cx="544059" cy="54405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8000" y="4297064"/>
            <a:ext cx="544059" cy="54405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2487" y="5262362"/>
            <a:ext cx="480922" cy="480922"/>
          </a:xfrm>
          <a:prstGeom prst="rect">
            <a:avLst/>
          </a:prstGeom>
        </p:spPr>
      </p:pic>
      <p:sp>
        <p:nvSpPr>
          <p:cNvPr id="23" name="Right Arrow 22"/>
          <p:cNvSpPr/>
          <p:nvPr/>
        </p:nvSpPr>
        <p:spPr>
          <a:xfrm>
            <a:off x="5395669" y="4841123"/>
            <a:ext cx="870461" cy="5440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497793" y="5981336"/>
            <a:ext cx="1724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Capacity x </a:t>
            </a:r>
            <a:r>
              <a:rPr lang="mr-IN" dirty="0">
                <a:solidFill>
                  <a:srgbClr val="7030A0"/>
                </a:solidFill>
              </a:rPr>
              <a:t>–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w</a:t>
            </a:r>
            <a:r>
              <a:rPr lang="en-US" baseline="-25000" dirty="0" err="1">
                <a:solidFill>
                  <a:srgbClr val="7030A0"/>
                </a:solidFill>
              </a:rPr>
              <a:t>i</a:t>
            </a:r>
            <a:endParaRPr lang="en-US" baseline="-25000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Value V - v</a:t>
            </a:r>
            <a:r>
              <a:rPr lang="en-US" baseline="-25000" dirty="0">
                <a:solidFill>
                  <a:schemeClr val="accent1"/>
                </a:solidFill>
              </a:rPr>
              <a:t>i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 rot="20689772">
            <a:off x="60273" y="2086545"/>
            <a:ext cx="191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Say that the optimal solution contains at least one copy of item </a:t>
            </a:r>
            <a:r>
              <a:rPr lang="en-US" dirty="0" err="1">
                <a:solidFill>
                  <a:schemeClr val="accent4"/>
                </a:solidFill>
              </a:rPr>
              <a:t>i</a:t>
            </a:r>
            <a:r>
              <a:rPr lang="en-US" dirty="0">
                <a:solidFill>
                  <a:schemeClr val="accent4"/>
                </a:solidFill>
              </a:rPr>
              <a:t>.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6855" y="6054"/>
            <a:ext cx="917131" cy="91713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56759" y="360292"/>
            <a:ext cx="77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</a:t>
            </a:r>
            <a:r>
              <a:rPr lang="en-US" dirty="0" err="1"/>
              <a:t>i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C5D2C-8F3F-FE4B-A223-25FC56D7B52F}"/>
              </a:ext>
            </a:extLst>
          </p:cNvPr>
          <p:cNvSpPr txBox="1"/>
          <p:nvPr/>
        </p:nvSpPr>
        <p:spPr>
          <a:xfrm>
            <a:off x="109197" y="4990715"/>
            <a:ext cx="25370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4"/>
                </a:solidFill>
              </a:rPr>
              <a:t>Why?</a:t>
            </a:r>
          </a:p>
          <a:p>
            <a:pPr algn="ctr"/>
            <a:r>
              <a:rPr lang="en-US" dirty="0">
                <a:solidFill>
                  <a:schemeClr val="accent4"/>
                </a:solidFill>
              </a:rPr>
              <a:t>1 minute think</a:t>
            </a:r>
          </a:p>
          <a:p>
            <a:pPr algn="ctr"/>
            <a:r>
              <a:rPr lang="en-US" dirty="0">
                <a:solidFill>
                  <a:schemeClr val="accent4"/>
                </a:solidFill>
              </a:rPr>
              <a:t>(wait) 1 minute share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C79D521-087C-8140-8F42-2029A4578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5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3" grpId="0" animBg="1"/>
      <p:bldP spid="24" grpId="0"/>
      <p:bldP spid="28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9389"/>
            <a:ext cx="7886700" cy="1325563"/>
          </a:xfrm>
        </p:spPr>
        <p:txBody>
          <a:bodyPr/>
          <a:lstStyle/>
          <a:p>
            <a:r>
              <a:rPr lang="en-US" dirty="0"/>
              <a:t>Optimal substructure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202" y="1152859"/>
            <a:ext cx="7886700" cy="4351338"/>
          </a:xfrm>
        </p:spPr>
        <p:txBody>
          <a:bodyPr/>
          <a:lstStyle/>
          <a:p>
            <a:r>
              <a:rPr lang="en-US" dirty="0"/>
              <a:t>Suppose this is an optimal solution for capacity 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this is optimal for capacity x -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6554" y="1737828"/>
            <a:ext cx="1734517" cy="1734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7457" y="1725686"/>
            <a:ext cx="670682" cy="6706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0157" y="2404771"/>
            <a:ext cx="670682" cy="67068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4794" y="1824665"/>
            <a:ext cx="670682" cy="6706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0993" y="2659415"/>
            <a:ext cx="544059" cy="5440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2337" y="1788997"/>
            <a:ext cx="544059" cy="54405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6824" y="2754295"/>
            <a:ext cx="480922" cy="480922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5407898" y="2333056"/>
            <a:ext cx="858232" cy="5440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609144" y="3472345"/>
            <a:ext cx="1501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Capacity x</a:t>
            </a:r>
          </a:p>
          <a:p>
            <a:r>
              <a:rPr lang="en-US" dirty="0">
                <a:solidFill>
                  <a:schemeClr val="accent1"/>
                </a:solidFill>
              </a:rPr>
              <a:t>Value 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4584" y="3075453"/>
            <a:ext cx="1108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Weight </a:t>
            </a:r>
            <a:r>
              <a:rPr lang="en-US" dirty="0" err="1">
                <a:solidFill>
                  <a:schemeClr val="accent4"/>
                </a:solidFill>
              </a:rPr>
              <a:t>w</a:t>
            </a:r>
            <a:r>
              <a:rPr lang="en-US" baseline="-25000" dirty="0" err="1">
                <a:solidFill>
                  <a:schemeClr val="accent4"/>
                </a:solidFill>
              </a:rPr>
              <a:t>i</a:t>
            </a:r>
            <a:endParaRPr lang="en-US" baseline="-25000" dirty="0">
              <a:solidFill>
                <a:schemeClr val="accent4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Value v</a:t>
            </a:r>
            <a:r>
              <a:rPr lang="en-US" baseline="-25000" dirty="0">
                <a:solidFill>
                  <a:schemeClr val="accent1"/>
                </a:solidFill>
              </a:rPr>
              <a:t>i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5931" y="4637217"/>
            <a:ext cx="1139289" cy="113928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1013" y="4193395"/>
            <a:ext cx="670682" cy="67068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0457" y="4332732"/>
            <a:ext cx="670682" cy="67068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656" y="5167482"/>
            <a:ext cx="544059" cy="54405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8000" y="4297064"/>
            <a:ext cx="544059" cy="54405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2487" y="5262362"/>
            <a:ext cx="480922" cy="480922"/>
          </a:xfrm>
          <a:prstGeom prst="rect">
            <a:avLst/>
          </a:prstGeom>
        </p:spPr>
      </p:pic>
      <p:sp>
        <p:nvSpPr>
          <p:cNvPr id="23" name="Right Arrow 22"/>
          <p:cNvSpPr/>
          <p:nvPr/>
        </p:nvSpPr>
        <p:spPr>
          <a:xfrm>
            <a:off x="5395669" y="4841123"/>
            <a:ext cx="870461" cy="5440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497793" y="5981336"/>
            <a:ext cx="1724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Capacity x </a:t>
            </a:r>
            <a:r>
              <a:rPr lang="mr-IN" dirty="0">
                <a:solidFill>
                  <a:srgbClr val="7030A0"/>
                </a:solidFill>
              </a:rPr>
              <a:t>–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w</a:t>
            </a:r>
            <a:r>
              <a:rPr lang="en-US" baseline="-25000" dirty="0" err="1">
                <a:solidFill>
                  <a:srgbClr val="7030A0"/>
                </a:solidFill>
              </a:rPr>
              <a:t>i</a:t>
            </a:r>
            <a:endParaRPr lang="en-US" baseline="-25000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Value V - v</a:t>
            </a:r>
            <a:r>
              <a:rPr lang="en-US" baseline="-25000" dirty="0">
                <a:solidFill>
                  <a:schemeClr val="accent1"/>
                </a:solidFill>
              </a:rPr>
              <a:t>i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86" y="5881801"/>
            <a:ext cx="4567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If I could do better than the second solution, then adding a turtle to that improvement would improve the first solution.</a:t>
            </a:r>
          </a:p>
        </p:txBody>
      </p:sp>
      <p:sp>
        <p:nvSpPr>
          <p:cNvPr id="28" name="TextBox 27"/>
          <p:cNvSpPr txBox="1"/>
          <p:nvPr/>
        </p:nvSpPr>
        <p:spPr>
          <a:xfrm rot="20689772">
            <a:off x="60273" y="2086545"/>
            <a:ext cx="191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Say that the optimal solution contains at least one copy of item </a:t>
            </a:r>
            <a:r>
              <a:rPr lang="en-US" dirty="0" err="1">
                <a:solidFill>
                  <a:schemeClr val="accent4"/>
                </a:solidFill>
              </a:rPr>
              <a:t>i</a:t>
            </a:r>
            <a:r>
              <a:rPr lang="en-US" dirty="0">
                <a:solidFill>
                  <a:schemeClr val="accent4"/>
                </a:solidFill>
              </a:rPr>
              <a:t>.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6855" y="6054"/>
            <a:ext cx="917131" cy="91713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56759" y="360292"/>
            <a:ext cx="77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item </a:t>
            </a:r>
            <a:r>
              <a:rPr lang="en-US" dirty="0" err="1"/>
              <a:t>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7ABED-A2FD-A34C-8CE4-1098DB4E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24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</a:t>
            </a:r>
            <a:r>
              <a:rPr lang="en-US" sz="2800" dirty="0">
                <a:solidFill>
                  <a:schemeClr val="accent3"/>
                </a:solidFill>
              </a:rPr>
              <a:t>for applying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16731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Step 1: </a:t>
            </a:r>
            <a:r>
              <a:rPr lang="en-US" dirty="0"/>
              <a:t>Identify </a:t>
            </a:r>
            <a:r>
              <a:rPr lang="en-US" dirty="0">
                <a:solidFill>
                  <a:schemeClr val="accent1"/>
                </a:solidFill>
              </a:rPr>
              <a:t>optimal substructure.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2: </a:t>
            </a:r>
            <a:r>
              <a:rPr lang="en-US" dirty="0"/>
              <a:t>Find a </a:t>
            </a:r>
            <a:r>
              <a:rPr lang="en-US" dirty="0">
                <a:solidFill>
                  <a:schemeClr val="accent6"/>
                </a:solidFill>
              </a:rPr>
              <a:t>recursive formulation </a:t>
            </a:r>
            <a:r>
              <a:rPr lang="en-US" dirty="0"/>
              <a:t>for the value of the optimal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3: </a:t>
            </a:r>
            <a:r>
              <a:rPr lang="en-US" dirty="0">
                <a:solidFill>
                  <a:schemeClr val="accent5"/>
                </a:solidFill>
              </a:rPr>
              <a:t>Use dynamic programming </a:t>
            </a:r>
            <a:r>
              <a:rPr lang="en-US" dirty="0"/>
              <a:t>to find the value of the optimal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4: </a:t>
            </a:r>
            <a:r>
              <a:rPr lang="en-US" dirty="0"/>
              <a:t>If needed, keep track of some additional info so that the algorithm from Step 3 can </a:t>
            </a:r>
            <a:r>
              <a:rPr lang="en-US" dirty="0">
                <a:solidFill>
                  <a:srgbClr val="B400AB"/>
                </a:solidFill>
              </a:rPr>
              <a:t>find the actual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5: </a:t>
            </a:r>
            <a:r>
              <a:rPr lang="en-US" dirty="0"/>
              <a:t>If needed, </a:t>
            </a:r>
            <a:r>
              <a:rPr lang="en-US" dirty="0">
                <a:solidFill>
                  <a:srgbClr val="7030A0"/>
                </a:solidFill>
              </a:rPr>
              <a:t>code this up like a reasonable person.</a:t>
            </a:r>
          </a:p>
        </p:txBody>
      </p:sp>
      <p:sp>
        <p:nvSpPr>
          <p:cNvPr id="4" name="Left Arrow 3"/>
          <p:cNvSpPr/>
          <p:nvPr/>
        </p:nvSpPr>
        <p:spPr>
          <a:xfrm rot="19323548">
            <a:off x="8064012" y="1771712"/>
            <a:ext cx="902677" cy="454634"/>
          </a:xfrm>
          <a:prstGeom prst="leftArrow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92CDA-485F-0046-BD4C-0EC0C7DA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69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 K[x] be the </a:t>
                </a:r>
                <a:r>
                  <a:rPr lang="en-US" dirty="0">
                    <a:solidFill>
                      <a:srgbClr val="7030A0"/>
                    </a:solidFill>
                  </a:rPr>
                  <a:t>optimal value </a:t>
                </a:r>
                <a:r>
                  <a:rPr lang="en-US" dirty="0"/>
                  <a:t>for capacity x.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r>
                  <a:rPr lang="en-US" sz="3200" dirty="0">
                    <a:solidFill>
                      <a:schemeClr val="accent1"/>
                    </a:solidFill>
                  </a:rPr>
                  <a:t>K[x] = max</a:t>
                </a:r>
                <a:r>
                  <a:rPr lang="en-US" sz="3200" baseline="-25000" dirty="0">
                    <a:solidFill>
                      <a:schemeClr val="accent1"/>
                    </a:solidFill>
                  </a:rPr>
                  <a:t>i</a:t>
                </a:r>
                <a:r>
                  <a:rPr lang="en-US" sz="3200" dirty="0">
                    <a:solidFill>
                      <a:schemeClr val="accent1"/>
                    </a:solidFill>
                  </a:rPr>
                  <a:t> { </a:t>
                </a:r>
                <a:r>
                  <a:rPr lang="en-US" sz="3200" dirty="0">
                    <a:solidFill>
                      <a:schemeClr val="accent4"/>
                    </a:solidFill>
                  </a:rPr>
                  <a:t>            </a:t>
                </a:r>
                <a:r>
                  <a:rPr lang="en-US" sz="3200" dirty="0">
                    <a:solidFill>
                      <a:schemeClr val="accent1"/>
                    </a:solidFill>
                  </a:rPr>
                  <a:t>+ </a:t>
                </a:r>
                <a:r>
                  <a:rPr lang="en-US" sz="3200" dirty="0">
                    <a:solidFill>
                      <a:schemeClr val="accent5"/>
                    </a:solidFill>
                  </a:rPr>
                  <a:t>       </a:t>
                </a:r>
                <a:r>
                  <a:rPr lang="en-US" sz="3200" baseline="-250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3200" dirty="0">
                    <a:solidFill>
                      <a:schemeClr val="accent1"/>
                    </a:solidFill>
                  </a:rPr>
                  <a:t>}</a:t>
                </a:r>
              </a:p>
              <a:p>
                <a:pPr marL="0" indent="0" algn="ctr">
                  <a:buNone/>
                </a:pPr>
                <a:endParaRPr lang="en-US" sz="3200" dirty="0">
                  <a:solidFill>
                    <a:schemeClr val="accent1"/>
                  </a:solidFill>
                </a:endParaRPr>
              </a:p>
              <a:p>
                <a:pPr marL="0" indent="0" algn="ctr">
                  <a:buNone/>
                </a:pPr>
                <a:endParaRPr lang="en-US" sz="3200" dirty="0">
                  <a:solidFill>
                    <a:schemeClr val="accent1"/>
                  </a:solidFill>
                </a:endParaRPr>
              </a:p>
              <a:p>
                <a:pPr marL="0" indent="0" algn="ctr">
                  <a:buNone/>
                </a:pPr>
                <a:endParaRPr lang="en-US" sz="3200" dirty="0">
                  <a:solidFill>
                    <a:schemeClr val="accent1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3200" dirty="0">
                    <a:solidFill>
                      <a:schemeClr val="accent1"/>
                    </a:solidFill>
                  </a:rPr>
                  <a:t>K[x] = max</a:t>
                </a:r>
                <a:r>
                  <a:rPr lang="en-US" sz="3200" baseline="-25000" dirty="0">
                    <a:solidFill>
                      <a:schemeClr val="accent1"/>
                    </a:solidFill>
                  </a:rPr>
                  <a:t>i</a:t>
                </a:r>
                <a:r>
                  <a:rPr lang="en-US" sz="3200" dirty="0">
                    <a:solidFill>
                      <a:schemeClr val="accent1"/>
                    </a:solidFill>
                  </a:rPr>
                  <a:t> { </a:t>
                </a:r>
                <a:r>
                  <a:rPr lang="en-US" sz="3200" dirty="0">
                    <a:solidFill>
                      <a:schemeClr val="accent4"/>
                    </a:solidFill>
                  </a:rPr>
                  <a:t>K[x </a:t>
                </a:r>
                <a:r>
                  <a:rPr lang="mr-IN" sz="3200" dirty="0">
                    <a:solidFill>
                      <a:schemeClr val="accent4"/>
                    </a:solidFill>
                  </a:rPr>
                  <a:t>–</a:t>
                </a:r>
                <a:r>
                  <a:rPr lang="en-US" sz="3200" dirty="0">
                    <a:solidFill>
                      <a:schemeClr val="accent4"/>
                    </a:solidFill>
                  </a:rPr>
                  <a:t> </a:t>
                </a:r>
                <a:r>
                  <a:rPr lang="en-US" sz="3200" dirty="0" err="1">
                    <a:solidFill>
                      <a:schemeClr val="accent4"/>
                    </a:solidFill>
                  </a:rPr>
                  <a:t>w</a:t>
                </a:r>
                <a:r>
                  <a:rPr lang="en-US" sz="3200" baseline="-25000" dirty="0" err="1">
                    <a:solidFill>
                      <a:schemeClr val="accent4"/>
                    </a:solidFill>
                  </a:rPr>
                  <a:t>i</a:t>
                </a:r>
                <a:r>
                  <a:rPr lang="en-US" sz="3200" dirty="0">
                    <a:solidFill>
                      <a:schemeClr val="accent4"/>
                    </a:solidFill>
                  </a:rPr>
                  <a:t>] </a:t>
                </a:r>
                <a:r>
                  <a:rPr lang="en-US" sz="3200" dirty="0">
                    <a:solidFill>
                      <a:schemeClr val="accent1"/>
                    </a:solidFill>
                  </a:rPr>
                  <a:t>+ </a:t>
                </a:r>
                <a:r>
                  <a:rPr lang="en-US" sz="3200" dirty="0">
                    <a:solidFill>
                      <a:schemeClr val="accent5"/>
                    </a:solidFill>
                  </a:rPr>
                  <a:t>v</a:t>
                </a:r>
                <a:r>
                  <a:rPr lang="en-US" sz="3200" baseline="-25000" dirty="0">
                    <a:solidFill>
                      <a:schemeClr val="accent5"/>
                    </a:solidFill>
                  </a:rPr>
                  <a:t>i</a:t>
                </a:r>
                <a:r>
                  <a:rPr lang="en-US" sz="3200" baseline="-250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3200" dirty="0">
                    <a:solidFill>
                      <a:schemeClr val="accent1"/>
                    </a:solidFill>
                  </a:rPr>
                  <a:t>}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(And K[x] = 0 if the maximum is empty).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</a:rPr>
                  <a:t>That is, if there are no </a:t>
                </a:r>
                <a:r>
                  <a:rPr lang="en-US" sz="2000" dirty="0" err="1">
                    <a:solidFill>
                      <a:srgbClr val="7030A0"/>
                    </a:solidFill>
                  </a:rPr>
                  <a:t>i</a:t>
                </a:r>
                <a:r>
                  <a:rPr lang="en-US" sz="2000" dirty="0">
                    <a:solidFill>
                      <a:srgbClr val="7030A0"/>
                    </a:solidFill>
                  </a:rPr>
                  <a:t> so that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charset="0"/>
                      </a:rPr>
                      <m:t>𝑤</m:t>
                    </m:r>
                    <m:r>
                      <a:rPr lang="en-US" sz="2000" i="1" baseline="-25000" dirty="0" err="1">
                        <a:solidFill>
                          <a:srgbClr val="7030A0"/>
                        </a:solidFill>
                        <a:latin typeface="Cambria Math" charset="0"/>
                      </a:rPr>
                      <m:t>𝑖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000" b="0" i="1" dirty="0" smtClean="0">
                        <a:solidFill>
                          <a:srgbClr val="7030A0"/>
                        </a:solidFill>
                        <a:latin typeface="Cambria Math" charset="0"/>
                      </a:rPr>
                      <m:t>𝑥</m:t>
                    </m:r>
                  </m:oMath>
                </a14:m>
                <a:endParaRPr 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5032375"/>
              </a:xfrm>
              <a:blipFill rotWithShape="0">
                <a:blip r:embed="rId2"/>
                <a:stretch>
                  <a:fillRect l="-1391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2532358"/>
            <a:ext cx="879607" cy="8796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relationship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98834" y="3254158"/>
                <a:ext cx="24075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The maximum is over all </a:t>
                </a:r>
                <a:r>
                  <a:rPr lang="en-US" dirty="0" err="1">
                    <a:solidFill>
                      <a:schemeClr val="accent1">
                        <a:lumMod val="75000"/>
                      </a:schemeClr>
                    </a:solidFill>
                  </a:rPr>
                  <a:t>i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 so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charset="0"/>
                      </a:rPr>
                      <m:t>𝑤</m:t>
                    </m:r>
                    <m:r>
                      <a:rPr lang="en-US" i="1" baseline="-25000" dirty="0" err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charset="0"/>
                      </a:rPr>
                      <m:t>𝑖</m:t>
                    </m:r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charset="0"/>
                      </a:rPr>
                      <m:t>≤</m:t>
                    </m:r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charset="0"/>
                      </a:rPr>
                      <m:t>𝑥</m:t>
                    </m:r>
                    <m:r>
                      <a:rPr lang="en-US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34" y="3254158"/>
                <a:ext cx="2407534" cy="646331"/>
              </a:xfrm>
              <a:prstGeom prst="rect">
                <a:avLst/>
              </a:prstGeom>
              <a:blipFill rotWithShape="0">
                <a:blip r:embed="rId4"/>
                <a:stretch>
                  <a:fillRect l="-2025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07621" y="2673821"/>
            <a:ext cx="593607" cy="5936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48269" y="3356419"/>
            <a:ext cx="1759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Optimal way to fill the smaller knapsack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0069" y="3354963"/>
            <a:ext cx="1759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The value of item </a:t>
            </a:r>
            <a:r>
              <a:rPr lang="en-US" dirty="0" err="1">
                <a:solidFill>
                  <a:schemeClr val="accent5"/>
                </a:solidFill>
              </a:rPr>
              <a:t>i</a:t>
            </a:r>
            <a:r>
              <a:rPr lang="en-US" dirty="0">
                <a:solidFill>
                  <a:schemeClr val="accent5"/>
                </a:solidFill>
              </a:rPr>
              <a:t>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40AFAB-3B78-B847-80DA-F82B1EDD7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2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4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</a:t>
            </a:r>
            <a:r>
              <a:rPr lang="en-US" sz="2800" dirty="0">
                <a:solidFill>
                  <a:schemeClr val="accent3"/>
                </a:solidFill>
              </a:rPr>
              <a:t>for applying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16731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Step 1: </a:t>
            </a:r>
            <a:r>
              <a:rPr lang="en-US" dirty="0"/>
              <a:t>Identify </a:t>
            </a:r>
            <a:r>
              <a:rPr lang="en-US" dirty="0">
                <a:solidFill>
                  <a:schemeClr val="accent1"/>
                </a:solidFill>
              </a:rPr>
              <a:t>optimal substructure.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2: </a:t>
            </a:r>
            <a:r>
              <a:rPr lang="en-US" dirty="0"/>
              <a:t>Find a </a:t>
            </a:r>
            <a:r>
              <a:rPr lang="en-US" dirty="0">
                <a:solidFill>
                  <a:schemeClr val="accent6"/>
                </a:solidFill>
              </a:rPr>
              <a:t>recursive formulation </a:t>
            </a:r>
            <a:r>
              <a:rPr lang="en-US" dirty="0"/>
              <a:t>for the value of the optimal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3: </a:t>
            </a:r>
            <a:r>
              <a:rPr lang="en-US" dirty="0">
                <a:solidFill>
                  <a:schemeClr val="accent5"/>
                </a:solidFill>
              </a:rPr>
              <a:t>Use dynamic programming </a:t>
            </a:r>
            <a:r>
              <a:rPr lang="en-US" dirty="0"/>
              <a:t>to find the value of the optimal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4: </a:t>
            </a:r>
            <a:r>
              <a:rPr lang="en-US" dirty="0"/>
              <a:t>If needed, keep track of some additional info so that the algorithm from Step 3 can </a:t>
            </a:r>
            <a:r>
              <a:rPr lang="en-US" dirty="0">
                <a:solidFill>
                  <a:srgbClr val="B400AB"/>
                </a:solidFill>
              </a:rPr>
              <a:t>find the actual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5: </a:t>
            </a:r>
            <a:r>
              <a:rPr lang="en-US" dirty="0"/>
              <a:t>If needed, </a:t>
            </a:r>
            <a:r>
              <a:rPr lang="en-US" dirty="0">
                <a:solidFill>
                  <a:srgbClr val="7030A0"/>
                </a:solidFill>
              </a:rPr>
              <a:t>code this up like a reasonable person.</a:t>
            </a:r>
          </a:p>
        </p:txBody>
      </p:sp>
      <p:sp>
        <p:nvSpPr>
          <p:cNvPr id="4" name="Left Arrow 3"/>
          <p:cNvSpPr/>
          <p:nvPr/>
        </p:nvSpPr>
        <p:spPr>
          <a:xfrm rot="19006928">
            <a:off x="8064011" y="2610952"/>
            <a:ext cx="902677" cy="454634"/>
          </a:xfrm>
          <a:prstGeom prst="leftArrow">
            <a:avLst/>
          </a:prstGeom>
          <a:solidFill>
            <a:schemeClr val="accent5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F1C94E-2C53-4D4D-8AB0-633DED22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36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3685" y="5770134"/>
            <a:ext cx="613898" cy="6138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Let’s write a bottom-up DP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6978"/>
                <a:ext cx="7886700" cy="4351338"/>
              </a:xfrm>
            </p:spPr>
            <p:txBody>
              <a:bodyPr/>
              <a:lstStyle/>
              <a:p>
                <a:r>
                  <a:rPr lang="en-US" dirty="0"/>
                  <a:t>UnboundedKnapsack(</a:t>
                </a:r>
                <a:r>
                  <a:rPr lang="en-US" dirty="0">
                    <a:solidFill>
                      <a:srgbClr val="7030A0"/>
                    </a:solidFill>
                  </a:rPr>
                  <a:t>W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5"/>
                    </a:solidFill>
                  </a:rPr>
                  <a:t>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weights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/>
                    </a:solidFill>
                  </a:rPr>
                  <a:t>values</a:t>
                </a:r>
                <a:r>
                  <a:rPr lang="en-US" dirty="0"/>
                  <a:t>):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K[0] = 0</a:t>
                </a:r>
              </a:p>
              <a:p>
                <a:pPr lvl="1"/>
                <a:r>
                  <a:rPr lang="en-US" b="1" dirty="0">
                    <a:solidFill>
                      <a:srgbClr val="7030A0"/>
                    </a:solidFill>
                  </a:rPr>
                  <a:t>for</a:t>
                </a:r>
                <a:r>
                  <a:rPr lang="en-US" dirty="0">
                    <a:solidFill>
                      <a:srgbClr val="7030A0"/>
                    </a:solidFill>
                  </a:rPr>
                  <a:t> x = 1, </a:t>
                </a:r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, W:</a:t>
                </a:r>
              </a:p>
              <a:p>
                <a:pPr lvl="2"/>
                <a:r>
                  <a:rPr lang="en-US" sz="2400" dirty="0">
                    <a:solidFill>
                      <a:schemeClr val="tx2"/>
                    </a:solidFill>
                  </a:rPr>
                  <a:t>K[x] = 0</a:t>
                </a:r>
              </a:p>
              <a:p>
                <a:pPr lvl="2"/>
                <a:r>
                  <a:rPr lang="en-US" sz="2400" b="1" dirty="0">
                    <a:solidFill>
                      <a:schemeClr val="accent5"/>
                    </a:solidFill>
                  </a:rPr>
                  <a:t>for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i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= 1, </a:t>
                </a:r>
                <a:r>
                  <a:rPr lang="mr-IN" sz="2400" dirty="0">
                    <a:solidFill>
                      <a:schemeClr val="accent5"/>
                    </a:solidFill>
                  </a:rPr>
                  <a:t>…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, n:</a:t>
                </a:r>
              </a:p>
              <a:p>
                <a:pPr lvl="3"/>
                <a:r>
                  <a:rPr lang="en-US" sz="2400" b="1" dirty="0">
                    <a:solidFill>
                      <a:schemeClr val="accent4"/>
                    </a:solidFill>
                  </a:rPr>
                  <a:t>if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max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{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}</m:t>
                        </m:r>
                      </m:e>
                    </m:func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chemeClr val="tx2"/>
                    </a:solidFill>
                  </a:rPr>
                  <a:t>return</a:t>
                </a:r>
                <a:r>
                  <a:rPr lang="en-US" dirty="0">
                    <a:solidFill>
                      <a:schemeClr val="tx2"/>
                    </a:solidFill>
                  </a:rPr>
                  <a:t> K[W]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6978"/>
                <a:ext cx="7886700" cy="4351338"/>
              </a:xfrm>
              <a:blipFill rotWithShape="0">
                <a:blip r:embed="rId3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560369" y="5308469"/>
            <a:ext cx="55779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5"/>
                </a:solidFill>
              </a:rPr>
              <a:t>Running time: O(</a:t>
            </a:r>
            <a:r>
              <a:rPr lang="en-US" sz="2400" dirty="0" err="1">
                <a:solidFill>
                  <a:schemeClr val="accent5"/>
                </a:solidFill>
              </a:rPr>
              <a:t>nW</a:t>
            </a:r>
            <a:r>
              <a:rPr lang="en-US" sz="2400" dirty="0">
                <a:solidFill>
                  <a:schemeClr val="accent5"/>
                </a:solidFill>
              </a:rPr>
              <a:t>)</a:t>
            </a:r>
          </a:p>
          <a:p>
            <a:pPr algn="r"/>
            <a:endParaRPr lang="en-US" sz="2400" dirty="0">
              <a:solidFill>
                <a:srgbClr val="7030A0"/>
              </a:solidFill>
            </a:endParaRPr>
          </a:p>
          <a:p>
            <a:pPr algn="r"/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4133" y="6407795"/>
            <a:ext cx="25791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       = max</a:t>
            </a:r>
            <a:r>
              <a:rPr lang="en-US" baseline="-25000" dirty="0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 { </a:t>
            </a:r>
            <a:r>
              <a:rPr lang="en-US" dirty="0">
                <a:solidFill>
                  <a:schemeClr val="accent4"/>
                </a:solidFill>
              </a:rPr>
              <a:t>K[x </a:t>
            </a:r>
            <a:r>
              <a:rPr lang="mr-IN" dirty="0">
                <a:solidFill>
                  <a:schemeClr val="accent4"/>
                </a:solidFill>
              </a:rPr>
              <a:t>–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w</a:t>
            </a:r>
            <a:r>
              <a:rPr lang="en-US" baseline="-25000" dirty="0" err="1">
                <a:solidFill>
                  <a:schemeClr val="accent4"/>
                </a:solidFill>
              </a:rPr>
              <a:t>i</a:t>
            </a:r>
            <a:r>
              <a:rPr lang="en-US" dirty="0">
                <a:solidFill>
                  <a:schemeClr val="accent4"/>
                </a:solidFill>
              </a:rPr>
              <a:t>] </a:t>
            </a:r>
            <a:r>
              <a:rPr lang="en-US" dirty="0">
                <a:solidFill>
                  <a:schemeClr val="accent1"/>
                </a:solidFill>
              </a:rPr>
              <a:t>+ </a:t>
            </a:r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i</a:t>
            </a:r>
            <a:r>
              <a:rPr lang="en-US" baseline="-25000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93" y="5946130"/>
            <a:ext cx="2652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K[x] = max</a:t>
            </a:r>
            <a:r>
              <a:rPr lang="en-US" baseline="-25000" dirty="0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 { </a:t>
            </a:r>
            <a:r>
              <a:rPr lang="en-US" dirty="0">
                <a:solidFill>
                  <a:schemeClr val="accent4"/>
                </a:solidFill>
              </a:rPr>
              <a:t>            </a:t>
            </a:r>
            <a:r>
              <a:rPr lang="en-US" dirty="0">
                <a:solidFill>
                  <a:schemeClr val="accent1"/>
                </a:solidFill>
              </a:rPr>
              <a:t>+ </a:t>
            </a:r>
            <a:r>
              <a:rPr lang="en-US" dirty="0">
                <a:solidFill>
                  <a:schemeClr val="accent5"/>
                </a:solidFill>
              </a:rPr>
              <a:t>       </a:t>
            </a:r>
            <a:r>
              <a:rPr lang="en-US" baseline="-25000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7256" y="5869334"/>
            <a:ext cx="415498" cy="41549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87A93F-AB02-8B49-8DD8-EB6325B21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6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</a:t>
            </a:r>
            <a:r>
              <a:rPr lang="en-US" sz="2800" dirty="0">
                <a:solidFill>
                  <a:schemeClr val="accent3"/>
                </a:solidFill>
              </a:rPr>
              <a:t>for applying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16731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Step 1: </a:t>
            </a:r>
            <a:r>
              <a:rPr lang="en-US" dirty="0"/>
              <a:t>Identify </a:t>
            </a:r>
            <a:r>
              <a:rPr lang="en-US" dirty="0">
                <a:solidFill>
                  <a:schemeClr val="accent1"/>
                </a:solidFill>
              </a:rPr>
              <a:t>optimal substructure.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2: </a:t>
            </a:r>
            <a:r>
              <a:rPr lang="en-US" dirty="0"/>
              <a:t>Find a </a:t>
            </a:r>
            <a:r>
              <a:rPr lang="en-US" dirty="0">
                <a:solidFill>
                  <a:schemeClr val="accent6"/>
                </a:solidFill>
              </a:rPr>
              <a:t>recursive formulation </a:t>
            </a:r>
            <a:r>
              <a:rPr lang="en-US" dirty="0"/>
              <a:t>for the value of the optimal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3: </a:t>
            </a:r>
            <a:r>
              <a:rPr lang="en-US" dirty="0">
                <a:solidFill>
                  <a:schemeClr val="accent5"/>
                </a:solidFill>
              </a:rPr>
              <a:t>Use dynamic programming </a:t>
            </a:r>
            <a:r>
              <a:rPr lang="en-US" dirty="0"/>
              <a:t>to find the value of the optimal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4: </a:t>
            </a:r>
            <a:r>
              <a:rPr lang="en-US" dirty="0"/>
              <a:t>If needed, keep track of some additional info so that the algorithm from Step 3 can </a:t>
            </a:r>
            <a:r>
              <a:rPr lang="en-US" dirty="0">
                <a:solidFill>
                  <a:srgbClr val="B400AB"/>
                </a:solidFill>
              </a:rPr>
              <a:t>find the actual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5: </a:t>
            </a:r>
            <a:r>
              <a:rPr lang="en-US" dirty="0"/>
              <a:t>If needed, </a:t>
            </a:r>
            <a:r>
              <a:rPr lang="en-US" dirty="0">
                <a:solidFill>
                  <a:srgbClr val="7030A0"/>
                </a:solidFill>
              </a:rPr>
              <a:t>code this up like a reasonable person.</a:t>
            </a:r>
          </a:p>
        </p:txBody>
      </p:sp>
      <p:sp>
        <p:nvSpPr>
          <p:cNvPr id="4" name="Left Arrow 3"/>
          <p:cNvSpPr/>
          <p:nvPr/>
        </p:nvSpPr>
        <p:spPr>
          <a:xfrm rot="19006928">
            <a:off x="8064012" y="3837869"/>
            <a:ext cx="902677" cy="454634"/>
          </a:xfrm>
          <a:prstGeom prst="leftArrow">
            <a:avLst/>
          </a:prstGeom>
          <a:solidFill>
            <a:srgbClr val="B400AB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BEBD3-67F7-F546-8D08-6A59D4420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97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3685" y="5770134"/>
            <a:ext cx="613898" cy="6138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Let’s write a bottom-up DP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6978"/>
                <a:ext cx="7886700" cy="4351338"/>
              </a:xfrm>
            </p:spPr>
            <p:txBody>
              <a:bodyPr/>
              <a:lstStyle/>
              <a:p>
                <a:r>
                  <a:rPr lang="en-US" dirty="0"/>
                  <a:t>UnboundedKnapsack(</a:t>
                </a:r>
                <a:r>
                  <a:rPr lang="en-US" dirty="0">
                    <a:solidFill>
                      <a:srgbClr val="7030A0"/>
                    </a:solidFill>
                  </a:rPr>
                  <a:t>W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5"/>
                    </a:solidFill>
                  </a:rPr>
                  <a:t>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weights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/>
                    </a:solidFill>
                  </a:rPr>
                  <a:t>values</a:t>
                </a:r>
                <a:r>
                  <a:rPr lang="en-US" dirty="0"/>
                  <a:t>):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K[0] = 0</a:t>
                </a:r>
              </a:p>
              <a:p>
                <a:pPr lvl="1"/>
                <a:r>
                  <a:rPr lang="en-US" b="1" dirty="0">
                    <a:solidFill>
                      <a:srgbClr val="7030A0"/>
                    </a:solidFill>
                  </a:rPr>
                  <a:t>for</a:t>
                </a:r>
                <a:r>
                  <a:rPr lang="en-US" dirty="0">
                    <a:solidFill>
                      <a:srgbClr val="7030A0"/>
                    </a:solidFill>
                  </a:rPr>
                  <a:t> x = 1, </a:t>
                </a:r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, W:</a:t>
                </a:r>
              </a:p>
              <a:p>
                <a:pPr lvl="2"/>
                <a:r>
                  <a:rPr lang="en-US" sz="2400" dirty="0">
                    <a:solidFill>
                      <a:schemeClr val="tx2"/>
                    </a:solidFill>
                  </a:rPr>
                  <a:t>K[x] = 0</a:t>
                </a:r>
              </a:p>
              <a:p>
                <a:pPr lvl="2"/>
                <a:r>
                  <a:rPr lang="en-US" sz="2400" b="1" dirty="0">
                    <a:solidFill>
                      <a:schemeClr val="accent5"/>
                    </a:solidFill>
                  </a:rPr>
                  <a:t>for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i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= 1, </a:t>
                </a:r>
                <a:r>
                  <a:rPr lang="mr-IN" sz="2400" dirty="0">
                    <a:solidFill>
                      <a:schemeClr val="accent5"/>
                    </a:solidFill>
                  </a:rPr>
                  <a:t>…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, n:</a:t>
                </a:r>
              </a:p>
              <a:p>
                <a:pPr lvl="3"/>
                <a:r>
                  <a:rPr lang="en-US" sz="2400" b="1" dirty="0">
                    <a:solidFill>
                      <a:schemeClr val="accent4"/>
                    </a:solidFill>
                  </a:rPr>
                  <a:t>if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max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{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}</m:t>
                        </m:r>
                      </m:e>
                    </m:func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chemeClr val="tx2"/>
                    </a:solidFill>
                  </a:rPr>
                  <a:t>return</a:t>
                </a:r>
                <a:r>
                  <a:rPr lang="en-US" dirty="0">
                    <a:solidFill>
                      <a:schemeClr val="tx2"/>
                    </a:solidFill>
                  </a:rPr>
                  <a:t> K[W]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6978"/>
                <a:ext cx="7886700" cy="4351338"/>
              </a:xfrm>
              <a:blipFill rotWithShape="0">
                <a:blip r:embed="rId3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34133" y="6407795"/>
            <a:ext cx="25791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       = max</a:t>
            </a:r>
            <a:r>
              <a:rPr lang="en-US" baseline="-25000" dirty="0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 { </a:t>
            </a:r>
            <a:r>
              <a:rPr lang="en-US" dirty="0">
                <a:solidFill>
                  <a:schemeClr val="accent4"/>
                </a:solidFill>
              </a:rPr>
              <a:t>K[x </a:t>
            </a:r>
            <a:r>
              <a:rPr lang="mr-IN" dirty="0">
                <a:solidFill>
                  <a:schemeClr val="accent4"/>
                </a:solidFill>
              </a:rPr>
              <a:t>–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w</a:t>
            </a:r>
            <a:r>
              <a:rPr lang="en-US" baseline="-25000" dirty="0" err="1">
                <a:solidFill>
                  <a:schemeClr val="accent4"/>
                </a:solidFill>
              </a:rPr>
              <a:t>i</a:t>
            </a:r>
            <a:r>
              <a:rPr lang="en-US" dirty="0">
                <a:solidFill>
                  <a:schemeClr val="accent4"/>
                </a:solidFill>
              </a:rPr>
              <a:t>] </a:t>
            </a:r>
            <a:r>
              <a:rPr lang="en-US" dirty="0">
                <a:solidFill>
                  <a:schemeClr val="accent1"/>
                </a:solidFill>
              </a:rPr>
              <a:t>+ </a:t>
            </a:r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i</a:t>
            </a:r>
            <a:r>
              <a:rPr lang="en-US" baseline="-25000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93" y="5946130"/>
            <a:ext cx="2652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K[x] = max</a:t>
            </a:r>
            <a:r>
              <a:rPr lang="en-US" baseline="-25000" dirty="0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 { </a:t>
            </a:r>
            <a:r>
              <a:rPr lang="en-US" dirty="0">
                <a:solidFill>
                  <a:schemeClr val="accent4"/>
                </a:solidFill>
              </a:rPr>
              <a:t>            </a:t>
            </a:r>
            <a:r>
              <a:rPr lang="en-US" dirty="0">
                <a:solidFill>
                  <a:schemeClr val="accent1"/>
                </a:solidFill>
              </a:rPr>
              <a:t>+ </a:t>
            </a:r>
            <a:r>
              <a:rPr lang="en-US" dirty="0">
                <a:solidFill>
                  <a:schemeClr val="accent5"/>
                </a:solidFill>
              </a:rPr>
              <a:t>       </a:t>
            </a:r>
            <a:r>
              <a:rPr lang="en-US" baseline="-25000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7256" y="5869334"/>
            <a:ext cx="415498" cy="4154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33133-07B8-5448-81C2-D01A5D26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69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Let’s write a bottom-up DP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94792"/>
                <a:ext cx="8214408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UnboundedKnapsack(</a:t>
                </a:r>
                <a:r>
                  <a:rPr lang="en-US" dirty="0">
                    <a:solidFill>
                      <a:srgbClr val="7030A0"/>
                    </a:solidFill>
                  </a:rPr>
                  <a:t>W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5"/>
                    </a:solidFill>
                  </a:rPr>
                  <a:t>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weights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/>
                    </a:solidFill>
                  </a:rPr>
                  <a:t>values</a:t>
                </a:r>
                <a:r>
                  <a:rPr lang="en-US" dirty="0"/>
                  <a:t>):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K[0] = 0</a:t>
                </a:r>
              </a:p>
              <a:p>
                <a:pPr lvl="1"/>
                <a:r>
                  <a:rPr lang="en-US" dirty="0">
                    <a:solidFill>
                      <a:srgbClr val="B400AB"/>
                    </a:solidFill>
                  </a:rPr>
                  <a:t>ITEMS[0]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∅</m:t>
                    </m:r>
                  </m:oMath>
                </a14:m>
                <a:endParaRPr lang="en-US" dirty="0">
                  <a:solidFill>
                    <a:srgbClr val="B400AB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7030A0"/>
                    </a:solidFill>
                  </a:rPr>
                  <a:t>for</a:t>
                </a:r>
                <a:r>
                  <a:rPr lang="en-US" dirty="0">
                    <a:solidFill>
                      <a:srgbClr val="7030A0"/>
                    </a:solidFill>
                  </a:rPr>
                  <a:t> x = 1, </a:t>
                </a:r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, W:</a:t>
                </a:r>
              </a:p>
              <a:p>
                <a:pPr lvl="2"/>
                <a:r>
                  <a:rPr lang="en-US" sz="2400" dirty="0">
                    <a:solidFill>
                      <a:schemeClr val="tx2"/>
                    </a:solidFill>
                  </a:rPr>
                  <a:t>K[x] = 0</a:t>
                </a:r>
              </a:p>
              <a:p>
                <a:pPr lvl="2"/>
                <a:r>
                  <a:rPr lang="en-US" sz="2400" b="1" dirty="0">
                    <a:solidFill>
                      <a:schemeClr val="accent5"/>
                    </a:solidFill>
                  </a:rPr>
                  <a:t>for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i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= 1, </a:t>
                </a:r>
                <a:r>
                  <a:rPr lang="mr-IN" sz="2400" dirty="0">
                    <a:solidFill>
                      <a:schemeClr val="accent5"/>
                    </a:solidFill>
                  </a:rPr>
                  <a:t>…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, n:</a:t>
                </a:r>
              </a:p>
              <a:p>
                <a:pPr lvl="3"/>
                <a:r>
                  <a:rPr lang="en-US" sz="2400" b="1" dirty="0">
                    <a:solidFill>
                      <a:schemeClr val="accent4"/>
                    </a:solidFill>
                  </a:rPr>
                  <a:t>if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max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{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}</m:t>
                        </m:r>
                      </m:e>
                    </m:func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4"/>
                <a:r>
                  <a:rPr lang="en-US" sz="2400" dirty="0">
                    <a:solidFill>
                      <a:srgbClr val="B400AB"/>
                    </a:solidFill>
                  </a:rPr>
                  <a:t>If K[x] was updated:</a:t>
                </a:r>
              </a:p>
              <a:p>
                <a:pPr lvl="5"/>
                <a:r>
                  <a:rPr lang="en-US" sz="2400" dirty="0">
                    <a:solidFill>
                      <a:srgbClr val="B400AB"/>
                    </a:solidFill>
                  </a:rPr>
                  <a:t>ITEMS[x] = ITEMS[x </a:t>
                </a:r>
                <a:r>
                  <a:rPr lang="mr-IN" sz="2400" dirty="0">
                    <a:solidFill>
                      <a:srgbClr val="B400AB"/>
                    </a:solidFill>
                  </a:rPr>
                  <a:t>–</a:t>
                </a:r>
                <a:r>
                  <a:rPr lang="en-US" sz="2400" dirty="0">
                    <a:solidFill>
                      <a:srgbClr val="B400AB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w</a:t>
                </a:r>
                <a:r>
                  <a:rPr lang="en-US" sz="2400" baseline="-250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∪</m:t>
                    </m:r>
                  </m:oMath>
                </a14:m>
                <a:r>
                  <a:rPr lang="en-US" sz="2400" dirty="0">
                    <a:solidFill>
                      <a:srgbClr val="B400AB"/>
                    </a:solidFill>
                  </a:rPr>
                  <a:t> { item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 }</a:t>
                </a:r>
              </a:p>
              <a:p>
                <a:pPr lvl="1"/>
                <a:r>
                  <a:rPr lang="en-US" b="1" dirty="0">
                    <a:solidFill>
                      <a:schemeClr val="tx2"/>
                    </a:solidFill>
                  </a:rPr>
                  <a:t>return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rgbClr val="B400AB"/>
                    </a:solidFill>
                  </a:rPr>
                  <a:t>ITEMS[W]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94792"/>
                <a:ext cx="8214408" cy="4351338"/>
              </a:xfrm>
              <a:blipFill rotWithShape="0">
                <a:blip r:embed="rId2"/>
                <a:stretch>
                  <a:fillRect l="-1335" t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Arrow 4"/>
          <p:cNvSpPr/>
          <p:nvPr/>
        </p:nvSpPr>
        <p:spPr>
          <a:xfrm rot="20396220">
            <a:off x="7690952" y="4505127"/>
            <a:ext cx="902677" cy="454634"/>
          </a:xfrm>
          <a:prstGeom prst="leftArrow">
            <a:avLst/>
          </a:prstGeom>
          <a:solidFill>
            <a:srgbClr val="B400AB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/>
          <p:cNvSpPr/>
          <p:nvPr/>
        </p:nvSpPr>
        <p:spPr>
          <a:xfrm rot="20396220">
            <a:off x="3086158" y="2030074"/>
            <a:ext cx="902677" cy="454634"/>
          </a:xfrm>
          <a:prstGeom prst="leftArrow">
            <a:avLst/>
          </a:prstGeom>
          <a:solidFill>
            <a:srgbClr val="B400AB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3685" y="5770134"/>
            <a:ext cx="613898" cy="6138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34133" y="6407795"/>
            <a:ext cx="25791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       = max</a:t>
            </a:r>
            <a:r>
              <a:rPr lang="en-US" baseline="-25000" dirty="0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 { </a:t>
            </a:r>
            <a:r>
              <a:rPr lang="en-US" dirty="0">
                <a:solidFill>
                  <a:schemeClr val="accent4"/>
                </a:solidFill>
              </a:rPr>
              <a:t>K[x </a:t>
            </a:r>
            <a:r>
              <a:rPr lang="mr-IN" dirty="0">
                <a:solidFill>
                  <a:schemeClr val="accent4"/>
                </a:solidFill>
              </a:rPr>
              <a:t>–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w</a:t>
            </a:r>
            <a:r>
              <a:rPr lang="en-US" baseline="-25000" dirty="0" err="1">
                <a:solidFill>
                  <a:schemeClr val="accent4"/>
                </a:solidFill>
              </a:rPr>
              <a:t>i</a:t>
            </a:r>
            <a:r>
              <a:rPr lang="en-US" dirty="0">
                <a:solidFill>
                  <a:schemeClr val="accent4"/>
                </a:solidFill>
              </a:rPr>
              <a:t>] </a:t>
            </a:r>
            <a:r>
              <a:rPr lang="en-US" dirty="0">
                <a:solidFill>
                  <a:schemeClr val="accent1"/>
                </a:solidFill>
              </a:rPr>
              <a:t>+ </a:t>
            </a:r>
            <a:r>
              <a:rPr lang="en-US" dirty="0">
                <a:solidFill>
                  <a:schemeClr val="accent5"/>
                </a:solidFill>
              </a:rPr>
              <a:t>v</a:t>
            </a:r>
            <a:r>
              <a:rPr lang="en-US" baseline="-25000" dirty="0">
                <a:solidFill>
                  <a:schemeClr val="accent5"/>
                </a:solidFill>
              </a:rPr>
              <a:t>i</a:t>
            </a:r>
            <a:r>
              <a:rPr lang="en-US" baseline="-25000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493" y="5946130"/>
            <a:ext cx="2652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K[x] = max</a:t>
            </a:r>
            <a:r>
              <a:rPr lang="en-US" baseline="-25000" dirty="0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 { </a:t>
            </a:r>
            <a:r>
              <a:rPr lang="en-US" dirty="0">
                <a:solidFill>
                  <a:schemeClr val="accent4"/>
                </a:solidFill>
              </a:rPr>
              <a:t>            </a:t>
            </a:r>
            <a:r>
              <a:rPr lang="en-US" dirty="0">
                <a:solidFill>
                  <a:schemeClr val="accent1"/>
                </a:solidFill>
              </a:rPr>
              <a:t>+ </a:t>
            </a:r>
            <a:r>
              <a:rPr lang="en-US" dirty="0">
                <a:solidFill>
                  <a:schemeClr val="accent5"/>
                </a:solidFill>
              </a:rPr>
              <a:t>       </a:t>
            </a:r>
            <a:r>
              <a:rPr lang="en-US" baseline="-25000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}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7256" y="5869334"/>
            <a:ext cx="415498" cy="4154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0EF78-A8B9-904D-80B9-EF40D417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70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UnboundedKnapsack(</a:t>
                </a:r>
                <a:r>
                  <a:rPr lang="en-US" dirty="0">
                    <a:solidFill>
                      <a:srgbClr val="7030A0"/>
                    </a:solidFill>
                  </a:rPr>
                  <a:t>W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5"/>
                    </a:solidFill>
                  </a:rPr>
                  <a:t>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weights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/>
                    </a:solidFill>
                  </a:rPr>
                  <a:t>values</a:t>
                </a:r>
                <a:r>
                  <a:rPr lang="en-US" dirty="0"/>
                  <a:t>):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K[0] = 0</a:t>
                </a:r>
              </a:p>
              <a:p>
                <a:pPr lvl="1"/>
                <a:r>
                  <a:rPr lang="en-US" dirty="0">
                    <a:solidFill>
                      <a:srgbClr val="B400AB"/>
                    </a:solidFill>
                  </a:rPr>
                  <a:t>ITEMS[0] =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∅</m:t>
                    </m:r>
                  </m:oMath>
                </a14:m>
                <a:endParaRPr lang="en-US" dirty="0">
                  <a:solidFill>
                    <a:srgbClr val="B400AB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7030A0"/>
                    </a:solidFill>
                  </a:rPr>
                  <a:t>for</a:t>
                </a:r>
                <a:r>
                  <a:rPr lang="en-US" dirty="0">
                    <a:solidFill>
                      <a:srgbClr val="7030A0"/>
                    </a:solidFill>
                  </a:rPr>
                  <a:t> x = 1, </a:t>
                </a:r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, W:</a:t>
                </a:r>
              </a:p>
              <a:p>
                <a:pPr lvl="2"/>
                <a:r>
                  <a:rPr lang="en-US" sz="2400" dirty="0">
                    <a:solidFill>
                      <a:schemeClr val="tx2"/>
                    </a:solidFill>
                  </a:rPr>
                  <a:t>K[x] = 0</a:t>
                </a:r>
              </a:p>
              <a:p>
                <a:pPr lvl="2"/>
                <a:r>
                  <a:rPr lang="en-US" sz="2400" b="1" dirty="0">
                    <a:solidFill>
                      <a:schemeClr val="accent5"/>
                    </a:solidFill>
                  </a:rPr>
                  <a:t>for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i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= 1, </a:t>
                </a:r>
                <a:r>
                  <a:rPr lang="mr-IN" sz="2400" dirty="0">
                    <a:solidFill>
                      <a:schemeClr val="accent5"/>
                    </a:solidFill>
                  </a:rPr>
                  <a:t>…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, n:</a:t>
                </a:r>
              </a:p>
              <a:p>
                <a:pPr lvl="3"/>
                <a:r>
                  <a:rPr lang="en-US" sz="2400" b="1" dirty="0">
                    <a:solidFill>
                      <a:schemeClr val="accent4"/>
                    </a:solidFill>
                  </a:rPr>
                  <a:t>if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smtClean="0">
                            <a:latin typeface="Cambria Math" charset="0"/>
                          </a:rPr>
                          <m:t>max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sz="2400" i="1" smtClean="0">
                            <a:latin typeface="Cambria Math" charset="0"/>
                          </a:rPr>
                          <m:t>{</m:t>
                        </m:r>
                        <m:r>
                          <a:rPr lang="en-US" sz="240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 smtClean="0">
                            <a:latin typeface="Cambria Math" charset="0"/>
                          </a:rPr>
                          <m:t>, </m:t>
                        </m:r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smtClean="0">
                            <a:latin typeface="Cambria Math" charset="0"/>
                          </a:rPr>
                          <m:t> }</m:t>
                        </m:r>
                      </m:e>
                    </m:func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4"/>
                <a:r>
                  <a:rPr lang="en-US" sz="2400" dirty="0">
                    <a:solidFill>
                      <a:srgbClr val="B400AB"/>
                    </a:solidFill>
                  </a:rPr>
                  <a:t>If K[x] was updated:</a:t>
                </a:r>
              </a:p>
              <a:p>
                <a:pPr lvl="5"/>
                <a:r>
                  <a:rPr lang="en-US" sz="2400" dirty="0">
                    <a:solidFill>
                      <a:srgbClr val="B400AB"/>
                    </a:solidFill>
                  </a:rPr>
                  <a:t>ITEMS[x] = ITEMS[x </a:t>
                </a:r>
                <a:r>
                  <a:rPr lang="mr-IN" sz="2400" dirty="0">
                    <a:solidFill>
                      <a:srgbClr val="B400AB"/>
                    </a:solidFill>
                  </a:rPr>
                  <a:t>–</a:t>
                </a:r>
                <a:r>
                  <a:rPr lang="en-US" sz="2400" dirty="0">
                    <a:solidFill>
                      <a:srgbClr val="B400AB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w</a:t>
                </a:r>
                <a:r>
                  <a:rPr lang="en-US" sz="2400" baseline="-250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∪</m:t>
                    </m:r>
                  </m:oMath>
                </a14:m>
                <a:r>
                  <a:rPr lang="en-US" sz="2400" dirty="0">
                    <a:solidFill>
                      <a:srgbClr val="B400AB"/>
                    </a:solidFill>
                  </a:rPr>
                  <a:t> { item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 }</a:t>
                </a:r>
              </a:p>
              <a:p>
                <a:pPr lvl="1"/>
                <a:r>
                  <a:rPr lang="en-US" b="1" dirty="0">
                    <a:solidFill>
                      <a:schemeClr val="tx2"/>
                    </a:solidFill>
                  </a:rPr>
                  <a:t>return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rgbClr val="B400AB"/>
                    </a:solidFill>
                  </a:rPr>
                  <a:t>ITEMS[W]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  <a:blipFill rotWithShape="0">
                <a:blip r:embed="rId2"/>
                <a:stretch>
                  <a:fillRect l="-310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496912" y="1946293"/>
            <a:ext cx="3467617" cy="2688513"/>
            <a:chOff x="628650" y="2737673"/>
            <a:chExt cx="4456255" cy="3292233"/>
          </a:xfrm>
        </p:grpSpPr>
        <p:sp>
          <p:nvSpPr>
            <p:cNvPr id="5" name="Rectangle 4"/>
            <p:cNvSpPr/>
            <p:nvPr/>
          </p:nvSpPr>
          <p:spPr>
            <a:xfrm>
              <a:off x="628650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519901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411152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302403" y="2738326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193654" y="2737673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865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1990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11152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02403" y="3785311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93655" y="3784658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5436" y="5221525"/>
            <a:ext cx="1168789" cy="1168789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5320473" y="3553857"/>
            <a:ext cx="3673114" cy="1475713"/>
            <a:chOff x="-479811" y="1751737"/>
            <a:chExt cx="5881453" cy="2600511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1626" y="1998496"/>
              <a:ext cx="890016" cy="890016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8981" y="1966357"/>
              <a:ext cx="922155" cy="92215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3804" y="1751737"/>
              <a:ext cx="1136775" cy="1136775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-479809" y="3113586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Weight: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-479809" y="3701409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Value: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782501" y="3005866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50794" y="300586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18736" y="300586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7641" y="3701409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15758" y="3667231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18736" y="3655655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-479811" y="2402818"/>
              <a:ext cx="177038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Item: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592138" y="6313328"/>
            <a:ext cx="1944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Capacity: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053" y="213524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-208271" y="2852931"/>
            <a:ext cx="106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387" y="1540961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0663" y="1558587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4186" y="153839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97709" y="1539175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8985" y="1543923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E647E5-BA21-C94A-B865-69F8D11D8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62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UnboundedKnapsack(</a:t>
                </a:r>
                <a:r>
                  <a:rPr lang="en-US" dirty="0">
                    <a:solidFill>
                      <a:srgbClr val="7030A0"/>
                    </a:solidFill>
                  </a:rPr>
                  <a:t>W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5"/>
                    </a:solidFill>
                  </a:rPr>
                  <a:t>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weights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/>
                    </a:solidFill>
                  </a:rPr>
                  <a:t>values</a:t>
                </a:r>
                <a:r>
                  <a:rPr lang="en-US" dirty="0"/>
                  <a:t>):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K[0] = 0</a:t>
                </a:r>
              </a:p>
              <a:p>
                <a:pPr lvl="1"/>
                <a:r>
                  <a:rPr lang="en-US" dirty="0">
                    <a:solidFill>
                      <a:srgbClr val="B400AB"/>
                    </a:solidFill>
                  </a:rPr>
                  <a:t>ITEMS[0] =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∅</m:t>
                    </m:r>
                  </m:oMath>
                </a14:m>
                <a:endParaRPr lang="en-US" dirty="0">
                  <a:solidFill>
                    <a:srgbClr val="B400AB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7030A0"/>
                    </a:solidFill>
                  </a:rPr>
                  <a:t>for</a:t>
                </a:r>
                <a:r>
                  <a:rPr lang="en-US" dirty="0">
                    <a:solidFill>
                      <a:srgbClr val="7030A0"/>
                    </a:solidFill>
                  </a:rPr>
                  <a:t> x = 1, </a:t>
                </a:r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, W:</a:t>
                </a:r>
              </a:p>
              <a:p>
                <a:pPr lvl="2"/>
                <a:r>
                  <a:rPr lang="en-US" sz="2400" dirty="0">
                    <a:solidFill>
                      <a:schemeClr val="tx2"/>
                    </a:solidFill>
                  </a:rPr>
                  <a:t>K[x] = 0</a:t>
                </a:r>
              </a:p>
              <a:p>
                <a:pPr lvl="2"/>
                <a:r>
                  <a:rPr lang="en-US" sz="2400" b="1" dirty="0">
                    <a:solidFill>
                      <a:schemeClr val="accent5"/>
                    </a:solidFill>
                  </a:rPr>
                  <a:t>for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i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= 1, </a:t>
                </a:r>
                <a:r>
                  <a:rPr lang="mr-IN" sz="2400" dirty="0">
                    <a:solidFill>
                      <a:schemeClr val="accent5"/>
                    </a:solidFill>
                  </a:rPr>
                  <a:t>…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, n:</a:t>
                </a:r>
              </a:p>
              <a:p>
                <a:pPr lvl="3"/>
                <a:r>
                  <a:rPr lang="en-US" sz="2400" b="1" dirty="0">
                    <a:solidFill>
                      <a:schemeClr val="accent4"/>
                    </a:solidFill>
                  </a:rPr>
                  <a:t>if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smtClean="0">
                            <a:latin typeface="Cambria Math" charset="0"/>
                          </a:rPr>
                          <m:t>max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sz="2400" i="1" smtClean="0">
                            <a:latin typeface="Cambria Math" charset="0"/>
                          </a:rPr>
                          <m:t>{</m:t>
                        </m:r>
                        <m:r>
                          <a:rPr lang="en-US" sz="240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 smtClean="0">
                            <a:latin typeface="Cambria Math" charset="0"/>
                          </a:rPr>
                          <m:t>, </m:t>
                        </m:r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smtClean="0">
                            <a:latin typeface="Cambria Math" charset="0"/>
                          </a:rPr>
                          <m:t> }</m:t>
                        </m:r>
                      </m:e>
                    </m:func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4"/>
                <a:r>
                  <a:rPr lang="en-US" sz="2400" dirty="0">
                    <a:solidFill>
                      <a:srgbClr val="B400AB"/>
                    </a:solidFill>
                  </a:rPr>
                  <a:t>If K[x] was updated:</a:t>
                </a:r>
              </a:p>
              <a:p>
                <a:pPr lvl="5"/>
                <a:r>
                  <a:rPr lang="en-US" sz="2400" dirty="0">
                    <a:solidFill>
                      <a:srgbClr val="B400AB"/>
                    </a:solidFill>
                  </a:rPr>
                  <a:t>ITEMS[x] = ITEMS[x </a:t>
                </a:r>
                <a:r>
                  <a:rPr lang="mr-IN" sz="2400" dirty="0">
                    <a:solidFill>
                      <a:srgbClr val="B400AB"/>
                    </a:solidFill>
                  </a:rPr>
                  <a:t>–</a:t>
                </a:r>
                <a:r>
                  <a:rPr lang="en-US" sz="2400" dirty="0">
                    <a:solidFill>
                      <a:srgbClr val="B400AB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w</a:t>
                </a:r>
                <a:r>
                  <a:rPr lang="en-US" sz="2400" baseline="-250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∪</m:t>
                    </m:r>
                  </m:oMath>
                </a14:m>
                <a:r>
                  <a:rPr lang="en-US" sz="2400" dirty="0">
                    <a:solidFill>
                      <a:srgbClr val="B400AB"/>
                    </a:solidFill>
                  </a:rPr>
                  <a:t> { item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 }</a:t>
                </a:r>
              </a:p>
              <a:p>
                <a:pPr lvl="1"/>
                <a:r>
                  <a:rPr lang="en-US" b="1" dirty="0">
                    <a:solidFill>
                      <a:schemeClr val="tx2"/>
                    </a:solidFill>
                  </a:rPr>
                  <a:t>return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rgbClr val="B400AB"/>
                    </a:solidFill>
                  </a:rPr>
                  <a:t>ITEMS[W]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  <a:blipFill rotWithShape="0">
                <a:blip r:embed="rId2"/>
                <a:stretch>
                  <a:fillRect l="-310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496912" y="1946293"/>
            <a:ext cx="3467617" cy="2688513"/>
            <a:chOff x="628650" y="2737673"/>
            <a:chExt cx="4456255" cy="3292233"/>
          </a:xfrm>
        </p:grpSpPr>
        <p:sp>
          <p:nvSpPr>
            <p:cNvPr id="5" name="Rectangle 4"/>
            <p:cNvSpPr/>
            <p:nvPr/>
          </p:nvSpPr>
          <p:spPr>
            <a:xfrm>
              <a:off x="628650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519901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11152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02403" y="2738326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93654" y="2737673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865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1990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11152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02403" y="3785311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93655" y="3784658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5436" y="5221525"/>
            <a:ext cx="1168789" cy="1168789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5320473" y="3553857"/>
            <a:ext cx="3673114" cy="1475713"/>
            <a:chOff x="-479811" y="1751737"/>
            <a:chExt cx="5881453" cy="2600511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1626" y="1998496"/>
              <a:ext cx="890016" cy="890016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8981" y="1966357"/>
              <a:ext cx="922155" cy="92215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3804" y="1751737"/>
              <a:ext cx="1136775" cy="1136775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-479809" y="3113586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Weight: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-479809" y="3701409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Value: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782501" y="3005866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50794" y="300586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18736" y="300586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7641" y="3701409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15758" y="3667231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18736" y="3655655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-479811" y="2402818"/>
              <a:ext cx="177038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Item: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592138" y="6313328"/>
            <a:ext cx="1944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Capacity: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053" y="213524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-208271" y="2852931"/>
            <a:ext cx="106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387" y="1540961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0663" y="1558587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4186" y="153839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97709" y="1539175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8985" y="1543923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6803" y="2906352"/>
            <a:ext cx="473295" cy="430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06803" y="5221525"/>
            <a:ext cx="351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B400AB"/>
                </a:solidFill>
              </a:rPr>
              <a:t>ITEMS[1] = ITEMS[0] + 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1234" y="5130258"/>
            <a:ext cx="473295" cy="430056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477269-8DCD-594C-AB9C-1AC4DBC61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664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UnboundedKnapsack(</a:t>
                </a:r>
                <a:r>
                  <a:rPr lang="en-US" dirty="0">
                    <a:solidFill>
                      <a:srgbClr val="7030A0"/>
                    </a:solidFill>
                  </a:rPr>
                  <a:t>W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5"/>
                    </a:solidFill>
                  </a:rPr>
                  <a:t>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weights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/>
                    </a:solidFill>
                  </a:rPr>
                  <a:t>values</a:t>
                </a:r>
                <a:r>
                  <a:rPr lang="en-US" dirty="0"/>
                  <a:t>):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K[0] = 0</a:t>
                </a:r>
              </a:p>
              <a:p>
                <a:pPr lvl="1"/>
                <a:r>
                  <a:rPr lang="en-US" dirty="0">
                    <a:solidFill>
                      <a:srgbClr val="B400AB"/>
                    </a:solidFill>
                  </a:rPr>
                  <a:t>ITEMS[0] =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∅</m:t>
                    </m:r>
                  </m:oMath>
                </a14:m>
                <a:endParaRPr lang="en-US" dirty="0">
                  <a:solidFill>
                    <a:srgbClr val="B400AB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7030A0"/>
                    </a:solidFill>
                  </a:rPr>
                  <a:t>for</a:t>
                </a:r>
                <a:r>
                  <a:rPr lang="en-US" dirty="0">
                    <a:solidFill>
                      <a:srgbClr val="7030A0"/>
                    </a:solidFill>
                  </a:rPr>
                  <a:t> x = 1, </a:t>
                </a:r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, W:</a:t>
                </a:r>
              </a:p>
              <a:p>
                <a:pPr lvl="2"/>
                <a:r>
                  <a:rPr lang="en-US" sz="2400" dirty="0">
                    <a:solidFill>
                      <a:schemeClr val="tx2"/>
                    </a:solidFill>
                  </a:rPr>
                  <a:t>K[x] = 0</a:t>
                </a:r>
              </a:p>
              <a:p>
                <a:pPr lvl="2"/>
                <a:r>
                  <a:rPr lang="en-US" sz="2400" b="1" dirty="0">
                    <a:solidFill>
                      <a:schemeClr val="accent5"/>
                    </a:solidFill>
                  </a:rPr>
                  <a:t>for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i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= 1, </a:t>
                </a:r>
                <a:r>
                  <a:rPr lang="mr-IN" sz="2400" dirty="0">
                    <a:solidFill>
                      <a:schemeClr val="accent5"/>
                    </a:solidFill>
                  </a:rPr>
                  <a:t>…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, n:</a:t>
                </a:r>
              </a:p>
              <a:p>
                <a:pPr lvl="3"/>
                <a:r>
                  <a:rPr lang="en-US" sz="2400" b="1" dirty="0">
                    <a:solidFill>
                      <a:schemeClr val="accent4"/>
                    </a:solidFill>
                  </a:rPr>
                  <a:t>if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smtClean="0">
                            <a:latin typeface="Cambria Math" charset="0"/>
                          </a:rPr>
                          <m:t>max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sz="2400" i="1" smtClean="0">
                            <a:latin typeface="Cambria Math" charset="0"/>
                          </a:rPr>
                          <m:t>{</m:t>
                        </m:r>
                        <m:r>
                          <a:rPr lang="en-US" sz="240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 smtClean="0">
                            <a:latin typeface="Cambria Math" charset="0"/>
                          </a:rPr>
                          <m:t>, </m:t>
                        </m:r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smtClean="0">
                            <a:latin typeface="Cambria Math" charset="0"/>
                          </a:rPr>
                          <m:t> }</m:t>
                        </m:r>
                      </m:e>
                    </m:func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4"/>
                <a:r>
                  <a:rPr lang="en-US" sz="2400" dirty="0">
                    <a:solidFill>
                      <a:srgbClr val="B400AB"/>
                    </a:solidFill>
                  </a:rPr>
                  <a:t>If K[x] was updated:</a:t>
                </a:r>
              </a:p>
              <a:p>
                <a:pPr lvl="5"/>
                <a:r>
                  <a:rPr lang="en-US" sz="2400" dirty="0">
                    <a:solidFill>
                      <a:srgbClr val="B400AB"/>
                    </a:solidFill>
                  </a:rPr>
                  <a:t>ITEMS[x] = ITEMS[x </a:t>
                </a:r>
                <a:r>
                  <a:rPr lang="mr-IN" sz="2400" dirty="0">
                    <a:solidFill>
                      <a:srgbClr val="B400AB"/>
                    </a:solidFill>
                  </a:rPr>
                  <a:t>–</a:t>
                </a:r>
                <a:r>
                  <a:rPr lang="en-US" sz="2400" dirty="0">
                    <a:solidFill>
                      <a:srgbClr val="B400AB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w</a:t>
                </a:r>
                <a:r>
                  <a:rPr lang="en-US" sz="2400" baseline="-250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∪</m:t>
                    </m:r>
                  </m:oMath>
                </a14:m>
                <a:r>
                  <a:rPr lang="en-US" sz="2400" dirty="0">
                    <a:solidFill>
                      <a:srgbClr val="B400AB"/>
                    </a:solidFill>
                  </a:rPr>
                  <a:t> { item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 }</a:t>
                </a:r>
              </a:p>
              <a:p>
                <a:pPr lvl="1"/>
                <a:r>
                  <a:rPr lang="en-US" b="1" dirty="0">
                    <a:solidFill>
                      <a:schemeClr val="tx2"/>
                    </a:solidFill>
                  </a:rPr>
                  <a:t>return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rgbClr val="B400AB"/>
                    </a:solidFill>
                  </a:rPr>
                  <a:t>ITEMS[W]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  <a:blipFill rotWithShape="0">
                <a:blip r:embed="rId2"/>
                <a:stretch>
                  <a:fillRect l="-310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496912" y="1946293"/>
            <a:ext cx="3467617" cy="2688513"/>
            <a:chOff x="628650" y="2737673"/>
            <a:chExt cx="4456255" cy="3292233"/>
          </a:xfrm>
        </p:grpSpPr>
        <p:sp>
          <p:nvSpPr>
            <p:cNvPr id="5" name="Rectangle 4"/>
            <p:cNvSpPr/>
            <p:nvPr/>
          </p:nvSpPr>
          <p:spPr>
            <a:xfrm>
              <a:off x="628650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519901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11152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02403" y="2738326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93654" y="2737673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865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1990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11152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02403" y="3785311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93655" y="3784658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5436" y="5221525"/>
            <a:ext cx="1168789" cy="1168789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5320473" y="3553857"/>
            <a:ext cx="3673114" cy="1475713"/>
            <a:chOff x="-479811" y="1751737"/>
            <a:chExt cx="5881453" cy="2600511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1626" y="1998496"/>
              <a:ext cx="890016" cy="890016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8981" y="1966357"/>
              <a:ext cx="922155" cy="92215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3804" y="1751737"/>
              <a:ext cx="1136775" cy="1136775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-479809" y="3113586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Weight: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-479809" y="3701409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Value: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782501" y="3005866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50794" y="300586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18736" y="300586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7641" y="3701409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15758" y="3667231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18736" y="3655655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-479811" y="2402818"/>
              <a:ext cx="177038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Item: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592138" y="6313328"/>
            <a:ext cx="1944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Capacity: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053" y="213524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-208271" y="2852931"/>
            <a:ext cx="106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387" y="1540961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0663" y="1558587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4186" y="153839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97709" y="1539175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8985" y="1543923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6803" y="2906352"/>
            <a:ext cx="473295" cy="430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06803" y="5221525"/>
            <a:ext cx="351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B400AB"/>
                </a:solidFill>
              </a:rPr>
              <a:t>ITEMS[2] = ITEMS[1] + 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1234" y="5130258"/>
            <a:ext cx="473295" cy="430056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4072" y="2906352"/>
            <a:ext cx="473295" cy="430056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8522" y="3418999"/>
            <a:ext cx="473295" cy="430056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3EC8093-F33E-0C49-BDC0-C519F1698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68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UnboundedKnapsack(</a:t>
                </a:r>
                <a:r>
                  <a:rPr lang="en-US" dirty="0">
                    <a:solidFill>
                      <a:srgbClr val="7030A0"/>
                    </a:solidFill>
                  </a:rPr>
                  <a:t>W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5"/>
                    </a:solidFill>
                  </a:rPr>
                  <a:t>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weights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/>
                    </a:solidFill>
                  </a:rPr>
                  <a:t>values</a:t>
                </a:r>
                <a:r>
                  <a:rPr lang="en-US" dirty="0"/>
                  <a:t>):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K[0] = 0</a:t>
                </a:r>
              </a:p>
              <a:p>
                <a:pPr lvl="1"/>
                <a:r>
                  <a:rPr lang="en-US" dirty="0">
                    <a:solidFill>
                      <a:srgbClr val="B400AB"/>
                    </a:solidFill>
                  </a:rPr>
                  <a:t>ITEMS[0] =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∅</m:t>
                    </m:r>
                  </m:oMath>
                </a14:m>
                <a:endParaRPr lang="en-US" dirty="0">
                  <a:solidFill>
                    <a:srgbClr val="B400AB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7030A0"/>
                    </a:solidFill>
                  </a:rPr>
                  <a:t>for</a:t>
                </a:r>
                <a:r>
                  <a:rPr lang="en-US" dirty="0">
                    <a:solidFill>
                      <a:srgbClr val="7030A0"/>
                    </a:solidFill>
                  </a:rPr>
                  <a:t> x = 1, </a:t>
                </a:r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, W:</a:t>
                </a:r>
              </a:p>
              <a:p>
                <a:pPr lvl="2"/>
                <a:r>
                  <a:rPr lang="en-US" sz="2400" dirty="0">
                    <a:solidFill>
                      <a:schemeClr val="tx2"/>
                    </a:solidFill>
                  </a:rPr>
                  <a:t>K[x] = 0</a:t>
                </a:r>
              </a:p>
              <a:p>
                <a:pPr lvl="2"/>
                <a:r>
                  <a:rPr lang="en-US" sz="2400" b="1" dirty="0">
                    <a:solidFill>
                      <a:schemeClr val="accent5"/>
                    </a:solidFill>
                  </a:rPr>
                  <a:t>for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i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= 1, </a:t>
                </a:r>
                <a:r>
                  <a:rPr lang="mr-IN" sz="2400" dirty="0">
                    <a:solidFill>
                      <a:schemeClr val="accent5"/>
                    </a:solidFill>
                  </a:rPr>
                  <a:t>…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, n:</a:t>
                </a:r>
              </a:p>
              <a:p>
                <a:pPr lvl="3"/>
                <a:r>
                  <a:rPr lang="en-US" sz="2400" b="1" dirty="0">
                    <a:solidFill>
                      <a:schemeClr val="accent4"/>
                    </a:solidFill>
                  </a:rPr>
                  <a:t>if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smtClean="0">
                            <a:latin typeface="Cambria Math" charset="0"/>
                          </a:rPr>
                          <m:t>max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sz="2400" i="1" smtClean="0">
                            <a:latin typeface="Cambria Math" charset="0"/>
                          </a:rPr>
                          <m:t>{</m:t>
                        </m:r>
                        <m:r>
                          <a:rPr lang="en-US" sz="240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 smtClean="0">
                            <a:latin typeface="Cambria Math" charset="0"/>
                          </a:rPr>
                          <m:t>, </m:t>
                        </m:r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smtClean="0">
                            <a:latin typeface="Cambria Math" charset="0"/>
                          </a:rPr>
                          <m:t> }</m:t>
                        </m:r>
                      </m:e>
                    </m:func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4"/>
                <a:r>
                  <a:rPr lang="en-US" sz="2400" dirty="0">
                    <a:solidFill>
                      <a:srgbClr val="B400AB"/>
                    </a:solidFill>
                  </a:rPr>
                  <a:t>If K[x] was updated:</a:t>
                </a:r>
              </a:p>
              <a:p>
                <a:pPr lvl="5"/>
                <a:r>
                  <a:rPr lang="en-US" sz="2400" dirty="0">
                    <a:solidFill>
                      <a:srgbClr val="B400AB"/>
                    </a:solidFill>
                  </a:rPr>
                  <a:t>ITEMS[x] = ITEMS[x </a:t>
                </a:r>
                <a:r>
                  <a:rPr lang="mr-IN" sz="2400" dirty="0">
                    <a:solidFill>
                      <a:srgbClr val="B400AB"/>
                    </a:solidFill>
                  </a:rPr>
                  <a:t>–</a:t>
                </a:r>
                <a:r>
                  <a:rPr lang="en-US" sz="2400" dirty="0">
                    <a:solidFill>
                      <a:srgbClr val="B400AB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w</a:t>
                </a:r>
                <a:r>
                  <a:rPr lang="en-US" sz="2400" baseline="-250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∪</m:t>
                    </m:r>
                  </m:oMath>
                </a14:m>
                <a:r>
                  <a:rPr lang="en-US" sz="2400" dirty="0">
                    <a:solidFill>
                      <a:srgbClr val="B400AB"/>
                    </a:solidFill>
                  </a:rPr>
                  <a:t> { item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 }</a:t>
                </a:r>
              </a:p>
              <a:p>
                <a:pPr lvl="1"/>
                <a:r>
                  <a:rPr lang="en-US" b="1" dirty="0">
                    <a:solidFill>
                      <a:schemeClr val="tx2"/>
                    </a:solidFill>
                  </a:rPr>
                  <a:t>return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rgbClr val="B400AB"/>
                    </a:solidFill>
                  </a:rPr>
                  <a:t>ITEMS[W]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  <a:blipFill rotWithShape="0">
                <a:blip r:embed="rId2"/>
                <a:stretch>
                  <a:fillRect l="-310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496912" y="1946293"/>
            <a:ext cx="3467617" cy="2688513"/>
            <a:chOff x="628650" y="2737673"/>
            <a:chExt cx="4456255" cy="3292233"/>
          </a:xfrm>
        </p:grpSpPr>
        <p:sp>
          <p:nvSpPr>
            <p:cNvPr id="5" name="Rectangle 4"/>
            <p:cNvSpPr/>
            <p:nvPr/>
          </p:nvSpPr>
          <p:spPr>
            <a:xfrm>
              <a:off x="628650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519901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11152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02403" y="2738326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93654" y="2737673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865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1990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11152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02403" y="3785311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93655" y="3784658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5436" y="5221525"/>
            <a:ext cx="1168789" cy="1168789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5320473" y="3553857"/>
            <a:ext cx="3673114" cy="1475713"/>
            <a:chOff x="-479811" y="1751737"/>
            <a:chExt cx="5881453" cy="2600511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1626" y="1998496"/>
              <a:ext cx="890016" cy="890016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8981" y="1966357"/>
              <a:ext cx="922155" cy="92215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3804" y="1751737"/>
              <a:ext cx="1136775" cy="1136775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-479809" y="3113586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Weight: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-479809" y="3701409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Value: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782501" y="3005866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50794" y="300586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18736" y="300586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7641" y="3701409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15758" y="3667231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18736" y="3655655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-479811" y="2402818"/>
              <a:ext cx="177038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Item: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592138" y="6313328"/>
            <a:ext cx="1944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Capacity: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053" y="213524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-208271" y="2852931"/>
            <a:ext cx="106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387" y="1540961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0663" y="1558587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4186" y="153839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97709" y="1539175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8985" y="1543923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6803" y="2906352"/>
            <a:ext cx="473295" cy="430056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0326" y="2907484"/>
            <a:ext cx="472049" cy="4289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06803" y="5221525"/>
            <a:ext cx="351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B400AB"/>
                </a:solidFill>
              </a:rPr>
              <a:t>ITEMS[2] = ITEMS[0] + 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4103" y="5130258"/>
            <a:ext cx="506908" cy="4605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BD2037-31A0-1645-A83E-9F2223AB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14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UnboundedKnapsack(</a:t>
                </a:r>
                <a:r>
                  <a:rPr lang="en-US" dirty="0">
                    <a:solidFill>
                      <a:srgbClr val="7030A0"/>
                    </a:solidFill>
                  </a:rPr>
                  <a:t>W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5"/>
                    </a:solidFill>
                  </a:rPr>
                  <a:t>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weights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/>
                    </a:solidFill>
                  </a:rPr>
                  <a:t>values</a:t>
                </a:r>
                <a:r>
                  <a:rPr lang="en-US" dirty="0"/>
                  <a:t>):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K[0] = 0</a:t>
                </a:r>
              </a:p>
              <a:p>
                <a:pPr lvl="1"/>
                <a:r>
                  <a:rPr lang="en-US" dirty="0">
                    <a:solidFill>
                      <a:srgbClr val="B400AB"/>
                    </a:solidFill>
                  </a:rPr>
                  <a:t>ITEMS[0] =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∅</m:t>
                    </m:r>
                  </m:oMath>
                </a14:m>
                <a:endParaRPr lang="en-US" dirty="0">
                  <a:solidFill>
                    <a:srgbClr val="B400AB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7030A0"/>
                    </a:solidFill>
                  </a:rPr>
                  <a:t>for</a:t>
                </a:r>
                <a:r>
                  <a:rPr lang="en-US" dirty="0">
                    <a:solidFill>
                      <a:srgbClr val="7030A0"/>
                    </a:solidFill>
                  </a:rPr>
                  <a:t> x = 1, </a:t>
                </a:r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, W:</a:t>
                </a:r>
              </a:p>
              <a:p>
                <a:pPr lvl="2"/>
                <a:r>
                  <a:rPr lang="en-US" sz="2400" dirty="0">
                    <a:solidFill>
                      <a:schemeClr val="tx2"/>
                    </a:solidFill>
                  </a:rPr>
                  <a:t>K[x] = 0</a:t>
                </a:r>
              </a:p>
              <a:p>
                <a:pPr lvl="2"/>
                <a:r>
                  <a:rPr lang="en-US" sz="2400" b="1" dirty="0">
                    <a:solidFill>
                      <a:schemeClr val="accent5"/>
                    </a:solidFill>
                  </a:rPr>
                  <a:t>for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i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= 1, </a:t>
                </a:r>
                <a:r>
                  <a:rPr lang="mr-IN" sz="2400" dirty="0">
                    <a:solidFill>
                      <a:schemeClr val="accent5"/>
                    </a:solidFill>
                  </a:rPr>
                  <a:t>…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, n:</a:t>
                </a:r>
              </a:p>
              <a:p>
                <a:pPr lvl="3"/>
                <a:r>
                  <a:rPr lang="en-US" sz="2400" b="1" dirty="0">
                    <a:solidFill>
                      <a:schemeClr val="accent4"/>
                    </a:solidFill>
                  </a:rPr>
                  <a:t>if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smtClean="0">
                            <a:latin typeface="Cambria Math" charset="0"/>
                          </a:rPr>
                          <m:t>max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sz="2400" i="1" smtClean="0">
                            <a:latin typeface="Cambria Math" charset="0"/>
                          </a:rPr>
                          <m:t>{</m:t>
                        </m:r>
                        <m:r>
                          <a:rPr lang="en-US" sz="240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 smtClean="0">
                            <a:latin typeface="Cambria Math" charset="0"/>
                          </a:rPr>
                          <m:t>, </m:t>
                        </m:r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smtClean="0">
                            <a:latin typeface="Cambria Math" charset="0"/>
                          </a:rPr>
                          <m:t> }</m:t>
                        </m:r>
                      </m:e>
                    </m:func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4"/>
                <a:r>
                  <a:rPr lang="en-US" sz="2400" dirty="0">
                    <a:solidFill>
                      <a:srgbClr val="B400AB"/>
                    </a:solidFill>
                  </a:rPr>
                  <a:t>If K[x] was updated:</a:t>
                </a:r>
              </a:p>
              <a:p>
                <a:pPr lvl="5"/>
                <a:r>
                  <a:rPr lang="en-US" sz="2400" dirty="0">
                    <a:solidFill>
                      <a:srgbClr val="B400AB"/>
                    </a:solidFill>
                  </a:rPr>
                  <a:t>ITEMS[x] = ITEMS[x </a:t>
                </a:r>
                <a:r>
                  <a:rPr lang="mr-IN" sz="2400" dirty="0">
                    <a:solidFill>
                      <a:srgbClr val="B400AB"/>
                    </a:solidFill>
                  </a:rPr>
                  <a:t>–</a:t>
                </a:r>
                <a:r>
                  <a:rPr lang="en-US" sz="2400" dirty="0">
                    <a:solidFill>
                      <a:srgbClr val="B400AB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w</a:t>
                </a:r>
                <a:r>
                  <a:rPr lang="en-US" sz="2400" baseline="-250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∪</m:t>
                    </m:r>
                  </m:oMath>
                </a14:m>
                <a:r>
                  <a:rPr lang="en-US" sz="2400" dirty="0">
                    <a:solidFill>
                      <a:srgbClr val="B400AB"/>
                    </a:solidFill>
                  </a:rPr>
                  <a:t> { item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 }</a:t>
                </a:r>
              </a:p>
              <a:p>
                <a:pPr lvl="1"/>
                <a:r>
                  <a:rPr lang="en-US" b="1" dirty="0">
                    <a:solidFill>
                      <a:schemeClr val="tx2"/>
                    </a:solidFill>
                  </a:rPr>
                  <a:t>return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rgbClr val="B400AB"/>
                    </a:solidFill>
                  </a:rPr>
                  <a:t>ITEMS[W]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  <a:blipFill rotWithShape="0">
                <a:blip r:embed="rId2"/>
                <a:stretch>
                  <a:fillRect l="-310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496912" y="1946293"/>
            <a:ext cx="3467617" cy="2688513"/>
            <a:chOff x="628650" y="2737673"/>
            <a:chExt cx="4456255" cy="3292233"/>
          </a:xfrm>
        </p:grpSpPr>
        <p:sp>
          <p:nvSpPr>
            <p:cNvPr id="5" name="Rectangle 4"/>
            <p:cNvSpPr/>
            <p:nvPr/>
          </p:nvSpPr>
          <p:spPr>
            <a:xfrm>
              <a:off x="628650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519901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11152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02403" y="2738326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93654" y="2737673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865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1990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11152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02403" y="3785311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93655" y="3784658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5436" y="5221525"/>
            <a:ext cx="1168789" cy="1168789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5320473" y="3553857"/>
            <a:ext cx="3673114" cy="1475713"/>
            <a:chOff x="-479811" y="1751737"/>
            <a:chExt cx="5881453" cy="2600511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1626" y="1998496"/>
              <a:ext cx="890016" cy="890016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8981" y="1966357"/>
              <a:ext cx="922155" cy="92215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3804" y="1751737"/>
              <a:ext cx="1136775" cy="1136775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-479809" y="3113586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Weight: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-479809" y="3701409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Value: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782501" y="3005866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50794" y="300586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18736" y="300586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7641" y="3701409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15758" y="3667231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18736" y="3655655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-479811" y="2402818"/>
              <a:ext cx="177038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Item: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592138" y="6313328"/>
            <a:ext cx="1944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Capacity: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053" y="213524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-208271" y="2852931"/>
            <a:ext cx="106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387" y="1540961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0663" y="1558587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4186" y="153839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97709" y="1539175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8985" y="1543923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6803" y="2906352"/>
            <a:ext cx="473295" cy="430056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0326" y="2907484"/>
            <a:ext cx="472049" cy="4289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06803" y="5221525"/>
            <a:ext cx="351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B400AB"/>
                </a:solidFill>
              </a:rPr>
              <a:t>ITEMS[3] = ITEMS[2] + 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8985" y="5130258"/>
            <a:ext cx="473295" cy="430056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5970" y="2907484"/>
            <a:ext cx="472049" cy="428924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0687" y="3355594"/>
            <a:ext cx="473295" cy="43005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02DDFC-E198-6744-85D6-524C58F1A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17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UnboundedKnapsack(</a:t>
                </a:r>
                <a:r>
                  <a:rPr lang="en-US" dirty="0">
                    <a:solidFill>
                      <a:srgbClr val="7030A0"/>
                    </a:solidFill>
                  </a:rPr>
                  <a:t>W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5"/>
                    </a:solidFill>
                  </a:rPr>
                  <a:t>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weights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/>
                    </a:solidFill>
                  </a:rPr>
                  <a:t>values</a:t>
                </a:r>
                <a:r>
                  <a:rPr lang="en-US" dirty="0"/>
                  <a:t>):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K[0] = 0</a:t>
                </a:r>
              </a:p>
              <a:p>
                <a:pPr lvl="1"/>
                <a:r>
                  <a:rPr lang="en-US" dirty="0">
                    <a:solidFill>
                      <a:srgbClr val="B400AB"/>
                    </a:solidFill>
                  </a:rPr>
                  <a:t>ITEMS[0] =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∅</m:t>
                    </m:r>
                  </m:oMath>
                </a14:m>
                <a:endParaRPr lang="en-US" dirty="0">
                  <a:solidFill>
                    <a:srgbClr val="B400AB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7030A0"/>
                    </a:solidFill>
                  </a:rPr>
                  <a:t>for</a:t>
                </a:r>
                <a:r>
                  <a:rPr lang="en-US" dirty="0">
                    <a:solidFill>
                      <a:srgbClr val="7030A0"/>
                    </a:solidFill>
                  </a:rPr>
                  <a:t> x = 1, </a:t>
                </a:r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, W:</a:t>
                </a:r>
              </a:p>
              <a:p>
                <a:pPr lvl="2"/>
                <a:r>
                  <a:rPr lang="en-US" sz="2400" dirty="0">
                    <a:solidFill>
                      <a:schemeClr val="tx2"/>
                    </a:solidFill>
                  </a:rPr>
                  <a:t>K[x] = 0</a:t>
                </a:r>
              </a:p>
              <a:p>
                <a:pPr lvl="2"/>
                <a:r>
                  <a:rPr lang="en-US" sz="2400" b="1" dirty="0">
                    <a:solidFill>
                      <a:schemeClr val="accent5"/>
                    </a:solidFill>
                  </a:rPr>
                  <a:t>for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i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= 1, </a:t>
                </a:r>
                <a:r>
                  <a:rPr lang="mr-IN" sz="2400" dirty="0">
                    <a:solidFill>
                      <a:schemeClr val="accent5"/>
                    </a:solidFill>
                  </a:rPr>
                  <a:t>…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, n:</a:t>
                </a:r>
              </a:p>
              <a:p>
                <a:pPr lvl="3"/>
                <a:r>
                  <a:rPr lang="en-US" sz="2400" b="1" dirty="0">
                    <a:solidFill>
                      <a:schemeClr val="accent4"/>
                    </a:solidFill>
                  </a:rPr>
                  <a:t>if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smtClean="0">
                            <a:latin typeface="Cambria Math" charset="0"/>
                          </a:rPr>
                          <m:t>max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sz="2400" i="1" smtClean="0">
                            <a:latin typeface="Cambria Math" charset="0"/>
                          </a:rPr>
                          <m:t>{</m:t>
                        </m:r>
                        <m:r>
                          <a:rPr lang="en-US" sz="240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 smtClean="0">
                            <a:latin typeface="Cambria Math" charset="0"/>
                          </a:rPr>
                          <m:t>, </m:t>
                        </m:r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smtClean="0">
                            <a:latin typeface="Cambria Math" charset="0"/>
                          </a:rPr>
                          <m:t> }</m:t>
                        </m:r>
                      </m:e>
                    </m:func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4"/>
                <a:r>
                  <a:rPr lang="en-US" sz="2400" dirty="0">
                    <a:solidFill>
                      <a:srgbClr val="B400AB"/>
                    </a:solidFill>
                  </a:rPr>
                  <a:t>If K[x] was updated:</a:t>
                </a:r>
              </a:p>
              <a:p>
                <a:pPr lvl="5"/>
                <a:r>
                  <a:rPr lang="en-US" sz="2400" dirty="0">
                    <a:solidFill>
                      <a:srgbClr val="B400AB"/>
                    </a:solidFill>
                  </a:rPr>
                  <a:t>ITEMS[x] = ITEMS[x </a:t>
                </a:r>
                <a:r>
                  <a:rPr lang="mr-IN" sz="2400" dirty="0">
                    <a:solidFill>
                      <a:srgbClr val="B400AB"/>
                    </a:solidFill>
                  </a:rPr>
                  <a:t>–</a:t>
                </a:r>
                <a:r>
                  <a:rPr lang="en-US" sz="2400" dirty="0">
                    <a:solidFill>
                      <a:srgbClr val="B400AB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w</a:t>
                </a:r>
                <a:r>
                  <a:rPr lang="en-US" sz="2400" baseline="-250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∪</m:t>
                    </m:r>
                  </m:oMath>
                </a14:m>
                <a:r>
                  <a:rPr lang="en-US" sz="2400" dirty="0">
                    <a:solidFill>
                      <a:srgbClr val="B400AB"/>
                    </a:solidFill>
                  </a:rPr>
                  <a:t> { item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 }</a:t>
                </a:r>
              </a:p>
              <a:p>
                <a:pPr lvl="1"/>
                <a:r>
                  <a:rPr lang="en-US" b="1" dirty="0">
                    <a:solidFill>
                      <a:schemeClr val="tx2"/>
                    </a:solidFill>
                  </a:rPr>
                  <a:t>return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rgbClr val="B400AB"/>
                    </a:solidFill>
                  </a:rPr>
                  <a:t>ITEMS[W]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  <a:blipFill rotWithShape="0">
                <a:blip r:embed="rId2"/>
                <a:stretch>
                  <a:fillRect l="-310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496912" y="1946293"/>
            <a:ext cx="3467617" cy="2688513"/>
            <a:chOff x="628650" y="2737673"/>
            <a:chExt cx="4456255" cy="3292233"/>
          </a:xfrm>
        </p:grpSpPr>
        <p:sp>
          <p:nvSpPr>
            <p:cNvPr id="5" name="Rectangle 4"/>
            <p:cNvSpPr/>
            <p:nvPr/>
          </p:nvSpPr>
          <p:spPr>
            <a:xfrm>
              <a:off x="628650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519901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11152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02403" y="2738326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93654" y="2737673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865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1990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11152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02403" y="3785311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93655" y="3784658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5436" y="5221525"/>
            <a:ext cx="1168789" cy="1168789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5320473" y="3553857"/>
            <a:ext cx="3673114" cy="1475713"/>
            <a:chOff x="-479811" y="1751737"/>
            <a:chExt cx="5881453" cy="2600511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1626" y="1998496"/>
              <a:ext cx="890016" cy="890016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8981" y="1966357"/>
              <a:ext cx="922155" cy="92215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3804" y="1751737"/>
              <a:ext cx="1136775" cy="1136775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-479809" y="3113586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Weight: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-479809" y="3701409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Value: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782501" y="3005866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50794" y="300586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18736" y="300586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7641" y="3701409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15758" y="3667231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18736" y="3655655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-479811" y="2402818"/>
              <a:ext cx="177038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Item: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592138" y="6313328"/>
            <a:ext cx="1944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Capacity: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053" y="213524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-208271" y="2852931"/>
            <a:ext cx="106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387" y="1540961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0663" y="1558587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4186" y="153839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97709" y="1539175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8985" y="1543923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6803" y="2906352"/>
            <a:ext cx="473295" cy="430056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0326" y="2907484"/>
            <a:ext cx="472049" cy="428924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2589" y="2895299"/>
            <a:ext cx="485459" cy="4411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06803" y="5221525"/>
            <a:ext cx="351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B400AB"/>
                </a:solidFill>
              </a:rPr>
              <a:t>ITEMS[3] = ITEMS[0] + 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8985" y="5130258"/>
            <a:ext cx="495544" cy="45027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E68DF8-7FF0-3F4C-A8DA-985B47EA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13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UnboundedKnapsack(</a:t>
                </a:r>
                <a:r>
                  <a:rPr lang="en-US" dirty="0">
                    <a:solidFill>
                      <a:srgbClr val="7030A0"/>
                    </a:solidFill>
                  </a:rPr>
                  <a:t>W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5"/>
                    </a:solidFill>
                  </a:rPr>
                  <a:t>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weights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/>
                    </a:solidFill>
                  </a:rPr>
                  <a:t>values</a:t>
                </a:r>
                <a:r>
                  <a:rPr lang="en-US" dirty="0"/>
                  <a:t>):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K[0] = 0</a:t>
                </a:r>
              </a:p>
              <a:p>
                <a:pPr lvl="1"/>
                <a:r>
                  <a:rPr lang="en-US" dirty="0">
                    <a:solidFill>
                      <a:srgbClr val="B400AB"/>
                    </a:solidFill>
                  </a:rPr>
                  <a:t>ITEMS[0] =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∅</m:t>
                    </m:r>
                  </m:oMath>
                </a14:m>
                <a:endParaRPr lang="en-US" dirty="0">
                  <a:solidFill>
                    <a:srgbClr val="B400AB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7030A0"/>
                    </a:solidFill>
                  </a:rPr>
                  <a:t>for</a:t>
                </a:r>
                <a:r>
                  <a:rPr lang="en-US" dirty="0">
                    <a:solidFill>
                      <a:srgbClr val="7030A0"/>
                    </a:solidFill>
                  </a:rPr>
                  <a:t> x = 1, </a:t>
                </a:r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, W:</a:t>
                </a:r>
              </a:p>
              <a:p>
                <a:pPr lvl="2"/>
                <a:r>
                  <a:rPr lang="en-US" sz="2400" dirty="0">
                    <a:solidFill>
                      <a:schemeClr val="tx2"/>
                    </a:solidFill>
                  </a:rPr>
                  <a:t>K[x] = 0</a:t>
                </a:r>
              </a:p>
              <a:p>
                <a:pPr lvl="2"/>
                <a:r>
                  <a:rPr lang="en-US" sz="2400" b="1" dirty="0">
                    <a:solidFill>
                      <a:schemeClr val="accent5"/>
                    </a:solidFill>
                  </a:rPr>
                  <a:t>for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i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= 1, </a:t>
                </a:r>
                <a:r>
                  <a:rPr lang="mr-IN" sz="2400" dirty="0">
                    <a:solidFill>
                      <a:schemeClr val="accent5"/>
                    </a:solidFill>
                  </a:rPr>
                  <a:t>…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, n:</a:t>
                </a:r>
              </a:p>
              <a:p>
                <a:pPr lvl="3"/>
                <a:r>
                  <a:rPr lang="en-US" sz="2400" b="1" dirty="0">
                    <a:solidFill>
                      <a:schemeClr val="accent4"/>
                    </a:solidFill>
                  </a:rPr>
                  <a:t>if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smtClean="0">
                            <a:latin typeface="Cambria Math" charset="0"/>
                          </a:rPr>
                          <m:t>max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sz="2400" i="1" smtClean="0">
                            <a:latin typeface="Cambria Math" charset="0"/>
                          </a:rPr>
                          <m:t>{</m:t>
                        </m:r>
                        <m:r>
                          <a:rPr lang="en-US" sz="240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 smtClean="0">
                            <a:latin typeface="Cambria Math" charset="0"/>
                          </a:rPr>
                          <m:t>, </m:t>
                        </m:r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smtClean="0">
                            <a:latin typeface="Cambria Math" charset="0"/>
                          </a:rPr>
                          <m:t> }</m:t>
                        </m:r>
                      </m:e>
                    </m:func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4"/>
                <a:r>
                  <a:rPr lang="en-US" sz="2400" dirty="0">
                    <a:solidFill>
                      <a:srgbClr val="B400AB"/>
                    </a:solidFill>
                  </a:rPr>
                  <a:t>If K[x] was updated:</a:t>
                </a:r>
              </a:p>
              <a:p>
                <a:pPr lvl="5"/>
                <a:r>
                  <a:rPr lang="en-US" sz="2400" dirty="0">
                    <a:solidFill>
                      <a:srgbClr val="B400AB"/>
                    </a:solidFill>
                  </a:rPr>
                  <a:t>ITEMS[x] = ITEMS[x </a:t>
                </a:r>
                <a:r>
                  <a:rPr lang="mr-IN" sz="2400" dirty="0">
                    <a:solidFill>
                      <a:srgbClr val="B400AB"/>
                    </a:solidFill>
                  </a:rPr>
                  <a:t>–</a:t>
                </a:r>
                <a:r>
                  <a:rPr lang="en-US" sz="2400" dirty="0">
                    <a:solidFill>
                      <a:srgbClr val="B400AB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w</a:t>
                </a:r>
                <a:r>
                  <a:rPr lang="en-US" sz="2400" baseline="-250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∪</m:t>
                    </m:r>
                  </m:oMath>
                </a14:m>
                <a:r>
                  <a:rPr lang="en-US" sz="2400" dirty="0">
                    <a:solidFill>
                      <a:srgbClr val="B400AB"/>
                    </a:solidFill>
                  </a:rPr>
                  <a:t> { item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 }</a:t>
                </a:r>
              </a:p>
              <a:p>
                <a:pPr lvl="1"/>
                <a:r>
                  <a:rPr lang="en-US" b="1" dirty="0">
                    <a:solidFill>
                      <a:schemeClr val="tx2"/>
                    </a:solidFill>
                  </a:rPr>
                  <a:t>return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rgbClr val="B400AB"/>
                    </a:solidFill>
                  </a:rPr>
                  <a:t>ITEMS[W]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  <a:blipFill rotWithShape="0">
                <a:blip r:embed="rId2"/>
                <a:stretch>
                  <a:fillRect l="-310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496912" y="1946293"/>
            <a:ext cx="3467617" cy="2688513"/>
            <a:chOff x="628650" y="2737673"/>
            <a:chExt cx="4456255" cy="3292233"/>
          </a:xfrm>
        </p:grpSpPr>
        <p:sp>
          <p:nvSpPr>
            <p:cNvPr id="5" name="Rectangle 4"/>
            <p:cNvSpPr/>
            <p:nvPr/>
          </p:nvSpPr>
          <p:spPr>
            <a:xfrm>
              <a:off x="628650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519901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11152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02403" y="2738326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93654" y="2737673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865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1990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11152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02403" y="3785311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93655" y="3784658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5436" y="5221525"/>
            <a:ext cx="1168789" cy="1168789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5320473" y="3553857"/>
            <a:ext cx="3673114" cy="1475713"/>
            <a:chOff x="-479811" y="1751737"/>
            <a:chExt cx="5881453" cy="2600511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1626" y="1998496"/>
              <a:ext cx="890016" cy="890016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8981" y="1966357"/>
              <a:ext cx="922155" cy="92215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3804" y="1751737"/>
              <a:ext cx="1136775" cy="1136775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-479809" y="3113586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Weight: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-479809" y="3701409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Value: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782501" y="3005866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50794" y="300586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18736" y="300586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7641" y="3701409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15758" y="3667231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18736" y="3655655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-479811" y="2402818"/>
              <a:ext cx="177038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Item: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592138" y="6313328"/>
            <a:ext cx="1944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Capacity: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053" y="213524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-208271" y="2852931"/>
            <a:ext cx="106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387" y="1540961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0663" y="1558587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4186" y="153839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97709" y="1539175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8985" y="1543923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6803" y="2906352"/>
            <a:ext cx="473295" cy="430056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0326" y="2907484"/>
            <a:ext cx="472049" cy="428924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2589" y="2895299"/>
            <a:ext cx="485459" cy="4411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06803" y="5221525"/>
            <a:ext cx="351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B400AB"/>
                </a:solidFill>
              </a:rPr>
              <a:t>ITEMS[4] = ITEMS[3] + 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112" y="2906352"/>
            <a:ext cx="495544" cy="450273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0909" y="5072543"/>
            <a:ext cx="473295" cy="430056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3133" y="3400235"/>
            <a:ext cx="473295" cy="43005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0E3B49-D4AA-7845-A0E6-9D1652FF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451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UnboundedKnapsack(</a:t>
                </a:r>
                <a:r>
                  <a:rPr lang="en-US" dirty="0">
                    <a:solidFill>
                      <a:srgbClr val="7030A0"/>
                    </a:solidFill>
                  </a:rPr>
                  <a:t>W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5"/>
                    </a:solidFill>
                  </a:rPr>
                  <a:t>n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weights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/>
                    </a:solidFill>
                  </a:rPr>
                  <a:t>values</a:t>
                </a:r>
                <a:r>
                  <a:rPr lang="en-US" dirty="0"/>
                  <a:t>):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</a:rPr>
                  <a:t>K[0] = 0</a:t>
                </a:r>
              </a:p>
              <a:p>
                <a:pPr lvl="1"/>
                <a:r>
                  <a:rPr lang="en-US" dirty="0">
                    <a:solidFill>
                      <a:srgbClr val="B400AB"/>
                    </a:solidFill>
                  </a:rPr>
                  <a:t>ITEMS[0] =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∅</m:t>
                    </m:r>
                  </m:oMath>
                </a14:m>
                <a:endParaRPr lang="en-US" dirty="0">
                  <a:solidFill>
                    <a:srgbClr val="B400AB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7030A0"/>
                    </a:solidFill>
                  </a:rPr>
                  <a:t>for</a:t>
                </a:r>
                <a:r>
                  <a:rPr lang="en-US" dirty="0">
                    <a:solidFill>
                      <a:srgbClr val="7030A0"/>
                    </a:solidFill>
                  </a:rPr>
                  <a:t> x = 1, </a:t>
                </a:r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, W:</a:t>
                </a:r>
              </a:p>
              <a:p>
                <a:pPr lvl="2"/>
                <a:r>
                  <a:rPr lang="en-US" sz="2400" dirty="0">
                    <a:solidFill>
                      <a:schemeClr val="tx2"/>
                    </a:solidFill>
                  </a:rPr>
                  <a:t>K[x] = 0</a:t>
                </a:r>
              </a:p>
              <a:p>
                <a:pPr lvl="2"/>
                <a:r>
                  <a:rPr lang="en-US" sz="2400" b="1" dirty="0">
                    <a:solidFill>
                      <a:schemeClr val="accent5"/>
                    </a:solidFill>
                  </a:rPr>
                  <a:t>for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i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= 1, </a:t>
                </a:r>
                <a:r>
                  <a:rPr lang="mr-IN" sz="2400" dirty="0">
                    <a:solidFill>
                      <a:schemeClr val="accent5"/>
                    </a:solidFill>
                  </a:rPr>
                  <a:t>…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, n:</a:t>
                </a:r>
              </a:p>
              <a:p>
                <a:pPr lvl="3"/>
                <a:r>
                  <a:rPr lang="en-US" sz="2400" b="1" dirty="0">
                    <a:solidFill>
                      <a:schemeClr val="accent4"/>
                    </a:solidFill>
                  </a:rPr>
                  <a:t>if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2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smtClean="0">
                            <a:latin typeface="Cambria Math" charset="0"/>
                          </a:rPr>
                          <m:t>max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sz="2400" i="1" smtClean="0">
                            <a:latin typeface="Cambria Math" charset="0"/>
                          </a:rPr>
                          <m:t>{</m:t>
                        </m:r>
                        <m:r>
                          <a:rPr lang="en-US" sz="240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chemeClr val="tx2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 smtClean="0">
                            <a:latin typeface="Cambria Math" charset="0"/>
                          </a:rPr>
                          <m:t>, </m:t>
                        </m:r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𝐾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solidFill>
                                      <a:schemeClr val="accent1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 smtClean="0">
                            <a:latin typeface="Cambria Math" charset="0"/>
                          </a:rPr>
                          <m:t> }</m:t>
                        </m:r>
                      </m:e>
                    </m:func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lvl="4"/>
                <a:r>
                  <a:rPr lang="en-US" sz="2400" dirty="0">
                    <a:solidFill>
                      <a:srgbClr val="B400AB"/>
                    </a:solidFill>
                  </a:rPr>
                  <a:t>If K[x] was updated:</a:t>
                </a:r>
              </a:p>
              <a:p>
                <a:pPr lvl="5"/>
                <a:r>
                  <a:rPr lang="en-US" sz="2400" dirty="0">
                    <a:solidFill>
                      <a:srgbClr val="B400AB"/>
                    </a:solidFill>
                  </a:rPr>
                  <a:t>ITEMS[x] = ITEMS[x </a:t>
                </a:r>
                <a:r>
                  <a:rPr lang="mr-IN" sz="2400" dirty="0">
                    <a:solidFill>
                      <a:srgbClr val="B400AB"/>
                    </a:solidFill>
                  </a:rPr>
                  <a:t>–</a:t>
                </a:r>
                <a:r>
                  <a:rPr lang="en-US" sz="2400" dirty="0">
                    <a:solidFill>
                      <a:srgbClr val="B400AB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w</a:t>
                </a:r>
                <a:r>
                  <a:rPr lang="en-US" sz="2400" baseline="-250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B400AB"/>
                        </a:solidFill>
                        <a:latin typeface="Cambria Math" charset="0"/>
                      </a:rPr>
                      <m:t>∪</m:t>
                    </m:r>
                  </m:oMath>
                </a14:m>
                <a:r>
                  <a:rPr lang="en-US" sz="2400" dirty="0">
                    <a:solidFill>
                      <a:srgbClr val="B400AB"/>
                    </a:solidFill>
                  </a:rPr>
                  <a:t> { item </a:t>
                </a:r>
                <a:r>
                  <a:rPr lang="en-US" sz="2400" dirty="0" err="1">
                    <a:solidFill>
                      <a:srgbClr val="B400AB"/>
                    </a:solidFill>
                  </a:rPr>
                  <a:t>i</a:t>
                </a:r>
                <a:r>
                  <a:rPr lang="en-US" sz="2400" dirty="0">
                    <a:solidFill>
                      <a:srgbClr val="B400AB"/>
                    </a:solidFill>
                  </a:rPr>
                  <a:t> }</a:t>
                </a:r>
              </a:p>
              <a:p>
                <a:pPr lvl="1"/>
                <a:r>
                  <a:rPr lang="en-US" b="1" dirty="0">
                    <a:solidFill>
                      <a:schemeClr val="tx2"/>
                    </a:solidFill>
                  </a:rPr>
                  <a:t>return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rgbClr val="B400AB"/>
                    </a:solidFill>
                  </a:rPr>
                  <a:t>ITEMS[W]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529" y="189350"/>
                <a:ext cx="5893373" cy="2547670"/>
              </a:xfrm>
              <a:prstGeom prst="rect">
                <a:avLst/>
              </a:prstGeom>
              <a:blipFill rotWithShape="0">
                <a:blip r:embed="rId2"/>
                <a:stretch>
                  <a:fillRect l="-310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/>
          <p:cNvGrpSpPr/>
          <p:nvPr/>
        </p:nvGrpSpPr>
        <p:grpSpPr>
          <a:xfrm>
            <a:off x="496912" y="1946293"/>
            <a:ext cx="3467617" cy="2688513"/>
            <a:chOff x="628650" y="2737673"/>
            <a:chExt cx="4456255" cy="3292233"/>
          </a:xfrm>
        </p:grpSpPr>
        <p:sp>
          <p:nvSpPr>
            <p:cNvPr id="5" name="Rectangle 4"/>
            <p:cNvSpPr/>
            <p:nvPr/>
          </p:nvSpPr>
          <p:spPr>
            <a:xfrm>
              <a:off x="628650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519901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11152" y="2737674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02403" y="2738326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93654" y="2737673"/>
              <a:ext cx="891251" cy="8565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865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19900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11152" y="3784659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02403" y="3785311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93655" y="3784658"/>
              <a:ext cx="891250" cy="22445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5436" y="5221525"/>
            <a:ext cx="1168789" cy="1168789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5320473" y="3553857"/>
            <a:ext cx="3673114" cy="1475713"/>
            <a:chOff x="-479811" y="1751737"/>
            <a:chExt cx="5881453" cy="2600511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1626" y="1998496"/>
              <a:ext cx="890016" cy="890016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8981" y="1966357"/>
              <a:ext cx="922155" cy="92215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3804" y="1751737"/>
              <a:ext cx="1136775" cy="1136775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-479809" y="3113586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Weight: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-479809" y="3701409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Value: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782501" y="3005866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50794" y="300586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18736" y="300586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7641" y="3701409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15758" y="3667231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18736" y="3655655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-479811" y="2402818"/>
              <a:ext cx="177038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Item: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7592138" y="6313328"/>
            <a:ext cx="1944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Capacity: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053" y="213524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-208271" y="2852931"/>
            <a:ext cx="106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387" y="1540961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0663" y="1558587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4186" y="1538390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97709" y="1539175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8985" y="1543923"/>
            <a:ext cx="20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6803" y="2906352"/>
            <a:ext cx="473295" cy="430056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0326" y="2907484"/>
            <a:ext cx="472049" cy="428924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2589" y="2895299"/>
            <a:ext cx="485459" cy="4411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06803" y="5221525"/>
            <a:ext cx="351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B400AB"/>
                </a:solidFill>
              </a:rPr>
              <a:t>ITEMS[4] = ITEMS[2] + 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9602" y="5144543"/>
            <a:ext cx="575909" cy="523296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9602" y="2950201"/>
            <a:ext cx="472049" cy="428924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3756" y="3534657"/>
            <a:ext cx="472049" cy="42892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26C089-F0A7-844A-AE57-1BA75FEFD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748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</a:t>
            </a:r>
            <a:r>
              <a:rPr lang="en-US" sz="2800" dirty="0">
                <a:solidFill>
                  <a:schemeClr val="accent3"/>
                </a:solidFill>
              </a:rPr>
              <a:t>for applying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16731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Step 1: </a:t>
            </a:r>
            <a:r>
              <a:rPr lang="en-US" dirty="0"/>
              <a:t>Identify </a:t>
            </a:r>
            <a:r>
              <a:rPr lang="en-US" dirty="0">
                <a:solidFill>
                  <a:schemeClr val="accent1"/>
                </a:solidFill>
              </a:rPr>
              <a:t>optimal substructure.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2: </a:t>
            </a:r>
            <a:r>
              <a:rPr lang="en-US" dirty="0"/>
              <a:t>Find a </a:t>
            </a:r>
            <a:r>
              <a:rPr lang="en-US" dirty="0">
                <a:solidFill>
                  <a:schemeClr val="accent6"/>
                </a:solidFill>
              </a:rPr>
              <a:t>recursive formulation </a:t>
            </a:r>
            <a:r>
              <a:rPr lang="en-US" dirty="0"/>
              <a:t>for the value of the optimal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3: </a:t>
            </a:r>
            <a:r>
              <a:rPr lang="en-US" dirty="0">
                <a:solidFill>
                  <a:schemeClr val="accent5"/>
                </a:solidFill>
              </a:rPr>
              <a:t>Use dynamic programming </a:t>
            </a:r>
            <a:r>
              <a:rPr lang="en-US" dirty="0"/>
              <a:t>to find the value of the optimal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4: </a:t>
            </a:r>
            <a:r>
              <a:rPr lang="en-US" dirty="0"/>
              <a:t>If needed, keep track of some additional info so that the algorithm from Step 3 can </a:t>
            </a:r>
            <a:r>
              <a:rPr lang="en-US" dirty="0">
                <a:solidFill>
                  <a:srgbClr val="B400AB"/>
                </a:solidFill>
              </a:rPr>
              <a:t>find the actual solution.</a:t>
            </a:r>
          </a:p>
          <a:p>
            <a:r>
              <a:rPr lang="en-US" b="1" dirty="0">
                <a:solidFill>
                  <a:schemeClr val="accent4"/>
                </a:solidFill>
              </a:rPr>
              <a:t>Step 5: </a:t>
            </a:r>
            <a:r>
              <a:rPr lang="en-US" dirty="0"/>
              <a:t>If needed, </a:t>
            </a:r>
            <a:r>
              <a:rPr lang="en-US" dirty="0">
                <a:solidFill>
                  <a:srgbClr val="7030A0"/>
                </a:solidFill>
              </a:rPr>
              <a:t>code this up like a reasonable person.</a:t>
            </a:r>
          </a:p>
        </p:txBody>
      </p:sp>
      <p:sp>
        <p:nvSpPr>
          <p:cNvPr id="4" name="Left Arrow 3"/>
          <p:cNvSpPr/>
          <p:nvPr/>
        </p:nvSpPr>
        <p:spPr>
          <a:xfrm rot="19006928">
            <a:off x="7890390" y="4960613"/>
            <a:ext cx="902677" cy="454634"/>
          </a:xfrm>
          <a:prstGeom prst="leftArrow">
            <a:avLst/>
          </a:prstGeom>
          <a:solidFill>
            <a:srgbClr val="7030A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 rot="21063085">
            <a:off x="6898513" y="5867418"/>
            <a:ext cx="2673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(Pass)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79DBF-3CFA-ED44-97A0-6DA84CFB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FF170-42D9-E44F-9C55-E217B723EC9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4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31445</TotalTime>
  <Words>3261</Words>
  <Application>Microsoft Macintosh PowerPoint</Application>
  <PresentationFormat>全屏显示(4:3)</PresentationFormat>
  <Paragraphs>672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Helvetica</vt:lpstr>
      <vt:lpstr>Times</vt:lpstr>
      <vt:lpstr>Office Theme</vt:lpstr>
      <vt:lpstr>主要内容</vt:lpstr>
      <vt:lpstr>Chain Matrix Multiplication</vt:lpstr>
      <vt:lpstr>Chain Matrix Multiplication</vt:lpstr>
      <vt:lpstr>Chain Matrix Multiplication</vt:lpstr>
      <vt:lpstr>Dynamic programming approach</vt:lpstr>
      <vt:lpstr>Recursive formulation</vt:lpstr>
      <vt:lpstr>Recursive formulation</vt:lpstr>
      <vt:lpstr>Recursive formulation</vt:lpstr>
      <vt:lpstr>DP based chain matrix multiplication</vt:lpstr>
      <vt:lpstr>基于动态规划的链式矩阵乘法</vt:lpstr>
      <vt:lpstr>DP based chain matrix multiplication</vt:lpstr>
      <vt:lpstr>根据记录的k计算矩阵乘法 </vt:lpstr>
      <vt:lpstr>练习</vt:lpstr>
      <vt:lpstr>主要内容</vt:lpstr>
      <vt:lpstr>Example 4: Knapsack Problem</vt:lpstr>
      <vt:lpstr>PowerPoint 演示文稿</vt:lpstr>
      <vt:lpstr>Some notation</vt:lpstr>
      <vt:lpstr>Recipe for applying Dynamic Programming</vt:lpstr>
      <vt:lpstr>Optimal substructure</vt:lpstr>
      <vt:lpstr>Optimal substructure</vt:lpstr>
      <vt:lpstr>Optimal substructure</vt:lpstr>
      <vt:lpstr>Recipe for applying Dynamic Programming</vt:lpstr>
      <vt:lpstr>Recursive relationship</vt:lpstr>
      <vt:lpstr>Recipe for applying Dynamic Programming</vt:lpstr>
      <vt:lpstr>Let’s write a bottom-up DP algorithm</vt:lpstr>
      <vt:lpstr>Recipe for applying Dynamic Programming</vt:lpstr>
      <vt:lpstr>Let’s write a bottom-up DP algorithm</vt:lpstr>
      <vt:lpstr>Let’s write a bottom-up DP algorithm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Recipe for applying Dynamic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</dc:title>
  <dc:creator>Mary Katherine Wootters</dc:creator>
  <cp:lastModifiedBy>Yongcai Wang</cp:lastModifiedBy>
  <cp:revision>196</cp:revision>
  <cp:lastPrinted>2020-02-05T18:01:00Z</cp:lastPrinted>
  <dcterms:created xsi:type="dcterms:W3CDTF">2017-04-30T14:57:01Z</dcterms:created>
  <dcterms:modified xsi:type="dcterms:W3CDTF">2024-03-18T23:56:33Z</dcterms:modified>
</cp:coreProperties>
</file>