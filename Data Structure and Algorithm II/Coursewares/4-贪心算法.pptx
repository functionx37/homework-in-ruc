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12"/>
  </p:notesMasterIdLst>
  <p:sldIdLst>
    <p:sldId id="256" r:id="rId2"/>
    <p:sldId id="372" r:id="rId3"/>
    <p:sldId id="573" r:id="rId4"/>
    <p:sldId id="473" r:id="rId5"/>
    <p:sldId id="515" r:id="rId6"/>
    <p:sldId id="260" r:id="rId7"/>
    <p:sldId id="516" r:id="rId8"/>
    <p:sldId id="517" r:id="rId9"/>
    <p:sldId id="552" r:id="rId10"/>
    <p:sldId id="553" r:id="rId11"/>
    <p:sldId id="557" r:id="rId12"/>
    <p:sldId id="558" r:id="rId13"/>
    <p:sldId id="559" r:id="rId14"/>
    <p:sldId id="554" r:id="rId15"/>
    <p:sldId id="551" r:id="rId16"/>
    <p:sldId id="296" r:id="rId17"/>
    <p:sldId id="297" r:id="rId18"/>
    <p:sldId id="373" r:id="rId19"/>
    <p:sldId id="298" r:id="rId20"/>
    <p:sldId id="374" r:id="rId21"/>
    <p:sldId id="299" r:id="rId22"/>
    <p:sldId id="375" r:id="rId23"/>
    <p:sldId id="300" r:id="rId24"/>
    <p:sldId id="518" r:id="rId25"/>
    <p:sldId id="561" r:id="rId26"/>
    <p:sldId id="519" r:id="rId27"/>
    <p:sldId id="520" r:id="rId28"/>
    <p:sldId id="521" r:id="rId29"/>
    <p:sldId id="522" r:id="rId30"/>
    <p:sldId id="523" r:id="rId31"/>
    <p:sldId id="485" r:id="rId32"/>
    <p:sldId id="512" r:id="rId33"/>
    <p:sldId id="320" r:id="rId34"/>
    <p:sldId id="319" r:id="rId35"/>
    <p:sldId id="549" r:id="rId36"/>
    <p:sldId id="562" r:id="rId37"/>
    <p:sldId id="563" r:id="rId38"/>
    <p:sldId id="564" r:id="rId39"/>
    <p:sldId id="565" r:id="rId40"/>
    <p:sldId id="566" r:id="rId41"/>
    <p:sldId id="567" r:id="rId42"/>
    <p:sldId id="568" r:id="rId43"/>
    <p:sldId id="569" r:id="rId44"/>
    <p:sldId id="570" r:id="rId45"/>
    <p:sldId id="571" r:id="rId46"/>
    <p:sldId id="572" r:id="rId47"/>
    <p:sldId id="322" r:id="rId48"/>
    <p:sldId id="323" r:id="rId49"/>
    <p:sldId id="325" r:id="rId50"/>
    <p:sldId id="508" r:id="rId51"/>
    <p:sldId id="513" r:id="rId52"/>
    <p:sldId id="326" r:id="rId53"/>
    <p:sldId id="545" r:id="rId54"/>
    <p:sldId id="386" r:id="rId55"/>
    <p:sldId id="486" r:id="rId56"/>
    <p:sldId id="544" r:id="rId57"/>
    <p:sldId id="327" r:id="rId58"/>
    <p:sldId id="574" r:id="rId59"/>
    <p:sldId id="524" r:id="rId60"/>
    <p:sldId id="526" r:id="rId61"/>
    <p:sldId id="527" r:id="rId62"/>
    <p:sldId id="528" r:id="rId63"/>
    <p:sldId id="529" r:id="rId64"/>
    <p:sldId id="530" r:id="rId65"/>
    <p:sldId id="531" r:id="rId66"/>
    <p:sldId id="532" r:id="rId67"/>
    <p:sldId id="575" r:id="rId68"/>
    <p:sldId id="535" r:id="rId69"/>
    <p:sldId id="537" r:id="rId70"/>
    <p:sldId id="536" r:id="rId71"/>
    <p:sldId id="555" r:id="rId72"/>
    <p:sldId id="556" r:id="rId73"/>
    <p:sldId id="538" r:id="rId74"/>
    <p:sldId id="539" r:id="rId75"/>
    <p:sldId id="540" r:id="rId76"/>
    <p:sldId id="541" r:id="rId77"/>
    <p:sldId id="542" r:id="rId78"/>
    <p:sldId id="550" r:id="rId79"/>
    <p:sldId id="329" r:id="rId80"/>
    <p:sldId id="330" r:id="rId81"/>
    <p:sldId id="331" r:id="rId82"/>
    <p:sldId id="332" r:id="rId83"/>
    <p:sldId id="428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470" r:id="rId92"/>
    <p:sldId id="479" r:id="rId93"/>
    <p:sldId id="340" r:id="rId94"/>
    <p:sldId id="378" r:id="rId95"/>
    <p:sldId id="379" r:id="rId96"/>
    <p:sldId id="380" r:id="rId97"/>
    <p:sldId id="381" r:id="rId98"/>
    <p:sldId id="382" r:id="rId99"/>
    <p:sldId id="514" r:id="rId100"/>
    <p:sldId id="505" r:id="rId101"/>
    <p:sldId id="388" r:id="rId102"/>
    <p:sldId id="389" r:id="rId103"/>
    <p:sldId id="390" r:id="rId104"/>
    <p:sldId id="509" r:id="rId105"/>
    <p:sldId id="391" r:id="rId106"/>
    <p:sldId id="510" r:id="rId107"/>
    <p:sldId id="511" r:id="rId108"/>
    <p:sldId id="368" r:id="rId109"/>
    <p:sldId id="371" r:id="rId110"/>
    <p:sldId id="369" r:id="rId1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1D9A78"/>
    <a:srgbClr val="FFE363"/>
    <a:srgbClr val="FF0F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244"/>
    <p:restoredTop sz="92676"/>
  </p:normalViewPr>
  <p:slideViewPr>
    <p:cSldViewPr snapToGrid="0" snapToObjects="1">
      <p:cViewPr varScale="1">
        <p:scale>
          <a:sx n="110" d="100"/>
          <a:sy n="110" d="100"/>
        </p:scale>
        <p:origin x="7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4C4DF3-CDA3-4C1A-BA09-6F2AA9088C9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C918355-8F9B-4F09-B720-6574DA287041}">
      <dgm:prSet/>
      <dgm:spPr/>
      <dgm:t>
        <a:bodyPr/>
        <a:lstStyle/>
        <a:p>
          <a:r>
            <a:rPr lang="en-US" altLang="zh-CN" dirty="0"/>
            <a:t>Greedy</a:t>
          </a:r>
          <a:r>
            <a:rPr lang="zh-CN" altLang="en-US" dirty="0"/>
            <a:t> </a:t>
          </a:r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doesn’t</a:t>
          </a:r>
          <a:r>
            <a:rPr lang="zh-CN" altLang="en-US" dirty="0"/>
            <a:t> </a:t>
          </a:r>
          <a:r>
            <a:rPr lang="en-US" altLang="zh-CN" dirty="0"/>
            <a:t>work</a:t>
          </a:r>
        </a:p>
      </dgm:t>
    </dgm:pt>
    <dgm:pt modelId="{E97D0D5F-C26B-4811-A71F-D22685DAE823}" type="parTrans" cxnId="{8D0D7D3F-6765-4F28-B5F2-BEDF0CF88641}">
      <dgm:prSet/>
      <dgm:spPr/>
      <dgm:t>
        <a:bodyPr/>
        <a:lstStyle/>
        <a:p>
          <a:endParaRPr lang="en-US"/>
        </a:p>
      </dgm:t>
    </dgm:pt>
    <dgm:pt modelId="{8C98467B-A16D-46AB-89F9-E167C0071142}" type="sibTrans" cxnId="{8D0D7D3F-6765-4F28-B5F2-BEDF0CF88641}">
      <dgm:prSet/>
      <dgm:spPr/>
      <dgm:t>
        <a:bodyPr/>
        <a:lstStyle/>
        <a:p>
          <a:endParaRPr lang="en-US"/>
        </a:p>
      </dgm:t>
    </dgm:pt>
    <dgm:pt modelId="{CF2444AC-25A3-45AF-9E27-F0625589132F}">
      <dgm:prSet/>
      <dgm:spPr/>
      <dgm:t>
        <a:bodyPr/>
        <a:lstStyle/>
        <a:p>
          <a:r>
            <a:rPr lang="en-US" altLang="zh-CN" dirty="0"/>
            <a:t>Activity</a:t>
          </a:r>
          <a:r>
            <a:rPr lang="zh-CN" altLang="en-US" dirty="0"/>
            <a:t> </a:t>
          </a:r>
          <a:r>
            <a:rPr lang="en-US" altLang="zh-CN" dirty="0"/>
            <a:t>Selection/Interval</a:t>
          </a:r>
          <a:r>
            <a:rPr lang="zh-CN" altLang="en-US" dirty="0"/>
            <a:t> </a:t>
          </a:r>
          <a:r>
            <a:rPr lang="en-US" altLang="zh-CN" dirty="0"/>
            <a:t>Scheduling</a:t>
          </a:r>
          <a:endParaRPr lang="en-US" dirty="0"/>
        </a:p>
      </dgm:t>
    </dgm:pt>
    <dgm:pt modelId="{868C213E-ECF0-4837-9209-AC9DECD9C145}" type="parTrans" cxnId="{967003F1-89BF-460D-A4CA-2C5AA70BC355}">
      <dgm:prSet/>
      <dgm:spPr/>
      <dgm:t>
        <a:bodyPr/>
        <a:lstStyle/>
        <a:p>
          <a:endParaRPr lang="en-US"/>
        </a:p>
      </dgm:t>
    </dgm:pt>
    <dgm:pt modelId="{F53403EF-CE1D-433B-BCA2-CAF069B7E4B7}" type="sibTrans" cxnId="{967003F1-89BF-460D-A4CA-2C5AA70BC355}">
      <dgm:prSet/>
      <dgm:spPr/>
      <dgm:t>
        <a:bodyPr/>
        <a:lstStyle/>
        <a:p>
          <a:endParaRPr lang="en-US"/>
        </a:p>
      </dgm:t>
    </dgm:pt>
    <dgm:pt modelId="{B3AC4ABD-3393-49E6-B22C-5258D54F3AA8}">
      <dgm:prSet/>
      <dgm:spPr/>
      <dgm:t>
        <a:bodyPr/>
        <a:lstStyle/>
        <a:p>
          <a:r>
            <a:rPr lang="en-US" altLang="zh-CN" dirty="0">
              <a:solidFill>
                <a:schemeClr val="bg1"/>
              </a:solidFill>
            </a:rPr>
            <a:t>Interval</a:t>
          </a:r>
          <a:r>
            <a:rPr lang="zh-CN" altLang="en-US" dirty="0">
              <a:solidFill>
                <a:schemeClr val="bg1"/>
              </a:solidFill>
            </a:rPr>
            <a:t> </a:t>
          </a:r>
          <a:r>
            <a:rPr lang="en-US" altLang="zh-CN" dirty="0">
              <a:solidFill>
                <a:schemeClr val="bg1"/>
              </a:solidFill>
            </a:rPr>
            <a:t>Partitioning</a:t>
          </a:r>
          <a:endParaRPr lang="en-US" dirty="0">
            <a:solidFill>
              <a:schemeClr val="bg1"/>
            </a:solidFill>
          </a:endParaRPr>
        </a:p>
      </dgm:t>
    </dgm:pt>
    <dgm:pt modelId="{217CAF8E-9194-4CEE-B13D-4E63A1D5BC08}" type="parTrans" cxnId="{20AAC4C0-0D10-49F9-94CC-7F9A98CD0892}">
      <dgm:prSet/>
      <dgm:spPr/>
      <dgm:t>
        <a:bodyPr/>
        <a:lstStyle/>
        <a:p>
          <a:endParaRPr lang="en-US"/>
        </a:p>
      </dgm:t>
    </dgm:pt>
    <dgm:pt modelId="{7625B602-CC8D-40F6-A946-15E9FF8A917C}" type="sibTrans" cxnId="{20AAC4C0-0D10-49F9-94CC-7F9A98CD0892}">
      <dgm:prSet/>
      <dgm:spPr/>
      <dgm:t>
        <a:bodyPr/>
        <a:lstStyle/>
        <a:p>
          <a:endParaRPr lang="en-US"/>
        </a:p>
      </dgm:t>
    </dgm:pt>
    <dgm:pt modelId="{63A81FF4-263D-41CB-9071-D127CED2C26F}">
      <dgm:prSet custT="1"/>
      <dgm:spPr/>
      <dgm:t>
        <a:bodyPr/>
        <a:lstStyle/>
        <a:p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Max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Lateness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Minimization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Scheduling</a:t>
          </a:r>
          <a:endParaRPr lang="en-US" sz="2000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871569B9-983E-4147-A2C2-AEAE4B538B9F}" type="parTrans" cxnId="{FF429AB5-D8A5-450C-949E-C5993CDA6CF8}">
      <dgm:prSet/>
      <dgm:spPr/>
      <dgm:t>
        <a:bodyPr/>
        <a:lstStyle/>
        <a:p>
          <a:endParaRPr lang="en-US"/>
        </a:p>
      </dgm:t>
    </dgm:pt>
    <dgm:pt modelId="{6204F9E9-B966-4ED3-9620-B8AD2FA0992D}" type="sibTrans" cxnId="{FF429AB5-D8A5-450C-949E-C5993CDA6CF8}">
      <dgm:prSet/>
      <dgm:spPr/>
      <dgm:t>
        <a:bodyPr/>
        <a:lstStyle/>
        <a:p>
          <a:endParaRPr lang="en-US"/>
        </a:p>
      </dgm:t>
    </dgm:pt>
    <dgm:pt modelId="{82BF780E-35C8-5244-A178-392312345216}">
      <dgm:prSet/>
      <dgm:spPr/>
      <dgm:t>
        <a:bodyPr/>
        <a:lstStyle/>
        <a:p>
          <a:r>
            <a:rPr lang="en-US" altLang="zh-CN" dirty="0"/>
            <a:t>Greedy</a:t>
          </a:r>
          <a:r>
            <a:rPr lang="zh-CN" altLang="en-US" dirty="0"/>
            <a:t> </a:t>
          </a:r>
          <a:r>
            <a:rPr lang="en-US" altLang="zh-CN" dirty="0"/>
            <a:t>Algorithm</a:t>
          </a:r>
          <a:endParaRPr lang="zh-CN" altLang="en-US" dirty="0"/>
        </a:p>
      </dgm:t>
    </dgm:pt>
    <dgm:pt modelId="{5CACFC02-D176-124C-AF80-1AEF06E65DD3}" type="parTrans" cxnId="{B2A55DC6-0486-6344-BC09-E25D32432225}">
      <dgm:prSet/>
      <dgm:spPr/>
      <dgm:t>
        <a:bodyPr/>
        <a:lstStyle/>
        <a:p>
          <a:endParaRPr lang="zh-CN" altLang="en-US"/>
        </a:p>
      </dgm:t>
    </dgm:pt>
    <dgm:pt modelId="{07FFF902-5725-CE43-8743-EFF490A14789}" type="sibTrans" cxnId="{B2A55DC6-0486-6344-BC09-E25D32432225}">
      <dgm:prSet/>
      <dgm:spPr/>
      <dgm:t>
        <a:bodyPr/>
        <a:lstStyle/>
        <a:p>
          <a:endParaRPr lang="zh-CN" altLang="en-US"/>
        </a:p>
      </dgm:t>
    </dgm:pt>
    <dgm:pt modelId="{2EEF85AF-4B87-C440-83AA-7A6F97371E15}">
      <dgm:prSet/>
      <dgm:spPr/>
      <dgm:t>
        <a:bodyPr/>
        <a:lstStyle/>
        <a:p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Optimality,</a:t>
          </a:r>
          <a:r>
            <a:rPr lang="zh-CN" altLang="en-US" dirty="0"/>
            <a:t> </a:t>
          </a:r>
          <a:r>
            <a:rPr lang="en-US" dirty="0"/>
            <a:t>Optimal sub-structure </a:t>
          </a:r>
          <a:endParaRPr lang="zh-CN" altLang="en-US" dirty="0"/>
        </a:p>
      </dgm:t>
    </dgm:pt>
    <dgm:pt modelId="{45E9E3BE-AB6B-9747-960E-1CE6911CDB84}" type="parTrans" cxnId="{4ACAF354-1219-884C-8C1B-ABF1D6C1E514}">
      <dgm:prSet/>
      <dgm:spPr/>
      <dgm:t>
        <a:bodyPr/>
        <a:lstStyle/>
        <a:p>
          <a:endParaRPr lang="zh-CN" altLang="en-US"/>
        </a:p>
      </dgm:t>
    </dgm:pt>
    <dgm:pt modelId="{781BA7AD-0BC0-C646-88FA-142C48D9796E}" type="sibTrans" cxnId="{4ACAF354-1219-884C-8C1B-ABF1D6C1E514}">
      <dgm:prSet/>
      <dgm:spPr/>
      <dgm:t>
        <a:bodyPr/>
        <a:lstStyle/>
        <a:p>
          <a:endParaRPr lang="zh-CN" altLang="en-US"/>
        </a:p>
      </dgm:t>
    </dgm:pt>
    <dgm:pt modelId="{40C135C6-FE8A-BE49-940B-3952902C4556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r>
            <a:rPr lang="zh-CN" altLang="en-US" dirty="0"/>
            <a:t> </a:t>
          </a:r>
        </a:p>
      </dgm:t>
    </dgm:pt>
    <dgm:pt modelId="{3CF44307-9A52-8E43-8D7A-EEEFE78E418E}" type="parTrans" cxnId="{1C9BE420-CC1B-674D-9E22-DA2AF86FD4BA}">
      <dgm:prSet/>
      <dgm:spPr/>
      <dgm:t>
        <a:bodyPr/>
        <a:lstStyle/>
        <a:p>
          <a:endParaRPr lang="zh-CN" altLang="en-US"/>
        </a:p>
      </dgm:t>
    </dgm:pt>
    <dgm:pt modelId="{430DC21D-1579-C444-9AE0-F5F6317CCE45}" type="sibTrans" cxnId="{1C9BE420-CC1B-674D-9E22-DA2AF86FD4BA}">
      <dgm:prSet/>
      <dgm:spPr/>
      <dgm:t>
        <a:bodyPr/>
        <a:lstStyle/>
        <a:p>
          <a:endParaRPr lang="zh-CN" altLang="en-US"/>
        </a:p>
      </dgm:t>
    </dgm:pt>
    <dgm:pt modelId="{677C9A02-E803-8648-BE03-AA1CC9080D68}">
      <dgm:prSet/>
      <dgm:spPr/>
      <dgm:t>
        <a:bodyPr/>
        <a:lstStyle/>
        <a:p>
          <a:r>
            <a:rPr lang="en-US" altLang="zh-CN" dirty="0"/>
            <a:t>Knapsack</a:t>
          </a:r>
          <a:r>
            <a:rPr lang="zh-CN" altLang="en-US" dirty="0"/>
            <a:t> </a:t>
          </a:r>
          <a:r>
            <a:rPr lang="en-US" altLang="zh-CN" dirty="0"/>
            <a:t>problem</a:t>
          </a:r>
          <a:endParaRPr lang="zh-CN" altLang="en-US" dirty="0"/>
        </a:p>
      </dgm:t>
    </dgm:pt>
    <dgm:pt modelId="{B62DE863-1BE7-CE4B-9E86-9D85B7817987}" type="parTrans" cxnId="{CA80A480-E22C-634B-A522-1139C70AF760}">
      <dgm:prSet/>
      <dgm:spPr/>
      <dgm:t>
        <a:bodyPr/>
        <a:lstStyle/>
        <a:p>
          <a:endParaRPr lang="zh-CN" altLang="en-US"/>
        </a:p>
      </dgm:t>
    </dgm:pt>
    <dgm:pt modelId="{215DAEF2-0B29-1D42-8E41-4BFD07D77A70}" type="sibTrans" cxnId="{CA80A480-E22C-634B-A522-1139C70AF760}">
      <dgm:prSet/>
      <dgm:spPr/>
      <dgm:t>
        <a:bodyPr/>
        <a:lstStyle/>
        <a:p>
          <a:endParaRPr lang="zh-CN" altLang="en-US"/>
        </a:p>
      </dgm:t>
    </dgm:pt>
    <dgm:pt modelId="{87006AB7-5DEB-5048-9A7A-C352760D0348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endParaRPr lang="zh-CN" altLang="en-US" dirty="0"/>
        </a:p>
      </dgm:t>
    </dgm:pt>
    <dgm:pt modelId="{CC7FCFD6-EC5A-424A-8DDB-7EF6B3069CC4}" type="parTrans" cxnId="{CEBEF0FD-1F8F-5840-9944-902DDEDE79AC}">
      <dgm:prSet/>
      <dgm:spPr/>
      <dgm:t>
        <a:bodyPr/>
        <a:lstStyle/>
        <a:p>
          <a:endParaRPr lang="zh-CN" altLang="en-US"/>
        </a:p>
      </dgm:t>
    </dgm:pt>
    <dgm:pt modelId="{7DF3500A-CC4C-984E-84D6-B85071EB2920}" type="sibTrans" cxnId="{CEBEF0FD-1F8F-5840-9944-902DDEDE79AC}">
      <dgm:prSet/>
      <dgm:spPr/>
      <dgm:t>
        <a:bodyPr/>
        <a:lstStyle/>
        <a:p>
          <a:endParaRPr lang="zh-CN" altLang="en-US"/>
        </a:p>
      </dgm:t>
    </dgm:pt>
    <dgm:pt modelId="{F098D7CD-E34D-AB40-90A3-37F93F15ACF8}">
      <dgm:prSet/>
      <dgm:spPr/>
      <dgm:t>
        <a:bodyPr/>
        <a:lstStyle/>
        <a:p>
          <a:r>
            <a:rPr lang="en-US" altLang="zh-CN" dirty="0"/>
            <a:t>Sum</a:t>
          </a:r>
          <a:r>
            <a:rPr lang="zh-CN" altLang="en-US" dirty="0"/>
            <a:t> </a:t>
          </a:r>
          <a:r>
            <a:rPr lang="en-US" altLang="zh-CN" dirty="0"/>
            <a:t>Penalty</a:t>
          </a:r>
          <a:r>
            <a:rPr lang="zh-CN" altLang="en-US" dirty="0"/>
            <a:t> </a:t>
          </a:r>
          <a:r>
            <a:rPr lang="en-US" altLang="zh-CN" dirty="0"/>
            <a:t>Minimization</a:t>
          </a:r>
          <a:r>
            <a:rPr lang="zh-CN" altLang="en-US" dirty="0"/>
            <a:t> </a:t>
          </a:r>
          <a:r>
            <a:rPr lang="en-US" altLang="zh-CN" dirty="0"/>
            <a:t>Scheduling</a:t>
          </a:r>
          <a:endParaRPr lang="zh-CN" altLang="en-US" dirty="0"/>
        </a:p>
      </dgm:t>
    </dgm:pt>
    <dgm:pt modelId="{7D5CA1B6-D1C0-AA4A-B2BF-6C4BF6AAC8F0}" type="parTrans" cxnId="{217E5972-44E9-6446-AC97-FE587E6BFBE4}">
      <dgm:prSet/>
      <dgm:spPr/>
      <dgm:t>
        <a:bodyPr/>
        <a:lstStyle/>
        <a:p>
          <a:endParaRPr lang="zh-CN" altLang="en-US"/>
        </a:p>
      </dgm:t>
    </dgm:pt>
    <dgm:pt modelId="{4A049BBC-2731-7743-A63A-12E2DCEA7637}" type="sibTrans" cxnId="{217E5972-44E9-6446-AC97-FE587E6BFBE4}">
      <dgm:prSet/>
      <dgm:spPr/>
      <dgm:t>
        <a:bodyPr/>
        <a:lstStyle/>
        <a:p>
          <a:endParaRPr lang="zh-CN" altLang="en-US"/>
        </a:p>
      </dgm:t>
    </dgm:pt>
    <dgm:pt modelId="{C71D30CF-91E6-5241-AC6A-181A2EEFF699}">
      <dgm:prSet/>
      <dgm:spPr/>
      <dgm:t>
        <a:bodyPr/>
        <a:lstStyle/>
        <a:p>
          <a:r>
            <a:rPr lang="en-US" altLang="zh-CN" dirty="0"/>
            <a:t>Huffman</a:t>
          </a:r>
          <a:r>
            <a:rPr lang="zh-CN" altLang="en-US" dirty="0"/>
            <a:t> </a:t>
          </a:r>
          <a:r>
            <a:rPr lang="en-US" altLang="zh-CN" dirty="0"/>
            <a:t>Coding</a:t>
          </a:r>
          <a:endParaRPr lang="zh-CN" altLang="en-US" dirty="0"/>
        </a:p>
      </dgm:t>
    </dgm:pt>
    <dgm:pt modelId="{EF24905C-034D-DB42-9541-EF86611E7A5B}" type="parTrans" cxnId="{BFE54DF6-2AF9-514E-887F-00A33F8E8B62}">
      <dgm:prSet/>
      <dgm:spPr/>
      <dgm:t>
        <a:bodyPr/>
        <a:lstStyle/>
        <a:p>
          <a:endParaRPr lang="zh-CN" altLang="en-US"/>
        </a:p>
      </dgm:t>
    </dgm:pt>
    <dgm:pt modelId="{A971A3FD-CD31-E242-82AF-B9F64BCF6241}" type="sibTrans" cxnId="{BFE54DF6-2AF9-514E-887F-00A33F8E8B62}">
      <dgm:prSet/>
      <dgm:spPr/>
      <dgm:t>
        <a:bodyPr/>
        <a:lstStyle/>
        <a:p>
          <a:endParaRPr lang="zh-CN" altLang="en-US"/>
        </a:p>
      </dgm:t>
    </dgm:pt>
    <dgm:pt modelId="{979813FF-10D6-5F4F-B734-B4566EA19FAF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endParaRPr lang="zh-CN" altLang="en-US" dirty="0"/>
        </a:p>
      </dgm:t>
    </dgm:pt>
    <dgm:pt modelId="{E2A24B37-9587-E344-A59F-03A51E37CEC7}" type="parTrans" cxnId="{65CCA65A-9D93-1943-AB12-19671CA00EBD}">
      <dgm:prSet/>
      <dgm:spPr/>
      <dgm:t>
        <a:bodyPr/>
        <a:lstStyle/>
        <a:p>
          <a:endParaRPr lang="zh-CN" altLang="en-US"/>
        </a:p>
      </dgm:t>
    </dgm:pt>
    <dgm:pt modelId="{95E63A6E-09AA-A240-80F7-A96B4FD720B0}" type="sibTrans" cxnId="{65CCA65A-9D93-1943-AB12-19671CA00EBD}">
      <dgm:prSet/>
      <dgm:spPr/>
      <dgm:t>
        <a:bodyPr/>
        <a:lstStyle/>
        <a:p>
          <a:endParaRPr lang="zh-CN" altLang="en-US"/>
        </a:p>
      </dgm:t>
    </dgm:pt>
    <dgm:pt modelId="{BEB40FAC-3C2F-D249-BCD7-CB20F15A2F2D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endParaRPr lang="zh-CN" altLang="en-US" dirty="0"/>
        </a:p>
      </dgm:t>
    </dgm:pt>
    <dgm:pt modelId="{AE85A0F3-E92F-E84C-9217-7D0D77F83808}" type="parTrans" cxnId="{C14B16E4-FB36-384B-A561-EA9A9B779A27}">
      <dgm:prSet/>
      <dgm:spPr/>
      <dgm:t>
        <a:bodyPr/>
        <a:lstStyle/>
        <a:p>
          <a:endParaRPr lang="zh-CN" altLang="en-US"/>
        </a:p>
      </dgm:t>
    </dgm:pt>
    <dgm:pt modelId="{C4E32C4A-39C3-114E-BF08-D0706BC8557F}" type="sibTrans" cxnId="{C14B16E4-FB36-384B-A561-EA9A9B779A27}">
      <dgm:prSet/>
      <dgm:spPr/>
      <dgm:t>
        <a:bodyPr/>
        <a:lstStyle/>
        <a:p>
          <a:endParaRPr lang="zh-CN" altLang="en-US"/>
        </a:p>
      </dgm:t>
    </dgm:pt>
    <dgm:pt modelId="{4084B97A-ECD3-B145-88EB-9CD1854BF825}">
      <dgm:prSet/>
      <dgm:spPr/>
      <dgm:t>
        <a:bodyPr/>
        <a:lstStyle/>
        <a:p>
          <a:r>
            <a:rPr lang="en-US" altLang="zh-CN" dirty="0"/>
            <a:t>Matroid</a:t>
          </a:r>
          <a:endParaRPr lang="zh-CN" altLang="en-US" dirty="0"/>
        </a:p>
      </dgm:t>
    </dgm:pt>
    <dgm:pt modelId="{09A7FDC5-D302-7940-819B-D4B95BEF6BB1}" type="parTrans" cxnId="{B6FF1E31-DB40-6D47-B6C5-521E7992E754}">
      <dgm:prSet/>
      <dgm:spPr/>
      <dgm:t>
        <a:bodyPr/>
        <a:lstStyle/>
        <a:p>
          <a:endParaRPr lang="zh-CN" altLang="en-US"/>
        </a:p>
      </dgm:t>
    </dgm:pt>
    <dgm:pt modelId="{F1DE2C70-2891-254F-A4F0-BB510A9BD363}" type="sibTrans" cxnId="{B6FF1E31-DB40-6D47-B6C5-521E7992E754}">
      <dgm:prSet/>
      <dgm:spPr/>
      <dgm:t>
        <a:bodyPr/>
        <a:lstStyle/>
        <a:p>
          <a:endParaRPr lang="zh-CN" altLang="en-US"/>
        </a:p>
      </dgm:t>
    </dgm:pt>
    <dgm:pt modelId="{E3F036DE-6942-EB4D-9A0C-88DB77F2BE78}" type="pres">
      <dgm:prSet presAssocID="{CD4C4DF3-CDA3-4C1A-BA09-6F2AA9088C98}" presName="linear" presStyleCnt="0">
        <dgm:presLayoutVars>
          <dgm:animLvl val="lvl"/>
          <dgm:resizeHandles val="exact"/>
        </dgm:presLayoutVars>
      </dgm:prSet>
      <dgm:spPr/>
    </dgm:pt>
    <dgm:pt modelId="{F36BEC44-DAC6-6343-85FD-985E84DAB391}" type="pres">
      <dgm:prSet presAssocID="{AC918355-8F9B-4F09-B720-6574DA287041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8FD44975-0EA2-2744-8F62-194D31243E1B}" type="pres">
      <dgm:prSet presAssocID="{AC918355-8F9B-4F09-B720-6574DA287041}" presName="childText" presStyleLbl="revTx" presStyleIdx="0" presStyleCnt="6">
        <dgm:presLayoutVars>
          <dgm:bulletEnabled val="1"/>
        </dgm:presLayoutVars>
      </dgm:prSet>
      <dgm:spPr/>
    </dgm:pt>
    <dgm:pt modelId="{CAA1060A-F01D-234D-A5B5-15047FFE84C8}" type="pres">
      <dgm:prSet presAssocID="{CF2444AC-25A3-45AF-9E27-F0625589132F}" presName="parentText" presStyleLbl="node1" presStyleIdx="1" presStyleCnt="7" custLinFactNeighborX="-1034" custLinFactNeighborY="1077">
        <dgm:presLayoutVars>
          <dgm:chMax val="0"/>
          <dgm:bulletEnabled val="1"/>
        </dgm:presLayoutVars>
      </dgm:prSet>
      <dgm:spPr/>
    </dgm:pt>
    <dgm:pt modelId="{B3D4FF40-A116-F443-A12B-EBBDAC4C5921}" type="pres">
      <dgm:prSet presAssocID="{CF2444AC-25A3-45AF-9E27-F0625589132F}" presName="childText" presStyleLbl="revTx" presStyleIdx="1" presStyleCnt="6">
        <dgm:presLayoutVars>
          <dgm:bulletEnabled val="1"/>
        </dgm:presLayoutVars>
      </dgm:prSet>
      <dgm:spPr/>
    </dgm:pt>
    <dgm:pt modelId="{1070F474-A7B6-BC4B-9FF9-22A4F96CDBF7}" type="pres">
      <dgm:prSet presAssocID="{4084B97A-ECD3-B145-88EB-9CD1854BF825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CB539309-0300-E649-BCD7-289275DCADAA}" type="pres">
      <dgm:prSet presAssocID="{F1DE2C70-2891-254F-A4F0-BB510A9BD363}" presName="spacer" presStyleCnt="0"/>
      <dgm:spPr/>
    </dgm:pt>
    <dgm:pt modelId="{74E7862E-A08A-E740-BD64-70A8C62E4534}" type="pres">
      <dgm:prSet presAssocID="{F098D7CD-E34D-AB40-90A3-37F93F15ACF8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1DA4B74F-3938-224C-B8AD-5AC96748D1AE}" type="pres">
      <dgm:prSet presAssocID="{F098D7CD-E34D-AB40-90A3-37F93F15ACF8}" presName="childText" presStyleLbl="revTx" presStyleIdx="2" presStyleCnt="6">
        <dgm:presLayoutVars>
          <dgm:bulletEnabled val="1"/>
        </dgm:presLayoutVars>
      </dgm:prSet>
      <dgm:spPr/>
    </dgm:pt>
    <dgm:pt modelId="{0F9D7059-6B5A-324D-BBB2-FF4779936521}" type="pres">
      <dgm:prSet presAssocID="{B3AC4ABD-3393-49E6-B22C-5258D54F3AA8}" presName="parentText" presStyleLbl="node1" presStyleIdx="4" presStyleCnt="7" custLinFactNeighborX="166" custLinFactNeighborY="-1958">
        <dgm:presLayoutVars>
          <dgm:chMax val="0"/>
          <dgm:bulletEnabled val="1"/>
        </dgm:presLayoutVars>
      </dgm:prSet>
      <dgm:spPr/>
    </dgm:pt>
    <dgm:pt modelId="{83C615D7-3F44-1542-8AB9-18060F3340FA}" type="pres">
      <dgm:prSet presAssocID="{B3AC4ABD-3393-49E6-B22C-5258D54F3AA8}" presName="childText" presStyleLbl="revTx" presStyleIdx="3" presStyleCnt="6">
        <dgm:presLayoutVars>
          <dgm:bulletEnabled val="1"/>
        </dgm:presLayoutVars>
      </dgm:prSet>
      <dgm:spPr/>
    </dgm:pt>
    <dgm:pt modelId="{27CFC81F-1429-A241-BA29-F4FAC6F69A90}" type="pres">
      <dgm:prSet presAssocID="{63A81FF4-263D-41CB-9071-D127CED2C26F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D4E3098-A1D7-A548-BAB5-7C5B68BD5803}" type="pres">
      <dgm:prSet presAssocID="{63A81FF4-263D-41CB-9071-D127CED2C26F}" presName="childText" presStyleLbl="revTx" presStyleIdx="4" presStyleCnt="6">
        <dgm:presLayoutVars>
          <dgm:bulletEnabled val="1"/>
        </dgm:presLayoutVars>
      </dgm:prSet>
      <dgm:spPr/>
    </dgm:pt>
    <dgm:pt modelId="{5A2B2C49-2F63-4841-9864-CB284F986961}" type="pres">
      <dgm:prSet presAssocID="{C71D30CF-91E6-5241-AC6A-181A2EEFF699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AAB7C639-0C53-3442-BE4C-8F6F83218280}" type="pres">
      <dgm:prSet presAssocID="{C71D30CF-91E6-5241-AC6A-181A2EEFF699}" presName="childText" presStyleLbl="revTx" presStyleIdx="5" presStyleCnt="6">
        <dgm:presLayoutVars>
          <dgm:bulletEnabled val="1"/>
        </dgm:presLayoutVars>
      </dgm:prSet>
      <dgm:spPr/>
    </dgm:pt>
  </dgm:ptLst>
  <dgm:cxnLst>
    <dgm:cxn modelId="{F267AE07-3DF6-0446-A9FF-DB560CFF09D6}" type="presOf" srcId="{87006AB7-5DEB-5048-9A7A-C352760D0348}" destId="{8D4E3098-A1D7-A548-BAB5-7C5B68BD5803}" srcOrd="0" destOrd="0" presId="urn:microsoft.com/office/officeart/2005/8/layout/vList2"/>
    <dgm:cxn modelId="{1C9BE420-CC1B-674D-9E22-DA2AF86FD4BA}" srcId="{B3AC4ABD-3393-49E6-B22C-5258D54F3AA8}" destId="{40C135C6-FE8A-BE49-940B-3952902C4556}" srcOrd="0" destOrd="0" parTransId="{3CF44307-9A52-8E43-8D7A-EEEFE78E418E}" sibTransId="{430DC21D-1579-C444-9AE0-F5F6317CCE45}"/>
    <dgm:cxn modelId="{845E4E21-EB6D-1A48-8D81-186E7D91B7CC}" type="presOf" srcId="{63A81FF4-263D-41CB-9071-D127CED2C26F}" destId="{27CFC81F-1429-A241-BA29-F4FAC6F69A90}" srcOrd="0" destOrd="0" presId="urn:microsoft.com/office/officeart/2005/8/layout/vList2"/>
    <dgm:cxn modelId="{B6FF1E31-DB40-6D47-B6C5-521E7992E754}" srcId="{CD4C4DF3-CDA3-4C1A-BA09-6F2AA9088C98}" destId="{4084B97A-ECD3-B145-88EB-9CD1854BF825}" srcOrd="2" destOrd="0" parTransId="{09A7FDC5-D302-7940-819B-D4B95BEF6BB1}" sibTransId="{F1DE2C70-2891-254F-A4F0-BB510A9BD363}"/>
    <dgm:cxn modelId="{AA2C9435-4412-1149-879E-9387616E263B}" type="presOf" srcId="{2EEF85AF-4B87-C440-83AA-7A6F97371E15}" destId="{B3D4FF40-A116-F443-A12B-EBBDAC4C5921}" srcOrd="0" destOrd="1" presId="urn:microsoft.com/office/officeart/2005/8/layout/vList2"/>
    <dgm:cxn modelId="{2F29543D-3CD9-E041-8034-8BD1B751A642}" type="presOf" srcId="{C71D30CF-91E6-5241-AC6A-181A2EEFF699}" destId="{5A2B2C49-2F63-4841-9864-CB284F986961}" srcOrd="0" destOrd="0" presId="urn:microsoft.com/office/officeart/2005/8/layout/vList2"/>
    <dgm:cxn modelId="{8D0D7D3F-6765-4F28-B5F2-BEDF0CF88641}" srcId="{CD4C4DF3-CDA3-4C1A-BA09-6F2AA9088C98}" destId="{AC918355-8F9B-4F09-B720-6574DA287041}" srcOrd="0" destOrd="0" parTransId="{E97D0D5F-C26B-4811-A71F-D22685DAE823}" sibTransId="{8C98467B-A16D-46AB-89F9-E167C0071142}"/>
    <dgm:cxn modelId="{4ACAF354-1219-884C-8C1B-ABF1D6C1E514}" srcId="{CF2444AC-25A3-45AF-9E27-F0625589132F}" destId="{2EEF85AF-4B87-C440-83AA-7A6F97371E15}" srcOrd="1" destOrd="0" parTransId="{45E9E3BE-AB6B-9747-960E-1CE6911CDB84}" sibTransId="{781BA7AD-0BC0-C646-88FA-142C48D9796E}"/>
    <dgm:cxn modelId="{7800755A-57F5-684E-B424-B3F63B604698}" type="presOf" srcId="{979813FF-10D6-5F4F-B734-B4566EA19FAF}" destId="{1DA4B74F-3938-224C-B8AD-5AC96748D1AE}" srcOrd="0" destOrd="0" presId="urn:microsoft.com/office/officeart/2005/8/layout/vList2"/>
    <dgm:cxn modelId="{65CCA65A-9D93-1943-AB12-19671CA00EBD}" srcId="{F098D7CD-E34D-AB40-90A3-37F93F15ACF8}" destId="{979813FF-10D6-5F4F-B734-B4566EA19FAF}" srcOrd="0" destOrd="0" parTransId="{E2A24B37-9587-E344-A59F-03A51E37CEC7}" sibTransId="{95E63A6E-09AA-A240-80F7-A96B4FD720B0}"/>
    <dgm:cxn modelId="{217E5972-44E9-6446-AC97-FE587E6BFBE4}" srcId="{CD4C4DF3-CDA3-4C1A-BA09-6F2AA9088C98}" destId="{F098D7CD-E34D-AB40-90A3-37F93F15ACF8}" srcOrd="3" destOrd="0" parTransId="{7D5CA1B6-D1C0-AA4A-B2BF-6C4BF6AAC8F0}" sibTransId="{4A049BBC-2731-7743-A63A-12E2DCEA7637}"/>
    <dgm:cxn modelId="{367CF977-A5F2-A142-A10A-27687B4E5CBC}" type="presOf" srcId="{CD4C4DF3-CDA3-4C1A-BA09-6F2AA9088C98}" destId="{E3F036DE-6942-EB4D-9A0C-88DB77F2BE78}" srcOrd="0" destOrd="0" presId="urn:microsoft.com/office/officeart/2005/8/layout/vList2"/>
    <dgm:cxn modelId="{CA80A480-E22C-634B-A522-1139C70AF760}" srcId="{AC918355-8F9B-4F09-B720-6574DA287041}" destId="{677C9A02-E803-8648-BE03-AA1CC9080D68}" srcOrd="0" destOrd="0" parTransId="{B62DE863-1BE7-CE4B-9E86-9D85B7817987}" sibTransId="{215DAEF2-0B29-1D42-8E41-4BFD07D77A70}"/>
    <dgm:cxn modelId="{26907285-2563-4041-8562-4A62562F406B}" type="presOf" srcId="{40C135C6-FE8A-BE49-940B-3952902C4556}" destId="{83C615D7-3F44-1542-8AB9-18060F3340FA}" srcOrd="0" destOrd="0" presId="urn:microsoft.com/office/officeart/2005/8/layout/vList2"/>
    <dgm:cxn modelId="{6176BE85-C411-6145-A12D-CFD2CC2743D2}" type="presOf" srcId="{B3AC4ABD-3393-49E6-B22C-5258D54F3AA8}" destId="{0F9D7059-6B5A-324D-BBB2-FF4779936521}" srcOrd="0" destOrd="0" presId="urn:microsoft.com/office/officeart/2005/8/layout/vList2"/>
    <dgm:cxn modelId="{1B471A91-86E7-C14B-95AA-08ADB80473B8}" type="presOf" srcId="{F098D7CD-E34D-AB40-90A3-37F93F15ACF8}" destId="{74E7862E-A08A-E740-BD64-70A8C62E4534}" srcOrd="0" destOrd="0" presId="urn:microsoft.com/office/officeart/2005/8/layout/vList2"/>
    <dgm:cxn modelId="{7AB36395-EF23-1F4E-9627-DB5E5C24B0FE}" type="presOf" srcId="{CF2444AC-25A3-45AF-9E27-F0625589132F}" destId="{CAA1060A-F01D-234D-A5B5-15047FFE84C8}" srcOrd="0" destOrd="0" presId="urn:microsoft.com/office/officeart/2005/8/layout/vList2"/>
    <dgm:cxn modelId="{CF87B7AB-E83E-764E-9454-A9FA3EC4D2F7}" type="presOf" srcId="{4084B97A-ECD3-B145-88EB-9CD1854BF825}" destId="{1070F474-A7B6-BC4B-9FF9-22A4F96CDBF7}" srcOrd="0" destOrd="0" presId="urn:microsoft.com/office/officeart/2005/8/layout/vList2"/>
    <dgm:cxn modelId="{FF429AB5-D8A5-450C-949E-C5993CDA6CF8}" srcId="{CD4C4DF3-CDA3-4C1A-BA09-6F2AA9088C98}" destId="{63A81FF4-263D-41CB-9071-D127CED2C26F}" srcOrd="5" destOrd="0" parTransId="{871569B9-983E-4147-A2C2-AEAE4B538B9F}" sibTransId="{6204F9E9-B966-4ED3-9620-B8AD2FA0992D}"/>
    <dgm:cxn modelId="{EDD61ABF-C930-BC4B-8925-1948461EC541}" type="presOf" srcId="{BEB40FAC-3C2F-D249-BCD7-CB20F15A2F2D}" destId="{AAB7C639-0C53-3442-BE4C-8F6F83218280}" srcOrd="0" destOrd="0" presId="urn:microsoft.com/office/officeart/2005/8/layout/vList2"/>
    <dgm:cxn modelId="{20AAC4C0-0D10-49F9-94CC-7F9A98CD0892}" srcId="{CD4C4DF3-CDA3-4C1A-BA09-6F2AA9088C98}" destId="{B3AC4ABD-3393-49E6-B22C-5258D54F3AA8}" srcOrd="4" destOrd="0" parTransId="{217CAF8E-9194-4CEE-B13D-4E63A1D5BC08}" sibTransId="{7625B602-CC8D-40F6-A946-15E9FF8A917C}"/>
    <dgm:cxn modelId="{9E236EC3-2499-C343-9C8F-F7509F26D59D}" type="presOf" srcId="{AC918355-8F9B-4F09-B720-6574DA287041}" destId="{F36BEC44-DAC6-6343-85FD-985E84DAB391}" srcOrd="0" destOrd="0" presId="urn:microsoft.com/office/officeart/2005/8/layout/vList2"/>
    <dgm:cxn modelId="{B2A55DC6-0486-6344-BC09-E25D32432225}" srcId="{CF2444AC-25A3-45AF-9E27-F0625589132F}" destId="{82BF780E-35C8-5244-A178-392312345216}" srcOrd="0" destOrd="0" parTransId="{5CACFC02-D176-124C-AF80-1AEF06E65DD3}" sibTransId="{07FFF902-5725-CE43-8743-EFF490A14789}"/>
    <dgm:cxn modelId="{23D216CE-03C6-0C4C-878B-B2659A3188F9}" type="presOf" srcId="{677C9A02-E803-8648-BE03-AA1CC9080D68}" destId="{8FD44975-0EA2-2744-8F62-194D31243E1B}" srcOrd="0" destOrd="0" presId="urn:microsoft.com/office/officeart/2005/8/layout/vList2"/>
    <dgm:cxn modelId="{C14B16E4-FB36-384B-A561-EA9A9B779A27}" srcId="{C71D30CF-91E6-5241-AC6A-181A2EEFF699}" destId="{BEB40FAC-3C2F-D249-BCD7-CB20F15A2F2D}" srcOrd="0" destOrd="0" parTransId="{AE85A0F3-E92F-E84C-9217-7D0D77F83808}" sibTransId="{C4E32C4A-39C3-114E-BF08-D0706BC8557F}"/>
    <dgm:cxn modelId="{967003F1-89BF-460D-A4CA-2C5AA70BC355}" srcId="{CD4C4DF3-CDA3-4C1A-BA09-6F2AA9088C98}" destId="{CF2444AC-25A3-45AF-9E27-F0625589132F}" srcOrd="1" destOrd="0" parTransId="{868C213E-ECF0-4837-9209-AC9DECD9C145}" sibTransId="{F53403EF-CE1D-433B-BCA2-CAF069B7E4B7}"/>
    <dgm:cxn modelId="{BFE54DF6-2AF9-514E-887F-00A33F8E8B62}" srcId="{CD4C4DF3-CDA3-4C1A-BA09-6F2AA9088C98}" destId="{C71D30CF-91E6-5241-AC6A-181A2EEFF699}" srcOrd="6" destOrd="0" parTransId="{EF24905C-034D-DB42-9541-EF86611E7A5B}" sibTransId="{A971A3FD-CD31-E242-82AF-B9F64BCF6241}"/>
    <dgm:cxn modelId="{CEBEF0FD-1F8F-5840-9944-902DDEDE79AC}" srcId="{63A81FF4-263D-41CB-9071-D127CED2C26F}" destId="{87006AB7-5DEB-5048-9A7A-C352760D0348}" srcOrd="0" destOrd="0" parTransId="{CC7FCFD6-EC5A-424A-8DDB-7EF6B3069CC4}" sibTransId="{7DF3500A-CC4C-984E-84D6-B85071EB2920}"/>
    <dgm:cxn modelId="{22CE78FF-2883-CB47-9C7F-2F06069B3327}" type="presOf" srcId="{82BF780E-35C8-5244-A178-392312345216}" destId="{B3D4FF40-A116-F443-A12B-EBBDAC4C5921}" srcOrd="0" destOrd="0" presId="urn:microsoft.com/office/officeart/2005/8/layout/vList2"/>
    <dgm:cxn modelId="{877BD231-F12A-0545-BC98-C663D98ECB0C}" type="presParOf" srcId="{E3F036DE-6942-EB4D-9A0C-88DB77F2BE78}" destId="{F36BEC44-DAC6-6343-85FD-985E84DAB391}" srcOrd="0" destOrd="0" presId="urn:microsoft.com/office/officeart/2005/8/layout/vList2"/>
    <dgm:cxn modelId="{28DAC00B-117E-8B47-B5DB-0730959186CC}" type="presParOf" srcId="{E3F036DE-6942-EB4D-9A0C-88DB77F2BE78}" destId="{8FD44975-0EA2-2744-8F62-194D31243E1B}" srcOrd="1" destOrd="0" presId="urn:microsoft.com/office/officeart/2005/8/layout/vList2"/>
    <dgm:cxn modelId="{61ED2CEE-28BB-F940-8E84-DC94E2C443D7}" type="presParOf" srcId="{E3F036DE-6942-EB4D-9A0C-88DB77F2BE78}" destId="{CAA1060A-F01D-234D-A5B5-15047FFE84C8}" srcOrd="2" destOrd="0" presId="urn:microsoft.com/office/officeart/2005/8/layout/vList2"/>
    <dgm:cxn modelId="{638C5C3F-6F2B-1A43-9FA1-BBE743102D93}" type="presParOf" srcId="{E3F036DE-6942-EB4D-9A0C-88DB77F2BE78}" destId="{B3D4FF40-A116-F443-A12B-EBBDAC4C5921}" srcOrd="3" destOrd="0" presId="urn:microsoft.com/office/officeart/2005/8/layout/vList2"/>
    <dgm:cxn modelId="{1DB402FE-63B0-CE44-8179-C5791232D1F1}" type="presParOf" srcId="{E3F036DE-6942-EB4D-9A0C-88DB77F2BE78}" destId="{1070F474-A7B6-BC4B-9FF9-22A4F96CDBF7}" srcOrd="4" destOrd="0" presId="urn:microsoft.com/office/officeart/2005/8/layout/vList2"/>
    <dgm:cxn modelId="{62E73D30-C997-A042-8CE8-7F678DDC963F}" type="presParOf" srcId="{E3F036DE-6942-EB4D-9A0C-88DB77F2BE78}" destId="{CB539309-0300-E649-BCD7-289275DCADAA}" srcOrd="5" destOrd="0" presId="urn:microsoft.com/office/officeart/2005/8/layout/vList2"/>
    <dgm:cxn modelId="{A206D089-9098-DD4B-B5A8-9C759CB8C320}" type="presParOf" srcId="{E3F036DE-6942-EB4D-9A0C-88DB77F2BE78}" destId="{74E7862E-A08A-E740-BD64-70A8C62E4534}" srcOrd="6" destOrd="0" presId="urn:microsoft.com/office/officeart/2005/8/layout/vList2"/>
    <dgm:cxn modelId="{A2F00941-299F-2B4A-8B10-D7BB116AD940}" type="presParOf" srcId="{E3F036DE-6942-EB4D-9A0C-88DB77F2BE78}" destId="{1DA4B74F-3938-224C-B8AD-5AC96748D1AE}" srcOrd="7" destOrd="0" presId="urn:microsoft.com/office/officeart/2005/8/layout/vList2"/>
    <dgm:cxn modelId="{699258F9-0214-4B46-819A-53AECA3B91C5}" type="presParOf" srcId="{E3F036DE-6942-EB4D-9A0C-88DB77F2BE78}" destId="{0F9D7059-6B5A-324D-BBB2-FF4779936521}" srcOrd="8" destOrd="0" presId="urn:microsoft.com/office/officeart/2005/8/layout/vList2"/>
    <dgm:cxn modelId="{4B186BBF-3D4A-E447-B75E-4C41B9B376FE}" type="presParOf" srcId="{E3F036DE-6942-EB4D-9A0C-88DB77F2BE78}" destId="{83C615D7-3F44-1542-8AB9-18060F3340FA}" srcOrd="9" destOrd="0" presId="urn:microsoft.com/office/officeart/2005/8/layout/vList2"/>
    <dgm:cxn modelId="{3B3E1F7F-BD0C-9C48-927B-5F8B717A7765}" type="presParOf" srcId="{E3F036DE-6942-EB4D-9A0C-88DB77F2BE78}" destId="{27CFC81F-1429-A241-BA29-F4FAC6F69A90}" srcOrd="10" destOrd="0" presId="urn:microsoft.com/office/officeart/2005/8/layout/vList2"/>
    <dgm:cxn modelId="{8680AFAF-1B75-874C-AFF8-4E803D3F16DD}" type="presParOf" srcId="{E3F036DE-6942-EB4D-9A0C-88DB77F2BE78}" destId="{8D4E3098-A1D7-A548-BAB5-7C5B68BD5803}" srcOrd="11" destOrd="0" presId="urn:microsoft.com/office/officeart/2005/8/layout/vList2"/>
    <dgm:cxn modelId="{50D35F1C-7FB2-1643-B90D-EB3D671DA536}" type="presParOf" srcId="{E3F036DE-6942-EB4D-9A0C-88DB77F2BE78}" destId="{5A2B2C49-2F63-4841-9864-CB284F986961}" srcOrd="12" destOrd="0" presId="urn:microsoft.com/office/officeart/2005/8/layout/vList2"/>
    <dgm:cxn modelId="{36CEF566-56C4-D14B-B74C-C4083F1B7E24}" type="presParOf" srcId="{E3F036DE-6942-EB4D-9A0C-88DB77F2BE78}" destId="{AAB7C639-0C53-3442-BE4C-8F6F83218280}" srcOrd="1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4C4DF3-CDA3-4C1A-BA09-6F2AA9088C9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C918355-8F9B-4F09-B720-6574DA287041}">
      <dgm:prSet/>
      <dgm:spPr/>
      <dgm:t>
        <a:bodyPr/>
        <a:lstStyle/>
        <a:p>
          <a:r>
            <a:rPr lang="en-US" altLang="zh-CN" dirty="0"/>
            <a:t>Greedy</a:t>
          </a:r>
          <a:r>
            <a:rPr lang="zh-CN" altLang="en-US" dirty="0"/>
            <a:t> </a:t>
          </a:r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doesn’t</a:t>
          </a:r>
          <a:r>
            <a:rPr lang="zh-CN" altLang="en-US" dirty="0"/>
            <a:t> </a:t>
          </a:r>
          <a:r>
            <a:rPr lang="en-US" altLang="zh-CN" dirty="0"/>
            <a:t>work</a:t>
          </a:r>
        </a:p>
      </dgm:t>
    </dgm:pt>
    <dgm:pt modelId="{E97D0D5F-C26B-4811-A71F-D22685DAE823}" type="parTrans" cxnId="{8D0D7D3F-6765-4F28-B5F2-BEDF0CF88641}">
      <dgm:prSet/>
      <dgm:spPr/>
      <dgm:t>
        <a:bodyPr/>
        <a:lstStyle/>
        <a:p>
          <a:endParaRPr lang="en-US"/>
        </a:p>
      </dgm:t>
    </dgm:pt>
    <dgm:pt modelId="{8C98467B-A16D-46AB-89F9-E167C0071142}" type="sibTrans" cxnId="{8D0D7D3F-6765-4F28-B5F2-BEDF0CF88641}">
      <dgm:prSet/>
      <dgm:spPr/>
      <dgm:t>
        <a:bodyPr/>
        <a:lstStyle/>
        <a:p>
          <a:endParaRPr lang="en-US"/>
        </a:p>
      </dgm:t>
    </dgm:pt>
    <dgm:pt modelId="{CF2444AC-25A3-45AF-9E27-F0625589132F}">
      <dgm:prSet/>
      <dgm:spPr/>
      <dgm:t>
        <a:bodyPr/>
        <a:lstStyle/>
        <a:p>
          <a:r>
            <a:rPr lang="en-US" altLang="zh-CN" dirty="0"/>
            <a:t>Activity</a:t>
          </a:r>
          <a:r>
            <a:rPr lang="zh-CN" altLang="en-US" dirty="0"/>
            <a:t> </a:t>
          </a:r>
          <a:r>
            <a:rPr lang="en-US" altLang="zh-CN" dirty="0"/>
            <a:t>Selection/Interval</a:t>
          </a:r>
          <a:r>
            <a:rPr lang="zh-CN" altLang="en-US" dirty="0"/>
            <a:t> </a:t>
          </a:r>
          <a:r>
            <a:rPr lang="en-US" altLang="zh-CN" dirty="0"/>
            <a:t>Scheduling</a:t>
          </a:r>
          <a:endParaRPr lang="en-US" dirty="0"/>
        </a:p>
      </dgm:t>
    </dgm:pt>
    <dgm:pt modelId="{868C213E-ECF0-4837-9209-AC9DECD9C145}" type="parTrans" cxnId="{967003F1-89BF-460D-A4CA-2C5AA70BC355}">
      <dgm:prSet/>
      <dgm:spPr/>
      <dgm:t>
        <a:bodyPr/>
        <a:lstStyle/>
        <a:p>
          <a:endParaRPr lang="en-US"/>
        </a:p>
      </dgm:t>
    </dgm:pt>
    <dgm:pt modelId="{F53403EF-CE1D-433B-BCA2-CAF069B7E4B7}" type="sibTrans" cxnId="{967003F1-89BF-460D-A4CA-2C5AA70BC355}">
      <dgm:prSet/>
      <dgm:spPr/>
      <dgm:t>
        <a:bodyPr/>
        <a:lstStyle/>
        <a:p>
          <a:endParaRPr lang="en-US"/>
        </a:p>
      </dgm:t>
    </dgm:pt>
    <dgm:pt modelId="{B3AC4ABD-3393-49E6-B22C-5258D54F3AA8}">
      <dgm:prSet/>
      <dgm:spPr/>
      <dgm:t>
        <a:bodyPr/>
        <a:lstStyle/>
        <a:p>
          <a:r>
            <a:rPr lang="en-US" altLang="zh-CN" dirty="0">
              <a:solidFill>
                <a:schemeClr val="bg1"/>
              </a:solidFill>
            </a:rPr>
            <a:t>Interval</a:t>
          </a:r>
          <a:r>
            <a:rPr lang="zh-CN" altLang="en-US" dirty="0">
              <a:solidFill>
                <a:schemeClr val="bg1"/>
              </a:solidFill>
            </a:rPr>
            <a:t> </a:t>
          </a:r>
          <a:r>
            <a:rPr lang="en-US" altLang="zh-CN" dirty="0">
              <a:solidFill>
                <a:schemeClr val="bg1"/>
              </a:solidFill>
            </a:rPr>
            <a:t>Partitioning</a:t>
          </a:r>
          <a:endParaRPr lang="en-US" dirty="0">
            <a:solidFill>
              <a:schemeClr val="bg1"/>
            </a:solidFill>
          </a:endParaRPr>
        </a:p>
      </dgm:t>
    </dgm:pt>
    <dgm:pt modelId="{217CAF8E-9194-4CEE-B13D-4E63A1D5BC08}" type="parTrans" cxnId="{20AAC4C0-0D10-49F9-94CC-7F9A98CD0892}">
      <dgm:prSet/>
      <dgm:spPr/>
      <dgm:t>
        <a:bodyPr/>
        <a:lstStyle/>
        <a:p>
          <a:endParaRPr lang="en-US"/>
        </a:p>
      </dgm:t>
    </dgm:pt>
    <dgm:pt modelId="{7625B602-CC8D-40F6-A946-15E9FF8A917C}" type="sibTrans" cxnId="{20AAC4C0-0D10-49F9-94CC-7F9A98CD0892}">
      <dgm:prSet/>
      <dgm:spPr/>
      <dgm:t>
        <a:bodyPr/>
        <a:lstStyle/>
        <a:p>
          <a:endParaRPr lang="en-US"/>
        </a:p>
      </dgm:t>
    </dgm:pt>
    <dgm:pt modelId="{63A81FF4-263D-41CB-9071-D127CED2C26F}">
      <dgm:prSet custT="1"/>
      <dgm:spPr/>
      <dgm:t>
        <a:bodyPr/>
        <a:lstStyle/>
        <a:p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Max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Lateness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Minimization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Scheduling</a:t>
          </a:r>
          <a:endParaRPr lang="en-US" sz="2000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871569B9-983E-4147-A2C2-AEAE4B538B9F}" type="parTrans" cxnId="{FF429AB5-D8A5-450C-949E-C5993CDA6CF8}">
      <dgm:prSet/>
      <dgm:spPr/>
      <dgm:t>
        <a:bodyPr/>
        <a:lstStyle/>
        <a:p>
          <a:endParaRPr lang="en-US"/>
        </a:p>
      </dgm:t>
    </dgm:pt>
    <dgm:pt modelId="{6204F9E9-B966-4ED3-9620-B8AD2FA0992D}" type="sibTrans" cxnId="{FF429AB5-D8A5-450C-949E-C5993CDA6CF8}">
      <dgm:prSet/>
      <dgm:spPr/>
      <dgm:t>
        <a:bodyPr/>
        <a:lstStyle/>
        <a:p>
          <a:endParaRPr lang="en-US"/>
        </a:p>
      </dgm:t>
    </dgm:pt>
    <dgm:pt modelId="{82BF780E-35C8-5244-A178-392312345216}">
      <dgm:prSet/>
      <dgm:spPr/>
      <dgm:t>
        <a:bodyPr/>
        <a:lstStyle/>
        <a:p>
          <a:r>
            <a:rPr lang="en-US" altLang="zh-CN" dirty="0"/>
            <a:t>Greedy</a:t>
          </a:r>
          <a:r>
            <a:rPr lang="zh-CN" altLang="en-US" dirty="0"/>
            <a:t> </a:t>
          </a:r>
          <a:r>
            <a:rPr lang="en-US" altLang="zh-CN" dirty="0"/>
            <a:t>Algorithm</a:t>
          </a:r>
          <a:endParaRPr lang="zh-CN" altLang="en-US" dirty="0"/>
        </a:p>
      </dgm:t>
    </dgm:pt>
    <dgm:pt modelId="{5CACFC02-D176-124C-AF80-1AEF06E65DD3}" type="parTrans" cxnId="{B2A55DC6-0486-6344-BC09-E25D32432225}">
      <dgm:prSet/>
      <dgm:spPr/>
      <dgm:t>
        <a:bodyPr/>
        <a:lstStyle/>
        <a:p>
          <a:endParaRPr lang="zh-CN" altLang="en-US"/>
        </a:p>
      </dgm:t>
    </dgm:pt>
    <dgm:pt modelId="{07FFF902-5725-CE43-8743-EFF490A14789}" type="sibTrans" cxnId="{B2A55DC6-0486-6344-BC09-E25D32432225}">
      <dgm:prSet/>
      <dgm:spPr/>
      <dgm:t>
        <a:bodyPr/>
        <a:lstStyle/>
        <a:p>
          <a:endParaRPr lang="zh-CN" altLang="en-US"/>
        </a:p>
      </dgm:t>
    </dgm:pt>
    <dgm:pt modelId="{2EEF85AF-4B87-C440-83AA-7A6F97371E15}">
      <dgm:prSet/>
      <dgm:spPr/>
      <dgm:t>
        <a:bodyPr/>
        <a:lstStyle/>
        <a:p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Optimality,</a:t>
          </a:r>
          <a:r>
            <a:rPr lang="zh-CN" altLang="en-US" dirty="0"/>
            <a:t> </a:t>
          </a:r>
          <a:r>
            <a:rPr lang="en-US" dirty="0"/>
            <a:t>Optimal sub-structure </a:t>
          </a:r>
          <a:endParaRPr lang="zh-CN" altLang="en-US" dirty="0"/>
        </a:p>
      </dgm:t>
    </dgm:pt>
    <dgm:pt modelId="{45E9E3BE-AB6B-9747-960E-1CE6911CDB84}" type="parTrans" cxnId="{4ACAF354-1219-884C-8C1B-ABF1D6C1E514}">
      <dgm:prSet/>
      <dgm:spPr/>
      <dgm:t>
        <a:bodyPr/>
        <a:lstStyle/>
        <a:p>
          <a:endParaRPr lang="zh-CN" altLang="en-US"/>
        </a:p>
      </dgm:t>
    </dgm:pt>
    <dgm:pt modelId="{781BA7AD-0BC0-C646-88FA-142C48D9796E}" type="sibTrans" cxnId="{4ACAF354-1219-884C-8C1B-ABF1D6C1E514}">
      <dgm:prSet/>
      <dgm:spPr/>
      <dgm:t>
        <a:bodyPr/>
        <a:lstStyle/>
        <a:p>
          <a:endParaRPr lang="zh-CN" altLang="en-US"/>
        </a:p>
      </dgm:t>
    </dgm:pt>
    <dgm:pt modelId="{40C135C6-FE8A-BE49-940B-3952902C4556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r>
            <a:rPr lang="zh-CN" altLang="en-US" dirty="0"/>
            <a:t> </a:t>
          </a:r>
        </a:p>
      </dgm:t>
    </dgm:pt>
    <dgm:pt modelId="{3CF44307-9A52-8E43-8D7A-EEEFE78E418E}" type="parTrans" cxnId="{1C9BE420-CC1B-674D-9E22-DA2AF86FD4BA}">
      <dgm:prSet/>
      <dgm:spPr/>
      <dgm:t>
        <a:bodyPr/>
        <a:lstStyle/>
        <a:p>
          <a:endParaRPr lang="zh-CN" altLang="en-US"/>
        </a:p>
      </dgm:t>
    </dgm:pt>
    <dgm:pt modelId="{430DC21D-1579-C444-9AE0-F5F6317CCE45}" type="sibTrans" cxnId="{1C9BE420-CC1B-674D-9E22-DA2AF86FD4BA}">
      <dgm:prSet/>
      <dgm:spPr/>
      <dgm:t>
        <a:bodyPr/>
        <a:lstStyle/>
        <a:p>
          <a:endParaRPr lang="zh-CN" altLang="en-US"/>
        </a:p>
      </dgm:t>
    </dgm:pt>
    <dgm:pt modelId="{677C9A02-E803-8648-BE03-AA1CC9080D68}">
      <dgm:prSet/>
      <dgm:spPr/>
      <dgm:t>
        <a:bodyPr/>
        <a:lstStyle/>
        <a:p>
          <a:r>
            <a:rPr lang="en-US" altLang="zh-CN" dirty="0"/>
            <a:t>Knapsack</a:t>
          </a:r>
          <a:r>
            <a:rPr lang="zh-CN" altLang="en-US" dirty="0"/>
            <a:t> </a:t>
          </a:r>
          <a:r>
            <a:rPr lang="en-US" altLang="zh-CN" dirty="0"/>
            <a:t>problem</a:t>
          </a:r>
          <a:endParaRPr lang="zh-CN" altLang="en-US" dirty="0"/>
        </a:p>
      </dgm:t>
    </dgm:pt>
    <dgm:pt modelId="{B62DE863-1BE7-CE4B-9E86-9D85B7817987}" type="parTrans" cxnId="{CA80A480-E22C-634B-A522-1139C70AF760}">
      <dgm:prSet/>
      <dgm:spPr/>
      <dgm:t>
        <a:bodyPr/>
        <a:lstStyle/>
        <a:p>
          <a:endParaRPr lang="zh-CN" altLang="en-US"/>
        </a:p>
      </dgm:t>
    </dgm:pt>
    <dgm:pt modelId="{215DAEF2-0B29-1D42-8E41-4BFD07D77A70}" type="sibTrans" cxnId="{CA80A480-E22C-634B-A522-1139C70AF760}">
      <dgm:prSet/>
      <dgm:spPr/>
      <dgm:t>
        <a:bodyPr/>
        <a:lstStyle/>
        <a:p>
          <a:endParaRPr lang="zh-CN" altLang="en-US"/>
        </a:p>
      </dgm:t>
    </dgm:pt>
    <dgm:pt modelId="{87006AB7-5DEB-5048-9A7A-C352760D0348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endParaRPr lang="zh-CN" altLang="en-US" dirty="0"/>
        </a:p>
      </dgm:t>
    </dgm:pt>
    <dgm:pt modelId="{CC7FCFD6-EC5A-424A-8DDB-7EF6B3069CC4}" type="parTrans" cxnId="{CEBEF0FD-1F8F-5840-9944-902DDEDE79AC}">
      <dgm:prSet/>
      <dgm:spPr/>
      <dgm:t>
        <a:bodyPr/>
        <a:lstStyle/>
        <a:p>
          <a:endParaRPr lang="zh-CN" altLang="en-US"/>
        </a:p>
      </dgm:t>
    </dgm:pt>
    <dgm:pt modelId="{7DF3500A-CC4C-984E-84D6-B85071EB2920}" type="sibTrans" cxnId="{CEBEF0FD-1F8F-5840-9944-902DDEDE79AC}">
      <dgm:prSet/>
      <dgm:spPr/>
      <dgm:t>
        <a:bodyPr/>
        <a:lstStyle/>
        <a:p>
          <a:endParaRPr lang="zh-CN" altLang="en-US"/>
        </a:p>
      </dgm:t>
    </dgm:pt>
    <dgm:pt modelId="{F098D7CD-E34D-AB40-90A3-37F93F15ACF8}">
      <dgm:prSet/>
      <dgm:spPr/>
      <dgm:t>
        <a:bodyPr/>
        <a:lstStyle/>
        <a:p>
          <a:r>
            <a:rPr lang="en-US" altLang="zh-CN" dirty="0"/>
            <a:t>Sum</a:t>
          </a:r>
          <a:r>
            <a:rPr lang="zh-CN" altLang="en-US" dirty="0"/>
            <a:t> </a:t>
          </a:r>
          <a:r>
            <a:rPr lang="en-US" altLang="zh-CN" dirty="0"/>
            <a:t>Penalty</a:t>
          </a:r>
          <a:r>
            <a:rPr lang="zh-CN" altLang="en-US" dirty="0"/>
            <a:t> </a:t>
          </a:r>
          <a:r>
            <a:rPr lang="en-US" altLang="zh-CN" dirty="0"/>
            <a:t>Minimization</a:t>
          </a:r>
          <a:r>
            <a:rPr lang="zh-CN" altLang="en-US" dirty="0"/>
            <a:t> </a:t>
          </a:r>
          <a:r>
            <a:rPr lang="en-US" altLang="zh-CN" dirty="0"/>
            <a:t>Scheduling</a:t>
          </a:r>
          <a:endParaRPr lang="zh-CN" altLang="en-US" dirty="0"/>
        </a:p>
      </dgm:t>
    </dgm:pt>
    <dgm:pt modelId="{7D5CA1B6-D1C0-AA4A-B2BF-6C4BF6AAC8F0}" type="parTrans" cxnId="{217E5972-44E9-6446-AC97-FE587E6BFBE4}">
      <dgm:prSet/>
      <dgm:spPr/>
      <dgm:t>
        <a:bodyPr/>
        <a:lstStyle/>
        <a:p>
          <a:endParaRPr lang="zh-CN" altLang="en-US"/>
        </a:p>
      </dgm:t>
    </dgm:pt>
    <dgm:pt modelId="{4A049BBC-2731-7743-A63A-12E2DCEA7637}" type="sibTrans" cxnId="{217E5972-44E9-6446-AC97-FE587E6BFBE4}">
      <dgm:prSet/>
      <dgm:spPr/>
      <dgm:t>
        <a:bodyPr/>
        <a:lstStyle/>
        <a:p>
          <a:endParaRPr lang="zh-CN" altLang="en-US"/>
        </a:p>
      </dgm:t>
    </dgm:pt>
    <dgm:pt modelId="{C71D30CF-91E6-5241-AC6A-181A2EEFF699}">
      <dgm:prSet/>
      <dgm:spPr/>
      <dgm:t>
        <a:bodyPr/>
        <a:lstStyle/>
        <a:p>
          <a:r>
            <a:rPr lang="en-US" altLang="zh-CN" dirty="0"/>
            <a:t>Huffman</a:t>
          </a:r>
          <a:r>
            <a:rPr lang="zh-CN" altLang="en-US" dirty="0"/>
            <a:t> </a:t>
          </a:r>
          <a:r>
            <a:rPr lang="en-US" altLang="zh-CN" dirty="0"/>
            <a:t>Coding</a:t>
          </a:r>
          <a:endParaRPr lang="zh-CN" altLang="en-US" dirty="0"/>
        </a:p>
      </dgm:t>
    </dgm:pt>
    <dgm:pt modelId="{EF24905C-034D-DB42-9541-EF86611E7A5B}" type="parTrans" cxnId="{BFE54DF6-2AF9-514E-887F-00A33F8E8B62}">
      <dgm:prSet/>
      <dgm:spPr/>
      <dgm:t>
        <a:bodyPr/>
        <a:lstStyle/>
        <a:p>
          <a:endParaRPr lang="zh-CN" altLang="en-US"/>
        </a:p>
      </dgm:t>
    </dgm:pt>
    <dgm:pt modelId="{A971A3FD-CD31-E242-82AF-B9F64BCF6241}" type="sibTrans" cxnId="{BFE54DF6-2AF9-514E-887F-00A33F8E8B62}">
      <dgm:prSet/>
      <dgm:spPr/>
      <dgm:t>
        <a:bodyPr/>
        <a:lstStyle/>
        <a:p>
          <a:endParaRPr lang="zh-CN" altLang="en-US"/>
        </a:p>
      </dgm:t>
    </dgm:pt>
    <dgm:pt modelId="{979813FF-10D6-5F4F-B734-B4566EA19FAF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endParaRPr lang="zh-CN" altLang="en-US" dirty="0"/>
        </a:p>
      </dgm:t>
    </dgm:pt>
    <dgm:pt modelId="{E2A24B37-9587-E344-A59F-03A51E37CEC7}" type="parTrans" cxnId="{65CCA65A-9D93-1943-AB12-19671CA00EBD}">
      <dgm:prSet/>
      <dgm:spPr/>
      <dgm:t>
        <a:bodyPr/>
        <a:lstStyle/>
        <a:p>
          <a:endParaRPr lang="zh-CN" altLang="en-US"/>
        </a:p>
      </dgm:t>
    </dgm:pt>
    <dgm:pt modelId="{95E63A6E-09AA-A240-80F7-A96B4FD720B0}" type="sibTrans" cxnId="{65CCA65A-9D93-1943-AB12-19671CA00EBD}">
      <dgm:prSet/>
      <dgm:spPr/>
      <dgm:t>
        <a:bodyPr/>
        <a:lstStyle/>
        <a:p>
          <a:endParaRPr lang="zh-CN" altLang="en-US"/>
        </a:p>
      </dgm:t>
    </dgm:pt>
    <dgm:pt modelId="{BEB40FAC-3C2F-D249-BCD7-CB20F15A2F2D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endParaRPr lang="zh-CN" altLang="en-US" dirty="0"/>
        </a:p>
      </dgm:t>
    </dgm:pt>
    <dgm:pt modelId="{AE85A0F3-E92F-E84C-9217-7D0D77F83808}" type="parTrans" cxnId="{C14B16E4-FB36-384B-A561-EA9A9B779A27}">
      <dgm:prSet/>
      <dgm:spPr/>
      <dgm:t>
        <a:bodyPr/>
        <a:lstStyle/>
        <a:p>
          <a:endParaRPr lang="zh-CN" altLang="en-US"/>
        </a:p>
      </dgm:t>
    </dgm:pt>
    <dgm:pt modelId="{C4E32C4A-39C3-114E-BF08-D0706BC8557F}" type="sibTrans" cxnId="{C14B16E4-FB36-384B-A561-EA9A9B779A27}">
      <dgm:prSet/>
      <dgm:spPr/>
      <dgm:t>
        <a:bodyPr/>
        <a:lstStyle/>
        <a:p>
          <a:endParaRPr lang="zh-CN" altLang="en-US"/>
        </a:p>
      </dgm:t>
    </dgm:pt>
    <dgm:pt modelId="{4084B97A-ECD3-B145-88EB-9CD1854BF825}">
      <dgm:prSet/>
      <dgm:spPr/>
      <dgm:t>
        <a:bodyPr/>
        <a:lstStyle/>
        <a:p>
          <a:r>
            <a:rPr lang="en-US" altLang="zh-CN" dirty="0"/>
            <a:t>Matroid</a:t>
          </a:r>
          <a:endParaRPr lang="zh-CN" altLang="en-US" dirty="0"/>
        </a:p>
      </dgm:t>
    </dgm:pt>
    <dgm:pt modelId="{09A7FDC5-D302-7940-819B-D4B95BEF6BB1}" type="parTrans" cxnId="{B6FF1E31-DB40-6D47-B6C5-521E7992E754}">
      <dgm:prSet/>
      <dgm:spPr/>
    </dgm:pt>
    <dgm:pt modelId="{F1DE2C70-2891-254F-A4F0-BB510A9BD363}" type="sibTrans" cxnId="{B6FF1E31-DB40-6D47-B6C5-521E7992E754}">
      <dgm:prSet/>
      <dgm:spPr/>
    </dgm:pt>
    <dgm:pt modelId="{E3F036DE-6942-EB4D-9A0C-88DB77F2BE78}" type="pres">
      <dgm:prSet presAssocID="{CD4C4DF3-CDA3-4C1A-BA09-6F2AA9088C98}" presName="linear" presStyleCnt="0">
        <dgm:presLayoutVars>
          <dgm:animLvl val="lvl"/>
          <dgm:resizeHandles val="exact"/>
        </dgm:presLayoutVars>
      </dgm:prSet>
      <dgm:spPr/>
    </dgm:pt>
    <dgm:pt modelId="{F36BEC44-DAC6-6343-85FD-985E84DAB391}" type="pres">
      <dgm:prSet presAssocID="{AC918355-8F9B-4F09-B720-6574DA287041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8FD44975-0EA2-2744-8F62-194D31243E1B}" type="pres">
      <dgm:prSet presAssocID="{AC918355-8F9B-4F09-B720-6574DA287041}" presName="childText" presStyleLbl="revTx" presStyleIdx="0" presStyleCnt="6">
        <dgm:presLayoutVars>
          <dgm:bulletEnabled val="1"/>
        </dgm:presLayoutVars>
      </dgm:prSet>
      <dgm:spPr/>
    </dgm:pt>
    <dgm:pt modelId="{CAA1060A-F01D-234D-A5B5-15047FFE84C8}" type="pres">
      <dgm:prSet presAssocID="{CF2444AC-25A3-45AF-9E27-F0625589132F}" presName="parentText" presStyleLbl="node1" presStyleIdx="1" presStyleCnt="7" custLinFactNeighborX="-1034" custLinFactNeighborY="1077">
        <dgm:presLayoutVars>
          <dgm:chMax val="0"/>
          <dgm:bulletEnabled val="1"/>
        </dgm:presLayoutVars>
      </dgm:prSet>
      <dgm:spPr/>
    </dgm:pt>
    <dgm:pt modelId="{B3D4FF40-A116-F443-A12B-EBBDAC4C5921}" type="pres">
      <dgm:prSet presAssocID="{CF2444AC-25A3-45AF-9E27-F0625589132F}" presName="childText" presStyleLbl="revTx" presStyleIdx="1" presStyleCnt="6">
        <dgm:presLayoutVars>
          <dgm:bulletEnabled val="1"/>
        </dgm:presLayoutVars>
      </dgm:prSet>
      <dgm:spPr/>
    </dgm:pt>
    <dgm:pt modelId="{1070F474-A7B6-BC4B-9FF9-22A4F96CDBF7}" type="pres">
      <dgm:prSet presAssocID="{4084B97A-ECD3-B145-88EB-9CD1854BF825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CB539309-0300-E649-BCD7-289275DCADAA}" type="pres">
      <dgm:prSet presAssocID="{F1DE2C70-2891-254F-A4F0-BB510A9BD363}" presName="spacer" presStyleCnt="0"/>
      <dgm:spPr/>
    </dgm:pt>
    <dgm:pt modelId="{74E7862E-A08A-E740-BD64-70A8C62E4534}" type="pres">
      <dgm:prSet presAssocID="{F098D7CD-E34D-AB40-90A3-37F93F15ACF8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1DA4B74F-3938-224C-B8AD-5AC96748D1AE}" type="pres">
      <dgm:prSet presAssocID="{F098D7CD-E34D-AB40-90A3-37F93F15ACF8}" presName="childText" presStyleLbl="revTx" presStyleIdx="2" presStyleCnt="6">
        <dgm:presLayoutVars>
          <dgm:bulletEnabled val="1"/>
        </dgm:presLayoutVars>
      </dgm:prSet>
      <dgm:spPr/>
    </dgm:pt>
    <dgm:pt modelId="{0F9D7059-6B5A-324D-BBB2-FF4779936521}" type="pres">
      <dgm:prSet presAssocID="{B3AC4ABD-3393-49E6-B22C-5258D54F3AA8}" presName="parentText" presStyleLbl="node1" presStyleIdx="4" presStyleCnt="7" custLinFactNeighborX="166" custLinFactNeighborY="-1958">
        <dgm:presLayoutVars>
          <dgm:chMax val="0"/>
          <dgm:bulletEnabled val="1"/>
        </dgm:presLayoutVars>
      </dgm:prSet>
      <dgm:spPr/>
    </dgm:pt>
    <dgm:pt modelId="{83C615D7-3F44-1542-8AB9-18060F3340FA}" type="pres">
      <dgm:prSet presAssocID="{B3AC4ABD-3393-49E6-B22C-5258D54F3AA8}" presName="childText" presStyleLbl="revTx" presStyleIdx="3" presStyleCnt="6">
        <dgm:presLayoutVars>
          <dgm:bulletEnabled val="1"/>
        </dgm:presLayoutVars>
      </dgm:prSet>
      <dgm:spPr/>
    </dgm:pt>
    <dgm:pt modelId="{27CFC81F-1429-A241-BA29-F4FAC6F69A90}" type="pres">
      <dgm:prSet presAssocID="{63A81FF4-263D-41CB-9071-D127CED2C26F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D4E3098-A1D7-A548-BAB5-7C5B68BD5803}" type="pres">
      <dgm:prSet presAssocID="{63A81FF4-263D-41CB-9071-D127CED2C26F}" presName="childText" presStyleLbl="revTx" presStyleIdx="4" presStyleCnt="6">
        <dgm:presLayoutVars>
          <dgm:bulletEnabled val="1"/>
        </dgm:presLayoutVars>
      </dgm:prSet>
      <dgm:spPr/>
    </dgm:pt>
    <dgm:pt modelId="{5A2B2C49-2F63-4841-9864-CB284F986961}" type="pres">
      <dgm:prSet presAssocID="{C71D30CF-91E6-5241-AC6A-181A2EEFF699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AAB7C639-0C53-3442-BE4C-8F6F83218280}" type="pres">
      <dgm:prSet presAssocID="{C71D30CF-91E6-5241-AC6A-181A2EEFF699}" presName="childText" presStyleLbl="revTx" presStyleIdx="5" presStyleCnt="6">
        <dgm:presLayoutVars>
          <dgm:bulletEnabled val="1"/>
        </dgm:presLayoutVars>
      </dgm:prSet>
      <dgm:spPr/>
    </dgm:pt>
  </dgm:ptLst>
  <dgm:cxnLst>
    <dgm:cxn modelId="{F267AE07-3DF6-0446-A9FF-DB560CFF09D6}" type="presOf" srcId="{87006AB7-5DEB-5048-9A7A-C352760D0348}" destId="{8D4E3098-A1D7-A548-BAB5-7C5B68BD5803}" srcOrd="0" destOrd="0" presId="urn:microsoft.com/office/officeart/2005/8/layout/vList2"/>
    <dgm:cxn modelId="{1C9BE420-CC1B-674D-9E22-DA2AF86FD4BA}" srcId="{B3AC4ABD-3393-49E6-B22C-5258D54F3AA8}" destId="{40C135C6-FE8A-BE49-940B-3952902C4556}" srcOrd="0" destOrd="0" parTransId="{3CF44307-9A52-8E43-8D7A-EEEFE78E418E}" sibTransId="{430DC21D-1579-C444-9AE0-F5F6317CCE45}"/>
    <dgm:cxn modelId="{845E4E21-EB6D-1A48-8D81-186E7D91B7CC}" type="presOf" srcId="{63A81FF4-263D-41CB-9071-D127CED2C26F}" destId="{27CFC81F-1429-A241-BA29-F4FAC6F69A90}" srcOrd="0" destOrd="0" presId="urn:microsoft.com/office/officeart/2005/8/layout/vList2"/>
    <dgm:cxn modelId="{B6FF1E31-DB40-6D47-B6C5-521E7992E754}" srcId="{CD4C4DF3-CDA3-4C1A-BA09-6F2AA9088C98}" destId="{4084B97A-ECD3-B145-88EB-9CD1854BF825}" srcOrd="2" destOrd="0" parTransId="{09A7FDC5-D302-7940-819B-D4B95BEF6BB1}" sibTransId="{F1DE2C70-2891-254F-A4F0-BB510A9BD363}"/>
    <dgm:cxn modelId="{AA2C9435-4412-1149-879E-9387616E263B}" type="presOf" srcId="{2EEF85AF-4B87-C440-83AA-7A6F97371E15}" destId="{B3D4FF40-A116-F443-A12B-EBBDAC4C5921}" srcOrd="0" destOrd="1" presId="urn:microsoft.com/office/officeart/2005/8/layout/vList2"/>
    <dgm:cxn modelId="{2F29543D-3CD9-E041-8034-8BD1B751A642}" type="presOf" srcId="{C71D30CF-91E6-5241-AC6A-181A2EEFF699}" destId="{5A2B2C49-2F63-4841-9864-CB284F986961}" srcOrd="0" destOrd="0" presId="urn:microsoft.com/office/officeart/2005/8/layout/vList2"/>
    <dgm:cxn modelId="{8D0D7D3F-6765-4F28-B5F2-BEDF0CF88641}" srcId="{CD4C4DF3-CDA3-4C1A-BA09-6F2AA9088C98}" destId="{AC918355-8F9B-4F09-B720-6574DA287041}" srcOrd="0" destOrd="0" parTransId="{E97D0D5F-C26B-4811-A71F-D22685DAE823}" sibTransId="{8C98467B-A16D-46AB-89F9-E167C0071142}"/>
    <dgm:cxn modelId="{4ACAF354-1219-884C-8C1B-ABF1D6C1E514}" srcId="{CF2444AC-25A3-45AF-9E27-F0625589132F}" destId="{2EEF85AF-4B87-C440-83AA-7A6F97371E15}" srcOrd="1" destOrd="0" parTransId="{45E9E3BE-AB6B-9747-960E-1CE6911CDB84}" sibTransId="{781BA7AD-0BC0-C646-88FA-142C48D9796E}"/>
    <dgm:cxn modelId="{7800755A-57F5-684E-B424-B3F63B604698}" type="presOf" srcId="{979813FF-10D6-5F4F-B734-B4566EA19FAF}" destId="{1DA4B74F-3938-224C-B8AD-5AC96748D1AE}" srcOrd="0" destOrd="0" presId="urn:microsoft.com/office/officeart/2005/8/layout/vList2"/>
    <dgm:cxn modelId="{65CCA65A-9D93-1943-AB12-19671CA00EBD}" srcId="{F098D7CD-E34D-AB40-90A3-37F93F15ACF8}" destId="{979813FF-10D6-5F4F-B734-B4566EA19FAF}" srcOrd="0" destOrd="0" parTransId="{E2A24B37-9587-E344-A59F-03A51E37CEC7}" sibTransId="{95E63A6E-09AA-A240-80F7-A96B4FD720B0}"/>
    <dgm:cxn modelId="{217E5972-44E9-6446-AC97-FE587E6BFBE4}" srcId="{CD4C4DF3-CDA3-4C1A-BA09-6F2AA9088C98}" destId="{F098D7CD-E34D-AB40-90A3-37F93F15ACF8}" srcOrd="3" destOrd="0" parTransId="{7D5CA1B6-D1C0-AA4A-B2BF-6C4BF6AAC8F0}" sibTransId="{4A049BBC-2731-7743-A63A-12E2DCEA7637}"/>
    <dgm:cxn modelId="{367CF977-A5F2-A142-A10A-27687B4E5CBC}" type="presOf" srcId="{CD4C4DF3-CDA3-4C1A-BA09-6F2AA9088C98}" destId="{E3F036DE-6942-EB4D-9A0C-88DB77F2BE78}" srcOrd="0" destOrd="0" presId="urn:microsoft.com/office/officeart/2005/8/layout/vList2"/>
    <dgm:cxn modelId="{CA80A480-E22C-634B-A522-1139C70AF760}" srcId="{AC918355-8F9B-4F09-B720-6574DA287041}" destId="{677C9A02-E803-8648-BE03-AA1CC9080D68}" srcOrd="0" destOrd="0" parTransId="{B62DE863-1BE7-CE4B-9E86-9D85B7817987}" sibTransId="{215DAEF2-0B29-1D42-8E41-4BFD07D77A70}"/>
    <dgm:cxn modelId="{26907285-2563-4041-8562-4A62562F406B}" type="presOf" srcId="{40C135C6-FE8A-BE49-940B-3952902C4556}" destId="{83C615D7-3F44-1542-8AB9-18060F3340FA}" srcOrd="0" destOrd="0" presId="urn:microsoft.com/office/officeart/2005/8/layout/vList2"/>
    <dgm:cxn modelId="{6176BE85-C411-6145-A12D-CFD2CC2743D2}" type="presOf" srcId="{B3AC4ABD-3393-49E6-B22C-5258D54F3AA8}" destId="{0F9D7059-6B5A-324D-BBB2-FF4779936521}" srcOrd="0" destOrd="0" presId="urn:microsoft.com/office/officeart/2005/8/layout/vList2"/>
    <dgm:cxn modelId="{1B471A91-86E7-C14B-95AA-08ADB80473B8}" type="presOf" srcId="{F098D7CD-E34D-AB40-90A3-37F93F15ACF8}" destId="{74E7862E-A08A-E740-BD64-70A8C62E4534}" srcOrd="0" destOrd="0" presId="urn:microsoft.com/office/officeart/2005/8/layout/vList2"/>
    <dgm:cxn modelId="{7AB36395-EF23-1F4E-9627-DB5E5C24B0FE}" type="presOf" srcId="{CF2444AC-25A3-45AF-9E27-F0625589132F}" destId="{CAA1060A-F01D-234D-A5B5-15047FFE84C8}" srcOrd="0" destOrd="0" presId="urn:microsoft.com/office/officeart/2005/8/layout/vList2"/>
    <dgm:cxn modelId="{CF87B7AB-E83E-764E-9454-A9FA3EC4D2F7}" type="presOf" srcId="{4084B97A-ECD3-B145-88EB-9CD1854BF825}" destId="{1070F474-A7B6-BC4B-9FF9-22A4F96CDBF7}" srcOrd="0" destOrd="0" presId="urn:microsoft.com/office/officeart/2005/8/layout/vList2"/>
    <dgm:cxn modelId="{FF429AB5-D8A5-450C-949E-C5993CDA6CF8}" srcId="{CD4C4DF3-CDA3-4C1A-BA09-6F2AA9088C98}" destId="{63A81FF4-263D-41CB-9071-D127CED2C26F}" srcOrd="5" destOrd="0" parTransId="{871569B9-983E-4147-A2C2-AEAE4B538B9F}" sibTransId="{6204F9E9-B966-4ED3-9620-B8AD2FA0992D}"/>
    <dgm:cxn modelId="{EDD61ABF-C930-BC4B-8925-1948461EC541}" type="presOf" srcId="{BEB40FAC-3C2F-D249-BCD7-CB20F15A2F2D}" destId="{AAB7C639-0C53-3442-BE4C-8F6F83218280}" srcOrd="0" destOrd="0" presId="urn:microsoft.com/office/officeart/2005/8/layout/vList2"/>
    <dgm:cxn modelId="{20AAC4C0-0D10-49F9-94CC-7F9A98CD0892}" srcId="{CD4C4DF3-CDA3-4C1A-BA09-6F2AA9088C98}" destId="{B3AC4ABD-3393-49E6-B22C-5258D54F3AA8}" srcOrd="4" destOrd="0" parTransId="{217CAF8E-9194-4CEE-B13D-4E63A1D5BC08}" sibTransId="{7625B602-CC8D-40F6-A946-15E9FF8A917C}"/>
    <dgm:cxn modelId="{9E236EC3-2499-C343-9C8F-F7509F26D59D}" type="presOf" srcId="{AC918355-8F9B-4F09-B720-6574DA287041}" destId="{F36BEC44-DAC6-6343-85FD-985E84DAB391}" srcOrd="0" destOrd="0" presId="urn:microsoft.com/office/officeart/2005/8/layout/vList2"/>
    <dgm:cxn modelId="{B2A55DC6-0486-6344-BC09-E25D32432225}" srcId="{CF2444AC-25A3-45AF-9E27-F0625589132F}" destId="{82BF780E-35C8-5244-A178-392312345216}" srcOrd="0" destOrd="0" parTransId="{5CACFC02-D176-124C-AF80-1AEF06E65DD3}" sibTransId="{07FFF902-5725-CE43-8743-EFF490A14789}"/>
    <dgm:cxn modelId="{23D216CE-03C6-0C4C-878B-B2659A3188F9}" type="presOf" srcId="{677C9A02-E803-8648-BE03-AA1CC9080D68}" destId="{8FD44975-0EA2-2744-8F62-194D31243E1B}" srcOrd="0" destOrd="0" presId="urn:microsoft.com/office/officeart/2005/8/layout/vList2"/>
    <dgm:cxn modelId="{C14B16E4-FB36-384B-A561-EA9A9B779A27}" srcId="{C71D30CF-91E6-5241-AC6A-181A2EEFF699}" destId="{BEB40FAC-3C2F-D249-BCD7-CB20F15A2F2D}" srcOrd="0" destOrd="0" parTransId="{AE85A0F3-E92F-E84C-9217-7D0D77F83808}" sibTransId="{C4E32C4A-39C3-114E-BF08-D0706BC8557F}"/>
    <dgm:cxn modelId="{967003F1-89BF-460D-A4CA-2C5AA70BC355}" srcId="{CD4C4DF3-CDA3-4C1A-BA09-6F2AA9088C98}" destId="{CF2444AC-25A3-45AF-9E27-F0625589132F}" srcOrd="1" destOrd="0" parTransId="{868C213E-ECF0-4837-9209-AC9DECD9C145}" sibTransId="{F53403EF-CE1D-433B-BCA2-CAF069B7E4B7}"/>
    <dgm:cxn modelId="{BFE54DF6-2AF9-514E-887F-00A33F8E8B62}" srcId="{CD4C4DF3-CDA3-4C1A-BA09-6F2AA9088C98}" destId="{C71D30CF-91E6-5241-AC6A-181A2EEFF699}" srcOrd="6" destOrd="0" parTransId="{EF24905C-034D-DB42-9541-EF86611E7A5B}" sibTransId="{A971A3FD-CD31-E242-82AF-B9F64BCF6241}"/>
    <dgm:cxn modelId="{CEBEF0FD-1F8F-5840-9944-902DDEDE79AC}" srcId="{63A81FF4-263D-41CB-9071-D127CED2C26F}" destId="{87006AB7-5DEB-5048-9A7A-C352760D0348}" srcOrd="0" destOrd="0" parTransId="{CC7FCFD6-EC5A-424A-8DDB-7EF6B3069CC4}" sibTransId="{7DF3500A-CC4C-984E-84D6-B85071EB2920}"/>
    <dgm:cxn modelId="{22CE78FF-2883-CB47-9C7F-2F06069B3327}" type="presOf" srcId="{82BF780E-35C8-5244-A178-392312345216}" destId="{B3D4FF40-A116-F443-A12B-EBBDAC4C5921}" srcOrd="0" destOrd="0" presId="urn:microsoft.com/office/officeart/2005/8/layout/vList2"/>
    <dgm:cxn modelId="{877BD231-F12A-0545-BC98-C663D98ECB0C}" type="presParOf" srcId="{E3F036DE-6942-EB4D-9A0C-88DB77F2BE78}" destId="{F36BEC44-DAC6-6343-85FD-985E84DAB391}" srcOrd="0" destOrd="0" presId="urn:microsoft.com/office/officeart/2005/8/layout/vList2"/>
    <dgm:cxn modelId="{28DAC00B-117E-8B47-B5DB-0730959186CC}" type="presParOf" srcId="{E3F036DE-6942-EB4D-9A0C-88DB77F2BE78}" destId="{8FD44975-0EA2-2744-8F62-194D31243E1B}" srcOrd="1" destOrd="0" presId="urn:microsoft.com/office/officeart/2005/8/layout/vList2"/>
    <dgm:cxn modelId="{61ED2CEE-28BB-F940-8E84-DC94E2C443D7}" type="presParOf" srcId="{E3F036DE-6942-EB4D-9A0C-88DB77F2BE78}" destId="{CAA1060A-F01D-234D-A5B5-15047FFE84C8}" srcOrd="2" destOrd="0" presId="urn:microsoft.com/office/officeart/2005/8/layout/vList2"/>
    <dgm:cxn modelId="{638C5C3F-6F2B-1A43-9FA1-BBE743102D93}" type="presParOf" srcId="{E3F036DE-6942-EB4D-9A0C-88DB77F2BE78}" destId="{B3D4FF40-A116-F443-A12B-EBBDAC4C5921}" srcOrd="3" destOrd="0" presId="urn:microsoft.com/office/officeart/2005/8/layout/vList2"/>
    <dgm:cxn modelId="{1DB402FE-63B0-CE44-8179-C5791232D1F1}" type="presParOf" srcId="{E3F036DE-6942-EB4D-9A0C-88DB77F2BE78}" destId="{1070F474-A7B6-BC4B-9FF9-22A4F96CDBF7}" srcOrd="4" destOrd="0" presId="urn:microsoft.com/office/officeart/2005/8/layout/vList2"/>
    <dgm:cxn modelId="{62E73D30-C997-A042-8CE8-7F678DDC963F}" type="presParOf" srcId="{E3F036DE-6942-EB4D-9A0C-88DB77F2BE78}" destId="{CB539309-0300-E649-BCD7-289275DCADAA}" srcOrd="5" destOrd="0" presId="urn:microsoft.com/office/officeart/2005/8/layout/vList2"/>
    <dgm:cxn modelId="{A206D089-9098-DD4B-B5A8-9C759CB8C320}" type="presParOf" srcId="{E3F036DE-6942-EB4D-9A0C-88DB77F2BE78}" destId="{74E7862E-A08A-E740-BD64-70A8C62E4534}" srcOrd="6" destOrd="0" presId="urn:microsoft.com/office/officeart/2005/8/layout/vList2"/>
    <dgm:cxn modelId="{A2F00941-299F-2B4A-8B10-D7BB116AD940}" type="presParOf" srcId="{E3F036DE-6942-EB4D-9A0C-88DB77F2BE78}" destId="{1DA4B74F-3938-224C-B8AD-5AC96748D1AE}" srcOrd="7" destOrd="0" presId="urn:microsoft.com/office/officeart/2005/8/layout/vList2"/>
    <dgm:cxn modelId="{699258F9-0214-4B46-819A-53AECA3B91C5}" type="presParOf" srcId="{E3F036DE-6942-EB4D-9A0C-88DB77F2BE78}" destId="{0F9D7059-6B5A-324D-BBB2-FF4779936521}" srcOrd="8" destOrd="0" presId="urn:microsoft.com/office/officeart/2005/8/layout/vList2"/>
    <dgm:cxn modelId="{4B186BBF-3D4A-E447-B75E-4C41B9B376FE}" type="presParOf" srcId="{E3F036DE-6942-EB4D-9A0C-88DB77F2BE78}" destId="{83C615D7-3F44-1542-8AB9-18060F3340FA}" srcOrd="9" destOrd="0" presId="urn:microsoft.com/office/officeart/2005/8/layout/vList2"/>
    <dgm:cxn modelId="{3B3E1F7F-BD0C-9C48-927B-5F8B717A7765}" type="presParOf" srcId="{E3F036DE-6942-EB4D-9A0C-88DB77F2BE78}" destId="{27CFC81F-1429-A241-BA29-F4FAC6F69A90}" srcOrd="10" destOrd="0" presId="urn:microsoft.com/office/officeart/2005/8/layout/vList2"/>
    <dgm:cxn modelId="{8680AFAF-1B75-874C-AFF8-4E803D3F16DD}" type="presParOf" srcId="{E3F036DE-6942-EB4D-9A0C-88DB77F2BE78}" destId="{8D4E3098-A1D7-A548-BAB5-7C5B68BD5803}" srcOrd="11" destOrd="0" presId="urn:microsoft.com/office/officeart/2005/8/layout/vList2"/>
    <dgm:cxn modelId="{50D35F1C-7FB2-1643-B90D-EB3D671DA536}" type="presParOf" srcId="{E3F036DE-6942-EB4D-9A0C-88DB77F2BE78}" destId="{5A2B2C49-2F63-4841-9864-CB284F986961}" srcOrd="12" destOrd="0" presId="urn:microsoft.com/office/officeart/2005/8/layout/vList2"/>
    <dgm:cxn modelId="{36CEF566-56C4-D14B-B74C-C4083F1B7E24}" type="presParOf" srcId="{E3F036DE-6942-EB4D-9A0C-88DB77F2BE78}" destId="{AAB7C639-0C53-3442-BE4C-8F6F83218280}" srcOrd="1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4C4DF3-CDA3-4C1A-BA09-6F2AA9088C9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C918355-8F9B-4F09-B720-6574DA287041}">
      <dgm:prSet/>
      <dgm:spPr/>
      <dgm:t>
        <a:bodyPr/>
        <a:lstStyle/>
        <a:p>
          <a:r>
            <a:rPr lang="en-US" altLang="zh-CN" dirty="0"/>
            <a:t>Greedy</a:t>
          </a:r>
          <a:r>
            <a:rPr lang="zh-CN" altLang="en-US" dirty="0"/>
            <a:t> </a:t>
          </a:r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doesn’t</a:t>
          </a:r>
          <a:r>
            <a:rPr lang="zh-CN" altLang="en-US" dirty="0"/>
            <a:t> </a:t>
          </a:r>
          <a:r>
            <a:rPr lang="en-US" altLang="zh-CN" dirty="0"/>
            <a:t>work</a:t>
          </a:r>
        </a:p>
      </dgm:t>
    </dgm:pt>
    <dgm:pt modelId="{E97D0D5F-C26B-4811-A71F-D22685DAE823}" type="parTrans" cxnId="{8D0D7D3F-6765-4F28-B5F2-BEDF0CF88641}">
      <dgm:prSet/>
      <dgm:spPr/>
      <dgm:t>
        <a:bodyPr/>
        <a:lstStyle/>
        <a:p>
          <a:endParaRPr lang="en-US"/>
        </a:p>
      </dgm:t>
    </dgm:pt>
    <dgm:pt modelId="{8C98467B-A16D-46AB-89F9-E167C0071142}" type="sibTrans" cxnId="{8D0D7D3F-6765-4F28-B5F2-BEDF0CF88641}">
      <dgm:prSet/>
      <dgm:spPr/>
      <dgm:t>
        <a:bodyPr/>
        <a:lstStyle/>
        <a:p>
          <a:endParaRPr lang="en-US"/>
        </a:p>
      </dgm:t>
    </dgm:pt>
    <dgm:pt modelId="{CF2444AC-25A3-45AF-9E27-F0625589132F}">
      <dgm:prSet/>
      <dgm:spPr/>
      <dgm:t>
        <a:bodyPr/>
        <a:lstStyle/>
        <a:p>
          <a:r>
            <a:rPr lang="en-US" altLang="zh-CN" dirty="0"/>
            <a:t>Activity</a:t>
          </a:r>
          <a:r>
            <a:rPr lang="zh-CN" altLang="en-US" dirty="0"/>
            <a:t> </a:t>
          </a:r>
          <a:r>
            <a:rPr lang="en-US" altLang="zh-CN" dirty="0"/>
            <a:t>Selection/Interval</a:t>
          </a:r>
          <a:r>
            <a:rPr lang="zh-CN" altLang="en-US" dirty="0"/>
            <a:t> </a:t>
          </a:r>
          <a:r>
            <a:rPr lang="en-US" altLang="zh-CN" dirty="0"/>
            <a:t>Scheduling</a:t>
          </a:r>
          <a:endParaRPr lang="en-US" dirty="0"/>
        </a:p>
      </dgm:t>
    </dgm:pt>
    <dgm:pt modelId="{868C213E-ECF0-4837-9209-AC9DECD9C145}" type="parTrans" cxnId="{967003F1-89BF-460D-A4CA-2C5AA70BC355}">
      <dgm:prSet/>
      <dgm:spPr/>
      <dgm:t>
        <a:bodyPr/>
        <a:lstStyle/>
        <a:p>
          <a:endParaRPr lang="en-US"/>
        </a:p>
      </dgm:t>
    </dgm:pt>
    <dgm:pt modelId="{F53403EF-CE1D-433B-BCA2-CAF069B7E4B7}" type="sibTrans" cxnId="{967003F1-89BF-460D-A4CA-2C5AA70BC355}">
      <dgm:prSet/>
      <dgm:spPr/>
      <dgm:t>
        <a:bodyPr/>
        <a:lstStyle/>
        <a:p>
          <a:endParaRPr lang="en-US"/>
        </a:p>
      </dgm:t>
    </dgm:pt>
    <dgm:pt modelId="{B3AC4ABD-3393-49E6-B22C-5258D54F3AA8}">
      <dgm:prSet/>
      <dgm:spPr/>
      <dgm:t>
        <a:bodyPr/>
        <a:lstStyle/>
        <a:p>
          <a:r>
            <a:rPr lang="en-US" altLang="zh-CN" dirty="0">
              <a:solidFill>
                <a:schemeClr val="bg1"/>
              </a:solidFill>
            </a:rPr>
            <a:t>Interval</a:t>
          </a:r>
          <a:r>
            <a:rPr lang="zh-CN" altLang="en-US" dirty="0">
              <a:solidFill>
                <a:schemeClr val="bg1"/>
              </a:solidFill>
            </a:rPr>
            <a:t> </a:t>
          </a:r>
          <a:r>
            <a:rPr lang="en-US" altLang="zh-CN" dirty="0">
              <a:solidFill>
                <a:schemeClr val="bg1"/>
              </a:solidFill>
            </a:rPr>
            <a:t>Partitioning</a:t>
          </a:r>
          <a:endParaRPr lang="en-US" dirty="0">
            <a:solidFill>
              <a:schemeClr val="bg1"/>
            </a:solidFill>
          </a:endParaRPr>
        </a:p>
      </dgm:t>
    </dgm:pt>
    <dgm:pt modelId="{217CAF8E-9194-4CEE-B13D-4E63A1D5BC08}" type="parTrans" cxnId="{20AAC4C0-0D10-49F9-94CC-7F9A98CD0892}">
      <dgm:prSet/>
      <dgm:spPr/>
      <dgm:t>
        <a:bodyPr/>
        <a:lstStyle/>
        <a:p>
          <a:endParaRPr lang="en-US"/>
        </a:p>
      </dgm:t>
    </dgm:pt>
    <dgm:pt modelId="{7625B602-CC8D-40F6-A946-15E9FF8A917C}" type="sibTrans" cxnId="{20AAC4C0-0D10-49F9-94CC-7F9A98CD0892}">
      <dgm:prSet/>
      <dgm:spPr/>
      <dgm:t>
        <a:bodyPr/>
        <a:lstStyle/>
        <a:p>
          <a:endParaRPr lang="en-US"/>
        </a:p>
      </dgm:t>
    </dgm:pt>
    <dgm:pt modelId="{63A81FF4-263D-41CB-9071-D127CED2C26F}">
      <dgm:prSet custT="1"/>
      <dgm:spPr/>
      <dgm:t>
        <a:bodyPr/>
        <a:lstStyle/>
        <a:p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Max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Lateness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Minimization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Scheduling</a:t>
          </a:r>
          <a:endParaRPr lang="en-US" sz="2000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871569B9-983E-4147-A2C2-AEAE4B538B9F}" type="parTrans" cxnId="{FF429AB5-D8A5-450C-949E-C5993CDA6CF8}">
      <dgm:prSet/>
      <dgm:spPr/>
      <dgm:t>
        <a:bodyPr/>
        <a:lstStyle/>
        <a:p>
          <a:endParaRPr lang="en-US"/>
        </a:p>
      </dgm:t>
    </dgm:pt>
    <dgm:pt modelId="{6204F9E9-B966-4ED3-9620-B8AD2FA0992D}" type="sibTrans" cxnId="{FF429AB5-D8A5-450C-949E-C5993CDA6CF8}">
      <dgm:prSet/>
      <dgm:spPr/>
      <dgm:t>
        <a:bodyPr/>
        <a:lstStyle/>
        <a:p>
          <a:endParaRPr lang="en-US"/>
        </a:p>
      </dgm:t>
    </dgm:pt>
    <dgm:pt modelId="{82BF780E-35C8-5244-A178-392312345216}">
      <dgm:prSet/>
      <dgm:spPr/>
      <dgm:t>
        <a:bodyPr/>
        <a:lstStyle/>
        <a:p>
          <a:r>
            <a:rPr lang="en-US" altLang="zh-CN" dirty="0"/>
            <a:t>Greedy</a:t>
          </a:r>
          <a:r>
            <a:rPr lang="zh-CN" altLang="en-US" dirty="0"/>
            <a:t> </a:t>
          </a:r>
          <a:r>
            <a:rPr lang="en-US" altLang="zh-CN" dirty="0"/>
            <a:t>Algorithm</a:t>
          </a:r>
          <a:endParaRPr lang="zh-CN" altLang="en-US" dirty="0"/>
        </a:p>
      </dgm:t>
    </dgm:pt>
    <dgm:pt modelId="{5CACFC02-D176-124C-AF80-1AEF06E65DD3}" type="parTrans" cxnId="{B2A55DC6-0486-6344-BC09-E25D32432225}">
      <dgm:prSet/>
      <dgm:spPr/>
      <dgm:t>
        <a:bodyPr/>
        <a:lstStyle/>
        <a:p>
          <a:endParaRPr lang="zh-CN" altLang="en-US"/>
        </a:p>
      </dgm:t>
    </dgm:pt>
    <dgm:pt modelId="{07FFF902-5725-CE43-8743-EFF490A14789}" type="sibTrans" cxnId="{B2A55DC6-0486-6344-BC09-E25D32432225}">
      <dgm:prSet/>
      <dgm:spPr/>
      <dgm:t>
        <a:bodyPr/>
        <a:lstStyle/>
        <a:p>
          <a:endParaRPr lang="zh-CN" altLang="en-US"/>
        </a:p>
      </dgm:t>
    </dgm:pt>
    <dgm:pt modelId="{2EEF85AF-4B87-C440-83AA-7A6F97371E15}">
      <dgm:prSet/>
      <dgm:spPr/>
      <dgm:t>
        <a:bodyPr/>
        <a:lstStyle/>
        <a:p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Optimality,</a:t>
          </a:r>
          <a:r>
            <a:rPr lang="zh-CN" altLang="en-US" dirty="0"/>
            <a:t> </a:t>
          </a:r>
          <a:r>
            <a:rPr lang="en-US" dirty="0"/>
            <a:t>Optimal sub-structure </a:t>
          </a:r>
          <a:endParaRPr lang="zh-CN" altLang="en-US" dirty="0"/>
        </a:p>
      </dgm:t>
    </dgm:pt>
    <dgm:pt modelId="{45E9E3BE-AB6B-9747-960E-1CE6911CDB84}" type="parTrans" cxnId="{4ACAF354-1219-884C-8C1B-ABF1D6C1E514}">
      <dgm:prSet/>
      <dgm:spPr/>
      <dgm:t>
        <a:bodyPr/>
        <a:lstStyle/>
        <a:p>
          <a:endParaRPr lang="zh-CN" altLang="en-US"/>
        </a:p>
      </dgm:t>
    </dgm:pt>
    <dgm:pt modelId="{781BA7AD-0BC0-C646-88FA-142C48D9796E}" type="sibTrans" cxnId="{4ACAF354-1219-884C-8C1B-ABF1D6C1E514}">
      <dgm:prSet/>
      <dgm:spPr/>
      <dgm:t>
        <a:bodyPr/>
        <a:lstStyle/>
        <a:p>
          <a:endParaRPr lang="zh-CN" altLang="en-US"/>
        </a:p>
      </dgm:t>
    </dgm:pt>
    <dgm:pt modelId="{40C135C6-FE8A-BE49-940B-3952902C4556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r>
            <a:rPr lang="zh-CN" altLang="en-US" dirty="0"/>
            <a:t> </a:t>
          </a:r>
        </a:p>
      </dgm:t>
    </dgm:pt>
    <dgm:pt modelId="{3CF44307-9A52-8E43-8D7A-EEEFE78E418E}" type="parTrans" cxnId="{1C9BE420-CC1B-674D-9E22-DA2AF86FD4BA}">
      <dgm:prSet/>
      <dgm:spPr/>
      <dgm:t>
        <a:bodyPr/>
        <a:lstStyle/>
        <a:p>
          <a:endParaRPr lang="zh-CN" altLang="en-US"/>
        </a:p>
      </dgm:t>
    </dgm:pt>
    <dgm:pt modelId="{430DC21D-1579-C444-9AE0-F5F6317CCE45}" type="sibTrans" cxnId="{1C9BE420-CC1B-674D-9E22-DA2AF86FD4BA}">
      <dgm:prSet/>
      <dgm:spPr/>
      <dgm:t>
        <a:bodyPr/>
        <a:lstStyle/>
        <a:p>
          <a:endParaRPr lang="zh-CN" altLang="en-US"/>
        </a:p>
      </dgm:t>
    </dgm:pt>
    <dgm:pt modelId="{677C9A02-E803-8648-BE03-AA1CC9080D68}">
      <dgm:prSet/>
      <dgm:spPr/>
      <dgm:t>
        <a:bodyPr/>
        <a:lstStyle/>
        <a:p>
          <a:r>
            <a:rPr lang="en-US" altLang="zh-CN" dirty="0"/>
            <a:t>Knapsack</a:t>
          </a:r>
          <a:r>
            <a:rPr lang="zh-CN" altLang="en-US" dirty="0"/>
            <a:t> </a:t>
          </a:r>
          <a:r>
            <a:rPr lang="en-US" altLang="zh-CN" dirty="0"/>
            <a:t>problem</a:t>
          </a:r>
          <a:endParaRPr lang="zh-CN" altLang="en-US" dirty="0"/>
        </a:p>
      </dgm:t>
    </dgm:pt>
    <dgm:pt modelId="{B62DE863-1BE7-CE4B-9E86-9D85B7817987}" type="parTrans" cxnId="{CA80A480-E22C-634B-A522-1139C70AF760}">
      <dgm:prSet/>
      <dgm:spPr/>
      <dgm:t>
        <a:bodyPr/>
        <a:lstStyle/>
        <a:p>
          <a:endParaRPr lang="zh-CN" altLang="en-US"/>
        </a:p>
      </dgm:t>
    </dgm:pt>
    <dgm:pt modelId="{215DAEF2-0B29-1D42-8E41-4BFD07D77A70}" type="sibTrans" cxnId="{CA80A480-E22C-634B-A522-1139C70AF760}">
      <dgm:prSet/>
      <dgm:spPr/>
      <dgm:t>
        <a:bodyPr/>
        <a:lstStyle/>
        <a:p>
          <a:endParaRPr lang="zh-CN" altLang="en-US"/>
        </a:p>
      </dgm:t>
    </dgm:pt>
    <dgm:pt modelId="{87006AB7-5DEB-5048-9A7A-C352760D0348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endParaRPr lang="zh-CN" altLang="en-US" dirty="0"/>
        </a:p>
      </dgm:t>
    </dgm:pt>
    <dgm:pt modelId="{CC7FCFD6-EC5A-424A-8DDB-7EF6B3069CC4}" type="parTrans" cxnId="{CEBEF0FD-1F8F-5840-9944-902DDEDE79AC}">
      <dgm:prSet/>
      <dgm:spPr/>
      <dgm:t>
        <a:bodyPr/>
        <a:lstStyle/>
        <a:p>
          <a:endParaRPr lang="zh-CN" altLang="en-US"/>
        </a:p>
      </dgm:t>
    </dgm:pt>
    <dgm:pt modelId="{7DF3500A-CC4C-984E-84D6-B85071EB2920}" type="sibTrans" cxnId="{CEBEF0FD-1F8F-5840-9944-902DDEDE79AC}">
      <dgm:prSet/>
      <dgm:spPr/>
      <dgm:t>
        <a:bodyPr/>
        <a:lstStyle/>
        <a:p>
          <a:endParaRPr lang="zh-CN" altLang="en-US"/>
        </a:p>
      </dgm:t>
    </dgm:pt>
    <dgm:pt modelId="{F098D7CD-E34D-AB40-90A3-37F93F15ACF8}">
      <dgm:prSet/>
      <dgm:spPr/>
      <dgm:t>
        <a:bodyPr/>
        <a:lstStyle/>
        <a:p>
          <a:r>
            <a:rPr lang="en-US" altLang="zh-CN" dirty="0"/>
            <a:t>Sum</a:t>
          </a:r>
          <a:r>
            <a:rPr lang="zh-CN" altLang="en-US" dirty="0"/>
            <a:t> </a:t>
          </a:r>
          <a:r>
            <a:rPr lang="en-US" altLang="zh-CN" dirty="0"/>
            <a:t>Penalty</a:t>
          </a:r>
          <a:r>
            <a:rPr lang="zh-CN" altLang="en-US" dirty="0"/>
            <a:t> </a:t>
          </a:r>
          <a:r>
            <a:rPr lang="en-US" altLang="zh-CN" dirty="0"/>
            <a:t>Minimization</a:t>
          </a:r>
          <a:r>
            <a:rPr lang="zh-CN" altLang="en-US" dirty="0"/>
            <a:t> </a:t>
          </a:r>
          <a:r>
            <a:rPr lang="en-US" altLang="zh-CN" dirty="0"/>
            <a:t>Scheduling</a:t>
          </a:r>
          <a:endParaRPr lang="zh-CN" altLang="en-US" dirty="0"/>
        </a:p>
      </dgm:t>
    </dgm:pt>
    <dgm:pt modelId="{7D5CA1B6-D1C0-AA4A-B2BF-6C4BF6AAC8F0}" type="parTrans" cxnId="{217E5972-44E9-6446-AC97-FE587E6BFBE4}">
      <dgm:prSet/>
      <dgm:spPr/>
      <dgm:t>
        <a:bodyPr/>
        <a:lstStyle/>
        <a:p>
          <a:endParaRPr lang="zh-CN" altLang="en-US"/>
        </a:p>
      </dgm:t>
    </dgm:pt>
    <dgm:pt modelId="{4A049BBC-2731-7743-A63A-12E2DCEA7637}" type="sibTrans" cxnId="{217E5972-44E9-6446-AC97-FE587E6BFBE4}">
      <dgm:prSet/>
      <dgm:spPr/>
      <dgm:t>
        <a:bodyPr/>
        <a:lstStyle/>
        <a:p>
          <a:endParaRPr lang="zh-CN" altLang="en-US"/>
        </a:p>
      </dgm:t>
    </dgm:pt>
    <dgm:pt modelId="{C71D30CF-91E6-5241-AC6A-181A2EEFF699}">
      <dgm:prSet/>
      <dgm:spPr/>
      <dgm:t>
        <a:bodyPr/>
        <a:lstStyle/>
        <a:p>
          <a:r>
            <a:rPr lang="en-US" altLang="zh-CN" dirty="0"/>
            <a:t>Huffman</a:t>
          </a:r>
          <a:r>
            <a:rPr lang="zh-CN" altLang="en-US" dirty="0"/>
            <a:t> </a:t>
          </a:r>
          <a:r>
            <a:rPr lang="en-US" altLang="zh-CN" dirty="0"/>
            <a:t>Coding</a:t>
          </a:r>
          <a:endParaRPr lang="zh-CN" altLang="en-US" dirty="0"/>
        </a:p>
      </dgm:t>
    </dgm:pt>
    <dgm:pt modelId="{EF24905C-034D-DB42-9541-EF86611E7A5B}" type="parTrans" cxnId="{BFE54DF6-2AF9-514E-887F-00A33F8E8B62}">
      <dgm:prSet/>
      <dgm:spPr/>
      <dgm:t>
        <a:bodyPr/>
        <a:lstStyle/>
        <a:p>
          <a:endParaRPr lang="zh-CN" altLang="en-US"/>
        </a:p>
      </dgm:t>
    </dgm:pt>
    <dgm:pt modelId="{A971A3FD-CD31-E242-82AF-B9F64BCF6241}" type="sibTrans" cxnId="{BFE54DF6-2AF9-514E-887F-00A33F8E8B62}">
      <dgm:prSet/>
      <dgm:spPr/>
      <dgm:t>
        <a:bodyPr/>
        <a:lstStyle/>
        <a:p>
          <a:endParaRPr lang="zh-CN" altLang="en-US"/>
        </a:p>
      </dgm:t>
    </dgm:pt>
    <dgm:pt modelId="{979813FF-10D6-5F4F-B734-B4566EA19FAF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endParaRPr lang="zh-CN" altLang="en-US" dirty="0"/>
        </a:p>
      </dgm:t>
    </dgm:pt>
    <dgm:pt modelId="{E2A24B37-9587-E344-A59F-03A51E37CEC7}" type="parTrans" cxnId="{65CCA65A-9D93-1943-AB12-19671CA00EBD}">
      <dgm:prSet/>
      <dgm:spPr/>
      <dgm:t>
        <a:bodyPr/>
        <a:lstStyle/>
        <a:p>
          <a:endParaRPr lang="zh-CN" altLang="en-US"/>
        </a:p>
      </dgm:t>
    </dgm:pt>
    <dgm:pt modelId="{95E63A6E-09AA-A240-80F7-A96B4FD720B0}" type="sibTrans" cxnId="{65CCA65A-9D93-1943-AB12-19671CA00EBD}">
      <dgm:prSet/>
      <dgm:spPr/>
      <dgm:t>
        <a:bodyPr/>
        <a:lstStyle/>
        <a:p>
          <a:endParaRPr lang="zh-CN" altLang="en-US"/>
        </a:p>
      </dgm:t>
    </dgm:pt>
    <dgm:pt modelId="{BEB40FAC-3C2F-D249-BCD7-CB20F15A2F2D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endParaRPr lang="zh-CN" altLang="en-US" dirty="0"/>
        </a:p>
      </dgm:t>
    </dgm:pt>
    <dgm:pt modelId="{AE85A0F3-E92F-E84C-9217-7D0D77F83808}" type="parTrans" cxnId="{C14B16E4-FB36-384B-A561-EA9A9B779A27}">
      <dgm:prSet/>
      <dgm:spPr/>
      <dgm:t>
        <a:bodyPr/>
        <a:lstStyle/>
        <a:p>
          <a:endParaRPr lang="zh-CN" altLang="en-US"/>
        </a:p>
      </dgm:t>
    </dgm:pt>
    <dgm:pt modelId="{C4E32C4A-39C3-114E-BF08-D0706BC8557F}" type="sibTrans" cxnId="{C14B16E4-FB36-384B-A561-EA9A9B779A27}">
      <dgm:prSet/>
      <dgm:spPr/>
      <dgm:t>
        <a:bodyPr/>
        <a:lstStyle/>
        <a:p>
          <a:endParaRPr lang="zh-CN" altLang="en-US"/>
        </a:p>
      </dgm:t>
    </dgm:pt>
    <dgm:pt modelId="{4084B97A-ECD3-B145-88EB-9CD1854BF825}">
      <dgm:prSet/>
      <dgm:spPr/>
      <dgm:t>
        <a:bodyPr/>
        <a:lstStyle/>
        <a:p>
          <a:r>
            <a:rPr lang="en-US" altLang="zh-CN" dirty="0"/>
            <a:t>Matroid</a:t>
          </a:r>
          <a:endParaRPr lang="zh-CN" altLang="en-US" dirty="0"/>
        </a:p>
      </dgm:t>
    </dgm:pt>
    <dgm:pt modelId="{09A7FDC5-D302-7940-819B-D4B95BEF6BB1}" type="parTrans" cxnId="{B6FF1E31-DB40-6D47-B6C5-521E7992E754}">
      <dgm:prSet/>
      <dgm:spPr/>
    </dgm:pt>
    <dgm:pt modelId="{F1DE2C70-2891-254F-A4F0-BB510A9BD363}" type="sibTrans" cxnId="{B6FF1E31-DB40-6D47-B6C5-521E7992E754}">
      <dgm:prSet/>
      <dgm:spPr/>
    </dgm:pt>
    <dgm:pt modelId="{E3F036DE-6942-EB4D-9A0C-88DB77F2BE78}" type="pres">
      <dgm:prSet presAssocID="{CD4C4DF3-CDA3-4C1A-BA09-6F2AA9088C98}" presName="linear" presStyleCnt="0">
        <dgm:presLayoutVars>
          <dgm:animLvl val="lvl"/>
          <dgm:resizeHandles val="exact"/>
        </dgm:presLayoutVars>
      </dgm:prSet>
      <dgm:spPr/>
    </dgm:pt>
    <dgm:pt modelId="{F36BEC44-DAC6-6343-85FD-985E84DAB391}" type="pres">
      <dgm:prSet presAssocID="{AC918355-8F9B-4F09-B720-6574DA287041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8FD44975-0EA2-2744-8F62-194D31243E1B}" type="pres">
      <dgm:prSet presAssocID="{AC918355-8F9B-4F09-B720-6574DA287041}" presName="childText" presStyleLbl="revTx" presStyleIdx="0" presStyleCnt="6">
        <dgm:presLayoutVars>
          <dgm:bulletEnabled val="1"/>
        </dgm:presLayoutVars>
      </dgm:prSet>
      <dgm:spPr/>
    </dgm:pt>
    <dgm:pt modelId="{CAA1060A-F01D-234D-A5B5-15047FFE84C8}" type="pres">
      <dgm:prSet presAssocID="{CF2444AC-25A3-45AF-9E27-F0625589132F}" presName="parentText" presStyleLbl="node1" presStyleIdx="1" presStyleCnt="7" custLinFactNeighborX="-1034" custLinFactNeighborY="1077">
        <dgm:presLayoutVars>
          <dgm:chMax val="0"/>
          <dgm:bulletEnabled val="1"/>
        </dgm:presLayoutVars>
      </dgm:prSet>
      <dgm:spPr/>
    </dgm:pt>
    <dgm:pt modelId="{B3D4FF40-A116-F443-A12B-EBBDAC4C5921}" type="pres">
      <dgm:prSet presAssocID="{CF2444AC-25A3-45AF-9E27-F0625589132F}" presName="childText" presStyleLbl="revTx" presStyleIdx="1" presStyleCnt="6">
        <dgm:presLayoutVars>
          <dgm:bulletEnabled val="1"/>
        </dgm:presLayoutVars>
      </dgm:prSet>
      <dgm:spPr/>
    </dgm:pt>
    <dgm:pt modelId="{1070F474-A7B6-BC4B-9FF9-22A4F96CDBF7}" type="pres">
      <dgm:prSet presAssocID="{4084B97A-ECD3-B145-88EB-9CD1854BF825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CB539309-0300-E649-BCD7-289275DCADAA}" type="pres">
      <dgm:prSet presAssocID="{F1DE2C70-2891-254F-A4F0-BB510A9BD363}" presName="spacer" presStyleCnt="0"/>
      <dgm:spPr/>
    </dgm:pt>
    <dgm:pt modelId="{74E7862E-A08A-E740-BD64-70A8C62E4534}" type="pres">
      <dgm:prSet presAssocID="{F098D7CD-E34D-AB40-90A3-37F93F15ACF8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1DA4B74F-3938-224C-B8AD-5AC96748D1AE}" type="pres">
      <dgm:prSet presAssocID="{F098D7CD-E34D-AB40-90A3-37F93F15ACF8}" presName="childText" presStyleLbl="revTx" presStyleIdx="2" presStyleCnt="6">
        <dgm:presLayoutVars>
          <dgm:bulletEnabled val="1"/>
        </dgm:presLayoutVars>
      </dgm:prSet>
      <dgm:spPr/>
    </dgm:pt>
    <dgm:pt modelId="{0F9D7059-6B5A-324D-BBB2-FF4779936521}" type="pres">
      <dgm:prSet presAssocID="{B3AC4ABD-3393-49E6-B22C-5258D54F3AA8}" presName="parentText" presStyleLbl="node1" presStyleIdx="4" presStyleCnt="7" custLinFactNeighborX="166" custLinFactNeighborY="-1958">
        <dgm:presLayoutVars>
          <dgm:chMax val="0"/>
          <dgm:bulletEnabled val="1"/>
        </dgm:presLayoutVars>
      </dgm:prSet>
      <dgm:spPr/>
    </dgm:pt>
    <dgm:pt modelId="{83C615D7-3F44-1542-8AB9-18060F3340FA}" type="pres">
      <dgm:prSet presAssocID="{B3AC4ABD-3393-49E6-B22C-5258D54F3AA8}" presName="childText" presStyleLbl="revTx" presStyleIdx="3" presStyleCnt="6">
        <dgm:presLayoutVars>
          <dgm:bulletEnabled val="1"/>
        </dgm:presLayoutVars>
      </dgm:prSet>
      <dgm:spPr/>
    </dgm:pt>
    <dgm:pt modelId="{27CFC81F-1429-A241-BA29-F4FAC6F69A90}" type="pres">
      <dgm:prSet presAssocID="{63A81FF4-263D-41CB-9071-D127CED2C26F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D4E3098-A1D7-A548-BAB5-7C5B68BD5803}" type="pres">
      <dgm:prSet presAssocID="{63A81FF4-263D-41CB-9071-D127CED2C26F}" presName="childText" presStyleLbl="revTx" presStyleIdx="4" presStyleCnt="6">
        <dgm:presLayoutVars>
          <dgm:bulletEnabled val="1"/>
        </dgm:presLayoutVars>
      </dgm:prSet>
      <dgm:spPr/>
    </dgm:pt>
    <dgm:pt modelId="{5A2B2C49-2F63-4841-9864-CB284F986961}" type="pres">
      <dgm:prSet presAssocID="{C71D30CF-91E6-5241-AC6A-181A2EEFF699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AAB7C639-0C53-3442-BE4C-8F6F83218280}" type="pres">
      <dgm:prSet presAssocID="{C71D30CF-91E6-5241-AC6A-181A2EEFF699}" presName="childText" presStyleLbl="revTx" presStyleIdx="5" presStyleCnt="6">
        <dgm:presLayoutVars>
          <dgm:bulletEnabled val="1"/>
        </dgm:presLayoutVars>
      </dgm:prSet>
      <dgm:spPr/>
    </dgm:pt>
  </dgm:ptLst>
  <dgm:cxnLst>
    <dgm:cxn modelId="{F267AE07-3DF6-0446-A9FF-DB560CFF09D6}" type="presOf" srcId="{87006AB7-5DEB-5048-9A7A-C352760D0348}" destId="{8D4E3098-A1D7-A548-BAB5-7C5B68BD5803}" srcOrd="0" destOrd="0" presId="urn:microsoft.com/office/officeart/2005/8/layout/vList2"/>
    <dgm:cxn modelId="{1C9BE420-CC1B-674D-9E22-DA2AF86FD4BA}" srcId="{B3AC4ABD-3393-49E6-B22C-5258D54F3AA8}" destId="{40C135C6-FE8A-BE49-940B-3952902C4556}" srcOrd="0" destOrd="0" parTransId="{3CF44307-9A52-8E43-8D7A-EEEFE78E418E}" sibTransId="{430DC21D-1579-C444-9AE0-F5F6317CCE45}"/>
    <dgm:cxn modelId="{845E4E21-EB6D-1A48-8D81-186E7D91B7CC}" type="presOf" srcId="{63A81FF4-263D-41CB-9071-D127CED2C26F}" destId="{27CFC81F-1429-A241-BA29-F4FAC6F69A90}" srcOrd="0" destOrd="0" presId="urn:microsoft.com/office/officeart/2005/8/layout/vList2"/>
    <dgm:cxn modelId="{B6FF1E31-DB40-6D47-B6C5-521E7992E754}" srcId="{CD4C4DF3-CDA3-4C1A-BA09-6F2AA9088C98}" destId="{4084B97A-ECD3-B145-88EB-9CD1854BF825}" srcOrd="2" destOrd="0" parTransId="{09A7FDC5-D302-7940-819B-D4B95BEF6BB1}" sibTransId="{F1DE2C70-2891-254F-A4F0-BB510A9BD363}"/>
    <dgm:cxn modelId="{AA2C9435-4412-1149-879E-9387616E263B}" type="presOf" srcId="{2EEF85AF-4B87-C440-83AA-7A6F97371E15}" destId="{B3D4FF40-A116-F443-A12B-EBBDAC4C5921}" srcOrd="0" destOrd="1" presId="urn:microsoft.com/office/officeart/2005/8/layout/vList2"/>
    <dgm:cxn modelId="{2F29543D-3CD9-E041-8034-8BD1B751A642}" type="presOf" srcId="{C71D30CF-91E6-5241-AC6A-181A2EEFF699}" destId="{5A2B2C49-2F63-4841-9864-CB284F986961}" srcOrd="0" destOrd="0" presId="urn:microsoft.com/office/officeart/2005/8/layout/vList2"/>
    <dgm:cxn modelId="{8D0D7D3F-6765-4F28-B5F2-BEDF0CF88641}" srcId="{CD4C4DF3-CDA3-4C1A-BA09-6F2AA9088C98}" destId="{AC918355-8F9B-4F09-B720-6574DA287041}" srcOrd="0" destOrd="0" parTransId="{E97D0D5F-C26B-4811-A71F-D22685DAE823}" sibTransId="{8C98467B-A16D-46AB-89F9-E167C0071142}"/>
    <dgm:cxn modelId="{4ACAF354-1219-884C-8C1B-ABF1D6C1E514}" srcId="{CF2444AC-25A3-45AF-9E27-F0625589132F}" destId="{2EEF85AF-4B87-C440-83AA-7A6F97371E15}" srcOrd="1" destOrd="0" parTransId="{45E9E3BE-AB6B-9747-960E-1CE6911CDB84}" sibTransId="{781BA7AD-0BC0-C646-88FA-142C48D9796E}"/>
    <dgm:cxn modelId="{7800755A-57F5-684E-B424-B3F63B604698}" type="presOf" srcId="{979813FF-10D6-5F4F-B734-B4566EA19FAF}" destId="{1DA4B74F-3938-224C-B8AD-5AC96748D1AE}" srcOrd="0" destOrd="0" presId="urn:microsoft.com/office/officeart/2005/8/layout/vList2"/>
    <dgm:cxn modelId="{65CCA65A-9D93-1943-AB12-19671CA00EBD}" srcId="{F098D7CD-E34D-AB40-90A3-37F93F15ACF8}" destId="{979813FF-10D6-5F4F-B734-B4566EA19FAF}" srcOrd="0" destOrd="0" parTransId="{E2A24B37-9587-E344-A59F-03A51E37CEC7}" sibTransId="{95E63A6E-09AA-A240-80F7-A96B4FD720B0}"/>
    <dgm:cxn modelId="{217E5972-44E9-6446-AC97-FE587E6BFBE4}" srcId="{CD4C4DF3-CDA3-4C1A-BA09-6F2AA9088C98}" destId="{F098D7CD-E34D-AB40-90A3-37F93F15ACF8}" srcOrd="3" destOrd="0" parTransId="{7D5CA1B6-D1C0-AA4A-B2BF-6C4BF6AAC8F0}" sibTransId="{4A049BBC-2731-7743-A63A-12E2DCEA7637}"/>
    <dgm:cxn modelId="{367CF977-A5F2-A142-A10A-27687B4E5CBC}" type="presOf" srcId="{CD4C4DF3-CDA3-4C1A-BA09-6F2AA9088C98}" destId="{E3F036DE-6942-EB4D-9A0C-88DB77F2BE78}" srcOrd="0" destOrd="0" presId="urn:microsoft.com/office/officeart/2005/8/layout/vList2"/>
    <dgm:cxn modelId="{CA80A480-E22C-634B-A522-1139C70AF760}" srcId="{AC918355-8F9B-4F09-B720-6574DA287041}" destId="{677C9A02-E803-8648-BE03-AA1CC9080D68}" srcOrd="0" destOrd="0" parTransId="{B62DE863-1BE7-CE4B-9E86-9D85B7817987}" sibTransId="{215DAEF2-0B29-1D42-8E41-4BFD07D77A70}"/>
    <dgm:cxn modelId="{26907285-2563-4041-8562-4A62562F406B}" type="presOf" srcId="{40C135C6-FE8A-BE49-940B-3952902C4556}" destId="{83C615D7-3F44-1542-8AB9-18060F3340FA}" srcOrd="0" destOrd="0" presId="urn:microsoft.com/office/officeart/2005/8/layout/vList2"/>
    <dgm:cxn modelId="{6176BE85-C411-6145-A12D-CFD2CC2743D2}" type="presOf" srcId="{B3AC4ABD-3393-49E6-B22C-5258D54F3AA8}" destId="{0F9D7059-6B5A-324D-BBB2-FF4779936521}" srcOrd="0" destOrd="0" presId="urn:microsoft.com/office/officeart/2005/8/layout/vList2"/>
    <dgm:cxn modelId="{1B471A91-86E7-C14B-95AA-08ADB80473B8}" type="presOf" srcId="{F098D7CD-E34D-AB40-90A3-37F93F15ACF8}" destId="{74E7862E-A08A-E740-BD64-70A8C62E4534}" srcOrd="0" destOrd="0" presId="urn:microsoft.com/office/officeart/2005/8/layout/vList2"/>
    <dgm:cxn modelId="{7AB36395-EF23-1F4E-9627-DB5E5C24B0FE}" type="presOf" srcId="{CF2444AC-25A3-45AF-9E27-F0625589132F}" destId="{CAA1060A-F01D-234D-A5B5-15047FFE84C8}" srcOrd="0" destOrd="0" presId="urn:microsoft.com/office/officeart/2005/8/layout/vList2"/>
    <dgm:cxn modelId="{CF87B7AB-E83E-764E-9454-A9FA3EC4D2F7}" type="presOf" srcId="{4084B97A-ECD3-B145-88EB-9CD1854BF825}" destId="{1070F474-A7B6-BC4B-9FF9-22A4F96CDBF7}" srcOrd="0" destOrd="0" presId="urn:microsoft.com/office/officeart/2005/8/layout/vList2"/>
    <dgm:cxn modelId="{FF429AB5-D8A5-450C-949E-C5993CDA6CF8}" srcId="{CD4C4DF3-CDA3-4C1A-BA09-6F2AA9088C98}" destId="{63A81FF4-263D-41CB-9071-D127CED2C26F}" srcOrd="5" destOrd="0" parTransId="{871569B9-983E-4147-A2C2-AEAE4B538B9F}" sibTransId="{6204F9E9-B966-4ED3-9620-B8AD2FA0992D}"/>
    <dgm:cxn modelId="{EDD61ABF-C930-BC4B-8925-1948461EC541}" type="presOf" srcId="{BEB40FAC-3C2F-D249-BCD7-CB20F15A2F2D}" destId="{AAB7C639-0C53-3442-BE4C-8F6F83218280}" srcOrd="0" destOrd="0" presId="urn:microsoft.com/office/officeart/2005/8/layout/vList2"/>
    <dgm:cxn modelId="{20AAC4C0-0D10-49F9-94CC-7F9A98CD0892}" srcId="{CD4C4DF3-CDA3-4C1A-BA09-6F2AA9088C98}" destId="{B3AC4ABD-3393-49E6-B22C-5258D54F3AA8}" srcOrd="4" destOrd="0" parTransId="{217CAF8E-9194-4CEE-B13D-4E63A1D5BC08}" sibTransId="{7625B602-CC8D-40F6-A946-15E9FF8A917C}"/>
    <dgm:cxn modelId="{9E236EC3-2499-C343-9C8F-F7509F26D59D}" type="presOf" srcId="{AC918355-8F9B-4F09-B720-6574DA287041}" destId="{F36BEC44-DAC6-6343-85FD-985E84DAB391}" srcOrd="0" destOrd="0" presId="urn:microsoft.com/office/officeart/2005/8/layout/vList2"/>
    <dgm:cxn modelId="{B2A55DC6-0486-6344-BC09-E25D32432225}" srcId="{CF2444AC-25A3-45AF-9E27-F0625589132F}" destId="{82BF780E-35C8-5244-A178-392312345216}" srcOrd="0" destOrd="0" parTransId="{5CACFC02-D176-124C-AF80-1AEF06E65DD3}" sibTransId="{07FFF902-5725-CE43-8743-EFF490A14789}"/>
    <dgm:cxn modelId="{23D216CE-03C6-0C4C-878B-B2659A3188F9}" type="presOf" srcId="{677C9A02-E803-8648-BE03-AA1CC9080D68}" destId="{8FD44975-0EA2-2744-8F62-194D31243E1B}" srcOrd="0" destOrd="0" presId="urn:microsoft.com/office/officeart/2005/8/layout/vList2"/>
    <dgm:cxn modelId="{C14B16E4-FB36-384B-A561-EA9A9B779A27}" srcId="{C71D30CF-91E6-5241-AC6A-181A2EEFF699}" destId="{BEB40FAC-3C2F-D249-BCD7-CB20F15A2F2D}" srcOrd="0" destOrd="0" parTransId="{AE85A0F3-E92F-E84C-9217-7D0D77F83808}" sibTransId="{C4E32C4A-39C3-114E-BF08-D0706BC8557F}"/>
    <dgm:cxn modelId="{967003F1-89BF-460D-A4CA-2C5AA70BC355}" srcId="{CD4C4DF3-CDA3-4C1A-BA09-6F2AA9088C98}" destId="{CF2444AC-25A3-45AF-9E27-F0625589132F}" srcOrd="1" destOrd="0" parTransId="{868C213E-ECF0-4837-9209-AC9DECD9C145}" sibTransId="{F53403EF-CE1D-433B-BCA2-CAF069B7E4B7}"/>
    <dgm:cxn modelId="{BFE54DF6-2AF9-514E-887F-00A33F8E8B62}" srcId="{CD4C4DF3-CDA3-4C1A-BA09-6F2AA9088C98}" destId="{C71D30CF-91E6-5241-AC6A-181A2EEFF699}" srcOrd="6" destOrd="0" parTransId="{EF24905C-034D-DB42-9541-EF86611E7A5B}" sibTransId="{A971A3FD-CD31-E242-82AF-B9F64BCF6241}"/>
    <dgm:cxn modelId="{CEBEF0FD-1F8F-5840-9944-902DDEDE79AC}" srcId="{63A81FF4-263D-41CB-9071-D127CED2C26F}" destId="{87006AB7-5DEB-5048-9A7A-C352760D0348}" srcOrd="0" destOrd="0" parTransId="{CC7FCFD6-EC5A-424A-8DDB-7EF6B3069CC4}" sibTransId="{7DF3500A-CC4C-984E-84D6-B85071EB2920}"/>
    <dgm:cxn modelId="{22CE78FF-2883-CB47-9C7F-2F06069B3327}" type="presOf" srcId="{82BF780E-35C8-5244-A178-392312345216}" destId="{B3D4FF40-A116-F443-A12B-EBBDAC4C5921}" srcOrd="0" destOrd="0" presId="urn:microsoft.com/office/officeart/2005/8/layout/vList2"/>
    <dgm:cxn modelId="{877BD231-F12A-0545-BC98-C663D98ECB0C}" type="presParOf" srcId="{E3F036DE-6942-EB4D-9A0C-88DB77F2BE78}" destId="{F36BEC44-DAC6-6343-85FD-985E84DAB391}" srcOrd="0" destOrd="0" presId="urn:microsoft.com/office/officeart/2005/8/layout/vList2"/>
    <dgm:cxn modelId="{28DAC00B-117E-8B47-B5DB-0730959186CC}" type="presParOf" srcId="{E3F036DE-6942-EB4D-9A0C-88DB77F2BE78}" destId="{8FD44975-0EA2-2744-8F62-194D31243E1B}" srcOrd="1" destOrd="0" presId="urn:microsoft.com/office/officeart/2005/8/layout/vList2"/>
    <dgm:cxn modelId="{61ED2CEE-28BB-F940-8E84-DC94E2C443D7}" type="presParOf" srcId="{E3F036DE-6942-EB4D-9A0C-88DB77F2BE78}" destId="{CAA1060A-F01D-234D-A5B5-15047FFE84C8}" srcOrd="2" destOrd="0" presId="urn:microsoft.com/office/officeart/2005/8/layout/vList2"/>
    <dgm:cxn modelId="{638C5C3F-6F2B-1A43-9FA1-BBE743102D93}" type="presParOf" srcId="{E3F036DE-6942-EB4D-9A0C-88DB77F2BE78}" destId="{B3D4FF40-A116-F443-A12B-EBBDAC4C5921}" srcOrd="3" destOrd="0" presId="urn:microsoft.com/office/officeart/2005/8/layout/vList2"/>
    <dgm:cxn modelId="{1DB402FE-63B0-CE44-8179-C5791232D1F1}" type="presParOf" srcId="{E3F036DE-6942-EB4D-9A0C-88DB77F2BE78}" destId="{1070F474-A7B6-BC4B-9FF9-22A4F96CDBF7}" srcOrd="4" destOrd="0" presId="urn:microsoft.com/office/officeart/2005/8/layout/vList2"/>
    <dgm:cxn modelId="{62E73D30-C997-A042-8CE8-7F678DDC963F}" type="presParOf" srcId="{E3F036DE-6942-EB4D-9A0C-88DB77F2BE78}" destId="{CB539309-0300-E649-BCD7-289275DCADAA}" srcOrd="5" destOrd="0" presId="urn:microsoft.com/office/officeart/2005/8/layout/vList2"/>
    <dgm:cxn modelId="{A206D089-9098-DD4B-B5A8-9C759CB8C320}" type="presParOf" srcId="{E3F036DE-6942-EB4D-9A0C-88DB77F2BE78}" destId="{74E7862E-A08A-E740-BD64-70A8C62E4534}" srcOrd="6" destOrd="0" presId="urn:microsoft.com/office/officeart/2005/8/layout/vList2"/>
    <dgm:cxn modelId="{A2F00941-299F-2B4A-8B10-D7BB116AD940}" type="presParOf" srcId="{E3F036DE-6942-EB4D-9A0C-88DB77F2BE78}" destId="{1DA4B74F-3938-224C-B8AD-5AC96748D1AE}" srcOrd="7" destOrd="0" presId="urn:microsoft.com/office/officeart/2005/8/layout/vList2"/>
    <dgm:cxn modelId="{699258F9-0214-4B46-819A-53AECA3B91C5}" type="presParOf" srcId="{E3F036DE-6942-EB4D-9A0C-88DB77F2BE78}" destId="{0F9D7059-6B5A-324D-BBB2-FF4779936521}" srcOrd="8" destOrd="0" presId="urn:microsoft.com/office/officeart/2005/8/layout/vList2"/>
    <dgm:cxn modelId="{4B186BBF-3D4A-E447-B75E-4C41B9B376FE}" type="presParOf" srcId="{E3F036DE-6942-EB4D-9A0C-88DB77F2BE78}" destId="{83C615D7-3F44-1542-8AB9-18060F3340FA}" srcOrd="9" destOrd="0" presId="urn:microsoft.com/office/officeart/2005/8/layout/vList2"/>
    <dgm:cxn modelId="{3B3E1F7F-BD0C-9C48-927B-5F8B717A7765}" type="presParOf" srcId="{E3F036DE-6942-EB4D-9A0C-88DB77F2BE78}" destId="{27CFC81F-1429-A241-BA29-F4FAC6F69A90}" srcOrd="10" destOrd="0" presId="urn:microsoft.com/office/officeart/2005/8/layout/vList2"/>
    <dgm:cxn modelId="{8680AFAF-1B75-874C-AFF8-4E803D3F16DD}" type="presParOf" srcId="{E3F036DE-6942-EB4D-9A0C-88DB77F2BE78}" destId="{8D4E3098-A1D7-A548-BAB5-7C5B68BD5803}" srcOrd="11" destOrd="0" presId="urn:microsoft.com/office/officeart/2005/8/layout/vList2"/>
    <dgm:cxn modelId="{50D35F1C-7FB2-1643-B90D-EB3D671DA536}" type="presParOf" srcId="{E3F036DE-6942-EB4D-9A0C-88DB77F2BE78}" destId="{5A2B2C49-2F63-4841-9864-CB284F986961}" srcOrd="12" destOrd="0" presId="urn:microsoft.com/office/officeart/2005/8/layout/vList2"/>
    <dgm:cxn modelId="{36CEF566-56C4-D14B-B74C-C4083F1B7E24}" type="presParOf" srcId="{E3F036DE-6942-EB4D-9A0C-88DB77F2BE78}" destId="{AAB7C639-0C53-3442-BE4C-8F6F83218280}" srcOrd="1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D4C4DF3-CDA3-4C1A-BA09-6F2AA9088C9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C918355-8F9B-4F09-B720-6574DA287041}">
      <dgm:prSet/>
      <dgm:spPr/>
      <dgm:t>
        <a:bodyPr/>
        <a:lstStyle/>
        <a:p>
          <a:r>
            <a:rPr lang="en-US" altLang="zh-CN" dirty="0"/>
            <a:t>Greedy</a:t>
          </a:r>
          <a:r>
            <a:rPr lang="zh-CN" altLang="en-US" dirty="0"/>
            <a:t> </a:t>
          </a:r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doesn’t</a:t>
          </a:r>
          <a:r>
            <a:rPr lang="zh-CN" altLang="en-US" dirty="0"/>
            <a:t> </a:t>
          </a:r>
          <a:r>
            <a:rPr lang="en-US" altLang="zh-CN" dirty="0"/>
            <a:t>work</a:t>
          </a:r>
        </a:p>
      </dgm:t>
    </dgm:pt>
    <dgm:pt modelId="{E97D0D5F-C26B-4811-A71F-D22685DAE823}" type="parTrans" cxnId="{8D0D7D3F-6765-4F28-B5F2-BEDF0CF88641}">
      <dgm:prSet/>
      <dgm:spPr/>
      <dgm:t>
        <a:bodyPr/>
        <a:lstStyle/>
        <a:p>
          <a:endParaRPr lang="en-US"/>
        </a:p>
      </dgm:t>
    </dgm:pt>
    <dgm:pt modelId="{8C98467B-A16D-46AB-89F9-E167C0071142}" type="sibTrans" cxnId="{8D0D7D3F-6765-4F28-B5F2-BEDF0CF88641}">
      <dgm:prSet/>
      <dgm:spPr/>
      <dgm:t>
        <a:bodyPr/>
        <a:lstStyle/>
        <a:p>
          <a:endParaRPr lang="en-US"/>
        </a:p>
      </dgm:t>
    </dgm:pt>
    <dgm:pt modelId="{CF2444AC-25A3-45AF-9E27-F0625589132F}">
      <dgm:prSet/>
      <dgm:spPr/>
      <dgm:t>
        <a:bodyPr/>
        <a:lstStyle/>
        <a:p>
          <a:r>
            <a:rPr lang="en-US" altLang="zh-CN" dirty="0"/>
            <a:t>Activity</a:t>
          </a:r>
          <a:r>
            <a:rPr lang="zh-CN" altLang="en-US" dirty="0"/>
            <a:t> </a:t>
          </a:r>
          <a:r>
            <a:rPr lang="en-US" altLang="zh-CN" dirty="0"/>
            <a:t>Selection/Interval</a:t>
          </a:r>
          <a:r>
            <a:rPr lang="zh-CN" altLang="en-US" dirty="0"/>
            <a:t> </a:t>
          </a:r>
          <a:r>
            <a:rPr lang="en-US" altLang="zh-CN" dirty="0"/>
            <a:t>Scheduling</a:t>
          </a:r>
          <a:endParaRPr lang="en-US" dirty="0"/>
        </a:p>
      </dgm:t>
    </dgm:pt>
    <dgm:pt modelId="{868C213E-ECF0-4837-9209-AC9DECD9C145}" type="parTrans" cxnId="{967003F1-89BF-460D-A4CA-2C5AA70BC355}">
      <dgm:prSet/>
      <dgm:spPr/>
      <dgm:t>
        <a:bodyPr/>
        <a:lstStyle/>
        <a:p>
          <a:endParaRPr lang="en-US"/>
        </a:p>
      </dgm:t>
    </dgm:pt>
    <dgm:pt modelId="{F53403EF-CE1D-433B-BCA2-CAF069B7E4B7}" type="sibTrans" cxnId="{967003F1-89BF-460D-A4CA-2C5AA70BC355}">
      <dgm:prSet/>
      <dgm:spPr/>
      <dgm:t>
        <a:bodyPr/>
        <a:lstStyle/>
        <a:p>
          <a:endParaRPr lang="en-US"/>
        </a:p>
      </dgm:t>
    </dgm:pt>
    <dgm:pt modelId="{B3AC4ABD-3393-49E6-B22C-5258D54F3AA8}">
      <dgm:prSet/>
      <dgm:spPr/>
      <dgm:t>
        <a:bodyPr/>
        <a:lstStyle/>
        <a:p>
          <a:r>
            <a:rPr lang="en-US" altLang="zh-CN" dirty="0">
              <a:solidFill>
                <a:schemeClr val="bg1"/>
              </a:solidFill>
            </a:rPr>
            <a:t>Interval</a:t>
          </a:r>
          <a:r>
            <a:rPr lang="zh-CN" altLang="en-US" dirty="0">
              <a:solidFill>
                <a:schemeClr val="bg1"/>
              </a:solidFill>
            </a:rPr>
            <a:t> </a:t>
          </a:r>
          <a:r>
            <a:rPr lang="en-US" altLang="zh-CN" dirty="0">
              <a:solidFill>
                <a:schemeClr val="bg1"/>
              </a:solidFill>
            </a:rPr>
            <a:t>Partitioning</a:t>
          </a:r>
          <a:endParaRPr lang="en-US" dirty="0">
            <a:solidFill>
              <a:schemeClr val="bg1"/>
            </a:solidFill>
          </a:endParaRPr>
        </a:p>
      </dgm:t>
    </dgm:pt>
    <dgm:pt modelId="{217CAF8E-9194-4CEE-B13D-4E63A1D5BC08}" type="parTrans" cxnId="{20AAC4C0-0D10-49F9-94CC-7F9A98CD0892}">
      <dgm:prSet/>
      <dgm:spPr/>
      <dgm:t>
        <a:bodyPr/>
        <a:lstStyle/>
        <a:p>
          <a:endParaRPr lang="en-US"/>
        </a:p>
      </dgm:t>
    </dgm:pt>
    <dgm:pt modelId="{7625B602-CC8D-40F6-A946-15E9FF8A917C}" type="sibTrans" cxnId="{20AAC4C0-0D10-49F9-94CC-7F9A98CD0892}">
      <dgm:prSet/>
      <dgm:spPr/>
      <dgm:t>
        <a:bodyPr/>
        <a:lstStyle/>
        <a:p>
          <a:endParaRPr lang="en-US"/>
        </a:p>
      </dgm:t>
    </dgm:pt>
    <dgm:pt modelId="{63A81FF4-263D-41CB-9071-D127CED2C26F}">
      <dgm:prSet custT="1"/>
      <dgm:spPr/>
      <dgm:t>
        <a:bodyPr/>
        <a:lstStyle/>
        <a:p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Max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Lateness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Minimization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Scheduling</a:t>
          </a:r>
          <a:endParaRPr lang="en-US" sz="2000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871569B9-983E-4147-A2C2-AEAE4B538B9F}" type="parTrans" cxnId="{FF429AB5-D8A5-450C-949E-C5993CDA6CF8}">
      <dgm:prSet/>
      <dgm:spPr/>
      <dgm:t>
        <a:bodyPr/>
        <a:lstStyle/>
        <a:p>
          <a:endParaRPr lang="en-US"/>
        </a:p>
      </dgm:t>
    </dgm:pt>
    <dgm:pt modelId="{6204F9E9-B966-4ED3-9620-B8AD2FA0992D}" type="sibTrans" cxnId="{FF429AB5-D8A5-450C-949E-C5993CDA6CF8}">
      <dgm:prSet/>
      <dgm:spPr/>
      <dgm:t>
        <a:bodyPr/>
        <a:lstStyle/>
        <a:p>
          <a:endParaRPr lang="en-US"/>
        </a:p>
      </dgm:t>
    </dgm:pt>
    <dgm:pt modelId="{82BF780E-35C8-5244-A178-392312345216}">
      <dgm:prSet/>
      <dgm:spPr/>
      <dgm:t>
        <a:bodyPr/>
        <a:lstStyle/>
        <a:p>
          <a:r>
            <a:rPr lang="en-US" altLang="zh-CN" dirty="0"/>
            <a:t>Greedy</a:t>
          </a:r>
          <a:r>
            <a:rPr lang="zh-CN" altLang="en-US" dirty="0"/>
            <a:t> </a:t>
          </a:r>
          <a:r>
            <a:rPr lang="en-US" altLang="zh-CN" dirty="0"/>
            <a:t>Algorithm</a:t>
          </a:r>
          <a:endParaRPr lang="zh-CN" altLang="en-US" dirty="0"/>
        </a:p>
      </dgm:t>
    </dgm:pt>
    <dgm:pt modelId="{5CACFC02-D176-124C-AF80-1AEF06E65DD3}" type="parTrans" cxnId="{B2A55DC6-0486-6344-BC09-E25D32432225}">
      <dgm:prSet/>
      <dgm:spPr/>
      <dgm:t>
        <a:bodyPr/>
        <a:lstStyle/>
        <a:p>
          <a:endParaRPr lang="zh-CN" altLang="en-US"/>
        </a:p>
      </dgm:t>
    </dgm:pt>
    <dgm:pt modelId="{07FFF902-5725-CE43-8743-EFF490A14789}" type="sibTrans" cxnId="{B2A55DC6-0486-6344-BC09-E25D32432225}">
      <dgm:prSet/>
      <dgm:spPr/>
      <dgm:t>
        <a:bodyPr/>
        <a:lstStyle/>
        <a:p>
          <a:endParaRPr lang="zh-CN" altLang="en-US"/>
        </a:p>
      </dgm:t>
    </dgm:pt>
    <dgm:pt modelId="{2EEF85AF-4B87-C440-83AA-7A6F97371E15}">
      <dgm:prSet/>
      <dgm:spPr/>
      <dgm:t>
        <a:bodyPr/>
        <a:lstStyle/>
        <a:p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Optimality,</a:t>
          </a:r>
          <a:r>
            <a:rPr lang="zh-CN" altLang="en-US" dirty="0"/>
            <a:t> </a:t>
          </a:r>
          <a:r>
            <a:rPr lang="en-US" dirty="0"/>
            <a:t>Optimal sub-structure </a:t>
          </a:r>
          <a:endParaRPr lang="zh-CN" altLang="en-US" dirty="0"/>
        </a:p>
      </dgm:t>
    </dgm:pt>
    <dgm:pt modelId="{45E9E3BE-AB6B-9747-960E-1CE6911CDB84}" type="parTrans" cxnId="{4ACAF354-1219-884C-8C1B-ABF1D6C1E514}">
      <dgm:prSet/>
      <dgm:spPr/>
      <dgm:t>
        <a:bodyPr/>
        <a:lstStyle/>
        <a:p>
          <a:endParaRPr lang="zh-CN" altLang="en-US"/>
        </a:p>
      </dgm:t>
    </dgm:pt>
    <dgm:pt modelId="{781BA7AD-0BC0-C646-88FA-142C48D9796E}" type="sibTrans" cxnId="{4ACAF354-1219-884C-8C1B-ABF1D6C1E514}">
      <dgm:prSet/>
      <dgm:spPr/>
      <dgm:t>
        <a:bodyPr/>
        <a:lstStyle/>
        <a:p>
          <a:endParaRPr lang="zh-CN" altLang="en-US"/>
        </a:p>
      </dgm:t>
    </dgm:pt>
    <dgm:pt modelId="{40C135C6-FE8A-BE49-940B-3952902C4556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r>
            <a:rPr lang="zh-CN" altLang="en-US" dirty="0"/>
            <a:t> </a:t>
          </a:r>
        </a:p>
      </dgm:t>
    </dgm:pt>
    <dgm:pt modelId="{3CF44307-9A52-8E43-8D7A-EEEFE78E418E}" type="parTrans" cxnId="{1C9BE420-CC1B-674D-9E22-DA2AF86FD4BA}">
      <dgm:prSet/>
      <dgm:spPr/>
      <dgm:t>
        <a:bodyPr/>
        <a:lstStyle/>
        <a:p>
          <a:endParaRPr lang="zh-CN" altLang="en-US"/>
        </a:p>
      </dgm:t>
    </dgm:pt>
    <dgm:pt modelId="{430DC21D-1579-C444-9AE0-F5F6317CCE45}" type="sibTrans" cxnId="{1C9BE420-CC1B-674D-9E22-DA2AF86FD4BA}">
      <dgm:prSet/>
      <dgm:spPr/>
      <dgm:t>
        <a:bodyPr/>
        <a:lstStyle/>
        <a:p>
          <a:endParaRPr lang="zh-CN" altLang="en-US"/>
        </a:p>
      </dgm:t>
    </dgm:pt>
    <dgm:pt modelId="{677C9A02-E803-8648-BE03-AA1CC9080D68}">
      <dgm:prSet/>
      <dgm:spPr/>
      <dgm:t>
        <a:bodyPr/>
        <a:lstStyle/>
        <a:p>
          <a:r>
            <a:rPr lang="en-US" altLang="zh-CN" dirty="0"/>
            <a:t>Knapsack</a:t>
          </a:r>
          <a:r>
            <a:rPr lang="zh-CN" altLang="en-US" dirty="0"/>
            <a:t> </a:t>
          </a:r>
          <a:r>
            <a:rPr lang="en-US" altLang="zh-CN" dirty="0"/>
            <a:t>problem</a:t>
          </a:r>
          <a:endParaRPr lang="zh-CN" altLang="en-US" dirty="0"/>
        </a:p>
      </dgm:t>
    </dgm:pt>
    <dgm:pt modelId="{B62DE863-1BE7-CE4B-9E86-9D85B7817987}" type="parTrans" cxnId="{CA80A480-E22C-634B-A522-1139C70AF760}">
      <dgm:prSet/>
      <dgm:spPr/>
      <dgm:t>
        <a:bodyPr/>
        <a:lstStyle/>
        <a:p>
          <a:endParaRPr lang="zh-CN" altLang="en-US"/>
        </a:p>
      </dgm:t>
    </dgm:pt>
    <dgm:pt modelId="{215DAEF2-0B29-1D42-8E41-4BFD07D77A70}" type="sibTrans" cxnId="{CA80A480-E22C-634B-A522-1139C70AF760}">
      <dgm:prSet/>
      <dgm:spPr/>
      <dgm:t>
        <a:bodyPr/>
        <a:lstStyle/>
        <a:p>
          <a:endParaRPr lang="zh-CN" altLang="en-US"/>
        </a:p>
      </dgm:t>
    </dgm:pt>
    <dgm:pt modelId="{87006AB7-5DEB-5048-9A7A-C352760D0348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endParaRPr lang="zh-CN" altLang="en-US" dirty="0"/>
        </a:p>
      </dgm:t>
    </dgm:pt>
    <dgm:pt modelId="{CC7FCFD6-EC5A-424A-8DDB-7EF6B3069CC4}" type="parTrans" cxnId="{CEBEF0FD-1F8F-5840-9944-902DDEDE79AC}">
      <dgm:prSet/>
      <dgm:spPr/>
      <dgm:t>
        <a:bodyPr/>
        <a:lstStyle/>
        <a:p>
          <a:endParaRPr lang="zh-CN" altLang="en-US"/>
        </a:p>
      </dgm:t>
    </dgm:pt>
    <dgm:pt modelId="{7DF3500A-CC4C-984E-84D6-B85071EB2920}" type="sibTrans" cxnId="{CEBEF0FD-1F8F-5840-9944-902DDEDE79AC}">
      <dgm:prSet/>
      <dgm:spPr/>
      <dgm:t>
        <a:bodyPr/>
        <a:lstStyle/>
        <a:p>
          <a:endParaRPr lang="zh-CN" altLang="en-US"/>
        </a:p>
      </dgm:t>
    </dgm:pt>
    <dgm:pt modelId="{F098D7CD-E34D-AB40-90A3-37F93F15ACF8}">
      <dgm:prSet/>
      <dgm:spPr/>
      <dgm:t>
        <a:bodyPr/>
        <a:lstStyle/>
        <a:p>
          <a:r>
            <a:rPr lang="en-US" altLang="zh-CN" dirty="0"/>
            <a:t>Sum</a:t>
          </a:r>
          <a:r>
            <a:rPr lang="zh-CN" altLang="en-US" dirty="0"/>
            <a:t> </a:t>
          </a:r>
          <a:r>
            <a:rPr lang="en-US" altLang="zh-CN" dirty="0"/>
            <a:t>Penalty</a:t>
          </a:r>
          <a:r>
            <a:rPr lang="zh-CN" altLang="en-US" dirty="0"/>
            <a:t> </a:t>
          </a:r>
          <a:r>
            <a:rPr lang="en-US" altLang="zh-CN" dirty="0"/>
            <a:t>Minimization</a:t>
          </a:r>
          <a:r>
            <a:rPr lang="zh-CN" altLang="en-US" dirty="0"/>
            <a:t> </a:t>
          </a:r>
          <a:r>
            <a:rPr lang="en-US" altLang="zh-CN" dirty="0"/>
            <a:t>Scheduling</a:t>
          </a:r>
          <a:endParaRPr lang="zh-CN" altLang="en-US" dirty="0"/>
        </a:p>
      </dgm:t>
    </dgm:pt>
    <dgm:pt modelId="{7D5CA1B6-D1C0-AA4A-B2BF-6C4BF6AAC8F0}" type="parTrans" cxnId="{217E5972-44E9-6446-AC97-FE587E6BFBE4}">
      <dgm:prSet/>
      <dgm:spPr/>
      <dgm:t>
        <a:bodyPr/>
        <a:lstStyle/>
        <a:p>
          <a:endParaRPr lang="zh-CN" altLang="en-US"/>
        </a:p>
      </dgm:t>
    </dgm:pt>
    <dgm:pt modelId="{4A049BBC-2731-7743-A63A-12E2DCEA7637}" type="sibTrans" cxnId="{217E5972-44E9-6446-AC97-FE587E6BFBE4}">
      <dgm:prSet/>
      <dgm:spPr/>
      <dgm:t>
        <a:bodyPr/>
        <a:lstStyle/>
        <a:p>
          <a:endParaRPr lang="zh-CN" altLang="en-US"/>
        </a:p>
      </dgm:t>
    </dgm:pt>
    <dgm:pt modelId="{C71D30CF-91E6-5241-AC6A-181A2EEFF699}">
      <dgm:prSet/>
      <dgm:spPr/>
      <dgm:t>
        <a:bodyPr/>
        <a:lstStyle/>
        <a:p>
          <a:r>
            <a:rPr lang="en-US" altLang="zh-CN" dirty="0"/>
            <a:t>Huffman</a:t>
          </a:r>
          <a:r>
            <a:rPr lang="zh-CN" altLang="en-US" dirty="0"/>
            <a:t> </a:t>
          </a:r>
          <a:r>
            <a:rPr lang="en-US" altLang="zh-CN" dirty="0"/>
            <a:t>Coding</a:t>
          </a:r>
          <a:endParaRPr lang="zh-CN" altLang="en-US" dirty="0"/>
        </a:p>
      </dgm:t>
    </dgm:pt>
    <dgm:pt modelId="{EF24905C-034D-DB42-9541-EF86611E7A5B}" type="parTrans" cxnId="{BFE54DF6-2AF9-514E-887F-00A33F8E8B62}">
      <dgm:prSet/>
      <dgm:spPr/>
      <dgm:t>
        <a:bodyPr/>
        <a:lstStyle/>
        <a:p>
          <a:endParaRPr lang="zh-CN" altLang="en-US"/>
        </a:p>
      </dgm:t>
    </dgm:pt>
    <dgm:pt modelId="{A971A3FD-CD31-E242-82AF-B9F64BCF6241}" type="sibTrans" cxnId="{BFE54DF6-2AF9-514E-887F-00A33F8E8B62}">
      <dgm:prSet/>
      <dgm:spPr/>
      <dgm:t>
        <a:bodyPr/>
        <a:lstStyle/>
        <a:p>
          <a:endParaRPr lang="zh-CN" altLang="en-US"/>
        </a:p>
      </dgm:t>
    </dgm:pt>
    <dgm:pt modelId="{979813FF-10D6-5F4F-B734-B4566EA19FAF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endParaRPr lang="zh-CN" altLang="en-US" dirty="0"/>
        </a:p>
      </dgm:t>
    </dgm:pt>
    <dgm:pt modelId="{E2A24B37-9587-E344-A59F-03A51E37CEC7}" type="parTrans" cxnId="{65CCA65A-9D93-1943-AB12-19671CA00EBD}">
      <dgm:prSet/>
      <dgm:spPr/>
      <dgm:t>
        <a:bodyPr/>
        <a:lstStyle/>
        <a:p>
          <a:endParaRPr lang="zh-CN" altLang="en-US"/>
        </a:p>
      </dgm:t>
    </dgm:pt>
    <dgm:pt modelId="{95E63A6E-09AA-A240-80F7-A96B4FD720B0}" type="sibTrans" cxnId="{65CCA65A-9D93-1943-AB12-19671CA00EBD}">
      <dgm:prSet/>
      <dgm:spPr/>
      <dgm:t>
        <a:bodyPr/>
        <a:lstStyle/>
        <a:p>
          <a:endParaRPr lang="zh-CN" altLang="en-US"/>
        </a:p>
      </dgm:t>
    </dgm:pt>
    <dgm:pt modelId="{BEB40FAC-3C2F-D249-BCD7-CB20F15A2F2D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endParaRPr lang="zh-CN" altLang="en-US" dirty="0"/>
        </a:p>
      </dgm:t>
    </dgm:pt>
    <dgm:pt modelId="{AE85A0F3-E92F-E84C-9217-7D0D77F83808}" type="parTrans" cxnId="{C14B16E4-FB36-384B-A561-EA9A9B779A27}">
      <dgm:prSet/>
      <dgm:spPr/>
      <dgm:t>
        <a:bodyPr/>
        <a:lstStyle/>
        <a:p>
          <a:endParaRPr lang="zh-CN" altLang="en-US"/>
        </a:p>
      </dgm:t>
    </dgm:pt>
    <dgm:pt modelId="{C4E32C4A-39C3-114E-BF08-D0706BC8557F}" type="sibTrans" cxnId="{C14B16E4-FB36-384B-A561-EA9A9B779A27}">
      <dgm:prSet/>
      <dgm:spPr/>
      <dgm:t>
        <a:bodyPr/>
        <a:lstStyle/>
        <a:p>
          <a:endParaRPr lang="zh-CN" altLang="en-US"/>
        </a:p>
      </dgm:t>
    </dgm:pt>
    <dgm:pt modelId="{4084B97A-ECD3-B145-88EB-9CD1854BF825}">
      <dgm:prSet/>
      <dgm:spPr/>
      <dgm:t>
        <a:bodyPr/>
        <a:lstStyle/>
        <a:p>
          <a:r>
            <a:rPr lang="en-US" altLang="zh-CN" dirty="0"/>
            <a:t>Matroid</a:t>
          </a:r>
          <a:endParaRPr lang="zh-CN" altLang="en-US" dirty="0"/>
        </a:p>
      </dgm:t>
    </dgm:pt>
    <dgm:pt modelId="{09A7FDC5-D302-7940-819B-D4B95BEF6BB1}" type="parTrans" cxnId="{B6FF1E31-DB40-6D47-B6C5-521E7992E754}">
      <dgm:prSet/>
      <dgm:spPr/>
    </dgm:pt>
    <dgm:pt modelId="{F1DE2C70-2891-254F-A4F0-BB510A9BD363}" type="sibTrans" cxnId="{B6FF1E31-DB40-6D47-B6C5-521E7992E754}">
      <dgm:prSet/>
      <dgm:spPr/>
    </dgm:pt>
    <dgm:pt modelId="{E3F036DE-6942-EB4D-9A0C-88DB77F2BE78}" type="pres">
      <dgm:prSet presAssocID="{CD4C4DF3-CDA3-4C1A-BA09-6F2AA9088C98}" presName="linear" presStyleCnt="0">
        <dgm:presLayoutVars>
          <dgm:animLvl val="lvl"/>
          <dgm:resizeHandles val="exact"/>
        </dgm:presLayoutVars>
      </dgm:prSet>
      <dgm:spPr/>
    </dgm:pt>
    <dgm:pt modelId="{F36BEC44-DAC6-6343-85FD-985E84DAB391}" type="pres">
      <dgm:prSet presAssocID="{AC918355-8F9B-4F09-B720-6574DA287041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8FD44975-0EA2-2744-8F62-194D31243E1B}" type="pres">
      <dgm:prSet presAssocID="{AC918355-8F9B-4F09-B720-6574DA287041}" presName="childText" presStyleLbl="revTx" presStyleIdx="0" presStyleCnt="6">
        <dgm:presLayoutVars>
          <dgm:bulletEnabled val="1"/>
        </dgm:presLayoutVars>
      </dgm:prSet>
      <dgm:spPr/>
    </dgm:pt>
    <dgm:pt modelId="{CAA1060A-F01D-234D-A5B5-15047FFE84C8}" type="pres">
      <dgm:prSet presAssocID="{CF2444AC-25A3-45AF-9E27-F0625589132F}" presName="parentText" presStyleLbl="node1" presStyleIdx="1" presStyleCnt="7" custLinFactNeighborX="-1034" custLinFactNeighborY="1077">
        <dgm:presLayoutVars>
          <dgm:chMax val="0"/>
          <dgm:bulletEnabled val="1"/>
        </dgm:presLayoutVars>
      </dgm:prSet>
      <dgm:spPr/>
    </dgm:pt>
    <dgm:pt modelId="{B3D4FF40-A116-F443-A12B-EBBDAC4C5921}" type="pres">
      <dgm:prSet presAssocID="{CF2444AC-25A3-45AF-9E27-F0625589132F}" presName="childText" presStyleLbl="revTx" presStyleIdx="1" presStyleCnt="6">
        <dgm:presLayoutVars>
          <dgm:bulletEnabled val="1"/>
        </dgm:presLayoutVars>
      </dgm:prSet>
      <dgm:spPr/>
    </dgm:pt>
    <dgm:pt modelId="{1070F474-A7B6-BC4B-9FF9-22A4F96CDBF7}" type="pres">
      <dgm:prSet presAssocID="{4084B97A-ECD3-B145-88EB-9CD1854BF825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CB539309-0300-E649-BCD7-289275DCADAA}" type="pres">
      <dgm:prSet presAssocID="{F1DE2C70-2891-254F-A4F0-BB510A9BD363}" presName="spacer" presStyleCnt="0"/>
      <dgm:spPr/>
    </dgm:pt>
    <dgm:pt modelId="{74E7862E-A08A-E740-BD64-70A8C62E4534}" type="pres">
      <dgm:prSet presAssocID="{F098D7CD-E34D-AB40-90A3-37F93F15ACF8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1DA4B74F-3938-224C-B8AD-5AC96748D1AE}" type="pres">
      <dgm:prSet presAssocID="{F098D7CD-E34D-AB40-90A3-37F93F15ACF8}" presName="childText" presStyleLbl="revTx" presStyleIdx="2" presStyleCnt="6">
        <dgm:presLayoutVars>
          <dgm:bulletEnabled val="1"/>
        </dgm:presLayoutVars>
      </dgm:prSet>
      <dgm:spPr/>
    </dgm:pt>
    <dgm:pt modelId="{0F9D7059-6B5A-324D-BBB2-FF4779936521}" type="pres">
      <dgm:prSet presAssocID="{B3AC4ABD-3393-49E6-B22C-5258D54F3AA8}" presName="parentText" presStyleLbl="node1" presStyleIdx="4" presStyleCnt="7" custLinFactNeighborX="166" custLinFactNeighborY="-1958">
        <dgm:presLayoutVars>
          <dgm:chMax val="0"/>
          <dgm:bulletEnabled val="1"/>
        </dgm:presLayoutVars>
      </dgm:prSet>
      <dgm:spPr/>
    </dgm:pt>
    <dgm:pt modelId="{83C615D7-3F44-1542-8AB9-18060F3340FA}" type="pres">
      <dgm:prSet presAssocID="{B3AC4ABD-3393-49E6-B22C-5258D54F3AA8}" presName="childText" presStyleLbl="revTx" presStyleIdx="3" presStyleCnt="6">
        <dgm:presLayoutVars>
          <dgm:bulletEnabled val="1"/>
        </dgm:presLayoutVars>
      </dgm:prSet>
      <dgm:spPr/>
    </dgm:pt>
    <dgm:pt modelId="{27CFC81F-1429-A241-BA29-F4FAC6F69A90}" type="pres">
      <dgm:prSet presAssocID="{63A81FF4-263D-41CB-9071-D127CED2C26F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D4E3098-A1D7-A548-BAB5-7C5B68BD5803}" type="pres">
      <dgm:prSet presAssocID="{63A81FF4-263D-41CB-9071-D127CED2C26F}" presName="childText" presStyleLbl="revTx" presStyleIdx="4" presStyleCnt="6">
        <dgm:presLayoutVars>
          <dgm:bulletEnabled val="1"/>
        </dgm:presLayoutVars>
      </dgm:prSet>
      <dgm:spPr/>
    </dgm:pt>
    <dgm:pt modelId="{5A2B2C49-2F63-4841-9864-CB284F986961}" type="pres">
      <dgm:prSet presAssocID="{C71D30CF-91E6-5241-AC6A-181A2EEFF699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AAB7C639-0C53-3442-BE4C-8F6F83218280}" type="pres">
      <dgm:prSet presAssocID="{C71D30CF-91E6-5241-AC6A-181A2EEFF699}" presName="childText" presStyleLbl="revTx" presStyleIdx="5" presStyleCnt="6">
        <dgm:presLayoutVars>
          <dgm:bulletEnabled val="1"/>
        </dgm:presLayoutVars>
      </dgm:prSet>
      <dgm:spPr/>
    </dgm:pt>
  </dgm:ptLst>
  <dgm:cxnLst>
    <dgm:cxn modelId="{F267AE07-3DF6-0446-A9FF-DB560CFF09D6}" type="presOf" srcId="{87006AB7-5DEB-5048-9A7A-C352760D0348}" destId="{8D4E3098-A1D7-A548-BAB5-7C5B68BD5803}" srcOrd="0" destOrd="0" presId="urn:microsoft.com/office/officeart/2005/8/layout/vList2"/>
    <dgm:cxn modelId="{1C9BE420-CC1B-674D-9E22-DA2AF86FD4BA}" srcId="{B3AC4ABD-3393-49E6-B22C-5258D54F3AA8}" destId="{40C135C6-FE8A-BE49-940B-3952902C4556}" srcOrd="0" destOrd="0" parTransId="{3CF44307-9A52-8E43-8D7A-EEEFE78E418E}" sibTransId="{430DC21D-1579-C444-9AE0-F5F6317CCE45}"/>
    <dgm:cxn modelId="{845E4E21-EB6D-1A48-8D81-186E7D91B7CC}" type="presOf" srcId="{63A81FF4-263D-41CB-9071-D127CED2C26F}" destId="{27CFC81F-1429-A241-BA29-F4FAC6F69A90}" srcOrd="0" destOrd="0" presId="urn:microsoft.com/office/officeart/2005/8/layout/vList2"/>
    <dgm:cxn modelId="{B6FF1E31-DB40-6D47-B6C5-521E7992E754}" srcId="{CD4C4DF3-CDA3-4C1A-BA09-6F2AA9088C98}" destId="{4084B97A-ECD3-B145-88EB-9CD1854BF825}" srcOrd="2" destOrd="0" parTransId="{09A7FDC5-D302-7940-819B-D4B95BEF6BB1}" sibTransId="{F1DE2C70-2891-254F-A4F0-BB510A9BD363}"/>
    <dgm:cxn modelId="{AA2C9435-4412-1149-879E-9387616E263B}" type="presOf" srcId="{2EEF85AF-4B87-C440-83AA-7A6F97371E15}" destId="{B3D4FF40-A116-F443-A12B-EBBDAC4C5921}" srcOrd="0" destOrd="1" presId="urn:microsoft.com/office/officeart/2005/8/layout/vList2"/>
    <dgm:cxn modelId="{2F29543D-3CD9-E041-8034-8BD1B751A642}" type="presOf" srcId="{C71D30CF-91E6-5241-AC6A-181A2EEFF699}" destId="{5A2B2C49-2F63-4841-9864-CB284F986961}" srcOrd="0" destOrd="0" presId="urn:microsoft.com/office/officeart/2005/8/layout/vList2"/>
    <dgm:cxn modelId="{8D0D7D3F-6765-4F28-B5F2-BEDF0CF88641}" srcId="{CD4C4DF3-CDA3-4C1A-BA09-6F2AA9088C98}" destId="{AC918355-8F9B-4F09-B720-6574DA287041}" srcOrd="0" destOrd="0" parTransId="{E97D0D5F-C26B-4811-A71F-D22685DAE823}" sibTransId="{8C98467B-A16D-46AB-89F9-E167C0071142}"/>
    <dgm:cxn modelId="{4ACAF354-1219-884C-8C1B-ABF1D6C1E514}" srcId="{CF2444AC-25A3-45AF-9E27-F0625589132F}" destId="{2EEF85AF-4B87-C440-83AA-7A6F97371E15}" srcOrd="1" destOrd="0" parTransId="{45E9E3BE-AB6B-9747-960E-1CE6911CDB84}" sibTransId="{781BA7AD-0BC0-C646-88FA-142C48D9796E}"/>
    <dgm:cxn modelId="{7800755A-57F5-684E-B424-B3F63B604698}" type="presOf" srcId="{979813FF-10D6-5F4F-B734-B4566EA19FAF}" destId="{1DA4B74F-3938-224C-B8AD-5AC96748D1AE}" srcOrd="0" destOrd="0" presId="urn:microsoft.com/office/officeart/2005/8/layout/vList2"/>
    <dgm:cxn modelId="{65CCA65A-9D93-1943-AB12-19671CA00EBD}" srcId="{F098D7CD-E34D-AB40-90A3-37F93F15ACF8}" destId="{979813FF-10D6-5F4F-B734-B4566EA19FAF}" srcOrd="0" destOrd="0" parTransId="{E2A24B37-9587-E344-A59F-03A51E37CEC7}" sibTransId="{95E63A6E-09AA-A240-80F7-A96B4FD720B0}"/>
    <dgm:cxn modelId="{217E5972-44E9-6446-AC97-FE587E6BFBE4}" srcId="{CD4C4DF3-CDA3-4C1A-BA09-6F2AA9088C98}" destId="{F098D7CD-E34D-AB40-90A3-37F93F15ACF8}" srcOrd="3" destOrd="0" parTransId="{7D5CA1B6-D1C0-AA4A-B2BF-6C4BF6AAC8F0}" sibTransId="{4A049BBC-2731-7743-A63A-12E2DCEA7637}"/>
    <dgm:cxn modelId="{367CF977-A5F2-A142-A10A-27687B4E5CBC}" type="presOf" srcId="{CD4C4DF3-CDA3-4C1A-BA09-6F2AA9088C98}" destId="{E3F036DE-6942-EB4D-9A0C-88DB77F2BE78}" srcOrd="0" destOrd="0" presId="urn:microsoft.com/office/officeart/2005/8/layout/vList2"/>
    <dgm:cxn modelId="{CA80A480-E22C-634B-A522-1139C70AF760}" srcId="{AC918355-8F9B-4F09-B720-6574DA287041}" destId="{677C9A02-E803-8648-BE03-AA1CC9080D68}" srcOrd="0" destOrd="0" parTransId="{B62DE863-1BE7-CE4B-9E86-9D85B7817987}" sibTransId="{215DAEF2-0B29-1D42-8E41-4BFD07D77A70}"/>
    <dgm:cxn modelId="{26907285-2563-4041-8562-4A62562F406B}" type="presOf" srcId="{40C135C6-FE8A-BE49-940B-3952902C4556}" destId="{83C615D7-3F44-1542-8AB9-18060F3340FA}" srcOrd="0" destOrd="0" presId="urn:microsoft.com/office/officeart/2005/8/layout/vList2"/>
    <dgm:cxn modelId="{6176BE85-C411-6145-A12D-CFD2CC2743D2}" type="presOf" srcId="{B3AC4ABD-3393-49E6-B22C-5258D54F3AA8}" destId="{0F9D7059-6B5A-324D-BBB2-FF4779936521}" srcOrd="0" destOrd="0" presId="urn:microsoft.com/office/officeart/2005/8/layout/vList2"/>
    <dgm:cxn modelId="{1B471A91-86E7-C14B-95AA-08ADB80473B8}" type="presOf" srcId="{F098D7CD-E34D-AB40-90A3-37F93F15ACF8}" destId="{74E7862E-A08A-E740-BD64-70A8C62E4534}" srcOrd="0" destOrd="0" presId="urn:microsoft.com/office/officeart/2005/8/layout/vList2"/>
    <dgm:cxn modelId="{7AB36395-EF23-1F4E-9627-DB5E5C24B0FE}" type="presOf" srcId="{CF2444AC-25A3-45AF-9E27-F0625589132F}" destId="{CAA1060A-F01D-234D-A5B5-15047FFE84C8}" srcOrd="0" destOrd="0" presId="urn:microsoft.com/office/officeart/2005/8/layout/vList2"/>
    <dgm:cxn modelId="{CF87B7AB-E83E-764E-9454-A9FA3EC4D2F7}" type="presOf" srcId="{4084B97A-ECD3-B145-88EB-9CD1854BF825}" destId="{1070F474-A7B6-BC4B-9FF9-22A4F96CDBF7}" srcOrd="0" destOrd="0" presId="urn:microsoft.com/office/officeart/2005/8/layout/vList2"/>
    <dgm:cxn modelId="{FF429AB5-D8A5-450C-949E-C5993CDA6CF8}" srcId="{CD4C4DF3-CDA3-4C1A-BA09-6F2AA9088C98}" destId="{63A81FF4-263D-41CB-9071-D127CED2C26F}" srcOrd="5" destOrd="0" parTransId="{871569B9-983E-4147-A2C2-AEAE4B538B9F}" sibTransId="{6204F9E9-B966-4ED3-9620-B8AD2FA0992D}"/>
    <dgm:cxn modelId="{EDD61ABF-C930-BC4B-8925-1948461EC541}" type="presOf" srcId="{BEB40FAC-3C2F-D249-BCD7-CB20F15A2F2D}" destId="{AAB7C639-0C53-3442-BE4C-8F6F83218280}" srcOrd="0" destOrd="0" presId="urn:microsoft.com/office/officeart/2005/8/layout/vList2"/>
    <dgm:cxn modelId="{20AAC4C0-0D10-49F9-94CC-7F9A98CD0892}" srcId="{CD4C4DF3-CDA3-4C1A-BA09-6F2AA9088C98}" destId="{B3AC4ABD-3393-49E6-B22C-5258D54F3AA8}" srcOrd="4" destOrd="0" parTransId="{217CAF8E-9194-4CEE-B13D-4E63A1D5BC08}" sibTransId="{7625B602-CC8D-40F6-A946-15E9FF8A917C}"/>
    <dgm:cxn modelId="{9E236EC3-2499-C343-9C8F-F7509F26D59D}" type="presOf" srcId="{AC918355-8F9B-4F09-B720-6574DA287041}" destId="{F36BEC44-DAC6-6343-85FD-985E84DAB391}" srcOrd="0" destOrd="0" presId="urn:microsoft.com/office/officeart/2005/8/layout/vList2"/>
    <dgm:cxn modelId="{B2A55DC6-0486-6344-BC09-E25D32432225}" srcId="{CF2444AC-25A3-45AF-9E27-F0625589132F}" destId="{82BF780E-35C8-5244-A178-392312345216}" srcOrd="0" destOrd="0" parTransId="{5CACFC02-D176-124C-AF80-1AEF06E65DD3}" sibTransId="{07FFF902-5725-CE43-8743-EFF490A14789}"/>
    <dgm:cxn modelId="{23D216CE-03C6-0C4C-878B-B2659A3188F9}" type="presOf" srcId="{677C9A02-E803-8648-BE03-AA1CC9080D68}" destId="{8FD44975-0EA2-2744-8F62-194D31243E1B}" srcOrd="0" destOrd="0" presId="urn:microsoft.com/office/officeart/2005/8/layout/vList2"/>
    <dgm:cxn modelId="{C14B16E4-FB36-384B-A561-EA9A9B779A27}" srcId="{C71D30CF-91E6-5241-AC6A-181A2EEFF699}" destId="{BEB40FAC-3C2F-D249-BCD7-CB20F15A2F2D}" srcOrd="0" destOrd="0" parTransId="{AE85A0F3-E92F-E84C-9217-7D0D77F83808}" sibTransId="{C4E32C4A-39C3-114E-BF08-D0706BC8557F}"/>
    <dgm:cxn modelId="{967003F1-89BF-460D-A4CA-2C5AA70BC355}" srcId="{CD4C4DF3-CDA3-4C1A-BA09-6F2AA9088C98}" destId="{CF2444AC-25A3-45AF-9E27-F0625589132F}" srcOrd="1" destOrd="0" parTransId="{868C213E-ECF0-4837-9209-AC9DECD9C145}" sibTransId="{F53403EF-CE1D-433B-BCA2-CAF069B7E4B7}"/>
    <dgm:cxn modelId="{BFE54DF6-2AF9-514E-887F-00A33F8E8B62}" srcId="{CD4C4DF3-CDA3-4C1A-BA09-6F2AA9088C98}" destId="{C71D30CF-91E6-5241-AC6A-181A2EEFF699}" srcOrd="6" destOrd="0" parTransId="{EF24905C-034D-DB42-9541-EF86611E7A5B}" sibTransId="{A971A3FD-CD31-E242-82AF-B9F64BCF6241}"/>
    <dgm:cxn modelId="{CEBEF0FD-1F8F-5840-9944-902DDEDE79AC}" srcId="{63A81FF4-263D-41CB-9071-D127CED2C26F}" destId="{87006AB7-5DEB-5048-9A7A-C352760D0348}" srcOrd="0" destOrd="0" parTransId="{CC7FCFD6-EC5A-424A-8DDB-7EF6B3069CC4}" sibTransId="{7DF3500A-CC4C-984E-84D6-B85071EB2920}"/>
    <dgm:cxn modelId="{22CE78FF-2883-CB47-9C7F-2F06069B3327}" type="presOf" srcId="{82BF780E-35C8-5244-A178-392312345216}" destId="{B3D4FF40-A116-F443-A12B-EBBDAC4C5921}" srcOrd="0" destOrd="0" presId="urn:microsoft.com/office/officeart/2005/8/layout/vList2"/>
    <dgm:cxn modelId="{877BD231-F12A-0545-BC98-C663D98ECB0C}" type="presParOf" srcId="{E3F036DE-6942-EB4D-9A0C-88DB77F2BE78}" destId="{F36BEC44-DAC6-6343-85FD-985E84DAB391}" srcOrd="0" destOrd="0" presId="urn:microsoft.com/office/officeart/2005/8/layout/vList2"/>
    <dgm:cxn modelId="{28DAC00B-117E-8B47-B5DB-0730959186CC}" type="presParOf" srcId="{E3F036DE-6942-EB4D-9A0C-88DB77F2BE78}" destId="{8FD44975-0EA2-2744-8F62-194D31243E1B}" srcOrd="1" destOrd="0" presId="urn:microsoft.com/office/officeart/2005/8/layout/vList2"/>
    <dgm:cxn modelId="{61ED2CEE-28BB-F940-8E84-DC94E2C443D7}" type="presParOf" srcId="{E3F036DE-6942-EB4D-9A0C-88DB77F2BE78}" destId="{CAA1060A-F01D-234D-A5B5-15047FFE84C8}" srcOrd="2" destOrd="0" presId="urn:microsoft.com/office/officeart/2005/8/layout/vList2"/>
    <dgm:cxn modelId="{638C5C3F-6F2B-1A43-9FA1-BBE743102D93}" type="presParOf" srcId="{E3F036DE-6942-EB4D-9A0C-88DB77F2BE78}" destId="{B3D4FF40-A116-F443-A12B-EBBDAC4C5921}" srcOrd="3" destOrd="0" presId="urn:microsoft.com/office/officeart/2005/8/layout/vList2"/>
    <dgm:cxn modelId="{1DB402FE-63B0-CE44-8179-C5791232D1F1}" type="presParOf" srcId="{E3F036DE-6942-EB4D-9A0C-88DB77F2BE78}" destId="{1070F474-A7B6-BC4B-9FF9-22A4F96CDBF7}" srcOrd="4" destOrd="0" presId="urn:microsoft.com/office/officeart/2005/8/layout/vList2"/>
    <dgm:cxn modelId="{62E73D30-C997-A042-8CE8-7F678DDC963F}" type="presParOf" srcId="{E3F036DE-6942-EB4D-9A0C-88DB77F2BE78}" destId="{CB539309-0300-E649-BCD7-289275DCADAA}" srcOrd="5" destOrd="0" presId="urn:microsoft.com/office/officeart/2005/8/layout/vList2"/>
    <dgm:cxn modelId="{A206D089-9098-DD4B-B5A8-9C759CB8C320}" type="presParOf" srcId="{E3F036DE-6942-EB4D-9A0C-88DB77F2BE78}" destId="{74E7862E-A08A-E740-BD64-70A8C62E4534}" srcOrd="6" destOrd="0" presId="urn:microsoft.com/office/officeart/2005/8/layout/vList2"/>
    <dgm:cxn modelId="{A2F00941-299F-2B4A-8B10-D7BB116AD940}" type="presParOf" srcId="{E3F036DE-6942-EB4D-9A0C-88DB77F2BE78}" destId="{1DA4B74F-3938-224C-B8AD-5AC96748D1AE}" srcOrd="7" destOrd="0" presId="urn:microsoft.com/office/officeart/2005/8/layout/vList2"/>
    <dgm:cxn modelId="{699258F9-0214-4B46-819A-53AECA3B91C5}" type="presParOf" srcId="{E3F036DE-6942-EB4D-9A0C-88DB77F2BE78}" destId="{0F9D7059-6B5A-324D-BBB2-FF4779936521}" srcOrd="8" destOrd="0" presId="urn:microsoft.com/office/officeart/2005/8/layout/vList2"/>
    <dgm:cxn modelId="{4B186BBF-3D4A-E447-B75E-4C41B9B376FE}" type="presParOf" srcId="{E3F036DE-6942-EB4D-9A0C-88DB77F2BE78}" destId="{83C615D7-3F44-1542-8AB9-18060F3340FA}" srcOrd="9" destOrd="0" presId="urn:microsoft.com/office/officeart/2005/8/layout/vList2"/>
    <dgm:cxn modelId="{3B3E1F7F-BD0C-9C48-927B-5F8B717A7765}" type="presParOf" srcId="{E3F036DE-6942-EB4D-9A0C-88DB77F2BE78}" destId="{27CFC81F-1429-A241-BA29-F4FAC6F69A90}" srcOrd="10" destOrd="0" presId="urn:microsoft.com/office/officeart/2005/8/layout/vList2"/>
    <dgm:cxn modelId="{8680AFAF-1B75-874C-AFF8-4E803D3F16DD}" type="presParOf" srcId="{E3F036DE-6942-EB4D-9A0C-88DB77F2BE78}" destId="{8D4E3098-A1D7-A548-BAB5-7C5B68BD5803}" srcOrd="11" destOrd="0" presId="urn:microsoft.com/office/officeart/2005/8/layout/vList2"/>
    <dgm:cxn modelId="{50D35F1C-7FB2-1643-B90D-EB3D671DA536}" type="presParOf" srcId="{E3F036DE-6942-EB4D-9A0C-88DB77F2BE78}" destId="{5A2B2C49-2F63-4841-9864-CB284F986961}" srcOrd="12" destOrd="0" presId="urn:microsoft.com/office/officeart/2005/8/layout/vList2"/>
    <dgm:cxn modelId="{36CEF566-56C4-D14B-B74C-C4083F1B7E24}" type="presParOf" srcId="{E3F036DE-6942-EB4D-9A0C-88DB77F2BE78}" destId="{AAB7C639-0C53-3442-BE4C-8F6F83218280}" srcOrd="1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D4C4DF3-CDA3-4C1A-BA09-6F2AA9088C9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C918355-8F9B-4F09-B720-6574DA287041}">
      <dgm:prSet/>
      <dgm:spPr/>
      <dgm:t>
        <a:bodyPr/>
        <a:lstStyle/>
        <a:p>
          <a:r>
            <a:rPr lang="en-US" altLang="zh-CN" dirty="0"/>
            <a:t>Greedy</a:t>
          </a:r>
          <a:r>
            <a:rPr lang="zh-CN" altLang="en-US" dirty="0"/>
            <a:t> </a:t>
          </a:r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doesn’t</a:t>
          </a:r>
          <a:r>
            <a:rPr lang="zh-CN" altLang="en-US" dirty="0"/>
            <a:t> </a:t>
          </a:r>
          <a:r>
            <a:rPr lang="en-US" altLang="zh-CN" dirty="0"/>
            <a:t>work</a:t>
          </a:r>
        </a:p>
      </dgm:t>
    </dgm:pt>
    <dgm:pt modelId="{E97D0D5F-C26B-4811-A71F-D22685DAE823}" type="parTrans" cxnId="{8D0D7D3F-6765-4F28-B5F2-BEDF0CF88641}">
      <dgm:prSet/>
      <dgm:spPr/>
      <dgm:t>
        <a:bodyPr/>
        <a:lstStyle/>
        <a:p>
          <a:endParaRPr lang="en-US"/>
        </a:p>
      </dgm:t>
    </dgm:pt>
    <dgm:pt modelId="{8C98467B-A16D-46AB-89F9-E167C0071142}" type="sibTrans" cxnId="{8D0D7D3F-6765-4F28-B5F2-BEDF0CF88641}">
      <dgm:prSet/>
      <dgm:spPr/>
      <dgm:t>
        <a:bodyPr/>
        <a:lstStyle/>
        <a:p>
          <a:endParaRPr lang="en-US"/>
        </a:p>
      </dgm:t>
    </dgm:pt>
    <dgm:pt modelId="{CF2444AC-25A3-45AF-9E27-F0625589132F}">
      <dgm:prSet/>
      <dgm:spPr/>
      <dgm:t>
        <a:bodyPr/>
        <a:lstStyle/>
        <a:p>
          <a:r>
            <a:rPr lang="en-US" altLang="zh-CN" dirty="0"/>
            <a:t>Activity</a:t>
          </a:r>
          <a:r>
            <a:rPr lang="zh-CN" altLang="en-US" dirty="0"/>
            <a:t> </a:t>
          </a:r>
          <a:r>
            <a:rPr lang="en-US" altLang="zh-CN" dirty="0"/>
            <a:t>Selection/Interval</a:t>
          </a:r>
          <a:r>
            <a:rPr lang="zh-CN" altLang="en-US" dirty="0"/>
            <a:t> </a:t>
          </a:r>
          <a:r>
            <a:rPr lang="en-US" altLang="zh-CN" dirty="0"/>
            <a:t>Scheduling</a:t>
          </a:r>
          <a:endParaRPr lang="en-US" dirty="0"/>
        </a:p>
      </dgm:t>
    </dgm:pt>
    <dgm:pt modelId="{868C213E-ECF0-4837-9209-AC9DECD9C145}" type="parTrans" cxnId="{967003F1-89BF-460D-A4CA-2C5AA70BC355}">
      <dgm:prSet/>
      <dgm:spPr/>
      <dgm:t>
        <a:bodyPr/>
        <a:lstStyle/>
        <a:p>
          <a:endParaRPr lang="en-US"/>
        </a:p>
      </dgm:t>
    </dgm:pt>
    <dgm:pt modelId="{F53403EF-CE1D-433B-BCA2-CAF069B7E4B7}" type="sibTrans" cxnId="{967003F1-89BF-460D-A4CA-2C5AA70BC355}">
      <dgm:prSet/>
      <dgm:spPr/>
      <dgm:t>
        <a:bodyPr/>
        <a:lstStyle/>
        <a:p>
          <a:endParaRPr lang="en-US"/>
        </a:p>
      </dgm:t>
    </dgm:pt>
    <dgm:pt modelId="{B3AC4ABD-3393-49E6-B22C-5258D54F3AA8}">
      <dgm:prSet/>
      <dgm:spPr/>
      <dgm:t>
        <a:bodyPr/>
        <a:lstStyle/>
        <a:p>
          <a:r>
            <a:rPr lang="en-US" altLang="zh-CN" dirty="0">
              <a:solidFill>
                <a:schemeClr val="bg1"/>
              </a:solidFill>
            </a:rPr>
            <a:t>Interval</a:t>
          </a:r>
          <a:r>
            <a:rPr lang="zh-CN" altLang="en-US" dirty="0">
              <a:solidFill>
                <a:schemeClr val="bg1"/>
              </a:solidFill>
            </a:rPr>
            <a:t> </a:t>
          </a:r>
          <a:r>
            <a:rPr lang="en-US" altLang="zh-CN" dirty="0">
              <a:solidFill>
                <a:schemeClr val="bg1"/>
              </a:solidFill>
            </a:rPr>
            <a:t>Partitioning</a:t>
          </a:r>
          <a:endParaRPr lang="en-US" dirty="0">
            <a:solidFill>
              <a:schemeClr val="bg1"/>
            </a:solidFill>
          </a:endParaRPr>
        </a:p>
      </dgm:t>
    </dgm:pt>
    <dgm:pt modelId="{217CAF8E-9194-4CEE-B13D-4E63A1D5BC08}" type="parTrans" cxnId="{20AAC4C0-0D10-49F9-94CC-7F9A98CD0892}">
      <dgm:prSet/>
      <dgm:spPr/>
      <dgm:t>
        <a:bodyPr/>
        <a:lstStyle/>
        <a:p>
          <a:endParaRPr lang="en-US"/>
        </a:p>
      </dgm:t>
    </dgm:pt>
    <dgm:pt modelId="{7625B602-CC8D-40F6-A946-15E9FF8A917C}" type="sibTrans" cxnId="{20AAC4C0-0D10-49F9-94CC-7F9A98CD0892}">
      <dgm:prSet/>
      <dgm:spPr/>
      <dgm:t>
        <a:bodyPr/>
        <a:lstStyle/>
        <a:p>
          <a:endParaRPr lang="en-US"/>
        </a:p>
      </dgm:t>
    </dgm:pt>
    <dgm:pt modelId="{63A81FF4-263D-41CB-9071-D127CED2C26F}">
      <dgm:prSet custT="1"/>
      <dgm:spPr/>
      <dgm:t>
        <a:bodyPr/>
        <a:lstStyle/>
        <a:p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Max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Lateness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Minimization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Scheduling</a:t>
          </a:r>
          <a:endParaRPr lang="en-US" sz="2000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871569B9-983E-4147-A2C2-AEAE4B538B9F}" type="parTrans" cxnId="{FF429AB5-D8A5-450C-949E-C5993CDA6CF8}">
      <dgm:prSet/>
      <dgm:spPr/>
      <dgm:t>
        <a:bodyPr/>
        <a:lstStyle/>
        <a:p>
          <a:endParaRPr lang="en-US"/>
        </a:p>
      </dgm:t>
    </dgm:pt>
    <dgm:pt modelId="{6204F9E9-B966-4ED3-9620-B8AD2FA0992D}" type="sibTrans" cxnId="{FF429AB5-D8A5-450C-949E-C5993CDA6CF8}">
      <dgm:prSet/>
      <dgm:spPr/>
      <dgm:t>
        <a:bodyPr/>
        <a:lstStyle/>
        <a:p>
          <a:endParaRPr lang="en-US"/>
        </a:p>
      </dgm:t>
    </dgm:pt>
    <dgm:pt modelId="{82BF780E-35C8-5244-A178-392312345216}">
      <dgm:prSet/>
      <dgm:spPr/>
      <dgm:t>
        <a:bodyPr/>
        <a:lstStyle/>
        <a:p>
          <a:r>
            <a:rPr lang="en-US" altLang="zh-CN" dirty="0"/>
            <a:t>Greedy</a:t>
          </a:r>
          <a:r>
            <a:rPr lang="zh-CN" altLang="en-US" dirty="0"/>
            <a:t> </a:t>
          </a:r>
          <a:r>
            <a:rPr lang="en-US" altLang="zh-CN" dirty="0"/>
            <a:t>Algorithm</a:t>
          </a:r>
          <a:endParaRPr lang="zh-CN" altLang="en-US" dirty="0"/>
        </a:p>
      </dgm:t>
    </dgm:pt>
    <dgm:pt modelId="{5CACFC02-D176-124C-AF80-1AEF06E65DD3}" type="parTrans" cxnId="{B2A55DC6-0486-6344-BC09-E25D32432225}">
      <dgm:prSet/>
      <dgm:spPr/>
      <dgm:t>
        <a:bodyPr/>
        <a:lstStyle/>
        <a:p>
          <a:endParaRPr lang="zh-CN" altLang="en-US"/>
        </a:p>
      </dgm:t>
    </dgm:pt>
    <dgm:pt modelId="{07FFF902-5725-CE43-8743-EFF490A14789}" type="sibTrans" cxnId="{B2A55DC6-0486-6344-BC09-E25D32432225}">
      <dgm:prSet/>
      <dgm:spPr/>
      <dgm:t>
        <a:bodyPr/>
        <a:lstStyle/>
        <a:p>
          <a:endParaRPr lang="zh-CN" altLang="en-US"/>
        </a:p>
      </dgm:t>
    </dgm:pt>
    <dgm:pt modelId="{2EEF85AF-4B87-C440-83AA-7A6F97371E15}">
      <dgm:prSet/>
      <dgm:spPr/>
      <dgm:t>
        <a:bodyPr/>
        <a:lstStyle/>
        <a:p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Optimality,</a:t>
          </a:r>
          <a:r>
            <a:rPr lang="zh-CN" altLang="en-US" dirty="0"/>
            <a:t> </a:t>
          </a:r>
          <a:r>
            <a:rPr lang="en-US" dirty="0"/>
            <a:t>Optimal sub-structure </a:t>
          </a:r>
          <a:endParaRPr lang="zh-CN" altLang="en-US" dirty="0"/>
        </a:p>
      </dgm:t>
    </dgm:pt>
    <dgm:pt modelId="{45E9E3BE-AB6B-9747-960E-1CE6911CDB84}" type="parTrans" cxnId="{4ACAF354-1219-884C-8C1B-ABF1D6C1E514}">
      <dgm:prSet/>
      <dgm:spPr/>
      <dgm:t>
        <a:bodyPr/>
        <a:lstStyle/>
        <a:p>
          <a:endParaRPr lang="zh-CN" altLang="en-US"/>
        </a:p>
      </dgm:t>
    </dgm:pt>
    <dgm:pt modelId="{781BA7AD-0BC0-C646-88FA-142C48D9796E}" type="sibTrans" cxnId="{4ACAF354-1219-884C-8C1B-ABF1D6C1E514}">
      <dgm:prSet/>
      <dgm:spPr/>
      <dgm:t>
        <a:bodyPr/>
        <a:lstStyle/>
        <a:p>
          <a:endParaRPr lang="zh-CN" altLang="en-US"/>
        </a:p>
      </dgm:t>
    </dgm:pt>
    <dgm:pt modelId="{40C135C6-FE8A-BE49-940B-3952902C4556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r>
            <a:rPr lang="zh-CN" altLang="en-US" dirty="0"/>
            <a:t> </a:t>
          </a:r>
        </a:p>
      </dgm:t>
    </dgm:pt>
    <dgm:pt modelId="{3CF44307-9A52-8E43-8D7A-EEEFE78E418E}" type="parTrans" cxnId="{1C9BE420-CC1B-674D-9E22-DA2AF86FD4BA}">
      <dgm:prSet/>
      <dgm:spPr/>
      <dgm:t>
        <a:bodyPr/>
        <a:lstStyle/>
        <a:p>
          <a:endParaRPr lang="zh-CN" altLang="en-US"/>
        </a:p>
      </dgm:t>
    </dgm:pt>
    <dgm:pt modelId="{430DC21D-1579-C444-9AE0-F5F6317CCE45}" type="sibTrans" cxnId="{1C9BE420-CC1B-674D-9E22-DA2AF86FD4BA}">
      <dgm:prSet/>
      <dgm:spPr/>
      <dgm:t>
        <a:bodyPr/>
        <a:lstStyle/>
        <a:p>
          <a:endParaRPr lang="zh-CN" altLang="en-US"/>
        </a:p>
      </dgm:t>
    </dgm:pt>
    <dgm:pt modelId="{677C9A02-E803-8648-BE03-AA1CC9080D68}">
      <dgm:prSet/>
      <dgm:spPr/>
      <dgm:t>
        <a:bodyPr/>
        <a:lstStyle/>
        <a:p>
          <a:r>
            <a:rPr lang="en-US" altLang="zh-CN" dirty="0"/>
            <a:t>Knapsack</a:t>
          </a:r>
          <a:r>
            <a:rPr lang="zh-CN" altLang="en-US" dirty="0"/>
            <a:t> </a:t>
          </a:r>
          <a:r>
            <a:rPr lang="en-US" altLang="zh-CN" dirty="0"/>
            <a:t>problem</a:t>
          </a:r>
          <a:endParaRPr lang="zh-CN" altLang="en-US" dirty="0"/>
        </a:p>
      </dgm:t>
    </dgm:pt>
    <dgm:pt modelId="{B62DE863-1BE7-CE4B-9E86-9D85B7817987}" type="parTrans" cxnId="{CA80A480-E22C-634B-A522-1139C70AF760}">
      <dgm:prSet/>
      <dgm:spPr/>
      <dgm:t>
        <a:bodyPr/>
        <a:lstStyle/>
        <a:p>
          <a:endParaRPr lang="zh-CN" altLang="en-US"/>
        </a:p>
      </dgm:t>
    </dgm:pt>
    <dgm:pt modelId="{215DAEF2-0B29-1D42-8E41-4BFD07D77A70}" type="sibTrans" cxnId="{CA80A480-E22C-634B-A522-1139C70AF760}">
      <dgm:prSet/>
      <dgm:spPr/>
      <dgm:t>
        <a:bodyPr/>
        <a:lstStyle/>
        <a:p>
          <a:endParaRPr lang="zh-CN" altLang="en-US"/>
        </a:p>
      </dgm:t>
    </dgm:pt>
    <dgm:pt modelId="{87006AB7-5DEB-5048-9A7A-C352760D0348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endParaRPr lang="zh-CN" altLang="en-US" dirty="0"/>
        </a:p>
      </dgm:t>
    </dgm:pt>
    <dgm:pt modelId="{CC7FCFD6-EC5A-424A-8DDB-7EF6B3069CC4}" type="parTrans" cxnId="{CEBEF0FD-1F8F-5840-9944-902DDEDE79AC}">
      <dgm:prSet/>
      <dgm:spPr/>
      <dgm:t>
        <a:bodyPr/>
        <a:lstStyle/>
        <a:p>
          <a:endParaRPr lang="zh-CN" altLang="en-US"/>
        </a:p>
      </dgm:t>
    </dgm:pt>
    <dgm:pt modelId="{7DF3500A-CC4C-984E-84D6-B85071EB2920}" type="sibTrans" cxnId="{CEBEF0FD-1F8F-5840-9944-902DDEDE79AC}">
      <dgm:prSet/>
      <dgm:spPr/>
      <dgm:t>
        <a:bodyPr/>
        <a:lstStyle/>
        <a:p>
          <a:endParaRPr lang="zh-CN" altLang="en-US"/>
        </a:p>
      </dgm:t>
    </dgm:pt>
    <dgm:pt modelId="{F098D7CD-E34D-AB40-90A3-37F93F15ACF8}">
      <dgm:prSet/>
      <dgm:spPr/>
      <dgm:t>
        <a:bodyPr/>
        <a:lstStyle/>
        <a:p>
          <a:r>
            <a:rPr lang="en-US" altLang="zh-CN" dirty="0"/>
            <a:t>Sum</a:t>
          </a:r>
          <a:r>
            <a:rPr lang="zh-CN" altLang="en-US" dirty="0"/>
            <a:t> </a:t>
          </a:r>
          <a:r>
            <a:rPr lang="en-US" altLang="zh-CN" dirty="0"/>
            <a:t>Penalty</a:t>
          </a:r>
          <a:r>
            <a:rPr lang="zh-CN" altLang="en-US" dirty="0"/>
            <a:t> </a:t>
          </a:r>
          <a:r>
            <a:rPr lang="en-US" altLang="zh-CN" dirty="0"/>
            <a:t>Minimization</a:t>
          </a:r>
          <a:r>
            <a:rPr lang="zh-CN" altLang="en-US" dirty="0"/>
            <a:t> </a:t>
          </a:r>
          <a:r>
            <a:rPr lang="en-US" altLang="zh-CN" dirty="0"/>
            <a:t>Scheduling</a:t>
          </a:r>
          <a:endParaRPr lang="zh-CN" altLang="en-US" dirty="0"/>
        </a:p>
      </dgm:t>
    </dgm:pt>
    <dgm:pt modelId="{7D5CA1B6-D1C0-AA4A-B2BF-6C4BF6AAC8F0}" type="parTrans" cxnId="{217E5972-44E9-6446-AC97-FE587E6BFBE4}">
      <dgm:prSet/>
      <dgm:spPr/>
      <dgm:t>
        <a:bodyPr/>
        <a:lstStyle/>
        <a:p>
          <a:endParaRPr lang="zh-CN" altLang="en-US"/>
        </a:p>
      </dgm:t>
    </dgm:pt>
    <dgm:pt modelId="{4A049BBC-2731-7743-A63A-12E2DCEA7637}" type="sibTrans" cxnId="{217E5972-44E9-6446-AC97-FE587E6BFBE4}">
      <dgm:prSet/>
      <dgm:spPr/>
      <dgm:t>
        <a:bodyPr/>
        <a:lstStyle/>
        <a:p>
          <a:endParaRPr lang="zh-CN" altLang="en-US"/>
        </a:p>
      </dgm:t>
    </dgm:pt>
    <dgm:pt modelId="{C71D30CF-91E6-5241-AC6A-181A2EEFF699}">
      <dgm:prSet/>
      <dgm:spPr/>
      <dgm:t>
        <a:bodyPr/>
        <a:lstStyle/>
        <a:p>
          <a:r>
            <a:rPr lang="en-US" altLang="zh-CN" dirty="0"/>
            <a:t>Huffman</a:t>
          </a:r>
          <a:r>
            <a:rPr lang="zh-CN" altLang="en-US" dirty="0"/>
            <a:t> </a:t>
          </a:r>
          <a:r>
            <a:rPr lang="en-US" altLang="zh-CN" dirty="0"/>
            <a:t>Coding</a:t>
          </a:r>
          <a:endParaRPr lang="zh-CN" altLang="en-US" dirty="0"/>
        </a:p>
      </dgm:t>
    </dgm:pt>
    <dgm:pt modelId="{EF24905C-034D-DB42-9541-EF86611E7A5B}" type="parTrans" cxnId="{BFE54DF6-2AF9-514E-887F-00A33F8E8B62}">
      <dgm:prSet/>
      <dgm:spPr/>
      <dgm:t>
        <a:bodyPr/>
        <a:lstStyle/>
        <a:p>
          <a:endParaRPr lang="zh-CN" altLang="en-US"/>
        </a:p>
      </dgm:t>
    </dgm:pt>
    <dgm:pt modelId="{A971A3FD-CD31-E242-82AF-B9F64BCF6241}" type="sibTrans" cxnId="{BFE54DF6-2AF9-514E-887F-00A33F8E8B62}">
      <dgm:prSet/>
      <dgm:spPr/>
      <dgm:t>
        <a:bodyPr/>
        <a:lstStyle/>
        <a:p>
          <a:endParaRPr lang="zh-CN" altLang="en-US"/>
        </a:p>
      </dgm:t>
    </dgm:pt>
    <dgm:pt modelId="{979813FF-10D6-5F4F-B734-B4566EA19FAF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endParaRPr lang="zh-CN" altLang="en-US" dirty="0"/>
        </a:p>
      </dgm:t>
    </dgm:pt>
    <dgm:pt modelId="{E2A24B37-9587-E344-A59F-03A51E37CEC7}" type="parTrans" cxnId="{65CCA65A-9D93-1943-AB12-19671CA00EBD}">
      <dgm:prSet/>
      <dgm:spPr/>
      <dgm:t>
        <a:bodyPr/>
        <a:lstStyle/>
        <a:p>
          <a:endParaRPr lang="zh-CN" altLang="en-US"/>
        </a:p>
      </dgm:t>
    </dgm:pt>
    <dgm:pt modelId="{95E63A6E-09AA-A240-80F7-A96B4FD720B0}" type="sibTrans" cxnId="{65CCA65A-9D93-1943-AB12-19671CA00EBD}">
      <dgm:prSet/>
      <dgm:spPr/>
      <dgm:t>
        <a:bodyPr/>
        <a:lstStyle/>
        <a:p>
          <a:endParaRPr lang="zh-CN" altLang="en-US"/>
        </a:p>
      </dgm:t>
    </dgm:pt>
    <dgm:pt modelId="{BEB40FAC-3C2F-D249-BCD7-CB20F15A2F2D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endParaRPr lang="zh-CN" altLang="en-US" dirty="0"/>
        </a:p>
      </dgm:t>
    </dgm:pt>
    <dgm:pt modelId="{AE85A0F3-E92F-E84C-9217-7D0D77F83808}" type="parTrans" cxnId="{C14B16E4-FB36-384B-A561-EA9A9B779A27}">
      <dgm:prSet/>
      <dgm:spPr/>
      <dgm:t>
        <a:bodyPr/>
        <a:lstStyle/>
        <a:p>
          <a:endParaRPr lang="zh-CN" altLang="en-US"/>
        </a:p>
      </dgm:t>
    </dgm:pt>
    <dgm:pt modelId="{C4E32C4A-39C3-114E-BF08-D0706BC8557F}" type="sibTrans" cxnId="{C14B16E4-FB36-384B-A561-EA9A9B779A27}">
      <dgm:prSet/>
      <dgm:spPr/>
      <dgm:t>
        <a:bodyPr/>
        <a:lstStyle/>
        <a:p>
          <a:endParaRPr lang="zh-CN" altLang="en-US"/>
        </a:p>
      </dgm:t>
    </dgm:pt>
    <dgm:pt modelId="{4084B97A-ECD3-B145-88EB-9CD1854BF825}">
      <dgm:prSet/>
      <dgm:spPr/>
      <dgm:t>
        <a:bodyPr/>
        <a:lstStyle/>
        <a:p>
          <a:r>
            <a:rPr lang="en-US" altLang="zh-CN" dirty="0"/>
            <a:t>Matroid</a:t>
          </a:r>
          <a:endParaRPr lang="zh-CN" altLang="en-US" dirty="0"/>
        </a:p>
      </dgm:t>
    </dgm:pt>
    <dgm:pt modelId="{09A7FDC5-D302-7940-819B-D4B95BEF6BB1}" type="parTrans" cxnId="{B6FF1E31-DB40-6D47-B6C5-521E7992E754}">
      <dgm:prSet/>
      <dgm:spPr/>
    </dgm:pt>
    <dgm:pt modelId="{F1DE2C70-2891-254F-A4F0-BB510A9BD363}" type="sibTrans" cxnId="{B6FF1E31-DB40-6D47-B6C5-521E7992E754}">
      <dgm:prSet/>
      <dgm:spPr/>
    </dgm:pt>
    <dgm:pt modelId="{E3F036DE-6942-EB4D-9A0C-88DB77F2BE78}" type="pres">
      <dgm:prSet presAssocID="{CD4C4DF3-CDA3-4C1A-BA09-6F2AA9088C98}" presName="linear" presStyleCnt="0">
        <dgm:presLayoutVars>
          <dgm:animLvl val="lvl"/>
          <dgm:resizeHandles val="exact"/>
        </dgm:presLayoutVars>
      </dgm:prSet>
      <dgm:spPr/>
    </dgm:pt>
    <dgm:pt modelId="{F36BEC44-DAC6-6343-85FD-985E84DAB391}" type="pres">
      <dgm:prSet presAssocID="{AC918355-8F9B-4F09-B720-6574DA287041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8FD44975-0EA2-2744-8F62-194D31243E1B}" type="pres">
      <dgm:prSet presAssocID="{AC918355-8F9B-4F09-B720-6574DA287041}" presName="childText" presStyleLbl="revTx" presStyleIdx="0" presStyleCnt="6">
        <dgm:presLayoutVars>
          <dgm:bulletEnabled val="1"/>
        </dgm:presLayoutVars>
      </dgm:prSet>
      <dgm:spPr/>
    </dgm:pt>
    <dgm:pt modelId="{CAA1060A-F01D-234D-A5B5-15047FFE84C8}" type="pres">
      <dgm:prSet presAssocID="{CF2444AC-25A3-45AF-9E27-F0625589132F}" presName="parentText" presStyleLbl="node1" presStyleIdx="1" presStyleCnt="7" custLinFactNeighborX="-1034" custLinFactNeighborY="1077">
        <dgm:presLayoutVars>
          <dgm:chMax val="0"/>
          <dgm:bulletEnabled val="1"/>
        </dgm:presLayoutVars>
      </dgm:prSet>
      <dgm:spPr/>
    </dgm:pt>
    <dgm:pt modelId="{B3D4FF40-A116-F443-A12B-EBBDAC4C5921}" type="pres">
      <dgm:prSet presAssocID="{CF2444AC-25A3-45AF-9E27-F0625589132F}" presName="childText" presStyleLbl="revTx" presStyleIdx="1" presStyleCnt="6">
        <dgm:presLayoutVars>
          <dgm:bulletEnabled val="1"/>
        </dgm:presLayoutVars>
      </dgm:prSet>
      <dgm:spPr/>
    </dgm:pt>
    <dgm:pt modelId="{1070F474-A7B6-BC4B-9FF9-22A4F96CDBF7}" type="pres">
      <dgm:prSet presAssocID="{4084B97A-ECD3-B145-88EB-9CD1854BF825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CB539309-0300-E649-BCD7-289275DCADAA}" type="pres">
      <dgm:prSet presAssocID="{F1DE2C70-2891-254F-A4F0-BB510A9BD363}" presName="spacer" presStyleCnt="0"/>
      <dgm:spPr/>
    </dgm:pt>
    <dgm:pt modelId="{74E7862E-A08A-E740-BD64-70A8C62E4534}" type="pres">
      <dgm:prSet presAssocID="{F098D7CD-E34D-AB40-90A3-37F93F15ACF8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1DA4B74F-3938-224C-B8AD-5AC96748D1AE}" type="pres">
      <dgm:prSet presAssocID="{F098D7CD-E34D-AB40-90A3-37F93F15ACF8}" presName="childText" presStyleLbl="revTx" presStyleIdx="2" presStyleCnt="6">
        <dgm:presLayoutVars>
          <dgm:bulletEnabled val="1"/>
        </dgm:presLayoutVars>
      </dgm:prSet>
      <dgm:spPr/>
    </dgm:pt>
    <dgm:pt modelId="{0F9D7059-6B5A-324D-BBB2-FF4779936521}" type="pres">
      <dgm:prSet presAssocID="{B3AC4ABD-3393-49E6-B22C-5258D54F3AA8}" presName="parentText" presStyleLbl="node1" presStyleIdx="4" presStyleCnt="7" custLinFactNeighborX="166" custLinFactNeighborY="-1958">
        <dgm:presLayoutVars>
          <dgm:chMax val="0"/>
          <dgm:bulletEnabled val="1"/>
        </dgm:presLayoutVars>
      </dgm:prSet>
      <dgm:spPr/>
    </dgm:pt>
    <dgm:pt modelId="{83C615D7-3F44-1542-8AB9-18060F3340FA}" type="pres">
      <dgm:prSet presAssocID="{B3AC4ABD-3393-49E6-B22C-5258D54F3AA8}" presName="childText" presStyleLbl="revTx" presStyleIdx="3" presStyleCnt="6">
        <dgm:presLayoutVars>
          <dgm:bulletEnabled val="1"/>
        </dgm:presLayoutVars>
      </dgm:prSet>
      <dgm:spPr/>
    </dgm:pt>
    <dgm:pt modelId="{27CFC81F-1429-A241-BA29-F4FAC6F69A90}" type="pres">
      <dgm:prSet presAssocID="{63A81FF4-263D-41CB-9071-D127CED2C26F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D4E3098-A1D7-A548-BAB5-7C5B68BD5803}" type="pres">
      <dgm:prSet presAssocID="{63A81FF4-263D-41CB-9071-D127CED2C26F}" presName="childText" presStyleLbl="revTx" presStyleIdx="4" presStyleCnt="6">
        <dgm:presLayoutVars>
          <dgm:bulletEnabled val="1"/>
        </dgm:presLayoutVars>
      </dgm:prSet>
      <dgm:spPr/>
    </dgm:pt>
    <dgm:pt modelId="{5A2B2C49-2F63-4841-9864-CB284F986961}" type="pres">
      <dgm:prSet presAssocID="{C71D30CF-91E6-5241-AC6A-181A2EEFF699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AAB7C639-0C53-3442-BE4C-8F6F83218280}" type="pres">
      <dgm:prSet presAssocID="{C71D30CF-91E6-5241-AC6A-181A2EEFF699}" presName="childText" presStyleLbl="revTx" presStyleIdx="5" presStyleCnt="6">
        <dgm:presLayoutVars>
          <dgm:bulletEnabled val="1"/>
        </dgm:presLayoutVars>
      </dgm:prSet>
      <dgm:spPr/>
    </dgm:pt>
  </dgm:ptLst>
  <dgm:cxnLst>
    <dgm:cxn modelId="{F267AE07-3DF6-0446-A9FF-DB560CFF09D6}" type="presOf" srcId="{87006AB7-5DEB-5048-9A7A-C352760D0348}" destId="{8D4E3098-A1D7-A548-BAB5-7C5B68BD5803}" srcOrd="0" destOrd="0" presId="urn:microsoft.com/office/officeart/2005/8/layout/vList2"/>
    <dgm:cxn modelId="{1C9BE420-CC1B-674D-9E22-DA2AF86FD4BA}" srcId="{B3AC4ABD-3393-49E6-B22C-5258D54F3AA8}" destId="{40C135C6-FE8A-BE49-940B-3952902C4556}" srcOrd="0" destOrd="0" parTransId="{3CF44307-9A52-8E43-8D7A-EEEFE78E418E}" sibTransId="{430DC21D-1579-C444-9AE0-F5F6317CCE45}"/>
    <dgm:cxn modelId="{845E4E21-EB6D-1A48-8D81-186E7D91B7CC}" type="presOf" srcId="{63A81FF4-263D-41CB-9071-D127CED2C26F}" destId="{27CFC81F-1429-A241-BA29-F4FAC6F69A90}" srcOrd="0" destOrd="0" presId="urn:microsoft.com/office/officeart/2005/8/layout/vList2"/>
    <dgm:cxn modelId="{B6FF1E31-DB40-6D47-B6C5-521E7992E754}" srcId="{CD4C4DF3-CDA3-4C1A-BA09-6F2AA9088C98}" destId="{4084B97A-ECD3-B145-88EB-9CD1854BF825}" srcOrd="2" destOrd="0" parTransId="{09A7FDC5-D302-7940-819B-D4B95BEF6BB1}" sibTransId="{F1DE2C70-2891-254F-A4F0-BB510A9BD363}"/>
    <dgm:cxn modelId="{AA2C9435-4412-1149-879E-9387616E263B}" type="presOf" srcId="{2EEF85AF-4B87-C440-83AA-7A6F97371E15}" destId="{B3D4FF40-A116-F443-A12B-EBBDAC4C5921}" srcOrd="0" destOrd="1" presId="urn:microsoft.com/office/officeart/2005/8/layout/vList2"/>
    <dgm:cxn modelId="{2F29543D-3CD9-E041-8034-8BD1B751A642}" type="presOf" srcId="{C71D30CF-91E6-5241-AC6A-181A2EEFF699}" destId="{5A2B2C49-2F63-4841-9864-CB284F986961}" srcOrd="0" destOrd="0" presId="urn:microsoft.com/office/officeart/2005/8/layout/vList2"/>
    <dgm:cxn modelId="{8D0D7D3F-6765-4F28-B5F2-BEDF0CF88641}" srcId="{CD4C4DF3-CDA3-4C1A-BA09-6F2AA9088C98}" destId="{AC918355-8F9B-4F09-B720-6574DA287041}" srcOrd="0" destOrd="0" parTransId="{E97D0D5F-C26B-4811-A71F-D22685DAE823}" sibTransId="{8C98467B-A16D-46AB-89F9-E167C0071142}"/>
    <dgm:cxn modelId="{4ACAF354-1219-884C-8C1B-ABF1D6C1E514}" srcId="{CF2444AC-25A3-45AF-9E27-F0625589132F}" destId="{2EEF85AF-4B87-C440-83AA-7A6F97371E15}" srcOrd="1" destOrd="0" parTransId="{45E9E3BE-AB6B-9747-960E-1CE6911CDB84}" sibTransId="{781BA7AD-0BC0-C646-88FA-142C48D9796E}"/>
    <dgm:cxn modelId="{7800755A-57F5-684E-B424-B3F63B604698}" type="presOf" srcId="{979813FF-10D6-5F4F-B734-B4566EA19FAF}" destId="{1DA4B74F-3938-224C-B8AD-5AC96748D1AE}" srcOrd="0" destOrd="0" presId="urn:microsoft.com/office/officeart/2005/8/layout/vList2"/>
    <dgm:cxn modelId="{65CCA65A-9D93-1943-AB12-19671CA00EBD}" srcId="{F098D7CD-E34D-AB40-90A3-37F93F15ACF8}" destId="{979813FF-10D6-5F4F-B734-B4566EA19FAF}" srcOrd="0" destOrd="0" parTransId="{E2A24B37-9587-E344-A59F-03A51E37CEC7}" sibTransId="{95E63A6E-09AA-A240-80F7-A96B4FD720B0}"/>
    <dgm:cxn modelId="{217E5972-44E9-6446-AC97-FE587E6BFBE4}" srcId="{CD4C4DF3-CDA3-4C1A-BA09-6F2AA9088C98}" destId="{F098D7CD-E34D-AB40-90A3-37F93F15ACF8}" srcOrd="3" destOrd="0" parTransId="{7D5CA1B6-D1C0-AA4A-B2BF-6C4BF6AAC8F0}" sibTransId="{4A049BBC-2731-7743-A63A-12E2DCEA7637}"/>
    <dgm:cxn modelId="{367CF977-A5F2-A142-A10A-27687B4E5CBC}" type="presOf" srcId="{CD4C4DF3-CDA3-4C1A-BA09-6F2AA9088C98}" destId="{E3F036DE-6942-EB4D-9A0C-88DB77F2BE78}" srcOrd="0" destOrd="0" presId="urn:microsoft.com/office/officeart/2005/8/layout/vList2"/>
    <dgm:cxn modelId="{CA80A480-E22C-634B-A522-1139C70AF760}" srcId="{AC918355-8F9B-4F09-B720-6574DA287041}" destId="{677C9A02-E803-8648-BE03-AA1CC9080D68}" srcOrd="0" destOrd="0" parTransId="{B62DE863-1BE7-CE4B-9E86-9D85B7817987}" sibTransId="{215DAEF2-0B29-1D42-8E41-4BFD07D77A70}"/>
    <dgm:cxn modelId="{26907285-2563-4041-8562-4A62562F406B}" type="presOf" srcId="{40C135C6-FE8A-BE49-940B-3952902C4556}" destId="{83C615D7-3F44-1542-8AB9-18060F3340FA}" srcOrd="0" destOrd="0" presId="urn:microsoft.com/office/officeart/2005/8/layout/vList2"/>
    <dgm:cxn modelId="{6176BE85-C411-6145-A12D-CFD2CC2743D2}" type="presOf" srcId="{B3AC4ABD-3393-49E6-B22C-5258D54F3AA8}" destId="{0F9D7059-6B5A-324D-BBB2-FF4779936521}" srcOrd="0" destOrd="0" presId="urn:microsoft.com/office/officeart/2005/8/layout/vList2"/>
    <dgm:cxn modelId="{1B471A91-86E7-C14B-95AA-08ADB80473B8}" type="presOf" srcId="{F098D7CD-E34D-AB40-90A3-37F93F15ACF8}" destId="{74E7862E-A08A-E740-BD64-70A8C62E4534}" srcOrd="0" destOrd="0" presId="urn:microsoft.com/office/officeart/2005/8/layout/vList2"/>
    <dgm:cxn modelId="{7AB36395-EF23-1F4E-9627-DB5E5C24B0FE}" type="presOf" srcId="{CF2444AC-25A3-45AF-9E27-F0625589132F}" destId="{CAA1060A-F01D-234D-A5B5-15047FFE84C8}" srcOrd="0" destOrd="0" presId="urn:microsoft.com/office/officeart/2005/8/layout/vList2"/>
    <dgm:cxn modelId="{CF87B7AB-E83E-764E-9454-A9FA3EC4D2F7}" type="presOf" srcId="{4084B97A-ECD3-B145-88EB-9CD1854BF825}" destId="{1070F474-A7B6-BC4B-9FF9-22A4F96CDBF7}" srcOrd="0" destOrd="0" presId="urn:microsoft.com/office/officeart/2005/8/layout/vList2"/>
    <dgm:cxn modelId="{FF429AB5-D8A5-450C-949E-C5993CDA6CF8}" srcId="{CD4C4DF3-CDA3-4C1A-BA09-6F2AA9088C98}" destId="{63A81FF4-263D-41CB-9071-D127CED2C26F}" srcOrd="5" destOrd="0" parTransId="{871569B9-983E-4147-A2C2-AEAE4B538B9F}" sibTransId="{6204F9E9-B966-4ED3-9620-B8AD2FA0992D}"/>
    <dgm:cxn modelId="{EDD61ABF-C930-BC4B-8925-1948461EC541}" type="presOf" srcId="{BEB40FAC-3C2F-D249-BCD7-CB20F15A2F2D}" destId="{AAB7C639-0C53-3442-BE4C-8F6F83218280}" srcOrd="0" destOrd="0" presId="urn:microsoft.com/office/officeart/2005/8/layout/vList2"/>
    <dgm:cxn modelId="{20AAC4C0-0D10-49F9-94CC-7F9A98CD0892}" srcId="{CD4C4DF3-CDA3-4C1A-BA09-6F2AA9088C98}" destId="{B3AC4ABD-3393-49E6-B22C-5258D54F3AA8}" srcOrd="4" destOrd="0" parTransId="{217CAF8E-9194-4CEE-B13D-4E63A1D5BC08}" sibTransId="{7625B602-CC8D-40F6-A946-15E9FF8A917C}"/>
    <dgm:cxn modelId="{9E236EC3-2499-C343-9C8F-F7509F26D59D}" type="presOf" srcId="{AC918355-8F9B-4F09-B720-6574DA287041}" destId="{F36BEC44-DAC6-6343-85FD-985E84DAB391}" srcOrd="0" destOrd="0" presId="urn:microsoft.com/office/officeart/2005/8/layout/vList2"/>
    <dgm:cxn modelId="{B2A55DC6-0486-6344-BC09-E25D32432225}" srcId="{CF2444AC-25A3-45AF-9E27-F0625589132F}" destId="{82BF780E-35C8-5244-A178-392312345216}" srcOrd="0" destOrd="0" parTransId="{5CACFC02-D176-124C-AF80-1AEF06E65DD3}" sibTransId="{07FFF902-5725-CE43-8743-EFF490A14789}"/>
    <dgm:cxn modelId="{23D216CE-03C6-0C4C-878B-B2659A3188F9}" type="presOf" srcId="{677C9A02-E803-8648-BE03-AA1CC9080D68}" destId="{8FD44975-0EA2-2744-8F62-194D31243E1B}" srcOrd="0" destOrd="0" presId="urn:microsoft.com/office/officeart/2005/8/layout/vList2"/>
    <dgm:cxn modelId="{C14B16E4-FB36-384B-A561-EA9A9B779A27}" srcId="{C71D30CF-91E6-5241-AC6A-181A2EEFF699}" destId="{BEB40FAC-3C2F-D249-BCD7-CB20F15A2F2D}" srcOrd="0" destOrd="0" parTransId="{AE85A0F3-E92F-E84C-9217-7D0D77F83808}" sibTransId="{C4E32C4A-39C3-114E-BF08-D0706BC8557F}"/>
    <dgm:cxn modelId="{967003F1-89BF-460D-A4CA-2C5AA70BC355}" srcId="{CD4C4DF3-CDA3-4C1A-BA09-6F2AA9088C98}" destId="{CF2444AC-25A3-45AF-9E27-F0625589132F}" srcOrd="1" destOrd="0" parTransId="{868C213E-ECF0-4837-9209-AC9DECD9C145}" sibTransId="{F53403EF-CE1D-433B-BCA2-CAF069B7E4B7}"/>
    <dgm:cxn modelId="{BFE54DF6-2AF9-514E-887F-00A33F8E8B62}" srcId="{CD4C4DF3-CDA3-4C1A-BA09-6F2AA9088C98}" destId="{C71D30CF-91E6-5241-AC6A-181A2EEFF699}" srcOrd="6" destOrd="0" parTransId="{EF24905C-034D-DB42-9541-EF86611E7A5B}" sibTransId="{A971A3FD-CD31-E242-82AF-B9F64BCF6241}"/>
    <dgm:cxn modelId="{CEBEF0FD-1F8F-5840-9944-902DDEDE79AC}" srcId="{63A81FF4-263D-41CB-9071-D127CED2C26F}" destId="{87006AB7-5DEB-5048-9A7A-C352760D0348}" srcOrd="0" destOrd="0" parTransId="{CC7FCFD6-EC5A-424A-8DDB-7EF6B3069CC4}" sibTransId="{7DF3500A-CC4C-984E-84D6-B85071EB2920}"/>
    <dgm:cxn modelId="{22CE78FF-2883-CB47-9C7F-2F06069B3327}" type="presOf" srcId="{82BF780E-35C8-5244-A178-392312345216}" destId="{B3D4FF40-A116-F443-A12B-EBBDAC4C5921}" srcOrd="0" destOrd="0" presId="urn:microsoft.com/office/officeart/2005/8/layout/vList2"/>
    <dgm:cxn modelId="{877BD231-F12A-0545-BC98-C663D98ECB0C}" type="presParOf" srcId="{E3F036DE-6942-EB4D-9A0C-88DB77F2BE78}" destId="{F36BEC44-DAC6-6343-85FD-985E84DAB391}" srcOrd="0" destOrd="0" presId="urn:microsoft.com/office/officeart/2005/8/layout/vList2"/>
    <dgm:cxn modelId="{28DAC00B-117E-8B47-B5DB-0730959186CC}" type="presParOf" srcId="{E3F036DE-6942-EB4D-9A0C-88DB77F2BE78}" destId="{8FD44975-0EA2-2744-8F62-194D31243E1B}" srcOrd="1" destOrd="0" presId="urn:microsoft.com/office/officeart/2005/8/layout/vList2"/>
    <dgm:cxn modelId="{61ED2CEE-28BB-F940-8E84-DC94E2C443D7}" type="presParOf" srcId="{E3F036DE-6942-EB4D-9A0C-88DB77F2BE78}" destId="{CAA1060A-F01D-234D-A5B5-15047FFE84C8}" srcOrd="2" destOrd="0" presId="urn:microsoft.com/office/officeart/2005/8/layout/vList2"/>
    <dgm:cxn modelId="{638C5C3F-6F2B-1A43-9FA1-BBE743102D93}" type="presParOf" srcId="{E3F036DE-6942-EB4D-9A0C-88DB77F2BE78}" destId="{B3D4FF40-A116-F443-A12B-EBBDAC4C5921}" srcOrd="3" destOrd="0" presId="urn:microsoft.com/office/officeart/2005/8/layout/vList2"/>
    <dgm:cxn modelId="{1DB402FE-63B0-CE44-8179-C5791232D1F1}" type="presParOf" srcId="{E3F036DE-6942-EB4D-9A0C-88DB77F2BE78}" destId="{1070F474-A7B6-BC4B-9FF9-22A4F96CDBF7}" srcOrd="4" destOrd="0" presId="urn:microsoft.com/office/officeart/2005/8/layout/vList2"/>
    <dgm:cxn modelId="{62E73D30-C997-A042-8CE8-7F678DDC963F}" type="presParOf" srcId="{E3F036DE-6942-EB4D-9A0C-88DB77F2BE78}" destId="{CB539309-0300-E649-BCD7-289275DCADAA}" srcOrd="5" destOrd="0" presId="urn:microsoft.com/office/officeart/2005/8/layout/vList2"/>
    <dgm:cxn modelId="{A206D089-9098-DD4B-B5A8-9C759CB8C320}" type="presParOf" srcId="{E3F036DE-6942-EB4D-9A0C-88DB77F2BE78}" destId="{74E7862E-A08A-E740-BD64-70A8C62E4534}" srcOrd="6" destOrd="0" presId="urn:microsoft.com/office/officeart/2005/8/layout/vList2"/>
    <dgm:cxn modelId="{A2F00941-299F-2B4A-8B10-D7BB116AD940}" type="presParOf" srcId="{E3F036DE-6942-EB4D-9A0C-88DB77F2BE78}" destId="{1DA4B74F-3938-224C-B8AD-5AC96748D1AE}" srcOrd="7" destOrd="0" presId="urn:microsoft.com/office/officeart/2005/8/layout/vList2"/>
    <dgm:cxn modelId="{699258F9-0214-4B46-819A-53AECA3B91C5}" type="presParOf" srcId="{E3F036DE-6942-EB4D-9A0C-88DB77F2BE78}" destId="{0F9D7059-6B5A-324D-BBB2-FF4779936521}" srcOrd="8" destOrd="0" presId="urn:microsoft.com/office/officeart/2005/8/layout/vList2"/>
    <dgm:cxn modelId="{4B186BBF-3D4A-E447-B75E-4C41B9B376FE}" type="presParOf" srcId="{E3F036DE-6942-EB4D-9A0C-88DB77F2BE78}" destId="{83C615D7-3F44-1542-8AB9-18060F3340FA}" srcOrd="9" destOrd="0" presId="urn:microsoft.com/office/officeart/2005/8/layout/vList2"/>
    <dgm:cxn modelId="{3B3E1F7F-BD0C-9C48-927B-5F8B717A7765}" type="presParOf" srcId="{E3F036DE-6942-EB4D-9A0C-88DB77F2BE78}" destId="{27CFC81F-1429-A241-BA29-F4FAC6F69A90}" srcOrd="10" destOrd="0" presId="urn:microsoft.com/office/officeart/2005/8/layout/vList2"/>
    <dgm:cxn modelId="{8680AFAF-1B75-874C-AFF8-4E803D3F16DD}" type="presParOf" srcId="{E3F036DE-6942-EB4D-9A0C-88DB77F2BE78}" destId="{8D4E3098-A1D7-A548-BAB5-7C5B68BD5803}" srcOrd="11" destOrd="0" presId="urn:microsoft.com/office/officeart/2005/8/layout/vList2"/>
    <dgm:cxn modelId="{50D35F1C-7FB2-1643-B90D-EB3D671DA536}" type="presParOf" srcId="{E3F036DE-6942-EB4D-9A0C-88DB77F2BE78}" destId="{5A2B2C49-2F63-4841-9864-CB284F986961}" srcOrd="12" destOrd="0" presId="urn:microsoft.com/office/officeart/2005/8/layout/vList2"/>
    <dgm:cxn modelId="{36CEF566-56C4-D14B-B74C-C4083F1B7E24}" type="presParOf" srcId="{E3F036DE-6942-EB4D-9A0C-88DB77F2BE78}" destId="{AAB7C639-0C53-3442-BE4C-8F6F83218280}" srcOrd="1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D4C4DF3-CDA3-4C1A-BA09-6F2AA9088C9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C918355-8F9B-4F09-B720-6574DA287041}">
      <dgm:prSet/>
      <dgm:spPr/>
      <dgm:t>
        <a:bodyPr/>
        <a:lstStyle/>
        <a:p>
          <a:r>
            <a:rPr lang="en-US" altLang="zh-CN" dirty="0"/>
            <a:t>Greedy</a:t>
          </a:r>
          <a:r>
            <a:rPr lang="zh-CN" altLang="en-US" dirty="0"/>
            <a:t> </a:t>
          </a:r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doesn’t</a:t>
          </a:r>
          <a:r>
            <a:rPr lang="zh-CN" altLang="en-US" dirty="0"/>
            <a:t> </a:t>
          </a:r>
          <a:r>
            <a:rPr lang="en-US" altLang="zh-CN" dirty="0"/>
            <a:t>work</a:t>
          </a:r>
        </a:p>
      </dgm:t>
    </dgm:pt>
    <dgm:pt modelId="{E97D0D5F-C26B-4811-A71F-D22685DAE823}" type="parTrans" cxnId="{8D0D7D3F-6765-4F28-B5F2-BEDF0CF88641}">
      <dgm:prSet/>
      <dgm:spPr/>
      <dgm:t>
        <a:bodyPr/>
        <a:lstStyle/>
        <a:p>
          <a:endParaRPr lang="en-US"/>
        </a:p>
      </dgm:t>
    </dgm:pt>
    <dgm:pt modelId="{8C98467B-A16D-46AB-89F9-E167C0071142}" type="sibTrans" cxnId="{8D0D7D3F-6765-4F28-B5F2-BEDF0CF88641}">
      <dgm:prSet/>
      <dgm:spPr/>
      <dgm:t>
        <a:bodyPr/>
        <a:lstStyle/>
        <a:p>
          <a:endParaRPr lang="en-US"/>
        </a:p>
      </dgm:t>
    </dgm:pt>
    <dgm:pt modelId="{CF2444AC-25A3-45AF-9E27-F0625589132F}">
      <dgm:prSet/>
      <dgm:spPr/>
      <dgm:t>
        <a:bodyPr/>
        <a:lstStyle/>
        <a:p>
          <a:r>
            <a:rPr lang="en-US" altLang="zh-CN" dirty="0"/>
            <a:t>Activity</a:t>
          </a:r>
          <a:r>
            <a:rPr lang="zh-CN" altLang="en-US" dirty="0"/>
            <a:t> </a:t>
          </a:r>
          <a:r>
            <a:rPr lang="en-US" altLang="zh-CN" dirty="0"/>
            <a:t>Selection/Interval</a:t>
          </a:r>
          <a:r>
            <a:rPr lang="zh-CN" altLang="en-US" dirty="0"/>
            <a:t> </a:t>
          </a:r>
          <a:r>
            <a:rPr lang="en-US" altLang="zh-CN" dirty="0"/>
            <a:t>Scheduling</a:t>
          </a:r>
          <a:endParaRPr lang="en-US" dirty="0"/>
        </a:p>
      </dgm:t>
    </dgm:pt>
    <dgm:pt modelId="{868C213E-ECF0-4837-9209-AC9DECD9C145}" type="parTrans" cxnId="{967003F1-89BF-460D-A4CA-2C5AA70BC355}">
      <dgm:prSet/>
      <dgm:spPr/>
      <dgm:t>
        <a:bodyPr/>
        <a:lstStyle/>
        <a:p>
          <a:endParaRPr lang="en-US"/>
        </a:p>
      </dgm:t>
    </dgm:pt>
    <dgm:pt modelId="{F53403EF-CE1D-433B-BCA2-CAF069B7E4B7}" type="sibTrans" cxnId="{967003F1-89BF-460D-A4CA-2C5AA70BC355}">
      <dgm:prSet/>
      <dgm:spPr/>
      <dgm:t>
        <a:bodyPr/>
        <a:lstStyle/>
        <a:p>
          <a:endParaRPr lang="en-US"/>
        </a:p>
      </dgm:t>
    </dgm:pt>
    <dgm:pt modelId="{B3AC4ABD-3393-49E6-B22C-5258D54F3AA8}">
      <dgm:prSet/>
      <dgm:spPr/>
      <dgm:t>
        <a:bodyPr/>
        <a:lstStyle/>
        <a:p>
          <a:r>
            <a:rPr lang="en-US" altLang="zh-CN" dirty="0">
              <a:solidFill>
                <a:schemeClr val="bg1"/>
              </a:solidFill>
            </a:rPr>
            <a:t>Interval</a:t>
          </a:r>
          <a:r>
            <a:rPr lang="zh-CN" altLang="en-US" dirty="0">
              <a:solidFill>
                <a:schemeClr val="bg1"/>
              </a:solidFill>
            </a:rPr>
            <a:t> </a:t>
          </a:r>
          <a:r>
            <a:rPr lang="en-US" altLang="zh-CN" dirty="0">
              <a:solidFill>
                <a:schemeClr val="bg1"/>
              </a:solidFill>
            </a:rPr>
            <a:t>Partitioning</a:t>
          </a:r>
          <a:endParaRPr lang="en-US" dirty="0">
            <a:solidFill>
              <a:schemeClr val="bg1"/>
            </a:solidFill>
          </a:endParaRPr>
        </a:p>
      </dgm:t>
    </dgm:pt>
    <dgm:pt modelId="{217CAF8E-9194-4CEE-B13D-4E63A1D5BC08}" type="parTrans" cxnId="{20AAC4C0-0D10-49F9-94CC-7F9A98CD0892}">
      <dgm:prSet/>
      <dgm:spPr/>
      <dgm:t>
        <a:bodyPr/>
        <a:lstStyle/>
        <a:p>
          <a:endParaRPr lang="en-US"/>
        </a:p>
      </dgm:t>
    </dgm:pt>
    <dgm:pt modelId="{7625B602-CC8D-40F6-A946-15E9FF8A917C}" type="sibTrans" cxnId="{20AAC4C0-0D10-49F9-94CC-7F9A98CD0892}">
      <dgm:prSet/>
      <dgm:spPr/>
      <dgm:t>
        <a:bodyPr/>
        <a:lstStyle/>
        <a:p>
          <a:endParaRPr lang="en-US"/>
        </a:p>
      </dgm:t>
    </dgm:pt>
    <dgm:pt modelId="{63A81FF4-263D-41CB-9071-D127CED2C26F}">
      <dgm:prSet custT="1"/>
      <dgm:spPr/>
      <dgm:t>
        <a:bodyPr/>
        <a:lstStyle/>
        <a:p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Max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Lateness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Minimization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Scheduling</a:t>
          </a:r>
          <a:endParaRPr lang="en-US" sz="2000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gm:t>
    </dgm:pt>
    <dgm:pt modelId="{871569B9-983E-4147-A2C2-AEAE4B538B9F}" type="parTrans" cxnId="{FF429AB5-D8A5-450C-949E-C5993CDA6CF8}">
      <dgm:prSet/>
      <dgm:spPr/>
      <dgm:t>
        <a:bodyPr/>
        <a:lstStyle/>
        <a:p>
          <a:endParaRPr lang="en-US"/>
        </a:p>
      </dgm:t>
    </dgm:pt>
    <dgm:pt modelId="{6204F9E9-B966-4ED3-9620-B8AD2FA0992D}" type="sibTrans" cxnId="{FF429AB5-D8A5-450C-949E-C5993CDA6CF8}">
      <dgm:prSet/>
      <dgm:spPr/>
      <dgm:t>
        <a:bodyPr/>
        <a:lstStyle/>
        <a:p>
          <a:endParaRPr lang="en-US"/>
        </a:p>
      </dgm:t>
    </dgm:pt>
    <dgm:pt modelId="{82BF780E-35C8-5244-A178-392312345216}">
      <dgm:prSet/>
      <dgm:spPr/>
      <dgm:t>
        <a:bodyPr/>
        <a:lstStyle/>
        <a:p>
          <a:r>
            <a:rPr lang="en-US" altLang="zh-CN" dirty="0"/>
            <a:t>Greedy</a:t>
          </a:r>
          <a:r>
            <a:rPr lang="zh-CN" altLang="en-US" dirty="0"/>
            <a:t> </a:t>
          </a:r>
          <a:r>
            <a:rPr lang="en-US" altLang="zh-CN" dirty="0"/>
            <a:t>Algorithm</a:t>
          </a:r>
          <a:endParaRPr lang="zh-CN" altLang="en-US" dirty="0"/>
        </a:p>
      </dgm:t>
    </dgm:pt>
    <dgm:pt modelId="{5CACFC02-D176-124C-AF80-1AEF06E65DD3}" type="parTrans" cxnId="{B2A55DC6-0486-6344-BC09-E25D32432225}">
      <dgm:prSet/>
      <dgm:spPr/>
      <dgm:t>
        <a:bodyPr/>
        <a:lstStyle/>
        <a:p>
          <a:endParaRPr lang="zh-CN" altLang="en-US"/>
        </a:p>
      </dgm:t>
    </dgm:pt>
    <dgm:pt modelId="{07FFF902-5725-CE43-8743-EFF490A14789}" type="sibTrans" cxnId="{B2A55DC6-0486-6344-BC09-E25D32432225}">
      <dgm:prSet/>
      <dgm:spPr/>
      <dgm:t>
        <a:bodyPr/>
        <a:lstStyle/>
        <a:p>
          <a:endParaRPr lang="zh-CN" altLang="en-US"/>
        </a:p>
      </dgm:t>
    </dgm:pt>
    <dgm:pt modelId="{2EEF85AF-4B87-C440-83AA-7A6F97371E15}">
      <dgm:prSet/>
      <dgm:spPr/>
      <dgm:t>
        <a:bodyPr/>
        <a:lstStyle/>
        <a:p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Optimality,</a:t>
          </a:r>
          <a:r>
            <a:rPr lang="zh-CN" altLang="en-US" dirty="0"/>
            <a:t> </a:t>
          </a:r>
          <a:r>
            <a:rPr lang="en-US" dirty="0"/>
            <a:t>Optimal sub-structure </a:t>
          </a:r>
          <a:endParaRPr lang="zh-CN" altLang="en-US" dirty="0"/>
        </a:p>
      </dgm:t>
    </dgm:pt>
    <dgm:pt modelId="{45E9E3BE-AB6B-9747-960E-1CE6911CDB84}" type="parTrans" cxnId="{4ACAF354-1219-884C-8C1B-ABF1D6C1E514}">
      <dgm:prSet/>
      <dgm:spPr/>
      <dgm:t>
        <a:bodyPr/>
        <a:lstStyle/>
        <a:p>
          <a:endParaRPr lang="zh-CN" altLang="en-US"/>
        </a:p>
      </dgm:t>
    </dgm:pt>
    <dgm:pt modelId="{781BA7AD-0BC0-C646-88FA-142C48D9796E}" type="sibTrans" cxnId="{4ACAF354-1219-884C-8C1B-ABF1D6C1E514}">
      <dgm:prSet/>
      <dgm:spPr/>
      <dgm:t>
        <a:bodyPr/>
        <a:lstStyle/>
        <a:p>
          <a:endParaRPr lang="zh-CN" altLang="en-US"/>
        </a:p>
      </dgm:t>
    </dgm:pt>
    <dgm:pt modelId="{40C135C6-FE8A-BE49-940B-3952902C4556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r>
            <a:rPr lang="zh-CN" altLang="en-US" dirty="0"/>
            <a:t> </a:t>
          </a:r>
        </a:p>
      </dgm:t>
    </dgm:pt>
    <dgm:pt modelId="{3CF44307-9A52-8E43-8D7A-EEEFE78E418E}" type="parTrans" cxnId="{1C9BE420-CC1B-674D-9E22-DA2AF86FD4BA}">
      <dgm:prSet/>
      <dgm:spPr/>
      <dgm:t>
        <a:bodyPr/>
        <a:lstStyle/>
        <a:p>
          <a:endParaRPr lang="zh-CN" altLang="en-US"/>
        </a:p>
      </dgm:t>
    </dgm:pt>
    <dgm:pt modelId="{430DC21D-1579-C444-9AE0-F5F6317CCE45}" type="sibTrans" cxnId="{1C9BE420-CC1B-674D-9E22-DA2AF86FD4BA}">
      <dgm:prSet/>
      <dgm:spPr/>
      <dgm:t>
        <a:bodyPr/>
        <a:lstStyle/>
        <a:p>
          <a:endParaRPr lang="zh-CN" altLang="en-US"/>
        </a:p>
      </dgm:t>
    </dgm:pt>
    <dgm:pt modelId="{677C9A02-E803-8648-BE03-AA1CC9080D68}">
      <dgm:prSet/>
      <dgm:spPr/>
      <dgm:t>
        <a:bodyPr/>
        <a:lstStyle/>
        <a:p>
          <a:r>
            <a:rPr lang="en-US" altLang="zh-CN" dirty="0"/>
            <a:t>Knapsack</a:t>
          </a:r>
          <a:r>
            <a:rPr lang="zh-CN" altLang="en-US" dirty="0"/>
            <a:t> </a:t>
          </a:r>
          <a:r>
            <a:rPr lang="en-US" altLang="zh-CN" dirty="0"/>
            <a:t>problem</a:t>
          </a:r>
          <a:endParaRPr lang="zh-CN" altLang="en-US" dirty="0"/>
        </a:p>
      </dgm:t>
    </dgm:pt>
    <dgm:pt modelId="{B62DE863-1BE7-CE4B-9E86-9D85B7817987}" type="parTrans" cxnId="{CA80A480-E22C-634B-A522-1139C70AF760}">
      <dgm:prSet/>
      <dgm:spPr/>
      <dgm:t>
        <a:bodyPr/>
        <a:lstStyle/>
        <a:p>
          <a:endParaRPr lang="zh-CN" altLang="en-US"/>
        </a:p>
      </dgm:t>
    </dgm:pt>
    <dgm:pt modelId="{215DAEF2-0B29-1D42-8E41-4BFD07D77A70}" type="sibTrans" cxnId="{CA80A480-E22C-634B-A522-1139C70AF760}">
      <dgm:prSet/>
      <dgm:spPr/>
      <dgm:t>
        <a:bodyPr/>
        <a:lstStyle/>
        <a:p>
          <a:endParaRPr lang="zh-CN" altLang="en-US"/>
        </a:p>
      </dgm:t>
    </dgm:pt>
    <dgm:pt modelId="{87006AB7-5DEB-5048-9A7A-C352760D0348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endParaRPr lang="zh-CN" altLang="en-US" dirty="0"/>
        </a:p>
      </dgm:t>
    </dgm:pt>
    <dgm:pt modelId="{CC7FCFD6-EC5A-424A-8DDB-7EF6B3069CC4}" type="parTrans" cxnId="{CEBEF0FD-1F8F-5840-9944-902DDEDE79AC}">
      <dgm:prSet/>
      <dgm:spPr/>
      <dgm:t>
        <a:bodyPr/>
        <a:lstStyle/>
        <a:p>
          <a:endParaRPr lang="zh-CN" altLang="en-US"/>
        </a:p>
      </dgm:t>
    </dgm:pt>
    <dgm:pt modelId="{7DF3500A-CC4C-984E-84D6-B85071EB2920}" type="sibTrans" cxnId="{CEBEF0FD-1F8F-5840-9944-902DDEDE79AC}">
      <dgm:prSet/>
      <dgm:spPr/>
      <dgm:t>
        <a:bodyPr/>
        <a:lstStyle/>
        <a:p>
          <a:endParaRPr lang="zh-CN" altLang="en-US"/>
        </a:p>
      </dgm:t>
    </dgm:pt>
    <dgm:pt modelId="{F098D7CD-E34D-AB40-90A3-37F93F15ACF8}">
      <dgm:prSet/>
      <dgm:spPr/>
      <dgm:t>
        <a:bodyPr/>
        <a:lstStyle/>
        <a:p>
          <a:r>
            <a:rPr lang="en-US" altLang="zh-CN" dirty="0"/>
            <a:t>Sum</a:t>
          </a:r>
          <a:r>
            <a:rPr lang="zh-CN" altLang="en-US" dirty="0"/>
            <a:t> </a:t>
          </a:r>
          <a:r>
            <a:rPr lang="en-US" altLang="zh-CN" dirty="0"/>
            <a:t>Penalty</a:t>
          </a:r>
          <a:r>
            <a:rPr lang="zh-CN" altLang="en-US" dirty="0"/>
            <a:t> </a:t>
          </a:r>
          <a:r>
            <a:rPr lang="en-US" altLang="zh-CN" dirty="0"/>
            <a:t>Minimization</a:t>
          </a:r>
          <a:r>
            <a:rPr lang="zh-CN" altLang="en-US" dirty="0"/>
            <a:t> </a:t>
          </a:r>
          <a:r>
            <a:rPr lang="en-US" altLang="zh-CN" dirty="0"/>
            <a:t>Scheduling</a:t>
          </a:r>
          <a:endParaRPr lang="zh-CN" altLang="en-US" dirty="0"/>
        </a:p>
      </dgm:t>
    </dgm:pt>
    <dgm:pt modelId="{7D5CA1B6-D1C0-AA4A-B2BF-6C4BF6AAC8F0}" type="parTrans" cxnId="{217E5972-44E9-6446-AC97-FE587E6BFBE4}">
      <dgm:prSet/>
      <dgm:spPr/>
      <dgm:t>
        <a:bodyPr/>
        <a:lstStyle/>
        <a:p>
          <a:endParaRPr lang="zh-CN" altLang="en-US"/>
        </a:p>
      </dgm:t>
    </dgm:pt>
    <dgm:pt modelId="{4A049BBC-2731-7743-A63A-12E2DCEA7637}" type="sibTrans" cxnId="{217E5972-44E9-6446-AC97-FE587E6BFBE4}">
      <dgm:prSet/>
      <dgm:spPr/>
      <dgm:t>
        <a:bodyPr/>
        <a:lstStyle/>
        <a:p>
          <a:endParaRPr lang="zh-CN" altLang="en-US"/>
        </a:p>
      </dgm:t>
    </dgm:pt>
    <dgm:pt modelId="{C71D30CF-91E6-5241-AC6A-181A2EEFF699}">
      <dgm:prSet/>
      <dgm:spPr/>
      <dgm:t>
        <a:bodyPr/>
        <a:lstStyle/>
        <a:p>
          <a:r>
            <a:rPr lang="en-US" altLang="zh-CN" dirty="0"/>
            <a:t>Huffman</a:t>
          </a:r>
          <a:r>
            <a:rPr lang="zh-CN" altLang="en-US" dirty="0"/>
            <a:t> </a:t>
          </a:r>
          <a:r>
            <a:rPr lang="en-US" altLang="zh-CN" dirty="0"/>
            <a:t>Coding</a:t>
          </a:r>
          <a:endParaRPr lang="zh-CN" altLang="en-US" dirty="0"/>
        </a:p>
      </dgm:t>
    </dgm:pt>
    <dgm:pt modelId="{EF24905C-034D-DB42-9541-EF86611E7A5B}" type="parTrans" cxnId="{BFE54DF6-2AF9-514E-887F-00A33F8E8B62}">
      <dgm:prSet/>
      <dgm:spPr/>
      <dgm:t>
        <a:bodyPr/>
        <a:lstStyle/>
        <a:p>
          <a:endParaRPr lang="zh-CN" altLang="en-US"/>
        </a:p>
      </dgm:t>
    </dgm:pt>
    <dgm:pt modelId="{A971A3FD-CD31-E242-82AF-B9F64BCF6241}" type="sibTrans" cxnId="{BFE54DF6-2AF9-514E-887F-00A33F8E8B62}">
      <dgm:prSet/>
      <dgm:spPr/>
      <dgm:t>
        <a:bodyPr/>
        <a:lstStyle/>
        <a:p>
          <a:endParaRPr lang="zh-CN" altLang="en-US"/>
        </a:p>
      </dgm:t>
    </dgm:pt>
    <dgm:pt modelId="{979813FF-10D6-5F4F-B734-B4566EA19FAF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endParaRPr lang="zh-CN" altLang="en-US" dirty="0"/>
        </a:p>
      </dgm:t>
    </dgm:pt>
    <dgm:pt modelId="{E2A24B37-9587-E344-A59F-03A51E37CEC7}" type="parTrans" cxnId="{65CCA65A-9D93-1943-AB12-19671CA00EBD}">
      <dgm:prSet/>
      <dgm:spPr/>
      <dgm:t>
        <a:bodyPr/>
        <a:lstStyle/>
        <a:p>
          <a:endParaRPr lang="zh-CN" altLang="en-US"/>
        </a:p>
      </dgm:t>
    </dgm:pt>
    <dgm:pt modelId="{95E63A6E-09AA-A240-80F7-A96B4FD720B0}" type="sibTrans" cxnId="{65CCA65A-9D93-1943-AB12-19671CA00EBD}">
      <dgm:prSet/>
      <dgm:spPr/>
      <dgm:t>
        <a:bodyPr/>
        <a:lstStyle/>
        <a:p>
          <a:endParaRPr lang="zh-CN" altLang="en-US"/>
        </a:p>
      </dgm:t>
    </dgm:pt>
    <dgm:pt modelId="{BEB40FAC-3C2F-D249-BCD7-CB20F15A2F2D}">
      <dgm:prSet/>
      <dgm:spPr/>
      <dgm:t>
        <a:bodyPr/>
        <a:lstStyle/>
        <a:p>
          <a:r>
            <a:rPr lang="en-US" altLang="zh-CN" dirty="0"/>
            <a:t>Algorithm</a:t>
          </a:r>
          <a:r>
            <a:rPr lang="zh-CN" altLang="en-US" dirty="0"/>
            <a:t> </a:t>
          </a:r>
          <a:r>
            <a:rPr lang="en-US" altLang="zh-CN" dirty="0"/>
            <a:t>and</a:t>
          </a:r>
          <a:r>
            <a:rPr lang="zh-CN" altLang="en-US" dirty="0"/>
            <a:t> </a:t>
          </a:r>
          <a:r>
            <a:rPr lang="en-US" altLang="zh-CN" dirty="0"/>
            <a:t>proof</a:t>
          </a:r>
          <a:r>
            <a:rPr lang="zh-CN" altLang="en-US" dirty="0"/>
            <a:t> </a:t>
          </a:r>
          <a:r>
            <a:rPr lang="en-US" altLang="zh-CN" dirty="0"/>
            <a:t>of</a:t>
          </a:r>
          <a:r>
            <a:rPr lang="zh-CN" altLang="en-US" dirty="0"/>
            <a:t> </a:t>
          </a:r>
          <a:r>
            <a:rPr lang="en-US" altLang="zh-CN" dirty="0"/>
            <a:t>optimality</a:t>
          </a:r>
          <a:endParaRPr lang="zh-CN" altLang="en-US" dirty="0"/>
        </a:p>
      </dgm:t>
    </dgm:pt>
    <dgm:pt modelId="{AE85A0F3-E92F-E84C-9217-7D0D77F83808}" type="parTrans" cxnId="{C14B16E4-FB36-384B-A561-EA9A9B779A27}">
      <dgm:prSet/>
      <dgm:spPr/>
      <dgm:t>
        <a:bodyPr/>
        <a:lstStyle/>
        <a:p>
          <a:endParaRPr lang="zh-CN" altLang="en-US"/>
        </a:p>
      </dgm:t>
    </dgm:pt>
    <dgm:pt modelId="{C4E32C4A-39C3-114E-BF08-D0706BC8557F}" type="sibTrans" cxnId="{C14B16E4-FB36-384B-A561-EA9A9B779A27}">
      <dgm:prSet/>
      <dgm:spPr/>
      <dgm:t>
        <a:bodyPr/>
        <a:lstStyle/>
        <a:p>
          <a:endParaRPr lang="zh-CN" altLang="en-US"/>
        </a:p>
      </dgm:t>
    </dgm:pt>
    <dgm:pt modelId="{E3F036DE-6942-EB4D-9A0C-88DB77F2BE78}" type="pres">
      <dgm:prSet presAssocID="{CD4C4DF3-CDA3-4C1A-BA09-6F2AA9088C98}" presName="linear" presStyleCnt="0">
        <dgm:presLayoutVars>
          <dgm:animLvl val="lvl"/>
          <dgm:resizeHandles val="exact"/>
        </dgm:presLayoutVars>
      </dgm:prSet>
      <dgm:spPr/>
    </dgm:pt>
    <dgm:pt modelId="{F36BEC44-DAC6-6343-85FD-985E84DAB391}" type="pres">
      <dgm:prSet presAssocID="{AC918355-8F9B-4F09-B720-6574DA28704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FD44975-0EA2-2744-8F62-194D31243E1B}" type="pres">
      <dgm:prSet presAssocID="{AC918355-8F9B-4F09-B720-6574DA287041}" presName="childText" presStyleLbl="revTx" presStyleIdx="0" presStyleCnt="6">
        <dgm:presLayoutVars>
          <dgm:bulletEnabled val="1"/>
        </dgm:presLayoutVars>
      </dgm:prSet>
      <dgm:spPr/>
    </dgm:pt>
    <dgm:pt modelId="{CAA1060A-F01D-234D-A5B5-15047FFE84C8}" type="pres">
      <dgm:prSet presAssocID="{CF2444AC-25A3-45AF-9E27-F0625589132F}" presName="parentText" presStyleLbl="node1" presStyleIdx="1" presStyleCnt="6" custLinFactNeighborX="-1034" custLinFactNeighborY="1077">
        <dgm:presLayoutVars>
          <dgm:chMax val="0"/>
          <dgm:bulletEnabled val="1"/>
        </dgm:presLayoutVars>
      </dgm:prSet>
      <dgm:spPr/>
    </dgm:pt>
    <dgm:pt modelId="{B3D4FF40-A116-F443-A12B-EBBDAC4C5921}" type="pres">
      <dgm:prSet presAssocID="{CF2444AC-25A3-45AF-9E27-F0625589132F}" presName="childText" presStyleLbl="revTx" presStyleIdx="1" presStyleCnt="6">
        <dgm:presLayoutVars>
          <dgm:bulletEnabled val="1"/>
        </dgm:presLayoutVars>
      </dgm:prSet>
      <dgm:spPr/>
    </dgm:pt>
    <dgm:pt modelId="{74E7862E-A08A-E740-BD64-70A8C62E4534}" type="pres">
      <dgm:prSet presAssocID="{F098D7CD-E34D-AB40-90A3-37F93F15ACF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DA4B74F-3938-224C-B8AD-5AC96748D1AE}" type="pres">
      <dgm:prSet presAssocID="{F098D7CD-E34D-AB40-90A3-37F93F15ACF8}" presName="childText" presStyleLbl="revTx" presStyleIdx="2" presStyleCnt="6">
        <dgm:presLayoutVars>
          <dgm:bulletEnabled val="1"/>
        </dgm:presLayoutVars>
      </dgm:prSet>
      <dgm:spPr/>
    </dgm:pt>
    <dgm:pt modelId="{0F9D7059-6B5A-324D-BBB2-FF4779936521}" type="pres">
      <dgm:prSet presAssocID="{B3AC4ABD-3393-49E6-B22C-5258D54F3AA8}" presName="parentText" presStyleLbl="node1" presStyleIdx="3" presStyleCnt="6" custLinFactNeighborX="166" custLinFactNeighborY="-1958">
        <dgm:presLayoutVars>
          <dgm:chMax val="0"/>
          <dgm:bulletEnabled val="1"/>
        </dgm:presLayoutVars>
      </dgm:prSet>
      <dgm:spPr/>
    </dgm:pt>
    <dgm:pt modelId="{83C615D7-3F44-1542-8AB9-18060F3340FA}" type="pres">
      <dgm:prSet presAssocID="{B3AC4ABD-3393-49E6-B22C-5258D54F3AA8}" presName="childText" presStyleLbl="revTx" presStyleIdx="3" presStyleCnt="6">
        <dgm:presLayoutVars>
          <dgm:bulletEnabled val="1"/>
        </dgm:presLayoutVars>
      </dgm:prSet>
      <dgm:spPr/>
    </dgm:pt>
    <dgm:pt modelId="{27CFC81F-1429-A241-BA29-F4FAC6F69A90}" type="pres">
      <dgm:prSet presAssocID="{63A81FF4-263D-41CB-9071-D127CED2C26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D4E3098-A1D7-A548-BAB5-7C5B68BD5803}" type="pres">
      <dgm:prSet presAssocID="{63A81FF4-263D-41CB-9071-D127CED2C26F}" presName="childText" presStyleLbl="revTx" presStyleIdx="4" presStyleCnt="6">
        <dgm:presLayoutVars>
          <dgm:bulletEnabled val="1"/>
        </dgm:presLayoutVars>
      </dgm:prSet>
      <dgm:spPr/>
    </dgm:pt>
    <dgm:pt modelId="{5A2B2C49-2F63-4841-9864-CB284F986961}" type="pres">
      <dgm:prSet presAssocID="{C71D30CF-91E6-5241-AC6A-181A2EEFF699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AAB7C639-0C53-3442-BE4C-8F6F83218280}" type="pres">
      <dgm:prSet presAssocID="{C71D30CF-91E6-5241-AC6A-181A2EEFF699}" presName="childText" presStyleLbl="revTx" presStyleIdx="5" presStyleCnt="6">
        <dgm:presLayoutVars>
          <dgm:bulletEnabled val="1"/>
        </dgm:presLayoutVars>
      </dgm:prSet>
      <dgm:spPr/>
    </dgm:pt>
  </dgm:ptLst>
  <dgm:cxnLst>
    <dgm:cxn modelId="{8CEAF501-B038-9D4A-A5AE-403EDEB63868}" type="presOf" srcId="{40C135C6-FE8A-BE49-940B-3952902C4556}" destId="{83C615D7-3F44-1542-8AB9-18060F3340FA}" srcOrd="0" destOrd="0" presId="urn:microsoft.com/office/officeart/2005/8/layout/vList2"/>
    <dgm:cxn modelId="{34379B07-5506-6F43-80F0-4F0DA543822E}" type="presOf" srcId="{82BF780E-35C8-5244-A178-392312345216}" destId="{B3D4FF40-A116-F443-A12B-EBBDAC4C5921}" srcOrd="0" destOrd="0" presId="urn:microsoft.com/office/officeart/2005/8/layout/vList2"/>
    <dgm:cxn modelId="{BEBF850C-8045-3F4F-BDC3-B69C53BB6066}" type="presOf" srcId="{CF2444AC-25A3-45AF-9E27-F0625589132F}" destId="{CAA1060A-F01D-234D-A5B5-15047FFE84C8}" srcOrd="0" destOrd="0" presId="urn:microsoft.com/office/officeart/2005/8/layout/vList2"/>
    <dgm:cxn modelId="{1C9BE420-CC1B-674D-9E22-DA2AF86FD4BA}" srcId="{B3AC4ABD-3393-49E6-B22C-5258D54F3AA8}" destId="{40C135C6-FE8A-BE49-940B-3952902C4556}" srcOrd="0" destOrd="0" parTransId="{3CF44307-9A52-8E43-8D7A-EEEFE78E418E}" sibTransId="{430DC21D-1579-C444-9AE0-F5F6317CCE45}"/>
    <dgm:cxn modelId="{85F5CF28-9856-3F4D-9A4F-602B75EDE9FD}" type="presOf" srcId="{C71D30CF-91E6-5241-AC6A-181A2EEFF699}" destId="{5A2B2C49-2F63-4841-9864-CB284F986961}" srcOrd="0" destOrd="0" presId="urn:microsoft.com/office/officeart/2005/8/layout/vList2"/>
    <dgm:cxn modelId="{8D0D7D3F-6765-4F28-B5F2-BEDF0CF88641}" srcId="{CD4C4DF3-CDA3-4C1A-BA09-6F2AA9088C98}" destId="{AC918355-8F9B-4F09-B720-6574DA287041}" srcOrd="0" destOrd="0" parTransId="{E97D0D5F-C26B-4811-A71F-D22685DAE823}" sibTransId="{8C98467B-A16D-46AB-89F9-E167C0071142}"/>
    <dgm:cxn modelId="{4ACAF354-1219-884C-8C1B-ABF1D6C1E514}" srcId="{CF2444AC-25A3-45AF-9E27-F0625589132F}" destId="{2EEF85AF-4B87-C440-83AA-7A6F97371E15}" srcOrd="1" destOrd="0" parTransId="{45E9E3BE-AB6B-9747-960E-1CE6911CDB84}" sibTransId="{781BA7AD-0BC0-C646-88FA-142C48D9796E}"/>
    <dgm:cxn modelId="{DC460B58-F46C-E54C-B4EA-5FFBECB7BB49}" type="presOf" srcId="{AC918355-8F9B-4F09-B720-6574DA287041}" destId="{F36BEC44-DAC6-6343-85FD-985E84DAB391}" srcOrd="0" destOrd="0" presId="urn:microsoft.com/office/officeart/2005/8/layout/vList2"/>
    <dgm:cxn modelId="{65CCA65A-9D93-1943-AB12-19671CA00EBD}" srcId="{F098D7CD-E34D-AB40-90A3-37F93F15ACF8}" destId="{979813FF-10D6-5F4F-B734-B4566EA19FAF}" srcOrd="0" destOrd="0" parTransId="{E2A24B37-9587-E344-A59F-03A51E37CEC7}" sibTransId="{95E63A6E-09AA-A240-80F7-A96B4FD720B0}"/>
    <dgm:cxn modelId="{217E5972-44E9-6446-AC97-FE587E6BFBE4}" srcId="{CD4C4DF3-CDA3-4C1A-BA09-6F2AA9088C98}" destId="{F098D7CD-E34D-AB40-90A3-37F93F15ACF8}" srcOrd="2" destOrd="0" parTransId="{7D5CA1B6-D1C0-AA4A-B2BF-6C4BF6AAC8F0}" sibTransId="{4A049BBC-2731-7743-A63A-12E2DCEA7637}"/>
    <dgm:cxn modelId="{367CF977-A5F2-A142-A10A-27687B4E5CBC}" type="presOf" srcId="{CD4C4DF3-CDA3-4C1A-BA09-6F2AA9088C98}" destId="{E3F036DE-6942-EB4D-9A0C-88DB77F2BE78}" srcOrd="0" destOrd="0" presId="urn:microsoft.com/office/officeart/2005/8/layout/vList2"/>
    <dgm:cxn modelId="{EA5F0A7D-ED64-724B-A8A3-998C5C84CEF2}" type="presOf" srcId="{87006AB7-5DEB-5048-9A7A-C352760D0348}" destId="{8D4E3098-A1D7-A548-BAB5-7C5B68BD5803}" srcOrd="0" destOrd="0" presId="urn:microsoft.com/office/officeart/2005/8/layout/vList2"/>
    <dgm:cxn modelId="{48C2CF7F-EFE7-8043-96B9-4AB0F952538B}" type="presOf" srcId="{979813FF-10D6-5F4F-B734-B4566EA19FAF}" destId="{1DA4B74F-3938-224C-B8AD-5AC96748D1AE}" srcOrd="0" destOrd="0" presId="urn:microsoft.com/office/officeart/2005/8/layout/vList2"/>
    <dgm:cxn modelId="{5D505380-60E7-6D4F-9A18-A8DC14085ECD}" type="presOf" srcId="{677C9A02-E803-8648-BE03-AA1CC9080D68}" destId="{8FD44975-0EA2-2744-8F62-194D31243E1B}" srcOrd="0" destOrd="0" presId="urn:microsoft.com/office/officeart/2005/8/layout/vList2"/>
    <dgm:cxn modelId="{CA80A480-E22C-634B-A522-1139C70AF760}" srcId="{AC918355-8F9B-4F09-B720-6574DA287041}" destId="{677C9A02-E803-8648-BE03-AA1CC9080D68}" srcOrd="0" destOrd="0" parTransId="{B62DE863-1BE7-CE4B-9E86-9D85B7817987}" sibTransId="{215DAEF2-0B29-1D42-8E41-4BFD07D77A70}"/>
    <dgm:cxn modelId="{3FC3F2A6-BC1B-8F4D-817B-C81E688A1BD9}" type="presOf" srcId="{2EEF85AF-4B87-C440-83AA-7A6F97371E15}" destId="{B3D4FF40-A116-F443-A12B-EBBDAC4C5921}" srcOrd="0" destOrd="1" presId="urn:microsoft.com/office/officeart/2005/8/layout/vList2"/>
    <dgm:cxn modelId="{8EE387B3-DAC6-4046-B8AB-3BC1E3DCE7C4}" type="presOf" srcId="{B3AC4ABD-3393-49E6-B22C-5258D54F3AA8}" destId="{0F9D7059-6B5A-324D-BBB2-FF4779936521}" srcOrd="0" destOrd="0" presId="urn:microsoft.com/office/officeart/2005/8/layout/vList2"/>
    <dgm:cxn modelId="{FF429AB5-D8A5-450C-949E-C5993CDA6CF8}" srcId="{CD4C4DF3-CDA3-4C1A-BA09-6F2AA9088C98}" destId="{63A81FF4-263D-41CB-9071-D127CED2C26F}" srcOrd="4" destOrd="0" parTransId="{871569B9-983E-4147-A2C2-AEAE4B538B9F}" sibTransId="{6204F9E9-B966-4ED3-9620-B8AD2FA0992D}"/>
    <dgm:cxn modelId="{20AAC4C0-0D10-49F9-94CC-7F9A98CD0892}" srcId="{CD4C4DF3-CDA3-4C1A-BA09-6F2AA9088C98}" destId="{B3AC4ABD-3393-49E6-B22C-5258D54F3AA8}" srcOrd="3" destOrd="0" parTransId="{217CAF8E-9194-4CEE-B13D-4E63A1D5BC08}" sibTransId="{7625B602-CC8D-40F6-A946-15E9FF8A917C}"/>
    <dgm:cxn modelId="{B2A55DC6-0486-6344-BC09-E25D32432225}" srcId="{CF2444AC-25A3-45AF-9E27-F0625589132F}" destId="{82BF780E-35C8-5244-A178-392312345216}" srcOrd="0" destOrd="0" parTransId="{5CACFC02-D176-124C-AF80-1AEF06E65DD3}" sibTransId="{07FFF902-5725-CE43-8743-EFF490A14789}"/>
    <dgm:cxn modelId="{C14B16E4-FB36-384B-A561-EA9A9B779A27}" srcId="{C71D30CF-91E6-5241-AC6A-181A2EEFF699}" destId="{BEB40FAC-3C2F-D249-BCD7-CB20F15A2F2D}" srcOrd="0" destOrd="0" parTransId="{AE85A0F3-E92F-E84C-9217-7D0D77F83808}" sibTransId="{C4E32C4A-39C3-114E-BF08-D0706BC8557F}"/>
    <dgm:cxn modelId="{BBC48BE6-120B-6941-9AAE-606ADC524723}" type="presOf" srcId="{F098D7CD-E34D-AB40-90A3-37F93F15ACF8}" destId="{74E7862E-A08A-E740-BD64-70A8C62E4534}" srcOrd="0" destOrd="0" presId="urn:microsoft.com/office/officeart/2005/8/layout/vList2"/>
    <dgm:cxn modelId="{B1DF71ED-3EFD-6A45-A45B-F67206E463C0}" type="presOf" srcId="{63A81FF4-263D-41CB-9071-D127CED2C26F}" destId="{27CFC81F-1429-A241-BA29-F4FAC6F69A90}" srcOrd="0" destOrd="0" presId="urn:microsoft.com/office/officeart/2005/8/layout/vList2"/>
    <dgm:cxn modelId="{967003F1-89BF-460D-A4CA-2C5AA70BC355}" srcId="{CD4C4DF3-CDA3-4C1A-BA09-6F2AA9088C98}" destId="{CF2444AC-25A3-45AF-9E27-F0625589132F}" srcOrd="1" destOrd="0" parTransId="{868C213E-ECF0-4837-9209-AC9DECD9C145}" sibTransId="{F53403EF-CE1D-433B-BCA2-CAF069B7E4B7}"/>
    <dgm:cxn modelId="{BFE54DF6-2AF9-514E-887F-00A33F8E8B62}" srcId="{CD4C4DF3-CDA3-4C1A-BA09-6F2AA9088C98}" destId="{C71D30CF-91E6-5241-AC6A-181A2EEFF699}" srcOrd="5" destOrd="0" parTransId="{EF24905C-034D-DB42-9541-EF86611E7A5B}" sibTransId="{A971A3FD-CD31-E242-82AF-B9F64BCF6241}"/>
    <dgm:cxn modelId="{CEBEF0FD-1F8F-5840-9944-902DDEDE79AC}" srcId="{63A81FF4-263D-41CB-9071-D127CED2C26F}" destId="{87006AB7-5DEB-5048-9A7A-C352760D0348}" srcOrd="0" destOrd="0" parTransId="{CC7FCFD6-EC5A-424A-8DDB-7EF6B3069CC4}" sibTransId="{7DF3500A-CC4C-984E-84D6-B85071EB2920}"/>
    <dgm:cxn modelId="{AE708CFE-2DC9-244E-B363-D378E9ABBC85}" type="presOf" srcId="{BEB40FAC-3C2F-D249-BCD7-CB20F15A2F2D}" destId="{AAB7C639-0C53-3442-BE4C-8F6F83218280}" srcOrd="0" destOrd="0" presId="urn:microsoft.com/office/officeart/2005/8/layout/vList2"/>
    <dgm:cxn modelId="{6E90E3A3-AAC7-D04E-A9A0-2567FB8421EC}" type="presParOf" srcId="{E3F036DE-6942-EB4D-9A0C-88DB77F2BE78}" destId="{F36BEC44-DAC6-6343-85FD-985E84DAB391}" srcOrd="0" destOrd="0" presId="urn:microsoft.com/office/officeart/2005/8/layout/vList2"/>
    <dgm:cxn modelId="{59C3D162-ADA0-8D47-B809-119A215642CD}" type="presParOf" srcId="{E3F036DE-6942-EB4D-9A0C-88DB77F2BE78}" destId="{8FD44975-0EA2-2744-8F62-194D31243E1B}" srcOrd="1" destOrd="0" presId="urn:microsoft.com/office/officeart/2005/8/layout/vList2"/>
    <dgm:cxn modelId="{03F25907-B972-384F-AE71-141A5926D328}" type="presParOf" srcId="{E3F036DE-6942-EB4D-9A0C-88DB77F2BE78}" destId="{CAA1060A-F01D-234D-A5B5-15047FFE84C8}" srcOrd="2" destOrd="0" presId="urn:microsoft.com/office/officeart/2005/8/layout/vList2"/>
    <dgm:cxn modelId="{8465C68E-5698-D84D-8029-2C8BC50187D5}" type="presParOf" srcId="{E3F036DE-6942-EB4D-9A0C-88DB77F2BE78}" destId="{B3D4FF40-A116-F443-A12B-EBBDAC4C5921}" srcOrd="3" destOrd="0" presId="urn:microsoft.com/office/officeart/2005/8/layout/vList2"/>
    <dgm:cxn modelId="{74983C52-BD16-ED43-A175-DD4BAEAD9B9E}" type="presParOf" srcId="{E3F036DE-6942-EB4D-9A0C-88DB77F2BE78}" destId="{74E7862E-A08A-E740-BD64-70A8C62E4534}" srcOrd="4" destOrd="0" presId="urn:microsoft.com/office/officeart/2005/8/layout/vList2"/>
    <dgm:cxn modelId="{7D200DF2-BC54-104C-8DDE-369C4F2683BA}" type="presParOf" srcId="{E3F036DE-6942-EB4D-9A0C-88DB77F2BE78}" destId="{1DA4B74F-3938-224C-B8AD-5AC96748D1AE}" srcOrd="5" destOrd="0" presId="urn:microsoft.com/office/officeart/2005/8/layout/vList2"/>
    <dgm:cxn modelId="{D52E4D3D-8AA2-184B-AFC3-DF75104DBB24}" type="presParOf" srcId="{E3F036DE-6942-EB4D-9A0C-88DB77F2BE78}" destId="{0F9D7059-6B5A-324D-BBB2-FF4779936521}" srcOrd="6" destOrd="0" presId="urn:microsoft.com/office/officeart/2005/8/layout/vList2"/>
    <dgm:cxn modelId="{B7CFFC5E-E31F-1F49-90A6-8F91576A4551}" type="presParOf" srcId="{E3F036DE-6942-EB4D-9A0C-88DB77F2BE78}" destId="{83C615D7-3F44-1542-8AB9-18060F3340FA}" srcOrd="7" destOrd="0" presId="urn:microsoft.com/office/officeart/2005/8/layout/vList2"/>
    <dgm:cxn modelId="{9BD064F2-EB44-FC48-82D2-3535B8C5CA80}" type="presParOf" srcId="{E3F036DE-6942-EB4D-9A0C-88DB77F2BE78}" destId="{27CFC81F-1429-A241-BA29-F4FAC6F69A90}" srcOrd="8" destOrd="0" presId="urn:microsoft.com/office/officeart/2005/8/layout/vList2"/>
    <dgm:cxn modelId="{F984D567-7BD6-0243-97BF-52594D10BA0A}" type="presParOf" srcId="{E3F036DE-6942-EB4D-9A0C-88DB77F2BE78}" destId="{8D4E3098-A1D7-A548-BAB5-7C5B68BD5803}" srcOrd="9" destOrd="0" presId="urn:microsoft.com/office/officeart/2005/8/layout/vList2"/>
    <dgm:cxn modelId="{2FFAF615-543E-5747-BF7C-B4BE12F84F05}" type="presParOf" srcId="{E3F036DE-6942-EB4D-9A0C-88DB77F2BE78}" destId="{5A2B2C49-2F63-4841-9864-CB284F986961}" srcOrd="10" destOrd="0" presId="urn:microsoft.com/office/officeart/2005/8/layout/vList2"/>
    <dgm:cxn modelId="{0CB3F507-22FC-9D4A-A3E1-B077A6072537}" type="presParOf" srcId="{E3F036DE-6942-EB4D-9A0C-88DB77F2BE78}" destId="{AAB7C639-0C53-3442-BE4C-8F6F83218280}" srcOrd="1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BEC44-DAC6-6343-85FD-985E84DAB391}">
      <dsp:nvSpPr>
        <dsp:cNvPr id="0" name=""/>
        <dsp:cNvSpPr/>
      </dsp:nvSpPr>
      <dsp:spPr>
        <a:xfrm>
          <a:off x="0" y="30506"/>
          <a:ext cx="4697730" cy="48419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Greedy</a:t>
          </a:r>
          <a:r>
            <a:rPr lang="zh-CN" altLang="en-US" sz="1900" kern="1200" dirty="0"/>
            <a:t> </a:t>
          </a:r>
          <a:r>
            <a:rPr lang="en-US" altLang="zh-CN" sz="1900" kern="1200" dirty="0"/>
            <a:t>algorithm</a:t>
          </a:r>
          <a:r>
            <a:rPr lang="zh-CN" altLang="en-US" sz="1900" kern="1200" dirty="0"/>
            <a:t> </a:t>
          </a:r>
          <a:r>
            <a:rPr lang="en-US" altLang="zh-CN" sz="1900" kern="1200" dirty="0"/>
            <a:t>doesn’t</a:t>
          </a:r>
          <a:r>
            <a:rPr lang="zh-CN" altLang="en-US" sz="1900" kern="1200" dirty="0"/>
            <a:t> </a:t>
          </a:r>
          <a:r>
            <a:rPr lang="en-US" altLang="zh-CN" sz="1900" kern="1200" dirty="0"/>
            <a:t>work</a:t>
          </a:r>
        </a:p>
      </dsp:txBody>
      <dsp:txXfrm>
        <a:off x="23637" y="54143"/>
        <a:ext cx="4650456" cy="436923"/>
      </dsp:txXfrm>
    </dsp:sp>
    <dsp:sp modelId="{8FD44975-0EA2-2744-8F62-194D31243E1B}">
      <dsp:nvSpPr>
        <dsp:cNvPr id="0" name=""/>
        <dsp:cNvSpPr/>
      </dsp:nvSpPr>
      <dsp:spPr>
        <a:xfrm>
          <a:off x="0" y="514703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Knapsack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problem</a:t>
          </a:r>
          <a:endParaRPr lang="zh-CN" altLang="en-US" sz="1500" kern="1200" dirty="0"/>
        </a:p>
      </dsp:txBody>
      <dsp:txXfrm>
        <a:off x="0" y="514703"/>
        <a:ext cx="4697730" cy="314640"/>
      </dsp:txXfrm>
    </dsp:sp>
    <dsp:sp modelId="{CAA1060A-F01D-234D-A5B5-15047FFE84C8}">
      <dsp:nvSpPr>
        <dsp:cNvPr id="0" name=""/>
        <dsp:cNvSpPr/>
      </dsp:nvSpPr>
      <dsp:spPr>
        <a:xfrm>
          <a:off x="0" y="834955"/>
          <a:ext cx="4697730" cy="484197"/>
        </a:xfrm>
        <a:prstGeom prst="roundRect">
          <a:avLst/>
        </a:prstGeom>
        <a:solidFill>
          <a:schemeClr val="accent2">
            <a:hueOff val="1061077"/>
            <a:satOff val="1800"/>
            <a:lumOff val="-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Activity</a:t>
          </a:r>
          <a:r>
            <a:rPr lang="zh-CN" altLang="en-US" sz="1900" kern="1200" dirty="0"/>
            <a:t> </a:t>
          </a:r>
          <a:r>
            <a:rPr lang="en-US" altLang="zh-CN" sz="1900" kern="1200" dirty="0"/>
            <a:t>Selection/Interval</a:t>
          </a:r>
          <a:r>
            <a:rPr lang="zh-CN" altLang="en-US" sz="1900" kern="1200" dirty="0"/>
            <a:t> </a:t>
          </a:r>
          <a:r>
            <a:rPr lang="en-US" altLang="zh-CN" sz="1900" kern="1200" dirty="0"/>
            <a:t>Scheduling</a:t>
          </a:r>
          <a:endParaRPr lang="en-US" sz="1900" kern="1200" dirty="0"/>
        </a:p>
      </dsp:txBody>
      <dsp:txXfrm>
        <a:off x="23637" y="858592"/>
        <a:ext cx="4650456" cy="436923"/>
      </dsp:txXfrm>
    </dsp:sp>
    <dsp:sp modelId="{B3D4FF40-A116-F443-A12B-EBBDAC4C5921}">
      <dsp:nvSpPr>
        <dsp:cNvPr id="0" name=""/>
        <dsp:cNvSpPr/>
      </dsp:nvSpPr>
      <dsp:spPr>
        <a:xfrm>
          <a:off x="0" y="1313540"/>
          <a:ext cx="4697730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Greedy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Algorithm</a:t>
          </a:r>
          <a:endParaRPr lang="zh-CN" alt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Optimality,</a:t>
          </a:r>
          <a:r>
            <a:rPr lang="zh-CN" altLang="en-US" sz="1500" kern="1200" dirty="0"/>
            <a:t> </a:t>
          </a:r>
          <a:r>
            <a:rPr lang="en-US" sz="1500" kern="1200" dirty="0"/>
            <a:t>Optimal sub-structure </a:t>
          </a:r>
          <a:endParaRPr lang="zh-CN" altLang="en-US" sz="1500" kern="1200" dirty="0"/>
        </a:p>
      </dsp:txBody>
      <dsp:txXfrm>
        <a:off x="0" y="1313540"/>
        <a:ext cx="4697730" cy="521122"/>
      </dsp:txXfrm>
    </dsp:sp>
    <dsp:sp modelId="{1070F474-A7B6-BC4B-9FF9-22A4F96CDBF7}">
      <dsp:nvSpPr>
        <dsp:cNvPr id="0" name=""/>
        <dsp:cNvSpPr/>
      </dsp:nvSpPr>
      <dsp:spPr>
        <a:xfrm>
          <a:off x="0" y="1834662"/>
          <a:ext cx="4697730" cy="484197"/>
        </a:xfrm>
        <a:prstGeom prst="roundRect">
          <a:avLst/>
        </a:prstGeom>
        <a:solidFill>
          <a:schemeClr val="accent2">
            <a:hueOff val="2122154"/>
            <a:satOff val="3600"/>
            <a:lumOff val="-13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Matroid</a:t>
          </a:r>
          <a:endParaRPr lang="zh-CN" altLang="en-US" sz="1900" kern="1200" dirty="0"/>
        </a:p>
      </dsp:txBody>
      <dsp:txXfrm>
        <a:off x="23637" y="1858299"/>
        <a:ext cx="4650456" cy="436923"/>
      </dsp:txXfrm>
    </dsp:sp>
    <dsp:sp modelId="{74E7862E-A08A-E740-BD64-70A8C62E4534}">
      <dsp:nvSpPr>
        <dsp:cNvPr id="0" name=""/>
        <dsp:cNvSpPr/>
      </dsp:nvSpPr>
      <dsp:spPr>
        <a:xfrm>
          <a:off x="0" y="2373580"/>
          <a:ext cx="4697730" cy="484197"/>
        </a:xfrm>
        <a:prstGeom prst="roundRect">
          <a:avLst/>
        </a:prstGeom>
        <a:solidFill>
          <a:schemeClr val="accent2">
            <a:hueOff val="3183231"/>
            <a:satOff val="5400"/>
            <a:lumOff val="-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Sum</a:t>
          </a:r>
          <a:r>
            <a:rPr lang="zh-CN" altLang="en-US" sz="1900" kern="1200" dirty="0"/>
            <a:t> </a:t>
          </a:r>
          <a:r>
            <a:rPr lang="en-US" altLang="zh-CN" sz="1900" kern="1200" dirty="0"/>
            <a:t>Penalty</a:t>
          </a:r>
          <a:r>
            <a:rPr lang="zh-CN" altLang="en-US" sz="1900" kern="1200" dirty="0"/>
            <a:t> </a:t>
          </a:r>
          <a:r>
            <a:rPr lang="en-US" altLang="zh-CN" sz="1900" kern="1200" dirty="0"/>
            <a:t>Minimization</a:t>
          </a:r>
          <a:r>
            <a:rPr lang="zh-CN" altLang="en-US" sz="1900" kern="1200" dirty="0"/>
            <a:t> </a:t>
          </a:r>
          <a:r>
            <a:rPr lang="en-US" altLang="zh-CN" sz="1900" kern="1200" dirty="0"/>
            <a:t>Scheduling</a:t>
          </a:r>
          <a:endParaRPr lang="zh-CN" altLang="en-US" sz="1900" kern="1200" dirty="0"/>
        </a:p>
      </dsp:txBody>
      <dsp:txXfrm>
        <a:off x="23637" y="2397217"/>
        <a:ext cx="4650456" cy="436923"/>
      </dsp:txXfrm>
    </dsp:sp>
    <dsp:sp modelId="{1DA4B74F-3938-224C-B8AD-5AC96748D1AE}">
      <dsp:nvSpPr>
        <dsp:cNvPr id="0" name=""/>
        <dsp:cNvSpPr/>
      </dsp:nvSpPr>
      <dsp:spPr>
        <a:xfrm>
          <a:off x="0" y="2857777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Algorithm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and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</a:t>
          </a:r>
          <a:endParaRPr lang="zh-CN" altLang="en-US" sz="1500" kern="1200" dirty="0"/>
        </a:p>
      </dsp:txBody>
      <dsp:txXfrm>
        <a:off x="0" y="2857777"/>
        <a:ext cx="4697730" cy="314640"/>
      </dsp:txXfrm>
    </dsp:sp>
    <dsp:sp modelId="{0F9D7059-6B5A-324D-BBB2-FF4779936521}">
      <dsp:nvSpPr>
        <dsp:cNvPr id="0" name=""/>
        <dsp:cNvSpPr/>
      </dsp:nvSpPr>
      <dsp:spPr>
        <a:xfrm>
          <a:off x="0" y="3166256"/>
          <a:ext cx="4697730" cy="484197"/>
        </a:xfrm>
        <a:prstGeom prst="roundRect">
          <a:avLst/>
        </a:prstGeom>
        <a:solidFill>
          <a:schemeClr val="accent2">
            <a:hueOff val="4244308"/>
            <a:satOff val="7200"/>
            <a:lumOff val="-2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>
              <a:solidFill>
                <a:schemeClr val="bg1"/>
              </a:solidFill>
            </a:rPr>
            <a:t>Interval</a:t>
          </a:r>
          <a:r>
            <a:rPr lang="zh-CN" altLang="en-US" sz="1900" kern="1200" dirty="0">
              <a:solidFill>
                <a:schemeClr val="bg1"/>
              </a:solidFill>
            </a:rPr>
            <a:t> </a:t>
          </a:r>
          <a:r>
            <a:rPr lang="en-US" altLang="zh-CN" sz="1900" kern="1200" dirty="0">
              <a:solidFill>
                <a:schemeClr val="bg1"/>
              </a:solidFill>
            </a:rPr>
            <a:t>Partitioning</a:t>
          </a:r>
          <a:endParaRPr lang="en-US" sz="1900" kern="1200" dirty="0">
            <a:solidFill>
              <a:schemeClr val="bg1"/>
            </a:solidFill>
          </a:endParaRPr>
        </a:p>
      </dsp:txBody>
      <dsp:txXfrm>
        <a:off x="23637" y="3189893"/>
        <a:ext cx="4650456" cy="436923"/>
      </dsp:txXfrm>
    </dsp:sp>
    <dsp:sp modelId="{83C615D7-3F44-1542-8AB9-18060F3340FA}">
      <dsp:nvSpPr>
        <dsp:cNvPr id="0" name=""/>
        <dsp:cNvSpPr/>
      </dsp:nvSpPr>
      <dsp:spPr>
        <a:xfrm>
          <a:off x="0" y="3656614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Algorithm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and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</a:t>
          </a:r>
          <a:r>
            <a:rPr lang="zh-CN" altLang="en-US" sz="1500" kern="1200" dirty="0"/>
            <a:t> </a:t>
          </a:r>
        </a:p>
      </dsp:txBody>
      <dsp:txXfrm>
        <a:off x="0" y="3656614"/>
        <a:ext cx="4697730" cy="314640"/>
      </dsp:txXfrm>
    </dsp:sp>
    <dsp:sp modelId="{27CFC81F-1429-A241-BA29-F4FAC6F69A90}">
      <dsp:nvSpPr>
        <dsp:cNvPr id="0" name=""/>
        <dsp:cNvSpPr/>
      </dsp:nvSpPr>
      <dsp:spPr>
        <a:xfrm>
          <a:off x="0" y="3971254"/>
          <a:ext cx="4697730" cy="484197"/>
        </a:xfrm>
        <a:prstGeom prst="roundRect">
          <a:avLst/>
        </a:prstGeom>
        <a:solidFill>
          <a:schemeClr val="accent2">
            <a:hueOff val="5305384"/>
            <a:satOff val="9000"/>
            <a:lumOff val="-3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Max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Lateness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Minimization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Scheduling</a:t>
          </a:r>
          <a:endParaRPr lang="en-US" sz="2000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23637" y="3994891"/>
        <a:ext cx="4650456" cy="436923"/>
      </dsp:txXfrm>
    </dsp:sp>
    <dsp:sp modelId="{8D4E3098-A1D7-A548-BAB5-7C5B68BD5803}">
      <dsp:nvSpPr>
        <dsp:cNvPr id="0" name=""/>
        <dsp:cNvSpPr/>
      </dsp:nvSpPr>
      <dsp:spPr>
        <a:xfrm>
          <a:off x="0" y="4455451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Algorithm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and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</a:t>
          </a:r>
          <a:endParaRPr lang="zh-CN" altLang="en-US" sz="1500" kern="1200" dirty="0"/>
        </a:p>
      </dsp:txBody>
      <dsp:txXfrm>
        <a:off x="0" y="4455451"/>
        <a:ext cx="4697730" cy="314640"/>
      </dsp:txXfrm>
    </dsp:sp>
    <dsp:sp modelId="{5A2B2C49-2F63-4841-9864-CB284F986961}">
      <dsp:nvSpPr>
        <dsp:cNvPr id="0" name=""/>
        <dsp:cNvSpPr/>
      </dsp:nvSpPr>
      <dsp:spPr>
        <a:xfrm>
          <a:off x="0" y="4770091"/>
          <a:ext cx="4697730" cy="484197"/>
        </a:xfrm>
        <a:prstGeom prst="roundRect">
          <a:avLst/>
        </a:prstGeom>
        <a:solidFill>
          <a:schemeClr val="accent2">
            <a:hueOff val="6366461"/>
            <a:satOff val="10800"/>
            <a:lumOff val="-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Huffman</a:t>
          </a:r>
          <a:r>
            <a:rPr lang="zh-CN" altLang="en-US" sz="1900" kern="1200" dirty="0"/>
            <a:t> </a:t>
          </a:r>
          <a:r>
            <a:rPr lang="en-US" altLang="zh-CN" sz="1900" kern="1200" dirty="0"/>
            <a:t>Coding</a:t>
          </a:r>
          <a:endParaRPr lang="zh-CN" altLang="en-US" sz="1900" kern="1200" dirty="0"/>
        </a:p>
      </dsp:txBody>
      <dsp:txXfrm>
        <a:off x="23637" y="4793728"/>
        <a:ext cx="4650456" cy="436923"/>
      </dsp:txXfrm>
    </dsp:sp>
    <dsp:sp modelId="{AAB7C639-0C53-3442-BE4C-8F6F83218280}">
      <dsp:nvSpPr>
        <dsp:cNvPr id="0" name=""/>
        <dsp:cNvSpPr/>
      </dsp:nvSpPr>
      <dsp:spPr>
        <a:xfrm>
          <a:off x="0" y="5254288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Algorithm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and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</a:t>
          </a:r>
          <a:endParaRPr lang="zh-CN" altLang="en-US" sz="1500" kern="1200" dirty="0"/>
        </a:p>
      </dsp:txBody>
      <dsp:txXfrm>
        <a:off x="0" y="5254288"/>
        <a:ext cx="4697730" cy="314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BEC44-DAC6-6343-85FD-985E84DAB391}">
      <dsp:nvSpPr>
        <dsp:cNvPr id="0" name=""/>
        <dsp:cNvSpPr/>
      </dsp:nvSpPr>
      <dsp:spPr>
        <a:xfrm>
          <a:off x="0" y="30506"/>
          <a:ext cx="4697730" cy="48419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Greedy</a:t>
          </a:r>
          <a:r>
            <a:rPr lang="zh-CN" altLang="en-US" sz="1900" kern="1200" dirty="0"/>
            <a:t> </a:t>
          </a:r>
          <a:r>
            <a:rPr lang="en-US" altLang="zh-CN" sz="1900" kern="1200" dirty="0"/>
            <a:t>algorithm</a:t>
          </a:r>
          <a:r>
            <a:rPr lang="zh-CN" altLang="en-US" sz="1900" kern="1200" dirty="0"/>
            <a:t> </a:t>
          </a:r>
          <a:r>
            <a:rPr lang="en-US" altLang="zh-CN" sz="1900" kern="1200" dirty="0"/>
            <a:t>doesn’t</a:t>
          </a:r>
          <a:r>
            <a:rPr lang="zh-CN" altLang="en-US" sz="1900" kern="1200" dirty="0"/>
            <a:t> </a:t>
          </a:r>
          <a:r>
            <a:rPr lang="en-US" altLang="zh-CN" sz="1900" kern="1200" dirty="0"/>
            <a:t>work</a:t>
          </a:r>
        </a:p>
      </dsp:txBody>
      <dsp:txXfrm>
        <a:off x="23637" y="54143"/>
        <a:ext cx="4650456" cy="436923"/>
      </dsp:txXfrm>
    </dsp:sp>
    <dsp:sp modelId="{8FD44975-0EA2-2744-8F62-194D31243E1B}">
      <dsp:nvSpPr>
        <dsp:cNvPr id="0" name=""/>
        <dsp:cNvSpPr/>
      </dsp:nvSpPr>
      <dsp:spPr>
        <a:xfrm>
          <a:off x="0" y="514703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Knapsack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problem</a:t>
          </a:r>
          <a:endParaRPr lang="zh-CN" altLang="en-US" sz="1500" kern="1200" dirty="0"/>
        </a:p>
      </dsp:txBody>
      <dsp:txXfrm>
        <a:off x="0" y="514703"/>
        <a:ext cx="4697730" cy="314640"/>
      </dsp:txXfrm>
    </dsp:sp>
    <dsp:sp modelId="{CAA1060A-F01D-234D-A5B5-15047FFE84C8}">
      <dsp:nvSpPr>
        <dsp:cNvPr id="0" name=""/>
        <dsp:cNvSpPr/>
      </dsp:nvSpPr>
      <dsp:spPr>
        <a:xfrm>
          <a:off x="0" y="834955"/>
          <a:ext cx="4697730" cy="484197"/>
        </a:xfrm>
        <a:prstGeom prst="roundRect">
          <a:avLst/>
        </a:prstGeom>
        <a:solidFill>
          <a:schemeClr val="accent2">
            <a:hueOff val="1061077"/>
            <a:satOff val="1800"/>
            <a:lumOff val="-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Activity</a:t>
          </a:r>
          <a:r>
            <a:rPr lang="zh-CN" altLang="en-US" sz="1900" kern="1200" dirty="0"/>
            <a:t> </a:t>
          </a:r>
          <a:r>
            <a:rPr lang="en-US" altLang="zh-CN" sz="1900" kern="1200" dirty="0"/>
            <a:t>Selection/Interval</a:t>
          </a:r>
          <a:r>
            <a:rPr lang="zh-CN" altLang="en-US" sz="1900" kern="1200" dirty="0"/>
            <a:t> </a:t>
          </a:r>
          <a:r>
            <a:rPr lang="en-US" altLang="zh-CN" sz="1900" kern="1200" dirty="0"/>
            <a:t>Scheduling</a:t>
          </a:r>
          <a:endParaRPr lang="en-US" sz="1900" kern="1200" dirty="0"/>
        </a:p>
      </dsp:txBody>
      <dsp:txXfrm>
        <a:off x="23637" y="858592"/>
        <a:ext cx="4650456" cy="436923"/>
      </dsp:txXfrm>
    </dsp:sp>
    <dsp:sp modelId="{B3D4FF40-A116-F443-A12B-EBBDAC4C5921}">
      <dsp:nvSpPr>
        <dsp:cNvPr id="0" name=""/>
        <dsp:cNvSpPr/>
      </dsp:nvSpPr>
      <dsp:spPr>
        <a:xfrm>
          <a:off x="0" y="1313540"/>
          <a:ext cx="4697730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Greedy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Algorithm</a:t>
          </a:r>
          <a:endParaRPr lang="zh-CN" alt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Optimality,</a:t>
          </a:r>
          <a:r>
            <a:rPr lang="zh-CN" altLang="en-US" sz="1500" kern="1200" dirty="0"/>
            <a:t> </a:t>
          </a:r>
          <a:r>
            <a:rPr lang="en-US" sz="1500" kern="1200" dirty="0"/>
            <a:t>Optimal sub-structure </a:t>
          </a:r>
          <a:endParaRPr lang="zh-CN" altLang="en-US" sz="1500" kern="1200" dirty="0"/>
        </a:p>
      </dsp:txBody>
      <dsp:txXfrm>
        <a:off x="0" y="1313540"/>
        <a:ext cx="4697730" cy="521122"/>
      </dsp:txXfrm>
    </dsp:sp>
    <dsp:sp modelId="{1070F474-A7B6-BC4B-9FF9-22A4F96CDBF7}">
      <dsp:nvSpPr>
        <dsp:cNvPr id="0" name=""/>
        <dsp:cNvSpPr/>
      </dsp:nvSpPr>
      <dsp:spPr>
        <a:xfrm>
          <a:off x="0" y="1834662"/>
          <a:ext cx="4697730" cy="484197"/>
        </a:xfrm>
        <a:prstGeom prst="roundRect">
          <a:avLst/>
        </a:prstGeom>
        <a:solidFill>
          <a:schemeClr val="accent2">
            <a:hueOff val="2122154"/>
            <a:satOff val="3600"/>
            <a:lumOff val="-13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Matroid</a:t>
          </a:r>
          <a:endParaRPr lang="zh-CN" altLang="en-US" sz="1900" kern="1200" dirty="0"/>
        </a:p>
      </dsp:txBody>
      <dsp:txXfrm>
        <a:off x="23637" y="1858299"/>
        <a:ext cx="4650456" cy="436923"/>
      </dsp:txXfrm>
    </dsp:sp>
    <dsp:sp modelId="{74E7862E-A08A-E740-BD64-70A8C62E4534}">
      <dsp:nvSpPr>
        <dsp:cNvPr id="0" name=""/>
        <dsp:cNvSpPr/>
      </dsp:nvSpPr>
      <dsp:spPr>
        <a:xfrm>
          <a:off x="0" y="2373580"/>
          <a:ext cx="4697730" cy="484197"/>
        </a:xfrm>
        <a:prstGeom prst="roundRect">
          <a:avLst/>
        </a:prstGeom>
        <a:solidFill>
          <a:schemeClr val="accent2">
            <a:hueOff val="3183231"/>
            <a:satOff val="5400"/>
            <a:lumOff val="-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Sum</a:t>
          </a:r>
          <a:r>
            <a:rPr lang="zh-CN" altLang="en-US" sz="1900" kern="1200" dirty="0"/>
            <a:t> </a:t>
          </a:r>
          <a:r>
            <a:rPr lang="en-US" altLang="zh-CN" sz="1900" kern="1200" dirty="0"/>
            <a:t>Penalty</a:t>
          </a:r>
          <a:r>
            <a:rPr lang="zh-CN" altLang="en-US" sz="1900" kern="1200" dirty="0"/>
            <a:t> </a:t>
          </a:r>
          <a:r>
            <a:rPr lang="en-US" altLang="zh-CN" sz="1900" kern="1200" dirty="0"/>
            <a:t>Minimization</a:t>
          </a:r>
          <a:r>
            <a:rPr lang="zh-CN" altLang="en-US" sz="1900" kern="1200" dirty="0"/>
            <a:t> </a:t>
          </a:r>
          <a:r>
            <a:rPr lang="en-US" altLang="zh-CN" sz="1900" kern="1200" dirty="0"/>
            <a:t>Scheduling</a:t>
          </a:r>
          <a:endParaRPr lang="zh-CN" altLang="en-US" sz="1900" kern="1200" dirty="0"/>
        </a:p>
      </dsp:txBody>
      <dsp:txXfrm>
        <a:off x="23637" y="2397217"/>
        <a:ext cx="4650456" cy="436923"/>
      </dsp:txXfrm>
    </dsp:sp>
    <dsp:sp modelId="{1DA4B74F-3938-224C-B8AD-5AC96748D1AE}">
      <dsp:nvSpPr>
        <dsp:cNvPr id="0" name=""/>
        <dsp:cNvSpPr/>
      </dsp:nvSpPr>
      <dsp:spPr>
        <a:xfrm>
          <a:off x="0" y="2857777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Algorithm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and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</a:t>
          </a:r>
          <a:endParaRPr lang="zh-CN" altLang="en-US" sz="1500" kern="1200" dirty="0"/>
        </a:p>
      </dsp:txBody>
      <dsp:txXfrm>
        <a:off x="0" y="2857777"/>
        <a:ext cx="4697730" cy="314640"/>
      </dsp:txXfrm>
    </dsp:sp>
    <dsp:sp modelId="{0F9D7059-6B5A-324D-BBB2-FF4779936521}">
      <dsp:nvSpPr>
        <dsp:cNvPr id="0" name=""/>
        <dsp:cNvSpPr/>
      </dsp:nvSpPr>
      <dsp:spPr>
        <a:xfrm>
          <a:off x="0" y="3166256"/>
          <a:ext cx="4697730" cy="484197"/>
        </a:xfrm>
        <a:prstGeom prst="roundRect">
          <a:avLst/>
        </a:prstGeom>
        <a:solidFill>
          <a:schemeClr val="accent2">
            <a:hueOff val="4244308"/>
            <a:satOff val="7200"/>
            <a:lumOff val="-2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>
              <a:solidFill>
                <a:schemeClr val="bg1"/>
              </a:solidFill>
            </a:rPr>
            <a:t>Interval</a:t>
          </a:r>
          <a:r>
            <a:rPr lang="zh-CN" altLang="en-US" sz="1900" kern="1200" dirty="0">
              <a:solidFill>
                <a:schemeClr val="bg1"/>
              </a:solidFill>
            </a:rPr>
            <a:t> </a:t>
          </a:r>
          <a:r>
            <a:rPr lang="en-US" altLang="zh-CN" sz="1900" kern="1200" dirty="0">
              <a:solidFill>
                <a:schemeClr val="bg1"/>
              </a:solidFill>
            </a:rPr>
            <a:t>Partitioning</a:t>
          </a:r>
          <a:endParaRPr lang="en-US" sz="1900" kern="1200" dirty="0">
            <a:solidFill>
              <a:schemeClr val="bg1"/>
            </a:solidFill>
          </a:endParaRPr>
        </a:p>
      </dsp:txBody>
      <dsp:txXfrm>
        <a:off x="23637" y="3189893"/>
        <a:ext cx="4650456" cy="436923"/>
      </dsp:txXfrm>
    </dsp:sp>
    <dsp:sp modelId="{83C615D7-3F44-1542-8AB9-18060F3340FA}">
      <dsp:nvSpPr>
        <dsp:cNvPr id="0" name=""/>
        <dsp:cNvSpPr/>
      </dsp:nvSpPr>
      <dsp:spPr>
        <a:xfrm>
          <a:off x="0" y="3656614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Algorithm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and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</a:t>
          </a:r>
          <a:r>
            <a:rPr lang="zh-CN" altLang="en-US" sz="1500" kern="1200" dirty="0"/>
            <a:t> </a:t>
          </a:r>
        </a:p>
      </dsp:txBody>
      <dsp:txXfrm>
        <a:off x="0" y="3656614"/>
        <a:ext cx="4697730" cy="314640"/>
      </dsp:txXfrm>
    </dsp:sp>
    <dsp:sp modelId="{27CFC81F-1429-A241-BA29-F4FAC6F69A90}">
      <dsp:nvSpPr>
        <dsp:cNvPr id="0" name=""/>
        <dsp:cNvSpPr/>
      </dsp:nvSpPr>
      <dsp:spPr>
        <a:xfrm>
          <a:off x="0" y="3971254"/>
          <a:ext cx="4697730" cy="484197"/>
        </a:xfrm>
        <a:prstGeom prst="roundRect">
          <a:avLst/>
        </a:prstGeom>
        <a:solidFill>
          <a:schemeClr val="accent2">
            <a:hueOff val="5305384"/>
            <a:satOff val="9000"/>
            <a:lumOff val="-3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Max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Lateness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Minimization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Scheduling</a:t>
          </a:r>
          <a:endParaRPr lang="en-US" sz="2000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23637" y="3994891"/>
        <a:ext cx="4650456" cy="436923"/>
      </dsp:txXfrm>
    </dsp:sp>
    <dsp:sp modelId="{8D4E3098-A1D7-A548-BAB5-7C5B68BD5803}">
      <dsp:nvSpPr>
        <dsp:cNvPr id="0" name=""/>
        <dsp:cNvSpPr/>
      </dsp:nvSpPr>
      <dsp:spPr>
        <a:xfrm>
          <a:off x="0" y="4455451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Algorithm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and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</a:t>
          </a:r>
          <a:endParaRPr lang="zh-CN" altLang="en-US" sz="1500" kern="1200" dirty="0"/>
        </a:p>
      </dsp:txBody>
      <dsp:txXfrm>
        <a:off x="0" y="4455451"/>
        <a:ext cx="4697730" cy="314640"/>
      </dsp:txXfrm>
    </dsp:sp>
    <dsp:sp modelId="{5A2B2C49-2F63-4841-9864-CB284F986961}">
      <dsp:nvSpPr>
        <dsp:cNvPr id="0" name=""/>
        <dsp:cNvSpPr/>
      </dsp:nvSpPr>
      <dsp:spPr>
        <a:xfrm>
          <a:off x="0" y="4770091"/>
          <a:ext cx="4697730" cy="484197"/>
        </a:xfrm>
        <a:prstGeom prst="roundRect">
          <a:avLst/>
        </a:prstGeom>
        <a:solidFill>
          <a:schemeClr val="accent2">
            <a:hueOff val="6366461"/>
            <a:satOff val="10800"/>
            <a:lumOff val="-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Huffman</a:t>
          </a:r>
          <a:r>
            <a:rPr lang="zh-CN" altLang="en-US" sz="1900" kern="1200" dirty="0"/>
            <a:t> </a:t>
          </a:r>
          <a:r>
            <a:rPr lang="en-US" altLang="zh-CN" sz="1900" kern="1200" dirty="0"/>
            <a:t>Coding</a:t>
          </a:r>
          <a:endParaRPr lang="zh-CN" altLang="en-US" sz="1900" kern="1200" dirty="0"/>
        </a:p>
      </dsp:txBody>
      <dsp:txXfrm>
        <a:off x="23637" y="4793728"/>
        <a:ext cx="4650456" cy="436923"/>
      </dsp:txXfrm>
    </dsp:sp>
    <dsp:sp modelId="{AAB7C639-0C53-3442-BE4C-8F6F83218280}">
      <dsp:nvSpPr>
        <dsp:cNvPr id="0" name=""/>
        <dsp:cNvSpPr/>
      </dsp:nvSpPr>
      <dsp:spPr>
        <a:xfrm>
          <a:off x="0" y="5254288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Algorithm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and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</a:t>
          </a:r>
          <a:endParaRPr lang="zh-CN" altLang="en-US" sz="1500" kern="1200" dirty="0"/>
        </a:p>
      </dsp:txBody>
      <dsp:txXfrm>
        <a:off x="0" y="5254288"/>
        <a:ext cx="4697730" cy="3146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BEC44-DAC6-6343-85FD-985E84DAB391}">
      <dsp:nvSpPr>
        <dsp:cNvPr id="0" name=""/>
        <dsp:cNvSpPr/>
      </dsp:nvSpPr>
      <dsp:spPr>
        <a:xfrm>
          <a:off x="0" y="30506"/>
          <a:ext cx="4697730" cy="48419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Greedy</a:t>
          </a:r>
          <a:r>
            <a:rPr lang="zh-CN" altLang="en-US" sz="1900" kern="1200" dirty="0"/>
            <a:t> </a:t>
          </a:r>
          <a:r>
            <a:rPr lang="en-US" altLang="zh-CN" sz="1900" kern="1200" dirty="0"/>
            <a:t>algorithm</a:t>
          </a:r>
          <a:r>
            <a:rPr lang="zh-CN" altLang="en-US" sz="1900" kern="1200" dirty="0"/>
            <a:t> </a:t>
          </a:r>
          <a:r>
            <a:rPr lang="en-US" altLang="zh-CN" sz="1900" kern="1200" dirty="0"/>
            <a:t>doesn’t</a:t>
          </a:r>
          <a:r>
            <a:rPr lang="zh-CN" altLang="en-US" sz="1900" kern="1200" dirty="0"/>
            <a:t> </a:t>
          </a:r>
          <a:r>
            <a:rPr lang="en-US" altLang="zh-CN" sz="1900" kern="1200" dirty="0"/>
            <a:t>work</a:t>
          </a:r>
        </a:p>
      </dsp:txBody>
      <dsp:txXfrm>
        <a:off x="23637" y="54143"/>
        <a:ext cx="4650456" cy="436923"/>
      </dsp:txXfrm>
    </dsp:sp>
    <dsp:sp modelId="{8FD44975-0EA2-2744-8F62-194D31243E1B}">
      <dsp:nvSpPr>
        <dsp:cNvPr id="0" name=""/>
        <dsp:cNvSpPr/>
      </dsp:nvSpPr>
      <dsp:spPr>
        <a:xfrm>
          <a:off x="0" y="514703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Knapsack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problem</a:t>
          </a:r>
          <a:endParaRPr lang="zh-CN" altLang="en-US" sz="1500" kern="1200" dirty="0"/>
        </a:p>
      </dsp:txBody>
      <dsp:txXfrm>
        <a:off x="0" y="514703"/>
        <a:ext cx="4697730" cy="314640"/>
      </dsp:txXfrm>
    </dsp:sp>
    <dsp:sp modelId="{CAA1060A-F01D-234D-A5B5-15047FFE84C8}">
      <dsp:nvSpPr>
        <dsp:cNvPr id="0" name=""/>
        <dsp:cNvSpPr/>
      </dsp:nvSpPr>
      <dsp:spPr>
        <a:xfrm>
          <a:off x="0" y="834955"/>
          <a:ext cx="4697730" cy="484197"/>
        </a:xfrm>
        <a:prstGeom prst="roundRect">
          <a:avLst/>
        </a:prstGeom>
        <a:solidFill>
          <a:schemeClr val="accent2">
            <a:hueOff val="1061077"/>
            <a:satOff val="1800"/>
            <a:lumOff val="-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Activity</a:t>
          </a:r>
          <a:r>
            <a:rPr lang="zh-CN" altLang="en-US" sz="1900" kern="1200" dirty="0"/>
            <a:t> </a:t>
          </a:r>
          <a:r>
            <a:rPr lang="en-US" altLang="zh-CN" sz="1900" kern="1200" dirty="0"/>
            <a:t>Selection/Interval</a:t>
          </a:r>
          <a:r>
            <a:rPr lang="zh-CN" altLang="en-US" sz="1900" kern="1200" dirty="0"/>
            <a:t> </a:t>
          </a:r>
          <a:r>
            <a:rPr lang="en-US" altLang="zh-CN" sz="1900" kern="1200" dirty="0"/>
            <a:t>Scheduling</a:t>
          </a:r>
          <a:endParaRPr lang="en-US" sz="1900" kern="1200" dirty="0"/>
        </a:p>
      </dsp:txBody>
      <dsp:txXfrm>
        <a:off x="23637" y="858592"/>
        <a:ext cx="4650456" cy="436923"/>
      </dsp:txXfrm>
    </dsp:sp>
    <dsp:sp modelId="{B3D4FF40-A116-F443-A12B-EBBDAC4C5921}">
      <dsp:nvSpPr>
        <dsp:cNvPr id="0" name=""/>
        <dsp:cNvSpPr/>
      </dsp:nvSpPr>
      <dsp:spPr>
        <a:xfrm>
          <a:off x="0" y="1313540"/>
          <a:ext cx="4697730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Greedy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Algorithm</a:t>
          </a:r>
          <a:endParaRPr lang="zh-CN" alt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Optimality,</a:t>
          </a:r>
          <a:r>
            <a:rPr lang="zh-CN" altLang="en-US" sz="1500" kern="1200" dirty="0"/>
            <a:t> </a:t>
          </a:r>
          <a:r>
            <a:rPr lang="en-US" sz="1500" kern="1200" dirty="0"/>
            <a:t>Optimal sub-structure </a:t>
          </a:r>
          <a:endParaRPr lang="zh-CN" altLang="en-US" sz="1500" kern="1200" dirty="0"/>
        </a:p>
      </dsp:txBody>
      <dsp:txXfrm>
        <a:off x="0" y="1313540"/>
        <a:ext cx="4697730" cy="521122"/>
      </dsp:txXfrm>
    </dsp:sp>
    <dsp:sp modelId="{1070F474-A7B6-BC4B-9FF9-22A4F96CDBF7}">
      <dsp:nvSpPr>
        <dsp:cNvPr id="0" name=""/>
        <dsp:cNvSpPr/>
      </dsp:nvSpPr>
      <dsp:spPr>
        <a:xfrm>
          <a:off x="0" y="1834662"/>
          <a:ext cx="4697730" cy="484197"/>
        </a:xfrm>
        <a:prstGeom prst="roundRect">
          <a:avLst/>
        </a:prstGeom>
        <a:solidFill>
          <a:schemeClr val="accent2">
            <a:hueOff val="2122154"/>
            <a:satOff val="3600"/>
            <a:lumOff val="-13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Matroid</a:t>
          </a:r>
          <a:endParaRPr lang="zh-CN" altLang="en-US" sz="1900" kern="1200" dirty="0"/>
        </a:p>
      </dsp:txBody>
      <dsp:txXfrm>
        <a:off x="23637" y="1858299"/>
        <a:ext cx="4650456" cy="436923"/>
      </dsp:txXfrm>
    </dsp:sp>
    <dsp:sp modelId="{74E7862E-A08A-E740-BD64-70A8C62E4534}">
      <dsp:nvSpPr>
        <dsp:cNvPr id="0" name=""/>
        <dsp:cNvSpPr/>
      </dsp:nvSpPr>
      <dsp:spPr>
        <a:xfrm>
          <a:off x="0" y="2373580"/>
          <a:ext cx="4697730" cy="484197"/>
        </a:xfrm>
        <a:prstGeom prst="roundRect">
          <a:avLst/>
        </a:prstGeom>
        <a:solidFill>
          <a:schemeClr val="accent2">
            <a:hueOff val="3183231"/>
            <a:satOff val="5400"/>
            <a:lumOff val="-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Sum</a:t>
          </a:r>
          <a:r>
            <a:rPr lang="zh-CN" altLang="en-US" sz="1900" kern="1200" dirty="0"/>
            <a:t> </a:t>
          </a:r>
          <a:r>
            <a:rPr lang="en-US" altLang="zh-CN" sz="1900" kern="1200" dirty="0"/>
            <a:t>Penalty</a:t>
          </a:r>
          <a:r>
            <a:rPr lang="zh-CN" altLang="en-US" sz="1900" kern="1200" dirty="0"/>
            <a:t> </a:t>
          </a:r>
          <a:r>
            <a:rPr lang="en-US" altLang="zh-CN" sz="1900" kern="1200" dirty="0"/>
            <a:t>Minimization</a:t>
          </a:r>
          <a:r>
            <a:rPr lang="zh-CN" altLang="en-US" sz="1900" kern="1200" dirty="0"/>
            <a:t> </a:t>
          </a:r>
          <a:r>
            <a:rPr lang="en-US" altLang="zh-CN" sz="1900" kern="1200" dirty="0"/>
            <a:t>Scheduling</a:t>
          </a:r>
          <a:endParaRPr lang="zh-CN" altLang="en-US" sz="1900" kern="1200" dirty="0"/>
        </a:p>
      </dsp:txBody>
      <dsp:txXfrm>
        <a:off x="23637" y="2397217"/>
        <a:ext cx="4650456" cy="436923"/>
      </dsp:txXfrm>
    </dsp:sp>
    <dsp:sp modelId="{1DA4B74F-3938-224C-B8AD-5AC96748D1AE}">
      <dsp:nvSpPr>
        <dsp:cNvPr id="0" name=""/>
        <dsp:cNvSpPr/>
      </dsp:nvSpPr>
      <dsp:spPr>
        <a:xfrm>
          <a:off x="0" y="2857777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Algorithm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and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</a:t>
          </a:r>
          <a:endParaRPr lang="zh-CN" altLang="en-US" sz="1500" kern="1200" dirty="0"/>
        </a:p>
      </dsp:txBody>
      <dsp:txXfrm>
        <a:off x="0" y="2857777"/>
        <a:ext cx="4697730" cy="314640"/>
      </dsp:txXfrm>
    </dsp:sp>
    <dsp:sp modelId="{0F9D7059-6B5A-324D-BBB2-FF4779936521}">
      <dsp:nvSpPr>
        <dsp:cNvPr id="0" name=""/>
        <dsp:cNvSpPr/>
      </dsp:nvSpPr>
      <dsp:spPr>
        <a:xfrm>
          <a:off x="0" y="3166256"/>
          <a:ext cx="4697730" cy="484197"/>
        </a:xfrm>
        <a:prstGeom prst="roundRect">
          <a:avLst/>
        </a:prstGeom>
        <a:solidFill>
          <a:schemeClr val="accent2">
            <a:hueOff val="4244308"/>
            <a:satOff val="7200"/>
            <a:lumOff val="-2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>
              <a:solidFill>
                <a:schemeClr val="bg1"/>
              </a:solidFill>
            </a:rPr>
            <a:t>Interval</a:t>
          </a:r>
          <a:r>
            <a:rPr lang="zh-CN" altLang="en-US" sz="1900" kern="1200" dirty="0">
              <a:solidFill>
                <a:schemeClr val="bg1"/>
              </a:solidFill>
            </a:rPr>
            <a:t> </a:t>
          </a:r>
          <a:r>
            <a:rPr lang="en-US" altLang="zh-CN" sz="1900" kern="1200" dirty="0">
              <a:solidFill>
                <a:schemeClr val="bg1"/>
              </a:solidFill>
            </a:rPr>
            <a:t>Partitioning</a:t>
          </a:r>
          <a:endParaRPr lang="en-US" sz="1900" kern="1200" dirty="0">
            <a:solidFill>
              <a:schemeClr val="bg1"/>
            </a:solidFill>
          </a:endParaRPr>
        </a:p>
      </dsp:txBody>
      <dsp:txXfrm>
        <a:off x="23637" y="3189893"/>
        <a:ext cx="4650456" cy="436923"/>
      </dsp:txXfrm>
    </dsp:sp>
    <dsp:sp modelId="{83C615D7-3F44-1542-8AB9-18060F3340FA}">
      <dsp:nvSpPr>
        <dsp:cNvPr id="0" name=""/>
        <dsp:cNvSpPr/>
      </dsp:nvSpPr>
      <dsp:spPr>
        <a:xfrm>
          <a:off x="0" y="3656614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Algorithm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and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</a:t>
          </a:r>
          <a:r>
            <a:rPr lang="zh-CN" altLang="en-US" sz="1500" kern="1200" dirty="0"/>
            <a:t> </a:t>
          </a:r>
        </a:p>
      </dsp:txBody>
      <dsp:txXfrm>
        <a:off x="0" y="3656614"/>
        <a:ext cx="4697730" cy="314640"/>
      </dsp:txXfrm>
    </dsp:sp>
    <dsp:sp modelId="{27CFC81F-1429-A241-BA29-F4FAC6F69A90}">
      <dsp:nvSpPr>
        <dsp:cNvPr id="0" name=""/>
        <dsp:cNvSpPr/>
      </dsp:nvSpPr>
      <dsp:spPr>
        <a:xfrm>
          <a:off x="0" y="3971254"/>
          <a:ext cx="4697730" cy="484197"/>
        </a:xfrm>
        <a:prstGeom prst="roundRect">
          <a:avLst/>
        </a:prstGeom>
        <a:solidFill>
          <a:schemeClr val="accent2">
            <a:hueOff val="5305384"/>
            <a:satOff val="9000"/>
            <a:lumOff val="-3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Max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Lateness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Minimization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Scheduling</a:t>
          </a:r>
          <a:endParaRPr lang="en-US" sz="2000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23637" y="3994891"/>
        <a:ext cx="4650456" cy="436923"/>
      </dsp:txXfrm>
    </dsp:sp>
    <dsp:sp modelId="{8D4E3098-A1D7-A548-BAB5-7C5B68BD5803}">
      <dsp:nvSpPr>
        <dsp:cNvPr id="0" name=""/>
        <dsp:cNvSpPr/>
      </dsp:nvSpPr>
      <dsp:spPr>
        <a:xfrm>
          <a:off x="0" y="4455451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Algorithm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and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</a:t>
          </a:r>
          <a:endParaRPr lang="zh-CN" altLang="en-US" sz="1500" kern="1200" dirty="0"/>
        </a:p>
      </dsp:txBody>
      <dsp:txXfrm>
        <a:off x="0" y="4455451"/>
        <a:ext cx="4697730" cy="314640"/>
      </dsp:txXfrm>
    </dsp:sp>
    <dsp:sp modelId="{5A2B2C49-2F63-4841-9864-CB284F986961}">
      <dsp:nvSpPr>
        <dsp:cNvPr id="0" name=""/>
        <dsp:cNvSpPr/>
      </dsp:nvSpPr>
      <dsp:spPr>
        <a:xfrm>
          <a:off x="0" y="4770091"/>
          <a:ext cx="4697730" cy="484197"/>
        </a:xfrm>
        <a:prstGeom prst="roundRect">
          <a:avLst/>
        </a:prstGeom>
        <a:solidFill>
          <a:schemeClr val="accent2">
            <a:hueOff val="6366461"/>
            <a:satOff val="10800"/>
            <a:lumOff val="-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Huffman</a:t>
          </a:r>
          <a:r>
            <a:rPr lang="zh-CN" altLang="en-US" sz="1900" kern="1200" dirty="0"/>
            <a:t> </a:t>
          </a:r>
          <a:r>
            <a:rPr lang="en-US" altLang="zh-CN" sz="1900" kern="1200" dirty="0"/>
            <a:t>Coding</a:t>
          </a:r>
          <a:endParaRPr lang="zh-CN" altLang="en-US" sz="1900" kern="1200" dirty="0"/>
        </a:p>
      </dsp:txBody>
      <dsp:txXfrm>
        <a:off x="23637" y="4793728"/>
        <a:ext cx="4650456" cy="436923"/>
      </dsp:txXfrm>
    </dsp:sp>
    <dsp:sp modelId="{AAB7C639-0C53-3442-BE4C-8F6F83218280}">
      <dsp:nvSpPr>
        <dsp:cNvPr id="0" name=""/>
        <dsp:cNvSpPr/>
      </dsp:nvSpPr>
      <dsp:spPr>
        <a:xfrm>
          <a:off x="0" y="5254288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Algorithm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and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</a:t>
          </a:r>
          <a:endParaRPr lang="zh-CN" altLang="en-US" sz="1500" kern="1200" dirty="0"/>
        </a:p>
      </dsp:txBody>
      <dsp:txXfrm>
        <a:off x="0" y="5254288"/>
        <a:ext cx="4697730" cy="3146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BEC44-DAC6-6343-85FD-985E84DAB391}">
      <dsp:nvSpPr>
        <dsp:cNvPr id="0" name=""/>
        <dsp:cNvSpPr/>
      </dsp:nvSpPr>
      <dsp:spPr>
        <a:xfrm>
          <a:off x="0" y="30506"/>
          <a:ext cx="4697730" cy="48419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Greedy</a:t>
          </a:r>
          <a:r>
            <a:rPr lang="zh-CN" altLang="en-US" sz="1900" kern="1200" dirty="0"/>
            <a:t> </a:t>
          </a:r>
          <a:r>
            <a:rPr lang="en-US" altLang="zh-CN" sz="1900" kern="1200" dirty="0"/>
            <a:t>algorithm</a:t>
          </a:r>
          <a:r>
            <a:rPr lang="zh-CN" altLang="en-US" sz="1900" kern="1200" dirty="0"/>
            <a:t> </a:t>
          </a:r>
          <a:r>
            <a:rPr lang="en-US" altLang="zh-CN" sz="1900" kern="1200" dirty="0"/>
            <a:t>doesn’t</a:t>
          </a:r>
          <a:r>
            <a:rPr lang="zh-CN" altLang="en-US" sz="1900" kern="1200" dirty="0"/>
            <a:t> </a:t>
          </a:r>
          <a:r>
            <a:rPr lang="en-US" altLang="zh-CN" sz="1900" kern="1200" dirty="0"/>
            <a:t>work</a:t>
          </a:r>
        </a:p>
      </dsp:txBody>
      <dsp:txXfrm>
        <a:off x="23637" y="54143"/>
        <a:ext cx="4650456" cy="436923"/>
      </dsp:txXfrm>
    </dsp:sp>
    <dsp:sp modelId="{8FD44975-0EA2-2744-8F62-194D31243E1B}">
      <dsp:nvSpPr>
        <dsp:cNvPr id="0" name=""/>
        <dsp:cNvSpPr/>
      </dsp:nvSpPr>
      <dsp:spPr>
        <a:xfrm>
          <a:off x="0" y="514703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Knapsack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problem</a:t>
          </a:r>
          <a:endParaRPr lang="zh-CN" altLang="en-US" sz="1500" kern="1200" dirty="0"/>
        </a:p>
      </dsp:txBody>
      <dsp:txXfrm>
        <a:off x="0" y="514703"/>
        <a:ext cx="4697730" cy="314640"/>
      </dsp:txXfrm>
    </dsp:sp>
    <dsp:sp modelId="{CAA1060A-F01D-234D-A5B5-15047FFE84C8}">
      <dsp:nvSpPr>
        <dsp:cNvPr id="0" name=""/>
        <dsp:cNvSpPr/>
      </dsp:nvSpPr>
      <dsp:spPr>
        <a:xfrm>
          <a:off x="0" y="834955"/>
          <a:ext cx="4697730" cy="484197"/>
        </a:xfrm>
        <a:prstGeom prst="roundRect">
          <a:avLst/>
        </a:prstGeom>
        <a:solidFill>
          <a:schemeClr val="accent2">
            <a:hueOff val="1061077"/>
            <a:satOff val="1800"/>
            <a:lumOff val="-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Activity</a:t>
          </a:r>
          <a:r>
            <a:rPr lang="zh-CN" altLang="en-US" sz="1900" kern="1200" dirty="0"/>
            <a:t> </a:t>
          </a:r>
          <a:r>
            <a:rPr lang="en-US" altLang="zh-CN" sz="1900" kern="1200" dirty="0"/>
            <a:t>Selection/Interval</a:t>
          </a:r>
          <a:r>
            <a:rPr lang="zh-CN" altLang="en-US" sz="1900" kern="1200" dirty="0"/>
            <a:t> </a:t>
          </a:r>
          <a:r>
            <a:rPr lang="en-US" altLang="zh-CN" sz="1900" kern="1200" dirty="0"/>
            <a:t>Scheduling</a:t>
          </a:r>
          <a:endParaRPr lang="en-US" sz="1900" kern="1200" dirty="0"/>
        </a:p>
      </dsp:txBody>
      <dsp:txXfrm>
        <a:off x="23637" y="858592"/>
        <a:ext cx="4650456" cy="436923"/>
      </dsp:txXfrm>
    </dsp:sp>
    <dsp:sp modelId="{B3D4FF40-A116-F443-A12B-EBBDAC4C5921}">
      <dsp:nvSpPr>
        <dsp:cNvPr id="0" name=""/>
        <dsp:cNvSpPr/>
      </dsp:nvSpPr>
      <dsp:spPr>
        <a:xfrm>
          <a:off x="0" y="1313540"/>
          <a:ext cx="4697730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Greedy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Algorithm</a:t>
          </a:r>
          <a:endParaRPr lang="zh-CN" alt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Optimality,</a:t>
          </a:r>
          <a:r>
            <a:rPr lang="zh-CN" altLang="en-US" sz="1500" kern="1200" dirty="0"/>
            <a:t> </a:t>
          </a:r>
          <a:r>
            <a:rPr lang="en-US" sz="1500" kern="1200" dirty="0"/>
            <a:t>Optimal sub-structure </a:t>
          </a:r>
          <a:endParaRPr lang="zh-CN" altLang="en-US" sz="1500" kern="1200" dirty="0"/>
        </a:p>
      </dsp:txBody>
      <dsp:txXfrm>
        <a:off x="0" y="1313540"/>
        <a:ext cx="4697730" cy="521122"/>
      </dsp:txXfrm>
    </dsp:sp>
    <dsp:sp modelId="{1070F474-A7B6-BC4B-9FF9-22A4F96CDBF7}">
      <dsp:nvSpPr>
        <dsp:cNvPr id="0" name=""/>
        <dsp:cNvSpPr/>
      </dsp:nvSpPr>
      <dsp:spPr>
        <a:xfrm>
          <a:off x="0" y="1834662"/>
          <a:ext cx="4697730" cy="484197"/>
        </a:xfrm>
        <a:prstGeom prst="roundRect">
          <a:avLst/>
        </a:prstGeom>
        <a:solidFill>
          <a:schemeClr val="accent2">
            <a:hueOff val="2122154"/>
            <a:satOff val="3600"/>
            <a:lumOff val="-13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Matroid</a:t>
          </a:r>
          <a:endParaRPr lang="zh-CN" altLang="en-US" sz="1900" kern="1200" dirty="0"/>
        </a:p>
      </dsp:txBody>
      <dsp:txXfrm>
        <a:off x="23637" y="1858299"/>
        <a:ext cx="4650456" cy="436923"/>
      </dsp:txXfrm>
    </dsp:sp>
    <dsp:sp modelId="{74E7862E-A08A-E740-BD64-70A8C62E4534}">
      <dsp:nvSpPr>
        <dsp:cNvPr id="0" name=""/>
        <dsp:cNvSpPr/>
      </dsp:nvSpPr>
      <dsp:spPr>
        <a:xfrm>
          <a:off x="0" y="2373580"/>
          <a:ext cx="4697730" cy="484197"/>
        </a:xfrm>
        <a:prstGeom prst="roundRect">
          <a:avLst/>
        </a:prstGeom>
        <a:solidFill>
          <a:schemeClr val="accent2">
            <a:hueOff val="3183231"/>
            <a:satOff val="5400"/>
            <a:lumOff val="-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Sum</a:t>
          </a:r>
          <a:r>
            <a:rPr lang="zh-CN" altLang="en-US" sz="1900" kern="1200" dirty="0"/>
            <a:t> </a:t>
          </a:r>
          <a:r>
            <a:rPr lang="en-US" altLang="zh-CN" sz="1900" kern="1200" dirty="0"/>
            <a:t>Penalty</a:t>
          </a:r>
          <a:r>
            <a:rPr lang="zh-CN" altLang="en-US" sz="1900" kern="1200" dirty="0"/>
            <a:t> </a:t>
          </a:r>
          <a:r>
            <a:rPr lang="en-US" altLang="zh-CN" sz="1900" kern="1200" dirty="0"/>
            <a:t>Minimization</a:t>
          </a:r>
          <a:r>
            <a:rPr lang="zh-CN" altLang="en-US" sz="1900" kern="1200" dirty="0"/>
            <a:t> </a:t>
          </a:r>
          <a:r>
            <a:rPr lang="en-US" altLang="zh-CN" sz="1900" kern="1200" dirty="0"/>
            <a:t>Scheduling</a:t>
          </a:r>
          <a:endParaRPr lang="zh-CN" altLang="en-US" sz="1900" kern="1200" dirty="0"/>
        </a:p>
      </dsp:txBody>
      <dsp:txXfrm>
        <a:off x="23637" y="2397217"/>
        <a:ext cx="4650456" cy="436923"/>
      </dsp:txXfrm>
    </dsp:sp>
    <dsp:sp modelId="{1DA4B74F-3938-224C-B8AD-5AC96748D1AE}">
      <dsp:nvSpPr>
        <dsp:cNvPr id="0" name=""/>
        <dsp:cNvSpPr/>
      </dsp:nvSpPr>
      <dsp:spPr>
        <a:xfrm>
          <a:off x="0" y="2857777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Algorithm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and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</a:t>
          </a:r>
          <a:endParaRPr lang="zh-CN" altLang="en-US" sz="1500" kern="1200" dirty="0"/>
        </a:p>
      </dsp:txBody>
      <dsp:txXfrm>
        <a:off x="0" y="2857777"/>
        <a:ext cx="4697730" cy="314640"/>
      </dsp:txXfrm>
    </dsp:sp>
    <dsp:sp modelId="{0F9D7059-6B5A-324D-BBB2-FF4779936521}">
      <dsp:nvSpPr>
        <dsp:cNvPr id="0" name=""/>
        <dsp:cNvSpPr/>
      </dsp:nvSpPr>
      <dsp:spPr>
        <a:xfrm>
          <a:off x="0" y="3166256"/>
          <a:ext cx="4697730" cy="484197"/>
        </a:xfrm>
        <a:prstGeom prst="roundRect">
          <a:avLst/>
        </a:prstGeom>
        <a:solidFill>
          <a:schemeClr val="accent2">
            <a:hueOff val="4244308"/>
            <a:satOff val="7200"/>
            <a:lumOff val="-2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>
              <a:solidFill>
                <a:schemeClr val="bg1"/>
              </a:solidFill>
            </a:rPr>
            <a:t>Interval</a:t>
          </a:r>
          <a:r>
            <a:rPr lang="zh-CN" altLang="en-US" sz="1900" kern="1200" dirty="0">
              <a:solidFill>
                <a:schemeClr val="bg1"/>
              </a:solidFill>
            </a:rPr>
            <a:t> </a:t>
          </a:r>
          <a:r>
            <a:rPr lang="en-US" altLang="zh-CN" sz="1900" kern="1200" dirty="0">
              <a:solidFill>
                <a:schemeClr val="bg1"/>
              </a:solidFill>
            </a:rPr>
            <a:t>Partitioning</a:t>
          </a:r>
          <a:endParaRPr lang="en-US" sz="1900" kern="1200" dirty="0">
            <a:solidFill>
              <a:schemeClr val="bg1"/>
            </a:solidFill>
          </a:endParaRPr>
        </a:p>
      </dsp:txBody>
      <dsp:txXfrm>
        <a:off x="23637" y="3189893"/>
        <a:ext cx="4650456" cy="436923"/>
      </dsp:txXfrm>
    </dsp:sp>
    <dsp:sp modelId="{83C615D7-3F44-1542-8AB9-18060F3340FA}">
      <dsp:nvSpPr>
        <dsp:cNvPr id="0" name=""/>
        <dsp:cNvSpPr/>
      </dsp:nvSpPr>
      <dsp:spPr>
        <a:xfrm>
          <a:off x="0" y="3656614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Algorithm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and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</a:t>
          </a:r>
          <a:r>
            <a:rPr lang="zh-CN" altLang="en-US" sz="1500" kern="1200" dirty="0"/>
            <a:t> </a:t>
          </a:r>
        </a:p>
      </dsp:txBody>
      <dsp:txXfrm>
        <a:off x="0" y="3656614"/>
        <a:ext cx="4697730" cy="314640"/>
      </dsp:txXfrm>
    </dsp:sp>
    <dsp:sp modelId="{27CFC81F-1429-A241-BA29-F4FAC6F69A90}">
      <dsp:nvSpPr>
        <dsp:cNvPr id="0" name=""/>
        <dsp:cNvSpPr/>
      </dsp:nvSpPr>
      <dsp:spPr>
        <a:xfrm>
          <a:off x="0" y="3971254"/>
          <a:ext cx="4697730" cy="484197"/>
        </a:xfrm>
        <a:prstGeom prst="roundRect">
          <a:avLst/>
        </a:prstGeom>
        <a:solidFill>
          <a:schemeClr val="accent2">
            <a:hueOff val="5305384"/>
            <a:satOff val="9000"/>
            <a:lumOff val="-3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Max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Lateness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Minimization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Scheduling</a:t>
          </a:r>
          <a:endParaRPr lang="en-US" sz="2000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23637" y="3994891"/>
        <a:ext cx="4650456" cy="436923"/>
      </dsp:txXfrm>
    </dsp:sp>
    <dsp:sp modelId="{8D4E3098-A1D7-A548-BAB5-7C5B68BD5803}">
      <dsp:nvSpPr>
        <dsp:cNvPr id="0" name=""/>
        <dsp:cNvSpPr/>
      </dsp:nvSpPr>
      <dsp:spPr>
        <a:xfrm>
          <a:off x="0" y="4455451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Algorithm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and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</a:t>
          </a:r>
          <a:endParaRPr lang="zh-CN" altLang="en-US" sz="1500" kern="1200" dirty="0"/>
        </a:p>
      </dsp:txBody>
      <dsp:txXfrm>
        <a:off x="0" y="4455451"/>
        <a:ext cx="4697730" cy="314640"/>
      </dsp:txXfrm>
    </dsp:sp>
    <dsp:sp modelId="{5A2B2C49-2F63-4841-9864-CB284F986961}">
      <dsp:nvSpPr>
        <dsp:cNvPr id="0" name=""/>
        <dsp:cNvSpPr/>
      </dsp:nvSpPr>
      <dsp:spPr>
        <a:xfrm>
          <a:off x="0" y="4770091"/>
          <a:ext cx="4697730" cy="484197"/>
        </a:xfrm>
        <a:prstGeom prst="roundRect">
          <a:avLst/>
        </a:prstGeom>
        <a:solidFill>
          <a:schemeClr val="accent2">
            <a:hueOff val="6366461"/>
            <a:satOff val="10800"/>
            <a:lumOff val="-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Huffman</a:t>
          </a:r>
          <a:r>
            <a:rPr lang="zh-CN" altLang="en-US" sz="1900" kern="1200" dirty="0"/>
            <a:t> </a:t>
          </a:r>
          <a:r>
            <a:rPr lang="en-US" altLang="zh-CN" sz="1900" kern="1200" dirty="0"/>
            <a:t>Coding</a:t>
          </a:r>
          <a:endParaRPr lang="zh-CN" altLang="en-US" sz="1900" kern="1200" dirty="0"/>
        </a:p>
      </dsp:txBody>
      <dsp:txXfrm>
        <a:off x="23637" y="4793728"/>
        <a:ext cx="4650456" cy="436923"/>
      </dsp:txXfrm>
    </dsp:sp>
    <dsp:sp modelId="{AAB7C639-0C53-3442-BE4C-8F6F83218280}">
      <dsp:nvSpPr>
        <dsp:cNvPr id="0" name=""/>
        <dsp:cNvSpPr/>
      </dsp:nvSpPr>
      <dsp:spPr>
        <a:xfrm>
          <a:off x="0" y="5254288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Algorithm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and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</a:t>
          </a:r>
          <a:endParaRPr lang="zh-CN" altLang="en-US" sz="1500" kern="1200" dirty="0"/>
        </a:p>
      </dsp:txBody>
      <dsp:txXfrm>
        <a:off x="0" y="5254288"/>
        <a:ext cx="4697730" cy="3146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BEC44-DAC6-6343-85FD-985E84DAB391}">
      <dsp:nvSpPr>
        <dsp:cNvPr id="0" name=""/>
        <dsp:cNvSpPr/>
      </dsp:nvSpPr>
      <dsp:spPr>
        <a:xfrm>
          <a:off x="0" y="30506"/>
          <a:ext cx="4697730" cy="48419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Greedy</a:t>
          </a:r>
          <a:r>
            <a:rPr lang="zh-CN" altLang="en-US" sz="1900" kern="1200" dirty="0"/>
            <a:t> </a:t>
          </a:r>
          <a:r>
            <a:rPr lang="en-US" altLang="zh-CN" sz="1900" kern="1200" dirty="0"/>
            <a:t>algorithm</a:t>
          </a:r>
          <a:r>
            <a:rPr lang="zh-CN" altLang="en-US" sz="1900" kern="1200" dirty="0"/>
            <a:t> </a:t>
          </a:r>
          <a:r>
            <a:rPr lang="en-US" altLang="zh-CN" sz="1900" kern="1200" dirty="0"/>
            <a:t>doesn’t</a:t>
          </a:r>
          <a:r>
            <a:rPr lang="zh-CN" altLang="en-US" sz="1900" kern="1200" dirty="0"/>
            <a:t> </a:t>
          </a:r>
          <a:r>
            <a:rPr lang="en-US" altLang="zh-CN" sz="1900" kern="1200" dirty="0"/>
            <a:t>work</a:t>
          </a:r>
        </a:p>
      </dsp:txBody>
      <dsp:txXfrm>
        <a:off x="23637" y="54143"/>
        <a:ext cx="4650456" cy="436923"/>
      </dsp:txXfrm>
    </dsp:sp>
    <dsp:sp modelId="{8FD44975-0EA2-2744-8F62-194D31243E1B}">
      <dsp:nvSpPr>
        <dsp:cNvPr id="0" name=""/>
        <dsp:cNvSpPr/>
      </dsp:nvSpPr>
      <dsp:spPr>
        <a:xfrm>
          <a:off x="0" y="514703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Knapsack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problem</a:t>
          </a:r>
          <a:endParaRPr lang="zh-CN" altLang="en-US" sz="1500" kern="1200" dirty="0"/>
        </a:p>
      </dsp:txBody>
      <dsp:txXfrm>
        <a:off x="0" y="514703"/>
        <a:ext cx="4697730" cy="314640"/>
      </dsp:txXfrm>
    </dsp:sp>
    <dsp:sp modelId="{CAA1060A-F01D-234D-A5B5-15047FFE84C8}">
      <dsp:nvSpPr>
        <dsp:cNvPr id="0" name=""/>
        <dsp:cNvSpPr/>
      </dsp:nvSpPr>
      <dsp:spPr>
        <a:xfrm>
          <a:off x="0" y="834955"/>
          <a:ext cx="4697730" cy="484197"/>
        </a:xfrm>
        <a:prstGeom prst="roundRect">
          <a:avLst/>
        </a:prstGeom>
        <a:solidFill>
          <a:schemeClr val="accent2">
            <a:hueOff val="1061077"/>
            <a:satOff val="1800"/>
            <a:lumOff val="-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Activity</a:t>
          </a:r>
          <a:r>
            <a:rPr lang="zh-CN" altLang="en-US" sz="1900" kern="1200" dirty="0"/>
            <a:t> </a:t>
          </a:r>
          <a:r>
            <a:rPr lang="en-US" altLang="zh-CN" sz="1900" kern="1200" dirty="0"/>
            <a:t>Selection/Interval</a:t>
          </a:r>
          <a:r>
            <a:rPr lang="zh-CN" altLang="en-US" sz="1900" kern="1200" dirty="0"/>
            <a:t> </a:t>
          </a:r>
          <a:r>
            <a:rPr lang="en-US" altLang="zh-CN" sz="1900" kern="1200" dirty="0"/>
            <a:t>Scheduling</a:t>
          </a:r>
          <a:endParaRPr lang="en-US" sz="1900" kern="1200" dirty="0"/>
        </a:p>
      </dsp:txBody>
      <dsp:txXfrm>
        <a:off x="23637" y="858592"/>
        <a:ext cx="4650456" cy="436923"/>
      </dsp:txXfrm>
    </dsp:sp>
    <dsp:sp modelId="{B3D4FF40-A116-F443-A12B-EBBDAC4C5921}">
      <dsp:nvSpPr>
        <dsp:cNvPr id="0" name=""/>
        <dsp:cNvSpPr/>
      </dsp:nvSpPr>
      <dsp:spPr>
        <a:xfrm>
          <a:off x="0" y="1313540"/>
          <a:ext cx="4697730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Greedy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Algorithm</a:t>
          </a:r>
          <a:endParaRPr lang="zh-CN" alt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Optimality,</a:t>
          </a:r>
          <a:r>
            <a:rPr lang="zh-CN" altLang="en-US" sz="1500" kern="1200" dirty="0"/>
            <a:t> </a:t>
          </a:r>
          <a:r>
            <a:rPr lang="en-US" sz="1500" kern="1200" dirty="0"/>
            <a:t>Optimal sub-structure </a:t>
          </a:r>
          <a:endParaRPr lang="zh-CN" altLang="en-US" sz="1500" kern="1200" dirty="0"/>
        </a:p>
      </dsp:txBody>
      <dsp:txXfrm>
        <a:off x="0" y="1313540"/>
        <a:ext cx="4697730" cy="521122"/>
      </dsp:txXfrm>
    </dsp:sp>
    <dsp:sp modelId="{1070F474-A7B6-BC4B-9FF9-22A4F96CDBF7}">
      <dsp:nvSpPr>
        <dsp:cNvPr id="0" name=""/>
        <dsp:cNvSpPr/>
      </dsp:nvSpPr>
      <dsp:spPr>
        <a:xfrm>
          <a:off x="0" y="1834662"/>
          <a:ext cx="4697730" cy="484197"/>
        </a:xfrm>
        <a:prstGeom prst="roundRect">
          <a:avLst/>
        </a:prstGeom>
        <a:solidFill>
          <a:schemeClr val="accent2">
            <a:hueOff val="2122154"/>
            <a:satOff val="3600"/>
            <a:lumOff val="-13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Matroid</a:t>
          </a:r>
          <a:endParaRPr lang="zh-CN" altLang="en-US" sz="1900" kern="1200" dirty="0"/>
        </a:p>
      </dsp:txBody>
      <dsp:txXfrm>
        <a:off x="23637" y="1858299"/>
        <a:ext cx="4650456" cy="436923"/>
      </dsp:txXfrm>
    </dsp:sp>
    <dsp:sp modelId="{74E7862E-A08A-E740-BD64-70A8C62E4534}">
      <dsp:nvSpPr>
        <dsp:cNvPr id="0" name=""/>
        <dsp:cNvSpPr/>
      </dsp:nvSpPr>
      <dsp:spPr>
        <a:xfrm>
          <a:off x="0" y="2373580"/>
          <a:ext cx="4697730" cy="484197"/>
        </a:xfrm>
        <a:prstGeom prst="roundRect">
          <a:avLst/>
        </a:prstGeom>
        <a:solidFill>
          <a:schemeClr val="accent2">
            <a:hueOff val="3183231"/>
            <a:satOff val="5400"/>
            <a:lumOff val="-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Sum</a:t>
          </a:r>
          <a:r>
            <a:rPr lang="zh-CN" altLang="en-US" sz="1900" kern="1200" dirty="0"/>
            <a:t> </a:t>
          </a:r>
          <a:r>
            <a:rPr lang="en-US" altLang="zh-CN" sz="1900" kern="1200" dirty="0"/>
            <a:t>Penalty</a:t>
          </a:r>
          <a:r>
            <a:rPr lang="zh-CN" altLang="en-US" sz="1900" kern="1200" dirty="0"/>
            <a:t> </a:t>
          </a:r>
          <a:r>
            <a:rPr lang="en-US" altLang="zh-CN" sz="1900" kern="1200" dirty="0"/>
            <a:t>Minimization</a:t>
          </a:r>
          <a:r>
            <a:rPr lang="zh-CN" altLang="en-US" sz="1900" kern="1200" dirty="0"/>
            <a:t> </a:t>
          </a:r>
          <a:r>
            <a:rPr lang="en-US" altLang="zh-CN" sz="1900" kern="1200" dirty="0"/>
            <a:t>Scheduling</a:t>
          </a:r>
          <a:endParaRPr lang="zh-CN" altLang="en-US" sz="1900" kern="1200" dirty="0"/>
        </a:p>
      </dsp:txBody>
      <dsp:txXfrm>
        <a:off x="23637" y="2397217"/>
        <a:ext cx="4650456" cy="436923"/>
      </dsp:txXfrm>
    </dsp:sp>
    <dsp:sp modelId="{1DA4B74F-3938-224C-B8AD-5AC96748D1AE}">
      <dsp:nvSpPr>
        <dsp:cNvPr id="0" name=""/>
        <dsp:cNvSpPr/>
      </dsp:nvSpPr>
      <dsp:spPr>
        <a:xfrm>
          <a:off x="0" y="2857777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Algorithm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and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</a:t>
          </a:r>
          <a:endParaRPr lang="zh-CN" altLang="en-US" sz="1500" kern="1200" dirty="0"/>
        </a:p>
      </dsp:txBody>
      <dsp:txXfrm>
        <a:off x="0" y="2857777"/>
        <a:ext cx="4697730" cy="314640"/>
      </dsp:txXfrm>
    </dsp:sp>
    <dsp:sp modelId="{0F9D7059-6B5A-324D-BBB2-FF4779936521}">
      <dsp:nvSpPr>
        <dsp:cNvPr id="0" name=""/>
        <dsp:cNvSpPr/>
      </dsp:nvSpPr>
      <dsp:spPr>
        <a:xfrm>
          <a:off x="0" y="3166256"/>
          <a:ext cx="4697730" cy="484197"/>
        </a:xfrm>
        <a:prstGeom prst="roundRect">
          <a:avLst/>
        </a:prstGeom>
        <a:solidFill>
          <a:schemeClr val="accent2">
            <a:hueOff val="4244308"/>
            <a:satOff val="7200"/>
            <a:lumOff val="-2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>
              <a:solidFill>
                <a:schemeClr val="bg1"/>
              </a:solidFill>
            </a:rPr>
            <a:t>Interval</a:t>
          </a:r>
          <a:r>
            <a:rPr lang="zh-CN" altLang="en-US" sz="1900" kern="1200" dirty="0">
              <a:solidFill>
                <a:schemeClr val="bg1"/>
              </a:solidFill>
            </a:rPr>
            <a:t> </a:t>
          </a:r>
          <a:r>
            <a:rPr lang="en-US" altLang="zh-CN" sz="1900" kern="1200" dirty="0">
              <a:solidFill>
                <a:schemeClr val="bg1"/>
              </a:solidFill>
            </a:rPr>
            <a:t>Partitioning</a:t>
          </a:r>
          <a:endParaRPr lang="en-US" sz="1900" kern="1200" dirty="0">
            <a:solidFill>
              <a:schemeClr val="bg1"/>
            </a:solidFill>
          </a:endParaRPr>
        </a:p>
      </dsp:txBody>
      <dsp:txXfrm>
        <a:off x="23637" y="3189893"/>
        <a:ext cx="4650456" cy="436923"/>
      </dsp:txXfrm>
    </dsp:sp>
    <dsp:sp modelId="{83C615D7-3F44-1542-8AB9-18060F3340FA}">
      <dsp:nvSpPr>
        <dsp:cNvPr id="0" name=""/>
        <dsp:cNvSpPr/>
      </dsp:nvSpPr>
      <dsp:spPr>
        <a:xfrm>
          <a:off x="0" y="3656614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Algorithm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and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</a:t>
          </a:r>
          <a:r>
            <a:rPr lang="zh-CN" altLang="en-US" sz="1500" kern="1200" dirty="0"/>
            <a:t> </a:t>
          </a:r>
        </a:p>
      </dsp:txBody>
      <dsp:txXfrm>
        <a:off x="0" y="3656614"/>
        <a:ext cx="4697730" cy="314640"/>
      </dsp:txXfrm>
    </dsp:sp>
    <dsp:sp modelId="{27CFC81F-1429-A241-BA29-F4FAC6F69A90}">
      <dsp:nvSpPr>
        <dsp:cNvPr id="0" name=""/>
        <dsp:cNvSpPr/>
      </dsp:nvSpPr>
      <dsp:spPr>
        <a:xfrm>
          <a:off x="0" y="3971254"/>
          <a:ext cx="4697730" cy="484197"/>
        </a:xfrm>
        <a:prstGeom prst="roundRect">
          <a:avLst/>
        </a:prstGeom>
        <a:solidFill>
          <a:schemeClr val="accent2">
            <a:hueOff val="5305384"/>
            <a:satOff val="9000"/>
            <a:lumOff val="-3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Max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Lateness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Minimization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Scheduling</a:t>
          </a:r>
          <a:endParaRPr lang="en-US" sz="2000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23637" y="3994891"/>
        <a:ext cx="4650456" cy="436923"/>
      </dsp:txXfrm>
    </dsp:sp>
    <dsp:sp modelId="{8D4E3098-A1D7-A548-BAB5-7C5B68BD5803}">
      <dsp:nvSpPr>
        <dsp:cNvPr id="0" name=""/>
        <dsp:cNvSpPr/>
      </dsp:nvSpPr>
      <dsp:spPr>
        <a:xfrm>
          <a:off x="0" y="4455451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Algorithm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and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</a:t>
          </a:r>
          <a:endParaRPr lang="zh-CN" altLang="en-US" sz="1500" kern="1200" dirty="0"/>
        </a:p>
      </dsp:txBody>
      <dsp:txXfrm>
        <a:off x="0" y="4455451"/>
        <a:ext cx="4697730" cy="314640"/>
      </dsp:txXfrm>
    </dsp:sp>
    <dsp:sp modelId="{5A2B2C49-2F63-4841-9864-CB284F986961}">
      <dsp:nvSpPr>
        <dsp:cNvPr id="0" name=""/>
        <dsp:cNvSpPr/>
      </dsp:nvSpPr>
      <dsp:spPr>
        <a:xfrm>
          <a:off x="0" y="4770091"/>
          <a:ext cx="4697730" cy="484197"/>
        </a:xfrm>
        <a:prstGeom prst="roundRect">
          <a:avLst/>
        </a:prstGeom>
        <a:solidFill>
          <a:schemeClr val="accent2">
            <a:hueOff val="6366461"/>
            <a:satOff val="10800"/>
            <a:lumOff val="-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900" kern="1200" dirty="0"/>
            <a:t>Huffman</a:t>
          </a:r>
          <a:r>
            <a:rPr lang="zh-CN" altLang="en-US" sz="1900" kern="1200" dirty="0"/>
            <a:t> </a:t>
          </a:r>
          <a:r>
            <a:rPr lang="en-US" altLang="zh-CN" sz="1900" kern="1200" dirty="0"/>
            <a:t>Coding</a:t>
          </a:r>
          <a:endParaRPr lang="zh-CN" altLang="en-US" sz="1900" kern="1200" dirty="0"/>
        </a:p>
      </dsp:txBody>
      <dsp:txXfrm>
        <a:off x="23637" y="4793728"/>
        <a:ext cx="4650456" cy="436923"/>
      </dsp:txXfrm>
    </dsp:sp>
    <dsp:sp modelId="{AAB7C639-0C53-3442-BE4C-8F6F83218280}">
      <dsp:nvSpPr>
        <dsp:cNvPr id="0" name=""/>
        <dsp:cNvSpPr/>
      </dsp:nvSpPr>
      <dsp:spPr>
        <a:xfrm>
          <a:off x="0" y="5254288"/>
          <a:ext cx="4697730" cy="31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500" kern="1200" dirty="0"/>
            <a:t>Algorithm</a:t>
          </a:r>
          <a:r>
            <a:rPr lang="zh-CN" altLang="en-US" sz="1500" kern="1200" dirty="0"/>
            <a:t> </a:t>
          </a:r>
          <a:r>
            <a:rPr lang="en-US" altLang="zh-CN" sz="1500" kern="1200" dirty="0"/>
            <a:t>and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proof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of</a:t>
          </a:r>
          <a:r>
            <a:rPr lang="zh-CN" altLang="en-US" sz="1500" kern="1200" dirty="0"/>
            <a:t> </a:t>
          </a:r>
          <a:r>
            <a:rPr lang="en-US" altLang="zh-CN" sz="1500" kern="1200" dirty="0"/>
            <a:t>optimality</a:t>
          </a:r>
          <a:endParaRPr lang="zh-CN" altLang="en-US" sz="1500" kern="1200" dirty="0"/>
        </a:p>
      </dsp:txBody>
      <dsp:txXfrm>
        <a:off x="0" y="5254288"/>
        <a:ext cx="4697730" cy="3146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BEC44-DAC6-6343-85FD-985E84DAB391}">
      <dsp:nvSpPr>
        <dsp:cNvPr id="0" name=""/>
        <dsp:cNvSpPr/>
      </dsp:nvSpPr>
      <dsp:spPr>
        <a:xfrm>
          <a:off x="0" y="9897"/>
          <a:ext cx="4697730" cy="5276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kern="1200" dirty="0"/>
            <a:t>Greedy</a:t>
          </a:r>
          <a:r>
            <a:rPr lang="zh-CN" altLang="en-US" sz="2200" kern="1200" dirty="0"/>
            <a:t> </a:t>
          </a:r>
          <a:r>
            <a:rPr lang="en-US" altLang="zh-CN" sz="2200" kern="1200" dirty="0"/>
            <a:t>algorithm</a:t>
          </a:r>
          <a:r>
            <a:rPr lang="zh-CN" altLang="en-US" sz="2200" kern="1200" dirty="0"/>
            <a:t> </a:t>
          </a:r>
          <a:r>
            <a:rPr lang="en-US" altLang="zh-CN" sz="2200" kern="1200" dirty="0"/>
            <a:t>doesn’t</a:t>
          </a:r>
          <a:r>
            <a:rPr lang="zh-CN" altLang="en-US" sz="2200" kern="1200" dirty="0"/>
            <a:t> </a:t>
          </a:r>
          <a:r>
            <a:rPr lang="en-US" altLang="zh-CN" sz="2200" kern="1200" dirty="0"/>
            <a:t>work</a:t>
          </a:r>
        </a:p>
      </dsp:txBody>
      <dsp:txXfrm>
        <a:off x="25759" y="35656"/>
        <a:ext cx="4646212" cy="476152"/>
      </dsp:txXfrm>
    </dsp:sp>
    <dsp:sp modelId="{8FD44975-0EA2-2744-8F62-194D31243E1B}">
      <dsp:nvSpPr>
        <dsp:cNvPr id="0" name=""/>
        <dsp:cNvSpPr/>
      </dsp:nvSpPr>
      <dsp:spPr>
        <a:xfrm>
          <a:off x="0" y="537567"/>
          <a:ext cx="4697730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700" kern="1200" dirty="0"/>
            <a:t>Knapsack</a:t>
          </a:r>
          <a:r>
            <a:rPr lang="zh-CN" altLang="en-US" sz="1700" kern="1200" dirty="0"/>
            <a:t> </a:t>
          </a:r>
          <a:r>
            <a:rPr lang="en-US" altLang="zh-CN" sz="1700" kern="1200" dirty="0"/>
            <a:t>problem</a:t>
          </a:r>
          <a:endParaRPr lang="zh-CN" altLang="en-US" sz="1700" kern="1200" dirty="0"/>
        </a:p>
      </dsp:txBody>
      <dsp:txXfrm>
        <a:off x="0" y="537567"/>
        <a:ext cx="4697730" cy="364320"/>
      </dsp:txXfrm>
    </dsp:sp>
    <dsp:sp modelId="{CAA1060A-F01D-234D-A5B5-15047FFE84C8}">
      <dsp:nvSpPr>
        <dsp:cNvPr id="0" name=""/>
        <dsp:cNvSpPr/>
      </dsp:nvSpPr>
      <dsp:spPr>
        <a:xfrm>
          <a:off x="0" y="908263"/>
          <a:ext cx="4697730" cy="527670"/>
        </a:xfrm>
        <a:prstGeom prst="roundRect">
          <a:avLst/>
        </a:prstGeom>
        <a:solidFill>
          <a:schemeClr val="accent2">
            <a:hueOff val="1273292"/>
            <a:satOff val="2160"/>
            <a:lumOff val="-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kern="1200" dirty="0"/>
            <a:t>Activity</a:t>
          </a:r>
          <a:r>
            <a:rPr lang="zh-CN" altLang="en-US" sz="2200" kern="1200" dirty="0"/>
            <a:t> </a:t>
          </a:r>
          <a:r>
            <a:rPr lang="en-US" altLang="zh-CN" sz="2200" kern="1200" dirty="0"/>
            <a:t>Selection/Interval</a:t>
          </a:r>
          <a:r>
            <a:rPr lang="zh-CN" altLang="en-US" sz="2200" kern="1200" dirty="0"/>
            <a:t> </a:t>
          </a:r>
          <a:r>
            <a:rPr lang="en-US" altLang="zh-CN" sz="2200" kern="1200" dirty="0"/>
            <a:t>Scheduling</a:t>
          </a:r>
          <a:endParaRPr lang="en-US" sz="2200" kern="1200" dirty="0"/>
        </a:p>
      </dsp:txBody>
      <dsp:txXfrm>
        <a:off x="25759" y="934022"/>
        <a:ext cx="4646212" cy="476152"/>
      </dsp:txXfrm>
    </dsp:sp>
    <dsp:sp modelId="{B3D4FF40-A116-F443-A12B-EBBDAC4C5921}">
      <dsp:nvSpPr>
        <dsp:cNvPr id="0" name=""/>
        <dsp:cNvSpPr/>
      </dsp:nvSpPr>
      <dsp:spPr>
        <a:xfrm>
          <a:off x="0" y="1429557"/>
          <a:ext cx="4697730" cy="592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700" kern="1200" dirty="0"/>
            <a:t>Greedy</a:t>
          </a:r>
          <a:r>
            <a:rPr lang="zh-CN" altLang="en-US" sz="1700" kern="1200" dirty="0"/>
            <a:t> </a:t>
          </a:r>
          <a:r>
            <a:rPr lang="en-US" altLang="zh-CN" sz="1700" kern="1200" dirty="0"/>
            <a:t>Algorithm</a:t>
          </a:r>
          <a:endParaRPr lang="zh-CN" alt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700" kern="1200" dirty="0"/>
            <a:t>Proof</a:t>
          </a:r>
          <a:r>
            <a:rPr lang="zh-CN" altLang="en-US" sz="1700" kern="1200" dirty="0"/>
            <a:t> </a:t>
          </a:r>
          <a:r>
            <a:rPr lang="en-US" altLang="zh-CN" sz="1700" kern="1200" dirty="0"/>
            <a:t>of</a:t>
          </a:r>
          <a:r>
            <a:rPr lang="zh-CN" altLang="en-US" sz="1700" kern="1200" dirty="0"/>
            <a:t> </a:t>
          </a:r>
          <a:r>
            <a:rPr lang="en-US" altLang="zh-CN" sz="1700" kern="1200" dirty="0"/>
            <a:t>Optimality,</a:t>
          </a:r>
          <a:r>
            <a:rPr lang="zh-CN" altLang="en-US" sz="1700" kern="1200" dirty="0"/>
            <a:t> </a:t>
          </a:r>
          <a:r>
            <a:rPr lang="en-US" sz="1700" kern="1200" dirty="0"/>
            <a:t>Optimal sub-structure </a:t>
          </a:r>
          <a:endParaRPr lang="zh-CN" altLang="en-US" sz="1700" kern="1200" dirty="0"/>
        </a:p>
      </dsp:txBody>
      <dsp:txXfrm>
        <a:off x="0" y="1429557"/>
        <a:ext cx="4697730" cy="592020"/>
      </dsp:txXfrm>
    </dsp:sp>
    <dsp:sp modelId="{74E7862E-A08A-E740-BD64-70A8C62E4534}">
      <dsp:nvSpPr>
        <dsp:cNvPr id="0" name=""/>
        <dsp:cNvSpPr/>
      </dsp:nvSpPr>
      <dsp:spPr>
        <a:xfrm>
          <a:off x="0" y="2021577"/>
          <a:ext cx="4697730" cy="527670"/>
        </a:xfrm>
        <a:prstGeom prst="roundRect">
          <a:avLst/>
        </a:prstGeom>
        <a:solidFill>
          <a:schemeClr val="accent2">
            <a:hueOff val="2546585"/>
            <a:satOff val="4320"/>
            <a:lumOff val="-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kern="1200" dirty="0"/>
            <a:t>Sum</a:t>
          </a:r>
          <a:r>
            <a:rPr lang="zh-CN" altLang="en-US" sz="2200" kern="1200" dirty="0"/>
            <a:t> </a:t>
          </a:r>
          <a:r>
            <a:rPr lang="en-US" altLang="zh-CN" sz="2200" kern="1200" dirty="0"/>
            <a:t>Penalty</a:t>
          </a:r>
          <a:r>
            <a:rPr lang="zh-CN" altLang="en-US" sz="2200" kern="1200" dirty="0"/>
            <a:t> </a:t>
          </a:r>
          <a:r>
            <a:rPr lang="en-US" altLang="zh-CN" sz="2200" kern="1200" dirty="0"/>
            <a:t>Minimization</a:t>
          </a:r>
          <a:r>
            <a:rPr lang="zh-CN" altLang="en-US" sz="2200" kern="1200" dirty="0"/>
            <a:t> </a:t>
          </a:r>
          <a:r>
            <a:rPr lang="en-US" altLang="zh-CN" sz="2200" kern="1200" dirty="0"/>
            <a:t>Scheduling</a:t>
          </a:r>
          <a:endParaRPr lang="zh-CN" altLang="en-US" sz="2200" kern="1200" dirty="0"/>
        </a:p>
      </dsp:txBody>
      <dsp:txXfrm>
        <a:off x="25759" y="2047336"/>
        <a:ext cx="4646212" cy="476152"/>
      </dsp:txXfrm>
    </dsp:sp>
    <dsp:sp modelId="{1DA4B74F-3938-224C-B8AD-5AC96748D1AE}">
      <dsp:nvSpPr>
        <dsp:cNvPr id="0" name=""/>
        <dsp:cNvSpPr/>
      </dsp:nvSpPr>
      <dsp:spPr>
        <a:xfrm>
          <a:off x="0" y="2549247"/>
          <a:ext cx="4697730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700" kern="1200" dirty="0"/>
            <a:t>Algorithm</a:t>
          </a:r>
          <a:r>
            <a:rPr lang="zh-CN" altLang="en-US" sz="1700" kern="1200" dirty="0"/>
            <a:t> </a:t>
          </a:r>
          <a:r>
            <a:rPr lang="en-US" altLang="zh-CN" sz="1700" kern="1200" dirty="0"/>
            <a:t>and</a:t>
          </a:r>
          <a:r>
            <a:rPr lang="zh-CN" altLang="en-US" sz="1700" kern="1200" dirty="0"/>
            <a:t> </a:t>
          </a:r>
          <a:r>
            <a:rPr lang="en-US" altLang="zh-CN" sz="1700" kern="1200" dirty="0"/>
            <a:t>Proof</a:t>
          </a:r>
          <a:r>
            <a:rPr lang="zh-CN" altLang="en-US" sz="1700" kern="1200" dirty="0"/>
            <a:t> </a:t>
          </a:r>
          <a:r>
            <a:rPr lang="en-US" altLang="zh-CN" sz="1700" kern="1200" dirty="0"/>
            <a:t>of</a:t>
          </a:r>
          <a:r>
            <a:rPr lang="zh-CN" altLang="en-US" sz="1700" kern="1200" dirty="0"/>
            <a:t> </a:t>
          </a:r>
          <a:r>
            <a:rPr lang="en-US" altLang="zh-CN" sz="1700" kern="1200" dirty="0"/>
            <a:t>Optimality</a:t>
          </a:r>
          <a:endParaRPr lang="zh-CN" altLang="en-US" sz="1700" kern="1200" dirty="0"/>
        </a:p>
      </dsp:txBody>
      <dsp:txXfrm>
        <a:off x="0" y="2549247"/>
        <a:ext cx="4697730" cy="364320"/>
      </dsp:txXfrm>
    </dsp:sp>
    <dsp:sp modelId="{0F9D7059-6B5A-324D-BBB2-FF4779936521}">
      <dsp:nvSpPr>
        <dsp:cNvPr id="0" name=""/>
        <dsp:cNvSpPr/>
      </dsp:nvSpPr>
      <dsp:spPr>
        <a:xfrm>
          <a:off x="0" y="2906434"/>
          <a:ext cx="4697730" cy="527670"/>
        </a:xfrm>
        <a:prstGeom prst="roundRect">
          <a:avLst/>
        </a:prstGeom>
        <a:solidFill>
          <a:schemeClr val="accent2">
            <a:hueOff val="3819877"/>
            <a:satOff val="6480"/>
            <a:lumOff val="-2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kern="1200" dirty="0">
              <a:solidFill>
                <a:schemeClr val="bg1"/>
              </a:solidFill>
            </a:rPr>
            <a:t>Interval</a:t>
          </a:r>
          <a:r>
            <a:rPr lang="zh-CN" altLang="en-US" sz="2200" kern="1200" dirty="0">
              <a:solidFill>
                <a:schemeClr val="bg1"/>
              </a:solidFill>
            </a:rPr>
            <a:t> </a:t>
          </a:r>
          <a:r>
            <a:rPr lang="en-US" altLang="zh-CN" sz="2200" kern="1200" dirty="0">
              <a:solidFill>
                <a:schemeClr val="bg1"/>
              </a:solidFill>
            </a:rPr>
            <a:t>Partitioning</a:t>
          </a:r>
          <a:endParaRPr lang="en-US" sz="2200" kern="1200" dirty="0">
            <a:solidFill>
              <a:schemeClr val="bg1"/>
            </a:solidFill>
          </a:endParaRPr>
        </a:p>
      </dsp:txBody>
      <dsp:txXfrm>
        <a:off x="25759" y="2932193"/>
        <a:ext cx="4646212" cy="476152"/>
      </dsp:txXfrm>
    </dsp:sp>
    <dsp:sp modelId="{83C615D7-3F44-1542-8AB9-18060F3340FA}">
      <dsp:nvSpPr>
        <dsp:cNvPr id="0" name=""/>
        <dsp:cNvSpPr/>
      </dsp:nvSpPr>
      <dsp:spPr>
        <a:xfrm>
          <a:off x="0" y="3441237"/>
          <a:ext cx="4697730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700" kern="1200" dirty="0"/>
            <a:t>Algorithm</a:t>
          </a:r>
          <a:r>
            <a:rPr lang="zh-CN" altLang="en-US" sz="1700" kern="1200" dirty="0"/>
            <a:t> </a:t>
          </a:r>
          <a:r>
            <a:rPr lang="en-US" altLang="zh-CN" sz="1700" kern="1200" dirty="0"/>
            <a:t>and</a:t>
          </a:r>
          <a:r>
            <a:rPr lang="zh-CN" altLang="en-US" sz="1700" kern="1200" dirty="0"/>
            <a:t> </a:t>
          </a:r>
          <a:r>
            <a:rPr lang="en-US" altLang="zh-CN" sz="1700" kern="1200" dirty="0"/>
            <a:t>Proof</a:t>
          </a:r>
          <a:r>
            <a:rPr lang="zh-CN" altLang="en-US" sz="1700" kern="1200" dirty="0"/>
            <a:t> </a:t>
          </a:r>
          <a:r>
            <a:rPr lang="en-US" altLang="zh-CN" sz="1700" kern="1200" dirty="0"/>
            <a:t>of</a:t>
          </a:r>
          <a:r>
            <a:rPr lang="zh-CN" altLang="en-US" sz="1700" kern="1200" dirty="0"/>
            <a:t> </a:t>
          </a:r>
          <a:r>
            <a:rPr lang="en-US" altLang="zh-CN" sz="1700" kern="1200" dirty="0"/>
            <a:t>Optimality</a:t>
          </a:r>
          <a:r>
            <a:rPr lang="zh-CN" altLang="en-US" sz="1700" kern="1200" dirty="0"/>
            <a:t> </a:t>
          </a:r>
        </a:p>
      </dsp:txBody>
      <dsp:txXfrm>
        <a:off x="0" y="3441237"/>
        <a:ext cx="4697730" cy="364320"/>
      </dsp:txXfrm>
    </dsp:sp>
    <dsp:sp modelId="{27CFC81F-1429-A241-BA29-F4FAC6F69A90}">
      <dsp:nvSpPr>
        <dsp:cNvPr id="0" name=""/>
        <dsp:cNvSpPr/>
      </dsp:nvSpPr>
      <dsp:spPr>
        <a:xfrm>
          <a:off x="0" y="3805557"/>
          <a:ext cx="4697730" cy="527670"/>
        </a:xfrm>
        <a:prstGeom prst="roundRect">
          <a:avLst/>
        </a:prstGeom>
        <a:solidFill>
          <a:schemeClr val="accent2">
            <a:hueOff val="5093169"/>
            <a:satOff val="8640"/>
            <a:lumOff val="-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Max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Lateness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Minimization</a:t>
          </a:r>
          <a:r>
            <a:rPr lang="zh-CN" altLang="en-US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 </a:t>
          </a:r>
          <a:r>
            <a:rPr lang="en-US" altLang="zh-CN" sz="2000" kern="12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  <a:cs typeface="+mn-cs"/>
            </a:rPr>
            <a:t>Scheduling</a:t>
          </a:r>
          <a:endParaRPr lang="en-US" sz="2000" kern="1200" dirty="0">
            <a:solidFill>
              <a:prstClr val="white"/>
            </a:solidFill>
            <a:latin typeface="Calibri" panose="020F0502020204030204"/>
            <a:ea typeface="等线" panose="02010600030101010101" pitchFamily="2" charset="-122"/>
            <a:cs typeface="+mn-cs"/>
          </a:endParaRPr>
        </a:p>
      </dsp:txBody>
      <dsp:txXfrm>
        <a:off x="25759" y="3831316"/>
        <a:ext cx="4646212" cy="476152"/>
      </dsp:txXfrm>
    </dsp:sp>
    <dsp:sp modelId="{8D4E3098-A1D7-A548-BAB5-7C5B68BD5803}">
      <dsp:nvSpPr>
        <dsp:cNvPr id="0" name=""/>
        <dsp:cNvSpPr/>
      </dsp:nvSpPr>
      <dsp:spPr>
        <a:xfrm>
          <a:off x="0" y="4333227"/>
          <a:ext cx="4697730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700" kern="1200" dirty="0"/>
            <a:t>Algorithm</a:t>
          </a:r>
          <a:r>
            <a:rPr lang="zh-CN" altLang="en-US" sz="1700" kern="1200" dirty="0"/>
            <a:t> </a:t>
          </a:r>
          <a:r>
            <a:rPr lang="en-US" altLang="zh-CN" sz="1700" kern="1200" dirty="0"/>
            <a:t>and</a:t>
          </a:r>
          <a:r>
            <a:rPr lang="zh-CN" altLang="en-US" sz="1700" kern="1200" dirty="0"/>
            <a:t> </a:t>
          </a:r>
          <a:r>
            <a:rPr lang="en-US" altLang="zh-CN" sz="1700" kern="1200" dirty="0"/>
            <a:t>Proof</a:t>
          </a:r>
          <a:r>
            <a:rPr lang="zh-CN" altLang="en-US" sz="1700" kern="1200" dirty="0"/>
            <a:t> </a:t>
          </a:r>
          <a:r>
            <a:rPr lang="en-US" altLang="zh-CN" sz="1700" kern="1200" dirty="0"/>
            <a:t>of</a:t>
          </a:r>
          <a:r>
            <a:rPr lang="zh-CN" altLang="en-US" sz="1700" kern="1200" dirty="0"/>
            <a:t> </a:t>
          </a:r>
          <a:r>
            <a:rPr lang="en-US" altLang="zh-CN" sz="1700" kern="1200" dirty="0"/>
            <a:t>Optimality</a:t>
          </a:r>
          <a:endParaRPr lang="zh-CN" altLang="en-US" sz="1700" kern="1200" dirty="0"/>
        </a:p>
      </dsp:txBody>
      <dsp:txXfrm>
        <a:off x="0" y="4333227"/>
        <a:ext cx="4697730" cy="364320"/>
      </dsp:txXfrm>
    </dsp:sp>
    <dsp:sp modelId="{5A2B2C49-2F63-4841-9864-CB284F986961}">
      <dsp:nvSpPr>
        <dsp:cNvPr id="0" name=""/>
        <dsp:cNvSpPr/>
      </dsp:nvSpPr>
      <dsp:spPr>
        <a:xfrm>
          <a:off x="0" y="4697547"/>
          <a:ext cx="4697730" cy="527670"/>
        </a:xfrm>
        <a:prstGeom prst="roundRect">
          <a:avLst/>
        </a:prstGeom>
        <a:solidFill>
          <a:schemeClr val="accent2">
            <a:hueOff val="6366461"/>
            <a:satOff val="10800"/>
            <a:lumOff val="-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200" kern="1200" dirty="0"/>
            <a:t>Huffman</a:t>
          </a:r>
          <a:r>
            <a:rPr lang="zh-CN" altLang="en-US" sz="2200" kern="1200" dirty="0"/>
            <a:t> </a:t>
          </a:r>
          <a:r>
            <a:rPr lang="en-US" altLang="zh-CN" sz="2200" kern="1200" dirty="0"/>
            <a:t>Coding</a:t>
          </a:r>
          <a:endParaRPr lang="zh-CN" altLang="en-US" sz="2200" kern="1200" dirty="0"/>
        </a:p>
      </dsp:txBody>
      <dsp:txXfrm>
        <a:off x="25759" y="4723306"/>
        <a:ext cx="4646212" cy="476152"/>
      </dsp:txXfrm>
    </dsp:sp>
    <dsp:sp modelId="{AAB7C639-0C53-3442-BE4C-8F6F83218280}">
      <dsp:nvSpPr>
        <dsp:cNvPr id="0" name=""/>
        <dsp:cNvSpPr/>
      </dsp:nvSpPr>
      <dsp:spPr>
        <a:xfrm>
          <a:off x="0" y="5225217"/>
          <a:ext cx="4697730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53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1700" kern="1200" dirty="0"/>
            <a:t>Algorithm</a:t>
          </a:r>
          <a:r>
            <a:rPr lang="zh-CN" altLang="en-US" sz="1700" kern="1200" dirty="0"/>
            <a:t> </a:t>
          </a:r>
          <a:r>
            <a:rPr lang="en-US" altLang="zh-CN" sz="1700" kern="1200" dirty="0"/>
            <a:t>and</a:t>
          </a:r>
          <a:r>
            <a:rPr lang="zh-CN" altLang="en-US" sz="1700" kern="1200" dirty="0"/>
            <a:t> </a:t>
          </a:r>
          <a:r>
            <a:rPr lang="en-US" altLang="zh-CN" sz="1700" kern="1200" dirty="0"/>
            <a:t>proof</a:t>
          </a:r>
          <a:r>
            <a:rPr lang="zh-CN" altLang="en-US" sz="1700" kern="1200" dirty="0"/>
            <a:t> </a:t>
          </a:r>
          <a:r>
            <a:rPr lang="en-US" altLang="zh-CN" sz="1700" kern="1200" dirty="0"/>
            <a:t>of</a:t>
          </a:r>
          <a:r>
            <a:rPr lang="zh-CN" altLang="en-US" sz="1700" kern="1200" dirty="0"/>
            <a:t> </a:t>
          </a:r>
          <a:r>
            <a:rPr lang="en-US" altLang="zh-CN" sz="1700" kern="1200" dirty="0"/>
            <a:t>optimality</a:t>
          </a:r>
          <a:endParaRPr lang="zh-CN" altLang="en-US" sz="1700" kern="1200" dirty="0"/>
        </a:p>
      </dsp:txBody>
      <dsp:txXfrm>
        <a:off x="0" y="5225217"/>
        <a:ext cx="4697730" cy="3643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0FF97-7240-CA4F-8841-0AC551CB748F}" type="datetimeFigureOut">
              <a:rPr lang="en-US" smtClean="0"/>
              <a:t>3/11/24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596655-90FC-BD4C-B636-A157F5318E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53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56186-EA11-D14D-8599-5DD97C83FAEC}" type="datetime1">
              <a:rPr lang="en-US" smtClean="0"/>
              <a:t>3/11/24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87201-1605-D54F-BD0D-AA80B6D81C25}" type="datetime1">
              <a:rPr lang="en-US" smtClean="0"/>
              <a:t>3/11/24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CCC5F-BD62-DB41-BE06-941909F0E397}" type="datetime1">
              <a:rPr lang="en-US" smtClean="0"/>
              <a:t>3/11/24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526FA-52B1-6D46-8FE4-9DCFF6A7FF2E}" type="datetime1">
              <a:rPr lang="en-US" smtClean="0"/>
              <a:t>3/11/24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F4942-7FF9-6E40-85FD-D252FBBBE9F6}" type="datetime1">
              <a:rPr lang="en-US" smtClean="0"/>
              <a:t>3/11/24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2D37-2737-254C-A171-F3D7799E7780}" type="datetime1">
              <a:rPr lang="en-US" smtClean="0"/>
              <a:t>3/11/24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10A9F-BB4C-DD4D-9D2A-BA66C3A3B8F9}" type="datetime1">
              <a:rPr lang="en-US" smtClean="0"/>
              <a:t>3/11/24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C8AAB-ACBB-7647-A9C7-36A0D71109EB}" type="datetime1">
              <a:rPr lang="en-US" smtClean="0"/>
              <a:t>3/11/24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7B5E-4D3F-2E4B-99C8-F64C031C79B2}" type="datetime1">
              <a:rPr lang="en-US" smtClean="0"/>
              <a:t>3/11/24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52C7D-3156-F74F-A4E2-BD0BE3B9FC54}" type="datetime1">
              <a:rPr lang="en-US" smtClean="0"/>
              <a:t>3/11/24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3ADC-21C4-1744-8BC8-4DCE9EABB5B0}" type="datetime1">
              <a:rPr lang="en-US" smtClean="0"/>
              <a:t>3/11/24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08E96-F24C-C244-A704-A4D358A2FE3B}" type="datetime1">
              <a:rPr lang="en-US" smtClean="0"/>
              <a:t>3/11/24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09CFC-1E7E-D345-9273-4ED8A141D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914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7" Type="http://schemas.openxmlformats.org/officeDocument/2006/relationships/image" Target="../media/image9.tiff"/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tiff"/><Relationship Id="rId5" Type="http://schemas.openxmlformats.org/officeDocument/2006/relationships/image" Target="../media/image7.tiff"/><Relationship Id="rId4" Type="http://schemas.openxmlformats.org/officeDocument/2006/relationships/image" Target="../media/image6.tif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if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if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if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if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if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4.xml"/><Relationship Id="rId7" Type="http://schemas.openxmlformats.org/officeDocument/2006/relationships/image" Target="../media/image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5.xml"/><Relationship Id="rId7" Type="http://schemas.openxmlformats.org/officeDocument/2006/relationships/image" Target="../media/image2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image" Target="../media/image45.emf"/><Relationship Id="rId7" Type="http://schemas.openxmlformats.org/officeDocument/2006/relationships/image" Target="../media/image48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3.emf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diagramLayout" Target="../diagrams/layout6.xml"/><Relationship Id="rId7" Type="http://schemas.openxmlformats.org/officeDocument/2006/relationships/image" Target="../media/image2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tiff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tiff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98460" y="1783959"/>
            <a:ext cx="3065480" cy="2889114"/>
          </a:xfrm>
        </p:spPr>
        <p:txBody>
          <a:bodyPr anchor="b">
            <a:normAutofit/>
          </a:bodyPr>
          <a:lstStyle/>
          <a:p>
            <a:pPr algn="l"/>
            <a:r>
              <a:rPr lang="en-US" altLang="zh-CN" sz="4700"/>
              <a:t>Greedy</a:t>
            </a:r>
            <a:r>
              <a:rPr lang="zh-CN" altLang="en-US" sz="4700"/>
              <a:t> </a:t>
            </a:r>
            <a:r>
              <a:rPr lang="en-US" altLang="zh-CN" sz="4700"/>
              <a:t>Algorithms</a:t>
            </a:r>
            <a:endParaRPr lang="en-US" sz="47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98459" y="4750893"/>
            <a:ext cx="3065478" cy="1147863"/>
          </a:xfrm>
        </p:spPr>
        <p:txBody>
          <a:bodyPr anchor="t">
            <a:normAutofit/>
          </a:bodyPr>
          <a:lstStyle/>
          <a:p>
            <a:pPr algn="l"/>
            <a:r>
              <a:rPr lang="en-US" sz="1700"/>
              <a:t>Yongcai Wang</a:t>
            </a:r>
          </a:p>
          <a:p>
            <a:pPr algn="l"/>
            <a:r>
              <a:rPr lang="en-US" altLang="zh-CN" sz="1700"/>
              <a:t>Renmin</a:t>
            </a:r>
            <a:r>
              <a:rPr lang="zh-CN" altLang="en-US" sz="1700"/>
              <a:t> </a:t>
            </a:r>
            <a:r>
              <a:rPr lang="en-US" altLang="zh-CN" sz="1700"/>
              <a:t>University</a:t>
            </a:r>
            <a:r>
              <a:rPr lang="zh-CN" altLang="en-US" sz="1700"/>
              <a:t> </a:t>
            </a:r>
            <a:r>
              <a:rPr lang="en-US" altLang="zh-CN" sz="1700"/>
              <a:t>of</a:t>
            </a:r>
            <a:r>
              <a:rPr lang="zh-CN" altLang="en-US" sz="1700"/>
              <a:t> </a:t>
            </a:r>
            <a:r>
              <a:rPr lang="en-US" altLang="zh-CN" sz="1700"/>
              <a:t>China</a:t>
            </a:r>
            <a:endParaRPr lang="en-US" sz="170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5391039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2" name="Picture 41" descr="形状, 背景图案&#10;&#10;描述已自动生成">
            <a:extLst>
              <a:ext uri="{FF2B5EF4-FFF2-40B4-BE49-F238E27FC236}">
                <a16:creationId xmlns:a16="http://schemas.microsoft.com/office/drawing/2014/main" id="{3A28263E-B60F-973F-378C-0571341554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07" r="9752" b="2"/>
          <a:stretch/>
        </p:blipFill>
        <p:spPr>
          <a:xfrm>
            <a:off x="20" y="10"/>
            <a:ext cx="5271352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C8F91-2940-B84A-AB8D-9ADD48C93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2460" y="603504"/>
            <a:ext cx="411480" cy="548640"/>
          </a:xfrm>
          <a:prstGeom prst="ellipse">
            <a:avLst/>
          </a:prstGeom>
          <a:solidFill>
            <a:srgbClr val="7F7F7F"/>
          </a:solidFill>
        </p:spPr>
        <p:txBody>
          <a:bodyPr anchor="ctr">
            <a:normAutofit/>
          </a:bodyPr>
          <a:lstStyle/>
          <a:p>
            <a:pPr algn="ctr">
              <a:spcAft>
                <a:spcPts val="600"/>
              </a:spcAft>
            </a:pPr>
            <a:fld id="{1B409CFC-1E7E-D345-9273-4ED8A141D8BE}" type="slidenum">
              <a:rPr lang="en-US" sz="1300">
                <a:solidFill>
                  <a:srgbClr val="FFFFFF"/>
                </a:solidFill>
              </a:rPr>
              <a:pPr algn="ctr">
                <a:spcAft>
                  <a:spcPts val="600"/>
                </a:spcAft>
              </a:pPr>
              <a:t>1</a:t>
            </a:fld>
            <a:endParaRPr lang="en-US" sz="13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0209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example of a </a:t>
            </a:r>
            <a:r>
              <a:rPr lang="en-US" dirty="0">
                <a:solidFill>
                  <a:srgbClr val="E56B74"/>
                </a:solidFill>
              </a:rPr>
              <a:t>greedy algorithm </a:t>
            </a:r>
            <a:r>
              <a:rPr lang="en-US" dirty="0"/>
              <a:t>that </a:t>
            </a:r>
            <a:r>
              <a:rPr lang="en-US" b="1" dirty="0"/>
              <a:t>does not work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Knapsack problem</a:t>
            </a:r>
          </a:p>
          <a:p>
            <a:r>
              <a:rPr lang="en-US" altLang="zh-CN" dirty="0"/>
              <a:t>Five</a:t>
            </a:r>
            <a:r>
              <a:rPr lang="en-US" dirty="0"/>
              <a:t> examples of </a:t>
            </a:r>
            <a:r>
              <a:rPr lang="en-US" dirty="0">
                <a:solidFill>
                  <a:srgbClr val="E56B74"/>
                </a:solidFill>
              </a:rPr>
              <a:t>greedy algorithms </a:t>
            </a:r>
            <a:r>
              <a:rPr lang="en-US" dirty="0"/>
              <a:t>that </a:t>
            </a:r>
            <a:r>
              <a:rPr lang="en-US" b="1" dirty="0"/>
              <a:t>do work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Activity Selection</a:t>
            </a:r>
            <a:r>
              <a:rPr lang="en-US" altLang="zh-CN" dirty="0">
                <a:solidFill>
                  <a:schemeClr val="accent4"/>
                </a:solidFill>
              </a:rPr>
              <a:t>/Interval</a:t>
            </a:r>
            <a:r>
              <a:rPr lang="zh-CN" altLang="en-US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Scheduling</a:t>
            </a:r>
            <a:endParaRPr lang="en-US" dirty="0">
              <a:solidFill>
                <a:schemeClr val="accent4"/>
              </a:solidFill>
            </a:endParaRPr>
          </a:p>
          <a:p>
            <a:pPr lvl="1"/>
            <a:r>
              <a:rPr lang="en-US" altLang="zh-CN" dirty="0">
                <a:solidFill>
                  <a:schemeClr val="accent4"/>
                </a:solidFill>
              </a:rPr>
              <a:t>Interval</a:t>
            </a:r>
            <a:r>
              <a:rPr lang="zh-CN" altLang="en-US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Partitioning</a:t>
            </a:r>
            <a:endParaRPr lang="en-US" dirty="0">
              <a:solidFill>
                <a:schemeClr val="accent4"/>
              </a:solidFill>
            </a:endParaRPr>
          </a:p>
          <a:p>
            <a:pPr lvl="1"/>
            <a:r>
              <a:rPr lang="en-US" altLang="zh-CN" dirty="0">
                <a:solidFill>
                  <a:schemeClr val="accent4"/>
                </a:solidFill>
              </a:rPr>
              <a:t>Maximum</a:t>
            </a:r>
            <a:r>
              <a:rPr lang="zh-CN" altLang="en-US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Lateness</a:t>
            </a:r>
            <a:r>
              <a:rPr lang="zh-CN" altLang="en-US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Minimization</a:t>
            </a:r>
            <a:r>
              <a:rPr lang="zh-CN" altLang="en-US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Scheduling</a:t>
            </a:r>
          </a:p>
          <a:p>
            <a:pPr lvl="1"/>
            <a:r>
              <a:rPr lang="en-US" altLang="zh-CN" dirty="0">
                <a:solidFill>
                  <a:schemeClr val="accent4"/>
                </a:solidFill>
              </a:rPr>
              <a:t>Sum</a:t>
            </a:r>
            <a:r>
              <a:rPr lang="zh-CN" altLang="en-US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Penalty</a:t>
            </a:r>
            <a:r>
              <a:rPr lang="zh-CN" altLang="en-US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Minimization</a:t>
            </a:r>
            <a:r>
              <a:rPr lang="zh-CN" altLang="en-US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Scheduling</a:t>
            </a:r>
            <a:endParaRPr lang="en-US" dirty="0">
              <a:solidFill>
                <a:schemeClr val="accent4"/>
              </a:solidFill>
            </a:endParaRPr>
          </a:p>
          <a:p>
            <a:pPr lvl="1"/>
            <a:r>
              <a:rPr lang="en-US" dirty="0">
                <a:solidFill>
                  <a:schemeClr val="accent4"/>
                </a:solidFill>
              </a:rPr>
              <a:t>Huffman Coding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F6CF96F-E9DF-2F4C-BA20-D833FCF8B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28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618BC3E-C159-7C4A-A4AD-5D258853E934}"/>
              </a:ext>
            </a:extLst>
          </p:cNvPr>
          <p:cNvSpPr/>
          <p:nvPr/>
        </p:nvSpPr>
        <p:spPr>
          <a:xfrm>
            <a:off x="0" y="0"/>
            <a:ext cx="3891776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C4D8C2F-B057-BC46-B29B-8549C3CA4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55" y="620392"/>
            <a:ext cx="2856201" cy="5504688"/>
          </a:xfrm>
        </p:spPr>
        <p:txBody>
          <a:bodyPr>
            <a:normAutofit/>
          </a:bodyPr>
          <a:lstStyle/>
          <a:p>
            <a:r>
              <a:rPr lang="en-US" sz="5200" dirty="0" err="1">
                <a:solidFill>
                  <a:schemeClr val="bg1"/>
                </a:solidFill>
              </a:rPr>
              <a:t>主要内容</a:t>
            </a:r>
            <a:endParaRPr lang="en-US" sz="5200" dirty="0">
              <a:solidFill>
                <a:schemeClr val="bg1"/>
              </a:solidFill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605011D5-D7DF-D395-3AA9-3C30225BA1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101291" y="620391"/>
          <a:ext cx="4697730" cy="5599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DCA578-4958-C042-93CC-08AEB411D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Algorithm design and analysis, Yongcai Wang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899857-20C5-3A4B-8E13-770B50CF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D7B5-3E88-6742-8EE5-BD15024C659B}" type="slidenum">
              <a:rPr lang="en-US" smtClean="0"/>
              <a:t>3</a:t>
            </a:fld>
            <a:endParaRPr lang="en-US"/>
          </a:p>
        </p:txBody>
      </p:sp>
      <p:pic>
        <p:nvPicPr>
          <p:cNvPr id="7" name="图形 6" descr="3D 眼镜 纯色填充">
            <a:extLst>
              <a:ext uri="{FF2B5EF4-FFF2-40B4-BE49-F238E27FC236}">
                <a16:creationId xmlns:a16="http://schemas.microsoft.com/office/drawing/2014/main" id="{5F35CDB7-B71B-6147-B88D-E69B590230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15350" y="245833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571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111" y="115839"/>
            <a:ext cx="1413152" cy="141315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E56B74"/>
                </a:solidFill>
              </a:rPr>
              <a:t>“Greedy” </a:t>
            </a:r>
            <a:r>
              <a:rPr lang="en-US" altLang="zh-CN" dirty="0"/>
              <a:t>algorithm for unbounded knapsack:</a:t>
            </a:r>
          </a:p>
          <a:p>
            <a:pPr lvl="1"/>
            <a:r>
              <a:rPr lang="en-US" altLang="zh-CN" dirty="0"/>
              <a:t>Tacos have the best </a:t>
            </a:r>
            <a:r>
              <a:rPr lang="en-US" altLang="zh-CN" dirty="0">
                <a:solidFill>
                  <a:srgbClr val="00B050"/>
                </a:solidFill>
              </a:rPr>
              <a:t>Value/Weight </a:t>
            </a:r>
            <a:r>
              <a:rPr lang="en-US" altLang="zh-CN" dirty="0"/>
              <a:t>ratio!</a:t>
            </a:r>
          </a:p>
          <a:p>
            <a:pPr lvl="1"/>
            <a:r>
              <a:rPr lang="en-US" altLang="zh-CN" dirty="0"/>
              <a:t>Keep grabbing tacos!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Unbounded Knapsack:</a:t>
            </a:r>
          </a:p>
          <a:p>
            <a:pPr lvl="1"/>
            <a:r>
              <a:rPr lang="en-US" dirty="0"/>
              <a:t>Suppose I have </a:t>
            </a:r>
            <a:r>
              <a:rPr lang="en-US" dirty="0">
                <a:solidFill>
                  <a:schemeClr val="accent4"/>
                </a:solidFill>
              </a:rPr>
              <a:t>infinite copies </a:t>
            </a:r>
            <a:r>
              <a:rPr lang="en-US" dirty="0"/>
              <a:t>of all items.</a:t>
            </a:r>
          </a:p>
          <a:p>
            <a:pPr lvl="1"/>
            <a:r>
              <a:rPr lang="en-US" dirty="0"/>
              <a:t>What’s the </a:t>
            </a:r>
            <a:r>
              <a:rPr lang="en-US" dirty="0">
                <a:solidFill>
                  <a:schemeClr val="accent1"/>
                </a:solidFill>
              </a:rPr>
              <a:t>most valuable way to fill the knapsack</a:t>
            </a:r>
            <a:r>
              <a:rPr lang="en-US" dirty="0"/>
              <a:t>?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pSp>
        <p:nvGrpSpPr>
          <p:cNvPr id="24" name="Group 23"/>
          <p:cNvGrpSpPr/>
          <p:nvPr/>
        </p:nvGrpSpPr>
        <p:grpSpPr>
          <a:xfrm>
            <a:off x="3320937" y="0"/>
            <a:ext cx="5649593" cy="1475713"/>
            <a:chOff x="-479811" y="1751737"/>
            <a:chExt cx="9046225" cy="2600511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11626" y="1998496"/>
              <a:ext cx="890016" cy="890016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83371" y="1998496"/>
              <a:ext cx="938946" cy="938946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00210" y="1998496"/>
              <a:ext cx="815140" cy="81514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98981" y="1966357"/>
              <a:ext cx="922155" cy="922155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23804" y="1751737"/>
              <a:ext cx="1136775" cy="1136775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-479809" y="3113586"/>
              <a:ext cx="1729993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Weight: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-479809" y="3701409"/>
              <a:ext cx="1729993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Value: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782501" y="3005866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6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50794" y="3005864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718736" y="3005862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4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275590" y="3005862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3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883508" y="2988522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11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680245" y="3670274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20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15758" y="3667231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8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718736" y="3655655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14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871487" y="3602769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35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271357" y="3664194"/>
              <a:ext cx="68290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13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-479811" y="2402818"/>
              <a:ext cx="1770386" cy="650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Item: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222078" y="976707"/>
            <a:ext cx="19445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</a:rPr>
              <a:t>Capacity: 10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5254" y="5681844"/>
            <a:ext cx="575909" cy="5232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99247" y="5681844"/>
            <a:ext cx="575909" cy="523296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1550" y="5681844"/>
            <a:ext cx="586395" cy="532824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30248" y="5681844"/>
            <a:ext cx="586395" cy="53282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669946" y="5620326"/>
            <a:ext cx="3503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Total weight: 10</a:t>
            </a:r>
          </a:p>
          <a:p>
            <a:r>
              <a:rPr lang="en-US" dirty="0">
                <a:solidFill>
                  <a:schemeClr val="accent1"/>
                </a:solidFill>
              </a:rPr>
              <a:t>Total value: 42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16689" y="1678329"/>
            <a:ext cx="83330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DD2578-4C7D-8F49-B313-F5F55EB5D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4</a:t>
            </a:fld>
            <a:endParaRPr lang="en-US" dirty="0"/>
          </a:p>
        </p:txBody>
      </p:sp>
      <p:pic>
        <p:nvPicPr>
          <p:cNvPr id="39" name="Picture 33">
            <a:extLst>
              <a:ext uri="{FF2B5EF4-FFF2-40B4-BE49-F238E27FC236}">
                <a16:creationId xmlns:a16="http://schemas.microsoft.com/office/drawing/2014/main" id="{07CB0D31-D51A-AC4B-AD8C-071F02E40C2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83419" y="3341035"/>
            <a:ext cx="586395" cy="532824"/>
          </a:xfrm>
          <a:prstGeom prst="rect">
            <a:avLst/>
          </a:prstGeom>
        </p:spPr>
      </p:pic>
      <p:sp>
        <p:nvSpPr>
          <p:cNvPr id="40" name="TextBox 34">
            <a:extLst>
              <a:ext uri="{FF2B5EF4-FFF2-40B4-BE49-F238E27FC236}">
                <a16:creationId xmlns:a16="http://schemas.microsoft.com/office/drawing/2014/main" id="{C619BE18-319B-9B4A-AD5D-3B8FA6EC3F36}"/>
              </a:ext>
            </a:extLst>
          </p:cNvPr>
          <p:cNvSpPr txBox="1"/>
          <p:nvPr/>
        </p:nvSpPr>
        <p:spPr>
          <a:xfrm>
            <a:off x="4669946" y="3341035"/>
            <a:ext cx="3503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Total weight: 9</a:t>
            </a:r>
          </a:p>
          <a:p>
            <a:r>
              <a:rPr lang="en-US" dirty="0">
                <a:solidFill>
                  <a:schemeClr val="accent1"/>
                </a:solidFill>
              </a:rPr>
              <a:t>Total value: 39</a:t>
            </a:r>
          </a:p>
        </p:txBody>
      </p:sp>
      <p:pic>
        <p:nvPicPr>
          <p:cNvPr id="41" name="Picture 35">
            <a:extLst>
              <a:ext uri="{FF2B5EF4-FFF2-40B4-BE49-F238E27FC236}">
                <a16:creationId xmlns:a16="http://schemas.microsoft.com/office/drawing/2014/main" id="{F7CD5F80-2CF9-A24C-A435-DFE61F718FF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7895" y="3341035"/>
            <a:ext cx="586395" cy="532824"/>
          </a:xfrm>
          <a:prstGeom prst="rect">
            <a:avLst/>
          </a:prstGeom>
        </p:spPr>
      </p:pic>
      <p:pic>
        <p:nvPicPr>
          <p:cNvPr id="42" name="Picture 36">
            <a:extLst>
              <a:ext uri="{FF2B5EF4-FFF2-40B4-BE49-F238E27FC236}">
                <a16:creationId xmlns:a16="http://schemas.microsoft.com/office/drawing/2014/main" id="{86F1DB92-8C97-6A42-8148-AF9D8462083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9142" y="3341035"/>
            <a:ext cx="586395" cy="53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921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1" grpId="0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2E3409-3553-7D4F-8FAC-BE5E1F3E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39567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Activity</a:t>
            </a:r>
            <a:r>
              <a:rPr lang="zh-CN" altLang="en-US" dirty="0"/>
              <a:t> </a:t>
            </a:r>
            <a:r>
              <a:rPr lang="en-US" altLang="zh-CN" dirty="0"/>
              <a:t>Selection/Interval Scheduling 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E748CA-3E9E-854F-976B-D2D442D8F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We are given a set </a:t>
            </a:r>
            <a:r>
              <a:rPr lang="en-US" altLang="zh-CN" i="1" dirty="0">
                <a:solidFill>
                  <a:srgbClr val="00B050"/>
                </a:solidFill>
              </a:rPr>
              <a:t>R</a:t>
            </a:r>
            <a:r>
              <a:rPr lang="en-US" altLang="zh-CN" dirty="0"/>
              <a:t> of </a:t>
            </a:r>
            <a:r>
              <a:rPr lang="en-US" altLang="zh-CN" dirty="0">
                <a:solidFill>
                  <a:srgbClr val="00B050"/>
                </a:solidFill>
              </a:rPr>
              <a:t>n activities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en-US" altLang="zh-CN" dirty="0"/>
              <a:t>Each activity has a given </a:t>
            </a:r>
            <a:r>
              <a:rPr lang="en-US" altLang="zh-CN" dirty="0">
                <a:solidFill>
                  <a:srgbClr val="00B050"/>
                </a:solidFill>
              </a:rPr>
              <a:t>start time </a:t>
            </a:r>
            <a:r>
              <a:rPr lang="en-US" altLang="zh-CN" dirty="0" err="1">
                <a:solidFill>
                  <a:srgbClr val="00B050"/>
                </a:solidFill>
              </a:rPr>
              <a:t>s</a:t>
            </a:r>
            <a:r>
              <a:rPr lang="en-US" altLang="zh-CN" baseline="-25000" dirty="0" err="1">
                <a:solidFill>
                  <a:srgbClr val="00B050"/>
                </a:solidFill>
              </a:rPr>
              <a:t>i</a:t>
            </a:r>
            <a:r>
              <a:rPr lang="en-US" altLang="zh-CN" dirty="0"/>
              <a:t> and a given </a:t>
            </a:r>
            <a:r>
              <a:rPr lang="en-US" altLang="zh-CN" dirty="0">
                <a:solidFill>
                  <a:srgbClr val="00B050"/>
                </a:solidFill>
              </a:rPr>
              <a:t>finish time f</a:t>
            </a:r>
            <a:r>
              <a:rPr lang="en-US" altLang="zh-CN" baseline="-25000" dirty="0">
                <a:solidFill>
                  <a:srgbClr val="00B050"/>
                </a:solidFill>
              </a:rPr>
              <a:t>i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Two requests </a:t>
            </a:r>
            <a:r>
              <a:rPr lang="en-US" altLang="zh-CN" dirty="0" err="1"/>
              <a:t>i</a:t>
            </a:r>
            <a:r>
              <a:rPr lang="en-US" altLang="zh-CN" dirty="0"/>
              <a:t> and j conflict if their start-finish intervals overlap: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determine a subset of R of </a:t>
            </a:r>
            <a:r>
              <a:rPr lang="en-US" altLang="zh-CN" dirty="0">
                <a:solidFill>
                  <a:srgbClr val="C00000"/>
                </a:solidFill>
              </a:rPr>
              <a:t>maximum cardinality </a:t>
            </a:r>
            <a:r>
              <a:rPr lang="en-US" altLang="zh-CN" dirty="0"/>
              <a:t>consisting of requests that are </a:t>
            </a:r>
            <a:r>
              <a:rPr lang="en-US" altLang="zh-CN" dirty="0">
                <a:solidFill>
                  <a:srgbClr val="00B050"/>
                </a:solidFill>
              </a:rPr>
              <a:t>mutually non-conflicting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2EA7A5-9172-704B-B865-00398A57F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5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7EC9752-C06A-3D44-BFF4-505E0FA1A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045" y="3638390"/>
            <a:ext cx="3737910" cy="72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06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168" y="298163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Example where greedy works</a:t>
            </a:r>
            <a:br>
              <a:rPr lang="en-US" dirty="0"/>
            </a:br>
            <a:r>
              <a:rPr lang="en-US" sz="3200" dirty="0">
                <a:solidFill>
                  <a:schemeClr val="accent4"/>
                </a:solidFill>
              </a:rPr>
              <a:t>Activity selection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7837" y="2615373"/>
            <a:ext cx="2125362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Frisbee 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27158" y="3429097"/>
            <a:ext cx="1944130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Orchestra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77880" y="4731931"/>
            <a:ext cx="1889039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CS161 study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0767" y="2018645"/>
            <a:ext cx="1180585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Sleep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8914" y="4731931"/>
            <a:ext cx="1180585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CS110 Class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017" y="5329385"/>
            <a:ext cx="1672281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Theory Lunch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2399" y="3102661"/>
            <a:ext cx="2647755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Theory Seminar</a:t>
            </a:r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185481" y="5653398"/>
            <a:ext cx="1806917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Combinatorics Seminar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81598" y="4410183"/>
            <a:ext cx="2184183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Underwater </a:t>
            </a:r>
            <a:r>
              <a:rPr lang="en-US"/>
              <a:t>basket weaving class</a:t>
            </a:r>
            <a:endParaRPr lang="en-US" dirty="0"/>
          </a:p>
        </p:txBody>
      </p:sp>
      <p:sp>
        <p:nvSpPr>
          <p:cNvPr id="20" name="Rounded Rectangle 19"/>
          <p:cNvSpPr/>
          <p:nvPr/>
        </p:nvSpPr>
        <p:spPr>
          <a:xfrm>
            <a:off x="4185788" y="1755366"/>
            <a:ext cx="2184183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Math 51 Class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85971" y="1117546"/>
            <a:ext cx="2184183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CS 161 Class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65659" y="3918207"/>
            <a:ext cx="2184183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CS 166 </a:t>
            </a:r>
            <a:r>
              <a:rPr lang="en-US" dirty="0"/>
              <a:t>Class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3037" y="2138579"/>
            <a:ext cx="1549644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CS 161 Section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85319" y="2968005"/>
            <a:ext cx="1549644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CS 161 Office Hours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27715" y="4978823"/>
            <a:ext cx="1575022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Swimming lessons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428" y="3708142"/>
            <a:ext cx="1575022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Programming team meeting</a:t>
            </a:r>
            <a:endParaRPr lang="en-US" dirty="0"/>
          </a:p>
        </p:txBody>
      </p:sp>
      <p:sp>
        <p:nvSpPr>
          <p:cNvPr id="27" name="Rounded Rectangle 26"/>
          <p:cNvSpPr/>
          <p:nvPr/>
        </p:nvSpPr>
        <p:spPr>
          <a:xfrm>
            <a:off x="5852693" y="5732024"/>
            <a:ext cx="1575022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Social activity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185481" y="6512011"/>
            <a:ext cx="8817256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090102" y="6474941"/>
            <a:ext cx="1019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time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7859" y="2624126"/>
            <a:ext cx="6961692" cy="17663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762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You can only do one activity at a time, and you want to maximize the number of activities that you do.  </a:t>
            </a:r>
          </a:p>
          <a:p>
            <a:pPr algn="ctr"/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3200" dirty="0">
                <a:solidFill>
                  <a:schemeClr val="tx1"/>
                </a:solidFill>
              </a:rPr>
              <a:t>What to choose?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B2ACAD-8EF4-8540-9A76-CB95B824A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5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3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4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8A3FA0-AAD1-9A46-8ACB-FFD208FC2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7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AAFC8E-C1B0-6743-ACE2-95916254D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62" y="2179638"/>
            <a:ext cx="2892224" cy="384123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9A2950A-1A10-2940-BC8E-3ED4FBCBB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850" y="2244033"/>
            <a:ext cx="2654300" cy="355369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7FC655A-7E0B-9547-9F86-8BC1076B3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674" y="2179638"/>
            <a:ext cx="2654300" cy="369787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B84CE81-2387-B74C-BBEC-260C1267584C}"/>
              </a:ext>
            </a:extLst>
          </p:cNvPr>
          <p:cNvSpPr txBox="1"/>
          <p:nvPr/>
        </p:nvSpPr>
        <p:spPr>
          <a:xfrm>
            <a:off x="526880" y="1445488"/>
            <a:ext cx="6938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simple</a:t>
            </a:r>
            <a:r>
              <a:rPr lang="zh-CN" altLang="en-US" sz="2400" dirty="0"/>
              <a:t> </a:t>
            </a:r>
            <a:r>
              <a:rPr lang="en-US" altLang="zh-CN" sz="2400" dirty="0"/>
              <a:t>example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two</a:t>
            </a:r>
            <a:r>
              <a:rPr lang="zh-CN" altLang="en-US" sz="2400" dirty="0"/>
              <a:t> </a:t>
            </a:r>
            <a:r>
              <a:rPr lang="en-US" altLang="zh-CN" sz="2400" dirty="0"/>
              <a:t>possible</a:t>
            </a:r>
            <a:r>
              <a:rPr lang="zh-CN" altLang="en-US" sz="2400" dirty="0"/>
              <a:t> </a:t>
            </a:r>
            <a:r>
              <a:rPr lang="en-US" altLang="zh-CN" sz="2400" dirty="0"/>
              <a:t>optimal</a:t>
            </a:r>
            <a:r>
              <a:rPr lang="zh-CN" altLang="en-US" sz="2400" dirty="0"/>
              <a:t> </a:t>
            </a:r>
            <a:r>
              <a:rPr lang="en-US" altLang="zh-CN" sz="2400" dirty="0"/>
              <a:t>solutions:</a:t>
            </a:r>
            <a:r>
              <a:rPr lang="zh-CN" altLang="en-US" sz="2400" dirty="0"/>
              <a:t> </a:t>
            </a:r>
            <a:endParaRPr lang="en-US" sz="2400" dirty="0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AED0D5FB-818B-6C40-885F-BBCAFEBE18D6}"/>
              </a:ext>
            </a:extLst>
          </p:cNvPr>
          <p:cNvSpPr txBox="1">
            <a:spLocks/>
          </p:cNvSpPr>
          <p:nvPr/>
        </p:nvSpPr>
        <p:spPr>
          <a:xfrm>
            <a:off x="398162" y="473723"/>
            <a:ext cx="7886700" cy="939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Activity</a:t>
            </a:r>
            <a:r>
              <a:rPr lang="zh-CN" altLang="en-US" dirty="0"/>
              <a:t> </a:t>
            </a:r>
            <a:r>
              <a:rPr lang="en-US" altLang="zh-CN" dirty="0"/>
              <a:t>Selection/Interval Scheduling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385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A4FF8E-D003-7B41-B3BB-167430619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number</a:t>
            </a:r>
            <a:r>
              <a:rPr lang="zh-CN" altLang="en-US" dirty="0"/>
              <a:t> </a:t>
            </a:r>
            <a:r>
              <a:rPr lang="en-US" altLang="zh-CN" dirty="0"/>
              <a:t>ideas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used.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770063-8023-DF4E-8F21-508BA6DD3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Earliest Activity First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Repeatedly select the activity </a:t>
            </a:r>
            <a:r>
              <a:rPr lang="en-US" altLang="zh-CN" dirty="0">
                <a:solidFill>
                  <a:srgbClr val="00B050"/>
                </a:solidFill>
              </a:rPr>
              <a:t>with the earliest start time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conflicting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early</a:t>
            </a:r>
            <a:r>
              <a:rPr lang="zh-CN" altLang="en-US" dirty="0"/>
              <a:t> </a:t>
            </a:r>
            <a:r>
              <a:rPr lang="en-US" altLang="zh-CN" dirty="0"/>
              <a:t>scheduled</a:t>
            </a:r>
            <a:r>
              <a:rPr lang="zh-CN" altLang="en-US" dirty="0"/>
              <a:t> </a:t>
            </a:r>
            <a:r>
              <a:rPr lang="en-US" altLang="zh-CN" dirty="0"/>
              <a:t>activities.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b="1" dirty="0"/>
              <a:t>Shortest Activity First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Repeatedly select the activity </a:t>
            </a:r>
            <a:r>
              <a:rPr lang="en-US" altLang="zh-CN" dirty="0">
                <a:solidFill>
                  <a:srgbClr val="00B050"/>
                </a:solidFill>
              </a:rPr>
              <a:t>with the smallest duration (f</a:t>
            </a:r>
            <a:r>
              <a:rPr lang="en-US" altLang="zh-CN" baseline="-25000" dirty="0">
                <a:solidFill>
                  <a:srgbClr val="00B050"/>
                </a:solidFill>
              </a:rPr>
              <a:t>i</a:t>
            </a:r>
            <a:r>
              <a:rPr lang="en-US" altLang="zh-CN" dirty="0">
                <a:solidFill>
                  <a:srgbClr val="00B050"/>
                </a:solidFill>
              </a:rPr>
              <a:t> −</a:t>
            </a:r>
            <a:r>
              <a:rPr lang="en-US" altLang="zh-CN" dirty="0" err="1">
                <a:solidFill>
                  <a:srgbClr val="00B050"/>
                </a:solidFill>
              </a:rPr>
              <a:t>s</a:t>
            </a:r>
            <a:r>
              <a:rPr lang="en-US" altLang="zh-CN" baseline="-25000" dirty="0" err="1">
                <a:solidFill>
                  <a:srgbClr val="00B050"/>
                </a:solidFill>
              </a:rPr>
              <a:t>i</a:t>
            </a:r>
            <a:r>
              <a:rPr lang="en-US" altLang="zh-CN" dirty="0">
                <a:solidFill>
                  <a:srgbClr val="00B050"/>
                </a:solidFill>
              </a:rPr>
              <a:t>),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conflicting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early</a:t>
            </a:r>
            <a:r>
              <a:rPr lang="zh-CN" altLang="en-US" dirty="0"/>
              <a:t> </a:t>
            </a:r>
            <a:r>
              <a:rPr lang="en-US" altLang="zh-CN" dirty="0"/>
              <a:t>scheduled</a:t>
            </a:r>
            <a:r>
              <a:rPr lang="zh-CN" altLang="en-US" dirty="0"/>
              <a:t> </a:t>
            </a:r>
            <a:r>
              <a:rPr lang="en-US" altLang="zh-CN" dirty="0"/>
              <a:t>activities.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b="1" dirty="0"/>
              <a:t>Lowest Conflict Activity First:</a:t>
            </a:r>
            <a:r>
              <a:rPr lang="zh-CN" altLang="en-US" b="1" dirty="0"/>
              <a:t> </a:t>
            </a:r>
            <a:r>
              <a:rPr lang="en-US" altLang="zh-CN" dirty="0"/>
              <a:t>Repeatedly select the activity that conflicts </a:t>
            </a:r>
            <a:r>
              <a:rPr lang="en-US" altLang="zh-CN" dirty="0">
                <a:solidFill>
                  <a:srgbClr val="00B050"/>
                </a:solidFill>
              </a:rPr>
              <a:t>with the smallest number of remaining activities.</a:t>
            </a:r>
            <a:r>
              <a:rPr lang="zh-CN" altLang="en-US" dirty="0">
                <a:solidFill>
                  <a:srgbClr val="00B050"/>
                </a:solidFill>
              </a:rPr>
              <a:t>  </a:t>
            </a:r>
            <a:endParaRPr lang="en-US" altLang="zh-CN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B8C598-74E6-4545-B451-F2138061B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8</a:t>
            </a:fld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A4DB7A-19FE-EB4A-B424-1C2CA13EF440}"/>
              </a:ext>
            </a:extLst>
          </p:cNvPr>
          <p:cNvSpPr txBox="1"/>
          <p:nvPr/>
        </p:nvSpPr>
        <p:spPr>
          <a:xfrm>
            <a:off x="628650" y="5711734"/>
            <a:ext cx="83508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Show (by producing a counterexample) that each of the above strategies may not generate an optimal solution.</a:t>
            </a:r>
          </a:p>
        </p:txBody>
      </p:sp>
    </p:spTree>
    <p:extLst>
      <p:ext uri="{BB962C8B-B14F-4D97-AF65-F5344CB8AC3E}">
        <p14:creationId xmlns:p14="http://schemas.microsoft.com/office/powerpoint/2010/main" val="99715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16F9C0-0341-DE4B-9DC3-88C1D792B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075512" cy="1325563"/>
          </a:xfrm>
        </p:spPr>
        <p:txBody>
          <a:bodyPr/>
          <a:lstStyle/>
          <a:p>
            <a:r>
              <a:rPr lang="en-US" dirty="0" err="1"/>
              <a:t>什么样的贪心算法能给出最优解</a:t>
            </a:r>
            <a:r>
              <a:rPr lang="zh-CN" altLang="en-US" dirty="0"/>
              <a:t>？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D7C88C-584A-A94E-96ED-7D89CCDB3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u="none" strike="noStrike" dirty="0">
                <a:solidFill>
                  <a:srgbClr val="4D4D4D"/>
                </a:solidFill>
                <a:effectLst/>
                <a:latin typeface="-apple-system"/>
              </a:rPr>
              <a:t>贪心策略适用的前提是：</a:t>
            </a:r>
            <a:r>
              <a:rPr lang="zh-CN" altLang="en-US" b="0" i="0" u="none" strike="noStrike" dirty="0">
                <a:solidFill>
                  <a:srgbClr val="00B050"/>
                </a:solidFill>
                <a:effectLst/>
                <a:latin typeface="-apple-system"/>
              </a:rPr>
              <a:t>局部最优策略能导致产生全局最优解。</a:t>
            </a:r>
            <a:endParaRPr lang="en-US" altLang="zh-CN" b="0" i="0" u="none" strike="noStrike" dirty="0">
              <a:solidFill>
                <a:srgbClr val="00B050"/>
              </a:solidFill>
              <a:effectLst/>
              <a:latin typeface="-apple-system"/>
            </a:endParaRPr>
          </a:p>
          <a:p>
            <a:r>
              <a:rPr lang="zh-CN" altLang="en-US" b="0" i="0" u="none" strike="noStrike" dirty="0">
                <a:solidFill>
                  <a:srgbClr val="1B2733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贪心算法以迭代的方式作出相继的贪心选择，每作一次贪心选择</a:t>
            </a:r>
            <a:r>
              <a:rPr lang="zh-CN" altLang="en-US" b="0" i="0" u="none" strike="noStrike" dirty="0">
                <a:solidFill>
                  <a:srgbClr val="00B05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就将所求问题简化为规模更小的子问题</a:t>
            </a:r>
            <a:r>
              <a:rPr lang="zh-CN" altLang="en-US" b="0" i="0" u="none" strike="noStrike" dirty="0">
                <a:solidFill>
                  <a:srgbClr val="1B2733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endParaRPr lang="en-US" altLang="zh-CN" b="0" i="0" u="none" strike="noStrike" dirty="0">
              <a:solidFill>
                <a:srgbClr val="1B2733"/>
              </a:solidFill>
              <a:effectLst/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b="0" i="0" u="none" strike="noStrike" dirty="0">
                <a:solidFill>
                  <a:srgbClr val="1B2733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对于一个具体问题，要确定它是否具有贪心选择性质，必须证明每一步所作的贪心选择最终形成整体最优解。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88C844-7E6E-AA4F-A26A-DDE832CD0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952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C6B08-0BE1-7440-B040-5EDDF97D8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什么样的贪心算法能给出最优解</a:t>
            </a:r>
            <a:r>
              <a:rPr lang="zh-CN" altLang="en-US" dirty="0"/>
              <a:t>？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44D983-558A-B74A-8F04-5AB83256F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没有通用的方法可以确定贪婪算法是否是最优的，但是如下两个规则可以用于分析贪心算法的最优性：</a:t>
            </a:r>
            <a:endParaRPr lang="en-US" altLang="zh-CN" b="0" i="0" u="none" strike="noStrike" dirty="0">
              <a:solidFill>
                <a:srgbClr val="0D0D0D"/>
              </a:solidFill>
              <a:effectLst/>
              <a:latin typeface="Söhne"/>
            </a:endParaRPr>
          </a:p>
          <a:p>
            <a:pPr marL="457200" indent="-457200">
              <a:buAutoNum type="arabicPeriod"/>
            </a:pPr>
            <a:r>
              <a:rPr lang="zh-CN" altLang="zh-CN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贪心选择性质（</a:t>
            </a:r>
            <a:r>
              <a:rPr lang="en-US" altLang="zh-CN" dirty="0">
                <a:solidFill>
                  <a:srgbClr val="00B050"/>
                </a:solidFill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Greedy Choice Property</a:t>
            </a:r>
            <a:r>
              <a:rPr lang="zh-CN" altLang="zh-CN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）：在每一步选择中，都能够选择一个局部最优解，而这个选择不会对剩余的问题产生负面影响。</a:t>
            </a:r>
            <a:r>
              <a:rPr lang="zh-CN" altLang="zh-CN" sz="4000" dirty="0">
                <a:effectLst/>
              </a:rPr>
              <a:t> </a:t>
            </a:r>
            <a:endParaRPr lang="en-US" altLang="zh-CN" sz="4000" dirty="0">
              <a:effectLst/>
            </a:endParaRPr>
          </a:p>
          <a:p>
            <a:pPr marL="457200" indent="-457200">
              <a:buAutoNum type="arabicPeriod" startAt="2"/>
            </a:pPr>
            <a:r>
              <a:rPr lang="zh-CN" altLang="zh-CN" dirty="0">
                <a:ea typeface="DengXian" panose="02010600030101010101" pitchFamily="2" charset="-122"/>
                <a:cs typeface="Times New Roman" panose="02020603050405020304" pitchFamily="18" charset="0"/>
              </a:rPr>
              <a:t>最优子结构性质（</a:t>
            </a:r>
            <a:r>
              <a:rPr lang="en-US" altLang="zh-CN" dirty="0">
                <a:solidFill>
                  <a:srgbClr val="00B050"/>
                </a:solidFill>
                <a:ea typeface="DengXian" panose="02010600030101010101" pitchFamily="2" charset="-122"/>
                <a:cs typeface="Times New Roman" panose="02020603050405020304" pitchFamily="18" charset="0"/>
              </a:rPr>
              <a:t>Optimal Substructure Property</a:t>
            </a:r>
            <a:r>
              <a:rPr lang="zh-CN" altLang="zh-CN" dirty="0">
                <a:ea typeface="DengXian" panose="02010600030101010101" pitchFamily="2" charset="-122"/>
                <a:cs typeface="Times New Roman" panose="02020603050405020304" pitchFamily="18" charset="0"/>
              </a:rPr>
              <a:t>）：通过解决子问题的最优解，可以构建出原问题的最优解。 </a:t>
            </a:r>
            <a:endParaRPr lang="en-US" altLang="zh-CN" dirty="0"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9B89AB-8E34-7A4B-9414-6BF790601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01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B8F4EC-E979-1846-A838-5D97E35B27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35261"/>
                <a:ext cx="7886700" cy="4741702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3200" dirty="0">
                    <a:effectLst/>
                    <a:latin typeface="Calibri" panose="020F0502020204030204" pitchFamily="34" charset="0"/>
                  </a:rPr>
                  <a:t>令</a:t>
                </a:r>
                <a:r>
                  <a:rPr lang="en-US" altLang="zh-CN" sz="3200" dirty="0">
                    <a:effectLst/>
                    <a:latin typeface="Calibri" panose="020F0502020204030204" pitchFamily="34" charset="0"/>
                  </a:rPr>
                  <a:t> </a:t>
                </a:r>
                <a:r>
                  <a:rPr lang="en-US" altLang="zh-CN" sz="3200" i="1" dirty="0" err="1">
                    <a:effectLst/>
                    <a:latin typeface="Calibri" panose="020F0502020204030204" pitchFamily="34" charset="0"/>
                  </a:rPr>
                  <a:t>S</a:t>
                </a:r>
                <a:r>
                  <a:rPr lang="en-US" altLang="zh-CN" sz="3200" baseline="-25000" dirty="0" err="1">
                    <a:effectLst/>
                    <a:latin typeface="Calibri" panose="020F0502020204030204" pitchFamily="34" charset="0"/>
                  </a:rPr>
                  <a:t>ij</a:t>
                </a:r>
                <a:r>
                  <a:rPr lang="en-US" altLang="zh-CN" sz="3200" dirty="0">
                    <a:effectLst/>
                    <a:latin typeface="Calibri" panose="020F0502020204030204" pitchFamily="34" charset="0"/>
                  </a:rPr>
                  <a:t> </a:t>
                </a:r>
                <a:r>
                  <a:rPr lang="zh-CN" altLang="en-US" sz="3200" dirty="0">
                    <a:effectLst/>
                    <a:latin typeface="Calibri" panose="020F0502020204030204" pitchFamily="34" charset="0"/>
                  </a:rPr>
                  <a:t>表示 </a:t>
                </a:r>
                <a:r>
                  <a:rPr lang="en-US" altLang="zh-CN" sz="3200" i="1" dirty="0">
                    <a:effectLst/>
                    <a:latin typeface="Calibri" panose="020F0502020204030204" pitchFamily="34" charset="0"/>
                  </a:rPr>
                  <a:t>S </a:t>
                </a:r>
                <a:r>
                  <a:rPr lang="zh-CN" altLang="en-US" sz="3200" dirty="0">
                    <a:effectLst/>
                    <a:latin typeface="Calibri" panose="020F0502020204030204" pitchFamily="34" charset="0"/>
                  </a:rPr>
                  <a:t>中的在</a:t>
                </a:r>
                <a:r>
                  <a:rPr lang="en-US" altLang="zh-CN" sz="3200" i="1" dirty="0">
                    <a:effectLst/>
                    <a:latin typeface="Calibri" panose="020F0502020204030204" pitchFamily="34" charset="0"/>
                  </a:rPr>
                  <a:t>a</a:t>
                </a:r>
                <a:r>
                  <a:rPr lang="en-US" altLang="zh-CN" sz="3200" i="1" baseline="-25000" dirty="0">
                    <a:effectLst/>
                    <a:latin typeface="Calibri" panose="020F0502020204030204" pitchFamily="34" charset="0"/>
                  </a:rPr>
                  <a:t>i</a:t>
                </a:r>
                <a:r>
                  <a:rPr lang="en-US" altLang="zh-CN" sz="3200" dirty="0">
                    <a:effectLst/>
                    <a:latin typeface="Calibri" panose="020F0502020204030204" pitchFamily="34" charset="0"/>
                  </a:rPr>
                  <a:t> </a:t>
                </a:r>
                <a:r>
                  <a:rPr lang="zh-CN" altLang="en-US" sz="3200" dirty="0">
                    <a:effectLst/>
                    <a:latin typeface="Calibri" panose="020F0502020204030204" pitchFamily="34" charset="0"/>
                  </a:rPr>
                  <a:t>完成之后开始，在</a:t>
                </a:r>
                <a:r>
                  <a:rPr lang="en-US" altLang="zh-CN" sz="3200" dirty="0">
                    <a:effectLst/>
                    <a:latin typeface="Calibri" panose="020F0502020204030204" pitchFamily="34" charset="0"/>
                  </a:rPr>
                  <a:t> </a:t>
                </a:r>
                <a:r>
                  <a:rPr lang="en-US" altLang="zh-CN" sz="3200" i="1" dirty="0" err="1">
                    <a:effectLst/>
                    <a:latin typeface="Calibri" panose="020F0502020204030204" pitchFamily="34" charset="0"/>
                  </a:rPr>
                  <a:t>a</a:t>
                </a:r>
                <a:r>
                  <a:rPr lang="en-US" altLang="zh-CN" sz="3200" i="1" baseline="-25000" dirty="0" err="1">
                    <a:effectLst/>
                    <a:latin typeface="Calibri" panose="020F0502020204030204" pitchFamily="34" charset="0"/>
                  </a:rPr>
                  <a:t>j</a:t>
                </a:r>
                <a:r>
                  <a:rPr lang="en-US" altLang="zh-CN" sz="3200" dirty="0">
                    <a:effectLst/>
                    <a:latin typeface="Calibri" panose="020F0502020204030204" pitchFamily="34" charset="0"/>
                  </a:rPr>
                  <a:t> </a:t>
                </a:r>
                <a:r>
                  <a:rPr lang="zh-CN" altLang="en-US" sz="3200" dirty="0">
                    <a:effectLst/>
                    <a:latin typeface="Calibri" panose="020F0502020204030204" pitchFamily="34" charset="0"/>
                  </a:rPr>
                  <a:t>开始之前完成的活动集合。</a:t>
                </a:r>
                <a:endParaRPr lang="en-US" altLang="zh-CN" sz="3200" dirty="0">
                  <a:effectLst/>
                  <a:latin typeface="Calibri" panose="020F0502020204030204" pitchFamily="34" charset="0"/>
                </a:endParaRPr>
              </a:p>
              <a:p>
                <a:endParaRPr lang="en-US" altLang="zh-CN" sz="1200" dirty="0">
                  <a:effectLst/>
                  <a:latin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"/>
                          <m:endChr m:val="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lit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: ∀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m:rPr>
                          <m:lit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4000" dirty="0">
                  <a:effectLst/>
                </a:endParaRPr>
              </a:p>
              <a:p>
                <a:endParaRPr lang="en-US" sz="2400" dirty="0"/>
              </a:p>
              <a:p>
                <a:r>
                  <a:rPr lang="en-US" sz="2400" dirty="0" err="1"/>
                  <a:t>假如</a:t>
                </a:r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 sz="2400" dirty="0"/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zh-CN" altLang="en-US" sz="2400" i="1">
                        <a:latin typeface="Cambria Math" panose="02040503050406030204" pitchFamily="18" charset="0"/>
                      </a:rPr>
                      <m:t>这个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子问题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最优解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即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dirty="0"/>
                  <a:t>中最大不冲突活动集合</a:t>
                </a:r>
                <a:r>
                  <a:rPr lang="zh-CN" altLang="en-US" sz="2400" dirty="0"/>
                  <a:t>，则：</a:t>
                </a:r>
                <a:endParaRPr lang="en-US" altLang="zh-CN" sz="2400" dirty="0"/>
              </a:p>
              <a:p>
                <a:r>
                  <a:rPr lang="en-US" sz="2400" dirty="0"/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zh-CN" altLang="en-US" sz="2400" b="0" i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即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最优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选择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中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包含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400" dirty="0"/>
                  <a:t>，则：</a:t>
                </a:r>
                <a:endParaRPr lang="en-US" altLang="zh-CN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B8F4EC-E979-1846-A838-5D97E35B27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35261"/>
                <a:ext cx="7886700" cy="4741702"/>
              </a:xfrm>
              <a:blipFill>
                <a:blip r:embed="rId2"/>
                <a:stretch>
                  <a:fillRect l="-1768" t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F01ADF-8C5F-174B-88A2-F8EB0CB7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E6CCA3-BDEB-3647-8907-0F41630A8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9074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活动选择的问题结构</a:t>
            </a:r>
            <a:br>
              <a:rPr lang="en-US" dirty="0"/>
            </a:b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1CA6B0B-2AAA-8146-957F-9A213B1112F7}"/>
                  </a:ext>
                </a:extLst>
              </p:cNvPr>
              <p:cNvSpPr txBox="1"/>
              <p:nvPr/>
            </p:nvSpPr>
            <p:spPr>
              <a:xfrm>
                <a:off x="2633414" y="5156736"/>
                <a:ext cx="3672416" cy="5320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∪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1CA6B0B-2AAA-8146-957F-9A213B111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414" y="5156736"/>
                <a:ext cx="3672416" cy="532005"/>
              </a:xfrm>
              <a:prstGeom prst="rect">
                <a:avLst/>
              </a:prstGeom>
              <a:blipFill>
                <a:blip r:embed="rId3"/>
                <a:stretch>
                  <a:fillRect l="-2414" r="-1724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7557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F305C9-4F9C-804A-AB4E-EE8EBCF78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递归表达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642BA0-3CA6-7042-9A27-D989A25BCE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 err="1"/>
                  <a:t>子问题</a:t>
                </a:r>
                <a:r>
                  <a:rPr lang="zh-CN" altLang="en-US" dirty="0"/>
                  <a:t>：从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err="1"/>
                  <a:t>中选出最多的不冲突事件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zh-CN" altLang="en-US" dirty="0"/>
                  <a:t>用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CN" dirty="0"/>
                  <a:t>[</a:t>
                </a:r>
                <a:r>
                  <a:rPr lang="en-US" altLang="zh-CN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zh-CN" dirty="0"/>
                  <a:t>]</a:t>
                </a:r>
                <a:r>
                  <a:rPr lang="zh-CN" altLang="en-US" dirty="0"/>
                  <a:t>表示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CN" dirty="0" err="1"/>
                  <a:t>中选出</a:t>
                </a:r>
                <a:r>
                  <a:rPr lang="zh-CN" altLang="en-US" dirty="0"/>
                  <a:t>的</a:t>
                </a:r>
                <a:r>
                  <a:rPr lang="en-US" altLang="zh-CN" dirty="0" err="1"/>
                  <a:t>最多的不冲突事件</a:t>
                </a:r>
                <a:r>
                  <a:rPr lang="zh-CN" altLang="en-US" dirty="0"/>
                  <a:t>的数量。</a:t>
                </a:r>
                <a:endParaRPr lang="en-US" altLang="zh-CN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zh-CN" altLang="en-US" dirty="0"/>
                  <a:t>需要遍历</a:t>
                </a:r>
                <a:r>
                  <a:rPr lang="en-US" altLang="zh-CN" i="1" dirty="0"/>
                  <a:t>k</a:t>
                </a:r>
                <a:r>
                  <a:rPr lang="zh-CN" altLang="en-US" dirty="0"/>
                  <a:t>，才能找出</a:t>
                </a:r>
                <a:r>
                  <a:rPr lang="en-US" altLang="zh-CN" dirty="0"/>
                  <a:t>c[</a:t>
                </a:r>
                <a:r>
                  <a:rPr lang="en-US" altLang="zh-CN" dirty="0" err="1"/>
                  <a:t>i,j</a:t>
                </a:r>
                <a:r>
                  <a:rPr lang="en-US" altLang="zh-CN" dirty="0"/>
                  <a:t>]</a:t>
                </a:r>
                <a:r>
                  <a:rPr lang="zh-CN" altLang="en-US" dirty="0"/>
                  <a:t>的最优值。</a:t>
                </a:r>
                <a:endParaRPr lang="en-US" altLang="zh-CN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642BA0-3CA6-7042-9A27-D989A25BCE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6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B68475-AA08-104D-8199-6191931E7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12</a:t>
            </a:fld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3627D71-02FA-4949-A9EB-5F732FEAD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325" y="3026667"/>
            <a:ext cx="6570608" cy="199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860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D2CEE-1C64-1A46-909A-FDFC0E53D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98" y="140466"/>
            <a:ext cx="7886700" cy="1325563"/>
          </a:xfrm>
        </p:spPr>
        <p:txBody>
          <a:bodyPr/>
          <a:lstStyle/>
          <a:p>
            <a:r>
              <a:rPr lang="en-US" dirty="0" err="1"/>
              <a:t>递归表达的复杂度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2E9E17-0001-0445-ABBC-D2C8F7988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13</a:t>
            </a:fld>
            <a:endParaRPr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B1AE58-592C-454F-B9C1-1E4B207CAA46}"/>
              </a:ext>
            </a:extLst>
          </p:cNvPr>
          <p:cNvSpPr/>
          <p:nvPr/>
        </p:nvSpPr>
        <p:spPr>
          <a:xfrm>
            <a:off x="2893671" y="1551793"/>
            <a:ext cx="2708476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</a:t>
            </a:r>
            <a:r>
              <a:rPr lang="zh-CN" altLang="en-US" dirty="0"/>
              <a:t>个事件</a:t>
            </a:r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705ADE-CD85-5D41-8E9B-418FFC741597}"/>
              </a:ext>
            </a:extLst>
          </p:cNvPr>
          <p:cNvSpPr/>
          <p:nvPr/>
        </p:nvSpPr>
        <p:spPr>
          <a:xfrm>
            <a:off x="466604" y="2449093"/>
            <a:ext cx="679289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r>
              <a:rPr lang="zh-CN" altLang="en-US" dirty="0"/>
              <a:t>个</a:t>
            </a:r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FC52DF-575D-FB48-80D9-58E7DDD48D7A}"/>
              </a:ext>
            </a:extLst>
          </p:cNvPr>
          <p:cNvSpPr/>
          <p:nvPr/>
        </p:nvSpPr>
        <p:spPr>
          <a:xfrm>
            <a:off x="1278761" y="2449093"/>
            <a:ext cx="1313968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n-1</a:t>
            </a:r>
            <a:r>
              <a:rPr lang="zh-CN" altLang="en-US" dirty="0"/>
              <a:t>个事件</a:t>
            </a:r>
            <a:endParaRPr lang="en-US" dirty="0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71F13A6E-BFE7-C641-A52A-57686346F969}"/>
              </a:ext>
            </a:extLst>
          </p:cNvPr>
          <p:cNvCxnSpPr/>
          <p:nvPr/>
        </p:nvCxnSpPr>
        <p:spPr>
          <a:xfrm flipH="1">
            <a:off x="1794076" y="2026355"/>
            <a:ext cx="2303362" cy="422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6FB12D25-1BF4-984E-93B1-EAC0BEBC2961}"/>
              </a:ext>
            </a:extLst>
          </p:cNvPr>
          <p:cNvSpPr/>
          <p:nvPr/>
        </p:nvSpPr>
        <p:spPr>
          <a:xfrm>
            <a:off x="2920439" y="2449093"/>
            <a:ext cx="528817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r>
              <a:rPr lang="zh-CN" altLang="en-US" dirty="0"/>
              <a:t>个</a:t>
            </a:r>
            <a:endParaRPr 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4D1CCA-541C-124F-AFCF-12E72B368B29}"/>
              </a:ext>
            </a:extLst>
          </p:cNvPr>
          <p:cNvSpPr/>
          <p:nvPr/>
        </p:nvSpPr>
        <p:spPr>
          <a:xfrm>
            <a:off x="3972890" y="2449093"/>
            <a:ext cx="1198219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n-2</a:t>
            </a:r>
            <a:r>
              <a:rPr lang="zh-CN" altLang="en-US" dirty="0"/>
              <a:t>个事件</a:t>
            </a:r>
            <a:endParaRPr 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9AEB16-8D15-D943-B94E-1D6E312AAFDA}"/>
              </a:ext>
            </a:extLst>
          </p:cNvPr>
          <p:cNvSpPr/>
          <p:nvPr/>
        </p:nvSpPr>
        <p:spPr>
          <a:xfrm>
            <a:off x="3457274" y="2449093"/>
            <a:ext cx="528817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r>
              <a:rPr lang="zh-CN" altLang="en-US" dirty="0"/>
              <a:t>个</a:t>
            </a:r>
            <a:endParaRPr lang="en-US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826C73DD-9480-7446-B853-A77705791814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4097438" y="2026355"/>
            <a:ext cx="150471" cy="422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170CF5F6-3D51-8940-BFCB-593387D31190}"/>
              </a:ext>
            </a:extLst>
          </p:cNvPr>
          <p:cNvSpPr/>
          <p:nvPr/>
        </p:nvSpPr>
        <p:spPr>
          <a:xfrm>
            <a:off x="5402602" y="2449093"/>
            <a:ext cx="528817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r>
              <a:rPr lang="zh-CN" altLang="en-US" dirty="0"/>
              <a:t>个</a:t>
            </a:r>
            <a:endParaRPr 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9B400FB-63B8-FC4C-BFD8-9A9DAD6A01D2}"/>
              </a:ext>
            </a:extLst>
          </p:cNvPr>
          <p:cNvSpPr/>
          <p:nvPr/>
        </p:nvSpPr>
        <p:spPr>
          <a:xfrm>
            <a:off x="6455053" y="2449093"/>
            <a:ext cx="1198219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n-3</a:t>
            </a:r>
            <a:r>
              <a:rPr lang="zh-CN" altLang="en-US" dirty="0"/>
              <a:t>个事件</a:t>
            </a:r>
            <a:endParaRPr 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1D87BF2-DEE6-884F-8880-C775436698F6}"/>
              </a:ext>
            </a:extLst>
          </p:cNvPr>
          <p:cNvSpPr/>
          <p:nvPr/>
        </p:nvSpPr>
        <p:spPr>
          <a:xfrm>
            <a:off x="5939437" y="2449093"/>
            <a:ext cx="528817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r>
              <a:rPr lang="zh-CN" altLang="en-US" dirty="0"/>
              <a:t>个</a:t>
            </a:r>
            <a:endParaRPr lang="en-US" dirty="0"/>
          </a:p>
        </p:txBody>
      </p: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48620E91-199B-0F49-A39D-A48FBBFE659D}"/>
              </a:ext>
            </a:extLst>
          </p:cNvPr>
          <p:cNvCxnSpPr/>
          <p:nvPr/>
        </p:nvCxnSpPr>
        <p:spPr>
          <a:xfrm>
            <a:off x="7986532" y="2685327"/>
            <a:ext cx="787078" cy="0"/>
          </a:xfrm>
          <a:prstGeom prst="line">
            <a:avLst/>
          </a:prstGeom>
          <a:ln w="762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6730491B-0953-9847-BF01-C342617DC4AC}"/>
              </a:ext>
            </a:extLst>
          </p:cNvPr>
          <p:cNvSpPr/>
          <p:nvPr/>
        </p:nvSpPr>
        <p:spPr>
          <a:xfrm>
            <a:off x="-179649" y="3429000"/>
            <a:ext cx="679289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r>
              <a:rPr lang="zh-CN" altLang="en-US" dirty="0"/>
              <a:t>个</a:t>
            </a:r>
            <a:endParaRPr 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4229F7E-A2B8-4040-84C9-316C5D9EFDFC}"/>
              </a:ext>
            </a:extLst>
          </p:cNvPr>
          <p:cNvSpPr/>
          <p:nvPr/>
        </p:nvSpPr>
        <p:spPr>
          <a:xfrm>
            <a:off x="496174" y="3429000"/>
            <a:ext cx="1313968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n-2</a:t>
            </a:r>
            <a:r>
              <a:rPr lang="zh-CN" altLang="en-US" dirty="0"/>
              <a:t>个事件</a:t>
            </a:r>
            <a:endParaRPr 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D51E3F2-DDE0-7743-BC8F-FCA2ED590891}"/>
              </a:ext>
            </a:extLst>
          </p:cNvPr>
          <p:cNvSpPr/>
          <p:nvPr/>
        </p:nvSpPr>
        <p:spPr>
          <a:xfrm>
            <a:off x="2274186" y="3429000"/>
            <a:ext cx="528817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r>
              <a:rPr lang="zh-CN" altLang="en-US" dirty="0"/>
              <a:t>个</a:t>
            </a:r>
            <a:endParaRPr 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DB133B7-7F08-2D43-B545-7B8A8490D218}"/>
              </a:ext>
            </a:extLst>
          </p:cNvPr>
          <p:cNvSpPr/>
          <p:nvPr/>
        </p:nvSpPr>
        <p:spPr>
          <a:xfrm>
            <a:off x="3326637" y="3429000"/>
            <a:ext cx="1198219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n-3</a:t>
            </a:r>
            <a:r>
              <a:rPr lang="zh-CN" altLang="en-US" dirty="0"/>
              <a:t>个事件</a:t>
            </a:r>
            <a:endParaRPr 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4FBFF00-0C8D-7841-B6F1-B15078DB11EC}"/>
              </a:ext>
            </a:extLst>
          </p:cNvPr>
          <p:cNvSpPr/>
          <p:nvPr/>
        </p:nvSpPr>
        <p:spPr>
          <a:xfrm>
            <a:off x="2811021" y="3429000"/>
            <a:ext cx="528817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r>
              <a:rPr lang="zh-CN" altLang="en-US" dirty="0"/>
              <a:t>个</a:t>
            </a:r>
            <a:endParaRPr 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B68A33B-7DEA-8944-AC3E-732375A633DD}"/>
              </a:ext>
            </a:extLst>
          </p:cNvPr>
          <p:cNvSpPr/>
          <p:nvPr/>
        </p:nvSpPr>
        <p:spPr>
          <a:xfrm>
            <a:off x="4756349" y="3429000"/>
            <a:ext cx="528817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r>
              <a:rPr lang="zh-CN" altLang="en-US" dirty="0"/>
              <a:t>个</a:t>
            </a:r>
            <a:endParaRPr 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F943198-2CF5-E34F-A7A2-4FB768A1D0F2}"/>
              </a:ext>
            </a:extLst>
          </p:cNvPr>
          <p:cNvSpPr/>
          <p:nvPr/>
        </p:nvSpPr>
        <p:spPr>
          <a:xfrm>
            <a:off x="5808800" y="3429000"/>
            <a:ext cx="1198219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n-4</a:t>
            </a:r>
            <a:r>
              <a:rPr lang="zh-CN" altLang="en-US" dirty="0"/>
              <a:t>个事件</a:t>
            </a:r>
            <a:endParaRPr 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4736B95-6D58-9144-B3DA-FC3E09919D43}"/>
              </a:ext>
            </a:extLst>
          </p:cNvPr>
          <p:cNvSpPr/>
          <p:nvPr/>
        </p:nvSpPr>
        <p:spPr>
          <a:xfrm>
            <a:off x="5293184" y="3429000"/>
            <a:ext cx="528817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r>
              <a:rPr lang="zh-CN" altLang="en-US" dirty="0"/>
              <a:t>个</a:t>
            </a:r>
            <a:endParaRPr lang="en-US" dirty="0"/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61976B87-131C-284A-A699-7D9A2AC764FE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flipH="1">
            <a:off x="159996" y="2923655"/>
            <a:ext cx="1775749" cy="505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4A01E9E8-E75F-3E4E-84A1-BE53798D5F9B}"/>
              </a:ext>
            </a:extLst>
          </p:cNvPr>
          <p:cNvCxnSpPr>
            <a:cxnSpLocks/>
            <a:stCxn id="7" idx="2"/>
            <a:endCxn id="28" idx="0"/>
          </p:cNvCxnSpPr>
          <p:nvPr/>
        </p:nvCxnSpPr>
        <p:spPr>
          <a:xfrm>
            <a:off x="1935745" y="2923655"/>
            <a:ext cx="3621848" cy="505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777F5810-1C79-F549-9828-6D2210556159}"/>
              </a:ext>
            </a:extLst>
          </p:cNvPr>
          <p:cNvCxnSpPr>
            <a:cxnSpLocks/>
            <a:stCxn id="7" idx="2"/>
            <a:endCxn id="25" idx="0"/>
          </p:cNvCxnSpPr>
          <p:nvPr/>
        </p:nvCxnSpPr>
        <p:spPr>
          <a:xfrm>
            <a:off x="1935745" y="2923655"/>
            <a:ext cx="1139685" cy="505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68D41FE5-5350-154D-9079-333B6F285D0F}"/>
              </a:ext>
            </a:extLst>
          </p:cNvPr>
          <p:cNvCxnSpPr/>
          <p:nvPr/>
        </p:nvCxnSpPr>
        <p:spPr>
          <a:xfrm>
            <a:off x="7164488" y="3666281"/>
            <a:ext cx="787078" cy="0"/>
          </a:xfrm>
          <a:prstGeom prst="line">
            <a:avLst/>
          </a:prstGeom>
          <a:ln w="762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E11E14DB-B660-DE4B-A822-8DB496C55916}"/>
              </a:ext>
            </a:extLst>
          </p:cNvPr>
          <p:cNvSpPr txBox="1"/>
          <p:nvPr/>
        </p:nvSpPr>
        <p:spPr>
          <a:xfrm>
            <a:off x="2577068" y="4549651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会产生指数数量的递归调用</a:t>
            </a:r>
            <a:endParaRPr lang="en-US" sz="2400" dirty="0"/>
          </a:p>
        </p:txBody>
      </p:sp>
      <p:pic>
        <p:nvPicPr>
          <p:cNvPr id="1026" name="Picture 2" descr="头疼卡通素材_头疼卡通图片元素-觅元素">
            <a:extLst>
              <a:ext uri="{FF2B5EF4-FFF2-40B4-BE49-F238E27FC236}">
                <a16:creationId xmlns:a16="http://schemas.microsoft.com/office/drawing/2014/main" id="{4EB292E3-DFA8-3D48-83DC-09C9091CE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94" b="93299" l="10000" r="91154">
                        <a14:foregroundMark x1="49615" y1="10309" x2="68846" y2="9794"/>
                        <a14:foregroundMark x1="68846" y1="9794" x2="64615" y2="11340"/>
                        <a14:foregroundMark x1="88077" y1="41237" x2="91538" y2="43814"/>
                        <a14:foregroundMark x1="48462" y1="90722" x2="67308" y2="93299"/>
                        <a14:foregroundMark x1="67308" y1="93299" x2="66923" y2="92784"/>
                        <a14:foregroundMark x1="71538" y1="92268" x2="74615" y2="876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696" y="4428383"/>
            <a:ext cx="2309352" cy="173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4155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302" y="455978"/>
            <a:ext cx="8558032" cy="1325563"/>
          </a:xfrm>
        </p:spPr>
        <p:txBody>
          <a:bodyPr>
            <a:normAutofit/>
          </a:bodyPr>
          <a:lstStyle/>
          <a:p>
            <a:r>
              <a:rPr lang="en-US" dirty="0" err="1"/>
              <a:t>活动选择问题的最优子结构</a:t>
            </a:r>
            <a:br>
              <a:rPr lang="en-US" dirty="0"/>
            </a:br>
            <a:endParaRPr 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585968" y="1348853"/>
            <a:ext cx="82223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endParaRPr lang="en-US" sz="2400" dirty="0"/>
          </a:p>
          <a:p>
            <a:pPr marL="285750" indent="-285750">
              <a:buFont typeface="Arial" charset="0"/>
              <a:buChar char="•"/>
            </a:pPr>
            <a:r>
              <a:rPr lang="en-US" sz="2400" dirty="0" err="1"/>
              <a:t>活动选择问题有一个自然的最优子结构</a:t>
            </a:r>
            <a:r>
              <a:rPr lang="en-US" sz="2400" dirty="0"/>
              <a:t>:</a:t>
            </a:r>
          </a:p>
          <a:p>
            <a:pPr algn="ctr"/>
            <a:r>
              <a:rPr lang="en-US" sz="2400" dirty="0">
                <a:solidFill>
                  <a:schemeClr val="accent4"/>
                </a:solidFill>
              </a:rPr>
              <a:t>A[</a:t>
            </a:r>
            <a:r>
              <a:rPr lang="en-US" sz="2400" dirty="0" err="1">
                <a:solidFill>
                  <a:schemeClr val="accent4"/>
                </a:solidFill>
              </a:rPr>
              <a:t>i</a:t>
            </a:r>
            <a:r>
              <a:rPr lang="en-US" sz="2400" dirty="0">
                <a:solidFill>
                  <a:schemeClr val="accent4"/>
                </a:solidFill>
              </a:rPr>
              <a:t>] = number of activities you can do after the end of activity </a:t>
            </a:r>
            <a:r>
              <a:rPr lang="en-US" sz="2400" dirty="0" err="1">
                <a:solidFill>
                  <a:schemeClr val="accent4"/>
                </a:solidFill>
              </a:rPr>
              <a:t>i</a:t>
            </a:r>
            <a:endParaRPr lang="en-US" sz="2400" dirty="0">
              <a:solidFill>
                <a:schemeClr val="accent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4"/>
                </a:solidFill>
              </a:rPr>
              <a:t>子问题集合是去掉与</a:t>
            </a:r>
            <a:r>
              <a:rPr lang="en-US" altLang="zh-CN" sz="2400" dirty="0" err="1">
                <a:solidFill>
                  <a:schemeClr val="accent4"/>
                </a:solidFill>
              </a:rPr>
              <a:t>i</a:t>
            </a:r>
            <a:r>
              <a:rPr lang="zh-CN" altLang="en-US" sz="2400" dirty="0">
                <a:solidFill>
                  <a:schemeClr val="accent4"/>
                </a:solidFill>
              </a:rPr>
              <a:t>冲突的活动后剩余的活动选择问题。</a:t>
            </a:r>
            <a:endParaRPr lang="en-US" sz="2400" dirty="0" err="1">
              <a:solidFill>
                <a:schemeClr val="accent4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9639801-F940-F04A-8D5B-E8BBB63827B5}"/>
              </a:ext>
            </a:extLst>
          </p:cNvPr>
          <p:cNvGrpSpPr/>
          <p:nvPr/>
        </p:nvGrpSpPr>
        <p:grpSpPr>
          <a:xfrm>
            <a:off x="220173" y="4843848"/>
            <a:ext cx="8923827" cy="1827657"/>
            <a:chOff x="220173" y="3727003"/>
            <a:chExt cx="8923827" cy="2870362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444CF7A1-EB48-8F4F-864F-8DCBC75F56EC}"/>
                </a:ext>
              </a:extLst>
            </p:cNvPr>
            <p:cNvSpPr/>
            <p:nvPr/>
          </p:nvSpPr>
          <p:spPr>
            <a:xfrm>
              <a:off x="923606" y="4485023"/>
              <a:ext cx="1431888" cy="605481"/>
            </a:xfrm>
            <a:prstGeom prst="round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err="1"/>
                <a:t>a</a:t>
              </a:r>
              <a:r>
                <a:rPr lang="en-US" sz="2400" baseline="-25000" dirty="0" err="1"/>
                <a:t>i</a:t>
              </a:r>
              <a:endParaRPr lang="en-US" sz="2400" dirty="0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FD8CDB2F-D34F-084D-A1C1-7AA855CF71A3}"/>
                </a:ext>
              </a:extLst>
            </p:cNvPr>
            <p:cNvSpPr/>
            <p:nvPr/>
          </p:nvSpPr>
          <p:spPr>
            <a:xfrm>
              <a:off x="220173" y="5406490"/>
              <a:ext cx="2477321" cy="605481"/>
            </a:xfrm>
            <a:prstGeom prst="roundRect">
              <a:avLst/>
            </a:prstGeom>
            <a:pattFill prst="wdUpDiag">
              <a:fgClr>
                <a:schemeClr val="tx1">
                  <a:lumMod val="65000"/>
                  <a:lumOff val="35000"/>
                </a:schemeClr>
              </a:fgClr>
              <a:bgClr>
                <a:schemeClr val="bg2">
                  <a:lumMod val="50000"/>
                </a:schemeClr>
              </a:bgClr>
            </a:patt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a</a:t>
              </a:r>
              <a:r>
                <a:rPr lang="en-US" sz="2400" baseline="-25000" dirty="0"/>
                <a:t>2</a:t>
              </a:r>
              <a:endParaRPr lang="en-US" sz="2400" dirty="0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31ECD53F-CB60-1C48-BB17-F2B27CFF8EAD}"/>
                </a:ext>
              </a:extLst>
            </p:cNvPr>
            <p:cNvSpPr/>
            <p:nvPr/>
          </p:nvSpPr>
          <p:spPr>
            <a:xfrm>
              <a:off x="7462407" y="4731915"/>
              <a:ext cx="1575022" cy="605481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a</a:t>
              </a:r>
              <a:r>
                <a:rPr lang="en-US" sz="2400" baseline="-25000" dirty="0"/>
                <a:t>7</a:t>
              </a:r>
              <a:endParaRPr lang="en-US" sz="2400" dirty="0"/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3A593CA8-26D8-0B4F-B3F5-A210BF3E1A0D}"/>
                </a:ext>
              </a:extLst>
            </p:cNvPr>
            <p:cNvSpPr/>
            <p:nvPr/>
          </p:nvSpPr>
          <p:spPr>
            <a:xfrm>
              <a:off x="5887385" y="5485116"/>
              <a:ext cx="2624042" cy="605481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a</a:t>
              </a:r>
              <a:r>
                <a:rPr lang="en-US" sz="2400" baseline="-25000" dirty="0"/>
                <a:t>6</a:t>
              </a:r>
              <a:endParaRPr lang="en-US" sz="2400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4167D19-81FF-1041-9176-926DBAEE3166}"/>
                </a:ext>
              </a:extLst>
            </p:cNvPr>
            <p:cNvCxnSpPr/>
            <p:nvPr/>
          </p:nvCxnSpPr>
          <p:spPr>
            <a:xfrm>
              <a:off x="220173" y="6265103"/>
              <a:ext cx="8817256" cy="0"/>
            </a:xfrm>
            <a:prstGeom prst="straightConnector1">
              <a:avLst/>
            </a:prstGeom>
            <a:ln w="28575">
              <a:solidFill>
                <a:schemeClr val="accent4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0EF93C2-D58E-B941-8337-F0A7555FFE3A}"/>
                </a:ext>
              </a:extLst>
            </p:cNvPr>
            <p:cNvSpPr txBox="1"/>
            <p:nvPr/>
          </p:nvSpPr>
          <p:spPr>
            <a:xfrm>
              <a:off x="8124794" y="6228033"/>
              <a:ext cx="1019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time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D15C1AEF-F11F-E245-8B00-99998379F55E}"/>
                </a:ext>
              </a:extLst>
            </p:cNvPr>
            <p:cNvSpPr/>
            <p:nvPr/>
          </p:nvSpPr>
          <p:spPr>
            <a:xfrm>
              <a:off x="3330067" y="5073230"/>
              <a:ext cx="1672281" cy="605481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err="1"/>
                <a:t>a</a:t>
              </a:r>
              <a:r>
                <a:rPr lang="en-US" sz="2400" baseline="-25000" dirty="0" err="1"/>
                <a:t>j</a:t>
              </a:r>
              <a:endParaRPr lang="en-US" sz="2400" dirty="0"/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7EFFDECD-778B-9C4B-A3B8-C138B6BDA01B}"/>
                </a:ext>
              </a:extLst>
            </p:cNvPr>
            <p:cNvSpPr/>
            <p:nvPr/>
          </p:nvSpPr>
          <p:spPr>
            <a:xfrm>
              <a:off x="2620648" y="4166385"/>
              <a:ext cx="2184183" cy="605481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err="1"/>
                <a:t>a</a:t>
              </a:r>
              <a:r>
                <a:rPr lang="en-US" sz="2400" baseline="-25000" dirty="0" err="1"/>
                <a:t>k</a:t>
              </a:r>
              <a:endParaRPr lang="en-US" sz="2400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3E63B0A-3169-C849-A61B-C76E2D0B3C28}"/>
                </a:ext>
              </a:extLst>
            </p:cNvPr>
            <p:cNvCxnSpPr/>
            <p:nvPr/>
          </p:nvCxnSpPr>
          <p:spPr>
            <a:xfrm flipV="1">
              <a:off x="2385724" y="3727003"/>
              <a:ext cx="12067" cy="2854230"/>
            </a:xfrm>
            <a:prstGeom prst="line">
              <a:avLst/>
            </a:prstGeom>
            <a:ln w="73025"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C6000755-CAE3-C648-880B-2BADE216FDA1}"/>
                </a:ext>
              </a:extLst>
            </p:cNvPr>
            <p:cNvSpPr/>
            <p:nvPr/>
          </p:nvSpPr>
          <p:spPr>
            <a:xfrm>
              <a:off x="5316980" y="4489353"/>
              <a:ext cx="1889039" cy="605481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a</a:t>
              </a:r>
              <a:r>
                <a:rPr lang="en-US" sz="2400" baseline="-25000" dirty="0"/>
                <a:t>3</a:t>
              </a:r>
              <a:endParaRPr lang="en-US" sz="2400" dirty="0"/>
            </a:p>
          </p:txBody>
        </p:sp>
      </p:grpSp>
      <p:sp>
        <p:nvSpPr>
          <p:cNvPr id="15" name="Left Brace 14">
            <a:extLst>
              <a:ext uri="{FF2B5EF4-FFF2-40B4-BE49-F238E27FC236}">
                <a16:creationId xmlns:a16="http://schemas.microsoft.com/office/drawing/2014/main" id="{93FC5FEB-3BDA-4540-9320-E4B51E0A3E7F}"/>
              </a:ext>
            </a:extLst>
          </p:cNvPr>
          <p:cNvSpPr/>
          <p:nvPr/>
        </p:nvSpPr>
        <p:spPr>
          <a:xfrm rot="5400000">
            <a:off x="5519179" y="1562506"/>
            <a:ext cx="619717" cy="6416781"/>
          </a:xfrm>
          <a:prstGeom prst="leftBrace">
            <a:avLst>
              <a:gd name="adj1" fmla="val 8333"/>
              <a:gd name="adj2" fmla="val 33054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A790CB-4DD0-F844-ACCF-D23C14A4530F}"/>
              </a:ext>
            </a:extLst>
          </p:cNvPr>
          <p:cNvSpPr txBox="1"/>
          <p:nvPr/>
        </p:nvSpPr>
        <p:spPr>
          <a:xfrm>
            <a:off x="6261499" y="3854323"/>
            <a:ext cx="2075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A[</a:t>
            </a:r>
            <a:r>
              <a:rPr lang="en-US" dirty="0" err="1">
                <a:solidFill>
                  <a:schemeClr val="accent4"/>
                </a:solidFill>
              </a:rPr>
              <a:t>i</a:t>
            </a:r>
            <a:r>
              <a:rPr lang="en-US" dirty="0">
                <a:solidFill>
                  <a:schemeClr val="accent4"/>
                </a:solidFill>
              </a:rPr>
              <a:t>] = solution to this sub-problem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5E028CD-1D43-6642-9B35-60271357B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14</a:t>
            </a:fld>
            <a:endParaRPr 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2B3C314-A4EE-4045-8C13-5F62E0CFAB63}"/>
              </a:ext>
            </a:extLst>
          </p:cNvPr>
          <p:cNvSpPr txBox="1"/>
          <p:nvPr/>
        </p:nvSpPr>
        <p:spPr>
          <a:xfrm>
            <a:off x="923606" y="3461732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C00000"/>
                </a:solidFill>
              </a:rPr>
              <a:t>如何设计一个局部最优方案</a:t>
            </a:r>
            <a:r>
              <a:rPr lang="zh-CN" altLang="en-US" sz="2000" dirty="0">
                <a:solidFill>
                  <a:srgbClr val="C00000"/>
                </a:solidFill>
              </a:rPr>
              <a:t>？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D3A70A2-0830-9943-915E-89977E6F4A57}"/>
              </a:ext>
            </a:extLst>
          </p:cNvPr>
          <p:cNvSpPr txBox="1"/>
          <p:nvPr/>
        </p:nvSpPr>
        <p:spPr>
          <a:xfrm>
            <a:off x="923606" y="3971927"/>
            <a:ext cx="45448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rgbClr val="C00000"/>
                </a:solidFill>
              </a:rPr>
              <a:t>在尽量早的时间里完成尽量多的活动</a:t>
            </a:r>
            <a:r>
              <a:rPr lang="zh-CN" altLang="en-US" sz="2000" dirty="0">
                <a:solidFill>
                  <a:srgbClr val="C00000"/>
                </a:solidFill>
              </a:rPr>
              <a:t>。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29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 animBg="1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103367-6248-D546-BCC3-8C7DC35AF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贪心算法一般设计容易</a:t>
            </a:r>
            <a:r>
              <a:rPr lang="zh-CN" altLang="en-US" dirty="0"/>
              <a:t>，但是分析最优性不易，设计与分析的流程：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ABF803-00B3-C145-9401-2E7E2F971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70138"/>
            <a:ext cx="7886700" cy="4351338"/>
          </a:xfrm>
        </p:spPr>
        <p:txBody>
          <a:bodyPr/>
          <a:lstStyle/>
          <a:p>
            <a:r>
              <a:rPr lang="en-US" dirty="0" err="1"/>
              <a:t>分析问题的子结构性质</a:t>
            </a:r>
            <a:endParaRPr lang="en-US" dirty="0"/>
          </a:p>
          <a:p>
            <a:r>
              <a:rPr lang="en-US" dirty="0" err="1"/>
              <a:t>设计一种</a:t>
            </a:r>
            <a:r>
              <a:rPr lang="en-US" dirty="0" err="1">
                <a:solidFill>
                  <a:srgbClr val="00B050"/>
                </a:solidFill>
              </a:rPr>
              <a:t>局部最优</a:t>
            </a:r>
            <a:r>
              <a:rPr lang="en-US" dirty="0" err="1"/>
              <a:t>的贪心机制</a:t>
            </a:r>
            <a:endParaRPr lang="en-US" dirty="0"/>
          </a:p>
          <a:p>
            <a:r>
              <a:rPr lang="en-US" dirty="0" err="1"/>
              <a:t>给出贪心算法</a:t>
            </a:r>
            <a:endParaRPr lang="en-US" dirty="0"/>
          </a:p>
          <a:p>
            <a:r>
              <a:rPr lang="en-US" dirty="0" err="1"/>
              <a:t>分析算法复杂度</a:t>
            </a:r>
            <a:endParaRPr lang="en-US" dirty="0"/>
          </a:p>
          <a:p>
            <a:r>
              <a:rPr lang="en-US" dirty="0" err="1"/>
              <a:t>证明算法正确性</a:t>
            </a:r>
            <a:endParaRPr lang="en-US" dirty="0"/>
          </a:p>
          <a:p>
            <a:r>
              <a:rPr lang="en-US" dirty="0" err="1"/>
              <a:t>分析证明此贪心机制是否产生</a:t>
            </a:r>
            <a:r>
              <a:rPr lang="en-US" dirty="0" err="1">
                <a:solidFill>
                  <a:srgbClr val="00B050"/>
                </a:solidFill>
              </a:rPr>
              <a:t>全局最优</a:t>
            </a:r>
            <a:r>
              <a:rPr lang="en-US" dirty="0" err="1"/>
              <a:t>方案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5D244A-D598-8B4E-A6A5-D2590DC1C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728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局部最优贪心机制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Earliest Finish First (</a:t>
            </a:r>
            <a:r>
              <a:rPr lang="en-US" altLang="zh-CN" b="1" dirty="0">
                <a:solidFill>
                  <a:srgbClr val="00B050"/>
                </a:solidFill>
              </a:rPr>
              <a:t>EFF</a:t>
            </a:r>
            <a:r>
              <a:rPr lang="en-US" altLang="zh-CN" dirty="0"/>
              <a:t>)</a:t>
            </a:r>
            <a:br>
              <a:rPr lang="en-US" altLang="zh-CN" dirty="0"/>
            </a:b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5312572" y="2353430"/>
            <a:ext cx="1889039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3</a:t>
            </a:r>
            <a:endParaRPr lang="en-US" sz="2400" dirty="0"/>
          </a:p>
        </p:txBody>
      </p:sp>
      <p:sp>
        <p:nvSpPr>
          <p:cNvPr id="5" name="Rounded Rectangle 4"/>
          <p:cNvSpPr/>
          <p:nvPr/>
        </p:nvSpPr>
        <p:spPr>
          <a:xfrm>
            <a:off x="923606" y="2353430"/>
            <a:ext cx="1431888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1</a:t>
            </a:r>
            <a:endParaRPr lang="en-US" sz="2400" dirty="0"/>
          </a:p>
        </p:txBody>
      </p:sp>
      <p:sp>
        <p:nvSpPr>
          <p:cNvPr id="6" name="Rounded Rectangle 5"/>
          <p:cNvSpPr/>
          <p:nvPr/>
        </p:nvSpPr>
        <p:spPr>
          <a:xfrm>
            <a:off x="3325709" y="2950884"/>
            <a:ext cx="1672281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4</a:t>
            </a:r>
            <a:endParaRPr lang="en-US" sz="2400" dirty="0"/>
          </a:p>
        </p:txBody>
      </p:sp>
      <p:sp>
        <p:nvSpPr>
          <p:cNvPr id="7" name="Rounded Rectangle 6"/>
          <p:cNvSpPr/>
          <p:nvPr/>
        </p:nvSpPr>
        <p:spPr>
          <a:xfrm>
            <a:off x="220173" y="3274897"/>
            <a:ext cx="1806917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2</a:t>
            </a:r>
            <a:endParaRPr lang="en-US" sz="2400" dirty="0"/>
          </a:p>
        </p:txBody>
      </p:sp>
      <p:sp>
        <p:nvSpPr>
          <p:cNvPr id="8" name="Rounded Rectangle 7"/>
          <p:cNvSpPr/>
          <p:nvPr/>
        </p:nvSpPr>
        <p:spPr>
          <a:xfrm>
            <a:off x="2616290" y="2031682"/>
            <a:ext cx="2184183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5</a:t>
            </a:r>
            <a:endParaRPr lang="en-US" sz="2400" dirty="0"/>
          </a:p>
        </p:txBody>
      </p:sp>
      <p:sp>
        <p:nvSpPr>
          <p:cNvPr id="9" name="Rounded Rectangle 8"/>
          <p:cNvSpPr/>
          <p:nvPr/>
        </p:nvSpPr>
        <p:spPr>
          <a:xfrm>
            <a:off x="7462407" y="2600322"/>
            <a:ext cx="1575022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7</a:t>
            </a:r>
            <a:endParaRPr lang="en-US" sz="2400" dirty="0"/>
          </a:p>
        </p:txBody>
      </p:sp>
      <p:sp>
        <p:nvSpPr>
          <p:cNvPr id="10" name="Rounded Rectangle 9"/>
          <p:cNvSpPr/>
          <p:nvPr/>
        </p:nvSpPr>
        <p:spPr>
          <a:xfrm>
            <a:off x="5887385" y="3353523"/>
            <a:ext cx="2624042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6</a:t>
            </a:r>
            <a:endParaRPr lang="en-US" sz="24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20173" y="4133510"/>
            <a:ext cx="8817256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24794" y="4096440"/>
            <a:ext cx="1019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time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424411" y="4706956"/>
            <a:ext cx="8408779" cy="1640814"/>
          </a:xfrm>
        </p:spPr>
        <p:txBody>
          <a:bodyPr>
            <a:normAutofit/>
          </a:bodyPr>
          <a:lstStyle/>
          <a:p>
            <a:r>
              <a:rPr lang="en-US" dirty="0"/>
              <a:t>Pick activity you can add with the smallest finish time.</a:t>
            </a:r>
          </a:p>
          <a:p>
            <a:r>
              <a:rPr lang="en-US" dirty="0"/>
              <a:t>Repeat.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148D4E-2EC7-7741-B44D-8780C2F35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87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312572" y="2353430"/>
            <a:ext cx="1889039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3</a:t>
            </a:r>
            <a:endParaRPr lang="en-US" sz="2400" dirty="0"/>
          </a:p>
        </p:txBody>
      </p:sp>
      <p:sp>
        <p:nvSpPr>
          <p:cNvPr id="5" name="Rounded Rectangle 4"/>
          <p:cNvSpPr/>
          <p:nvPr/>
        </p:nvSpPr>
        <p:spPr>
          <a:xfrm>
            <a:off x="923606" y="2353430"/>
            <a:ext cx="1431888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1</a:t>
            </a:r>
            <a:endParaRPr lang="en-US" sz="2400" dirty="0"/>
          </a:p>
        </p:txBody>
      </p:sp>
      <p:sp>
        <p:nvSpPr>
          <p:cNvPr id="6" name="Rounded Rectangle 5"/>
          <p:cNvSpPr/>
          <p:nvPr/>
        </p:nvSpPr>
        <p:spPr>
          <a:xfrm>
            <a:off x="3325709" y="2950884"/>
            <a:ext cx="1672281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4</a:t>
            </a:r>
            <a:endParaRPr lang="en-US" sz="2400" dirty="0"/>
          </a:p>
        </p:txBody>
      </p:sp>
      <p:sp>
        <p:nvSpPr>
          <p:cNvPr id="7" name="Rounded Rectangle 6"/>
          <p:cNvSpPr/>
          <p:nvPr/>
        </p:nvSpPr>
        <p:spPr>
          <a:xfrm>
            <a:off x="220173" y="3274897"/>
            <a:ext cx="1806917" cy="60548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2</a:t>
            </a:r>
            <a:endParaRPr lang="en-US" sz="2400" dirty="0"/>
          </a:p>
        </p:txBody>
      </p:sp>
      <p:sp>
        <p:nvSpPr>
          <p:cNvPr id="8" name="Rounded Rectangle 7"/>
          <p:cNvSpPr/>
          <p:nvPr/>
        </p:nvSpPr>
        <p:spPr>
          <a:xfrm>
            <a:off x="2616290" y="2031682"/>
            <a:ext cx="2184183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5</a:t>
            </a:r>
            <a:endParaRPr lang="en-US" sz="2400" dirty="0"/>
          </a:p>
        </p:txBody>
      </p:sp>
      <p:sp>
        <p:nvSpPr>
          <p:cNvPr id="9" name="Rounded Rectangle 8"/>
          <p:cNvSpPr/>
          <p:nvPr/>
        </p:nvSpPr>
        <p:spPr>
          <a:xfrm>
            <a:off x="7462407" y="2600322"/>
            <a:ext cx="1575022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7</a:t>
            </a:r>
            <a:endParaRPr lang="en-US" sz="2400" dirty="0"/>
          </a:p>
        </p:txBody>
      </p:sp>
      <p:sp>
        <p:nvSpPr>
          <p:cNvPr id="10" name="Rounded Rectangle 9"/>
          <p:cNvSpPr/>
          <p:nvPr/>
        </p:nvSpPr>
        <p:spPr>
          <a:xfrm>
            <a:off x="5887385" y="3353523"/>
            <a:ext cx="2624042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6</a:t>
            </a:r>
            <a:endParaRPr lang="en-US" sz="24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20173" y="4133510"/>
            <a:ext cx="8817256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24794" y="4096440"/>
            <a:ext cx="1019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time</a:t>
            </a:r>
          </a:p>
        </p:txBody>
      </p:sp>
      <p:sp>
        <p:nvSpPr>
          <p:cNvPr id="14" name="Content Placeholder 12"/>
          <p:cNvSpPr txBox="1">
            <a:spLocks/>
          </p:cNvSpPr>
          <p:nvPr/>
        </p:nvSpPr>
        <p:spPr>
          <a:xfrm>
            <a:off x="424411" y="4706956"/>
            <a:ext cx="8408779" cy="164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Pick activity you can add with the smallest finish time.</a:t>
            </a:r>
          </a:p>
          <a:p>
            <a:r>
              <a:rPr lang="en-US"/>
              <a:t>Repeat.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BAF04B-63BF-2F42-97A8-BF702B18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17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4BB7879-1274-4942-8A20-8D955E44F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局部最优贪心机制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Earliest Finish First (EFF)</a:t>
            </a:r>
            <a:br>
              <a:rPr lang="en-US" altLang="zh-C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018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312572" y="2353430"/>
            <a:ext cx="1889039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3</a:t>
            </a:r>
            <a:endParaRPr lang="en-US" sz="2400" dirty="0"/>
          </a:p>
        </p:txBody>
      </p:sp>
      <p:sp>
        <p:nvSpPr>
          <p:cNvPr id="5" name="Rounded Rectangle 4"/>
          <p:cNvSpPr/>
          <p:nvPr/>
        </p:nvSpPr>
        <p:spPr>
          <a:xfrm>
            <a:off x="923606" y="2353430"/>
            <a:ext cx="1431888" cy="605481"/>
          </a:xfrm>
          <a:prstGeom prst="roundRect">
            <a:avLst/>
          </a:prstGeom>
          <a:pattFill prst="wdDnDiag">
            <a:fgClr>
              <a:schemeClr val="bg2">
                <a:lumMod val="75000"/>
              </a:schemeClr>
            </a:fgClr>
            <a:bgClr>
              <a:schemeClr val="bg2">
                <a:lumMod val="50000"/>
              </a:schemeClr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1</a:t>
            </a:r>
            <a:endParaRPr lang="en-US" sz="2400" dirty="0"/>
          </a:p>
        </p:txBody>
      </p:sp>
      <p:sp>
        <p:nvSpPr>
          <p:cNvPr id="6" name="Rounded Rectangle 5"/>
          <p:cNvSpPr/>
          <p:nvPr/>
        </p:nvSpPr>
        <p:spPr>
          <a:xfrm>
            <a:off x="3325709" y="2950884"/>
            <a:ext cx="1672281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4</a:t>
            </a:r>
            <a:endParaRPr lang="en-US" sz="2400" dirty="0"/>
          </a:p>
        </p:txBody>
      </p:sp>
      <p:sp>
        <p:nvSpPr>
          <p:cNvPr id="7" name="Rounded Rectangle 6"/>
          <p:cNvSpPr/>
          <p:nvPr/>
        </p:nvSpPr>
        <p:spPr>
          <a:xfrm>
            <a:off x="220173" y="3274897"/>
            <a:ext cx="1806917" cy="60548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2</a:t>
            </a:r>
            <a:endParaRPr lang="en-US" sz="2400" dirty="0"/>
          </a:p>
        </p:txBody>
      </p:sp>
      <p:sp>
        <p:nvSpPr>
          <p:cNvPr id="8" name="Rounded Rectangle 7"/>
          <p:cNvSpPr/>
          <p:nvPr/>
        </p:nvSpPr>
        <p:spPr>
          <a:xfrm>
            <a:off x="2616290" y="2031682"/>
            <a:ext cx="2184183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5</a:t>
            </a:r>
            <a:endParaRPr lang="en-US" sz="2400" dirty="0"/>
          </a:p>
        </p:txBody>
      </p:sp>
      <p:sp>
        <p:nvSpPr>
          <p:cNvPr id="9" name="Rounded Rectangle 8"/>
          <p:cNvSpPr/>
          <p:nvPr/>
        </p:nvSpPr>
        <p:spPr>
          <a:xfrm>
            <a:off x="7462407" y="2600322"/>
            <a:ext cx="1575022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7</a:t>
            </a:r>
            <a:endParaRPr lang="en-US" sz="2400" dirty="0"/>
          </a:p>
        </p:txBody>
      </p:sp>
      <p:sp>
        <p:nvSpPr>
          <p:cNvPr id="10" name="Rounded Rectangle 9"/>
          <p:cNvSpPr/>
          <p:nvPr/>
        </p:nvSpPr>
        <p:spPr>
          <a:xfrm>
            <a:off x="5887385" y="3353523"/>
            <a:ext cx="2624042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6</a:t>
            </a:r>
            <a:endParaRPr lang="en-US" sz="24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20173" y="4133510"/>
            <a:ext cx="8817256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24794" y="4096440"/>
            <a:ext cx="1019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time</a:t>
            </a:r>
          </a:p>
        </p:txBody>
      </p:sp>
      <p:sp>
        <p:nvSpPr>
          <p:cNvPr id="14" name="Content Placeholder 12"/>
          <p:cNvSpPr txBox="1">
            <a:spLocks/>
          </p:cNvSpPr>
          <p:nvPr/>
        </p:nvSpPr>
        <p:spPr>
          <a:xfrm>
            <a:off x="424411" y="4706956"/>
            <a:ext cx="8408779" cy="164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Pick activity you can add with the smallest finish time.</a:t>
            </a:r>
          </a:p>
          <a:p>
            <a:r>
              <a:rPr lang="en-US"/>
              <a:t>Repeat.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C20EA5-8C6C-E94D-881E-70D352F4F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18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5528E9C-F116-EB49-86EB-6E84557E5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局部最优贪心机制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Earliest Finish First (EFF)</a:t>
            </a:r>
            <a:br>
              <a:rPr lang="en-US" altLang="zh-C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56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312572" y="2353430"/>
            <a:ext cx="1889039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3</a:t>
            </a:r>
            <a:endParaRPr lang="en-US" sz="2400" dirty="0"/>
          </a:p>
        </p:txBody>
      </p:sp>
      <p:sp>
        <p:nvSpPr>
          <p:cNvPr id="5" name="Rounded Rectangle 4"/>
          <p:cNvSpPr/>
          <p:nvPr/>
        </p:nvSpPr>
        <p:spPr>
          <a:xfrm>
            <a:off x="923606" y="2353430"/>
            <a:ext cx="1431888" cy="605481"/>
          </a:xfrm>
          <a:prstGeom prst="roundRect">
            <a:avLst/>
          </a:prstGeom>
          <a:pattFill prst="wdDnDiag">
            <a:fgClr>
              <a:schemeClr val="bg2">
                <a:lumMod val="75000"/>
              </a:schemeClr>
            </a:fgClr>
            <a:bgClr>
              <a:schemeClr val="bg2">
                <a:lumMod val="50000"/>
              </a:schemeClr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1</a:t>
            </a:r>
            <a:endParaRPr lang="en-US" sz="2400" dirty="0"/>
          </a:p>
        </p:txBody>
      </p:sp>
      <p:sp>
        <p:nvSpPr>
          <p:cNvPr id="6" name="Rounded Rectangle 5"/>
          <p:cNvSpPr/>
          <p:nvPr/>
        </p:nvSpPr>
        <p:spPr>
          <a:xfrm>
            <a:off x="3325709" y="2950884"/>
            <a:ext cx="1672281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4</a:t>
            </a:r>
            <a:endParaRPr lang="en-US" sz="2400" dirty="0"/>
          </a:p>
        </p:txBody>
      </p:sp>
      <p:sp>
        <p:nvSpPr>
          <p:cNvPr id="7" name="Rounded Rectangle 6"/>
          <p:cNvSpPr/>
          <p:nvPr/>
        </p:nvSpPr>
        <p:spPr>
          <a:xfrm>
            <a:off x="220173" y="3274897"/>
            <a:ext cx="1806917" cy="60548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2</a:t>
            </a:r>
            <a:endParaRPr lang="en-US" sz="2400" dirty="0"/>
          </a:p>
        </p:txBody>
      </p:sp>
      <p:sp>
        <p:nvSpPr>
          <p:cNvPr id="8" name="Rounded Rectangle 7"/>
          <p:cNvSpPr/>
          <p:nvPr/>
        </p:nvSpPr>
        <p:spPr>
          <a:xfrm>
            <a:off x="2616290" y="2031682"/>
            <a:ext cx="2184183" cy="60548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5</a:t>
            </a:r>
            <a:endParaRPr lang="en-US" sz="2400" dirty="0"/>
          </a:p>
        </p:txBody>
      </p:sp>
      <p:sp>
        <p:nvSpPr>
          <p:cNvPr id="9" name="Rounded Rectangle 8"/>
          <p:cNvSpPr/>
          <p:nvPr/>
        </p:nvSpPr>
        <p:spPr>
          <a:xfrm>
            <a:off x="7462407" y="2600322"/>
            <a:ext cx="1575022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7</a:t>
            </a:r>
            <a:endParaRPr lang="en-US" sz="2400" dirty="0"/>
          </a:p>
        </p:txBody>
      </p:sp>
      <p:sp>
        <p:nvSpPr>
          <p:cNvPr id="10" name="Rounded Rectangle 9"/>
          <p:cNvSpPr/>
          <p:nvPr/>
        </p:nvSpPr>
        <p:spPr>
          <a:xfrm>
            <a:off x="5887385" y="3353523"/>
            <a:ext cx="2624042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6</a:t>
            </a:r>
            <a:endParaRPr lang="en-US" sz="24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20173" y="4133510"/>
            <a:ext cx="8817256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24794" y="4096440"/>
            <a:ext cx="1019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time</a:t>
            </a:r>
          </a:p>
        </p:txBody>
      </p:sp>
      <p:sp>
        <p:nvSpPr>
          <p:cNvPr id="14" name="Content Placeholder 12"/>
          <p:cNvSpPr txBox="1">
            <a:spLocks/>
          </p:cNvSpPr>
          <p:nvPr/>
        </p:nvSpPr>
        <p:spPr>
          <a:xfrm>
            <a:off x="424411" y="4706956"/>
            <a:ext cx="8408779" cy="164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Pick activity you can add with the smallest finish time.</a:t>
            </a:r>
          </a:p>
          <a:p>
            <a:r>
              <a:rPr lang="en-US"/>
              <a:t>Repeat.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632646-4F0A-E74B-861A-D3CAEBE89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19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EF0985E-BB2A-4649-B22A-B74920770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局部最优贪心机制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Earliest Finish First (EFF)</a:t>
            </a:r>
            <a:br>
              <a:rPr lang="en-US" altLang="zh-C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367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312572" y="2353430"/>
            <a:ext cx="1889039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3</a:t>
            </a:r>
            <a:endParaRPr lang="en-US" sz="2400" dirty="0"/>
          </a:p>
        </p:txBody>
      </p:sp>
      <p:sp>
        <p:nvSpPr>
          <p:cNvPr id="5" name="Rounded Rectangle 4"/>
          <p:cNvSpPr/>
          <p:nvPr/>
        </p:nvSpPr>
        <p:spPr>
          <a:xfrm>
            <a:off x="923606" y="2353430"/>
            <a:ext cx="1431888" cy="605481"/>
          </a:xfrm>
          <a:prstGeom prst="roundRect">
            <a:avLst/>
          </a:prstGeom>
          <a:pattFill prst="wdDnDiag">
            <a:fgClr>
              <a:schemeClr val="bg2">
                <a:lumMod val="75000"/>
              </a:schemeClr>
            </a:fgClr>
            <a:bgClr>
              <a:schemeClr val="bg2">
                <a:lumMod val="50000"/>
              </a:schemeClr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1</a:t>
            </a:r>
            <a:endParaRPr lang="en-US" sz="2400" dirty="0"/>
          </a:p>
        </p:txBody>
      </p:sp>
      <p:sp>
        <p:nvSpPr>
          <p:cNvPr id="6" name="Rounded Rectangle 5"/>
          <p:cNvSpPr/>
          <p:nvPr/>
        </p:nvSpPr>
        <p:spPr>
          <a:xfrm>
            <a:off x="3325709" y="2950884"/>
            <a:ext cx="1672281" cy="605481"/>
          </a:xfrm>
          <a:prstGeom prst="roundRect">
            <a:avLst/>
          </a:prstGeom>
          <a:pattFill prst="wdDnDiag">
            <a:fgClr>
              <a:schemeClr val="bg2">
                <a:lumMod val="75000"/>
              </a:schemeClr>
            </a:fgClr>
            <a:bgClr>
              <a:schemeClr val="bg2">
                <a:lumMod val="50000"/>
              </a:schemeClr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4</a:t>
            </a:r>
            <a:endParaRPr lang="en-US" sz="2400" dirty="0"/>
          </a:p>
        </p:txBody>
      </p:sp>
      <p:sp>
        <p:nvSpPr>
          <p:cNvPr id="7" name="Rounded Rectangle 6"/>
          <p:cNvSpPr/>
          <p:nvPr/>
        </p:nvSpPr>
        <p:spPr>
          <a:xfrm>
            <a:off x="220173" y="3274897"/>
            <a:ext cx="1806917" cy="60548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2</a:t>
            </a:r>
            <a:endParaRPr lang="en-US" sz="2400" dirty="0"/>
          </a:p>
        </p:txBody>
      </p:sp>
      <p:sp>
        <p:nvSpPr>
          <p:cNvPr id="8" name="Rounded Rectangle 7"/>
          <p:cNvSpPr/>
          <p:nvPr/>
        </p:nvSpPr>
        <p:spPr>
          <a:xfrm>
            <a:off x="2616290" y="2031682"/>
            <a:ext cx="2184183" cy="60548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5</a:t>
            </a:r>
            <a:endParaRPr lang="en-US" sz="2400" dirty="0"/>
          </a:p>
        </p:txBody>
      </p:sp>
      <p:sp>
        <p:nvSpPr>
          <p:cNvPr id="9" name="Rounded Rectangle 8"/>
          <p:cNvSpPr/>
          <p:nvPr/>
        </p:nvSpPr>
        <p:spPr>
          <a:xfrm>
            <a:off x="7462407" y="2600322"/>
            <a:ext cx="1575022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7</a:t>
            </a:r>
            <a:endParaRPr lang="en-US" sz="2400" dirty="0"/>
          </a:p>
        </p:txBody>
      </p:sp>
      <p:sp>
        <p:nvSpPr>
          <p:cNvPr id="10" name="Rounded Rectangle 9"/>
          <p:cNvSpPr/>
          <p:nvPr/>
        </p:nvSpPr>
        <p:spPr>
          <a:xfrm>
            <a:off x="5887385" y="3353523"/>
            <a:ext cx="2624042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6</a:t>
            </a:r>
            <a:endParaRPr lang="en-US" sz="24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20173" y="4133510"/>
            <a:ext cx="8817256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24794" y="4096440"/>
            <a:ext cx="1019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time</a:t>
            </a:r>
          </a:p>
        </p:txBody>
      </p:sp>
      <p:sp>
        <p:nvSpPr>
          <p:cNvPr id="14" name="Content Placeholder 12"/>
          <p:cNvSpPr txBox="1">
            <a:spLocks/>
          </p:cNvSpPr>
          <p:nvPr/>
        </p:nvSpPr>
        <p:spPr>
          <a:xfrm>
            <a:off x="424411" y="4706956"/>
            <a:ext cx="8408779" cy="164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Pick activity you can add with the smallest finish time.</a:t>
            </a:r>
          </a:p>
          <a:p>
            <a:r>
              <a:rPr lang="en-US"/>
              <a:t>Repeat.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B5D0C7-8D05-5848-80B9-B5100B457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20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160055E-3BDB-DE48-B70C-53A97E4E2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局部最优贪心机制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Earliest Finish First (EFF)</a:t>
            </a:r>
            <a:br>
              <a:rPr lang="en-US" altLang="zh-C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464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312572" y="2353430"/>
            <a:ext cx="1889039" cy="60548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3</a:t>
            </a:r>
            <a:endParaRPr lang="en-US" sz="2400" dirty="0"/>
          </a:p>
        </p:txBody>
      </p:sp>
      <p:sp>
        <p:nvSpPr>
          <p:cNvPr id="5" name="Rounded Rectangle 4"/>
          <p:cNvSpPr/>
          <p:nvPr/>
        </p:nvSpPr>
        <p:spPr>
          <a:xfrm>
            <a:off x="923606" y="2353430"/>
            <a:ext cx="1431888" cy="605481"/>
          </a:xfrm>
          <a:prstGeom prst="roundRect">
            <a:avLst/>
          </a:prstGeom>
          <a:pattFill prst="wdDnDiag">
            <a:fgClr>
              <a:schemeClr val="bg2">
                <a:lumMod val="75000"/>
              </a:schemeClr>
            </a:fgClr>
            <a:bgClr>
              <a:schemeClr val="bg2">
                <a:lumMod val="50000"/>
              </a:schemeClr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1</a:t>
            </a:r>
            <a:endParaRPr lang="en-US" sz="2400" dirty="0"/>
          </a:p>
        </p:txBody>
      </p:sp>
      <p:sp>
        <p:nvSpPr>
          <p:cNvPr id="6" name="Rounded Rectangle 5"/>
          <p:cNvSpPr/>
          <p:nvPr/>
        </p:nvSpPr>
        <p:spPr>
          <a:xfrm>
            <a:off x="3325709" y="2950884"/>
            <a:ext cx="1672281" cy="605481"/>
          </a:xfrm>
          <a:prstGeom prst="roundRect">
            <a:avLst/>
          </a:prstGeom>
          <a:pattFill prst="wdDnDiag">
            <a:fgClr>
              <a:schemeClr val="bg2">
                <a:lumMod val="75000"/>
              </a:schemeClr>
            </a:fgClr>
            <a:bgClr>
              <a:schemeClr val="bg2">
                <a:lumMod val="50000"/>
              </a:schemeClr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4</a:t>
            </a:r>
            <a:endParaRPr lang="en-US" sz="2400" dirty="0"/>
          </a:p>
        </p:txBody>
      </p:sp>
      <p:sp>
        <p:nvSpPr>
          <p:cNvPr id="7" name="Rounded Rectangle 6"/>
          <p:cNvSpPr/>
          <p:nvPr/>
        </p:nvSpPr>
        <p:spPr>
          <a:xfrm>
            <a:off x="220173" y="3274897"/>
            <a:ext cx="1806917" cy="60548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2</a:t>
            </a:r>
            <a:endParaRPr lang="en-US" sz="2400" dirty="0"/>
          </a:p>
        </p:txBody>
      </p:sp>
      <p:sp>
        <p:nvSpPr>
          <p:cNvPr id="8" name="Rounded Rectangle 7"/>
          <p:cNvSpPr/>
          <p:nvPr/>
        </p:nvSpPr>
        <p:spPr>
          <a:xfrm>
            <a:off x="2616290" y="2031682"/>
            <a:ext cx="2184183" cy="60548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5</a:t>
            </a:r>
            <a:endParaRPr lang="en-US" sz="2400" dirty="0"/>
          </a:p>
        </p:txBody>
      </p:sp>
      <p:sp>
        <p:nvSpPr>
          <p:cNvPr id="9" name="Rounded Rectangle 8"/>
          <p:cNvSpPr/>
          <p:nvPr/>
        </p:nvSpPr>
        <p:spPr>
          <a:xfrm>
            <a:off x="7462407" y="2600322"/>
            <a:ext cx="1575022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7</a:t>
            </a:r>
            <a:endParaRPr lang="en-US" sz="2400" dirty="0"/>
          </a:p>
        </p:txBody>
      </p:sp>
      <p:sp>
        <p:nvSpPr>
          <p:cNvPr id="10" name="Rounded Rectangle 9"/>
          <p:cNvSpPr/>
          <p:nvPr/>
        </p:nvSpPr>
        <p:spPr>
          <a:xfrm>
            <a:off x="5887385" y="3353523"/>
            <a:ext cx="2624042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6</a:t>
            </a:r>
            <a:endParaRPr lang="en-US" sz="24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20173" y="4133510"/>
            <a:ext cx="8817256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24794" y="4096440"/>
            <a:ext cx="1019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time</a:t>
            </a:r>
          </a:p>
        </p:txBody>
      </p:sp>
      <p:sp>
        <p:nvSpPr>
          <p:cNvPr id="14" name="Content Placeholder 12"/>
          <p:cNvSpPr txBox="1">
            <a:spLocks/>
          </p:cNvSpPr>
          <p:nvPr/>
        </p:nvSpPr>
        <p:spPr>
          <a:xfrm>
            <a:off x="424411" y="4706956"/>
            <a:ext cx="8408779" cy="164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Pick activity you can add with the smallest finish time.</a:t>
            </a:r>
          </a:p>
          <a:p>
            <a:r>
              <a:rPr lang="en-US"/>
              <a:t>Repeat.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59EE7F-E1F8-AE4C-8472-3C3381287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21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F487D04-1874-844C-88EA-753044670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局部最优贪心机制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Earliest Finish First (EFF)</a:t>
            </a:r>
            <a:br>
              <a:rPr lang="en-US" altLang="zh-C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9834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312572" y="2353430"/>
            <a:ext cx="1889039" cy="60548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3</a:t>
            </a:r>
            <a:endParaRPr lang="en-US" sz="2400" dirty="0"/>
          </a:p>
        </p:txBody>
      </p:sp>
      <p:sp>
        <p:nvSpPr>
          <p:cNvPr id="5" name="Rounded Rectangle 4"/>
          <p:cNvSpPr/>
          <p:nvPr/>
        </p:nvSpPr>
        <p:spPr>
          <a:xfrm>
            <a:off x="923606" y="2353430"/>
            <a:ext cx="1431888" cy="605481"/>
          </a:xfrm>
          <a:prstGeom prst="roundRect">
            <a:avLst/>
          </a:prstGeom>
          <a:pattFill prst="wdDnDiag">
            <a:fgClr>
              <a:schemeClr val="bg2">
                <a:lumMod val="75000"/>
              </a:schemeClr>
            </a:fgClr>
            <a:bgClr>
              <a:schemeClr val="bg2">
                <a:lumMod val="50000"/>
              </a:schemeClr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1</a:t>
            </a:r>
            <a:endParaRPr lang="en-US" sz="2400" dirty="0"/>
          </a:p>
        </p:txBody>
      </p:sp>
      <p:sp>
        <p:nvSpPr>
          <p:cNvPr id="6" name="Rounded Rectangle 5"/>
          <p:cNvSpPr/>
          <p:nvPr/>
        </p:nvSpPr>
        <p:spPr>
          <a:xfrm>
            <a:off x="3325709" y="2950884"/>
            <a:ext cx="1672281" cy="605481"/>
          </a:xfrm>
          <a:prstGeom prst="roundRect">
            <a:avLst/>
          </a:prstGeom>
          <a:pattFill prst="wdDnDiag">
            <a:fgClr>
              <a:schemeClr val="bg2">
                <a:lumMod val="75000"/>
              </a:schemeClr>
            </a:fgClr>
            <a:bgClr>
              <a:schemeClr val="bg2">
                <a:lumMod val="50000"/>
              </a:schemeClr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4</a:t>
            </a:r>
            <a:endParaRPr lang="en-US" sz="2400" dirty="0"/>
          </a:p>
        </p:txBody>
      </p:sp>
      <p:sp>
        <p:nvSpPr>
          <p:cNvPr id="7" name="Rounded Rectangle 6"/>
          <p:cNvSpPr/>
          <p:nvPr/>
        </p:nvSpPr>
        <p:spPr>
          <a:xfrm>
            <a:off x="220173" y="3274897"/>
            <a:ext cx="1806917" cy="60548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2</a:t>
            </a:r>
            <a:endParaRPr lang="en-US" sz="2400" dirty="0"/>
          </a:p>
        </p:txBody>
      </p:sp>
      <p:sp>
        <p:nvSpPr>
          <p:cNvPr id="8" name="Rounded Rectangle 7"/>
          <p:cNvSpPr/>
          <p:nvPr/>
        </p:nvSpPr>
        <p:spPr>
          <a:xfrm>
            <a:off x="2616290" y="2031682"/>
            <a:ext cx="2184183" cy="60548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5</a:t>
            </a:r>
            <a:endParaRPr lang="en-US" sz="2400" dirty="0"/>
          </a:p>
        </p:txBody>
      </p:sp>
      <p:sp>
        <p:nvSpPr>
          <p:cNvPr id="9" name="Rounded Rectangle 8"/>
          <p:cNvSpPr/>
          <p:nvPr/>
        </p:nvSpPr>
        <p:spPr>
          <a:xfrm>
            <a:off x="7462407" y="2600322"/>
            <a:ext cx="1575022" cy="605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7</a:t>
            </a:r>
            <a:endParaRPr lang="en-US" sz="2400" dirty="0"/>
          </a:p>
        </p:txBody>
      </p:sp>
      <p:sp>
        <p:nvSpPr>
          <p:cNvPr id="10" name="Rounded Rectangle 9"/>
          <p:cNvSpPr/>
          <p:nvPr/>
        </p:nvSpPr>
        <p:spPr>
          <a:xfrm>
            <a:off x="5887385" y="3353523"/>
            <a:ext cx="2624042" cy="605481"/>
          </a:xfrm>
          <a:prstGeom prst="roundRect">
            <a:avLst/>
          </a:prstGeom>
          <a:pattFill prst="wdDnDiag">
            <a:fgClr>
              <a:schemeClr val="bg2">
                <a:lumMod val="75000"/>
              </a:schemeClr>
            </a:fgClr>
            <a:bgClr>
              <a:schemeClr val="bg2">
                <a:lumMod val="50000"/>
              </a:schemeClr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6</a:t>
            </a:r>
            <a:endParaRPr lang="en-US" sz="24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20173" y="4133510"/>
            <a:ext cx="8817256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24794" y="4096440"/>
            <a:ext cx="1019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time</a:t>
            </a:r>
          </a:p>
        </p:txBody>
      </p:sp>
      <p:sp>
        <p:nvSpPr>
          <p:cNvPr id="14" name="Content Placeholder 12"/>
          <p:cNvSpPr txBox="1">
            <a:spLocks/>
          </p:cNvSpPr>
          <p:nvPr/>
        </p:nvSpPr>
        <p:spPr>
          <a:xfrm>
            <a:off x="424411" y="4706956"/>
            <a:ext cx="8408779" cy="164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Pick activity you can add with the smallest finish time.</a:t>
            </a:r>
          </a:p>
          <a:p>
            <a:r>
              <a:rPr lang="en-US"/>
              <a:t>Repeat.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A4A12A-9394-BF47-8461-A4421C23E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22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BF2BF7E-FCAF-AC4A-80FD-9B24A8EBE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局部最优贪心机制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Earliest Finish First (EFF)</a:t>
            </a:r>
            <a:br>
              <a:rPr lang="en-US" altLang="zh-C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384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312572" y="2353430"/>
            <a:ext cx="1889039" cy="60548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3</a:t>
            </a:r>
            <a:endParaRPr lang="en-US" sz="2400" dirty="0"/>
          </a:p>
        </p:txBody>
      </p:sp>
      <p:sp>
        <p:nvSpPr>
          <p:cNvPr id="5" name="Rounded Rectangle 4"/>
          <p:cNvSpPr/>
          <p:nvPr/>
        </p:nvSpPr>
        <p:spPr>
          <a:xfrm>
            <a:off x="923606" y="2353430"/>
            <a:ext cx="1431888" cy="605481"/>
          </a:xfrm>
          <a:prstGeom prst="roundRect">
            <a:avLst/>
          </a:prstGeom>
          <a:pattFill prst="wdDnDiag">
            <a:fgClr>
              <a:schemeClr val="bg2">
                <a:lumMod val="75000"/>
              </a:schemeClr>
            </a:fgClr>
            <a:bgClr>
              <a:schemeClr val="bg2">
                <a:lumMod val="50000"/>
              </a:schemeClr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1</a:t>
            </a:r>
            <a:endParaRPr lang="en-US" sz="2400" dirty="0"/>
          </a:p>
        </p:txBody>
      </p:sp>
      <p:sp>
        <p:nvSpPr>
          <p:cNvPr id="6" name="Rounded Rectangle 5"/>
          <p:cNvSpPr/>
          <p:nvPr/>
        </p:nvSpPr>
        <p:spPr>
          <a:xfrm>
            <a:off x="3325709" y="2950884"/>
            <a:ext cx="1672281" cy="605481"/>
          </a:xfrm>
          <a:prstGeom prst="roundRect">
            <a:avLst/>
          </a:prstGeom>
          <a:pattFill prst="wdDnDiag">
            <a:fgClr>
              <a:schemeClr val="bg2">
                <a:lumMod val="75000"/>
              </a:schemeClr>
            </a:fgClr>
            <a:bgClr>
              <a:schemeClr val="bg2">
                <a:lumMod val="50000"/>
              </a:schemeClr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4       </a:t>
            </a:r>
            <a:endParaRPr lang="en-US" sz="2400" dirty="0"/>
          </a:p>
        </p:txBody>
      </p:sp>
      <p:sp>
        <p:nvSpPr>
          <p:cNvPr id="7" name="Rounded Rectangle 6"/>
          <p:cNvSpPr/>
          <p:nvPr/>
        </p:nvSpPr>
        <p:spPr>
          <a:xfrm>
            <a:off x="220173" y="3274897"/>
            <a:ext cx="1806917" cy="60548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2</a:t>
            </a:r>
            <a:endParaRPr lang="en-US" sz="2400" dirty="0"/>
          </a:p>
        </p:txBody>
      </p:sp>
      <p:sp>
        <p:nvSpPr>
          <p:cNvPr id="8" name="Rounded Rectangle 7"/>
          <p:cNvSpPr/>
          <p:nvPr/>
        </p:nvSpPr>
        <p:spPr>
          <a:xfrm>
            <a:off x="2616290" y="2031682"/>
            <a:ext cx="2184183" cy="60548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5</a:t>
            </a:r>
            <a:endParaRPr lang="en-US" sz="2400" dirty="0"/>
          </a:p>
        </p:txBody>
      </p:sp>
      <p:sp>
        <p:nvSpPr>
          <p:cNvPr id="9" name="Rounded Rectangle 8"/>
          <p:cNvSpPr/>
          <p:nvPr/>
        </p:nvSpPr>
        <p:spPr>
          <a:xfrm>
            <a:off x="7462407" y="2600322"/>
            <a:ext cx="1575022" cy="605481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7</a:t>
            </a:r>
            <a:endParaRPr lang="en-US" sz="2400" dirty="0"/>
          </a:p>
        </p:txBody>
      </p:sp>
      <p:sp>
        <p:nvSpPr>
          <p:cNvPr id="10" name="Rounded Rectangle 9"/>
          <p:cNvSpPr/>
          <p:nvPr/>
        </p:nvSpPr>
        <p:spPr>
          <a:xfrm>
            <a:off x="5887385" y="3353523"/>
            <a:ext cx="2624042" cy="605481"/>
          </a:xfrm>
          <a:prstGeom prst="roundRect">
            <a:avLst/>
          </a:prstGeom>
          <a:pattFill prst="wdDnDiag">
            <a:fgClr>
              <a:schemeClr val="bg2">
                <a:lumMod val="75000"/>
              </a:schemeClr>
            </a:fgClr>
            <a:bgClr>
              <a:schemeClr val="bg2">
                <a:lumMod val="50000"/>
              </a:schemeClr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6 </a:t>
            </a:r>
            <a:endParaRPr lang="en-US" sz="24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20173" y="4133510"/>
            <a:ext cx="8817256" cy="0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24794" y="4096440"/>
            <a:ext cx="1019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time</a:t>
            </a:r>
          </a:p>
        </p:txBody>
      </p:sp>
      <p:sp>
        <p:nvSpPr>
          <p:cNvPr id="14" name="Content Placeholder 12"/>
          <p:cNvSpPr txBox="1">
            <a:spLocks/>
          </p:cNvSpPr>
          <p:nvPr/>
        </p:nvSpPr>
        <p:spPr>
          <a:xfrm>
            <a:off x="424411" y="4706956"/>
            <a:ext cx="8408779" cy="164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Pick activity you can add with the smallest finish time.</a:t>
            </a:r>
          </a:p>
          <a:p>
            <a:r>
              <a:rPr lang="en-US"/>
              <a:t>Repeat.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1AD2EA-AAA0-364F-BA7F-FD2724ADF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23</a:t>
            </a:fld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7A906D4-C184-8246-8E66-BE09A17F3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局部最优贪心机制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Earliest Finish First (EFF)</a:t>
            </a:r>
            <a:br>
              <a:rPr lang="en-US" altLang="zh-C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39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2D2330-58E3-124D-87D4-506EDEC74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55" y="1825625"/>
            <a:ext cx="8000195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dirty="0" err="1">
                <a:solidFill>
                  <a:srgbClr val="00B050"/>
                </a:solidFill>
              </a:rPr>
              <a:t>greedyIntervalSchedule</a:t>
            </a:r>
            <a:r>
              <a:rPr lang="en-US" altLang="zh-CN" dirty="0"/>
              <a:t>(s, f) {     </a:t>
            </a:r>
          </a:p>
          <a:p>
            <a:pPr marL="0" indent="0">
              <a:buNone/>
            </a:pPr>
            <a:r>
              <a:rPr lang="zh-CN" altLang="en-US" dirty="0"/>
              <a:t>  </a:t>
            </a:r>
            <a:r>
              <a:rPr lang="en-US" altLang="zh-CN" dirty="0">
                <a:solidFill>
                  <a:srgbClr val="FF0000"/>
                </a:solidFill>
              </a:rPr>
              <a:t>Sort tasks by increasing order of finish times</a:t>
            </a:r>
          </a:p>
          <a:p>
            <a:pPr marL="0" indent="0">
              <a:buNone/>
            </a:pPr>
            <a:r>
              <a:rPr lang="zh-CN" altLang="en-US" dirty="0"/>
              <a:t>  </a:t>
            </a:r>
            <a:r>
              <a:rPr lang="en-US" altLang="zh-CN" dirty="0"/>
              <a:t>S = empty</a:t>
            </a:r>
            <a:r>
              <a:rPr lang="zh-CN" altLang="en-US" dirty="0"/>
              <a:t>  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</a:t>
            </a:r>
            <a:r>
              <a:rPr lang="en-US" altLang="zh-CN" dirty="0" err="1"/>
              <a:t>prev_finish</a:t>
            </a:r>
            <a:r>
              <a:rPr lang="en-US" altLang="zh-CN" dirty="0"/>
              <a:t> = -infinity</a:t>
            </a:r>
          </a:p>
          <a:p>
            <a:pPr marL="0" indent="0">
              <a:buNone/>
            </a:pPr>
            <a:r>
              <a:rPr lang="zh-CN" altLang="en-US" dirty="0"/>
              <a:t>  </a:t>
            </a:r>
            <a:r>
              <a:rPr lang="en-US" altLang="zh-CN" dirty="0"/>
              <a:t>for (</a:t>
            </a:r>
            <a:r>
              <a:rPr lang="en-US" altLang="zh-CN" dirty="0" err="1"/>
              <a:t>i</a:t>
            </a:r>
            <a:r>
              <a:rPr lang="en-US" altLang="zh-CN" dirty="0"/>
              <a:t> = 1 to n) {</a:t>
            </a:r>
          </a:p>
          <a:p>
            <a:pPr marL="0" indent="0"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if (</a:t>
            </a:r>
            <a:r>
              <a:rPr lang="en-US" altLang="zh-CN" dirty="0">
                <a:solidFill>
                  <a:srgbClr val="00B050"/>
                </a:solidFill>
              </a:rPr>
              <a:t>s[</a:t>
            </a:r>
            <a:r>
              <a:rPr lang="en-US" altLang="zh-CN" dirty="0" err="1">
                <a:solidFill>
                  <a:srgbClr val="00B050"/>
                </a:solidFill>
              </a:rPr>
              <a:t>i</a:t>
            </a:r>
            <a:r>
              <a:rPr lang="en-US" altLang="zh-CN" dirty="0">
                <a:solidFill>
                  <a:srgbClr val="00B050"/>
                </a:solidFill>
              </a:rPr>
              <a:t>] &gt; </a:t>
            </a:r>
            <a:r>
              <a:rPr lang="en-US" altLang="zh-CN" dirty="0" err="1">
                <a:solidFill>
                  <a:srgbClr val="00B050"/>
                </a:solidFill>
              </a:rPr>
              <a:t>prev_finish</a:t>
            </a:r>
            <a:r>
              <a:rPr lang="en-US" altLang="zh-CN" dirty="0"/>
              <a:t>) {</a:t>
            </a:r>
          </a:p>
          <a:p>
            <a:pPr marL="0" indent="0">
              <a:buNone/>
            </a:pPr>
            <a:r>
              <a:rPr lang="en-US" altLang="zh-CN" dirty="0"/>
              <a:t>            	</a:t>
            </a:r>
            <a:r>
              <a:rPr lang="zh-CN" altLang="en-US" dirty="0"/>
              <a:t> </a:t>
            </a:r>
            <a:r>
              <a:rPr lang="en-US" altLang="zh-CN" dirty="0"/>
              <a:t>append task </a:t>
            </a:r>
            <a:r>
              <a:rPr lang="en-US" altLang="zh-CN" dirty="0" err="1"/>
              <a:t>i</a:t>
            </a:r>
            <a:r>
              <a:rPr lang="en-US" altLang="zh-CN" dirty="0"/>
              <a:t> to S</a:t>
            </a:r>
          </a:p>
          <a:p>
            <a:pPr marL="0" indent="0">
              <a:buNone/>
            </a:pPr>
            <a:r>
              <a:rPr lang="en-US" altLang="zh-CN" dirty="0"/>
              <a:t>           </a:t>
            </a:r>
            <a:r>
              <a:rPr lang="zh-CN" altLang="en-US" dirty="0"/>
              <a:t>  </a:t>
            </a:r>
            <a:r>
              <a:rPr lang="en-US" altLang="zh-CN" dirty="0"/>
              <a:t> </a:t>
            </a:r>
            <a:r>
              <a:rPr lang="en-US" altLang="zh-CN" dirty="0" err="1"/>
              <a:t>prev_finish</a:t>
            </a:r>
            <a:r>
              <a:rPr lang="en-US" altLang="zh-CN" dirty="0"/>
              <a:t> = f[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</a:p>
          <a:p>
            <a:pPr marL="0" indent="0">
              <a:buNone/>
            </a:pPr>
            <a:r>
              <a:rPr lang="zh-CN" altLang="en-US" dirty="0"/>
              <a:t>         </a:t>
            </a:r>
            <a:r>
              <a:rPr lang="en-US" altLang="zh-CN" dirty="0"/>
              <a:t>}</a:t>
            </a:r>
            <a:r>
              <a:rPr lang="zh-CN" altLang="en-US" dirty="0"/>
              <a:t>    </a:t>
            </a:r>
            <a:r>
              <a:rPr lang="en-US" altLang="zh-CN" dirty="0"/>
              <a:t> </a:t>
            </a:r>
          </a:p>
          <a:p>
            <a:pPr marL="0" indent="0">
              <a:buNone/>
            </a:pPr>
            <a:r>
              <a:rPr lang="zh-CN" altLang="en-US" dirty="0"/>
              <a:t>   </a:t>
            </a:r>
            <a:r>
              <a:rPr lang="en-US" altLang="zh-CN" dirty="0"/>
              <a:t>}</a:t>
            </a:r>
          </a:p>
          <a:p>
            <a:pPr marL="0" indent="0">
              <a:buNone/>
            </a:pPr>
            <a:r>
              <a:rPr lang="zh-CN" altLang="en-US" dirty="0"/>
              <a:t>   </a:t>
            </a:r>
            <a:r>
              <a:rPr lang="en-US" altLang="zh-CN" dirty="0"/>
              <a:t>return S 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97D343-5B7B-7E4D-B940-A9B8EBD09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24</a:t>
            </a:fld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AC54CE-FD43-CC40-BC3B-451AB6C85BA4}"/>
              </a:ext>
            </a:extLst>
          </p:cNvPr>
          <p:cNvSpPr txBox="1"/>
          <p:nvPr/>
        </p:nvSpPr>
        <p:spPr>
          <a:xfrm>
            <a:off x="4073921" y="2511380"/>
            <a:ext cx="34127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0B050"/>
                </a:solidFill>
              </a:rPr>
              <a:t>//save</a:t>
            </a:r>
            <a:r>
              <a:rPr lang="zh-CN" altLang="en-US" sz="2000" dirty="0">
                <a:solidFill>
                  <a:srgbClr val="00B050"/>
                </a:solidFill>
              </a:rPr>
              <a:t> </a:t>
            </a:r>
            <a:r>
              <a:rPr lang="en-US" altLang="zh-CN" sz="2000" dirty="0">
                <a:solidFill>
                  <a:srgbClr val="00B050"/>
                </a:solidFill>
              </a:rPr>
              <a:t>the</a:t>
            </a:r>
            <a:r>
              <a:rPr lang="zh-CN" altLang="en-US" sz="2000" dirty="0">
                <a:solidFill>
                  <a:srgbClr val="00B050"/>
                </a:solidFill>
              </a:rPr>
              <a:t> </a:t>
            </a:r>
            <a:r>
              <a:rPr lang="en-US" altLang="zh-CN" sz="2000" dirty="0">
                <a:solidFill>
                  <a:srgbClr val="00B050"/>
                </a:solidFill>
              </a:rPr>
              <a:t>scheduled</a:t>
            </a:r>
            <a:r>
              <a:rPr lang="zh-CN" altLang="en-US" sz="2000" dirty="0">
                <a:solidFill>
                  <a:srgbClr val="00B050"/>
                </a:solidFill>
              </a:rPr>
              <a:t> </a:t>
            </a:r>
            <a:r>
              <a:rPr lang="en-US" altLang="zh-CN" sz="2000" dirty="0">
                <a:solidFill>
                  <a:srgbClr val="00B050"/>
                </a:solidFill>
              </a:rPr>
              <a:t>activities</a:t>
            </a:r>
            <a:r>
              <a:rPr lang="zh-CN" altLang="en-US" sz="2000" dirty="0">
                <a:solidFill>
                  <a:srgbClr val="00B050"/>
                </a:solidFill>
              </a:rPr>
              <a:t> 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F44715-284F-5449-80D0-010A77DC837D}"/>
              </a:ext>
            </a:extLst>
          </p:cNvPr>
          <p:cNvSpPr txBox="1"/>
          <p:nvPr/>
        </p:nvSpPr>
        <p:spPr>
          <a:xfrm>
            <a:off x="4073921" y="2890823"/>
            <a:ext cx="31920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0B050"/>
                </a:solidFill>
              </a:rPr>
              <a:t>//finish</a:t>
            </a:r>
            <a:r>
              <a:rPr lang="zh-CN" altLang="en-US" sz="2000" dirty="0">
                <a:solidFill>
                  <a:srgbClr val="00B050"/>
                </a:solidFill>
              </a:rPr>
              <a:t> </a:t>
            </a:r>
            <a:r>
              <a:rPr lang="en-US" altLang="zh-CN" sz="2000" dirty="0">
                <a:solidFill>
                  <a:srgbClr val="00B050"/>
                </a:solidFill>
              </a:rPr>
              <a:t>time</a:t>
            </a:r>
            <a:r>
              <a:rPr lang="zh-CN" altLang="en-US" sz="2000" dirty="0">
                <a:solidFill>
                  <a:srgbClr val="00B050"/>
                </a:solidFill>
              </a:rPr>
              <a:t> </a:t>
            </a:r>
            <a:r>
              <a:rPr lang="en-US" altLang="zh-CN" sz="2000" dirty="0">
                <a:solidFill>
                  <a:srgbClr val="00B050"/>
                </a:solidFill>
              </a:rPr>
              <a:t>of</a:t>
            </a:r>
            <a:r>
              <a:rPr lang="zh-CN" altLang="en-US" sz="2000" dirty="0">
                <a:solidFill>
                  <a:srgbClr val="00B050"/>
                </a:solidFill>
              </a:rPr>
              <a:t> </a:t>
            </a:r>
            <a:r>
              <a:rPr lang="en-US" altLang="zh-CN" sz="2000" dirty="0">
                <a:solidFill>
                  <a:srgbClr val="00B050"/>
                </a:solidFill>
              </a:rPr>
              <a:t>previous</a:t>
            </a:r>
            <a:r>
              <a:rPr lang="zh-CN" altLang="en-US" sz="2000" dirty="0">
                <a:solidFill>
                  <a:srgbClr val="00B050"/>
                </a:solidFill>
              </a:rPr>
              <a:t> </a:t>
            </a:r>
            <a:r>
              <a:rPr lang="en-US" altLang="zh-CN" sz="2000" dirty="0">
                <a:solidFill>
                  <a:srgbClr val="00B050"/>
                </a:solidFill>
              </a:rPr>
              <a:t>task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FFE27C-A39E-1E46-B454-E5F7429F56C3}"/>
              </a:ext>
            </a:extLst>
          </p:cNvPr>
          <p:cNvSpPr txBox="1"/>
          <p:nvPr/>
        </p:nvSpPr>
        <p:spPr>
          <a:xfrm>
            <a:off x="4073921" y="3567068"/>
            <a:ext cx="14093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070C0"/>
                </a:solidFill>
              </a:rPr>
              <a:t>//</a:t>
            </a:r>
            <a:r>
              <a:rPr lang="zh-CN" altLang="en-US" sz="2000" dirty="0">
                <a:solidFill>
                  <a:srgbClr val="0070C0"/>
                </a:solidFill>
              </a:rPr>
              <a:t>避免冲突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8653DB2-3810-F343-BA4D-A3ADB1786CC4}"/>
              </a:ext>
            </a:extLst>
          </p:cNvPr>
          <p:cNvSpPr txBox="1"/>
          <p:nvPr/>
        </p:nvSpPr>
        <p:spPr>
          <a:xfrm>
            <a:off x="6020397" y="2111270"/>
            <a:ext cx="2435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0B050"/>
                </a:solidFill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</a:rPr>
              <a:t>基于完成时间排序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6FCAFA9-C7EB-E64A-8ED9-A68CCAFA0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 err="1"/>
              <a:t>局部最优贪心机制</a:t>
            </a:r>
            <a:r>
              <a:rPr lang="en-US" altLang="zh-CN" dirty="0"/>
              <a:t>:</a:t>
            </a:r>
            <a:r>
              <a:rPr lang="zh-CN" altLang="en-US" dirty="0"/>
              <a:t>算法</a:t>
            </a:r>
            <a:br>
              <a:rPr lang="en-US" altLang="zh-C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5379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D2CEE-1C64-1A46-909A-FDFC0E53D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98" y="140466"/>
            <a:ext cx="7886700" cy="1325563"/>
          </a:xfrm>
        </p:spPr>
        <p:txBody>
          <a:bodyPr/>
          <a:lstStyle/>
          <a:p>
            <a:r>
              <a:rPr lang="en-US" altLang="zh-CN" dirty="0"/>
              <a:t>EFF</a:t>
            </a:r>
            <a:r>
              <a:rPr lang="zh-CN" altLang="en-US" dirty="0"/>
              <a:t>贪心算法的问题子结构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2E9E17-0001-0445-ABBC-D2C8F7988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25</a:t>
            </a:fld>
            <a:endParaRPr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B1AE58-592C-454F-B9C1-1E4B207CAA46}"/>
              </a:ext>
            </a:extLst>
          </p:cNvPr>
          <p:cNvSpPr/>
          <p:nvPr/>
        </p:nvSpPr>
        <p:spPr>
          <a:xfrm>
            <a:off x="2893671" y="1551793"/>
            <a:ext cx="2708476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</a:t>
            </a:r>
            <a:r>
              <a:rPr lang="zh-CN" altLang="en-US" dirty="0"/>
              <a:t>个事件</a:t>
            </a:r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705ADE-CD85-5D41-8E9B-418FFC741597}"/>
              </a:ext>
            </a:extLst>
          </p:cNvPr>
          <p:cNvSpPr/>
          <p:nvPr/>
        </p:nvSpPr>
        <p:spPr>
          <a:xfrm>
            <a:off x="2928396" y="2576160"/>
            <a:ext cx="733291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i</a:t>
            </a:r>
            <a:r>
              <a:rPr lang="zh-CN" altLang="en-US" dirty="0"/>
              <a:t>个</a:t>
            </a:r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FC52DF-575D-FB48-80D9-58E7DDD48D7A}"/>
              </a:ext>
            </a:extLst>
          </p:cNvPr>
          <p:cNvSpPr/>
          <p:nvPr/>
        </p:nvSpPr>
        <p:spPr>
          <a:xfrm>
            <a:off x="3775275" y="2576160"/>
            <a:ext cx="1826871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n-</a:t>
            </a:r>
            <a:r>
              <a:rPr lang="en-US" altLang="zh-CN" dirty="0" err="1"/>
              <a:t>i</a:t>
            </a:r>
            <a:r>
              <a:rPr lang="zh-CN" altLang="en-US" dirty="0"/>
              <a:t>个事件</a:t>
            </a:r>
            <a:endParaRPr 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11E14DB-B660-DE4B-A822-8DB496C55916}"/>
              </a:ext>
            </a:extLst>
          </p:cNvPr>
          <p:cNvSpPr txBox="1"/>
          <p:nvPr/>
        </p:nvSpPr>
        <p:spPr>
          <a:xfrm>
            <a:off x="3008602" y="5894686"/>
            <a:ext cx="33602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最多发生</a:t>
            </a:r>
            <a:r>
              <a:rPr lang="en-US" altLang="zh-CN" sz="2400" dirty="0" err="1"/>
              <a:t>n</a:t>
            </a:r>
            <a:r>
              <a:rPr lang="zh-CN" altLang="en-US" sz="2400" dirty="0"/>
              <a:t>次调用：</a:t>
            </a:r>
            <a:r>
              <a:rPr lang="en-US" altLang="zh-CN" sz="2400" dirty="0"/>
              <a:t>O(n)</a:t>
            </a:r>
            <a:endParaRPr lang="en-US" sz="2400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53513823-78B3-D945-9DEA-ECCC70085BB8}"/>
              </a:ext>
            </a:extLst>
          </p:cNvPr>
          <p:cNvCxnSpPr>
            <a:stCxn id="5" idx="2"/>
          </p:cNvCxnSpPr>
          <p:nvPr/>
        </p:nvCxnSpPr>
        <p:spPr>
          <a:xfrm>
            <a:off x="4247909" y="2026355"/>
            <a:ext cx="0" cy="549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90CC284F-D8E1-EC47-93D5-4BA08C6F23E4}"/>
              </a:ext>
            </a:extLst>
          </p:cNvPr>
          <p:cNvSpPr/>
          <p:nvPr/>
        </p:nvSpPr>
        <p:spPr>
          <a:xfrm>
            <a:off x="4476512" y="3600527"/>
            <a:ext cx="1354236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n-</a:t>
            </a:r>
            <a:r>
              <a:rPr lang="en-US" altLang="zh-CN" dirty="0" err="1"/>
              <a:t>i</a:t>
            </a:r>
            <a:r>
              <a:rPr lang="en-US" altLang="zh-CN" dirty="0"/>
              <a:t>-k</a:t>
            </a:r>
            <a:r>
              <a:rPr lang="zh-CN" altLang="en-US" dirty="0"/>
              <a:t>个事件</a:t>
            </a:r>
            <a:endParaRPr lang="en-US" dirty="0"/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8668C73E-530E-C24E-8CE7-E78AA0C58A11}"/>
              </a:ext>
            </a:extLst>
          </p:cNvPr>
          <p:cNvCxnSpPr/>
          <p:nvPr/>
        </p:nvCxnSpPr>
        <p:spPr>
          <a:xfrm>
            <a:off x="4667489" y="3050722"/>
            <a:ext cx="0" cy="549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697BA98E-5F06-BB40-A1DC-28417863C511}"/>
              </a:ext>
            </a:extLst>
          </p:cNvPr>
          <p:cNvSpPr/>
          <p:nvPr/>
        </p:nvSpPr>
        <p:spPr>
          <a:xfrm>
            <a:off x="3586366" y="3605104"/>
            <a:ext cx="733291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k</a:t>
            </a:r>
            <a:r>
              <a:rPr lang="zh-CN" altLang="en-US" dirty="0"/>
              <a:t>个</a:t>
            </a:r>
            <a:endParaRPr lang="en-US" dirty="0"/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77CDE32E-442A-3344-8B8B-7D6E70FEEE93}"/>
              </a:ext>
            </a:extLst>
          </p:cNvPr>
          <p:cNvCxnSpPr>
            <a:cxnSpLocks/>
          </p:cNvCxnSpPr>
          <p:nvPr/>
        </p:nvCxnSpPr>
        <p:spPr>
          <a:xfrm>
            <a:off x="4569109" y="4463633"/>
            <a:ext cx="0" cy="879676"/>
          </a:xfrm>
          <a:prstGeom prst="line">
            <a:avLst/>
          </a:prstGeom>
          <a:ln w="762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250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9F39E7-23AD-5D46-BA8A-8CD91ACBB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Complexity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Correctness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6D1F00-483E-CF40-96D2-30C33365F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  <a:r>
              <a:rPr lang="zh-CN" altLang="en-US" dirty="0"/>
              <a:t> </a:t>
            </a:r>
            <a:r>
              <a:rPr lang="en-US" altLang="zh-CN" dirty="0"/>
              <a:t>complexity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B050"/>
                </a:solidFill>
              </a:rPr>
              <a:t>O(</a:t>
            </a:r>
            <a:r>
              <a:rPr lang="en-US" altLang="zh-CN" dirty="0" err="1">
                <a:solidFill>
                  <a:srgbClr val="00B050"/>
                </a:solidFill>
              </a:rPr>
              <a:t>nlogn</a:t>
            </a:r>
            <a:r>
              <a:rPr lang="en-US" altLang="zh-CN" dirty="0">
                <a:solidFill>
                  <a:srgbClr val="00B050"/>
                </a:solidFill>
              </a:rPr>
              <a:t>)</a:t>
            </a:r>
          </a:p>
          <a:p>
            <a:pPr lvl="1"/>
            <a:r>
              <a:rPr lang="en-US" altLang="zh-CN" dirty="0"/>
              <a:t>The running time is dominated by the </a:t>
            </a:r>
            <a:r>
              <a:rPr lang="en-US" altLang="zh-CN" dirty="0">
                <a:solidFill>
                  <a:srgbClr val="00B050"/>
                </a:solidFill>
              </a:rPr>
              <a:t>O(</a:t>
            </a:r>
            <a:r>
              <a:rPr lang="en-US" altLang="zh-CN" dirty="0" err="1">
                <a:solidFill>
                  <a:srgbClr val="00B050"/>
                </a:solidFill>
              </a:rPr>
              <a:t>nlogn</a:t>
            </a:r>
            <a:r>
              <a:rPr lang="en-US" altLang="zh-CN" dirty="0">
                <a:solidFill>
                  <a:srgbClr val="00B050"/>
                </a:solidFill>
              </a:rPr>
              <a:t>) </a:t>
            </a:r>
            <a:r>
              <a:rPr lang="en-US" altLang="zh-CN" dirty="0"/>
              <a:t>time to sort the jobs by their finish times. </a:t>
            </a:r>
          </a:p>
          <a:p>
            <a:pPr lvl="1"/>
            <a:r>
              <a:rPr lang="en-US" altLang="zh-CN" dirty="0"/>
              <a:t>After sorting, the remaining steps can be performed in </a:t>
            </a:r>
            <a:r>
              <a:rPr lang="en-US" altLang="zh-CN" dirty="0">
                <a:solidFill>
                  <a:srgbClr val="00B050"/>
                </a:solidFill>
              </a:rPr>
              <a:t>O(n)</a:t>
            </a:r>
            <a:r>
              <a:rPr lang="en-US" altLang="zh-CN" dirty="0"/>
              <a:t> time.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correctness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en-US" altLang="zh-CN" dirty="0"/>
              <a:t>The output is a valid schedule that </a:t>
            </a:r>
            <a:r>
              <a:rPr lang="en-US" altLang="zh-CN" dirty="0">
                <a:solidFill>
                  <a:srgbClr val="00B050"/>
                </a:solidFill>
              </a:rPr>
              <a:t>no two conflicting tasks appear</a:t>
            </a:r>
            <a:r>
              <a:rPr lang="en-US" altLang="zh-CN" dirty="0"/>
              <a:t> in the final schedule. </a:t>
            </a:r>
          </a:p>
          <a:p>
            <a:pPr lvl="1"/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optimality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proved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following</a:t>
            </a:r>
            <a:r>
              <a:rPr lang="zh-CN" altLang="en-US" dirty="0"/>
              <a:t> </a:t>
            </a:r>
            <a:r>
              <a:rPr lang="en-US" altLang="zh-CN" dirty="0"/>
              <a:t>slides,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worth</a:t>
            </a:r>
            <a:r>
              <a:rPr lang="zh-CN" altLang="en-US" dirty="0"/>
              <a:t> </a:t>
            </a:r>
            <a:r>
              <a:rPr lang="en-US" altLang="zh-CN" dirty="0"/>
              <a:t>noting,</a:t>
            </a:r>
            <a:r>
              <a:rPr lang="zh-CN" altLang="en-US" dirty="0"/>
              <a:t> </a:t>
            </a:r>
            <a:r>
              <a:rPr lang="en-US" altLang="zh-CN" dirty="0"/>
              <a:t>because it is common to many correctness proofs for greedy algorithms.</a:t>
            </a:r>
          </a:p>
          <a:p>
            <a:pPr lvl="1"/>
            <a:endParaRPr lang="en-US" altLang="zh-CN" dirty="0"/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27819A-7FB9-BD4A-B949-23E129098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385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F977E-D0D7-EE47-80B6-DA7012252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贪心算法最优性证明的方法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21B88C-5CED-F248-9986-0B377BCE6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5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We begin by considering </a:t>
            </a:r>
            <a:r>
              <a:rPr lang="en-US" altLang="zh-CN" dirty="0">
                <a:solidFill>
                  <a:srgbClr val="00B050"/>
                </a:solidFill>
              </a:rPr>
              <a:t>an arbitrary solution, which may assume to be an optimal solution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If it is equal to the greedy solution, then the greedy solution is optimal.</a:t>
            </a:r>
          </a:p>
          <a:p>
            <a:r>
              <a:rPr lang="en-US" altLang="zh-CN" dirty="0"/>
              <a:t>Otherwise, </a:t>
            </a:r>
            <a:r>
              <a:rPr lang="en-US" altLang="zh-CN" dirty="0">
                <a:solidFill>
                  <a:srgbClr val="00B050"/>
                </a:solidFill>
              </a:rPr>
              <a:t>we consider the first instance where these two solutions differ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We replace </a:t>
            </a:r>
            <a:r>
              <a:rPr lang="en-US" altLang="zh-CN" dirty="0">
                <a:solidFill>
                  <a:srgbClr val="00B050"/>
                </a:solidFill>
              </a:rPr>
              <a:t>the optimal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choice with the greedy choice</a:t>
            </a:r>
            <a:r>
              <a:rPr lang="en-US" altLang="zh-CN" dirty="0"/>
              <a:t> and </a:t>
            </a:r>
            <a:r>
              <a:rPr lang="en-US" altLang="zh-CN" dirty="0">
                <a:solidFill>
                  <a:srgbClr val="0070C0"/>
                </a:solidFill>
              </a:rPr>
              <a:t>show that things can only get better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Thus, by applying this argument inductively, </a:t>
            </a:r>
            <a:r>
              <a:rPr lang="en-US" altLang="zh-CN" dirty="0">
                <a:solidFill>
                  <a:srgbClr val="00B050"/>
                </a:solidFill>
              </a:rPr>
              <a:t>it follows that the greedy solution is as good as an optimal solution, thus it is optimal</a:t>
            </a:r>
            <a:r>
              <a:rPr lang="en-US" altLang="zh-CN" dirty="0"/>
              <a:t>.</a:t>
            </a:r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44006A-D07E-7342-B2C7-02A4457F4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379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CAD7E-B04E-984F-911B-DAEFE87BA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32609"/>
          </a:xfrm>
        </p:spPr>
        <p:txBody>
          <a:bodyPr/>
          <a:lstStyle/>
          <a:p>
            <a:r>
              <a:rPr lang="en-US" altLang="zh-CN" dirty="0"/>
              <a:t>Proof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Optimality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11C063-360A-5B46-98A0-5E55314B5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39403"/>
            <a:ext cx="7886700" cy="4837560"/>
          </a:xfrm>
        </p:spPr>
        <p:txBody>
          <a:bodyPr>
            <a:normAutofit/>
          </a:bodyPr>
          <a:lstStyle/>
          <a:p>
            <a:r>
              <a:rPr lang="en-US" altLang="zh-CN" dirty="0"/>
              <a:t>Let </a:t>
            </a:r>
            <a:r>
              <a:rPr lang="en-US" altLang="zh-CN" dirty="0">
                <a:solidFill>
                  <a:srgbClr val="00B050"/>
                </a:solidFill>
              </a:rPr>
              <a:t>O = ⟨x</a:t>
            </a:r>
            <a:r>
              <a:rPr lang="en-US" altLang="zh-CN" baseline="-25000" dirty="0">
                <a:solidFill>
                  <a:srgbClr val="00B050"/>
                </a:solidFill>
              </a:rPr>
              <a:t>1</a:t>
            </a:r>
            <a:r>
              <a:rPr lang="en-US" altLang="zh-CN" dirty="0">
                <a:solidFill>
                  <a:srgbClr val="00B050"/>
                </a:solidFill>
              </a:rPr>
              <a:t>, . . . , </a:t>
            </a:r>
            <a:r>
              <a:rPr lang="en-US" altLang="zh-CN" dirty="0" err="1">
                <a:solidFill>
                  <a:srgbClr val="00B050"/>
                </a:solidFill>
              </a:rPr>
              <a:t>x</a:t>
            </a:r>
            <a:r>
              <a:rPr lang="en-US" altLang="zh-CN" baseline="-25000" dirty="0" err="1">
                <a:solidFill>
                  <a:srgbClr val="00B050"/>
                </a:solidFill>
              </a:rPr>
              <a:t>k</a:t>
            </a:r>
            <a:r>
              <a:rPr lang="en-US" altLang="zh-CN" dirty="0">
                <a:solidFill>
                  <a:srgbClr val="00B050"/>
                </a:solidFill>
              </a:rPr>
              <a:t>⟩ </a:t>
            </a:r>
            <a:r>
              <a:rPr lang="en-US" altLang="zh-CN" dirty="0"/>
              <a:t>be the activities of an optimal solution listed in increasing order of finish time, </a:t>
            </a:r>
          </a:p>
          <a:p>
            <a:r>
              <a:rPr lang="en-US" altLang="zh-CN" dirty="0"/>
              <a:t>Let </a:t>
            </a:r>
            <a:r>
              <a:rPr lang="en-US" altLang="zh-CN" dirty="0">
                <a:solidFill>
                  <a:srgbClr val="00B050"/>
                </a:solidFill>
              </a:rPr>
              <a:t>G = ⟨g</a:t>
            </a:r>
            <a:r>
              <a:rPr lang="en-US" altLang="zh-CN" baseline="-25000" dirty="0">
                <a:solidFill>
                  <a:srgbClr val="00B050"/>
                </a:solidFill>
              </a:rPr>
              <a:t>1</a:t>
            </a:r>
            <a:r>
              <a:rPr lang="en-US" altLang="zh-CN" dirty="0">
                <a:solidFill>
                  <a:srgbClr val="00B050"/>
                </a:solidFill>
              </a:rPr>
              <a:t>, . . . , </a:t>
            </a:r>
            <a:r>
              <a:rPr lang="en-US" altLang="zh-CN" dirty="0" err="1">
                <a:solidFill>
                  <a:srgbClr val="00B050"/>
                </a:solidFill>
              </a:rPr>
              <a:t>g</a:t>
            </a:r>
            <a:r>
              <a:rPr lang="en-US" altLang="zh-CN" baseline="-25000" dirty="0" err="1">
                <a:solidFill>
                  <a:srgbClr val="00B050"/>
                </a:solidFill>
              </a:rPr>
              <a:t>k</a:t>
            </a:r>
            <a:r>
              <a:rPr lang="en-US" altLang="zh-CN" baseline="-25000" dirty="0">
                <a:solidFill>
                  <a:srgbClr val="00B050"/>
                </a:solidFill>
              </a:rPr>
              <a:t>′</a:t>
            </a:r>
            <a:r>
              <a:rPr lang="en-US" altLang="zh-CN" dirty="0">
                <a:solidFill>
                  <a:srgbClr val="00B050"/>
                </a:solidFill>
              </a:rPr>
              <a:t> ⟩ </a:t>
            </a:r>
            <a:r>
              <a:rPr lang="en-US" altLang="zh-CN" dirty="0"/>
              <a:t>be the activities of the EFF solution similarly sorted.</a:t>
            </a:r>
          </a:p>
          <a:p>
            <a:r>
              <a:rPr lang="en-US" altLang="zh-CN" dirty="0"/>
              <a:t>If G = O, then we are done.</a:t>
            </a:r>
          </a:p>
          <a:p>
            <a:r>
              <a:rPr lang="en-US" altLang="zh-CN" dirty="0"/>
              <a:t>Otherwise, observe that </a:t>
            </a:r>
            <a:r>
              <a:rPr lang="en-US" altLang="zh-CN" dirty="0">
                <a:solidFill>
                  <a:srgbClr val="00B050"/>
                </a:solidFill>
              </a:rPr>
              <a:t>since O is optimal, it must contain at least as many activities as the greedy schedule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Suppose</a:t>
            </a:r>
            <a:r>
              <a:rPr lang="zh-CN" altLang="en-US" dirty="0"/>
              <a:t> </a:t>
            </a:r>
            <a:r>
              <a:rPr lang="en-US" altLang="zh-CN" dirty="0"/>
              <a:t>there is a first index </a:t>
            </a:r>
            <a:r>
              <a:rPr lang="en-US" altLang="zh-CN" dirty="0">
                <a:solidFill>
                  <a:srgbClr val="00B050"/>
                </a:solidFill>
              </a:rPr>
              <a:t>j</a:t>
            </a:r>
            <a:r>
              <a:rPr lang="en-US" altLang="zh-CN" dirty="0"/>
              <a:t> where these two schedules differ</a:t>
            </a:r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E9969E-653F-DE44-B2BD-D9CE05688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28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9FF5DA-4EFB-E645-BDC7-83DE09741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769" y="5753690"/>
            <a:ext cx="4445556" cy="110431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8F4712F-BA65-4047-A841-5A447FB18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313" y="5917991"/>
            <a:ext cx="1227526" cy="3996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F8A325E-E9D7-4846-9E7C-775D4BBDB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582" y="6320353"/>
            <a:ext cx="828988" cy="40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2399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53E35E-35FA-984A-9EAB-DB406A760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48519"/>
          </a:xfrm>
        </p:spPr>
        <p:txBody>
          <a:bodyPr/>
          <a:lstStyle/>
          <a:p>
            <a:r>
              <a:rPr lang="en-US" altLang="zh-CN" dirty="0"/>
              <a:t>Proof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Optimality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5A8F84-1458-0445-9CDF-1FF17838A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429197"/>
            <a:ext cx="7886700" cy="3747766"/>
          </a:xfrm>
        </p:spPr>
        <p:txBody>
          <a:bodyPr/>
          <a:lstStyle/>
          <a:p>
            <a:r>
              <a:rPr lang="en-US" altLang="zh-CN" dirty="0" err="1"/>
              <a:t>g</a:t>
            </a:r>
            <a:r>
              <a:rPr lang="en-US" altLang="zh-CN" baseline="-25000" dirty="0" err="1"/>
              <a:t>j</a:t>
            </a:r>
            <a:r>
              <a:rPr lang="en-US" altLang="zh-CN" dirty="0"/>
              <a:t> does not conflict with any earlier activity,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its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B050"/>
                </a:solidFill>
              </a:rPr>
              <a:t>finish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time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is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no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later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than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 err="1">
                <a:solidFill>
                  <a:srgbClr val="00B050"/>
                </a:solidFill>
              </a:rPr>
              <a:t>x</a:t>
            </a:r>
            <a:r>
              <a:rPr lang="en-US" altLang="zh-CN" baseline="-25000" dirty="0" err="1">
                <a:solidFill>
                  <a:srgbClr val="00B050"/>
                </a:solidFill>
              </a:rPr>
              <a:t>j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greedy</a:t>
            </a:r>
            <a:r>
              <a:rPr lang="zh-CN" altLang="en-US" dirty="0"/>
              <a:t> </a:t>
            </a:r>
            <a:r>
              <a:rPr lang="en-US" altLang="zh-CN" dirty="0"/>
              <a:t>earliest</a:t>
            </a:r>
            <a:r>
              <a:rPr lang="zh-CN" altLang="en-US" dirty="0"/>
              <a:t> </a:t>
            </a:r>
            <a:r>
              <a:rPr lang="en-US" altLang="zh-CN" dirty="0"/>
              <a:t>finish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  <a:r>
              <a:rPr lang="zh-CN" altLang="en-US" dirty="0"/>
              <a:t> </a:t>
            </a:r>
            <a:r>
              <a:rPr lang="en-US" altLang="zh-CN" dirty="0"/>
              <a:t>policy.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b="1" dirty="0"/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05D5F7-3BFB-864A-AA36-6332BF5CF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29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93A678-6632-DC43-9443-B34F015BF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357" y="1324887"/>
            <a:ext cx="4445556" cy="110431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FE49016-9669-1842-8E35-FBA0483CF403}"/>
              </a:ext>
            </a:extLst>
          </p:cNvPr>
          <p:cNvSpPr txBox="1"/>
          <p:nvPr/>
        </p:nvSpPr>
        <p:spPr>
          <a:xfrm>
            <a:off x="776958" y="1496468"/>
            <a:ext cx="2419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optimal</a:t>
            </a:r>
            <a:r>
              <a:rPr lang="zh-CN" altLang="en-US" sz="2000" dirty="0"/>
              <a:t> </a:t>
            </a:r>
            <a:r>
              <a:rPr lang="en-US" altLang="zh-CN" sz="2000" dirty="0"/>
              <a:t>schedule</a:t>
            </a:r>
            <a:endParaRPr 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BD2316-78A8-434D-89F9-7E5ACD36C6B7}"/>
              </a:ext>
            </a:extLst>
          </p:cNvPr>
          <p:cNvSpPr txBox="1"/>
          <p:nvPr/>
        </p:nvSpPr>
        <p:spPr>
          <a:xfrm>
            <a:off x="776957" y="1896578"/>
            <a:ext cx="2330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greedy</a:t>
            </a:r>
            <a:r>
              <a:rPr lang="zh-CN" altLang="en-US" sz="2000" dirty="0"/>
              <a:t> </a:t>
            </a:r>
            <a:r>
              <a:rPr lang="en-US" altLang="zh-CN" sz="2000" dirty="0"/>
              <a:t>schedule</a:t>
            </a:r>
            <a:endParaRPr lang="en-US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3EA6D79-53E5-624F-966C-3534AF4CA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307" y="3748757"/>
            <a:ext cx="7395878" cy="167167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F18A3AE-D403-2943-A752-A4FD8D50203F}"/>
              </a:ext>
            </a:extLst>
          </p:cNvPr>
          <p:cNvSpPr txBox="1"/>
          <p:nvPr/>
        </p:nvSpPr>
        <p:spPr>
          <a:xfrm>
            <a:off x="1007608" y="5524685"/>
            <a:ext cx="7371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Construct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modified</a:t>
            </a:r>
            <a:r>
              <a:rPr lang="zh-CN" altLang="en-US" sz="2400" dirty="0"/>
              <a:t> </a:t>
            </a:r>
            <a:r>
              <a:rPr lang="en-US" altLang="zh-CN" sz="2400" dirty="0"/>
              <a:t>schedule</a:t>
            </a:r>
            <a:r>
              <a:rPr lang="zh-CN" altLang="en-US" sz="2400" dirty="0"/>
              <a:t> </a:t>
            </a:r>
            <a:r>
              <a:rPr lang="en-US" altLang="zh-CN" sz="2400" dirty="0"/>
              <a:t>O’</a:t>
            </a:r>
            <a:r>
              <a:rPr lang="zh-CN" altLang="en-US" sz="2400" dirty="0"/>
              <a:t> </a:t>
            </a:r>
            <a:r>
              <a:rPr lang="en-US" altLang="zh-CN" sz="2400" dirty="0"/>
              <a:t>by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00B050"/>
                </a:solidFill>
              </a:rPr>
              <a:t>replacing</a:t>
            </a:r>
            <a:r>
              <a:rPr lang="zh-CN" altLang="en-US" sz="2400" dirty="0">
                <a:solidFill>
                  <a:srgbClr val="00B050"/>
                </a:solidFill>
              </a:rPr>
              <a:t> </a:t>
            </a:r>
            <a:r>
              <a:rPr lang="en-US" altLang="zh-CN" sz="2400" dirty="0" err="1">
                <a:solidFill>
                  <a:srgbClr val="00B050"/>
                </a:solidFill>
              </a:rPr>
              <a:t>x</a:t>
            </a:r>
            <a:r>
              <a:rPr lang="en-US" altLang="zh-CN" sz="2400" baseline="-25000" dirty="0" err="1">
                <a:solidFill>
                  <a:srgbClr val="00B050"/>
                </a:solidFill>
              </a:rPr>
              <a:t>j</a:t>
            </a:r>
            <a:r>
              <a:rPr lang="zh-CN" altLang="en-US" sz="2400" dirty="0">
                <a:solidFill>
                  <a:srgbClr val="00B050"/>
                </a:solidFill>
              </a:rPr>
              <a:t> </a:t>
            </a:r>
            <a:r>
              <a:rPr lang="en-US" altLang="zh-CN" sz="2400" dirty="0">
                <a:solidFill>
                  <a:srgbClr val="00B050"/>
                </a:solidFill>
              </a:rPr>
              <a:t>in</a:t>
            </a:r>
            <a:r>
              <a:rPr lang="zh-CN" altLang="en-US" sz="2400" dirty="0">
                <a:solidFill>
                  <a:srgbClr val="00B050"/>
                </a:solidFill>
              </a:rPr>
              <a:t> </a:t>
            </a:r>
            <a:r>
              <a:rPr lang="en-US" altLang="zh-CN" sz="2400" dirty="0">
                <a:solidFill>
                  <a:srgbClr val="00B050"/>
                </a:solidFill>
              </a:rPr>
              <a:t>O</a:t>
            </a:r>
            <a:r>
              <a:rPr lang="zh-CN" altLang="en-US" sz="2400" dirty="0">
                <a:solidFill>
                  <a:srgbClr val="00B050"/>
                </a:solidFill>
              </a:rPr>
              <a:t> </a:t>
            </a:r>
            <a:r>
              <a:rPr lang="en-US" altLang="zh-CN" sz="2400" dirty="0">
                <a:solidFill>
                  <a:srgbClr val="00B050"/>
                </a:solidFill>
              </a:rPr>
              <a:t>by</a:t>
            </a:r>
            <a:r>
              <a:rPr lang="zh-CN" altLang="en-US" sz="2400" dirty="0">
                <a:solidFill>
                  <a:srgbClr val="00B050"/>
                </a:solidFill>
              </a:rPr>
              <a:t> </a:t>
            </a:r>
            <a:r>
              <a:rPr lang="en-US" altLang="zh-CN" sz="2400" dirty="0" err="1">
                <a:solidFill>
                  <a:srgbClr val="00B050"/>
                </a:solidFill>
              </a:rPr>
              <a:t>g</a:t>
            </a:r>
            <a:r>
              <a:rPr lang="en-US" altLang="zh-CN" sz="2400" baseline="-25000" dirty="0" err="1">
                <a:solidFill>
                  <a:srgbClr val="00B050"/>
                </a:solidFill>
              </a:rPr>
              <a:t>j</a:t>
            </a:r>
            <a:endParaRPr lang="en-US" sz="2400" baseline="-25000" dirty="0">
              <a:solidFill>
                <a:srgbClr val="00B05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1C4EE86-C492-C249-9BE1-BDB97DE3A7D2}"/>
              </a:ext>
            </a:extLst>
          </p:cNvPr>
          <p:cNvSpPr txBox="1"/>
          <p:nvPr/>
        </p:nvSpPr>
        <p:spPr>
          <a:xfrm>
            <a:off x="1007608" y="6022917"/>
            <a:ext cx="77886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O′ is a valid schedule, because 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Helvetica" pitchFamily="2" charset="0"/>
              </a:rPr>
              <a:t>g</a:t>
            </a:r>
            <a:r>
              <a:rPr lang="en-US" altLang="zh-CN" sz="2400" baseline="-25000" dirty="0" err="1">
                <a:solidFill>
                  <a:srgbClr val="000000"/>
                </a:solidFill>
                <a:effectLst/>
                <a:latin typeface="Helvetica" pitchFamily="2" charset="0"/>
              </a:rPr>
              <a:t>j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 finishes no later than 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Helvetica" pitchFamily="2" charset="0"/>
              </a:rPr>
              <a:t>x</a:t>
            </a:r>
            <a:r>
              <a:rPr lang="en-US" altLang="zh-CN" sz="2400" baseline="-25000" dirty="0" err="1">
                <a:solidFill>
                  <a:srgbClr val="000000"/>
                </a:solidFill>
                <a:effectLst/>
                <a:latin typeface="Helvetica" pitchFamily="2" charset="0"/>
              </a:rPr>
              <a:t>j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so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Helvetica" pitchFamily="2" charset="0"/>
              </a:rPr>
              <a:t>it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Helvetica" pitchFamily="2" charset="0"/>
              </a:rPr>
              <a:t>will</a:t>
            </a:r>
            <a:r>
              <a:rPr lang="zh-CN" alt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Helvetica" pitchFamily="2" charset="0"/>
              </a:rPr>
              <a:t>not</a:t>
            </a:r>
            <a:r>
              <a:rPr lang="zh-CN" alt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Helvetica" pitchFamily="2" charset="0"/>
              </a:rPr>
              <a:t>conflict</a:t>
            </a:r>
            <a:r>
              <a:rPr lang="zh-CN" alt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Helvetica" pitchFamily="2" charset="0"/>
              </a:rPr>
              <a:t>with</a:t>
            </a:r>
            <a:r>
              <a:rPr lang="zh-CN" alt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Helvetica" pitchFamily="2" charset="0"/>
              </a:rPr>
              <a:t>later</a:t>
            </a:r>
            <a:r>
              <a:rPr lang="zh-CN" alt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Helvetica" pitchFamily="2" charset="0"/>
              </a:rPr>
              <a:t>schedules</a:t>
            </a:r>
            <a:r>
              <a:rPr lang="zh-CN" alt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Helvetica" pitchFamily="2" charset="0"/>
              </a:rPr>
              <a:t>in</a:t>
            </a:r>
            <a:r>
              <a:rPr lang="zh-CN" alt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Helvetica" pitchFamily="2" charset="0"/>
              </a:rPr>
              <a:t>O.</a:t>
            </a:r>
            <a:r>
              <a:rPr lang="zh-CN" alt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endParaRPr lang="en-US" altLang="zh-CN" sz="24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998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DF3250-11AD-1A4C-A243-2020526DA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Proof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Optimality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F2E935-E323-5140-9E09-0156E6C3C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318" y="3535454"/>
            <a:ext cx="7886700" cy="2747963"/>
          </a:xfrm>
        </p:spPr>
        <p:txBody>
          <a:bodyPr/>
          <a:lstStyle/>
          <a:p>
            <a:r>
              <a:rPr lang="en-US" altLang="zh-CN" dirty="0"/>
              <a:t>This new schedule has </a:t>
            </a:r>
            <a:r>
              <a:rPr lang="en-US" altLang="zh-CN" dirty="0">
                <a:solidFill>
                  <a:srgbClr val="00B050"/>
                </a:solidFill>
              </a:rPr>
              <a:t>the same number of activities as O</a:t>
            </a:r>
            <a:r>
              <a:rPr lang="en-US" altLang="zh-CN" dirty="0"/>
              <a:t>, and so </a:t>
            </a:r>
            <a:r>
              <a:rPr lang="en-US" altLang="zh-CN" dirty="0">
                <a:solidFill>
                  <a:srgbClr val="00B050"/>
                </a:solidFill>
              </a:rPr>
              <a:t>it is at least as good with respect to our optimization criterion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By repeating this process, </a:t>
            </a:r>
            <a:r>
              <a:rPr lang="en-US" altLang="zh-CN" dirty="0">
                <a:solidFill>
                  <a:srgbClr val="00B050"/>
                </a:solidFill>
              </a:rPr>
              <a:t>we will eventually convert O into G without ever decreasing the number of activities.</a:t>
            </a:r>
            <a:r>
              <a:rPr lang="en-US" altLang="zh-CN" dirty="0"/>
              <a:t> It follows that </a:t>
            </a:r>
            <a:r>
              <a:rPr lang="en-US" altLang="zh-CN" b="1" dirty="0"/>
              <a:t>G is optimal</a:t>
            </a:r>
            <a:r>
              <a:rPr lang="en-US" altLang="zh-CN" dirty="0"/>
              <a:t>.</a:t>
            </a:r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4A300F-C652-1A41-8A82-8A88CF55D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30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C94E24F-B8B2-774D-B3C6-5A7E1E6D2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061" y="1465933"/>
            <a:ext cx="7395878" cy="167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380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5E570-4F2D-4840-9344-92424A17C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Common strategy</a:t>
            </a:r>
            <a:br>
              <a:rPr lang="en-US" dirty="0"/>
            </a:br>
            <a:r>
              <a:rPr lang="en-US" sz="3100" dirty="0"/>
              <a:t>for showing we don’t rule out success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76A21-F691-944C-9692-93D35FEF6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4"/>
            <a:ext cx="8156535" cy="4612245"/>
          </a:xfrm>
        </p:spPr>
        <p:txBody>
          <a:bodyPr>
            <a:normAutofit/>
          </a:bodyPr>
          <a:lstStyle/>
          <a:p>
            <a:r>
              <a:rPr lang="en-US" dirty="0"/>
              <a:t>Suppose that you’re on track to make an optimal solution </a:t>
            </a:r>
            <a:r>
              <a:rPr lang="en-US" dirty="0">
                <a:solidFill>
                  <a:srgbClr val="00B050"/>
                </a:solidFill>
              </a:rPr>
              <a:t>T*</a:t>
            </a:r>
            <a:r>
              <a:rPr lang="en-US" dirty="0"/>
              <a:t>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E.g., after you’ve picked activity </a:t>
            </a:r>
            <a:r>
              <a:rPr lang="en-US" dirty="0" err="1">
                <a:solidFill>
                  <a:schemeClr val="accent4"/>
                </a:solidFill>
              </a:rPr>
              <a:t>i</a:t>
            </a:r>
            <a:r>
              <a:rPr lang="en-US" dirty="0">
                <a:solidFill>
                  <a:schemeClr val="accent4"/>
                </a:solidFill>
              </a:rPr>
              <a:t>, you’re still on track.</a:t>
            </a:r>
          </a:p>
          <a:p>
            <a:r>
              <a:rPr lang="en-US" dirty="0"/>
              <a:t>Suppose that T* </a:t>
            </a:r>
            <a:r>
              <a:rPr lang="en-US" i="1" dirty="0"/>
              <a:t>disagrees</a:t>
            </a:r>
            <a:r>
              <a:rPr lang="en-US" dirty="0"/>
              <a:t> with your next greedy choice.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E.g., it </a:t>
            </a:r>
            <a:r>
              <a:rPr lang="en-US" i="1" dirty="0">
                <a:solidFill>
                  <a:schemeClr val="accent4"/>
                </a:solidFill>
              </a:rPr>
              <a:t>doesn’t</a:t>
            </a:r>
            <a:r>
              <a:rPr lang="en-US" dirty="0">
                <a:solidFill>
                  <a:schemeClr val="accent4"/>
                </a:solidFill>
              </a:rPr>
              <a:t> involve activity k.</a:t>
            </a:r>
          </a:p>
          <a:p>
            <a:r>
              <a:rPr lang="en-US" dirty="0"/>
              <a:t>Manipulate T*  in order to make a solution T that’s </a:t>
            </a:r>
            <a:r>
              <a:rPr lang="en-US" dirty="0">
                <a:solidFill>
                  <a:srgbClr val="00B050"/>
                </a:solidFill>
              </a:rPr>
              <a:t>not worse but that </a:t>
            </a:r>
            <a:r>
              <a:rPr lang="en-US" i="1" dirty="0">
                <a:solidFill>
                  <a:srgbClr val="00B050"/>
                </a:solidFill>
              </a:rPr>
              <a:t>agrees</a:t>
            </a:r>
            <a:r>
              <a:rPr lang="en-US" dirty="0">
                <a:solidFill>
                  <a:srgbClr val="00B050"/>
                </a:solidFill>
              </a:rPr>
              <a:t> with your greedy choice</a:t>
            </a:r>
            <a:r>
              <a:rPr lang="en-US" dirty="0"/>
              <a:t>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E.g., swap whatever activity T* did pick next with activity 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A2ABF-D1A5-5F4B-994F-D562BE7AC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82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E5C6E-D67C-4F4A-A486-7B006442F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on “Common Strategy”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EFC54-4AB5-0B48-9ABD-8C6FB23A5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common strategy is not the only way to prove that greedy algorithms are correct!</a:t>
            </a:r>
          </a:p>
          <a:p>
            <a:endParaRPr lang="en-US" dirty="0"/>
          </a:p>
          <a:p>
            <a:r>
              <a:rPr lang="en-US" dirty="0"/>
              <a:t>It often works, and it gives you a framework to get started.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There is a mathematical subject called “</a:t>
            </a:r>
            <a:r>
              <a:rPr lang="en-US" dirty="0">
                <a:solidFill>
                  <a:schemeClr val="accent4"/>
                </a:solidFill>
              </a:rPr>
              <a:t>matroid theory</a:t>
            </a:r>
            <a:r>
              <a:rPr lang="en-US" dirty="0"/>
              <a:t>”. Often (but not always) when greedy algorithms work correctly, matroid theory can explain why. CLRS has a small section on this.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67882-E15C-D44E-AC77-06BB2A6EF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8014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Sub-problem graph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Greedy algorithms:</a:t>
            </a:r>
          </a:p>
        </p:txBody>
      </p:sp>
      <p:sp>
        <p:nvSpPr>
          <p:cNvPr id="4" name="Oval 3"/>
          <p:cNvSpPr/>
          <p:nvPr/>
        </p:nvSpPr>
        <p:spPr>
          <a:xfrm>
            <a:off x="3206262" y="2418463"/>
            <a:ext cx="2801816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Big problem</a:t>
            </a:r>
          </a:p>
        </p:txBody>
      </p:sp>
      <p:sp>
        <p:nvSpPr>
          <p:cNvPr id="10" name="Oval 9"/>
          <p:cNvSpPr/>
          <p:nvPr/>
        </p:nvSpPr>
        <p:spPr>
          <a:xfrm>
            <a:off x="3824838" y="5491284"/>
            <a:ext cx="1540119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sub-sub-problem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3548613" y="3914192"/>
            <a:ext cx="2092570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sub-problem</a:t>
            </a:r>
          </a:p>
        </p:txBody>
      </p:sp>
      <p:cxnSp>
        <p:nvCxnSpPr>
          <p:cNvPr id="30" name="Straight Connector 29"/>
          <p:cNvCxnSpPr>
            <a:stCxn id="4" idx="4"/>
            <a:endCxn id="21" idx="0"/>
          </p:cNvCxnSpPr>
          <p:nvPr/>
        </p:nvCxnSpPr>
        <p:spPr>
          <a:xfrm flipH="1">
            <a:off x="4594898" y="3274247"/>
            <a:ext cx="12272" cy="639945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21" idx="4"/>
            <a:endCxn id="10" idx="0"/>
          </p:cNvCxnSpPr>
          <p:nvPr/>
        </p:nvCxnSpPr>
        <p:spPr>
          <a:xfrm>
            <a:off x="4594898" y="4769976"/>
            <a:ext cx="0" cy="721308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869380-C792-D74D-941A-9EAB824EB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8474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Sub-problem graph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Greedy algorithms:</a:t>
            </a:r>
          </a:p>
        </p:txBody>
      </p:sp>
      <p:sp>
        <p:nvSpPr>
          <p:cNvPr id="4" name="Oval 3"/>
          <p:cNvSpPr/>
          <p:nvPr/>
        </p:nvSpPr>
        <p:spPr>
          <a:xfrm>
            <a:off x="322384" y="2508740"/>
            <a:ext cx="2801816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Big problem</a:t>
            </a:r>
          </a:p>
        </p:txBody>
      </p:sp>
      <p:sp>
        <p:nvSpPr>
          <p:cNvPr id="10" name="Oval 9"/>
          <p:cNvSpPr/>
          <p:nvPr/>
        </p:nvSpPr>
        <p:spPr>
          <a:xfrm>
            <a:off x="940960" y="5581561"/>
            <a:ext cx="1540119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sub-sub-problem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664735" y="4004469"/>
            <a:ext cx="2092570" cy="8557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sub-problem</a:t>
            </a:r>
          </a:p>
        </p:txBody>
      </p:sp>
      <p:cxnSp>
        <p:nvCxnSpPr>
          <p:cNvPr id="30" name="Straight Connector 29"/>
          <p:cNvCxnSpPr>
            <a:stCxn id="4" idx="4"/>
            <a:endCxn id="21" idx="0"/>
          </p:cNvCxnSpPr>
          <p:nvPr/>
        </p:nvCxnSpPr>
        <p:spPr>
          <a:xfrm flipH="1">
            <a:off x="1711020" y="3364524"/>
            <a:ext cx="12272" cy="639945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21" idx="4"/>
            <a:endCxn id="10" idx="0"/>
          </p:cNvCxnSpPr>
          <p:nvPr/>
        </p:nvCxnSpPr>
        <p:spPr>
          <a:xfrm>
            <a:off x="1711020" y="4860253"/>
            <a:ext cx="0" cy="721308"/>
          </a:xfrm>
          <a:prstGeom prst="line">
            <a:avLst/>
          </a:prstGeom>
          <a:ln w="349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46938" y="2483273"/>
            <a:ext cx="555344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/>
              <a:t>Not only is there </a:t>
            </a:r>
            <a:r>
              <a:rPr lang="en-US" sz="2400" b="1" dirty="0"/>
              <a:t>optimal sub-structure: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000" dirty="0">
                <a:solidFill>
                  <a:schemeClr val="accent4"/>
                </a:solidFill>
              </a:rPr>
              <a:t>optimal solutions to a problem are made up from optimal solutions of sub-problems</a:t>
            </a:r>
          </a:p>
          <a:p>
            <a:pPr marL="742950" lvl="1" indent="-285750">
              <a:buFont typeface="Arial" charset="0"/>
              <a:buChar char="•"/>
            </a:pPr>
            <a:endParaRPr lang="en-US" sz="2000" dirty="0">
              <a:solidFill>
                <a:schemeClr val="accent1"/>
              </a:solidFill>
            </a:endParaRPr>
          </a:p>
          <a:p>
            <a:pPr marL="285750" indent="-285750">
              <a:buFont typeface="Arial" charset="0"/>
              <a:buChar char="•"/>
            </a:pPr>
            <a:r>
              <a:rPr lang="en-US" sz="2400" dirty="0"/>
              <a:t>but each problem </a:t>
            </a:r>
            <a:r>
              <a:rPr lang="en-US" sz="2400" b="1" dirty="0"/>
              <a:t>depends on only one sub-problem</a:t>
            </a:r>
            <a:r>
              <a:rPr lang="en-US" sz="2400" dirty="0"/>
              <a:t>.</a:t>
            </a:r>
          </a:p>
          <a:p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706095-F1A9-2945-8E64-DA7919EE262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6634" y="4920621"/>
            <a:ext cx="1044982" cy="16423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284CB7-AD7B-B44D-AAD7-648EEDDFB869}"/>
              </a:ext>
            </a:extLst>
          </p:cNvPr>
          <p:cNvSpPr txBox="1"/>
          <p:nvPr/>
        </p:nvSpPr>
        <p:spPr>
          <a:xfrm>
            <a:off x="5634681" y="6449205"/>
            <a:ext cx="3265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Ollie the Over-achieving Ostrich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493BAB-0E6E-2649-8821-3151CDAD1086}"/>
              </a:ext>
            </a:extLst>
          </p:cNvPr>
          <p:cNvSpPr txBox="1"/>
          <p:nvPr/>
        </p:nvSpPr>
        <p:spPr>
          <a:xfrm>
            <a:off x="4226011" y="4929571"/>
            <a:ext cx="3530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Write a DP version of activity selection (where you fill in a table)!  [See hidden slides in the .pptx file for one way]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CB3EF-AFED-F64A-B5D1-CC563224F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31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618BC3E-C159-7C4A-A4AD-5D258853E934}"/>
              </a:ext>
            </a:extLst>
          </p:cNvPr>
          <p:cNvSpPr/>
          <p:nvPr/>
        </p:nvSpPr>
        <p:spPr>
          <a:xfrm>
            <a:off x="0" y="0"/>
            <a:ext cx="3891776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C4D8C2F-B057-BC46-B29B-8549C3CA4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55" y="620392"/>
            <a:ext cx="2856201" cy="5504688"/>
          </a:xfrm>
        </p:spPr>
        <p:txBody>
          <a:bodyPr>
            <a:normAutofit/>
          </a:bodyPr>
          <a:lstStyle/>
          <a:p>
            <a:r>
              <a:rPr lang="en-US" sz="5200" dirty="0" err="1">
                <a:solidFill>
                  <a:schemeClr val="bg1"/>
                </a:solidFill>
              </a:rPr>
              <a:t>主要内容</a:t>
            </a:r>
            <a:endParaRPr lang="en-US" sz="5200" dirty="0">
              <a:solidFill>
                <a:schemeClr val="bg1"/>
              </a:solidFill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605011D5-D7DF-D395-3AA9-3C30225BA1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3516716"/>
              </p:ext>
            </p:extLst>
          </p:nvPr>
        </p:nvGraphicFramePr>
        <p:xfrm>
          <a:off x="4101291" y="620391"/>
          <a:ext cx="4697730" cy="5599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DCA578-4958-C042-93CC-08AEB411D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Algorithm design and analysis, Yongcai Wang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899857-20C5-3A4B-8E13-770B50CF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D7B5-3E88-6742-8EE5-BD15024C659B}" type="slidenum">
              <a:rPr lang="en-US" smtClean="0"/>
              <a:t>35</a:t>
            </a:fld>
            <a:endParaRPr lang="en-US"/>
          </a:p>
        </p:txBody>
      </p:sp>
      <p:pic>
        <p:nvPicPr>
          <p:cNvPr id="7" name="图形 6" descr="3D 眼镜 纯色填充">
            <a:extLst>
              <a:ext uri="{FF2B5EF4-FFF2-40B4-BE49-F238E27FC236}">
                <a16:creationId xmlns:a16="http://schemas.microsoft.com/office/drawing/2014/main" id="{5F35CDB7-B71B-6147-B88D-E69B590230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15350" y="245833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780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68CBF5-84A3-424C-8A18-367C853D8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Matriod</a:t>
            </a:r>
            <a:r>
              <a:rPr lang="zh-CN" altLang="en-US" dirty="0"/>
              <a:t>：拟阵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1C0D37-5B21-3549-8992-85DC5B000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/>
          <a:lstStyle/>
          <a:p>
            <a:r>
              <a:rPr lang="zh-CN" altLang="en-US" dirty="0">
                <a:effectLst/>
                <a:cs typeface="Times New Roman" panose="02020603050405020304" pitchFamily="18" charset="0"/>
              </a:rPr>
              <a:t>让 </a:t>
            </a:r>
            <a:r>
              <a:rPr lang="en-US" altLang="zh-CN" dirty="0">
                <a:effectLst/>
                <a:cs typeface="Times New Roman" panose="02020603050405020304" pitchFamily="18" charset="0"/>
              </a:rPr>
              <a:t>S </a:t>
            </a:r>
            <a:r>
              <a:rPr lang="zh-CN" altLang="en-US" dirty="0">
                <a:effectLst/>
                <a:cs typeface="Times New Roman" panose="02020603050405020304" pitchFamily="18" charset="0"/>
              </a:rPr>
              <a:t>是一个有限集合，</a:t>
            </a:r>
            <a:r>
              <a:rPr lang="en-US" altLang="zh-CN" dirty="0">
                <a:effectLst/>
                <a:cs typeface="Times New Roman" panose="02020603050405020304" pitchFamily="18" charset="0"/>
              </a:rPr>
              <a:t>F </a:t>
            </a:r>
            <a:r>
              <a:rPr lang="zh-CN" altLang="en-US" dirty="0">
                <a:effectLst/>
                <a:cs typeface="Times New Roman" panose="02020603050405020304" pitchFamily="18" charset="0"/>
              </a:rPr>
              <a:t>是 </a:t>
            </a:r>
            <a:r>
              <a:rPr lang="en-US" altLang="zh-CN" dirty="0">
                <a:effectLst/>
                <a:cs typeface="Times New Roman" panose="02020603050405020304" pitchFamily="18" charset="0"/>
              </a:rPr>
              <a:t>S </a:t>
            </a:r>
            <a:r>
              <a:rPr lang="zh-CN" altLang="en-US" dirty="0">
                <a:effectLst/>
                <a:cs typeface="Times New Roman" panose="02020603050405020304" pitchFamily="18" charset="0"/>
              </a:rPr>
              <a:t>的子集的一个非空集族，即 </a:t>
            </a:r>
            <a:r>
              <a:rPr lang="en-US" altLang="zh-CN" dirty="0">
                <a:effectLst/>
                <a:cs typeface="Times New Roman" panose="02020603050405020304" pitchFamily="18" charset="0"/>
              </a:rPr>
              <a:t>F ⊆ P(S)</a:t>
            </a:r>
            <a:r>
              <a:rPr lang="zh-CN" altLang="en-US" dirty="0">
                <a:effectLst/>
                <a:cs typeface="Times New Roman" panose="02020603050405020304" pitchFamily="18" charset="0"/>
              </a:rPr>
              <a:t>。我们称 </a:t>
            </a:r>
            <a:r>
              <a:rPr lang="en-US" altLang="zh-CN" dirty="0">
                <a:effectLst/>
                <a:cs typeface="Times New Roman" panose="02020603050405020304" pitchFamily="18" charset="0"/>
              </a:rPr>
              <a:t>(S,F) </a:t>
            </a:r>
            <a:r>
              <a:rPr lang="zh-CN" altLang="en-US" dirty="0">
                <a:effectLst/>
                <a:cs typeface="Times New Roman" panose="02020603050405020304" pitchFamily="18" charset="0"/>
              </a:rPr>
              <a:t>是一个</a:t>
            </a:r>
            <a:r>
              <a:rPr lang="zh-CN" altLang="en-US" dirty="0">
                <a:solidFill>
                  <a:srgbClr val="00B050"/>
                </a:solidFill>
                <a:effectLst/>
                <a:cs typeface="Times New Roman" panose="02020603050405020304" pitchFamily="18" charset="0"/>
              </a:rPr>
              <a:t>拟阵（</a:t>
            </a:r>
            <a:r>
              <a:rPr lang="en-US" altLang="zh-CN" dirty="0">
                <a:solidFill>
                  <a:srgbClr val="00B050"/>
                </a:solidFill>
                <a:effectLst/>
                <a:cs typeface="Times New Roman" panose="02020603050405020304" pitchFamily="18" charset="0"/>
              </a:rPr>
              <a:t>matroid</a:t>
            </a:r>
            <a:r>
              <a:rPr lang="zh-CN" altLang="en-US" dirty="0">
                <a:solidFill>
                  <a:srgbClr val="00B050"/>
                </a:solidFill>
                <a:effectLst/>
                <a:cs typeface="Times New Roman" panose="02020603050405020304" pitchFamily="18" charset="0"/>
              </a:rPr>
              <a:t>）</a:t>
            </a:r>
            <a:r>
              <a:rPr lang="zh-CN" altLang="en-US" dirty="0">
                <a:effectLst/>
                <a:cs typeface="Times New Roman" panose="02020603050405020304" pitchFamily="18" charset="0"/>
              </a:rPr>
              <a:t>，当且仅当：</a:t>
            </a:r>
            <a:endParaRPr lang="en-US" altLang="zh-CN" dirty="0">
              <a:effectLst/>
              <a:cs typeface="Times New Roman" panose="02020603050405020304" pitchFamily="18" charset="0"/>
            </a:endParaRPr>
          </a:p>
          <a:p>
            <a:endParaRPr lang="zh-CN" altLang="en-US" dirty="0">
              <a:effectLst/>
              <a:cs typeface="Times New Roman" panose="02020603050405020304" pitchFamily="18" charset="0"/>
            </a:endParaRPr>
          </a:p>
          <a:p>
            <a:pPr lvl="1"/>
            <a:r>
              <a:rPr lang="en-US" altLang="zh-CN" sz="2800" dirty="0">
                <a:effectLst/>
                <a:cs typeface="Times New Roman" panose="02020603050405020304" pitchFamily="18" charset="0"/>
              </a:rPr>
              <a:t>1) </a:t>
            </a:r>
            <a:r>
              <a:rPr lang="zh-CN" altLang="en-US" sz="2800" dirty="0">
                <a:effectLst/>
                <a:cs typeface="Times New Roman" panose="02020603050405020304" pitchFamily="18" charset="0"/>
              </a:rPr>
              <a:t>如果 </a:t>
            </a:r>
            <a:r>
              <a:rPr lang="en-US" altLang="zh-CN" sz="2800" dirty="0">
                <a:effectLst/>
                <a:cs typeface="Times New Roman" panose="02020603050405020304" pitchFamily="18" charset="0"/>
              </a:rPr>
              <a:t>B ∈ F </a:t>
            </a:r>
            <a:r>
              <a:rPr lang="zh-CN" altLang="en-US" sz="2800" dirty="0">
                <a:effectLst/>
                <a:cs typeface="Times New Roman" panose="02020603050405020304" pitchFamily="18" charset="0"/>
              </a:rPr>
              <a:t>且 </a:t>
            </a:r>
            <a:r>
              <a:rPr lang="en-US" altLang="zh-CN" sz="2800" dirty="0">
                <a:effectLst/>
                <a:cs typeface="Times New Roman" panose="02020603050405020304" pitchFamily="18" charset="0"/>
              </a:rPr>
              <a:t>A ⊆ B</a:t>
            </a:r>
            <a:r>
              <a:rPr lang="zh-CN" altLang="en-US" sz="2800" dirty="0">
                <a:effectLst/>
                <a:cs typeface="Times New Roman" panose="02020603050405020304" pitchFamily="18" charset="0"/>
              </a:rPr>
              <a:t>，则 </a:t>
            </a:r>
            <a:r>
              <a:rPr lang="en-US" altLang="zh-CN" sz="2800" dirty="0">
                <a:effectLst/>
                <a:cs typeface="Times New Roman" panose="02020603050405020304" pitchFamily="18" charset="0"/>
              </a:rPr>
              <a:t>A ∈ F</a:t>
            </a:r>
            <a:r>
              <a:rPr lang="zh-CN" altLang="en-US" sz="2800" dirty="0">
                <a:effectLst/>
                <a:cs typeface="Times New Roman" panose="02020603050405020304" pitchFamily="18" charset="0"/>
              </a:rPr>
              <a:t>。 </a:t>
            </a:r>
            <a:r>
              <a:rPr lang="en-US" altLang="zh-CN" sz="2800" dirty="0">
                <a:solidFill>
                  <a:srgbClr val="00B050"/>
                </a:solidFill>
                <a:effectLst/>
                <a:cs typeface="Times New Roman" panose="02020603050405020304" pitchFamily="18" charset="0"/>
              </a:rPr>
              <a:t>[</a:t>
            </a:r>
            <a:r>
              <a:rPr lang="zh-CN" altLang="en-US" sz="2800" dirty="0">
                <a:solidFill>
                  <a:srgbClr val="00B050"/>
                </a:solidFill>
                <a:effectLst/>
                <a:cs typeface="Times New Roman" panose="02020603050405020304" pitchFamily="18" charset="0"/>
              </a:rPr>
              <a:t>这个族 </a:t>
            </a:r>
            <a:r>
              <a:rPr lang="en-US" altLang="zh-CN" sz="2800" dirty="0">
                <a:solidFill>
                  <a:srgbClr val="00B050"/>
                </a:solidFill>
                <a:effectLst/>
                <a:cs typeface="Times New Roman" panose="02020603050405020304" pitchFamily="18" charset="0"/>
              </a:rPr>
              <a:t>F </a:t>
            </a:r>
            <a:r>
              <a:rPr lang="zh-CN" altLang="en-US" sz="2800" dirty="0">
                <a:solidFill>
                  <a:srgbClr val="00B050"/>
                </a:solidFill>
                <a:effectLst/>
                <a:cs typeface="Times New Roman" panose="02020603050405020304" pitchFamily="18" charset="0"/>
              </a:rPr>
              <a:t>被称为遗传的</a:t>
            </a:r>
            <a:r>
              <a:rPr lang="en-US" altLang="zh-CN" sz="2800" dirty="0">
                <a:solidFill>
                  <a:srgbClr val="00B050"/>
                </a:solidFill>
                <a:effectLst/>
                <a:cs typeface="Times New Roman" panose="02020603050405020304" pitchFamily="18" charset="0"/>
              </a:rPr>
              <a:t>]</a:t>
            </a:r>
          </a:p>
          <a:p>
            <a:pPr lvl="1"/>
            <a:endParaRPr lang="en-US" altLang="zh-CN" sz="2800" dirty="0">
              <a:solidFill>
                <a:srgbClr val="00B050"/>
              </a:solidFill>
              <a:effectLst/>
              <a:cs typeface="Times New Roman" panose="02020603050405020304" pitchFamily="18" charset="0"/>
            </a:endParaRPr>
          </a:p>
          <a:p>
            <a:pPr lvl="1"/>
            <a:r>
              <a:rPr lang="en-US" altLang="zh-CN" sz="2800" dirty="0">
                <a:effectLst/>
                <a:cs typeface="Times New Roman" panose="02020603050405020304" pitchFamily="18" charset="0"/>
              </a:rPr>
              <a:t>2) </a:t>
            </a:r>
            <a:r>
              <a:rPr lang="zh-CN" altLang="en-US" sz="2800" dirty="0">
                <a:effectLst/>
                <a:cs typeface="Times New Roman" panose="02020603050405020304" pitchFamily="18" charset="0"/>
              </a:rPr>
              <a:t>如果 </a:t>
            </a:r>
            <a:r>
              <a:rPr lang="en-US" altLang="zh-CN" sz="2800" dirty="0">
                <a:effectLst/>
                <a:cs typeface="Times New Roman" panose="02020603050405020304" pitchFamily="18" charset="0"/>
              </a:rPr>
              <a:t>A, B ∈ F </a:t>
            </a:r>
            <a:r>
              <a:rPr lang="zh-CN" altLang="en-US" sz="2800" dirty="0">
                <a:effectLst/>
                <a:cs typeface="Times New Roman" panose="02020603050405020304" pitchFamily="18" charset="0"/>
              </a:rPr>
              <a:t>且 </a:t>
            </a:r>
            <a:r>
              <a:rPr lang="en-US" altLang="zh-CN" sz="2800" dirty="0">
                <a:effectLst/>
                <a:cs typeface="Times New Roman" panose="02020603050405020304" pitchFamily="18" charset="0"/>
              </a:rPr>
              <a:t>|A| &lt; |B|</a:t>
            </a:r>
            <a:r>
              <a:rPr lang="zh-CN" altLang="en-US" sz="2800" dirty="0">
                <a:effectLst/>
                <a:cs typeface="Times New Roman" panose="02020603050405020304" pitchFamily="18" charset="0"/>
              </a:rPr>
              <a:t>，那么存在 </a:t>
            </a:r>
            <a:r>
              <a:rPr lang="en-US" altLang="zh-CN" sz="2800" dirty="0">
                <a:effectLst/>
                <a:cs typeface="Times New Roman" panose="02020603050405020304" pitchFamily="18" charset="0"/>
              </a:rPr>
              <a:t>x ∈ B\A </a:t>
            </a:r>
            <a:r>
              <a:rPr lang="zh-CN" altLang="en-US" sz="2800" dirty="0">
                <a:effectLst/>
                <a:cs typeface="Times New Roman" panose="02020603050405020304" pitchFamily="18" charset="0"/>
              </a:rPr>
              <a:t>使得 </a:t>
            </a:r>
            <a:r>
              <a:rPr lang="en-US" altLang="zh-CN" sz="2800" dirty="0">
                <a:effectLst/>
                <a:cs typeface="Times New Roman" panose="02020603050405020304" pitchFamily="18" charset="0"/>
              </a:rPr>
              <a:t>A∪{x} ∈ F</a:t>
            </a:r>
            <a:r>
              <a:rPr lang="zh-CN" altLang="en-US" sz="2800" dirty="0">
                <a:effectLst/>
                <a:cs typeface="Times New Roman" panose="02020603050405020304" pitchFamily="18" charset="0"/>
              </a:rPr>
              <a:t>。 </a:t>
            </a:r>
            <a:r>
              <a:rPr lang="en-US" altLang="zh-CN" sz="2800" dirty="0">
                <a:solidFill>
                  <a:srgbClr val="00B050"/>
                </a:solidFill>
                <a:effectLst/>
                <a:cs typeface="Times New Roman" panose="02020603050405020304" pitchFamily="18" charset="0"/>
              </a:rPr>
              <a:t>[</a:t>
            </a:r>
            <a:r>
              <a:rPr lang="zh-CN" altLang="en-US" sz="2800" dirty="0">
                <a:solidFill>
                  <a:srgbClr val="00B050"/>
                </a:solidFill>
                <a:effectLst/>
                <a:cs typeface="Times New Roman" panose="02020603050405020304" pitchFamily="18" charset="0"/>
              </a:rPr>
              <a:t>这被称为交换性质</a:t>
            </a:r>
            <a:r>
              <a:rPr lang="en-US" altLang="zh-CN" sz="2800" dirty="0">
                <a:solidFill>
                  <a:srgbClr val="00B050"/>
                </a:solidFill>
                <a:effectLst/>
                <a:cs typeface="Times New Roman" panose="02020603050405020304" pitchFamily="18" charset="0"/>
              </a:rPr>
              <a:t>]</a:t>
            </a:r>
            <a:endParaRPr lang="en-US" sz="2800" dirty="0">
              <a:solidFill>
                <a:srgbClr val="00B05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54DD39-D560-DB45-968F-D47CFFE8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709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15F582-2198-EF4D-8FB6-47A133355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958851"/>
          </a:xfrm>
        </p:spPr>
        <p:txBody>
          <a:bodyPr/>
          <a:lstStyle/>
          <a:p>
            <a:r>
              <a:rPr lang="en-US" dirty="0" err="1"/>
              <a:t>矩阵拟阵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6944F4-C7EA-B04C-A02E-516EE69F2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89102"/>
            <a:ext cx="7886700" cy="4667249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设 </a:t>
            </a:r>
            <a:r>
              <a:rPr lang="en-US" dirty="0"/>
              <a:t>M </a:t>
            </a:r>
            <a:r>
              <a:rPr lang="zh-CN" altLang="en-US" dirty="0"/>
              <a:t>是一个矩阵，</a:t>
            </a:r>
            <a:r>
              <a:rPr lang="en-US" altLang="zh-CN" dirty="0"/>
              <a:t>S</a:t>
            </a:r>
            <a:r>
              <a:rPr lang="zh-CN" altLang="en-US" dirty="0"/>
              <a:t>是</a:t>
            </a:r>
            <a:r>
              <a:rPr lang="en-US" altLang="zh-CN" dirty="0"/>
              <a:t>M</a:t>
            </a:r>
            <a:r>
              <a:rPr lang="zh-CN" altLang="en-US" dirty="0"/>
              <a:t>的行向量的集合</a:t>
            </a:r>
          </a:p>
          <a:p>
            <a:r>
              <a:rPr lang="en-US" dirty="0"/>
              <a:t>F = { A | A⊆S, A </a:t>
            </a:r>
            <a:r>
              <a:rPr lang="zh-CN" altLang="en-US" dirty="0"/>
              <a:t>是线性无关的集合 </a:t>
            </a:r>
            <a:r>
              <a:rPr lang="en-US" altLang="zh-CN" dirty="0"/>
              <a:t>}</a:t>
            </a:r>
          </a:p>
          <a:p>
            <a:r>
              <a:rPr lang="zh-CN" altLang="en-US" dirty="0"/>
              <a:t>则：</a:t>
            </a:r>
            <a:r>
              <a:rPr lang="en-US" altLang="zh-CN" dirty="0"/>
              <a:t>(</a:t>
            </a:r>
            <a:r>
              <a:rPr lang="en-US" dirty="0"/>
              <a:t>S,F) </a:t>
            </a:r>
            <a:r>
              <a:rPr lang="zh-CN" altLang="en-US" dirty="0"/>
              <a:t>是一个拟阵。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证明，</a:t>
            </a:r>
            <a:r>
              <a:rPr lang="en-US" dirty="0"/>
              <a:t>F </a:t>
            </a:r>
            <a:r>
              <a:rPr lang="zh-CN" altLang="en-US" dirty="0"/>
              <a:t>不为空（它包含 </a:t>
            </a:r>
            <a:r>
              <a:rPr lang="en-US" dirty="0"/>
              <a:t>M </a:t>
            </a:r>
            <a:r>
              <a:rPr lang="zh-CN" altLang="en-US" dirty="0"/>
              <a:t>的每一行）。</a:t>
            </a:r>
          </a:p>
          <a:p>
            <a:r>
              <a:rPr lang="en-US" dirty="0"/>
              <a:t>1) </a:t>
            </a:r>
            <a:r>
              <a:rPr lang="zh-CN" altLang="en-US" dirty="0"/>
              <a:t>如果 </a:t>
            </a:r>
            <a:r>
              <a:rPr lang="en-US" dirty="0"/>
              <a:t>B </a:t>
            </a:r>
            <a:r>
              <a:rPr lang="zh-CN" altLang="en-US" dirty="0"/>
              <a:t>是 </a:t>
            </a:r>
            <a:r>
              <a:rPr lang="en-US" dirty="0"/>
              <a:t>M </a:t>
            </a:r>
            <a:r>
              <a:rPr lang="zh-CN" altLang="en-US" dirty="0"/>
              <a:t>的线性无关行的集合，则 </a:t>
            </a:r>
            <a:r>
              <a:rPr lang="en-US" dirty="0"/>
              <a:t>B </a:t>
            </a:r>
            <a:r>
              <a:rPr lang="zh-CN" altLang="en-US" dirty="0"/>
              <a:t>的任意子集 </a:t>
            </a:r>
            <a:r>
              <a:rPr lang="en-US" dirty="0"/>
              <a:t>A </a:t>
            </a:r>
            <a:r>
              <a:rPr lang="zh-CN" altLang="en-US" dirty="0"/>
              <a:t>也是线性无关的。因此，</a:t>
            </a:r>
            <a:r>
              <a:rPr lang="en-US" dirty="0">
                <a:solidFill>
                  <a:srgbClr val="00B050"/>
                </a:solidFill>
              </a:rPr>
              <a:t>F </a:t>
            </a:r>
            <a:r>
              <a:rPr lang="zh-CN" altLang="en-US" dirty="0">
                <a:solidFill>
                  <a:srgbClr val="00B050"/>
                </a:solidFill>
              </a:rPr>
              <a:t>是遗传的</a:t>
            </a:r>
            <a:r>
              <a:rPr lang="zh-CN" altLang="en-US" dirty="0"/>
              <a:t>。</a:t>
            </a:r>
          </a:p>
          <a:p>
            <a:r>
              <a:rPr lang="en-US" dirty="0"/>
              <a:t>2) </a:t>
            </a:r>
            <a:r>
              <a:rPr lang="zh-CN" altLang="en-US" dirty="0"/>
              <a:t>如果 </a:t>
            </a:r>
            <a:r>
              <a:rPr lang="en-US" dirty="0"/>
              <a:t>A, B </a:t>
            </a:r>
            <a:r>
              <a:rPr lang="zh-CN" altLang="en-US" dirty="0"/>
              <a:t>是 </a:t>
            </a:r>
            <a:r>
              <a:rPr lang="en-US" dirty="0"/>
              <a:t>M </a:t>
            </a:r>
            <a:r>
              <a:rPr lang="zh-CN" altLang="en-US" dirty="0"/>
              <a:t>的线性无关行的集合，并且 </a:t>
            </a:r>
            <a:r>
              <a:rPr lang="en-US" altLang="zh-CN" dirty="0"/>
              <a:t>|</a:t>
            </a:r>
            <a:r>
              <a:rPr lang="en-US" dirty="0"/>
              <a:t>A|&lt;|B|，</a:t>
            </a:r>
            <a:r>
              <a:rPr lang="zh-CN" altLang="en-US" dirty="0"/>
              <a:t>那么 </a:t>
            </a:r>
            <a:r>
              <a:rPr lang="en-US" dirty="0"/>
              <a:t>dim span A &lt; dim span B。</a:t>
            </a:r>
            <a:r>
              <a:rPr lang="zh-CN" altLang="en-US" dirty="0"/>
              <a:t>选择 </a:t>
            </a:r>
            <a:r>
              <a:rPr lang="en-US" dirty="0"/>
              <a:t>B </a:t>
            </a:r>
            <a:r>
              <a:rPr lang="zh-CN" altLang="en-US" dirty="0"/>
              <a:t>中不在 </a:t>
            </a:r>
            <a:r>
              <a:rPr lang="en-US" dirty="0"/>
              <a:t>span A </a:t>
            </a:r>
            <a:r>
              <a:rPr lang="zh-CN" altLang="en-US" dirty="0"/>
              <a:t>中的行 </a:t>
            </a:r>
            <a:r>
              <a:rPr lang="en-US" dirty="0"/>
              <a:t>x。</a:t>
            </a:r>
            <a:r>
              <a:rPr lang="zh-CN" altLang="en-US" dirty="0"/>
              <a:t>那么 </a:t>
            </a:r>
            <a:r>
              <a:rPr lang="en-US" dirty="0"/>
              <a:t>A∪ {x} </a:t>
            </a:r>
            <a:r>
              <a:rPr lang="zh-CN" altLang="en-US" dirty="0"/>
              <a:t>是 </a:t>
            </a:r>
            <a:r>
              <a:rPr lang="en-US" dirty="0"/>
              <a:t>M </a:t>
            </a:r>
            <a:r>
              <a:rPr lang="zh-CN" altLang="en-US" dirty="0"/>
              <a:t>的行的一个线性无关子集。因此，</a:t>
            </a:r>
            <a:r>
              <a:rPr lang="en-US" dirty="0">
                <a:solidFill>
                  <a:srgbClr val="00B050"/>
                </a:solidFill>
              </a:rPr>
              <a:t>F </a:t>
            </a:r>
            <a:r>
              <a:rPr lang="zh-CN" altLang="en-US" dirty="0">
                <a:solidFill>
                  <a:srgbClr val="00B050"/>
                </a:solidFill>
              </a:rPr>
              <a:t>满足交换性质</a:t>
            </a:r>
            <a:r>
              <a:rPr lang="zh-CN" altLang="en-US" dirty="0"/>
              <a:t>。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46D726-0649-7743-97C2-39D9EAA84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9247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3AF6DB-CCD2-B445-86B1-274CB9745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38641"/>
          </a:xfrm>
        </p:spPr>
        <p:txBody>
          <a:bodyPr/>
          <a:lstStyle/>
          <a:p>
            <a:r>
              <a:rPr lang="en-US" dirty="0" err="1"/>
              <a:t>无向图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2CEDFD-F608-0046-8D50-035599B96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81559"/>
            <a:ext cx="7886700" cy="4695404"/>
          </a:xfrm>
        </p:spPr>
        <p:txBody>
          <a:bodyPr/>
          <a:lstStyle/>
          <a:p>
            <a:r>
              <a:rPr lang="zh-CN" altLang="en-US" dirty="0"/>
              <a:t>设 </a:t>
            </a:r>
            <a:r>
              <a:rPr lang="en-US" dirty="0"/>
              <a:t>V </a:t>
            </a:r>
            <a:r>
              <a:rPr lang="zh-CN" altLang="en-US" dirty="0"/>
              <a:t>为一个有限集合，</a:t>
            </a:r>
          </a:p>
          <a:p>
            <a:r>
              <a:rPr lang="en-US" dirty="0"/>
              <a:t>E </a:t>
            </a:r>
            <a:r>
              <a:rPr lang="zh-CN" altLang="en-US" dirty="0"/>
              <a:t>是 </a:t>
            </a:r>
            <a:r>
              <a:rPr lang="en-US" altLang="zh-CN" dirty="0"/>
              <a:t>{ </a:t>
            </a:r>
            <a:r>
              <a:rPr lang="en-US" dirty="0"/>
              <a:t>e | e ⊆ V, |e|=2 } </a:t>
            </a:r>
            <a:r>
              <a:rPr lang="zh-CN" altLang="en-US" dirty="0"/>
              <a:t>的一个子集。</a:t>
            </a:r>
          </a:p>
          <a:p>
            <a:r>
              <a:rPr lang="zh-CN" altLang="en-US" dirty="0"/>
              <a:t>那么 </a:t>
            </a:r>
            <a:r>
              <a:rPr lang="en-US" altLang="zh-CN" dirty="0"/>
              <a:t>(</a:t>
            </a:r>
            <a:r>
              <a:rPr lang="en-US" dirty="0"/>
              <a:t>V,E) </a:t>
            </a:r>
            <a:r>
              <a:rPr lang="zh-CN" altLang="en-US" dirty="0"/>
              <a:t>被称为一个无向图。</a:t>
            </a:r>
          </a:p>
          <a:p>
            <a:r>
              <a:rPr lang="zh-CN" altLang="en-US" dirty="0"/>
              <a:t>我们将 </a:t>
            </a:r>
            <a:r>
              <a:rPr lang="en-US" dirty="0"/>
              <a:t>V </a:t>
            </a:r>
            <a:r>
              <a:rPr lang="zh-CN" altLang="en-US" dirty="0"/>
              <a:t>称为图的顶点集，</a:t>
            </a:r>
            <a:r>
              <a:rPr lang="en-US" dirty="0"/>
              <a:t>E </a:t>
            </a:r>
            <a:r>
              <a:rPr lang="zh-CN" altLang="en-US" dirty="0"/>
              <a:t>称为图的边集。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EBC23A-497C-3740-BE24-4206A1D4F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38</a:t>
            </a:fld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5A4D035-BEAC-B84A-A29F-0FD38F8CF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729" y="4130223"/>
            <a:ext cx="3393218" cy="164646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0BCB6CB-B223-134D-9D8D-7D8406AD551B}"/>
              </a:ext>
            </a:extLst>
          </p:cNvPr>
          <p:cNvSpPr txBox="1"/>
          <p:nvPr/>
        </p:nvSpPr>
        <p:spPr>
          <a:xfrm>
            <a:off x="4927936" y="4353289"/>
            <a:ext cx="33932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B050"/>
                </a:solidFill>
                <a:effectLst/>
              </a:rPr>
              <a:t>V = {</a:t>
            </a:r>
            <a:r>
              <a:rPr lang="en-US" altLang="zh-CN" sz="2400" dirty="0" err="1">
                <a:solidFill>
                  <a:srgbClr val="00B050"/>
                </a:solidFill>
                <a:effectLst/>
              </a:rPr>
              <a:t>a,b,c,d</a:t>
            </a:r>
            <a:r>
              <a:rPr lang="en-US" altLang="zh-CN" sz="2400" dirty="0">
                <a:solidFill>
                  <a:srgbClr val="00B050"/>
                </a:solidFill>
                <a:effectLst/>
              </a:rPr>
              <a:t>} </a:t>
            </a:r>
          </a:p>
          <a:p>
            <a:r>
              <a:rPr lang="en-US" altLang="zh-CN" sz="2400" dirty="0">
                <a:solidFill>
                  <a:srgbClr val="00B050"/>
                </a:solidFill>
                <a:effectLst/>
              </a:rPr>
              <a:t>E = { {</a:t>
            </a:r>
            <a:r>
              <a:rPr lang="en-US" altLang="zh-CN" sz="2400" dirty="0" err="1">
                <a:solidFill>
                  <a:srgbClr val="00B050"/>
                </a:solidFill>
                <a:effectLst/>
              </a:rPr>
              <a:t>a,b</a:t>
            </a:r>
            <a:r>
              <a:rPr lang="en-US" altLang="zh-CN" sz="2400" dirty="0">
                <a:solidFill>
                  <a:srgbClr val="00B050"/>
                </a:solidFill>
                <a:effectLst/>
              </a:rPr>
              <a:t>}, {</a:t>
            </a:r>
            <a:r>
              <a:rPr lang="en-US" altLang="zh-CN" sz="2400" dirty="0" err="1">
                <a:solidFill>
                  <a:srgbClr val="00B050"/>
                </a:solidFill>
                <a:effectLst/>
              </a:rPr>
              <a:t>a,c</a:t>
            </a:r>
            <a:r>
              <a:rPr lang="en-US" altLang="zh-CN" sz="2400" dirty="0">
                <a:solidFill>
                  <a:srgbClr val="00B050"/>
                </a:solidFill>
                <a:effectLst/>
              </a:rPr>
              <a:t>}, {</a:t>
            </a:r>
            <a:r>
              <a:rPr lang="en-US" altLang="zh-CN" sz="2400" dirty="0" err="1">
                <a:solidFill>
                  <a:srgbClr val="00B050"/>
                </a:solidFill>
                <a:effectLst/>
              </a:rPr>
              <a:t>a,d</a:t>
            </a:r>
            <a:r>
              <a:rPr lang="en-US" altLang="zh-CN" sz="2400" dirty="0">
                <a:solidFill>
                  <a:srgbClr val="00B050"/>
                </a:solidFill>
                <a:effectLst/>
              </a:rPr>
              <a:t>}, {</a:t>
            </a:r>
            <a:r>
              <a:rPr lang="en-US" altLang="zh-CN" sz="2400" dirty="0" err="1">
                <a:solidFill>
                  <a:srgbClr val="00B050"/>
                </a:solidFill>
                <a:effectLst/>
              </a:rPr>
              <a:t>b,d</a:t>
            </a:r>
            <a:r>
              <a:rPr lang="en-US" altLang="zh-CN" sz="2400" dirty="0">
                <a:solidFill>
                  <a:srgbClr val="00B050"/>
                </a:solidFill>
                <a:effectLst/>
              </a:rPr>
              <a:t>}, {</a:t>
            </a:r>
            <a:r>
              <a:rPr lang="en-US" altLang="zh-CN" sz="2400" dirty="0" err="1">
                <a:solidFill>
                  <a:srgbClr val="00B050"/>
                </a:solidFill>
                <a:effectLst/>
              </a:rPr>
              <a:t>c,d</a:t>
            </a:r>
            <a:r>
              <a:rPr lang="en-US" altLang="zh-CN" sz="2400" dirty="0">
                <a:solidFill>
                  <a:srgbClr val="00B050"/>
                </a:solidFill>
                <a:effectLst/>
              </a:rPr>
              <a:t>} } </a:t>
            </a:r>
          </a:p>
        </p:txBody>
      </p:sp>
    </p:spTree>
    <p:extLst>
      <p:ext uri="{BB962C8B-B14F-4D97-AF65-F5344CB8AC3E}">
        <p14:creationId xmlns:p14="http://schemas.microsoft.com/office/powerpoint/2010/main" val="32039248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B7607-F4AC-5D41-B474-C9E768635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54314"/>
            <a:ext cx="7886700" cy="65344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生成树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92AC69-CEDC-A745-8F35-3703EC801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19514"/>
            <a:ext cx="7886700" cy="4857449"/>
          </a:xfrm>
        </p:spPr>
        <p:txBody>
          <a:bodyPr/>
          <a:lstStyle/>
          <a:p>
            <a:r>
              <a:rPr lang="zh-CN" altLang="en-US" dirty="0"/>
              <a:t>设 </a:t>
            </a:r>
            <a:r>
              <a:rPr lang="en-US" dirty="0"/>
              <a:t>G=(V,E) </a:t>
            </a:r>
            <a:r>
              <a:rPr lang="zh-CN" altLang="en-US" dirty="0"/>
              <a:t>是一个图。</a:t>
            </a:r>
          </a:p>
          <a:p>
            <a:r>
              <a:rPr lang="zh-CN" altLang="en-US" dirty="0"/>
              <a:t>如果它的边集 </a:t>
            </a:r>
            <a:r>
              <a:rPr lang="en-US" dirty="0"/>
              <a:t>E’ </a:t>
            </a:r>
            <a:r>
              <a:rPr lang="zh-CN" altLang="en-US" dirty="0"/>
              <a:t>是 </a:t>
            </a:r>
            <a:r>
              <a:rPr lang="en-US" dirty="0"/>
              <a:t>E </a:t>
            </a:r>
            <a:r>
              <a:rPr lang="zh-CN" altLang="en-US" dirty="0"/>
              <a:t>的子集，则称图 </a:t>
            </a:r>
            <a:r>
              <a:rPr lang="en-US" altLang="zh-CN" dirty="0"/>
              <a:t>(</a:t>
            </a:r>
            <a:r>
              <a:rPr lang="en-US" dirty="0"/>
              <a:t>V,E’) </a:t>
            </a:r>
            <a:r>
              <a:rPr lang="zh-CN" altLang="en-US" dirty="0"/>
              <a:t>是 </a:t>
            </a:r>
            <a:r>
              <a:rPr lang="en-US" dirty="0"/>
              <a:t>G </a:t>
            </a:r>
            <a:r>
              <a:rPr lang="zh-CN" altLang="en-US" dirty="0"/>
              <a:t>的诱导子图。</a:t>
            </a:r>
          </a:p>
          <a:p>
            <a:r>
              <a:rPr lang="zh-CN" altLang="en-US" dirty="0"/>
              <a:t>因此，图 </a:t>
            </a:r>
            <a:r>
              <a:rPr lang="en-US" dirty="0"/>
              <a:t>G=(V,E) </a:t>
            </a:r>
            <a:r>
              <a:rPr lang="zh-CN" altLang="en-US" dirty="0"/>
              <a:t>的诱导子图具有相同的顶点集 </a:t>
            </a:r>
            <a:r>
              <a:rPr lang="en-US" dirty="0"/>
              <a:t>V，</a:t>
            </a:r>
            <a:r>
              <a:rPr lang="zh-CN" altLang="en-US" dirty="0"/>
              <a:t>并且没有不在 </a:t>
            </a:r>
            <a:r>
              <a:rPr lang="en-US" dirty="0"/>
              <a:t>E </a:t>
            </a:r>
            <a:r>
              <a:rPr lang="zh-CN" altLang="en-US" dirty="0"/>
              <a:t>中的边。</a:t>
            </a:r>
            <a:endParaRPr lang="en-US" altLang="zh-CN" dirty="0"/>
          </a:p>
          <a:p>
            <a:r>
              <a:rPr lang="zh-CN" altLang="en-US" dirty="0"/>
              <a:t>给定一个连通图 </a:t>
            </a:r>
            <a:r>
              <a:rPr lang="en-US" dirty="0"/>
              <a:t>G，G </a:t>
            </a:r>
            <a:r>
              <a:rPr lang="zh-CN" altLang="en-US" dirty="0"/>
              <a:t>的一个生成树是 </a:t>
            </a:r>
            <a:r>
              <a:rPr lang="en-US" dirty="0"/>
              <a:t>G </a:t>
            </a:r>
            <a:r>
              <a:rPr lang="zh-CN" altLang="en-US" dirty="0"/>
              <a:t>的一个诱导子图，且恰好是一棵树，并连接 </a:t>
            </a:r>
            <a:r>
              <a:rPr lang="en-US" dirty="0"/>
              <a:t>G </a:t>
            </a:r>
            <a:r>
              <a:rPr lang="zh-CN" altLang="en-US" dirty="0"/>
              <a:t>的所有顶点。如果边带有权重，则 </a:t>
            </a:r>
            <a:r>
              <a:rPr lang="en-US" dirty="0"/>
              <a:t>G </a:t>
            </a:r>
            <a:r>
              <a:rPr lang="zh-CN" altLang="en-US" dirty="0"/>
              <a:t>的一棵权重最小的生成树称为</a:t>
            </a:r>
            <a:r>
              <a:rPr lang="zh-CN" altLang="en-US" dirty="0">
                <a:solidFill>
                  <a:srgbClr val="00B050"/>
                </a:solidFill>
              </a:rPr>
              <a:t>最小生成树</a:t>
            </a:r>
            <a:r>
              <a:rPr lang="zh-CN" altLang="en-US" dirty="0"/>
              <a:t>。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AD4AB6-35CE-BF4E-99BD-87E1DC7B4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39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6FB03A0-D20F-0B4C-94C5-1AB0A36E5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5398" y="4969828"/>
            <a:ext cx="2850265" cy="156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0913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3A39FE-9698-8B46-93CB-FE2F89E48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图拟阵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D227F9-1F61-E245-AA27-62D057E61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设 </a:t>
            </a:r>
            <a:r>
              <a:rPr lang="en-US" dirty="0"/>
              <a:t>G=(V,E) </a:t>
            </a:r>
            <a:r>
              <a:rPr lang="zh-CN" altLang="en-US" dirty="0"/>
              <a:t>是一个无向图。</a:t>
            </a:r>
          </a:p>
          <a:p>
            <a:r>
              <a:rPr lang="zh-CN" altLang="en-US" dirty="0"/>
              <a:t>选择 </a:t>
            </a:r>
            <a:r>
              <a:rPr lang="en-US" dirty="0"/>
              <a:t>S = E </a:t>
            </a:r>
            <a:r>
              <a:rPr lang="zh-CN" altLang="en-US" dirty="0"/>
              <a:t>和 </a:t>
            </a:r>
            <a:r>
              <a:rPr lang="en-US" dirty="0"/>
              <a:t>F = { A | H = (V,A) </a:t>
            </a:r>
            <a:r>
              <a:rPr lang="zh-CN" altLang="en-US" dirty="0"/>
              <a:t>是 </a:t>
            </a:r>
            <a:r>
              <a:rPr lang="en-US" dirty="0"/>
              <a:t>G </a:t>
            </a:r>
            <a:r>
              <a:rPr lang="zh-CN" altLang="en-US" dirty="0"/>
              <a:t>的诱导子图，且 </a:t>
            </a:r>
            <a:r>
              <a:rPr lang="en-US" dirty="0"/>
              <a:t>H </a:t>
            </a:r>
            <a:r>
              <a:rPr lang="zh-CN" altLang="en-US" dirty="0"/>
              <a:t>是一个森林 </a:t>
            </a:r>
            <a:r>
              <a:rPr lang="en-US" altLang="zh-CN" dirty="0"/>
              <a:t>}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则 </a:t>
            </a:r>
            <a:r>
              <a:rPr lang="en-US" altLang="zh-CN" dirty="0"/>
              <a:t>(</a:t>
            </a:r>
            <a:r>
              <a:rPr lang="en-US" dirty="0"/>
              <a:t>S,F) </a:t>
            </a:r>
            <a:r>
              <a:rPr lang="zh-CN" altLang="en-US" dirty="0"/>
              <a:t>是一个拟阵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）很显然</a:t>
            </a:r>
            <a:r>
              <a:rPr lang="en-US" altLang="zh-CN" b="0" i="0" u="none" strike="noStrike" dirty="0">
                <a:solidFill>
                  <a:srgbClr val="0D0D0D"/>
                </a:solidFill>
                <a:effectLst/>
                <a:latin typeface="Söhne"/>
              </a:rPr>
              <a:t>F </a:t>
            </a:r>
            <a:r>
              <a:rPr lang="zh-CN" altLang="en-US" b="0" i="0" u="none" strike="noStrike" dirty="0">
                <a:solidFill>
                  <a:srgbClr val="0D0D0D"/>
                </a:solidFill>
                <a:effectLst/>
                <a:latin typeface="Söhne"/>
              </a:rPr>
              <a:t>是一个非空的遗传集合系统。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）假设 </a:t>
            </a:r>
            <a:r>
              <a:rPr lang="en-US" altLang="zh-CN" dirty="0"/>
              <a:t>A </a:t>
            </a:r>
            <a:r>
              <a:rPr lang="zh-CN" altLang="en-US" dirty="0"/>
              <a:t>和 </a:t>
            </a:r>
            <a:r>
              <a:rPr lang="en-US" altLang="zh-CN" dirty="0"/>
              <a:t>B </a:t>
            </a:r>
            <a:r>
              <a:rPr lang="zh-CN" altLang="en-US" dirty="0"/>
              <a:t>是 </a:t>
            </a:r>
            <a:r>
              <a:rPr lang="en-US" altLang="zh-CN" dirty="0"/>
              <a:t>F </a:t>
            </a:r>
            <a:r>
              <a:rPr lang="zh-CN" altLang="en-US" dirty="0"/>
              <a:t>中的集合，且 </a:t>
            </a:r>
            <a:r>
              <a:rPr lang="en-US" altLang="zh-CN" dirty="0"/>
              <a:t>|A| &lt; |B|</a:t>
            </a:r>
            <a:r>
              <a:rPr lang="zh-CN" altLang="en-US" dirty="0"/>
              <a:t>。那么 </a:t>
            </a:r>
            <a:r>
              <a:rPr lang="en-US" altLang="zh-CN" dirty="0"/>
              <a:t>(V,B) </a:t>
            </a:r>
            <a:r>
              <a:rPr lang="zh-CN" altLang="en-US" dirty="0"/>
              <a:t>比 </a:t>
            </a:r>
            <a:r>
              <a:rPr lang="en-US" altLang="zh-CN" dirty="0"/>
              <a:t>(V,A) </a:t>
            </a:r>
            <a:r>
              <a:rPr lang="zh-CN" altLang="en-US" dirty="0"/>
              <a:t>有更少的树。因此，</a:t>
            </a:r>
            <a:r>
              <a:rPr lang="en-US" altLang="zh-CN" dirty="0"/>
              <a:t>(V,B) </a:t>
            </a:r>
            <a:r>
              <a:rPr lang="zh-CN" altLang="en-US" dirty="0"/>
              <a:t>必须包含一个树 </a:t>
            </a:r>
            <a:r>
              <a:rPr lang="en-US" altLang="zh-CN" dirty="0"/>
              <a:t>T</a:t>
            </a:r>
            <a:r>
              <a:rPr lang="zh-CN" altLang="en-US" dirty="0"/>
              <a:t>，其顶点位于森林 </a:t>
            </a:r>
            <a:r>
              <a:rPr lang="en-US" altLang="zh-CN" dirty="0"/>
              <a:t>(V,A) </a:t>
            </a:r>
            <a:r>
              <a:rPr lang="zh-CN" altLang="en-US" dirty="0"/>
              <a:t>中不同的树中。可以将连接两个不同树的边 </a:t>
            </a:r>
            <a:r>
              <a:rPr lang="en-US" altLang="zh-CN" dirty="0"/>
              <a:t>x </a:t>
            </a:r>
            <a:r>
              <a:rPr lang="zh-CN" altLang="en-US" dirty="0"/>
              <a:t>添加到 </a:t>
            </a:r>
            <a:r>
              <a:rPr lang="en-US" altLang="zh-CN" dirty="0"/>
              <a:t>A </a:t>
            </a:r>
            <a:r>
              <a:rPr lang="zh-CN" altLang="en-US" dirty="0"/>
              <a:t>中，并得到另一个森林 </a:t>
            </a:r>
            <a:r>
              <a:rPr lang="en-US" altLang="zh-CN" dirty="0"/>
              <a:t>(V,A∪{x})</a:t>
            </a:r>
            <a:r>
              <a:rPr lang="zh-CN" altLang="en-US" dirty="0"/>
              <a:t>。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EE2D90-0ABF-0B49-95BE-9FE8238C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2786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287BB-CCD4-1440-862D-5719B89C5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加权函数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948D9B5-1D1D-0E41-875C-E861DDE0BC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0780" y="1825625"/>
                <a:ext cx="7774570" cy="4351338"/>
              </a:xfrm>
            </p:spPr>
            <p:txBody>
              <a:bodyPr/>
              <a:lstStyle/>
              <a:p>
                <a:r>
                  <a:rPr lang="zh-CN" altLang="en-US" dirty="0"/>
                  <a:t>一个拟阵 </a:t>
                </a:r>
                <a:r>
                  <a:rPr lang="en-US" altLang="zh-CN" dirty="0"/>
                  <a:t>(</a:t>
                </a:r>
                <a:r>
                  <a:rPr lang="en-US" dirty="0"/>
                  <a:t>S,F) </a:t>
                </a:r>
                <a:r>
                  <a:rPr lang="zh-CN" altLang="en-US" dirty="0"/>
                  <a:t>如果配备了一个权重函数 </a:t>
                </a:r>
                <a:r>
                  <a:rPr lang="en-US" dirty="0"/>
                  <a:t>w: S-&gt;R</a:t>
                </a:r>
                <a:r>
                  <a:rPr lang="en-US" baseline="30000" dirty="0"/>
                  <a:t>+</a:t>
                </a:r>
                <a:r>
                  <a:rPr lang="en-US" dirty="0"/>
                  <a:t>，</a:t>
                </a:r>
                <a:r>
                  <a:rPr lang="zh-CN" altLang="en-US" dirty="0"/>
                  <a:t>即所有元素的权重都是正实数，则称为加权拟阵。</a:t>
                </a:r>
                <a:endParaRPr lang="en-US" altLang="zh-CN" dirty="0"/>
              </a:p>
              <a:p>
                <a:r>
                  <a:rPr lang="zh-CN" altLang="en-US" dirty="0"/>
                  <a:t>如果 </a:t>
                </a:r>
                <a:r>
                  <a:rPr lang="en-US" dirty="0"/>
                  <a:t>A </a:t>
                </a:r>
                <a:r>
                  <a:rPr lang="zh-CN" altLang="en-US" dirty="0"/>
                  <a:t>是 </a:t>
                </a:r>
                <a:r>
                  <a:rPr lang="en-US" dirty="0"/>
                  <a:t>S </a:t>
                </a:r>
                <a:r>
                  <a:rPr lang="zh-CN" altLang="en-US" dirty="0"/>
                  <a:t>的一个子集，则 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≔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sub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这种形式的权重函数有时被称为“线性”权重函数。</a:t>
                </a:r>
                <a:endParaRPr 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948D9B5-1D1D-0E41-875C-E861DDE0BC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0780" y="1825625"/>
                <a:ext cx="7774570" cy="4351338"/>
              </a:xfrm>
              <a:blipFill>
                <a:blip r:embed="rId2"/>
                <a:stretch>
                  <a:fillRect l="-1468" t="-2326" r="-163" b="-10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95C23B-935E-C647-9106-D3F6DF46C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525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B090FA-8B2F-DB40-996B-7C7C9C55D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最大权重子集贪心算法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73B98B-B36A-314C-87C6-B869EB395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B050"/>
                </a:solidFill>
              </a:rPr>
              <a:t>贪婪算法</a:t>
            </a:r>
            <a:r>
              <a:rPr lang="en-US" altLang="zh-CN" dirty="0">
                <a:solidFill>
                  <a:srgbClr val="00B050"/>
                </a:solidFill>
              </a:rPr>
              <a:t>(</a:t>
            </a:r>
            <a:r>
              <a:rPr lang="en-US" dirty="0">
                <a:solidFill>
                  <a:srgbClr val="00B050"/>
                </a:solidFill>
              </a:rPr>
              <a:t>Greedy)（M=(S,F),w） // </a:t>
            </a:r>
            <a:r>
              <a:rPr lang="zh-CN" altLang="en-US" dirty="0">
                <a:solidFill>
                  <a:srgbClr val="00B050"/>
                </a:solidFill>
              </a:rPr>
              <a:t>最大化版本</a:t>
            </a:r>
          </a:p>
          <a:p>
            <a:r>
              <a:rPr lang="en-US" dirty="0"/>
              <a:t>A := ∅;</a:t>
            </a:r>
          </a:p>
          <a:p>
            <a:r>
              <a:rPr lang="zh-CN" altLang="en-US" dirty="0"/>
              <a:t>按权重 </a:t>
            </a:r>
            <a:r>
              <a:rPr lang="en-US" dirty="0"/>
              <a:t>w </a:t>
            </a:r>
            <a:r>
              <a:rPr lang="zh-CN" altLang="en-US" dirty="0"/>
              <a:t>的单调递减顺序对 </a:t>
            </a:r>
            <a:r>
              <a:rPr lang="en-US" dirty="0"/>
              <a:t>S </a:t>
            </a:r>
            <a:r>
              <a:rPr lang="zh-CN" altLang="en-US" dirty="0"/>
              <a:t>进行排序。</a:t>
            </a:r>
          </a:p>
          <a:p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x in S</a:t>
            </a:r>
            <a:r>
              <a:rPr lang="zh-CN" altLang="en-US" dirty="0"/>
              <a:t> 按单调递减顺序取出</a:t>
            </a:r>
            <a:r>
              <a:rPr lang="en-US" dirty="0"/>
              <a:t>，</a:t>
            </a:r>
          </a:p>
          <a:p>
            <a:pPr marL="0" indent="0"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if</a:t>
            </a:r>
            <a:r>
              <a:rPr lang="zh-CN" altLang="en-US" dirty="0"/>
              <a:t>    </a:t>
            </a:r>
            <a:r>
              <a:rPr lang="en-US" dirty="0"/>
              <a:t>A∪{x} </a:t>
            </a:r>
            <a:r>
              <a:rPr lang="zh-CN" altLang="en-US" dirty="0"/>
              <a:t>在 </a:t>
            </a:r>
            <a:r>
              <a:rPr lang="en-US" dirty="0"/>
              <a:t>F </a:t>
            </a:r>
            <a:r>
              <a:rPr lang="en-US" dirty="0" err="1"/>
              <a:t>中</a:t>
            </a:r>
            <a:endParaRPr lang="en-US" dirty="0"/>
          </a:p>
          <a:p>
            <a:pPr marL="0" indent="0">
              <a:buNone/>
            </a:pPr>
            <a:r>
              <a:rPr lang="zh-CN" altLang="en-US" dirty="0"/>
              <a:t>               </a:t>
            </a:r>
            <a:r>
              <a:rPr lang="en-US" dirty="0"/>
              <a:t>A := A∪{x}; </a:t>
            </a:r>
          </a:p>
          <a:p>
            <a:r>
              <a:rPr lang="en-US" altLang="zh-CN" dirty="0" err="1"/>
              <a:t>endfor</a:t>
            </a:r>
            <a:endParaRPr lang="en-US" altLang="zh-CN" dirty="0"/>
          </a:p>
          <a:p>
            <a:r>
              <a:rPr lang="zh-CN" altLang="en-US" dirty="0"/>
              <a:t>返回 </a:t>
            </a:r>
            <a:r>
              <a:rPr lang="en-US" dirty="0"/>
              <a:t>A;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93D04D-B6F9-2946-A4D3-CB4310331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715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8BDB9-9DB0-6945-8AB9-A7A463979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拟阵上贪心算法的正确性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803A9D-1751-2B45-BE4C-0FEBC01A9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>
                <a:solidFill>
                  <a:srgbClr val="00B050"/>
                </a:solidFill>
              </a:rPr>
              <a:t>定理：假设 </a:t>
            </a:r>
            <a:r>
              <a:rPr lang="en-US" altLang="zh-CN" dirty="0">
                <a:solidFill>
                  <a:srgbClr val="00B050"/>
                </a:solidFill>
              </a:rPr>
              <a:t>M= (S,F) </a:t>
            </a:r>
            <a:r>
              <a:rPr lang="zh-CN" altLang="en-US" dirty="0">
                <a:solidFill>
                  <a:srgbClr val="00B050"/>
                </a:solidFill>
              </a:rPr>
              <a:t>是一个带有权重函数 </a:t>
            </a:r>
            <a:r>
              <a:rPr lang="en-US" altLang="zh-CN" dirty="0">
                <a:solidFill>
                  <a:srgbClr val="00B050"/>
                </a:solidFill>
              </a:rPr>
              <a:t>w </a:t>
            </a:r>
            <a:r>
              <a:rPr lang="zh-CN" altLang="en-US" dirty="0">
                <a:solidFill>
                  <a:srgbClr val="00B050"/>
                </a:solidFill>
              </a:rPr>
              <a:t>的加权拟阵，则</a:t>
            </a:r>
            <a:r>
              <a:rPr lang="en-US" altLang="zh-CN" dirty="0">
                <a:solidFill>
                  <a:srgbClr val="00B050"/>
                </a:solidFill>
              </a:rPr>
              <a:t>Greedy(</a:t>
            </a:r>
            <a:r>
              <a:rPr lang="en-US" altLang="zh-CN" dirty="0" err="1">
                <a:solidFill>
                  <a:srgbClr val="00B050"/>
                </a:solidFill>
              </a:rPr>
              <a:t>M,w</a:t>
            </a:r>
            <a:r>
              <a:rPr lang="en-US" altLang="zh-CN" dirty="0">
                <a:solidFill>
                  <a:srgbClr val="00B050"/>
                </a:solidFill>
              </a:rPr>
              <a:t>) </a:t>
            </a:r>
            <a:r>
              <a:rPr lang="zh-CN" altLang="en-US" dirty="0">
                <a:solidFill>
                  <a:srgbClr val="00B050"/>
                </a:solidFill>
              </a:rPr>
              <a:t>返回一个权重最大的 </a:t>
            </a:r>
            <a:r>
              <a:rPr lang="en-US" altLang="zh-CN" dirty="0">
                <a:solidFill>
                  <a:srgbClr val="00B050"/>
                </a:solidFill>
              </a:rPr>
              <a:t>F </a:t>
            </a:r>
            <a:r>
              <a:rPr lang="zh-CN" altLang="en-US" dirty="0">
                <a:solidFill>
                  <a:srgbClr val="00B050"/>
                </a:solidFill>
              </a:rPr>
              <a:t>中的集合。</a:t>
            </a:r>
            <a:endParaRPr lang="en-US" altLang="zh-CN" dirty="0">
              <a:solidFill>
                <a:srgbClr val="00B05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因此，尽管一般情况下贪心算法不能产生最优结果，但对于拟阵的贪心算法确实可以！这个算法适用于广泛的问题类别。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对于贪心算法的正确性证明同前面的证明过程相同。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DE45ED-6A52-A04B-AC2C-5298BF017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8247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8E9CC7-20D9-E340-9942-C69ED6A61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正确性证明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435756-D468-8E40-AE7F-4CA43651A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90"/>
            <a:ext cx="7886700" cy="5030786"/>
          </a:xfrm>
        </p:spPr>
        <p:txBody>
          <a:bodyPr>
            <a:normAutofit/>
          </a:bodyPr>
          <a:lstStyle/>
          <a:p>
            <a:r>
              <a:rPr lang="zh-CN" altLang="en-US" dirty="0"/>
              <a:t>用反证法证明：</a:t>
            </a:r>
            <a:endParaRPr lang="en-US" altLang="zh-CN" dirty="0"/>
          </a:p>
          <a:p>
            <a:r>
              <a:rPr lang="zh-CN" altLang="en-US" dirty="0"/>
              <a:t>假设贪心算法返回了 </a:t>
            </a:r>
            <a:r>
              <a:rPr lang="en-US" dirty="0"/>
              <a:t>F </a:t>
            </a:r>
            <a:r>
              <a:rPr lang="zh-CN" altLang="en-US" dirty="0"/>
              <a:t>中的集合 </a:t>
            </a:r>
            <a:r>
              <a:rPr lang="en-US" dirty="0"/>
              <a:t>C，</a:t>
            </a:r>
            <a:r>
              <a:rPr lang="zh-CN" altLang="en-US" dirty="0"/>
              <a:t>但存在 </a:t>
            </a:r>
            <a:r>
              <a:rPr lang="en-US" dirty="0"/>
              <a:t>F </a:t>
            </a:r>
            <a:r>
              <a:rPr lang="zh-CN" altLang="en-US" dirty="0"/>
              <a:t>中的另一个集合 </a:t>
            </a:r>
            <a:r>
              <a:rPr lang="en-US" dirty="0"/>
              <a:t>B，</a:t>
            </a:r>
            <a:r>
              <a:rPr lang="zh-CN" altLang="en-US" dirty="0"/>
              <a:t>使得 </a:t>
            </a:r>
            <a:r>
              <a:rPr lang="en-US" dirty="0"/>
              <a:t>w(B) &gt; w(C)。</a:t>
            </a:r>
          </a:p>
          <a:p>
            <a:r>
              <a:rPr lang="zh-CN" altLang="en-US" dirty="0"/>
              <a:t>由于 </a:t>
            </a:r>
            <a:r>
              <a:rPr lang="en-US" dirty="0"/>
              <a:t>w </a:t>
            </a:r>
            <a:r>
              <a:rPr lang="zh-CN" altLang="en-US" dirty="0"/>
              <a:t>是非负的，我们可以假设 </a:t>
            </a:r>
            <a:r>
              <a:rPr lang="en-US" dirty="0"/>
              <a:t>B </a:t>
            </a:r>
            <a:r>
              <a:rPr lang="zh-CN" altLang="en-US" dirty="0"/>
              <a:t>和 </a:t>
            </a:r>
            <a:r>
              <a:rPr lang="en-US" dirty="0"/>
              <a:t>C </a:t>
            </a:r>
            <a:r>
              <a:rPr lang="zh-CN" altLang="en-US" dirty="0"/>
              <a:t>是基。设 </a:t>
            </a:r>
            <a:r>
              <a:rPr lang="en-US" dirty="0"/>
              <a:t>B= {b</a:t>
            </a:r>
            <a:r>
              <a:rPr lang="en-US" baseline="-25000" dirty="0"/>
              <a:t>1</a:t>
            </a:r>
            <a:r>
              <a:rPr lang="en-US" dirty="0"/>
              <a:t>,...,b</a:t>
            </a:r>
            <a:r>
              <a:rPr lang="en-US" baseline="-25000" dirty="0"/>
              <a:t>n</a:t>
            </a:r>
            <a:r>
              <a:rPr lang="en-US" dirty="0"/>
              <a:t>} </a:t>
            </a:r>
            <a:r>
              <a:rPr lang="zh-CN" altLang="en-US" dirty="0"/>
              <a:t>和 </a:t>
            </a:r>
            <a:r>
              <a:rPr lang="en-US" dirty="0"/>
              <a:t>C={c</a:t>
            </a:r>
            <a:r>
              <a:rPr lang="en-US" baseline="-25000" dirty="0"/>
              <a:t>1</a:t>
            </a:r>
            <a:r>
              <a:rPr lang="en-US" dirty="0"/>
              <a:t>,...,</a:t>
            </a:r>
            <a:r>
              <a:rPr lang="en-US" dirty="0" err="1"/>
              <a:t>c</a:t>
            </a:r>
            <a:r>
              <a:rPr lang="en-US" baseline="-25000" dirty="0" err="1"/>
              <a:t>n</a:t>
            </a:r>
            <a:r>
              <a:rPr lang="en-US" dirty="0"/>
              <a:t>}。</a:t>
            </a:r>
          </a:p>
          <a:p>
            <a:r>
              <a:rPr lang="zh-CN" altLang="en-US" dirty="0"/>
              <a:t>设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zh-CN" altLang="en-US" dirty="0"/>
              <a:t>是最小的索引，使得 </a:t>
            </a:r>
            <a:r>
              <a:rPr lang="en-US" dirty="0"/>
              <a:t>w(b</a:t>
            </a:r>
            <a:r>
              <a:rPr lang="en-US" baseline="-25000" dirty="0"/>
              <a:t>1</a:t>
            </a:r>
            <a:r>
              <a:rPr lang="en-US" dirty="0"/>
              <a:t>)&lt;=w(c</a:t>
            </a:r>
            <a:r>
              <a:rPr lang="en-US" baseline="-25000" dirty="0"/>
              <a:t>1</a:t>
            </a:r>
            <a:r>
              <a:rPr lang="en-US" dirty="0"/>
              <a:t>),...,w(b</a:t>
            </a:r>
            <a:r>
              <a:rPr lang="en-US" baseline="-25000" dirty="0"/>
              <a:t>i-1</a:t>
            </a:r>
            <a:r>
              <a:rPr lang="en-US" dirty="0"/>
              <a:t>)&lt;=w(ci-1)，</a:t>
            </a:r>
            <a:r>
              <a:rPr lang="zh-CN" altLang="en-US" dirty="0"/>
              <a:t>且 </a:t>
            </a:r>
            <a:r>
              <a:rPr lang="en-US" dirty="0"/>
              <a:t>w(b</a:t>
            </a:r>
            <a:r>
              <a:rPr lang="en-US" baseline="-25000" dirty="0"/>
              <a:t>i</a:t>
            </a:r>
            <a:r>
              <a:rPr lang="en-US" dirty="0"/>
              <a:t>)&gt;w(c</a:t>
            </a:r>
            <a:r>
              <a:rPr lang="en-US" baseline="-25000" dirty="0"/>
              <a:t>i</a:t>
            </a:r>
            <a:r>
              <a:rPr lang="en-US" dirty="0"/>
              <a:t>)。</a:t>
            </a:r>
          </a:p>
          <a:p>
            <a:r>
              <a:rPr lang="zh-CN" altLang="en-US" dirty="0"/>
              <a:t>贪心算法在第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zh-CN" altLang="en-US" dirty="0"/>
              <a:t>步会选择 </a:t>
            </a:r>
            <a:r>
              <a:rPr lang="en-US" dirty="0"/>
              <a:t>b</a:t>
            </a:r>
            <a:r>
              <a:rPr lang="en-US" baseline="-25000" dirty="0"/>
              <a:t>i</a:t>
            </a:r>
            <a:r>
              <a:rPr lang="en-US" dirty="0"/>
              <a:t>。</a:t>
            </a:r>
            <a:r>
              <a:rPr lang="zh-CN" altLang="en-US" dirty="0"/>
              <a:t> 由于</a:t>
            </a:r>
            <a:r>
              <a:rPr lang="en-US" altLang="zh-CN" dirty="0"/>
              <a:t>{</a:t>
            </a:r>
            <a:r>
              <a:rPr lang="en-US" dirty="0"/>
              <a:t>b</a:t>
            </a:r>
            <a:r>
              <a:rPr lang="en-US" baseline="-25000" dirty="0"/>
              <a:t>1</a:t>
            </a:r>
            <a:r>
              <a:rPr lang="en-US" dirty="0"/>
              <a:t>,...,b</a:t>
            </a:r>
            <a:r>
              <a:rPr lang="en-US" baseline="-25000" dirty="0"/>
              <a:t>i</a:t>
            </a:r>
            <a:r>
              <a:rPr lang="en-US" dirty="0"/>
              <a:t>} </a:t>
            </a:r>
            <a:r>
              <a:rPr lang="zh-CN" altLang="en-US" dirty="0"/>
              <a:t>和 </a:t>
            </a:r>
            <a:r>
              <a:rPr lang="en-US" altLang="zh-CN" dirty="0"/>
              <a:t>{</a:t>
            </a:r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,...,c</a:t>
            </a:r>
            <a:r>
              <a:rPr lang="en-US" baseline="-25000" dirty="0"/>
              <a:t>i-1</a:t>
            </a:r>
            <a:r>
              <a:rPr lang="en-US" dirty="0"/>
              <a:t>} </a:t>
            </a:r>
            <a:r>
              <a:rPr lang="zh-CN" altLang="en-US" dirty="0"/>
              <a:t>在 </a:t>
            </a:r>
            <a:r>
              <a:rPr lang="en-US" dirty="0"/>
              <a:t>F </a:t>
            </a:r>
            <a:r>
              <a:rPr lang="zh-CN" altLang="en-US" dirty="0"/>
              <a:t>中，因此根据拟阵的交换性质，</a:t>
            </a:r>
            <a:r>
              <a:rPr lang="en-US" altLang="zh-CN" dirty="0"/>
              <a:t>{</a:t>
            </a:r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,...,c</a:t>
            </a:r>
            <a:r>
              <a:rPr lang="en-US" baseline="-25000" dirty="0"/>
              <a:t>i-1</a:t>
            </a:r>
            <a:r>
              <a:rPr lang="en-US" dirty="0"/>
              <a:t>,b</a:t>
            </a:r>
            <a:r>
              <a:rPr lang="en-US" baseline="-25000" dirty="0"/>
              <a:t>i</a:t>
            </a:r>
            <a:r>
              <a:rPr lang="en-US" dirty="0"/>
              <a:t>} </a:t>
            </a:r>
            <a:r>
              <a:rPr lang="zh-CN" altLang="en-US" dirty="0"/>
              <a:t>也在 </a:t>
            </a:r>
            <a:r>
              <a:rPr lang="en-US" dirty="0"/>
              <a:t>F </a:t>
            </a:r>
            <a:r>
              <a:rPr lang="zh-CN" altLang="en-US" dirty="0"/>
              <a:t>中。因此 </a:t>
            </a:r>
            <a:r>
              <a:rPr lang="en-US" dirty="0"/>
              <a:t>w(B)&lt;=w(C)，</a:t>
            </a:r>
            <a:r>
              <a:rPr lang="zh-CN" altLang="en-US" dirty="0"/>
              <a:t>矛盾！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92647A-2F29-8144-A994-B4AA1AF6B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853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DE268F-24BA-7C44-8391-BC8037765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96515"/>
          </a:xfrm>
        </p:spPr>
        <p:txBody>
          <a:bodyPr/>
          <a:lstStyle/>
          <a:p>
            <a:r>
              <a:rPr lang="en-US" dirty="0" err="1"/>
              <a:t>图拟阵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9AD427-D63C-4B4A-B02C-E18D44A2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27858"/>
            <a:ext cx="7886700" cy="4649105"/>
          </a:xfrm>
        </p:spPr>
        <p:txBody>
          <a:bodyPr/>
          <a:lstStyle/>
          <a:p>
            <a:r>
              <a:rPr lang="zh-CN" altLang="en-US" dirty="0"/>
              <a:t>让 </a:t>
            </a:r>
            <a:r>
              <a:rPr lang="en-US" dirty="0"/>
              <a:t>G=(V,E) </a:t>
            </a:r>
            <a:r>
              <a:rPr lang="zh-CN" altLang="en-US" dirty="0"/>
              <a:t>为一个无向连通图。</a:t>
            </a:r>
          </a:p>
          <a:p>
            <a:r>
              <a:rPr lang="zh-CN" altLang="en-US" dirty="0"/>
              <a:t>令 </a:t>
            </a:r>
            <a:r>
              <a:rPr lang="en-US" dirty="0"/>
              <a:t>S = E，F = { A | H = (S,A) </a:t>
            </a:r>
            <a:r>
              <a:rPr lang="zh-CN" altLang="en-US" dirty="0"/>
              <a:t>是 </a:t>
            </a:r>
            <a:r>
              <a:rPr lang="en-US" dirty="0"/>
              <a:t>G </a:t>
            </a:r>
            <a:r>
              <a:rPr lang="zh-CN" altLang="en-US" dirty="0"/>
              <a:t>的诱导子图，且 </a:t>
            </a:r>
            <a:r>
              <a:rPr lang="en-US" dirty="0"/>
              <a:t>H </a:t>
            </a:r>
            <a:r>
              <a:rPr lang="zh-CN" altLang="en-US" dirty="0"/>
              <a:t>为森林 </a:t>
            </a:r>
            <a:r>
              <a:rPr lang="en-US" altLang="zh-CN" dirty="0"/>
              <a:t>}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令 </a:t>
            </a:r>
            <a:r>
              <a:rPr lang="en-US" dirty="0"/>
              <a:t>w </a:t>
            </a:r>
            <a:r>
              <a:rPr lang="zh-CN" altLang="en-US" dirty="0"/>
              <a:t>为边 </a:t>
            </a:r>
            <a:r>
              <a:rPr lang="en-US" dirty="0"/>
              <a:t>E </a:t>
            </a:r>
            <a:r>
              <a:rPr lang="zh-CN" altLang="en-US" dirty="0"/>
              <a:t>上的权重函数。</a:t>
            </a:r>
          </a:p>
          <a:p>
            <a:r>
              <a:rPr lang="zh-CN" altLang="en-US" dirty="0"/>
              <a:t>定义 </a:t>
            </a:r>
            <a:r>
              <a:rPr lang="en-US" dirty="0"/>
              <a:t>w'(a)=m-w(a)，</a:t>
            </a:r>
            <a:r>
              <a:rPr lang="zh-CN" altLang="en-US" dirty="0"/>
              <a:t>其中 </a:t>
            </a:r>
            <a:r>
              <a:rPr lang="en-US" dirty="0"/>
              <a:t>m&gt;w(a)，</a:t>
            </a:r>
            <a:r>
              <a:rPr lang="zh-CN" altLang="en-US" dirty="0"/>
              <a:t>对于所有 </a:t>
            </a:r>
            <a:r>
              <a:rPr lang="en-US" dirty="0"/>
              <a:t>a </a:t>
            </a:r>
            <a:r>
              <a:rPr lang="zh-CN" altLang="en-US" dirty="0"/>
              <a:t>属于 </a:t>
            </a:r>
            <a:r>
              <a:rPr lang="en-US" dirty="0"/>
              <a:t>A。</a:t>
            </a:r>
          </a:p>
          <a:p>
            <a:r>
              <a:rPr lang="en-US" dirty="0"/>
              <a:t>Greedy((S,F), w’) </a:t>
            </a:r>
            <a:r>
              <a:rPr lang="zh-CN" altLang="en-US" dirty="0"/>
              <a:t>返回 </a:t>
            </a:r>
            <a:r>
              <a:rPr lang="en-US" dirty="0"/>
              <a:t>G </a:t>
            </a:r>
            <a:r>
              <a:rPr lang="zh-CN" altLang="en-US" dirty="0"/>
              <a:t>的最小生成树。这个算法被称为 </a:t>
            </a:r>
            <a:r>
              <a:rPr lang="en-US" dirty="0"/>
              <a:t>Kruskal </a:t>
            </a:r>
            <a:r>
              <a:rPr lang="zh-CN" altLang="en-US" dirty="0"/>
              <a:t>算法。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55ECB3-1EEF-3E4D-9E70-FAF813D32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8234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618BC3E-C159-7C4A-A4AD-5D258853E934}"/>
              </a:ext>
            </a:extLst>
          </p:cNvPr>
          <p:cNvSpPr/>
          <p:nvPr/>
        </p:nvSpPr>
        <p:spPr>
          <a:xfrm>
            <a:off x="0" y="0"/>
            <a:ext cx="3891776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C4D8C2F-B057-BC46-B29B-8549C3CA4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55" y="620392"/>
            <a:ext cx="2856201" cy="5504688"/>
          </a:xfrm>
        </p:spPr>
        <p:txBody>
          <a:bodyPr>
            <a:normAutofit/>
          </a:bodyPr>
          <a:lstStyle/>
          <a:p>
            <a:r>
              <a:rPr lang="en-US" sz="5200" dirty="0" err="1">
                <a:solidFill>
                  <a:schemeClr val="bg1"/>
                </a:solidFill>
              </a:rPr>
              <a:t>主要内容</a:t>
            </a:r>
            <a:endParaRPr lang="en-US" sz="5200" dirty="0">
              <a:solidFill>
                <a:schemeClr val="bg1"/>
              </a:solidFill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605011D5-D7DF-D395-3AA9-3C30225BA1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101291" y="620391"/>
          <a:ext cx="4697730" cy="5599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DCA578-4958-C042-93CC-08AEB411D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Algorithm design and analysis, Yongcai Wang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899857-20C5-3A4B-8E13-770B50CF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D7B5-3E88-6742-8EE5-BD15024C659B}" type="slidenum">
              <a:rPr lang="en-US" smtClean="0"/>
              <a:t>46</a:t>
            </a:fld>
            <a:endParaRPr lang="en-US"/>
          </a:p>
        </p:txBody>
      </p:sp>
      <p:pic>
        <p:nvPicPr>
          <p:cNvPr id="7" name="图形 6" descr="3D 眼镜 纯色填充">
            <a:extLst>
              <a:ext uri="{FF2B5EF4-FFF2-40B4-BE49-F238E27FC236}">
                <a16:creationId xmlns:a16="http://schemas.microsoft.com/office/drawing/2014/main" id="{5F35CDB7-B71B-6147-B88D-E69B590230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15350" y="245833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947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604" y="304196"/>
            <a:ext cx="8321939" cy="832595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Schedule to Minimize the</a:t>
            </a:r>
            <a:r>
              <a:rPr lang="zh-CN" altLang="en-US" sz="3600" dirty="0"/>
              <a:t> </a:t>
            </a:r>
            <a:r>
              <a:rPr lang="en-US" altLang="zh-CN" sz="3600" dirty="0"/>
              <a:t>Sum</a:t>
            </a:r>
            <a:r>
              <a:rPr lang="zh-CN" altLang="en-US" sz="3600" dirty="0"/>
              <a:t> </a:t>
            </a:r>
            <a:r>
              <a:rPr lang="en-US" altLang="zh-CN" sz="3600" dirty="0"/>
              <a:t>Lateness</a:t>
            </a:r>
            <a:r>
              <a:rPr lang="zh-CN" altLang="en-US" sz="3600" dirty="0"/>
              <a:t> </a:t>
            </a:r>
            <a:r>
              <a:rPr lang="en-US" altLang="zh-CN" sz="3600" dirty="0"/>
              <a:t>Penalty</a:t>
            </a:r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754451" y="1277532"/>
            <a:ext cx="6902212" cy="5078819"/>
            <a:chOff x="776403" y="1690689"/>
            <a:chExt cx="6902212" cy="5512304"/>
          </a:xfrm>
        </p:grpSpPr>
        <p:grpSp>
          <p:nvGrpSpPr>
            <p:cNvPr id="15" name="Group 14"/>
            <p:cNvGrpSpPr/>
            <p:nvPr/>
          </p:nvGrpSpPr>
          <p:grpSpPr>
            <a:xfrm>
              <a:off x="776403" y="1690689"/>
              <a:ext cx="6902212" cy="5512304"/>
              <a:chOff x="776403" y="1690689"/>
              <a:chExt cx="6902212" cy="4409944"/>
            </a:xfrm>
            <a:solidFill>
              <a:schemeClr val="accent4"/>
            </a:solidFill>
          </p:grpSpPr>
          <p:sp>
            <p:nvSpPr>
              <p:cNvPr id="6" name="Rounded Rectangle 5"/>
              <p:cNvSpPr/>
              <p:nvPr/>
            </p:nvSpPr>
            <p:spPr>
              <a:xfrm>
                <a:off x="785446" y="1690689"/>
                <a:ext cx="6893169" cy="350366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CS161 HW</a:t>
                </a:r>
              </a:p>
            </p:txBody>
          </p:sp>
          <p:sp>
            <p:nvSpPr>
              <p:cNvPr id="7" name="Rounded Rectangle 6"/>
              <p:cNvSpPr/>
              <p:nvPr/>
            </p:nvSpPr>
            <p:spPr>
              <a:xfrm>
                <a:off x="779585" y="2094520"/>
                <a:ext cx="2045677" cy="350366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Personal hygiene</a:t>
                </a:r>
              </a:p>
            </p:txBody>
          </p:sp>
          <p:sp>
            <p:nvSpPr>
              <p:cNvPr id="8" name="Rounded Rectangle 7"/>
              <p:cNvSpPr/>
              <p:nvPr/>
            </p:nvSpPr>
            <p:spPr>
              <a:xfrm>
                <a:off x="779585" y="2496438"/>
                <a:ext cx="4033274" cy="350366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Math HW</a:t>
                </a:r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779585" y="3310574"/>
                <a:ext cx="2703906" cy="350366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Econ HW</a:t>
                </a:r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779585" y="4503362"/>
                <a:ext cx="3800956" cy="350366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Practice musical instrument</a:t>
                </a:r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>
                <a:off x="779585" y="4921072"/>
                <a:ext cx="5266341" cy="350366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Read lecture notes</a:t>
                </a:r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776403" y="5333127"/>
                <a:ext cx="3362137" cy="350366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Have a social life</a:t>
                </a:r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788126" y="5768628"/>
                <a:ext cx="2045677" cy="332005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Sleep</a:t>
                </a:r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779585" y="2913262"/>
                <a:ext cx="4528526" cy="332005"/>
              </a:xfrm>
              <a:prstGeom prst="round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Administrative stuff for student club</a:t>
                </a:r>
              </a:p>
            </p:txBody>
          </p:sp>
        </p:grpSp>
        <p:sp>
          <p:nvSpPr>
            <p:cNvPr id="16" name="Rounded Rectangle 15"/>
            <p:cNvSpPr/>
            <p:nvPr/>
          </p:nvSpPr>
          <p:spPr>
            <a:xfrm>
              <a:off x="779585" y="4233459"/>
              <a:ext cx="1916723" cy="437947"/>
            </a:xfrm>
            <a:prstGeom prst="round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Do laundry</a:t>
              </a: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741388" y="4064642"/>
            <a:ext cx="1335091" cy="40350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Meditate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9A8D4B-4D8B-9A4C-9CBD-E91948F2F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47</a:t>
            </a:fld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24958EB-FBF3-4947-A062-C8E6B5C0D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18550">
            <a:off x="6616759" y="4622245"/>
            <a:ext cx="1627045" cy="202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98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007" y="89297"/>
            <a:ext cx="7886700" cy="783736"/>
          </a:xfrm>
        </p:spPr>
        <p:txBody>
          <a:bodyPr/>
          <a:lstStyle/>
          <a:p>
            <a:r>
              <a:rPr lang="en-US" dirty="0"/>
              <a:t>Scheduling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005014"/>
                <a:ext cx="8437688" cy="585298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n tasks</a:t>
                </a:r>
              </a:p>
              <a:p>
                <a:r>
                  <a:rPr lang="en-US" dirty="0"/>
                  <a:t>Task </a:t>
                </a:r>
                <a:r>
                  <a:rPr lang="en-US" dirty="0" err="1"/>
                  <a:t>i</a:t>
                </a:r>
                <a:r>
                  <a:rPr lang="en-US" dirty="0"/>
                  <a:t> takes </a:t>
                </a:r>
                <a:r>
                  <a:rPr lang="en-US" dirty="0" err="1"/>
                  <a:t>t</a:t>
                </a:r>
                <a:r>
                  <a:rPr lang="en-US" baseline="-25000" dirty="0" err="1"/>
                  <a:t>i</a:t>
                </a:r>
                <a:r>
                  <a:rPr lang="en-US" dirty="0"/>
                  <a:t> hours</a:t>
                </a:r>
              </a:p>
              <a:p>
                <a:r>
                  <a:rPr lang="en-US" dirty="0"/>
                  <a:t>For every hour that passes until task </a:t>
                </a:r>
                <a:r>
                  <a:rPr lang="en-US" dirty="0" err="1"/>
                  <a:t>i</a:t>
                </a:r>
                <a:r>
                  <a:rPr lang="en-US" dirty="0"/>
                  <a:t> is done, pay c</a:t>
                </a:r>
                <a:r>
                  <a:rPr lang="en-US" baseline="-25000" dirty="0"/>
                  <a:t>i</a:t>
                </a:r>
              </a:p>
              <a:p>
                <a:pPr lvl="1"/>
                <a:endParaRPr lang="en-US" baseline="-250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lvl="1"/>
                <a:endParaRPr lang="en-US" baseline="-250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lvl="1"/>
                <a:endParaRPr lang="en-US" baseline="-250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lvl="1"/>
                <a:endParaRPr lang="en-US" baseline="-250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lvl="1"/>
                <a:endParaRPr lang="en-US" baseline="-250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lvl="1"/>
                <a:endParaRPr lang="en-US" baseline="-250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lvl="1"/>
                <a:endParaRPr lang="en-US" baseline="-250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lvl="1"/>
                <a:endParaRPr lang="en-US" baseline="-250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lvl="1"/>
                <a:endParaRPr lang="en-US" baseline="-250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lvl="1"/>
                <a:endParaRPr lang="en-US" baseline="-250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lvl="1"/>
                <a:endParaRPr lang="en-US" baseline="-250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lvl="1"/>
                <a:r>
                  <a:rPr lang="en-US" dirty="0"/>
                  <a:t>CS161 HW, then Sleep:  </a:t>
                </a:r>
                <a:r>
                  <a:rPr lang="en-US" dirty="0">
                    <a:solidFill>
                      <a:schemeClr val="accent4"/>
                    </a:solidFill>
                  </a:rPr>
                  <a:t>costs </a:t>
                </a:r>
                <a:r>
                  <a:rPr lang="en-US" b="1" dirty="0">
                    <a:solidFill>
                      <a:schemeClr val="accent4"/>
                    </a:solidFill>
                  </a:rPr>
                  <a:t>10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4"/>
                        </a:solidFill>
                        <a:latin typeface="Cambria Math" charset="0"/>
                      </a:rPr>
                      <m:t>⋅</m:t>
                    </m:r>
                  </m:oMath>
                </a14:m>
                <a:r>
                  <a:rPr lang="en-US" b="1" dirty="0">
                    <a:solidFill>
                      <a:schemeClr val="accent4"/>
                    </a:solidFill>
                  </a:rPr>
                  <a:t> 2 + (10 + 8)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⋅</m:t>
                    </m:r>
                  </m:oMath>
                </a14:m>
                <a:r>
                  <a:rPr lang="en-US" b="1" dirty="0">
                    <a:solidFill>
                      <a:schemeClr val="accent4"/>
                    </a:solidFill>
                  </a:rPr>
                  <a:t> 3 = 74 units</a:t>
                </a:r>
                <a:endParaRPr lang="en-US" b="1" dirty="0">
                  <a:solidFill>
                    <a:schemeClr val="accent1"/>
                  </a:solidFill>
                </a:endParaRPr>
              </a:p>
              <a:p>
                <a:pPr lvl="1"/>
                <a:r>
                  <a:rPr lang="en-US" dirty="0"/>
                  <a:t>Sleep, then CS161 HW: </a:t>
                </a:r>
                <a:r>
                  <a:rPr lang="en-US" dirty="0">
                    <a:solidFill>
                      <a:schemeClr val="accent4"/>
                    </a:solidFill>
                  </a:rPr>
                  <a:t>costs </a:t>
                </a:r>
                <a:r>
                  <a:rPr lang="en-US" b="1" dirty="0">
                    <a:solidFill>
                      <a:schemeClr val="accent4"/>
                    </a:solidFill>
                  </a:rPr>
                  <a:t>8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⋅</m:t>
                    </m:r>
                  </m:oMath>
                </a14:m>
                <a:r>
                  <a:rPr lang="en-US" b="1" dirty="0">
                    <a:solidFill>
                      <a:schemeClr val="accent4"/>
                    </a:solidFill>
                  </a:rPr>
                  <a:t> 3 + (10 + 8)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/>
                        </a:solidFill>
                        <a:latin typeface="Cambria Math" charset="0"/>
                      </a:rPr>
                      <m:t>⋅</m:t>
                    </m:r>
                  </m:oMath>
                </a14:m>
                <a:r>
                  <a:rPr lang="en-US" b="1" dirty="0">
                    <a:solidFill>
                      <a:schemeClr val="accent4"/>
                    </a:solidFill>
                  </a:rPr>
                  <a:t> 2 = 60 units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005014"/>
                <a:ext cx="8437688" cy="5852985"/>
              </a:xfrm>
              <a:blipFill>
                <a:blip r:embed="rId2"/>
                <a:stretch>
                  <a:fillRect l="-1353" t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304804" y="3489511"/>
            <a:ext cx="6646982" cy="403508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CS161 HW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4803" y="4027955"/>
            <a:ext cx="5685692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Sleep</a:t>
            </a:r>
          </a:p>
        </p:txBody>
      </p:sp>
      <p:sp>
        <p:nvSpPr>
          <p:cNvPr id="8" name="Left Brace 7"/>
          <p:cNvSpPr/>
          <p:nvPr/>
        </p:nvSpPr>
        <p:spPr>
          <a:xfrm rot="5400000">
            <a:off x="3417564" y="-13529"/>
            <a:ext cx="421460" cy="6646984"/>
          </a:xfrm>
          <a:prstGeom prst="leftBrace">
            <a:avLst>
              <a:gd name="adj1" fmla="val 8333"/>
              <a:gd name="adj2" fmla="val 50170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47295" y="2818729"/>
            <a:ext cx="139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10 hours</a:t>
            </a:r>
          </a:p>
        </p:txBody>
      </p:sp>
      <p:sp>
        <p:nvSpPr>
          <p:cNvPr id="10" name="Left Brace 9"/>
          <p:cNvSpPr/>
          <p:nvPr/>
        </p:nvSpPr>
        <p:spPr>
          <a:xfrm rot="16200000">
            <a:off x="2956937" y="1877311"/>
            <a:ext cx="404871" cy="5662248"/>
          </a:xfrm>
          <a:prstGeom prst="leftBrace">
            <a:avLst>
              <a:gd name="adj1" fmla="val 8333"/>
              <a:gd name="adj2" fmla="val 50170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696310" y="4917578"/>
            <a:ext cx="139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8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3076" y="3285310"/>
            <a:ext cx="2063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Cost: </a:t>
            </a:r>
            <a:r>
              <a:rPr lang="en-US" dirty="0">
                <a:solidFill>
                  <a:schemeClr val="accent4"/>
                </a:solidFill>
              </a:rPr>
              <a:t>2 units per hour until it’s done.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5091" y="3970264"/>
            <a:ext cx="2061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Cost: </a:t>
            </a:r>
            <a:r>
              <a:rPr lang="en-US" dirty="0">
                <a:solidFill>
                  <a:schemeClr val="accent4"/>
                </a:solidFill>
              </a:rPr>
              <a:t>3 units per hour until it’s done.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502048-E268-FF40-8DEF-1BAC0EF56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87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6" grpId="0" animBg="1"/>
      <p:bldP spid="8" grpId="0" animBg="1"/>
      <p:bldP spid="9" grpId="0"/>
      <p:bldP spid="10" grpId="0" animBg="1"/>
      <p:bldP spid="11" grpId="0"/>
      <p:bldP spid="13" grpId="0"/>
      <p:bldP spid="1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substructure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problem breaks up nicely into sub-problems: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1758" y="3460064"/>
            <a:ext cx="1629507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Job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93327" y="3460064"/>
            <a:ext cx="3474427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Job B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5849817" y="3460064"/>
            <a:ext cx="1242646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Job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4525" y="3460064"/>
            <a:ext cx="1582615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Job 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58158" y="3305906"/>
            <a:ext cx="6638194" cy="695388"/>
          </a:xfrm>
          <a:prstGeom prst="roundRect">
            <a:avLst/>
          </a:prstGeom>
          <a:noFill/>
          <a:ln w="444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42142" y="2838598"/>
            <a:ext cx="4232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Suppose this is the </a:t>
            </a:r>
            <a:r>
              <a:rPr lang="en-US">
                <a:solidFill>
                  <a:schemeClr val="accent4"/>
                </a:solidFill>
              </a:rPr>
              <a:t>optimal schedule: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649" y="4688211"/>
            <a:ext cx="35271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</a:rPr>
              <a:t>Then this must be the optimal schedule on just jobs B,C,D.</a:t>
            </a:r>
          </a:p>
        </p:txBody>
      </p:sp>
      <p:sp>
        <p:nvSpPr>
          <p:cNvPr id="15" name="Freeform 14"/>
          <p:cNvSpPr/>
          <p:nvPr/>
        </p:nvSpPr>
        <p:spPr>
          <a:xfrm>
            <a:off x="3575538" y="4103077"/>
            <a:ext cx="639804" cy="1017711"/>
          </a:xfrm>
          <a:custGeom>
            <a:avLst/>
            <a:gdLst>
              <a:gd name="connsiteX0" fmla="*/ 0 w 639804"/>
              <a:gd name="connsiteY0" fmla="*/ 984738 h 1017711"/>
              <a:gd name="connsiteX1" fmla="*/ 621324 w 639804"/>
              <a:gd name="connsiteY1" fmla="*/ 949569 h 1017711"/>
              <a:gd name="connsiteX2" fmla="*/ 445477 w 639804"/>
              <a:gd name="connsiteY2" fmla="*/ 375138 h 1017711"/>
              <a:gd name="connsiteX3" fmla="*/ 128954 w 639804"/>
              <a:gd name="connsiteY3" fmla="*/ 0 h 1017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9804" h="1017711">
                <a:moveTo>
                  <a:pt x="0" y="984738"/>
                </a:moveTo>
                <a:cubicBezTo>
                  <a:pt x="273539" y="1017953"/>
                  <a:pt x="547078" y="1051169"/>
                  <a:pt x="621324" y="949569"/>
                </a:cubicBezTo>
                <a:cubicBezTo>
                  <a:pt x="695570" y="847969"/>
                  <a:pt x="527539" y="533399"/>
                  <a:pt x="445477" y="375138"/>
                </a:cubicBezTo>
                <a:cubicBezTo>
                  <a:pt x="363415" y="216877"/>
                  <a:pt x="128954" y="0"/>
                  <a:pt x="128954" y="0"/>
                </a:cubicBezTo>
              </a:path>
            </a:pathLst>
          </a:custGeom>
          <a:noFill/>
          <a:ln w="31750">
            <a:solidFill>
              <a:schemeClr val="accent6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B86CBC-65BD-824A-AC3D-FE94F7F35AA2}"/>
              </a:ext>
            </a:extLst>
          </p:cNvPr>
          <p:cNvSpPr txBox="1"/>
          <p:nvPr/>
        </p:nvSpPr>
        <p:spPr>
          <a:xfrm>
            <a:off x="5690784" y="5774852"/>
            <a:ext cx="28033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Think-share</a:t>
            </a:r>
          </a:p>
          <a:p>
            <a:r>
              <a:rPr lang="en-US" dirty="0"/>
              <a:t>1 minute think</a:t>
            </a:r>
          </a:p>
          <a:p>
            <a:r>
              <a:rPr lang="en-US" dirty="0"/>
              <a:t>(wait) 1 minute share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7E8885-AB8E-0742-BCC9-41F7EC4FB78A}"/>
              </a:ext>
            </a:extLst>
          </p:cNvPr>
          <p:cNvSpPr txBox="1"/>
          <p:nvPr/>
        </p:nvSpPr>
        <p:spPr>
          <a:xfrm>
            <a:off x="7355461" y="4809078"/>
            <a:ext cx="1966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7AE757-C0CC-E843-930F-A9B366F0195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9097" y="4610199"/>
            <a:ext cx="3015049" cy="1635695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4426D3A-53BC-6E4A-9578-0E8FAE6B6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737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15" grpId="0" animBg="1"/>
      <p:bldP spid="8" grpId="0"/>
      <p:bldP spid="1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substructure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problem breaks up nicely into sub-problems: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1758" y="3460064"/>
            <a:ext cx="1629507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Job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93327" y="3460064"/>
            <a:ext cx="3474427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Job B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5849817" y="3460064"/>
            <a:ext cx="1242646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Job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4525" y="3460064"/>
            <a:ext cx="1582615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Job 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58158" y="3305906"/>
            <a:ext cx="6638194" cy="695388"/>
          </a:xfrm>
          <a:prstGeom prst="roundRect">
            <a:avLst/>
          </a:prstGeom>
          <a:noFill/>
          <a:ln w="444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42142" y="2838598"/>
            <a:ext cx="4232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Suppose this is the </a:t>
            </a:r>
            <a:r>
              <a:rPr lang="en-US">
                <a:solidFill>
                  <a:schemeClr val="accent4"/>
                </a:solidFill>
              </a:rPr>
              <a:t>optimal schedule: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649" y="4688211"/>
            <a:ext cx="35271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</a:rPr>
              <a:t>Then this must be the optimal schedule on just jobs B,C,D.</a:t>
            </a:r>
          </a:p>
        </p:txBody>
      </p:sp>
      <p:sp>
        <p:nvSpPr>
          <p:cNvPr id="15" name="Freeform 14"/>
          <p:cNvSpPr/>
          <p:nvPr/>
        </p:nvSpPr>
        <p:spPr>
          <a:xfrm>
            <a:off x="3575538" y="4103077"/>
            <a:ext cx="639804" cy="1017711"/>
          </a:xfrm>
          <a:custGeom>
            <a:avLst/>
            <a:gdLst>
              <a:gd name="connsiteX0" fmla="*/ 0 w 639804"/>
              <a:gd name="connsiteY0" fmla="*/ 984738 h 1017711"/>
              <a:gd name="connsiteX1" fmla="*/ 621324 w 639804"/>
              <a:gd name="connsiteY1" fmla="*/ 949569 h 1017711"/>
              <a:gd name="connsiteX2" fmla="*/ 445477 w 639804"/>
              <a:gd name="connsiteY2" fmla="*/ 375138 h 1017711"/>
              <a:gd name="connsiteX3" fmla="*/ 128954 w 639804"/>
              <a:gd name="connsiteY3" fmla="*/ 0 h 1017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9804" h="1017711">
                <a:moveTo>
                  <a:pt x="0" y="984738"/>
                </a:moveTo>
                <a:cubicBezTo>
                  <a:pt x="273539" y="1017953"/>
                  <a:pt x="547078" y="1051169"/>
                  <a:pt x="621324" y="949569"/>
                </a:cubicBezTo>
                <a:cubicBezTo>
                  <a:pt x="695570" y="847969"/>
                  <a:pt x="527539" y="533399"/>
                  <a:pt x="445477" y="375138"/>
                </a:cubicBezTo>
                <a:cubicBezTo>
                  <a:pt x="363415" y="216877"/>
                  <a:pt x="128954" y="0"/>
                  <a:pt x="128954" y="0"/>
                </a:cubicBezTo>
              </a:path>
            </a:pathLst>
          </a:custGeom>
          <a:noFill/>
          <a:ln w="31750">
            <a:solidFill>
              <a:schemeClr val="accent6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EA184B-346F-D64E-A76C-11EE8BEE77FD}"/>
              </a:ext>
            </a:extLst>
          </p:cNvPr>
          <p:cNvSpPr txBox="1"/>
          <p:nvPr/>
        </p:nvSpPr>
        <p:spPr>
          <a:xfrm>
            <a:off x="4797067" y="5220181"/>
            <a:ext cx="38391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4"/>
                </a:solidFill>
              </a:rPr>
              <a:t>If not, then rearranging B,C,D could make a better schedule than (A,B,C,D)!</a:t>
            </a:r>
          </a:p>
        </p:txBody>
      </p:sp>
    </p:spTree>
    <p:extLst>
      <p:ext uri="{BB962C8B-B14F-4D97-AF65-F5344CB8AC3E}">
        <p14:creationId xmlns:p14="http://schemas.microsoft.com/office/powerpoint/2010/main" val="32451308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substructure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Seems amenable to a greedy algorithm: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1758" y="2935132"/>
            <a:ext cx="1629507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Job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93327" y="2935132"/>
            <a:ext cx="3474427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Job B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5849817" y="2935132"/>
            <a:ext cx="1242646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Job 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4525" y="2935132"/>
            <a:ext cx="1582615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Job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533" y="2387600"/>
            <a:ext cx="3132667" cy="372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67500"/>
                </a:solidFill>
              </a:rPr>
              <a:t>Take the best job first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11265" y="2778619"/>
            <a:ext cx="6695668" cy="695388"/>
          </a:xfrm>
          <a:prstGeom prst="roundRect">
            <a:avLst/>
          </a:prstGeom>
          <a:noFill/>
          <a:ln w="44450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572000" y="2377453"/>
            <a:ext cx="3132667" cy="372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67500"/>
                </a:solidFill>
              </a:rPr>
              <a:t>Then solve this problem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87232" y="4493490"/>
            <a:ext cx="3474427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Job B</a:t>
            </a:r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2378318" y="4493490"/>
            <a:ext cx="1242646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Job 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7927" y="4498839"/>
            <a:ext cx="1582615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Job 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873" y="4001294"/>
            <a:ext cx="3132667" cy="372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C1"/>
                </a:solidFill>
              </a:rPr>
              <a:t>Take the best job first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4830" y="4336977"/>
            <a:ext cx="5252103" cy="695388"/>
          </a:xfrm>
          <a:prstGeom prst="roundRect">
            <a:avLst/>
          </a:prstGeom>
          <a:noFill/>
          <a:ln w="44450">
            <a:solidFill>
              <a:srgbClr val="FF00C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C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76332" y="3949820"/>
            <a:ext cx="3132667" cy="372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C1"/>
                </a:solidFill>
              </a:rPr>
              <a:t>Then solve this problem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24445" y="5723947"/>
            <a:ext cx="3474427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Job B</a:t>
            </a:r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3729563" y="5723947"/>
            <a:ext cx="1582615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Job 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12178" y="5603301"/>
            <a:ext cx="3756433" cy="695388"/>
          </a:xfrm>
          <a:prstGeom prst="roundRect">
            <a:avLst/>
          </a:prstGeom>
          <a:noFill/>
          <a:ln w="444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C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464206" y="5310387"/>
            <a:ext cx="3132667" cy="372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Take the best job 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30721" y="6360569"/>
            <a:ext cx="3132667" cy="372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(That one’s easy </a:t>
            </a:r>
            <a:r>
              <a:rPr lang="en-US" dirty="0">
                <a:solidFill>
                  <a:schemeClr val="accent2"/>
                </a:solidFill>
                <a:sym typeface="Wingdings"/>
              </a:rPr>
              <a:t> 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43600" y="5228096"/>
            <a:ext cx="3132667" cy="372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Then solve this problem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F0B28D6-DF59-1749-B588-6932883D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93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7" grpId="0"/>
      <p:bldP spid="16" grpId="0" animBg="1"/>
      <p:bldP spid="17" grpId="0"/>
      <p:bldP spid="18" grpId="0" animBg="1"/>
      <p:bldP spid="19" grpId="0" animBg="1"/>
      <p:bldP spid="20" grpId="0" animBg="1"/>
      <p:bldP spid="21" grpId="0"/>
      <p:bldP spid="22" grpId="0" animBg="1"/>
      <p:bldP spid="23" grpId="0"/>
      <p:bldP spid="24" grpId="0" animBg="1"/>
      <p:bldP spid="25" grpId="0" animBg="1"/>
      <p:bldP spid="26" grpId="0" animBg="1"/>
      <p:bldP spid="27" grpId="0"/>
      <p:bldP spid="28" grpId="0"/>
      <p:bldP spid="2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1" y="160726"/>
            <a:ext cx="7467867" cy="1325563"/>
          </a:xfrm>
        </p:spPr>
        <p:txBody>
          <a:bodyPr/>
          <a:lstStyle/>
          <a:p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schedule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better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23851" y="1563925"/>
                <a:ext cx="78867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Of these two jobs, which should we do first?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sz="2000" dirty="0"/>
              </a:p>
              <a:p>
                <a:r>
                  <a:rPr lang="en-US" dirty="0"/>
                  <a:t>Cost( </a:t>
                </a:r>
                <a:r>
                  <a:rPr lang="en-US" b="1" dirty="0">
                    <a:solidFill>
                      <a:schemeClr val="accent1"/>
                    </a:solidFill>
                  </a:rPr>
                  <a:t>A then B </a:t>
                </a:r>
                <a:r>
                  <a:rPr lang="en-US" dirty="0"/>
                  <a:t>) = </a:t>
                </a:r>
                <a:r>
                  <a:rPr lang="en-US" altLang="zh-CN" dirty="0">
                    <a:solidFill>
                      <a:schemeClr val="accent1"/>
                    </a:solidFill>
                  </a:rPr>
                  <a:t>t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baseline="-2500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charset="0"/>
                      </a:rPr>
                      <m:t>⋅ </m:t>
                    </m:r>
                  </m:oMath>
                </a14:m>
                <a:r>
                  <a:rPr lang="en-US" altLang="zh-CN" dirty="0">
                    <a:solidFill>
                      <a:schemeClr val="accent1"/>
                    </a:solidFill>
                  </a:rPr>
                  <a:t>c</a:t>
                </a:r>
                <a:r>
                  <a:rPr lang="en-US" altLang="zh-CN" baseline="-25000" dirty="0">
                    <a:solidFill>
                      <a:schemeClr val="accent1"/>
                    </a:solidFill>
                  </a:rPr>
                  <a:t>a</a:t>
                </a:r>
                <a:r>
                  <a:rPr lang="en-US" dirty="0">
                    <a:solidFill>
                      <a:schemeClr val="accent1"/>
                    </a:solidFill>
                  </a:rPr>
                  <a:t> + (</a:t>
                </a:r>
                <a:r>
                  <a:rPr lang="en-US" altLang="zh-CN" dirty="0">
                    <a:solidFill>
                      <a:schemeClr val="accent1"/>
                    </a:solidFill>
                  </a:rPr>
                  <a:t>t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aseline="-2500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+ </a:t>
                </a:r>
                <a:r>
                  <a:rPr lang="en-US" altLang="zh-CN" dirty="0">
                    <a:solidFill>
                      <a:schemeClr val="accent1"/>
                    </a:solidFill>
                  </a:rPr>
                  <a:t>t</a:t>
                </a:r>
                <a14:m>
                  <m:oMath xmlns:m="http://schemas.openxmlformats.org/officeDocument/2006/math">
                    <m:r>
                      <a:rPr lang="en-US" altLang="zh-CN" b="0" i="1" baseline="-2500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1"/>
                        </a:solidFill>
                        <a:latin typeface="Cambria Math" charset="0"/>
                      </a:rPr>
                      <m:t>⋅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accent1"/>
                    </a:solidFill>
                  </a:rPr>
                  <a:t>c</a:t>
                </a:r>
                <a:r>
                  <a:rPr lang="en-US" altLang="zh-CN" baseline="-25000" dirty="0">
                    <a:solidFill>
                      <a:schemeClr val="accent1"/>
                    </a:solidFill>
                  </a:rPr>
                  <a:t>b</a:t>
                </a:r>
                <a:endParaRPr lang="en-US" dirty="0">
                  <a:solidFill>
                    <a:schemeClr val="accent1"/>
                  </a:solidFill>
                </a:endParaRPr>
              </a:p>
              <a:p>
                <a:r>
                  <a:rPr lang="en-US" dirty="0"/>
                  <a:t>Cost( </a:t>
                </a:r>
                <a:r>
                  <a:rPr lang="en-US" b="1" dirty="0">
                    <a:solidFill>
                      <a:schemeClr val="accent6"/>
                    </a:solidFill>
                  </a:rPr>
                  <a:t>B then A </a:t>
                </a:r>
                <a:r>
                  <a:rPr lang="en-US" dirty="0"/>
                  <a:t>) = </a:t>
                </a:r>
                <a:r>
                  <a:rPr lang="en-US" altLang="zh-CN" dirty="0">
                    <a:solidFill>
                      <a:schemeClr val="accent1"/>
                    </a:solidFill>
                  </a:rPr>
                  <a:t>t</a:t>
                </a:r>
                <a14:m>
                  <m:oMath xmlns:m="http://schemas.openxmlformats.org/officeDocument/2006/math">
                    <m:r>
                      <a:rPr lang="en-US" altLang="zh-CN" i="1" baseline="-2500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charset="0"/>
                      </a:rPr>
                      <m:t>⋅ </m:t>
                    </m:r>
                  </m:oMath>
                </a14:m>
                <a:r>
                  <a:rPr lang="en-US" altLang="zh-CN" dirty="0">
                    <a:solidFill>
                      <a:schemeClr val="accent1"/>
                    </a:solidFill>
                  </a:rPr>
                  <a:t>c</a:t>
                </a:r>
                <a:r>
                  <a:rPr lang="en-US" altLang="zh-CN" baseline="-25000" dirty="0">
                    <a:solidFill>
                      <a:schemeClr val="accent1"/>
                    </a:solidFill>
                  </a:rPr>
                  <a:t>b</a:t>
                </a:r>
                <a:r>
                  <a:rPr lang="en-US" dirty="0">
                    <a:solidFill>
                      <a:schemeClr val="accent6"/>
                    </a:solidFill>
                  </a:rPr>
                  <a:t> + (</a:t>
                </a:r>
                <a:r>
                  <a:rPr lang="en-US" altLang="zh-CN" dirty="0">
                    <a:solidFill>
                      <a:schemeClr val="accent1"/>
                    </a:solidFill>
                  </a:rPr>
                  <a:t>t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aseline="-2500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altLang="zh-CN" dirty="0">
                    <a:solidFill>
                      <a:schemeClr val="accent1"/>
                    </a:solidFill>
                  </a:rPr>
                  <a:t> + t</a:t>
                </a:r>
                <a14:m>
                  <m:oMath xmlns:m="http://schemas.openxmlformats.org/officeDocument/2006/math">
                    <m:r>
                      <a:rPr lang="en-US" altLang="zh-CN" i="1" baseline="-2500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charset="0"/>
                      </a:rPr>
                      <m:t>⋅ </m:t>
                    </m:r>
                  </m:oMath>
                </a14:m>
                <a:r>
                  <a:rPr lang="en-US" altLang="zh-CN" dirty="0">
                    <a:solidFill>
                      <a:schemeClr val="accent1"/>
                    </a:solidFill>
                  </a:rPr>
                  <a:t>c</a:t>
                </a:r>
                <a:r>
                  <a:rPr lang="en-US" altLang="zh-CN" baseline="-25000" dirty="0">
                    <a:solidFill>
                      <a:schemeClr val="accent1"/>
                    </a:solidFill>
                  </a:rPr>
                  <a:t>a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851" y="1563925"/>
                <a:ext cx="7886700" cy="5032375"/>
              </a:xfrm>
              <a:blipFill>
                <a:blip r:embed="rId2"/>
                <a:stretch>
                  <a:fillRect l="-1447" t="-2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468927" y="2926902"/>
            <a:ext cx="3832618" cy="403508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Job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8925" y="3465346"/>
            <a:ext cx="2391507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Job B</a:t>
            </a:r>
            <a:endParaRPr lang="en-US" dirty="0"/>
          </a:p>
        </p:txBody>
      </p:sp>
      <p:sp>
        <p:nvSpPr>
          <p:cNvPr id="6" name="Left Brace 5"/>
          <p:cNvSpPr/>
          <p:nvPr/>
        </p:nvSpPr>
        <p:spPr>
          <a:xfrm rot="5400000">
            <a:off x="2174504" y="831044"/>
            <a:ext cx="421460" cy="3832619"/>
          </a:xfrm>
          <a:prstGeom prst="leftBrace">
            <a:avLst>
              <a:gd name="adj1" fmla="val 8333"/>
              <a:gd name="adj2" fmla="val 50170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40170" y="2185244"/>
            <a:ext cx="139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/>
                </a:solidFill>
              </a:rPr>
              <a:t>t</a:t>
            </a:r>
            <a:r>
              <a:rPr lang="en-US" altLang="zh-CN" baseline="-25000" dirty="0">
                <a:solidFill>
                  <a:schemeClr val="accent4"/>
                </a:solidFill>
              </a:rPr>
              <a:t>a</a:t>
            </a:r>
            <a:r>
              <a:rPr lang="en-US" dirty="0">
                <a:solidFill>
                  <a:schemeClr val="accent4"/>
                </a:solidFill>
              </a:rPr>
              <a:t> hours</a:t>
            </a:r>
          </a:p>
        </p:txBody>
      </p:sp>
      <p:sp>
        <p:nvSpPr>
          <p:cNvPr id="8" name="Left Brace 7"/>
          <p:cNvSpPr/>
          <p:nvPr/>
        </p:nvSpPr>
        <p:spPr>
          <a:xfrm rot="16200000">
            <a:off x="1473967" y="2961794"/>
            <a:ext cx="404871" cy="2368063"/>
          </a:xfrm>
          <a:prstGeom prst="leftBrace">
            <a:avLst>
              <a:gd name="adj1" fmla="val 8333"/>
              <a:gd name="adj2" fmla="val 50170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42647" y="4354970"/>
            <a:ext cx="139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/>
                </a:solidFill>
              </a:rPr>
              <a:t>t</a:t>
            </a:r>
            <a:r>
              <a:rPr lang="en-US" altLang="zh-CN" baseline="-25000" dirty="0">
                <a:solidFill>
                  <a:schemeClr val="accent4"/>
                </a:solidFill>
              </a:rPr>
              <a:t>b</a:t>
            </a:r>
            <a:r>
              <a:rPr lang="en-US" dirty="0">
                <a:solidFill>
                  <a:schemeClr val="accent4"/>
                </a:solidFill>
              </a:rPr>
              <a:t>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5342" y="2819015"/>
            <a:ext cx="2063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Cost: </a:t>
            </a:r>
            <a:r>
              <a:rPr lang="en-US" altLang="zh-CN" b="1" dirty="0">
                <a:solidFill>
                  <a:schemeClr val="accent4"/>
                </a:solidFill>
              </a:rPr>
              <a:t>c</a:t>
            </a:r>
            <a:r>
              <a:rPr lang="en-US" altLang="zh-CN" b="1" baseline="-25000" dirty="0">
                <a:solidFill>
                  <a:schemeClr val="accent4"/>
                </a:solidFill>
              </a:rPr>
              <a:t>a</a:t>
            </a:r>
            <a:r>
              <a:rPr lang="en-US" dirty="0">
                <a:solidFill>
                  <a:schemeClr val="accent4"/>
                </a:solidFill>
              </a:rPr>
              <a:t> units per hour until it’s done.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1095" y="3543666"/>
            <a:ext cx="2243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Cost: </a:t>
            </a:r>
            <a:r>
              <a:rPr lang="en-US" altLang="zh-CN" b="1" dirty="0" err="1">
                <a:solidFill>
                  <a:schemeClr val="accent4"/>
                </a:solidFill>
              </a:rPr>
              <a:t>c</a:t>
            </a:r>
            <a:r>
              <a:rPr lang="en-US" altLang="zh-CN" b="1" baseline="-25000" dirty="0" err="1">
                <a:solidFill>
                  <a:schemeClr val="accent4"/>
                </a:solidFill>
              </a:rPr>
              <a:t>b</a:t>
            </a:r>
            <a:r>
              <a:rPr lang="en-US" dirty="0">
                <a:solidFill>
                  <a:schemeClr val="accent4"/>
                </a:solidFill>
              </a:rPr>
              <a:t> units per hour until it’s done.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1D12609-881D-CD4C-8D0C-C09F30361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5892711"/>
            <a:ext cx="2057400" cy="365125"/>
          </a:xfrm>
        </p:spPr>
        <p:txBody>
          <a:bodyPr/>
          <a:lstStyle/>
          <a:p>
            <a:fld id="{5675DBAB-1E62-3D42-B5CA-E2345D83FB7F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149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907748-46E7-294C-83C4-442E2841A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09" y="112612"/>
            <a:ext cx="7886700" cy="1325563"/>
          </a:xfrm>
        </p:spPr>
        <p:txBody>
          <a:bodyPr/>
          <a:lstStyle/>
          <a:p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schedule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better?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EE6D4B-CEB4-D840-8624-DC6516D4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53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13">
                <a:extLst>
                  <a:ext uri="{FF2B5EF4-FFF2-40B4-BE49-F238E27FC236}">
                    <a16:creationId xmlns:a16="http://schemas.microsoft.com/office/drawing/2014/main" id="{3D0DE2D9-EF6E-1749-B1A1-74F68DE37E30}"/>
                  </a:ext>
                </a:extLst>
              </p:cNvPr>
              <p:cNvSpPr txBox="1"/>
              <p:nvPr/>
            </p:nvSpPr>
            <p:spPr>
              <a:xfrm>
                <a:off x="501069" y="4264999"/>
                <a:ext cx="8141863" cy="1884940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1"/>
                    </a:solidFill>
                  </a:rPr>
                  <a:t>AB </a:t>
                </a:r>
                <a:r>
                  <a:rPr lang="en-US" sz="2400" dirty="0"/>
                  <a:t>is better than </a:t>
                </a:r>
                <a:r>
                  <a:rPr lang="en-US" sz="2400" b="1" dirty="0">
                    <a:solidFill>
                      <a:schemeClr val="accent6"/>
                    </a:solidFill>
                  </a:rPr>
                  <a:t>BA </a:t>
                </a:r>
                <a:r>
                  <a:rPr lang="en-US" sz="2400" dirty="0"/>
                  <a:t>when: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chemeClr val="accent1"/>
                          </a:solidFill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altLang="zh-CN" sz="2400" baseline="-2500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CN" sz="2400" i="1">
                          <a:solidFill>
                            <a:schemeClr val="accent1"/>
                          </a:solidFill>
                          <a:latin typeface="Cambria Math" charset="0"/>
                        </a:rPr>
                        <m:t>⋅ </m:t>
                      </m:r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chemeClr val="accent1"/>
                          </a:solidFill>
                        </a:rPr>
                        <m:t>c</m:t>
                      </m:r>
                      <m:r>
                        <m:rPr>
                          <m:nor/>
                        </m:rPr>
                        <a:rPr lang="en-US" altLang="zh-CN" sz="2400" baseline="-25000" dirty="0">
                          <a:solidFill>
                            <a:schemeClr val="accent1"/>
                          </a:solidFill>
                        </a:rPr>
                        <m:t>a</m:t>
                      </m:r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chemeClr val="accent1"/>
                          </a:solidFill>
                        </a:rPr>
                        <m:t> + (</m:t>
                      </m:r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chemeClr val="accent1"/>
                          </a:solidFill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altLang="zh-CN" sz="2400" baseline="-2500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chemeClr val="accent1"/>
                          </a:solidFill>
                        </a:rPr>
                        <m:t> + </m:t>
                      </m:r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chemeClr val="accent1"/>
                          </a:solidFill>
                        </a:rPr>
                        <m:t>t</m:t>
                      </m:r>
                      <m:r>
                        <a:rPr lang="en-US" altLang="zh-CN" sz="2400" i="1" baseline="-2500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chemeClr val="accent1"/>
                          </a:solidFill>
                        </a:rPr>
                        <m:t>) </m:t>
                      </m:r>
                      <m:r>
                        <a:rPr lang="en-US" altLang="zh-CN" sz="2400" i="1">
                          <a:solidFill>
                            <a:schemeClr val="accent1"/>
                          </a:solidFill>
                          <a:latin typeface="Cambria Math" charset="0"/>
                        </a:rPr>
                        <m:t>⋅</m:t>
                      </m:r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chemeClr val="accent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chemeClr val="accent1"/>
                          </a:solidFill>
                        </a:rPr>
                        <m:t>cb</m:t>
                      </m:r>
                      <m:r>
                        <a:rPr lang="en-US" sz="2400" b="0" i="1" smtClean="0">
                          <a:latin typeface="Cambria Math" charset="0"/>
                        </a:rPr>
                        <m:t>≤</m:t>
                      </m:r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chemeClr val="accent1"/>
                          </a:solidFill>
                        </a:rPr>
                        <m:t>t</m:t>
                      </m:r>
                      <m:r>
                        <a:rPr lang="en-US" altLang="zh-CN" sz="2400" i="1" baseline="-2500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chemeClr val="accent6"/>
                          </a:solidFill>
                        </a:rPr>
                        <m:t> </m:t>
                      </m:r>
                      <m:r>
                        <a:rPr lang="en-US" altLang="zh-CN" sz="2400" i="1">
                          <a:solidFill>
                            <a:schemeClr val="accent6"/>
                          </a:solidFill>
                          <a:latin typeface="Cambria Math" charset="0"/>
                        </a:rPr>
                        <m:t>⋅ </m:t>
                      </m:r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chemeClr val="accent1"/>
                          </a:solidFill>
                        </a:rPr>
                        <m:t>c</m:t>
                      </m:r>
                      <m:r>
                        <m:rPr>
                          <m:nor/>
                        </m:rPr>
                        <a:rPr lang="en-US" altLang="zh-CN" sz="2400" baseline="-25000" dirty="0">
                          <a:solidFill>
                            <a:schemeClr val="accent1"/>
                          </a:solidFill>
                        </a:rPr>
                        <m:t>b</m:t>
                      </m:r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chemeClr val="accent6"/>
                          </a:solidFill>
                        </a:rPr>
                        <m:t> + (</m:t>
                      </m:r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chemeClr val="accent1"/>
                          </a:solidFill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altLang="zh-CN" sz="2400" baseline="-2500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chemeClr val="accent1"/>
                          </a:solidFill>
                        </a:rPr>
                        <m:t> + </m:t>
                      </m:r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chemeClr val="accent1"/>
                          </a:solidFill>
                        </a:rPr>
                        <m:t>t</m:t>
                      </m:r>
                      <m:r>
                        <a:rPr lang="en-US" altLang="zh-CN" sz="2400" i="1" baseline="-2500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chemeClr val="accent6"/>
                          </a:solidFill>
                        </a:rPr>
                        <m:t>) </m:t>
                      </m:r>
                      <m:r>
                        <a:rPr lang="en-US" altLang="zh-CN" sz="2400" i="1">
                          <a:solidFill>
                            <a:schemeClr val="accent6"/>
                          </a:solidFill>
                          <a:latin typeface="Cambria Math" charset="0"/>
                        </a:rPr>
                        <m:t>⋅ </m:t>
                      </m:r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chemeClr val="accent1"/>
                          </a:solidFill>
                        </a:rPr>
                        <m:t>c</m:t>
                      </m:r>
                      <m:r>
                        <m:rPr>
                          <m:nor/>
                        </m:rPr>
                        <a:rPr lang="en-US" altLang="zh-CN" sz="2400" baseline="-25000" dirty="0">
                          <a:solidFill>
                            <a:schemeClr val="accent1"/>
                          </a:solidFill>
                        </a:rPr>
                        <m:t>a</m:t>
                      </m:r>
                    </m:oMath>
                  </m:oMathPara>
                </a14:m>
                <a:endParaRPr lang="en-US" altLang="zh-CN" sz="2400" baseline="-25000" dirty="0">
                  <a:solidFill>
                    <a:schemeClr val="accent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chemeClr val="accent1"/>
                          </a:solidFill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altLang="zh-CN" sz="2400" baseline="-2500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CN" sz="2400" i="1">
                          <a:solidFill>
                            <a:schemeClr val="accent6"/>
                          </a:solidFill>
                          <a:latin typeface="Cambria Math" charset="0"/>
                        </a:rPr>
                        <m:t>⋅</m:t>
                      </m:r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chemeClr val="accent1"/>
                          </a:solidFill>
                        </a:rPr>
                        <m:t>c</m:t>
                      </m:r>
                      <m:r>
                        <m:rPr>
                          <m:nor/>
                        </m:rPr>
                        <a:rPr lang="en-US" altLang="zh-CN" sz="2400" baseline="-25000" dirty="0">
                          <a:solidFill>
                            <a:schemeClr val="accent1"/>
                          </a:solidFill>
                        </a:rPr>
                        <m:t>b</m:t>
                      </m:r>
                      <m:r>
                        <a:rPr lang="en-US" sz="2400" b="0" i="1" smtClean="0">
                          <a:latin typeface="Cambria Math" charset="0"/>
                        </a:rPr>
                        <m:t>≤</m:t>
                      </m:r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chemeClr val="accent1"/>
                          </a:solidFill>
                        </a:rPr>
                        <m:t>t</m:t>
                      </m:r>
                      <m:r>
                        <a:rPr lang="en-US" altLang="zh-CN" sz="2400" i="1" baseline="-250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i="1">
                          <a:solidFill>
                            <a:schemeClr val="accent6"/>
                          </a:solidFill>
                          <a:latin typeface="Cambria Math" charset="0"/>
                        </a:rPr>
                        <m:t>⋅</m:t>
                      </m:r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chemeClr val="accent1"/>
                          </a:solidFill>
                        </a:rPr>
                        <m:t>c</m:t>
                      </m:r>
                      <m:r>
                        <m:rPr>
                          <m:nor/>
                        </m:rPr>
                        <a:rPr lang="en-US" altLang="zh-CN" sz="2400" baseline="-25000" dirty="0">
                          <a:solidFill>
                            <a:schemeClr val="accent1"/>
                          </a:solidFill>
                        </a:rPr>
                        <m:t>a</m:t>
                      </m:r>
                    </m:oMath>
                  </m:oMathPara>
                </a14:m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CN" sz="2400" dirty="0">
                              <a:solidFill>
                                <a:schemeClr val="accent1"/>
                              </a:solidFill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lang="en-US" altLang="zh-CN" sz="2400" baseline="-25000" dirty="0">
                              <a:solidFill>
                                <a:schemeClr val="accent1"/>
                              </a:solidFill>
                            </a:rPr>
                            <m:t>b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zh-CN" sz="2400" dirty="0">
                              <a:solidFill>
                                <a:schemeClr val="accent1"/>
                              </a:solidFill>
                            </a:rPr>
                            <m:t>t</m:t>
                          </m:r>
                          <m:r>
                            <a:rPr lang="en-US" altLang="zh-CN" sz="2400" i="1" baseline="-2500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sz="2400" b="0" i="1" smtClean="0">
                          <a:latin typeface="Cambria Math" charset="0"/>
                        </a:rPr>
                        <m:t>≤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CN" sz="2400" dirty="0">
                              <a:solidFill>
                                <a:schemeClr val="accent1"/>
                              </a:solidFill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lang="en-US" altLang="zh-CN" sz="2400" baseline="-25000" dirty="0">
                              <a:solidFill>
                                <a:schemeClr val="accent1"/>
                              </a:solidFill>
                            </a:rPr>
                            <m:t>a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zh-CN" sz="2400" dirty="0">
                              <a:solidFill>
                                <a:schemeClr val="accent1"/>
                              </a:solidFill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altLang="zh-CN" sz="2400" baseline="-2500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" name="TextBox 13">
                <a:extLst>
                  <a:ext uri="{FF2B5EF4-FFF2-40B4-BE49-F238E27FC236}">
                    <a16:creationId xmlns:a16="http://schemas.microsoft.com/office/drawing/2014/main" id="{3D0DE2D9-EF6E-1749-B1A1-74F68DE37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69" y="4264999"/>
                <a:ext cx="8141863" cy="1884940"/>
              </a:xfrm>
              <a:prstGeom prst="rect">
                <a:avLst/>
              </a:prstGeom>
              <a:blipFill>
                <a:blip r:embed="rId2"/>
                <a:stretch>
                  <a:fillRect l="-1087" t="-2000" b="-667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00FCA372-A98F-C048-93A6-78231CB8410B}"/>
              </a:ext>
            </a:extLst>
          </p:cNvPr>
          <p:cNvSpPr/>
          <p:nvPr/>
        </p:nvSpPr>
        <p:spPr>
          <a:xfrm>
            <a:off x="739384" y="1828454"/>
            <a:ext cx="3832618" cy="403508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Job A</a:t>
            </a: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71D66068-5F2A-8046-98E9-A4DEE5944EF7}"/>
              </a:ext>
            </a:extLst>
          </p:cNvPr>
          <p:cNvSpPr/>
          <p:nvPr/>
        </p:nvSpPr>
        <p:spPr>
          <a:xfrm>
            <a:off x="4587522" y="1839260"/>
            <a:ext cx="2391507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Job B</a:t>
            </a:r>
            <a:endParaRPr lang="en-US" dirty="0"/>
          </a:p>
        </p:txBody>
      </p:sp>
      <p:sp>
        <p:nvSpPr>
          <p:cNvPr id="8" name="Left Brace 5">
            <a:extLst>
              <a:ext uri="{FF2B5EF4-FFF2-40B4-BE49-F238E27FC236}">
                <a16:creationId xmlns:a16="http://schemas.microsoft.com/office/drawing/2014/main" id="{3D417976-9D14-864F-A4EC-523624A3E40B}"/>
              </a:ext>
            </a:extLst>
          </p:cNvPr>
          <p:cNvSpPr/>
          <p:nvPr/>
        </p:nvSpPr>
        <p:spPr>
          <a:xfrm rot="5400000">
            <a:off x="2444961" y="-267404"/>
            <a:ext cx="421460" cy="3832619"/>
          </a:xfrm>
          <a:prstGeom prst="leftBrace">
            <a:avLst>
              <a:gd name="adj1" fmla="val 8333"/>
              <a:gd name="adj2" fmla="val 50170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61884369-6312-C044-B40B-6597C21214AA}"/>
              </a:ext>
            </a:extLst>
          </p:cNvPr>
          <p:cNvSpPr txBox="1"/>
          <p:nvPr/>
        </p:nvSpPr>
        <p:spPr>
          <a:xfrm>
            <a:off x="2210627" y="1061038"/>
            <a:ext cx="139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/>
                </a:solidFill>
              </a:rPr>
              <a:t>t</a:t>
            </a:r>
            <a:r>
              <a:rPr lang="en-US" altLang="zh-CN" baseline="-25000" dirty="0">
                <a:solidFill>
                  <a:schemeClr val="accent4"/>
                </a:solidFill>
              </a:rPr>
              <a:t>a</a:t>
            </a:r>
            <a:r>
              <a:rPr lang="en-US" dirty="0">
                <a:solidFill>
                  <a:schemeClr val="accent4"/>
                </a:solidFill>
              </a:rPr>
              <a:t> hours</a:t>
            </a:r>
          </a:p>
        </p:txBody>
      </p:sp>
      <p:sp>
        <p:nvSpPr>
          <p:cNvPr id="10" name="Left Brace 7">
            <a:extLst>
              <a:ext uri="{FF2B5EF4-FFF2-40B4-BE49-F238E27FC236}">
                <a16:creationId xmlns:a16="http://schemas.microsoft.com/office/drawing/2014/main" id="{DF9ECDF6-0707-4848-901D-5F8396901DD8}"/>
              </a:ext>
            </a:extLst>
          </p:cNvPr>
          <p:cNvSpPr/>
          <p:nvPr/>
        </p:nvSpPr>
        <p:spPr>
          <a:xfrm rot="16200000" flipH="1">
            <a:off x="5504881" y="430160"/>
            <a:ext cx="587830" cy="2391506"/>
          </a:xfrm>
          <a:prstGeom prst="leftBrace">
            <a:avLst>
              <a:gd name="adj1" fmla="val 8333"/>
              <a:gd name="adj2" fmla="val 49631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6F4E4D11-CD6E-6847-8872-366962C14285}"/>
              </a:ext>
            </a:extLst>
          </p:cNvPr>
          <p:cNvSpPr txBox="1"/>
          <p:nvPr/>
        </p:nvSpPr>
        <p:spPr>
          <a:xfrm>
            <a:off x="5345723" y="1071622"/>
            <a:ext cx="139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/>
                </a:solidFill>
              </a:rPr>
              <a:t>t</a:t>
            </a:r>
            <a:r>
              <a:rPr lang="en-US" altLang="zh-CN" baseline="-25000" dirty="0">
                <a:solidFill>
                  <a:schemeClr val="accent4"/>
                </a:solidFill>
              </a:rPr>
              <a:t>b</a:t>
            </a:r>
            <a:r>
              <a:rPr lang="en-US" dirty="0">
                <a:solidFill>
                  <a:schemeClr val="accent4"/>
                </a:solidFill>
              </a:rPr>
              <a:t> hours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F3E3F8EC-6D65-0F40-92B3-80D34B6E15E1}"/>
              </a:ext>
            </a:extLst>
          </p:cNvPr>
          <p:cNvSpPr/>
          <p:nvPr/>
        </p:nvSpPr>
        <p:spPr>
          <a:xfrm>
            <a:off x="3201556" y="3338873"/>
            <a:ext cx="3832618" cy="403508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Job A</a:t>
            </a:r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BCA45C0E-B3BB-1A4E-860B-63B24B6853F8}"/>
              </a:ext>
            </a:extLst>
          </p:cNvPr>
          <p:cNvSpPr/>
          <p:nvPr/>
        </p:nvSpPr>
        <p:spPr>
          <a:xfrm>
            <a:off x="791886" y="3360019"/>
            <a:ext cx="2391507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Job B</a:t>
            </a:r>
            <a:endParaRPr lang="en-US" dirty="0"/>
          </a:p>
        </p:txBody>
      </p:sp>
      <p:sp>
        <p:nvSpPr>
          <p:cNvPr id="14" name="Left Brace 5">
            <a:extLst>
              <a:ext uri="{FF2B5EF4-FFF2-40B4-BE49-F238E27FC236}">
                <a16:creationId xmlns:a16="http://schemas.microsoft.com/office/drawing/2014/main" id="{8CC633E5-F5B8-C743-8031-7135A3789EB2}"/>
              </a:ext>
            </a:extLst>
          </p:cNvPr>
          <p:cNvSpPr/>
          <p:nvPr/>
        </p:nvSpPr>
        <p:spPr>
          <a:xfrm rot="5400000">
            <a:off x="4907133" y="1243015"/>
            <a:ext cx="421460" cy="3832619"/>
          </a:xfrm>
          <a:prstGeom prst="leftBrace">
            <a:avLst>
              <a:gd name="adj1" fmla="val 8333"/>
              <a:gd name="adj2" fmla="val 50170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2235C766-9C13-6646-936D-FF1A448D45A3}"/>
              </a:ext>
            </a:extLst>
          </p:cNvPr>
          <p:cNvSpPr txBox="1"/>
          <p:nvPr/>
        </p:nvSpPr>
        <p:spPr>
          <a:xfrm>
            <a:off x="4672799" y="2571457"/>
            <a:ext cx="139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/>
                </a:solidFill>
              </a:rPr>
              <a:t>t</a:t>
            </a:r>
            <a:r>
              <a:rPr lang="en-US" altLang="zh-CN" baseline="-25000" dirty="0">
                <a:solidFill>
                  <a:schemeClr val="accent4"/>
                </a:solidFill>
              </a:rPr>
              <a:t>a</a:t>
            </a:r>
            <a:r>
              <a:rPr lang="en-US" dirty="0">
                <a:solidFill>
                  <a:schemeClr val="accent4"/>
                </a:solidFill>
              </a:rPr>
              <a:t> hours</a:t>
            </a:r>
          </a:p>
        </p:txBody>
      </p:sp>
      <p:sp>
        <p:nvSpPr>
          <p:cNvPr id="16" name="Left Brace 7">
            <a:extLst>
              <a:ext uri="{FF2B5EF4-FFF2-40B4-BE49-F238E27FC236}">
                <a16:creationId xmlns:a16="http://schemas.microsoft.com/office/drawing/2014/main" id="{B71A8A0F-F697-6547-A960-F154E6BAA165}"/>
              </a:ext>
            </a:extLst>
          </p:cNvPr>
          <p:cNvSpPr/>
          <p:nvPr/>
        </p:nvSpPr>
        <p:spPr>
          <a:xfrm rot="16200000" flipH="1">
            <a:off x="1709245" y="1950919"/>
            <a:ext cx="587830" cy="2391506"/>
          </a:xfrm>
          <a:prstGeom prst="leftBrace">
            <a:avLst>
              <a:gd name="adj1" fmla="val 8333"/>
              <a:gd name="adj2" fmla="val 49631"/>
            </a:avLst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5DDD8C6F-7D12-5B46-81BB-B688DFA27419}"/>
              </a:ext>
            </a:extLst>
          </p:cNvPr>
          <p:cNvSpPr txBox="1"/>
          <p:nvPr/>
        </p:nvSpPr>
        <p:spPr>
          <a:xfrm>
            <a:off x="1550087" y="2592381"/>
            <a:ext cx="139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/>
                </a:solidFill>
              </a:rPr>
              <a:t>t</a:t>
            </a:r>
            <a:r>
              <a:rPr lang="en-US" altLang="zh-CN" baseline="-25000" dirty="0">
                <a:solidFill>
                  <a:schemeClr val="accent4"/>
                </a:solidFill>
              </a:rPr>
              <a:t>b</a:t>
            </a:r>
            <a:r>
              <a:rPr lang="en-US" dirty="0">
                <a:solidFill>
                  <a:schemeClr val="accent4"/>
                </a:solidFill>
              </a:rPr>
              <a:t> hours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D9A29D3-F8D3-B744-8D92-83E27F1B4CB6}"/>
              </a:ext>
            </a:extLst>
          </p:cNvPr>
          <p:cNvSpPr txBox="1"/>
          <p:nvPr/>
        </p:nvSpPr>
        <p:spPr>
          <a:xfrm>
            <a:off x="1885951" y="2176790"/>
            <a:ext cx="1801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4"/>
                </a:solidFill>
              </a:rPr>
              <a:t>Cost: c</a:t>
            </a:r>
            <a:r>
              <a:rPr lang="en-US" altLang="zh-CN" baseline="-25000" dirty="0">
                <a:solidFill>
                  <a:schemeClr val="accent4"/>
                </a:solidFill>
              </a:rPr>
              <a:t>a</a:t>
            </a:r>
            <a:r>
              <a:rPr lang="zh-CN" altLang="en-US" baseline="-25000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per</a:t>
            </a:r>
            <a:r>
              <a:rPr lang="zh-CN" altLang="en-US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hour</a:t>
            </a:r>
            <a:endParaRPr 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36461AD-37FC-2346-8BCC-B4566B63B374}"/>
              </a:ext>
            </a:extLst>
          </p:cNvPr>
          <p:cNvSpPr txBox="1"/>
          <p:nvPr/>
        </p:nvSpPr>
        <p:spPr>
          <a:xfrm>
            <a:off x="4867755" y="2125441"/>
            <a:ext cx="1801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4"/>
                </a:solidFill>
              </a:rPr>
              <a:t>Cost: </a:t>
            </a:r>
            <a:r>
              <a:rPr lang="en-US" altLang="zh-CN" dirty="0" err="1">
                <a:solidFill>
                  <a:schemeClr val="accent4"/>
                </a:solidFill>
              </a:rPr>
              <a:t>c</a:t>
            </a:r>
            <a:r>
              <a:rPr lang="en-US" altLang="zh-CN" baseline="-25000" dirty="0" err="1">
                <a:solidFill>
                  <a:schemeClr val="accent4"/>
                </a:solidFill>
              </a:rPr>
              <a:t>b</a:t>
            </a:r>
            <a:r>
              <a:rPr lang="zh-CN" altLang="en-US" baseline="-25000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per</a:t>
            </a:r>
            <a:r>
              <a:rPr lang="zh-CN" altLang="en-US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hour</a:t>
            </a:r>
            <a:endParaRPr 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936BEC2-ECB0-BB48-B90C-539D081FF299}"/>
              </a:ext>
            </a:extLst>
          </p:cNvPr>
          <p:cNvSpPr txBox="1"/>
          <p:nvPr/>
        </p:nvSpPr>
        <p:spPr>
          <a:xfrm>
            <a:off x="1208896" y="3687836"/>
            <a:ext cx="1801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4"/>
                </a:solidFill>
              </a:rPr>
              <a:t>Cost: </a:t>
            </a:r>
            <a:r>
              <a:rPr lang="en-US" altLang="zh-CN" dirty="0" err="1">
                <a:solidFill>
                  <a:schemeClr val="accent4"/>
                </a:solidFill>
              </a:rPr>
              <a:t>c</a:t>
            </a:r>
            <a:r>
              <a:rPr lang="en-US" altLang="zh-CN" baseline="-25000" dirty="0" err="1">
                <a:solidFill>
                  <a:schemeClr val="accent4"/>
                </a:solidFill>
              </a:rPr>
              <a:t>b</a:t>
            </a:r>
            <a:r>
              <a:rPr lang="zh-CN" altLang="en-US" baseline="-25000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per</a:t>
            </a:r>
            <a:r>
              <a:rPr lang="zh-CN" altLang="en-US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hour</a:t>
            </a:r>
            <a:endParaRPr 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FFBE785-38DB-9249-854A-BEED6BFC7EBC}"/>
              </a:ext>
            </a:extLst>
          </p:cNvPr>
          <p:cNvSpPr txBox="1"/>
          <p:nvPr/>
        </p:nvSpPr>
        <p:spPr>
          <a:xfrm>
            <a:off x="4331382" y="3656927"/>
            <a:ext cx="1801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4"/>
                </a:solidFill>
              </a:rPr>
              <a:t>Cost: c</a:t>
            </a:r>
            <a:r>
              <a:rPr lang="en-US" altLang="zh-CN" baseline="-25000" dirty="0">
                <a:solidFill>
                  <a:schemeClr val="accent4"/>
                </a:solidFill>
              </a:rPr>
              <a:t>a</a:t>
            </a:r>
            <a:r>
              <a:rPr lang="zh-CN" altLang="en-US" baseline="-25000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per</a:t>
            </a:r>
            <a:r>
              <a:rPr lang="zh-CN" altLang="en-US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hour</a:t>
            </a:r>
            <a:endParaRPr 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B5137FD-8446-DE4C-B091-FE727DC97056}"/>
              </a:ext>
            </a:extLst>
          </p:cNvPr>
          <p:cNvSpPr txBox="1"/>
          <p:nvPr/>
        </p:nvSpPr>
        <p:spPr>
          <a:xfrm>
            <a:off x="1318185" y="6265568"/>
            <a:ext cx="6445547" cy="36933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  <a:highlight>
                  <a:srgbClr val="FFFF00"/>
                </a:highlight>
              </a:rPr>
              <a:t>Schedule</a:t>
            </a:r>
            <a:r>
              <a:rPr lang="zh-CN" altLang="en-US" b="1" dirty="0">
                <a:solidFill>
                  <a:srgbClr val="00B050"/>
                </a:solidFill>
                <a:highlight>
                  <a:srgbClr val="FFFF00"/>
                </a:highlight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highlight>
                  <a:srgbClr val="FFFF00"/>
                </a:highlight>
              </a:rPr>
              <a:t>the</a:t>
            </a:r>
            <a:r>
              <a:rPr lang="zh-CN" altLang="en-US" b="1" dirty="0">
                <a:solidFill>
                  <a:srgbClr val="00B050"/>
                </a:solidFill>
                <a:highlight>
                  <a:srgbClr val="FFFF00"/>
                </a:highlight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highlight>
                  <a:srgbClr val="FFFF00"/>
                </a:highlight>
              </a:rPr>
              <a:t>one</a:t>
            </a:r>
            <a:r>
              <a:rPr lang="zh-CN" altLang="en-US" b="1" dirty="0">
                <a:solidFill>
                  <a:srgbClr val="00B050"/>
                </a:solidFill>
                <a:highlight>
                  <a:srgbClr val="FFFF00"/>
                </a:highlight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highlight>
                  <a:srgbClr val="FFFF00"/>
                </a:highlight>
              </a:rPr>
              <a:t>with</a:t>
            </a:r>
            <a:r>
              <a:rPr lang="zh-CN" altLang="en-US" b="1" dirty="0">
                <a:solidFill>
                  <a:srgbClr val="00B050"/>
                </a:solidFill>
                <a:highlight>
                  <a:srgbClr val="FFFF00"/>
                </a:highlight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highlight>
                  <a:srgbClr val="FFFF00"/>
                </a:highlight>
              </a:rPr>
              <a:t>larger</a:t>
            </a:r>
            <a:r>
              <a:rPr lang="zh-CN" altLang="en-US" b="1" dirty="0">
                <a:solidFill>
                  <a:srgbClr val="00B050"/>
                </a:solidFill>
                <a:highlight>
                  <a:srgbClr val="FFFF00"/>
                </a:highlight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highlight>
                  <a:srgbClr val="FFFF00"/>
                </a:highlight>
              </a:rPr>
              <a:t>cost/time</a:t>
            </a:r>
            <a:r>
              <a:rPr lang="zh-CN" altLang="en-US" b="1" dirty="0">
                <a:solidFill>
                  <a:srgbClr val="00B050"/>
                </a:solidFill>
                <a:highlight>
                  <a:srgbClr val="FFFF00"/>
                </a:highlight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highlight>
                  <a:srgbClr val="FFFF00"/>
                </a:highlight>
              </a:rPr>
              <a:t>ratio</a:t>
            </a:r>
            <a:r>
              <a:rPr lang="zh-CN" altLang="en-US" b="1" dirty="0">
                <a:solidFill>
                  <a:srgbClr val="00B050"/>
                </a:solidFill>
                <a:highlight>
                  <a:srgbClr val="FFFF00"/>
                </a:highlight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highlight>
                  <a:srgbClr val="FFFF00"/>
                </a:highlight>
              </a:rPr>
              <a:t>earlier</a:t>
            </a:r>
            <a:r>
              <a:rPr lang="zh-CN" altLang="en-US" b="1" dirty="0">
                <a:solidFill>
                  <a:srgbClr val="00B050"/>
                </a:solidFill>
                <a:highlight>
                  <a:srgbClr val="FFFF00"/>
                </a:highlight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highlight>
                  <a:srgbClr val="FFFF00"/>
                </a:highlight>
              </a:rPr>
              <a:t>will</a:t>
            </a:r>
            <a:r>
              <a:rPr lang="zh-CN" altLang="en-US" b="1" dirty="0">
                <a:solidFill>
                  <a:srgbClr val="00B050"/>
                </a:solidFill>
                <a:highlight>
                  <a:srgbClr val="FFFF00"/>
                </a:highlight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highlight>
                  <a:srgbClr val="FFFF00"/>
                </a:highlight>
              </a:rPr>
              <a:t>be</a:t>
            </a:r>
            <a:r>
              <a:rPr lang="zh-CN" altLang="en-US" b="1" dirty="0">
                <a:solidFill>
                  <a:srgbClr val="00B050"/>
                </a:solidFill>
                <a:highlight>
                  <a:srgbClr val="FFFF00"/>
                </a:highlight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highlight>
                  <a:srgbClr val="FFFF00"/>
                </a:highlight>
              </a:rPr>
              <a:t>better.</a:t>
            </a:r>
            <a:r>
              <a:rPr lang="zh-CN" altLang="en-US" b="1" dirty="0">
                <a:solidFill>
                  <a:srgbClr val="00B050"/>
                </a:solidFill>
                <a:highlight>
                  <a:srgbClr val="FFFF00"/>
                </a:highlight>
              </a:rPr>
              <a:t> </a:t>
            </a:r>
            <a:endParaRPr lang="en-US" b="1" dirty="0">
              <a:solidFill>
                <a:srgbClr val="00B05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86020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Lemma</a:t>
            </a:r>
            <a:br>
              <a:rPr lang="en-US" sz="3100" dirty="0"/>
            </a:br>
            <a:r>
              <a:rPr lang="en-US" sz="3100" dirty="0"/>
              <a:t>This greedy choice doesn’t rule out success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0737"/>
            <a:ext cx="8515350" cy="5597526"/>
          </a:xfrm>
        </p:spPr>
        <p:txBody>
          <a:bodyPr>
            <a:normAutofit/>
          </a:bodyPr>
          <a:lstStyle/>
          <a:p>
            <a:r>
              <a:rPr lang="en-US" sz="2400" dirty="0"/>
              <a:t>Suppose you have already chosen some jobs, and haven’t yet ruled out success: </a:t>
            </a:r>
          </a:p>
          <a:p>
            <a:endParaRPr lang="en-US" sz="2400" dirty="0"/>
          </a:p>
          <a:p>
            <a:endParaRPr lang="en-US" sz="900" dirty="0"/>
          </a:p>
          <a:p>
            <a:r>
              <a:rPr lang="en-US" sz="2400" dirty="0"/>
              <a:t>Then if you choose the next job to be the one left that maximizes the ratio </a:t>
            </a:r>
            <a:r>
              <a:rPr lang="en-US" sz="2400" b="1" dirty="0">
                <a:solidFill>
                  <a:schemeClr val="accent4"/>
                </a:solidFill>
              </a:rPr>
              <a:t>cost/time</a:t>
            </a:r>
            <a:r>
              <a:rPr lang="en-US" sz="2400" dirty="0"/>
              <a:t>, you still won’t rule out success.</a:t>
            </a:r>
            <a:endParaRPr lang="en-US" sz="2400" b="1" baseline="-25000" dirty="0"/>
          </a:p>
          <a:p>
            <a:r>
              <a:rPr lang="en-US" sz="2400" b="1" dirty="0">
                <a:solidFill>
                  <a:schemeClr val="accent1"/>
                </a:solidFill>
              </a:rPr>
              <a:t>Proof sketch: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Say Job B maximizes this ratio, but it’s not the next job in the opt. soln.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16A0CAF-13E5-B546-B7C5-86ABC84A491E}"/>
              </a:ext>
            </a:extLst>
          </p:cNvPr>
          <p:cNvSpPr/>
          <p:nvPr/>
        </p:nvSpPr>
        <p:spPr>
          <a:xfrm>
            <a:off x="2341940" y="2201508"/>
            <a:ext cx="1629507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A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A8CBB72-CB29-204B-A352-074555B1280E}"/>
              </a:ext>
            </a:extLst>
          </p:cNvPr>
          <p:cNvSpPr/>
          <p:nvPr/>
        </p:nvSpPr>
        <p:spPr>
          <a:xfrm>
            <a:off x="4085751" y="2195714"/>
            <a:ext cx="3474427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Job B</a:t>
            </a:r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E6A8CAC-18F4-854D-9A02-71A6018B2FDE}"/>
              </a:ext>
            </a:extLst>
          </p:cNvPr>
          <p:cNvSpPr/>
          <p:nvPr/>
        </p:nvSpPr>
        <p:spPr>
          <a:xfrm>
            <a:off x="820102" y="2182459"/>
            <a:ext cx="1407534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Job 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D96E159-E1B8-AD43-A665-0ABA2B51EF9A}"/>
              </a:ext>
            </a:extLst>
          </p:cNvPr>
          <p:cNvSpPr/>
          <p:nvPr/>
        </p:nvSpPr>
        <p:spPr>
          <a:xfrm>
            <a:off x="7674482" y="2195714"/>
            <a:ext cx="2462574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bg1"/>
                </a:solidFill>
              </a:rPr>
              <a:t>Job 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FD4279F-CE30-5544-B264-EE28E16E31BF}"/>
              </a:ext>
            </a:extLst>
          </p:cNvPr>
          <p:cNvSpPr/>
          <p:nvPr/>
        </p:nvSpPr>
        <p:spPr>
          <a:xfrm>
            <a:off x="-701736" y="2188323"/>
            <a:ext cx="1407534" cy="382362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Job 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C815DD-07CB-874F-BDB8-60D31398FB0C}"/>
              </a:ext>
            </a:extLst>
          </p:cNvPr>
          <p:cNvSpPr txBox="1"/>
          <p:nvPr/>
        </p:nvSpPr>
        <p:spPr>
          <a:xfrm>
            <a:off x="-54221" y="1734049"/>
            <a:ext cx="951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Already chosen 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495CBB-BC85-3D47-BF97-455EEC9ABF80}"/>
              </a:ext>
            </a:extLst>
          </p:cNvPr>
          <p:cNvSpPr txBox="1"/>
          <p:nvPr/>
        </p:nvSpPr>
        <p:spPr>
          <a:xfrm>
            <a:off x="7144116" y="1734048"/>
            <a:ext cx="1923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There’s some way to order A, B,C, D that’s optimal…</a:t>
            </a:r>
          </a:p>
        </p:txBody>
      </p:sp>
      <p:sp>
        <p:nvSpPr>
          <p:cNvPr id="22" name="Up Arrow 21">
            <a:extLst>
              <a:ext uri="{FF2B5EF4-FFF2-40B4-BE49-F238E27FC236}">
                <a16:creationId xmlns:a16="http://schemas.microsoft.com/office/drawing/2014/main" id="{27644DCA-45D3-914F-8A76-A55E1767D806}"/>
              </a:ext>
            </a:extLst>
          </p:cNvPr>
          <p:cNvSpPr/>
          <p:nvPr/>
        </p:nvSpPr>
        <p:spPr>
          <a:xfrm rot="18566208">
            <a:off x="6178548" y="2362427"/>
            <a:ext cx="259492" cy="432486"/>
          </a:xfrm>
          <a:prstGeom prst="upArrow">
            <a:avLst/>
          </a:prstGeom>
          <a:solidFill>
            <a:srgbClr val="CF6E6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4ED73C-19B3-B540-8334-F58630018C82}"/>
              </a:ext>
            </a:extLst>
          </p:cNvPr>
          <p:cNvSpPr txBox="1"/>
          <p:nvPr/>
        </p:nvSpPr>
        <p:spPr>
          <a:xfrm>
            <a:off x="6433400" y="2555127"/>
            <a:ext cx="26062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F6E6C"/>
                </a:solidFill>
              </a:rPr>
              <a:t>Say greedy chooses job B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598AAE9-DCC2-284C-8793-B5662AEBC90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3056" y="5263779"/>
            <a:ext cx="3826537" cy="207593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BDF1914-EDBA-594B-B696-1FCE4DC144E7}"/>
              </a:ext>
            </a:extLst>
          </p:cNvPr>
          <p:cNvSpPr txBox="1"/>
          <p:nvPr/>
        </p:nvSpPr>
        <p:spPr>
          <a:xfrm>
            <a:off x="2735588" y="4669408"/>
            <a:ext cx="45177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 can we manipulate the optimal solution above to make an optimal solution where B is the next job we choose after E?</a:t>
            </a:r>
          </a:p>
          <a:p>
            <a:pPr algn="ctr"/>
            <a:r>
              <a:rPr lang="en-US" dirty="0"/>
              <a:t>1 minute think; (wait) 1 minute share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718B2B6B-8387-6244-B2D4-321F701A6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970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 animBg="1"/>
      <p:bldP spid="23" grpId="0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Lemma</a:t>
            </a:r>
            <a:br>
              <a:rPr lang="en-US" sz="3100" dirty="0"/>
            </a:br>
            <a:r>
              <a:rPr lang="en-US" sz="3100" dirty="0"/>
              <a:t>This greedy choice doesn’t rule out success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0737"/>
            <a:ext cx="8515350" cy="5597526"/>
          </a:xfrm>
        </p:spPr>
        <p:txBody>
          <a:bodyPr>
            <a:normAutofit/>
          </a:bodyPr>
          <a:lstStyle/>
          <a:p>
            <a:r>
              <a:rPr lang="en-US" sz="2400" dirty="0"/>
              <a:t>Suppose you have already chosen some jobs, and haven’t yet ruled out success:</a:t>
            </a:r>
          </a:p>
          <a:p>
            <a:endParaRPr lang="en-US" sz="2400" dirty="0"/>
          </a:p>
          <a:p>
            <a:endParaRPr lang="en-US" sz="900" dirty="0"/>
          </a:p>
          <a:p>
            <a:r>
              <a:rPr lang="en-US" sz="2400" dirty="0"/>
              <a:t>Then if you choose the next job to be the one left that maximizes the ratio </a:t>
            </a:r>
            <a:r>
              <a:rPr lang="en-US" sz="2400" b="1" dirty="0">
                <a:solidFill>
                  <a:schemeClr val="accent4"/>
                </a:solidFill>
              </a:rPr>
              <a:t>cost/time</a:t>
            </a:r>
            <a:r>
              <a:rPr lang="en-US" sz="2400" dirty="0"/>
              <a:t>, you still won’t rule out success.</a:t>
            </a:r>
            <a:endParaRPr lang="en-US" sz="2400" b="1" baseline="-25000" dirty="0"/>
          </a:p>
          <a:p>
            <a:r>
              <a:rPr lang="en-US" sz="2400" b="1" dirty="0">
                <a:solidFill>
                  <a:schemeClr val="accent1"/>
                </a:solidFill>
              </a:rPr>
              <a:t>Proof sketch: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Say Job B maximizes this ratio, but it’s not the next job in the opt. soln.</a:t>
            </a:r>
          </a:p>
          <a:p>
            <a:pPr lvl="1"/>
            <a:r>
              <a:rPr lang="en-US" sz="2000" dirty="0">
                <a:solidFill>
                  <a:schemeClr val="accent1"/>
                </a:solidFill>
              </a:rPr>
              <a:t>Switch A and B!  Nothing else will change, and we just showed that the cost of the solution won’t increase.</a:t>
            </a:r>
          </a:p>
          <a:p>
            <a:pPr lvl="1"/>
            <a:endParaRPr lang="en-US" sz="1000" dirty="0">
              <a:solidFill>
                <a:schemeClr val="accent1"/>
              </a:solidFill>
            </a:endParaRPr>
          </a:p>
          <a:p>
            <a:pPr lvl="1"/>
            <a:endParaRPr lang="en-US" sz="2000" dirty="0">
              <a:solidFill>
                <a:schemeClr val="accent1"/>
              </a:solidFill>
            </a:endParaRPr>
          </a:p>
          <a:p>
            <a:pPr lvl="1"/>
            <a:endParaRPr lang="en-US" sz="2000" dirty="0">
              <a:solidFill>
                <a:schemeClr val="accent1"/>
              </a:solidFill>
            </a:endParaRPr>
          </a:p>
          <a:p>
            <a:pPr lvl="1"/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961528" y="5084290"/>
            <a:ext cx="1629507" cy="38236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Job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49741" y="5084290"/>
            <a:ext cx="3474427" cy="38236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Job 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7903" y="5084290"/>
            <a:ext cx="1407534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Job 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2283" y="5097545"/>
            <a:ext cx="2462574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bg1"/>
                </a:solidFill>
              </a:rPr>
              <a:t>Job 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86743DF-DED7-7846-BBC5-7CAA684DD6C0}"/>
              </a:ext>
            </a:extLst>
          </p:cNvPr>
          <p:cNvSpPr/>
          <p:nvPr/>
        </p:nvSpPr>
        <p:spPr>
          <a:xfrm>
            <a:off x="-693935" y="5090154"/>
            <a:ext cx="1407534" cy="382362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Job 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16A0CAF-13E5-B546-B7C5-86ABC84A491E}"/>
              </a:ext>
            </a:extLst>
          </p:cNvPr>
          <p:cNvSpPr/>
          <p:nvPr/>
        </p:nvSpPr>
        <p:spPr>
          <a:xfrm>
            <a:off x="2341940" y="2201508"/>
            <a:ext cx="1629507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A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A8CBB72-CB29-204B-A352-074555B1280E}"/>
              </a:ext>
            </a:extLst>
          </p:cNvPr>
          <p:cNvSpPr/>
          <p:nvPr/>
        </p:nvSpPr>
        <p:spPr>
          <a:xfrm>
            <a:off x="4085751" y="2195714"/>
            <a:ext cx="3474427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Job B</a:t>
            </a:r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E6A8CAC-18F4-854D-9A02-71A6018B2FDE}"/>
              </a:ext>
            </a:extLst>
          </p:cNvPr>
          <p:cNvSpPr/>
          <p:nvPr/>
        </p:nvSpPr>
        <p:spPr>
          <a:xfrm>
            <a:off x="820102" y="2182459"/>
            <a:ext cx="1407534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Job 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D96E159-E1B8-AD43-A665-0ABA2B51EF9A}"/>
              </a:ext>
            </a:extLst>
          </p:cNvPr>
          <p:cNvSpPr/>
          <p:nvPr/>
        </p:nvSpPr>
        <p:spPr>
          <a:xfrm>
            <a:off x="7674482" y="2195714"/>
            <a:ext cx="2462574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bg1"/>
                </a:solidFill>
              </a:rPr>
              <a:t>Job 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FD4279F-CE30-5544-B264-EE28E16E31BF}"/>
              </a:ext>
            </a:extLst>
          </p:cNvPr>
          <p:cNvSpPr/>
          <p:nvPr/>
        </p:nvSpPr>
        <p:spPr>
          <a:xfrm>
            <a:off x="-701736" y="2188323"/>
            <a:ext cx="1407534" cy="382362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Job 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C815DD-07CB-874F-BDB8-60D31398FB0C}"/>
              </a:ext>
            </a:extLst>
          </p:cNvPr>
          <p:cNvSpPr txBox="1"/>
          <p:nvPr/>
        </p:nvSpPr>
        <p:spPr>
          <a:xfrm>
            <a:off x="-54221" y="1734049"/>
            <a:ext cx="951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Already chosen 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495CBB-BC85-3D47-BF97-455EEC9ABF80}"/>
              </a:ext>
            </a:extLst>
          </p:cNvPr>
          <p:cNvSpPr txBox="1"/>
          <p:nvPr/>
        </p:nvSpPr>
        <p:spPr>
          <a:xfrm>
            <a:off x="7144116" y="1734048"/>
            <a:ext cx="1923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There’s some way to order A, B,C, D that’s optimal…</a:t>
            </a:r>
          </a:p>
        </p:txBody>
      </p:sp>
      <p:sp>
        <p:nvSpPr>
          <p:cNvPr id="22" name="Up Arrow 21">
            <a:extLst>
              <a:ext uri="{FF2B5EF4-FFF2-40B4-BE49-F238E27FC236}">
                <a16:creationId xmlns:a16="http://schemas.microsoft.com/office/drawing/2014/main" id="{27644DCA-45D3-914F-8A76-A55E1767D806}"/>
              </a:ext>
            </a:extLst>
          </p:cNvPr>
          <p:cNvSpPr/>
          <p:nvPr/>
        </p:nvSpPr>
        <p:spPr>
          <a:xfrm rot="18566208">
            <a:off x="6178548" y="2362427"/>
            <a:ext cx="259492" cy="432486"/>
          </a:xfrm>
          <a:prstGeom prst="upArrow">
            <a:avLst/>
          </a:prstGeom>
          <a:solidFill>
            <a:srgbClr val="CF6E6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4ED73C-19B3-B540-8334-F58630018C82}"/>
              </a:ext>
            </a:extLst>
          </p:cNvPr>
          <p:cNvSpPr txBox="1"/>
          <p:nvPr/>
        </p:nvSpPr>
        <p:spPr>
          <a:xfrm>
            <a:off x="6433400" y="2555127"/>
            <a:ext cx="26062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F6E6C"/>
                </a:solidFill>
              </a:rPr>
              <a:t>Say greedy chooses job 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5BA41-9BD7-314E-83C9-7437CD194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55</a:t>
            </a:fld>
            <a:endParaRPr 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5B1D4D1-76A3-1D49-AB58-665F7594AD99}"/>
              </a:ext>
            </a:extLst>
          </p:cNvPr>
          <p:cNvSpPr txBox="1"/>
          <p:nvPr/>
        </p:nvSpPr>
        <p:spPr>
          <a:xfrm>
            <a:off x="1016223" y="5689160"/>
            <a:ext cx="77402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We</a:t>
            </a:r>
            <a:r>
              <a:rPr lang="zh-CN" altLang="en-US" sz="2000" dirty="0"/>
              <a:t> </a:t>
            </a:r>
            <a:r>
              <a:rPr lang="en-US" altLang="zh-CN" sz="2000" dirty="0"/>
              <a:t>have</a:t>
            </a:r>
            <a:r>
              <a:rPr lang="zh-CN" altLang="en-US" sz="2000" dirty="0"/>
              <a:t> </a:t>
            </a:r>
            <a:r>
              <a:rPr lang="en-US" altLang="zh-CN" sz="2000" dirty="0"/>
              <a:t>just</a:t>
            </a:r>
            <a:r>
              <a:rPr lang="zh-CN" altLang="en-US" sz="2000" dirty="0"/>
              <a:t> </a:t>
            </a:r>
            <a:r>
              <a:rPr lang="en-US" altLang="zh-CN" sz="2000" dirty="0"/>
              <a:t>proved</a:t>
            </a:r>
            <a:r>
              <a:rPr lang="zh-CN" altLang="en-US" sz="2000" dirty="0"/>
              <a:t> </a:t>
            </a:r>
            <a:r>
              <a:rPr lang="en-US" altLang="zh-CN" sz="2000" dirty="0"/>
              <a:t>that</a:t>
            </a:r>
            <a:r>
              <a:rPr lang="zh-CN" altLang="en-US" sz="2000" dirty="0"/>
              <a:t> </a:t>
            </a:r>
            <a:r>
              <a:rPr lang="en-US" altLang="zh-CN" sz="2000" dirty="0"/>
              <a:t>schedule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one</a:t>
            </a:r>
            <a:r>
              <a:rPr lang="zh-CN" altLang="en-US" sz="2000" dirty="0"/>
              <a:t> </a:t>
            </a:r>
            <a:r>
              <a:rPr lang="en-US" altLang="zh-CN" sz="2000" dirty="0"/>
              <a:t>with</a:t>
            </a:r>
            <a:r>
              <a:rPr lang="zh-CN" altLang="en-US" sz="2000" dirty="0"/>
              <a:t> </a:t>
            </a:r>
            <a:r>
              <a:rPr lang="en-US" altLang="zh-CN" sz="2000" dirty="0"/>
              <a:t>larger</a:t>
            </a:r>
            <a:r>
              <a:rPr lang="zh-CN" altLang="en-US" sz="2000" dirty="0"/>
              <a:t> </a:t>
            </a:r>
            <a:r>
              <a:rPr lang="en-US" altLang="zh-CN" sz="2000" dirty="0"/>
              <a:t>cost/time</a:t>
            </a:r>
            <a:r>
              <a:rPr lang="zh-CN" altLang="en-US" sz="2000" dirty="0"/>
              <a:t> </a:t>
            </a:r>
            <a:r>
              <a:rPr lang="en-US" altLang="zh-CN" sz="2000" dirty="0"/>
              <a:t>ratio</a:t>
            </a:r>
            <a:r>
              <a:rPr lang="zh-CN" altLang="en-US" sz="2000" dirty="0"/>
              <a:t> </a:t>
            </a:r>
            <a:r>
              <a:rPr lang="en-US" altLang="zh-CN" sz="2000" dirty="0"/>
              <a:t>earlier</a:t>
            </a:r>
            <a:r>
              <a:rPr lang="zh-CN" altLang="en-US" sz="2000" dirty="0"/>
              <a:t> </a:t>
            </a:r>
            <a:r>
              <a:rPr lang="en-US" altLang="zh-CN" sz="2000" dirty="0"/>
              <a:t>will</a:t>
            </a:r>
            <a:r>
              <a:rPr lang="zh-CN" altLang="en-US" sz="2000" dirty="0"/>
              <a:t> </a:t>
            </a:r>
            <a:r>
              <a:rPr lang="en-US" altLang="zh-CN" sz="2000" dirty="0"/>
              <a:t>be</a:t>
            </a:r>
            <a:r>
              <a:rPr lang="zh-CN" altLang="en-US" sz="2000" dirty="0"/>
              <a:t> </a:t>
            </a:r>
            <a:r>
              <a:rPr lang="en-US" altLang="zh-CN" sz="2000" dirty="0"/>
              <a:t>better,</a:t>
            </a:r>
            <a:r>
              <a:rPr lang="zh-CN" altLang="en-US" sz="2000" dirty="0"/>
              <a:t> </a:t>
            </a:r>
            <a:r>
              <a:rPr lang="en-US" altLang="zh-CN" sz="2000" dirty="0"/>
              <a:t>so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swap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schedule</a:t>
            </a:r>
            <a:r>
              <a:rPr lang="zh-CN" altLang="en-US" sz="2000" dirty="0"/>
              <a:t> </a:t>
            </a:r>
            <a:r>
              <a:rPr lang="en-US" altLang="zh-CN" sz="2000" dirty="0"/>
              <a:t>Job</a:t>
            </a:r>
            <a:r>
              <a:rPr lang="zh-CN" altLang="en-US" sz="2000" dirty="0"/>
              <a:t> </a:t>
            </a:r>
            <a:r>
              <a:rPr lang="en-US" altLang="zh-CN" sz="2000" dirty="0"/>
              <a:t>B</a:t>
            </a:r>
            <a:r>
              <a:rPr lang="zh-CN" altLang="en-US" sz="2000" dirty="0"/>
              <a:t> </a:t>
            </a:r>
            <a:r>
              <a:rPr lang="en-US" altLang="zh-CN" sz="2000" dirty="0"/>
              <a:t>earlier</a:t>
            </a:r>
            <a:r>
              <a:rPr lang="zh-CN" altLang="en-US" sz="2000" dirty="0"/>
              <a:t> </a:t>
            </a:r>
            <a:r>
              <a:rPr lang="en-US" altLang="zh-CN" sz="2000" dirty="0"/>
              <a:t>will</a:t>
            </a:r>
            <a:r>
              <a:rPr lang="zh-CN" altLang="en-US" sz="2000" dirty="0"/>
              <a:t> </a:t>
            </a:r>
            <a:r>
              <a:rPr lang="en-US" altLang="zh-CN" sz="2000" dirty="0"/>
              <a:t>not</a:t>
            </a:r>
            <a:r>
              <a:rPr lang="zh-CN" altLang="en-US" sz="2000" dirty="0"/>
              <a:t> </a:t>
            </a:r>
            <a:r>
              <a:rPr lang="en-US" altLang="zh-CN" sz="2000" dirty="0"/>
              <a:t>increase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total</a:t>
            </a:r>
            <a:r>
              <a:rPr lang="zh-CN" altLang="en-US" sz="2000" dirty="0"/>
              <a:t> </a:t>
            </a:r>
            <a:r>
              <a:rPr lang="en-US" altLang="zh-CN" sz="2000" dirty="0"/>
              <a:t>cost.</a:t>
            </a:r>
            <a:r>
              <a:rPr lang="zh-CN" altLang="en-US" sz="2000" dirty="0"/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50858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7" grpId="0" animBg="1"/>
      <p:bldP spid="8" grpId="0" animBg="1"/>
      <p:bldP spid="1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5EDD40-C2AE-D245-B61C-02D369A23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Proof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Lemma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7D05F8-5697-6D43-A2BD-FDBECAB7F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56</a:t>
            </a:fld>
            <a:endParaRPr lang="en-US"/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6EB00EC6-4F30-9947-92B6-9710BAED2FC5}"/>
              </a:ext>
            </a:extLst>
          </p:cNvPr>
          <p:cNvSpPr/>
          <p:nvPr/>
        </p:nvSpPr>
        <p:spPr>
          <a:xfrm>
            <a:off x="6168902" y="1604003"/>
            <a:ext cx="1629507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Job A</a:t>
            </a:r>
          </a:p>
        </p:txBody>
      </p:sp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30E0DEFC-0060-D742-B68E-440FBC7F9D38}"/>
              </a:ext>
            </a:extLst>
          </p:cNvPr>
          <p:cNvSpPr/>
          <p:nvPr/>
        </p:nvSpPr>
        <p:spPr>
          <a:xfrm>
            <a:off x="1050532" y="1588578"/>
            <a:ext cx="3474427" cy="38236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Job 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ounded Rectangle 10">
            <a:extLst>
              <a:ext uri="{FF2B5EF4-FFF2-40B4-BE49-F238E27FC236}">
                <a16:creationId xmlns:a16="http://schemas.microsoft.com/office/drawing/2014/main" id="{F21DF5F6-F1EC-904C-AF09-37A2B09FFB53}"/>
              </a:ext>
            </a:extLst>
          </p:cNvPr>
          <p:cNvSpPr/>
          <p:nvPr/>
        </p:nvSpPr>
        <p:spPr>
          <a:xfrm>
            <a:off x="4645860" y="1588578"/>
            <a:ext cx="1407534" cy="38236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Job C</a:t>
            </a: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A372485C-BA63-F24A-A671-30EA6A81BCD2}"/>
              </a:ext>
            </a:extLst>
          </p:cNvPr>
          <p:cNvSpPr/>
          <p:nvPr/>
        </p:nvSpPr>
        <p:spPr>
          <a:xfrm>
            <a:off x="7912713" y="1604003"/>
            <a:ext cx="2462574" cy="382362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Job D</a:t>
            </a:r>
          </a:p>
        </p:txBody>
      </p:sp>
      <p:sp>
        <p:nvSpPr>
          <p:cNvPr id="9" name="Rounded Rectangle 13">
            <a:extLst>
              <a:ext uri="{FF2B5EF4-FFF2-40B4-BE49-F238E27FC236}">
                <a16:creationId xmlns:a16="http://schemas.microsoft.com/office/drawing/2014/main" id="{43863CAC-BB91-F946-BF34-EBAF3D920BEE}"/>
              </a:ext>
            </a:extLst>
          </p:cNvPr>
          <p:cNvSpPr/>
          <p:nvPr/>
        </p:nvSpPr>
        <p:spPr>
          <a:xfrm>
            <a:off x="-471306" y="1591359"/>
            <a:ext cx="1407534" cy="382362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/>
              <a:t>Job E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2A9C7C-BD81-5049-B774-C330500D40F8}"/>
              </a:ext>
            </a:extLst>
          </p:cNvPr>
          <p:cNvSpPr txBox="1"/>
          <p:nvPr/>
        </p:nvSpPr>
        <p:spPr>
          <a:xfrm>
            <a:off x="936227" y="2394245"/>
            <a:ext cx="77402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We</a:t>
            </a:r>
            <a:r>
              <a:rPr lang="zh-CN" altLang="en-US" sz="2400" dirty="0"/>
              <a:t> </a:t>
            </a:r>
            <a:r>
              <a:rPr lang="en-US" altLang="zh-CN" sz="2400" dirty="0"/>
              <a:t>continue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swap</a:t>
            </a:r>
            <a:r>
              <a:rPr lang="zh-CN" altLang="en-US" sz="2400" dirty="0"/>
              <a:t> </a:t>
            </a:r>
            <a:r>
              <a:rPr lang="en-US" altLang="zh-CN" sz="2400" dirty="0"/>
              <a:t>task</a:t>
            </a:r>
            <a:r>
              <a:rPr lang="zh-CN" altLang="en-US" sz="2400" dirty="0"/>
              <a:t> </a:t>
            </a:r>
            <a:r>
              <a:rPr lang="en-US" altLang="zh-CN" sz="2400" dirty="0"/>
              <a:t>until</a:t>
            </a:r>
            <a:r>
              <a:rPr lang="zh-CN" altLang="en-US" sz="2400" dirty="0"/>
              <a:t> </a:t>
            </a:r>
            <a:r>
              <a:rPr lang="en-US" altLang="zh-CN" sz="2400" dirty="0"/>
              <a:t>Job</a:t>
            </a:r>
            <a:r>
              <a:rPr lang="zh-CN" altLang="en-US" sz="2400" dirty="0"/>
              <a:t> </a:t>
            </a:r>
            <a:r>
              <a:rPr lang="en-US" altLang="zh-CN" sz="2400" dirty="0"/>
              <a:t>B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next</a:t>
            </a:r>
            <a:r>
              <a:rPr lang="zh-CN" altLang="en-US" sz="2400" dirty="0"/>
              <a:t> </a:t>
            </a:r>
            <a:r>
              <a:rPr lang="en-US" altLang="zh-CN" sz="2400" dirty="0"/>
              <a:t>scheduled</a:t>
            </a:r>
            <a:r>
              <a:rPr lang="zh-CN" altLang="en-US" sz="2400" dirty="0"/>
              <a:t> </a:t>
            </a:r>
            <a:r>
              <a:rPr lang="en-US" altLang="zh-CN" sz="2400" dirty="0"/>
              <a:t>Job,</a:t>
            </a:r>
            <a:r>
              <a:rPr lang="zh-CN" altLang="en-US" sz="2400" dirty="0"/>
              <a:t> </a:t>
            </a:r>
            <a:r>
              <a:rPr lang="en-US" altLang="zh-CN" sz="2400" dirty="0"/>
              <a:t>like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greedy</a:t>
            </a:r>
            <a:r>
              <a:rPr lang="zh-CN" altLang="en-US" sz="2400" dirty="0"/>
              <a:t> </a:t>
            </a:r>
            <a:r>
              <a:rPr lang="en-US" altLang="zh-CN" sz="2400" dirty="0"/>
              <a:t>method.</a:t>
            </a:r>
            <a:r>
              <a:rPr lang="zh-CN" altLang="en-US" sz="2400" dirty="0"/>
              <a:t> </a:t>
            </a:r>
            <a:endParaRPr 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374AFB-726C-1C4B-A652-65F3C9781E67}"/>
              </a:ext>
            </a:extLst>
          </p:cNvPr>
          <p:cNvSpPr txBox="1"/>
          <p:nvPr/>
        </p:nvSpPr>
        <p:spPr>
          <a:xfrm>
            <a:off x="936228" y="3429000"/>
            <a:ext cx="77402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We</a:t>
            </a:r>
            <a:r>
              <a:rPr lang="zh-CN" altLang="en-US" sz="2400" dirty="0"/>
              <a:t> </a:t>
            </a:r>
            <a:r>
              <a:rPr lang="en-US" altLang="zh-CN" sz="2400" dirty="0"/>
              <a:t>have</a:t>
            </a:r>
            <a:r>
              <a:rPr lang="zh-CN" altLang="en-US" sz="2400" dirty="0"/>
              <a:t> </a:t>
            </a:r>
            <a:r>
              <a:rPr lang="en-US" altLang="zh-CN" sz="2400" dirty="0"/>
              <a:t>just</a:t>
            </a:r>
            <a:r>
              <a:rPr lang="zh-CN" altLang="en-US" sz="2400" dirty="0"/>
              <a:t> </a:t>
            </a:r>
            <a:r>
              <a:rPr lang="en-US" altLang="zh-CN" sz="2400" dirty="0"/>
              <a:t>proved</a:t>
            </a:r>
            <a:r>
              <a:rPr lang="zh-CN" altLang="en-US" sz="2400" dirty="0"/>
              <a:t> </a:t>
            </a:r>
            <a:r>
              <a:rPr lang="en-US" altLang="zh-CN" sz="2400" dirty="0"/>
              <a:t>that</a:t>
            </a:r>
            <a:r>
              <a:rPr lang="zh-CN" altLang="en-US" sz="2400" dirty="0"/>
              <a:t> </a:t>
            </a:r>
            <a:r>
              <a:rPr lang="en-US" altLang="zh-CN" sz="2400" dirty="0"/>
              <a:t>schedule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one</a:t>
            </a:r>
            <a:r>
              <a:rPr lang="zh-CN" altLang="en-US" sz="2400" dirty="0"/>
              <a:t> </a:t>
            </a:r>
            <a:r>
              <a:rPr lang="en-US" altLang="zh-CN" sz="2400" dirty="0"/>
              <a:t>with</a:t>
            </a:r>
            <a:r>
              <a:rPr lang="zh-CN" altLang="en-US" sz="2400" dirty="0"/>
              <a:t> </a:t>
            </a:r>
            <a:r>
              <a:rPr lang="en-US" altLang="zh-CN" sz="2400" dirty="0"/>
              <a:t>larger</a:t>
            </a:r>
            <a:r>
              <a:rPr lang="zh-CN" altLang="en-US" sz="2400" dirty="0"/>
              <a:t> </a:t>
            </a:r>
            <a:r>
              <a:rPr lang="en-US" altLang="zh-CN" sz="2400" dirty="0"/>
              <a:t>cost/time</a:t>
            </a:r>
            <a:r>
              <a:rPr lang="zh-CN" altLang="en-US" sz="2400" dirty="0"/>
              <a:t> </a:t>
            </a:r>
            <a:r>
              <a:rPr lang="en-US" altLang="zh-CN" sz="2400" dirty="0"/>
              <a:t>ratio</a:t>
            </a:r>
            <a:r>
              <a:rPr lang="zh-CN" altLang="en-US" sz="2400" dirty="0"/>
              <a:t> </a:t>
            </a:r>
            <a:r>
              <a:rPr lang="en-US" altLang="zh-CN" sz="2400" dirty="0"/>
              <a:t>earlier</a:t>
            </a:r>
            <a:r>
              <a:rPr lang="zh-CN" altLang="en-US" sz="2400" dirty="0"/>
              <a:t> </a:t>
            </a:r>
            <a:r>
              <a:rPr lang="en-US" altLang="zh-CN" sz="2400" dirty="0"/>
              <a:t>will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/>
              <a:t>better,</a:t>
            </a:r>
            <a:r>
              <a:rPr lang="zh-CN" altLang="en-US" sz="2400" dirty="0"/>
              <a:t> </a:t>
            </a:r>
            <a:r>
              <a:rPr lang="en-US" altLang="zh-CN" sz="2400" dirty="0"/>
              <a:t>so</a:t>
            </a:r>
            <a:r>
              <a:rPr lang="zh-CN" altLang="en-US" sz="2400" dirty="0"/>
              <a:t> </a:t>
            </a:r>
            <a:r>
              <a:rPr lang="en-US" altLang="zh-CN" sz="2400" dirty="0"/>
              <a:t>all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swaps</a:t>
            </a:r>
            <a:r>
              <a:rPr lang="zh-CN" altLang="en-US" sz="2400" dirty="0"/>
              <a:t> </a:t>
            </a:r>
            <a:r>
              <a:rPr lang="en-US" altLang="zh-CN" sz="2400" dirty="0"/>
              <a:t>will</a:t>
            </a:r>
            <a:r>
              <a:rPr lang="zh-CN" altLang="en-US" sz="2400" dirty="0"/>
              <a:t> </a:t>
            </a:r>
            <a:r>
              <a:rPr lang="en-US" altLang="zh-CN" sz="2400" dirty="0"/>
              <a:t>not</a:t>
            </a:r>
            <a:r>
              <a:rPr lang="zh-CN" altLang="en-US" sz="2400" dirty="0"/>
              <a:t> </a:t>
            </a:r>
            <a:r>
              <a:rPr lang="en-US" altLang="zh-CN" sz="2400" dirty="0"/>
              <a:t>increase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total</a:t>
            </a:r>
            <a:r>
              <a:rPr lang="zh-CN" altLang="en-US" sz="2400" dirty="0"/>
              <a:t> </a:t>
            </a:r>
            <a:r>
              <a:rPr lang="en-US" altLang="zh-CN" sz="2400" dirty="0"/>
              <a:t>cost.</a:t>
            </a:r>
            <a:r>
              <a:rPr lang="zh-CN" altLang="en-US" sz="2400" dirty="0"/>
              <a:t> </a:t>
            </a:r>
            <a:endParaRPr 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059E681-C203-114D-B216-074F7AF036CC}"/>
              </a:ext>
            </a:extLst>
          </p:cNvPr>
          <p:cNvSpPr txBox="1"/>
          <p:nvPr/>
        </p:nvSpPr>
        <p:spPr>
          <a:xfrm>
            <a:off x="936227" y="4833087"/>
            <a:ext cx="77402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By</a:t>
            </a:r>
            <a:r>
              <a:rPr lang="zh-CN" altLang="en-US" sz="2400" dirty="0"/>
              <a:t> </a:t>
            </a:r>
            <a:r>
              <a:rPr lang="en-US" altLang="zh-CN" sz="2400" dirty="0"/>
              <a:t>repeatedly</a:t>
            </a:r>
            <a:r>
              <a:rPr lang="zh-CN" altLang="en-US" sz="2400" dirty="0"/>
              <a:t> </a:t>
            </a:r>
            <a:r>
              <a:rPr lang="en-US" altLang="zh-CN" sz="2400" dirty="0"/>
              <a:t>modifying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optimal</a:t>
            </a:r>
            <a:r>
              <a:rPr lang="zh-CN" altLang="en-US" sz="2400" dirty="0"/>
              <a:t> </a:t>
            </a:r>
            <a:r>
              <a:rPr lang="en-US" altLang="zh-CN" sz="2400" dirty="0"/>
              <a:t>schedule,</a:t>
            </a:r>
            <a:r>
              <a:rPr lang="zh-CN" altLang="en-US" sz="2400" dirty="0"/>
              <a:t> </a:t>
            </a:r>
            <a:r>
              <a:rPr lang="en-US" altLang="zh-CN" sz="2400" dirty="0"/>
              <a:t>we</a:t>
            </a:r>
            <a:r>
              <a:rPr lang="zh-CN" altLang="en-US" sz="2400" dirty="0"/>
              <a:t> </a:t>
            </a:r>
            <a:r>
              <a:rPr lang="en-US" altLang="zh-CN" sz="2400" dirty="0"/>
              <a:t>see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greedy</a:t>
            </a:r>
            <a:r>
              <a:rPr lang="zh-CN" altLang="en-US" sz="2400" dirty="0"/>
              <a:t> </a:t>
            </a:r>
            <a:r>
              <a:rPr lang="en-US" altLang="zh-CN" sz="2400" dirty="0"/>
              <a:t>method</a:t>
            </a:r>
            <a:r>
              <a:rPr lang="zh-CN" altLang="en-US" sz="2400" dirty="0"/>
              <a:t> </a:t>
            </a:r>
            <a:r>
              <a:rPr lang="en-US" altLang="zh-CN" sz="2400" dirty="0"/>
              <a:t>will</a:t>
            </a:r>
            <a:r>
              <a:rPr lang="zh-CN" altLang="en-US" sz="2400" dirty="0"/>
              <a:t> </a:t>
            </a:r>
            <a:r>
              <a:rPr lang="en-US" altLang="zh-CN" sz="2400" dirty="0"/>
              <a:t>not</a:t>
            </a:r>
            <a:r>
              <a:rPr lang="zh-CN" altLang="en-US" sz="2400" dirty="0"/>
              <a:t> </a:t>
            </a:r>
            <a:r>
              <a:rPr lang="en-US" altLang="zh-CN" sz="2400" dirty="0"/>
              <a:t>increase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total</a:t>
            </a:r>
            <a:r>
              <a:rPr lang="zh-CN" altLang="en-US" sz="2400" dirty="0"/>
              <a:t> </a:t>
            </a:r>
            <a:r>
              <a:rPr lang="en-US" altLang="zh-CN" sz="2400" dirty="0"/>
              <a:t>cost,</a:t>
            </a:r>
            <a:r>
              <a:rPr lang="zh-CN" altLang="en-US" sz="2400" dirty="0"/>
              <a:t> </a:t>
            </a:r>
            <a:r>
              <a:rPr lang="en-US" altLang="zh-CN" sz="2400" dirty="0"/>
              <a:t>which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/>
              <a:t>therefore</a:t>
            </a:r>
            <a:r>
              <a:rPr lang="zh-CN" altLang="en-US" sz="2400" dirty="0"/>
              <a:t> </a:t>
            </a:r>
            <a:r>
              <a:rPr lang="en-US" altLang="zh-CN" sz="2400" dirty="0"/>
              <a:t>optimal.</a:t>
            </a:r>
            <a:r>
              <a:rPr lang="zh-CN" altLang="en-US" sz="2400" dirty="0"/>
              <a:t> 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1569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6646"/>
            <a:ext cx="7886700" cy="1325563"/>
          </a:xfrm>
        </p:spPr>
        <p:txBody>
          <a:bodyPr/>
          <a:lstStyle/>
          <a:p>
            <a:r>
              <a:rPr lang="en-US" dirty="0"/>
              <a:t>Greedy Scheduling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64121" y="1462209"/>
                <a:ext cx="7886700" cy="4351338"/>
              </a:xfrm>
            </p:spPr>
            <p:txBody>
              <a:bodyPr/>
              <a:lstStyle/>
              <a:p>
                <a:r>
                  <a:rPr lang="en-US" b="1" dirty="0"/>
                  <a:t>scheduleJobs</a:t>
                </a:r>
                <a:r>
                  <a:rPr lang="en-US" dirty="0"/>
                  <a:t>( JOBS ):</a:t>
                </a:r>
              </a:p>
              <a:p>
                <a:pPr lvl="1"/>
                <a:r>
                  <a:rPr lang="en-US" dirty="0"/>
                  <a:t>Sort JOBS in decreasing order by the ratio: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𝒓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solidFill>
                          <a:srgbClr val="7030A0"/>
                        </a:solidFill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b="1" i="1" smtClean="0">
                                <a:solidFill>
                                  <a:srgbClr val="7030A0"/>
                                </a:solidFill>
                                <a:latin typeface="Cambria Math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b="1" i="1" smtClean="0">
                        <a:solidFill>
                          <a:srgbClr val="7030A0"/>
                        </a:solidFill>
                        <a:latin typeface="Cambria Math" charset="0"/>
                      </a:rPr>
                      <m:t>= </m:t>
                    </m:r>
                    <m:f>
                      <m:fPr>
                        <m:ctrlPr>
                          <a:rPr lang="en-US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1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cost</m:t>
                        </m:r>
                        <m:r>
                          <m:rPr>
                            <m:nor/>
                          </m:rPr>
                          <a:rPr lang="en-US" b="1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1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b="1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1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delaying</m:t>
                        </m:r>
                        <m:r>
                          <m:rPr>
                            <m:nor/>
                          </m:rPr>
                          <a:rPr lang="en-US" b="1" i="0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1" i="0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job</m:t>
                        </m:r>
                        <m:r>
                          <m:rPr>
                            <m:nor/>
                          </m:rPr>
                          <a:rPr lang="en-US" b="1" i="0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1" i="0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i</m:t>
                        </m:r>
                        <m:r>
                          <a:rPr lang="en-US" b="1" i="1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 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1" i="0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b="1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ime</m:t>
                        </m:r>
                        <m:r>
                          <m:rPr>
                            <m:nor/>
                          </m:rPr>
                          <a:rPr lang="en-US" b="1" i="0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1" i="0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job</m:t>
                        </m:r>
                        <m:r>
                          <m:rPr>
                            <m:nor/>
                          </m:rPr>
                          <a:rPr lang="en-US" b="1" i="0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1" i="0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b="1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1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takes</m:t>
                        </m:r>
                        <m:r>
                          <m:rPr>
                            <m:nor/>
                          </m:rPr>
                          <a:rPr lang="en-US" b="1" i="0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1" i="0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to</m:t>
                        </m:r>
                        <m:r>
                          <m:rPr>
                            <m:nor/>
                          </m:rPr>
                          <a:rPr lang="en-US" b="1" i="0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1" i="0" smtClean="0">
                            <a:solidFill>
                              <a:srgbClr val="7030A0"/>
                            </a:solidFill>
                            <a:latin typeface="Cambria Math" charset="0"/>
                          </a:rPr>
                          <m:t>complete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Return</a:t>
                </a:r>
                <a:r>
                  <a:rPr lang="en-US" dirty="0"/>
                  <a:t> JOBS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4121" y="1462209"/>
                <a:ext cx="7886700" cy="4351338"/>
              </a:xfrm>
              <a:blipFill>
                <a:blip r:embed="rId2"/>
                <a:stretch>
                  <a:fillRect l="-1286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28650" y="3996603"/>
            <a:ext cx="6717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Running time: O(n log(n))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61600" y="6059977"/>
            <a:ext cx="3725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Now you can go about your </a:t>
            </a:r>
            <a:r>
              <a:rPr lang="en-US"/>
              <a:t>schedule peacefully, in the optimal way.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3B2F7-F7E0-0C4B-9507-F4F808BA9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57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F7A8AC-F1DA-8F42-A083-442671B2AFE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0016" y="3817808"/>
            <a:ext cx="2485334" cy="231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87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bldLvl="2"/>
      <p:bldP spid="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618BC3E-C159-7C4A-A4AD-5D258853E934}"/>
              </a:ext>
            </a:extLst>
          </p:cNvPr>
          <p:cNvSpPr/>
          <p:nvPr/>
        </p:nvSpPr>
        <p:spPr>
          <a:xfrm>
            <a:off x="0" y="0"/>
            <a:ext cx="3891776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C4D8C2F-B057-BC46-B29B-8549C3CA4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55" y="620392"/>
            <a:ext cx="2856201" cy="5504688"/>
          </a:xfrm>
        </p:spPr>
        <p:txBody>
          <a:bodyPr>
            <a:normAutofit/>
          </a:bodyPr>
          <a:lstStyle/>
          <a:p>
            <a:r>
              <a:rPr lang="en-US" sz="5200" dirty="0" err="1">
                <a:solidFill>
                  <a:schemeClr val="bg1"/>
                </a:solidFill>
              </a:rPr>
              <a:t>主要内容</a:t>
            </a:r>
            <a:endParaRPr lang="en-US" sz="5200" dirty="0">
              <a:solidFill>
                <a:schemeClr val="bg1"/>
              </a:solidFill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605011D5-D7DF-D395-3AA9-3C30225BA1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101291" y="620391"/>
          <a:ext cx="4697730" cy="5599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DCA578-4958-C042-93CC-08AEB411D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Algorithm design and analysis, Yongcai Wang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899857-20C5-3A4B-8E13-770B50CF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D7B5-3E88-6742-8EE5-BD15024C659B}" type="slidenum">
              <a:rPr lang="en-US" smtClean="0"/>
              <a:t>58</a:t>
            </a:fld>
            <a:endParaRPr lang="en-US"/>
          </a:p>
        </p:txBody>
      </p:sp>
      <p:pic>
        <p:nvPicPr>
          <p:cNvPr id="7" name="图形 6" descr="3D 眼镜 纯色填充">
            <a:extLst>
              <a:ext uri="{FF2B5EF4-FFF2-40B4-BE49-F238E27FC236}">
                <a16:creationId xmlns:a16="http://schemas.microsoft.com/office/drawing/2014/main" id="{5F35CDB7-B71B-6147-B88D-E69B590230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15350" y="245833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7845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376E4D-A3BA-1547-B818-8BD84FD07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03820"/>
          </a:xfrm>
        </p:spPr>
        <p:txBody>
          <a:bodyPr/>
          <a:lstStyle/>
          <a:p>
            <a:r>
              <a:rPr lang="en-US" altLang="zh-CN" dirty="0"/>
              <a:t>Interval Partitioning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083CC4-2F56-F240-A71B-49889CA47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3331"/>
            <a:ext cx="7886700" cy="4351338"/>
          </a:xfrm>
        </p:spPr>
        <p:txBody>
          <a:bodyPr/>
          <a:lstStyle/>
          <a:p>
            <a:r>
              <a:rPr lang="en-US" altLang="zh-CN" dirty="0"/>
              <a:t>Given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activities,</a:t>
            </a:r>
            <a:r>
              <a:rPr lang="zh-CN" altLang="en-US" dirty="0"/>
              <a:t> </a:t>
            </a:r>
            <a:r>
              <a:rPr lang="en-US" altLang="zh-CN" dirty="0"/>
              <a:t>we want to schedule all the activities using the smallest number resources.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We are given a collection R of n activity requests, each with a start and finish time [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i</a:t>
            </a:r>
            <a:r>
              <a:rPr lang="en-US" altLang="zh-CN" dirty="0" err="1"/>
              <a:t>,f</a:t>
            </a:r>
            <a:r>
              <a:rPr lang="en-US" altLang="zh-CN" baseline="-25000" dirty="0" err="1"/>
              <a:t>i</a:t>
            </a:r>
            <a:r>
              <a:rPr lang="en-US" altLang="zh-CN" dirty="0"/>
              <a:t>]. </a:t>
            </a:r>
          </a:p>
          <a:p>
            <a:r>
              <a:rPr lang="en-US" altLang="zh-CN" dirty="0"/>
              <a:t>The objective is </a:t>
            </a:r>
            <a:r>
              <a:rPr lang="en-US" altLang="zh-CN" dirty="0">
                <a:solidFill>
                  <a:srgbClr val="00B050"/>
                </a:solidFill>
              </a:rPr>
              <a:t>to find the smallest number d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to partition R into d disjoint subsets R</a:t>
            </a:r>
            <a:r>
              <a:rPr lang="en-US" altLang="zh-CN" baseline="-25000" dirty="0">
                <a:solidFill>
                  <a:srgbClr val="00B050"/>
                </a:solidFill>
              </a:rPr>
              <a:t>1</a:t>
            </a:r>
            <a:r>
              <a:rPr lang="en-US" altLang="zh-CN" dirty="0">
                <a:solidFill>
                  <a:srgbClr val="00B050"/>
                </a:solidFill>
              </a:rPr>
              <a:t>, . . . , R</a:t>
            </a:r>
            <a:r>
              <a:rPr lang="en-US" altLang="zh-CN" baseline="-25000" dirty="0">
                <a:solidFill>
                  <a:srgbClr val="00B050"/>
                </a:solidFill>
              </a:rPr>
              <a:t>d</a:t>
            </a:r>
            <a:r>
              <a:rPr lang="en-US" altLang="zh-CN" dirty="0">
                <a:solidFill>
                  <a:srgbClr val="00B050"/>
                </a:solidFill>
              </a:rPr>
              <a:t>, such that the events of </a:t>
            </a:r>
            <a:r>
              <a:rPr lang="en-US" altLang="zh-CN" dirty="0" err="1">
                <a:solidFill>
                  <a:srgbClr val="00B050"/>
                </a:solidFill>
              </a:rPr>
              <a:t>R</a:t>
            </a:r>
            <a:r>
              <a:rPr lang="en-US" altLang="zh-CN" baseline="-25000" dirty="0" err="1">
                <a:solidFill>
                  <a:srgbClr val="00B050"/>
                </a:solidFill>
              </a:rPr>
              <a:t>j</a:t>
            </a:r>
            <a:r>
              <a:rPr lang="en-US" altLang="zh-CN" dirty="0">
                <a:solidFill>
                  <a:srgbClr val="00B050"/>
                </a:solidFill>
              </a:rPr>
              <a:t> are mutually nonconflicting, for each j, 1 ≤ j ≤ d.</a:t>
            </a:r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C461B0-0219-E94B-A15B-3D63F1DE8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59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A70A080-0674-7D4B-B280-CF3E89D696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866"/>
          <a:stretch/>
        </p:blipFill>
        <p:spPr>
          <a:xfrm>
            <a:off x="628650" y="4710516"/>
            <a:ext cx="2513795" cy="214748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27BBAAC-C9D5-2C44-A7D0-FD0AF31A8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528" y="4778130"/>
            <a:ext cx="2604886" cy="20798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9FC42D0-940C-454C-91F7-AE485E996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010" y="4858902"/>
            <a:ext cx="2604885" cy="199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8347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A039CD-F08B-4C4B-8EB3-C2FD8E45F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03820"/>
          </a:xfrm>
        </p:spPr>
        <p:txBody>
          <a:bodyPr/>
          <a:lstStyle/>
          <a:p>
            <a:r>
              <a:rPr lang="en-US" altLang="zh-CN" dirty="0"/>
              <a:t>Interval Partitioning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748AD0-7B9F-7E4C-8584-9D787BAD5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36372"/>
            <a:ext cx="7886700" cy="4940591"/>
          </a:xfrm>
        </p:spPr>
        <p:txBody>
          <a:bodyPr/>
          <a:lstStyle/>
          <a:p>
            <a:r>
              <a:rPr lang="en-US" altLang="zh-CN" dirty="0"/>
              <a:t>We can view this as a </a:t>
            </a:r>
            <a:r>
              <a:rPr lang="en-US" altLang="zh-CN" dirty="0">
                <a:solidFill>
                  <a:srgbClr val="00B050"/>
                </a:solidFill>
              </a:rPr>
              <a:t>coloring problem</a:t>
            </a:r>
            <a:r>
              <a:rPr lang="en-US" altLang="zh-CN" dirty="0"/>
              <a:t>. </a:t>
            </a:r>
          </a:p>
          <a:p>
            <a:r>
              <a:rPr lang="en-US" altLang="zh-CN" dirty="0"/>
              <a:t>we want to assign colors to the activities such that </a:t>
            </a:r>
            <a:r>
              <a:rPr lang="en-US" altLang="zh-CN" dirty="0">
                <a:solidFill>
                  <a:srgbClr val="00B050"/>
                </a:solidFill>
              </a:rPr>
              <a:t>two conflicting activities must have different colors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Our objective is to </a:t>
            </a:r>
            <a:r>
              <a:rPr lang="en-US" altLang="zh-CN" dirty="0">
                <a:solidFill>
                  <a:srgbClr val="00B050"/>
                </a:solidFill>
              </a:rPr>
              <a:t>find the minimum number of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colors</a:t>
            </a:r>
            <a:r>
              <a:rPr lang="en-US" altLang="zh-CN" dirty="0"/>
              <a:t>, such that it is possible to color each of the activities in this manner.</a:t>
            </a:r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91AAA0-640D-FC4B-AA96-DF1ED6B8A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60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AE21AC2-80B6-0143-B2E1-34A89A7730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866"/>
          <a:stretch/>
        </p:blipFill>
        <p:spPr>
          <a:xfrm>
            <a:off x="1249360" y="3900689"/>
            <a:ext cx="3151189" cy="269199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8EB56CF-BDDD-6644-A282-AA773219B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471" y="3900689"/>
            <a:ext cx="3334957" cy="266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4768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A8F82C-C642-C24C-B026-1798C26A7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Solving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coloring</a:t>
            </a:r>
            <a:r>
              <a:rPr lang="zh-CN" altLang="en-US" dirty="0"/>
              <a:t> </a:t>
            </a:r>
            <a:r>
              <a:rPr lang="en-US" altLang="zh-CN" dirty="0"/>
              <a:t>problem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1FAB43-5DF0-E74F-B736-A9F5738C0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Coloring problems are hard to solve efficiently.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Due to the simple nature of intervals, </a:t>
            </a:r>
            <a:r>
              <a:rPr lang="en-US" altLang="zh-CN" dirty="0">
                <a:solidFill>
                  <a:srgbClr val="00B050"/>
                </a:solidFill>
              </a:rPr>
              <a:t>it is possible to solve the interval partitioning problem quite efficiently by a simple greedy approach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First, </a:t>
            </a:r>
            <a:r>
              <a:rPr lang="en-US" altLang="zh-CN" dirty="0">
                <a:solidFill>
                  <a:srgbClr val="00B050"/>
                </a:solidFill>
              </a:rPr>
              <a:t>we sort the requests by increasing order of start times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We then </a:t>
            </a:r>
            <a:r>
              <a:rPr lang="en-US" altLang="zh-CN" dirty="0">
                <a:solidFill>
                  <a:srgbClr val="00B050"/>
                </a:solidFill>
              </a:rPr>
              <a:t>assign each request the smallest color </a:t>
            </a:r>
            <a:r>
              <a:rPr lang="en-US" altLang="zh-CN" dirty="0"/>
              <a:t>(possibly a new color) </a:t>
            </a:r>
            <a:r>
              <a:rPr lang="en-US" altLang="zh-CN" dirty="0">
                <a:solidFill>
                  <a:srgbClr val="00B050"/>
                </a:solidFill>
              </a:rPr>
              <a:t>such that it conflicts with no other requests of this color class</a:t>
            </a:r>
            <a:r>
              <a:rPr lang="en-US" altLang="zh-CN" dirty="0"/>
              <a:t>.</a:t>
            </a:r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7BA739-AA93-F747-BFDE-B7AC777C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40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341104-5272-624C-84BA-80A57DEC4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6"/>
            <a:ext cx="8025953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Greedy Interval Partitioning</a:t>
            </a:r>
            <a:br>
              <a:rPr lang="en-US" altLang="zh-CN" sz="4000" dirty="0"/>
            </a:br>
            <a:r>
              <a:rPr lang="en-US" altLang="zh-CN" sz="4000" dirty="0"/>
              <a:t>Algorithm</a:t>
            </a:r>
            <a:r>
              <a:rPr lang="zh-CN" altLang="en-US" sz="4000" dirty="0"/>
              <a:t> </a:t>
            </a:r>
            <a:endParaRPr lang="en-US" sz="4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7A0141-3A66-EF46-96DF-1A91D59DC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397" y="2005013"/>
            <a:ext cx="8397025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dirty="0" err="1"/>
              <a:t>greedyIntervalPartition</a:t>
            </a:r>
            <a:r>
              <a:rPr lang="en-US" altLang="zh-CN" dirty="0"/>
              <a:t>(s, f) {     // schedule tasks with given start/finish times</a:t>
            </a:r>
          </a:p>
          <a:p>
            <a:pPr marL="0" indent="0">
              <a:buNone/>
            </a:pPr>
            <a:r>
              <a:rPr lang="en-US" altLang="zh-CN" dirty="0"/>
              <a:t>        </a:t>
            </a:r>
            <a:r>
              <a:rPr lang="en-US" altLang="zh-CN" dirty="0">
                <a:solidFill>
                  <a:srgbClr val="00B050"/>
                </a:solidFill>
              </a:rPr>
              <a:t>sort requests by increasing start times</a:t>
            </a:r>
          </a:p>
          <a:p>
            <a:pPr marL="0" indent="0">
              <a:buNone/>
            </a:pPr>
            <a:r>
              <a:rPr lang="en-US" altLang="zh-CN" dirty="0"/>
              <a:t>        for (</a:t>
            </a:r>
            <a:r>
              <a:rPr lang="en-US" altLang="zh-CN" dirty="0" err="1"/>
              <a:t>i</a:t>
            </a:r>
            <a:r>
              <a:rPr lang="en-US" altLang="zh-CN" dirty="0"/>
              <a:t> = 1 to n) do {           // classify the </a:t>
            </a:r>
            <a:r>
              <a:rPr lang="en-US" altLang="zh-CN" dirty="0" err="1"/>
              <a:t>ith</a:t>
            </a:r>
            <a:r>
              <a:rPr lang="en-US" altLang="zh-CN" dirty="0"/>
              <a:t> request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B050"/>
                </a:solidFill>
              </a:rPr>
              <a:t>            E = </a:t>
            </a:r>
            <a:r>
              <a:rPr lang="en-US" altLang="zh-CN" dirty="0" err="1">
                <a:solidFill>
                  <a:srgbClr val="00B050"/>
                </a:solidFill>
              </a:rPr>
              <a:t>emptyset</a:t>
            </a:r>
            <a:r>
              <a:rPr lang="en-US" altLang="zh-CN" dirty="0">
                <a:solidFill>
                  <a:srgbClr val="00B050"/>
                </a:solidFill>
              </a:rPr>
              <a:t>                // E stores excluded colors for activity </a:t>
            </a:r>
            <a:r>
              <a:rPr lang="en-US" altLang="zh-CN" dirty="0" err="1">
                <a:solidFill>
                  <a:srgbClr val="00B050"/>
                </a:solidFill>
              </a:rPr>
              <a:t>i</a:t>
            </a:r>
            <a:endParaRPr lang="en-US" altLang="zh-CN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            for (j = 1 to i-1) do {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B050"/>
                </a:solidFill>
              </a:rPr>
              <a:t>              if ([s[j],f[j]] overlaps [s[</a:t>
            </a:r>
            <a:r>
              <a:rPr lang="en-US" altLang="zh-CN" dirty="0" err="1">
                <a:solidFill>
                  <a:srgbClr val="00B050"/>
                </a:solidFill>
              </a:rPr>
              <a:t>i</a:t>
            </a:r>
            <a:r>
              <a:rPr lang="en-US" altLang="zh-CN" dirty="0">
                <a:solidFill>
                  <a:srgbClr val="00B050"/>
                </a:solidFill>
              </a:rPr>
              <a:t>],f[</a:t>
            </a:r>
            <a:r>
              <a:rPr lang="en-US" altLang="zh-CN" dirty="0" err="1">
                <a:solidFill>
                  <a:srgbClr val="00B050"/>
                </a:solidFill>
              </a:rPr>
              <a:t>i</a:t>
            </a:r>
            <a:r>
              <a:rPr lang="en-US" altLang="zh-CN" dirty="0">
                <a:solidFill>
                  <a:srgbClr val="00B050"/>
                </a:solidFill>
              </a:rPr>
              <a:t>]]) add color[j] to E</a:t>
            </a:r>
          </a:p>
          <a:p>
            <a:pPr marL="0" indent="0">
              <a:buNone/>
            </a:pPr>
            <a:r>
              <a:rPr lang="en-US" altLang="zh-CN" dirty="0"/>
              <a:t>            }</a:t>
            </a:r>
          </a:p>
          <a:p>
            <a:pPr marL="0" indent="0">
              <a:buNone/>
            </a:pPr>
            <a:r>
              <a:rPr lang="en-US" altLang="zh-CN" dirty="0"/>
              <a:t>            </a:t>
            </a:r>
            <a:r>
              <a:rPr lang="en-US" altLang="zh-CN" dirty="0">
                <a:solidFill>
                  <a:srgbClr val="00B050"/>
                </a:solidFill>
              </a:rPr>
              <a:t>Let c be the smallest color NOT in E</a:t>
            </a:r>
          </a:p>
          <a:p>
            <a:pPr marL="0" indent="0">
              <a:buNone/>
            </a:pPr>
            <a:r>
              <a:rPr lang="zh-CN" altLang="en-US" dirty="0"/>
              <a:t>            </a:t>
            </a:r>
            <a:r>
              <a:rPr lang="en-US" altLang="zh-CN" dirty="0"/>
              <a:t>color[</a:t>
            </a:r>
            <a:r>
              <a:rPr lang="en-US" altLang="zh-CN" dirty="0" err="1"/>
              <a:t>i</a:t>
            </a:r>
            <a:r>
              <a:rPr lang="en-US" altLang="zh-CN" dirty="0"/>
              <a:t>] = c 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}</a:t>
            </a:r>
          </a:p>
          <a:p>
            <a:pPr marL="0" indent="0">
              <a:buNone/>
            </a:pPr>
            <a:r>
              <a:rPr lang="en-US" altLang="zh-CN" dirty="0"/>
              <a:t>        return color[1...n]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CA5061-2767-104B-8CE4-159D5EFC0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0698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749E72-22D0-AC40-8E90-F7BE953A4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Running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  <a:r>
              <a:rPr lang="zh-CN" altLang="en-US" dirty="0"/>
              <a:t> </a:t>
            </a:r>
            <a:r>
              <a:rPr lang="en-US" altLang="zh-CN" dirty="0"/>
              <a:t>complexity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6F40BC-9E9F-C84D-87F4-61F3AE4CA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algorithm’s running time is </a:t>
            </a:r>
            <a:r>
              <a:rPr lang="en-US" altLang="zh-CN" dirty="0">
                <a:solidFill>
                  <a:srgbClr val="00B050"/>
                </a:solidFill>
              </a:rPr>
              <a:t>O(n</a:t>
            </a:r>
            <a:r>
              <a:rPr lang="en-US" altLang="zh-CN" baseline="30000" dirty="0">
                <a:solidFill>
                  <a:srgbClr val="00B050"/>
                </a:solidFill>
              </a:rPr>
              <a:t>2</a:t>
            </a:r>
            <a:r>
              <a:rPr lang="en-US" altLang="zh-CN" dirty="0">
                <a:solidFill>
                  <a:srgbClr val="00B050"/>
                </a:solidFill>
              </a:rPr>
              <a:t>)</a:t>
            </a:r>
          </a:p>
          <a:p>
            <a:r>
              <a:rPr lang="en-US" altLang="zh-CN" dirty="0"/>
              <a:t>If we relax the requirement that the color be the smallest available color (instead allowing any available color), </a:t>
            </a:r>
            <a:r>
              <a:rPr lang="en-US" altLang="zh-CN" dirty="0">
                <a:solidFill>
                  <a:srgbClr val="00B050"/>
                </a:solidFill>
              </a:rPr>
              <a:t>it is possible to reduce this to O(n log n)</a:t>
            </a:r>
            <a:r>
              <a:rPr lang="en-US" altLang="zh-CN" dirty="0"/>
              <a:t> time with a bit of added cleverness.</a:t>
            </a:r>
          </a:p>
          <a:p>
            <a:r>
              <a:rPr lang="en-US" altLang="zh-CN" dirty="0"/>
              <a:t>See</a:t>
            </a:r>
            <a:r>
              <a:rPr lang="zh-CN" altLang="en-US" dirty="0"/>
              <a:t> </a:t>
            </a:r>
            <a:r>
              <a:rPr lang="en-US" altLang="zh-CN" dirty="0"/>
              <a:t>Mount’s</a:t>
            </a:r>
            <a:r>
              <a:rPr lang="zh-CN" altLang="en-US" dirty="0"/>
              <a:t> </a:t>
            </a:r>
            <a:r>
              <a:rPr lang="en-US" altLang="zh-CN" dirty="0"/>
              <a:t>lecture</a:t>
            </a:r>
            <a:r>
              <a:rPr lang="zh-CN" altLang="en-US" dirty="0"/>
              <a:t> </a:t>
            </a:r>
            <a:r>
              <a:rPr lang="en-US" altLang="zh-CN" dirty="0"/>
              <a:t>notes.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F449B3-B950-704E-A449-0C4BA546B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6174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46F48-31AA-9E44-B0A4-84155870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71246"/>
          </a:xfrm>
        </p:spPr>
        <p:txBody>
          <a:bodyPr/>
          <a:lstStyle/>
          <a:p>
            <a:r>
              <a:rPr lang="en-US" altLang="zh-CN" dirty="0"/>
              <a:t>Correctness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77B8B8-313B-664C-8309-A39E058E7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03797"/>
            <a:ext cx="7886700" cy="5089076"/>
          </a:xfrm>
        </p:spPr>
        <p:txBody>
          <a:bodyPr>
            <a:normAutofit/>
          </a:bodyPr>
          <a:lstStyle/>
          <a:p>
            <a:r>
              <a:rPr lang="en-US" altLang="zh-CN" dirty="0"/>
              <a:t>We first observe that the algorithm never assigns the same color to two conflicting activities.</a:t>
            </a:r>
          </a:p>
          <a:p>
            <a:r>
              <a:rPr lang="en-US" altLang="zh-CN" dirty="0"/>
              <a:t>Thus, the algorithm </a:t>
            </a:r>
            <a:r>
              <a:rPr lang="en-US" altLang="zh-CN" dirty="0">
                <a:solidFill>
                  <a:srgbClr val="00B050"/>
                </a:solidFill>
              </a:rPr>
              <a:t>produces a valid coloring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The question is whether it produces an optimal coloring, i.e.,</a:t>
            </a:r>
            <a:r>
              <a:rPr lang="zh-CN" altLang="en-US" dirty="0"/>
              <a:t> </a:t>
            </a:r>
            <a:r>
              <a:rPr lang="en-US" altLang="zh-CN" dirty="0"/>
              <a:t>the minimum number of distinct colors.</a:t>
            </a:r>
          </a:p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prove?</a:t>
            </a:r>
          </a:p>
          <a:p>
            <a:r>
              <a:rPr lang="en-US" altLang="zh-CN" dirty="0"/>
              <a:t>To establish this, we will introduce a helpful quantity.</a:t>
            </a:r>
            <a:r>
              <a:rPr lang="zh-CN" altLang="en-US" dirty="0"/>
              <a:t>  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74433A-BD87-7F43-8A7E-C2DA8C9A8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498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610852-EFF8-2243-93D9-7AF00AA41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Proof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Optimality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C91829-BFB3-EB44-BADA-6CD2C8EF4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/>
          <a:lstStyle/>
          <a:p>
            <a:r>
              <a:rPr lang="en-US" altLang="zh-CN" dirty="0"/>
              <a:t>Define </a:t>
            </a:r>
            <a:r>
              <a:rPr lang="en-US" altLang="zh-CN" dirty="0">
                <a:solidFill>
                  <a:srgbClr val="00B050"/>
                </a:solidFill>
              </a:rPr>
              <a:t>depth(t) </a:t>
            </a:r>
            <a:r>
              <a:rPr lang="en-US" altLang="zh-CN" dirty="0"/>
              <a:t>to be the number of activities whose start-finish interval contains t.</a:t>
            </a:r>
          </a:p>
          <a:p>
            <a:r>
              <a:rPr lang="en-US" altLang="zh-CN" dirty="0"/>
              <a:t>Given a set R of activity requests, define </a:t>
            </a:r>
            <a:r>
              <a:rPr lang="en-US" altLang="zh-CN" dirty="0">
                <a:solidFill>
                  <a:srgbClr val="00B050"/>
                </a:solidFill>
              </a:rPr>
              <a:t>depth(R)</a:t>
            </a:r>
            <a:r>
              <a:rPr lang="en-US" altLang="zh-CN" dirty="0"/>
              <a:t> to be the </a:t>
            </a:r>
            <a:r>
              <a:rPr lang="en-US" altLang="zh-CN" dirty="0">
                <a:solidFill>
                  <a:srgbClr val="00B050"/>
                </a:solidFill>
              </a:rPr>
              <a:t>maximum depth over all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possible values </a:t>
            </a:r>
            <a:r>
              <a:rPr lang="en-US" altLang="zh-CN" dirty="0"/>
              <a:t>of t.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Given any instance R of the interval partitioning problem, </a:t>
            </a:r>
            <a:r>
              <a:rPr lang="en-US" altLang="zh-CN" dirty="0">
                <a:solidFill>
                  <a:srgbClr val="00B050"/>
                </a:solidFill>
              </a:rPr>
              <a:t>the number of resources needed is at least depth(R).</a:t>
            </a:r>
          </a:p>
          <a:p>
            <a:r>
              <a:rPr lang="en-US" altLang="zh-CN" dirty="0"/>
              <a:t>if </a:t>
            </a:r>
            <a:r>
              <a:rPr lang="en-US" altLang="zh-CN" dirty="0">
                <a:solidFill>
                  <a:srgbClr val="00B050"/>
                </a:solidFill>
              </a:rPr>
              <a:t>d denotes the minimum number of colors in any schedule</a:t>
            </a:r>
            <a:r>
              <a:rPr lang="en-US" altLang="zh-CN" dirty="0"/>
              <a:t>, we have </a:t>
            </a:r>
            <a:r>
              <a:rPr lang="en-US" altLang="zh-CN" dirty="0">
                <a:solidFill>
                  <a:srgbClr val="00B050"/>
                </a:solidFill>
              </a:rPr>
              <a:t>d ≥ depth(R).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endParaRPr lang="en-US" altLang="zh-CN" dirty="0">
              <a:solidFill>
                <a:srgbClr val="00B050"/>
              </a:solidFill>
            </a:endParaRPr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11BC22-A017-8F4D-BF03-3A8842CAA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386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564E79-BA40-1D46-861B-9FBDEE2BF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58367"/>
          </a:xfrm>
        </p:spPr>
        <p:txBody>
          <a:bodyPr/>
          <a:lstStyle/>
          <a:p>
            <a:r>
              <a:rPr lang="en-US" altLang="zh-CN" dirty="0"/>
              <a:t>Proof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Optimality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A124EF-9F13-1C46-B57D-CD3171BD4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25563"/>
            <a:ext cx="8515350" cy="51673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Theorem:</a:t>
            </a:r>
            <a:r>
              <a:rPr lang="zh-CN" altLang="en-US" b="1" dirty="0"/>
              <a:t> </a:t>
            </a:r>
            <a:r>
              <a:rPr lang="en-US" altLang="zh-CN" dirty="0"/>
              <a:t>given any instance R of the interval partitioning problem, the number of resources produced by the greedy partitioning algorithm is at most depth(R).</a:t>
            </a:r>
          </a:p>
          <a:p>
            <a:r>
              <a:rPr lang="en-US" altLang="zh-CN" dirty="0"/>
              <a:t>Proof</a:t>
            </a:r>
          </a:p>
          <a:p>
            <a:pPr lvl="1"/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simplify the proof to assume that all start and finish times are distinct.</a:t>
            </a:r>
          </a:p>
          <a:p>
            <a:pPr lvl="1"/>
            <a:r>
              <a:rPr lang="en-US" altLang="zh-CN" dirty="0"/>
              <a:t>To prove: Greedy allocates </a:t>
            </a:r>
            <a:r>
              <a:rPr lang="en-US" altLang="zh-CN" dirty="0">
                <a:solidFill>
                  <a:srgbClr val="00B050"/>
                </a:solidFill>
              </a:rPr>
              <a:t>d</a:t>
            </a:r>
            <a:r>
              <a:rPr lang="en-US" altLang="zh-CN" dirty="0"/>
              <a:t> colors,</a:t>
            </a:r>
            <a:r>
              <a:rPr lang="zh-CN" altLang="en-US" dirty="0"/>
              <a:t> </a:t>
            </a:r>
            <a:r>
              <a:rPr lang="en-US" altLang="zh-CN" dirty="0"/>
              <a:t>then</a:t>
            </a:r>
            <a:r>
              <a:rPr lang="zh-CN" altLang="en-US" dirty="0"/>
              <a:t> </a:t>
            </a:r>
            <a:r>
              <a:rPr lang="en-US" altLang="zh-CN" dirty="0"/>
              <a:t>we need at least </a:t>
            </a:r>
            <a:r>
              <a:rPr lang="en-US" altLang="zh-CN" dirty="0">
                <a:solidFill>
                  <a:srgbClr val="00B050"/>
                </a:solidFill>
              </a:rPr>
              <a:t>d</a:t>
            </a:r>
            <a:r>
              <a:rPr lang="en-US" altLang="zh-CN" dirty="0"/>
              <a:t>. </a:t>
            </a:r>
          </a:p>
          <a:p>
            <a:pPr lvl="1"/>
            <a:r>
              <a:rPr lang="en-US" altLang="zh-CN" dirty="0"/>
              <a:t>Color </a:t>
            </a:r>
            <a:r>
              <a:rPr lang="en-US" altLang="zh-CN" dirty="0">
                <a:solidFill>
                  <a:srgbClr val="00B050"/>
                </a:solidFill>
              </a:rPr>
              <a:t>d</a:t>
            </a:r>
            <a:r>
              <a:rPr lang="en-US" altLang="zh-CN" dirty="0"/>
              <a:t> open because </a:t>
            </a:r>
            <a:r>
              <a:rPr lang="en-US" altLang="zh-CN" dirty="0">
                <a:solidFill>
                  <a:srgbClr val="00B050"/>
                </a:solidFill>
              </a:rPr>
              <a:t>interval j incompatible with d-1 others</a:t>
            </a:r>
            <a:r>
              <a:rPr lang="en-US" altLang="zh-CN" dirty="0"/>
              <a:t>. </a:t>
            </a:r>
          </a:p>
          <a:p>
            <a:pPr lvl="1"/>
            <a:r>
              <a:rPr lang="en-US" altLang="zh-CN" dirty="0"/>
              <a:t>All these incompatibilities are caused by intervals</a:t>
            </a:r>
            <a:r>
              <a:rPr lang="zh-CN" altLang="en-US" dirty="0"/>
              <a:t> </a:t>
            </a:r>
            <a:r>
              <a:rPr lang="en-US" altLang="zh-CN" dirty="0"/>
              <a:t>that start </a:t>
            </a:r>
            <a:r>
              <a:rPr lang="en-US" altLang="zh-CN" dirty="0">
                <a:solidFill>
                  <a:srgbClr val="00B050"/>
                </a:solidFill>
              </a:rPr>
              <a:t>no later than </a:t>
            </a:r>
            <a:r>
              <a:rPr lang="en-US" altLang="zh-CN" dirty="0" err="1">
                <a:solidFill>
                  <a:srgbClr val="00B050"/>
                </a:solidFill>
              </a:rPr>
              <a:t>s</a:t>
            </a:r>
            <a:r>
              <a:rPr lang="en-US" altLang="zh-CN" sz="1800" dirty="0" err="1">
                <a:solidFill>
                  <a:srgbClr val="00B050"/>
                </a:solidFill>
              </a:rPr>
              <a:t>j</a:t>
            </a:r>
            <a:endParaRPr lang="en-US" altLang="zh-CN" sz="1800" dirty="0">
              <a:solidFill>
                <a:srgbClr val="00B050"/>
              </a:solidFill>
            </a:endParaRPr>
          </a:p>
          <a:p>
            <a:pPr lvl="1"/>
            <a:r>
              <a:rPr lang="en-US" altLang="zh-CN" dirty="0"/>
              <a:t>Thus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B050"/>
                </a:solidFill>
              </a:rPr>
              <a:t>d intervals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are overlapping at time </a:t>
            </a:r>
            <a:r>
              <a:rPr lang="en-US" altLang="zh-CN" dirty="0" err="1">
                <a:solidFill>
                  <a:srgbClr val="00B050"/>
                </a:solidFill>
              </a:rPr>
              <a:t>s</a:t>
            </a:r>
            <a:r>
              <a:rPr lang="en-US" altLang="zh-CN" baseline="-25000" dirty="0" err="1">
                <a:solidFill>
                  <a:srgbClr val="00B050"/>
                </a:solidFill>
              </a:rPr>
              <a:t>j</a:t>
            </a:r>
            <a:r>
              <a:rPr lang="en-US" altLang="zh-CN" dirty="0" err="1">
                <a:solidFill>
                  <a:srgbClr val="00B050"/>
                </a:solidFill>
              </a:rPr>
              <a:t>+</a:t>
            </a:r>
            <a:r>
              <a:rPr lang="en-US" altLang="zh-CN" dirty="0" err="1">
                <a:solidFill>
                  <a:srgbClr val="00B050"/>
                </a:solidFill>
                <a:latin typeface="Symbol" pitchFamily="2" charset="2"/>
              </a:rPr>
              <a:t>e</a:t>
            </a:r>
            <a:r>
              <a:rPr lang="en-US" altLang="zh-CN" sz="1800" dirty="0">
                <a:solidFill>
                  <a:srgbClr val="00B050"/>
                </a:solidFill>
                <a:latin typeface="Symbol" pitchFamily="2" charset="2"/>
              </a:rPr>
              <a:t>.</a:t>
            </a:r>
            <a:r>
              <a:rPr lang="zh-CN" altLang="en-US" sz="1800" dirty="0">
                <a:solidFill>
                  <a:srgbClr val="00B050"/>
                </a:solidFill>
                <a:latin typeface="Symbol" pitchFamily="2" charset="2"/>
              </a:rPr>
              <a:t> </a:t>
            </a:r>
            <a:endParaRPr lang="en-US" altLang="zh-CN" sz="1800" dirty="0">
              <a:solidFill>
                <a:srgbClr val="00B050"/>
              </a:solidFill>
              <a:latin typeface="Symbol" pitchFamily="2" charset="2"/>
            </a:endParaRPr>
          </a:p>
          <a:p>
            <a:pPr lvl="1"/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“number of colors &gt;</a:t>
            </a:r>
            <a:r>
              <a:rPr lang="zh-CN" altLang="en-US" dirty="0"/>
              <a:t> </a:t>
            </a:r>
            <a:r>
              <a:rPr lang="en-US" altLang="zh-CN" dirty="0"/>
              <a:t>depth(R)”,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know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B050"/>
                </a:solidFill>
              </a:rPr>
              <a:t>we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need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at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least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d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colors,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where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d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is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at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most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r>
              <a:rPr lang="en-US" altLang="zh-CN" dirty="0">
                <a:solidFill>
                  <a:srgbClr val="00B050"/>
                </a:solidFill>
              </a:rPr>
              <a:t>depth(R).</a:t>
            </a:r>
            <a:r>
              <a:rPr lang="zh-CN" altLang="en-US" dirty="0">
                <a:solidFill>
                  <a:srgbClr val="00B050"/>
                </a:solidFill>
              </a:rPr>
              <a:t> 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4465E6-E5B4-E84D-BC93-BEE1C5467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97439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618BC3E-C159-7C4A-A4AD-5D258853E934}"/>
              </a:ext>
            </a:extLst>
          </p:cNvPr>
          <p:cNvSpPr/>
          <p:nvPr/>
        </p:nvSpPr>
        <p:spPr>
          <a:xfrm>
            <a:off x="0" y="0"/>
            <a:ext cx="3891776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C4D8C2F-B057-BC46-B29B-8549C3CA4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55" y="620392"/>
            <a:ext cx="2856201" cy="5504688"/>
          </a:xfrm>
        </p:spPr>
        <p:txBody>
          <a:bodyPr>
            <a:normAutofit/>
          </a:bodyPr>
          <a:lstStyle/>
          <a:p>
            <a:r>
              <a:rPr lang="en-US" sz="5200" dirty="0" err="1">
                <a:solidFill>
                  <a:schemeClr val="bg1"/>
                </a:solidFill>
              </a:rPr>
              <a:t>主要内容</a:t>
            </a:r>
            <a:endParaRPr lang="en-US" sz="5200" dirty="0">
              <a:solidFill>
                <a:schemeClr val="bg1"/>
              </a:solidFill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605011D5-D7DF-D395-3AA9-3C30225BA1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101291" y="620391"/>
          <a:ext cx="4697730" cy="5599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DCA578-4958-C042-93CC-08AEB411D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Algorithm design and analysis, Yongcai Wang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899857-20C5-3A4B-8E13-770B50CF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D7B5-3E88-6742-8EE5-BD15024C659B}" type="slidenum">
              <a:rPr lang="en-US" smtClean="0"/>
              <a:t>67</a:t>
            </a:fld>
            <a:endParaRPr lang="en-US"/>
          </a:p>
        </p:txBody>
      </p:sp>
      <p:pic>
        <p:nvPicPr>
          <p:cNvPr id="7" name="图形 6" descr="3D 眼镜 纯色填充">
            <a:extLst>
              <a:ext uri="{FF2B5EF4-FFF2-40B4-BE49-F238E27FC236}">
                <a16:creationId xmlns:a16="http://schemas.microsoft.com/office/drawing/2014/main" id="{5F35CDB7-B71B-6147-B88D-E69B590230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95633" y="421768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8257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86F18F-0C08-9E4F-B81B-C4A387955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115944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Scheduling to Minimize the</a:t>
            </a:r>
            <a:r>
              <a:rPr lang="zh-CN" altLang="en-US" dirty="0"/>
              <a:t> </a:t>
            </a:r>
            <a:r>
              <a:rPr lang="en-US" altLang="zh-CN" dirty="0"/>
              <a:t>Maximum</a:t>
            </a:r>
            <a:r>
              <a:rPr lang="zh-CN" altLang="en-US" dirty="0"/>
              <a:t> </a:t>
            </a:r>
            <a:r>
              <a:rPr lang="en-US" altLang="zh-CN" dirty="0"/>
              <a:t>Lateness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A89644-E621-084E-80C0-8D70D71A2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113" y="1696835"/>
            <a:ext cx="8584977" cy="5161166"/>
          </a:xfrm>
        </p:spPr>
        <p:txBody>
          <a:bodyPr>
            <a:normAutofit/>
          </a:bodyPr>
          <a:lstStyle/>
          <a:p>
            <a:r>
              <a:rPr lang="en-US" altLang="zh-CN" dirty="0"/>
              <a:t>Scheduling a set of n tasks where each task is associated with an </a:t>
            </a:r>
            <a:r>
              <a:rPr lang="en-US" altLang="zh-CN" dirty="0">
                <a:solidFill>
                  <a:srgbClr val="00B050"/>
                </a:solidFill>
              </a:rPr>
              <a:t>execution time </a:t>
            </a:r>
            <a:r>
              <a:rPr lang="en-US" altLang="zh-CN" dirty="0" err="1">
                <a:solidFill>
                  <a:srgbClr val="00B050"/>
                </a:solidFill>
              </a:rPr>
              <a:t>t</a:t>
            </a:r>
            <a:r>
              <a:rPr lang="en-US" altLang="zh-CN" baseline="-25000" dirty="0" err="1">
                <a:solidFill>
                  <a:srgbClr val="00B050"/>
                </a:solidFill>
              </a:rPr>
              <a:t>i</a:t>
            </a:r>
            <a:r>
              <a:rPr lang="en-US" altLang="zh-CN" dirty="0">
                <a:solidFill>
                  <a:srgbClr val="00B050"/>
                </a:solidFill>
              </a:rPr>
              <a:t> and a deadline d</a:t>
            </a:r>
            <a:r>
              <a:rPr lang="en-US" altLang="zh-CN" baseline="-25000" dirty="0">
                <a:solidFill>
                  <a:srgbClr val="00B050"/>
                </a:solidFill>
              </a:rPr>
              <a:t>i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The objective is to schedule the tasks, no two overlapping in time, and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B050"/>
                </a:solidFill>
              </a:rPr>
              <a:t>minimize the maximum lateness over all the tasks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Define the the finish time of the </a:t>
            </a:r>
            <a:r>
              <a:rPr lang="en-US" altLang="zh-CN" dirty="0" err="1"/>
              <a:t>ith</a:t>
            </a:r>
            <a:r>
              <a:rPr lang="en-US" altLang="zh-CN" dirty="0"/>
              <a:t> task to</a:t>
            </a:r>
            <a:r>
              <a:rPr lang="zh-CN" altLang="en-US" dirty="0"/>
              <a:t> </a:t>
            </a:r>
            <a:r>
              <a:rPr lang="en-US" altLang="zh-CN" dirty="0"/>
              <a:t>be f</a:t>
            </a:r>
            <a:r>
              <a:rPr lang="en-US" altLang="zh-CN" baseline="-25000" dirty="0"/>
              <a:t>i</a:t>
            </a:r>
            <a:r>
              <a:rPr lang="en-US" altLang="zh-CN" dirty="0"/>
              <a:t> = 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i</a:t>
            </a:r>
            <a:r>
              <a:rPr lang="en-US" altLang="zh-CN" dirty="0"/>
              <a:t> + 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i</a:t>
            </a:r>
            <a:r>
              <a:rPr lang="en-US" altLang="zh-CN" dirty="0"/>
              <a:t> ,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lateness of the </a:t>
            </a:r>
            <a:r>
              <a:rPr lang="en-US" altLang="zh-CN" dirty="0" err="1"/>
              <a:t>ith</a:t>
            </a:r>
            <a:r>
              <a:rPr lang="en-US" altLang="zh-CN" dirty="0"/>
              <a:t> task is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B050"/>
                </a:solidFill>
              </a:rPr>
              <a:t>l</a:t>
            </a:r>
            <a:r>
              <a:rPr lang="en-US" altLang="zh-CN" baseline="-25000" dirty="0">
                <a:solidFill>
                  <a:srgbClr val="00B050"/>
                </a:solidFill>
              </a:rPr>
              <a:t>i</a:t>
            </a:r>
            <a:r>
              <a:rPr lang="en-US" altLang="zh-CN" dirty="0">
                <a:solidFill>
                  <a:srgbClr val="00B050"/>
                </a:solidFill>
              </a:rPr>
              <a:t> = max(0, f</a:t>
            </a:r>
            <a:r>
              <a:rPr lang="en-US" altLang="zh-CN" baseline="-25000" dirty="0">
                <a:solidFill>
                  <a:srgbClr val="00B050"/>
                </a:solidFill>
              </a:rPr>
              <a:t>i</a:t>
            </a:r>
            <a:r>
              <a:rPr lang="en-US" altLang="zh-CN" dirty="0">
                <a:solidFill>
                  <a:srgbClr val="00B050"/>
                </a:solidFill>
              </a:rPr>
              <a:t> − d</a:t>
            </a:r>
            <a:r>
              <a:rPr lang="en-US" altLang="zh-CN" baseline="-25000" dirty="0">
                <a:solidFill>
                  <a:srgbClr val="00B050"/>
                </a:solidFill>
              </a:rPr>
              <a:t>i</a:t>
            </a:r>
            <a:r>
              <a:rPr lang="en-US" altLang="zh-CN" dirty="0">
                <a:solidFill>
                  <a:srgbClr val="00B050"/>
                </a:solidFill>
              </a:rPr>
              <a:t>)</a:t>
            </a:r>
          </a:p>
          <a:p>
            <a:r>
              <a:rPr lang="en-US" altLang="zh-CN" dirty="0"/>
              <a:t>The maximum lateness of S is defined to be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The overall objective is to compute S that minimizes L(S).</a:t>
            </a:r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2F5993-B730-AC4A-B42B-54A3C8A2A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68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3765A19-B894-9F40-8313-536140D78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051" y="5360733"/>
            <a:ext cx="5849599" cy="82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14922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DAE4A5-0490-6C48-B4FE-492F0973F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Scheduling to Minimize the</a:t>
            </a:r>
            <a:r>
              <a:rPr lang="zh-CN" altLang="en-US" dirty="0"/>
              <a:t> </a:t>
            </a:r>
            <a:r>
              <a:rPr lang="en-US" altLang="zh-CN" dirty="0"/>
              <a:t>Maximum</a:t>
            </a:r>
            <a:r>
              <a:rPr lang="zh-CN" altLang="en-US" dirty="0"/>
              <a:t> </a:t>
            </a:r>
            <a:r>
              <a:rPr lang="en-US" altLang="zh-CN" dirty="0"/>
              <a:t>Lateness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5AC2E2-4BDA-4F49-93EB-276D8F17E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69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2166A3C-1229-5040-92C5-40BB504B9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52" y="2424625"/>
            <a:ext cx="3106447" cy="341008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6861119-47ED-4B43-9A31-7FABF4904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536" y="2482288"/>
            <a:ext cx="2980972" cy="329475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3EB7D5C-3548-7346-B94B-8ED4084B5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745" y="2482289"/>
            <a:ext cx="3090255" cy="329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17109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01A01-B2EB-4441-9719-ECA9C060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Greedy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minimizes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 maximum lateness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0DAB66-B24B-444D-BDF8-71066CEB7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b="1" dirty="0"/>
              <a:t>Smallest duration first: </a:t>
            </a:r>
            <a:r>
              <a:rPr lang="en-US" altLang="zh-CN" dirty="0"/>
              <a:t>Sort tasks by increasing order of execution times 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i</a:t>
            </a:r>
            <a:r>
              <a:rPr lang="en-US" altLang="zh-CN" dirty="0"/>
              <a:t> and schedule them in this order.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运行时间和</a:t>
            </a:r>
            <a:r>
              <a:rPr lang="en-US" altLang="zh-CN" dirty="0"/>
              <a:t>deadline</a:t>
            </a:r>
            <a:r>
              <a:rPr lang="zh-CN" altLang="en-US" dirty="0"/>
              <a:t>不是耦合的，可能运行时间短的</a:t>
            </a:r>
            <a:r>
              <a:rPr lang="en-US" altLang="zh-CN" dirty="0"/>
              <a:t>deadline</a:t>
            </a:r>
            <a:r>
              <a:rPr lang="zh-CN" altLang="en-US" dirty="0"/>
              <a:t>还比较晚，运行时间长的</a:t>
            </a:r>
            <a:r>
              <a:rPr lang="en-US" altLang="zh-CN" dirty="0"/>
              <a:t>deadline</a:t>
            </a:r>
            <a:r>
              <a:rPr lang="zh-CN" altLang="en-US" dirty="0"/>
              <a:t>比较早。</a:t>
            </a:r>
            <a:endParaRPr lang="en-US" altLang="zh-CN" dirty="0"/>
          </a:p>
          <a:p>
            <a:pPr lvl="1"/>
            <a:endParaRPr lang="en-US" altLang="zh-CN" dirty="0">
              <a:solidFill>
                <a:srgbClr val="00B050"/>
              </a:solidFill>
            </a:endParaRPr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C39030-0CD2-A641-9EB4-DE65C7D5F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70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3E9365A-82AB-B844-B436-947EF2B66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995" y="3017259"/>
            <a:ext cx="3087522" cy="196807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C08F9F6-2CD7-F94C-A4BF-20A8A4BCD50F}"/>
              </a:ext>
            </a:extLst>
          </p:cNvPr>
          <p:cNvSpPr txBox="1"/>
          <p:nvPr/>
        </p:nvSpPr>
        <p:spPr>
          <a:xfrm>
            <a:off x="1596919" y="305098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反例</a:t>
            </a:r>
            <a:r>
              <a:rPr lang="zh-CN" altLang="en-US" dirty="0"/>
              <a:t>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2095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DF0C04-2AAE-1548-9049-0D9F370BC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Greedy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minimizes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 maximum lateness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424C5E-917D-5145-B409-460CFED5B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Smallest slack-time first: </a:t>
            </a:r>
            <a:r>
              <a:rPr lang="en-US" altLang="zh-CN" dirty="0"/>
              <a:t>Define the </a:t>
            </a:r>
            <a:r>
              <a:rPr lang="en-US" altLang="zh-CN" dirty="0">
                <a:solidFill>
                  <a:srgbClr val="00B050"/>
                </a:solidFill>
              </a:rPr>
              <a:t>slack time of task x</a:t>
            </a:r>
            <a:r>
              <a:rPr lang="en-US" altLang="zh-CN" baseline="-25000" dirty="0">
                <a:solidFill>
                  <a:srgbClr val="00B050"/>
                </a:solidFill>
              </a:rPr>
              <a:t>i</a:t>
            </a:r>
            <a:r>
              <a:rPr lang="en-US" altLang="zh-CN" dirty="0">
                <a:solidFill>
                  <a:srgbClr val="00B050"/>
                </a:solidFill>
              </a:rPr>
              <a:t> as d</a:t>
            </a:r>
            <a:r>
              <a:rPr lang="en-US" altLang="zh-CN" baseline="-25000" dirty="0">
                <a:solidFill>
                  <a:srgbClr val="00B050"/>
                </a:solidFill>
              </a:rPr>
              <a:t>i</a:t>
            </a:r>
            <a:r>
              <a:rPr lang="en-US" altLang="zh-CN" dirty="0">
                <a:solidFill>
                  <a:srgbClr val="00B050"/>
                </a:solidFill>
              </a:rPr>
              <a:t> − </a:t>
            </a:r>
            <a:r>
              <a:rPr lang="en-US" altLang="zh-CN" dirty="0" err="1">
                <a:solidFill>
                  <a:srgbClr val="00B050"/>
                </a:solidFill>
              </a:rPr>
              <a:t>t</a:t>
            </a:r>
            <a:r>
              <a:rPr lang="en-US" altLang="zh-CN" baseline="-25000" dirty="0" err="1">
                <a:solidFill>
                  <a:srgbClr val="00B050"/>
                </a:solidFill>
              </a:rPr>
              <a:t>i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en-US" altLang="zh-CN" dirty="0"/>
              <a:t>. This statistic indicates how long we can safely wait before starting a task. Schedule the tasks </a:t>
            </a:r>
            <a:r>
              <a:rPr lang="en-US" altLang="zh-CN" dirty="0">
                <a:solidFill>
                  <a:srgbClr val="00B050"/>
                </a:solidFill>
              </a:rPr>
              <a:t>in increasing order of slack-time.</a:t>
            </a:r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4E99E8-8884-674E-BE0E-FAF2D502B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71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1C76227-3582-C34E-97ED-F0F989D4D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839" y="3812176"/>
            <a:ext cx="3045779" cy="196977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ECF7006-500E-4741-B989-22EFC4DB03F8}"/>
              </a:ext>
            </a:extLst>
          </p:cNvPr>
          <p:cNvSpPr txBox="1"/>
          <p:nvPr/>
        </p:nvSpPr>
        <p:spPr>
          <a:xfrm>
            <a:off x="1564835" y="3631962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反例</a:t>
            </a:r>
            <a:r>
              <a:rPr lang="zh-CN" altLang="en-US" sz="2000" dirty="0"/>
              <a:t>：</a:t>
            </a:r>
            <a:endParaRPr 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4AA928-23F8-F247-9F86-BFD7BDC56DF8}"/>
              </a:ext>
            </a:extLst>
          </p:cNvPr>
          <p:cNvSpPr txBox="1"/>
          <p:nvPr/>
        </p:nvSpPr>
        <p:spPr>
          <a:xfrm>
            <a:off x="5381504" y="4032072"/>
            <a:ext cx="35049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sz="2000" dirty="0"/>
              <a:t>运行时间和</a:t>
            </a:r>
            <a:r>
              <a:rPr lang="en-US" altLang="zh-CN" sz="2000" dirty="0"/>
              <a:t>deadline</a:t>
            </a:r>
            <a:r>
              <a:rPr lang="zh-CN" altLang="en-US" sz="2000" dirty="0"/>
              <a:t>不是耦合的，</a:t>
            </a:r>
            <a:r>
              <a:rPr lang="en-US" altLang="zh-CN" sz="2000" dirty="0"/>
              <a:t>Slack</a:t>
            </a:r>
            <a:r>
              <a:rPr lang="zh-CN" altLang="en-US" sz="2000" dirty="0"/>
              <a:t> </a:t>
            </a:r>
            <a:r>
              <a:rPr lang="en-US" altLang="zh-CN" sz="2000" dirty="0"/>
              <a:t>time</a:t>
            </a:r>
            <a:r>
              <a:rPr lang="zh-CN" altLang="en-US" sz="2000" dirty="0"/>
              <a:t>大，有可能是因为运行时间长，而</a:t>
            </a:r>
            <a:r>
              <a:rPr lang="en-US" altLang="zh-CN" sz="2000" dirty="0"/>
              <a:t>deadline</a:t>
            </a:r>
            <a:r>
              <a:rPr lang="zh-CN" altLang="en-US" sz="2000" dirty="0"/>
              <a:t>很近。</a:t>
            </a:r>
            <a:endParaRPr lang="en-US" altLang="zh-CN" sz="2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AC63B2-AEE3-A04E-B91A-EEB9C9825A92}"/>
              </a:ext>
            </a:extLst>
          </p:cNvPr>
          <p:cNvSpPr/>
          <p:nvPr/>
        </p:nvSpPr>
        <p:spPr>
          <a:xfrm>
            <a:off x="5460564" y="5935562"/>
            <a:ext cx="415560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</a:t>
            </a:r>
            <a:r>
              <a:rPr lang="en-US" altLang="zh-CN" baseline="-25000" dirty="0"/>
              <a:t>1</a:t>
            </a:r>
            <a:endParaRPr lang="en-US" baseline="-25000" dirty="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6D3D4EDD-DA3D-0D42-91F0-84A5143DDAE1}"/>
              </a:ext>
            </a:extLst>
          </p:cNvPr>
          <p:cNvCxnSpPr>
            <a:cxnSpLocks/>
          </p:cNvCxnSpPr>
          <p:nvPr/>
        </p:nvCxnSpPr>
        <p:spPr>
          <a:xfrm>
            <a:off x="1193321" y="6441996"/>
            <a:ext cx="704496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E0AA38A0-CC51-E745-856F-A7C41D582A1B}"/>
              </a:ext>
            </a:extLst>
          </p:cNvPr>
          <p:cNvSpPr txBox="1"/>
          <p:nvPr/>
        </p:nvSpPr>
        <p:spPr>
          <a:xfrm>
            <a:off x="1434888" y="65171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7C99469-0B0B-644A-B346-0394ED7C44DB}"/>
              </a:ext>
            </a:extLst>
          </p:cNvPr>
          <p:cNvSpPr txBox="1"/>
          <p:nvPr/>
        </p:nvSpPr>
        <p:spPr>
          <a:xfrm>
            <a:off x="1863151" y="65195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DE6BC3C-F7F9-7542-9F14-46489B720B48}"/>
              </a:ext>
            </a:extLst>
          </p:cNvPr>
          <p:cNvSpPr txBox="1"/>
          <p:nvPr/>
        </p:nvSpPr>
        <p:spPr>
          <a:xfrm>
            <a:off x="2289779" y="65196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6FAA6EC-AC8C-6F47-8349-E626AFFAB1F1}"/>
              </a:ext>
            </a:extLst>
          </p:cNvPr>
          <p:cNvSpPr txBox="1"/>
          <p:nvPr/>
        </p:nvSpPr>
        <p:spPr>
          <a:xfrm>
            <a:off x="2718042" y="652200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ACD84DD-F5FA-8741-9688-B7462AF44D9E}"/>
              </a:ext>
            </a:extLst>
          </p:cNvPr>
          <p:cNvSpPr txBox="1"/>
          <p:nvPr/>
        </p:nvSpPr>
        <p:spPr>
          <a:xfrm>
            <a:off x="3144670" y="65223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200AAB2-7F8A-A140-9412-CFD6875E2688}"/>
              </a:ext>
            </a:extLst>
          </p:cNvPr>
          <p:cNvSpPr txBox="1"/>
          <p:nvPr/>
        </p:nvSpPr>
        <p:spPr>
          <a:xfrm>
            <a:off x="3572933" y="652476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974362D-D013-AC40-A14A-528439594843}"/>
              </a:ext>
            </a:extLst>
          </p:cNvPr>
          <p:cNvSpPr txBox="1"/>
          <p:nvPr/>
        </p:nvSpPr>
        <p:spPr>
          <a:xfrm>
            <a:off x="3999561" y="652487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A152CB3-E5A5-4344-AF22-8020DA562AC7}"/>
              </a:ext>
            </a:extLst>
          </p:cNvPr>
          <p:cNvSpPr txBox="1"/>
          <p:nvPr/>
        </p:nvSpPr>
        <p:spPr>
          <a:xfrm>
            <a:off x="4427824" y="6527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77660F5-4410-8D46-969F-3BEE5F86EDA3}"/>
              </a:ext>
            </a:extLst>
          </p:cNvPr>
          <p:cNvSpPr txBox="1"/>
          <p:nvPr/>
        </p:nvSpPr>
        <p:spPr>
          <a:xfrm>
            <a:off x="4826643" y="651899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6D283E4-4EBE-2348-9FF7-3689D250BDBC}"/>
              </a:ext>
            </a:extLst>
          </p:cNvPr>
          <p:cNvSpPr txBox="1"/>
          <p:nvPr/>
        </p:nvSpPr>
        <p:spPr>
          <a:xfrm>
            <a:off x="5254906" y="652137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FC56916-5712-3241-9322-3881252467AA}"/>
              </a:ext>
            </a:extLst>
          </p:cNvPr>
          <p:cNvSpPr txBox="1"/>
          <p:nvPr/>
        </p:nvSpPr>
        <p:spPr>
          <a:xfrm>
            <a:off x="5681534" y="652148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BE7889F-5E81-074F-BF29-27A2CC3A9E3A}"/>
              </a:ext>
            </a:extLst>
          </p:cNvPr>
          <p:cNvSpPr txBox="1"/>
          <p:nvPr/>
        </p:nvSpPr>
        <p:spPr>
          <a:xfrm>
            <a:off x="6109797" y="652385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12</a:t>
            </a:r>
            <a:endParaRPr 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956F77F-A111-2C4D-B8BC-05900BC34624}"/>
              </a:ext>
            </a:extLst>
          </p:cNvPr>
          <p:cNvSpPr txBox="1"/>
          <p:nvPr/>
        </p:nvSpPr>
        <p:spPr>
          <a:xfrm>
            <a:off x="6536425" y="652424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12</a:t>
            </a:r>
            <a:endParaRPr 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1C95CFF-DCA7-9846-885E-7E77AF873678}"/>
              </a:ext>
            </a:extLst>
          </p:cNvPr>
          <p:cNvSpPr txBox="1"/>
          <p:nvPr/>
        </p:nvSpPr>
        <p:spPr>
          <a:xfrm>
            <a:off x="6964688" y="652661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14</a:t>
            </a:r>
            <a:endParaRPr 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E4EA36B-093D-2C4F-8318-D0A656EF7EA4}"/>
              </a:ext>
            </a:extLst>
          </p:cNvPr>
          <p:cNvSpPr txBox="1"/>
          <p:nvPr/>
        </p:nvSpPr>
        <p:spPr>
          <a:xfrm>
            <a:off x="7391316" y="652672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15</a:t>
            </a:r>
            <a:endParaRPr 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8EDE90E-9284-F640-A4F2-16D30CBF20ED}"/>
              </a:ext>
            </a:extLst>
          </p:cNvPr>
          <p:cNvSpPr txBox="1"/>
          <p:nvPr/>
        </p:nvSpPr>
        <p:spPr>
          <a:xfrm>
            <a:off x="7819579" y="65291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16</a:t>
            </a:r>
            <a:endParaRPr 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345318A-5585-2341-8BD5-104AC6BD99FC}"/>
              </a:ext>
            </a:extLst>
          </p:cNvPr>
          <p:cNvSpPr txBox="1"/>
          <p:nvPr/>
        </p:nvSpPr>
        <p:spPr>
          <a:xfrm>
            <a:off x="1042478" y="65079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CAC4982-F0AF-D246-9EEE-E169559BE411}"/>
              </a:ext>
            </a:extLst>
          </p:cNvPr>
          <p:cNvSpPr/>
          <p:nvPr/>
        </p:nvSpPr>
        <p:spPr>
          <a:xfrm>
            <a:off x="1193321" y="5945716"/>
            <a:ext cx="4247154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</a:t>
            </a:r>
            <a:r>
              <a:rPr lang="en-US" altLang="zh-CN" baseline="-25000" dirty="0"/>
              <a:t>2</a:t>
            </a:r>
            <a:endParaRPr lang="en-US" baseline="-250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92DD670-A289-0741-A6E3-45E016583A3B}"/>
              </a:ext>
            </a:extLst>
          </p:cNvPr>
          <p:cNvSpPr/>
          <p:nvPr/>
        </p:nvSpPr>
        <p:spPr>
          <a:xfrm>
            <a:off x="1967696" y="5724365"/>
            <a:ext cx="3900668" cy="26902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1B708CE-CCAB-DB4A-9C00-82ADC21FCE46}"/>
              </a:ext>
            </a:extLst>
          </p:cNvPr>
          <p:cNvSpPr txBox="1"/>
          <p:nvPr/>
        </p:nvSpPr>
        <p:spPr>
          <a:xfrm>
            <a:off x="6251307" y="5624059"/>
            <a:ext cx="1335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Lateness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65789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4F994E-C91B-7346-A6CA-2A04367FE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B050"/>
                </a:solidFill>
              </a:rPr>
              <a:t>Earliest Deadline First (EDF) </a:t>
            </a:r>
            <a:r>
              <a:rPr lang="en-US" altLang="zh-CN" dirty="0"/>
              <a:t>strategy:</a:t>
            </a:r>
            <a:r>
              <a:rPr lang="zh-CN" altLang="en-US" dirty="0"/>
              <a:t> </a:t>
            </a:r>
            <a:r>
              <a:rPr lang="en-US" altLang="zh-CN" dirty="0"/>
              <a:t>schedule</a:t>
            </a:r>
            <a:r>
              <a:rPr lang="zh-CN" altLang="en-US" dirty="0"/>
              <a:t> </a:t>
            </a:r>
            <a:r>
              <a:rPr lang="en-US" altLang="zh-CN" dirty="0"/>
              <a:t>jobs </a:t>
            </a:r>
            <a:r>
              <a:rPr lang="en-US" altLang="zh-CN" dirty="0">
                <a:solidFill>
                  <a:srgbClr val="0070C0"/>
                </a:solidFill>
              </a:rPr>
              <a:t>in ascending order of deadline</a:t>
            </a:r>
            <a:r>
              <a:rPr lang="zh-CN" altLang="en-US" dirty="0">
                <a:solidFill>
                  <a:srgbClr val="0070C0"/>
                </a:solidFill>
              </a:rPr>
              <a:t> </a:t>
            </a:r>
            <a:r>
              <a:rPr lang="en-US" altLang="zh-CN" dirty="0" err="1">
                <a:solidFill>
                  <a:srgbClr val="0070C0"/>
                </a:solidFill>
              </a:rPr>
              <a:t>d</a:t>
            </a:r>
            <a:r>
              <a:rPr lang="en-US" altLang="zh-CN" baseline="-25000" dirty="0" err="1">
                <a:solidFill>
                  <a:srgbClr val="0070C0"/>
                </a:solidFill>
              </a:rPr>
              <a:t>j</a:t>
            </a:r>
            <a:r>
              <a:rPr lang="en-US" altLang="zh-CN" dirty="0">
                <a:solidFill>
                  <a:srgbClr val="0070C0"/>
                </a:solidFill>
              </a:rPr>
              <a:t> </a:t>
            </a:r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08E800-2184-1C4A-8880-D13747A36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72</a:t>
            </a:fld>
            <a:endParaRPr 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8E987CF3-786F-7841-BDE8-B328C3C23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Greedy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minimizes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 maximum lateness</a:t>
            </a:r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E507500-AAA8-914E-BA75-637EC10C1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518" y="2799702"/>
            <a:ext cx="3314230" cy="214339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BBB863A-AD03-E246-B6A3-C4AB09411B9A}"/>
              </a:ext>
            </a:extLst>
          </p:cNvPr>
          <p:cNvSpPr/>
          <p:nvPr/>
        </p:nvSpPr>
        <p:spPr>
          <a:xfrm>
            <a:off x="903955" y="5511299"/>
            <a:ext cx="415560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</a:t>
            </a:r>
            <a:r>
              <a:rPr lang="en-US" altLang="zh-CN" baseline="-25000" dirty="0"/>
              <a:t>1</a:t>
            </a:r>
            <a:endParaRPr lang="en-US" baseline="-25000" dirty="0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A8BEA878-F3A7-8F42-94B2-844A62877448}"/>
              </a:ext>
            </a:extLst>
          </p:cNvPr>
          <p:cNvCxnSpPr>
            <a:cxnSpLocks/>
          </p:cNvCxnSpPr>
          <p:nvPr/>
        </p:nvCxnSpPr>
        <p:spPr>
          <a:xfrm>
            <a:off x="903954" y="6018835"/>
            <a:ext cx="704496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F703AE1F-634A-7B45-ABD3-17A980660131}"/>
              </a:ext>
            </a:extLst>
          </p:cNvPr>
          <p:cNvSpPr txBox="1"/>
          <p:nvPr/>
        </p:nvSpPr>
        <p:spPr>
          <a:xfrm>
            <a:off x="1145521" y="60939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B5FA71F-3C32-014B-BB9F-785137CF2814}"/>
              </a:ext>
            </a:extLst>
          </p:cNvPr>
          <p:cNvSpPr txBox="1"/>
          <p:nvPr/>
        </p:nvSpPr>
        <p:spPr>
          <a:xfrm>
            <a:off x="1573784" y="60963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A70B8CB-F2EB-BD48-97A0-D5CF49C1544A}"/>
              </a:ext>
            </a:extLst>
          </p:cNvPr>
          <p:cNvSpPr txBox="1"/>
          <p:nvPr/>
        </p:nvSpPr>
        <p:spPr>
          <a:xfrm>
            <a:off x="2000412" y="609647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3AD257D-6999-4743-81E3-B6C6C12FAE49}"/>
              </a:ext>
            </a:extLst>
          </p:cNvPr>
          <p:cNvSpPr txBox="1"/>
          <p:nvPr/>
        </p:nvSpPr>
        <p:spPr>
          <a:xfrm>
            <a:off x="2428675" y="609884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A2E0650-BDCB-3946-9C2C-A4C0445BF8B3}"/>
              </a:ext>
            </a:extLst>
          </p:cNvPr>
          <p:cNvSpPr txBox="1"/>
          <p:nvPr/>
        </p:nvSpPr>
        <p:spPr>
          <a:xfrm>
            <a:off x="2855303" y="60992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B1A5AAC-8F13-9844-8FC3-9A725F3579A6}"/>
              </a:ext>
            </a:extLst>
          </p:cNvPr>
          <p:cNvSpPr txBox="1"/>
          <p:nvPr/>
        </p:nvSpPr>
        <p:spPr>
          <a:xfrm>
            <a:off x="3283566" y="610160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94F5F36-955F-4346-BB3E-ACE9E7CBC6AA}"/>
              </a:ext>
            </a:extLst>
          </p:cNvPr>
          <p:cNvSpPr txBox="1"/>
          <p:nvPr/>
        </p:nvSpPr>
        <p:spPr>
          <a:xfrm>
            <a:off x="3710194" y="61017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19C4BD0-9BD0-A14B-82E5-6AE5DCE280C9}"/>
              </a:ext>
            </a:extLst>
          </p:cNvPr>
          <p:cNvSpPr txBox="1"/>
          <p:nvPr/>
        </p:nvSpPr>
        <p:spPr>
          <a:xfrm>
            <a:off x="4138457" y="61040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7286E5D-5DE9-6249-8DC0-A1F9A4DA94BA}"/>
              </a:ext>
            </a:extLst>
          </p:cNvPr>
          <p:cNvSpPr txBox="1"/>
          <p:nvPr/>
        </p:nvSpPr>
        <p:spPr>
          <a:xfrm>
            <a:off x="4537276" y="60958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EA13644-9A13-3047-AA65-7DAC8A650000}"/>
              </a:ext>
            </a:extLst>
          </p:cNvPr>
          <p:cNvSpPr txBox="1"/>
          <p:nvPr/>
        </p:nvSpPr>
        <p:spPr>
          <a:xfrm>
            <a:off x="4965539" y="609821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</a:t>
            </a:r>
            <a:endParaRPr 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66BCE00-42AC-F444-919F-7CB61FA83AC4}"/>
              </a:ext>
            </a:extLst>
          </p:cNvPr>
          <p:cNvSpPr txBox="1"/>
          <p:nvPr/>
        </p:nvSpPr>
        <p:spPr>
          <a:xfrm>
            <a:off x="5392167" y="609832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11</a:t>
            </a:r>
            <a:endParaRPr 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A2015E-13F4-DD45-A760-1207819CC983}"/>
              </a:ext>
            </a:extLst>
          </p:cNvPr>
          <p:cNvSpPr txBox="1"/>
          <p:nvPr/>
        </p:nvSpPr>
        <p:spPr>
          <a:xfrm>
            <a:off x="5820430" y="610069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12</a:t>
            </a:r>
            <a:endParaRPr 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4A2CD0C-CA96-9848-A4FE-09B981893529}"/>
              </a:ext>
            </a:extLst>
          </p:cNvPr>
          <p:cNvSpPr txBox="1"/>
          <p:nvPr/>
        </p:nvSpPr>
        <p:spPr>
          <a:xfrm>
            <a:off x="6247058" y="610107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12</a:t>
            </a:r>
            <a:endParaRPr 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BDC6C21-B99F-1D41-B9FD-F317ED3D07FD}"/>
              </a:ext>
            </a:extLst>
          </p:cNvPr>
          <p:cNvSpPr txBox="1"/>
          <p:nvPr/>
        </p:nvSpPr>
        <p:spPr>
          <a:xfrm>
            <a:off x="6675321" y="610345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14</a:t>
            </a:r>
            <a:endParaRPr 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9710A49-F750-9647-868C-424EBC91EC9C}"/>
              </a:ext>
            </a:extLst>
          </p:cNvPr>
          <p:cNvSpPr txBox="1"/>
          <p:nvPr/>
        </p:nvSpPr>
        <p:spPr>
          <a:xfrm>
            <a:off x="7101949" y="610356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15</a:t>
            </a:r>
            <a:endParaRPr 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E776F97-9A25-4544-A303-C4F43565EA54}"/>
              </a:ext>
            </a:extLst>
          </p:cNvPr>
          <p:cNvSpPr txBox="1"/>
          <p:nvPr/>
        </p:nvSpPr>
        <p:spPr>
          <a:xfrm>
            <a:off x="7530212" y="610593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16</a:t>
            </a:r>
            <a:endParaRPr 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86FC0AC-FAEC-374A-861D-17C6F4A7F173}"/>
              </a:ext>
            </a:extLst>
          </p:cNvPr>
          <p:cNvSpPr txBox="1"/>
          <p:nvPr/>
        </p:nvSpPr>
        <p:spPr>
          <a:xfrm>
            <a:off x="753111" y="60847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E37BE9C-2C59-1741-B8C4-0EF6C929D09A}"/>
              </a:ext>
            </a:extLst>
          </p:cNvPr>
          <p:cNvSpPr/>
          <p:nvPr/>
        </p:nvSpPr>
        <p:spPr>
          <a:xfrm>
            <a:off x="1331843" y="5512574"/>
            <a:ext cx="4247154" cy="4745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</a:t>
            </a:r>
            <a:r>
              <a:rPr lang="en-US" altLang="zh-CN" baseline="-25000" dirty="0"/>
              <a:t>2</a:t>
            </a:r>
            <a:endParaRPr lang="en-US" baseline="-250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8F4447-1641-0D47-80A5-A58A67C4DB99}"/>
              </a:ext>
            </a:extLst>
          </p:cNvPr>
          <p:cNvSpPr/>
          <p:nvPr/>
        </p:nvSpPr>
        <p:spPr>
          <a:xfrm>
            <a:off x="5104435" y="5301205"/>
            <a:ext cx="474562" cy="21009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DFE3B0A-92D7-7742-AF1C-15C0DB6683A4}"/>
              </a:ext>
            </a:extLst>
          </p:cNvPr>
          <p:cNvSpPr txBox="1"/>
          <p:nvPr/>
        </p:nvSpPr>
        <p:spPr>
          <a:xfrm>
            <a:off x="5961940" y="5200898"/>
            <a:ext cx="1335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Lateness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72072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33C9C0-593B-5345-AFC5-5F016D8F7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7"/>
            <a:ext cx="8373681" cy="729578"/>
          </a:xfrm>
        </p:spPr>
        <p:txBody>
          <a:bodyPr>
            <a:normAutofit/>
          </a:bodyPr>
          <a:lstStyle/>
          <a:p>
            <a:r>
              <a:rPr lang="en-US" altLang="zh-CN" dirty="0"/>
              <a:t>Earliest Deadline First (EDF) strategy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CBF21B-974C-2542-9907-80EB1BA94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00766"/>
            <a:ext cx="8373682" cy="4876197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dirty="0"/>
              <a:t>Sorting the tasks by their deadline, and then schedule them in this order. </a:t>
            </a:r>
          </a:p>
          <a:p>
            <a:r>
              <a:rPr lang="en-US" altLang="zh-CN" dirty="0" err="1"/>
              <a:t>greedySchedule</a:t>
            </a:r>
            <a:r>
              <a:rPr lang="en-US" altLang="zh-CN" dirty="0"/>
              <a:t>(t, d) {         </a:t>
            </a:r>
          </a:p>
          <a:p>
            <a:r>
              <a:rPr lang="en-US" altLang="zh-CN" dirty="0"/>
              <a:t>        </a:t>
            </a:r>
            <a:r>
              <a:rPr lang="en-US" altLang="zh-CN" dirty="0">
                <a:solidFill>
                  <a:srgbClr val="00B050"/>
                </a:solidFill>
              </a:rPr>
              <a:t>sort tasks by increasing deadline (d[1] &lt;= ... &lt;= d[n])</a:t>
            </a:r>
          </a:p>
          <a:p>
            <a:r>
              <a:rPr lang="en-US" altLang="zh-CN" dirty="0"/>
              <a:t>        </a:t>
            </a:r>
            <a:r>
              <a:rPr lang="en-US" altLang="zh-CN" dirty="0" err="1"/>
              <a:t>f_prev</a:t>
            </a:r>
            <a:r>
              <a:rPr lang="en-US" altLang="zh-CN" dirty="0"/>
              <a:t> = 0                  // f is the finish time of previous task</a:t>
            </a:r>
          </a:p>
          <a:p>
            <a:r>
              <a:rPr lang="en-US" altLang="zh-CN" dirty="0"/>
              <a:t>        for (</a:t>
            </a:r>
            <a:r>
              <a:rPr lang="en-US" altLang="zh-CN" dirty="0" err="1"/>
              <a:t>i</a:t>
            </a:r>
            <a:r>
              <a:rPr lang="en-US" altLang="zh-CN" dirty="0"/>
              <a:t> = 1 to n) do {</a:t>
            </a:r>
          </a:p>
          <a:p>
            <a:r>
              <a:rPr lang="en-US" altLang="zh-CN" dirty="0"/>
              <a:t>            assign task </a:t>
            </a:r>
            <a:r>
              <a:rPr lang="en-US" altLang="zh-CN" dirty="0" err="1"/>
              <a:t>i</a:t>
            </a:r>
            <a:r>
              <a:rPr lang="en-US" altLang="zh-CN" dirty="0"/>
              <a:t> to start at </a:t>
            </a:r>
            <a:r>
              <a:rPr lang="en-US" altLang="zh-CN" dirty="0">
                <a:solidFill>
                  <a:srgbClr val="00B050"/>
                </a:solidFill>
              </a:rPr>
              <a:t>s[</a:t>
            </a:r>
            <a:r>
              <a:rPr lang="en-US" altLang="zh-CN" dirty="0" err="1">
                <a:solidFill>
                  <a:srgbClr val="00B050"/>
                </a:solidFill>
              </a:rPr>
              <a:t>i</a:t>
            </a:r>
            <a:r>
              <a:rPr lang="en-US" altLang="zh-CN" dirty="0">
                <a:solidFill>
                  <a:srgbClr val="00B050"/>
                </a:solidFill>
              </a:rPr>
              <a:t>] = </a:t>
            </a:r>
            <a:r>
              <a:rPr lang="en-US" altLang="zh-CN" dirty="0" err="1">
                <a:solidFill>
                  <a:srgbClr val="00B050"/>
                </a:solidFill>
              </a:rPr>
              <a:t>f_prev</a:t>
            </a:r>
            <a:r>
              <a:rPr lang="en-US" altLang="zh-CN" dirty="0">
                <a:solidFill>
                  <a:srgbClr val="00B050"/>
                </a:solidFill>
              </a:rPr>
              <a:t>  </a:t>
            </a:r>
            <a:r>
              <a:rPr lang="en-US" altLang="zh-CN" dirty="0"/>
              <a:t>// start next task</a:t>
            </a:r>
          </a:p>
          <a:p>
            <a:r>
              <a:rPr lang="en-US" altLang="zh-CN" dirty="0"/>
              <a:t>            </a:t>
            </a:r>
            <a:r>
              <a:rPr lang="en-US" altLang="zh-CN" dirty="0" err="1"/>
              <a:t>f_prev</a:t>
            </a:r>
            <a:r>
              <a:rPr lang="en-US" altLang="zh-CN" dirty="0"/>
              <a:t> = f[</a:t>
            </a:r>
            <a:r>
              <a:rPr lang="en-US" altLang="zh-CN" dirty="0" err="1"/>
              <a:t>i</a:t>
            </a:r>
            <a:r>
              <a:rPr lang="en-US" altLang="zh-CN" dirty="0"/>
              <a:t>] = s[</a:t>
            </a:r>
            <a:r>
              <a:rPr lang="en-US" altLang="zh-CN" dirty="0" err="1"/>
              <a:t>i</a:t>
            </a:r>
            <a:r>
              <a:rPr lang="en-US" altLang="zh-CN" dirty="0"/>
              <a:t>] + t[</a:t>
            </a:r>
            <a:r>
              <a:rPr lang="en-US" altLang="zh-CN" dirty="0" err="1"/>
              <a:t>i</a:t>
            </a:r>
            <a:r>
              <a:rPr lang="en-US" altLang="zh-CN" dirty="0"/>
              <a:t>]              // its finish time</a:t>
            </a:r>
          </a:p>
          <a:p>
            <a:r>
              <a:rPr lang="en-US" altLang="zh-CN" dirty="0"/>
              <a:t>            lateness[</a:t>
            </a:r>
            <a:r>
              <a:rPr lang="en-US" altLang="zh-CN" dirty="0" err="1"/>
              <a:t>i</a:t>
            </a:r>
            <a:r>
              <a:rPr lang="en-US" altLang="zh-CN" dirty="0"/>
              <a:t>] = max(0, f[</a:t>
            </a:r>
            <a:r>
              <a:rPr lang="en-US" altLang="zh-CN" dirty="0" err="1"/>
              <a:t>i</a:t>
            </a:r>
            <a:r>
              <a:rPr lang="en-US" altLang="zh-CN" dirty="0"/>
              <a:t>] - d[</a:t>
            </a:r>
            <a:r>
              <a:rPr lang="en-US" altLang="zh-CN" dirty="0" err="1"/>
              <a:t>i</a:t>
            </a:r>
            <a:r>
              <a:rPr lang="en-US" altLang="zh-CN" dirty="0"/>
              <a:t>])        // its lateness</a:t>
            </a:r>
          </a:p>
          <a:p>
            <a:r>
              <a:rPr lang="zh-CN" altLang="en-US" dirty="0"/>
              <a:t>         </a:t>
            </a:r>
            <a:r>
              <a:rPr lang="en-US" altLang="zh-CN" dirty="0"/>
              <a:t>}</a:t>
            </a:r>
          </a:p>
          <a:p>
            <a:r>
              <a:rPr lang="en-US" altLang="zh-CN" dirty="0"/>
              <a:t>        return array s             // return array of start times</a:t>
            </a:r>
          </a:p>
          <a:p>
            <a:r>
              <a:rPr lang="en-US" altLang="zh-CN" dirty="0"/>
              <a:t>}</a:t>
            </a:r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2F965D-C1A9-7C4C-BE02-84B2D394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73</a:t>
            </a:fld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73A934-78D3-154C-BE33-A3C28076449E}"/>
              </a:ext>
            </a:extLst>
          </p:cNvPr>
          <p:cNvSpPr txBox="1"/>
          <p:nvPr/>
        </p:nvSpPr>
        <p:spPr>
          <a:xfrm>
            <a:off x="628649" y="6259811"/>
            <a:ext cx="3654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Time</a:t>
            </a:r>
            <a:r>
              <a:rPr lang="zh-CN" altLang="en-US" sz="2400" dirty="0"/>
              <a:t> </a:t>
            </a:r>
            <a:r>
              <a:rPr lang="en-US" altLang="zh-CN" sz="2400" dirty="0"/>
              <a:t>complexity</a:t>
            </a:r>
            <a:r>
              <a:rPr lang="zh-CN" altLang="en-US" sz="2400" dirty="0"/>
              <a:t> </a:t>
            </a:r>
            <a:r>
              <a:rPr lang="en-US" altLang="zh-CN" sz="2400" dirty="0"/>
              <a:t>is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00B050"/>
                </a:solidFill>
              </a:rPr>
              <a:t>O(</a:t>
            </a:r>
            <a:r>
              <a:rPr lang="en-US" altLang="zh-CN" sz="2400" dirty="0" err="1">
                <a:solidFill>
                  <a:srgbClr val="00B050"/>
                </a:solidFill>
              </a:rPr>
              <a:t>nlogn</a:t>
            </a:r>
            <a:r>
              <a:rPr lang="en-US" altLang="zh-CN" sz="2400" dirty="0">
                <a:solidFill>
                  <a:srgbClr val="00B050"/>
                </a:solidFill>
              </a:rPr>
              <a:t>)</a:t>
            </a:r>
            <a:endParaRPr 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31243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3CC4E2-1E87-1C45-973B-B75A9DEF1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71246"/>
          </a:xfrm>
        </p:spPr>
        <p:txBody>
          <a:bodyPr/>
          <a:lstStyle/>
          <a:p>
            <a:r>
              <a:rPr lang="en-US" altLang="zh-CN" dirty="0"/>
              <a:t>Correctness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optimal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84F496-93B5-0943-8508-CD08C30ED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8039"/>
            <a:ext cx="7886700" cy="4798924"/>
          </a:xfrm>
        </p:spPr>
        <p:txBody>
          <a:bodyPr/>
          <a:lstStyle/>
          <a:p>
            <a:r>
              <a:rPr lang="en-US" altLang="zh-CN" dirty="0"/>
              <a:t>Let G be the schedule produced by the greedy algorithm, and let O be any optimal idle-free schedule.</a:t>
            </a:r>
          </a:p>
          <a:p>
            <a:r>
              <a:rPr lang="en-US" altLang="zh-CN" dirty="0"/>
              <a:t>If G = O, then greedy is optimal, and we are done.</a:t>
            </a:r>
          </a:p>
          <a:p>
            <a:r>
              <a:rPr lang="en-US" altLang="zh-CN" dirty="0"/>
              <a:t>Otherwise, </a:t>
            </a:r>
            <a:r>
              <a:rPr lang="en-US" altLang="zh-CN" dirty="0">
                <a:solidFill>
                  <a:srgbClr val="00B050"/>
                </a:solidFill>
              </a:rPr>
              <a:t>O must contain at least one inversion</a:t>
            </a:r>
            <a:r>
              <a:rPr lang="en-US" altLang="zh-CN" dirty="0"/>
              <a:t>, that is, at least one pair of tasks that have not been scheduled in increasing order of deadline.</a:t>
            </a:r>
          </a:p>
          <a:p>
            <a:r>
              <a:rPr lang="en-US" altLang="zh-CN" dirty="0"/>
              <a:t>Let us consider the first instance of such an inversion. That is, </a:t>
            </a:r>
            <a:r>
              <a:rPr lang="en-US" altLang="zh-CN" dirty="0">
                <a:solidFill>
                  <a:srgbClr val="00B050"/>
                </a:solidFill>
              </a:rPr>
              <a:t>let x</a:t>
            </a:r>
            <a:r>
              <a:rPr lang="en-US" altLang="zh-CN" baseline="-25000" dirty="0">
                <a:solidFill>
                  <a:srgbClr val="00B050"/>
                </a:solidFill>
              </a:rPr>
              <a:t>i</a:t>
            </a:r>
            <a:r>
              <a:rPr lang="en-US" altLang="zh-CN" dirty="0">
                <a:solidFill>
                  <a:srgbClr val="00B050"/>
                </a:solidFill>
              </a:rPr>
              <a:t> and </a:t>
            </a:r>
            <a:r>
              <a:rPr lang="en-US" altLang="zh-CN" dirty="0" err="1">
                <a:solidFill>
                  <a:srgbClr val="00B050"/>
                </a:solidFill>
              </a:rPr>
              <a:t>x</a:t>
            </a:r>
            <a:r>
              <a:rPr lang="en-US" altLang="zh-CN" baseline="-25000" dirty="0" err="1">
                <a:solidFill>
                  <a:srgbClr val="00B050"/>
                </a:solidFill>
              </a:rPr>
              <a:t>j</a:t>
            </a:r>
            <a:r>
              <a:rPr lang="en-US" altLang="zh-CN" dirty="0">
                <a:solidFill>
                  <a:srgbClr val="00B050"/>
                </a:solidFill>
              </a:rPr>
              <a:t> be the first two consecutive tasks in the schedule O such that </a:t>
            </a:r>
            <a:r>
              <a:rPr lang="en-US" altLang="zh-CN" dirty="0" err="1">
                <a:solidFill>
                  <a:srgbClr val="00B050"/>
                </a:solidFill>
              </a:rPr>
              <a:t>d</a:t>
            </a:r>
            <a:r>
              <a:rPr lang="en-US" altLang="zh-CN" baseline="-25000" dirty="0" err="1">
                <a:solidFill>
                  <a:srgbClr val="00B050"/>
                </a:solidFill>
              </a:rPr>
              <a:t>j</a:t>
            </a:r>
            <a:r>
              <a:rPr lang="en-US" altLang="zh-CN" dirty="0">
                <a:solidFill>
                  <a:srgbClr val="00B050"/>
                </a:solidFill>
              </a:rPr>
              <a:t> &lt; d</a:t>
            </a:r>
            <a:r>
              <a:rPr lang="en-US" altLang="zh-CN" baseline="-25000" dirty="0">
                <a:solidFill>
                  <a:srgbClr val="00B050"/>
                </a:solidFill>
              </a:rPr>
              <a:t>i</a:t>
            </a:r>
            <a:r>
              <a:rPr lang="en-US" altLang="zh-CN" dirty="0"/>
              <a:t>.</a:t>
            </a:r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ABC4FF-C45C-6D4B-BBD7-8FB8E6D10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75771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A05C9-6ED5-C34A-A575-486A7E01C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851" y="287854"/>
            <a:ext cx="7886700" cy="755336"/>
          </a:xfrm>
        </p:spPr>
        <p:txBody>
          <a:bodyPr/>
          <a:lstStyle/>
          <a:p>
            <a:r>
              <a:rPr lang="en-US" altLang="zh-CN" dirty="0"/>
              <a:t>Proof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Optimality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98DE5A-0928-0840-B414-E9312B991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971" y="1253331"/>
            <a:ext cx="8421295" cy="4351338"/>
          </a:xfrm>
        </p:spPr>
        <p:txBody>
          <a:bodyPr/>
          <a:lstStyle/>
          <a:p>
            <a:r>
              <a:rPr lang="en-US" altLang="zh-CN" dirty="0"/>
              <a:t>The schedules O and G are identical up to these two tasks</a:t>
            </a:r>
          </a:p>
          <a:p>
            <a:r>
              <a:rPr lang="en-US" altLang="zh-CN" dirty="0" err="1"/>
              <a:t>d</a:t>
            </a:r>
            <a:r>
              <a:rPr lang="en-US" altLang="zh-CN" baseline="-25000" dirty="0" err="1"/>
              <a:t>j</a:t>
            </a:r>
            <a:r>
              <a:rPr lang="en-US" altLang="zh-CN" dirty="0"/>
              <a:t> &lt; d</a:t>
            </a:r>
            <a:r>
              <a:rPr lang="en-US" altLang="zh-CN" baseline="-25000" dirty="0"/>
              <a:t>i</a:t>
            </a:r>
            <a:r>
              <a:rPr lang="en-US" altLang="zh-CN" dirty="0"/>
              <a:t> (and therefore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j</a:t>
            </a:r>
            <a:r>
              <a:rPr lang="en-US" altLang="zh-CN" dirty="0"/>
              <a:t> is scheduled before x</a:t>
            </a:r>
            <a:r>
              <a:rPr lang="en-US" altLang="zh-CN" baseline="-25000" dirty="0"/>
              <a:t>i</a:t>
            </a:r>
            <a:r>
              <a:rPr lang="en-US" altLang="zh-CN" dirty="0"/>
              <a:t> in schedule G)</a:t>
            </a:r>
          </a:p>
          <a:p>
            <a:r>
              <a:rPr lang="en-US" altLang="zh-CN" dirty="0"/>
              <a:t>x</a:t>
            </a:r>
            <a:r>
              <a:rPr lang="en-US" altLang="zh-CN" baseline="-25000" dirty="0"/>
              <a:t>i</a:t>
            </a:r>
            <a:r>
              <a:rPr lang="en-US" altLang="zh-CN" dirty="0"/>
              <a:t> is scheduled before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j</a:t>
            </a:r>
            <a:r>
              <a:rPr lang="en-US" altLang="zh-CN" dirty="0"/>
              <a:t> in schedule O</a:t>
            </a:r>
          </a:p>
          <a:p>
            <a:r>
              <a:rPr lang="en-US" altLang="zh-CN" dirty="0"/>
              <a:t>Swapping x</a:t>
            </a:r>
            <a:r>
              <a:rPr lang="en-US" altLang="zh-CN" baseline="-25000" dirty="0"/>
              <a:t>i</a:t>
            </a:r>
            <a:r>
              <a:rPr lang="en-US" altLang="zh-CN" dirty="0"/>
              <a:t> and 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j</a:t>
            </a:r>
            <a:r>
              <a:rPr lang="en-US" altLang="zh-CN" dirty="0"/>
              <a:t> in O, the maximum lateness cannot increase.</a:t>
            </a:r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0F8D6-0A47-F34B-BEC3-123EB848E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75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2D40041-527B-2D4D-9966-80398B436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887" y="4532381"/>
            <a:ext cx="3796732" cy="224806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6E64275-11C4-A04A-BDC2-36B77C349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520" y="4604559"/>
            <a:ext cx="3576860" cy="211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80788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DD6264-CBA3-9D40-831D-FCACA85C1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97004"/>
          </a:xfrm>
        </p:spPr>
        <p:txBody>
          <a:bodyPr/>
          <a:lstStyle/>
          <a:p>
            <a:r>
              <a:rPr lang="en-US" altLang="zh-CN" dirty="0"/>
              <a:t>Proof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Optimality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BC415F8-3F6B-7544-8210-201D91150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03797"/>
                <a:ext cx="7886700" cy="4773166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p>
                    </m:sSubSup>
                    <m:r>
                      <a:rPr lang="en-US" altLang="zh-CN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: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 lateness of task 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 in schedule O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sup>
                    </m:sSubSup>
                    <m:r>
                      <a:rPr lang="en-US" altLang="zh-CN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: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 lateness of task j in O. 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bSup>
                    <m:r>
                      <a:rPr lang="en-US" altLang="zh-CN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: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 lateness of task </a:t>
                </a:r>
                <a:r>
                  <a:rPr lang="en-US" altLang="zh-CN" dirty="0" err="1"/>
                  <a:t>i</a:t>
                </a:r>
                <a:r>
                  <a:rPr lang="en-US" altLang="zh-CN" dirty="0"/>
                  <a:t> in schedule G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p>
                    </m:sSubSup>
                    <m:r>
                      <a:rPr lang="en-US" altLang="zh-CN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: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 lateness of task j in G. </a:t>
                </a:r>
              </a:p>
              <a:p>
                <a:r>
                  <a:rPr lang="en-US" altLang="zh-CN" dirty="0"/>
                  <a:t>Because the two schedules are identical up to these two tasks,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the first of the two tasks starts at the same time in both schedules.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Let t denote this time</a:t>
                </a:r>
              </a:p>
              <a:p>
                <a:r>
                  <a:rPr lang="en-US" altLang="zh-CN" dirty="0"/>
                  <a:t>In schedule O,</a:t>
                </a:r>
                <a:r>
                  <a:rPr lang="zh-CN" altLang="en-US" dirty="0"/>
                  <a:t> 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task j finishes </a:t>
                </a:r>
                <a:r>
                  <a:rPr lang="en-US" altLang="zh-CN" dirty="0"/>
                  <a:t>at time 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t + (</a:t>
                </a:r>
                <a:r>
                  <a:rPr lang="en-US" altLang="zh-CN" dirty="0" err="1">
                    <a:solidFill>
                      <a:srgbClr val="00B050"/>
                    </a:solidFill>
                  </a:rPr>
                  <a:t>t</a:t>
                </a:r>
                <a:r>
                  <a:rPr lang="en-US" altLang="zh-CN" baseline="-25000" dirty="0" err="1">
                    <a:solidFill>
                      <a:srgbClr val="00B050"/>
                    </a:solidFill>
                  </a:rPr>
                  <a:t>i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 + </a:t>
                </a:r>
                <a:r>
                  <a:rPr lang="en-US" altLang="zh-CN" dirty="0" err="1">
                    <a:solidFill>
                      <a:srgbClr val="00B050"/>
                    </a:solidFill>
                  </a:rPr>
                  <a:t>t</a:t>
                </a:r>
                <a:r>
                  <a:rPr lang="en-US" altLang="zh-CN" baseline="-25000" dirty="0" err="1">
                    <a:solidFill>
                      <a:srgbClr val="00B050"/>
                    </a:solidFill>
                  </a:rPr>
                  <a:t>j</a:t>
                </a:r>
                <a:r>
                  <a:rPr lang="en-US" altLang="zh-CN" dirty="0">
                    <a:solidFill>
                      <a:srgbClr val="00B050"/>
                    </a:solidFill>
                  </a:rPr>
                  <a:t> ).</a:t>
                </a:r>
              </a:p>
              <a:p>
                <a:endParaRPr lang="en-US" altLang="zh-CN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BC415F8-3F6B-7544-8210-201D91150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03797"/>
                <a:ext cx="7886700" cy="4773166"/>
              </a:xfrm>
              <a:blipFill>
                <a:blip r:embed="rId2"/>
                <a:stretch>
                  <a:fillRect l="-1447" t="-1326" r="-25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30CB1B-A445-824E-A2F7-0B89C1133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76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BB49A4F-F7D9-BB42-83C1-0C211DB5C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781" y="5639884"/>
            <a:ext cx="5212112" cy="62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40490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98715C-5CB9-8741-89B5-70F8F97F8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98790"/>
          </a:xfrm>
        </p:spPr>
        <p:txBody>
          <a:bodyPr/>
          <a:lstStyle/>
          <a:p>
            <a:r>
              <a:rPr lang="en-US" altLang="zh-CN" dirty="0"/>
              <a:t>Proof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Optimality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B6C71D-8B03-C540-8C26-DD1AE0991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Applying a similar analysis to G,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00AB70-06C4-2B42-A6CE-2CC4358C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09CFC-1E7E-D345-9273-4ED8A141D8BE}" type="slidenum">
              <a:rPr lang="en-US" smtClean="0"/>
              <a:t>77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BAA793-D012-654C-8AB2-98CE31AF4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375" y="2375281"/>
            <a:ext cx="4359575" cy="56864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865F82F-77D3-CF41-A7F6-BED1EF33F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375" y="3078858"/>
            <a:ext cx="3800909" cy="56864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653F22F-F1BE-1240-8AE5-68338F0A3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106" y="1243304"/>
            <a:ext cx="5212112" cy="62677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55AF114-9931-3344-9BA3-AA40E61AA6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615" y="3898413"/>
            <a:ext cx="7771413" cy="56864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4BB58B3-8193-7749-B356-E4F4B34A74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888" y="4765054"/>
            <a:ext cx="7721533" cy="56864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9828C41-C939-AA4A-8727-368AB0C36E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2382" y="3196086"/>
            <a:ext cx="859649" cy="3845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pic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1260DD83-AAEC-9241-98F3-1D75E201B6F5}"/>
              </a:ext>
            </a:extLst>
          </p:cNvPr>
          <p:cNvCxnSpPr/>
          <p:nvPr/>
        </p:nvCxnSpPr>
        <p:spPr>
          <a:xfrm flipH="1">
            <a:off x="6606862" y="3647498"/>
            <a:ext cx="170630" cy="353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F02274FA-09B1-C04B-AC1F-AAC300BA9C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9947" y="6098947"/>
            <a:ext cx="3192208" cy="49965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64BA74E-317A-294E-82F3-CA6E97B52440}"/>
              </a:ext>
            </a:extLst>
          </p:cNvPr>
          <p:cNvSpPr txBox="1"/>
          <p:nvPr/>
        </p:nvSpPr>
        <p:spPr>
          <a:xfrm>
            <a:off x="913888" y="5535620"/>
            <a:ext cx="2666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Therefore</a:t>
            </a:r>
            <a:r>
              <a:rPr lang="zh-CN" altLang="en-US" sz="2400" dirty="0"/>
              <a:t> </a:t>
            </a:r>
            <a:r>
              <a:rPr lang="en-US" altLang="zh-CN" sz="2400" dirty="0"/>
              <a:t>we</a:t>
            </a:r>
            <a:r>
              <a:rPr lang="zh-CN" altLang="en-US" sz="2400" dirty="0"/>
              <a:t> </a:t>
            </a:r>
            <a:r>
              <a:rPr lang="en-US" altLang="zh-CN" sz="2400" dirty="0"/>
              <a:t>have:</a:t>
            </a:r>
            <a:r>
              <a:rPr lang="zh-CN" altLang="en-US" sz="2400" dirty="0"/>
              <a:t> </a:t>
            </a:r>
            <a:endParaRPr lang="en-US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119F02B-6B01-FD40-B200-634294B77808}"/>
              </a:ext>
            </a:extLst>
          </p:cNvPr>
          <p:cNvSpPr txBox="1"/>
          <p:nvPr/>
        </p:nvSpPr>
        <p:spPr>
          <a:xfrm>
            <a:off x="4598218" y="5823020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B050"/>
                </a:solidFill>
                <a:effectLst/>
                <a:latin typeface="Helvetica" pitchFamily="2" charset="0"/>
              </a:rPr>
              <a:t>The greedy scheduling algorithm minimizes the</a:t>
            </a:r>
            <a:r>
              <a:rPr lang="zh-CN" altLang="en-US" sz="2000" dirty="0">
                <a:solidFill>
                  <a:srgbClr val="00B050"/>
                </a:solidFill>
                <a:effectLst/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rgbClr val="00B050"/>
                </a:solidFill>
                <a:effectLst/>
                <a:latin typeface="Helvetica" pitchFamily="2" charset="0"/>
              </a:rPr>
              <a:t>maximum lateness.</a:t>
            </a:r>
          </a:p>
        </p:txBody>
      </p:sp>
    </p:spTree>
    <p:extLst>
      <p:ext uri="{BB962C8B-B14F-4D97-AF65-F5344CB8AC3E}">
        <p14:creationId xmlns:p14="http://schemas.microsoft.com/office/powerpoint/2010/main" val="27286925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618BC3E-C159-7C4A-A4AD-5D258853E934}"/>
              </a:ext>
            </a:extLst>
          </p:cNvPr>
          <p:cNvSpPr/>
          <p:nvPr/>
        </p:nvSpPr>
        <p:spPr>
          <a:xfrm>
            <a:off x="0" y="0"/>
            <a:ext cx="3891776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C4D8C2F-B057-BC46-B29B-8549C3CA4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55" y="620392"/>
            <a:ext cx="2856201" cy="5504688"/>
          </a:xfrm>
        </p:spPr>
        <p:txBody>
          <a:bodyPr>
            <a:normAutofit/>
          </a:bodyPr>
          <a:lstStyle/>
          <a:p>
            <a:r>
              <a:rPr lang="en-US" sz="5200" dirty="0" err="1">
                <a:solidFill>
                  <a:schemeClr val="bg1"/>
                </a:solidFill>
              </a:rPr>
              <a:t>主要内容</a:t>
            </a:r>
            <a:endParaRPr lang="en-US" sz="5200" dirty="0">
              <a:solidFill>
                <a:schemeClr val="bg1"/>
              </a:solidFill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605011D5-D7DF-D395-3AA9-3C30225BA1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8059895"/>
              </p:ext>
            </p:extLst>
          </p:nvPr>
        </p:nvGraphicFramePr>
        <p:xfrm>
          <a:off x="4101291" y="620391"/>
          <a:ext cx="4697730" cy="5599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DCA578-4958-C042-93CC-08AEB411D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Algorithm design and analysis, Yongcai Wang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899857-20C5-3A4B-8E13-770B50CF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8D7B5-3E88-6742-8EE5-BD15024C659B}" type="slidenum">
              <a:rPr lang="en-US" smtClean="0"/>
              <a:t>78</a:t>
            </a:fld>
            <a:endParaRPr lang="en-US"/>
          </a:p>
        </p:txBody>
      </p:sp>
      <p:pic>
        <p:nvPicPr>
          <p:cNvPr id="7" name="图形 6" descr="3D 眼镜 纯色填充">
            <a:extLst>
              <a:ext uri="{FF2B5EF4-FFF2-40B4-BE49-F238E27FC236}">
                <a16:creationId xmlns:a16="http://schemas.microsoft.com/office/drawing/2014/main" id="{5F35CDB7-B71B-6147-B88D-E69B590230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93245" y="49164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48740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example</a:t>
            </a:r>
            <a:br>
              <a:rPr lang="en-US" dirty="0"/>
            </a:br>
            <a:r>
              <a:rPr lang="en-US" sz="3600" dirty="0">
                <a:solidFill>
                  <a:schemeClr val="accent4"/>
                </a:solidFill>
              </a:rPr>
              <a:t>Huffman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Menlo" charset="0"/>
                <a:ea typeface="Menlo" charset="0"/>
                <a:cs typeface="Menlo" charset="0"/>
              </a:rPr>
              <a:t>everyday 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english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sentence</a:t>
            </a:r>
          </a:p>
          <a:p>
            <a:r>
              <a:rPr lang="cs-CZ" sz="1800" dirty="0"/>
              <a:t>01100101 01110110 01100101 01110010 01111001 01100100 01100001 01111001 00100000 01100101 01101110 01100111 01101100 01101001 01110011 01101000 00100000 01110011 01100101 01101110 01110100 01100101 01101110 01100011 01100101</a:t>
            </a:r>
          </a:p>
          <a:p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dirty="0" err="1">
                <a:latin typeface="Menlo" charset="0"/>
                <a:ea typeface="Menlo" charset="0"/>
                <a:cs typeface="Menlo" charset="0"/>
              </a:rPr>
              <a:t>qwertyui_opasdfg+hjklzxcv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  <a:p>
            <a:r>
              <a:rPr lang="cs-CZ" sz="1800" dirty="0">
                <a:ea typeface="Menlo" charset="0"/>
                <a:cs typeface="Menlo" charset="0"/>
              </a:rPr>
              <a:t>01110001 01110111 01100101 01110010 01110100 01111001 01110101 01101001 01011111 01101111 01110000 01100001 01110011 01100100 01100110 01100111 00101011 01101000 01101010 01101011 01101100 01111010 01111000 01100011 01110110</a:t>
            </a:r>
            <a:endParaRPr lang="en-US" sz="1800" dirty="0">
              <a:ea typeface="Menlo" charset="0"/>
              <a:cs typeface="Menlo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71B80-CE8B-604F-89A2-90B658414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63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example</a:t>
            </a:r>
            <a:br>
              <a:rPr lang="en-US" dirty="0"/>
            </a:br>
            <a:r>
              <a:rPr lang="en-US" sz="3600" dirty="0">
                <a:solidFill>
                  <a:schemeClr val="accent4"/>
                </a:solidFill>
              </a:rPr>
              <a:t>Huffman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6"/>
                </a:solidFill>
                <a:latin typeface="Menlo" charset="0"/>
                <a:ea typeface="Menlo" charset="0"/>
                <a:cs typeface="Menlo" charset="0"/>
              </a:rPr>
              <a:t>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v</a:t>
            </a:r>
            <a:r>
              <a:rPr lang="en-US" b="1" dirty="0">
                <a:solidFill>
                  <a:schemeClr val="accent6"/>
                </a:solidFill>
                <a:latin typeface="Menlo" charset="0"/>
                <a:ea typeface="Menlo" charset="0"/>
                <a:cs typeface="Menlo" charset="0"/>
              </a:rPr>
              <a:t>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ryday </a:t>
            </a:r>
            <a:r>
              <a:rPr lang="en-US" b="1" dirty="0" err="1">
                <a:solidFill>
                  <a:schemeClr val="accent6"/>
                </a:solidFill>
                <a:latin typeface="Menlo" charset="0"/>
                <a:ea typeface="Menlo" charset="0"/>
                <a:cs typeface="Menlo" charset="0"/>
              </a:rPr>
              <a:t>e</a:t>
            </a:r>
            <a:r>
              <a:rPr lang="en-US" dirty="0" err="1">
                <a:latin typeface="Menlo" charset="0"/>
                <a:ea typeface="Menlo" charset="0"/>
                <a:cs typeface="Menlo" charset="0"/>
              </a:rPr>
              <a:t>nglish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 s</a:t>
            </a:r>
            <a:r>
              <a:rPr lang="en-US" b="1" dirty="0">
                <a:solidFill>
                  <a:schemeClr val="accent6"/>
                </a:solidFill>
                <a:latin typeface="Menlo" charset="0"/>
                <a:ea typeface="Menlo" charset="0"/>
                <a:cs typeface="Menlo" charset="0"/>
              </a:rPr>
              <a:t>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nt</a:t>
            </a:r>
            <a:r>
              <a:rPr lang="en-US" b="1" dirty="0">
                <a:solidFill>
                  <a:schemeClr val="accent6"/>
                </a:solidFill>
                <a:latin typeface="Menlo" charset="0"/>
                <a:ea typeface="Menlo" charset="0"/>
                <a:cs typeface="Menlo" charset="0"/>
              </a:rPr>
              <a:t>e</a:t>
            </a:r>
            <a:r>
              <a:rPr lang="en-US" dirty="0">
                <a:latin typeface="Menlo" charset="0"/>
                <a:ea typeface="Menlo" charset="0"/>
                <a:cs typeface="Menlo" charset="0"/>
              </a:rPr>
              <a:t>nc</a:t>
            </a:r>
            <a:r>
              <a:rPr lang="en-US" b="1" dirty="0">
                <a:solidFill>
                  <a:schemeClr val="accent6"/>
                </a:solidFill>
                <a:latin typeface="Menlo" charset="0"/>
                <a:ea typeface="Menlo" charset="0"/>
                <a:cs typeface="Menlo" charset="0"/>
              </a:rPr>
              <a:t>e</a:t>
            </a:r>
          </a:p>
          <a:p>
            <a:r>
              <a:rPr lang="cs-CZ" sz="1800" b="1" dirty="0">
                <a:solidFill>
                  <a:schemeClr val="accent6"/>
                </a:solidFill>
              </a:rPr>
              <a:t>01100101</a:t>
            </a:r>
            <a:r>
              <a:rPr lang="cs-CZ" sz="1800" dirty="0"/>
              <a:t> 01110110 </a:t>
            </a:r>
            <a:r>
              <a:rPr lang="cs-CZ" sz="1800" b="1" dirty="0">
                <a:solidFill>
                  <a:schemeClr val="accent6"/>
                </a:solidFill>
              </a:rPr>
              <a:t>01100101</a:t>
            </a:r>
            <a:r>
              <a:rPr lang="cs-CZ" sz="1800" dirty="0"/>
              <a:t> 01110010 01111001 01100100 01100001 01111001 00100000 </a:t>
            </a:r>
            <a:r>
              <a:rPr lang="cs-CZ" sz="1800" b="1" dirty="0">
                <a:solidFill>
                  <a:schemeClr val="accent6"/>
                </a:solidFill>
              </a:rPr>
              <a:t>01100101</a:t>
            </a:r>
            <a:r>
              <a:rPr lang="cs-CZ" sz="1800" dirty="0"/>
              <a:t> 01101110 01100111 01101100 01101001 01110011 01101000 00100000 01110011 </a:t>
            </a:r>
            <a:r>
              <a:rPr lang="cs-CZ" sz="1800" b="1" dirty="0">
                <a:solidFill>
                  <a:schemeClr val="accent6"/>
                </a:solidFill>
              </a:rPr>
              <a:t>01100101</a:t>
            </a:r>
            <a:r>
              <a:rPr lang="cs-CZ" sz="1800" dirty="0"/>
              <a:t> 01101110 01110100 </a:t>
            </a:r>
            <a:r>
              <a:rPr lang="cs-CZ" sz="1800" b="1" dirty="0">
                <a:solidFill>
                  <a:schemeClr val="accent6"/>
                </a:solidFill>
              </a:rPr>
              <a:t>01100101</a:t>
            </a:r>
            <a:r>
              <a:rPr lang="cs-CZ" sz="1800" dirty="0"/>
              <a:t> 01101110 01100011 </a:t>
            </a:r>
            <a:r>
              <a:rPr lang="cs-CZ" sz="1800" b="1" dirty="0">
                <a:solidFill>
                  <a:schemeClr val="accent6"/>
                </a:solidFill>
              </a:rPr>
              <a:t>01100101</a:t>
            </a:r>
          </a:p>
          <a:p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en-US" dirty="0" err="1">
                <a:latin typeface="Menlo" charset="0"/>
                <a:ea typeface="Menlo" charset="0"/>
                <a:cs typeface="Menlo" charset="0"/>
              </a:rPr>
              <a:t>qwertyui_opasdfg+hjklzxcv</a:t>
            </a:r>
            <a:endParaRPr lang="en-US" dirty="0">
              <a:latin typeface="Menlo" charset="0"/>
              <a:ea typeface="Menlo" charset="0"/>
              <a:cs typeface="Menlo" charset="0"/>
            </a:endParaRPr>
          </a:p>
          <a:p>
            <a:r>
              <a:rPr lang="cs-CZ" sz="1800" dirty="0">
                <a:ea typeface="Menlo" charset="0"/>
                <a:cs typeface="Menlo" charset="0"/>
              </a:rPr>
              <a:t>01110001 01110111 01100101 01110010 01110100 01111001 01110101 01101001 01011111 01101111 01110000 01100001 01110011 01100100 01100110 01100111 00101011 01101000 01101010 01101011 01101100 01111010 01111000 01100011 01110110</a:t>
            </a:r>
            <a:endParaRPr lang="en-US" sz="1800" dirty="0">
              <a:ea typeface="Menlo" charset="0"/>
              <a:cs typeface="Menlo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32585" y="365126"/>
            <a:ext cx="3130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ASCII is pretty wasteful for English sentences.  If </a:t>
            </a:r>
            <a:r>
              <a:rPr lang="en-US" b="1" dirty="0">
                <a:solidFill>
                  <a:schemeClr val="accent1"/>
                </a:solidFill>
              </a:rPr>
              <a:t>e</a:t>
            </a:r>
            <a:r>
              <a:rPr lang="en-US" dirty="0">
                <a:solidFill>
                  <a:schemeClr val="accent1"/>
                </a:solidFill>
              </a:rPr>
              <a:t> shows up so often, we should have a shorter way of representing it!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098FFF-ED37-9E44-B244-A748860B0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192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 we have some distribution on characters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2000" y="1805354"/>
            <a:ext cx="7620000" cy="469509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25C41A-35FF-B741-9EDC-7326779DC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7214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Suppose we have some distribution on characters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305660" y="2250830"/>
            <a:ext cx="0" cy="35872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1305661" y="5838091"/>
            <a:ext cx="6630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488833" y="2825262"/>
            <a:ext cx="808892" cy="3001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1847" y="4709379"/>
            <a:ext cx="808892" cy="11169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5198" y="4958862"/>
            <a:ext cx="808892" cy="8792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48549" y="4149969"/>
            <a:ext cx="808892" cy="16881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91900" y="5158154"/>
            <a:ext cx="808892" cy="679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11819" y="5451230"/>
            <a:ext cx="808892" cy="386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 rot="16200000">
            <a:off x="308439" y="2640597"/>
            <a:ext cx="1625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Percentage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3086" y="5855621"/>
            <a:ext cx="996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Letter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4993" y="2450069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61138" y="4399001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13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716212" y="4620330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7841" y="3771873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16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779469" y="4766799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1425" y="5129502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3124" y="614960"/>
            <a:ext cx="1887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accent4"/>
                </a:solidFill>
              </a:rPr>
              <a:t>For simplicity, let’s go with this made-up example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7828" y="2213847"/>
            <a:ext cx="38568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18E4A"/>
                </a:solidFill>
              </a:rPr>
              <a:t>How to encode them as efficiently as possible?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B22016-7021-2F4B-83D7-0C54ABC64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39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0</a:t>
            </a:r>
            <a:br>
              <a:rPr lang="en-US" sz="2800" dirty="0"/>
            </a:br>
            <a:r>
              <a:rPr lang="en-US" sz="2800" dirty="0"/>
              <a:t>(like ASCII)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305660" y="2250830"/>
            <a:ext cx="0" cy="35872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1305661" y="5838091"/>
            <a:ext cx="6630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488833" y="2825262"/>
            <a:ext cx="808892" cy="3001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1847" y="4709379"/>
            <a:ext cx="808892" cy="11169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5198" y="4958862"/>
            <a:ext cx="808892" cy="8792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48549" y="4149969"/>
            <a:ext cx="808892" cy="16881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91900" y="5158154"/>
            <a:ext cx="808892" cy="679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11819" y="5451230"/>
            <a:ext cx="808892" cy="386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 rot="16200000">
            <a:off x="308439" y="2640597"/>
            <a:ext cx="1625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Percentage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3086" y="5855621"/>
            <a:ext cx="996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Letter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4993" y="2450069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61138" y="4399001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13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716212" y="4620330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7841" y="3771873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16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779469" y="4766799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1425" y="5129502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87774" y="5967932"/>
            <a:ext cx="611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2657" y="5961709"/>
            <a:ext cx="621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urier" charset="0"/>
                <a:ea typeface="Courier" charset="0"/>
                <a:cs typeface="Courier" charset="0"/>
              </a:rPr>
              <a:t>011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61138" y="5980959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6904" y="5957512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7759" y="5922341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urier" charset="0"/>
                <a:ea typeface="Courier" charset="0"/>
                <a:cs typeface="Courier" charset="0"/>
              </a:rPr>
              <a:t>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6004" y="5922341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urier" charset="0"/>
                <a:ea typeface="Courier" charset="0"/>
                <a:cs typeface="Courier" charset="0"/>
              </a:rPr>
              <a:t>101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11717" y="682098"/>
            <a:ext cx="5304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Every letter is assigned a </a:t>
            </a:r>
            <a:r>
              <a:rPr lang="en-US" sz="2400" b="1" dirty="0">
                <a:solidFill>
                  <a:schemeClr val="accent4"/>
                </a:solidFill>
              </a:rPr>
              <a:t>binary string </a:t>
            </a:r>
            <a:r>
              <a:rPr lang="en-US" sz="2400" dirty="0">
                <a:solidFill>
                  <a:schemeClr val="accent4"/>
                </a:solidFill>
              </a:rPr>
              <a:t>of three bits.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2260" y="1751856"/>
            <a:ext cx="54570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Wasteful!  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400" dirty="0">
                <a:solidFill>
                  <a:srgbClr val="F18E4A"/>
                </a:solidFill>
              </a:rPr>
              <a:t>110 and 111 are never used.  </a:t>
            </a:r>
          </a:p>
          <a:p>
            <a:pPr marL="457200" indent="-457200">
              <a:buFont typeface="Arial" charset="0"/>
              <a:buChar char="•"/>
            </a:pPr>
            <a:r>
              <a:rPr lang="en-US" sz="2400" dirty="0">
                <a:solidFill>
                  <a:srgbClr val="F18E4A"/>
                </a:solidFill>
              </a:rPr>
              <a:t>We should have a shorter way of representing A.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302F6-1333-E942-AC72-7133AA036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550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2"/>
      <p:bldP spid="26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1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305660" y="2250830"/>
            <a:ext cx="0" cy="35872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1305661" y="5838091"/>
            <a:ext cx="6630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488833" y="2825262"/>
            <a:ext cx="808892" cy="3001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1847" y="4709379"/>
            <a:ext cx="808892" cy="11169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5198" y="4958862"/>
            <a:ext cx="808892" cy="8792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48549" y="4149969"/>
            <a:ext cx="808892" cy="16881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91900" y="5158154"/>
            <a:ext cx="808892" cy="679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11819" y="5451230"/>
            <a:ext cx="808892" cy="386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 rot="16200000">
            <a:off x="308439" y="2640597"/>
            <a:ext cx="1625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Percentage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3086" y="5855621"/>
            <a:ext cx="996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Letter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4993" y="2450069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61138" y="4399001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13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716212" y="4620330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7841" y="3771873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16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779469" y="4766799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1425" y="5129502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86716" y="600440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urier" charset="0"/>
                <a:ea typeface="Courier" charset="0"/>
                <a:cs typeface="Courier" charset="0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179" y="594579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urier" charset="0"/>
                <a:ea typeface="Courier" charset="0"/>
                <a:cs typeface="Courier" charset="0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61138" y="5980959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urier" charset="0"/>
                <a:ea typeface="Courier" charset="0"/>
                <a:cs typeface="Courier" charset="0"/>
              </a:rPr>
              <a:t>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6904" y="5957512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urier" charset="0"/>
                <a:ea typeface="Courier" charset="0"/>
                <a:cs typeface="Courier" charset="0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7759" y="5922344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urier" charset="0"/>
                <a:ea typeface="Courier" charset="0"/>
                <a:cs typeface="Courier" charset="0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05225" y="5922341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02216" y="847185"/>
            <a:ext cx="53047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Every letter is assigned a </a:t>
            </a:r>
            <a:r>
              <a:rPr lang="en-US" sz="2400" b="1" dirty="0">
                <a:solidFill>
                  <a:schemeClr val="accent4"/>
                </a:solidFill>
              </a:rPr>
              <a:t>binary string </a:t>
            </a:r>
            <a:r>
              <a:rPr lang="en-US" sz="2400" dirty="0">
                <a:solidFill>
                  <a:schemeClr val="accent4"/>
                </a:solidFill>
              </a:rPr>
              <a:t>of one or two bits.  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The more frequent letters get the shorter strings.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b="1" dirty="0"/>
              <a:t>Problem: 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400" dirty="0">
                <a:solidFill>
                  <a:srgbClr val="F18E4A"/>
                </a:solidFill>
              </a:rPr>
              <a:t>Does 000 mean AAA or BA or AB?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DFE0D-D2EC-EE48-B1ED-02081F99A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28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bldLvl="2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2: </a:t>
            </a:r>
            <a:r>
              <a:rPr lang="en-US" b="1" dirty="0"/>
              <a:t>prefix-free coding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305660" y="2250830"/>
            <a:ext cx="0" cy="35872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1305661" y="5838091"/>
            <a:ext cx="6630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488833" y="2825262"/>
            <a:ext cx="808892" cy="3001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1847" y="4709379"/>
            <a:ext cx="808892" cy="11169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5198" y="4958862"/>
            <a:ext cx="808892" cy="8792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48549" y="4149969"/>
            <a:ext cx="808892" cy="16881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91900" y="5158154"/>
            <a:ext cx="808892" cy="679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11819" y="5451230"/>
            <a:ext cx="808892" cy="386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 rot="16200000">
            <a:off x="308439" y="2640597"/>
            <a:ext cx="1625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Percentage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3086" y="5855621"/>
            <a:ext cx="996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Letter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4993" y="2450069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61138" y="4399001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13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716212" y="4620330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7841" y="3771873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16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779469" y="4766799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1425" y="5129502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86716" y="600440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179" y="594579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61138" y="5980959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101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6904" y="5957512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110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7759" y="5922344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111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05225" y="5922341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83168" y="1514739"/>
            <a:ext cx="59451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Every letter is assigned a </a:t>
            </a:r>
            <a:r>
              <a:rPr lang="en-US" sz="2400" b="1" dirty="0">
                <a:solidFill>
                  <a:schemeClr val="accent4"/>
                </a:solidFill>
              </a:rPr>
              <a:t>binary string.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More frequent letters get shorter strings.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No encoded string is a </a:t>
            </a:r>
            <a:r>
              <a:rPr lang="en-US" sz="2400" b="1" dirty="0">
                <a:solidFill>
                  <a:schemeClr val="accent4"/>
                </a:solidFill>
              </a:rPr>
              <a:t>prefix </a:t>
            </a:r>
            <a:r>
              <a:rPr lang="en-US" sz="2400" dirty="0">
                <a:solidFill>
                  <a:schemeClr val="accent4"/>
                </a:solidFill>
              </a:rPr>
              <a:t>of any 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8656" y="2790846"/>
            <a:ext cx="5005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" charset="0"/>
                <a:ea typeface="Courier" charset="0"/>
                <a:cs typeface="Courier" charset="0"/>
              </a:rPr>
              <a:t>10010101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2594" y="-1615"/>
            <a:ext cx="5341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CF6E6C"/>
                </a:solidFill>
              </a:rPr>
              <a:t>Confusingly, “prefix-free codes” are also sometimes called “prefix codes” (e.g. in CLRS).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B3DAF6D-6C3B-8C47-BF19-26A2B4C57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47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8" grpId="0"/>
      <p:bldP spid="29" grpId="0"/>
      <p:bldP spid="30" grpId="0"/>
      <p:bldP spid="31" grpId="0"/>
      <p:bldP spid="32" grpId="0"/>
      <p:bldP spid="4" grpId="0" uiExpand="1" build="p" bldLvl="2"/>
      <p:bldP spid="7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2: prefix-free coding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305660" y="2250830"/>
            <a:ext cx="0" cy="35872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1305661" y="5838091"/>
            <a:ext cx="6630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488833" y="2825262"/>
            <a:ext cx="808892" cy="3001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1847" y="4709379"/>
            <a:ext cx="808892" cy="11169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5198" y="4958862"/>
            <a:ext cx="808892" cy="8792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48549" y="4149969"/>
            <a:ext cx="808892" cy="16881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91900" y="5158154"/>
            <a:ext cx="808892" cy="679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11819" y="5451230"/>
            <a:ext cx="808892" cy="386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 rot="16200000">
            <a:off x="308439" y="2640597"/>
            <a:ext cx="1625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Percentage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3086" y="5855621"/>
            <a:ext cx="996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Letter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4993" y="2450069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61138" y="4399001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13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716212" y="4620330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7841" y="3771873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16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779469" y="4766799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1425" y="5129502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86716" y="600440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179" y="594579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61138" y="5980959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101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6904" y="5957512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110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7759" y="5922344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111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05225" y="5922341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latin typeface="Courier" charset="0"/>
                <a:ea typeface="Courier" charset="0"/>
                <a:cs typeface="Courier" charset="0"/>
              </a:rPr>
              <a:t>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83168" y="1514739"/>
            <a:ext cx="59451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Every letter is assigned a </a:t>
            </a:r>
            <a:r>
              <a:rPr lang="en-US" sz="2400" b="1" dirty="0">
                <a:solidFill>
                  <a:schemeClr val="accent4"/>
                </a:solidFill>
              </a:rPr>
              <a:t>binary string.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More frequent letters get shorter strings.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No encoded string is a </a:t>
            </a:r>
            <a:r>
              <a:rPr lang="en-US" sz="2400" b="1" dirty="0">
                <a:solidFill>
                  <a:schemeClr val="accent4"/>
                </a:solidFill>
              </a:rPr>
              <a:t>prefix </a:t>
            </a:r>
            <a:r>
              <a:rPr lang="en-US" sz="2400" dirty="0">
                <a:solidFill>
                  <a:schemeClr val="accent4"/>
                </a:solidFill>
              </a:rPr>
              <a:t>of any 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8656" y="2790846"/>
            <a:ext cx="5005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Courier" charset="0"/>
                <a:ea typeface="Courier" charset="0"/>
                <a:cs typeface="Courier" charset="0"/>
              </a:rPr>
              <a:t>100</a:t>
            </a:r>
            <a:r>
              <a:rPr lang="en-US" sz="2800" dirty="0">
                <a:latin typeface="Courier" charset="0"/>
                <a:ea typeface="Courier" charset="0"/>
                <a:cs typeface="Courier" charset="0"/>
              </a:rPr>
              <a:t>10101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1538" y="2784232"/>
            <a:ext cx="2227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E67500"/>
                </a:solidFill>
                <a:latin typeface="Courier" charset="0"/>
                <a:ea typeface="Courier" charset="0"/>
                <a:cs typeface="Courier" charset="0"/>
              </a:rPr>
              <a:t>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02594" y="-1615"/>
            <a:ext cx="5341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CF6E6C"/>
                </a:solidFill>
              </a:rPr>
              <a:t>Confusingly, “prefix-free codes” are also sometimes called “prefix codes” (including in CLRS).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7916B9C-98B5-B340-A40E-ABB7E5EA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5949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2: prefix-free coding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305660" y="2250830"/>
            <a:ext cx="0" cy="35872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1305661" y="5838091"/>
            <a:ext cx="6630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488833" y="2825262"/>
            <a:ext cx="808892" cy="3001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1847" y="4709379"/>
            <a:ext cx="808892" cy="11169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5198" y="4958862"/>
            <a:ext cx="808892" cy="8792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48549" y="4149969"/>
            <a:ext cx="808892" cy="16881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91900" y="5158154"/>
            <a:ext cx="808892" cy="679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11819" y="5451230"/>
            <a:ext cx="808892" cy="386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 rot="16200000">
            <a:off x="308439" y="2640597"/>
            <a:ext cx="1625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Percentage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3086" y="5855621"/>
            <a:ext cx="996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Letter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4993" y="2450069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61138" y="4399001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13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716212" y="4620330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7841" y="3771873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16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779469" y="4766799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1425" y="5129502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86716" y="600440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179" y="594579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61138" y="5980959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" charset="0"/>
                <a:ea typeface="Courier" charset="0"/>
                <a:cs typeface="Courier" charset="0"/>
              </a:rPr>
              <a:t>101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6904" y="5957512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110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7759" y="5922344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111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05225" y="5922341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latin typeface="Courier" charset="0"/>
                <a:ea typeface="Courier" charset="0"/>
                <a:cs typeface="Courier" charset="0"/>
              </a:rPr>
              <a:t>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83168" y="1514739"/>
            <a:ext cx="59451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Every letter is assigned a </a:t>
            </a:r>
            <a:r>
              <a:rPr lang="en-US" sz="2400" b="1" dirty="0">
                <a:solidFill>
                  <a:schemeClr val="accent4"/>
                </a:solidFill>
              </a:rPr>
              <a:t>binary string.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More frequent letters get shorter strings.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No encoded string is a </a:t>
            </a:r>
            <a:r>
              <a:rPr lang="en-US" sz="2400" b="1" dirty="0">
                <a:solidFill>
                  <a:schemeClr val="accent4"/>
                </a:solidFill>
              </a:rPr>
              <a:t>prefix </a:t>
            </a:r>
            <a:r>
              <a:rPr lang="en-US" sz="2400" dirty="0">
                <a:solidFill>
                  <a:schemeClr val="accent4"/>
                </a:solidFill>
              </a:rPr>
              <a:t>of any 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8656" y="2790846"/>
            <a:ext cx="5005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Courier" charset="0"/>
                <a:ea typeface="Courier" charset="0"/>
                <a:cs typeface="Courier" charset="0"/>
              </a:rPr>
              <a:t>100</a:t>
            </a:r>
            <a:r>
              <a:rPr lang="en-US" sz="2800" b="1" dirty="0">
                <a:solidFill>
                  <a:schemeClr val="accent1"/>
                </a:solidFill>
                <a:latin typeface="Courier" charset="0"/>
                <a:ea typeface="Courier" charset="0"/>
                <a:cs typeface="Courier" charset="0"/>
              </a:rPr>
              <a:t>101</a:t>
            </a:r>
            <a:r>
              <a:rPr lang="en-US" sz="2800" dirty="0">
                <a:latin typeface="Courier" charset="0"/>
                <a:ea typeface="Courier" charset="0"/>
                <a:cs typeface="Courier" charset="0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1538" y="2784232"/>
            <a:ext cx="2227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E67500"/>
                </a:solidFill>
                <a:latin typeface="Courier" charset="0"/>
                <a:ea typeface="Courier" charset="0"/>
                <a:cs typeface="Courier" charset="0"/>
              </a:rPr>
              <a:t>F</a:t>
            </a:r>
            <a:r>
              <a:rPr lang="en-US" sz="2800" dirty="0">
                <a:solidFill>
                  <a:schemeClr val="accent1"/>
                </a:solidFill>
                <a:latin typeface="Courier" charset="0"/>
                <a:ea typeface="Courier" charset="0"/>
                <a:cs typeface="Courier" charset="0"/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02594" y="-1615"/>
            <a:ext cx="5341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CF6E6C"/>
                </a:solidFill>
              </a:rPr>
              <a:t>Confusingly, “prefix-free codes” are also sometimes called “prefix codes” (including in CLRS).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7673DB9-E501-C645-AEA9-2B6ED8A9A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9710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 2: prefix-free coding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1305660" y="2250830"/>
            <a:ext cx="0" cy="35872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1305661" y="5838091"/>
            <a:ext cx="6630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488833" y="2825262"/>
            <a:ext cx="808892" cy="3001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1847" y="4709379"/>
            <a:ext cx="808892" cy="11169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5198" y="4958862"/>
            <a:ext cx="808892" cy="8792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48549" y="4149969"/>
            <a:ext cx="808892" cy="16881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91900" y="5158154"/>
            <a:ext cx="808892" cy="679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11819" y="5451230"/>
            <a:ext cx="808892" cy="386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dirty="0"/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 rot="16200000">
            <a:off x="308439" y="2640597"/>
            <a:ext cx="1625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Percentage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3086" y="5855621"/>
            <a:ext cx="996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Letter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4993" y="2450069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61138" y="4399001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13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716212" y="4620330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7841" y="3771873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16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779469" y="4766799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1425" y="5129502"/>
            <a:ext cx="691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86716" y="600440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179" y="594579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61138" y="5980959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" charset="0"/>
                <a:ea typeface="Courier" charset="0"/>
                <a:cs typeface="Courier" charset="0"/>
              </a:rPr>
              <a:t>101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6904" y="5957512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110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7759" y="5922344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111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05225" y="5922341"/>
            <a:ext cx="8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latin typeface="Courier" charset="0"/>
                <a:ea typeface="Courier" charset="0"/>
                <a:cs typeface="Courier" charset="0"/>
              </a:rPr>
              <a:t>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83168" y="1514739"/>
            <a:ext cx="59451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Every letter is assigned a </a:t>
            </a:r>
            <a:r>
              <a:rPr lang="en-US" sz="2400" b="1" dirty="0">
                <a:solidFill>
                  <a:schemeClr val="accent4"/>
                </a:solidFill>
              </a:rPr>
              <a:t>binary string.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More frequent letters get shorter strings.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400" dirty="0">
                <a:solidFill>
                  <a:schemeClr val="accent4"/>
                </a:solidFill>
              </a:rPr>
              <a:t>No encoded string is a </a:t>
            </a:r>
            <a:r>
              <a:rPr lang="en-US" sz="2400" b="1" dirty="0">
                <a:solidFill>
                  <a:schemeClr val="accent4"/>
                </a:solidFill>
              </a:rPr>
              <a:t>prefix </a:t>
            </a:r>
            <a:r>
              <a:rPr lang="en-US" sz="2400" dirty="0">
                <a:solidFill>
                  <a:schemeClr val="accent4"/>
                </a:solidFill>
              </a:rPr>
              <a:t>of any 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8656" y="2790846"/>
            <a:ext cx="5005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Courier" charset="0"/>
                <a:ea typeface="Courier" charset="0"/>
                <a:cs typeface="Courier" charset="0"/>
              </a:rPr>
              <a:t>100</a:t>
            </a:r>
            <a:r>
              <a:rPr lang="en-US" sz="2800" b="1" dirty="0">
                <a:solidFill>
                  <a:schemeClr val="accent1"/>
                </a:solidFill>
                <a:latin typeface="Courier" charset="0"/>
                <a:ea typeface="Courier" charset="0"/>
                <a:cs typeface="Courier" charset="0"/>
              </a:rPr>
              <a:t>101</a:t>
            </a:r>
            <a:r>
              <a:rPr lang="en-US" sz="2800" b="1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1538" y="2784232"/>
            <a:ext cx="2227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E67500"/>
                </a:solidFill>
                <a:latin typeface="Courier" charset="0"/>
                <a:ea typeface="Courier" charset="0"/>
                <a:cs typeface="Courier" charset="0"/>
              </a:rPr>
              <a:t>F</a:t>
            </a:r>
            <a:r>
              <a:rPr lang="en-US" sz="2800" dirty="0">
                <a:solidFill>
                  <a:schemeClr val="accent1"/>
                </a:solidFill>
                <a:latin typeface="Courier" charset="0"/>
                <a:ea typeface="Courier" charset="0"/>
                <a:cs typeface="Courier" charset="0"/>
              </a:rPr>
              <a:t>B</a:t>
            </a:r>
            <a:r>
              <a:rPr lang="en-US" sz="2800" dirty="0">
                <a:solidFill>
                  <a:srgbClr val="7030A0"/>
                </a:solidFill>
                <a:latin typeface="Courier" charset="0"/>
                <a:ea typeface="Courier" charset="0"/>
                <a:cs typeface="Courier" charset="0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98117" y="3447281"/>
            <a:ext cx="3589586" cy="1200329"/>
          </a:xfrm>
          <a:prstGeom prst="rect">
            <a:avLst/>
          </a:prstGeom>
          <a:noFill/>
          <a:ln>
            <a:solidFill>
              <a:srgbClr val="CF6E6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F6E6C"/>
                </a:solidFill>
              </a:rPr>
              <a:t>Question</a:t>
            </a:r>
            <a:r>
              <a:rPr lang="en-US" dirty="0"/>
              <a:t>: What is the most </a:t>
            </a:r>
            <a:r>
              <a:rPr lang="en-US" b="1" dirty="0"/>
              <a:t>efficient way </a:t>
            </a:r>
            <a:r>
              <a:rPr lang="en-US" dirty="0"/>
              <a:t>to do prefix-free coding? </a:t>
            </a:r>
          </a:p>
          <a:p>
            <a:pPr algn="ctr"/>
            <a:r>
              <a:rPr lang="en-US" dirty="0"/>
              <a:t>That is, how can we use as few bits as possible in expectation?</a:t>
            </a:r>
            <a:endParaRPr lang="en-US" dirty="0">
              <a:solidFill>
                <a:srgbClr val="E675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802594" y="-1615"/>
            <a:ext cx="5341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CF6E6C"/>
                </a:solidFill>
              </a:rPr>
              <a:t>Confusingly, “prefix-free codes” are also sometimes called “prefix codes” (including in CLRS).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4AFDFBA-419B-AB4E-8F99-1BE6A9ECF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88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3D34D8-1D7F-6F43-A7A6-5B74EFC29254}"/>
              </a:ext>
            </a:extLst>
          </p:cNvPr>
          <p:cNvSpPr txBox="1"/>
          <p:nvPr/>
        </p:nvSpPr>
        <p:spPr>
          <a:xfrm>
            <a:off x="6790035" y="4675402"/>
            <a:ext cx="2353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(This is not it).</a:t>
            </a:r>
          </a:p>
        </p:txBody>
      </p:sp>
    </p:spTree>
    <p:extLst>
      <p:ext uri="{BB962C8B-B14F-4D97-AF65-F5344CB8AC3E}">
        <p14:creationId xmlns:p14="http://schemas.microsoft.com/office/powerpoint/2010/main" val="345429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prefix-free code is a tree</a:t>
            </a:r>
          </a:p>
        </p:txBody>
      </p:sp>
      <p:sp>
        <p:nvSpPr>
          <p:cNvPr id="4" name="Oval 3"/>
          <p:cNvSpPr/>
          <p:nvPr/>
        </p:nvSpPr>
        <p:spPr>
          <a:xfrm>
            <a:off x="4091354" y="1759746"/>
            <a:ext cx="515815" cy="51581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825259" y="2872155"/>
            <a:ext cx="515815" cy="51581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369168" y="2860432"/>
            <a:ext cx="515815" cy="51581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5111260" y="4030175"/>
            <a:ext cx="515815" cy="51581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7274167" y="4030175"/>
            <a:ext cx="515815" cy="51581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2702164" y="4053621"/>
            <a:ext cx="762003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16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5071" y="405362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A: 45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7075" y="5216770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B:13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4092" y="5216770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F:5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0058" y="5216770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C:12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1241" y="5216770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E:9</a:t>
            </a:r>
          </a:p>
        </p:txBody>
      </p:sp>
      <p:cxnSp>
        <p:nvCxnSpPr>
          <p:cNvPr id="21" name="Straight Connector 20"/>
          <p:cNvCxnSpPr>
            <a:stCxn id="4" idx="4"/>
            <a:endCxn id="7" idx="0"/>
          </p:cNvCxnSpPr>
          <p:nvPr/>
        </p:nvCxnSpPr>
        <p:spPr>
          <a:xfrm>
            <a:off x="4349262" y="2275560"/>
            <a:ext cx="1277814" cy="584872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4" idx="4"/>
            <a:endCxn id="6" idx="0"/>
          </p:cNvCxnSpPr>
          <p:nvPr/>
        </p:nvCxnSpPr>
        <p:spPr>
          <a:xfrm flipH="1">
            <a:off x="3083167" y="2275560"/>
            <a:ext cx="1266095" cy="596595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6" idx="4"/>
            <a:endCxn id="15" idx="0"/>
          </p:cNvCxnSpPr>
          <p:nvPr/>
        </p:nvCxnSpPr>
        <p:spPr>
          <a:xfrm flipH="1">
            <a:off x="1389180" y="3387969"/>
            <a:ext cx="1693987" cy="665652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6" idx="4"/>
            <a:endCxn id="14" idx="0"/>
          </p:cNvCxnSpPr>
          <p:nvPr/>
        </p:nvCxnSpPr>
        <p:spPr>
          <a:xfrm flipH="1">
            <a:off x="3083166" y="3387969"/>
            <a:ext cx="1" cy="665652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7" idx="4"/>
            <a:endCxn id="10" idx="0"/>
          </p:cNvCxnSpPr>
          <p:nvPr/>
        </p:nvCxnSpPr>
        <p:spPr>
          <a:xfrm flipH="1">
            <a:off x="5369168" y="3376246"/>
            <a:ext cx="257908" cy="653929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7" idx="4"/>
            <a:endCxn id="11" idx="0"/>
          </p:cNvCxnSpPr>
          <p:nvPr/>
        </p:nvCxnSpPr>
        <p:spPr>
          <a:xfrm>
            <a:off x="5627076" y="3376246"/>
            <a:ext cx="1904999" cy="653929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1" idx="4"/>
            <a:endCxn id="19" idx="0"/>
          </p:cNvCxnSpPr>
          <p:nvPr/>
        </p:nvCxnSpPr>
        <p:spPr>
          <a:xfrm>
            <a:off x="7532075" y="4545989"/>
            <a:ext cx="983275" cy="67078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11" idx="4"/>
            <a:endCxn id="18" idx="0"/>
          </p:cNvCxnSpPr>
          <p:nvPr/>
        </p:nvCxnSpPr>
        <p:spPr>
          <a:xfrm flipH="1">
            <a:off x="7274167" y="4545989"/>
            <a:ext cx="257908" cy="67078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10" idx="4"/>
            <a:endCxn id="16" idx="0"/>
          </p:cNvCxnSpPr>
          <p:nvPr/>
        </p:nvCxnSpPr>
        <p:spPr>
          <a:xfrm>
            <a:off x="5369168" y="4545989"/>
            <a:ext cx="592016" cy="67078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0" idx="4"/>
            <a:endCxn id="17" idx="0"/>
          </p:cNvCxnSpPr>
          <p:nvPr/>
        </p:nvCxnSpPr>
        <p:spPr>
          <a:xfrm flipH="1">
            <a:off x="4648201" y="4545989"/>
            <a:ext cx="720967" cy="67078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415810" y="2206503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12675" y="3387969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30311" y="3494730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55529" y="4604483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71942" y="4681324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81595" y="4604483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37077" y="3328683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955934" y="2154179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725254" y="4668440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083165" y="3537807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12216" y="4681324"/>
            <a:ext cx="1031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12065" y="4668440"/>
            <a:ext cx="1031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65383" y="5760095"/>
            <a:ext cx="1031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urier" charset="0"/>
                <a:ea typeface="Courier" charset="0"/>
                <a:cs typeface="Courier" charset="0"/>
              </a:rPr>
              <a:t>100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666645" y="5801180"/>
            <a:ext cx="1031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101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57641" y="5762624"/>
            <a:ext cx="1031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urier" charset="0"/>
                <a:ea typeface="Courier" charset="0"/>
                <a:cs typeface="Courier" charset="0"/>
              </a:rPr>
              <a:t>110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258903" y="5763478"/>
            <a:ext cx="1031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111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3754" y="5524181"/>
            <a:ext cx="26494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As long as all the letters show up as leaves, this code is</a:t>
            </a:r>
            <a:r>
              <a:rPr lang="en-US" b="1" dirty="0">
                <a:solidFill>
                  <a:schemeClr val="accent4"/>
                </a:solidFill>
              </a:rPr>
              <a:t> prefix-free</a:t>
            </a:r>
            <a:r>
              <a:rPr lang="en-US" dirty="0">
                <a:solidFill>
                  <a:schemeClr val="accent4"/>
                </a:solidFill>
              </a:rPr>
              <a:t>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75899" y="1521460"/>
            <a:ext cx="29951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B:13 below means that ‘B’ makes up 13% of the characters that ever appear.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93C6B2-A1E9-0240-A311-58F34F5A8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2550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12" y="121173"/>
            <a:ext cx="7886700" cy="473441"/>
          </a:xfrm>
        </p:spPr>
        <p:txBody>
          <a:bodyPr>
            <a:normAutofit fontScale="90000"/>
          </a:bodyPr>
          <a:lstStyle/>
          <a:p>
            <a:r>
              <a:rPr lang="en-US" dirty="0"/>
              <a:t>How good is a tree?</a:t>
            </a:r>
          </a:p>
        </p:txBody>
      </p:sp>
      <p:sp>
        <p:nvSpPr>
          <p:cNvPr id="4" name="Oval 3"/>
          <p:cNvSpPr/>
          <p:nvPr/>
        </p:nvSpPr>
        <p:spPr>
          <a:xfrm>
            <a:off x="4091354" y="1759746"/>
            <a:ext cx="515815" cy="51581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825259" y="2872155"/>
            <a:ext cx="515815" cy="51581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5369168" y="2860432"/>
            <a:ext cx="515815" cy="51581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5111260" y="4030175"/>
            <a:ext cx="515815" cy="51581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7274167" y="4030175"/>
            <a:ext cx="515815" cy="51581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2702164" y="4053621"/>
            <a:ext cx="762003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16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5071" y="405362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A: 45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7075" y="5216770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B:13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4092" y="5216770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F:5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0058" y="5216770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C:12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1241" y="5216770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E:9</a:t>
            </a:r>
          </a:p>
        </p:txBody>
      </p:sp>
      <p:cxnSp>
        <p:nvCxnSpPr>
          <p:cNvPr id="21" name="Straight Connector 20"/>
          <p:cNvCxnSpPr>
            <a:stCxn id="4" idx="4"/>
            <a:endCxn id="7" idx="0"/>
          </p:cNvCxnSpPr>
          <p:nvPr/>
        </p:nvCxnSpPr>
        <p:spPr>
          <a:xfrm>
            <a:off x="4349262" y="2275560"/>
            <a:ext cx="1277814" cy="584872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4" idx="4"/>
            <a:endCxn id="6" idx="0"/>
          </p:cNvCxnSpPr>
          <p:nvPr/>
        </p:nvCxnSpPr>
        <p:spPr>
          <a:xfrm flipH="1">
            <a:off x="3083167" y="2275560"/>
            <a:ext cx="1266095" cy="596595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6" idx="4"/>
            <a:endCxn id="15" idx="0"/>
          </p:cNvCxnSpPr>
          <p:nvPr/>
        </p:nvCxnSpPr>
        <p:spPr>
          <a:xfrm flipH="1">
            <a:off x="1389180" y="3387969"/>
            <a:ext cx="1693987" cy="665652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6" idx="4"/>
            <a:endCxn id="14" idx="0"/>
          </p:cNvCxnSpPr>
          <p:nvPr/>
        </p:nvCxnSpPr>
        <p:spPr>
          <a:xfrm flipH="1">
            <a:off x="3083166" y="3387969"/>
            <a:ext cx="1" cy="665652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7" idx="4"/>
            <a:endCxn id="10" idx="0"/>
          </p:cNvCxnSpPr>
          <p:nvPr/>
        </p:nvCxnSpPr>
        <p:spPr>
          <a:xfrm flipH="1">
            <a:off x="5369168" y="3376246"/>
            <a:ext cx="257908" cy="653929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7" idx="4"/>
            <a:endCxn id="11" idx="0"/>
          </p:cNvCxnSpPr>
          <p:nvPr/>
        </p:nvCxnSpPr>
        <p:spPr>
          <a:xfrm>
            <a:off x="5627076" y="3376246"/>
            <a:ext cx="1904999" cy="653929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1" idx="4"/>
            <a:endCxn id="19" idx="0"/>
          </p:cNvCxnSpPr>
          <p:nvPr/>
        </p:nvCxnSpPr>
        <p:spPr>
          <a:xfrm>
            <a:off x="7532075" y="4545989"/>
            <a:ext cx="983275" cy="67078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11" idx="4"/>
            <a:endCxn id="18" idx="0"/>
          </p:cNvCxnSpPr>
          <p:nvPr/>
        </p:nvCxnSpPr>
        <p:spPr>
          <a:xfrm flipH="1">
            <a:off x="7274167" y="4545989"/>
            <a:ext cx="257908" cy="67078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10" idx="4"/>
            <a:endCxn id="16" idx="0"/>
          </p:cNvCxnSpPr>
          <p:nvPr/>
        </p:nvCxnSpPr>
        <p:spPr>
          <a:xfrm>
            <a:off x="5369168" y="4545989"/>
            <a:ext cx="592016" cy="67078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0" idx="4"/>
            <a:endCxn id="17" idx="0"/>
          </p:cNvCxnSpPr>
          <p:nvPr/>
        </p:nvCxnSpPr>
        <p:spPr>
          <a:xfrm flipH="1">
            <a:off x="4648201" y="4545989"/>
            <a:ext cx="720967" cy="67078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415810" y="2206503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12675" y="3387969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30311" y="3494730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55529" y="4604483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71942" y="4681324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81595" y="4604483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37077" y="3328683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955934" y="2154179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725254" y="4668440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083165" y="3537807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12216" y="4681324"/>
            <a:ext cx="1031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12065" y="4668440"/>
            <a:ext cx="1031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65383" y="5760095"/>
            <a:ext cx="1031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urier" charset="0"/>
                <a:ea typeface="Courier" charset="0"/>
                <a:cs typeface="Courier" charset="0"/>
              </a:rPr>
              <a:t>100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666645" y="5801180"/>
            <a:ext cx="1031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101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57641" y="5762624"/>
            <a:ext cx="1031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urier" charset="0"/>
                <a:ea typeface="Courier" charset="0"/>
                <a:cs typeface="Courier" charset="0"/>
              </a:rPr>
              <a:t>110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258903" y="5763478"/>
            <a:ext cx="1031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111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8933" y="660119"/>
            <a:ext cx="83834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000" dirty="0"/>
              <a:t>Imagine choosing a letter at random from the language.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000" dirty="0">
                <a:solidFill>
                  <a:schemeClr val="accent4"/>
                </a:solidFill>
              </a:rPr>
              <a:t>Not uniformly random, but according to our histogram!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000" dirty="0"/>
              <a:t>The </a:t>
            </a:r>
            <a:r>
              <a:rPr lang="en-US" sz="2000" b="1" dirty="0">
                <a:solidFill>
                  <a:srgbClr val="00B050"/>
                </a:solidFill>
              </a:rPr>
              <a:t>cost of a tree </a:t>
            </a:r>
            <a:r>
              <a:rPr lang="en-US" sz="2000" dirty="0"/>
              <a:t>is the expected length of the encoding of a random letter.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44712" y="6129427"/>
                <a:ext cx="71701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Expected cost of encoding a letter with this tree: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𝟐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𝟎</m:t>
                          </m:r>
                          <m: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.</m:t>
                          </m:r>
                          <m: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𝟒𝟓</m:t>
                          </m:r>
                          <m: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𝟎</m:t>
                          </m:r>
                          <m: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.</m:t>
                          </m:r>
                          <m: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𝟏𝟔</m:t>
                          </m:r>
                        </m:e>
                      </m:d>
                      <m:r>
                        <a:rPr lang="en-US" b="1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b="1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𝟑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𝟎</m:t>
                          </m:r>
                          <m: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.</m:t>
                          </m:r>
                          <m: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𝟎𝟓</m:t>
                          </m:r>
                          <m: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𝟎</m:t>
                          </m:r>
                          <m: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.</m:t>
                          </m:r>
                          <m: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𝟏𝟑</m:t>
                          </m:r>
                          <m: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𝟎</m:t>
                          </m:r>
                          <m: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.</m:t>
                          </m:r>
                          <m: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𝟏𝟐</m:t>
                          </m:r>
                          <m: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𝟎</m:t>
                          </m:r>
                          <m: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.</m:t>
                          </m:r>
                          <m:r>
                            <a:rPr lang="en-US" b="1" i="1" smtClean="0">
                              <a:solidFill>
                                <a:schemeClr val="accent4"/>
                              </a:solidFill>
                              <a:latin typeface="Cambria Math" charset="0"/>
                            </a:rPr>
                            <m:t>𝟎𝟗</m:t>
                          </m:r>
                        </m:e>
                      </m:d>
                      <m:r>
                        <a:rPr lang="en-US" b="1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𝟐</m:t>
                      </m:r>
                      <m:r>
                        <a:rPr lang="en-US" b="1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𝟑𝟗</m:t>
                      </m:r>
                    </m:oMath>
                  </m:oMathPara>
                </a14:m>
                <a:endParaRPr lang="en-US" b="1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12" y="6129427"/>
                <a:ext cx="7170129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680" t="-12150" b="-68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1521" y="2004029"/>
                <a:ext cx="2526326" cy="1041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Cost =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charset="0"/>
                        </a:rPr>
                        <m:t>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𝑒𝑎𝑣𝑒𝑠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       </m:t>
                          </m:r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charset="0"/>
                            </a:rPr>
                            <m:t>⋅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E67500"/>
                              </a:solidFill>
                              <a:latin typeface="Cambria Math" charset="0"/>
                            </a:rPr>
                            <m:t>depth</m:t>
                          </m:r>
                          <m:r>
                            <a:rPr lang="en-US" b="0" i="1" smtClean="0">
                              <a:solidFill>
                                <a:srgbClr val="E67500"/>
                              </a:solidFill>
                              <a:latin typeface="Cambria Math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E67500"/>
                              </a:solidFill>
                              <a:latin typeface="Cambria Math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E67500"/>
                              </a:solidFill>
                              <a:latin typeface="Cambria Math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1" y="2004029"/>
                <a:ext cx="2526326" cy="1041504"/>
              </a:xfrm>
              <a:prstGeom prst="rect">
                <a:avLst/>
              </a:prstGeom>
              <a:blipFill>
                <a:blip r:embed="rId3"/>
                <a:stretch>
                  <a:fillRect l="-21608" t="-61905" r="-12060" b="-122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157552" y="2738274"/>
            <a:ext cx="10494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P(x) is the probability of letter 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8273" y="1738487"/>
            <a:ext cx="15363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E67500"/>
                </a:solidFill>
              </a:rPr>
              <a:t>The depth in the tree is the length of the encoding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2A70CE-D5C1-8E40-85FC-3F3237B79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3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build="p"/>
      <p:bldP spid="3" grpId="0"/>
      <p:bldP spid="5" grpId="0"/>
      <p:bldP spid="8" grpId="0"/>
      <p:bldP spid="13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 distribution </a:t>
                </a:r>
                <a:r>
                  <a:rPr lang="en-US" i="1" dirty="0"/>
                  <a:t>P</a:t>
                </a:r>
                <a:r>
                  <a:rPr lang="en-US" dirty="0"/>
                  <a:t> on letters, find the lowest-cost tree, where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b="0" i="0" smtClean="0">
                          <a:latin typeface="Cambria Math" charset="0"/>
                        </a:rPr>
                        <m:t>cost</m:t>
                      </m:r>
                      <m:r>
                        <a:rPr lang="en-US" sz="3600" b="0" i="0" smtClean="0">
                          <a:latin typeface="Cambria Math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latin typeface="Cambria Math" charset="0"/>
                        </a:rPr>
                        <m:t>tree</m:t>
                      </m:r>
                      <m:r>
                        <a:rPr lang="en-US" sz="3600" b="0" i="0" smtClean="0">
                          <a:latin typeface="Cambria Math" charset="0"/>
                        </a:rPr>
                        <m:t>)</m:t>
                      </m:r>
                      <m:r>
                        <a:rPr lang="en-US" sz="3600" b="0" i="1" smtClean="0">
                          <a:latin typeface="Cambria Math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lang="en-US" sz="3600" i="0">
                              <a:latin typeface="Cambria Math" charset="0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en-US" sz="3600" i="0">
                              <a:latin typeface="Cambria Math" charset="0"/>
                            </a:rPr>
                            <m:t>eaves</m:t>
                          </m:r>
                          <m:r>
                            <a:rPr lang="en-US" sz="3600" i="1">
                              <a:latin typeface="Cambria Math" charset="0"/>
                            </a:rPr>
                            <m:t> </m:t>
                          </m:r>
                          <m:r>
                            <a:rPr lang="en-US" sz="3600" i="1">
                              <a:latin typeface="Cambria Math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sz="3600" i="1">
                              <a:solidFill>
                                <a:srgbClr val="7030A0"/>
                              </a:solidFill>
                              <a:latin typeface="Cambria Math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solidFill>
                                    <a:srgbClr val="7030A0"/>
                                  </a:solidFill>
                                  <a:latin typeface="Cambria Math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3600" i="1">
                              <a:solidFill>
                                <a:srgbClr val="7030A0"/>
                              </a:solidFill>
                              <a:latin typeface="Cambria Math" charset="0"/>
                            </a:rPr>
                            <m:t>⋅</m:t>
                          </m:r>
                          <m:r>
                            <m:rPr>
                              <m:nor/>
                            </m:rPr>
                            <a:rPr lang="en-US" sz="3600">
                              <a:solidFill>
                                <a:srgbClr val="E67500"/>
                              </a:solidFill>
                              <a:latin typeface="Cambria Math" charset="0"/>
                            </a:rPr>
                            <m:t>depth</m:t>
                          </m:r>
                          <m:r>
                            <a:rPr lang="en-US" sz="3600" i="1">
                              <a:solidFill>
                                <a:srgbClr val="E67500"/>
                              </a:solidFill>
                              <a:latin typeface="Cambria Math" charset="0"/>
                            </a:rPr>
                            <m:t>(</m:t>
                          </m:r>
                          <m:r>
                            <a:rPr lang="en-US" sz="3600" i="1">
                              <a:solidFill>
                                <a:srgbClr val="E67500"/>
                              </a:solidFill>
                              <a:latin typeface="Cambria Math" charset="0"/>
                            </a:rPr>
                            <m:t>𝑥</m:t>
                          </m:r>
                          <m:r>
                            <a:rPr lang="en-US" sz="3600" i="1">
                              <a:solidFill>
                                <a:srgbClr val="E67500"/>
                              </a:solidFill>
                              <a:latin typeface="Cambria Math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170752" y="3483340"/>
            <a:ext cx="10494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P(x) is the probability of letter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99594" y="3483340"/>
            <a:ext cx="15363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E67500"/>
                </a:solidFill>
              </a:rPr>
              <a:t>The depth in the tree is the length of the encoding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60937-8B1D-9641-A5F7-F3C2385BD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08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9F122-70E7-0544-A38D-672A1D08D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BDFEB-FC08-9446-ADFD-17BC3FEE8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Greedily build sub-trees from the bottom up.</a:t>
            </a:r>
          </a:p>
          <a:p>
            <a:r>
              <a:rPr lang="en-US" dirty="0"/>
              <a:t>Greedy goal: less frequent letters should be further down the tree.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6BED8-903A-8E4D-BB9A-F5C97A8F9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5430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526" y="318234"/>
            <a:ext cx="851535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Solution</a:t>
            </a:r>
            <a:br>
              <a:rPr lang="en-US" dirty="0"/>
            </a:br>
            <a:r>
              <a:rPr lang="en-US" sz="3100" dirty="0">
                <a:solidFill>
                  <a:schemeClr val="accent4"/>
                </a:solidFill>
              </a:rPr>
              <a:t>greedily build subtrees, starting with the infrequent letters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75542" y="5487865"/>
            <a:ext cx="762003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16 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2994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A: 45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8851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B:13</a:t>
            </a:r>
          </a:p>
        </p:txBody>
      </p:sp>
      <p:sp>
        <p:nvSpPr>
          <p:cNvPr id="7" name="Rectangle 6"/>
          <p:cNvSpPr/>
          <p:nvPr/>
        </p:nvSpPr>
        <p:spPr>
          <a:xfrm>
            <a:off x="8253037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F:5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2179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C:12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712913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E:9</a:t>
            </a:r>
          </a:p>
        </p:txBody>
      </p:sp>
      <p:sp>
        <p:nvSpPr>
          <p:cNvPr id="10" name="Oval 9"/>
          <p:cNvSpPr/>
          <p:nvPr/>
        </p:nvSpPr>
        <p:spPr>
          <a:xfrm>
            <a:off x="7333863" y="3728123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cxnSp>
        <p:nvCxnSpPr>
          <p:cNvPr id="11" name="Straight Connector 10"/>
          <p:cNvCxnSpPr>
            <a:stCxn id="10" idx="4"/>
            <a:endCxn id="7" idx="0"/>
          </p:cNvCxnSpPr>
          <p:nvPr/>
        </p:nvCxnSpPr>
        <p:spPr>
          <a:xfrm>
            <a:off x="7750031" y="4337722"/>
            <a:ext cx="837115" cy="1148679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10" idx="4"/>
            <a:endCxn id="9" idx="0"/>
          </p:cNvCxnSpPr>
          <p:nvPr/>
        </p:nvCxnSpPr>
        <p:spPr>
          <a:xfrm flipH="1">
            <a:off x="7047022" y="4337722"/>
            <a:ext cx="703009" cy="1148679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82167" y="4581437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3391" y="4559607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3FDDE5-C083-E942-9FE0-2D389E116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/>
      <p:bldP spid="14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526" y="318234"/>
            <a:ext cx="851535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Solution</a:t>
            </a:r>
            <a:br>
              <a:rPr lang="en-US" dirty="0"/>
            </a:br>
            <a:r>
              <a:rPr lang="en-US" sz="3100" dirty="0">
                <a:solidFill>
                  <a:schemeClr val="accent4"/>
                </a:solidFill>
              </a:rPr>
              <a:t>greedily build subtrees, starting with </a:t>
            </a:r>
            <a:r>
              <a:rPr lang="en-US" sz="3100">
                <a:solidFill>
                  <a:schemeClr val="accent4"/>
                </a:solidFill>
              </a:rPr>
              <a:t>the infrequent </a:t>
            </a:r>
            <a:r>
              <a:rPr lang="en-US" sz="3100" dirty="0">
                <a:solidFill>
                  <a:schemeClr val="accent4"/>
                </a:solidFill>
              </a:rPr>
              <a:t>letters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75542" y="5487865"/>
            <a:ext cx="762003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16 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2994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A: 45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8851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B:13</a:t>
            </a:r>
          </a:p>
        </p:txBody>
      </p:sp>
      <p:sp>
        <p:nvSpPr>
          <p:cNvPr id="7" name="Rectangle 6"/>
          <p:cNvSpPr/>
          <p:nvPr/>
        </p:nvSpPr>
        <p:spPr>
          <a:xfrm>
            <a:off x="8253037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F:5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2179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C:12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712913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E:9</a:t>
            </a:r>
          </a:p>
        </p:txBody>
      </p:sp>
      <p:sp>
        <p:nvSpPr>
          <p:cNvPr id="10" name="Oval 9"/>
          <p:cNvSpPr/>
          <p:nvPr/>
        </p:nvSpPr>
        <p:spPr>
          <a:xfrm>
            <a:off x="7333863" y="3728123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cxnSp>
        <p:nvCxnSpPr>
          <p:cNvPr id="11" name="Straight Connector 10"/>
          <p:cNvCxnSpPr>
            <a:stCxn id="10" idx="4"/>
            <a:endCxn id="7" idx="0"/>
          </p:cNvCxnSpPr>
          <p:nvPr/>
        </p:nvCxnSpPr>
        <p:spPr>
          <a:xfrm>
            <a:off x="7750031" y="4337722"/>
            <a:ext cx="837115" cy="1148679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10" idx="4"/>
            <a:endCxn id="9" idx="0"/>
          </p:cNvCxnSpPr>
          <p:nvPr/>
        </p:nvCxnSpPr>
        <p:spPr>
          <a:xfrm flipH="1">
            <a:off x="7047022" y="4337722"/>
            <a:ext cx="703009" cy="1148679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82167" y="4581437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3391" y="4559607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2979843" y="3789064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25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/>
          <p:cNvCxnSpPr>
            <a:stCxn id="15" idx="4"/>
            <a:endCxn id="6" idx="0"/>
          </p:cNvCxnSpPr>
          <p:nvPr/>
        </p:nvCxnSpPr>
        <p:spPr>
          <a:xfrm flipH="1">
            <a:off x="2762960" y="4398663"/>
            <a:ext cx="633051" cy="1087738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5" idx="4"/>
            <a:endCxn id="8" idx="0"/>
          </p:cNvCxnSpPr>
          <p:nvPr/>
        </p:nvCxnSpPr>
        <p:spPr>
          <a:xfrm>
            <a:off x="3396011" y="4398663"/>
            <a:ext cx="750277" cy="1087738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34632" y="4726266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8825" y="4712006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C99A66-263C-3147-96CC-B120BB5E6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386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  <p:bldP spid="19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526" y="318234"/>
            <a:ext cx="851535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Solution</a:t>
            </a:r>
            <a:br>
              <a:rPr lang="en-US" dirty="0"/>
            </a:br>
            <a:r>
              <a:rPr lang="en-US" sz="3100" dirty="0">
                <a:solidFill>
                  <a:schemeClr val="accent4"/>
                </a:solidFill>
              </a:rPr>
              <a:t>greedily build subtrees, starting with </a:t>
            </a:r>
            <a:r>
              <a:rPr lang="en-US" sz="3100">
                <a:solidFill>
                  <a:schemeClr val="accent4"/>
                </a:solidFill>
              </a:rPr>
              <a:t>the infrequent </a:t>
            </a:r>
            <a:r>
              <a:rPr lang="en-US" sz="3100" dirty="0">
                <a:solidFill>
                  <a:schemeClr val="accent4"/>
                </a:solidFill>
              </a:rPr>
              <a:t>letters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75542" y="5487865"/>
            <a:ext cx="762003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16 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2994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A: 45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8851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B:13</a:t>
            </a:r>
          </a:p>
        </p:txBody>
      </p:sp>
      <p:sp>
        <p:nvSpPr>
          <p:cNvPr id="7" name="Rectangle 6"/>
          <p:cNvSpPr/>
          <p:nvPr/>
        </p:nvSpPr>
        <p:spPr>
          <a:xfrm>
            <a:off x="8253037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F:5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2179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C:12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712913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E:9</a:t>
            </a:r>
          </a:p>
        </p:txBody>
      </p:sp>
      <p:sp>
        <p:nvSpPr>
          <p:cNvPr id="10" name="Oval 9"/>
          <p:cNvSpPr/>
          <p:nvPr/>
        </p:nvSpPr>
        <p:spPr>
          <a:xfrm>
            <a:off x="7333863" y="3728123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cxnSp>
        <p:nvCxnSpPr>
          <p:cNvPr id="11" name="Straight Connector 10"/>
          <p:cNvCxnSpPr>
            <a:stCxn id="10" idx="4"/>
            <a:endCxn id="7" idx="0"/>
          </p:cNvCxnSpPr>
          <p:nvPr/>
        </p:nvCxnSpPr>
        <p:spPr>
          <a:xfrm>
            <a:off x="7750031" y="4337722"/>
            <a:ext cx="837115" cy="1148679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10" idx="4"/>
            <a:endCxn id="9" idx="0"/>
          </p:cNvCxnSpPr>
          <p:nvPr/>
        </p:nvCxnSpPr>
        <p:spPr>
          <a:xfrm flipH="1">
            <a:off x="7047022" y="4337722"/>
            <a:ext cx="703009" cy="1148679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82167" y="4581437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3391" y="4559607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2979843" y="3789064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25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/>
          <p:cNvCxnSpPr>
            <a:stCxn id="15" idx="4"/>
            <a:endCxn id="6" idx="0"/>
          </p:cNvCxnSpPr>
          <p:nvPr/>
        </p:nvCxnSpPr>
        <p:spPr>
          <a:xfrm flipH="1">
            <a:off x="2762960" y="4398663"/>
            <a:ext cx="633051" cy="1087738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5" idx="4"/>
            <a:endCxn id="8" idx="0"/>
          </p:cNvCxnSpPr>
          <p:nvPr/>
        </p:nvCxnSpPr>
        <p:spPr>
          <a:xfrm>
            <a:off x="3396011" y="4398663"/>
            <a:ext cx="750277" cy="1087738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34632" y="4726266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8825" y="4712006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6450236" y="2423932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30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20"/>
          <p:cNvCxnSpPr>
            <a:stCxn id="20" idx="4"/>
            <a:endCxn id="10" idx="0"/>
          </p:cNvCxnSpPr>
          <p:nvPr/>
        </p:nvCxnSpPr>
        <p:spPr>
          <a:xfrm>
            <a:off x="6866404" y="3033531"/>
            <a:ext cx="883627" cy="694592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282572" y="3055361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cxnSp>
        <p:nvCxnSpPr>
          <p:cNvPr id="25" name="Straight Connector 24"/>
          <p:cNvCxnSpPr>
            <a:stCxn id="20" idx="4"/>
            <a:endCxn id="4" idx="0"/>
          </p:cNvCxnSpPr>
          <p:nvPr/>
        </p:nvCxnSpPr>
        <p:spPr>
          <a:xfrm flipH="1">
            <a:off x="5656544" y="3033531"/>
            <a:ext cx="1209860" cy="2454334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845739" y="4159497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514F34-661D-4F49-BF7B-2784BA399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1752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526" y="318234"/>
            <a:ext cx="851535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Solution</a:t>
            </a:r>
            <a:br>
              <a:rPr lang="en-US" dirty="0"/>
            </a:br>
            <a:r>
              <a:rPr lang="en-US" sz="3100" dirty="0">
                <a:solidFill>
                  <a:schemeClr val="accent4"/>
                </a:solidFill>
              </a:rPr>
              <a:t>greedily build subtrees, starting with </a:t>
            </a:r>
            <a:r>
              <a:rPr lang="en-US" sz="3100">
                <a:solidFill>
                  <a:schemeClr val="accent4"/>
                </a:solidFill>
              </a:rPr>
              <a:t>the infrequent </a:t>
            </a:r>
            <a:r>
              <a:rPr lang="en-US" sz="3100" dirty="0">
                <a:solidFill>
                  <a:schemeClr val="accent4"/>
                </a:solidFill>
              </a:rPr>
              <a:t>letters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75542" y="5487865"/>
            <a:ext cx="762003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16 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2994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A: 45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8851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B:13</a:t>
            </a:r>
          </a:p>
        </p:txBody>
      </p:sp>
      <p:sp>
        <p:nvSpPr>
          <p:cNvPr id="7" name="Rectangle 6"/>
          <p:cNvSpPr/>
          <p:nvPr/>
        </p:nvSpPr>
        <p:spPr>
          <a:xfrm>
            <a:off x="8253037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F:5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2179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C:12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712913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E:9</a:t>
            </a:r>
          </a:p>
        </p:txBody>
      </p:sp>
      <p:sp>
        <p:nvSpPr>
          <p:cNvPr id="10" name="Oval 9"/>
          <p:cNvSpPr/>
          <p:nvPr/>
        </p:nvSpPr>
        <p:spPr>
          <a:xfrm>
            <a:off x="7333863" y="3728123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cxnSp>
        <p:nvCxnSpPr>
          <p:cNvPr id="11" name="Straight Connector 10"/>
          <p:cNvCxnSpPr>
            <a:stCxn id="10" idx="4"/>
            <a:endCxn id="7" idx="0"/>
          </p:cNvCxnSpPr>
          <p:nvPr/>
        </p:nvCxnSpPr>
        <p:spPr>
          <a:xfrm>
            <a:off x="7750031" y="4337722"/>
            <a:ext cx="837115" cy="1148679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10" idx="4"/>
            <a:endCxn id="9" idx="0"/>
          </p:cNvCxnSpPr>
          <p:nvPr/>
        </p:nvCxnSpPr>
        <p:spPr>
          <a:xfrm flipH="1">
            <a:off x="7047022" y="4337722"/>
            <a:ext cx="703009" cy="1148679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82167" y="4581437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3391" y="4559607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2979843" y="3789064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25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/>
          <p:cNvCxnSpPr>
            <a:stCxn id="15" idx="4"/>
            <a:endCxn id="6" idx="0"/>
          </p:cNvCxnSpPr>
          <p:nvPr/>
        </p:nvCxnSpPr>
        <p:spPr>
          <a:xfrm flipH="1">
            <a:off x="2762960" y="4398663"/>
            <a:ext cx="633051" cy="1087738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5" idx="4"/>
            <a:endCxn id="8" idx="0"/>
          </p:cNvCxnSpPr>
          <p:nvPr/>
        </p:nvCxnSpPr>
        <p:spPr>
          <a:xfrm>
            <a:off x="3396011" y="4398663"/>
            <a:ext cx="750277" cy="1087738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34632" y="4726266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8825" y="4712006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6450236" y="2423932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30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20"/>
          <p:cNvCxnSpPr>
            <a:stCxn id="20" idx="4"/>
            <a:endCxn id="10" idx="0"/>
          </p:cNvCxnSpPr>
          <p:nvPr/>
        </p:nvCxnSpPr>
        <p:spPr>
          <a:xfrm>
            <a:off x="6866404" y="3033531"/>
            <a:ext cx="883627" cy="694592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282572" y="3055361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cxnSp>
        <p:nvCxnSpPr>
          <p:cNvPr id="25" name="Straight Connector 24"/>
          <p:cNvCxnSpPr>
            <a:stCxn id="20" idx="4"/>
            <a:endCxn id="4" idx="0"/>
          </p:cNvCxnSpPr>
          <p:nvPr/>
        </p:nvCxnSpPr>
        <p:spPr>
          <a:xfrm flipH="1">
            <a:off x="5656544" y="3033531"/>
            <a:ext cx="1209860" cy="2454334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845739" y="4159497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24" name="Oval 23"/>
          <p:cNvSpPr/>
          <p:nvPr/>
        </p:nvSpPr>
        <p:spPr>
          <a:xfrm>
            <a:off x="4648201" y="1595506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cxnSp>
        <p:nvCxnSpPr>
          <p:cNvPr id="26" name="Straight Connector 25"/>
          <p:cNvCxnSpPr>
            <a:stCxn id="24" idx="5"/>
            <a:endCxn id="20" idx="1"/>
          </p:cNvCxnSpPr>
          <p:nvPr/>
        </p:nvCxnSpPr>
        <p:spPr>
          <a:xfrm>
            <a:off x="5358644" y="2115831"/>
            <a:ext cx="1213485" cy="397375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748433" y="1870383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cxnSp>
        <p:nvCxnSpPr>
          <p:cNvPr id="31" name="Straight Connector 30"/>
          <p:cNvCxnSpPr>
            <a:stCxn id="24" idx="3"/>
            <a:endCxn id="15" idx="0"/>
          </p:cNvCxnSpPr>
          <p:nvPr/>
        </p:nvCxnSpPr>
        <p:spPr>
          <a:xfrm flipH="1">
            <a:off x="3396011" y="2115831"/>
            <a:ext cx="1374083" cy="1673233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02609" y="2837601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4FBEE4-E6A5-4147-B819-0118EEE11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4836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526" y="318234"/>
            <a:ext cx="851535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Solution</a:t>
            </a:r>
            <a:br>
              <a:rPr lang="en-US" dirty="0"/>
            </a:br>
            <a:r>
              <a:rPr lang="en-US" sz="3100" dirty="0">
                <a:solidFill>
                  <a:schemeClr val="accent4"/>
                </a:solidFill>
              </a:rPr>
              <a:t>greedily build subtrees, starting with </a:t>
            </a:r>
            <a:r>
              <a:rPr lang="en-US" sz="3100">
                <a:solidFill>
                  <a:schemeClr val="accent4"/>
                </a:solidFill>
              </a:rPr>
              <a:t>the infrequent </a:t>
            </a:r>
            <a:r>
              <a:rPr lang="en-US" sz="3100" dirty="0">
                <a:solidFill>
                  <a:schemeClr val="accent4"/>
                </a:solidFill>
              </a:rPr>
              <a:t>letters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75542" y="5487865"/>
            <a:ext cx="762003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16 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2994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A: 45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8851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B:13</a:t>
            </a:r>
          </a:p>
        </p:txBody>
      </p:sp>
      <p:sp>
        <p:nvSpPr>
          <p:cNvPr id="7" name="Rectangle 6"/>
          <p:cNvSpPr/>
          <p:nvPr/>
        </p:nvSpPr>
        <p:spPr>
          <a:xfrm>
            <a:off x="8253037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F:5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2179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C:12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712913" y="5486401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E:9</a:t>
            </a:r>
          </a:p>
        </p:txBody>
      </p:sp>
      <p:sp>
        <p:nvSpPr>
          <p:cNvPr id="10" name="Oval 9"/>
          <p:cNvSpPr/>
          <p:nvPr/>
        </p:nvSpPr>
        <p:spPr>
          <a:xfrm>
            <a:off x="7333863" y="3728123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cxnSp>
        <p:nvCxnSpPr>
          <p:cNvPr id="11" name="Straight Connector 10"/>
          <p:cNvCxnSpPr>
            <a:stCxn id="10" idx="4"/>
            <a:endCxn id="7" idx="0"/>
          </p:cNvCxnSpPr>
          <p:nvPr/>
        </p:nvCxnSpPr>
        <p:spPr>
          <a:xfrm>
            <a:off x="7750031" y="4337722"/>
            <a:ext cx="837115" cy="1148679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10" idx="4"/>
            <a:endCxn id="9" idx="0"/>
          </p:cNvCxnSpPr>
          <p:nvPr/>
        </p:nvCxnSpPr>
        <p:spPr>
          <a:xfrm flipH="1">
            <a:off x="7047022" y="4337722"/>
            <a:ext cx="703009" cy="1148679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82167" y="4581437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3391" y="4559607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2979843" y="3789064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25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/>
          <p:cNvCxnSpPr>
            <a:stCxn id="15" idx="4"/>
            <a:endCxn id="6" idx="0"/>
          </p:cNvCxnSpPr>
          <p:nvPr/>
        </p:nvCxnSpPr>
        <p:spPr>
          <a:xfrm flipH="1">
            <a:off x="2762960" y="4398663"/>
            <a:ext cx="633051" cy="1087738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5" idx="4"/>
            <a:endCxn id="8" idx="0"/>
          </p:cNvCxnSpPr>
          <p:nvPr/>
        </p:nvCxnSpPr>
        <p:spPr>
          <a:xfrm>
            <a:off x="3396011" y="4398663"/>
            <a:ext cx="750277" cy="1087738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634632" y="4726266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8825" y="4712006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6450236" y="2423932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30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20"/>
          <p:cNvCxnSpPr>
            <a:stCxn id="20" idx="4"/>
            <a:endCxn id="10" idx="0"/>
          </p:cNvCxnSpPr>
          <p:nvPr/>
        </p:nvCxnSpPr>
        <p:spPr>
          <a:xfrm>
            <a:off x="6866404" y="3033531"/>
            <a:ext cx="883627" cy="694592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282572" y="3055361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cxnSp>
        <p:nvCxnSpPr>
          <p:cNvPr id="25" name="Straight Connector 24"/>
          <p:cNvCxnSpPr>
            <a:stCxn id="20" idx="4"/>
            <a:endCxn id="4" idx="0"/>
          </p:cNvCxnSpPr>
          <p:nvPr/>
        </p:nvCxnSpPr>
        <p:spPr>
          <a:xfrm flipH="1">
            <a:off x="5656544" y="3033531"/>
            <a:ext cx="1209860" cy="2454334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845739" y="4159497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24" name="Oval 23"/>
          <p:cNvSpPr/>
          <p:nvPr/>
        </p:nvSpPr>
        <p:spPr>
          <a:xfrm>
            <a:off x="4648201" y="1595506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cxnSp>
        <p:nvCxnSpPr>
          <p:cNvPr id="26" name="Straight Connector 25"/>
          <p:cNvCxnSpPr>
            <a:stCxn id="24" idx="5"/>
            <a:endCxn id="20" idx="1"/>
          </p:cNvCxnSpPr>
          <p:nvPr/>
        </p:nvCxnSpPr>
        <p:spPr>
          <a:xfrm>
            <a:off x="5358644" y="2115831"/>
            <a:ext cx="1213485" cy="397375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748433" y="1870383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cxnSp>
        <p:nvCxnSpPr>
          <p:cNvPr id="31" name="Straight Connector 30"/>
          <p:cNvCxnSpPr>
            <a:stCxn id="24" idx="3"/>
            <a:endCxn id="15" idx="0"/>
          </p:cNvCxnSpPr>
          <p:nvPr/>
        </p:nvCxnSpPr>
        <p:spPr>
          <a:xfrm flipH="1">
            <a:off x="3396011" y="2115831"/>
            <a:ext cx="1374083" cy="1673233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02609" y="2837601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29" name="Oval 28"/>
          <p:cNvSpPr/>
          <p:nvPr/>
        </p:nvSpPr>
        <p:spPr>
          <a:xfrm>
            <a:off x="2535931" y="318234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100</a:t>
            </a:r>
          </a:p>
        </p:txBody>
      </p:sp>
      <p:cxnSp>
        <p:nvCxnSpPr>
          <p:cNvPr id="30" name="Straight Connector 29"/>
          <p:cNvCxnSpPr>
            <a:stCxn id="29" idx="5"/>
            <a:endCxn id="24" idx="1"/>
          </p:cNvCxnSpPr>
          <p:nvPr/>
        </p:nvCxnSpPr>
        <p:spPr>
          <a:xfrm>
            <a:off x="3246374" y="838559"/>
            <a:ext cx="1523720" cy="84622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501799" y="666998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cxnSp>
        <p:nvCxnSpPr>
          <p:cNvPr id="35" name="Straight Connector 34"/>
          <p:cNvCxnSpPr>
            <a:stCxn id="29" idx="4"/>
            <a:endCxn id="5" idx="0"/>
          </p:cNvCxnSpPr>
          <p:nvPr/>
        </p:nvCxnSpPr>
        <p:spPr>
          <a:xfrm flipH="1">
            <a:off x="1477103" y="927833"/>
            <a:ext cx="1474996" cy="4558568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881342" y="2885195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0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E2C5A2-EBE7-2E48-8F0D-E6B407A75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62159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526" y="318234"/>
            <a:ext cx="851535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Solution</a:t>
            </a:r>
            <a:br>
              <a:rPr lang="en-US" dirty="0"/>
            </a:br>
            <a:r>
              <a:rPr lang="en-US" sz="3100" dirty="0">
                <a:solidFill>
                  <a:schemeClr val="accent4"/>
                </a:solidFill>
              </a:rPr>
              <a:t>greedily build subtrees, starting with </a:t>
            </a:r>
            <a:r>
              <a:rPr lang="en-US" sz="3100">
                <a:solidFill>
                  <a:schemeClr val="accent4"/>
                </a:solidFill>
              </a:rPr>
              <a:t>the infrequent </a:t>
            </a:r>
            <a:r>
              <a:rPr lang="en-US" sz="3100" dirty="0">
                <a:solidFill>
                  <a:schemeClr val="accent4"/>
                </a:solidFill>
              </a:rPr>
              <a:t>letters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726" y="4602058"/>
            <a:ext cx="762003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16 </a:t>
            </a:r>
          </a:p>
        </p:txBody>
      </p:sp>
      <p:sp>
        <p:nvSpPr>
          <p:cNvPr id="5" name="Rectangle 4"/>
          <p:cNvSpPr/>
          <p:nvPr/>
        </p:nvSpPr>
        <p:spPr>
          <a:xfrm>
            <a:off x="1228143" y="2626557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A: 45</a:t>
            </a:r>
          </a:p>
        </p:txBody>
      </p:sp>
      <p:sp>
        <p:nvSpPr>
          <p:cNvPr id="6" name="Rectangle 5"/>
          <p:cNvSpPr/>
          <p:nvPr/>
        </p:nvSpPr>
        <p:spPr>
          <a:xfrm>
            <a:off x="2114258" y="4711275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B:13</a:t>
            </a:r>
          </a:p>
        </p:txBody>
      </p:sp>
      <p:sp>
        <p:nvSpPr>
          <p:cNvPr id="7" name="Rectangle 6"/>
          <p:cNvSpPr/>
          <p:nvPr/>
        </p:nvSpPr>
        <p:spPr>
          <a:xfrm>
            <a:off x="7667246" y="5743577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F:5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2885" y="4631358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C:12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7122" y="5743577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E:9</a:t>
            </a:r>
          </a:p>
        </p:txBody>
      </p:sp>
      <p:sp>
        <p:nvSpPr>
          <p:cNvPr id="10" name="Oval 9"/>
          <p:cNvSpPr/>
          <p:nvPr/>
        </p:nvSpPr>
        <p:spPr>
          <a:xfrm>
            <a:off x="6735264" y="4544900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cxnSp>
        <p:nvCxnSpPr>
          <p:cNvPr id="11" name="Straight Connector 10"/>
          <p:cNvCxnSpPr>
            <a:stCxn id="10" idx="4"/>
            <a:endCxn id="7" idx="0"/>
          </p:cNvCxnSpPr>
          <p:nvPr/>
        </p:nvCxnSpPr>
        <p:spPr>
          <a:xfrm>
            <a:off x="7151432" y="5154499"/>
            <a:ext cx="849923" cy="589078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10" idx="4"/>
            <a:endCxn id="9" idx="0"/>
          </p:cNvCxnSpPr>
          <p:nvPr/>
        </p:nvCxnSpPr>
        <p:spPr>
          <a:xfrm flipH="1">
            <a:off x="6461231" y="5154499"/>
            <a:ext cx="690201" cy="589078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34859" y="5154499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7600" y="5136141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2810220" y="3476426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25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/>
          <p:cNvCxnSpPr>
            <a:stCxn id="15" idx="4"/>
            <a:endCxn id="6" idx="0"/>
          </p:cNvCxnSpPr>
          <p:nvPr/>
        </p:nvCxnSpPr>
        <p:spPr>
          <a:xfrm flipH="1">
            <a:off x="2448367" y="4086025"/>
            <a:ext cx="778021" cy="62525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5" idx="4"/>
            <a:endCxn id="8" idx="0"/>
          </p:cNvCxnSpPr>
          <p:nvPr/>
        </p:nvCxnSpPr>
        <p:spPr>
          <a:xfrm>
            <a:off x="3226388" y="4086025"/>
            <a:ext cx="560606" cy="545333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36972" y="4025680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8610" y="4067862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5807948" y="3209623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30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20"/>
          <p:cNvCxnSpPr>
            <a:stCxn id="20" idx="4"/>
            <a:endCxn id="10" idx="0"/>
          </p:cNvCxnSpPr>
          <p:nvPr/>
        </p:nvCxnSpPr>
        <p:spPr>
          <a:xfrm>
            <a:off x="6224116" y="3819222"/>
            <a:ext cx="927316" cy="725678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908969" y="3911327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cxnSp>
        <p:nvCxnSpPr>
          <p:cNvPr id="25" name="Straight Connector 24"/>
          <p:cNvCxnSpPr>
            <a:stCxn id="20" idx="4"/>
            <a:endCxn id="4" idx="0"/>
          </p:cNvCxnSpPr>
          <p:nvPr/>
        </p:nvCxnSpPr>
        <p:spPr>
          <a:xfrm flipH="1">
            <a:off x="5257728" y="3819222"/>
            <a:ext cx="966388" cy="782836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18141" y="3897149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24" name="Oval 23"/>
          <p:cNvSpPr/>
          <p:nvPr/>
        </p:nvSpPr>
        <p:spPr>
          <a:xfrm>
            <a:off x="4330306" y="2449455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55</a:t>
            </a:r>
          </a:p>
        </p:txBody>
      </p:sp>
      <p:cxnSp>
        <p:nvCxnSpPr>
          <p:cNvPr id="26" name="Straight Connector 25"/>
          <p:cNvCxnSpPr>
            <a:stCxn id="24" idx="5"/>
            <a:endCxn id="20" idx="1"/>
          </p:cNvCxnSpPr>
          <p:nvPr/>
        </p:nvCxnSpPr>
        <p:spPr>
          <a:xfrm>
            <a:off x="5040749" y="2969780"/>
            <a:ext cx="889092" cy="329117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50787" y="2782898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cxnSp>
        <p:nvCxnSpPr>
          <p:cNvPr id="31" name="Straight Connector 30"/>
          <p:cNvCxnSpPr>
            <a:stCxn id="24" idx="3"/>
            <a:endCxn id="15" idx="0"/>
          </p:cNvCxnSpPr>
          <p:nvPr/>
        </p:nvCxnSpPr>
        <p:spPr>
          <a:xfrm flipH="1">
            <a:off x="3226388" y="2969780"/>
            <a:ext cx="1225811" cy="506646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559954" y="2856371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29" name="Oval 28"/>
          <p:cNvSpPr/>
          <p:nvPr/>
        </p:nvSpPr>
        <p:spPr>
          <a:xfrm>
            <a:off x="2471474" y="1448764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100</a:t>
            </a:r>
          </a:p>
        </p:txBody>
      </p:sp>
      <p:cxnSp>
        <p:nvCxnSpPr>
          <p:cNvPr id="30" name="Straight Connector 29"/>
          <p:cNvCxnSpPr>
            <a:endCxn id="24" idx="1"/>
          </p:cNvCxnSpPr>
          <p:nvPr/>
        </p:nvCxnSpPr>
        <p:spPr>
          <a:xfrm>
            <a:off x="2887642" y="2026218"/>
            <a:ext cx="1564557" cy="512511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609254" y="1964727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cxnSp>
        <p:nvCxnSpPr>
          <p:cNvPr id="35" name="Straight Connector 34"/>
          <p:cNvCxnSpPr>
            <a:stCxn id="29" idx="4"/>
            <a:endCxn id="5" idx="0"/>
          </p:cNvCxnSpPr>
          <p:nvPr/>
        </p:nvCxnSpPr>
        <p:spPr>
          <a:xfrm flipH="1">
            <a:off x="1562252" y="2058363"/>
            <a:ext cx="1325390" cy="568194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953847" y="2058363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0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15715" y="3183008"/>
            <a:ext cx="375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67002" y="5314959"/>
            <a:ext cx="615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urier" charset="0"/>
                <a:ea typeface="Courier" charset="0"/>
                <a:cs typeface="Courier" charset="0"/>
              </a:rPr>
              <a:t>100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521278" y="5239894"/>
            <a:ext cx="615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101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69794" y="5185277"/>
            <a:ext cx="615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110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02566" y="6394301"/>
            <a:ext cx="833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ourier" charset="0"/>
                <a:ea typeface="Courier" charset="0"/>
                <a:cs typeface="Courier" charset="0"/>
              </a:rPr>
              <a:t>1110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598787" y="6372443"/>
            <a:ext cx="833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charset="0"/>
                <a:ea typeface="Courier" charset="0"/>
                <a:cs typeface="Courier" charset="0"/>
              </a:rPr>
              <a:t>1111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5680798" y="1613703"/>
                <a:ext cx="4093555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Expected cost of encoding a letter: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E67500"/>
                          </a:solidFill>
                          <a:latin typeface="Cambria Math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E67500"/>
                          </a:solidFill>
                          <a:latin typeface="Cambria Math" charset="0"/>
                        </a:rPr>
                        <m:t>⋅</m:t>
                      </m:r>
                      <m:r>
                        <a:rPr lang="en-US" b="1" i="1" smtClean="0">
                          <a:solidFill>
                            <a:srgbClr val="E67500"/>
                          </a:solidFill>
                          <a:latin typeface="Cambria Math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E67500"/>
                          </a:solidFill>
                          <a:latin typeface="Cambria Math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E67500"/>
                          </a:solidFill>
                          <a:latin typeface="Cambria Math" charset="0"/>
                        </a:rPr>
                        <m:t>𝟒𝟓</m:t>
                      </m:r>
                    </m:oMath>
                  </m:oMathPara>
                </a14:m>
                <a:endParaRPr lang="en-US" b="1" i="1" dirty="0">
                  <a:solidFill>
                    <a:srgbClr val="E67500"/>
                  </a:solidFill>
                  <a:latin typeface="Cambria Math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E67500"/>
                          </a:solidFill>
                          <a:latin typeface="Cambria Math" charset="0"/>
                        </a:rPr>
                        <m:t>+</m:t>
                      </m:r>
                    </m:oMath>
                  </m:oMathPara>
                </a14:m>
                <a:endParaRPr lang="en-US" b="1" i="1" dirty="0">
                  <a:solidFill>
                    <a:srgbClr val="E67500"/>
                  </a:solidFill>
                  <a:latin typeface="Cambria Math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E67500"/>
                          </a:solidFill>
                          <a:latin typeface="Cambria Math" charset="0"/>
                        </a:rPr>
                        <m:t>𝟑</m:t>
                      </m:r>
                      <m:r>
                        <a:rPr lang="en-US" b="1" i="1" smtClean="0">
                          <a:solidFill>
                            <a:srgbClr val="E67500"/>
                          </a:solidFill>
                          <a:latin typeface="Cambria Math" charset="0"/>
                        </a:rPr>
                        <m:t>⋅</m:t>
                      </m:r>
                      <m:r>
                        <a:rPr lang="en-US" b="1" i="1" smtClean="0">
                          <a:solidFill>
                            <a:srgbClr val="E67500"/>
                          </a:solidFill>
                          <a:latin typeface="Cambria Math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E67500"/>
                          </a:solidFill>
                          <a:latin typeface="Cambria Math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E67500"/>
                          </a:solidFill>
                          <a:latin typeface="Cambria Math" charset="0"/>
                        </a:rPr>
                        <m:t>𝟒𝟏</m:t>
                      </m:r>
                    </m:oMath>
                  </m:oMathPara>
                </a14:m>
                <a:endParaRPr lang="en-US" b="1" i="1" dirty="0">
                  <a:solidFill>
                    <a:srgbClr val="E67500"/>
                  </a:solidFill>
                  <a:latin typeface="Cambria Math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E67500"/>
                          </a:solidFill>
                          <a:latin typeface="Cambria Math" charset="0"/>
                        </a:rPr>
                        <m:t>+</m:t>
                      </m:r>
                    </m:oMath>
                  </m:oMathPara>
                </a14:m>
                <a:endParaRPr lang="en-US" b="1" i="1" dirty="0">
                  <a:solidFill>
                    <a:srgbClr val="E67500"/>
                  </a:solidFill>
                  <a:latin typeface="Cambria Math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E67500"/>
                          </a:solidFill>
                          <a:latin typeface="Cambria Math" charset="0"/>
                        </a:rPr>
                        <m:t>𝟒</m:t>
                      </m:r>
                      <m:r>
                        <a:rPr lang="en-US" b="1" i="1" smtClean="0">
                          <a:solidFill>
                            <a:srgbClr val="E67500"/>
                          </a:solidFill>
                          <a:latin typeface="Cambria Math" charset="0"/>
                        </a:rPr>
                        <m:t>⋅</m:t>
                      </m:r>
                      <m:r>
                        <a:rPr lang="en-US" b="1" i="1" smtClean="0">
                          <a:solidFill>
                            <a:srgbClr val="E67500"/>
                          </a:solidFill>
                          <a:latin typeface="Cambria Math" charset="0"/>
                        </a:rPr>
                        <m:t>𝟎</m:t>
                      </m:r>
                      <m:r>
                        <a:rPr lang="en-US" b="1" i="1" smtClean="0">
                          <a:solidFill>
                            <a:srgbClr val="E67500"/>
                          </a:solidFill>
                          <a:latin typeface="Cambria Math" charset="0"/>
                        </a:rPr>
                        <m:t>.</m:t>
                      </m:r>
                      <m:r>
                        <a:rPr lang="en-US" b="1" i="1" smtClean="0">
                          <a:solidFill>
                            <a:srgbClr val="E67500"/>
                          </a:solidFill>
                          <a:latin typeface="Cambria Math" charset="0"/>
                        </a:rPr>
                        <m:t>𝟏𝟒</m:t>
                      </m:r>
                    </m:oMath>
                  </m:oMathPara>
                </a14:m>
                <a:endParaRPr lang="en-US" b="1" i="1" dirty="0">
                  <a:solidFill>
                    <a:srgbClr val="E67500"/>
                  </a:solidFill>
                  <a:latin typeface="Cambria Math" charset="0"/>
                </a:endParaRPr>
              </a:p>
              <a:p>
                <a:endParaRPr lang="en-US" sz="500" b="1" i="1" dirty="0">
                  <a:solidFill>
                    <a:srgbClr val="E67500"/>
                  </a:solidFill>
                  <a:latin typeface="Cambria Math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chemeClr val="accent4"/>
                          </a:solidFill>
                          <a:latin typeface="Cambria Math" charset="0"/>
                        </a:rPr>
                        <m:t>𝟐𝟒</m:t>
                      </m:r>
                    </m:oMath>
                  </m:oMathPara>
                </a14:m>
                <a:endParaRPr lang="en-US" sz="2400" b="1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798" y="1613703"/>
                <a:ext cx="4093555" cy="2215991"/>
              </a:xfrm>
              <a:prstGeom prst="rect">
                <a:avLst/>
              </a:prstGeom>
              <a:blipFill rotWithShape="0">
                <a:blip r:embed="rId2"/>
                <a:stretch>
                  <a:fillRect l="-1341" t="-1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B20F8B-EA53-4245-923C-B9544864D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77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  <p:bldP spid="58" grpId="0"/>
      <p:bldP spid="59" grpId="0"/>
      <p:bldP spid="60" grpId="0"/>
      <p:bldP spid="61" grpId="0"/>
      <p:bldP spid="62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exactly was the algorithm?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Create a node like            for each letter/frequency</a:t>
                </a:r>
              </a:p>
              <a:p>
                <a:pPr lvl="1"/>
                <a:r>
                  <a:rPr lang="en-US" dirty="0">
                    <a:solidFill>
                      <a:schemeClr val="accent4"/>
                    </a:solidFill>
                  </a:rPr>
                  <a:t>The key is the frequency (16 in this case)</a:t>
                </a:r>
              </a:p>
              <a:p>
                <a:r>
                  <a:rPr lang="en-US" dirty="0"/>
                  <a:t>Let </a:t>
                </a:r>
                <a:r>
                  <a:rPr lang="en-US" b="1" dirty="0">
                    <a:solidFill>
                      <a:schemeClr val="accent4"/>
                    </a:solidFill>
                  </a:rPr>
                  <a:t>CURRENT</a:t>
                </a:r>
                <a:r>
                  <a:rPr lang="en-US" dirty="0"/>
                  <a:t> be the list of all these nodes.</a:t>
                </a:r>
              </a:p>
              <a:p>
                <a:r>
                  <a:rPr lang="en-US" b="1" dirty="0"/>
                  <a:t>while</a:t>
                </a:r>
                <a:r>
                  <a:rPr lang="en-US" dirty="0"/>
                  <a:t> </a:t>
                </a:r>
                <a:r>
                  <a:rPr lang="en-US" dirty="0" err="1"/>
                  <a:t>len</a:t>
                </a:r>
                <a:r>
                  <a:rPr lang="en-US" dirty="0"/>
                  <a:t>(</a:t>
                </a:r>
                <a:r>
                  <a:rPr lang="en-US" b="1" dirty="0">
                    <a:solidFill>
                      <a:schemeClr val="accent4"/>
                    </a:solidFill>
                  </a:rPr>
                  <a:t>CURRENT</a:t>
                </a:r>
                <a:r>
                  <a:rPr lang="en-US" dirty="0"/>
                  <a:t>) &gt; 1:</a:t>
                </a:r>
              </a:p>
              <a:p>
                <a:pPr lvl="1"/>
                <a:r>
                  <a:rPr lang="en-US" b="1" dirty="0">
                    <a:solidFill>
                      <a:srgbClr val="E67500"/>
                    </a:solidFill>
                  </a:rPr>
                  <a:t>X</a:t>
                </a:r>
                <a:r>
                  <a:rPr lang="en-US" dirty="0">
                    <a:solidFill>
                      <a:srgbClr val="E67500"/>
                    </a:solidFill>
                  </a:rPr>
                  <a:t> and </a:t>
                </a:r>
                <a:r>
                  <a:rPr lang="en-US" b="1" dirty="0">
                    <a:solidFill>
                      <a:srgbClr val="E67500"/>
                    </a:solidFill>
                  </a:rPr>
                  <a:t>Y</a:t>
                </a:r>
                <a:r>
                  <a:rPr lang="en-US" dirty="0">
                    <a:solidFill>
                      <a:srgbClr val="E675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←</m:t>
                    </m:r>
                  </m:oMath>
                </a14:m>
                <a:r>
                  <a:rPr lang="en-US" dirty="0"/>
                  <a:t> the nodes in </a:t>
                </a:r>
                <a:r>
                  <a:rPr lang="en-US" b="1" dirty="0">
                    <a:solidFill>
                      <a:schemeClr val="accent4"/>
                    </a:solidFill>
                  </a:rPr>
                  <a:t>CURRENT</a:t>
                </a:r>
                <a:r>
                  <a:rPr lang="en-US" dirty="0"/>
                  <a:t> with the smallest keys.  </a:t>
                </a:r>
              </a:p>
              <a:p>
                <a:pPr lvl="1"/>
                <a:r>
                  <a:rPr lang="en-US" dirty="0"/>
                  <a:t>Create a new node </a:t>
                </a:r>
                <a:r>
                  <a:rPr lang="en-US" b="1" dirty="0">
                    <a:solidFill>
                      <a:srgbClr val="E67500"/>
                    </a:solidFill>
                  </a:rPr>
                  <a:t>Z</a:t>
                </a:r>
                <a:r>
                  <a:rPr lang="en-US" dirty="0"/>
                  <a:t> with </a:t>
                </a:r>
                <a:r>
                  <a:rPr lang="en-US" b="1" dirty="0" err="1">
                    <a:solidFill>
                      <a:srgbClr val="E67500"/>
                    </a:solidFill>
                  </a:rPr>
                  <a:t>Z.key</a:t>
                </a:r>
                <a:r>
                  <a:rPr lang="en-US" b="1" dirty="0">
                    <a:solidFill>
                      <a:srgbClr val="E67500"/>
                    </a:solidFill>
                  </a:rPr>
                  <a:t> = </a:t>
                </a:r>
                <a:r>
                  <a:rPr lang="en-US" b="1" dirty="0" err="1">
                    <a:solidFill>
                      <a:srgbClr val="E67500"/>
                    </a:solidFill>
                  </a:rPr>
                  <a:t>X.key</a:t>
                </a:r>
                <a:r>
                  <a:rPr lang="en-US" b="1" dirty="0">
                    <a:solidFill>
                      <a:srgbClr val="E67500"/>
                    </a:solidFill>
                  </a:rPr>
                  <a:t> + </a:t>
                </a:r>
                <a:r>
                  <a:rPr lang="en-US" b="1" dirty="0" err="1">
                    <a:solidFill>
                      <a:srgbClr val="E67500"/>
                    </a:solidFill>
                  </a:rPr>
                  <a:t>Y.key</a:t>
                </a:r>
                <a:endParaRPr lang="en-US" b="1" dirty="0">
                  <a:solidFill>
                    <a:srgbClr val="E67500"/>
                  </a:solidFill>
                </a:endParaRPr>
              </a:p>
              <a:p>
                <a:pPr lvl="1"/>
                <a:r>
                  <a:rPr lang="en-US" dirty="0"/>
                  <a:t>Set </a:t>
                </a:r>
                <a:r>
                  <a:rPr lang="en-US" b="1" dirty="0" err="1">
                    <a:solidFill>
                      <a:srgbClr val="E67500"/>
                    </a:solidFill>
                  </a:rPr>
                  <a:t>Z.left</a:t>
                </a:r>
                <a:r>
                  <a:rPr lang="en-US" b="1" dirty="0">
                    <a:solidFill>
                      <a:srgbClr val="E67500"/>
                    </a:solidFill>
                  </a:rPr>
                  <a:t> = X, </a:t>
                </a:r>
                <a:r>
                  <a:rPr lang="en-US" b="1" dirty="0" err="1">
                    <a:solidFill>
                      <a:srgbClr val="E67500"/>
                    </a:solidFill>
                  </a:rPr>
                  <a:t>Z.right</a:t>
                </a:r>
                <a:r>
                  <a:rPr lang="en-US" b="1" dirty="0">
                    <a:solidFill>
                      <a:srgbClr val="E67500"/>
                    </a:solidFill>
                  </a:rPr>
                  <a:t> = Y</a:t>
                </a:r>
              </a:p>
              <a:p>
                <a:pPr lvl="1"/>
                <a:r>
                  <a:rPr lang="en-US" dirty="0"/>
                  <a:t>Add </a:t>
                </a:r>
                <a:r>
                  <a:rPr lang="en-US" b="1" dirty="0">
                    <a:solidFill>
                      <a:srgbClr val="E67500"/>
                    </a:solidFill>
                  </a:rPr>
                  <a:t>Z</a:t>
                </a:r>
                <a:r>
                  <a:rPr lang="en-US" dirty="0"/>
                  <a:t> to </a:t>
                </a:r>
                <a:r>
                  <a:rPr lang="en-US" b="1" dirty="0">
                    <a:solidFill>
                      <a:schemeClr val="accent4"/>
                    </a:solidFill>
                  </a:rPr>
                  <a:t>CURRENT</a:t>
                </a:r>
                <a:r>
                  <a:rPr lang="en-US" dirty="0"/>
                  <a:t> and remove </a:t>
                </a:r>
                <a:r>
                  <a:rPr lang="en-US" b="1" dirty="0">
                    <a:solidFill>
                      <a:srgbClr val="E67500"/>
                    </a:solidFill>
                  </a:rPr>
                  <a:t>X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rgbClr val="E67500"/>
                    </a:solidFill>
                  </a:rPr>
                  <a:t>Y</a:t>
                </a:r>
              </a:p>
              <a:p>
                <a:r>
                  <a:rPr lang="en-US" dirty="0"/>
                  <a:t>return </a:t>
                </a:r>
                <a:r>
                  <a:rPr lang="en-US" b="1" dirty="0">
                    <a:solidFill>
                      <a:schemeClr val="accent4"/>
                    </a:solidFill>
                  </a:rPr>
                  <a:t>CURRENT</a:t>
                </a:r>
                <a:r>
                  <a:rPr lang="en-US" dirty="0"/>
                  <a:t>[0]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 r="-2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3644773" y="1690689"/>
            <a:ext cx="762003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16 </a:t>
            </a:r>
          </a:p>
        </p:txBody>
      </p:sp>
      <p:sp>
        <p:nvSpPr>
          <p:cNvPr id="5" name="Rectangle 4"/>
          <p:cNvSpPr/>
          <p:nvPr/>
        </p:nvSpPr>
        <p:spPr>
          <a:xfrm>
            <a:off x="6888035" y="6119447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F:5</a:t>
            </a:r>
          </a:p>
        </p:txBody>
      </p:sp>
      <p:sp>
        <p:nvSpPr>
          <p:cNvPr id="6" name="Rectangle 5"/>
          <p:cNvSpPr/>
          <p:nvPr/>
        </p:nvSpPr>
        <p:spPr>
          <a:xfrm>
            <a:off x="8217874" y="6119447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E:9</a:t>
            </a:r>
          </a:p>
        </p:txBody>
      </p:sp>
      <p:sp>
        <p:nvSpPr>
          <p:cNvPr id="7" name="Oval 6"/>
          <p:cNvSpPr/>
          <p:nvPr/>
        </p:nvSpPr>
        <p:spPr>
          <a:xfrm>
            <a:off x="7427670" y="4804939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7915275" y="5414538"/>
            <a:ext cx="636708" cy="704909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85133" y="5414538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79772" y="5370002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cxnSp>
        <p:nvCxnSpPr>
          <p:cNvPr id="14" name="Straight Connector 13"/>
          <p:cNvCxnSpPr>
            <a:endCxn id="5" idx="0"/>
          </p:cNvCxnSpPr>
          <p:nvPr/>
        </p:nvCxnSpPr>
        <p:spPr>
          <a:xfrm flipH="1">
            <a:off x="7222144" y="5421028"/>
            <a:ext cx="598606" cy="698419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858075" y="6363210"/>
            <a:ext cx="9700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E67500"/>
                </a:solidFill>
              </a:rPr>
              <a:t>Y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8287481" y="4873567"/>
            <a:ext cx="9700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E67500"/>
                </a:solidFill>
              </a:rPr>
              <a:t>Z</a:t>
            </a:r>
            <a:endParaRPr lang="en-US" sz="2400" dirty="0"/>
          </a:p>
        </p:txBody>
      </p:sp>
      <p:sp>
        <p:nvSpPr>
          <p:cNvPr id="19" name="Rectangle 18"/>
          <p:cNvSpPr/>
          <p:nvPr/>
        </p:nvSpPr>
        <p:spPr>
          <a:xfrm>
            <a:off x="6529013" y="6377354"/>
            <a:ext cx="9700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E67500"/>
                </a:solidFill>
              </a:rPr>
              <a:t>X</a:t>
            </a:r>
            <a:endParaRPr lang="en-US" sz="2400" dirty="0"/>
          </a:p>
        </p:txBody>
      </p:sp>
      <p:sp>
        <p:nvSpPr>
          <p:cNvPr id="20" name="Rectangle 19"/>
          <p:cNvSpPr/>
          <p:nvPr/>
        </p:nvSpPr>
        <p:spPr>
          <a:xfrm>
            <a:off x="5259500" y="6119447"/>
            <a:ext cx="762003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16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26952" y="6117983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A: 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2809" y="6117983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B:13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96137" y="6117983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C:12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6B78CE1-5FC3-2547-8B37-7C7DC9EA1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1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10" grpId="0"/>
      <p:bldP spid="11" grpId="0"/>
      <p:bldP spid="17" grpId="0"/>
      <p:bldP spid="18" grpId="0"/>
      <p:bldP spid="19" grpId="0"/>
      <p:bldP spid="20" grpId="0" animBg="1"/>
      <p:bldP spid="21" grpId="0" animBg="1"/>
      <p:bldP spid="22" grpId="0" animBg="1"/>
      <p:bldP spid="23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called </a:t>
            </a:r>
            <a:r>
              <a:rPr lang="en-US" dirty="0">
                <a:solidFill>
                  <a:srgbClr val="CF6E6C"/>
                </a:solidFill>
              </a:rPr>
              <a:t>Huffman Coding</a:t>
            </a:r>
            <a:r>
              <a:rPr lang="en-US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Create a node like            for each letter/frequency</a:t>
                </a:r>
              </a:p>
              <a:p>
                <a:pPr lvl="1"/>
                <a:r>
                  <a:rPr lang="en-US" dirty="0">
                    <a:solidFill>
                      <a:schemeClr val="accent4"/>
                    </a:solidFill>
                  </a:rPr>
                  <a:t>The key is the frequency (16 in this case)</a:t>
                </a:r>
              </a:p>
              <a:p>
                <a:r>
                  <a:rPr lang="en-US" dirty="0"/>
                  <a:t>Let </a:t>
                </a:r>
                <a:r>
                  <a:rPr lang="en-US" b="1" dirty="0">
                    <a:solidFill>
                      <a:schemeClr val="accent4"/>
                    </a:solidFill>
                  </a:rPr>
                  <a:t>CURRENT</a:t>
                </a:r>
                <a:r>
                  <a:rPr lang="en-US" dirty="0"/>
                  <a:t> be the list of all these nodes.</a:t>
                </a:r>
              </a:p>
              <a:p>
                <a:r>
                  <a:rPr lang="en-US" b="1" dirty="0"/>
                  <a:t>while</a:t>
                </a:r>
                <a:r>
                  <a:rPr lang="en-US" dirty="0"/>
                  <a:t> </a:t>
                </a:r>
                <a:r>
                  <a:rPr lang="en-US" dirty="0" err="1"/>
                  <a:t>len</a:t>
                </a:r>
                <a:r>
                  <a:rPr lang="en-US" dirty="0"/>
                  <a:t>(</a:t>
                </a:r>
                <a:r>
                  <a:rPr lang="en-US" b="1" dirty="0">
                    <a:solidFill>
                      <a:schemeClr val="accent4"/>
                    </a:solidFill>
                  </a:rPr>
                  <a:t>CURRENT</a:t>
                </a:r>
                <a:r>
                  <a:rPr lang="en-US" dirty="0"/>
                  <a:t>) &gt; 1:</a:t>
                </a:r>
              </a:p>
              <a:p>
                <a:pPr lvl="1"/>
                <a:r>
                  <a:rPr lang="en-US" b="1" dirty="0">
                    <a:solidFill>
                      <a:srgbClr val="E67500"/>
                    </a:solidFill>
                  </a:rPr>
                  <a:t>X</a:t>
                </a:r>
                <a:r>
                  <a:rPr lang="en-US" dirty="0">
                    <a:solidFill>
                      <a:srgbClr val="E67500"/>
                    </a:solidFill>
                  </a:rPr>
                  <a:t> and </a:t>
                </a:r>
                <a:r>
                  <a:rPr lang="en-US" b="1" dirty="0">
                    <a:solidFill>
                      <a:srgbClr val="E67500"/>
                    </a:solidFill>
                  </a:rPr>
                  <a:t>Y</a:t>
                </a:r>
                <a:r>
                  <a:rPr lang="en-US" dirty="0">
                    <a:solidFill>
                      <a:srgbClr val="E675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←</m:t>
                    </m:r>
                  </m:oMath>
                </a14:m>
                <a:r>
                  <a:rPr lang="en-US" dirty="0"/>
                  <a:t> the nodes in </a:t>
                </a:r>
                <a:r>
                  <a:rPr lang="en-US" b="1" dirty="0">
                    <a:solidFill>
                      <a:schemeClr val="accent4"/>
                    </a:solidFill>
                  </a:rPr>
                  <a:t>CURRENT</a:t>
                </a:r>
                <a:r>
                  <a:rPr lang="en-US" dirty="0"/>
                  <a:t> with the smallest keys.  </a:t>
                </a:r>
              </a:p>
              <a:p>
                <a:pPr lvl="1"/>
                <a:r>
                  <a:rPr lang="en-US" dirty="0"/>
                  <a:t>Create a new node </a:t>
                </a:r>
                <a:r>
                  <a:rPr lang="en-US" b="1" dirty="0">
                    <a:solidFill>
                      <a:srgbClr val="E67500"/>
                    </a:solidFill>
                  </a:rPr>
                  <a:t>Z</a:t>
                </a:r>
                <a:r>
                  <a:rPr lang="en-US" dirty="0"/>
                  <a:t> with </a:t>
                </a:r>
                <a:r>
                  <a:rPr lang="en-US" b="1" dirty="0" err="1">
                    <a:solidFill>
                      <a:srgbClr val="E67500"/>
                    </a:solidFill>
                  </a:rPr>
                  <a:t>Z.key</a:t>
                </a:r>
                <a:r>
                  <a:rPr lang="en-US" b="1" dirty="0">
                    <a:solidFill>
                      <a:srgbClr val="E67500"/>
                    </a:solidFill>
                  </a:rPr>
                  <a:t> = </a:t>
                </a:r>
                <a:r>
                  <a:rPr lang="en-US" b="1" dirty="0" err="1">
                    <a:solidFill>
                      <a:srgbClr val="E67500"/>
                    </a:solidFill>
                  </a:rPr>
                  <a:t>X.key</a:t>
                </a:r>
                <a:r>
                  <a:rPr lang="en-US" b="1" dirty="0">
                    <a:solidFill>
                      <a:srgbClr val="E67500"/>
                    </a:solidFill>
                  </a:rPr>
                  <a:t> + </a:t>
                </a:r>
                <a:r>
                  <a:rPr lang="en-US" b="1" dirty="0" err="1">
                    <a:solidFill>
                      <a:srgbClr val="E67500"/>
                    </a:solidFill>
                  </a:rPr>
                  <a:t>Y.key</a:t>
                </a:r>
                <a:endParaRPr lang="en-US" b="1" dirty="0">
                  <a:solidFill>
                    <a:srgbClr val="E67500"/>
                  </a:solidFill>
                </a:endParaRPr>
              </a:p>
              <a:p>
                <a:pPr lvl="1"/>
                <a:r>
                  <a:rPr lang="en-US" dirty="0"/>
                  <a:t>Set </a:t>
                </a:r>
                <a:r>
                  <a:rPr lang="en-US" b="1" dirty="0" err="1">
                    <a:solidFill>
                      <a:srgbClr val="E67500"/>
                    </a:solidFill>
                  </a:rPr>
                  <a:t>Z.left</a:t>
                </a:r>
                <a:r>
                  <a:rPr lang="en-US" b="1" dirty="0">
                    <a:solidFill>
                      <a:srgbClr val="E67500"/>
                    </a:solidFill>
                  </a:rPr>
                  <a:t> = X, </a:t>
                </a:r>
                <a:r>
                  <a:rPr lang="en-US" b="1" dirty="0" err="1">
                    <a:solidFill>
                      <a:srgbClr val="E67500"/>
                    </a:solidFill>
                  </a:rPr>
                  <a:t>Z.right</a:t>
                </a:r>
                <a:r>
                  <a:rPr lang="en-US" b="1" dirty="0">
                    <a:solidFill>
                      <a:srgbClr val="E67500"/>
                    </a:solidFill>
                  </a:rPr>
                  <a:t> = Y</a:t>
                </a:r>
              </a:p>
              <a:p>
                <a:pPr lvl="1"/>
                <a:r>
                  <a:rPr lang="en-US" dirty="0"/>
                  <a:t>Add </a:t>
                </a:r>
                <a:r>
                  <a:rPr lang="en-US" b="1" dirty="0">
                    <a:solidFill>
                      <a:srgbClr val="E67500"/>
                    </a:solidFill>
                  </a:rPr>
                  <a:t>Z</a:t>
                </a:r>
                <a:r>
                  <a:rPr lang="en-US" dirty="0"/>
                  <a:t> to </a:t>
                </a:r>
                <a:r>
                  <a:rPr lang="en-US" b="1" dirty="0">
                    <a:solidFill>
                      <a:schemeClr val="accent4"/>
                    </a:solidFill>
                  </a:rPr>
                  <a:t>CURRENT</a:t>
                </a:r>
                <a:r>
                  <a:rPr lang="en-US" dirty="0"/>
                  <a:t> and remove </a:t>
                </a:r>
                <a:r>
                  <a:rPr lang="en-US" b="1" dirty="0">
                    <a:solidFill>
                      <a:srgbClr val="E67500"/>
                    </a:solidFill>
                  </a:rPr>
                  <a:t>X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rgbClr val="E67500"/>
                    </a:solidFill>
                  </a:rPr>
                  <a:t>Y</a:t>
                </a:r>
              </a:p>
              <a:p>
                <a:r>
                  <a:rPr lang="en-US" dirty="0"/>
                  <a:t>return </a:t>
                </a:r>
                <a:r>
                  <a:rPr lang="en-US" b="1" dirty="0">
                    <a:solidFill>
                      <a:schemeClr val="accent4"/>
                    </a:solidFill>
                  </a:rPr>
                  <a:t>CURRENT</a:t>
                </a:r>
                <a:r>
                  <a:rPr lang="en-US" dirty="0"/>
                  <a:t>[0]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 r="-2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3644773" y="1690689"/>
            <a:ext cx="762003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16 </a:t>
            </a:r>
          </a:p>
        </p:txBody>
      </p:sp>
      <p:sp>
        <p:nvSpPr>
          <p:cNvPr id="5" name="Rectangle 4"/>
          <p:cNvSpPr/>
          <p:nvPr/>
        </p:nvSpPr>
        <p:spPr>
          <a:xfrm>
            <a:off x="6888035" y="6119447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F:5</a:t>
            </a:r>
          </a:p>
        </p:txBody>
      </p:sp>
      <p:sp>
        <p:nvSpPr>
          <p:cNvPr id="6" name="Rectangle 5"/>
          <p:cNvSpPr/>
          <p:nvPr/>
        </p:nvSpPr>
        <p:spPr>
          <a:xfrm>
            <a:off x="8217874" y="6119447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E:9</a:t>
            </a:r>
          </a:p>
        </p:txBody>
      </p:sp>
      <p:sp>
        <p:nvSpPr>
          <p:cNvPr id="7" name="Oval 6"/>
          <p:cNvSpPr/>
          <p:nvPr/>
        </p:nvSpPr>
        <p:spPr>
          <a:xfrm>
            <a:off x="7427670" y="4804939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7915275" y="5414538"/>
            <a:ext cx="636708" cy="704909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85133" y="5414538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79772" y="5370002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cxnSp>
        <p:nvCxnSpPr>
          <p:cNvPr id="14" name="Straight Connector 13"/>
          <p:cNvCxnSpPr>
            <a:endCxn id="5" idx="0"/>
          </p:cNvCxnSpPr>
          <p:nvPr/>
        </p:nvCxnSpPr>
        <p:spPr>
          <a:xfrm flipH="1">
            <a:off x="7222144" y="5421028"/>
            <a:ext cx="598606" cy="698419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858075" y="6363210"/>
            <a:ext cx="9700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E67500"/>
                </a:solidFill>
              </a:rPr>
              <a:t>Y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8287481" y="4873567"/>
            <a:ext cx="9700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E67500"/>
                </a:solidFill>
              </a:rPr>
              <a:t>Z</a:t>
            </a:r>
            <a:endParaRPr lang="en-US" sz="2400" dirty="0"/>
          </a:p>
        </p:txBody>
      </p:sp>
      <p:sp>
        <p:nvSpPr>
          <p:cNvPr id="19" name="Rectangle 18"/>
          <p:cNvSpPr/>
          <p:nvPr/>
        </p:nvSpPr>
        <p:spPr>
          <a:xfrm>
            <a:off x="6529013" y="6377354"/>
            <a:ext cx="9700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E67500"/>
                </a:solidFill>
              </a:rPr>
              <a:t>X</a:t>
            </a:r>
            <a:endParaRPr lang="en-US" sz="2400" dirty="0"/>
          </a:p>
        </p:txBody>
      </p:sp>
      <p:sp>
        <p:nvSpPr>
          <p:cNvPr id="20" name="Rectangle 19"/>
          <p:cNvSpPr/>
          <p:nvPr/>
        </p:nvSpPr>
        <p:spPr>
          <a:xfrm>
            <a:off x="5259500" y="6119447"/>
            <a:ext cx="762003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16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26952" y="6117983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A: 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12809" y="6117983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B:13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96137" y="6117983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C:12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6B78CE1-5FC3-2547-8B37-7C7DC9EA1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3170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it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17370"/>
            <a:ext cx="7886700" cy="4351338"/>
          </a:xfrm>
        </p:spPr>
        <p:txBody>
          <a:bodyPr/>
          <a:lstStyle/>
          <a:p>
            <a:r>
              <a:rPr lang="en-US" dirty="0"/>
              <a:t>Yes.</a:t>
            </a:r>
          </a:p>
          <a:p>
            <a:r>
              <a:rPr lang="en-US" dirty="0"/>
              <a:t>We will </a:t>
            </a:r>
            <a:r>
              <a:rPr lang="en-US" b="1" i="1" dirty="0"/>
              <a:t>sketch</a:t>
            </a:r>
            <a:r>
              <a:rPr lang="en-US" dirty="0"/>
              <a:t> a proof here.</a:t>
            </a:r>
          </a:p>
          <a:p>
            <a:r>
              <a:rPr lang="en-US" dirty="0"/>
              <a:t>Same strategy:</a:t>
            </a:r>
          </a:p>
          <a:p>
            <a:pPr lvl="1"/>
            <a:r>
              <a:rPr lang="en-US" dirty="0"/>
              <a:t>Show that at each step, the choices we are making </a:t>
            </a:r>
            <a:r>
              <a:rPr lang="en-US" b="1" dirty="0">
                <a:solidFill>
                  <a:schemeClr val="accent1"/>
                </a:solidFill>
              </a:rPr>
              <a:t>won’t rule out </a:t>
            </a:r>
            <a:r>
              <a:rPr lang="en-US" dirty="0"/>
              <a:t>an optimal solution.</a:t>
            </a:r>
          </a:p>
          <a:p>
            <a:pPr lvl="1"/>
            <a:r>
              <a:rPr lang="en-US" dirty="0"/>
              <a:t>Lemma:</a:t>
            </a:r>
          </a:p>
          <a:p>
            <a:pPr lvl="2"/>
            <a:r>
              <a:rPr lang="en-US" dirty="0">
                <a:solidFill>
                  <a:schemeClr val="accent4"/>
                </a:solidFill>
              </a:rPr>
              <a:t>Suppose that x and y are the two least-frequent letters.  Then there is an optimal tree where x and y are siblings.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146955" y="5902202"/>
            <a:ext cx="762003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16    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4407" y="5900738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A: 45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0264" y="5900738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B:13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4450" y="5900738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F:5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83592" y="5900738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C:12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326" y="5900738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E:9</a:t>
            </a:r>
          </a:p>
        </p:txBody>
      </p:sp>
      <p:sp>
        <p:nvSpPr>
          <p:cNvPr id="10" name="Oval 9"/>
          <p:cNvSpPr/>
          <p:nvPr/>
        </p:nvSpPr>
        <p:spPr>
          <a:xfrm>
            <a:off x="7228887" y="4569117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4193" y="5236568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5160" y="5184869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7645055" y="5178716"/>
            <a:ext cx="813504" cy="722022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6918436" y="5178716"/>
            <a:ext cx="726619" cy="722022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198023F-3663-644D-AB29-FDD4BD9D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07841"/>
            <a:ext cx="7886700" cy="1325563"/>
          </a:xfrm>
        </p:spPr>
        <p:txBody>
          <a:bodyPr/>
          <a:lstStyle/>
          <a:p>
            <a:r>
              <a:rPr lang="en-US" dirty="0"/>
              <a:t>Lemma </a:t>
            </a:r>
            <a:br>
              <a:rPr lang="en-US" sz="3200" dirty="0"/>
            </a:br>
            <a:r>
              <a:rPr lang="en-US" sz="3200" dirty="0"/>
              <a:t>proof idea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11299"/>
            <a:ext cx="7886700" cy="534670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Say that an optimal tree looks like this: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happens to the cost if we swap </a:t>
            </a:r>
            <a:r>
              <a:rPr lang="en-US" dirty="0">
                <a:solidFill>
                  <a:schemeClr val="accent4"/>
                </a:solidFill>
              </a:rPr>
              <a:t>x for a?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the cost can’t increase; a was more frequent than x, and we just made a’s encoding shorter and x’s longer.</a:t>
            </a:r>
          </a:p>
          <a:p>
            <a:r>
              <a:rPr lang="en-US" dirty="0"/>
              <a:t>Repeat this logic until we get an optimal tree with x and y as siblings</a:t>
            </a:r>
            <a:r>
              <a:rPr lang="en-US" dirty="0">
                <a:solidFill>
                  <a:schemeClr val="accent4"/>
                </a:solidFill>
              </a:rPr>
              <a:t>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The cost never increased so this tree is still optimal.</a:t>
            </a:r>
          </a:p>
          <a:p>
            <a:pPr lvl="1"/>
            <a:endParaRPr lang="en-US" dirty="0">
              <a:solidFill>
                <a:schemeClr val="accent4"/>
              </a:solidFill>
            </a:endParaRPr>
          </a:p>
          <a:p>
            <a:pPr lvl="1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50264" y="148140"/>
            <a:ext cx="53764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dirty="0">
                <a:solidFill>
                  <a:srgbClr val="7030A0"/>
                </a:solidFill>
              </a:rPr>
              <a:t>If x and y are the two least-frequent letters, there is an optimal tree where x and y are siblings.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878475" y="2902016"/>
            <a:ext cx="3099474" cy="861197"/>
            <a:chOff x="3399187" y="3470776"/>
            <a:chExt cx="2426250" cy="697262"/>
          </a:xfrm>
        </p:grpSpPr>
        <p:sp>
          <p:nvSpPr>
            <p:cNvPr id="8" name="Oval 7"/>
            <p:cNvSpPr/>
            <p:nvPr/>
          </p:nvSpPr>
          <p:spPr>
            <a:xfrm>
              <a:off x="5490596" y="3724550"/>
              <a:ext cx="334841" cy="336792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399187" y="3849090"/>
              <a:ext cx="355255" cy="3189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5477826" y="3476119"/>
              <a:ext cx="183615" cy="25903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>
              <a:off x="4129966" y="3476119"/>
              <a:ext cx="107959" cy="363121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3537571" y="3470776"/>
              <a:ext cx="202381" cy="378315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riangle 16"/>
          <p:cNvSpPr/>
          <p:nvPr/>
        </p:nvSpPr>
        <p:spPr>
          <a:xfrm>
            <a:off x="2791659" y="1975258"/>
            <a:ext cx="3341898" cy="993906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3446" y="3955913"/>
            <a:ext cx="471195" cy="453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5977950" y="3959755"/>
            <a:ext cx="463724" cy="4497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Connector 19"/>
          <p:cNvCxnSpPr>
            <a:stCxn id="8" idx="3"/>
            <a:endCxn id="18" idx="0"/>
          </p:cNvCxnSpPr>
          <p:nvPr/>
        </p:nvCxnSpPr>
        <p:spPr>
          <a:xfrm flipH="1">
            <a:off x="5319044" y="3570513"/>
            <a:ext cx="293797" cy="38540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8" idx="5"/>
            <a:endCxn id="19" idx="0"/>
          </p:cNvCxnSpPr>
          <p:nvPr/>
        </p:nvCxnSpPr>
        <p:spPr>
          <a:xfrm>
            <a:off x="5915306" y="3570513"/>
            <a:ext cx="294506" cy="389242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592703" y="3375686"/>
            <a:ext cx="483746" cy="387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649396" y="3382492"/>
            <a:ext cx="2305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F6E6C"/>
                </a:solidFill>
              </a:rPr>
              <a:t>Lowest-level sibling nodes: at least one of them is neither x nor 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2494" y="3756490"/>
            <a:ext cx="483746" cy="387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Connector 21"/>
          <p:cNvCxnSpPr>
            <a:endCxn id="21" idx="0"/>
          </p:cNvCxnSpPr>
          <p:nvPr/>
        </p:nvCxnSpPr>
        <p:spPr>
          <a:xfrm flipH="1">
            <a:off x="4584367" y="2969164"/>
            <a:ext cx="70351" cy="787326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E0101-3414-6444-8EC1-6FD145E8F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47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07841"/>
            <a:ext cx="7886700" cy="1325563"/>
          </a:xfrm>
        </p:spPr>
        <p:txBody>
          <a:bodyPr/>
          <a:lstStyle/>
          <a:p>
            <a:r>
              <a:rPr lang="en-US" dirty="0"/>
              <a:t>Lemma </a:t>
            </a:r>
            <a:br>
              <a:rPr lang="en-US" sz="3200" dirty="0">
                <a:solidFill>
                  <a:schemeClr val="accent4"/>
                </a:solidFill>
              </a:rPr>
            </a:br>
            <a:r>
              <a:rPr lang="en-US" sz="3200" dirty="0"/>
              <a:t>proof idea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11299"/>
            <a:ext cx="7886700" cy="534670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Say that an optimal tree looks like this: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happens to the cost if we swap </a:t>
            </a:r>
            <a:r>
              <a:rPr lang="en-US" dirty="0">
                <a:solidFill>
                  <a:schemeClr val="accent4"/>
                </a:solidFill>
              </a:rPr>
              <a:t>x for a?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the cost can’t increase; a was more frequent than x, and we just made a’s encoding shorter and x’s longer.</a:t>
            </a:r>
          </a:p>
          <a:p>
            <a:r>
              <a:rPr lang="en-US" dirty="0"/>
              <a:t>Repeat this logic until we get an optimal tree with x and y as siblings.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The cost never increased so this tree is still optimal.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878475" y="2902016"/>
            <a:ext cx="3099474" cy="861197"/>
            <a:chOff x="3399187" y="3470776"/>
            <a:chExt cx="2426250" cy="697262"/>
          </a:xfrm>
        </p:grpSpPr>
        <p:sp>
          <p:nvSpPr>
            <p:cNvPr id="8" name="Oval 7"/>
            <p:cNvSpPr/>
            <p:nvPr/>
          </p:nvSpPr>
          <p:spPr>
            <a:xfrm>
              <a:off x="5490596" y="3724550"/>
              <a:ext cx="334841" cy="336792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399187" y="3849090"/>
              <a:ext cx="355255" cy="3189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5477826" y="3476119"/>
              <a:ext cx="183615" cy="259030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>
              <a:off x="4129966" y="3476119"/>
              <a:ext cx="107959" cy="363121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3537571" y="3470776"/>
              <a:ext cx="202381" cy="378315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riangle 16"/>
          <p:cNvSpPr/>
          <p:nvPr/>
        </p:nvSpPr>
        <p:spPr>
          <a:xfrm>
            <a:off x="2791659" y="1975258"/>
            <a:ext cx="3341898" cy="993906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3446" y="3955913"/>
            <a:ext cx="471195" cy="453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77950" y="3959755"/>
            <a:ext cx="463724" cy="4497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cxnSp>
        <p:nvCxnSpPr>
          <p:cNvPr id="20" name="Straight Connector 19"/>
          <p:cNvCxnSpPr>
            <a:stCxn id="8" idx="3"/>
            <a:endCxn id="18" idx="0"/>
          </p:cNvCxnSpPr>
          <p:nvPr/>
        </p:nvCxnSpPr>
        <p:spPr>
          <a:xfrm flipH="1">
            <a:off x="5319044" y="3570513"/>
            <a:ext cx="293797" cy="38540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8" idx="5"/>
            <a:endCxn id="19" idx="0"/>
          </p:cNvCxnSpPr>
          <p:nvPr/>
        </p:nvCxnSpPr>
        <p:spPr>
          <a:xfrm>
            <a:off x="5915306" y="3570513"/>
            <a:ext cx="294506" cy="389242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592703" y="3375686"/>
            <a:ext cx="483746" cy="387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649396" y="3382492"/>
            <a:ext cx="2305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F6E6C"/>
                </a:solidFill>
              </a:rPr>
              <a:t>Lowest-level sibling nodes: at least one of them is neither x nor 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2494" y="3756490"/>
            <a:ext cx="483746" cy="387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Connector 21"/>
          <p:cNvCxnSpPr>
            <a:endCxn id="21" idx="0"/>
          </p:cNvCxnSpPr>
          <p:nvPr/>
        </p:nvCxnSpPr>
        <p:spPr>
          <a:xfrm flipH="1">
            <a:off x="4584367" y="2969164"/>
            <a:ext cx="70351" cy="787326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750264" y="148140"/>
            <a:ext cx="53764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dirty="0">
                <a:solidFill>
                  <a:srgbClr val="7030A0"/>
                </a:solidFill>
              </a:rPr>
              <a:t>If x and y are the two least-frequent letters, there is an optimal tree where x and y are siblings.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46B54-4C57-5443-A61A-69EFB46E6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30448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586" y="-104487"/>
            <a:ext cx="7886700" cy="1325563"/>
          </a:xfrm>
        </p:spPr>
        <p:txBody>
          <a:bodyPr/>
          <a:lstStyle/>
          <a:p>
            <a:r>
              <a:rPr lang="en-US" dirty="0"/>
              <a:t>Huffman Coding Works (idea)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80" y="1020515"/>
            <a:ext cx="7886700" cy="4351338"/>
          </a:xfrm>
        </p:spPr>
        <p:txBody>
          <a:bodyPr/>
          <a:lstStyle/>
          <a:p>
            <a:r>
              <a:rPr lang="en-US" dirty="0"/>
              <a:t>Show that at each step, the choices we are making </a:t>
            </a:r>
            <a:r>
              <a:rPr lang="en-US" b="1" dirty="0"/>
              <a:t>won’t rule out </a:t>
            </a:r>
            <a:r>
              <a:rPr lang="en-US" dirty="0"/>
              <a:t>an optimal solution.</a:t>
            </a:r>
          </a:p>
          <a:p>
            <a:r>
              <a:rPr lang="en-US" dirty="0"/>
              <a:t>Lemma: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Suppose that x and y are the two least-frequent letters.  Then there is an optimal tree where x and y are siblings.</a:t>
            </a:r>
          </a:p>
          <a:p>
            <a:r>
              <a:rPr lang="en-US" dirty="0"/>
              <a:t>That’s enough to show that we don’t rule out optimality on the first step.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9682" y="5920520"/>
            <a:ext cx="762003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16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7134" y="5919056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A: 45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22991" y="5919056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B:13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7177" y="5919056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F:5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6319" y="5919056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C:12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7053" y="5919056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E:9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1771" y="5318458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4832" y="5251423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>
            <a:off x="7777522" y="5220593"/>
            <a:ext cx="703764" cy="698463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6941163" y="5220593"/>
            <a:ext cx="836359" cy="698463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7297068" y="4619995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963F1-B2CC-664E-8C0F-EC59C016C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65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586" y="-104487"/>
            <a:ext cx="7886700" cy="1325563"/>
          </a:xfrm>
        </p:spPr>
        <p:txBody>
          <a:bodyPr/>
          <a:lstStyle/>
          <a:p>
            <a:r>
              <a:rPr lang="en-US" dirty="0"/>
              <a:t>Huffman Coding Works (idea)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80" y="1020515"/>
            <a:ext cx="7886700" cy="4351338"/>
          </a:xfrm>
        </p:spPr>
        <p:txBody>
          <a:bodyPr/>
          <a:lstStyle/>
          <a:p>
            <a:r>
              <a:rPr lang="en-US" dirty="0"/>
              <a:t>Show that at each step, the choices we are making </a:t>
            </a:r>
            <a:r>
              <a:rPr lang="en-US" b="1" dirty="0"/>
              <a:t>won’t rule out </a:t>
            </a:r>
            <a:r>
              <a:rPr lang="en-US" dirty="0"/>
              <a:t>an optimal solution.</a:t>
            </a:r>
          </a:p>
          <a:p>
            <a:r>
              <a:rPr lang="en-US" dirty="0"/>
              <a:t>Lemma: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Suppose that x and y are the two least-frequent letters.  Then there is an optimal tree where x and y are siblings.</a:t>
            </a:r>
          </a:p>
          <a:p>
            <a:r>
              <a:rPr lang="en-US" dirty="0"/>
              <a:t>That’s enough to show that we don’t rule out optimality on the first step.</a:t>
            </a:r>
          </a:p>
          <a:p>
            <a:r>
              <a:rPr lang="en-US" dirty="0"/>
              <a:t>To show that continue to not rule out optimality once we start grouping stuff…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9682" y="5920520"/>
            <a:ext cx="762003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16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7134" y="5919056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A: 45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22991" y="5919056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B:13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7177" y="5919056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F:5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6319" y="5919056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C:12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7053" y="5919056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E:9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1771" y="5318458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4832" y="5251423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31662" y="4735117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415590" y="5258004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54592" y="5468839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2392" y="4385482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40087" y="4897001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cxnSp>
        <p:nvCxnSpPr>
          <p:cNvPr id="39" name="Straight Connector 38"/>
          <p:cNvCxnSpPr/>
          <p:nvPr/>
        </p:nvCxnSpPr>
        <p:spPr>
          <a:xfrm>
            <a:off x="7777522" y="5220593"/>
            <a:ext cx="703764" cy="698463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6941163" y="5220593"/>
            <a:ext cx="836359" cy="698463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7297068" y="4619995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cxnSp>
        <p:nvCxnSpPr>
          <p:cNvPr id="44" name="Straight Connector 43"/>
          <p:cNvCxnSpPr>
            <a:cxnSpLocks/>
            <a:endCxn id="43" idx="2"/>
          </p:cNvCxnSpPr>
          <p:nvPr/>
        </p:nvCxnSpPr>
        <p:spPr>
          <a:xfrm>
            <a:off x="6994708" y="4846796"/>
            <a:ext cx="302360" cy="77999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cxnSpLocks/>
            <a:stCxn id="53" idx="3"/>
            <a:endCxn id="16" idx="0"/>
          </p:cNvCxnSpPr>
          <p:nvPr/>
        </p:nvCxnSpPr>
        <p:spPr>
          <a:xfrm flipH="1">
            <a:off x="5550684" y="4926258"/>
            <a:ext cx="776447" cy="994262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27" idx="4"/>
          </p:cNvCxnSpPr>
          <p:nvPr/>
        </p:nvCxnSpPr>
        <p:spPr>
          <a:xfrm flipH="1">
            <a:off x="4040428" y="5344716"/>
            <a:ext cx="507402" cy="57434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7" idx="4"/>
          </p:cNvCxnSpPr>
          <p:nvPr/>
        </p:nvCxnSpPr>
        <p:spPr>
          <a:xfrm flipH="1">
            <a:off x="2657101" y="5344716"/>
            <a:ext cx="1890729" cy="57434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6205238" y="4405933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963F1-B2CC-664E-8C0F-EC59C016C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7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586" y="-104487"/>
            <a:ext cx="7886700" cy="1325563"/>
          </a:xfrm>
        </p:spPr>
        <p:txBody>
          <a:bodyPr/>
          <a:lstStyle/>
          <a:p>
            <a:r>
              <a:rPr lang="en-US" dirty="0"/>
              <a:t>Huffman Coding Works (idea)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80" y="1020515"/>
            <a:ext cx="7886700" cy="4351338"/>
          </a:xfrm>
        </p:spPr>
        <p:txBody>
          <a:bodyPr/>
          <a:lstStyle/>
          <a:p>
            <a:r>
              <a:rPr lang="en-US" dirty="0"/>
              <a:t>To show that continue to not rule out optimality once we start grouping stuff…</a:t>
            </a:r>
          </a:p>
          <a:p>
            <a:r>
              <a:rPr lang="en-US" dirty="0"/>
              <a:t>The basic idea is that we can treat the “groups” as leaves in a new alphabet.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9682" y="5920520"/>
            <a:ext cx="762003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16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7134" y="5919056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A: 45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22991" y="5919056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B:13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7177" y="5919056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F:5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6319" y="5919056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C:12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7053" y="5919056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E:9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1771" y="5318458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4832" y="5251423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31662" y="4735117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415590" y="5258004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54592" y="5468839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2392" y="4385482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40087" y="4897001"/>
            <a:ext cx="600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/>
                </a:solidFill>
              </a:rPr>
              <a:t>0</a:t>
            </a:r>
          </a:p>
        </p:txBody>
      </p:sp>
      <p:cxnSp>
        <p:nvCxnSpPr>
          <p:cNvPr id="39" name="Straight Connector 38"/>
          <p:cNvCxnSpPr/>
          <p:nvPr/>
        </p:nvCxnSpPr>
        <p:spPr>
          <a:xfrm>
            <a:off x="7777522" y="5220593"/>
            <a:ext cx="703764" cy="698463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6941163" y="5220593"/>
            <a:ext cx="836359" cy="698463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7297068" y="4619995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cxnSp>
        <p:nvCxnSpPr>
          <p:cNvPr id="44" name="Straight Connector 43"/>
          <p:cNvCxnSpPr>
            <a:cxnSpLocks/>
            <a:endCxn id="43" idx="2"/>
          </p:cNvCxnSpPr>
          <p:nvPr/>
        </p:nvCxnSpPr>
        <p:spPr>
          <a:xfrm>
            <a:off x="6994708" y="4846796"/>
            <a:ext cx="302360" cy="77999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cxnSpLocks/>
            <a:stCxn id="53" idx="3"/>
            <a:endCxn id="16" idx="0"/>
          </p:cNvCxnSpPr>
          <p:nvPr/>
        </p:nvCxnSpPr>
        <p:spPr>
          <a:xfrm flipH="1">
            <a:off x="5550684" y="4926258"/>
            <a:ext cx="776447" cy="994262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27" idx="4"/>
          </p:cNvCxnSpPr>
          <p:nvPr/>
        </p:nvCxnSpPr>
        <p:spPr>
          <a:xfrm flipH="1">
            <a:off x="4040428" y="5344716"/>
            <a:ext cx="507402" cy="57434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7" idx="4"/>
          </p:cNvCxnSpPr>
          <p:nvPr/>
        </p:nvCxnSpPr>
        <p:spPr>
          <a:xfrm flipH="1">
            <a:off x="2657101" y="5344716"/>
            <a:ext cx="1890729" cy="57434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6205238" y="4405933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963F1-B2CC-664E-8C0F-EC59C016C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71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586" y="-104487"/>
            <a:ext cx="7886700" cy="1325563"/>
          </a:xfrm>
        </p:spPr>
        <p:txBody>
          <a:bodyPr/>
          <a:lstStyle/>
          <a:p>
            <a:r>
              <a:rPr lang="en-US" dirty="0"/>
              <a:t>Huffman Coding Works (idea)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480" y="1020515"/>
            <a:ext cx="7886700" cy="4351338"/>
          </a:xfrm>
        </p:spPr>
        <p:txBody>
          <a:bodyPr/>
          <a:lstStyle/>
          <a:p>
            <a:r>
              <a:rPr lang="en-US" dirty="0"/>
              <a:t>To show that continue to not rule out optimality once we start grouping stuff…</a:t>
            </a:r>
          </a:p>
          <a:p>
            <a:r>
              <a:rPr lang="en-US" dirty="0"/>
              <a:t>The basic idea is that we can treat the “groups” as leaves in a new alphabet.</a:t>
            </a:r>
          </a:p>
          <a:p>
            <a:r>
              <a:rPr lang="en-US" dirty="0"/>
              <a:t>Then we can use the lemma from before.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69682" y="5920520"/>
            <a:ext cx="762003" cy="51581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D: 16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7134" y="5919056"/>
            <a:ext cx="668218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A: 45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22991" y="5919056"/>
            <a:ext cx="668218" cy="51581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B:13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7177" y="5919056"/>
            <a:ext cx="668218" cy="51581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F:5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6319" y="5919056"/>
            <a:ext cx="668218" cy="51581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C:12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7053" y="5919056"/>
            <a:ext cx="668218" cy="51581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E:9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1771" y="5318458"/>
            <a:ext cx="60081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4832" y="5251423"/>
            <a:ext cx="60081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>
                    <a:lumMod val="40000"/>
                    <a:lumOff val="60000"/>
                  </a:schemeClr>
                </a:solidFill>
              </a:rPr>
              <a:t>1</a:t>
            </a:r>
            <a:endParaRPr lang="en-US" sz="20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31662" y="4735117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415590" y="5258004"/>
            <a:ext cx="60081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54592" y="5468839"/>
            <a:ext cx="60081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2392" y="4385482"/>
            <a:ext cx="60081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4"/>
                </a:solidFill>
              </a:rPr>
              <a:t>1</a:t>
            </a: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40087" y="4897001"/>
            <a:ext cx="600810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0</a:t>
            </a:r>
          </a:p>
        </p:txBody>
      </p:sp>
      <p:cxnSp>
        <p:nvCxnSpPr>
          <p:cNvPr id="39" name="Straight Connector 38"/>
          <p:cNvCxnSpPr/>
          <p:nvPr/>
        </p:nvCxnSpPr>
        <p:spPr>
          <a:xfrm>
            <a:off x="7777522" y="5220593"/>
            <a:ext cx="703764" cy="698463"/>
          </a:xfrm>
          <a:prstGeom prst="line">
            <a:avLst/>
          </a:prstGeom>
          <a:ln w="317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6941163" y="5220593"/>
            <a:ext cx="836359" cy="698463"/>
          </a:xfrm>
          <a:prstGeom prst="line">
            <a:avLst/>
          </a:prstGeom>
          <a:ln w="317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7297068" y="4619995"/>
            <a:ext cx="832336" cy="609599"/>
          </a:xfrm>
          <a:prstGeom prst="ellipse">
            <a:avLst/>
          </a:prstGeom>
          <a:solidFill>
            <a:schemeClr val="bg2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</a:p>
        </p:txBody>
      </p:sp>
      <p:cxnSp>
        <p:nvCxnSpPr>
          <p:cNvPr id="44" name="Straight Connector 43"/>
          <p:cNvCxnSpPr>
            <a:cxnSpLocks/>
            <a:endCxn id="43" idx="2"/>
          </p:cNvCxnSpPr>
          <p:nvPr/>
        </p:nvCxnSpPr>
        <p:spPr>
          <a:xfrm>
            <a:off x="6994708" y="4846796"/>
            <a:ext cx="302360" cy="77999"/>
          </a:xfrm>
          <a:prstGeom prst="line">
            <a:avLst/>
          </a:prstGeom>
          <a:ln w="317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cxnSpLocks/>
            <a:stCxn id="53" idx="3"/>
            <a:endCxn id="16" idx="0"/>
          </p:cNvCxnSpPr>
          <p:nvPr/>
        </p:nvCxnSpPr>
        <p:spPr>
          <a:xfrm flipH="1">
            <a:off x="5550684" y="4926258"/>
            <a:ext cx="776447" cy="994262"/>
          </a:xfrm>
          <a:prstGeom prst="line">
            <a:avLst/>
          </a:prstGeom>
          <a:ln w="317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27" idx="4"/>
          </p:cNvCxnSpPr>
          <p:nvPr/>
        </p:nvCxnSpPr>
        <p:spPr>
          <a:xfrm flipH="1">
            <a:off x="4040428" y="5344716"/>
            <a:ext cx="507402" cy="574340"/>
          </a:xfrm>
          <a:prstGeom prst="line">
            <a:avLst/>
          </a:prstGeom>
          <a:ln w="317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7" idx="4"/>
          </p:cNvCxnSpPr>
          <p:nvPr/>
        </p:nvCxnSpPr>
        <p:spPr>
          <a:xfrm flipH="1">
            <a:off x="2657101" y="5344716"/>
            <a:ext cx="1890729" cy="574340"/>
          </a:xfrm>
          <a:prstGeom prst="line">
            <a:avLst/>
          </a:prstGeom>
          <a:ln w="317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6205238" y="4405933"/>
            <a:ext cx="832336" cy="60959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963F1-B2CC-664E-8C0F-EC59C016C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5675DBAB-1E62-3D42-B5CA-E2345D83FB7F}" type="slidenum">
              <a:rPr lang="en-US" smtClean="0"/>
              <a:t>107</a:t>
            </a:fld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EF7A36-4E90-D644-ADEB-6C62F9ECDF5D}"/>
              </a:ext>
            </a:extLst>
          </p:cNvPr>
          <p:cNvSpPr/>
          <p:nvPr/>
        </p:nvSpPr>
        <p:spPr>
          <a:xfrm>
            <a:off x="6140644" y="4455791"/>
            <a:ext cx="983956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DEF:30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0C868B-621C-014A-9D82-4EDD504E768F}"/>
              </a:ext>
            </a:extLst>
          </p:cNvPr>
          <p:cNvSpPr/>
          <p:nvPr/>
        </p:nvSpPr>
        <p:spPr>
          <a:xfrm>
            <a:off x="3990431" y="4796049"/>
            <a:ext cx="983956" cy="5158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BC:25</a:t>
            </a:r>
          </a:p>
        </p:txBody>
      </p:sp>
    </p:spTree>
    <p:extLst>
      <p:ext uri="{BB962C8B-B14F-4D97-AF65-F5344CB8AC3E}">
        <p14:creationId xmlns:p14="http://schemas.microsoft.com/office/powerpoint/2010/main" val="16119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have we learned?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75213"/>
          </a:xfrm>
        </p:spPr>
        <p:txBody>
          <a:bodyPr>
            <a:normAutofit/>
          </a:bodyPr>
          <a:lstStyle/>
          <a:p>
            <a:r>
              <a:rPr lang="en-US" dirty="0"/>
              <a:t>ASCII isn’t an optimal way* to encode English, since the distribution on letters isn’t uniform.</a:t>
            </a:r>
          </a:p>
          <a:p>
            <a:r>
              <a:rPr lang="en-US" dirty="0"/>
              <a:t>Huffman Coding is an optimal way!</a:t>
            </a:r>
          </a:p>
          <a:p>
            <a:r>
              <a:rPr lang="en-US" dirty="0"/>
              <a:t>To come up with an optimal scheme for any language efficiently, we can use a </a:t>
            </a:r>
            <a:r>
              <a:rPr lang="en-US" dirty="0">
                <a:solidFill>
                  <a:srgbClr val="E56B74"/>
                </a:solidFill>
              </a:rPr>
              <a:t>greedy algorithm.</a:t>
            </a:r>
          </a:p>
          <a:p>
            <a:endParaRPr lang="en-US" dirty="0">
              <a:solidFill>
                <a:srgbClr val="E56B74"/>
              </a:solidFill>
            </a:endParaRPr>
          </a:p>
          <a:p>
            <a:r>
              <a:rPr lang="en-US" dirty="0"/>
              <a:t>To come up with a </a:t>
            </a:r>
            <a:r>
              <a:rPr lang="en-US" dirty="0">
                <a:solidFill>
                  <a:srgbClr val="E56B74"/>
                </a:solidFill>
              </a:rPr>
              <a:t>greedy algorithm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Identify </a:t>
            </a:r>
            <a:r>
              <a:rPr lang="en-US" b="1" dirty="0"/>
              <a:t>optimal substructure</a:t>
            </a:r>
          </a:p>
          <a:p>
            <a:pPr lvl="1"/>
            <a:r>
              <a:rPr lang="en-US" dirty="0"/>
              <a:t>Find a way to make choices that </a:t>
            </a:r>
            <a:r>
              <a:rPr lang="en-US" b="1" dirty="0"/>
              <a:t>won’t rule out an optimal solution.</a:t>
            </a:r>
          </a:p>
          <a:p>
            <a:pPr lvl="2"/>
            <a:r>
              <a:rPr lang="en-US" dirty="0">
                <a:solidFill>
                  <a:schemeClr val="accent4"/>
                </a:solidFill>
              </a:rPr>
              <a:t>Create subtrees out of the smallest two current subtrees.</a:t>
            </a:r>
          </a:p>
          <a:p>
            <a:pPr lvl="1"/>
            <a:endParaRPr lang="en-US" dirty="0">
              <a:solidFill>
                <a:srgbClr val="E56B74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7143750" y="4263230"/>
            <a:ext cx="1625112" cy="1243013"/>
            <a:chOff x="1804708" y="2577781"/>
            <a:chExt cx="4220954" cy="3969674"/>
          </a:xfrm>
        </p:grpSpPr>
        <p:sp>
          <p:nvSpPr>
            <p:cNvPr id="4" name="Oval 3"/>
            <p:cNvSpPr/>
            <p:nvPr/>
          </p:nvSpPr>
          <p:spPr>
            <a:xfrm>
              <a:off x="3359388" y="2577781"/>
              <a:ext cx="614735" cy="61089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4484804" y="3695846"/>
              <a:ext cx="614735" cy="61089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2249360" y="3695846"/>
              <a:ext cx="614735" cy="61089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Straight Connector 6"/>
            <p:cNvCxnSpPr>
              <a:stCxn id="6" idx="4"/>
              <a:endCxn id="7" idx="0"/>
            </p:cNvCxnSpPr>
            <p:nvPr/>
          </p:nvCxnSpPr>
          <p:spPr>
            <a:xfrm>
              <a:off x="3666756" y="3188677"/>
              <a:ext cx="1125416" cy="507169"/>
            </a:xfrm>
            <a:prstGeom prst="line">
              <a:avLst/>
            </a:prstGeom>
            <a:ln w="317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4294398" y="3096446"/>
              <a:ext cx="600809" cy="1277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4"/>
                  </a:solidFill>
                </a:rPr>
                <a:t> 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636683" y="3188676"/>
              <a:ext cx="600809" cy="1277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000" dirty="0">
                <a:solidFill>
                  <a:schemeClr val="accent4"/>
                </a:solidFill>
              </a:endParaRPr>
            </a:p>
          </p:txBody>
        </p:sp>
        <p:sp>
          <p:nvSpPr>
            <p:cNvPr id="11" name="Triangle 10"/>
            <p:cNvSpPr/>
            <p:nvPr/>
          </p:nvSpPr>
          <p:spPr>
            <a:xfrm>
              <a:off x="4075779" y="4293223"/>
              <a:ext cx="1432784" cy="153135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riangle 11"/>
            <p:cNvSpPr/>
            <p:nvPr/>
          </p:nvSpPr>
          <p:spPr>
            <a:xfrm>
              <a:off x="1804708" y="4306742"/>
              <a:ext cx="1432784" cy="153135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3572227" y="3411415"/>
              <a:ext cx="2453435" cy="3136040"/>
            </a:xfrm>
            <a:custGeom>
              <a:avLst/>
              <a:gdLst>
                <a:gd name="connsiteX0" fmla="*/ 2570665 w 2849760"/>
                <a:gd name="connsiteY0" fmla="*/ 915067 h 3335999"/>
                <a:gd name="connsiteX1" fmla="*/ 2090019 w 2849760"/>
                <a:gd name="connsiteY1" fmla="*/ 24113 h 3335999"/>
                <a:gd name="connsiteX2" fmla="*/ 437065 w 2849760"/>
                <a:gd name="connsiteY2" fmla="*/ 504759 h 3335999"/>
                <a:gd name="connsiteX3" fmla="*/ 167435 w 2849760"/>
                <a:gd name="connsiteY3" fmla="*/ 3001775 h 3335999"/>
                <a:gd name="connsiteX4" fmla="*/ 2676173 w 2849760"/>
                <a:gd name="connsiteY4" fmla="*/ 3083836 h 3335999"/>
                <a:gd name="connsiteX5" fmla="*/ 2570665 w 2849760"/>
                <a:gd name="connsiteY5" fmla="*/ 915067 h 3335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49760" h="3335999">
                  <a:moveTo>
                    <a:pt x="2570665" y="915067"/>
                  </a:moveTo>
                  <a:cubicBezTo>
                    <a:pt x="2472973" y="405113"/>
                    <a:pt x="2445619" y="92498"/>
                    <a:pt x="2090019" y="24113"/>
                  </a:cubicBezTo>
                  <a:cubicBezTo>
                    <a:pt x="1734419" y="-44272"/>
                    <a:pt x="757496" y="8482"/>
                    <a:pt x="437065" y="504759"/>
                  </a:cubicBezTo>
                  <a:cubicBezTo>
                    <a:pt x="116634" y="1001036"/>
                    <a:pt x="-205750" y="2571929"/>
                    <a:pt x="167435" y="3001775"/>
                  </a:cubicBezTo>
                  <a:cubicBezTo>
                    <a:pt x="540620" y="3431621"/>
                    <a:pt x="2273681" y="3433574"/>
                    <a:pt x="2676173" y="3083836"/>
                  </a:cubicBezTo>
                  <a:cubicBezTo>
                    <a:pt x="3078665" y="2734098"/>
                    <a:pt x="2668357" y="1425021"/>
                    <a:pt x="2570665" y="915067"/>
                  </a:cubicBezTo>
                  <a:close/>
                </a:path>
              </a:pathLst>
            </a:custGeom>
            <a:noFill/>
            <a:ln w="53975">
              <a:solidFill>
                <a:srgbClr val="E675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Connector 14"/>
          <p:cNvCxnSpPr>
            <a:endCxn id="6" idx="0"/>
          </p:cNvCxnSpPr>
          <p:nvPr/>
        </p:nvCxnSpPr>
        <p:spPr>
          <a:xfrm flipH="1">
            <a:off x="7433286" y="4454518"/>
            <a:ext cx="427374" cy="158809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080204A-5284-ED44-B48C-03BB6D6C8ECE}"/>
              </a:ext>
            </a:extLst>
          </p:cNvPr>
          <p:cNvSpPr txBox="1"/>
          <p:nvPr/>
        </p:nvSpPr>
        <p:spPr>
          <a:xfrm>
            <a:off x="6098489" y="53837"/>
            <a:ext cx="2995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*If all we care about is number of bits.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39035B7-A5AB-1041-9C5A-EE98784E9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4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E56B74"/>
                </a:solidFill>
              </a:rPr>
              <a:t>Greedy algorithms!</a:t>
            </a:r>
          </a:p>
          <a:p>
            <a:r>
              <a:rPr lang="en-US" altLang="zh-CN" dirty="0"/>
              <a:t>Five</a:t>
            </a:r>
            <a:r>
              <a:rPr lang="en-US" dirty="0"/>
              <a:t> examples:</a:t>
            </a:r>
          </a:p>
          <a:p>
            <a:pPr lvl="1"/>
            <a:r>
              <a:rPr lang="en-US" altLang="zh-CN" dirty="0">
                <a:solidFill>
                  <a:schemeClr val="accent4"/>
                </a:solidFill>
              </a:rPr>
              <a:t>Substructure</a:t>
            </a:r>
          </a:p>
          <a:p>
            <a:pPr lvl="1"/>
            <a:r>
              <a:rPr lang="en-US" altLang="zh-CN" dirty="0">
                <a:solidFill>
                  <a:schemeClr val="accent4"/>
                </a:solidFill>
              </a:rPr>
              <a:t>Matroid</a:t>
            </a:r>
          </a:p>
          <a:p>
            <a:pPr lvl="1"/>
            <a:r>
              <a:rPr lang="en-US" altLang="zh-CN" dirty="0">
                <a:solidFill>
                  <a:schemeClr val="accent4"/>
                </a:solidFill>
              </a:rPr>
              <a:t>Activity Selection/Interval</a:t>
            </a:r>
            <a:r>
              <a:rPr lang="zh-CN" altLang="en-US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Scheduling</a:t>
            </a:r>
          </a:p>
          <a:p>
            <a:pPr lvl="1"/>
            <a:r>
              <a:rPr lang="en-US" altLang="zh-CN" dirty="0">
                <a:solidFill>
                  <a:schemeClr val="accent4"/>
                </a:solidFill>
              </a:rPr>
              <a:t>Interval</a:t>
            </a:r>
            <a:r>
              <a:rPr lang="zh-CN" altLang="en-US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Partitioning</a:t>
            </a:r>
          </a:p>
          <a:p>
            <a:pPr lvl="1"/>
            <a:r>
              <a:rPr lang="en-US" altLang="zh-CN" dirty="0">
                <a:solidFill>
                  <a:schemeClr val="accent4"/>
                </a:solidFill>
              </a:rPr>
              <a:t>Maximum</a:t>
            </a:r>
            <a:r>
              <a:rPr lang="zh-CN" altLang="en-US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Lateness</a:t>
            </a:r>
            <a:r>
              <a:rPr lang="zh-CN" altLang="en-US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Minimization</a:t>
            </a:r>
            <a:r>
              <a:rPr lang="zh-CN" altLang="en-US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Scheduling</a:t>
            </a:r>
          </a:p>
          <a:p>
            <a:pPr lvl="1"/>
            <a:r>
              <a:rPr lang="en-US" altLang="zh-CN" dirty="0">
                <a:solidFill>
                  <a:schemeClr val="accent4"/>
                </a:solidFill>
              </a:rPr>
              <a:t>Sum</a:t>
            </a:r>
            <a:r>
              <a:rPr lang="zh-CN" altLang="en-US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Penalty</a:t>
            </a:r>
            <a:r>
              <a:rPr lang="zh-CN" altLang="en-US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Minimization</a:t>
            </a:r>
            <a:r>
              <a:rPr lang="zh-CN" altLang="en-US" dirty="0">
                <a:solidFill>
                  <a:schemeClr val="accent4"/>
                </a:solidFill>
              </a:rPr>
              <a:t> </a:t>
            </a:r>
            <a:r>
              <a:rPr lang="en-US" altLang="zh-CN" dirty="0">
                <a:solidFill>
                  <a:schemeClr val="accent4"/>
                </a:solidFill>
              </a:rPr>
              <a:t>Scheduling</a:t>
            </a:r>
          </a:p>
          <a:p>
            <a:pPr lvl="1"/>
            <a:r>
              <a:rPr lang="en-US" altLang="zh-CN" dirty="0">
                <a:solidFill>
                  <a:schemeClr val="accent4"/>
                </a:solidFill>
              </a:rPr>
              <a:t>Huffman Coding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580" y="4481677"/>
            <a:ext cx="3511038" cy="237632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2E7729-ECEA-2B4A-88E7-A347FE730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6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503237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56B74"/>
                </a:solidFill>
              </a:rPr>
              <a:t>Greedy algorithms!</a:t>
            </a:r>
          </a:p>
          <a:p>
            <a:r>
              <a:rPr lang="en-US" dirty="0"/>
              <a:t>Often easy to write down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But may be hard to come up with and hard to justify</a:t>
            </a:r>
          </a:p>
          <a:p>
            <a:r>
              <a:rPr lang="en-US" dirty="0"/>
              <a:t>The natural greedy algorithm may not always be correct.</a:t>
            </a:r>
          </a:p>
          <a:p>
            <a:r>
              <a:rPr lang="en-US" dirty="0"/>
              <a:t>A problem is a good candidate for a greedy algorithm if: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it has optimal substructure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that optimal substructure is </a:t>
            </a:r>
            <a:r>
              <a:rPr lang="en-US" b="1" dirty="0">
                <a:solidFill>
                  <a:schemeClr val="accent4"/>
                </a:solidFill>
              </a:rPr>
              <a:t>REALLY NICE</a:t>
            </a:r>
          </a:p>
          <a:p>
            <a:pPr lvl="2"/>
            <a:r>
              <a:rPr lang="en-US" dirty="0">
                <a:solidFill>
                  <a:srgbClr val="E56B74"/>
                </a:solidFill>
              </a:rPr>
              <a:t>solutions depend on just one other sub-problem.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28808" y="149377"/>
            <a:ext cx="3115192" cy="216615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38D96-7E7E-5840-AACB-BEACB7203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5DBAB-1E62-3D42-B5CA-E2345D83FB7F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86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25918</TotalTime>
  <Words>8039</Words>
  <Application>Microsoft Macintosh PowerPoint</Application>
  <PresentationFormat>全屏显示(4:3)</PresentationFormat>
  <Paragraphs>1471</Paragraphs>
  <Slides>110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110</vt:i4>
      </vt:variant>
    </vt:vector>
  </HeadingPairs>
  <TitlesOfParts>
    <vt:vector size="123" baseType="lpstr">
      <vt:lpstr>-apple-system</vt:lpstr>
      <vt:lpstr>SimSun</vt:lpstr>
      <vt:lpstr>Söhne</vt:lpstr>
      <vt:lpstr>Arial</vt:lpstr>
      <vt:lpstr>Calibri</vt:lpstr>
      <vt:lpstr>Calibri Light</vt:lpstr>
      <vt:lpstr>Cambria Math</vt:lpstr>
      <vt:lpstr>Courier</vt:lpstr>
      <vt:lpstr>Helvetica</vt:lpstr>
      <vt:lpstr>Menlo</vt:lpstr>
      <vt:lpstr>Symbol</vt:lpstr>
      <vt:lpstr>Times New Roman</vt:lpstr>
      <vt:lpstr>Office Theme</vt:lpstr>
      <vt:lpstr>Greedy Algorithms</vt:lpstr>
      <vt:lpstr>Today</vt:lpstr>
      <vt:lpstr>主要内容</vt:lpstr>
      <vt:lpstr>PowerPoint 演示文稿</vt:lpstr>
      <vt:lpstr>Activity Selection/Interval Scheduling </vt:lpstr>
      <vt:lpstr>Example where greedy works Activity selection</vt:lpstr>
      <vt:lpstr>PowerPoint 演示文稿</vt:lpstr>
      <vt:lpstr>A number ideas can be used. </vt:lpstr>
      <vt:lpstr>什么样的贪心算法能给出最优解？</vt:lpstr>
      <vt:lpstr>什么样的贪心算法能给出最优解？</vt:lpstr>
      <vt:lpstr>活动选择的问题结构 </vt:lpstr>
      <vt:lpstr>递归表达</vt:lpstr>
      <vt:lpstr>递归表达的复杂度</vt:lpstr>
      <vt:lpstr>活动选择问题的最优子结构 </vt:lpstr>
      <vt:lpstr>贪心算法一般设计容易，但是分析最优性不易，设计与分析的流程：</vt:lpstr>
      <vt:lpstr>局部最优贪心机制: Earliest Finish First (EFF) </vt:lpstr>
      <vt:lpstr>局部最优贪心机制: Earliest Finish First (EFF) </vt:lpstr>
      <vt:lpstr>局部最优贪心机制: Earliest Finish First (EFF) </vt:lpstr>
      <vt:lpstr>局部最优贪心机制: Earliest Finish First (EFF) </vt:lpstr>
      <vt:lpstr>局部最优贪心机制: Earliest Finish First (EFF) </vt:lpstr>
      <vt:lpstr>局部最优贪心机制: Earliest Finish First (EFF) </vt:lpstr>
      <vt:lpstr>局部最优贪心机制: Earliest Finish First (EFF) </vt:lpstr>
      <vt:lpstr>局部最优贪心机制: Earliest Finish First (EFF) </vt:lpstr>
      <vt:lpstr>局部最优贪心机制:算法 </vt:lpstr>
      <vt:lpstr>EFF贪心算法的问题子结构</vt:lpstr>
      <vt:lpstr>Complexity and Correctness</vt:lpstr>
      <vt:lpstr>贪心算法最优性证明的方法</vt:lpstr>
      <vt:lpstr>Proof of Optimality</vt:lpstr>
      <vt:lpstr>Proof of Optimality</vt:lpstr>
      <vt:lpstr>Proof of Optimality</vt:lpstr>
      <vt:lpstr>One Common strategy for showing we don’t rule out success</vt:lpstr>
      <vt:lpstr>Note on “Common Strategy”</vt:lpstr>
      <vt:lpstr>Sub-problem graph view</vt:lpstr>
      <vt:lpstr>Sub-problem graph view</vt:lpstr>
      <vt:lpstr>主要内容</vt:lpstr>
      <vt:lpstr>Matriod：拟阵</vt:lpstr>
      <vt:lpstr>矩阵拟阵</vt:lpstr>
      <vt:lpstr>无向图</vt:lpstr>
      <vt:lpstr>生成树</vt:lpstr>
      <vt:lpstr>图拟阵</vt:lpstr>
      <vt:lpstr>加权函数</vt:lpstr>
      <vt:lpstr>最大权重子集贪心算法</vt:lpstr>
      <vt:lpstr>拟阵上贪心算法的正确性</vt:lpstr>
      <vt:lpstr>正确性证明</vt:lpstr>
      <vt:lpstr>图拟阵</vt:lpstr>
      <vt:lpstr>主要内容</vt:lpstr>
      <vt:lpstr>Schedule to Minimize the Sum Lateness Penalty</vt:lpstr>
      <vt:lpstr>Scheduling</vt:lpstr>
      <vt:lpstr>Optimal substructure</vt:lpstr>
      <vt:lpstr>Optimal substructure</vt:lpstr>
      <vt:lpstr>Optimal substructure</vt:lpstr>
      <vt:lpstr>Which schedule is better?</vt:lpstr>
      <vt:lpstr>Which schedule is better?</vt:lpstr>
      <vt:lpstr>Lemma This greedy choice doesn’t rule out success</vt:lpstr>
      <vt:lpstr>Lemma This greedy choice doesn’t rule out success</vt:lpstr>
      <vt:lpstr>Proof of the Lemma</vt:lpstr>
      <vt:lpstr>Greedy Scheduling Solution</vt:lpstr>
      <vt:lpstr>主要内容</vt:lpstr>
      <vt:lpstr>Interval Partitioning</vt:lpstr>
      <vt:lpstr>Interval Partitioning</vt:lpstr>
      <vt:lpstr>Solving this coloring problem</vt:lpstr>
      <vt:lpstr>Greedy Interval Partitioning Algorithm </vt:lpstr>
      <vt:lpstr>Running time complexity</vt:lpstr>
      <vt:lpstr>Correctness</vt:lpstr>
      <vt:lpstr>Proof of Optimality</vt:lpstr>
      <vt:lpstr>Proof of Optimality</vt:lpstr>
      <vt:lpstr>主要内容</vt:lpstr>
      <vt:lpstr>Scheduling to Minimize the Maximum Lateness</vt:lpstr>
      <vt:lpstr>Scheduling to Minimize the Maximum Lateness</vt:lpstr>
      <vt:lpstr>Greedy Algorithm that minimizes the  maximum lateness</vt:lpstr>
      <vt:lpstr>Greedy Algorithm that minimizes the  maximum lateness</vt:lpstr>
      <vt:lpstr>Greedy Algorithm that minimizes the  maximum lateness</vt:lpstr>
      <vt:lpstr>Earliest Deadline First (EDF) strategy</vt:lpstr>
      <vt:lpstr>Correctness and optimal </vt:lpstr>
      <vt:lpstr>Proof of Optimality</vt:lpstr>
      <vt:lpstr>Proof of Optimality</vt:lpstr>
      <vt:lpstr>Proof of Optimality</vt:lpstr>
      <vt:lpstr>主要内容</vt:lpstr>
      <vt:lpstr>One more example Huffman coding</vt:lpstr>
      <vt:lpstr>One more example Huffman coding</vt:lpstr>
      <vt:lpstr>Suppose we have some distribution on characters</vt:lpstr>
      <vt:lpstr>Suppose we have some distribution on characters</vt:lpstr>
      <vt:lpstr>Try 0 (like ASCII)</vt:lpstr>
      <vt:lpstr>Try 1</vt:lpstr>
      <vt:lpstr>Try 2: prefix-free coding</vt:lpstr>
      <vt:lpstr>Try 2: prefix-free coding</vt:lpstr>
      <vt:lpstr>Try 2: prefix-free coding</vt:lpstr>
      <vt:lpstr>Try 2: prefix-free coding</vt:lpstr>
      <vt:lpstr>A prefix-free code is a tree</vt:lpstr>
      <vt:lpstr>How good is a tree?</vt:lpstr>
      <vt:lpstr>Question</vt:lpstr>
      <vt:lpstr>Greedy algorithm</vt:lpstr>
      <vt:lpstr>Solution greedily build subtrees, starting with the infrequent letters</vt:lpstr>
      <vt:lpstr>Solution greedily build subtrees, starting with the infrequent letters</vt:lpstr>
      <vt:lpstr>Solution greedily build subtrees, starting with the infrequent letters</vt:lpstr>
      <vt:lpstr>Solution greedily build subtrees, starting with the infrequent letters</vt:lpstr>
      <vt:lpstr>Solution greedily build subtrees, starting with the infrequent letters</vt:lpstr>
      <vt:lpstr>Solution greedily build subtrees, starting with the infrequent letters</vt:lpstr>
      <vt:lpstr>What exactly was the algorithm?</vt:lpstr>
      <vt:lpstr>This is called Huffman Coding:</vt:lpstr>
      <vt:lpstr>Does it work?</vt:lpstr>
      <vt:lpstr>Lemma  proof idea</vt:lpstr>
      <vt:lpstr>Lemma  proof idea</vt:lpstr>
      <vt:lpstr>Huffman Coding Works (idea)</vt:lpstr>
      <vt:lpstr>Huffman Coding Works (idea)</vt:lpstr>
      <vt:lpstr>Huffman Coding Works (idea)</vt:lpstr>
      <vt:lpstr>Huffman Coding Works (idea)</vt:lpstr>
      <vt:lpstr>What have we learned?</vt:lpstr>
      <vt:lpstr>Recap I</vt:lpstr>
      <vt:lpstr>Recap 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9</dc:title>
  <dc:creator>Mary Katherine Wootters</dc:creator>
  <cp:lastModifiedBy>Yongcai Wang</cp:lastModifiedBy>
  <cp:revision>185</cp:revision>
  <cp:lastPrinted>2020-02-05T18:01:00Z</cp:lastPrinted>
  <dcterms:created xsi:type="dcterms:W3CDTF">2017-04-30T14:57:01Z</dcterms:created>
  <dcterms:modified xsi:type="dcterms:W3CDTF">2024-03-11T22:34:54Z</dcterms:modified>
</cp:coreProperties>
</file>